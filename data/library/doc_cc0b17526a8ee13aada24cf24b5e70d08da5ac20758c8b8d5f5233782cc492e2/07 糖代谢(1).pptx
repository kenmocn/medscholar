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27" r:id="rId3"/>
    <p:sldId id="319" r:id="rId5"/>
    <p:sldId id="607" r:id="rId6"/>
    <p:sldId id="614" r:id="rId7"/>
    <p:sldId id="593" r:id="rId8"/>
    <p:sldId id="524" r:id="rId9"/>
    <p:sldId id="916" r:id="rId10"/>
    <p:sldId id="321" r:id="rId11"/>
    <p:sldId id="322" r:id="rId12"/>
    <p:sldId id="439" r:id="rId13"/>
    <p:sldId id="595" r:id="rId14"/>
    <p:sldId id="596" r:id="rId15"/>
    <p:sldId id="506" r:id="rId16"/>
    <p:sldId id="333" r:id="rId17"/>
    <p:sldId id="597" r:id="rId18"/>
    <p:sldId id="598" r:id="rId19"/>
    <p:sldId id="600" r:id="rId20"/>
    <p:sldId id="601" r:id="rId21"/>
    <p:sldId id="602" r:id="rId22"/>
    <p:sldId id="335" r:id="rId23"/>
    <p:sldId id="336" r:id="rId24"/>
    <p:sldId id="475" r:id="rId25"/>
    <p:sldId id="337" r:id="rId26"/>
    <p:sldId id="338" r:id="rId27"/>
    <p:sldId id="339" r:id="rId28"/>
    <p:sldId id="591" r:id="rId29"/>
    <p:sldId id="454" r:id="rId30"/>
    <p:sldId id="342" r:id="rId31"/>
    <p:sldId id="526" r:id="rId32"/>
    <p:sldId id="345" r:id="rId33"/>
    <p:sldId id="430" r:id="rId34"/>
    <p:sldId id="428" r:id="rId35"/>
    <p:sldId id="914" r:id="rId36"/>
    <p:sldId id="525" r:id="rId37"/>
    <p:sldId id="348" r:id="rId38"/>
    <p:sldId id="349" r:id="rId39"/>
    <p:sldId id="350" r:id="rId40"/>
    <p:sldId id="351" r:id="rId41"/>
    <p:sldId id="352" r:id="rId42"/>
    <p:sldId id="510" r:id="rId43"/>
    <p:sldId id="353" r:id="rId44"/>
    <p:sldId id="354" r:id="rId45"/>
    <p:sldId id="620" r:id="rId46"/>
    <p:sldId id="355" r:id="rId47"/>
    <p:sldId id="356" r:id="rId48"/>
    <p:sldId id="357" r:id="rId49"/>
    <p:sldId id="358" r:id="rId50"/>
    <p:sldId id="344" r:id="rId51"/>
    <p:sldId id="474" r:id="rId52"/>
    <p:sldId id="433" r:id="rId53"/>
    <p:sldId id="435" r:id="rId54"/>
    <p:sldId id="622" r:id="rId55"/>
    <p:sldId id="628" r:id="rId56"/>
    <p:sldId id="536" r:id="rId57"/>
    <p:sldId id="616" r:id="rId58"/>
    <p:sldId id="366" r:id="rId59"/>
    <p:sldId id="368" r:id="rId60"/>
    <p:sldId id="507" r:id="rId61"/>
    <p:sldId id="371" r:id="rId62"/>
    <p:sldId id="436" r:id="rId63"/>
    <p:sldId id="437" r:id="rId64"/>
    <p:sldId id="501" r:id="rId65"/>
    <p:sldId id="457" r:id="rId66"/>
    <p:sldId id="496" r:id="rId67"/>
    <p:sldId id="363" r:id="rId68"/>
    <p:sldId id="887" r:id="rId69"/>
    <p:sldId id="476" r:id="rId70"/>
    <p:sldId id="691" r:id="rId71"/>
    <p:sldId id="456" r:id="rId72"/>
    <p:sldId id="374" r:id="rId73"/>
    <p:sldId id="469" r:id="rId74"/>
    <p:sldId id="377" r:id="rId75"/>
    <p:sldId id="378" r:id="rId76"/>
    <p:sldId id="514" r:id="rId77"/>
    <p:sldId id="380" r:id="rId78"/>
    <p:sldId id="623" r:id="rId79"/>
    <p:sldId id="490" r:id="rId80"/>
    <p:sldId id="381" r:id="rId81"/>
    <p:sldId id="626" r:id="rId82"/>
    <p:sldId id="384" r:id="rId83"/>
    <p:sldId id="385" r:id="rId84"/>
    <p:sldId id="465" r:id="rId85"/>
    <p:sldId id="590" r:id="rId86"/>
    <p:sldId id="460" r:id="rId87"/>
    <p:sldId id="617" r:id="rId88"/>
    <p:sldId id="912" r:id="rId89"/>
    <p:sldId id="913" r:id="rId90"/>
    <p:sldId id="605" r:id="rId91"/>
    <p:sldId id="606" r:id="rId92"/>
    <p:sldId id="463" r:id="rId93"/>
    <p:sldId id="516" r:id="rId94"/>
    <p:sldId id="491" r:id="rId95"/>
    <p:sldId id="888" r:id="rId96"/>
    <p:sldId id="392" r:id="rId97"/>
    <p:sldId id="886" r:id="rId98"/>
    <p:sldId id="594" r:id="rId99"/>
    <p:sldId id="397" r:id="rId100"/>
    <p:sldId id="411" r:id="rId101"/>
    <p:sldId id="499" r:id="rId102"/>
    <p:sldId id="587" r:id="rId103"/>
    <p:sldId id="619" r:id="rId104"/>
    <p:sldId id="398" r:id="rId105"/>
    <p:sldId id="400" r:id="rId106"/>
    <p:sldId id="401" r:id="rId107"/>
    <p:sldId id="402" r:id="rId108"/>
    <p:sldId id="521" r:id="rId109"/>
    <p:sldId id="405" r:id="rId110"/>
    <p:sldId id="508" r:id="rId111"/>
    <p:sldId id="915" r:id="rId112"/>
    <p:sldId id="407" r:id="rId113"/>
    <p:sldId id="511" r:id="rId114"/>
    <p:sldId id="415" r:id="rId115"/>
    <p:sldId id="416" r:id="rId116"/>
    <p:sldId id="419" r:id="rId117"/>
    <p:sldId id="420" r:id="rId118"/>
    <p:sldId id="421" r:id="rId119"/>
    <p:sldId id="424" r:id="rId120"/>
    <p:sldId id="425" r:id="rId121"/>
    <p:sldId id="464" r:id="rId122"/>
    <p:sldId id="625" r:id="rId123"/>
    <p:sldId id="621" r:id="rId124"/>
    <p:sldId id="498" r:id="rId125"/>
    <p:sldId id="489" r:id="rId126"/>
    <p:sldId id="408" r:id="rId127"/>
    <p:sldId id="505" r:id="rId128"/>
    <p:sldId id="426" r:id="rId129"/>
    <p:sldId id="918" r:id="rId130"/>
    <p:sldId id="919" r:id="rId131"/>
    <p:sldId id="550" r:id="rId132"/>
    <p:sldId id="920" r:id="rId133"/>
    <p:sldId id="432" r:id="rId134"/>
    <p:sldId id="528" r:id="rId135"/>
    <p:sldId id="549" r:id="rId136"/>
    <p:sldId id="434" r:id="rId137"/>
    <p:sldId id="438" r:id="rId138"/>
    <p:sldId id="440" r:id="rId139"/>
    <p:sldId id="441" r:id="rId140"/>
    <p:sldId id="603" r:id="rId141"/>
    <p:sldId id="442" r:id="rId142"/>
    <p:sldId id="444" r:id="rId143"/>
    <p:sldId id="445" r:id="rId144"/>
    <p:sldId id="921" r:id="rId145"/>
    <p:sldId id="446" r:id="rId146"/>
    <p:sldId id="447" r:id="rId147"/>
    <p:sldId id="449" r:id="rId148"/>
    <p:sldId id="450" r:id="rId149"/>
    <p:sldId id="922" r:id="rId150"/>
    <p:sldId id="693" r:id="rId151"/>
    <p:sldId id="542" r:id="rId152"/>
    <p:sldId id="923" r:id="rId153"/>
    <p:sldId id="455" r:id="rId154"/>
    <p:sldId id="924" r:id="rId155"/>
    <p:sldId id="925" r:id="rId156"/>
    <p:sldId id="926" r:id="rId157"/>
    <p:sldId id="927" r:id="rId158"/>
    <p:sldId id="461" r:id="rId159"/>
    <p:sldId id="462" r:id="rId160"/>
    <p:sldId id="928" r:id="rId161"/>
    <p:sldId id="466" r:id="rId162"/>
    <p:sldId id="929" r:id="rId163"/>
    <p:sldId id="787" r:id="rId164"/>
    <p:sldId id="468" r:id="rId165"/>
    <p:sldId id="930" r:id="rId166"/>
    <p:sldId id="531" r:id="rId167"/>
    <p:sldId id="470" r:id="rId168"/>
    <p:sldId id="543" r:id="rId169"/>
    <p:sldId id="544" r:id="rId170"/>
    <p:sldId id="545" r:id="rId171"/>
    <p:sldId id="477" r:id="rId172"/>
    <p:sldId id="478" r:id="rId173"/>
    <p:sldId id="479" r:id="rId174"/>
    <p:sldId id="786" r:id="rId175"/>
    <p:sldId id="480" r:id="rId176"/>
    <p:sldId id="515" r:id="rId177"/>
    <p:sldId id="481" r:id="rId178"/>
    <p:sldId id="482" r:id="rId179"/>
    <p:sldId id="483" r:id="rId180"/>
    <p:sldId id="931" r:id="rId181"/>
    <p:sldId id="540" r:id="rId182"/>
    <p:sldId id="520" r:id="rId183"/>
    <p:sldId id="945" r:id="rId184"/>
    <p:sldId id="585" r:id="rId185"/>
    <p:sldId id="933" r:id="rId186"/>
    <p:sldId id="485" r:id="rId187"/>
    <p:sldId id="541" r:id="rId188"/>
    <p:sldId id="586" r:id="rId189"/>
    <p:sldId id="522" r:id="rId190"/>
    <p:sldId id="486" r:id="rId191"/>
    <p:sldId id="934" r:id="rId192"/>
    <p:sldId id="935" r:id="rId193"/>
    <p:sldId id="936" r:id="rId194"/>
    <p:sldId id="492" r:id="rId195"/>
    <p:sldId id="532" r:id="rId196"/>
    <p:sldId id="493" r:id="rId197"/>
    <p:sldId id="937" r:id="rId198"/>
    <p:sldId id="938" r:id="rId199"/>
    <p:sldId id="504" r:id="rId200"/>
    <p:sldId id="939" r:id="rId201"/>
    <p:sldId id="940" r:id="rId202"/>
    <p:sldId id="785" r:id="rId203"/>
    <p:sldId id="784" r:id="rId204"/>
    <p:sldId id="576" r:id="rId205"/>
    <p:sldId id="946" r:id="rId206"/>
    <p:sldId id="944" r:id="rId207"/>
  </p:sldIdLst>
  <p:sldSz cx="12192000" cy="6858000"/>
  <p:notesSz cx="6858000" cy="9144000"/>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660066"/>
    <a:srgbClr val="FFFFBD"/>
    <a:srgbClr val="FFFFAF"/>
    <a:srgbClr val="217BBC"/>
    <a:srgbClr val="B7472A"/>
    <a:srgbClr val="FFFF99"/>
    <a:srgbClr val="CBDE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08" autoAdjust="0"/>
    <p:restoredTop sz="65782" autoAdjust="0"/>
  </p:normalViewPr>
  <p:slideViewPr>
    <p:cSldViewPr showGuides="1">
      <p:cViewPr varScale="1">
        <p:scale>
          <a:sx n="65" d="100"/>
          <a:sy n="65" d="100"/>
        </p:scale>
        <p:origin x="692" y="44"/>
      </p:cViewPr>
      <p:guideLst>
        <p:guide orient="horz" pos="2160"/>
        <p:guide pos="3840"/>
      </p:guideLst>
    </p:cSldViewPr>
  </p:slideViewPr>
  <p:outlineViewPr>
    <p:cViewPr>
      <p:scale>
        <a:sx n="33" d="100"/>
        <a:sy n="33" d="100"/>
      </p:scale>
      <p:origin x="0" y="7392"/>
    </p:cViewPr>
  </p:outlineViewPr>
  <p:notesTextViewPr>
    <p:cViewPr>
      <p:scale>
        <a:sx n="125" d="100"/>
        <a:sy n="125" d="100"/>
      </p:scale>
      <p:origin x="0" y="0"/>
    </p:cViewPr>
  </p:notesTextViewPr>
  <p:sorterViewPr>
    <p:cViewPr varScale="1">
      <p:scale>
        <a:sx n="100" d="100"/>
        <a:sy n="100" d="100"/>
      </p:scale>
      <p:origin x="0" y="-1388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0" Type="http://schemas.openxmlformats.org/officeDocument/2006/relationships/tableStyles" Target="tableStyles.xml"/><Relationship Id="rId21" Type="http://schemas.openxmlformats.org/officeDocument/2006/relationships/slide" Target="slides/slide18.xml"/><Relationship Id="rId209" Type="http://schemas.openxmlformats.org/officeDocument/2006/relationships/viewProps" Target="viewProps.xml"/><Relationship Id="rId208" Type="http://schemas.openxmlformats.org/officeDocument/2006/relationships/presProps" Target="presProps.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1-08-28T13:36: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1.000 1.000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ea typeface="+mn-ea"/>
              </a:defRPr>
            </a:lvl1pPr>
          </a:lstStyle>
          <a:p>
            <a:pPr>
              <a:defRPr/>
            </a:pPr>
            <a:endParaRPr lang="zh-CN" altLang="en-US"/>
          </a:p>
        </p:txBody>
      </p:sp>
      <p:sp>
        <p:nvSpPr>
          <p:cNvPr id="1064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ea typeface="+mn-ea"/>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65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065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ea typeface="+mn-ea"/>
              </a:defRPr>
            </a:lvl1pPr>
          </a:lstStyle>
          <a:p>
            <a:pPr>
              <a:defRPr/>
            </a:pPr>
            <a:endParaRPr lang="en-US" altLang="zh-CN"/>
          </a:p>
        </p:txBody>
      </p:sp>
      <p:sp>
        <p:nvSpPr>
          <p:cNvPr id="1065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a:defRPr/>
            </a:pPr>
            <a:fld id="{6E11EA77-C2DB-4D62-A9EE-B85D51697AD1}"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9C18925B-0010-41D0-9696-1DA0DAF156AA}" type="slidenum">
              <a:rPr lang="zh-CN" altLang="en-US" b="0" smtClean="0"/>
            </a:fld>
            <a:endParaRPr lang="en-US" altLang="zh-CN" b="0"/>
          </a:p>
        </p:txBody>
      </p:sp>
      <p:sp>
        <p:nvSpPr>
          <p:cNvPr id="8195" name="Rectangle 2"/>
          <p:cNvSpPr>
            <a:spLocks noGrp="1" noRot="1" noChangeAspect="1" noChangeArrowheads="1" noTextEdit="1"/>
          </p:cNvSpPr>
          <p:nvPr>
            <p:ph type="sldImg"/>
          </p:nvPr>
        </p:nvSpPr>
        <p:spPr>
          <a:xfrm>
            <a:off x="381000" y="685800"/>
            <a:ext cx="6096000" cy="3429000"/>
          </a:xfrm>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en-US" altLang="zh-CN" b="1" i="0" dirty="0">
                <a:solidFill>
                  <a:srgbClr val="005050"/>
                </a:solidFill>
                <a:effectLst/>
                <a:latin typeface="Verdana" panose="020B0604030504040204" pitchFamily="34" charset="0"/>
              </a:rPr>
              <a:t>KEGG PATHWAY Database</a:t>
            </a:r>
            <a:r>
              <a:rPr lang="zh-CN" altLang="en-US" b="1" i="0" dirty="0">
                <a:solidFill>
                  <a:srgbClr val="005050"/>
                </a:solidFill>
                <a:effectLst/>
                <a:latin typeface="Verdana" panose="020B0604030504040204" pitchFamily="34" charset="0"/>
              </a:rPr>
              <a:t>： </a:t>
            </a:r>
            <a:r>
              <a:rPr lang="en-US" altLang="zh-CN" dirty="0">
                <a:latin typeface="Arial" panose="020B0604020202020204" pitchFamily="34" charset="0"/>
              </a:rPr>
              <a:t>https://www.kegg.jp/kegg/pathway.html</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p:sp>
      <p:sp>
        <p:nvSpPr>
          <p:cNvPr id="153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153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2577F6B-F64C-47CF-ADE9-1BB18D8E0996}" type="slidenum">
              <a:rPr lang="zh-CN" altLang="en-US" b="0" smtClean="0"/>
            </a:fld>
            <a:endParaRPr lang="en-US" altLang="zh-CN"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ChangeArrowheads="1" noTextEdit="1"/>
          </p:cNvSpPr>
          <p:nvPr>
            <p:ph type="sldImg"/>
          </p:nvPr>
        </p:nvSpPr>
        <p:spPr>
          <a:xfrm>
            <a:off x="381000" y="685800"/>
            <a:ext cx="6096000" cy="3429000"/>
          </a:xfrm>
        </p:spPr>
      </p:sp>
      <p:sp>
        <p:nvSpPr>
          <p:cNvPr id="102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0" dirty="0">
                <a:latin typeface="Arial" panose="020B0604020202020204" pitchFamily="34" charset="0"/>
              </a:rPr>
              <a:t>食物中营养成分的消化吸收以及代谢终产物排出体外</a:t>
            </a:r>
            <a:r>
              <a:rPr lang="zh-CN" altLang="en-US" b="0">
                <a:latin typeface="Arial" panose="020B0604020202020204" pitchFamily="34" charset="0"/>
              </a:rPr>
              <a:t>的生理机主要</a:t>
            </a:r>
            <a:r>
              <a:rPr lang="zh-CN" altLang="en-US" b="0" dirty="0">
                <a:latin typeface="Arial" panose="020B0604020202020204" pitchFamily="34" charset="0"/>
              </a:rPr>
              <a:t>在</a:t>
            </a:r>
            <a:r>
              <a:rPr lang="en-US" altLang="zh-CN" b="0" dirty="0">
                <a:latin typeface="Arial" panose="020B0604020202020204" pitchFamily="34" charset="0"/>
              </a:rPr>
              <a:t>《</a:t>
            </a:r>
            <a:r>
              <a:rPr lang="zh-CN" altLang="en-US" b="0" dirty="0">
                <a:latin typeface="Arial" panose="020B0604020202020204" pitchFamily="34" charset="0"/>
              </a:rPr>
              <a:t>生理学</a:t>
            </a:r>
            <a:r>
              <a:rPr lang="en-US" altLang="zh-CN" b="0" dirty="0">
                <a:latin typeface="Arial" panose="020B0604020202020204" pitchFamily="34" charset="0"/>
              </a:rPr>
              <a:t>》</a:t>
            </a:r>
            <a:r>
              <a:rPr lang="zh-CN" altLang="en-US" b="0" dirty="0">
                <a:latin typeface="Arial" panose="020B0604020202020204" pitchFamily="34" charset="0"/>
              </a:rPr>
              <a:t>阐明。 </a:t>
            </a:r>
            <a:endParaRPr lang="zh-CN" altLang="en-US" b="0" dirty="0">
              <a:latin typeface="Arial" panose="020B0604020202020204" pitchFamily="34" charset="0"/>
            </a:endParaRPr>
          </a:p>
          <a:p>
            <a:endParaRPr lang="en-US" altLang="zh-CN" b="0" dirty="0">
              <a:latin typeface="Arial" panose="020B0604020202020204" pitchFamily="34" charset="0"/>
            </a:endParaRPr>
          </a:p>
          <a:p>
            <a:r>
              <a:rPr lang="zh-CN" altLang="en-US" b="0" dirty="0">
                <a:latin typeface="Arial" panose="020B0604020202020204" pitchFamily="34" charset="0"/>
              </a:rPr>
              <a:t>在酶催化的连续反应中产生的各种酶促产物，除最终产物不计在内，统称为中间产物或中间物（</a:t>
            </a:r>
            <a:r>
              <a:rPr lang="en-US" altLang="zh-CN" b="0" dirty="0">
                <a:latin typeface="Arial" panose="020B0604020202020204" pitchFamily="34" charset="0"/>
              </a:rPr>
              <a:t>intermediate)</a:t>
            </a:r>
            <a:r>
              <a:rPr lang="zh-CN" altLang="en-US" b="0" dirty="0">
                <a:latin typeface="Arial" panose="020B0604020202020204" pitchFamily="34" charset="0"/>
              </a:rPr>
              <a:t>。 反应物、中间产物和产物又统称代谢物（</a:t>
            </a:r>
            <a:r>
              <a:rPr lang="en-US" altLang="zh-CN" b="0" dirty="0">
                <a:latin typeface="Arial" panose="020B0604020202020204" pitchFamily="34" charset="0"/>
              </a:rPr>
              <a:t>metabolites)</a:t>
            </a:r>
            <a:r>
              <a:rPr lang="zh-CN" altLang="en-US" b="0" dirty="0">
                <a:latin typeface="Arial" panose="020B0604020202020204" pitchFamily="34" charset="0"/>
              </a:rPr>
              <a:t>。</a:t>
            </a:r>
            <a:endParaRPr lang="zh-CN" altLang="en-US" b="0" dirty="0">
              <a:latin typeface="Arial" panose="020B0604020202020204" pitchFamily="34" charset="0"/>
            </a:endParaRPr>
          </a:p>
          <a:p>
            <a:r>
              <a:rPr lang="zh-CN" altLang="en-US" b="1" dirty="0">
                <a:latin typeface="Arial" panose="020B0604020202020204" pitchFamily="34" charset="0"/>
              </a:rPr>
              <a:t>代谢组</a:t>
            </a:r>
            <a:r>
              <a:rPr lang="en-US" altLang="zh-CN" b="1" dirty="0">
                <a:latin typeface="Arial" panose="020B0604020202020204" pitchFamily="34" charset="0"/>
              </a:rPr>
              <a:t>Metabolome </a:t>
            </a:r>
            <a:r>
              <a:rPr lang="zh-CN" altLang="en-US" b="1" dirty="0">
                <a:latin typeface="Arial" panose="020B0604020202020204" pitchFamily="34" charset="0"/>
              </a:rPr>
              <a:t>：</a:t>
            </a:r>
            <a:r>
              <a:rPr lang="zh-CN" altLang="en-US" dirty="0">
                <a:latin typeface="Arial" panose="020B0604020202020204" pitchFamily="34" charset="0"/>
              </a:rPr>
              <a:t> 生物体内所有的各种代谢小分子，也指某种特定细胞、组织或整个机体所有的代谢小分子。 代谢组可以反映细胞的状态。 </a:t>
            </a:r>
            <a:endParaRPr lang="zh-CN" altLang="en-US" dirty="0">
              <a:latin typeface="Arial" panose="020B0604020202020204" pitchFamily="34" charset="0"/>
            </a:endParaRPr>
          </a:p>
        </p:txBody>
      </p:sp>
      <p:sp>
        <p:nvSpPr>
          <p:cNvPr id="102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53782AD9-48E5-4406-8470-1048003A5B47}" type="slidenum">
              <a:rPr lang="zh-CN" altLang="en-US" b="0" smtClean="0"/>
            </a:fld>
            <a:endParaRPr lang="en-US" altLang="zh-CN" b="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ChangeArrowheads="1" noTextEdit="1"/>
          </p:cNvSpPr>
          <p:nvPr>
            <p:ph type="sldImg"/>
          </p:nvPr>
        </p:nvSpPr>
        <p:spPr/>
      </p:sp>
      <p:sp>
        <p:nvSpPr>
          <p:cNvPr id="13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33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B2FCC23-48AF-4B65-BBD6-1CC0B4B4FA33}" type="slidenum">
              <a:rPr lang="zh-CN" altLang="en-US" b="0" smtClean="0"/>
            </a:fld>
            <a:endParaRPr lang="en-US" altLang="zh-CN" b="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p:sp>
      <p:sp>
        <p:nvSpPr>
          <p:cNvPr id="1945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称之为细胞呼吸，在于这种细胞内的代谢过程会消耗氧并产生二氧化碳，类似肺部呼吸。 </a:t>
            </a:r>
            <a:endParaRPr lang="zh-CN" altLang="en-US" dirty="0">
              <a:latin typeface="Arial" panose="020B0604020202020204" pitchFamily="34" charset="0"/>
            </a:endParaRPr>
          </a:p>
        </p:txBody>
      </p:sp>
      <p:sp>
        <p:nvSpPr>
          <p:cNvPr id="194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57D3536-571B-4A9C-9391-8630080ACC4E}" type="slidenum">
              <a:rPr lang="zh-CN" altLang="en-US" b="0" smtClean="0"/>
            </a:fld>
            <a:endParaRPr lang="en-US" altLang="zh-CN" b="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ChangeArrowheads="1" noTextEdit="1"/>
          </p:cNvSpPr>
          <p:nvPr>
            <p:ph type="sldImg"/>
          </p:nvPr>
        </p:nvSpPr>
        <p:spPr>
          <a:xfrm>
            <a:off x="381000" y="685800"/>
            <a:ext cx="6096000" cy="3429000"/>
          </a:xfrm>
        </p:spPr>
      </p:sp>
      <p:sp>
        <p:nvSpPr>
          <p:cNvPr id="2457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458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4A91FE32-69FB-4BD2-8116-DCC74BED8E3A}" type="slidenum">
              <a:rPr lang="zh-CN" altLang="en-US" b="0" smtClean="0"/>
            </a:fld>
            <a:endParaRPr lang="en-US" altLang="zh-CN" b="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p:nvPr>
        </p:nvSpPr>
        <p:spPr>
          <a:xfrm>
            <a:off x="381000" y="685800"/>
            <a:ext cx="6096000" cy="3429000"/>
          </a:xfrm>
        </p:spPr>
      </p:sp>
      <p:sp>
        <p:nvSpPr>
          <p:cNvPr id="26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按惯例，从上到下，依次学习上述各章。</a:t>
            </a:r>
            <a:endParaRPr lang="zh-CN" altLang="en-US" dirty="0">
              <a:latin typeface="Arial" panose="020B0604020202020204" pitchFamily="34" charset="0"/>
            </a:endParaRPr>
          </a:p>
        </p:txBody>
      </p:sp>
      <p:sp>
        <p:nvSpPr>
          <p:cNvPr id="26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0DBFD82-6920-401F-8573-1702D904CCC6}" type="slidenum">
              <a:rPr lang="zh-CN" altLang="en-US" b="0" smtClean="0"/>
            </a:fld>
            <a:endParaRPr lang="en-US" altLang="zh-CN" b="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ChangeArrowheads="1" noTextEdit="1"/>
          </p:cNvSpPr>
          <p:nvPr>
            <p:ph type="sldImg"/>
          </p:nvPr>
        </p:nvSpPr>
        <p:spPr>
          <a:xfrm>
            <a:off x="381000" y="685800"/>
            <a:ext cx="6096000" cy="3429000"/>
          </a:xfrm>
        </p:spPr>
      </p:sp>
      <p:sp>
        <p:nvSpPr>
          <p:cNvPr id="286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86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5E2320DA-8049-4747-B2EB-38A2E9BE9B02}" type="slidenum">
              <a:rPr lang="zh-CN" altLang="en-US" b="0" smtClean="0"/>
            </a:fld>
            <a:endParaRPr lang="en-US" altLang="zh-CN" b="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02E8F45-1E6F-426F-B687-DD43A883AECE}" type="slidenum">
              <a:rPr lang="zh-CN" altLang="en-US" b="0" smtClean="0"/>
            </a:fld>
            <a:endParaRPr lang="en-US" altLang="zh-CN" b="0"/>
          </a:p>
        </p:txBody>
      </p:sp>
      <p:sp>
        <p:nvSpPr>
          <p:cNvPr id="31747" name="Rectangle 2"/>
          <p:cNvSpPr>
            <a:spLocks noGrp="1" noRot="1" noChangeAspect="1" noChangeArrowheads="1" noTextEdit="1"/>
          </p:cNvSpPr>
          <p:nvPr>
            <p:ph type="sldImg"/>
          </p:nvPr>
        </p:nvSpPr>
        <p:spPr>
          <a:xfrm>
            <a:off x="381000" y="685800"/>
            <a:ext cx="6096000" cy="3429000"/>
          </a:xfrm>
        </p:spPr>
      </p:sp>
      <p:sp>
        <p:nvSpPr>
          <p:cNvPr id="31748"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zh-CN" altLang="en-US" sz="800"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AF7C85B-F1DF-4B21-88B1-CD85BD910844}" type="slidenum">
              <a:rPr lang="zh-CN" altLang="en-US" b="0" smtClean="0"/>
            </a:fld>
            <a:endParaRPr lang="en-US" altLang="zh-CN" b="0"/>
          </a:p>
        </p:txBody>
      </p:sp>
      <p:sp>
        <p:nvSpPr>
          <p:cNvPr id="33795" name="Rectangle 2"/>
          <p:cNvSpPr>
            <a:spLocks noGrp="1" noRot="1" noChangeAspect="1" noChangeArrowheads="1" noTextEdit="1"/>
          </p:cNvSpPr>
          <p:nvPr>
            <p:ph type="sldImg"/>
          </p:nvPr>
        </p:nvSpPr>
        <p:spPr>
          <a:xfrm>
            <a:off x="381000" y="685800"/>
            <a:ext cx="6096000" cy="3429000"/>
          </a:xfrm>
        </p:spPr>
      </p:sp>
      <p:sp>
        <p:nvSpPr>
          <p:cNvPr id="3379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solidFill>
                  <a:srgbClr val="FF0000"/>
                </a:solidFill>
                <a:latin typeface="Arial" panose="020B0604020202020204" pitchFamily="34" charset="0"/>
                <a:ea typeface="黑体" panose="02010609060101010101" pitchFamily="2" charset="-122"/>
              </a:rPr>
              <a:t>元素组成简化为</a:t>
            </a:r>
            <a:r>
              <a:rPr lang="en-US" altLang="zh-CN" dirty="0">
                <a:solidFill>
                  <a:srgbClr val="FF0000"/>
                </a:solidFill>
                <a:latin typeface="Arial" panose="020B0604020202020204" pitchFamily="34" charset="0"/>
                <a:ea typeface="黑体" panose="02010609060101010101" pitchFamily="2" charset="-122"/>
              </a:rPr>
              <a:t>C</a:t>
            </a:r>
            <a:r>
              <a:rPr lang="en-US" altLang="zh-CN" baseline="-25000" dirty="0">
                <a:solidFill>
                  <a:srgbClr val="FF0000"/>
                </a:solidFill>
                <a:latin typeface="Arial" panose="020B0604020202020204" pitchFamily="34" charset="0"/>
                <a:ea typeface="黑体" panose="02010609060101010101" pitchFamily="2" charset="-122"/>
              </a:rPr>
              <a:t>n</a:t>
            </a:r>
            <a:r>
              <a:rPr lang="en-US" altLang="zh-CN" dirty="0">
                <a:solidFill>
                  <a:srgbClr val="FF0000"/>
                </a:solidFill>
                <a:latin typeface="Arial" panose="020B0604020202020204" pitchFamily="34" charset="0"/>
                <a:ea typeface="黑体" panose="02010609060101010101" pitchFamily="2" charset="-122"/>
              </a:rPr>
              <a:t>(H</a:t>
            </a:r>
            <a:r>
              <a:rPr lang="en-US" altLang="zh-CN" baseline="-25000" dirty="0">
                <a:solidFill>
                  <a:srgbClr val="FF0000"/>
                </a:solidFill>
                <a:latin typeface="Arial" panose="020B0604020202020204" pitchFamily="34" charset="0"/>
                <a:ea typeface="黑体" panose="02010609060101010101" pitchFamily="2" charset="-122"/>
              </a:rPr>
              <a:t>2</a:t>
            </a:r>
            <a:r>
              <a:rPr lang="en-US" altLang="zh-CN" dirty="0">
                <a:solidFill>
                  <a:srgbClr val="FF0000"/>
                </a:solidFill>
                <a:latin typeface="Arial" panose="020B0604020202020204" pitchFamily="34" charset="0"/>
                <a:ea typeface="黑体" panose="02010609060101010101" pitchFamily="2" charset="-122"/>
              </a:rPr>
              <a:t>O)</a:t>
            </a:r>
            <a:r>
              <a:rPr lang="en-US" altLang="zh-CN" baseline="-25000" dirty="0">
                <a:solidFill>
                  <a:srgbClr val="FF0000"/>
                </a:solidFill>
                <a:latin typeface="Arial" panose="020B0604020202020204" pitchFamily="34" charset="0"/>
                <a:ea typeface="黑体" panose="02010609060101010101" pitchFamily="2" charset="-122"/>
              </a:rPr>
              <a:t>m</a:t>
            </a:r>
            <a:r>
              <a:rPr lang="zh-CN" altLang="en-US" sz="1000" dirty="0">
                <a:latin typeface="Arial" panose="020B0604020202020204" pitchFamily="34" charset="0"/>
                <a:ea typeface="黑体" panose="02010609060101010101" pitchFamily="2" charset="-122"/>
              </a:rPr>
              <a:t>并不全面</a:t>
            </a:r>
            <a:r>
              <a:rPr lang="en-US" altLang="zh-CN" sz="1000" dirty="0">
                <a:latin typeface="Arial" panose="020B0604020202020204" pitchFamily="34" charset="0"/>
                <a:ea typeface="黑体" panose="02010609060101010101" pitchFamily="2" charset="-122"/>
              </a:rPr>
              <a:t> </a:t>
            </a:r>
            <a:r>
              <a:rPr lang="zh-CN" altLang="en-US" sz="1000" dirty="0">
                <a:latin typeface="Arial" panose="020B0604020202020204" pitchFamily="34" charset="0"/>
                <a:ea typeface="黑体" panose="02010609060101010101" pitchFamily="2" charset="-122"/>
              </a:rPr>
              <a:t>， 比如： </a:t>
            </a:r>
            <a:r>
              <a:rPr kumimoji="1" lang="zh-CN" altLang="en-US" dirty="0">
                <a:solidFill>
                  <a:srgbClr val="3333CC"/>
                </a:solidFill>
                <a:latin typeface="Times New Roman" panose="02020603050405020304" pitchFamily="18" charset="0"/>
              </a:rPr>
              <a:t>鼠李糖及岩藻糖（</a:t>
            </a:r>
            <a:r>
              <a:rPr kumimoji="1" lang="en-US" altLang="zh-CN" dirty="0">
                <a:solidFill>
                  <a:srgbClr val="3333CC"/>
                </a:solidFill>
                <a:latin typeface="Times New Roman" panose="02020603050405020304" pitchFamily="18" charset="0"/>
              </a:rPr>
              <a:t>C</a:t>
            </a:r>
            <a:r>
              <a:rPr kumimoji="1" lang="en-US" altLang="zh-CN" baseline="-25000" dirty="0">
                <a:solidFill>
                  <a:srgbClr val="3333CC"/>
                </a:solidFill>
                <a:latin typeface="Times New Roman" panose="02020603050405020304" pitchFamily="18" charset="0"/>
              </a:rPr>
              <a:t>6</a:t>
            </a:r>
            <a:r>
              <a:rPr kumimoji="1" lang="en-US" altLang="zh-CN" dirty="0">
                <a:solidFill>
                  <a:srgbClr val="3333CC"/>
                </a:solidFill>
                <a:latin typeface="Times New Roman" panose="02020603050405020304" pitchFamily="18" charset="0"/>
              </a:rPr>
              <a:t>H</a:t>
            </a:r>
            <a:r>
              <a:rPr kumimoji="1" lang="en-US" altLang="zh-CN" baseline="-25000" dirty="0">
                <a:solidFill>
                  <a:srgbClr val="3333CC"/>
                </a:solidFill>
                <a:latin typeface="Times New Roman" panose="02020603050405020304" pitchFamily="18" charset="0"/>
              </a:rPr>
              <a:t>12</a:t>
            </a:r>
            <a:r>
              <a:rPr kumimoji="1" lang="en-US" altLang="zh-CN" dirty="0">
                <a:solidFill>
                  <a:srgbClr val="3333CC"/>
                </a:solidFill>
                <a:latin typeface="Times New Roman" panose="02020603050405020304" pitchFamily="18" charset="0"/>
              </a:rPr>
              <a:t>O</a:t>
            </a:r>
            <a:r>
              <a:rPr kumimoji="1" lang="en-US" altLang="zh-CN" baseline="-25000" dirty="0">
                <a:solidFill>
                  <a:srgbClr val="3333CC"/>
                </a:solidFill>
                <a:latin typeface="Times New Roman" panose="02020603050405020304" pitchFamily="18" charset="0"/>
              </a:rPr>
              <a:t>5</a:t>
            </a:r>
            <a:r>
              <a:rPr kumimoji="1" lang="en-US" altLang="zh-CN" dirty="0">
                <a:solidFill>
                  <a:srgbClr val="3333CC"/>
                </a:solidFill>
                <a:latin typeface="Times New Roman" panose="02020603050405020304" pitchFamily="18" charset="0"/>
              </a:rPr>
              <a:t>)</a:t>
            </a:r>
            <a:r>
              <a:rPr kumimoji="1" lang="zh-CN" altLang="en-US" dirty="0">
                <a:solidFill>
                  <a:srgbClr val="3333CC"/>
                </a:solidFill>
                <a:latin typeface="Times New Roman" panose="02020603050405020304" pitchFamily="18" charset="0"/>
              </a:rPr>
              <a:t>、脱氧核糖（</a:t>
            </a:r>
            <a:r>
              <a:rPr kumimoji="1" lang="en-US" altLang="zh-CN" dirty="0">
                <a:solidFill>
                  <a:srgbClr val="3333CC"/>
                </a:solidFill>
                <a:latin typeface="Times New Roman" panose="02020603050405020304" pitchFamily="18" charset="0"/>
              </a:rPr>
              <a:t>C</a:t>
            </a:r>
            <a:r>
              <a:rPr kumimoji="1" lang="en-US" altLang="zh-CN" baseline="-25000" dirty="0">
                <a:solidFill>
                  <a:srgbClr val="3333CC"/>
                </a:solidFill>
                <a:latin typeface="Times New Roman" panose="02020603050405020304" pitchFamily="18" charset="0"/>
              </a:rPr>
              <a:t>5</a:t>
            </a:r>
            <a:r>
              <a:rPr kumimoji="1" lang="en-US" altLang="zh-CN" dirty="0">
                <a:solidFill>
                  <a:srgbClr val="3333CC"/>
                </a:solidFill>
                <a:latin typeface="Times New Roman" panose="02020603050405020304" pitchFamily="18" charset="0"/>
              </a:rPr>
              <a:t>H</a:t>
            </a:r>
            <a:r>
              <a:rPr kumimoji="1" lang="en-US" altLang="zh-CN" baseline="-25000" dirty="0">
                <a:solidFill>
                  <a:srgbClr val="3333CC"/>
                </a:solidFill>
                <a:latin typeface="Times New Roman" panose="02020603050405020304" pitchFamily="18" charset="0"/>
              </a:rPr>
              <a:t>10</a:t>
            </a:r>
            <a:r>
              <a:rPr kumimoji="1" lang="en-US" altLang="zh-CN" dirty="0">
                <a:solidFill>
                  <a:srgbClr val="3333CC"/>
                </a:solidFill>
                <a:latin typeface="Times New Roman" panose="02020603050405020304" pitchFamily="18" charset="0"/>
              </a:rPr>
              <a:t>O</a:t>
            </a:r>
            <a:r>
              <a:rPr kumimoji="1" lang="en-US" altLang="zh-CN" baseline="-25000" dirty="0">
                <a:solidFill>
                  <a:srgbClr val="3333CC"/>
                </a:solidFill>
                <a:latin typeface="Times New Roman" panose="02020603050405020304" pitchFamily="18" charset="0"/>
              </a:rPr>
              <a:t>4</a:t>
            </a:r>
            <a:r>
              <a:rPr kumimoji="1" lang="en-US" altLang="zh-CN" dirty="0">
                <a:solidFill>
                  <a:srgbClr val="3333CC"/>
                </a:solidFill>
                <a:latin typeface="Times New Roman" panose="02020603050405020304" pitchFamily="18" charset="0"/>
              </a:rPr>
              <a:t>)</a:t>
            </a:r>
            <a:endParaRPr kumimoji="1" lang="en-US" altLang="zh-CN" dirty="0">
              <a:latin typeface="Times New Roman" panose="02020603050405020304" pitchFamily="18" charset="0"/>
            </a:endParaRPr>
          </a:p>
          <a:p>
            <a:pPr eaLnBrk="1" hangingPunct="1"/>
            <a:endParaRPr lang="en-US" altLang="zh-CN" dirty="0">
              <a:latin typeface="Arial" panose="020B0604020202020204" pitchFamily="34" charset="0"/>
            </a:endParaRPr>
          </a:p>
          <a:p>
            <a:pPr eaLnBrk="1" hangingPunct="1"/>
            <a:r>
              <a:rPr lang="en-US" altLang="zh-CN" dirty="0">
                <a:latin typeface="Arial" panose="020B0604020202020204" pitchFamily="34" charset="0"/>
              </a:rPr>
              <a:t>the word “saccharide” is derived from the Greek </a:t>
            </a:r>
            <a:r>
              <a:rPr lang="en-US" altLang="zh-CN" dirty="0" err="1">
                <a:latin typeface="Arial" panose="020B0604020202020204" pitchFamily="34" charset="0"/>
              </a:rPr>
              <a:t>sakcharon</a:t>
            </a:r>
            <a:r>
              <a:rPr lang="en-US" altLang="zh-CN" dirty="0">
                <a:latin typeface="Arial" panose="020B0604020202020204" pitchFamily="34" charset="0"/>
              </a:rPr>
              <a:t>, meaning “sugar”.</a:t>
            </a:r>
            <a:endParaRPr lang="en-US"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48AEA9CA-240A-4925-96A8-3DAD63C79A6D}" type="slidenum">
              <a:rPr lang="zh-CN" altLang="en-US" b="0" smtClean="0"/>
            </a:fld>
            <a:endParaRPr lang="en-US" altLang="zh-CN" b="0"/>
          </a:p>
        </p:txBody>
      </p:sp>
      <p:sp>
        <p:nvSpPr>
          <p:cNvPr id="35843" name="Rectangle 2"/>
          <p:cNvSpPr>
            <a:spLocks noGrp="1" noRot="1" noChangeAspect="1" noChangeArrowheads="1" noTextEdit="1"/>
          </p:cNvSpPr>
          <p:nvPr>
            <p:ph type="sldImg"/>
          </p:nvPr>
        </p:nvSpPr>
        <p:spPr>
          <a:xfrm>
            <a:off x="381000" y="685800"/>
            <a:ext cx="6096000" cy="3429000"/>
          </a:xfrm>
        </p:spPr>
      </p:sp>
      <p:sp>
        <p:nvSpPr>
          <p:cNvPr id="35844"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000" dirty="0">
                <a:latin typeface="Arial" panose="020B0604020202020204" pitchFamily="34" charset="0"/>
              </a:rPr>
              <a:t>天然存在的葡萄糖均为</a:t>
            </a:r>
            <a:r>
              <a:rPr lang="en-US" altLang="zh-CN" sz="1000" dirty="0">
                <a:latin typeface="Arial" panose="020B0604020202020204" pitchFamily="34" charset="0"/>
              </a:rPr>
              <a:t>D-</a:t>
            </a:r>
            <a:r>
              <a:rPr lang="zh-CN" altLang="en-US" sz="1000" dirty="0">
                <a:latin typeface="Arial" panose="020B0604020202020204" pitchFamily="34" charset="0"/>
              </a:rPr>
              <a:t>（</a:t>
            </a:r>
            <a:r>
              <a:rPr lang="en-US" altLang="zh-CN" sz="1000" dirty="0">
                <a:latin typeface="Arial" panose="020B0604020202020204" pitchFamily="34" charset="0"/>
              </a:rPr>
              <a:t>+</a:t>
            </a:r>
            <a:r>
              <a:rPr lang="zh-CN" altLang="en-US" sz="1000" dirty="0">
                <a:latin typeface="Arial" panose="020B0604020202020204" pitchFamily="34" charset="0"/>
              </a:rPr>
              <a:t>）</a:t>
            </a:r>
            <a:r>
              <a:rPr lang="en-US" altLang="zh-CN" sz="1000" dirty="0">
                <a:latin typeface="Arial" panose="020B0604020202020204" pitchFamily="34" charset="0"/>
              </a:rPr>
              <a:t>-</a:t>
            </a:r>
            <a:r>
              <a:rPr lang="zh-CN" altLang="en-US" sz="1000" dirty="0">
                <a:latin typeface="Arial" panose="020B0604020202020204" pitchFamily="34" charset="0"/>
              </a:rPr>
              <a:t>葡萄糖。 葡萄糖在固体状态时均为</a:t>
            </a:r>
            <a:r>
              <a:rPr lang="zh-CN" altLang="en-US" sz="1000" b="1" dirty="0">
                <a:latin typeface="Arial" panose="020B0604020202020204" pitchFamily="34" charset="0"/>
              </a:rPr>
              <a:t>吡喃糖</a:t>
            </a:r>
            <a:r>
              <a:rPr lang="zh-CN" altLang="en-US" sz="1000" dirty="0">
                <a:latin typeface="Arial" panose="020B0604020202020204" pitchFamily="34" charset="0"/>
              </a:rPr>
              <a:t>， 在溶液中，也几乎均为吡喃糖，极少量开链及呋喃糖</a:t>
            </a:r>
            <a:r>
              <a:rPr lang="en-US" altLang="zh-CN" sz="1000" dirty="0">
                <a:latin typeface="Arial" panose="020B0604020202020204" pitchFamily="34" charset="0"/>
              </a:rPr>
              <a:t>(</a:t>
            </a:r>
            <a:r>
              <a:rPr lang="zh-CN" altLang="en-US" sz="1000" dirty="0">
                <a:latin typeface="Arial" panose="020B0604020202020204" pitchFamily="34" charset="0"/>
              </a:rPr>
              <a:t>五环糖）， 且 </a:t>
            </a:r>
            <a:r>
              <a:rPr lang="en-US" altLang="zh-CN" sz="1000" dirty="0">
                <a:latin typeface="Arial" panose="020B0604020202020204" pitchFamily="34" charset="0"/>
              </a:rPr>
              <a:t>β-D-</a:t>
            </a:r>
            <a:r>
              <a:rPr lang="zh-CN" altLang="en-US" sz="1000" dirty="0">
                <a:latin typeface="Arial" panose="020B0604020202020204" pitchFamily="34" charset="0"/>
              </a:rPr>
              <a:t>葡萄糖与</a:t>
            </a:r>
            <a:r>
              <a:rPr lang="en-US" altLang="zh-CN" sz="1000" dirty="0">
                <a:latin typeface="Arial" panose="020B0604020202020204" pitchFamily="34" charset="0"/>
              </a:rPr>
              <a:t>a-D-</a:t>
            </a:r>
            <a:r>
              <a:rPr lang="zh-CN" altLang="en-US" sz="1000" dirty="0">
                <a:latin typeface="Arial" panose="020B0604020202020204" pitchFamily="34" charset="0"/>
              </a:rPr>
              <a:t>葡萄糖的比例约</a:t>
            </a:r>
            <a:r>
              <a:rPr lang="en-US" altLang="zh-CN" sz="1000" dirty="0">
                <a:latin typeface="Arial" panose="020B0604020202020204" pitchFamily="34" charset="0"/>
              </a:rPr>
              <a:t>2</a:t>
            </a:r>
            <a:r>
              <a:rPr lang="zh-CN" altLang="en-US" sz="1000" dirty="0">
                <a:latin typeface="Arial" panose="020B0604020202020204" pitchFamily="34" charset="0"/>
              </a:rPr>
              <a:t>：</a:t>
            </a:r>
            <a:r>
              <a:rPr lang="en-US" altLang="zh-CN" sz="1000" dirty="0">
                <a:latin typeface="Arial" panose="020B0604020202020204" pitchFamily="34" charset="0"/>
              </a:rPr>
              <a:t>1 </a:t>
            </a:r>
            <a:r>
              <a:rPr lang="zh-CN" altLang="en-US" sz="1000" dirty="0">
                <a:latin typeface="Arial" panose="020B0604020202020204" pitchFamily="34" charset="0"/>
              </a:rPr>
              <a:t>。</a:t>
            </a:r>
            <a:endParaRPr lang="en-US" altLang="zh-CN" sz="1000" dirty="0">
              <a:latin typeface="Arial" panose="020B0604020202020204" pitchFamily="34" charset="0"/>
            </a:endParaRPr>
          </a:p>
          <a:p>
            <a:pPr eaLnBrk="1" hangingPunct="1"/>
            <a:endParaRPr lang="en-US" altLang="zh-CN" sz="1000"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ChangeArrowheads="1" noTextEdit="1"/>
          </p:cNvSpPr>
          <p:nvPr>
            <p:ph type="sldImg"/>
          </p:nvPr>
        </p:nvSpPr>
        <p:spPr>
          <a:xfrm>
            <a:off x="381000" y="685800"/>
            <a:ext cx="6096000" cy="3429000"/>
          </a:xfrm>
        </p:spPr>
      </p:sp>
      <p:sp>
        <p:nvSpPr>
          <p:cNvPr id="378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000" dirty="0">
                <a:latin typeface="Arial" panose="020B0604020202020204" pitchFamily="34" charset="0"/>
              </a:rPr>
              <a:t>其实很难说哪种功能最重要，都是必要的功能。 </a:t>
            </a:r>
            <a:endParaRPr lang="zh-CN" altLang="en-US" sz="1000" dirty="0">
              <a:latin typeface="Arial" panose="020B0604020202020204" pitchFamily="34" charset="0"/>
            </a:endParaRPr>
          </a:p>
        </p:txBody>
      </p:sp>
      <p:sp>
        <p:nvSpPr>
          <p:cNvPr id="378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D59DB46-1010-46B6-A875-ED03D74FADEC}" type="slidenum">
              <a:rPr lang="zh-CN" altLang="en-US" b="0" smtClean="0"/>
            </a:fld>
            <a:endParaRPr lang="en-US" altLang="zh-CN" b="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ChangeArrowheads="1" noTextEdit="1"/>
          </p:cNvSpPr>
          <p:nvPr>
            <p:ph type="sldImg"/>
          </p:nvPr>
        </p:nvSpPr>
        <p:spPr>
          <a:xfrm>
            <a:off x="381000" y="685800"/>
            <a:ext cx="6096000" cy="3429000"/>
          </a:xfrm>
        </p:spPr>
      </p:sp>
      <p:sp>
        <p:nvSpPr>
          <p:cNvPr id="399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99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AE23E4F-9A46-4166-96B2-BA510CAF216A}" type="slidenum">
              <a:rPr lang="zh-CN" altLang="en-US" b="0" smtClean="0"/>
            </a:fld>
            <a:endParaRPr lang="en-US" altLang="zh-CN" b="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DB43EBE-37BC-4EAA-8730-8650D4E4C4F7}" type="slidenum">
              <a:rPr lang="zh-CN" altLang="en-US" b="0" smtClean="0"/>
            </a:fld>
            <a:endParaRPr lang="en-US" altLang="zh-CN" b="0"/>
          </a:p>
        </p:txBody>
      </p:sp>
      <p:sp>
        <p:nvSpPr>
          <p:cNvPr id="41987" name="Rectangle 2"/>
          <p:cNvSpPr>
            <a:spLocks noGrp="1" noRot="1" noChangeAspect="1" noChangeArrowheads="1" noTextEdit="1"/>
          </p:cNvSpPr>
          <p:nvPr>
            <p:ph type="sldImg"/>
          </p:nvPr>
        </p:nvSpPr>
        <p:spPr>
          <a:xfrm>
            <a:off x="381000" y="685800"/>
            <a:ext cx="6096000" cy="3429000"/>
          </a:xfrm>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海藻糖（</a:t>
            </a:r>
            <a:r>
              <a:rPr lang="en-US" altLang="zh-CN" dirty="0">
                <a:latin typeface="Arial" panose="020B0604020202020204" pitchFamily="34" charset="0"/>
              </a:rPr>
              <a:t>trehalose)</a:t>
            </a:r>
            <a:r>
              <a:rPr lang="zh-CN" altLang="en-US" dirty="0">
                <a:latin typeface="Arial" panose="020B0604020202020204" pitchFamily="34" charset="0"/>
              </a:rPr>
              <a:t>是一种由两个</a:t>
            </a:r>
            <a:r>
              <a:rPr lang="en-US" altLang="zh-CN" dirty="0">
                <a:latin typeface="Arial" panose="020B0604020202020204" pitchFamily="34" charset="0"/>
              </a:rPr>
              <a:t>α-</a:t>
            </a:r>
            <a:r>
              <a:rPr lang="zh-CN" altLang="en-US" dirty="0">
                <a:latin typeface="Arial" panose="020B0604020202020204" pitchFamily="34" charset="0"/>
              </a:rPr>
              <a:t>葡萄糖以</a:t>
            </a:r>
            <a:r>
              <a:rPr lang="en-US" altLang="zh-CN" dirty="0">
                <a:latin typeface="Arial" panose="020B0604020202020204" pitchFamily="34" charset="0"/>
              </a:rPr>
              <a:t>1,1-</a:t>
            </a:r>
            <a:r>
              <a:rPr lang="zh-CN" altLang="en-US" dirty="0">
                <a:latin typeface="Arial" panose="020B0604020202020204" pitchFamily="34" charset="0"/>
              </a:rPr>
              <a:t>糖苷键形成的二糖，可由海藻糖酶分解为两分子葡萄糖</a:t>
            </a:r>
            <a:endParaRPr lang="zh-CN" altLang="en-US"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F083C15-320F-4259-82F0-A08807AD3367}" type="slidenum">
              <a:rPr lang="zh-CN" altLang="en-US" b="0" smtClean="0"/>
            </a:fld>
            <a:endParaRPr lang="en-US" altLang="zh-CN" b="0"/>
          </a:p>
        </p:txBody>
      </p:sp>
      <p:sp>
        <p:nvSpPr>
          <p:cNvPr id="44035" name="Rectangle 2"/>
          <p:cNvSpPr>
            <a:spLocks noGrp="1" noRot="1" noChangeAspect="1" noChangeArrowheads="1" noTextEdit="1"/>
          </p:cNvSpPr>
          <p:nvPr>
            <p:ph type="sldImg"/>
          </p:nvPr>
        </p:nvSpPr>
        <p:spPr>
          <a:xfrm>
            <a:off x="381000" y="685800"/>
            <a:ext cx="6096000" cy="3429000"/>
          </a:xfrm>
        </p:spPr>
      </p:sp>
      <p:sp>
        <p:nvSpPr>
          <p:cNvPr id="4403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kumimoji="1" lang="en-US" altLang="zh-CN" dirty="0">
              <a:solidFill>
                <a:schemeClr val="folHlink"/>
              </a:solidFill>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4C16793F-0831-47CC-A84A-9123F4624999}" type="slidenum">
              <a:rPr lang="zh-CN" altLang="en-US" b="0" smtClean="0"/>
            </a:fld>
            <a:endParaRPr lang="en-US" altLang="zh-CN" b="0"/>
          </a:p>
        </p:txBody>
      </p:sp>
      <p:sp>
        <p:nvSpPr>
          <p:cNvPr id="48131" name="Rectangle 2"/>
          <p:cNvSpPr>
            <a:spLocks noGrp="1" noRot="1" noChangeAspect="1" noChangeArrowheads="1" noTextEdit="1"/>
          </p:cNvSpPr>
          <p:nvPr>
            <p:ph type="sldImg"/>
          </p:nvPr>
        </p:nvSpPr>
        <p:spPr>
          <a:xfrm>
            <a:off x="381000" y="685800"/>
            <a:ext cx="6096000" cy="3429000"/>
          </a:xfrm>
        </p:spPr>
      </p:sp>
      <p:sp>
        <p:nvSpPr>
          <p:cNvPr id="4813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红色标明的为非还原端。</a:t>
            </a:r>
            <a:endParaRPr lang="zh-CN" altLang="en-US" dirty="0">
              <a:latin typeface="Arial" panose="020B0604020202020204" pitchFamily="34" charset="0"/>
            </a:endParaRPr>
          </a:p>
          <a:p>
            <a:pPr eaLnBrk="1" hangingPunct="1"/>
            <a:r>
              <a:rPr lang="zh-CN" altLang="en-US" dirty="0">
                <a:latin typeface="Arial" panose="020B0604020202020204" pitchFamily="34" charset="0"/>
              </a:rPr>
              <a:t>相对分子量可高达</a:t>
            </a:r>
            <a:r>
              <a:rPr lang="en-US" altLang="zh-CN" dirty="0">
                <a:latin typeface="Arial" panose="020B0604020202020204" pitchFamily="34" charset="0"/>
              </a:rPr>
              <a:t>1</a:t>
            </a:r>
            <a:r>
              <a:rPr lang="zh-CN" altLang="en-US" dirty="0">
                <a:latin typeface="Arial" panose="020B0604020202020204" pitchFamily="34" charset="0"/>
              </a:rPr>
              <a:t>亿</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en-US" altLang="zh-CN" dirty="0">
                <a:latin typeface="Arial" panose="020B0604020202020204" pitchFamily="34" charset="0"/>
              </a:rPr>
              <a:t>glycogen is more extensively branched (on average, every 8 to 12 residues)</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p:nvPr>
        </p:nvSpPr>
        <p:spPr>
          <a:xfrm>
            <a:off x="381000" y="685800"/>
            <a:ext cx="6096000" cy="3429000"/>
          </a:xfrm>
        </p:spPr>
      </p:sp>
      <p:sp>
        <p:nvSpPr>
          <p:cNvPr id="501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Formation of hemiacetals and hemiketals.    An aldehyde or ketone can react with an alcohol in a 1:1 ratio to yield a hemiacetal or hemiketal, respectively, </a:t>
            </a:r>
            <a:r>
              <a:rPr lang="en-US" altLang="zh-CN" b="1" dirty="0">
                <a:latin typeface="Arial" panose="020B0604020202020204" pitchFamily="34" charset="0"/>
              </a:rPr>
              <a:t>creating a new chiral center </a:t>
            </a:r>
            <a:r>
              <a:rPr lang="en-US" altLang="zh-CN" dirty="0">
                <a:latin typeface="Arial" panose="020B0604020202020204" pitchFamily="34" charset="0"/>
              </a:rPr>
              <a:t>at the carbonyl carbon</a:t>
            </a:r>
            <a:r>
              <a:rPr lang="zh-CN" altLang="en-US" dirty="0">
                <a:latin typeface="Arial" panose="020B0604020202020204" pitchFamily="34" charset="0"/>
              </a:rPr>
              <a:t>羰基碳</a:t>
            </a:r>
            <a:r>
              <a:rPr lang="en-US" altLang="zh-CN" dirty="0">
                <a:latin typeface="Arial" panose="020B0604020202020204" pitchFamily="34" charset="0"/>
              </a:rPr>
              <a:t>. Substitution of a second alcohol molecule produces an acetal or ketal. When the second alcohol is part of another sugar molecule, the bond produced is a </a:t>
            </a:r>
            <a:r>
              <a:rPr lang="en-US" altLang="zh-CN" b="1" dirty="0">
                <a:latin typeface="Arial" panose="020B0604020202020204" pitchFamily="34" charset="0"/>
              </a:rPr>
              <a:t>glycosidic bond</a:t>
            </a:r>
            <a:r>
              <a:rPr lang="zh-CN" altLang="en-US" b="1" dirty="0">
                <a:latin typeface="Arial" panose="020B0604020202020204" pitchFamily="34" charset="0"/>
              </a:rPr>
              <a:t>糖苷键</a:t>
            </a:r>
            <a:r>
              <a:rPr lang="en-US" altLang="zh-CN" b="1" dirty="0">
                <a:latin typeface="Arial" panose="020B0604020202020204" pitchFamily="34" charset="0"/>
              </a:rPr>
              <a:t>. </a:t>
            </a:r>
            <a:endParaRPr lang="en-US" altLang="zh-CN" b="1" dirty="0">
              <a:latin typeface="Arial" panose="020B0604020202020204" pitchFamily="34" charset="0"/>
            </a:endParaRPr>
          </a:p>
          <a:p>
            <a:endParaRPr lang="en-US" altLang="zh-CN" b="1" dirty="0">
              <a:latin typeface="Arial" panose="020B0604020202020204" pitchFamily="34" charset="0"/>
            </a:endParaRPr>
          </a:p>
          <a:p>
            <a:r>
              <a:rPr lang="en-US" altLang="zh-CN" b="1" dirty="0">
                <a:latin typeface="Arial" panose="020B0604020202020204" pitchFamily="34" charset="0"/>
              </a:rPr>
              <a:t>Acetal </a:t>
            </a:r>
            <a:r>
              <a:rPr lang="zh-CN" altLang="en-US" b="1" dirty="0">
                <a:latin typeface="Arial" panose="020B0604020202020204" pitchFamily="34" charset="0"/>
              </a:rPr>
              <a:t>缩醛</a:t>
            </a:r>
            <a:endParaRPr lang="zh-CN" altLang="en-US" b="1" dirty="0">
              <a:latin typeface="Arial" panose="020B0604020202020204" pitchFamily="34" charset="0"/>
            </a:endParaRPr>
          </a:p>
        </p:txBody>
      </p:sp>
      <p:sp>
        <p:nvSpPr>
          <p:cNvPr id="501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B112933-0072-457E-B0CB-1FDA7DA896AC}" type="slidenum">
              <a:rPr lang="zh-CN" altLang="en-US" b="0" smtClean="0">
                <a:ea typeface="楷体_GB2312" pitchFamily="49" charset="-122"/>
              </a:rPr>
            </a:fld>
            <a:endParaRPr lang="en-US" altLang="zh-CN" b="0">
              <a:ea typeface="楷体_GB2312" pitchFamily="49"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ChangeArrowheads="1" noTextEdit="1"/>
          </p:cNvSpPr>
          <p:nvPr>
            <p:ph type="sldImg"/>
          </p:nvPr>
        </p:nvSpPr>
        <p:spPr>
          <a:xfrm>
            <a:off x="381000" y="685800"/>
            <a:ext cx="6096000" cy="3429000"/>
          </a:xfrm>
        </p:spPr>
      </p:sp>
      <p:sp>
        <p:nvSpPr>
          <p:cNvPr id="522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If the -OH and carbonyl groups are from the same molecule, a five- or six-membered ring results.   </a:t>
            </a:r>
            <a:r>
              <a:rPr lang="zh-CN" altLang="en-US" b="1" dirty="0">
                <a:latin typeface="Arial" panose="020B0604020202020204" pitchFamily="34" charset="0"/>
              </a:rPr>
              <a:t>吡喃糖中的</a:t>
            </a:r>
            <a:r>
              <a:rPr lang="en-US" altLang="zh-CN" b="1" dirty="0">
                <a:latin typeface="Arial" panose="020B0604020202020204" pitchFamily="34" charset="0"/>
              </a:rPr>
              <a:t>C1-OH</a:t>
            </a:r>
            <a:r>
              <a:rPr lang="zh-CN" altLang="en-US" b="1" dirty="0">
                <a:latin typeface="Arial" panose="020B0604020202020204" pitchFamily="34" charset="0"/>
              </a:rPr>
              <a:t>即半缩醛羟基</a:t>
            </a:r>
            <a:r>
              <a:rPr lang="zh-CN" altLang="en-US" dirty="0">
                <a:latin typeface="Arial" panose="020B0604020202020204" pitchFamily="34" charset="0"/>
              </a:rPr>
              <a:t>。   链状结构时</a:t>
            </a:r>
            <a:r>
              <a:rPr lang="en-US" altLang="zh-CN" dirty="0">
                <a:latin typeface="Arial" panose="020B0604020202020204" pitchFamily="34" charset="0"/>
              </a:rPr>
              <a:t>C1</a:t>
            </a:r>
            <a:r>
              <a:rPr lang="zh-CN" altLang="en-US" dirty="0">
                <a:latin typeface="Arial" panose="020B0604020202020204" pitchFamily="34" charset="0"/>
              </a:rPr>
              <a:t>不是手性碳，成环后</a:t>
            </a:r>
            <a:r>
              <a:rPr lang="en-US" altLang="zh-CN" dirty="0">
                <a:latin typeface="Arial" panose="020B0604020202020204" pitchFamily="34" charset="0"/>
              </a:rPr>
              <a:t>C1</a:t>
            </a:r>
            <a:r>
              <a:rPr lang="zh-CN" altLang="en-US" dirty="0">
                <a:latin typeface="Arial" panose="020B0604020202020204" pitchFamily="34" charset="0"/>
              </a:rPr>
              <a:t>变为手性碳，这个碳原子又被称为</a:t>
            </a:r>
            <a:r>
              <a:rPr lang="zh-CN" altLang="en-US" b="1" dirty="0">
                <a:latin typeface="Arial" panose="020B0604020202020204" pitchFamily="34" charset="0"/>
              </a:rPr>
              <a:t>异头碳（</a:t>
            </a:r>
            <a:r>
              <a:rPr lang="en-US" altLang="zh-CN" b="1" dirty="0">
                <a:latin typeface="Arial" panose="020B0604020202020204" pitchFamily="34" charset="0"/>
              </a:rPr>
              <a:t>anomeric carbon</a:t>
            </a:r>
            <a:r>
              <a:rPr lang="zh-CN" altLang="en-US" b="1" dirty="0">
                <a:latin typeface="Arial" panose="020B0604020202020204" pitchFamily="34" charset="0"/>
              </a:rPr>
              <a:t>）</a:t>
            </a:r>
            <a:r>
              <a:rPr lang="zh-CN" altLang="en-US" dirty="0">
                <a:latin typeface="Arial" panose="020B0604020202020204" pitchFamily="34" charset="0"/>
              </a:rPr>
              <a:t>。 </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522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0F116DB-17A0-42F9-81E6-45DA738CA26B}" type="slidenum">
              <a:rPr lang="zh-CN" altLang="en-US" b="0" smtClean="0">
                <a:ea typeface="楷体_GB2312" pitchFamily="49" charset="-122"/>
              </a:rPr>
            </a:fld>
            <a:endParaRPr lang="en-US" altLang="zh-CN" b="0">
              <a:ea typeface="楷体_GB2312" pitchFamily="49"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ChangeArrowheads="1" noTextEdit="1"/>
          </p:cNvSpPr>
          <p:nvPr>
            <p:ph type="sldImg"/>
          </p:nvPr>
        </p:nvSpPr>
        <p:spPr>
          <a:xfrm>
            <a:off x="381000" y="685800"/>
            <a:ext cx="6096000" cy="3429000"/>
          </a:xfrm>
        </p:spPr>
      </p:sp>
      <p:sp>
        <p:nvSpPr>
          <p:cNvPr id="542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异麦芽糖（</a:t>
            </a:r>
            <a:r>
              <a:rPr lang="en-US" altLang="zh-CN" dirty="0">
                <a:latin typeface="Arial" panose="020B0604020202020204" pitchFamily="34" charset="0"/>
              </a:rPr>
              <a:t>Isomaltose</a:t>
            </a:r>
            <a:r>
              <a:rPr lang="zh-CN" altLang="en-US" dirty="0">
                <a:latin typeface="Arial" panose="020B0604020202020204" pitchFamily="34" charset="0"/>
              </a:rPr>
              <a:t>）是两个葡萄糖分子以</a:t>
            </a:r>
            <a:r>
              <a:rPr lang="en-US" altLang="zh-CN" dirty="0">
                <a:latin typeface="Arial" panose="020B0604020202020204" pitchFamily="34" charset="0"/>
              </a:rPr>
              <a:t>α-1</a:t>
            </a:r>
            <a:r>
              <a:rPr lang="zh-CN" altLang="en-US" dirty="0">
                <a:latin typeface="Arial" panose="020B0604020202020204" pitchFamily="34" charset="0"/>
              </a:rPr>
              <a:t>，</a:t>
            </a:r>
            <a:r>
              <a:rPr lang="en-US" altLang="zh-CN" dirty="0">
                <a:latin typeface="Arial" panose="020B0604020202020204" pitchFamily="34" charset="0"/>
              </a:rPr>
              <a:t>6</a:t>
            </a:r>
            <a:r>
              <a:rPr lang="zh-CN" altLang="en-US" dirty="0">
                <a:latin typeface="Arial" panose="020B0604020202020204" pitchFamily="34" charset="0"/>
              </a:rPr>
              <a:t>糖苷键连接起来的双糖。</a:t>
            </a:r>
            <a:endParaRPr lang="en-US" altLang="zh-CN" dirty="0">
              <a:latin typeface="Arial" panose="020B0604020202020204" pitchFamily="34" charset="0"/>
            </a:endParaRPr>
          </a:p>
          <a:p>
            <a:r>
              <a:rPr lang="en-US" altLang="zh-CN" i="1" dirty="0">
                <a:latin typeface="Arial" panose="020B0604020202020204" pitchFamily="34" charset="0"/>
              </a:rPr>
              <a:t>ɑ—</a:t>
            </a:r>
            <a:r>
              <a:rPr lang="zh-CN" altLang="en-US" i="1" dirty="0">
                <a:latin typeface="Arial" panose="020B0604020202020204" pitchFamily="34" charset="0"/>
              </a:rPr>
              <a:t>极限糊精 （</a:t>
            </a:r>
            <a:r>
              <a:rPr lang="en-US" altLang="zh-CN" i="1" dirty="0">
                <a:latin typeface="Arial" panose="020B0604020202020204" pitchFamily="34" charset="0"/>
              </a:rPr>
              <a:t>ɑ-limit dextrin)</a:t>
            </a:r>
            <a:r>
              <a:rPr lang="zh-CN" altLang="en-US" i="1" dirty="0">
                <a:latin typeface="Arial" panose="020B0604020202020204" pitchFamily="34" charset="0"/>
              </a:rPr>
              <a:t>由</a:t>
            </a:r>
            <a:r>
              <a:rPr lang="en-US" altLang="zh-CN" i="1" dirty="0">
                <a:latin typeface="Arial" panose="020B0604020202020204" pitchFamily="34" charset="0"/>
              </a:rPr>
              <a:t>4—9</a:t>
            </a:r>
            <a:r>
              <a:rPr lang="zh-CN" altLang="en-US" i="1" dirty="0">
                <a:latin typeface="Arial" panose="020B0604020202020204" pitchFamily="34" charset="0"/>
              </a:rPr>
              <a:t>个葡萄糖组成，和异麦芽糖一样，其分支结构由</a:t>
            </a:r>
            <a:r>
              <a:rPr lang="en-US" altLang="zh-CN" i="1" dirty="0">
                <a:latin typeface="Arial" panose="020B0604020202020204" pitchFamily="34" charset="0"/>
              </a:rPr>
              <a:t>ɑ—1</a:t>
            </a:r>
            <a:r>
              <a:rPr lang="zh-CN" altLang="en-US" i="1" dirty="0">
                <a:latin typeface="Arial" panose="020B0604020202020204" pitchFamily="34" charset="0"/>
              </a:rPr>
              <a:t>，</a:t>
            </a:r>
            <a:r>
              <a:rPr lang="en-US" altLang="zh-CN" i="1" dirty="0">
                <a:latin typeface="Arial" panose="020B0604020202020204" pitchFamily="34" charset="0"/>
              </a:rPr>
              <a:t>6</a:t>
            </a:r>
            <a:r>
              <a:rPr lang="zh-CN" altLang="en-US" i="1" dirty="0">
                <a:latin typeface="Arial" panose="020B0604020202020204" pitchFamily="34" charset="0"/>
              </a:rPr>
              <a:t>糖苷键组成。 </a:t>
            </a:r>
            <a:endParaRPr lang="zh-CN" altLang="en-US" i="1" dirty="0">
              <a:latin typeface="Arial" panose="020B0604020202020204" pitchFamily="34" charset="0"/>
            </a:endParaRPr>
          </a:p>
          <a:p>
            <a:endParaRPr lang="en-US" altLang="zh-CN" b="1" i="1" dirty="0">
              <a:latin typeface="Arial" panose="020B0604020202020204" pitchFamily="34" charset="0"/>
            </a:endParaRPr>
          </a:p>
          <a:p>
            <a:r>
              <a:rPr lang="zh-CN" altLang="en-US" b="0" i="0" dirty="0">
                <a:solidFill>
                  <a:srgbClr val="3C4043"/>
                </a:solidFill>
                <a:effectLst/>
                <a:latin typeface="Roboto" panose="02000000000000000000" pitchFamily="2" charset="0"/>
              </a:rPr>
              <a:t>淀粉酶都是糖苷水解酶，作用于 </a:t>
            </a:r>
            <a:r>
              <a:rPr lang="en-US" altLang="zh-CN" b="0" i="0" dirty="0">
                <a:solidFill>
                  <a:srgbClr val="3C4043"/>
                </a:solidFill>
                <a:effectLst/>
                <a:latin typeface="Roboto" panose="02000000000000000000" pitchFamily="2" charset="0"/>
              </a:rPr>
              <a:t>α-1,4-</a:t>
            </a:r>
            <a:r>
              <a:rPr lang="zh-CN" altLang="en-US" b="0" i="0" dirty="0">
                <a:solidFill>
                  <a:srgbClr val="3C4043"/>
                </a:solidFill>
                <a:effectLst/>
                <a:latin typeface="Roboto" panose="02000000000000000000" pitchFamily="2" charset="0"/>
              </a:rPr>
              <a:t>糖苷键。 </a:t>
            </a:r>
            <a:endParaRPr lang="en-US" altLang="zh-CN" b="1" i="1" dirty="0">
              <a:latin typeface="Arial" panose="020B0604020202020204" pitchFamily="34" charset="0"/>
            </a:endParaRPr>
          </a:p>
        </p:txBody>
      </p:sp>
      <p:sp>
        <p:nvSpPr>
          <p:cNvPr id="542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6A62E33-30F5-4C7D-B660-EE87A5A849BF}" type="slidenum">
              <a:rPr lang="zh-CN" altLang="en-US" b="0" smtClean="0"/>
            </a:fld>
            <a:endParaRPr lang="en-US" altLang="zh-CN" b="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ChangeArrowheads="1" noTextEdit="1"/>
          </p:cNvSpPr>
          <p:nvPr>
            <p:ph type="sldImg"/>
          </p:nvPr>
        </p:nvSpPr>
        <p:spPr>
          <a:xfrm>
            <a:off x="381000" y="685800"/>
            <a:ext cx="6096000" cy="3429000"/>
          </a:xfrm>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2DD69074-598E-4FD2-8514-31F7E3132D2C}" type="slidenum">
              <a:rPr lang="zh-CN" altLang="en-US" b="0" smtClean="0"/>
            </a:fld>
            <a:endParaRPr lang="en-US" altLang="zh-CN" b="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ChangeArrowheads="1" noTextEdit="1"/>
          </p:cNvSpPr>
          <p:nvPr>
            <p:ph type="sldImg"/>
          </p:nvPr>
        </p:nvSpPr>
        <p:spPr>
          <a:xfrm>
            <a:off x="381000" y="685800"/>
            <a:ext cx="6096000" cy="3429000"/>
          </a:xfrm>
        </p:spPr>
      </p:sp>
      <p:sp>
        <p:nvSpPr>
          <p:cNvPr id="583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乳糖在小肠内积累，引起强烈的</a:t>
            </a:r>
            <a:r>
              <a:rPr lang="zh-CN" altLang="en-US" b="1" dirty="0">
                <a:latin typeface="Arial" panose="020B0604020202020204" pitchFamily="34" charset="0"/>
              </a:rPr>
              <a:t>渗透效应</a:t>
            </a:r>
            <a:r>
              <a:rPr lang="zh-CN" altLang="en-US" dirty="0">
                <a:latin typeface="Arial" panose="020B0604020202020204" pitchFamily="34" charset="0"/>
              </a:rPr>
              <a:t>，导致液体渗出到肠腔； 乳糖进入结肠后被细菌发酵，产生大量</a:t>
            </a:r>
            <a:r>
              <a:rPr lang="en-US" altLang="zh-CN" dirty="0">
                <a:latin typeface="Arial" panose="020B0604020202020204" pitchFamily="34" charset="0"/>
              </a:rPr>
              <a:t>CO</a:t>
            </a:r>
            <a:r>
              <a:rPr lang="en-US" altLang="zh-CN" baseline="-25000"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H</a:t>
            </a:r>
            <a:r>
              <a:rPr lang="en-US" altLang="zh-CN" baseline="-25000" dirty="0">
                <a:latin typeface="Arial" panose="020B0604020202020204" pitchFamily="34" charset="0"/>
              </a:rPr>
              <a:t>2</a:t>
            </a:r>
            <a:r>
              <a:rPr lang="zh-CN" altLang="en-US" dirty="0">
                <a:latin typeface="Arial" panose="020B0604020202020204" pitchFamily="34" charset="0"/>
              </a:rPr>
              <a:t>及刺激性的有机酸，引起腹涨、排气、腹泻等症状。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如果一定要喝牛奶，每次只饮用少量，比如</a:t>
            </a:r>
            <a:r>
              <a:rPr lang="en-US" altLang="zh-CN" dirty="0">
                <a:latin typeface="Arial" panose="020B0604020202020204" pitchFamily="34" charset="0"/>
              </a:rPr>
              <a:t>200</a:t>
            </a:r>
            <a:r>
              <a:rPr lang="zh-CN" altLang="en-US" dirty="0">
                <a:latin typeface="Arial" panose="020B0604020202020204" pitchFamily="34" charset="0"/>
              </a:rPr>
              <a:t>毫升，通常不会有明显症状。</a:t>
            </a:r>
            <a:endParaRPr lang="en-US" altLang="zh-CN" dirty="0">
              <a:latin typeface="Arial" panose="020B0604020202020204" pitchFamily="34" charset="0"/>
            </a:endParaRPr>
          </a:p>
          <a:p>
            <a:r>
              <a:rPr lang="zh-CN" altLang="en-US" b="1" dirty="0">
                <a:latin typeface="Arial" panose="020B0604020202020204" pitchFamily="34" charset="0"/>
              </a:rPr>
              <a:t>乳糖不耐受症的症状一般轻微</a:t>
            </a:r>
            <a:r>
              <a:rPr lang="zh-CN" altLang="en-US" dirty="0">
                <a:latin typeface="Arial" panose="020B0604020202020204" pitchFamily="34" charset="0"/>
              </a:rPr>
              <a:t>。相反，乳糜泻、热带性口炎和肠道感染所导致的消化吸收不良症状就严重得多。</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牛奶过敏不同于乳糖不耐受症。牛奶过敏患者可以正常消化牛奶，但牛奶中的蛋白质会触发免疫系统作出反应</a:t>
            </a:r>
            <a:r>
              <a:rPr lang="en-US" altLang="zh-CN" dirty="0">
                <a:latin typeface="Arial" panose="020B0604020202020204" pitchFamily="34" charset="0"/>
              </a:rPr>
              <a:t>.</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583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DEECCEC-4310-4AA6-B1C1-80BC88E47F76}" type="slidenum">
              <a:rPr lang="zh-CN" altLang="en-US" b="0" smtClean="0"/>
            </a:fld>
            <a:endParaRPr lang="en-US" altLang="zh-CN" b="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ChangeArrowheads="1" noTextEdit="1"/>
          </p:cNvSpPr>
          <p:nvPr>
            <p:ph type="sldImg"/>
          </p:nvPr>
        </p:nvSpPr>
        <p:spPr>
          <a:xfrm>
            <a:off x="381000" y="685800"/>
            <a:ext cx="6096000" cy="3429000"/>
          </a:xfrm>
        </p:spPr>
      </p:sp>
      <p:sp>
        <p:nvSpPr>
          <p:cNvPr id="604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zh-CN" sz="1100" dirty="0">
              <a:latin typeface="Arial" panose="020B0604020202020204" pitchFamily="34" charset="0"/>
            </a:endParaRPr>
          </a:p>
          <a:p>
            <a:pPr>
              <a:lnSpc>
                <a:spcPct val="90000"/>
              </a:lnSpc>
            </a:pPr>
            <a:endParaRPr lang="zh-CN" altLang="en-US" sz="1100" dirty="0">
              <a:latin typeface="Arial" panose="020B0604020202020204" pitchFamily="34" charset="0"/>
            </a:endParaRPr>
          </a:p>
        </p:txBody>
      </p:sp>
      <p:sp>
        <p:nvSpPr>
          <p:cNvPr id="604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DF65C8B4-8AFA-450E-B1E2-771D6A012D84}" type="slidenum">
              <a:rPr lang="zh-CN" altLang="en-US" b="0" smtClean="0"/>
            </a:fld>
            <a:endParaRPr lang="en-US" altLang="zh-CN" b="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ChangeArrowheads="1" noTextEdit="1"/>
          </p:cNvSpPr>
          <p:nvPr>
            <p:ph type="sldImg"/>
          </p:nvPr>
        </p:nvSpPr>
        <p:spPr>
          <a:xfrm>
            <a:off x="381000" y="685800"/>
            <a:ext cx="6096000" cy="3429000"/>
          </a:xfrm>
        </p:spPr>
      </p:sp>
      <p:sp>
        <p:nvSpPr>
          <p:cNvPr id="624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顶端面</a:t>
            </a:r>
            <a:r>
              <a:rPr lang="en-US" altLang="zh-CN" dirty="0">
                <a:latin typeface="Arial" panose="020B0604020202020204" pitchFamily="34" charset="0"/>
              </a:rPr>
              <a:t>(</a:t>
            </a:r>
            <a:r>
              <a:rPr lang="en-US" altLang="zh-CN" i="1" dirty="0">
                <a:latin typeface="Arial" panose="020B0604020202020204" pitchFamily="34" charset="0"/>
              </a:rPr>
              <a:t>apical</a:t>
            </a:r>
            <a:r>
              <a:rPr lang="en-US" altLang="zh-CN" dirty="0">
                <a:latin typeface="Arial" panose="020B0604020202020204" pitchFamily="34" charset="0"/>
              </a:rPr>
              <a:t> </a:t>
            </a:r>
            <a:r>
              <a:rPr lang="en-US" altLang="zh-CN" i="1" dirty="0">
                <a:latin typeface="Arial" panose="020B0604020202020204" pitchFamily="34" charset="0"/>
              </a:rPr>
              <a:t>surface</a:t>
            </a:r>
            <a:r>
              <a:rPr lang="en-US" altLang="zh-CN" dirty="0">
                <a:latin typeface="Arial" panose="020B0604020202020204" pitchFamily="34" charset="0"/>
              </a:rPr>
              <a:t>)</a:t>
            </a:r>
            <a:r>
              <a:rPr lang="zh-CN" altLang="en-US" dirty="0">
                <a:latin typeface="Arial" panose="020B0604020202020204" pitchFamily="34" charset="0"/>
              </a:rPr>
              <a:t>面向肠腔</a:t>
            </a:r>
            <a:r>
              <a:rPr lang="en-US" altLang="zh-CN" dirty="0">
                <a:latin typeface="Arial" panose="020B0604020202020204" pitchFamily="34" charset="0"/>
              </a:rPr>
              <a:t>,</a:t>
            </a:r>
            <a:r>
              <a:rPr lang="zh-CN" altLang="en-US" dirty="0">
                <a:latin typeface="Arial" panose="020B0604020202020204" pitchFamily="34" charset="0"/>
              </a:rPr>
              <a:t>基底面</a:t>
            </a:r>
            <a:r>
              <a:rPr lang="en-US" altLang="zh-CN" dirty="0">
                <a:latin typeface="Arial" panose="020B0604020202020204" pitchFamily="34" charset="0"/>
              </a:rPr>
              <a:t>(</a:t>
            </a:r>
            <a:r>
              <a:rPr lang="en-US" altLang="zh-CN" i="1" dirty="0">
                <a:latin typeface="Arial" panose="020B0604020202020204" pitchFamily="34" charset="0"/>
              </a:rPr>
              <a:t>basal</a:t>
            </a:r>
            <a:r>
              <a:rPr lang="en-US" altLang="zh-CN" dirty="0">
                <a:latin typeface="Arial" panose="020B0604020202020204" pitchFamily="34" charset="0"/>
              </a:rPr>
              <a:t> </a:t>
            </a:r>
            <a:r>
              <a:rPr lang="en-US" altLang="zh-CN" i="1" dirty="0">
                <a:latin typeface="Arial" panose="020B0604020202020204" pitchFamily="34" charset="0"/>
              </a:rPr>
              <a:t>surface</a:t>
            </a:r>
            <a:r>
              <a:rPr lang="en-US" altLang="zh-CN" dirty="0">
                <a:latin typeface="Arial" panose="020B0604020202020204" pitchFamily="34" charset="0"/>
              </a:rPr>
              <a:t>)</a:t>
            </a:r>
            <a:r>
              <a:rPr lang="zh-CN" altLang="en-US" dirty="0">
                <a:latin typeface="Arial" panose="020B0604020202020204" pitchFamily="34" charset="0"/>
              </a:rPr>
              <a:t>面向血液</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钠依赖的葡萄糖转运体</a:t>
            </a:r>
            <a:r>
              <a:rPr lang="en-US" altLang="zh-CN" dirty="0">
                <a:latin typeface="Arial" panose="020B0604020202020204" pitchFamily="34" charset="0"/>
              </a:rPr>
              <a:t>(SGLT</a:t>
            </a:r>
            <a:r>
              <a:rPr lang="zh-CN" altLang="en-US" dirty="0">
                <a:latin typeface="Arial" panose="020B0604020202020204" pitchFamily="34" charset="0"/>
              </a:rPr>
              <a:t>，</a:t>
            </a:r>
            <a:r>
              <a:rPr lang="en-US" altLang="zh-CN" dirty="0">
                <a:latin typeface="Arial" panose="020B0604020202020204" pitchFamily="34" charset="0"/>
              </a:rPr>
              <a:t>sodium-glucose linked transporter  or sodium dependent glucose transporter</a:t>
            </a:r>
            <a:r>
              <a:rPr lang="zh-CN" altLang="en-US" dirty="0">
                <a:latin typeface="Arial" panose="020B0604020202020204" pitchFamily="34" charset="0"/>
              </a:rPr>
              <a:t>，</a:t>
            </a:r>
            <a:r>
              <a:rPr lang="en-US" altLang="zh-CN" dirty="0">
                <a:latin typeface="Arial" panose="020B0604020202020204" pitchFamily="34" charset="0"/>
              </a:rPr>
              <a:t>also known as cotransporters</a:t>
            </a:r>
            <a:r>
              <a:rPr lang="zh-CN" altLang="en-US" dirty="0">
                <a:latin typeface="Arial" panose="020B0604020202020204" pitchFamily="34" charset="0"/>
              </a:rPr>
              <a:t>联合转运体 </a:t>
            </a:r>
            <a:r>
              <a:rPr lang="en-US" altLang="zh-CN" dirty="0">
                <a:latin typeface="Arial" panose="020B0604020202020204" pitchFamily="34" charset="0"/>
              </a:rPr>
              <a:t>or symporters</a:t>
            </a:r>
            <a:r>
              <a:rPr lang="zh-CN" altLang="en-US" dirty="0">
                <a:latin typeface="Arial" panose="020B0604020202020204" pitchFamily="34" charset="0"/>
              </a:rPr>
              <a:t>同向转运体</a:t>
            </a:r>
            <a:r>
              <a:rPr lang="en-US" altLang="zh-CN" dirty="0">
                <a:latin typeface="Arial" panose="020B0604020202020204" pitchFamily="34" charset="0"/>
              </a:rPr>
              <a:t>. )</a:t>
            </a:r>
            <a:r>
              <a:rPr lang="zh-CN" altLang="en-US" dirty="0">
                <a:latin typeface="Arial" panose="020B0604020202020204" pitchFamily="34" charset="0"/>
              </a:rPr>
              <a:t>， </a:t>
            </a:r>
            <a:r>
              <a:rPr lang="zh-CN" altLang="en-US" b="1" dirty="0">
                <a:latin typeface="Arial" panose="020B0604020202020204" pitchFamily="34" charset="0"/>
              </a:rPr>
              <a:t>利用钠离子的浓度梯度转运葡萄糖</a:t>
            </a:r>
            <a:r>
              <a:rPr lang="zh-CN" altLang="en-US" dirty="0">
                <a:latin typeface="Arial" panose="020B0604020202020204" pitchFamily="34" charset="0"/>
              </a:rPr>
              <a:t>，同时也是吸收钠离子。  本身不耗能。 但基底面钠钾泵工作会耗能，以维持小肠粘膜细胞内外的钠离子浓度梯度，钠钾泵也将吸收的钠离子转入到血液中。 </a:t>
            </a:r>
            <a:endParaRPr lang="zh-CN" altLang="en-US" dirty="0">
              <a:latin typeface="Arial" panose="020B0604020202020204" pitchFamily="34" charset="0"/>
            </a:endParaRPr>
          </a:p>
          <a:p>
            <a:endParaRPr lang="zh-CN" altLang="en-US" dirty="0">
              <a:latin typeface="Arial" panose="020B0604020202020204" pitchFamily="34" charset="0"/>
            </a:endParaRPr>
          </a:p>
          <a:p>
            <a:r>
              <a:rPr lang="zh-CN" altLang="en-US" dirty="0">
                <a:latin typeface="Arial" panose="020B0604020202020204" pitchFamily="34" charset="0"/>
              </a:rPr>
              <a:t>易化扩散的葡萄糖转运体</a:t>
            </a:r>
            <a:r>
              <a:rPr lang="en-US" altLang="zh-CN" dirty="0">
                <a:latin typeface="Arial" panose="020B0604020202020204" pitchFamily="34" charset="0"/>
              </a:rPr>
              <a:t>(GLUT)</a:t>
            </a:r>
            <a:r>
              <a:rPr lang="zh-CN" altLang="en-US" dirty="0">
                <a:latin typeface="Arial" panose="020B0604020202020204" pitchFamily="34" charset="0"/>
              </a:rPr>
              <a:t>，以易化扩散的方式顺浓度梯度转运葡萄糖，其转运过程不消耗能量。</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baseline="30000" dirty="0">
              <a:latin typeface="Arial" panose="020B0604020202020204" pitchFamily="34" charset="0"/>
            </a:endParaRPr>
          </a:p>
        </p:txBody>
      </p:sp>
      <p:sp>
        <p:nvSpPr>
          <p:cNvPr id="624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CAF7FF8-A095-4C4A-8735-E3587C33671E}" type="slidenum">
              <a:rPr lang="zh-CN" altLang="en-US" b="0" smtClean="0"/>
            </a:fld>
            <a:endParaRPr lang="en-US" altLang="zh-CN" b="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p:nvPr>
        </p:nvSpPr>
        <p:spPr>
          <a:xfrm>
            <a:off x="381000" y="685800"/>
            <a:ext cx="6096000" cy="3429000"/>
          </a:xfrm>
        </p:spPr>
      </p:sp>
      <p:sp>
        <p:nvSpPr>
          <p:cNvPr id="645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sz="1400" dirty="0">
                <a:solidFill>
                  <a:schemeClr val="tx2"/>
                </a:solidFill>
                <a:latin typeface="Arial" panose="020B0604020202020204" pitchFamily="34" charset="0"/>
              </a:rPr>
              <a:t>每种葡萄糖转运体都有特异的组织分布和生化特性，这些特点决定了它们在葡萄糖代谢中的功能。</a:t>
            </a:r>
            <a:endParaRPr kumimoji="1" lang="zh-CN" altLang="en-US" sz="1400" dirty="0">
              <a:solidFill>
                <a:schemeClr val="tx2"/>
              </a:solidFill>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645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93DF1322-C37D-4F3C-A6EA-2FEE69C6D801}" type="slidenum">
              <a:rPr lang="zh-CN" altLang="en-US" b="0" smtClean="0"/>
            </a:fld>
            <a:endParaRPr lang="en-US" altLang="zh-CN" b="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ChangeArrowheads="1" noTextEdit="1"/>
          </p:cNvSpPr>
          <p:nvPr>
            <p:ph type="sldImg"/>
          </p:nvPr>
        </p:nvSpPr>
        <p:spPr>
          <a:xfrm>
            <a:off x="381000" y="685800"/>
            <a:ext cx="6096000" cy="3429000"/>
          </a:xfrm>
        </p:spPr>
      </p:sp>
      <p:sp>
        <p:nvSpPr>
          <p:cNvPr id="665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900" dirty="0">
                <a:latin typeface="Arial" panose="020B0604020202020204" pitchFamily="34" charset="0"/>
              </a:rPr>
              <a:t>当血糖高，胰岛素分泌增加时，胰岛素作用于膜受体后，促使囊泡移向细胞膜，</a:t>
            </a:r>
            <a:r>
              <a:rPr lang="en-US" altLang="zh-CN" sz="900" dirty="0">
                <a:latin typeface="Arial" panose="020B0604020202020204" pitchFamily="34" charset="0"/>
              </a:rPr>
              <a:t>GLUT4</a:t>
            </a:r>
            <a:r>
              <a:rPr lang="zh-CN" altLang="en-US" sz="900" dirty="0">
                <a:latin typeface="Arial" panose="020B0604020202020204" pitchFamily="34" charset="0"/>
              </a:rPr>
              <a:t>出现在膜上，将葡萄糖转入到细胞内。 一旦葡萄糖浓度降低，这些转运体又从细胞膜上回到细胞质的囊泡中。</a:t>
            </a:r>
            <a:endParaRPr lang="zh-CN" altLang="en-US" sz="900" dirty="0">
              <a:latin typeface="Arial" panose="020B0604020202020204" pitchFamily="34" charset="0"/>
            </a:endParaRPr>
          </a:p>
          <a:p>
            <a:endParaRPr lang="zh-CN" altLang="en-US" sz="900" dirty="0">
              <a:latin typeface="Arial" panose="020B0604020202020204" pitchFamily="34" charset="0"/>
            </a:endParaRPr>
          </a:p>
          <a:p>
            <a:r>
              <a:rPr lang="en-US" altLang="zh-CN" sz="900" b="1" dirty="0">
                <a:latin typeface="Arial" panose="020B0604020202020204" pitchFamily="34" charset="0"/>
              </a:rPr>
              <a:t>GLUT2</a:t>
            </a:r>
            <a:r>
              <a:rPr lang="zh-CN" altLang="en-US" sz="900" b="1" dirty="0">
                <a:latin typeface="Arial" panose="020B0604020202020204" pitchFamily="34" charset="0"/>
              </a:rPr>
              <a:t>能迅速使肝细胞膜两侧的葡萄糖浓度达到平衡</a:t>
            </a:r>
            <a:r>
              <a:rPr lang="zh-CN" altLang="en-US" sz="900" dirty="0">
                <a:latin typeface="Arial" panose="020B0604020202020204" pitchFamily="34" charset="0"/>
              </a:rPr>
              <a:t>，肝细胞内的葡萄糖浓度和血糖浓度类似（也因为肝细胞内的葡萄糖激酶对葡萄糖的亲和力低，不会迅速将进入细胞内的葡萄糖磷酸化）</a:t>
            </a:r>
            <a:endParaRPr lang="zh-CN" altLang="en-US" sz="900" dirty="0">
              <a:latin typeface="Arial" panose="020B0604020202020204" pitchFamily="34" charset="0"/>
            </a:endParaRPr>
          </a:p>
          <a:p>
            <a:endParaRPr lang="zh-CN" altLang="en-US" dirty="0">
              <a:latin typeface="Arial" panose="020B0604020202020204" pitchFamily="34" charset="0"/>
            </a:endParaRPr>
          </a:p>
        </p:txBody>
      </p:sp>
      <p:sp>
        <p:nvSpPr>
          <p:cNvPr id="665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37B46F80-14A7-4BCA-BE26-B99B84E21DE2}" type="slidenum">
              <a:rPr lang="zh-CN" altLang="en-US" b="0" smtClean="0"/>
            </a:fld>
            <a:endParaRPr lang="en-US" altLang="zh-CN" b="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ChangeArrowheads="1" noTextEdit="1"/>
          </p:cNvSpPr>
          <p:nvPr>
            <p:ph type="sldImg"/>
          </p:nvPr>
        </p:nvSpPr>
        <p:spPr>
          <a:xfrm>
            <a:off x="381000" y="685800"/>
            <a:ext cx="6096000" cy="3429000"/>
          </a:xfrm>
        </p:spPr>
      </p:sp>
      <p:sp>
        <p:nvSpPr>
          <p:cNvPr id="686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多的葡萄糖转变为脂肪和非必需氨基酸</a:t>
            </a:r>
            <a:r>
              <a:rPr lang="en-US" altLang="zh-CN" dirty="0">
                <a:latin typeface="Arial" panose="020B0604020202020204" pitchFamily="34" charset="0"/>
              </a:rPr>
              <a:t>,  </a:t>
            </a:r>
            <a:r>
              <a:rPr lang="zh-CN" altLang="en-US" dirty="0">
                <a:latin typeface="Arial" panose="020B0604020202020204" pitchFamily="34" charset="0"/>
              </a:rPr>
              <a:t>后面相应章节有阐述。</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686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239C998-6BAF-4CD9-8BE5-0B2E97B2F92D}" type="slidenum">
              <a:rPr lang="zh-CN" altLang="en-US" b="0" smtClean="0"/>
            </a:fld>
            <a:endParaRPr lang="en-US" altLang="zh-CN" b="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ChangeArrowheads="1" noTextEdit="1"/>
          </p:cNvSpPr>
          <p:nvPr>
            <p:ph type="sldImg"/>
          </p:nvPr>
        </p:nvSpPr>
        <p:spPr>
          <a:xfrm>
            <a:off x="381000" y="685800"/>
            <a:ext cx="6096000" cy="3429000"/>
          </a:xfrm>
        </p:spPr>
      </p:sp>
      <p:sp>
        <p:nvSpPr>
          <p:cNvPr id="727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27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B60FB6D-1AA1-4131-A3A9-5BE99A1E42A0}" type="slidenum">
              <a:rPr lang="zh-CN" altLang="en-US" b="0" smtClean="0"/>
            </a:fld>
            <a:endParaRPr lang="en-US" altLang="zh-CN" b="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381000" y="685800"/>
            <a:ext cx="6096000" cy="3429000"/>
          </a:xfrm>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E31610D-D911-4FBB-9CF9-C997DCB6CBB8}" type="slidenum">
              <a:rPr lang="zh-CN" altLang="en-US" b="0" smtClean="0"/>
            </a:fld>
            <a:endParaRPr lang="en-US" altLang="zh-CN" b="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p:nvPr>
        </p:nvSpPr>
        <p:spPr>
          <a:xfrm>
            <a:off x="381000" y="685800"/>
            <a:ext cx="6096000" cy="3429000"/>
          </a:xfrm>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丙酮酸再变为乳酸或乙醇都属于</a:t>
            </a:r>
            <a:r>
              <a:rPr lang="en-US" altLang="zh-CN" dirty="0">
                <a:latin typeface="Arial" panose="020B0604020202020204" pitchFamily="34" charset="0"/>
              </a:rPr>
              <a:t>glycolysis</a:t>
            </a:r>
            <a:r>
              <a:rPr lang="zh-CN" altLang="en-US" dirty="0">
                <a:latin typeface="Arial" panose="020B0604020202020204" pitchFamily="34" charset="0"/>
              </a:rPr>
              <a:t>后的事件。 </a:t>
            </a:r>
            <a:r>
              <a:rPr lang="en-US" altLang="zh-CN" dirty="0">
                <a:latin typeface="Arial" panose="020B0604020202020204" pitchFamily="34" charset="0"/>
              </a:rPr>
              <a:t>    </a:t>
            </a:r>
            <a:r>
              <a:rPr lang="zh-CN" altLang="en-US" dirty="0">
                <a:latin typeface="Arial" panose="020B0604020202020204" pitchFamily="34" charset="0"/>
              </a:rPr>
              <a:t>老的中文生化教材中可能把</a:t>
            </a:r>
            <a:r>
              <a:rPr lang="zh-CN" altLang="en-US" u="none" dirty="0">
                <a:latin typeface="Arial" panose="020B0604020202020204" pitchFamily="34" charset="0"/>
              </a:rPr>
              <a:t>糖的无氧氧化简称为</a:t>
            </a:r>
            <a:r>
              <a:rPr lang="zh-CN" altLang="en-US" u="sng" dirty="0">
                <a:latin typeface="Arial" panose="020B0604020202020204" pitchFamily="34" charset="0"/>
              </a:rPr>
              <a:t>糖酵解</a:t>
            </a:r>
            <a:r>
              <a:rPr lang="zh-CN" altLang="en-US" dirty="0">
                <a:latin typeface="Arial" panose="020B0604020202020204" pitchFamily="34" charset="0"/>
              </a:rPr>
              <a:t>，而把第一阶段糖分解为丙酮酸的过程特称为</a:t>
            </a:r>
            <a:r>
              <a:rPr lang="zh-CN" altLang="en-US" u="sng" dirty="0">
                <a:latin typeface="Arial" panose="020B0604020202020204" pitchFamily="34" charset="0"/>
              </a:rPr>
              <a:t>糖酵解途径</a:t>
            </a:r>
            <a:r>
              <a:rPr lang="zh-CN" altLang="en-US" dirty="0">
                <a:latin typeface="Arial" panose="020B0604020202020204" pitchFamily="34" charset="0"/>
              </a:rPr>
              <a:t>，这种说法与英文不对应，已被抛弃。 但旧的习题册中有些题目还是依老说法，注意更正。 </a:t>
            </a:r>
            <a:endParaRPr lang="zh-CN" altLang="en-US" dirty="0">
              <a:latin typeface="Arial" panose="020B0604020202020204" pitchFamily="34" charset="0"/>
            </a:endParaRPr>
          </a:p>
          <a:p>
            <a:endParaRPr lang="en-US" altLang="zh-CN" dirty="0">
              <a:latin typeface="Arial" panose="020B0604020202020204" pitchFamily="34" charset="0"/>
            </a:endParaRPr>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D589805-A6DC-4EC8-BC46-0D676B7027FE}" type="slidenum">
              <a:rPr lang="zh-CN" altLang="en-US" b="0" smtClean="0"/>
            </a:fld>
            <a:endParaRPr lang="en-US" altLang="zh-CN" b="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p:nvPr>
        </p:nvSpPr>
        <p:spPr>
          <a:xfrm>
            <a:off x="381000" y="685800"/>
            <a:ext cx="6096000" cy="3429000"/>
          </a:xfrm>
        </p:spPr>
      </p:sp>
      <p:sp>
        <p:nvSpPr>
          <p:cNvPr id="82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糖酵解在进化上非常保守，细菌里是同样过程。</a:t>
            </a:r>
            <a:endParaRPr lang="en-US" altLang="zh-CN" dirty="0">
              <a:latin typeface="Arial" panose="020B0604020202020204" pitchFamily="34" charset="0"/>
            </a:endParaRPr>
          </a:p>
          <a:p>
            <a:r>
              <a:rPr lang="en-US" altLang="zh-CN" dirty="0">
                <a:latin typeface="Arial" panose="020B0604020202020204" pitchFamily="34" charset="0"/>
              </a:rPr>
              <a:t>Because living organisms first arose in an atmosphere without oxygen, anaerobic breakdown of glucose is probably the most ancient biological mechanism for obtaining energy from organic fuel molecules.   In the course of evolution, the chemistry of this reaction sequence has been completely conserved; the glycolytic enzymes of vertebrates are closely similar, in amino acid sequence and three-dimensional structure, to their homologs in yeast and spinach.   </a:t>
            </a:r>
            <a:endParaRPr lang="en-US" altLang="zh-CN" dirty="0">
              <a:latin typeface="Arial" panose="020B0604020202020204" pitchFamily="34" charset="0"/>
            </a:endParaRPr>
          </a:p>
          <a:p>
            <a:r>
              <a:rPr lang="zh-CN" altLang="en-US" sz="1200" b="0" i="0" u="none" strike="noStrike" kern="1200" baseline="0" dirty="0">
                <a:solidFill>
                  <a:schemeClr val="tx1"/>
                </a:solidFill>
                <a:latin typeface="Arial" panose="020B0604020202020204" pitchFamily="34" charset="0"/>
                <a:ea typeface="+mn-ea"/>
                <a:cs typeface="+mn-cs"/>
              </a:rPr>
              <a:t>  </a:t>
            </a:r>
            <a:endParaRPr lang="en-US" altLang="zh-CN" sz="1200" b="0" i="0" u="none" strike="noStrike" kern="1200" baseline="0" dirty="0">
              <a:solidFill>
                <a:schemeClr val="tx1"/>
              </a:solidFill>
              <a:latin typeface="Arial" panose="020B0604020202020204" pitchFamily="34" charset="0"/>
              <a:ea typeface="+mn-ea"/>
              <a:cs typeface="+mn-cs"/>
            </a:endParaRPr>
          </a:p>
          <a:p>
            <a:r>
              <a:rPr lang="zh-CN" altLang="en-US" sz="1200" b="0" i="0" u="none" strike="noStrike" kern="1200" baseline="0" dirty="0">
                <a:solidFill>
                  <a:schemeClr val="tx1"/>
                </a:solidFill>
                <a:latin typeface="Arial" panose="020B0604020202020204" pitchFamily="34" charset="0"/>
                <a:ea typeface="+mn-ea"/>
                <a:cs typeface="+mn-cs"/>
              </a:rPr>
              <a:t>注意后面要学习的从</a:t>
            </a:r>
            <a:r>
              <a:rPr lang="en-US" altLang="zh-CN" sz="1200" b="0" i="0" u="none" strike="noStrike" kern="1200" baseline="0" dirty="0">
                <a:solidFill>
                  <a:schemeClr val="tx1"/>
                </a:solidFill>
                <a:latin typeface="Arial" panose="020B0604020202020204" pitchFamily="34" charset="0"/>
                <a:ea typeface="+mn-ea"/>
                <a:cs typeface="+mn-cs"/>
              </a:rPr>
              <a:t>2</a:t>
            </a:r>
            <a:r>
              <a:rPr lang="zh-CN" altLang="en-US" sz="1200" b="0" i="0" u="none" strike="noStrike" kern="1200" baseline="0" dirty="0">
                <a:solidFill>
                  <a:schemeClr val="tx1"/>
                </a:solidFill>
                <a:latin typeface="Arial" panose="020B0604020202020204" pitchFamily="34" charset="0"/>
                <a:ea typeface="+mn-ea"/>
                <a:cs typeface="+mn-cs"/>
              </a:rPr>
              <a:t>分子丙酮酸生成一分子葡萄糖的糖异生途径并不是糖酵解的逆反应， 除了共用</a:t>
            </a:r>
            <a:r>
              <a:rPr lang="en-US" altLang="zh-CN" sz="1200" b="0" i="0" u="none" strike="noStrike" kern="1200" baseline="0" dirty="0">
                <a:solidFill>
                  <a:schemeClr val="tx1"/>
                </a:solidFill>
                <a:latin typeface="Arial" panose="020B0604020202020204" pitchFamily="34" charset="0"/>
                <a:ea typeface="+mn-ea"/>
                <a:cs typeface="+mn-cs"/>
              </a:rPr>
              <a:t>7</a:t>
            </a:r>
            <a:r>
              <a:rPr lang="zh-CN" altLang="en-US" sz="1200" b="0" i="0" u="none" strike="noStrike" kern="1200" baseline="0" dirty="0">
                <a:solidFill>
                  <a:schemeClr val="tx1"/>
                </a:solidFill>
                <a:latin typeface="Arial" panose="020B0604020202020204" pitchFamily="34" charset="0"/>
                <a:ea typeface="+mn-ea"/>
                <a:cs typeface="+mn-cs"/>
              </a:rPr>
              <a:t>步可逆反应，糖酵解中的三步不可逆反应在糖异生途径中反向进行时由</a:t>
            </a:r>
            <a:r>
              <a:rPr lang="en-US" altLang="zh-CN" sz="1200" b="0" i="0" u="none" strike="noStrike" kern="1200" baseline="0" dirty="0">
                <a:solidFill>
                  <a:schemeClr val="tx1"/>
                </a:solidFill>
                <a:latin typeface="Arial" panose="020B0604020202020204" pitchFamily="34" charset="0"/>
                <a:ea typeface="+mn-ea"/>
                <a:cs typeface="+mn-cs"/>
              </a:rPr>
              <a:t>4</a:t>
            </a:r>
            <a:r>
              <a:rPr lang="zh-CN" altLang="en-US" sz="1200" b="0" i="0" u="none" strike="noStrike" kern="1200" baseline="0" dirty="0">
                <a:solidFill>
                  <a:schemeClr val="tx1"/>
                </a:solidFill>
                <a:latin typeface="Arial" panose="020B0604020202020204" pitchFamily="34" charset="0"/>
                <a:ea typeface="+mn-ea"/>
                <a:cs typeface="+mn-cs"/>
              </a:rPr>
              <a:t>步不可逆反应替代，涉及</a:t>
            </a:r>
            <a:r>
              <a:rPr lang="en-US" altLang="zh-CN" sz="1200" b="0" i="0" u="none" strike="noStrike" kern="1200" baseline="0" dirty="0">
                <a:solidFill>
                  <a:schemeClr val="tx1"/>
                </a:solidFill>
                <a:latin typeface="Arial" panose="020B0604020202020204" pitchFamily="34" charset="0"/>
                <a:ea typeface="+mn-ea"/>
                <a:cs typeface="+mn-cs"/>
              </a:rPr>
              <a:t>4</a:t>
            </a:r>
            <a:r>
              <a:rPr lang="zh-CN" altLang="en-US" sz="1200" b="0" i="0" u="none" strike="noStrike" kern="1200" baseline="0" dirty="0">
                <a:solidFill>
                  <a:schemeClr val="tx1"/>
                </a:solidFill>
                <a:latin typeface="Arial" panose="020B0604020202020204" pitchFamily="34" charset="0"/>
                <a:ea typeface="+mn-ea"/>
                <a:cs typeface="+mn-cs"/>
              </a:rPr>
              <a:t>个不同的酶。 这</a:t>
            </a:r>
            <a:r>
              <a:rPr lang="en-US" altLang="zh-CN" sz="1200" b="0" i="0" u="none" strike="noStrike" kern="1200" baseline="0" dirty="0">
                <a:solidFill>
                  <a:schemeClr val="tx1"/>
                </a:solidFill>
                <a:latin typeface="Arial" panose="020B0604020202020204" pitchFamily="34" charset="0"/>
                <a:ea typeface="+mn-ea"/>
                <a:cs typeface="+mn-cs"/>
              </a:rPr>
              <a:t>4</a:t>
            </a:r>
            <a:r>
              <a:rPr lang="zh-CN" altLang="en-US" sz="1200" b="0" i="0" u="none" strike="noStrike" kern="1200" baseline="0" dirty="0">
                <a:solidFill>
                  <a:schemeClr val="tx1"/>
                </a:solidFill>
                <a:latin typeface="Arial" panose="020B0604020202020204" pitchFamily="34" charset="0"/>
                <a:ea typeface="+mn-ea"/>
                <a:cs typeface="+mn-cs"/>
              </a:rPr>
              <a:t>步反应都不是糖酵解中</a:t>
            </a:r>
            <a:r>
              <a:rPr lang="en-US" altLang="zh-CN" sz="1200" b="0" i="0" u="none" strike="noStrike" kern="1200" baseline="0" dirty="0">
                <a:solidFill>
                  <a:schemeClr val="tx1"/>
                </a:solidFill>
                <a:latin typeface="Arial" panose="020B0604020202020204" pitchFamily="34" charset="0"/>
                <a:ea typeface="+mn-ea"/>
                <a:cs typeface="+mn-cs"/>
              </a:rPr>
              <a:t>3</a:t>
            </a:r>
            <a:r>
              <a:rPr lang="zh-CN" altLang="en-US" sz="1200" b="0" i="0" u="none" strike="noStrike" kern="1200" baseline="0" dirty="0">
                <a:solidFill>
                  <a:schemeClr val="tx1"/>
                </a:solidFill>
                <a:latin typeface="Arial" panose="020B0604020202020204" pitchFamily="34" charset="0"/>
                <a:ea typeface="+mn-ea"/>
                <a:cs typeface="+mn-cs"/>
              </a:rPr>
              <a:t>步不可逆反应的逆反应。 糖异生</a:t>
            </a:r>
            <a:r>
              <a:rPr kumimoji="0" lang="el-GR" altLang="zh-CN" sz="1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Δ</a:t>
            </a:r>
            <a:r>
              <a:rPr kumimoji="0" lang="en-US" altLang="zh-CN" sz="1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G</a:t>
            </a:r>
            <a:r>
              <a:rPr kumimoji="0" lang="en-US" altLang="zh-CN" sz="1200" b="0" i="0" u="none" strike="noStrike" cap="none" normalizeH="0" baseline="30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kumimoji="0" lang="en-US" altLang="zh-CN" sz="1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sym typeface="Symbol" panose="05050102010706020507" pitchFamily="18" charset="2"/>
              </a:rPr>
              <a:t> </a:t>
            </a:r>
            <a:r>
              <a:rPr kumimoji="0" lang="en-US" altLang="zh-CN" sz="1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0,</a:t>
            </a:r>
            <a:r>
              <a:rPr kumimoji="0" lang="zh-CN" altLang="en-US" sz="1200" b="0"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也不可逆。  </a:t>
            </a:r>
            <a:endParaRPr lang="zh-CN" altLang="en-US" b="0" dirty="0">
              <a:latin typeface="Arial" panose="020B0604020202020204" pitchFamily="34" charset="0"/>
            </a:endParaRPr>
          </a:p>
        </p:txBody>
      </p:sp>
      <p:sp>
        <p:nvSpPr>
          <p:cNvPr id="829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D1D179E-2EE2-4746-A16D-CD33999092E9}" type="slidenum">
              <a:rPr lang="zh-CN" altLang="en-US" b="0" smtClean="0"/>
            </a:fld>
            <a:endParaRPr lang="en-US" altLang="zh-CN" b="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ChangeArrowheads="1" noTextEdit="1"/>
          </p:cNvSpPr>
          <p:nvPr>
            <p:ph type="sldImg"/>
          </p:nvPr>
        </p:nvSpPr>
        <p:spPr>
          <a:xfrm>
            <a:off x="381000" y="685800"/>
            <a:ext cx="6096000" cy="3429000"/>
          </a:xfrm>
        </p:spPr>
      </p:sp>
      <p:sp>
        <p:nvSpPr>
          <p:cNvPr id="84995" name="备注占位符 2"/>
          <p:cNvSpPr>
            <a:spLocks noGrp="1"/>
          </p:cNvSpPr>
          <p:nvPr>
            <p:ph type="body" idx="1"/>
          </p:nvPr>
        </p:nvSpPr>
        <p:spPr/>
        <p:txBody>
          <a:bodyPr/>
          <a:lstStyle/>
          <a:p>
            <a:pPr>
              <a:defRPr/>
            </a:pPr>
            <a:r>
              <a:rPr lang="zh-CN" altLang="en-US" dirty="0">
                <a:latin typeface="Arial" panose="020B0604020202020204" pitchFamily="34" charset="0"/>
              </a:rPr>
              <a:t>糖酵解中有</a:t>
            </a:r>
            <a:r>
              <a:rPr lang="en-US" altLang="zh-CN" dirty="0">
                <a:latin typeface="Arial" panose="020B0604020202020204" pitchFamily="34" charset="0"/>
              </a:rPr>
              <a:t>9</a:t>
            </a:r>
            <a:r>
              <a:rPr lang="zh-CN" altLang="en-US" dirty="0">
                <a:latin typeface="Arial" panose="020B0604020202020204" pitchFamily="34" charset="0"/>
              </a:rPr>
              <a:t>个中间产物都是带磷酸基团的，这样的好处是：：</a:t>
            </a:r>
            <a:endParaRPr lang="en-US" altLang="zh-CN" dirty="0">
              <a:latin typeface="Arial" panose="020B0604020202020204" pitchFamily="34" charset="0"/>
            </a:endParaRPr>
          </a:p>
          <a:p>
            <a:pPr marL="228600" indent="-228600">
              <a:buFontTx/>
              <a:buAutoNum type="arabicPeriod"/>
              <a:defRPr/>
            </a:pPr>
            <a:r>
              <a:rPr lang="zh-CN" altLang="en-US" dirty="0">
                <a:latin typeface="Arial" panose="020B0604020202020204" pitchFamily="34" charset="0"/>
              </a:rPr>
              <a:t>磷酸化后不能再出细胞，只能在细胞内代谢，</a:t>
            </a:r>
            <a:endParaRPr lang="en-US" altLang="zh-CN" dirty="0">
              <a:latin typeface="Arial" panose="020B0604020202020204" pitchFamily="34" charset="0"/>
            </a:endParaRPr>
          </a:p>
          <a:p>
            <a:pPr marL="228600" indent="-228600">
              <a:buFontTx/>
              <a:buAutoNum type="arabicPeriod"/>
              <a:defRPr/>
            </a:pPr>
            <a:r>
              <a:rPr lang="zh-CN" altLang="en-US" dirty="0">
                <a:latin typeface="Arial" panose="020B0604020202020204" pitchFamily="34" charset="0"/>
              </a:rPr>
              <a:t>有利于血液中的葡萄糖进入细胞，尤其饱餐后有利于血糖的调节，避免血糖过高。 </a:t>
            </a:r>
            <a:endParaRPr lang="en-US" altLang="zh-CN" dirty="0">
              <a:latin typeface="Arial" panose="020B0604020202020204" pitchFamily="34" charset="0"/>
            </a:endParaRPr>
          </a:p>
          <a:p>
            <a:pPr marL="228600" indent="-228600">
              <a:buFontTx/>
              <a:buAutoNum type="arabicPeriod"/>
              <a:defRPr/>
            </a:pPr>
            <a:r>
              <a:rPr lang="zh-CN" altLang="en-US" b="1" dirty="0">
                <a:latin typeface="Arial" panose="020B0604020202020204" pitchFamily="34" charset="0"/>
              </a:rPr>
              <a:t>活化，</a:t>
            </a:r>
            <a:r>
              <a:rPr lang="zh-CN" altLang="en-US" dirty="0">
                <a:latin typeface="Arial" panose="020B0604020202020204" pitchFamily="34" charset="0"/>
              </a:rPr>
              <a:t>储存了一部分能量（磷酸化的底物分子具有更高的自由能，更有反应活性），便于后续反应。对第一步磷酸化反应来说，就是“点燃了第一把火”</a:t>
            </a:r>
            <a:endParaRPr lang="en-US" altLang="zh-CN" dirty="0">
              <a:latin typeface="Arial" panose="020B0604020202020204" pitchFamily="34" charset="0"/>
            </a:endParaRPr>
          </a:p>
          <a:p>
            <a:pPr marL="228600" indent="-228600">
              <a:buFontTx/>
              <a:buAutoNum type="arabicPeriod"/>
              <a:defRPr/>
            </a:pPr>
            <a:r>
              <a:rPr lang="zh-CN" altLang="en-US" dirty="0">
                <a:latin typeface="Arial" panose="020B0604020202020204" pitchFamily="34" charset="0"/>
              </a:rPr>
              <a:t>磷酸基团进入酶活性中心，增加了底物与酶的结合能，降低了反应活化能，加快反应速度并增强反应特异性</a:t>
            </a:r>
            <a:endParaRPr lang="en-US" altLang="zh-CN" dirty="0">
              <a:latin typeface="Arial" panose="020B0604020202020204" pitchFamily="34" charset="0"/>
            </a:endParaRPr>
          </a:p>
          <a:p>
            <a:pPr marL="0" indent="0">
              <a:buFontTx/>
              <a:buNone/>
              <a:defRPr/>
            </a:pPr>
            <a:endParaRPr lang="en-US" altLang="zh-CN" dirty="0">
              <a:latin typeface="Arial" panose="020B0604020202020204" pitchFamily="34" charset="0"/>
            </a:endParaRPr>
          </a:p>
          <a:p>
            <a:pPr marL="0" indent="0">
              <a:buFontTx/>
              <a:buNone/>
              <a:defRPr/>
            </a:pPr>
            <a:r>
              <a:rPr lang="zh-CN" altLang="en-US" dirty="0">
                <a:latin typeface="Arial" panose="020B0604020202020204" pitchFamily="34" charset="0"/>
              </a:rPr>
              <a:t>物质代谢中的不可逆反应之所以不可逆，在于反应本身释放较多自由能， 该反应中所有产物的总自由能明显低于所有底物的总自由能。 </a:t>
            </a:r>
            <a:endParaRPr lang="en-US" altLang="zh-CN" dirty="0">
              <a:latin typeface="Arial" panose="020B0604020202020204" pitchFamily="34" charset="0"/>
            </a:endParaRPr>
          </a:p>
          <a:p>
            <a:pPr marL="0" indent="0">
              <a:buFontTx/>
              <a:buNone/>
              <a:defRPr/>
            </a:pPr>
            <a:r>
              <a:rPr lang="zh-CN" altLang="en-US" dirty="0">
                <a:latin typeface="Arial" panose="020B0604020202020204" pitchFamily="34" charset="0"/>
              </a:rPr>
              <a:t>糖酵解中七步可逆反应的自由能变化都很小，在</a:t>
            </a:r>
            <a:r>
              <a:rPr lang="en-US" altLang="zh-CN" dirty="0">
                <a:latin typeface="Arial" panose="020B0604020202020204" pitchFamily="34" charset="0"/>
              </a:rPr>
              <a:t>0kJ/mol</a:t>
            </a:r>
            <a:r>
              <a:rPr lang="zh-CN" altLang="en-US" dirty="0">
                <a:latin typeface="Arial" panose="020B0604020202020204" pitchFamily="34" charset="0"/>
              </a:rPr>
              <a:t>左右，有正有负。</a:t>
            </a:r>
            <a:endParaRPr lang="zh-CN" altLang="en-US" dirty="0">
              <a:latin typeface="Arial" panose="020B0604020202020204" pitchFamily="34" charset="0"/>
            </a:endParaRPr>
          </a:p>
        </p:txBody>
      </p:sp>
      <p:sp>
        <p:nvSpPr>
          <p:cNvPr id="84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F47A606-8E3B-4F7D-B2DA-206107766079}" type="slidenum">
              <a:rPr lang="zh-CN" altLang="en-US" b="0" smtClean="0"/>
            </a:fld>
            <a:endParaRPr lang="en-US" altLang="zh-CN" b="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z="1200" b="0" i="0" u="none" strike="noStrike" kern="1200" baseline="0" dirty="0">
                <a:solidFill>
                  <a:schemeClr val="tx1"/>
                </a:solidFill>
                <a:latin typeface="Arial" panose="020B0604020202020204" pitchFamily="34" charset="0"/>
                <a:ea typeface="+mn-ea"/>
                <a:cs typeface="+mn-cs"/>
              </a:rPr>
              <a:t>已知</a:t>
            </a:r>
            <a:r>
              <a:rPr lang="en-US" altLang="zh-CN" sz="1200" b="0" i="0" u="none" strike="noStrike" kern="1200" baseline="0" dirty="0">
                <a:solidFill>
                  <a:schemeClr val="tx1"/>
                </a:solidFill>
                <a:latin typeface="Arial" panose="020B0604020202020204" pitchFamily="34" charset="0"/>
                <a:ea typeface="+mn-ea"/>
                <a:cs typeface="+mn-cs"/>
              </a:rPr>
              <a:t>300</a:t>
            </a:r>
            <a:r>
              <a:rPr lang="zh-CN" altLang="en-US" sz="1200" b="0" i="0" u="none" strike="noStrike" kern="1200" baseline="0" dirty="0">
                <a:solidFill>
                  <a:schemeClr val="tx1"/>
                </a:solidFill>
                <a:latin typeface="Arial" panose="020B0604020202020204" pitchFamily="34" charset="0"/>
                <a:ea typeface="+mn-ea"/>
                <a:cs typeface="+mn-cs"/>
              </a:rPr>
              <a:t>多种酶活性需要</a:t>
            </a:r>
            <a:r>
              <a:rPr lang="en-US" altLang="zh-CN" sz="1200" b="0" i="0" u="none" strike="noStrike" kern="1200" baseline="0" dirty="0">
                <a:solidFill>
                  <a:schemeClr val="tx1"/>
                </a:solidFill>
                <a:latin typeface="Arial" panose="020B0604020202020204" pitchFamily="34" charset="0"/>
                <a:ea typeface="+mn-ea"/>
                <a:cs typeface="+mn-cs"/>
              </a:rPr>
              <a:t>Mg</a:t>
            </a:r>
            <a:r>
              <a:rPr lang="en-US" altLang="zh-CN" sz="1200" b="0" i="0" u="none" strike="noStrike" kern="1200" baseline="30000" dirty="0">
                <a:solidFill>
                  <a:schemeClr val="tx1"/>
                </a:solidFill>
                <a:latin typeface="Arial" panose="020B0604020202020204" pitchFamily="34" charset="0"/>
                <a:ea typeface="+mn-ea"/>
                <a:cs typeface="+mn-cs"/>
              </a:rPr>
              <a:t>2+ </a:t>
            </a:r>
            <a:r>
              <a:rPr lang="zh-CN" altLang="en-US" sz="1200" b="0" i="0" u="none" strike="noStrike" kern="1200" baseline="0" dirty="0">
                <a:solidFill>
                  <a:schemeClr val="tx1"/>
                </a:solidFill>
                <a:latin typeface="Arial" panose="020B0604020202020204" pitchFamily="34" charset="0"/>
                <a:ea typeface="+mn-ea"/>
                <a:cs typeface="+mn-cs"/>
              </a:rPr>
              <a:t>，包括所有需要</a:t>
            </a:r>
            <a:r>
              <a:rPr lang="en-US" altLang="zh-CN" sz="1200" b="0" i="0" u="none" strike="noStrike" kern="1200" baseline="0" dirty="0">
                <a:solidFill>
                  <a:schemeClr val="tx1"/>
                </a:solidFill>
                <a:latin typeface="Arial" panose="020B0604020202020204" pitchFamily="34" charset="0"/>
                <a:ea typeface="+mn-ea"/>
                <a:cs typeface="+mn-cs"/>
              </a:rPr>
              <a:t>ATP</a:t>
            </a:r>
            <a:r>
              <a:rPr lang="zh-CN" altLang="en-US" sz="1200" b="0" i="0" u="none" strike="noStrike" kern="1200" baseline="0" dirty="0">
                <a:solidFill>
                  <a:schemeClr val="tx1"/>
                </a:solidFill>
                <a:latin typeface="Arial" panose="020B0604020202020204" pitchFamily="34" charset="0"/>
                <a:ea typeface="+mn-ea"/>
                <a:cs typeface="+mn-cs"/>
              </a:rPr>
              <a:t>参与或生成</a:t>
            </a:r>
            <a:r>
              <a:rPr lang="en-US" altLang="zh-CN" sz="1200" b="0" i="0" u="none" strike="noStrike" kern="1200" baseline="0" dirty="0">
                <a:solidFill>
                  <a:schemeClr val="tx1"/>
                </a:solidFill>
                <a:latin typeface="Arial" panose="020B0604020202020204" pitchFamily="34" charset="0"/>
                <a:ea typeface="+mn-ea"/>
                <a:cs typeface="+mn-cs"/>
              </a:rPr>
              <a:t>ATP/GTP</a:t>
            </a:r>
            <a:r>
              <a:rPr lang="zh-CN" altLang="en-US" sz="1200" b="0" i="0" u="none" strike="noStrike" kern="1200" baseline="0" dirty="0">
                <a:solidFill>
                  <a:schemeClr val="tx1"/>
                </a:solidFill>
                <a:latin typeface="Arial" panose="020B0604020202020204" pitchFamily="34" charset="0"/>
                <a:ea typeface="+mn-ea"/>
                <a:cs typeface="+mn-cs"/>
              </a:rPr>
              <a:t>的反应，比如</a:t>
            </a:r>
            <a:r>
              <a:rPr lang="en-US" altLang="zh-CN" sz="1200" b="0" i="0" u="none" strike="noStrike" kern="1200" baseline="0" dirty="0">
                <a:solidFill>
                  <a:schemeClr val="tx1"/>
                </a:solidFill>
                <a:latin typeface="Arial" panose="020B0604020202020204" pitchFamily="34" charset="0"/>
                <a:ea typeface="+mn-ea"/>
                <a:cs typeface="+mn-cs"/>
              </a:rPr>
              <a:t>DNA,RNA</a:t>
            </a:r>
            <a:r>
              <a:rPr lang="zh-CN" altLang="en-US" sz="1200" b="0" i="0" u="none" strike="noStrike" kern="1200" baseline="0" dirty="0">
                <a:solidFill>
                  <a:schemeClr val="tx1"/>
                </a:solidFill>
                <a:latin typeface="Arial" panose="020B0604020202020204" pitchFamily="34" charset="0"/>
                <a:ea typeface="+mn-ea"/>
                <a:cs typeface="+mn-cs"/>
              </a:rPr>
              <a:t>的合成。 </a:t>
            </a:r>
            <a:endParaRPr lang="zh-CN" altLang="en-US" dirty="0"/>
          </a:p>
        </p:txBody>
      </p:sp>
      <p:sp>
        <p:nvSpPr>
          <p:cNvPr id="4" name="灯片编号占位符 3"/>
          <p:cNvSpPr>
            <a:spLocks noGrp="1"/>
          </p:cNvSpPr>
          <p:nvPr>
            <p:ph type="sldNum" sz="quarter" idx="10"/>
          </p:nvPr>
        </p:nvSpPr>
        <p:spPr/>
        <p:txBody>
          <a:bodyPr/>
          <a:lstStyle/>
          <a:p>
            <a:pPr>
              <a:defRPr/>
            </a:pPr>
            <a:fld id="{057E6491-662B-42C4-B2C9-E9AFFE08E19D}"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p:nvPr>
        </p:nvSpPr>
        <p:spPr>
          <a:xfrm>
            <a:off x="381000" y="685800"/>
            <a:ext cx="6096000" cy="3429000"/>
          </a:xfrm>
        </p:spPr>
      </p:sp>
      <p:sp>
        <p:nvSpPr>
          <p:cNvPr id="870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注意葡萄糖激酶的</a:t>
            </a:r>
            <a:r>
              <a:rPr lang="en-US" altLang="zh-CN" dirty="0">
                <a:latin typeface="Arial" panose="020B0604020202020204" pitchFamily="34" charset="0"/>
              </a:rPr>
              <a:t>S</a:t>
            </a:r>
            <a:r>
              <a:rPr lang="zh-CN" altLang="en-US" dirty="0">
                <a:latin typeface="Arial" panose="020B0604020202020204" pitchFamily="34" charset="0"/>
              </a:rPr>
              <a:t>形曲线</a:t>
            </a:r>
            <a:r>
              <a:rPr lang="en-US" altLang="zh-CN" dirty="0">
                <a:latin typeface="Arial" panose="020B0604020202020204" pitchFamily="34" charset="0"/>
              </a:rPr>
              <a:t>.    </a:t>
            </a:r>
            <a:endParaRPr lang="en-US" altLang="zh-CN" dirty="0">
              <a:latin typeface="Arial" panose="020B0604020202020204" pitchFamily="34" charset="0"/>
            </a:endParaRPr>
          </a:p>
          <a:p>
            <a:r>
              <a:rPr lang="zh-CN" altLang="en-US" dirty="0">
                <a:latin typeface="Arial" panose="020B0604020202020204" pitchFamily="34" charset="0"/>
              </a:rPr>
              <a:t>葡萄糖激酶起到了葡萄糖浓度感受器的作用。</a:t>
            </a:r>
            <a:endParaRPr lang="zh-CN" altLang="en-US" dirty="0">
              <a:latin typeface="Arial" panose="020B0604020202020204" pitchFamily="34" charset="0"/>
            </a:endParaRPr>
          </a:p>
          <a:p>
            <a:r>
              <a:rPr lang="en-US" altLang="zh-CN" dirty="0">
                <a:latin typeface="Arial" panose="020B0604020202020204" pitchFamily="34" charset="0"/>
              </a:rPr>
              <a:t>Hexokinase I, II, and III have similar kinetic properties.</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下丘脑、小肠以及其他某些神经内分泌细胞中也有葡萄糖激酶</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870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6948397-E931-414C-9156-E5A1F4571086}" type="slidenum">
              <a:rPr lang="zh-CN" altLang="en-US" b="0" smtClean="0"/>
            </a:fld>
            <a:endParaRPr lang="en-US" altLang="zh-CN" b="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p:nvPr>
        </p:nvSpPr>
        <p:spPr>
          <a:xfrm>
            <a:off x="381000" y="685800"/>
            <a:ext cx="6096000" cy="3429000"/>
          </a:xfrm>
        </p:spPr>
      </p:sp>
      <p:sp>
        <p:nvSpPr>
          <p:cNvPr id="890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代谢中，最多的异构化反应是醛糖</a:t>
            </a:r>
            <a:r>
              <a:rPr lang="en-US" altLang="zh-CN" dirty="0">
                <a:latin typeface="Arial" panose="020B0604020202020204" pitchFamily="34" charset="0"/>
              </a:rPr>
              <a:t>-</a:t>
            </a:r>
            <a:r>
              <a:rPr lang="zh-CN" altLang="en-US" dirty="0">
                <a:latin typeface="Arial" panose="020B0604020202020204" pitchFamily="34" charset="0"/>
              </a:rPr>
              <a:t>酮糖互变反应。</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890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6FA5CD7-15E1-405A-AE4F-B9B3EE850B85}" type="slidenum">
              <a:rPr lang="zh-CN" altLang="en-US" b="0" smtClean="0"/>
            </a:fld>
            <a:endParaRPr lang="en-US" altLang="zh-CN" b="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ChangeArrowheads="1" noTextEdit="1"/>
          </p:cNvSpPr>
          <p:nvPr>
            <p:ph type="sldImg"/>
          </p:nvPr>
        </p:nvSpPr>
        <p:spPr>
          <a:xfrm>
            <a:off x="381000" y="685800"/>
            <a:ext cx="6096000" cy="3429000"/>
          </a:xfrm>
        </p:spPr>
      </p:sp>
      <p:sp>
        <p:nvSpPr>
          <p:cNvPr id="911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这个酶是决定糖酵解速度的最关键酶， 因为</a:t>
            </a:r>
            <a:r>
              <a:rPr lang="en-US" altLang="zh-CN" dirty="0">
                <a:latin typeface="Arial" panose="020B0604020202020204" pitchFamily="34" charset="0"/>
              </a:rPr>
              <a:t>6-</a:t>
            </a:r>
            <a:r>
              <a:rPr lang="zh-CN" altLang="en-US" dirty="0">
                <a:latin typeface="Arial" panose="020B0604020202020204" pitchFamily="34" charset="0"/>
              </a:rPr>
              <a:t>磷酸葡萄糖和</a:t>
            </a:r>
            <a:r>
              <a:rPr lang="en-US" altLang="zh-CN" dirty="0">
                <a:latin typeface="Arial" panose="020B0604020202020204" pitchFamily="34" charset="0"/>
              </a:rPr>
              <a:t>6-</a:t>
            </a:r>
            <a:r>
              <a:rPr lang="zh-CN" altLang="en-US" dirty="0">
                <a:latin typeface="Arial" panose="020B0604020202020204" pitchFamily="34" charset="0"/>
              </a:rPr>
              <a:t>磷酸果糖在细胞内还有糖酵解以外的其它代谢路径，可以有其它走向， 而</a:t>
            </a:r>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6-</a:t>
            </a:r>
            <a:r>
              <a:rPr lang="zh-CN" altLang="en-US" dirty="0">
                <a:latin typeface="Arial" panose="020B0604020202020204" pitchFamily="34" charset="0"/>
              </a:rPr>
              <a:t>二磷酸果糖只能顺着糖酵解途径往下走，没有其它选择。 </a:t>
            </a:r>
            <a:endParaRPr lang="en-US" altLang="zh-CN" dirty="0">
              <a:latin typeface="Arial" panose="020B0604020202020204" pitchFamily="34" charset="0"/>
            </a:endParaRPr>
          </a:p>
        </p:txBody>
      </p:sp>
      <p:sp>
        <p:nvSpPr>
          <p:cNvPr id="911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247F952-F3B3-475B-8841-44CC01F96EA2}" type="slidenum">
              <a:rPr lang="zh-CN" altLang="en-US" b="0" smtClean="0"/>
            </a:fld>
            <a:endParaRPr lang="en-US" altLang="zh-CN" b="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ChangeArrowheads="1" noTextEdit="1"/>
          </p:cNvSpPr>
          <p:nvPr>
            <p:ph type="sldImg"/>
          </p:nvPr>
        </p:nvSpPr>
        <p:spPr>
          <a:xfrm>
            <a:off x="381000" y="685800"/>
            <a:ext cx="6096000" cy="3429000"/>
          </a:xfrm>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3AB5B63A-5C75-431A-BE9F-5A5BF593CD7B}" type="slidenum">
              <a:rPr lang="zh-CN" altLang="en-US" b="0" smtClean="0"/>
            </a:fld>
            <a:endParaRPr lang="en-US" altLang="zh-CN" b="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ChangeArrowheads="1" noTextEdit="1"/>
          </p:cNvSpPr>
          <p:nvPr>
            <p:ph type="sldImg"/>
          </p:nvPr>
        </p:nvSpPr>
        <p:spPr>
          <a:xfrm>
            <a:off x="381000" y="685800"/>
            <a:ext cx="6096000" cy="3429000"/>
          </a:xfrm>
        </p:spPr>
      </p:sp>
      <p:sp>
        <p:nvSpPr>
          <p:cNvPr id="952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把不易氧化的酮糖异构为易氧化的醛糖</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952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75FA57D-A083-49D9-892F-4C7073F58A7F}" type="slidenum">
              <a:rPr lang="zh-CN" altLang="en-US" b="0" smtClean="0"/>
            </a:fld>
            <a:endParaRPr lang="en-US" altLang="zh-CN" b="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ChangeArrowheads="1" noTextEdit="1"/>
          </p:cNvSpPr>
          <p:nvPr>
            <p:ph type="sldImg"/>
          </p:nvPr>
        </p:nvSpPr>
        <p:spPr>
          <a:xfrm>
            <a:off x="381000" y="685800"/>
            <a:ext cx="6096000" cy="3429000"/>
          </a:xfrm>
        </p:spPr>
      </p:sp>
      <p:sp>
        <p:nvSpPr>
          <p:cNvPr id="972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i="0" dirty="0">
                <a:latin typeface="Arial" panose="020B0604020202020204" pitchFamily="34" charset="0"/>
              </a:rPr>
              <a:t>该酶活性中心有一个带</a:t>
            </a:r>
            <a:r>
              <a:rPr lang="en-US" altLang="zh-CN" i="0" dirty="0">
                <a:latin typeface="Arial" panose="020B0604020202020204" pitchFamily="34" charset="0"/>
              </a:rPr>
              <a:t>-SH</a:t>
            </a:r>
            <a:r>
              <a:rPr lang="zh-CN" altLang="en-US" i="0" dirty="0">
                <a:latin typeface="Arial" panose="020B0604020202020204" pitchFamily="34" charset="0"/>
              </a:rPr>
              <a:t>的</a:t>
            </a:r>
            <a:r>
              <a:rPr lang="en-US" altLang="zh-CN" i="0" dirty="0" err="1">
                <a:latin typeface="Arial" panose="020B0604020202020204" pitchFamily="34" charset="0"/>
              </a:rPr>
              <a:t>Cys</a:t>
            </a:r>
            <a:r>
              <a:rPr lang="zh-CN" altLang="en-US" i="0" dirty="0">
                <a:latin typeface="Arial" panose="020B0604020202020204" pitchFamily="34" charset="0"/>
              </a:rPr>
              <a:t>， 被重金属离子比如</a:t>
            </a:r>
            <a:r>
              <a:rPr lang="en-US" altLang="zh-CN" i="0" dirty="0">
                <a:latin typeface="Arial" panose="020B0604020202020204" pitchFamily="34" charset="0"/>
              </a:rPr>
              <a:t>Hg</a:t>
            </a:r>
            <a:r>
              <a:rPr lang="en-US" altLang="zh-CN" i="0" baseline="30000" dirty="0">
                <a:latin typeface="Arial" panose="020B0604020202020204" pitchFamily="34" charset="0"/>
              </a:rPr>
              <a:t>2+</a:t>
            </a:r>
            <a:r>
              <a:rPr lang="zh-CN" altLang="en-US" i="0" dirty="0">
                <a:latin typeface="Arial" panose="020B0604020202020204" pitchFamily="34" charset="0"/>
              </a:rPr>
              <a:t>或烷化剂比如碘乙酸结合后酶会失活。 </a:t>
            </a:r>
            <a:endParaRPr lang="en-US" altLang="zh-CN" i="0" dirty="0">
              <a:latin typeface="Arial" panose="020B0604020202020204" pitchFamily="34" charset="0"/>
            </a:endParaRPr>
          </a:p>
          <a:p>
            <a:endParaRPr lang="en-US" altLang="zh-CN" i="1" dirty="0">
              <a:latin typeface="Arial" panose="020B0604020202020204" pitchFamily="34" charset="0"/>
            </a:endParaRPr>
          </a:p>
          <a:p>
            <a:r>
              <a:rPr lang="zh-CN" altLang="en-US" dirty="0">
                <a:latin typeface="Arial" panose="020B0604020202020204" pitchFamily="34" charset="0"/>
              </a:rPr>
              <a:t>砷酸盐可与无机磷酸竞争而生成</a:t>
            </a:r>
            <a:r>
              <a:rPr lang="en-US" altLang="zh-CN" dirty="0">
                <a:latin typeface="Arial" panose="020B0604020202020204" pitchFamily="34" charset="0"/>
              </a:rPr>
              <a:t>1-</a:t>
            </a:r>
            <a:r>
              <a:rPr lang="zh-CN" altLang="en-US" dirty="0">
                <a:latin typeface="Arial" panose="020B0604020202020204" pitchFamily="34" charset="0"/>
              </a:rPr>
              <a:t>砷</a:t>
            </a:r>
            <a:r>
              <a:rPr lang="en-US" altLang="zh-CN" dirty="0">
                <a:latin typeface="Arial" panose="020B0604020202020204" pitchFamily="34" charset="0"/>
              </a:rPr>
              <a:t>-3</a:t>
            </a:r>
            <a:r>
              <a:rPr lang="zh-CN" altLang="en-US" dirty="0">
                <a:latin typeface="Arial" panose="020B0604020202020204" pitchFamily="34" charset="0"/>
              </a:rPr>
              <a:t>磷酸甘油酸，然后自发地分解产生</a:t>
            </a:r>
            <a:r>
              <a:rPr lang="en-US" altLang="zh-CN" dirty="0">
                <a:latin typeface="Arial" panose="020B0604020202020204" pitchFamily="34" charset="0"/>
              </a:rPr>
              <a:t>3-</a:t>
            </a:r>
            <a:r>
              <a:rPr lang="zh-CN" altLang="en-US" dirty="0">
                <a:latin typeface="Arial" panose="020B0604020202020204" pitchFamily="34" charset="0"/>
              </a:rPr>
              <a:t>磷酸甘油酸并放能，而不产生</a:t>
            </a:r>
            <a:r>
              <a:rPr lang="en-US" altLang="zh-CN" dirty="0">
                <a:latin typeface="Arial" panose="020B0604020202020204" pitchFamily="34" charset="0"/>
              </a:rPr>
              <a:t>ATP</a:t>
            </a:r>
            <a:r>
              <a:rPr lang="zh-CN" altLang="en-US" dirty="0">
                <a:latin typeface="Arial" panose="020B0604020202020204" pitchFamily="34" charset="0"/>
              </a:rPr>
              <a:t>，使氧化作用与磷酸化作用解偶联。 </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972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957BC0F-6628-400D-8BED-AF83EAF626A8}" type="slidenum">
              <a:rPr lang="zh-CN" altLang="en-US" b="0" smtClean="0"/>
            </a:fld>
            <a:endParaRPr lang="en-US" altLang="zh-CN" b="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p:nvPr>
        </p:nvSpPr>
        <p:spPr>
          <a:xfrm>
            <a:off x="381000" y="685800"/>
            <a:ext cx="6096000" cy="3429000"/>
          </a:xfrm>
        </p:spPr>
      </p:sp>
      <p:sp>
        <p:nvSpPr>
          <p:cNvPr id="993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如果不特别强调氧化态，通常说辅酶 </a:t>
            </a:r>
            <a:r>
              <a:rPr lang="en-US" altLang="zh-CN" dirty="0">
                <a:latin typeface="Arial" panose="020B0604020202020204" pitchFamily="34" charset="0"/>
              </a:rPr>
              <a:t>I </a:t>
            </a:r>
            <a:r>
              <a:rPr lang="zh-CN" altLang="en-US" dirty="0">
                <a:latin typeface="Arial" panose="020B0604020202020204" pitchFamily="34" charset="0"/>
              </a:rPr>
              <a:t>或</a:t>
            </a:r>
            <a:r>
              <a:rPr lang="en-US" altLang="zh-CN" dirty="0">
                <a:latin typeface="Arial" panose="020B0604020202020204" pitchFamily="34" charset="0"/>
              </a:rPr>
              <a:t>II </a:t>
            </a:r>
            <a:r>
              <a:rPr lang="zh-CN" altLang="en-US" dirty="0">
                <a:latin typeface="Arial" panose="020B0604020202020204" pitchFamily="34" charset="0"/>
              </a:rPr>
              <a:t>时，就称为</a:t>
            </a:r>
            <a:r>
              <a:rPr lang="en-US" altLang="zh-CN" dirty="0">
                <a:latin typeface="Arial" panose="020B0604020202020204" pitchFamily="34" charset="0"/>
              </a:rPr>
              <a:t>NAD</a:t>
            </a:r>
            <a:r>
              <a:rPr lang="zh-CN" altLang="en-US" b="1" dirty="0">
                <a:latin typeface="Arial" panose="020B0604020202020204" pitchFamily="34" charset="0"/>
              </a:rPr>
              <a:t>（</a:t>
            </a:r>
            <a:r>
              <a:rPr lang="en-US" altLang="zh-CN" b="1" dirty="0">
                <a:latin typeface="Arial" panose="020B0604020202020204" pitchFamily="34" charset="0"/>
              </a:rPr>
              <a:t>Nicotinamide adenine dinucleotide</a:t>
            </a:r>
            <a:r>
              <a:rPr lang="zh-CN" altLang="en-US" b="1" dirty="0">
                <a:latin typeface="Arial" panose="020B0604020202020204" pitchFamily="34" charset="0"/>
              </a:rPr>
              <a:t>）</a:t>
            </a:r>
            <a:r>
              <a:rPr lang="zh-CN" altLang="en-US" dirty="0">
                <a:latin typeface="Arial" panose="020B0604020202020204" pitchFamily="34" charset="0"/>
              </a:rPr>
              <a:t>和 </a:t>
            </a:r>
            <a:r>
              <a:rPr lang="en-US" altLang="zh-CN" dirty="0">
                <a:latin typeface="Arial" panose="020B0604020202020204" pitchFamily="34" charset="0"/>
              </a:rPr>
              <a:t>NADP.        </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993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D26207B5-1D50-41E3-B26F-7E1F32E693AA}" type="slidenum">
              <a:rPr lang="zh-CN" altLang="en-US" b="0" smtClean="0"/>
            </a:fld>
            <a:endParaRPr lang="en-US" altLang="zh-CN" b="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aseline="30000"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底物水平磷酸化：   </a:t>
            </a:r>
            <a:r>
              <a:rPr lang="en-US" altLang="zh-CN" dirty="0"/>
              <a:t>ADP </a:t>
            </a:r>
            <a:r>
              <a:rPr lang="zh-CN" altLang="en-US" dirty="0"/>
              <a:t>或其他核苷二磷酸的磷酸化作用与高能化合物的高能键水解直接相偶联。 </a:t>
            </a:r>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ChangeArrowheads="1" noTextEdit="1"/>
          </p:cNvSpPr>
          <p:nvPr>
            <p:ph type="sldImg"/>
          </p:nvPr>
        </p:nvSpPr>
        <p:spPr>
          <a:xfrm>
            <a:off x="381000" y="685800"/>
            <a:ext cx="6096000" cy="3429000"/>
          </a:xfrm>
        </p:spPr>
      </p:sp>
      <p:sp>
        <p:nvSpPr>
          <p:cNvPr id="1034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b="1" dirty="0">
              <a:latin typeface="Arial" panose="020B0604020202020204" pitchFamily="34" charset="0"/>
            </a:endParaRPr>
          </a:p>
          <a:p>
            <a:endParaRPr lang="zh-CN" altLang="en-US" dirty="0">
              <a:latin typeface="Arial" panose="020B0604020202020204" pitchFamily="34" charset="0"/>
            </a:endParaRPr>
          </a:p>
        </p:txBody>
      </p:sp>
      <p:sp>
        <p:nvSpPr>
          <p:cNvPr id="1034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C6227F4-ECCA-404E-84B7-CFD139F61E7A}" type="slidenum">
              <a:rPr lang="zh-CN" altLang="en-US" b="0" smtClean="0"/>
            </a:fld>
            <a:endParaRPr lang="en-US" altLang="zh-CN" b="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ChangeArrowheads="1" noTextEdit="1"/>
          </p:cNvSpPr>
          <p:nvPr>
            <p:ph type="sldImg"/>
          </p:nvPr>
        </p:nvSpPr>
        <p:spPr>
          <a:xfrm>
            <a:off x="381000" y="685800"/>
            <a:ext cx="6096000" cy="3429000"/>
          </a:xfrm>
        </p:spPr>
      </p:sp>
      <p:sp>
        <p:nvSpPr>
          <p:cNvPr id="10547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054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F8966F9-6F7B-4BAA-96B0-B83E8192BE6B}" type="slidenum">
              <a:rPr lang="zh-CN" altLang="en-US" b="0" smtClean="0"/>
            </a:fld>
            <a:endParaRPr lang="en-US" altLang="zh-CN" b="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ChangeArrowheads="1" noTextEdit="1"/>
          </p:cNvSpPr>
          <p:nvPr>
            <p:ph type="sldImg"/>
          </p:nvPr>
        </p:nvSpPr>
        <p:spPr>
          <a:xfrm>
            <a:off x="381000" y="685800"/>
            <a:ext cx="6096000" cy="3429000"/>
          </a:xfrm>
        </p:spPr>
      </p:sp>
      <p:sp>
        <p:nvSpPr>
          <p:cNvPr id="1075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氟化钠可抑制此酶。 漱口水里有氟化钠，抑制口腔细菌的糖酵解，从而抑制口腔细菌的繁殖。</a:t>
            </a:r>
            <a:endParaRPr lang="zh-CN" altLang="en-US" dirty="0">
              <a:latin typeface="Arial" panose="020B0604020202020204" pitchFamily="34" charset="0"/>
            </a:endParaRPr>
          </a:p>
        </p:txBody>
      </p:sp>
      <p:sp>
        <p:nvSpPr>
          <p:cNvPr id="1075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EC4F434-856B-4182-B81C-A44A913E4D60}" type="slidenum">
              <a:rPr lang="zh-CN" altLang="en-US" b="0" smtClean="0"/>
            </a:fld>
            <a:endParaRPr lang="en-US" altLang="zh-CN" b="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ChangeArrowheads="1" noTextEdit="1"/>
          </p:cNvSpPr>
          <p:nvPr>
            <p:ph type="sldImg"/>
          </p:nvPr>
        </p:nvSpPr>
        <p:spPr>
          <a:xfrm>
            <a:off x="381000" y="685800"/>
            <a:ext cx="6096000" cy="3429000"/>
          </a:xfrm>
        </p:spPr>
      </p:sp>
      <p:sp>
        <p:nvSpPr>
          <p:cNvPr id="1095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095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2EEFC89-B8FE-4541-A672-63483965C17B}" type="slidenum">
              <a:rPr lang="zh-CN" altLang="en-US" b="0" smtClean="0"/>
            </a:fld>
            <a:endParaRPr lang="en-US" altLang="zh-CN" b="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ChangeArrowheads="1" noTextEdit="1"/>
          </p:cNvSpPr>
          <p:nvPr>
            <p:ph type="sldImg"/>
          </p:nvPr>
        </p:nvSpPr>
        <p:spPr>
          <a:xfrm>
            <a:off x="381000" y="685800"/>
            <a:ext cx="6096000" cy="3429000"/>
          </a:xfrm>
        </p:spPr>
      </p:sp>
      <p:sp>
        <p:nvSpPr>
          <p:cNvPr id="1116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zh-CN" dirty="0">
                <a:latin typeface="Arial" panose="020B0604020202020204" pitchFamily="34" charset="0"/>
              </a:rPr>
              <a:t>The amount of NAD</a:t>
            </a:r>
            <a:r>
              <a:rPr lang="en-US" altLang="zh-CN" baseline="30000" dirty="0">
                <a:latin typeface="Arial" panose="020B0604020202020204" pitchFamily="34" charset="0"/>
              </a:rPr>
              <a:t>+</a:t>
            </a:r>
            <a:r>
              <a:rPr lang="en-US" altLang="zh-CN" dirty="0">
                <a:latin typeface="Arial" panose="020B0604020202020204" pitchFamily="34" charset="0"/>
              </a:rPr>
              <a:t> in a cell (10</a:t>
            </a:r>
            <a:r>
              <a:rPr lang="en-US" altLang="zh-CN" baseline="30000" dirty="0">
                <a:latin typeface="Arial" panose="020B0604020202020204" pitchFamily="34" charset="0"/>
              </a:rPr>
              <a:t>-5</a:t>
            </a:r>
            <a:r>
              <a:rPr lang="en-US" altLang="zh-CN" dirty="0">
                <a:latin typeface="Arial" panose="020B0604020202020204" pitchFamily="34" charset="0"/>
              </a:rPr>
              <a:t> M) is far smaller than the amount of glucose metabolized in a few minutes. </a:t>
            </a:r>
            <a:endParaRPr lang="en-US" altLang="zh-CN" dirty="0">
              <a:latin typeface="Arial" panose="020B0604020202020204" pitchFamily="34" charset="0"/>
            </a:endParaRPr>
          </a:p>
        </p:txBody>
      </p:sp>
      <p:sp>
        <p:nvSpPr>
          <p:cNvPr id="1116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3794C66B-4C87-4EC0-B2E9-97C4209E991C}" type="slidenum">
              <a:rPr lang="zh-CN" altLang="en-US" b="0" smtClean="0"/>
            </a:fld>
            <a:endParaRPr lang="en-US" altLang="zh-CN" b="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p:nvPr>
        </p:nvSpPr>
        <p:spPr>
          <a:xfrm>
            <a:off x="381000" y="685800"/>
            <a:ext cx="6096000" cy="3429000"/>
          </a:xfrm>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酸奶的生成： 产乳酸菌（比如保加利亚乳杆菌）通过乳酸发酵将糖变为乳酸，</a:t>
            </a:r>
            <a:r>
              <a:rPr lang="en-US" altLang="zh-CN" dirty="0">
                <a:latin typeface="Arial" panose="020B0604020202020204" pitchFamily="34" charset="0"/>
              </a:rPr>
              <a:t>pH</a:t>
            </a:r>
            <a:r>
              <a:rPr lang="zh-CN" altLang="en-US" dirty="0">
                <a:latin typeface="Arial" panose="020B0604020202020204" pitchFamily="34" charset="0"/>
              </a:rPr>
              <a:t>值下降使得牛奶中的蛋白质变性凝固，得到稠乎乎且非常酸的原味酸奶。 </a:t>
            </a:r>
            <a:endParaRPr lang="en-US" altLang="zh-CN" dirty="0">
              <a:latin typeface="Arial" panose="020B0604020202020204" pitchFamily="34" charset="0"/>
            </a:endParaRPr>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6BDFDA2-E894-4AE7-9A77-47FF114731D3}" type="slidenum">
              <a:rPr lang="zh-CN" altLang="en-US" b="0" smtClean="0"/>
            </a:fld>
            <a:endParaRPr lang="en-US" altLang="zh-CN" b="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ChangeArrowheads="1" noTextEdit="1"/>
          </p:cNvSpPr>
          <p:nvPr>
            <p:ph type="sldImg"/>
          </p:nvPr>
        </p:nvSpPr>
        <p:spPr>
          <a:xfrm>
            <a:off x="381000" y="685800"/>
            <a:ext cx="6096000" cy="3429000"/>
          </a:xfrm>
        </p:spPr>
      </p:sp>
      <p:sp>
        <p:nvSpPr>
          <p:cNvPr id="1136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两步反应。 丙酮酸脱羧酶与醇脱氢酶</a:t>
            </a:r>
            <a:r>
              <a:rPr lang="en-US" altLang="zh-CN" dirty="0">
                <a:latin typeface="Arial" panose="020B0604020202020204" pitchFamily="34" charset="0"/>
              </a:rPr>
              <a:t>.  </a:t>
            </a:r>
            <a:r>
              <a:rPr lang="zh-CN" altLang="en-US" dirty="0">
                <a:latin typeface="Arial" panose="020B0604020202020204" pitchFamily="34" charset="0"/>
              </a:rPr>
              <a:t>人体缺前一个酶。</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研究人员认为，自酿综合征（</a:t>
            </a:r>
            <a:r>
              <a:rPr lang="en-US" altLang="zh-CN" dirty="0">
                <a:latin typeface="Arial" panose="020B0604020202020204" pitchFamily="34" charset="0"/>
              </a:rPr>
              <a:t>ABS</a:t>
            </a:r>
            <a:r>
              <a:rPr lang="zh-CN" altLang="en-US" dirty="0">
                <a:latin typeface="Arial" panose="020B0604020202020204" pitchFamily="34" charset="0"/>
              </a:rPr>
              <a:t>）的根本原因与长期使用抗生素、营养不良和</a:t>
            </a:r>
            <a:r>
              <a:rPr lang="en-US" altLang="zh-CN" dirty="0">
                <a:latin typeface="Arial" panose="020B0604020202020204" pitchFamily="34" charset="0"/>
              </a:rPr>
              <a:t>/</a:t>
            </a:r>
            <a:r>
              <a:rPr lang="zh-CN" altLang="en-US" dirty="0">
                <a:latin typeface="Arial" panose="020B0604020202020204" pitchFamily="34" charset="0"/>
              </a:rPr>
              <a:t>或高碳水化合物饮食有关，以及既往疾病如糖尿病和导致肝酶活性不良的遗传变异。这些疾病中的任何一种单独或联合出现都可能引起</a:t>
            </a:r>
            <a:r>
              <a:rPr lang="en-US" altLang="zh-CN" dirty="0">
                <a:latin typeface="Arial" panose="020B0604020202020204" pitchFamily="34" charset="0"/>
              </a:rPr>
              <a:t>ABS</a:t>
            </a:r>
            <a:r>
              <a:rPr lang="zh-CN" altLang="en-US" dirty="0">
                <a:latin typeface="Arial" panose="020B0604020202020204" pitchFamily="34" charset="0"/>
              </a:rPr>
              <a:t>，并导致菌群失调。</a:t>
            </a:r>
            <a:endParaRPr lang="en-US" altLang="zh-CN" dirty="0">
              <a:latin typeface="Arial" panose="020B0604020202020204" pitchFamily="34" charset="0"/>
            </a:endParaRPr>
          </a:p>
        </p:txBody>
      </p:sp>
      <p:sp>
        <p:nvSpPr>
          <p:cNvPr id="1136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E931D4E-9F4F-4B61-83C1-0530ACE98CB1}" type="slidenum">
              <a:rPr lang="zh-CN" altLang="en-US" b="0" smtClean="0"/>
            </a:fld>
            <a:endParaRPr lang="en-US" altLang="zh-CN" b="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ChangeArrowheads="1" noTextEdit="1"/>
          </p:cNvSpPr>
          <p:nvPr>
            <p:ph type="sldImg"/>
          </p:nvPr>
        </p:nvSpPr>
        <p:spPr>
          <a:xfrm>
            <a:off x="381000" y="685800"/>
            <a:ext cx="6096000" cy="3429000"/>
          </a:xfrm>
        </p:spPr>
      </p:sp>
      <p:sp>
        <p:nvSpPr>
          <p:cNvPr id="1157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糖的无氧氧化被认为是</a:t>
            </a:r>
            <a:r>
              <a:rPr lang="en-US" altLang="zh-CN" dirty="0">
                <a:latin typeface="Arial" panose="020B0604020202020204" pitchFamily="34" charset="0"/>
              </a:rPr>
              <a:t>20~25</a:t>
            </a:r>
            <a:r>
              <a:rPr lang="zh-CN" altLang="en-US" dirty="0">
                <a:latin typeface="Arial" panose="020B0604020202020204" pitchFamily="34" charset="0"/>
              </a:rPr>
              <a:t>亿年（这期间地球大气含氧量才达到了较高浓度）前早期生命的基本产能方式，是比有氧氧化更古老的产能方式。</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1157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2B40E4AE-3A96-4D00-85C1-BA3BFA870BD9}" type="slidenum">
              <a:rPr lang="zh-CN" altLang="en-US" b="0" smtClean="0"/>
            </a:fld>
            <a:endParaRPr lang="en-US" altLang="zh-CN" b="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ChangeArrowheads="1" noTextEdit="1"/>
          </p:cNvSpPr>
          <p:nvPr>
            <p:ph type="sldImg"/>
          </p:nvPr>
        </p:nvSpPr>
        <p:spPr>
          <a:xfrm>
            <a:off x="381000" y="685800"/>
            <a:ext cx="6096000" cy="3429000"/>
          </a:xfrm>
        </p:spPr>
      </p:sp>
      <p:sp>
        <p:nvSpPr>
          <p:cNvPr id="1177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77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91C30C1-E614-4197-96AC-6FC2A791694A}" type="slidenum">
              <a:rPr lang="zh-CN" altLang="en-US" b="0" smtClean="0"/>
            </a:fld>
            <a:endParaRPr lang="en-US" altLang="zh-CN" b="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latin typeface="微软雅黑" panose="020B0503020204020204" pitchFamily="34" charset="-122"/>
                <a:ea typeface="微软雅黑" panose="020B0503020204020204" pitchFamily="34" charset="-122"/>
              </a:rPr>
              <a:t>生化方程</a:t>
            </a:r>
            <a:r>
              <a:rPr lang="zh-CN" altLang="en-US" sz="1200" b="0" dirty="0">
                <a:latin typeface="微软雅黑" panose="020B0503020204020204" pitchFamily="34" charset="-122"/>
                <a:ea typeface="微软雅黑" panose="020B0503020204020204" pitchFamily="34" charset="-122"/>
              </a:rPr>
              <a:t>通常用于判定在特定 </a:t>
            </a:r>
            <a:r>
              <a:rPr lang="en-US" altLang="zh-CN" sz="1200" b="0" dirty="0">
                <a:latin typeface="微软雅黑" panose="020B0503020204020204" pitchFamily="34" charset="-122"/>
                <a:ea typeface="微软雅黑" panose="020B0503020204020204" pitchFamily="34" charset="-122"/>
              </a:rPr>
              <a:t>pH </a:t>
            </a:r>
            <a:r>
              <a:rPr lang="zh-CN" altLang="en-US" sz="1200" b="0" dirty="0">
                <a:latin typeface="微软雅黑" panose="020B0503020204020204" pitchFamily="34" charset="-122"/>
                <a:ea typeface="微软雅黑" panose="020B0503020204020204" pitchFamily="34" charset="-122"/>
              </a:rPr>
              <a:t>值和 </a:t>
            </a:r>
            <a:r>
              <a:rPr lang="en-US" altLang="zh-CN" sz="1200" b="0" dirty="0">
                <a:latin typeface="微软雅黑" panose="020B0503020204020204" pitchFamily="34" charset="-122"/>
                <a:ea typeface="微软雅黑" panose="020B0503020204020204" pitchFamily="34" charset="-122"/>
              </a:rPr>
              <a:t>[Mg</a:t>
            </a:r>
            <a:r>
              <a:rPr lang="en-US" altLang="zh-CN" sz="1200" b="0" baseline="30000" dirty="0">
                <a:latin typeface="微软雅黑" panose="020B0503020204020204" pitchFamily="34" charset="-122"/>
                <a:ea typeface="微软雅黑" panose="020B0503020204020204" pitchFamily="34" charset="-122"/>
              </a:rPr>
              <a:t>2+</a:t>
            </a:r>
            <a:r>
              <a:rPr lang="en-US" altLang="zh-CN" sz="1200" b="0" dirty="0">
                <a:latin typeface="微软雅黑" panose="020B0503020204020204" pitchFamily="34" charset="-122"/>
                <a:ea typeface="微软雅黑" panose="020B0503020204020204" pitchFamily="34" charset="-122"/>
              </a:rPr>
              <a:t>] </a:t>
            </a:r>
            <a:r>
              <a:rPr lang="zh-CN" altLang="en-US" sz="1200" b="0" dirty="0">
                <a:latin typeface="微软雅黑" panose="020B0503020204020204" pitchFamily="34" charset="-122"/>
                <a:ea typeface="微软雅黑" panose="020B0503020204020204" pitchFamily="34" charset="-122"/>
              </a:rPr>
              <a:t>的情况下反应自发进行的方向，或者计算此类反应的平衡常数。</a:t>
            </a:r>
            <a:endParaRPr lang="en-US" altLang="zh-CN" dirty="0"/>
          </a:p>
          <a:p>
            <a:r>
              <a:rPr lang="zh-CN" altLang="en-US" dirty="0"/>
              <a:t>当我们研究某个化学反应机理，需要计算反应中的所有原子和电荷时，就需要化学方程式。 </a:t>
            </a:r>
            <a:endParaRPr lang="en-US" altLang="zh-CN" dirty="0"/>
          </a:p>
          <a:p>
            <a:endParaRPr lang="en-US" altLang="zh-CN"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ChangeArrowheads="1" noTextEdit="1"/>
          </p:cNvSpPr>
          <p:nvPr>
            <p:ph type="sldImg"/>
          </p:nvPr>
        </p:nvSpPr>
        <p:spPr>
          <a:xfrm>
            <a:off x="381000" y="685800"/>
            <a:ext cx="6096000" cy="3429000"/>
          </a:xfrm>
        </p:spPr>
      </p:sp>
      <p:sp>
        <p:nvSpPr>
          <p:cNvPr id="11981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98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B85E4FA-9D38-4A46-B4D7-AAC3E44DFFC8}" type="slidenum">
              <a:rPr lang="zh-CN" altLang="en-US" b="0" smtClean="0"/>
            </a:fld>
            <a:endParaRPr lang="en-US" altLang="zh-CN" b="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a:xfrm>
            <a:off x="381000" y="685800"/>
            <a:ext cx="6096000" cy="3429000"/>
          </a:xfrm>
        </p:spPr>
      </p:sp>
      <p:sp>
        <p:nvSpPr>
          <p:cNvPr id="1259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也许，除了保护</a:t>
            </a:r>
            <a:r>
              <a:rPr lang="en-US" altLang="zh-CN" dirty="0">
                <a:latin typeface="Arial" panose="020B0604020202020204" pitchFamily="34" charset="0"/>
              </a:rPr>
              <a:t>DNA</a:t>
            </a:r>
            <a:r>
              <a:rPr lang="zh-CN" altLang="en-US" dirty="0">
                <a:latin typeface="Arial" panose="020B0604020202020204" pitchFamily="34" charset="0"/>
              </a:rPr>
              <a:t>免受损害，细胞里没有什么比保持</a:t>
            </a:r>
            <a:r>
              <a:rPr lang="en-US" altLang="zh-CN" dirty="0">
                <a:latin typeface="Arial" panose="020B0604020202020204" pitchFamily="34" charset="0"/>
              </a:rPr>
              <a:t>ATP</a:t>
            </a:r>
            <a:r>
              <a:rPr lang="zh-CN" altLang="en-US" dirty="0">
                <a:latin typeface="Arial" panose="020B0604020202020204" pitchFamily="34" charset="0"/>
              </a:rPr>
              <a:t>的恒定浓度更重要的了。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许多利用</a:t>
            </a:r>
            <a:r>
              <a:rPr lang="en-US" altLang="zh-CN" dirty="0">
                <a:latin typeface="Arial" panose="020B0604020202020204" pitchFamily="34" charset="0"/>
              </a:rPr>
              <a:t>ATP</a:t>
            </a:r>
            <a:r>
              <a:rPr lang="zh-CN" altLang="en-US" dirty="0">
                <a:latin typeface="Arial" panose="020B0604020202020204" pitchFamily="34" charset="0"/>
              </a:rPr>
              <a:t>的酶的Ｋ</a:t>
            </a:r>
            <a:r>
              <a:rPr lang="en-US" altLang="zh-CN" dirty="0">
                <a:latin typeface="Arial" panose="020B0604020202020204" pitchFamily="34" charset="0"/>
              </a:rPr>
              <a:t>m</a:t>
            </a:r>
            <a:r>
              <a:rPr lang="zh-CN" altLang="en-US" dirty="0">
                <a:latin typeface="Arial" panose="020B0604020202020204" pitchFamily="34" charset="0"/>
              </a:rPr>
              <a:t>在</a:t>
            </a:r>
            <a:r>
              <a:rPr lang="en-US" altLang="zh-CN" dirty="0">
                <a:latin typeface="Arial" panose="020B0604020202020204" pitchFamily="34" charset="0"/>
              </a:rPr>
              <a:t>0.1 </a:t>
            </a:r>
            <a:r>
              <a:rPr lang="zh-CN" altLang="en-US" dirty="0">
                <a:latin typeface="Arial" panose="020B0604020202020204" pitchFamily="34" charset="0"/>
              </a:rPr>
              <a:t>和</a:t>
            </a:r>
            <a:r>
              <a:rPr lang="en-US" altLang="zh-CN" dirty="0">
                <a:latin typeface="Arial" panose="020B0604020202020204" pitchFamily="34" charset="0"/>
              </a:rPr>
              <a:t>1mM</a:t>
            </a:r>
            <a:r>
              <a:rPr lang="zh-CN" altLang="en-US" dirty="0">
                <a:latin typeface="Arial" panose="020B0604020202020204" pitchFamily="34" charset="0"/>
              </a:rPr>
              <a:t>之间 ，而</a:t>
            </a:r>
            <a:r>
              <a:rPr lang="en-US" altLang="zh-CN" dirty="0">
                <a:latin typeface="Arial" panose="020B0604020202020204" pitchFamily="34" charset="0"/>
              </a:rPr>
              <a:t>ATP</a:t>
            </a:r>
            <a:r>
              <a:rPr lang="zh-CN" altLang="en-US" dirty="0">
                <a:latin typeface="Arial" panose="020B0604020202020204" pitchFamily="34" charset="0"/>
              </a:rPr>
              <a:t>在细胞内的浓度通常为</a:t>
            </a:r>
            <a:r>
              <a:rPr lang="en-US" altLang="zh-CN" dirty="0">
                <a:latin typeface="Arial" panose="020B0604020202020204" pitchFamily="34" charset="0"/>
              </a:rPr>
              <a:t>5mM</a:t>
            </a:r>
            <a:r>
              <a:rPr lang="zh-CN" altLang="en-US" dirty="0">
                <a:latin typeface="Arial" panose="020B0604020202020204" pitchFamily="34" charset="0"/>
              </a:rPr>
              <a:t>。　</a:t>
            </a:r>
            <a:r>
              <a:rPr lang="en-US" altLang="zh-CN" dirty="0">
                <a:latin typeface="Arial" panose="020B0604020202020204" pitchFamily="34" charset="0"/>
              </a:rPr>
              <a:t>ATP</a:t>
            </a:r>
            <a:r>
              <a:rPr lang="zh-CN" altLang="en-US" dirty="0">
                <a:latin typeface="Arial" panose="020B0604020202020204" pitchFamily="34" charset="0"/>
              </a:rPr>
              <a:t>的浓度一旦下降，会迅速促进糖分解相关关键酶的活性，加快糖的氧化以释放能量，生成</a:t>
            </a:r>
            <a:r>
              <a:rPr lang="en-US" altLang="zh-CN" dirty="0">
                <a:latin typeface="Arial" panose="020B0604020202020204" pitchFamily="34" charset="0"/>
              </a:rPr>
              <a:t>ATP</a:t>
            </a:r>
            <a:r>
              <a:rPr lang="zh-CN" altLang="en-US" dirty="0">
                <a:latin typeface="Arial" panose="020B0604020202020204" pitchFamily="34" charset="0"/>
              </a:rPr>
              <a:t>。</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259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3422B63D-FB58-4075-8D28-A0ACBA1F3AB9}" type="slidenum">
              <a:rPr lang="zh-CN" altLang="en-US" b="0" smtClean="0"/>
            </a:fld>
            <a:endParaRPr lang="en-US" altLang="zh-CN" b="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ChangeArrowheads="1" noTextEdit="1"/>
          </p:cNvSpPr>
          <p:nvPr>
            <p:ph type="sldImg"/>
          </p:nvPr>
        </p:nvSpPr>
        <p:spPr>
          <a:xfrm>
            <a:off x="381000" y="685800"/>
            <a:ext cx="6096000" cy="3429000"/>
          </a:xfrm>
        </p:spPr>
      </p:sp>
      <p:sp>
        <p:nvSpPr>
          <p:cNvPr id="1280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缺乏</a:t>
            </a:r>
            <a:r>
              <a:rPr lang="en-US" altLang="zh-CN" dirty="0">
                <a:latin typeface="Arial" panose="020B0604020202020204" pitchFamily="34" charset="0"/>
              </a:rPr>
              <a:t>F-2,6-2P</a:t>
            </a:r>
            <a:r>
              <a:rPr lang="zh-CN" altLang="en-US" dirty="0">
                <a:latin typeface="Arial" panose="020B0604020202020204" pitchFamily="34" charset="0"/>
              </a:rPr>
              <a:t>时，其它激活剂对</a:t>
            </a:r>
            <a:r>
              <a:rPr lang="en-US" altLang="zh-CN" dirty="0">
                <a:latin typeface="Arial" panose="020B0604020202020204" pitchFamily="34" charset="0"/>
              </a:rPr>
              <a:t>PFK-1</a:t>
            </a:r>
            <a:r>
              <a:rPr lang="zh-CN" altLang="en-US" dirty="0">
                <a:latin typeface="Arial" panose="020B0604020202020204" pitchFamily="34" charset="0"/>
              </a:rPr>
              <a:t>几乎不起作用，而极少量的</a:t>
            </a:r>
            <a:r>
              <a:rPr lang="en-US" altLang="zh-CN" dirty="0">
                <a:latin typeface="Arial" panose="020B0604020202020204" pitchFamily="34" charset="0"/>
              </a:rPr>
              <a:t>F-2,6-2P</a:t>
            </a:r>
            <a:r>
              <a:rPr lang="zh-CN" altLang="en-US" dirty="0">
                <a:latin typeface="Arial" panose="020B0604020202020204" pitchFamily="34" charset="0"/>
              </a:rPr>
              <a:t>就能极大地促进</a:t>
            </a:r>
            <a:r>
              <a:rPr lang="en-US" altLang="zh-CN" dirty="0">
                <a:latin typeface="Arial" panose="020B0604020202020204" pitchFamily="34" charset="0"/>
              </a:rPr>
              <a:t>PFK-1</a:t>
            </a:r>
            <a:r>
              <a:rPr lang="zh-CN" altLang="en-US" dirty="0">
                <a:latin typeface="Arial" panose="020B0604020202020204" pitchFamily="34" charset="0"/>
              </a:rPr>
              <a:t>对底物的亲合力。</a:t>
            </a:r>
            <a:endParaRPr lang="zh-CN" altLang="en-US" dirty="0">
              <a:latin typeface="Arial" panose="020B0604020202020204" pitchFamily="34" charset="0"/>
            </a:endParaRPr>
          </a:p>
          <a:p>
            <a:r>
              <a:rPr lang="en-US" altLang="zh-CN" dirty="0">
                <a:latin typeface="Arial" panose="020B0604020202020204" pitchFamily="34" charset="0"/>
              </a:rPr>
              <a:t>PEP</a:t>
            </a:r>
            <a:r>
              <a:rPr lang="zh-CN" altLang="en-US" dirty="0">
                <a:latin typeface="Arial" panose="020B0604020202020204" pitchFamily="34" charset="0"/>
              </a:rPr>
              <a:t>也是其别构抑制剂</a:t>
            </a:r>
            <a:endParaRPr lang="en-US" altLang="zh-CN" dirty="0">
              <a:latin typeface="Arial" panose="020B0604020202020204" pitchFamily="34" charset="0"/>
            </a:endParaRPr>
          </a:p>
          <a:p>
            <a:endParaRPr kumimoji="1" lang="en-US" altLang="zh-CN" dirty="0">
              <a:latin typeface="Arial" panose="020B0604020202020204" pitchFamily="34" charset="0"/>
            </a:endParaRPr>
          </a:p>
          <a:p>
            <a:endParaRPr kumimoji="1" lang="zh-CN" altLang="en-US" dirty="0">
              <a:latin typeface="Arial" panose="020B0604020202020204" pitchFamily="34" charset="0"/>
            </a:endParaRPr>
          </a:p>
        </p:txBody>
      </p:sp>
      <p:sp>
        <p:nvSpPr>
          <p:cNvPr id="1280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7764C2C-595A-403E-AFBB-D58FA1D3AAC4}" type="slidenum">
              <a:rPr lang="zh-CN" altLang="en-US" b="0" smtClean="0"/>
            </a:fld>
            <a:endParaRPr lang="en-US" altLang="zh-CN" b="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ChangeArrowheads="1" noTextEdit="1"/>
          </p:cNvSpPr>
          <p:nvPr>
            <p:ph type="sldImg"/>
          </p:nvPr>
        </p:nvSpPr>
        <p:spPr>
          <a:xfrm>
            <a:off x="381000" y="685800"/>
            <a:ext cx="6096000" cy="3429000"/>
          </a:xfrm>
        </p:spPr>
      </p:sp>
      <p:sp>
        <p:nvSpPr>
          <p:cNvPr id="1320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幻灯所示并不适合肌细胞，只适合肝细胞。  该机制有利于血糖低时肝糖原释放补充血糖，而不是被肝细胞自身分解利用。 </a:t>
            </a:r>
            <a:endParaRPr lang="en-US" altLang="zh-CN" dirty="0">
              <a:latin typeface="Arial" panose="020B0604020202020204" pitchFamily="34" charset="0"/>
            </a:endParaRPr>
          </a:p>
          <a:p>
            <a:endParaRPr lang="en-US" altLang="zh-CN" b="1" dirty="0">
              <a:latin typeface="Arial" panose="020B0604020202020204" pitchFamily="34" charset="0"/>
            </a:endParaRPr>
          </a:p>
          <a:p>
            <a:r>
              <a:rPr lang="zh-CN" altLang="en-US" b="1" dirty="0">
                <a:latin typeface="Arial" panose="020B0604020202020204" pitchFamily="34" charset="0"/>
              </a:rPr>
              <a:t>骨骼肌中的丙酮酸激酶不受</a:t>
            </a:r>
            <a:r>
              <a:rPr lang="en-US" altLang="zh-CN" b="1" dirty="0">
                <a:latin typeface="Arial" panose="020B0604020202020204" pitchFamily="34" charset="0"/>
              </a:rPr>
              <a:t>PKA</a:t>
            </a:r>
            <a:r>
              <a:rPr lang="zh-CN" altLang="en-US" b="1" dirty="0">
                <a:latin typeface="Arial" panose="020B0604020202020204" pitchFamily="34" charset="0"/>
              </a:rPr>
              <a:t>的磷酸化</a:t>
            </a:r>
            <a:r>
              <a:rPr lang="zh-CN" altLang="en-US" dirty="0">
                <a:latin typeface="Arial" panose="020B0604020202020204" pitchFamily="34" charset="0"/>
              </a:rPr>
              <a:t>，实际上，</a:t>
            </a:r>
            <a:r>
              <a:rPr lang="en-US" altLang="zh-CN" dirty="0">
                <a:latin typeface="Arial" panose="020B0604020202020204" pitchFamily="34" charset="0"/>
              </a:rPr>
              <a:t>cAMP </a:t>
            </a:r>
            <a:r>
              <a:rPr lang="zh-CN" altLang="en-US" dirty="0">
                <a:latin typeface="Arial" panose="020B0604020202020204" pitchFamily="34" charset="0"/>
              </a:rPr>
              <a:t>浓度升高会促进肌细胞的糖酵解，可能是因为糖原磷酸化酶被激活，肌糖原分解加强</a:t>
            </a:r>
            <a:r>
              <a:rPr lang="en-US" altLang="zh-CN" dirty="0">
                <a:latin typeface="Arial" panose="020B0604020202020204" pitchFamily="34" charset="0"/>
              </a:rPr>
              <a:t>.   </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321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92B1DC9-0F43-41F1-9318-64677350F2EA}" type="slidenum">
              <a:rPr lang="zh-CN" altLang="en-US" b="0" smtClean="0"/>
            </a:fld>
            <a:endParaRPr lang="en-US" altLang="zh-CN" b="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ChangeArrowheads="1" noTextEdit="1"/>
          </p:cNvSpPr>
          <p:nvPr>
            <p:ph type="sldImg"/>
          </p:nvPr>
        </p:nvSpPr>
        <p:spPr>
          <a:xfrm>
            <a:off x="381000" y="685800"/>
            <a:ext cx="6096000" cy="3429000"/>
          </a:xfrm>
        </p:spPr>
      </p:sp>
      <p:sp>
        <p:nvSpPr>
          <p:cNvPr id="13414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3414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8A45F82-7518-488A-9927-D08A6A04A781}" type="slidenum">
              <a:rPr lang="zh-CN" altLang="en-US" b="0" smtClean="0"/>
            </a:fld>
            <a:endParaRPr lang="en-US" altLang="zh-CN" b="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ChangeArrowheads="1" noTextEdit="1"/>
          </p:cNvSpPr>
          <p:nvPr>
            <p:ph type="sldImg"/>
          </p:nvPr>
        </p:nvSpPr>
        <p:spPr>
          <a:xfrm>
            <a:off x="381000" y="685800"/>
            <a:ext cx="6096000" cy="3429000"/>
          </a:xfrm>
        </p:spPr>
      </p:sp>
      <p:sp>
        <p:nvSpPr>
          <p:cNvPr id="13619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静息状态下肌内</a:t>
            </a:r>
            <a:r>
              <a:rPr lang="en-US" altLang="zh-CN" dirty="0">
                <a:latin typeface="Arial" panose="020B0604020202020204" pitchFamily="34" charset="0"/>
              </a:rPr>
              <a:t>ATP</a:t>
            </a:r>
            <a:r>
              <a:rPr lang="zh-CN" altLang="en-US" dirty="0">
                <a:latin typeface="Arial" panose="020B0604020202020204" pitchFamily="34" charset="0"/>
              </a:rPr>
              <a:t>含量约为</a:t>
            </a:r>
            <a:r>
              <a:rPr lang="en-US" altLang="zh-CN" dirty="0">
                <a:latin typeface="Arial" panose="020B0604020202020204" pitchFamily="34" charset="0"/>
              </a:rPr>
              <a:t>4mmol/L</a:t>
            </a:r>
            <a:endParaRPr lang="en-US" altLang="zh-CN" dirty="0">
              <a:latin typeface="Arial" panose="020B0604020202020204" pitchFamily="34" charset="0"/>
            </a:endParaRPr>
          </a:p>
        </p:txBody>
      </p:sp>
      <p:sp>
        <p:nvSpPr>
          <p:cNvPr id="13619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162F5BE-BFC8-4115-AAEA-242E55C25703}" type="slidenum">
              <a:rPr lang="zh-CN" altLang="en-US" b="0" smtClean="0"/>
            </a:fld>
            <a:endParaRPr lang="en-US" altLang="zh-CN" b="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ChangeArrowheads="1" noTextEdit="1"/>
          </p:cNvSpPr>
          <p:nvPr>
            <p:ph type="sldImg"/>
          </p:nvPr>
        </p:nvSpPr>
        <p:spPr>
          <a:xfrm>
            <a:off x="381000" y="685800"/>
            <a:ext cx="6096000" cy="3429000"/>
          </a:xfrm>
        </p:spPr>
      </p:sp>
      <p:sp>
        <p:nvSpPr>
          <p:cNvPr id="1382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382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A64BC02-47F9-42A2-AC92-D7E27441B173}" type="slidenum">
              <a:rPr lang="zh-CN" altLang="en-US" b="0" smtClean="0"/>
            </a:fld>
            <a:endParaRPr lang="en-US" altLang="zh-CN" b="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幻灯片图像占位符 1"/>
          <p:cNvSpPr>
            <a:spLocks noGrp="1" noRot="1" noChangeAspect="1" noChangeArrowheads="1" noTextEdit="1"/>
          </p:cNvSpPr>
          <p:nvPr>
            <p:ph type="sldImg"/>
          </p:nvPr>
        </p:nvSpPr>
        <p:spPr>
          <a:xfrm>
            <a:off x="381000" y="685800"/>
            <a:ext cx="6096000" cy="3429000"/>
          </a:xfrm>
        </p:spPr>
      </p:sp>
      <p:sp>
        <p:nvSpPr>
          <p:cNvPr id="1402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1402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C7E13DF-666D-4622-A32F-D1BD29F5EAA5}" type="slidenum">
              <a:rPr lang="zh-CN" altLang="en-US" b="0" smtClean="0"/>
            </a:fld>
            <a:endParaRPr lang="en-US" altLang="zh-CN" b="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ChangeArrowheads="1" noTextEdit="1"/>
          </p:cNvSpPr>
          <p:nvPr>
            <p:ph type="sldImg"/>
          </p:nvPr>
        </p:nvSpPr>
        <p:spPr>
          <a:xfrm>
            <a:off x="381000" y="685800"/>
            <a:ext cx="6096000" cy="3429000"/>
          </a:xfrm>
        </p:spPr>
      </p:sp>
      <p:sp>
        <p:nvSpPr>
          <p:cNvPr id="1423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这种肌肉酸痛的确切原因还未完全清楚，多数人认为： 肌肉的张力和弹性的急剧增加，可引起肌肉结构成分的物理性损伤</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许多户外领队会提醒队员活动结束后回家泡温热水以利清除乳酸，这是户外圈流传很久的误导。</a:t>
            </a:r>
            <a:endParaRPr lang="en-US" altLang="zh-CN" dirty="0">
              <a:latin typeface="Arial" panose="020B0604020202020204" pitchFamily="34" charset="0"/>
            </a:endParaRPr>
          </a:p>
        </p:txBody>
      </p:sp>
      <p:sp>
        <p:nvSpPr>
          <p:cNvPr id="1423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88B6E76-FF3E-4D8E-A377-AB53CC1EB702}" type="slidenum">
              <a:rPr lang="zh-CN" altLang="en-US" b="0" smtClean="0"/>
            </a:fld>
            <a:endParaRPr lang="en-US" altLang="zh-CN" b="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F5716D4-B7DA-4AA4-B3B0-CFBDC023D2BF}" type="slidenum">
              <a:rPr lang="en-US" altLang="zh-CN" b="0" smtClean="0"/>
            </a:fld>
            <a:endParaRPr lang="en-US" altLang="zh-CN" b="0"/>
          </a:p>
        </p:txBody>
      </p:sp>
      <p:sp>
        <p:nvSpPr>
          <p:cNvPr id="144387" name="Rectangle 2"/>
          <p:cNvSpPr>
            <a:spLocks noGrp="1" noRot="1" noChangeAspect="1" noChangeArrowheads="1" noTextEdit="1"/>
          </p:cNvSpPr>
          <p:nvPr>
            <p:ph type="sldImg"/>
          </p:nvPr>
        </p:nvSpPr>
        <p:spPr>
          <a:xfrm>
            <a:off x="381000" y="685800"/>
            <a:ext cx="6096000" cy="3429000"/>
          </a:xfrm>
        </p:spPr>
      </p:sp>
      <p:sp>
        <p:nvSpPr>
          <p:cNvPr id="144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ChangeArrowheads="1" noTextEdit="1"/>
          </p:cNvSpPr>
          <p:nvPr>
            <p:ph type="sldImg"/>
          </p:nvPr>
        </p:nvSpPr>
        <p:spPr>
          <a:xfrm>
            <a:off x="381000" y="685800"/>
            <a:ext cx="6096000" cy="3429000"/>
          </a:xfrm>
        </p:spPr>
      </p:sp>
      <p:sp>
        <p:nvSpPr>
          <p:cNvPr id="1464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注意糖无氧氧化终产物与糖酵解终产物的不同。</a:t>
            </a:r>
            <a:endParaRPr lang="en-US" altLang="zh-CN" dirty="0">
              <a:latin typeface="Arial" panose="020B0604020202020204" pitchFamily="34" charset="0"/>
            </a:endParaRPr>
          </a:p>
          <a:p>
            <a:r>
              <a:rPr lang="zh-CN" altLang="en-US" dirty="0">
                <a:latin typeface="Arial" panose="020B0604020202020204" pitchFamily="34" charset="0"/>
              </a:rPr>
              <a:t>老说法里  糖酵解</a:t>
            </a:r>
            <a:r>
              <a:rPr lang="en-US" altLang="zh-CN" dirty="0">
                <a:latin typeface="Arial" panose="020B0604020202020204" pitchFamily="34" charset="0"/>
              </a:rPr>
              <a:t>=</a:t>
            </a:r>
            <a:r>
              <a:rPr lang="zh-CN" altLang="en-US" dirty="0">
                <a:latin typeface="Arial" panose="020B0604020202020204" pitchFamily="34" charset="0"/>
              </a:rPr>
              <a:t>糖无氧氧化， 而将葡萄糖到丙酮酸的过程称为“糖酵解途径”， 故有的习题里会出现糖酵解的终产物是乳酸的答案。 </a:t>
            </a:r>
            <a:endParaRPr lang="zh-CN" altLang="en-US" dirty="0">
              <a:latin typeface="Arial" panose="020B0604020202020204" pitchFamily="34" charset="0"/>
            </a:endParaRPr>
          </a:p>
        </p:txBody>
      </p:sp>
      <p:sp>
        <p:nvSpPr>
          <p:cNvPr id="1464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D99D4E14-CBB6-45F6-AE3A-BD3BD7E1DE27}" type="slidenum">
              <a:rPr lang="zh-CN" altLang="en-US" b="0" smtClean="0"/>
            </a:fld>
            <a:endParaRPr lang="en-US" altLang="zh-CN" b="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ChangeArrowheads="1" noTextEdit="1"/>
          </p:cNvSpPr>
          <p:nvPr>
            <p:ph type="sldImg"/>
          </p:nvPr>
        </p:nvSpPr>
        <p:spPr>
          <a:xfrm>
            <a:off x="381000" y="685800"/>
            <a:ext cx="6096000" cy="3429000"/>
          </a:xfrm>
        </p:spPr>
      </p:sp>
      <p:sp>
        <p:nvSpPr>
          <p:cNvPr id="1218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肝细胞中的葡萄糖激酶不作用于果糖 。 </a:t>
            </a:r>
            <a:endParaRPr lang="zh-CN" altLang="en-US"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目前医学对于果糖引起血尿酸升高的机制尚未清晰，主流观点认为：一方面果糖在肝脏内代谢消耗大量的</a:t>
            </a:r>
            <a:r>
              <a:rPr lang="en-US" altLang="zh-CN" dirty="0">
                <a:latin typeface="Arial" panose="020B0604020202020204" pitchFamily="34" charset="0"/>
              </a:rPr>
              <a:t>ATP</a:t>
            </a:r>
            <a:r>
              <a:rPr lang="zh-CN" altLang="en-US" dirty="0">
                <a:latin typeface="Arial" panose="020B0604020202020204" pitchFamily="34" charset="0"/>
              </a:rPr>
              <a:t>，增加了嘌呤代谢的原材料，导致更多尿酸生成；另一方面，果糖可导致胰岛素抵抗、间接导致血尿酸的排泄减少。</a:t>
            </a:r>
            <a:endParaRPr lang="en-US" altLang="zh-CN" dirty="0">
              <a:latin typeface="Arial" panose="020B0604020202020204" pitchFamily="34" charset="0"/>
            </a:endParaRPr>
          </a:p>
          <a:p>
            <a:r>
              <a:rPr lang="zh-CN" altLang="en-US" b="1" dirty="0">
                <a:latin typeface="Arial" panose="020B0604020202020204" pitchFamily="34" charset="0"/>
              </a:rPr>
              <a:t>肝细胞内的果糖激酶无负反馈，大量摄入果糖，可引起</a:t>
            </a:r>
            <a:r>
              <a:rPr lang="en-US" altLang="zh-CN" b="1" dirty="0">
                <a:latin typeface="Arial" panose="020B0604020202020204" pitchFamily="34" charset="0"/>
              </a:rPr>
              <a:t>ATP</a:t>
            </a:r>
            <a:r>
              <a:rPr lang="zh-CN" altLang="en-US" b="1" dirty="0">
                <a:latin typeface="Arial" panose="020B0604020202020204" pitchFamily="34" charset="0"/>
              </a:rPr>
              <a:t>的大量消耗，产生大量</a:t>
            </a:r>
            <a:r>
              <a:rPr lang="en-US" altLang="zh-CN" b="1" dirty="0">
                <a:latin typeface="Arial" panose="020B0604020202020204" pitchFamily="34" charset="0"/>
              </a:rPr>
              <a:t>AMP</a:t>
            </a:r>
            <a:r>
              <a:rPr lang="zh-CN" altLang="en-US" dirty="0">
                <a:latin typeface="Arial" panose="020B0604020202020204" pitchFamily="34" charset="0"/>
              </a:rPr>
              <a:t>，后者进一步分解产生尿酸，故高尿酸患者应少喝含果糖多的果汁、甜饮料。</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218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3AB855A1-61A2-4003-BC2A-3DA733997B05}" type="slidenum">
              <a:rPr lang="zh-CN" altLang="en-US" b="0" smtClean="0"/>
            </a:fld>
            <a:endParaRPr lang="en-US" altLang="zh-CN" b="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p:nvPr>
        </p:nvSpPr>
        <p:spPr>
          <a:xfrm>
            <a:off x="381000" y="685800"/>
            <a:ext cx="6096000" cy="3429000"/>
          </a:xfrm>
        </p:spPr>
      </p:sp>
      <p:sp>
        <p:nvSpPr>
          <p:cNvPr id="1239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lang="zh-CN" altLang="en-US" sz="1800" dirty="0">
                <a:latin typeface="Arial" panose="020B0604020202020204" pitchFamily="34" charset="0"/>
                <a:ea typeface="微软雅黑" panose="020B0503020204020204" pitchFamily="34" charset="-122"/>
              </a:rPr>
              <a:t>果糖</a:t>
            </a:r>
            <a:r>
              <a:rPr lang="en-US" altLang="zh-CN" sz="1800" dirty="0">
                <a:latin typeface="Arial" panose="020B0604020202020204" pitchFamily="34" charset="0"/>
                <a:ea typeface="微软雅黑" panose="020B0503020204020204" pitchFamily="34" charset="-122"/>
              </a:rPr>
              <a:t>-1-</a:t>
            </a:r>
            <a:r>
              <a:rPr lang="zh-CN" altLang="en-US" sz="1800" dirty="0">
                <a:latin typeface="Arial" panose="020B0604020202020204" pitchFamily="34" charset="0"/>
                <a:ea typeface="微软雅黑" panose="020B0503020204020204" pitchFamily="34" charset="-122"/>
              </a:rPr>
              <a:t>磷酸堆积会大量消耗</a:t>
            </a:r>
            <a:r>
              <a:rPr lang="en-US" altLang="zh-CN" sz="1800" dirty="0">
                <a:latin typeface="Arial" panose="020B0604020202020204" pitchFamily="34" charset="0"/>
                <a:ea typeface="微软雅黑" panose="020B0503020204020204" pitchFamily="34" charset="-122"/>
              </a:rPr>
              <a:t>Pi</a:t>
            </a:r>
            <a:r>
              <a:rPr lang="zh-CN" altLang="en-US" sz="1800" dirty="0">
                <a:latin typeface="Arial" panose="020B0604020202020204" pitchFamily="34" charset="0"/>
                <a:ea typeface="微软雅黑" panose="020B0503020204020204" pitchFamily="34" charset="-122"/>
              </a:rPr>
              <a:t>，引起</a:t>
            </a:r>
            <a:r>
              <a:rPr lang="en-US" altLang="zh-CN" sz="1800" dirty="0">
                <a:latin typeface="Arial" panose="020B0604020202020204" pitchFamily="34" charset="0"/>
                <a:ea typeface="微软雅黑" panose="020B0503020204020204" pitchFamily="34" charset="-122"/>
              </a:rPr>
              <a:t>ATP↓</a:t>
            </a:r>
            <a:r>
              <a:rPr lang="zh-CN" altLang="en-US" sz="1800" dirty="0">
                <a:latin typeface="Arial" panose="020B0604020202020204" pitchFamily="34" charset="0"/>
                <a:ea typeface="微软雅黑" panose="020B0503020204020204" pitchFamily="34" charset="-122"/>
              </a:rPr>
              <a:t>，糖无氧氧化增强，产生过量乳酸；</a:t>
            </a:r>
            <a:endParaRPr lang="en-US" altLang="zh-CN" sz="1800" dirty="0">
              <a:latin typeface="Arial" panose="020B0604020202020204" pitchFamily="34" charset="0"/>
              <a:ea typeface="微软雅黑" panose="020B0503020204020204" pitchFamily="34" charset="-122"/>
            </a:endParaRPr>
          </a:p>
        </p:txBody>
      </p:sp>
      <p:sp>
        <p:nvSpPr>
          <p:cNvPr id="1239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F7A361D-C90A-43B1-8192-60B8C0F700BF}" type="slidenum">
              <a:rPr lang="zh-CN" altLang="en-US" b="0" smtClean="0"/>
            </a:fld>
            <a:endParaRPr lang="en-US" altLang="zh-CN" b="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ChangeArrowheads="1" noTextEdit="1"/>
          </p:cNvSpPr>
          <p:nvPr>
            <p:ph type="sldImg"/>
          </p:nvPr>
        </p:nvSpPr>
        <p:spPr>
          <a:xfrm>
            <a:off x="381000" y="685800"/>
            <a:ext cx="6096000" cy="3429000"/>
          </a:xfrm>
        </p:spPr>
      </p:sp>
      <p:sp>
        <p:nvSpPr>
          <p:cNvPr id="1239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1239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F7A361D-C90A-43B1-8192-60B8C0F700BF}" type="slidenum">
              <a:rPr lang="zh-CN" altLang="en-US" b="0" smtClean="0"/>
            </a:fld>
            <a:endParaRPr lang="en-US" altLang="zh-CN" b="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幻灯片图像占位符 1"/>
          <p:cNvSpPr>
            <a:spLocks noGrp="1" noRot="1" noChangeAspect="1" noChangeArrowheads="1" noTextEdit="1"/>
          </p:cNvSpPr>
          <p:nvPr>
            <p:ph type="sldImg"/>
          </p:nvPr>
        </p:nvSpPr>
        <p:spPr>
          <a:xfrm>
            <a:off x="381000" y="685800"/>
            <a:ext cx="6096000" cy="3429000"/>
          </a:xfrm>
        </p:spPr>
      </p:sp>
      <p:sp>
        <p:nvSpPr>
          <p:cNvPr id="19968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b="0" dirty="0">
                <a:latin typeface="Arial" panose="020B0604020202020204" pitchFamily="34" charset="0"/>
                <a:cs typeface="Arial" panose="020B0604020202020204" pitchFamily="34" charset="0"/>
              </a:rPr>
              <a:t>病例</a:t>
            </a:r>
            <a:r>
              <a:rPr lang="en-US" altLang="zh-CN" sz="1200" b="0" dirty="0">
                <a:latin typeface="Arial" panose="020B0604020202020204" pitchFamily="34" charset="0"/>
                <a:cs typeface="Arial" panose="020B0604020202020204" pitchFamily="34" charset="0"/>
              </a:rPr>
              <a:t>A</a:t>
            </a:r>
            <a:r>
              <a:rPr lang="zh-CN" altLang="en-US" sz="1200" b="0" dirty="0">
                <a:latin typeface="Arial" panose="020B0604020202020204" pitchFamily="34" charset="0"/>
                <a:cs typeface="Arial" panose="020B0604020202020204" pitchFamily="34" charset="0"/>
              </a:rPr>
              <a:t>答案</a:t>
            </a:r>
            <a:r>
              <a:rPr lang="en-US" altLang="zh-CN" sz="1200" b="0" dirty="0">
                <a:latin typeface="Arial" panose="020B0604020202020204" pitchFamily="34" charset="0"/>
                <a:cs typeface="Arial" panose="020B0604020202020204" pitchFamily="34" charset="0"/>
              </a:rPr>
              <a:t>:    </a:t>
            </a:r>
            <a:r>
              <a:rPr lang="zh-CN" altLang="en-US" sz="1200" b="0" dirty="0">
                <a:latin typeface="Arial" panose="020B0604020202020204" pitchFamily="34" charset="0"/>
                <a:cs typeface="Arial" panose="020B0604020202020204" pitchFamily="34" charset="0"/>
              </a:rPr>
              <a:t>乳糖酶缺陷所致的不耐受    </a:t>
            </a:r>
            <a:r>
              <a:rPr lang="en-US" altLang="zh-CN" sz="1200" b="0" dirty="0">
                <a:latin typeface="Arial" panose="020B0604020202020204" pitchFamily="34" charset="0"/>
                <a:cs typeface="Arial" panose="020B0604020202020204" pitchFamily="34" charset="0"/>
              </a:rPr>
              <a:t>.  </a:t>
            </a:r>
            <a:r>
              <a:rPr lang="zh-CN" altLang="en-US" sz="1200" b="0" dirty="0">
                <a:latin typeface="Arial" panose="020B0604020202020204" pitchFamily="34" charset="0"/>
                <a:cs typeface="Arial" panose="020B0604020202020204" pitchFamily="34" charset="0"/>
              </a:rPr>
              <a:t>治疗：  避免摄入乳糖 （低乳糖饮食）</a:t>
            </a:r>
            <a:endParaRPr lang="en-US" altLang="zh-CN" sz="1200" b="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dirty="0">
                <a:latin typeface="Arial" panose="020B0604020202020204" pitchFamily="34" charset="0"/>
                <a:cs typeface="Arial" panose="020B0604020202020204" pitchFamily="34" charset="0"/>
              </a:rPr>
              <a:t>病例</a:t>
            </a:r>
            <a:r>
              <a:rPr lang="en-US" altLang="zh-CN" sz="1200" b="0" dirty="0">
                <a:latin typeface="Arial" panose="020B0604020202020204" pitchFamily="34" charset="0"/>
                <a:cs typeface="Arial" panose="020B0604020202020204" pitchFamily="34" charset="0"/>
              </a:rPr>
              <a:t>B</a:t>
            </a:r>
            <a:r>
              <a:rPr lang="zh-CN" altLang="en-US" sz="1200" b="0" dirty="0">
                <a:latin typeface="Arial" panose="020B0604020202020204" pitchFamily="34" charset="0"/>
                <a:cs typeface="Arial" panose="020B0604020202020204" pitchFamily="34" charset="0"/>
              </a:rPr>
              <a:t>答案： 半乳糖</a:t>
            </a:r>
            <a:r>
              <a:rPr lang="en-US" altLang="zh-CN" sz="1200" b="0" dirty="0">
                <a:latin typeface="Arial" panose="020B0604020202020204" pitchFamily="34" charset="0"/>
                <a:cs typeface="Arial" panose="020B0604020202020204" pitchFamily="34" charset="0"/>
              </a:rPr>
              <a:t>-1-</a:t>
            </a:r>
            <a:r>
              <a:rPr lang="zh-CN" altLang="en-US" sz="1200" b="0" dirty="0">
                <a:latin typeface="Arial" panose="020B0604020202020204" pitchFamily="34" charset="0"/>
                <a:cs typeface="Arial" panose="020B0604020202020204" pitchFamily="34" charset="0"/>
              </a:rPr>
              <a:t>磷酸尿苷转移酶缺陷所致的半乳糖血症。  治疗：  避免摄入乳糖（低乳糖饮食）</a:t>
            </a:r>
            <a:endParaRPr lang="en-US" altLang="zh-CN" sz="1200" b="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dirty="0">
              <a:latin typeface="Arial" panose="020B0604020202020204" pitchFamily="34" charset="0"/>
              <a:cs typeface="Arial" panose="020B0604020202020204" pitchFamily="34" charset="0"/>
            </a:endParaRPr>
          </a:p>
          <a:p>
            <a:r>
              <a:rPr lang="en-US" altLang="zh-CN" sz="1200" b="0" dirty="0">
                <a:latin typeface="Arial" panose="020B0604020202020204" pitchFamily="34" charset="0"/>
                <a:cs typeface="Arial" panose="020B0604020202020204" pitchFamily="34" charset="0"/>
              </a:rPr>
              <a:t> </a:t>
            </a:r>
            <a:endParaRPr lang="zh-CN" altLang="en-US" dirty="0">
              <a:latin typeface="Arial" panose="020B0604020202020204" pitchFamily="34" charset="0"/>
            </a:endParaRPr>
          </a:p>
        </p:txBody>
      </p:sp>
      <p:sp>
        <p:nvSpPr>
          <p:cNvPr id="1996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759924DC-FE90-42AB-AAF9-4EEE00813998}"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ChangeArrowheads="1" noTextEdit="1"/>
          </p:cNvSpPr>
          <p:nvPr>
            <p:ph type="sldImg"/>
          </p:nvPr>
        </p:nvSpPr>
        <p:spPr>
          <a:xfrm>
            <a:off x="381000" y="685800"/>
            <a:ext cx="6096000" cy="3429000"/>
          </a:xfrm>
        </p:spPr>
      </p:sp>
      <p:sp>
        <p:nvSpPr>
          <p:cNvPr id="1484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484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69FCF62-8A82-4ADF-B556-4CEADAE129C3}" type="slidenum">
              <a:rPr lang="zh-CN" altLang="en-US" b="0" smtClean="0"/>
            </a:fld>
            <a:endParaRPr lang="en-US" altLang="zh-CN" b="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ChangeArrowheads="1" noTextEdit="1"/>
          </p:cNvSpPr>
          <p:nvPr>
            <p:ph type="sldImg"/>
          </p:nvPr>
        </p:nvSpPr>
        <p:spPr>
          <a:xfrm>
            <a:off x="381000" y="685800"/>
            <a:ext cx="6096000" cy="3429000"/>
          </a:xfrm>
        </p:spPr>
      </p:sp>
      <p:sp>
        <p:nvSpPr>
          <p:cNvPr id="1525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丙酮酸由线粒体内膜上的丙酮酸转位酶（</a:t>
            </a:r>
            <a:r>
              <a:rPr lang="en-US" altLang="zh-CN" dirty="0">
                <a:latin typeface="Arial" panose="020B0604020202020204" pitchFamily="34" charset="0"/>
              </a:rPr>
              <a:t>pyruvate translocase)</a:t>
            </a:r>
            <a:r>
              <a:rPr lang="zh-CN" altLang="en-US" dirty="0">
                <a:latin typeface="Arial" panose="020B0604020202020204" pitchFamily="34" charset="0"/>
              </a:rPr>
              <a:t>转移至线粒体基质中， 同时伴有</a:t>
            </a:r>
            <a:r>
              <a:rPr lang="en-US" altLang="zh-CN" dirty="0">
                <a:latin typeface="Arial" panose="020B0604020202020204" pitchFamily="34" charset="0"/>
              </a:rPr>
              <a:t>H</a:t>
            </a:r>
            <a:r>
              <a:rPr lang="en-US" altLang="zh-CN" baseline="30000" dirty="0">
                <a:latin typeface="Arial" panose="020B0604020202020204" pitchFamily="34" charset="0"/>
              </a:rPr>
              <a:t>+</a:t>
            </a:r>
            <a:r>
              <a:rPr lang="zh-CN" altLang="en-US" dirty="0">
                <a:latin typeface="Arial" panose="020B0604020202020204" pitchFamily="34" charset="0"/>
              </a:rPr>
              <a:t>的同向转运。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乙酰</a:t>
            </a:r>
            <a:r>
              <a:rPr lang="en-US" altLang="zh-CN" dirty="0">
                <a:latin typeface="Arial" panose="020B0604020202020204" pitchFamily="34" charset="0"/>
              </a:rPr>
              <a:t>CoA (acetyl CoA)</a:t>
            </a:r>
            <a:endParaRPr lang="zh-CN" altLang="en-US" dirty="0">
              <a:latin typeface="Arial" panose="020B0604020202020204" pitchFamily="34" charset="0"/>
            </a:endParaRPr>
          </a:p>
        </p:txBody>
      </p:sp>
      <p:sp>
        <p:nvSpPr>
          <p:cNvPr id="1525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29A962FB-AB28-43C5-996C-B21EC6104385}" type="slidenum">
              <a:rPr lang="zh-CN" altLang="en-US" b="0" smtClean="0"/>
            </a:fld>
            <a:endParaRPr lang="en-US" altLang="zh-CN" b="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ChangeArrowheads="1" noTextEdit="1"/>
          </p:cNvSpPr>
          <p:nvPr>
            <p:ph type="sldImg"/>
          </p:nvPr>
        </p:nvSpPr>
        <p:spPr>
          <a:xfrm>
            <a:off x="381000" y="685800"/>
            <a:ext cx="6096000" cy="3429000"/>
          </a:xfrm>
        </p:spPr>
      </p:sp>
      <p:sp>
        <p:nvSpPr>
          <p:cNvPr id="159747" name="备注占位符 2"/>
          <p:cNvSpPr>
            <a:spLocks noGrp="1"/>
          </p:cNvSpPr>
          <p:nvPr>
            <p:ph type="body" idx="1"/>
          </p:nvPr>
        </p:nvSpPr>
        <p:spPr/>
        <p:txBody>
          <a:bodyPr/>
          <a:lstStyle/>
          <a:p>
            <a:pPr>
              <a:defRPr/>
            </a:pPr>
            <a:r>
              <a:rPr lang="zh-CN" altLang="en-US" dirty="0">
                <a:latin typeface="Arial" panose="020B0604020202020204" pitchFamily="34" charset="0"/>
              </a:rPr>
              <a:t>多酶复合物或酶系的优点： </a:t>
            </a:r>
            <a:endParaRPr lang="en-US" altLang="zh-CN" dirty="0">
              <a:latin typeface="Arial" panose="020B0604020202020204" pitchFamily="34" charset="0"/>
            </a:endParaRPr>
          </a:p>
          <a:p>
            <a:pPr marL="171450" indent="-171450">
              <a:buFont typeface="Arial" panose="020B0604020202020204" pitchFamily="34" charset="0"/>
              <a:buChar char="•"/>
              <a:defRPr/>
            </a:pPr>
            <a:r>
              <a:rPr lang="zh-CN" altLang="en-US" dirty="0">
                <a:latin typeface="Arial" panose="020B0604020202020204" pitchFamily="34" charset="0"/>
              </a:rPr>
              <a:t>提高了代谢的效率</a:t>
            </a:r>
            <a:endParaRPr lang="en-US" altLang="zh-CN" dirty="0">
              <a:latin typeface="Arial" panose="020B0604020202020204" pitchFamily="34" charset="0"/>
            </a:endParaRPr>
          </a:p>
          <a:p>
            <a:pPr marL="171450" indent="-171450">
              <a:buFont typeface="Arial" panose="020B0604020202020204" pitchFamily="34" charset="0"/>
              <a:buChar char="•"/>
              <a:defRPr/>
            </a:pPr>
            <a:r>
              <a:rPr lang="zh-CN" altLang="en-US" dirty="0">
                <a:latin typeface="Arial" panose="020B0604020202020204" pitchFamily="34" charset="0"/>
              </a:rPr>
              <a:t>方便机体对这条代谢途径的调控</a:t>
            </a:r>
            <a:endParaRPr lang="en-US" altLang="zh-CN" dirty="0">
              <a:latin typeface="Arial" panose="020B0604020202020204" pitchFamily="34" charset="0"/>
            </a:endParaRPr>
          </a:p>
          <a:p>
            <a:pPr marL="171450" indent="-171450">
              <a:buFont typeface="Arial" panose="020B0604020202020204" pitchFamily="34" charset="0"/>
              <a:buChar char="•"/>
              <a:defRPr/>
            </a:pPr>
            <a:endParaRPr lang="en-US" altLang="zh-CN" dirty="0">
              <a:latin typeface="Arial" panose="020B0604020202020204" pitchFamily="34" charset="0"/>
            </a:endParaRPr>
          </a:p>
          <a:p>
            <a:pPr>
              <a:lnSpc>
                <a:spcPct val="150000"/>
              </a:lnSpc>
            </a:pPr>
            <a:r>
              <a:rPr lang="zh-CN" altLang="en-US" dirty="0">
                <a:latin typeface="Arial" panose="020B0604020202020204" pitchFamily="34" charset="0"/>
              </a:rPr>
              <a:t>维生素</a:t>
            </a:r>
            <a:r>
              <a:rPr lang="en-US" altLang="zh-CN" dirty="0">
                <a:latin typeface="Arial" panose="020B0604020202020204" pitchFamily="34" charset="0"/>
              </a:rPr>
              <a:t>B1</a:t>
            </a:r>
            <a:r>
              <a:rPr lang="zh-CN" altLang="en-US" dirty="0">
                <a:latin typeface="Arial" panose="020B0604020202020204" pitchFamily="34" charset="0"/>
              </a:rPr>
              <a:t>（硫胺素）缺乏症：  </a:t>
            </a:r>
            <a:r>
              <a:rPr lang="zh-CN" altLang="en-US" sz="1200" b="0" dirty="0">
                <a:latin typeface="微软雅黑" panose="020B0503020204020204" pitchFamily="34" charset="-122"/>
                <a:ea typeface="微软雅黑" panose="020B0503020204020204" pitchFamily="34" charset="-122"/>
              </a:rPr>
              <a:t>当身体缺乏维生素 </a:t>
            </a:r>
            <a:r>
              <a:rPr lang="en-US" altLang="zh-CN" sz="1200" b="0" dirty="0">
                <a:latin typeface="微软雅黑" panose="020B0503020204020204" pitchFamily="34" charset="-122"/>
                <a:ea typeface="微软雅黑" panose="020B0503020204020204" pitchFamily="34" charset="-122"/>
              </a:rPr>
              <a:t>B1</a:t>
            </a:r>
            <a:r>
              <a:rPr lang="zh-CN" altLang="en-US" sz="1200" b="0" dirty="0">
                <a:latin typeface="微软雅黑" panose="020B0503020204020204" pitchFamily="34" charset="-122"/>
                <a:ea typeface="微软雅黑" panose="020B0503020204020204" pitchFamily="34" charset="-122"/>
              </a:rPr>
              <a:t>时能量代谢不完全，产生丙酮酸、乳酸等酸性物质，进而损伤大脑 、 神经 、心脏等器官，由此出现的一系列症状，总称为</a:t>
            </a:r>
            <a:r>
              <a:rPr lang="zh-CN" altLang="en-US" sz="1200" b="0" dirty="0">
                <a:solidFill>
                  <a:srgbClr val="0000CC"/>
                </a:solidFill>
                <a:latin typeface="微软雅黑" panose="020B0503020204020204" pitchFamily="34" charset="-122"/>
                <a:ea typeface="微软雅黑" panose="020B0503020204020204" pitchFamily="34" charset="-122"/>
              </a:rPr>
              <a:t>“脚气病” （</a:t>
            </a:r>
            <a:r>
              <a:rPr lang="en-US" altLang="zh-CN" sz="1200" b="0" dirty="0">
                <a:solidFill>
                  <a:srgbClr val="0000CC"/>
                </a:solidFill>
                <a:latin typeface="微软雅黑" panose="020B0503020204020204" pitchFamily="34" charset="-122"/>
                <a:ea typeface="微软雅黑" panose="020B0503020204020204" pitchFamily="34" charset="-122"/>
              </a:rPr>
              <a:t>beriberi </a:t>
            </a:r>
            <a:r>
              <a:rPr lang="zh-CN" altLang="en-US" sz="1200" b="0" dirty="0">
                <a:solidFill>
                  <a:srgbClr val="0000CC"/>
                </a:solidFill>
                <a:latin typeface="微软雅黑" panose="020B0503020204020204" pitchFamily="34" charset="-122"/>
                <a:ea typeface="微软雅黑" panose="020B0503020204020204" pitchFamily="34" charset="-122"/>
              </a:rPr>
              <a:t>）</a:t>
            </a:r>
            <a:r>
              <a:rPr lang="zh-CN" altLang="en-US" sz="1200" b="0" dirty="0">
                <a:latin typeface="微软雅黑" panose="020B0503020204020204" pitchFamily="34" charset="-122"/>
                <a:ea typeface="微软雅黑" panose="020B0503020204020204" pitchFamily="34" charset="-122"/>
              </a:rPr>
              <a:t>。  多见于以大米为主食的地区，任何年龄均可发病。 </a:t>
            </a:r>
            <a:endParaRPr lang="zh-CN" altLang="en-US" sz="1200" b="0" dirty="0">
              <a:latin typeface="微软雅黑" panose="020B0503020204020204" pitchFamily="34" charset="-122"/>
              <a:ea typeface="微软雅黑" panose="020B0503020204020204" pitchFamily="34" charset="-122"/>
            </a:endParaRPr>
          </a:p>
          <a:p>
            <a:pPr marL="0" indent="0">
              <a:buFont typeface="Arial" panose="020B0604020202020204" pitchFamily="34" charset="0"/>
              <a:buNone/>
              <a:defRPr/>
            </a:pPr>
            <a:endParaRPr lang="zh-CN" altLang="en-US" dirty="0">
              <a:latin typeface="Arial" panose="020B0604020202020204" pitchFamily="34" charset="0"/>
            </a:endParaRPr>
          </a:p>
        </p:txBody>
      </p:sp>
      <p:sp>
        <p:nvSpPr>
          <p:cNvPr id="1546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AB0E317-F866-410E-9F01-ABC7B56F1556}" type="slidenum">
              <a:rPr lang="zh-CN" altLang="en-US" b="0" smtClean="0"/>
            </a:fld>
            <a:endParaRPr lang="en-US" altLang="zh-CN" b="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ChangeArrowheads="1" noTextEdit="1"/>
          </p:cNvSpPr>
          <p:nvPr>
            <p:ph type="sldImg"/>
          </p:nvPr>
        </p:nvSpPr>
        <p:spPr>
          <a:xfrm>
            <a:off x="381000" y="685800"/>
            <a:ext cx="6096000" cy="3429000"/>
          </a:xfrm>
        </p:spPr>
      </p:sp>
      <p:sp>
        <p:nvSpPr>
          <p:cNvPr id="15872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这个柔性长臂有利于中间产物不脱离酶复合体，直接从前一个酶的活性中心进入（“甩入”）下一个酶的活性中心，加速反应的进行。</a:t>
            </a:r>
            <a:endParaRPr lang="en-US" altLang="zh-CN" dirty="0">
              <a:latin typeface="Arial" panose="020B0604020202020204" pitchFamily="34" charset="0"/>
            </a:endParaRPr>
          </a:p>
          <a:p>
            <a:r>
              <a:rPr lang="zh-CN" altLang="en-US" dirty="0">
                <a:latin typeface="Arial" panose="020B0604020202020204" pitchFamily="34" charset="0"/>
              </a:rPr>
              <a:t>生物素与酶蛋白的结合类似。</a:t>
            </a:r>
            <a:endParaRPr lang="zh-CN" altLang="en-US" dirty="0">
              <a:latin typeface="Arial" panose="020B0604020202020204" pitchFamily="34" charset="0"/>
            </a:endParaRPr>
          </a:p>
        </p:txBody>
      </p:sp>
      <p:sp>
        <p:nvSpPr>
          <p:cNvPr id="15872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BACAB62-A7D7-4F8C-B550-FF4F30FBE1E6}" type="slidenum">
              <a:rPr lang="zh-CN" altLang="en-US" b="0" smtClean="0"/>
            </a:fld>
            <a:endParaRPr lang="en-US" altLang="zh-CN" b="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ChangeArrowheads="1" noTextEdit="1"/>
          </p:cNvSpPr>
          <p:nvPr>
            <p:ph type="sldImg"/>
          </p:nvPr>
        </p:nvSpPr>
        <p:spPr>
          <a:xfrm>
            <a:off x="381000" y="685800"/>
            <a:ext cx="6096000" cy="3429000"/>
          </a:xfrm>
        </p:spPr>
      </p:sp>
      <p:sp>
        <p:nvSpPr>
          <p:cNvPr id="1607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eaLnBrk="1" hangingPunct="1">
              <a:lnSpc>
                <a:spcPct val="120000"/>
              </a:lnSpc>
              <a:spcBef>
                <a:spcPct val="0"/>
              </a:spcBef>
            </a:pPr>
            <a:r>
              <a:rPr kumimoji="1" lang="zh-CN" altLang="en-US" dirty="0">
                <a:latin typeface="Arial" panose="020B0604020202020204" pitchFamily="34" charset="0"/>
              </a:rPr>
              <a:t>1. 丙酮酸脱羧形成羟乙基-</a:t>
            </a:r>
            <a:r>
              <a:rPr kumimoji="1" lang="en-US" altLang="zh-CN" dirty="0">
                <a:latin typeface="Arial" panose="020B0604020202020204" pitchFamily="34" charset="0"/>
              </a:rPr>
              <a:t>TPP。  </a:t>
            </a:r>
            <a:endParaRPr kumimoji="1" lang="en-US" altLang="zh-CN" dirty="0">
              <a:latin typeface="Arial" panose="020B0604020202020204" pitchFamily="34" charset="0"/>
            </a:endParaRPr>
          </a:p>
          <a:p>
            <a:pPr algn="just" eaLnBrk="1" hangingPunct="1">
              <a:lnSpc>
                <a:spcPct val="120000"/>
              </a:lnSpc>
              <a:spcBef>
                <a:spcPct val="0"/>
              </a:spcBef>
            </a:pPr>
            <a:r>
              <a:rPr kumimoji="1" lang="en-US" altLang="zh-CN" dirty="0">
                <a:latin typeface="Arial" panose="020B0604020202020204" pitchFamily="34" charset="0"/>
              </a:rPr>
              <a:t>2. </a:t>
            </a:r>
            <a:r>
              <a:rPr kumimoji="1" lang="zh-CN" altLang="en-US" dirty="0">
                <a:latin typeface="Arial" panose="020B0604020202020204" pitchFamily="34" charset="0"/>
              </a:rPr>
              <a:t>由</a:t>
            </a:r>
            <a:r>
              <a:rPr kumimoji="1" lang="zh-CN" altLang="en-US" b="1" dirty="0">
                <a:latin typeface="Arial" panose="020B0604020202020204" pitchFamily="34" charset="0"/>
              </a:rPr>
              <a:t>二氢硫辛酰胺转乙酰酶</a:t>
            </a:r>
            <a:r>
              <a:rPr kumimoji="1" lang="zh-CN" altLang="en-US" dirty="0">
                <a:latin typeface="Arial" panose="020B0604020202020204" pitchFamily="34" charset="0"/>
              </a:rPr>
              <a:t>(</a:t>
            </a:r>
            <a:r>
              <a:rPr kumimoji="1" lang="en-US" altLang="zh-CN" dirty="0">
                <a:latin typeface="Arial" panose="020B0604020202020204" pitchFamily="34" charset="0"/>
              </a:rPr>
              <a:t>E</a:t>
            </a:r>
            <a:r>
              <a:rPr kumimoji="1" lang="en-US" altLang="zh-CN" baseline="-30000" dirty="0">
                <a:latin typeface="Arial" panose="020B0604020202020204" pitchFamily="34" charset="0"/>
              </a:rPr>
              <a:t>2</a:t>
            </a:r>
            <a:r>
              <a:rPr kumimoji="1" lang="en-US" altLang="zh-CN" dirty="0">
                <a:latin typeface="Arial" panose="020B0604020202020204" pitchFamily="34" charset="0"/>
              </a:rPr>
              <a:t>)</a:t>
            </a:r>
            <a:r>
              <a:rPr kumimoji="1" lang="zh-CN" altLang="en-US" dirty="0">
                <a:latin typeface="Arial" panose="020B0604020202020204" pitchFamily="34" charset="0"/>
              </a:rPr>
              <a:t>催化形成乙酰硫辛酰胺-</a:t>
            </a:r>
            <a:r>
              <a:rPr kumimoji="1" lang="en-US" altLang="zh-CN" dirty="0">
                <a:latin typeface="Arial" panose="020B0604020202020204" pitchFamily="34" charset="0"/>
              </a:rPr>
              <a:t>E</a:t>
            </a:r>
            <a:r>
              <a:rPr kumimoji="1" lang="en-US" altLang="zh-CN" baseline="-30000" dirty="0">
                <a:latin typeface="Arial" panose="020B0604020202020204" pitchFamily="34" charset="0"/>
              </a:rPr>
              <a:t>2</a:t>
            </a:r>
            <a:r>
              <a:rPr kumimoji="1" lang="en-US" altLang="zh-CN" dirty="0">
                <a:latin typeface="Arial" panose="020B0604020202020204" pitchFamily="34" charset="0"/>
              </a:rPr>
              <a:t>。</a:t>
            </a:r>
            <a:endParaRPr kumimoji="1" lang="en-US" altLang="zh-CN" dirty="0">
              <a:latin typeface="Arial" panose="020B0604020202020204" pitchFamily="34" charset="0"/>
            </a:endParaRPr>
          </a:p>
          <a:p>
            <a:pPr algn="just">
              <a:lnSpc>
                <a:spcPct val="120000"/>
              </a:lnSpc>
              <a:spcBef>
                <a:spcPct val="0"/>
              </a:spcBef>
            </a:pPr>
            <a:r>
              <a:rPr kumimoji="1" lang="en-US" altLang="zh-CN" dirty="0">
                <a:latin typeface="Arial" panose="020B0604020202020204" pitchFamily="34" charset="0"/>
              </a:rPr>
              <a:t>3. </a:t>
            </a:r>
            <a:r>
              <a:rPr kumimoji="1" lang="zh-CN" altLang="en-US" dirty="0">
                <a:latin typeface="Arial" panose="020B0604020202020204" pitchFamily="34" charset="0"/>
              </a:rPr>
              <a:t>二氢硫辛酰胺转乙酰酶(</a:t>
            </a:r>
            <a:r>
              <a:rPr kumimoji="1" lang="en-US" altLang="zh-CN" dirty="0">
                <a:latin typeface="Arial" panose="020B0604020202020204" pitchFamily="34" charset="0"/>
              </a:rPr>
              <a:t>E</a:t>
            </a:r>
            <a:r>
              <a:rPr kumimoji="1" lang="en-US" altLang="zh-CN" baseline="-30000" dirty="0">
                <a:latin typeface="Arial" panose="020B0604020202020204" pitchFamily="34" charset="0"/>
              </a:rPr>
              <a:t>2</a:t>
            </a:r>
            <a:r>
              <a:rPr kumimoji="1" lang="en-US" altLang="zh-CN" dirty="0">
                <a:latin typeface="Arial" panose="020B0604020202020204" pitchFamily="34" charset="0"/>
              </a:rPr>
              <a:t>)</a:t>
            </a:r>
            <a:r>
              <a:rPr kumimoji="1" lang="zh-CN" altLang="en-US" dirty="0">
                <a:latin typeface="Arial" panose="020B0604020202020204" pitchFamily="34" charset="0"/>
              </a:rPr>
              <a:t>催化生成乙酰</a:t>
            </a:r>
            <a:r>
              <a:rPr kumimoji="1" lang="en-US" altLang="zh-CN" dirty="0">
                <a:latin typeface="Arial" panose="020B0604020202020204" pitchFamily="34" charset="0"/>
              </a:rPr>
              <a:t>CoA, </a:t>
            </a:r>
            <a:r>
              <a:rPr kumimoji="1" lang="zh-CN" altLang="en-US" dirty="0">
                <a:latin typeface="Arial" panose="020B0604020202020204" pitchFamily="34" charset="0"/>
              </a:rPr>
              <a:t>同时使硫辛酰胺上的</a:t>
            </a:r>
            <a:r>
              <a:rPr kumimoji="1" lang="zh-CN" altLang="en-US" b="1" dirty="0">
                <a:latin typeface="Arial" panose="020B0604020202020204" pitchFamily="34" charset="0"/>
              </a:rPr>
              <a:t>二硫键还原为2个巯基</a:t>
            </a:r>
            <a:r>
              <a:rPr kumimoji="1" lang="zh-CN" altLang="en-US" dirty="0">
                <a:latin typeface="Arial" panose="020B0604020202020204" pitchFamily="34" charset="0"/>
              </a:rPr>
              <a:t>。</a:t>
            </a:r>
            <a:endParaRPr kumimoji="1" lang="zh-CN" altLang="en-US" dirty="0">
              <a:latin typeface="Arial" panose="020B0604020202020204" pitchFamily="34" charset="0"/>
            </a:endParaRPr>
          </a:p>
          <a:p>
            <a:pPr algn="just">
              <a:lnSpc>
                <a:spcPct val="120000"/>
              </a:lnSpc>
              <a:spcBef>
                <a:spcPct val="0"/>
              </a:spcBef>
            </a:pPr>
            <a:r>
              <a:rPr kumimoji="1" lang="zh-CN" altLang="en-US" dirty="0">
                <a:latin typeface="Arial" panose="020B0604020202020204" pitchFamily="34" charset="0"/>
              </a:rPr>
              <a:t>4. </a:t>
            </a:r>
            <a:r>
              <a:rPr kumimoji="1" lang="zh-CN" altLang="en-US" b="1" dirty="0">
                <a:latin typeface="Arial" panose="020B0604020202020204" pitchFamily="34" charset="0"/>
              </a:rPr>
              <a:t>二氢硫辛酰胺脱氢酶</a:t>
            </a:r>
            <a:r>
              <a:rPr kumimoji="1" lang="zh-CN" altLang="en-US" dirty="0">
                <a:latin typeface="Arial" panose="020B0604020202020204" pitchFamily="34" charset="0"/>
              </a:rPr>
              <a:t>(</a:t>
            </a:r>
            <a:r>
              <a:rPr kumimoji="1" lang="en-US" altLang="zh-CN" dirty="0">
                <a:latin typeface="Arial" panose="020B0604020202020204" pitchFamily="34" charset="0"/>
              </a:rPr>
              <a:t>E</a:t>
            </a:r>
            <a:r>
              <a:rPr kumimoji="1" lang="en-US" altLang="zh-CN" baseline="-30000" dirty="0">
                <a:latin typeface="Arial" panose="020B0604020202020204" pitchFamily="34" charset="0"/>
              </a:rPr>
              <a:t>3</a:t>
            </a:r>
            <a:r>
              <a:rPr kumimoji="1" lang="en-US" altLang="zh-CN" dirty="0">
                <a:latin typeface="Arial" panose="020B0604020202020204" pitchFamily="34" charset="0"/>
              </a:rPr>
              <a:t>)</a:t>
            </a:r>
            <a:r>
              <a:rPr kumimoji="1" lang="zh-CN" altLang="en-US" dirty="0">
                <a:latin typeface="Arial" panose="020B0604020202020204" pitchFamily="34" charset="0"/>
              </a:rPr>
              <a:t>使还原的二氢硫辛酰胺脱氢，同时将氢传递给</a:t>
            </a:r>
            <a:r>
              <a:rPr kumimoji="1" lang="en-US" altLang="zh-CN" dirty="0">
                <a:latin typeface="Arial" panose="020B0604020202020204" pitchFamily="34" charset="0"/>
              </a:rPr>
              <a:t>FAD。</a:t>
            </a:r>
            <a:endParaRPr kumimoji="1" lang="en-US" altLang="zh-CN" dirty="0">
              <a:latin typeface="Arial" panose="020B0604020202020204" pitchFamily="34" charset="0"/>
            </a:endParaRPr>
          </a:p>
          <a:p>
            <a:pPr algn="just">
              <a:lnSpc>
                <a:spcPct val="120000"/>
              </a:lnSpc>
              <a:spcBef>
                <a:spcPct val="0"/>
              </a:spcBef>
            </a:pPr>
            <a:r>
              <a:rPr kumimoji="1" lang="en-US" altLang="zh-CN" dirty="0">
                <a:latin typeface="Arial" panose="020B0604020202020204" pitchFamily="34" charset="0"/>
              </a:rPr>
              <a:t>5. </a:t>
            </a:r>
            <a:r>
              <a:rPr kumimoji="1" lang="zh-CN" altLang="en-US" dirty="0">
                <a:latin typeface="Arial" panose="020B0604020202020204" pitchFamily="34" charset="0"/>
              </a:rPr>
              <a:t>在二氢硫辛酰胺脱氢酶(</a:t>
            </a:r>
            <a:r>
              <a:rPr kumimoji="1" lang="en-US" altLang="zh-CN" dirty="0">
                <a:latin typeface="Arial" panose="020B0604020202020204" pitchFamily="34" charset="0"/>
              </a:rPr>
              <a:t>E</a:t>
            </a:r>
            <a:r>
              <a:rPr kumimoji="1" lang="en-US" altLang="zh-CN" baseline="-30000" dirty="0">
                <a:latin typeface="Arial" panose="020B0604020202020204" pitchFamily="34" charset="0"/>
              </a:rPr>
              <a:t>3</a:t>
            </a:r>
            <a:r>
              <a:rPr kumimoji="1" lang="en-US" altLang="zh-CN" dirty="0">
                <a:latin typeface="Arial" panose="020B0604020202020204" pitchFamily="34" charset="0"/>
              </a:rPr>
              <a:t>)</a:t>
            </a:r>
            <a:r>
              <a:rPr kumimoji="1" lang="zh-CN" altLang="en-US" dirty="0">
                <a:latin typeface="Arial" panose="020B0604020202020204" pitchFamily="34" charset="0"/>
              </a:rPr>
              <a:t>催化下，将</a:t>
            </a:r>
            <a:r>
              <a:rPr kumimoji="1" lang="en-US" altLang="zh-CN" dirty="0">
                <a:latin typeface="Arial" panose="020B0604020202020204" pitchFamily="34" charset="0"/>
              </a:rPr>
              <a:t>FADH</a:t>
            </a:r>
            <a:r>
              <a:rPr kumimoji="1" lang="en-US" altLang="zh-CN" baseline="-30000" dirty="0">
                <a:latin typeface="Arial" panose="020B0604020202020204" pitchFamily="34" charset="0"/>
              </a:rPr>
              <a:t>2</a:t>
            </a:r>
            <a:r>
              <a:rPr kumimoji="1" lang="zh-CN" altLang="en-US" dirty="0">
                <a:latin typeface="Arial" panose="020B0604020202020204" pitchFamily="34" charset="0"/>
              </a:rPr>
              <a:t>上的</a:t>
            </a:r>
            <a:r>
              <a:rPr kumimoji="1" lang="en-US" altLang="zh-CN" dirty="0">
                <a:latin typeface="Arial" panose="020B0604020202020204" pitchFamily="34" charset="0"/>
              </a:rPr>
              <a:t>H</a:t>
            </a:r>
            <a:r>
              <a:rPr kumimoji="1" lang="zh-CN" altLang="en-US" dirty="0">
                <a:latin typeface="Arial" panose="020B0604020202020204" pitchFamily="34" charset="0"/>
              </a:rPr>
              <a:t>转移给</a:t>
            </a:r>
            <a:r>
              <a:rPr kumimoji="1" lang="en-US" altLang="zh-CN" dirty="0">
                <a:latin typeface="Arial" panose="020B0604020202020204" pitchFamily="34" charset="0"/>
              </a:rPr>
              <a:t>NAD</a:t>
            </a:r>
            <a:r>
              <a:rPr kumimoji="1" lang="en-US" altLang="zh-CN" baseline="30000" dirty="0">
                <a:latin typeface="Arial" panose="020B0604020202020204" pitchFamily="34" charset="0"/>
              </a:rPr>
              <a:t>+</a:t>
            </a:r>
            <a:r>
              <a:rPr kumimoji="1" lang="en-US" altLang="zh-CN" dirty="0">
                <a:latin typeface="Arial" panose="020B0604020202020204" pitchFamily="34" charset="0"/>
              </a:rPr>
              <a:t>，</a:t>
            </a:r>
            <a:r>
              <a:rPr kumimoji="1" lang="zh-CN" altLang="en-US" dirty="0">
                <a:latin typeface="Arial" panose="020B0604020202020204" pitchFamily="34" charset="0"/>
              </a:rPr>
              <a:t>形成</a:t>
            </a:r>
            <a:r>
              <a:rPr kumimoji="1" lang="en-US" altLang="zh-CN" dirty="0">
                <a:latin typeface="Arial" panose="020B0604020202020204" pitchFamily="34" charset="0"/>
              </a:rPr>
              <a:t>NADH+H</a:t>
            </a:r>
            <a:r>
              <a:rPr kumimoji="1" lang="en-US" altLang="zh-CN" baseline="30000" dirty="0">
                <a:latin typeface="Arial" panose="020B0604020202020204" pitchFamily="34" charset="0"/>
              </a:rPr>
              <a:t>+</a:t>
            </a:r>
            <a:r>
              <a:rPr kumimoji="1" lang="en-US" altLang="zh-CN" dirty="0">
                <a:latin typeface="Arial" panose="020B0604020202020204" pitchFamily="34" charset="0"/>
              </a:rPr>
              <a:t>。</a:t>
            </a:r>
            <a:endParaRPr kumimoji="1" lang="en-US" altLang="zh-CN" dirty="0">
              <a:latin typeface="Arial" panose="020B0604020202020204" pitchFamily="34" charset="0"/>
            </a:endParaRPr>
          </a:p>
          <a:p>
            <a:endParaRPr lang="zh-CN" altLang="en-US" dirty="0">
              <a:latin typeface="Arial" panose="020B0604020202020204" pitchFamily="34" charset="0"/>
            </a:endParaRPr>
          </a:p>
        </p:txBody>
      </p:sp>
      <p:sp>
        <p:nvSpPr>
          <p:cNvPr id="1607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97245D8-0DA4-4682-AA0E-7E101616435D}" type="slidenum">
              <a:rPr lang="zh-CN" altLang="en-US" b="0" smtClean="0"/>
            </a:fld>
            <a:endParaRPr lang="en-US" altLang="zh-CN" b="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此外，砷酸结构类似磷酸，影响</a:t>
            </a:r>
            <a:r>
              <a:rPr lang="en-US" altLang="zh-CN" dirty="0"/>
              <a:t>ATP</a:t>
            </a:r>
            <a:r>
              <a:rPr lang="zh-CN" altLang="en-US" dirty="0"/>
              <a:t>的生成。</a:t>
            </a:r>
            <a:endParaRPr lang="en-US" altLang="zh-CN" dirty="0"/>
          </a:p>
          <a:p>
            <a:endParaRPr lang="en-US" altLang="zh-CN" dirty="0"/>
          </a:p>
          <a:p>
            <a:r>
              <a:rPr lang="en-US" altLang="zh-CN" dirty="0"/>
              <a:t>1992</a:t>
            </a:r>
            <a:r>
              <a:rPr lang="zh-CN" altLang="en-US" dirty="0"/>
              <a:t>年</a:t>
            </a:r>
            <a:r>
              <a:rPr lang="en-US" altLang="zh-CN" dirty="0"/>
              <a:t>6</a:t>
            </a:r>
            <a:r>
              <a:rPr lang="zh-CN" altLang="en-US" dirty="0"/>
              <a:t>月</a:t>
            </a:r>
            <a:r>
              <a:rPr lang="en-US" altLang="zh-CN" dirty="0"/>
              <a:t>18</a:t>
            </a:r>
            <a:r>
              <a:rPr lang="zh-CN" altLang="en-US" dirty="0"/>
              <a:t>日中午，河南郑州某专科学校食堂砒霜投毒案，近</a:t>
            </a:r>
            <a:r>
              <a:rPr lang="en-US" altLang="zh-CN" dirty="0"/>
              <a:t>800</a:t>
            </a:r>
            <a:r>
              <a:rPr lang="zh-CN" altLang="en-US" dirty="0"/>
              <a:t>人受害。根据该事件制作的科普视频： </a:t>
            </a:r>
            <a:r>
              <a:rPr lang="en-US" altLang="zh-CN" dirty="0"/>
              <a:t>https://www.bilibili.com/video/BV18hx7zjEBB/?spm_id_from=333.1007.tianma.3-3-7.click&amp;vd_source=73ee46ffd2afb799f3d1e235faa53a32</a:t>
            </a:r>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ChangeArrowheads="1" noTextEdit="1"/>
          </p:cNvSpPr>
          <p:nvPr>
            <p:ph type="sldImg"/>
          </p:nvPr>
        </p:nvSpPr>
        <p:spPr>
          <a:xfrm>
            <a:off x="381000" y="685800"/>
            <a:ext cx="6096000" cy="3429000"/>
          </a:xfrm>
        </p:spPr>
      </p:sp>
      <p:sp>
        <p:nvSpPr>
          <p:cNvPr id="163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63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64C21BB-AA44-4201-BFCE-91FD6EF1ED13}" type="slidenum">
              <a:rPr lang="zh-CN" altLang="en-US" b="0" smtClean="0"/>
            </a:fld>
            <a:endParaRPr lang="en-US" altLang="zh-CN" b="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German-born British biochemist </a:t>
            </a:r>
            <a:endParaRPr lang="en-US" altLang="zh-CN" dirty="0"/>
          </a:p>
          <a:p>
            <a:r>
              <a:rPr lang="en-US" altLang="zh-CN" dirty="0"/>
              <a:t>The son of a Jewish physician, </a:t>
            </a:r>
            <a:r>
              <a:rPr lang="en-US" altLang="zh-CN" b="1" dirty="0"/>
              <a:t>Krebs was forced in 1933 to leave Nazi Germany for England,</a:t>
            </a:r>
            <a:r>
              <a:rPr lang="en-US" altLang="zh-CN" dirty="0"/>
              <a:t> where he continued his research at the University of Cambridge (1933–35). </a:t>
            </a:r>
            <a:endParaRPr lang="en-US" altLang="zh-CN" dirty="0"/>
          </a:p>
          <a:p>
            <a:endParaRPr lang="en-US" altLang="zh-CN" dirty="0"/>
          </a:p>
          <a:p>
            <a:r>
              <a:rPr lang="en-US" altLang="zh-CN" dirty="0"/>
              <a:t>The Nobel Prize in Physiology or Medicine 1953</a:t>
            </a:r>
            <a:r>
              <a:rPr lang="zh-CN" altLang="en-US" dirty="0"/>
              <a:t>： </a:t>
            </a:r>
            <a:endParaRPr lang="en-US" altLang="zh-CN" dirty="0"/>
          </a:p>
          <a:p>
            <a:r>
              <a:rPr lang="en-US" altLang="zh-CN" sz="1100" dirty="0"/>
              <a:t>Hans Adolf Krebs “for his discovery of the citric acid cycle”</a:t>
            </a:r>
            <a:endParaRPr lang="en-US" altLang="zh-CN" sz="1100" dirty="0"/>
          </a:p>
          <a:p>
            <a:r>
              <a:rPr lang="en-US" altLang="zh-CN" sz="1100" dirty="0"/>
              <a:t>Fritz Albert Lipmann “for his discovery of co-enzyme A and its importance for intermediary metabolism”</a:t>
            </a:r>
            <a:endParaRPr lang="en-US" altLang="zh-CN" sz="1100" dirty="0"/>
          </a:p>
          <a:p>
            <a:endParaRPr lang="en-US" altLang="zh-CN"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ChangeArrowheads="1" noTextEdit="1"/>
          </p:cNvSpPr>
          <p:nvPr>
            <p:ph type="sldImg"/>
          </p:nvPr>
        </p:nvSpPr>
        <p:spPr>
          <a:xfrm>
            <a:off x="381000" y="685800"/>
            <a:ext cx="6096000" cy="3429000"/>
          </a:xfrm>
        </p:spPr>
      </p:sp>
      <p:sp>
        <p:nvSpPr>
          <p:cNvPr id="1658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1" lang="zh-CN" altLang="en-US" dirty="0">
                <a:solidFill>
                  <a:schemeClr val="folHlink"/>
                </a:solidFill>
                <a:latin typeface="Arial" panose="020B0604020202020204" pitchFamily="34" charset="0"/>
              </a:rPr>
              <a:t>第一步反应，乙酰</a:t>
            </a:r>
            <a:r>
              <a:rPr kumimoji="1" lang="en-US" altLang="zh-CN" dirty="0">
                <a:solidFill>
                  <a:schemeClr val="folHlink"/>
                </a:solidFill>
                <a:latin typeface="Arial" panose="020B0604020202020204" pitchFamily="34" charset="0"/>
              </a:rPr>
              <a:t>CoA</a:t>
            </a:r>
            <a:r>
              <a:rPr kumimoji="1" lang="zh-CN" altLang="en-US" dirty="0">
                <a:solidFill>
                  <a:schemeClr val="folHlink"/>
                </a:solidFill>
                <a:latin typeface="Arial" panose="020B0604020202020204" pitchFamily="34" charset="0"/>
              </a:rPr>
              <a:t>里的乙酰基团就变成了乙酸（结合到草酰乙酸上），一个水分子提供了</a:t>
            </a:r>
            <a:r>
              <a:rPr kumimoji="1" lang="en-US" altLang="zh-CN" dirty="0">
                <a:solidFill>
                  <a:schemeClr val="folHlink"/>
                </a:solidFill>
                <a:latin typeface="Arial" panose="020B0604020202020204" pitchFamily="34" charset="0"/>
              </a:rPr>
              <a:t>-OH, </a:t>
            </a:r>
            <a:r>
              <a:rPr kumimoji="1" lang="zh-CN" altLang="en-US" dirty="0">
                <a:solidFill>
                  <a:schemeClr val="folHlink"/>
                </a:solidFill>
                <a:latin typeface="Arial" panose="020B0604020202020204" pitchFamily="34" charset="0"/>
              </a:rPr>
              <a:t>水分子的另一个</a:t>
            </a:r>
            <a:r>
              <a:rPr kumimoji="1" lang="en-US" altLang="zh-CN" dirty="0">
                <a:solidFill>
                  <a:schemeClr val="folHlink"/>
                </a:solidFill>
                <a:latin typeface="Arial" panose="020B0604020202020204" pitchFamily="34" charset="0"/>
              </a:rPr>
              <a:t>H</a:t>
            </a:r>
            <a:r>
              <a:rPr kumimoji="1" lang="zh-CN" altLang="en-US" dirty="0">
                <a:solidFill>
                  <a:schemeClr val="folHlink"/>
                </a:solidFill>
                <a:latin typeface="Arial" panose="020B0604020202020204" pitchFamily="34" charset="0"/>
              </a:rPr>
              <a:t>到了辅酶</a:t>
            </a:r>
            <a:r>
              <a:rPr kumimoji="1" lang="en-US" altLang="zh-CN" dirty="0">
                <a:solidFill>
                  <a:schemeClr val="folHlink"/>
                </a:solidFill>
                <a:latin typeface="Arial" panose="020B0604020202020204" pitchFamily="34" charset="0"/>
              </a:rPr>
              <a:t>A</a:t>
            </a:r>
            <a:r>
              <a:rPr kumimoji="1" lang="zh-CN" altLang="en-US" dirty="0">
                <a:solidFill>
                  <a:schemeClr val="folHlink"/>
                </a:solidFill>
                <a:latin typeface="Arial" panose="020B0604020202020204" pitchFamily="34" charset="0"/>
              </a:rPr>
              <a:t>中。</a:t>
            </a:r>
            <a:endParaRPr kumimoji="1" lang="en-US" altLang="zh-CN" dirty="0">
              <a:solidFill>
                <a:schemeClr val="folHlink"/>
              </a:solidFill>
              <a:latin typeface="Arial" panose="020B0604020202020204" pitchFamily="34" charset="0"/>
            </a:endParaRPr>
          </a:p>
          <a:p>
            <a:pPr eaLnBrk="1" hangingPunct="1"/>
            <a:endParaRPr kumimoji="1" lang="en-US" altLang="zh-CN" dirty="0">
              <a:solidFill>
                <a:schemeClr val="folHlink"/>
              </a:solidFill>
              <a:latin typeface="Arial" panose="020B0604020202020204" pitchFamily="34" charset="0"/>
            </a:endParaRPr>
          </a:p>
          <a:p>
            <a:pPr eaLnBrk="1" hangingPunct="1"/>
            <a:r>
              <a:rPr kumimoji="1" lang="zh-CN" altLang="en-US" dirty="0">
                <a:solidFill>
                  <a:schemeClr val="folHlink"/>
                </a:solidFill>
                <a:latin typeface="Arial" panose="020B0604020202020204" pitchFamily="34" charset="0"/>
              </a:rPr>
              <a:t>人类几乎没有</a:t>
            </a:r>
            <a:r>
              <a:rPr kumimoji="1" lang="en-US" altLang="zh-CN" dirty="0">
                <a:solidFill>
                  <a:schemeClr val="folHlink"/>
                </a:solidFill>
                <a:latin typeface="Arial" panose="020B0604020202020204" pitchFamily="34" charset="0"/>
              </a:rPr>
              <a:t>TCA</a:t>
            </a:r>
            <a:r>
              <a:rPr kumimoji="1" lang="zh-CN" altLang="en-US" dirty="0">
                <a:solidFill>
                  <a:schemeClr val="folHlink"/>
                </a:solidFill>
                <a:latin typeface="Arial" panose="020B0604020202020204" pitchFamily="34" charset="0"/>
              </a:rPr>
              <a:t> </a:t>
            </a:r>
            <a:r>
              <a:rPr kumimoji="1" lang="en-US" altLang="zh-CN" dirty="0">
                <a:solidFill>
                  <a:schemeClr val="folHlink"/>
                </a:solidFill>
                <a:latin typeface="Arial" panose="020B0604020202020204" pitchFamily="34" charset="0"/>
              </a:rPr>
              <a:t>cycle</a:t>
            </a:r>
            <a:r>
              <a:rPr kumimoji="1" lang="zh-CN" altLang="en-US" dirty="0">
                <a:solidFill>
                  <a:schemeClr val="folHlink"/>
                </a:solidFill>
                <a:latin typeface="Arial" panose="020B0604020202020204" pitchFamily="34" charset="0"/>
              </a:rPr>
              <a:t>中酶缺陷的疾病，这可能是因为该途径中的酶一旦有缺陷就是致命的后果</a:t>
            </a:r>
            <a:r>
              <a:rPr kumimoji="1" lang="en-US" altLang="zh-CN" dirty="0">
                <a:solidFill>
                  <a:schemeClr val="folHlink"/>
                </a:solidFill>
                <a:latin typeface="Arial" panose="020B0604020202020204" pitchFamily="34" charset="0"/>
              </a:rPr>
              <a:t>(</a:t>
            </a:r>
            <a:r>
              <a:rPr kumimoji="1" lang="zh-CN" altLang="en-US" dirty="0">
                <a:solidFill>
                  <a:schemeClr val="folHlink"/>
                </a:solidFill>
                <a:latin typeface="Arial" panose="020B0604020202020204" pitchFamily="34" charset="0"/>
              </a:rPr>
              <a:t>胚胎死亡）。 </a:t>
            </a:r>
            <a:endParaRPr kumimoji="1" lang="en-US" altLang="zh-CN" dirty="0">
              <a:solidFill>
                <a:schemeClr val="folHlink"/>
              </a:solidFill>
              <a:latin typeface="Arial" panose="020B0604020202020204" pitchFamily="34" charset="0"/>
            </a:endParaRPr>
          </a:p>
          <a:p>
            <a:pPr eaLnBrk="1" hangingPunct="1"/>
            <a:endParaRPr kumimoji="1" lang="en-US" altLang="zh-CN" dirty="0">
              <a:latin typeface="Arial" panose="020B0604020202020204" pitchFamily="34" charset="0"/>
            </a:endParaRPr>
          </a:p>
          <a:p>
            <a:pPr eaLnBrk="1" hangingPunct="1"/>
            <a:r>
              <a:rPr kumimoji="1" lang="zh-CN" altLang="en-US" dirty="0">
                <a:latin typeface="Arial" panose="020B0604020202020204" pitchFamily="34" charset="0"/>
              </a:rPr>
              <a:t>氟乙酸本身无毒，但氟乙酰</a:t>
            </a:r>
            <a:r>
              <a:rPr kumimoji="1" lang="en-US" altLang="zh-CN" dirty="0">
                <a:latin typeface="Arial" panose="020B0604020202020204" pitchFamily="34" charset="0"/>
              </a:rPr>
              <a:t>CoA</a:t>
            </a:r>
            <a:r>
              <a:rPr kumimoji="1" lang="zh-CN" altLang="en-US" dirty="0">
                <a:latin typeface="Arial" panose="020B0604020202020204" pitchFamily="34" charset="0"/>
              </a:rPr>
              <a:t>可和草酰乙酸生成氟柠檬酸，</a:t>
            </a:r>
            <a:r>
              <a:rPr kumimoji="1" lang="zh-CN" altLang="en-US" b="1" dirty="0">
                <a:latin typeface="Arial" panose="020B0604020202020204" pitchFamily="34" charset="0"/>
              </a:rPr>
              <a:t>氟柠檬酸是顺乌头酸酶的专一抑制剂（不可逆）</a:t>
            </a:r>
            <a:r>
              <a:rPr kumimoji="1" lang="zh-CN" altLang="en-US" dirty="0">
                <a:latin typeface="Arial" panose="020B0604020202020204" pitchFamily="34" charset="0"/>
              </a:rPr>
              <a:t>。。 有毒植物的叶子大多含有氟乙酸，可作为天然杀虫剂。  有些毒鼠药里含氟乙酸。 </a:t>
            </a:r>
            <a:endParaRPr kumimoji="1" lang="en-US" altLang="zh-CN" dirty="0">
              <a:latin typeface="Arial" panose="020B0604020202020204" pitchFamily="34" charset="0"/>
            </a:endParaRPr>
          </a:p>
          <a:p>
            <a:endParaRPr kumimoji="1" lang="en-US" altLang="zh-CN" dirty="0">
              <a:latin typeface="Arial" panose="020B0604020202020204" pitchFamily="34" charset="0"/>
            </a:endParaRPr>
          </a:p>
          <a:p>
            <a:r>
              <a:rPr kumimoji="1" lang="zh-CN" altLang="en-US" dirty="0">
                <a:latin typeface="Arial" panose="020B0604020202020204" pitchFamily="34" charset="0"/>
              </a:rPr>
              <a:t>以</a:t>
            </a:r>
            <a:r>
              <a:rPr kumimoji="1" lang="en-US" altLang="zh-CN" dirty="0">
                <a:latin typeface="Arial" panose="020B0604020202020204" pitchFamily="34" charset="0"/>
              </a:rPr>
              <a:t>NAD</a:t>
            </a:r>
            <a:r>
              <a:rPr kumimoji="1" lang="zh-CN" altLang="en-US" dirty="0">
                <a:latin typeface="Arial" panose="020B0604020202020204" pitchFamily="34" charset="0"/>
              </a:rPr>
              <a:t>为辅酶的柠檬酸脱氢酶只在线粒体中。 还有一种以</a:t>
            </a:r>
            <a:r>
              <a:rPr kumimoji="1" lang="en-US" altLang="zh-CN" dirty="0">
                <a:latin typeface="Arial" panose="020B0604020202020204" pitchFamily="34" charset="0"/>
              </a:rPr>
              <a:t>NADP</a:t>
            </a:r>
            <a:r>
              <a:rPr kumimoji="1" lang="zh-CN" altLang="en-US" dirty="0">
                <a:latin typeface="Arial" panose="020B0604020202020204" pitchFamily="34" charset="0"/>
              </a:rPr>
              <a:t>为辅酶的柠檬酸脱氢酶，线粒体和细胞质中均有。 </a:t>
            </a:r>
            <a:endParaRPr kumimoji="1" lang="en-US" altLang="zh-CN" dirty="0">
              <a:latin typeface="Arial" panose="020B0604020202020204" pitchFamily="34" charset="0"/>
            </a:endParaRPr>
          </a:p>
          <a:p>
            <a:endParaRPr kumimoji="1" lang="en-US" altLang="zh-CN" dirty="0">
              <a:latin typeface="Arial" panose="020B0604020202020204" pitchFamily="34" charset="0"/>
            </a:endParaRPr>
          </a:p>
          <a:p>
            <a:endParaRPr kumimoji="1" lang="en-US" altLang="zh-CN" dirty="0">
              <a:latin typeface="Arial" panose="020B0604020202020204" pitchFamily="34" charset="0"/>
            </a:endParaRPr>
          </a:p>
        </p:txBody>
      </p:sp>
      <p:sp>
        <p:nvSpPr>
          <p:cNvPr id="1658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13DACFB-7325-4CCB-A175-3F63EF55FF97}" type="slidenum">
              <a:rPr lang="zh-CN" altLang="en-US" b="0" smtClean="0"/>
            </a:fld>
            <a:endParaRPr lang="en-US" altLang="zh-CN" b="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xfrm>
            <a:off x="381000" y="685800"/>
            <a:ext cx="6096000" cy="3429000"/>
          </a:xfrm>
        </p:spPr>
      </p:sp>
      <p:sp>
        <p:nvSpPr>
          <p:cNvPr id="1679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乙酸基团（红色虚线框内）经过一次循环后消失，变成了</a:t>
            </a:r>
            <a:r>
              <a:rPr lang="en-US" altLang="zh-CN" dirty="0">
                <a:latin typeface="Arial" panose="020B0604020202020204" pitchFamily="34" charset="0"/>
              </a:rPr>
              <a:t>2</a:t>
            </a:r>
            <a:r>
              <a:rPr lang="zh-CN" altLang="en-US" dirty="0">
                <a:latin typeface="Arial" panose="020B0604020202020204" pitchFamily="34" charset="0"/>
              </a:rPr>
              <a:t>个</a:t>
            </a:r>
            <a:r>
              <a:rPr lang="en-US" altLang="zh-CN" dirty="0">
                <a:latin typeface="Arial" panose="020B0604020202020204" pitchFamily="34" charset="0"/>
              </a:rPr>
              <a:t>CO</a:t>
            </a:r>
            <a:r>
              <a:rPr lang="en-US" altLang="zh-CN" baseline="-25000" dirty="0">
                <a:latin typeface="Arial" panose="020B0604020202020204" pitchFamily="34" charset="0"/>
              </a:rPr>
              <a:t>2</a:t>
            </a:r>
            <a:r>
              <a:rPr lang="zh-CN" altLang="en-US" dirty="0">
                <a:latin typeface="Arial" panose="020B0604020202020204" pitchFamily="34" charset="0"/>
              </a:rPr>
              <a:t>。  由于乙酸本身只含</a:t>
            </a:r>
            <a:r>
              <a:rPr lang="en-US" altLang="zh-CN" dirty="0">
                <a:latin typeface="Arial" panose="020B0604020202020204" pitchFamily="34" charset="0"/>
              </a:rPr>
              <a:t>2</a:t>
            </a:r>
            <a:r>
              <a:rPr lang="zh-CN" altLang="en-US" dirty="0">
                <a:latin typeface="Arial" panose="020B0604020202020204" pitchFamily="34" charset="0"/>
              </a:rPr>
              <a:t>个</a:t>
            </a:r>
            <a:r>
              <a:rPr lang="en-US" altLang="zh-CN" dirty="0">
                <a:latin typeface="Arial" panose="020B0604020202020204" pitchFamily="34" charset="0"/>
              </a:rPr>
              <a:t>O</a:t>
            </a:r>
            <a:r>
              <a:rPr lang="zh-CN" altLang="en-US" dirty="0">
                <a:latin typeface="Arial" panose="020B0604020202020204" pitchFamily="34" charset="0"/>
              </a:rPr>
              <a:t>原子，只能构成一个二氧化碳分子中的氧原子， 另一个二氧化碳分子里的两个氧原子实际来自于两个水分子（第一步和</a:t>
            </a:r>
            <a:r>
              <a:rPr lang="en-US" altLang="zh-CN" dirty="0">
                <a:latin typeface="Arial" panose="020B0604020202020204" pitchFamily="34" charset="0"/>
              </a:rPr>
              <a:t>+</a:t>
            </a:r>
            <a:r>
              <a:rPr lang="zh-CN" altLang="en-US" dirty="0">
                <a:latin typeface="Arial" panose="020B0604020202020204" pitchFamily="34" charset="0"/>
              </a:rPr>
              <a:t>第七步反应），而这两个水分子里的</a:t>
            </a:r>
            <a:r>
              <a:rPr lang="en-US" altLang="zh-CN" dirty="0">
                <a:latin typeface="Arial" panose="020B0604020202020204" pitchFamily="34" charset="0"/>
              </a:rPr>
              <a:t>4</a:t>
            </a:r>
            <a:r>
              <a:rPr lang="zh-CN" altLang="en-US" dirty="0">
                <a:latin typeface="Arial" panose="020B0604020202020204" pitchFamily="34" charset="0"/>
              </a:rPr>
              <a:t>个氢原子和乙酸自带的</a:t>
            </a:r>
            <a:r>
              <a:rPr lang="en-US" altLang="zh-CN" dirty="0">
                <a:latin typeface="Arial" panose="020B0604020202020204" pitchFamily="34" charset="0"/>
              </a:rPr>
              <a:t>4</a:t>
            </a:r>
            <a:r>
              <a:rPr lang="zh-CN" altLang="en-US" dirty="0">
                <a:latin typeface="Arial" panose="020B0604020202020204" pitchFamily="34" charset="0"/>
              </a:rPr>
              <a:t>个氢原子，共同构成了</a:t>
            </a:r>
            <a:r>
              <a:rPr lang="en-US" altLang="zh-CN" dirty="0">
                <a:latin typeface="Arial" panose="020B0604020202020204" pitchFamily="34" charset="0"/>
              </a:rPr>
              <a:t>TCA  cycle</a:t>
            </a:r>
            <a:r>
              <a:rPr lang="zh-CN" altLang="en-US" dirty="0">
                <a:latin typeface="Arial" panose="020B0604020202020204" pitchFamily="34" charset="0"/>
              </a:rPr>
              <a:t>里脱下的四对氢。 </a:t>
            </a:r>
            <a:endParaRPr lang="zh-CN" altLang="en-US"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ChangeArrowheads="1" noTextEdit="1"/>
          </p:cNvSpPr>
          <p:nvPr>
            <p:ph type="sldImg"/>
          </p:nvPr>
        </p:nvSpPr>
        <p:spPr>
          <a:xfrm>
            <a:off x="381000" y="685800"/>
            <a:ext cx="6096000" cy="3429000"/>
          </a:xfrm>
        </p:spPr>
      </p:sp>
      <p:sp>
        <p:nvSpPr>
          <p:cNvPr id="17408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TCA cycle</a:t>
            </a:r>
            <a:r>
              <a:rPr lang="zh-CN" altLang="en-US" dirty="0">
                <a:latin typeface="Arial" panose="020B0604020202020204" pitchFamily="34" charset="0"/>
              </a:rPr>
              <a:t>中，只是乙酰</a:t>
            </a:r>
            <a:r>
              <a:rPr lang="en-US" altLang="zh-CN" dirty="0">
                <a:latin typeface="Arial" panose="020B0604020202020204" pitchFamily="34" charset="0"/>
              </a:rPr>
              <a:t>CoA</a:t>
            </a:r>
            <a:r>
              <a:rPr lang="zh-CN" altLang="en-US" dirty="0">
                <a:latin typeface="Arial" panose="020B0604020202020204" pitchFamily="34" charset="0"/>
              </a:rPr>
              <a:t>被彻底氧化分解成</a:t>
            </a:r>
            <a:r>
              <a:rPr lang="en-US" altLang="zh-CN" dirty="0">
                <a:latin typeface="Arial" panose="020B0604020202020204" pitchFamily="34" charset="0"/>
              </a:rPr>
              <a:t>H</a:t>
            </a:r>
            <a:r>
              <a:rPr lang="en-US" altLang="zh-CN" baseline="-25000" dirty="0">
                <a:latin typeface="Arial" panose="020B0604020202020204" pitchFamily="34" charset="0"/>
              </a:rPr>
              <a:t>2</a:t>
            </a:r>
            <a:r>
              <a:rPr lang="en-US" altLang="zh-CN" dirty="0">
                <a:latin typeface="Arial" panose="020B0604020202020204" pitchFamily="34" charset="0"/>
              </a:rPr>
              <a:t>O</a:t>
            </a:r>
            <a:r>
              <a:rPr lang="zh-CN" altLang="en-US" dirty="0">
                <a:latin typeface="Arial" panose="020B0604020202020204" pitchFamily="34" charset="0"/>
              </a:rPr>
              <a:t>（</a:t>
            </a:r>
            <a:r>
              <a:rPr lang="en-US" altLang="zh-CN" dirty="0">
                <a:latin typeface="Arial" panose="020B0604020202020204" pitchFamily="34" charset="0"/>
              </a:rPr>
              <a:t>4</a:t>
            </a:r>
            <a:r>
              <a:rPr lang="zh-CN" altLang="en-US" dirty="0">
                <a:latin typeface="Arial" panose="020B0604020202020204" pitchFamily="34" charset="0"/>
              </a:rPr>
              <a:t>对氢经呼吸链传递后与氧结合生成水）和</a:t>
            </a:r>
            <a:r>
              <a:rPr lang="en-US" altLang="zh-CN" dirty="0">
                <a:latin typeface="Arial" panose="020B0604020202020204" pitchFamily="34" charset="0"/>
              </a:rPr>
              <a:t>CO</a:t>
            </a:r>
            <a:r>
              <a:rPr lang="en-US" altLang="zh-CN" baseline="-25000" dirty="0">
                <a:latin typeface="Arial" panose="020B0604020202020204" pitchFamily="34" charset="0"/>
              </a:rPr>
              <a:t>2</a:t>
            </a:r>
            <a:r>
              <a:rPr lang="en-US" altLang="zh-CN" dirty="0">
                <a:latin typeface="Arial" panose="020B0604020202020204" pitchFamily="34" charset="0"/>
              </a:rPr>
              <a:t>.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脱下的</a:t>
            </a:r>
            <a:r>
              <a:rPr lang="en-US" altLang="zh-CN" dirty="0">
                <a:latin typeface="Arial" panose="020B0604020202020204" pitchFamily="34" charset="0"/>
              </a:rPr>
              <a:t>4</a:t>
            </a:r>
            <a:r>
              <a:rPr lang="zh-CN" altLang="en-US" dirty="0">
                <a:latin typeface="Arial" panose="020B0604020202020204" pitchFamily="34" charset="0"/>
              </a:rPr>
              <a:t>对氢的来源： 一半源自乙酸（乙酸与</a:t>
            </a:r>
            <a:r>
              <a:rPr lang="en-US" altLang="zh-CN" dirty="0">
                <a:latin typeface="Arial" panose="020B0604020202020204" pitchFamily="34" charset="0"/>
              </a:rPr>
              <a:t>CoA</a:t>
            </a:r>
            <a:r>
              <a:rPr lang="zh-CN" altLang="en-US" dirty="0">
                <a:latin typeface="Arial" panose="020B0604020202020204" pitchFamily="34" charset="0"/>
              </a:rPr>
              <a:t>结合即为乙酰</a:t>
            </a:r>
            <a:r>
              <a:rPr lang="en-US" altLang="zh-CN" dirty="0">
                <a:latin typeface="Arial" panose="020B0604020202020204" pitchFamily="34" charset="0"/>
              </a:rPr>
              <a:t>CoA), </a:t>
            </a:r>
            <a:r>
              <a:rPr lang="zh-CN" altLang="en-US" dirty="0">
                <a:latin typeface="Arial" panose="020B0604020202020204" pitchFamily="34" charset="0"/>
              </a:rPr>
              <a:t>一半源自两个水分子。 而两个</a:t>
            </a:r>
            <a:r>
              <a:rPr lang="en-US" altLang="zh-CN" dirty="0">
                <a:latin typeface="Arial" panose="020B0604020202020204" pitchFamily="34" charset="0"/>
              </a:rPr>
              <a:t>CO</a:t>
            </a:r>
            <a:r>
              <a:rPr lang="en-US" altLang="zh-CN" baseline="-25000" dirty="0">
                <a:latin typeface="Arial" panose="020B0604020202020204" pitchFamily="34" charset="0"/>
              </a:rPr>
              <a:t>2 </a:t>
            </a:r>
            <a:r>
              <a:rPr lang="zh-CN" altLang="en-US" dirty="0">
                <a:latin typeface="Arial" panose="020B0604020202020204" pitchFamily="34" charset="0"/>
              </a:rPr>
              <a:t>里的</a:t>
            </a:r>
            <a:r>
              <a:rPr lang="en-US" altLang="zh-CN" dirty="0">
                <a:latin typeface="Arial" panose="020B0604020202020204" pitchFamily="34" charset="0"/>
              </a:rPr>
              <a:t>C</a:t>
            </a:r>
            <a:r>
              <a:rPr lang="zh-CN" altLang="en-US" dirty="0">
                <a:latin typeface="Arial" panose="020B0604020202020204" pitchFamily="34" charset="0"/>
              </a:rPr>
              <a:t>源自乙酸，氧原子则源自乙酸和两个水分子。  </a:t>
            </a:r>
            <a:endParaRPr lang="zh-CN" altLang="en-US" dirty="0">
              <a:latin typeface="Arial" panose="020B0604020202020204" pitchFamily="34" charset="0"/>
            </a:endParaRPr>
          </a:p>
        </p:txBody>
      </p:sp>
      <p:sp>
        <p:nvSpPr>
          <p:cNvPr id="1740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91CDFEA-87EB-4897-A4DB-52581C250F9D}" type="slidenum">
              <a:rPr lang="zh-CN" altLang="en-US" b="0" smtClean="0"/>
            </a:fld>
            <a:endParaRPr lang="en-US" altLang="zh-CN" b="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p:cNvSpPr>
            <a:spLocks noGrp="1" noRot="1" noChangeAspect="1" noChangeArrowheads="1" noTextEdit="1"/>
          </p:cNvSpPr>
          <p:nvPr>
            <p:ph type="sldImg"/>
          </p:nvPr>
        </p:nvSpPr>
        <p:spPr>
          <a:xfrm>
            <a:off x="381000" y="685800"/>
            <a:ext cx="6096000" cy="3429000"/>
          </a:xfrm>
        </p:spPr>
      </p:sp>
      <p:sp>
        <p:nvSpPr>
          <p:cNvPr id="187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线粒体内苹果酸酶（由</a:t>
            </a:r>
            <a:r>
              <a:rPr lang="en-US" altLang="zh-CN" i="1" dirty="0">
                <a:latin typeface="Arial" panose="020B0604020202020204" pitchFamily="34" charset="0"/>
              </a:rPr>
              <a:t>ME2</a:t>
            </a:r>
            <a:r>
              <a:rPr lang="zh-CN" altLang="en-US" dirty="0">
                <a:latin typeface="Arial" panose="020B0604020202020204" pitchFamily="34" charset="0"/>
              </a:rPr>
              <a:t>基因编码）以</a:t>
            </a:r>
            <a:r>
              <a:rPr lang="en-US" altLang="zh-CN" dirty="0">
                <a:latin typeface="Arial" panose="020B0604020202020204" pitchFamily="34" charset="0"/>
              </a:rPr>
              <a:t>NAD</a:t>
            </a:r>
            <a:r>
              <a:rPr lang="zh-CN" altLang="en-US" dirty="0">
                <a:latin typeface="Arial" panose="020B0604020202020204" pitchFamily="34" charset="0"/>
              </a:rPr>
              <a:t>为辅酶， 胞质中的苹果酸酶（</a:t>
            </a:r>
            <a:r>
              <a:rPr lang="en-US" altLang="zh-CN" i="1" dirty="0">
                <a:latin typeface="Arial" panose="020B0604020202020204" pitchFamily="34" charset="0"/>
              </a:rPr>
              <a:t>ME1</a:t>
            </a:r>
            <a:r>
              <a:rPr lang="zh-CN" altLang="en-US" dirty="0">
                <a:latin typeface="Arial" panose="020B0604020202020204" pitchFamily="34" charset="0"/>
              </a:rPr>
              <a:t>基因编码）以</a:t>
            </a:r>
            <a:r>
              <a:rPr lang="en-US" altLang="zh-CN" dirty="0">
                <a:latin typeface="Arial" panose="020B0604020202020204" pitchFamily="34" charset="0"/>
              </a:rPr>
              <a:t>NADP</a:t>
            </a:r>
            <a:r>
              <a:rPr lang="zh-CN" altLang="en-US" dirty="0">
                <a:latin typeface="Arial" panose="020B0604020202020204" pitchFamily="34" charset="0"/>
              </a:rPr>
              <a:t>为辅酶</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187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9D9304C7-A09B-4007-87E6-EB5695F0CEBA}" type="slidenum">
              <a:rPr lang="zh-CN" altLang="en-US" b="0" smtClean="0"/>
            </a:fld>
            <a:endParaRPr lang="en-US" altLang="zh-CN" b="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ChangeArrowheads="1" noTextEdit="1"/>
          </p:cNvSpPr>
          <p:nvPr>
            <p:ph type="sldImg"/>
          </p:nvPr>
        </p:nvSpPr>
        <p:spPr>
          <a:xfrm>
            <a:off x="381000" y="685800"/>
            <a:ext cx="6096000" cy="3429000"/>
          </a:xfrm>
        </p:spPr>
      </p:sp>
      <p:sp>
        <p:nvSpPr>
          <p:cNvPr id="17613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谷氨酸等氨基酸的氧化分解其实就是通过这个循环中的部分反应，脱氨后，经</a:t>
            </a:r>
            <a:r>
              <a:rPr lang="en-US" altLang="zh-CN" dirty="0">
                <a:latin typeface="Arial" panose="020B0604020202020204" pitchFamily="34" charset="0"/>
              </a:rPr>
              <a:t>TCA cycle</a:t>
            </a:r>
            <a:r>
              <a:rPr lang="zh-CN" altLang="en-US" dirty="0">
                <a:latin typeface="Arial" panose="020B0604020202020204" pitchFamily="34" charset="0"/>
              </a:rPr>
              <a:t>中部分路径转变为草酰乙酸 ，后者再转变为丙酮酸，并进一步氧化。 </a:t>
            </a:r>
            <a:endParaRPr lang="zh-CN" altLang="en-US" dirty="0">
              <a:latin typeface="Arial" panose="020B0604020202020204" pitchFamily="34" charset="0"/>
            </a:endParaRPr>
          </a:p>
        </p:txBody>
      </p:sp>
      <p:sp>
        <p:nvSpPr>
          <p:cNvPr id="1761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9A5FE94-3560-479A-AFAC-4692D385556F}" type="slidenum">
              <a:rPr lang="zh-CN" altLang="en-US" b="0" smtClean="0"/>
            </a:fld>
            <a:endParaRPr lang="en-US" altLang="zh-CN" b="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ChangeArrowheads="1" noTextEdit="1"/>
          </p:cNvSpPr>
          <p:nvPr>
            <p:ph type="sldImg"/>
          </p:nvPr>
        </p:nvSpPr>
        <p:spPr>
          <a:xfrm>
            <a:off x="381000" y="685800"/>
            <a:ext cx="6096000" cy="3429000"/>
          </a:xfrm>
        </p:spPr>
      </p:sp>
      <p:sp>
        <p:nvSpPr>
          <p:cNvPr id="17613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谷氨酸等氨基酸的氧化分解其实就是通过这个循环中的部分反应，脱氨后，经</a:t>
            </a:r>
            <a:r>
              <a:rPr lang="en-US" altLang="zh-CN" dirty="0">
                <a:latin typeface="Arial" panose="020B0604020202020204" pitchFamily="34" charset="0"/>
              </a:rPr>
              <a:t>TCA cycle</a:t>
            </a:r>
            <a:r>
              <a:rPr lang="zh-CN" altLang="en-US" dirty="0">
                <a:latin typeface="Arial" panose="020B0604020202020204" pitchFamily="34" charset="0"/>
              </a:rPr>
              <a:t>中部分路径转变为草酰乙酸 ，后者再转变为丙酮酸，并进一步氧化。 </a:t>
            </a:r>
            <a:endParaRPr lang="zh-CN" altLang="en-US" dirty="0">
              <a:latin typeface="Arial" panose="020B0604020202020204" pitchFamily="34" charset="0"/>
            </a:endParaRPr>
          </a:p>
        </p:txBody>
      </p:sp>
      <p:sp>
        <p:nvSpPr>
          <p:cNvPr id="1761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9A5FE94-3560-479A-AFAC-4692D385556F}" type="slidenum">
              <a:rPr lang="zh-CN" altLang="en-US" b="0" smtClean="0"/>
            </a:fld>
            <a:endParaRPr lang="en-US" altLang="zh-CN" b="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ChangeArrowheads="1" noTextEdit="1"/>
          </p:cNvSpPr>
          <p:nvPr>
            <p:ph type="sldImg"/>
          </p:nvPr>
        </p:nvSpPr>
        <p:spPr>
          <a:xfrm>
            <a:off x="381000" y="685800"/>
            <a:ext cx="6096000" cy="3429000"/>
          </a:xfrm>
        </p:spPr>
      </p:sp>
      <p:sp>
        <p:nvSpPr>
          <p:cNvPr id="1802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802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CB6D83A-A351-4DBA-85AD-9215D48EB99C}" type="slidenum">
              <a:rPr lang="zh-CN" altLang="en-US" b="0" smtClean="0"/>
            </a:fld>
            <a:endParaRPr lang="en-US" altLang="zh-CN" b="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幻灯片图像占位符 1"/>
          <p:cNvSpPr>
            <a:spLocks noGrp="1" noRot="1" noChangeAspect="1" noChangeArrowheads="1" noTextEdit="1"/>
          </p:cNvSpPr>
          <p:nvPr>
            <p:ph type="sldImg"/>
          </p:nvPr>
        </p:nvSpPr>
        <p:spPr>
          <a:xfrm>
            <a:off x="381000" y="685800"/>
            <a:ext cx="6096000" cy="3429000"/>
          </a:xfrm>
        </p:spPr>
      </p:sp>
      <p:sp>
        <p:nvSpPr>
          <p:cNvPr id="183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the concentration of oxaloacetate</a:t>
            </a:r>
            <a:r>
              <a:rPr lang="zh-CN" altLang="en-US" dirty="0">
                <a:latin typeface="Arial" panose="020B0604020202020204" pitchFamily="34" charset="0"/>
              </a:rPr>
              <a:t> </a:t>
            </a:r>
            <a:r>
              <a:rPr lang="en-US" altLang="zh-CN" dirty="0">
                <a:latin typeface="Arial" panose="020B0604020202020204" pitchFamily="34" charset="0"/>
              </a:rPr>
              <a:t>in the cell</a:t>
            </a:r>
            <a:r>
              <a:rPr lang="zh-CN" altLang="en-US" dirty="0">
                <a:latin typeface="Arial" panose="020B0604020202020204" pitchFamily="34" charset="0"/>
              </a:rPr>
              <a:t> </a:t>
            </a:r>
            <a:r>
              <a:rPr lang="en-US" altLang="zh-CN" dirty="0">
                <a:latin typeface="Arial" panose="020B0604020202020204" pitchFamily="34" charset="0"/>
              </a:rPr>
              <a:t>is extremely low (10</a:t>
            </a:r>
            <a:r>
              <a:rPr lang="zh-CN" altLang="en-US" baseline="30000" dirty="0">
                <a:latin typeface="Arial" panose="020B0604020202020204" pitchFamily="34" charset="0"/>
              </a:rPr>
              <a:t>－</a:t>
            </a:r>
            <a:r>
              <a:rPr lang="en-US" altLang="zh-CN" baseline="30000" dirty="0">
                <a:latin typeface="Arial" panose="020B0604020202020204" pitchFamily="34" charset="0"/>
              </a:rPr>
              <a:t>6</a:t>
            </a:r>
            <a:r>
              <a:rPr lang="zh-CN" altLang="en-US" dirty="0">
                <a:latin typeface="Arial" panose="020B0604020202020204" pitchFamily="34" charset="0"/>
              </a:rPr>
              <a:t>　</a:t>
            </a:r>
            <a:r>
              <a:rPr lang="en-US" altLang="zh-CN" dirty="0">
                <a:latin typeface="Arial" panose="020B0604020202020204" pitchFamily="34" charset="0"/>
              </a:rPr>
              <a:t>M)</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丙酮酸羧化酶主要在肝、肾中</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α-</a:t>
            </a:r>
            <a:r>
              <a:rPr lang="zh-CN" altLang="en-US" dirty="0">
                <a:latin typeface="Arial" panose="020B0604020202020204" pitchFamily="34" charset="0"/>
              </a:rPr>
              <a:t>酮戊二酸的回补：谷氨酸脱氢脱氨</a:t>
            </a:r>
            <a:endParaRPr lang="zh-CN" altLang="en-US" dirty="0">
              <a:latin typeface="Arial" panose="020B0604020202020204" pitchFamily="34" charset="0"/>
            </a:endParaRPr>
          </a:p>
          <a:p>
            <a:r>
              <a:rPr lang="zh-CN" altLang="en-US" dirty="0">
                <a:latin typeface="Arial" panose="020B0604020202020204" pitchFamily="34" charset="0"/>
              </a:rPr>
              <a:t>琥珀酰</a:t>
            </a:r>
            <a:r>
              <a:rPr lang="en-US" altLang="zh-CN" dirty="0">
                <a:latin typeface="Arial" panose="020B0604020202020204" pitchFamily="34" charset="0"/>
              </a:rPr>
              <a:t>CoA</a:t>
            </a:r>
            <a:r>
              <a:rPr lang="zh-CN" altLang="en-US" dirty="0">
                <a:latin typeface="Arial" panose="020B0604020202020204" pitchFamily="34" charset="0"/>
              </a:rPr>
              <a:t>的回补：</a:t>
            </a:r>
            <a:r>
              <a:rPr lang="en-US" altLang="zh-CN" dirty="0">
                <a:latin typeface="Arial" panose="020B0604020202020204" pitchFamily="34" charset="0"/>
              </a:rPr>
              <a:t>Ile</a:t>
            </a:r>
            <a:r>
              <a:rPr lang="zh-CN" altLang="en-US" dirty="0">
                <a:latin typeface="Arial" panose="020B0604020202020204" pitchFamily="34" charset="0"/>
              </a:rPr>
              <a:t>、</a:t>
            </a:r>
            <a:r>
              <a:rPr lang="en-US" altLang="zh-CN" dirty="0">
                <a:latin typeface="Arial" panose="020B0604020202020204" pitchFamily="34" charset="0"/>
              </a:rPr>
              <a:t>Val</a:t>
            </a:r>
            <a:r>
              <a:rPr lang="zh-CN" altLang="en-US" dirty="0">
                <a:latin typeface="Arial" panose="020B0604020202020204" pitchFamily="34" charset="0"/>
              </a:rPr>
              <a:t>、</a:t>
            </a:r>
            <a:r>
              <a:rPr lang="en-US" altLang="zh-CN" dirty="0">
                <a:latin typeface="Arial" panose="020B0604020202020204" pitchFamily="34" charset="0"/>
              </a:rPr>
              <a:t>Met</a:t>
            </a:r>
            <a:r>
              <a:rPr lang="zh-CN" altLang="en-US" dirty="0">
                <a:latin typeface="Arial" panose="020B0604020202020204" pitchFamily="34" charset="0"/>
              </a:rPr>
              <a:t>、</a:t>
            </a:r>
            <a:r>
              <a:rPr lang="en-US" altLang="zh-CN" dirty="0" err="1">
                <a:latin typeface="Arial" panose="020B0604020202020204" pitchFamily="34" charset="0"/>
              </a:rPr>
              <a:t>Thr</a:t>
            </a:r>
            <a:r>
              <a:rPr lang="zh-CN" altLang="en-US" dirty="0">
                <a:latin typeface="Arial" panose="020B0604020202020204" pitchFamily="34" charset="0"/>
              </a:rPr>
              <a:t>等代谢均可转变为琥珀酰</a:t>
            </a:r>
            <a:r>
              <a:rPr lang="en-US" altLang="zh-CN" dirty="0">
                <a:latin typeface="Arial" panose="020B0604020202020204" pitchFamily="34" charset="0"/>
              </a:rPr>
              <a:t>CoA</a:t>
            </a:r>
            <a:endParaRPr lang="en-US" altLang="zh-CN" dirty="0">
              <a:latin typeface="Arial" panose="020B0604020202020204" pitchFamily="34" charset="0"/>
            </a:endParaRPr>
          </a:p>
        </p:txBody>
      </p:sp>
      <p:sp>
        <p:nvSpPr>
          <p:cNvPr id="183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075F095-EE66-4F9D-93B4-D28146B50F75}" type="slidenum">
              <a:rPr lang="zh-CN" altLang="en-US" b="0" smtClean="0"/>
            </a:fld>
            <a:endParaRPr lang="en-US" altLang="zh-CN" b="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p:cNvSpPr>
            <a:spLocks noGrp="1" noRot="1" noChangeAspect="1" noChangeArrowheads="1" noTextEdit="1"/>
          </p:cNvSpPr>
          <p:nvPr>
            <p:ph type="sldImg"/>
          </p:nvPr>
        </p:nvSpPr>
        <p:spPr>
          <a:xfrm>
            <a:off x="381000" y="685800"/>
            <a:ext cx="6096000" cy="3429000"/>
          </a:xfrm>
        </p:spPr>
      </p:sp>
      <p:sp>
        <p:nvSpPr>
          <p:cNvPr id="18534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羧化酶的辅基是生物素。</a:t>
            </a:r>
            <a:endParaRPr lang="en-US" altLang="zh-CN" dirty="0">
              <a:latin typeface="Arial" panose="020B0604020202020204" pitchFamily="34" charset="0"/>
            </a:endParaRPr>
          </a:p>
          <a:p>
            <a:r>
              <a:rPr lang="zh-CN" altLang="en-US" dirty="0">
                <a:latin typeface="Arial" panose="020B0604020202020204" pitchFamily="34" charset="0"/>
              </a:rPr>
              <a:t>生物素与酶蛋白的结合形成了类似丙酮酸脱氢酶复合体</a:t>
            </a:r>
            <a:r>
              <a:rPr lang="en-US" altLang="zh-CN" dirty="0">
                <a:latin typeface="Arial" panose="020B0604020202020204" pitchFamily="34" charset="0"/>
              </a:rPr>
              <a:t>E</a:t>
            </a:r>
            <a:r>
              <a:rPr lang="en-US" altLang="zh-CN" baseline="-25000" dirty="0">
                <a:latin typeface="Arial" panose="020B0604020202020204" pitchFamily="34" charset="0"/>
              </a:rPr>
              <a:t>2</a:t>
            </a:r>
            <a:r>
              <a:rPr lang="zh-CN" altLang="en-US" dirty="0">
                <a:latin typeface="Arial" panose="020B0604020202020204" pitchFamily="34" charset="0"/>
              </a:rPr>
              <a:t>中硫辛酸与</a:t>
            </a:r>
            <a:r>
              <a:rPr lang="en-US" altLang="zh-CN" dirty="0">
                <a:latin typeface="Arial" panose="020B0604020202020204" pitchFamily="34" charset="0"/>
              </a:rPr>
              <a:t>Lys</a:t>
            </a:r>
            <a:r>
              <a:rPr lang="zh-CN" altLang="en-US" dirty="0">
                <a:latin typeface="Arial" panose="020B0604020202020204" pitchFamily="34" charset="0"/>
              </a:rPr>
              <a:t>侧链共同构成的“柔性长臂”  ， 类似的还有酰基载体蛋白中泛酸参与形成的“长臂” 。</a:t>
            </a:r>
            <a:endParaRPr lang="zh-CN" altLang="en-US" dirty="0">
              <a:latin typeface="Arial" panose="020B0604020202020204" pitchFamily="34" charset="0"/>
            </a:endParaRPr>
          </a:p>
        </p:txBody>
      </p:sp>
      <p:sp>
        <p:nvSpPr>
          <p:cNvPr id="18534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DA9B715-77B1-42F5-B2C9-123CC71C376C}" type="slidenum">
              <a:rPr lang="zh-CN" altLang="en-US" b="0" smtClean="0"/>
            </a:fld>
            <a:endParaRPr lang="en-US" altLang="zh-CN" b="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幻灯片图像占位符 1"/>
          <p:cNvSpPr>
            <a:spLocks noGrp="1" noRot="1" noChangeAspect="1" noChangeArrowheads="1" noTextEdit="1"/>
          </p:cNvSpPr>
          <p:nvPr>
            <p:ph type="sldImg"/>
          </p:nvPr>
        </p:nvSpPr>
        <p:spPr>
          <a:xfrm>
            <a:off x="381000" y="685800"/>
            <a:ext cx="6096000" cy="3429000"/>
          </a:xfrm>
        </p:spPr>
      </p:sp>
      <p:sp>
        <p:nvSpPr>
          <p:cNvPr id="191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乙酰</a:t>
            </a:r>
            <a:r>
              <a:rPr lang="en-US" altLang="zh-CN" dirty="0">
                <a:latin typeface="Arial" panose="020B0604020202020204" pitchFamily="34" charset="0"/>
              </a:rPr>
              <a:t>CoA</a:t>
            </a:r>
            <a:r>
              <a:rPr lang="zh-CN" altLang="en-US" dirty="0">
                <a:latin typeface="Arial" panose="020B0604020202020204" pitchFamily="34" charset="0"/>
              </a:rPr>
              <a:t>主要在线粒体内生成。</a:t>
            </a:r>
            <a:endParaRPr lang="en-US" altLang="zh-CN" dirty="0">
              <a:latin typeface="Arial" panose="020B0604020202020204" pitchFamily="34" charset="0"/>
            </a:endParaRPr>
          </a:p>
          <a:p>
            <a:r>
              <a:rPr lang="zh-CN" altLang="en-US" dirty="0">
                <a:latin typeface="Arial" panose="020B0604020202020204" pitchFamily="34" charset="0"/>
              </a:rPr>
              <a:t>草酰乙酸充足时，乙酰</a:t>
            </a:r>
            <a:r>
              <a:rPr lang="en-US" altLang="zh-CN" dirty="0">
                <a:latin typeface="Arial" panose="020B0604020202020204" pitchFamily="34" charset="0"/>
              </a:rPr>
              <a:t>CoA</a:t>
            </a:r>
            <a:r>
              <a:rPr lang="zh-CN" altLang="en-US" dirty="0">
                <a:latin typeface="Arial" panose="020B0604020202020204" pitchFamily="34" charset="0"/>
              </a:rPr>
              <a:t>一部分经</a:t>
            </a:r>
            <a:r>
              <a:rPr lang="en-US" altLang="zh-CN" dirty="0">
                <a:latin typeface="Arial" panose="020B0604020202020204" pitchFamily="34" charset="0"/>
              </a:rPr>
              <a:t>TCA cycle</a:t>
            </a:r>
            <a:r>
              <a:rPr lang="zh-CN" altLang="en-US" dirty="0">
                <a:latin typeface="Arial" panose="020B0604020202020204" pitchFamily="34" charset="0"/>
              </a:rPr>
              <a:t>被彻底氧化，也可能生成的柠檬酸有一部分出线粒体到胞质中再裂解重新生成乙酰</a:t>
            </a:r>
            <a:r>
              <a:rPr lang="en-US" altLang="zh-CN" dirty="0">
                <a:latin typeface="Arial" panose="020B0604020202020204" pitchFamily="34" charset="0"/>
              </a:rPr>
              <a:t>CoA</a:t>
            </a:r>
            <a:r>
              <a:rPr lang="zh-CN" altLang="en-US" dirty="0">
                <a:latin typeface="Arial" panose="020B0604020202020204" pitchFamily="34" charset="0"/>
              </a:rPr>
              <a:t>， 作为合成脂肪酸的原料。</a:t>
            </a:r>
            <a:endParaRPr lang="en-US" altLang="zh-CN" dirty="0">
              <a:latin typeface="Arial" panose="020B0604020202020204" pitchFamily="34" charset="0"/>
            </a:endParaRPr>
          </a:p>
          <a:p>
            <a:r>
              <a:rPr lang="zh-CN" altLang="en-US" dirty="0">
                <a:latin typeface="Arial" panose="020B0604020202020204" pitchFamily="34" charset="0"/>
              </a:rPr>
              <a:t>当草酰乙酸不足时，肝细胞线粒体内多余的乙酰</a:t>
            </a:r>
            <a:r>
              <a:rPr lang="en-US" altLang="zh-CN" dirty="0">
                <a:latin typeface="Arial" panose="020B0604020202020204" pitchFamily="34" charset="0"/>
              </a:rPr>
              <a:t>CoA</a:t>
            </a:r>
            <a:r>
              <a:rPr lang="zh-CN" altLang="en-US" dirty="0">
                <a:latin typeface="Arial" panose="020B0604020202020204" pitchFamily="34" charset="0"/>
              </a:rPr>
              <a:t>转变为酮体。</a:t>
            </a:r>
            <a:endParaRPr lang="en-US" altLang="zh-CN" dirty="0">
              <a:latin typeface="Arial" panose="020B0604020202020204" pitchFamily="34" charset="0"/>
            </a:endParaRPr>
          </a:p>
        </p:txBody>
      </p:sp>
      <p:sp>
        <p:nvSpPr>
          <p:cNvPr id="1914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6714FD4-7CEC-4B06-A265-15FC403C770D}" type="slidenum">
              <a:rPr lang="zh-CN" altLang="en-US" b="0" smtClean="0"/>
            </a:fld>
            <a:endParaRPr lang="en-US" altLang="zh-CN" b="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幻灯片图像占位符 1"/>
          <p:cNvSpPr>
            <a:spLocks noGrp="1" noRot="1" noChangeAspect="1" noChangeArrowheads="1" noTextEdit="1"/>
          </p:cNvSpPr>
          <p:nvPr>
            <p:ph type="sldImg"/>
          </p:nvPr>
        </p:nvSpPr>
        <p:spPr>
          <a:xfrm>
            <a:off x="381000" y="685800"/>
            <a:ext cx="6096000" cy="3429000"/>
          </a:xfrm>
        </p:spPr>
      </p:sp>
      <p:sp>
        <p:nvSpPr>
          <p:cNvPr id="193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酮体是乙酰乙酸、</a:t>
            </a:r>
            <a:r>
              <a:rPr lang="en-US" altLang="zh-CN" dirty="0">
                <a:latin typeface="Arial" panose="020B0604020202020204" pitchFamily="34" charset="0"/>
              </a:rPr>
              <a:t>β-</a:t>
            </a:r>
            <a:r>
              <a:rPr lang="zh-CN" altLang="en-US" dirty="0">
                <a:latin typeface="Arial" panose="020B0604020202020204" pitchFamily="34" charset="0"/>
              </a:rPr>
              <a:t>羟丁酸及丙酮三者的总称，可为脑组织利用。</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935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2E18716-63FA-4616-8D63-1A8E62D3F8E6}" type="slidenum">
              <a:rPr lang="zh-CN" altLang="en-US" b="0" smtClean="0"/>
            </a:fld>
            <a:endParaRPr lang="en-US" altLang="zh-CN" b="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p:cNvSpPr>
            <a:spLocks noGrp="1" noRot="1" noChangeAspect="1" noChangeArrowheads="1" noTextEdit="1"/>
          </p:cNvSpPr>
          <p:nvPr>
            <p:ph type="sldImg"/>
          </p:nvPr>
        </p:nvSpPr>
        <p:spPr>
          <a:xfrm>
            <a:off x="381000" y="685800"/>
            <a:ext cx="6096000" cy="3429000"/>
          </a:xfrm>
        </p:spPr>
      </p:sp>
      <p:sp>
        <p:nvSpPr>
          <p:cNvPr id="195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955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0F0C296-D06B-49F8-AD28-203FA076ED9B}" type="slidenum">
              <a:rPr lang="zh-CN" altLang="en-US" b="0" smtClean="0"/>
            </a:fld>
            <a:endParaRPr lang="en-US" altLang="zh-CN" b="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ChangeArrowheads="1" noTextEdit="1"/>
          </p:cNvSpPr>
          <p:nvPr>
            <p:ph type="sldImg"/>
          </p:nvPr>
        </p:nvSpPr>
        <p:spPr>
          <a:xfrm>
            <a:off x="685800" y="1143000"/>
            <a:ext cx="5486400" cy="3086100"/>
          </a:xfrm>
        </p:spPr>
      </p:sp>
      <p:sp>
        <p:nvSpPr>
          <p:cNvPr id="2027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红色箭头代表的是生成草酰乙酸的添补反应（注，人体没有</a:t>
            </a:r>
            <a:r>
              <a:rPr lang="en-US" altLang="zh-CN" dirty="0">
                <a:latin typeface="Arial" panose="020B0604020202020204" pitchFamily="34" charset="0"/>
              </a:rPr>
              <a:t>PEP carboxylase</a:t>
            </a:r>
            <a:r>
              <a:rPr lang="zh-CN" altLang="en-US" dirty="0">
                <a:latin typeface="Arial" panose="020B0604020202020204" pitchFamily="34" charset="0"/>
              </a:rPr>
              <a:t>，人体有的是</a:t>
            </a:r>
            <a:r>
              <a:rPr lang="en-US" altLang="zh-CN" dirty="0">
                <a:latin typeface="Arial" panose="020B0604020202020204" pitchFamily="34" charset="0"/>
              </a:rPr>
              <a:t>PEP </a:t>
            </a:r>
            <a:r>
              <a:rPr lang="en-US" altLang="zh-CN" dirty="0" err="1">
                <a:latin typeface="Arial" panose="020B0604020202020204" pitchFamily="34" charset="0"/>
              </a:rPr>
              <a:t>carboxykinase</a:t>
            </a:r>
            <a:r>
              <a:rPr lang="en-US" altLang="zh-CN" dirty="0">
                <a:latin typeface="Arial" panose="020B0604020202020204" pitchFamily="34" charset="0"/>
              </a:rPr>
              <a:t>) </a:t>
            </a:r>
            <a:endParaRPr lang="zh-CN" altLang="en-US" dirty="0">
              <a:latin typeface="Arial" panose="020B0604020202020204" pitchFamily="34" charset="0"/>
            </a:endParaRPr>
          </a:p>
        </p:txBody>
      </p:sp>
      <p:sp>
        <p:nvSpPr>
          <p:cNvPr id="2027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ADFDD9F-5A60-4E39-8387-94A818E6BB4F}" type="slidenum">
              <a:rPr lang="zh-CN" altLang="en-US" b="0"/>
            </a:fld>
            <a:endParaRPr lang="en-US" altLang="zh-CN" b="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ChangeArrowheads="1" noTextEdit="1"/>
          </p:cNvSpPr>
          <p:nvPr>
            <p:ph type="sldImg"/>
          </p:nvPr>
        </p:nvSpPr>
        <p:spPr>
          <a:xfrm>
            <a:off x="381000" y="685800"/>
            <a:ext cx="6096000" cy="3429000"/>
          </a:xfrm>
        </p:spPr>
      </p:sp>
      <p:sp>
        <p:nvSpPr>
          <p:cNvPr id="20070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20</a:t>
            </a:r>
            <a:r>
              <a:rPr lang="zh-CN" altLang="en-US" dirty="0">
                <a:latin typeface="Arial" panose="020B0604020202020204" pitchFamily="34" charset="0"/>
              </a:rPr>
              <a:t>种氨基酸可分为生酮氨基酸、生糖氨基酸两大类，其中有的是生糖兼生酮氨基酸（参见第九章 氨基酸代谢）</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The twenty common amino acids are degraded to a total of seven different compounds, all of which are related to the citric acid cycle.</a:t>
            </a:r>
            <a:endParaRPr lang="en-US" altLang="zh-CN" dirty="0">
              <a:latin typeface="Arial" panose="020B0604020202020204" pitchFamily="34" charset="0"/>
            </a:endParaRPr>
          </a:p>
        </p:txBody>
      </p:sp>
      <p:sp>
        <p:nvSpPr>
          <p:cNvPr id="2007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31D2A2E-79E8-4DFB-9EF4-6003E53E1DF4}" type="slidenum">
              <a:rPr lang="zh-CN" altLang="en-US" b="0" smtClean="0"/>
            </a:fld>
            <a:endParaRPr lang="en-US" altLang="zh-CN" b="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ChangeArrowheads="1" noTextEdit="1"/>
          </p:cNvSpPr>
          <p:nvPr>
            <p:ph type="sldImg"/>
          </p:nvPr>
        </p:nvSpPr>
        <p:spPr>
          <a:xfrm>
            <a:off x="381000" y="685800"/>
            <a:ext cx="6096000" cy="3429000"/>
          </a:xfrm>
        </p:spPr>
      </p:sp>
      <p:sp>
        <p:nvSpPr>
          <p:cNvPr id="2027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H</a:t>
            </a:r>
            <a:r>
              <a:rPr lang="en-US" altLang="zh-CN" baseline="30000" dirty="0">
                <a:latin typeface="Arial" panose="020B0604020202020204" pitchFamily="34" charset="0"/>
              </a:rPr>
              <a:t>+</a:t>
            </a:r>
            <a:r>
              <a:rPr lang="en-US" altLang="zh-CN" dirty="0">
                <a:latin typeface="Arial" panose="020B0604020202020204" pitchFamily="34" charset="0"/>
              </a:rPr>
              <a:t> + e </a:t>
            </a:r>
            <a:r>
              <a:rPr lang="zh-CN" altLang="en-US" dirty="0">
                <a:latin typeface="Arial" panose="020B0604020202020204" pitchFamily="34" charset="0"/>
              </a:rPr>
              <a:t>进入呼吸链彻底氧化生成</a:t>
            </a:r>
            <a:r>
              <a:rPr lang="en-US" altLang="zh-CN" dirty="0">
                <a:latin typeface="Arial" panose="020B0604020202020204" pitchFamily="34" charset="0"/>
              </a:rPr>
              <a:t>H</a:t>
            </a:r>
            <a:r>
              <a:rPr lang="en-US" altLang="zh-CN" baseline="-25000" dirty="0">
                <a:latin typeface="Arial" panose="020B0604020202020204" pitchFamily="34" charset="0"/>
              </a:rPr>
              <a:t>2</a:t>
            </a:r>
            <a:r>
              <a:rPr lang="en-US" altLang="zh-CN" dirty="0">
                <a:latin typeface="Arial" panose="020B0604020202020204" pitchFamily="34" charset="0"/>
              </a:rPr>
              <a:t>O </a:t>
            </a:r>
            <a:r>
              <a:rPr lang="zh-CN" altLang="en-US" dirty="0">
                <a:latin typeface="Arial" panose="020B0604020202020204" pitchFamily="34" charset="0"/>
              </a:rPr>
              <a:t>的同时偶联</a:t>
            </a:r>
            <a:r>
              <a:rPr lang="en-US" altLang="zh-CN" dirty="0">
                <a:latin typeface="Arial" panose="020B0604020202020204" pitchFamily="34" charset="0"/>
              </a:rPr>
              <a:t>ADP</a:t>
            </a:r>
            <a:r>
              <a:rPr lang="zh-CN" altLang="en-US" dirty="0">
                <a:latin typeface="Arial" panose="020B0604020202020204" pitchFamily="34" charset="0"/>
              </a:rPr>
              <a:t>磷酸化生成</a:t>
            </a:r>
            <a:r>
              <a:rPr lang="en-US" altLang="zh-CN" dirty="0">
                <a:latin typeface="Arial" panose="020B0604020202020204" pitchFamily="34" charset="0"/>
              </a:rPr>
              <a:t>ATP</a:t>
            </a:r>
            <a:r>
              <a:rPr lang="zh-CN" altLang="en-US" dirty="0">
                <a:latin typeface="Arial" panose="020B0604020202020204" pitchFamily="34" charset="0"/>
              </a:rPr>
              <a:t>。</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2027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D99819B-89D0-4B4E-AD13-8B00C2109D5D}" type="slidenum">
              <a:rPr lang="zh-CN" altLang="en-US" b="0" smtClean="0"/>
            </a:fld>
            <a:endParaRPr lang="en-US" altLang="zh-CN" b="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ChangeArrowheads="1" noTextEdit="1"/>
          </p:cNvSpPr>
          <p:nvPr>
            <p:ph type="sldImg"/>
          </p:nvPr>
        </p:nvSpPr>
        <p:spPr>
          <a:xfrm>
            <a:off x="381000" y="685800"/>
            <a:ext cx="6096000" cy="3429000"/>
          </a:xfrm>
        </p:spPr>
      </p:sp>
      <p:sp>
        <p:nvSpPr>
          <p:cNvPr id="20480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048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115FF28-F3A7-45A8-92B2-AD8D2AFAFCCC}" type="slidenum">
              <a:rPr lang="zh-CN" altLang="en-US" b="0" smtClean="0"/>
            </a:fld>
            <a:endParaRPr lang="en-US" altLang="zh-CN" b="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ChangeArrowheads="1" noTextEdit="1"/>
          </p:cNvSpPr>
          <p:nvPr>
            <p:ph type="sldImg"/>
          </p:nvPr>
        </p:nvSpPr>
        <p:spPr>
          <a:xfrm>
            <a:off x="381000" y="685800"/>
            <a:ext cx="6096000" cy="3429000"/>
          </a:xfrm>
        </p:spPr>
      </p:sp>
      <p:sp>
        <p:nvSpPr>
          <p:cNvPr id="208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线粒体与胞质中的磷酸甘油脱氢酶为同工酶，两者不同在于线粒体内的酶是以</a:t>
            </a:r>
            <a:r>
              <a:rPr lang="en-US" altLang="zh-CN" dirty="0">
                <a:latin typeface="Arial" panose="020B0604020202020204" pitchFamily="34" charset="0"/>
              </a:rPr>
              <a:t>FAD</a:t>
            </a:r>
            <a:r>
              <a:rPr lang="zh-CN" altLang="en-US" dirty="0">
                <a:latin typeface="Arial" panose="020B0604020202020204" pitchFamily="34" charset="0"/>
              </a:rPr>
              <a:t>为辅基的脱氢酶，而不是</a:t>
            </a:r>
            <a:r>
              <a:rPr lang="en-US" altLang="zh-CN" dirty="0">
                <a:latin typeface="Arial" panose="020B0604020202020204" pitchFamily="34" charset="0"/>
              </a:rPr>
              <a:t>NAD</a:t>
            </a:r>
            <a:r>
              <a:rPr lang="en-US" altLang="zh-CN" baseline="30000" dirty="0">
                <a:latin typeface="Arial" panose="020B0604020202020204" pitchFamily="34" charset="0"/>
              </a:rPr>
              <a:t>+</a:t>
            </a:r>
            <a:endParaRPr lang="en-US" altLang="zh-CN" baseline="30000" dirty="0">
              <a:latin typeface="Arial" panose="020B0604020202020204" pitchFamily="34" charset="0"/>
            </a:endParaRPr>
          </a:p>
        </p:txBody>
      </p:sp>
      <p:sp>
        <p:nvSpPr>
          <p:cNvPr id="208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82A2B84-CAC6-47B9-94CC-E569D9F2FDB2}" type="slidenum">
              <a:rPr lang="zh-CN" altLang="en-US" b="0" smtClean="0"/>
            </a:fld>
            <a:endParaRPr lang="en-US" altLang="zh-CN" b="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ChangeArrowheads="1" noTextEdit="1"/>
          </p:cNvSpPr>
          <p:nvPr>
            <p:ph type="sldImg"/>
          </p:nvPr>
        </p:nvSpPr>
        <p:spPr>
          <a:xfrm>
            <a:off x="381000" y="685800"/>
            <a:ext cx="6096000" cy="3429000"/>
          </a:xfrm>
        </p:spPr>
      </p:sp>
      <p:sp>
        <p:nvSpPr>
          <p:cNvPr id="210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答案：</a:t>
            </a:r>
            <a:r>
              <a:rPr lang="en-US" altLang="zh-CN" dirty="0">
                <a:latin typeface="Arial" panose="020B0604020202020204" pitchFamily="34" charset="0"/>
              </a:rPr>
              <a:t>12.5</a:t>
            </a:r>
            <a:r>
              <a:rPr lang="zh-CN" altLang="en-US" dirty="0">
                <a:latin typeface="Arial" panose="020B0604020202020204" pitchFamily="34" charset="0"/>
              </a:rPr>
              <a:t>个</a:t>
            </a:r>
            <a:r>
              <a:rPr lang="en-US" altLang="zh-CN" dirty="0">
                <a:latin typeface="Arial" panose="020B0604020202020204" pitchFamily="34" charset="0"/>
              </a:rPr>
              <a:t>ATP</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胞质中，苹果酸酶的辅酶还可以是</a:t>
            </a:r>
            <a:r>
              <a:rPr lang="en-US" altLang="zh-CN" dirty="0">
                <a:latin typeface="Arial" panose="020B0604020202020204" pitchFamily="34" charset="0"/>
              </a:rPr>
              <a:t>NADP </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21094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D60F51F4-7FF7-4990-922F-EB7927B15950}" type="slidenum">
              <a:rPr lang="zh-CN" altLang="en-US" b="0" smtClean="0"/>
            </a:fld>
            <a:endParaRPr lang="en-US" altLang="zh-CN" b="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ChangeArrowheads="1" noTextEdit="1"/>
          </p:cNvSpPr>
          <p:nvPr>
            <p:ph type="sldImg"/>
          </p:nvPr>
        </p:nvSpPr>
        <p:spPr>
          <a:xfrm>
            <a:off x="381000" y="685800"/>
            <a:ext cx="6096000" cy="3429000"/>
          </a:xfrm>
        </p:spPr>
      </p:sp>
      <p:sp>
        <p:nvSpPr>
          <p:cNvPr id="2150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一分子谷氨酸氧化产生</a:t>
            </a:r>
            <a:r>
              <a:rPr lang="en-US" altLang="zh-CN" dirty="0">
                <a:latin typeface="Arial" panose="020B0604020202020204" pitchFamily="34" charset="0"/>
              </a:rPr>
              <a:t>22.5</a:t>
            </a:r>
            <a:r>
              <a:rPr lang="zh-CN" altLang="en-US" dirty="0">
                <a:latin typeface="Arial" panose="020B0604020202020204" pitchFamily="34" charset="0"/>
              </a:rPr>
              <a:t>个</a:t>
            </a:r>
            <a:r>
              <a:rPr lang="en-US" altLang="zh-CN" dirty="0">
                <a:latin typeface="Arial" panose="020B0604020202020204" pitchFamily="34" charset="0"/>
              </a:rPr>
              <a:t>ATP   (</a:t>
            </a:r>
            <a:r>
              <a:rPr lang="zh-CN" altLang="en-US" dirty="0">
                <a:latin typeface="Arial" panose="020B0604020202020204" pitchFamily="34" charset="0"/>
              </a:rPr>
              <a:t>暂不考虑</a:t>
            </a:r>
            <a:r>
              <a:rPr lang="en-US" altLang="zh-CN" dirty="0">
                <a:latin typeface="Arial" panose="020B0604020202020204" pitchFamily="34" charset="0"/>
              </a:rPr>
              <a:t>NH</a:t>
            </a:r>
            <a:r>
              <a:rPr lang="en-US" altLang="zh-CN" baseline="-25000" dirty="0">
                <a:latin typeface="Arial" panose="020B0604020202020204" pitchFamily="34" charset="0"/>
              </a:rPr>
              <a:t>3</a:t>
            </a:r>
            <a:r>
              <a:rPr lang="zh-CN" altLang="en-US" dirty="0">
                <a:latin typeface="Arial" panose="020B0604020202020204" pitchFamily="34" charset="0"/>
              </a:rPr>
              <a:t>的去向）（参考 氨基酸代谢）</a:t>
            </a:r>
            <a:endParaRPr lang="zh-CN" altLang="en-US" dirty="0">
              <a:latin typeface="Arial" panose="020B0604020202020204" pitchFamily="34" charset="0"/>
            </a:endParaRPr>
          </a:p>
          <a:p>
            <a:endParaRPr lang="en-US" altLang="zh-CN" dirty="0">
              <a:latin typeface="Arial" panose="020B0604020202020204" pitchFamily="34" charset="0"/>
            </a:endParaRPr>
          </a:p>
        </p:txBody>
      </p:sp>
      <p:sp>
        <p:nvSpPr>
          <p:cNvPr id="2150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5EE2238-4231-4EB3-ABFC-F8AF6CE71B64}" type="slidenum">
              <a:rPr lang="zh-CN" altLang="en-US" b="0" smtClean="0"/>
            </a:fld>
            <a:endParaRPr lang="en-US" altLang="zh-CN" b="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Rot="1" noChangeAspect="1" noChangeArrowheads="1" noTextEdit="1"/>
          </p:cNvSpPr>
          <p:nvPr>
            <p:ph type="sldImg"/>
          </p:nvPr>
        </p:nvSpPr>
        <p:spPr>
          <a:xfrm>
            <a:off x="381000" y="685800"/>
            <a:ext cx="6096000" cy="3429000"/>
          </a:xfrm>
        </p:spPr>
      </p:sp>
      <p:sp>
        <p:nvSpPr>
          <p:cNvPr id="2170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还有电子传递和氧化磷酸化的影响 </a:t>
            </a:r>
            <a:endParaRPr lang="zh-CN" altLang="en-US" dirty="0">
              <a:latin typeface="Arial" panose="020B0604020202020204" pitchFamily="34" charset="0"/>
            </a:endParaRPr>
          </a:p>
          <a:p>
            <a:endParaRPr lang="en-US" altLang="zh-CN" dirty="0">
              <a:latin typeface="Arial"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ChangeArrowheads="1" noTextEdit="1"/>
          </p:cNvSpPr>
          <p:nvPr>
            <p:ph type="sldImg"/>
          </p:nvPr>
        </p:nvSpPr>
        <p:spPr>
          <a:xfrm>
            <a:off x="381000" y="685800"/>
            <a:ext cx="6096000" cy="3429000"/>
          </a:xfrm>
        </p:spPr>
      </p:sp>
      <p:sp>
        <p:nvSpPr>
          <p:cNvPr id="2191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别构激活剂 ：</a:t>
            </a:r>
            <a:r>
              <a:rPr lang="en-US" altLang="zh-CN" dirty="0">
                <a:latin typeface="Arial" panose="020B0604020202020204" pitchFamily="34" charset="0"/>
              </a:rPr>
              <a:t>AMP</a:t>
            </a:r>
            <a:r>
              <a:rPr lang="zh-CN" altLang="en-US" dirty="0">
                <a:latin typeface="Arial" panose="020B0604020202020204" pitchFamily="34" charset="0"/>
              </a:rPr>
              <a:t>、</a:t>
            </a:r>
            <a:r>
              <a:rPr lang="en-US" altLang="zh-CN" dirty="0">
                <a:latin typeface="Arial" panose="020B0604020202020204" pitchFamily="34" charset="0"/>
              </a:rPr>
              <a:t>ADP</a:t>
            </a:r>
            <a:r>
              <a:rPr lang="zh-CN" altLang="en-US" dirty="0">
                <a:latin typeface="Arial" panose="020B0604020202020204" pitchFamily="34" charset="0"/>
              </a:rPr>
              <a:t>、</a:t>
            </a:r>
            <a:r>
              <a:rPr lang="en-US" altLang="zh-CN" dirty="0">
                <a:latin typeface="Arial" panose="020B0604020202020204" pitchFamily="34" charset="0"/>
              </a:rPr>
              <a:t>NAD</a:t>
            </a:r>
            <a:r>
              <a:rPr lang="en-US" altLang="zh-CN" baseline="30000" dirty="0">
                <a:latin typeface="Arial" panose="020B0604020202020204" pitchFamily="34" charset="0"/>
              </a:rPr>
              <a:t>+</a:t>
            </a:r>
            <a:endParaRPr lang="en-US" altLang="zh-CN" baseline="30000" dirty="0">
              <a:latin typeface="Arial" panose="020B0604020202020204" pitchFamily="34" charset="0"/>
            </a:endParaRPr>
          </a:p>
          <a:p>
            <a:r>
              <a:rPr lang="zh-CN" altLang="en-US" dirty="0">
                <a:latin typeface="Arial" panose="020B0604020202020204" pitchFamily="34" charset="0"/>
              </a:rPr>
              <a:t>别构抑制剂 ：乙酰</a:t>
            </a:r>
            <a:r>
              <a:rPr lang="en-US" altLang="zh-CN" dirty="0">
                <a:latin typeface="Arial" panose="020B0604020202020204" pitchFamily="34" charset="0"/>
              </a:rPr>
              <a:t>CoA</a:t>
            </a:r>
            <a:r>
              <a:rPr lang="zh-CN" altLang="en-US" dirty="0">
                <a:latin typeface="Arial" panose="020B0604020202020204" pitchFamily="34" charset="0"/>
              </a:rPr>
              <a:t>、</a:t>
            </a:r>
            <a:r>
              <a:rPr lang="en-US" altLang="zh-CN" dirty="0">
                <a:latin typeface="Arial" panose="020B0604020202020204" pitchFamily="34" charset="0"/>
              </a:rPr>
              <a:t>NADH</a:t>
            </a:r>
            <a:r>
              <a:rPr lang="zh-CN" altLang="en-US" dirty="0">
                <a:latin typeface="Arial" panose="020B0604020202020204" pitchFamily="34" charset="0"/>
              </a:rPr>
              <a:t>、 </a:t>
            </a:r>
            <a:r>
              <a:rPr lang="en-US" altLang="zh-CN" dirty="0">
                <a:latin typeface="Arial" panose="020B0604020202020204" pitchFamily="34" charset="0"/>
              </a:rPr>
              <a:t>ATP </a:t>
            </a:r>
            <a:endParaRPr lang="en-US" altLang="zh-CN" dirty="0">
              <a:latin typeface="Arial" panose="020B0604020202020204" pitchFamily="34" charset="0"/>
            </a:endParaRPr>
          </a:p>
          <a:p>
            <a:r>
              <a:rPr lang="en-US" altLang="zh-CN" dirty="0">
                <a:latin typeface="Arial" panose="020B0604020202020204" pitchFamily="34" charset="0"/>
              </a:rPr>
              <a:t> </a:t>
            </a:r>
            <a:endParaRPr lang="zh-CN" altLang="en-US" dirty="0">
              <a:latin typeface="Arial" panose="020B0604020202020204" pitchFamily="34" charset="0"/>
            </a:endParaRPr>
          </a:p>
        </p:txBody>
      </p:sp>
      <p:sp>
        <p:nvSpPr>
          <p:cNvPr id="2191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43AC84C4-C2A4-44FB-B881-75F7A55E08E2}" type="slidenum">
              <a:rPr lang="zh-CN" altLang="en-US" b="0" smtClean="0"/>
            </a:fld>
            <a:endParaRPr lang="en-US" altLang="zh-CN" b="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ChangeArrowheads="1" noTextEdit="1"/>
          </p:cNvSpPr>
          <p:nvPr>
            <p:ph type="sldImg"/>
          </p:nvPr>
        </p:nvSpPr>
        <p:spPr>
          <a:xfrm>
            <a:off x="381000" y="685800"/>
            <a:ext cx="6096000" cy="3429000"/>
          </a:xfrm>
        </p:spPr>
      </p:sp>
      <p:sp>
        <p:nvSpPr>
          <p:cNvPr id="2211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TCA</a:t>
            </a:r>
            <a:r>
              <a:rPr lang="zh-CN" altLang="en-US" dirty="0">
                <a:latin typeface="Arial" panose="020B0604020202020204" pitchFamily="34" charset="0"/>
              </a:rPr>
              <a:t> </a:t>
            </a:r>
            <a:r>
              <a:rPr lang="en-US" altLang="zh-CN" dirty="0">
                <a:latin typeface="Arial" panose="020B0604020202020204" pitchFamily="34" charset="0"/>
              </a:rPr>
              <a:t>cycle</a:t>
            </a:r>
            <a:r>
              <a:rPr lang="zh-CN" altLang="en-US" dirty="0">
                <a:latin typeface="Arial" panose="020B0604020202020204" pitchFamily="34" charset="0"/>
              </a:rPr>
              <a:t>中，</a:t>
            </a:r>
            <a:r>
              <a:rPr lang="zh-CN" altLang="en-US" b="1" dirty="0">
                <a:latin typeface="Arial" panose="020B0604020202020204" pitchFamily="34" charset="0"/>
              </a:rPr>
              <a:t>酶的活性主要由底物供应情况及产物浓度来调节。 </a:t>
            </a:r>
            <a:endParaRPr lang="en-US" altLang="zh-CN" b="1"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三个关键酶中</a:t>
            </a:r>
            <a:r>
              <a:rPr lang="zh-CN" altLang="en-US" b="1" dirty="0">
                <a:latin typeface="Arial" panose="020B0604020202020204" pitchFamily="34" charset="0"/>
              </a:rPr>
              <a:t>最重要是第二个异柠檬酸脱氢酶</a:t>
            </a:r>
            <a:endParaRPr lang="zh-CN" altLang="en-US" b="1" dirty="0">
              <a:latin typeface="Arial" panose="020B0604020202020204" pitchFamily="34" charset="0"/>
            </a:endParaRPr>
          </a:p>
          <a:p>
            <a:endParaRPr lang="en-US" altLang="zh-CN" dirty="0">
              <a:latin typeface="Arial" panose="020B0604020202020204" pitchFamily="34" charset="0"/>
            </a:endParaRPr>
          </a:p>
          <a:p>
            <a:r>
              <a:rPr lang="zh-CN" altLang="en-US" b="1" dirty="0">
                <a:latin typeface="Arial" panose="020B0604020202020204" pitchFamily="34" charset="0"/>
              </a:rPr>
              <a:t>柠檬酸的含量与亚细胞分布可整合调节糖代谢和脂代谢 </a:t>
            </a:r>
            <a:endParaRPr lang="en-US" altLang="zh-CN" b="1" dirty="0">
              <a:latin typeface="Arial" panose="020B0604020202020204" pitchFamily="34" charset="0"/>
            </a:endParaRPr>
          </a:p>
          <a:p>
            <a:r>
              <a:rPr lang="zh-CN" altLang="en-US" dirty="0">
                <a:latin typeface="Arial" panose="020B0604020202020204" pitchFamily="34" charset="0"/>
              </a:rPr>
              <a:t>当糖分解产能不足时，线粒体内生成的柠檬酸适量，可继续进行三羧酸循环分解供能。而当糖分解产能过盛时，线粒体内生成过量的柠檬酸，通过柠檬酸</a:t>
            </a:r>
            <a:r>
              <a:rPr lang="en-US" altLang="zh-CN" dirty="0">
                <a:latin typeface="Arial" panose="020B0604020202020204" pitchFamily="34" charset="0"/>
              </a:rPr>
              <a:t>- </a:t>
            </a:r>
            <a:r>
              <a:rPr lang="zh-CN" altLang="en-US" dirty="0">
                <a:latin typeface="Arial" panose="020B0604020202020204" pitchFamily="34" charset="0"/>
              </a:rPr>
              <a:t>丙酮酸循环转移至细胞质，一方面裂解释出乙酰</a:t>
            </a:r>
            <a:r>
              <a:rPr lang="en-US" altLang="zh-CN" dirty="0">
                <a:latin typeface="Arial" panose="020B0604020202020204" pitchFamily="34" charset="0"/>
              </a:rPr>
              <a:t>CoA </a:t>
            </a:r>
            <a:r>
              <a:rPr lang="zh-CN" altLang="en-US" dirty="0">
                <a:latin typeface="Arial" panose="020B0604020202020204" pitchFamily="34" charset="0"/>
              </a:rPr>
              <a:t>作为合成原料，另一方面柠檬酸还可激活脂肪酸合成的关键酶，从而促进脂质合成（见第八章）。因此，</a:t>
            </a:r>
            <a:r>
              <a:rPr lang="zh-CN" altLang="en-US" b="1" dirty="0">
                <a:latin typeface="Arial" panose="020B0604020202020204" pitchFamily="34" charset="0"/>
              </a:rPr>
              <a:t>柠檬酸是协同调节糖代谢和脂代谢的枢纽物质</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2211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BF7CE35-32F0-4D95-B748-8B1D98ACD72C}" type="slidenum">
              <a:rPr lang="zh-CN" altLang="en-US" b="0" smtClean="0"/>
            </a:fld>
            <a:endParaRPr lang="en-US" altLang="zh-CN" b="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AMP </a:t>
            </a:r>
            <a:r>
              <a:rPr lang="zh-CN" altLang="en-US" dirty="0"/>
              <a:t>的浓度变化是更敏感的细胞能量状态指示剂。通常细胞内</a:t>
            </a:r>
            <a:r>
              <a:rPr lang="en-US" altLang="zh-CN" dirty="0"/>
              <a:t>ATP </a:t>
            </a:r>
            <a:r>
              <a:rPr lang="zh-CN" altLang="en-US" dirty="0"/>
              <a:t>的浓度约为</a:t>
            </a:r>
            <a:r>
              <a:rPr lang="en-US" altLang="zh-CN" dirty="0"/>
              <a:t>AMP </a:t>
            </a:r>
            <a:r>
              <a:rPr lang="zh-CN" altLang="en-US" dirty="0"/>
              <a:t>的</a:t>
            </a:r>
            <a:r>
              <a:rPr lang="en-US" altLang="zh-CN" dirty="0"/>
              <a:t>50 </a:t>
            </a:r>
            <a:r>
              <a:rPr lang="zh-CN" altLang="en-US" dirty="0"/>
              <a:t>倍。而体内</a:t>
            </a:r>
            <a:r>
              <a:rPr lang="en-US" altLang="zh-CN" dirty="0"/>
              <a:t>AMP </a:t>
            </a:r>
            <a:r>
              <a:rPr lang="zh-CN" altLang="en-US" dirty="0"/>
              <a:t>的产生分为两步：①</a:t>
            </a:r>
            <a:r>
              <a:rPr lang="en-US" altLang="zh-CN" dirty="0"/>
              <a:t>ATP </a:t>
            </a:r>
            <a:r>
              <a:rPr lang="zh-CN" altLang="en-US" dirty="0"/>
              <a:t>水解生成</a:t>
            </a:r>
            <a:r>
              <a:rPr lang="en-US" altLang="zh-CN" dirty="0"/>
              <a:t>ADP</a:t>
            </a:r>
            <a:r>
              <a:rPr lang="zh-CN" altLang="en-US" dirty="0"/>
              <a:t>；②</a:t>
            </a:r>
            <a:r>
              <a:rPr lang="en-US" altLang="zh-CN" dirty="0"/>
              <a:t>ADP </a:t>
            </a:r>
            <a:r>
              <a:rPr lang="zh-CN" altLang="en-US" dirty="0"/>
              <a:t>被腺苷酸激酶催化生成</a:t>
            </a:r>
            <a:r>
              <a:rPr lang="en-US" altLang="zh-CN" dirty="0"/>
              <a:t>AMP</a:t>
            </a:r>
            <a:r>
              <a:rPr lang="zh-CN" altLang="en-US" dirty="0"/>
              <a:t>（</a:t>
            </a:r>
            <a:r>
              <a:rPr lang="en-US" altLang="zh-CN" dirty="0"/>
              <a:t>2ADP→ATP+AMP</a:t>
            </a:r>
            <a:r>
              <a:rPr lang="zh-CN" altLang="en-US" dirty="0"/>
              <a:t>）。当机体耗能后，</a:t>
            </a:r>
            <a:r>
              <a:rPr lang="en-US" altLang="zh-CN" dirty="0"/>
              <a:t>ATP </a:t>
            </a:r>
            <a:r>
              <a:rPr lang="zh-CN" altLang="en-US" dirty="0"/>
              <a:t>的浓度变化仅为</a:t>
            </a:r>
            <a:r>
              <a:rPr lang="en-US" altLang="zh-CN" dirty="0"/>
              <a:t>10%</a:t>
            </a:r>
            <a:r>
              <a:rPr lang="zh-CN" altLang="en-US" dirty="0"/>
              <a:t>，而</a:t>
            </a:r>
            <a:r>
              <a:rPr lang="en-US" altLang="zh-CN" dirty="0"/>
              <a:t>AMP </a:t>
            </a:r>
            <a:r>
              <a:rPr lang="zh-CN" altLang="en-US" dirty="0"/>
              <a:t>浓度的变化幅度则高达</a:t>
            </a:r>
            <a:r>
              <a:rPr lang="en-US" altLang="zh-CN" dirty="0"/>
              <a:t>600%</a:t>
            </a:r>
            <a:r>
              <a:rPr lang="zh-CN" altLang="en-US" dirty="0"/>
              <a:t>。由此不难理解，</a:t>
            </a:r>
            <a:r>
              <a:rPr lang="en-US" altLang="zh-CN" dirty="0"/>
              <a:t>AMP </a:t>
            </a:r>
            <a:r>
              <a:rPr lang="zh-CN" altLang="en-US" dirty="0"/>
              <a:t>对体内诸多代谢反应发挥更有效的调节作用。</a:t>
            </a:r>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ChangeArrowheads="1" noTextEdit="1"/>
          </p:cNvSpPr>
          <p:nvPr>
            <p:ph type="sldImg"/>
          </p:nvPr>
        </p:nvSpPr>
        <p:spPr>
          <a:xfrm>
            <a:off x="381000" y="685800"/>
            <a:ext cx="6096000" cy="3429000"/>
          </a:xfrm>
        </p:spPr>
      </p:sp>
      <p:sp>
        <p:nvSpPr>
          <p:cNvPr id="2252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
        <p:nvSpPr>
          <p:cNvPr id="2252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474A6A7-2F65-4499-B328-1B225AB0F977}" type="slidenum">
              <a:rPr lang="zh-CN" altLang="en-US" b="0" smtClean="0"/>
            </a:fld>
            <a:endParaRPr lang="en-US" altLang="zh-CN" b="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ChangeArrowheads="1" noTextEdit="1"/>
          </p:cNvSpPr>
          <p:nvPr>
            <p:ph type="sldImg"/>
          </p:nvPr>
        </p:nvSpPr>
        <p:spPr>
          <a:xfrm>
            <a:off x="381000" y="685800"/>
            <a:ext cx="6096000" cy="3429000"/>
          </a:xfrm>
        </p:spPr>
      </p:sp>
      <p:sp>
        <p:nvSpPr>
          <p:cNvPr id="2273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latin typeface="Arial" panose="020B0604020202020204" pitchFamily="34" charset="0"/>
              </a:rPr>
              <a:t>Warburg effect </a:t>
            </a:r>
            <a:r>
              <a:rPr lang="zh-CN" altLang="en-US" dirty="0">
                <a:latin typeface="Arial" panose="020B0604020202020204" pitchFamily="34" charset="0"/>
              </a:rPr>
              <a:t>中文中也有译为</a:t>
            </a:r>
            <a:r>
              <a:rPr lang="zh-CN" altLang="en-US" dirty="0"/>
              <a:t>瓦伯格效应，  </a:t>
            </a:r>
            <a:r>
              <a:rPr lang="zh-CN" altLang="en-US" dirty="0">
                <a:latin typeface="Arial" panose="020B0604020202020204" pitchFamily="34" charset="0"/>
              </a:rPr>
              <a:t>亦称为 </a:t>
            </a:r>
            <a:r>
              <a:rPr lang="zh-CN" altLang="en-US" b="1" dirty="0">
                <a:latin typeface="Arial" panose="020B0604020202020204" pitchFamily="34" charset="0"/>
              </a:rPr>
              <a:t>有氧糖酵解 </a:t>
            </a:r>
            <a:r>
              <a:rPr lang="en-US" altLang="zh-CN" b="1" dirty="0">
                <a:latin typeface="Arial" panose="020B0604020202020204" pitchFamily="34" charset="0"/>
              </a:rPr>
              <a:t>aerobic glycolysis</a:t>
            </a:r>
            <a:endParaRPr lang="en-US" altLang="zh-CN" b="1" dirty="0">
              <a:latin typeface="Arial" panose="020B0604020202020204" pitchFamily="34" charset="0"/>
            </a:endParaRPr>
          </a:p>
          <a:p>
            <a:endParaRPr lang="en-US" altLang="zh-CN" dirty="0">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latin typeface="Arial" panose="020B0604020202020204" pitchFamily="34" charset="0"/>
              </a:rPr>
              <a:t>多种肿瘤组织摄取葡萄糖的量及糖酵解的强度远超正常组织（可达</a:t>
            </a:r>
            <a:r>
              <a:rPr lang="en-US" altLang="zh-CN" dirty="0">
                <a:latin typeface="Arial" panose="020B0604020202020204" pitchFamily="34" charset="0"/>
              </a:rPr>
              <a:t>10</a:t>
            </a:r>
            <a:r>
              <a:rPr lang="zh-CN" altLang="en-US" dirty="0">
                <a:latin typeface="Arial" panose="020B0604020202020204" pitchFamily="34" charset="0"/>
              </a:rPr>
              <a:t>倍以上） ，针对于己糖激酶等糖酵解中酶的抑制剂药物已在研发中，以治疗肿瘤。 </a:t>
            </a:r>
            <a:endParaRPr lang="en-US" altLang="zh-CN" dirty="0">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latin typeface="Arial" panose="020B0604020202020204" pitchFamily="34" charset="0"/>
            </a:endParaRPr>
          </a:p>
          <a:p>
            <a:r>
              <a:rPr lang="zh-CN" altLang="en-US" dirty="0">
                <a:latin typeface="Arial" panose="020B0604020202020204" pitchFamily="34" charset="0"/>
              </a:rPr>
              <a:t>癌细胞快速生长时，一旦缺氧，癌细胞内的缺氧诱导因子</a:t>
            </a:r>
            <a:r>
              <a:rPr lang="en-US" altLang="zh-CN" dirty="0">
                <a:latin typeface="Arial" panose="020B0604020202020204" pitchFamily="34" charset="0"/>
              </a:rPr>
              <a:t>HIF</a:t>
            </a:r>
            <a:r>
              <a:rPr lang="zh-CN" altLang="en-US" dirty="0">
                <a:latin typeface="Arial" panose="020B0604020202020204" pitchFamily="34" charset="0"/>
              </a:rPr>
              <a:t>（</a:t>
            </a:r>
            <a:r>
              <a:rPr lang="en-US" altLang="zh-CN" dirty="0">
                <a:latin typeface="Arial" panose="020B0604020202020204" pitchFamily="34" charset="0"/>
              </a:rPr>
              <a:t>hypoxia inducible factor)</a:t>
            </a:r>
            <a:r>
              <a:rPr lang="zh-CN" altLang="en-US" dirty="0">
                <a:latin typeface="Arial" panose="020B0604020202020204" pitchFamily="34" charset="0"/>
              </a:rPr>
              <a:t>被激活，它是个转录因子，可促进若干相关基因的表达，包括糖酵解中的酶以及葡萄糖转运体，从而增强糖酵解。</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Dang CV. Links between metabolism and cancer.      Genes Dev 2012;26(9):877 90</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2273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AB914220-A98C-49E2-AE3E-34C9DC410471}" type="slidenum">
              <a:rPr lang="zh-CN" altLang="en-US" b="0" smtClean="0"/>
            </a:fld>
            <a:endParaRPr lang="en-US" altLang="zh-CN" b="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临床上</a:t>
            </a:r>
            <a:r>
              <a:rPr lang="en-US" altLang="zh-CN" dirty="0"/>
              <a:t>PET/CT</a:t>
            </a:r>
            <a:r>
              <a:rPr lang="zh-CN" altLang="en-US" b="0" dirty="0"/>
              <a:t>检测有多种应用，尤其适合早期检测有无肿瘤以及肿瘤转移情况</a:t>
            </a:r>
            <a:r>
              <a:rPr lang="zh-CN" altLang="en-US" dirty="0"/>
              <a:t>。 给患者注射</a:t>
            </a:r>
            <a:r>
              <a:rPr lang="zh-CN" altLang="en-US" b="1" dirty="0"/>
              <a:t>氟代脱氧葡萄糖（简称</a:t>
            </a:r>
            <a:r>
              <a:rPr lang="en-US" altLang="zh-CN" b="1" dirty="0" err="1"/>
              <a:t>FdG</a:t>
            </a:r>
            <a:r>
              <a:rPr lang="zh-CN" altLang="en-US" b="1" dirty="0"/>
              <a:t>）</a:t>
            </a:r>
            <a:r>
              <a:rPr lang="zh-CN" altLang="en-US" dirty="0"/>
              <a:t>后进行检测。因恶性肿瘤组织中葡萄糖代谢旺盛，聚集较多，这些特点能通过图像反映出来，从而可对病变进行诊断和分析。</a:t>
            </a:r>
            <a:endParaRPr lang="en-US" altLang="zh-CN" dirty="0"/>
          </a:p>
          <a:p>
            <a:endParaRPr lang="en-US" altLang="zh-CN" dirty="0"/>
          </a:p>
          <a:p>
            <a:r>
              <a:rPr lang="en-US" altLang="zh-CN" dirty="0"/>
              <a:t>FIGURE 3 Detection of cancerous tissue by PET (positron emission tomography).  The adult male patient had undergone surgical removal of a primary skin cancer(malignant melanoma). The image on the </a:t>
            </a:r>
            <a:r>
              <a:rPr lang="en-US" altLang="zh-CN" b="1" dirty="0"/>
              <a:t>left, </a:t>
            </a:r>
            <a:r>
              <a:rPr lang="en-US" altLang="zh-CN" dirty="0"/>
              <a:t>obtained by whole-body computed tomography </a:t>
            </a:r>
            <a:r>
              <a:rPr lang="en-US" altLang="zh-CN" b="1" dirty="0"/>
              <a:t>(CT scan), </a:t>
            </a:r>
            <a:r>
              <a:rPr lang="en-US" altLang="zh-CN" dirty="0"/>
              <a:t>shows the location of the soft</a:t>
            </a:r>
            <a:r>
              <a:rPr lang="zh-CN" altLang="en-US" dirty="0"/>
              <a:t> </a:t>
            </a:r>
            <a:r>
              <a:rPr lang="en-US" altLang="zh-CN" dirty="0"/>
              <a:t>tissues and bones. </a:t>
            </a:r>
            <a:r>
              <a:rPr lang="en-US" altLang="zh-CN" b="1" dirty="0"/>
              <a:t>The central panel is a PET scan </a:t>
            </a:r>
            <a:r>
              <a:rPr lang="en-US" altLang="zh-CN" dirty="0"/>
              <a:t>after the patient had ingested 18F-labeled 2-fluoro-2-deoxyglucose (</a:t>
            </a:r>
            <a:r>
              <a:rPr lang="en-US" altLang="zh-CN" dirty="0" err="1"/>
              <a:t>FdG</a:t>
            </a:r>
            <a:r>
              <a:rPr lang="en-US" altLang="zh-CN" dirty="0"/>
              <a:t>). Dark spots indicate regions of high glucose utilization. As expected, the brain and bladder are heavily labeled — the brain because it uses most of the glucose consumed in the body, and the bladder because the </a:t>
            </a:r>
            <a:r>
              <a:rPr lang="en-US" altLang="zh-CN" b="1" baseline="30000" dirty="0"/>
              <a:t>18</a:t>
            </a:r>
            <a:r>
              <a:rPr lang="en-US" altLang="zh-CN" b="1" dirty="0"/>
              <a:t>F</a:t>
            </a:r>
            <a:r>
              <a:rPr lang="en-US" altLang="zh-CN" dirty="0"/>
              <a:t>-labeled 6-phospho-FdG is excreted in the urine.  When the intensity of the label in the PET scan is translated into false color (the intensity increases from green to yellow to red) and the image is superimposed on the CT scan, </a:t>
            </a:r>
            <a:r>
              <a:rPr lang="en-US" altLang="zh-CN" b="1" dirty="0"/>
              <a:t>the fused image(right) </a:t>
            </a:r>
            <a:r>
              <a:rPr lang="en-US" altLang="zh-CN" dirty="0"/>
              <a:t>reveals cancer in the bones of the upper spine, in the liver, and in some regions of muscle, all the result of cancer spreading from the primary malignant melanoma.</a:t>
            </a:r>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ChangeArrowheads="1" noTextEdit="1"/>
          </p:cNvSpPr>
          <p:nvPr>
            <p:ph type="sldImg"/>
          </p:nvPr>
        </p:nvSpPr>
        <p:spPr>
          <a:xfrm>
            <a:off x="381000" y="685800"/>
            <a:ext cx="6096000" cy="3429000"/>
          </a:xfrm>
        </p:spPr>
      </p:sp>
      <p:sp>
        <p:nvSpPr>
          <p:cNvPr id="2293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293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59B0447-F197-4C7C-A2A6-B9DA247B4D9E}" type="slidenum">
              <a:rPr lang="zh-CN" altLang="en-US" b="0" smtClean="0"/>
            </a:fld>
            <a:endParaRPr lang="en-US" altLang="zh-CN" b="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ChangeArrowheads="1" noTextEdit="1"/>
          </p:cNvSpPr>
          <p:nvPr>
            <p:ph type="sldImg"/>
          </p:nvPr>
        </p:nvSpPr>
        <p:spPr>
          <a:xfrm>
            <a:off x="381000" y="685800"/>
            <a:ext cx="6096000" cy="3429000"/>
          </a:xfrm>
        </p:spPr>
      </p:sp>
      <p:sp>
        <p:nvSpPr>
          <p:cNvPr id="2334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334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6B1286F-F8C4-45A3-85C0-36067E977141}" type="slidenum">
              <a:rPr lang="zh-CN" altLang="en-US" b="0" smtClean="0"/>
            </a:fld>
            <a:endParaRPr lang="en-US" altLang="zh-CN" b="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幻灯片图像占位符 1"/>
          <p:cNvSpPr>
            <a:spLocks noGrp="1" noRot="1" noChangeAspect="1" noChangeArrowheads="1" noTextEdit="1"/>
          </p:cNvSpPr>
          <p:nvPr>
            <p:ph type="sldImg"/>
          </p:nvPr>
        </p:nvSpPr>
        <p:spPr>
          <a:xfrm>
            <a:off x="381000" y="685800"/>
            <a:ext cx="6096000" cy="3429000"/>
          </a:xfrm>
        </p:spPr>
      </p:sp>
      <p:sp>
        <p:nvSpPr>
          <p:cNvPr id="2385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rPr>
              <a:t>G6PD</a:t>
            </a:r>
            <a:r>
              <a:rPr lang="zh-CN" altLang="en-US" dirty="0">
                <a:latin typeface="Arial" panose="020B0604020202020204" pitchFamily="34" charset="0"/>
              </a:rPr>
              <a:t>主要受</a:t>
            </a:r>
            <a:r>
              <a:rPr lang="en-US" altLang="zh-CN" dirty="0">
                <a:latin typeface="Arial" panose="020B0604020202020204" pitchFamily="34" charset="0"/>
              </a:rPr>
              <a:t>NADPH/NADP</a:t>
            </a:r>
            <a:r>
              <a:rPr lang="en-US" altLang="zh-CN" baseline="30000" dirty="0">
                <a:latin typeface="Arial" panose="020B0604020202020204" pitchFamily="34" charset="0"/>
              </a:rPr>
              <a:t>+</a:t>
            </a:r>
            <a:r>
              <a:rPr lang="en-US" altLang="zh-CN" dirty="0">
                <a:latin typeface="Arial" panose="020B0604020202020204" pitchFamily="34" charset="0"/>
              </a:rPr>
              <a:t> </a:t>
            </a:r>
            <a:r>
              <a:rPr lang="zh-CN" altLang="en-US" dirty="0">
                <a:latin typeface="Arial" panose="020B0604020202020204" pitchFamily="34" charset="0"/>
              </a:rPr>
              <a:t>的影响，比值低时被激活。</a:t>
            </a:r>
            <a:endParaRPr lang="en-US" altLang="zh-CN" dirty="0">
              <a:latin typeface="Arial" panose="020B0604020202020204" pitchFamily="34" charset="0"/>
            </a:endParaRPr>
          </a:p>
          <a:p>
            <a:pPr eaLnBrk="1" hangingPunct="1"/>
            <a:r>
              <a:rPr lang="zh-CN" altLang="en-US" dirty="0">
                <a:latin typeface="Arial" panose="020B0604020202020204" pitchFamily="34" charset="0"/>
              </a:rPr>
              <a:t>这一代谢途径的流量主要取决于细胞对</a:t>
            </a:r>
            <a:r>
              <a:rPr lang="en-US" altLang="zh-CN" dirty="0">
                <a:latin typeface="Arial" panose="020B0604020202020204" pitchFamily="34" charset="0"/>
              </a:rPr>
              <a:t>NADPH</a:t>
            </a:r>
            <a:r>
              <a:rPr lang="zh-CN" altLang="en-US" dirty="0">
                <a:latin typeface="Arial" panose="020B0604020202020204" pitchFamily="34" charset="0"/>
              </a:rPr>
              <a:t>的需求</a:t>
            </a:r>
            <a:endParaRPr lang="en-US" altLang="zh-CN" dirty="0">
              <a:latin typeface="Arial" panose="020B0604020202020204" pitchFamily="34" charset="0"/>
            </a:endParaRPr>
          </a:p>
          <a:p>
            <a:pPr eaLnBrk="1" hangingPunct="1"/>
            <a:r>
              <a:rPr lang="en-US" altLang="zh-CN" dirty="0">
                <a:latin typeface="Arial" panose="020B0604020202020204" pitchFamily="34" charset="0"/>
              </a:rPr>
              <a:t>Glucose-6-phosphate dehydrogenase is stimulated by its substrate G6P</a:t>
            </a:r>
            <a:r>
              <a:rPr lang="en-US" altLang="zh-CN" b="1" dirty="0">
                <a:latin typeface="Arial" panose="020B0604020202020204" pitchFamily="34" charset="0"/>
              </a:rPr>
              <a:t>.   The usual ratio of NADPH/NADP</a:t>
            </a:r>
            <a:r>
              <a:rPr lang="en-US" altLang="zh-CN" b="1" baseline="30000" dirty="0">
                <a:latin typeface="Arial" panose="020B0604020202020204" pitchFamily="34" charset="0"/>
              </a:rPr>
              <a:t>+</a:t>
            </a:r>
            <a:r>
              <a:rPr lang="en-US" altLang="zh-CN" b="1" dirty="0">
                <a:latin typeface="Arial" panose="020B0604020202020204" pitchFamily="34" charset="0"/>
              </a:rPr>
              <a:t> </a:t>
            </a:r>
            <a:r>
              <a:rPr lang="en-US" altLang="zh-CN" dirty="0">
                <a:latin typeface="Arial" panose="020B0604020202020204" pitchFamily="34" charset="0"/>
              </a:rPr>
              <a:t>in the cytosol of tissues engaged in </a:t>
            </a:r>
            <a:r>
              <a:rPr lang="en-US" altLang="zh-CN" dirty="0" err="1">
                <a:latin typeface="Arial" panose="020B0604020202020204" pitchFamily="34" charset="0"/>
              </a:rPr>
              <a:t>biosyntheses</a:t>
            </a:r>
            <a:r>
              <a:rPr lang="en-US" altLang="zh-CN" dirty="0">
                <a:latin typeface="Arial" panose="020B0604020202020204" pitchFamily="34" charset="0"/>
              </a:rPr>
              <a:t> is </a:t>
            </a:r>
            <a:r>
              <a:rPr lang="en-US" altLang="zh-CN" b="1" dirty="0">
                <a:latin typeface="Arial" panose="020B0604020202020204" pitchFamily="34" charset="0"/>
              </a:rPr>
              <a:t>about 100/1.   </a:t>
            </a:r>
            <a:r>
              <a:rPr lang="en-US" altLang="zh-CN" dirty="0">
                <a:latin typeface="Arial" panose="020B0604020202020204" pitchFamily="34" charset="0"/>
              </a:rPr>
              <a:t>Increased utilization of NADPH for fatty acid biosynthesis will dramatically increase the level of NADP</a:t>
            </a:r>
            <a:r>
              <a:rPr lang="en-US" altLang="zh-CN" baseline="30000" dirty="0">
                <a:latin typeface="Arial" panose="020B0604020202020204" pitchFamily="34" charset="0"/>
              </a:rPr>
              <a:t>+</a:t>
            </a:r>
            <a:r>
              <a:rPr lang="en-US" altLang="zh-CN" dirty="0">
                <a:latin typeface="Arial" panose="020B0604020202020204" pitchFamily="34" charset="0"/>
              </a:rPr>
              <a:t>, thus stimulating G6PD to produce more NADPH. </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p:txBody>
      </p:sp>
      <p:sp>
        <p:nvSpPr>
          <p:cNvPr id="2385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28A1E7C5-E0D7-473D-9031-3692FED2F71F}" type="slidenum">
              <a:rPr lang="zh-CN" altLang="en-US" b="0" smtClean="0"/>
            </a:fld>
            <a:endParaRPr lang="en-US" altLang="zh-CN" b="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a:xfrm>
            <a:off x="381000" y="685800"/>
            <a:ext cx="6096000" cy="3429000"/>
          </a:xfrm>
        </p:spPr>
      </p:sp>
      <p:sp>
        <p:nvSpPr>
          <p:cNvPr id="2406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rgbClr val="0000CC"/>
                </a:solidFill>
                <a:latin typeface="微软雅黑" panose="020B0503020204020204" pitchFamily="34" charset="-122"/>
                <a:ea typeface="微软雅黑" panose="020B0503020204020204" pitchFamily="34" charset="-122"/>
              </a:rPr>
              <a:t>转酮醇酶，转醛醇酶</a:t>
            </a:r>
            <a:endParaRPr lang="zh-CN" altLang="en-US" dirty="0">
              <a:solidFill>
                <a:srgbClr val="0000CC"/>
              </a:solidFill>
              <a:latin typeface="微软雅黑" panose="020B0503020204020204" pitchFamily="34" charset="-122"/>
              <a:ea typeface="微软雅黑" panose="020B0503020204020204" pitchFamily="34" charset="-122"/>
            </a:endParaRPr>
          </a:p>
          <a:p>
            <a:endParaRPr lang="zh-CN" altLang="en-US" dirty="0">
              <a:latin typeface="Arial" panose="020B0604020202020204"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p:cNvSpPr>
            <a:spLocks noGrp="1" noRot="1" noChangeAspect="1" noChangeArrowheads="1" noTextEdit="1"/>
          </p:cNvSpPr>
          <p:nvPr>
            <p:ph type="sldImg"/>
          </p:nvPr>
        </p:nvSpPr>
        <p:spPr>
          <a:xfrm>
            <a:off x="381000" y="685800"/>
            <a:ext cx="6096000" cy="3429000"/>
          </a:xfrm>
        </p:spPr>
      </p:sp>
      <p:sp>
        <p:nvSpPr>
          <p:cNvPr id="2426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基团转移反应全部为可逆反应，可从上往下，也可从下往上。 </a:t>
            </a:r>
            <a:endParaRPr lang="zh-CN" altLang="en-US"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endParaRPr lang="zh-CN" altLang="en-US" dirty="0">
              <a:latin typeface="Arial" panose="020B0604020202020204" pitchFamily="34" charset="0"/>
            </a:endParaRPr>
          </a:p>
        </p:txBody>
      </p:sp>
      <p:sp>
        <p:nvSpPr>
          <p:cNvPr id="2426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8C5C55B9-F514-4CBB-B76E-B56B57832946}" type="slidenum">
              <a:rPr lang="zh-CN" altLang="en-US" b="0" smtClean="0"/>
            </a:fld>
            <a:endParaRPr lang="en-US" altLang="zh-CN" b="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Rot="1" noChangeAspect="1" noChangeArrowheads="1" noTextEdit="1"/>
          </p:cNvSpPr>
          <p:nvPr>
            <p:ph type="sldImg"/>
          </p:nvPr>
        </p:nvSpPr>
        <p:spPr>
          <a:xfrm>
            <a:off x="381000" y="685800"/>
            <a:ext cx="6096000" cy="3429000"/>
          </a:xfrm>
        </p:spPr>
      </p:sp>
      <p:sp>
        <p:nvSpPr>
          <p:cNvPr id="2447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幻灯片图像占位符 1"/>
          <p:cNvSpPr>
            <a:spLocks noGrp="1" noRot="1" noChangeAspect="1" noChangeArrowheads="1" noTextEdit="1"/>
          </p:cNvSpPr>
          <p:nvPr>
            <p:ph type="sldImg"/>
          </p:nvPr>
        </p:nvSpPr>
        <p:spPr>
          <a:xfrm>
            <a:off x="381000" y="685800"/>
            <a:ext cx="6096000" cy="3429000"/>
          </a:xfrm>
        </p:spPr>
      </p:sp>
      <p:sp>
        <p:nvSpPr>
          <p:cNvPr id="2467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食物中的核糖可以被吸收，但量少，意义不大。   核糖基本自身合成。 </a:t>
            </a:r>
            <a:endParaRPr lang="zh-CN" altLang="en-US" dirty="0">
              <a:latin typeface="Arial" panose="020B0604020202020204" pitchFamily="34" charset="0"/>
            </a:endParaRPr>
          </a:p>
        </p:txBody>
      </p:sp>
      <p:sp>
        <p:nvSpPr>
          <p:cNvPr id="246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0A49078D-B0BF-4C62-8455-D21834A0A484}" type="slidenum">
              <a:rPr lang="zh-CN" altLang="en-US" b="0" smtClean="0"/>
            </a:fld>
            <a:endParaRPr lang="en-US" altLang="zh-CN" b="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幻灯片图像占位符 1"/>
          <p:cNvSpPr>
            <a:spLocks noGrp="1" noRot="1" noChangeAspect="1" noChangeArrowheads="1" noTextEdit="1"/>
          </p:cNvSpPr>
          <p:nvPr>
            <p:ph type="sldImg"/>
          </p:nvPr>
        </p:nvSpPr>
        <p:spPr>
          <a:xfrm>
            <a:off x="381000" y="685800"/>
            <a:ext cx="6096000" cy="3429000"/>
          </a:xfrm>
        </p:spPr>
      </p:sp>
      <p:sp>
        <p:nvSpPr>
          <p:cNvPr id="2488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肝细胞对</a:t>
            </a:r>
            <a:r>
              <a:rPr lang="en-US" altLang="zh-CN" dirty="0">
                <a:latin typeface="Arial" panose="020B0604020202020204" pitchFamily="34" charset="0"/>
              </a:rPr>
              <a:t>NADPH</a:t>
            </a:r>
            <a:r>
              <a:rPr lang="zh-CN" altLang="en-US" dirty="0">
                <a:latin typeface="Arial" panose="020B0604020202020204" pitchFamily="34" charset="0"/>
              </a:rPr>
              <a:t>的需要量很大，多余的磷酸戊糖通过基团转移反应变为６－磷酸果糖和３－磷酸甘油醛后进入糖酵解途径。 </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2488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3658678-2D1F-4E73-9C97-ABBD75AFD0B1}" type="slidenum">
              <a:rPr lang="zh-CN" altLang="en-US" b="0" smtClean="0"/>
            </a:fld>
            <a:endParaRPr lang="en-US" altLang="zh-CN" b="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5C685182-8A3B-494D-95E8-653BCD6CF360}" type="slidenum">
              <a:rPr lang="en-US" altLang="zh-CN" b="0" smtClean="0"/>
            </a:fld>
            <a:endParaRPr lang="en-US" altLang="zh-CN" b="0"/>
          </a:p>
        </p:txBody>
      </p:sp>
      <p:sp>
        <p:nvSpPr>
          <p:cNvPr id="254979" name="Rectangle 2"/>
          <p:cNvSpPr>
            <a:spLocks noGrp="1" noRot="1" noChangeAspect="1" noChangeArrowheads="1" noTextEdit="1"/>
          </p:cNvSpPr>
          <p:nvPr>
            <p:ph type="sldImg"/>
          </p:nvPr>
        </p:nvSpPr>
        <p:spPr>
          <a:xfrm>
            <a:off x="381000" y="685800"/>
            <a:ext cx="6096000" cy="3429000"/>
          </a:xfrm>
        </p:spPr>
      </p:sp>
      <p:sp>
        <p:nvSpPr>
          <p:cNvPr id="254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rPr>
              <a:t>Avoiding triggers is important.           </a:t>
            </a:r>
            <a:endParaRPr lang="en-US" altLang="zh-CN" dirty="0">
              <a:latin typeface="Arial" panose="020B0604020202020204" pitchFamily="34" charset="0"/>
            </a:endParaRPr>
          </a:p>
          <a:p>
            <a:pPr eaLnBrk="1" hangingPunct="1"/>
            <a:r>
              <a:rPr lang="zh-CN" altLang="en-US" dirty="0">
                <a:latin typeface="Arial" panose="020B0604020202020204" pitchFamily="34" charset="0"/>
              </a:rPr>
              <a:t>蚕豆中的</a:t>
            </a:r>
            <a:r>
              <a:rPr lang="zh-CN" altLang="en-US" b="1" dirty="0">
                <a:latin typeface="Arial" panose="020B0604020202020204" pitchFamily="34" charset="0"/>
              </a:rPr>
              <a:t>蚕豆嘧啶核苷</a:t>
            </a:r>
            <a:r>
              <a:rPr lang="zh-CN" altLang="en-US" dirty="0">
                <a:latin typeface="Arial" panose="020B0604020202020204" pitchFamily="34" charset="0"/>
              </a:rPr>
              <a:t>和</a:t>
            </a:r>
            <a:r>
              <a:rPr lang="zh-CN" altLang="en-US" b="1" dirty="0">
                <a:latin typeface="Arial" panose="020B0604020202020204" pitchFamily="34" charset="0"/>
              </a:rPr>
              <a:t>伴蚕豆嘧啶核苷</a:t>
            </a:r>
            <a:r>
              <a:rPr lang="zh-CN" altLang="en-US" dirty="0">
                <a:latin typeface="Arial" panose="020B0604020202020204" pitchFamily="34" charset="0"/>
              </a:rPr>
              <a:t>致红细胞的氧化。</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en-US" altLang="zh-CN" dirty="0">
                <a:latin typeface="Arial" panose="020B0604020202020204" pitchFamily="34" charset="0"/>
              </a:rPr>
              <a:t>40</a:t>
            </a:r>
            <a:r>
              <a:rPr lang="zh-CN" altLang="en-US" dirty="0">
                <a:latin typeface="Arial" panose="020B0604020202020204" pitchFamily="34" charset="0"/>
              </a:rPr>
              <a:t>％以上的病例有家族史。有比较明显的新生儿溶血，但是由于新生儿溶血也很常见，所以常被忽视。</a:t>
            </a:r>
            <a:endParaRPr lang="en-US" altLang="zh-CN" dirty="0">
              <a:latin typeface="Arial" panose="020B0604020202020204" pitchFamily="34" charset="0"/>
            </a:endParaRPr>
          </a:p>
          <a:p>
            <a:pPr eaLnBrk="1" hangingPunct="1"/>
            <a:r>
              <a:rPr lang="zh-CN" altLang="en-US" dirty="0">
                <a:latin typeface="Arial" panose="020B0604020202020204" pitchFamily="34" charset="0"/>
              </a:rPr>
              <a:t>蚕豆、金银花、含萘的卫生球、紫药水和一些药物都有可能引起这些患者产生急性溶血，</a:t>
            </a:r>
            <a:endParaRPr lang="en-US" altLang="zh-CN" dirty="0">
              <a:latin typeface="Arial" panose="020B0604020202020204" pitchFamily="34" charset="0"/>
            </a:endParaRPr>
          </a:p>
          <a:p>
            <a:pPr eaLnBrk="1" hangingPunct="1"/>
            <a:endParaRPr lang="zh-CN" altLang="en-US" dirty="0">
              <a:latin typeface="Arial" panose="020B0604020202020204" pitchFamily="34" charset="0"/>
            </a:endParaRPr>
          </a:p>
          <a:p>
            <a:pPr algn="just" eaLnBrk="1" hangingPunct="1">
              <a:lnSpc>
                <a:spcPct val="90000"/>
              </a:lnSpc>
            </a:pPr>
            <a:r>
              <a:rPr lang="zh-CN" altLang="en-US" sz="1600" dirty="0">
                <a:solidFill>
                  <a:srgbClr val="0000FF"/>
                </a:solidFill>
                <a:latin typeface="Arial" panose="020B0604020202020204" pitchFamily="34" charset="0"/>
              </a:rPr>
              <a:t>广州、深圳 、中 山 、 顺 德 的 </a:t>
            </a:r>
            <a:r>
              <a:rPr lang="en-US" altLang="zh-CN" sz="1600" dirty="0">
                <a:solidFill>
                  <a:srgbClr val="0000FF"/>
                </a:solidFill>
                <a:latin typeface="Arial" panose="020B0604020202020204" pitchFamily="34" charset="0"/>
              </a:rPr>
              <a:t>G6PD </a:t>
            </a:r>
            <a:r>
              <a:rPr lang="zh-CN" altLang="en-US" sz="1600" dirty="0">
                <a:solidFill>
                  <a:srgbClr val="0000FF"/>
                </a:solidFill>
                <a:latin typeface="Arial" panose="020B0604020202020204" pitchFamily="34" charset="0"/>
              </a:rPr>
              <a:t>缺 乏 症 发 病 率 分 别 为 </a:t>
            </a:r>
            <a:r>
              <a:rPr lang="en-US" altLang="zh-CN" sz="1600" dirty="0">
                <a:solidFill>
                  <a:srgbClr val="0000FF"/>
                </a:solidFill>
                <a:latin typeface="Arial" panose="020B0604020202020204" pitchFamily="34" charset="0"/>
              </a:rPr>
              <a:t>4.2% </a:t>
            </a:r>
            <a:r>
              <a:rPr lang="zh-CN" altLang="en-US" sz="1600" dirty="0">
                <a:solidFill>
                  <a:srgbClr val="0000FF"/>
                </a:solidFill>
                <a:latin typeface="Arial" panose="020B0604020202020204" pitchFamily="34" charset="0"/>
              </a:rPr>
              <a:t>、</a:t>
            </a:r>
            <a:r>
              <a:rPr lang="en-US" altLang="zh-CN" sz="1600" dirty="0">
                <a:solidFill>
                  <a:srgbClr val="0000FF"/>
                </a:solidFill>
                <a:latin typeface="Arial" panose="020B0604020202020204" pitchFamily="34" charset="0"/>
              </a:rPr>
              <a:t>2.3%</a:t>
            </a:r>
            <a:r>
              <a:rPr lang="zh-CN" altLang="en-US" sz="1600" dirty="0">
                <a:solidFill>
                  <a:srgbClr val="0000FF"/>
                </a:solidFill>
                <a:latin typeface="Arial" panose="020B0604020202020204" pitchFamily="34" charset="0"/>
              </a:rPr>
              <a:t>、</a:t>
            </a:r>
            <a:r>
              <a:rPr lang="en-US" altLang="zh-CN" sz="1600" dirty="0">
                <a:solidFill>
                  <a:srgbClr val="0000FF"/>
                </a:solidFill>
                <a:latin typeface="Arial" panose="020B0604020202020204" pitchFamily="34" charset="0"/>
              </a:rPr>
              <a:t>4.2%</a:t>
            </a:r>
            <a:r>
              <a:rPr lang="zh-CN" altLang="en-US" sz="1600" dirty="0">
                <a:solidFill>
                  <a:srgbClr val="0000FF"/>
                </a:solidFill>
                <a:latin typeface="Arial" panose="020B0604020202020204" pitchFamily="34" charset="0"/>
              </a:rPr>
              <a:t>、</a:t>
            </a:r>
            <a:r>
              <a:rPr lang="en-US" altLang="zh-CN" sz="1600" dirty="0">
                <a:solidFill>
                  <a:srgbClr val="0000FF"/>
                </a:solidFill>
                <a:latin typeface="Arial" panose="020B0604020202020204" pitchFamily="34" charset="0"/>
              </a:rPr>
              <a:t>4.0%........</a:t>
            </a:r>
            <a:r>
              <a:rPr lang="zh-CN" altLang="en-US" sz="1600" dirty="0">
                <a:solidFill>
                  <a:srgbClr val="0000FF"/>
                </a:solidFill>
                <a:latin typeface="Arial" panose="020B0604020202020204" pitchFamily="34" charset="0"/>
              </a:rPr>
              <a:t>深圳外来人口密集，降低了发病率。</a:t>
            </a:r>
            <a:endParaRPr lang="zh-CN" altLang="en-US" sz="1600" dirty="0">
              <a:solidFill>
                <a:srgbClr val="0000FF"/>
              </a:solidFill>
              <a:latin typeface="Arial" panose="020B0604020202020204" pitchFamily="34" charset="0"/>
            </a:endParaRPr>
          </a:p>
          <a:p>
            <a:pPr algn="just" eaLnBrk="1" hangingPunct="1">
              <a:lnSpc>
                <a:spcPct val="90000"/>
              </a:lnSpc>
            </a:pPr>
            <a:endParaRPr lang="zh-CN" altLang="en-US" sz="1600" dirty="0">
              <a:solidFill>
                <a:srgbClr val="0000FF"/>
              </a:solidFill>
              <a:latin typeface="Arial" panose="020B0604020202020204" pitchFamily="34" charset="0"/>
            </a:endParaRPr>
          </a:p>
          <a:p>
            <a:pPr algn="just" eaLnBrk="1" hangingPunct="1">
              <a:lnSpc>
                <a:spcPct val="90000"/>
              </a:lnSpc>
            </a:pPr>
            <a:endParaRPr lang="en-US" altLang="zh-CN" sz="1600" dirty="0">
              <a:solidFill>
                <a:srgbClr val="0000FF"/>
              </a:solidFill>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卢鹤云：小儿蚕豆病 </a:t>
            </a:r>
            <a:r>
              <a:rPr lang="en-US" altLang="zh-CN" dirty="0"/>
              <a:t>73 </a:t>
            </a:r>
            <a:r>
              <a:rPr lang="zh-CN" altLang="en-US" dirty="0"/>
              <a:t>例临床分析  </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r>
              <a:rPr lang="zh-CN" altLang="en-US" dirty="0"/>
              <a:t>蚕豆病起病急，溶血一般持续 </a:t>
            </a:r>
            <a:r>
              <a:rPr lang="en-US" altLang="zh-CN" dirty="0"/>
              <a:t>1 </a:t>
            </a:r>
            <a:r>
              <a:rPr lang="zh-CN" altLang="en-US" dirty="0"/>
              <a:t>～ </a:t>
            </a:r>
            <a:r>
              <a:rPr lang="en-US" altLang="zh-CN" dirty="0"/>
              <a:t>2 d </a:t>
            </a:r>
            <a:r>
              <a:rPr lang="zh-CN" altLang="en-US" dirty="0"/>
              <a:t>或 </a:t>
            </a:r>
            <a:r>
              <a:rPr lang="en-US" altLang="zh-CN" dirty="0"/>
              <a:t>10 d </a:t>
            </a:r>
            <a:r>
              <a:rPr lang="zh-CN" altLang="en-US" dirty="0"/>
              <a:t>不等。</a:t>
            </a:r>
            <a:r>
              <a:rPr lang="en-US" altLang="zh-CN" b="0" dirty="0"/>
              <a:t> </a:t>
            </a:r>
            <a:r>
              <a:rPr lang="zh-CN" altLang="en-US" b="1" dirty="0"/>
              <a:t>警惕急性肾衰</a:t>
            </a:r>
            <a:r>
              <a:rPr lang="zh-CN" altLang="en-US" dirty="0"/>
              <a:t>。 </a:t>
            </a:r>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幻灯片图像占位符 1"/>
          <p:cNvSpPr>
            <a:spLocks noGrp="1" noRot="1" noChangeAspect="1" noChangeArrowheads="1" noTextEdit="1"/>
          </p:cNvSpPr>
          <p:nvPr>
            <p:ph type="sldImg"/>
          </p:nvPr>
        </p:nvSpPr>
        <p:spPr>
          <a:xfrm>
            <a:off x="381000" y="685800"/>
            <a:ext cx="6096000" cy="3429000"/>
          </a:xfrm>
        </p:spPr>
      </p:sp>
      <p:sp>
        <p:nvSpPr>
          <p:cNvPr id="25088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从临床角度</a:t>
            </a:r>
            <a:r>
              <a:rPr lang="en-US" altLang="zh-CN" dirty="0">
                <a:latin typeface="Arial" panose="020B0604020202020204" pitchFamily="34" charset="0"/>
              </a:rPr>
              <a:t>,</a:t>
            </a:r>
            <a:r>
              <a:rPr lang="zh-CN" altLang="en-US" dirty="0">
                <a:latin typeface="Arial" panose="020B0604020202020204" pitchFamily="34" charset="0"/>
              </a:rPr>
              <a:t>目前本病对人类健康</a:t>
            </a:r>
            <a:r>
              <a:rPr lang="zh-CN" altLang="en-US" b="1" dirty="0">
                <a:latin typeface="Arial" panose="020B0604020202020204" pitchFamily="34" charset="0"/>
              </a:rPr>
              <a:t>最有威胁的表现是新生儿黄疸导致核黄疸</a:t>
            </a:r>
            <a:r>
              <a:rPr lang="en-US" altLang="zh-CN" b="1" dirty="0">
                <a:latin typeface="Arial" panose="020B0604020202020204" pitchFamily="34" charset="0"/>
              </a:rPr>
              <a:t>, </a:t>
            </a:r>
            <a:r>
              <a:rPr lang="zh-CN" altLang="en-US" b="1" dirty="0">
                <a:latin typeface="Arial" panose="020B0604020202020204" pitchFamily="34" charset="0"/>
              </a:rPr>
              <a:t>致智力低下或死亡。 </a:t>
            </a:r>
            <a:endParaRPr lang="zh-CN" altLang="en-US" b="1" dirty="0">
              <a:latin typeface="Arial" panose="020B0604020202020204" pitchFamily="34" charset="0"/>
            </a:endParaRPr>
          </a:p>
          <a:p>
            <a:endParaRPr lang="en-US" altLang="zh-CN" dirty="0">
              <a:latin typeface="Arial" panose="020B0604020202020204" pitchFamily="34" charset="0"/>
            </a:endParaRPr>
          </a:p>
        </p:txBody>
      </p:sp>
      <p:sp>
        <p:nvSpPr>
          <p:cNvPr id="2508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347D1B0-CDDA-4F3B-B294-5B6233538C64}" type="slidenum">
              <a:rPr lang="zh-CN" altLang="en-US" b="0" smtClean="0"/>
            </a:fld>
            <a:endParaRPr lang="en-US" altLang="zh-CN" b="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幻灯片图像占位符 1"/>
          <p:cNvSpPr>
            <a:spLocks noGrp="1" noRot="1" noChangeAspect="1" noChangeArrowheads="1" noTextEdit="1"/>
          </p:cNvSpPr>
          <p:nvPr>
            <p:ph type="sldImg"/>
          </p:nvPr>
        </p:nvSpPr>
        <p:spPr>
          <a:xfrm>
            <a:off x="381000" y="685800"/>
            <a:ext cx="6096000" cy="3429000"/>
          </a:xfrm>
        </p:spPr>
      </p:sp>
      <p:sp>
        <p:nvSpPr>
          <p:cNvPr id="2611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历史上的疟疾流行作为一种自然选择，使得</a:t>
            </a:r>
            <a:r>
              <a:rPr lang="en-US" altLang="zh-CN" dirty="0">
                <a:latin typeface="Arial" panose="020B0604020202020204" pitchFamily="34" charset="0"/>
              </a:rPr>
              <a:t>G6PD</a:t>
            </a:r>
            <a:r>
              <a:rPr lang="zh-CN" altLang="en-US" dirty="0">
                <a:latin typeface="Arial" panose="020B0604020202020204" pitchFamily="34" charset="0"/>
              </a:rPr>
              <a:t>缺陷基因得以大量保留。</a:t>
            </a:r>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2611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D2A608D-685F-423B-9C87-0B17B29820ED}" type="slidenum">
              <a:rPr lang="zh-CN" altLang="en-US" b="0" smtClean="0"/>
            </a:fld>
            <a:endParaRPr lang="en-US" altLang="zh-CN" b="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幻灯片图像占位符 1"/>
          <p:cNvSpPr>
            <a:spLocks noGrp="1" noRot="1" noChangeAspect="1" noChangeArrowheads="1" noTextEdit="1"/>
          </p:cNvSpPr>
          <p:nvPr>
            <p:ph type="sldImg"/>
          </p:nvPr>
        </p:nvSpPr>
        <p:spPr>
          <a:xfrm>
            <a:off x="381000" y="685800"/>
            <a:ext cx="6096000" cy="3429000"/>
          </a:xfrm>
        </p:spPr>
      </p:sp>
      <p:sp>
        <p:nvSpPr>
          <p:cNvPr id="263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263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99C05685-CE24-4378-B360-A3C663861FD3}" type="slidenum">
              <a:rPr lang="zh-CN" altLang="en-US" b="0" smtClean="0"/>
            </a:fld>
            <a:endParaRPr lang="en-US" altLang="zh-CN" b="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幻灯片图像占位符 1"/>
          <p:cNvSpPr>
            <a:spLocks noGrp="1" noRot="1" noChangeAspect="1" noChangeArrowheads="1" noTextEdit="1"/>
          </p:cNvSpPr>
          <p:nvPr>
            <p:ph type="sldImg"/>
          </p:nvPr>
        </p:nvSpPr>
        <p:spPr>
          <a:xfrm>
            <a:off x="381000" y="685800"/>
            <a:ext cx="6096000" cy="3429000"/>
          </a:xfrm>
        </p:spPr>
      </p:sp>
      <p:sp>
        <p:nvSpPr>
          <p:cNvPr id="265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65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6DA01B4-EABF-41FF-905D-37D58C57212D}" type="slidenum">
              <a:rPr lang="zh-CN" altLang="en-US" b="0" smtClean="0"/>
            </a:fld>
            <a:endParaRPr lang="en-US" altLang="zh-CN" b="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ChangeArrowheads="1" noTextEdit="1"/>
          </p:cNvSpPr>
          <p:nvPr>
            <p:ph type="sldImg"/>
          </p:nvPr>
        </p:nvSpPr>
        <p:spPr>
          <a:xfrm>
            <a:off x="381000" y="685800"/>
            <a:ext cx="6096000" cy="3429000"/>
          </a:xfrm>
        </p:spPr>
      </p:sp>
      <p:sp>
        <p:nvSpPr>
          <p:cNvPr id="71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与前面不同，本节重点是： 糖原合成与分解的调节 ，也要熟悉糖原合成与分解的特点</a:t>
            </a:r>
            <a:endParaRPr lang="zh-CN" altLang="en-US" dirty="0">
              <a:latin typeface="Arial" panose="020B0604020202020204" pitchFamily="34" charset="0"/>
            </a:endParaRPr>
          </a:p>
        </p:txBody>
      </p:sp>
      <p:sp>
        <p:nvSpPr>
          <p:cNvPr id="71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ED58892E-6A07-4A05-9CCC-3C8923234E66}"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ChangeArrowheads="1" noTextEdit="1"/>
          </p:cNvSpPr>
          <p:nvPr>
            <p:ph type="sldImg"/>
          </p:nvPr>
        </p:nvSpPr>
        <p:spPr>
          <a:xfrm>
            <a:off x="381000" y="685800"/>
            <a:ext cx="6096000" cy="3429000"/>
          </a:xfrm>
        </p:spPr>
      </p:sp>
      <p:sp>
        <p:nvSpPr>
          <p:cNvPr id="11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持续剧烈运动，肌糖原约</a:t>
            </a:r>
            <a:r>
              <a:rPr lang="en-US" altLang="zh-CN" dirty="0">
                <a:latin typeface="Arial" panose="020B0604020202020204" pitchFamily="34" charset="0"/>
              </a:rPr>
              <a:t>1~2</a:t>
            </a:r>
            <a:r>
              <a:rPr lang="zh-CN" altLang="en-US" dirty="0">
                <a:latin typeface="Arial" panose="020B0604020202020204" pitchFamily="34" charset="0"/>
              </a:rPr>
              <a:t>小时耗尽                   持续饥饿，肝糖原</a:t>
            </a:r>
            <a:r>
              <a:rPr lang="en-US" altLang="zh-CN" dirty="0">
                <a:latin typeface="Arial" panose="020B0604020202020204" pitchFamily="34" charset="0"/>
              </a:rPr>
              <a:t>12-24</a:t>
            </a:r>
            <a:r>
              <a:rPr lang="zh-CN" altLang="en-US" dirty="0">
                <a:latin typeface="Arial" panose="020B0604020202020204" pitchFamily="34" charset="0"/>
              </a:rPr>
              <a:t>小时内耗尽。</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肌糖原个体差异大， </a:t>
            </a:r>
            <a:r>
              <a:rPr lang="en-US" altLang="zh-CN" dirty="0">
                <a:latin typeface="Arial" panose="020B0604020202020204" pitchFamily="34" charset="0"/>
              </a:rPr>
              <a:t>400g</a:t>
            </a:r>
            <a:r>
              <a:rPr lang="zh-CN" altLang="en-US" dirty="0">
                <a:latin typeface="Arial" panose="020B0604020202020204" pitchFamily="34" charset="0"/>
              </a:rPr>
              <a:t>是对体重约</a:t>
            </a:r>
            <a:r>
              <a:rPr lang="en-US" altLang="zh-CN" dirty="0">
                <a:latin typeface="Arial" panose="020B0604020202020204" pitchFamily="34" charset="0"/>
              </a:rPr>
              <a:t>70kg</a:t>
            </a:r>
            <a:r>
              <a:rPr lang="zh-CN" altLang="en-US" dirty="0">
                <a:latin typeface="Arial" panose="020B0604020202020204" pitchFamily="34" charset="0"/>
              </a:rPr>
              <a:t>普通男性而言， 对身高更高且肌肉发达的男性来说，</a:t>
            </a:r>
            <a:r>
              <a:rPr lang="en-US" altLang="zh-CN" dirty="0">
                <a:latin typeface="Arial" panose="020B0604020202020204" pitchFamily="34" charset="0"/>
              </a:rPr>
              <a:t>400g</a:t>
            </a:r>
            <a:r>
              <a:rPr lang="zh-CN" altLang="en-US" dirty="0">
                <a:latin typeface="Arial" panose="020B0604020202020204" pitchFamily="34" charset="0"/>
              </a:rPr>
              <a:t>不是上限。</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b="1" dirty="0">
              <a:latin typeface="Arial" panose="020B0604020202020204" pitchFamily="34" charset="0"/>
            </a:endParaRPr>
          </a:p>
        </p:txBody>
      </p:sp>
      <p:sp>
        <p:nvSpPr>
          <p:cNvPr id="1126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943783D-3A22-4519-942B-FCE889D9C63B}" type="slidenum">
              <a:rPr lang="zh-CN" altLang="en-US" smtClean="0"/>
            </a:fld>
            <a:endParaRPr lang="en-US" altLang="zh-CN"/>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ChangeArrowheads="1" noTextEdit="1"/>
          </p:cNvSpPr>
          <p:nvPr>
            <p:ph type="sldImg"/>
          </p:nvPr>
        </p:nvSpPr>
        <p:spPr>
          <a:xfrm>
            <a:off x="381000" y="685800"/>
            <a:ext cx="6096000" cy="3429000"/>
          </a:xfrm>
        </p:spPr>
      </p:sp>
      <p:sp>
        <p:nvSpPr>
          <p:cNvPr id="1331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33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FD76A08B-9DC7-4964-B10D-4BAB665FC110}"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xfrm>
            <a:off x="381000" y="685800"/>
            <a:ext cx="6096000" cy="3429000"/>
          </a:xfrm>
        </p:spPr>
      </p:sp>
      <p:sp>
        <p:nvSpPr>
          <p:cNvPr id="1536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536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6AEB0AFE-A78A-44A0-9706-D1D619E25A01}"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p:nvPr>
        </p:nvSpPr>
        <p:spPr>
          <a:xfrm>
            <a:off x="381000" y="685800"/>
            <a:ext cx="6096000" cy="3429000"/>
          </a:xfrm>
        </p:spPr>
      </p:sp>
      <p:sp>
        <p:nvSpPr>
          <p:cNvPr id="174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174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3438D7F-BC13-4B41-B683-FED75BBF135B}" type="slidenum">
              <a:rPr lang="zh-CN" altLang="en-US" smtClean="0"/>
            </a:fld>
            <a:endParaRPr lang="en-US" altLang="zh-CN"/>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a:xfrm>
            <a:off x="381000" y="685800"/>
            <a:ext cx="6096000" cy="3429000"/>
          </a:xfrm>
        </p:spPr>
      </p:sp>
      <p:sp>
        <p:nvSpPr>
          <p:cNvPr id="19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当糖链长度达到</a:t>
            </a:r>
            <a:r>
              <a:rPr lang="en-US" altLang="zh-CN">
                <a:latin typeface="Arial" panose="020B0604020202020204" pitchFamily="34" charset="0"/>
              </a:rPr>
              <a:t>12~18</a:t>
            </a:r>
            <a:r>
              <a:rPr lang="zh-CN" altLang="en-US">
                <a:latin typeface="Arial" panose="020B0604020202020204" pitchFamily="34" charset="0"/>
              </a:rPr>
              <a:t>个葡萄糖时，分支酶将一段糖链约</a:t>
            </a:r>
            <a:r>
              <a:rPr lang="en-US" altLang="zh-CN">
                <a:latin typeface="Arial" panose="020B0604020202020204" pitchFamily="34" charset="0"/>
              </a:rPr>
              <a:t>6~7</a:t>
            </a:r>
            <a:r>
              <a:rPr lang="zh-CN" altLang="en-US">
                <a:latin typeface="Arial" panose="020B0604020202020204" pitchFamily="34" charset="0"/>
              </a:rPr>
              <a:t>个葡萄糖基转移到邻近的糖链上，形成分支。 </a:t>
            </a:r>
            <a:endParaRPr lang="zh-CN" altLang="en-US">
              <a:latin typeface="Arial" panose="020B0604020202020204" pitchFamily="34" charset="0"/>
            </a:endParaRPr>
          </a:p>
        </p:txBody>
      </p:sp>
      <p:sp>
        <p:nvSpPr>
          <p:cNvPr id="194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089E17-FBEA-43C5-90B3-820A4B74667A}" type="slidenum">
              <a:rPr lang="zh-CN" altLang="en-US" smtClean="0"/>
            </a:fld>
            <a:endParaRPr lang="en-US" altLang="zh-CN"/>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p:nvPr>
        </p:nvSpPr>
        <p:spPr>
          <a:xfrm>
            <a:off x="381000" y="685800"/>
            <a:ext cx="6096000" cy="3429000"/>
          </a:xfrm>
        </p:spPr>
      </p:sp>
      <p:sp>
        <p:nvSpPr>
          <p:cNvPr id="215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 2,000-60,000 residues per one molecule of glycogen</a:t>
            </a:r>
            <a:endParaRPr lang="zh-CN" altLang="en-US" dirty="0">
              <a:latin typeface="Arial" panose="020B0604020202020204" pitchFamily="34" charset="0"/>
            </a:endParaRPr>
          </a:p>
        </p:txBody>
      </p:sp>
      <p:sp>
        <p:nvSpPr>
          <p:cNvPr id="215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27B42EAD-6851-4935-9B88-C5EF07446CE4}"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a:xfrm>
            <a:off x="381000" y="685800"/>
            <a:ext cx="6096000" cy="3429000"/>
          </a:xfrm>
        </p:spPr>
      </p:sp>
      <p:sp>
        <p:nvSpPr>
          <p:cNvPr id="235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动物饱食后可观察到，消耗后就看不到了        </a:t>
            </a:r>
            <a:r>
              <a:rPr lang="en-US" altLang="zh-CN" dirty="0">
                <a:latin typeface="Arial" panose="020B0604020202020204" pitchFamily="34" charset="0"/>
              </a:rPr>
              <a:t>essentially absent after a 24-hour fast.   </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235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0A96CAB7-8169-40FA-A920-A8BB930FCE47}"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p:nvPr>
        </p:nvSpPr>
        <p:spPr>
          <a:xfrm>
            <a:off x="381000" y="685800"/>
            <a:ext cx="6096000" cy="3429000"/>
          </a:xfrm>
        </p:spPr>
      </p:sp>
      <p:sp>
        <p:nvSpPr>
          <p:cNvPr id="25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256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829D4DE-D7A4-408A-9609-870743C43D00}" type="slidenum">
              <a:rPr lang="zh-CN" altLang="en-US" smtClean="0"/>
            </a:fld>
            <a:endParaRPr lang="en-US" altLang="zh-CN"/>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p:nvPr>
        </p:nvSpPr>
        <p:spPr>
          <a:xfrm>
            <a:off x="381000" y="685800"/>
            <a:ext cx="6096000" cy="3429000"/>
          </a:xfrm>
        </p:spPr>
      </p:sp>
      <p:sp>
        <p:nvSpPr>
          <p:cNvPr id="276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latin typeface="Arial" panose="020B0604020202020204" pitchFamily="34" charset="0"/>
              </a:rPr>
              <a:t>磷酸吡哆醛</a:t>
            </a:r>
            <a:r>
              <a:rPr lang="zh-CN" altLang="en-US" dirty="0">
                <a:latin typeface="Arial" panose="020B0604020202020204" pitchFamily="34" charset="0"/>
              </a:rPr>
              <a:t>是糖原磷酸化酶的辅酶</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目前已知的人体糖原磷酸化酶有三种同工酶：  </a:t>
            </a:r>
            <a:r>
              <a:rPr lang="en-US" altLang="zh-CN" dirty="0">
                <a:latin typeface="Arial" panose="020B0604020202020204" pitchFamily="34" charset="0"/>
              </a:rPr>
              <a:t>the muscle (M), liver (L) and brain (B) isoforms. </a:t>
            </a:r>
            <a:r>
              <a:rPr lang="zh-CN" altLang="en-US" dirty="0">
                <a:latin typeface="Arial" panose="020B0604020202020204" pitchFamily="34" charset="0"/>
              </a:rPr>
              <a:t>调节特性不同。</a:t>
            </a:r>
            <a:r>
              <a:rPr lang="en-US" altLang="zh-CN" dirty="0">
                <a:latin typeface="Arial" panose="020B0604020202020204" pitchFamily="34" charset="0"/>
              </a:rPr>
              <a:t>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肌糖原磷酸化酶的活性形式是同二聚体（单体很大，长达</a:t>
            </a:r>
            <a:r>
              <a:rPr lang="en-US" altLang="zh-CN" dirty="0">
                <a:latin typeface="Arial" panose="020B0604020202020204" pitchFamily="34" charset="0"/>
              </a:rPr>
              <a:t>842aa), </a:t>
            </a:r>
            <a:r>
              <a:rPr lang="zh-CN" altLang="en-US" dirty="0">
                <a:latin typeface="Arial" panose="020B0604020202020204" pitchFamily="34" charset="0"/>
              </a:rPr>
              <a:t>单体或四聚体是无活性形式。 而肝糖原磷酸化酶活性形式是四聚体。  这两种磷酸化酶一级结构高度相似，有少许差异。</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276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34199A2-3F92-43E6-81B9-4F861C48EF26}" type="slidenum">
              <a:rPr lang="zh-CN" altLang="en-US" smtClean="0"/>
            </a:fld>
            <a:endParaRPr lang="en-US" altLang="zh-CN"/>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ChangeArrowheads="1" noTextEdit="1"/>
          </p:cNvSpPr>
          <p:nvPr>
            <p:ph type="sldImg"/>
          </p:nvPr>
        </p:nvSpPr>
        <p:spPr>
          <a:xfrm>
            <a:off x="381000" y="685800"/>
            <a:ext cx="6096000" cy="3429000"/>
          </a:xfrm>
        </p:spPr>
      </p:sp>
      <p:sp>
        <p:nvSpPr>
          <p:cNvPr id="296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
        <p:nvSpPr>
          <p:cNvPr id="2970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0AEC27-FFCA-48A6-8A00-1E020C5B7A57}" type="slidenum">
              <a:rPr lang="zh-CN" altLang="en-US" smtClean="0"/>
            </a:fld>
            <a:endParaRPr lang="en-US" altLang="zh-CN"/>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ChangeArrowheads="1" noTextEdit="1"/>
          </p:cNvSpPr>
          <p:nvPr>
            <p:ph type="sldImg"/>
          </p:nvPr>
        </p:nvSpPr>
        <p:spPr>
          <a:xfrm>
            <a:off x="381000" y="685800"/>
            <a:ext cx="6096000" cy="3429000"/>
          </a:xfrm>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379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67BE194-B0C4-46E0-A4B2-66F449D9771A}" type="slidenum">
              <a:rPr lang="zh-CN" altLang="en-US" smtClean="0"/>
            </a:fld>
            <a:endParaRPr lang="en-US" altLang="zh-CN"/>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p:nvPr>
        </p:nvSpPr>
        <p:spPr>
          <a:xfrm>
            <a:off x="381000" y="685800"/>
            <a:ext cx="6096000" cy="3429000"/>
          </a:xfrm>
        </p:spPr>
      </p:sp>
      <p:sp>
        <p:nvSpPr>
          <p:cNvPr id="358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latin typeface="Arial" panose="020B0604020202020204" pitchFamily="34" charset="0"/>
              </a:rPr>
              <a:t>葡萄糖</a:t>
            </a:r>
            <a:r>
              <a:rPr lang="en-US" altLang="zh-CN" b="1" dirty="0">
                <a:latin typeface="Arial" panose="020B0604020202020204" pitchFamily="34" charset="0"/>
              </a:rPr>
              <a:t>-6-</a:t>
            </a:r>
            <a:r>
              <a:rPr lang="zh-CN" altLang="en-US" b="1" dirty="0">
                <a:latin typeface="Arial" panose="020B0604020202020204" pitchFamily="34" charset="0"/>
              </a:rPr>
              <a:t>磷酸酶是内质网跨膜蛋白，活性中心朝向内质网腔，</a:t>
            </a:r>
            <a:r>
              <a:rPr lang="zh-CN" altLang="en-US" dirty="0">
                <a:latin typeface="Arial" panose="020B0604020202020204" pitchFamily="34" charset="0"/>
              </a:rPr>
              <a:t>作用于被运入内质网的</a:t>
            </a:r>
            <a:r>
              <a:rPr lang="en-US" altLang="zh-CN" dirty="0">
                <a:latin typeface="Arial" panose="020B0604020202020204" pitchFamily="34" charset="0"/>
              </a:rPr>
              <a:t>6-</a:t>
            </a:r>
            <a:r>
              <a:rPr lang="zh-CN" altLang="en-US" dirty="0">
                <a:latin typeface="Arial" panose="020B0604020202020204" pitchFamily="34" charset="0"/>
              </a:rPr>
              <a:t>磷酸葡萄糖，脱磷酸后的游离葡萄糖被运出内质网，最后运出肝细胞。   </a:t>
            </a:r>
            <a:endParaRPr lang="en-US" altLang="zh-CN" dirty="0">
              <a:latin typeface="Arial" panose="020B0604020202020204" pitchFamily="34" charset="0"/>
            </a:endParaRPr>
          </a:p>
          <a:p>
            <a:r>
              <a:rPr lang="zh-CN" altLang="en-US" dirty="0">
                <a:latin typeface="Arial" panose="020B0604020202020204" pitchFamily="34" charset="0"/>
              </a:rPr>
              <a:t>葡萄糖</a:t>
            </a:r>
            <a:r>
              <a:rPr lang="en-US" altLang="zh-CN" dirty="0">
                <a:latin typeface="Arial" panose="020B0604020202020204" pitchFamily="34" charset="0"/>
              </a:rPr>
              <a:t>-6-</a:t>
            </a:r>
            <a:r>
              <a:rPr lang="zh-CN" altLang="en-US" dirty="0">
                <a:latin typeface="Arial" panose="020B0604020202020204" pitchFamily="34" charset="0"/>
              </a:rPr>
              <a:t>磷酸酶的这种定位可</a:t>
            </a:r>
            <a:r>
              <a:rPr lang="zh-CN" altLang="en-US" b="1" dirty="0">
                <a:latin typeface="Arial" panose="020B0604020202020204" pitchFamily="34" charset="0"/>
              </a:rPr>
              <a:t>避免干扰糖酵解。</a:t>
            </a:r>
            <a:endParaRPr lang="zh-CN" altLang="en-US" b="1" dirty="0">
              <a:latin typeface="Arial" panose="020B0604020202020204" pitchFamily="34" charset="0"/>
            </a:endParaRPr>
          </a:p>
        </p:txBody>
      </p:sp>
      <p:sp>
        <p:nvSpPr>
          <p:cNvPr id="358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0EA01B6E-2C78-4479-9841-D2FD5957E48E}"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ChangeArrowheads="1" noTextEdit="1"/>
          </p:cNvSpPr>
          <p:nvPr>
            <p:ph type="sldImg"/>
          </p:nvPr>
        </p:nvSpPr>
        <p:spPr>
          <a:xfrm>
            <a:off x="381000" y="685800"/>
            <a:ext cx="6096000" cy="3429000"/>
          </a:xfrm>
        </p:spPr>
      </p:sp>
      <p:sp>
        <p:nvSpPr>
          <p:cNvPr id="3789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789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DCAE18CE-16C6-470F-8B0F-D164C2D48653}"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ChangeArrowheads="1" noTextEdit="1"/>
          </p:cNvSpPr>
          <p:nvPr>
            <p:ph type="sldImg"/>
          </p:nvPr>
        </p:nvSpPr>
        <p:spPr>
          <a:xfrm>
            <a:off x="381000" y="685800"/>
            <a:ext cx="6096000" cy="3429000"/>
          </a:xfrm>
        </p:spPr>
      </p:sp>
      <p:sp>
        <p:nvSpPr>
          <p:cNvPr id="399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399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203FC0EB-339D-4A86-86CA-2EE8DD5D3D9D}"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p:nvPr>
        </p:nvSpPr>
        <p:spPr>
          <a:xfrm>
            <a:off x="381000" y="685800"/>
            <a:ext cx="6096000" cy="3429000"/>
          </a:xfrm>
        </p:spPr>
      </p:sp>
      <p:sp>
        <p:nvSpPr>
          <p:cNvPr id="419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糖原合酶的磷酸化不只是受</a:t>
            </a:r>
            <a:r>
              <a:rPr lang="en-US" altLang="zh-CN" dirty="0">
                <a:latin typeface="Arial" panose="020B0604020202020204" pitchFamily="34" charset="0"/>
              </a:rPr>
              <a:t>PKA</a:t>
            </a:r>
            <a:r>
              <a:rPr lang="zh-CN" altLang="en-US" dirty="0">
                <a:latin typeface="Arial" panose="020B0604020202020204" pitchFamily="34" charset="0"/>
              </a:rPr>
              <a:t>激活，它受不少于</a:t>
            </a:r>
            <a:r>
              <a:rPr lang="en-US" altLang="zh-CN" dirty="0">
                <a:latin typeface="Arial" panose="020B0604020202020204" pitchFamily="34" charset="0"/>
              </a:rPr>
              <a:t>6</a:t>
            </a:r>
            <a:r>
              <a:rPr lang="zh-CN" altLang="en-US" dirty="0">
                <a:latin typeface="Arial" panose="020B0604020202020204" pitchFamily="34" charset="0"/>
              </a:rPr>
              <a:t>种的不同蛋白激酶的作用，包括由钙离子和钙调蛋白调控的激酶。</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zh-CN" altLang="en-US" b="1" dirty="0">
                <a:latin typeface="Arial" panose="020B0604020202020204" pitchFamily="34" charset="0"/>
              </a:rPr>
              <a:t>磷蛋白磷酸酶</a:t>
            </a:r>
            <a:r>
              <a:rPr lang="en-US" altLang="zh-CN" b="1" dirty="0">
                <a:latin typeface="Arial" panose="020B0604020202020204" pitchFamily="34" charset="0"/>
              </a:rPr>
              <a:t>phosphoprotein phosphatase 1 (PP1)</a:t>
            </a:r>
            <a:r>
              <a:rPr lang="en-US" altLang="zh-CN" dirty="0">
                <a:latin typeface="Arial" panose="020B0604020202020204" pitchFamily="34" charset="0"/>
              </a:rPr>
              <a:t> removes the phosphoryl groups from phosphorylase a, converting it to the less active form, phosphorylase b.</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p:txBody>
      </p:sp>
      <p:sp>
        <p:nvSpPr>
          <p:cNvPr id="419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6FF2089-9477-41C4-B55B-532AA2778395}" type="slidenum">
              <a:rPr lang="zh-CN" altLang="en-US" smtClean="0"/>
            </a:fld>
            <a:endParaRPr lang="en-US" altLang="zh-CN"/>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ChangeArrowheads="1" noTextEdit="1"/>
          </p:cNvSpPr>
          <p:nvPr>
            <p:ph type="sldImg"/>
          </p:nvPr>
        </p:nvSpPr>
        <p:spPr>
          <a:xfrm>
            <a:off x="381000" y="685800"/>
            <a:ext cx="6096000" cy="3429000"/>
          </a:xfrm>
        </p:spPr>
      </p:sp>
      <p:sp>
        <p:nvSpPr>
          <p:cNvPr id="481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Such cascades effect a large amplification of the initial signal; the figures in pink boxes are probably low estimates of the actual increase in number of molecules at each stage of the cascade.</a:t>
            </a:r>
            <a:endParaRPr lang="zh-CN" altLang="en-US" dirty="0">
              <a:latin typeface="Arial" panose="020B0604020202020204" pitchFamily="34" charset="0"/>
            </a:endParaRPr>
          </a:p>
        </p:txBody>
      </p:sp>
      <p:sp>
        <p:nvSpPr>
          <p:cNvPr id="481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A5BFF40-C53A-441A-9DA1-A132F93C1AA4}" type="slidenum">
              <a:rPr lang="zh-CN" altLang="en-US" smtClean="0"/>
            </a:fld>
            <a:endParaRPr lang="en-US" altLang="zh-CN"/>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ChangeArrowheads="1" noTextEdit="1"/>
          </p:cNvSpPr>
          <p:nvPr>
            <p:ph type="sldImg"/>
          </p:nvPr>
        </p:nvSpPr>
        <p:spPr>
          <a:xfrm>
            <a:off x="381000" y="685800"/>
            <a:ext cx="6096000" cy="3429000"/>
          </a:xfrm>
        </p:spPr>
      </p:sp>
      <p:sp>
        <p:nvSpPr>
          <p:cNvPr id="44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葡萄糖结合肝糖原磷酸化酶后使其构象改变，</a:t>
            </a:r>
            <a:r>
              <a:rPr lang="en-US" altLang="zh-CN" b="1" dirty="0">
                <a:latin typeface="Arial" panose="020B0604020202020204" pitchFamily="34" charset="0"/>
              </a:rPr>
              <a:t>14</a:t>
            </a:r>
            <a:r>
              <a:rPr lang="zh-CN" altLang="en-US" b="1" dirty="0">
                <a:latin typeface="Arial" panose="020B0604020202020204" pitchFamily="34" charset="0"/>
              </a:rPr>
              <a:t>位</a:t>
            </a:r>
            <a:r>
              <a:rPr lang="en-US" altLang="zh-CN" b="1" dirty="0">
                <a:latin typeface="Arial" panose="020B0604020202020204" pitchFamily="34" charset="0"/>
              </a:rPr>
              <a:t>Ser</a:t>
            </a:r>
            <a:r>
              <a:rPr lang="zh-CN" altLang="en-US" b="1" dirty="0">
                <a:latin typeface="Arial" panose="020B0604020202020204" pitchFamily="34" charset="0"/>
              </a:rPr>
              <a:t>暴露</a:t>
            </a:r>
            <a:r>
              <a:rPr lang="zh-CN" altLang="en-US" dirty="0">
                <a:latin typeface="Arial" panose="020B0604020202020204" pitchFamily="34" charset="0"/>
              </a:rPr>
              <a:t>，便于被磷蛋白磷酸酶</a:t>
            </a:r>
            <a:r>
              <a:rPr lang="en-US" altLang="zh-CN" dirty="0">
                <a:latin typeface="Arial" panose="020B0604020202020204" pitchFamily="34" charset="0"/>
              </a:rPr>
              <a:t>-1</a:t>
            </a:r>
            <a:r>
              <a:rPr lang="zh-CN" altLang="en-US" dirty="0">
                <a:latin typeface="Arial" panose="020B0604020202020204" pitchFamily="34" charset="0"/>
              </a:rPr>
              <a:t>去磷酸化而失活。葡萄糖是肝糖原磷酸化酶最主要的别构抑制剂</a:t>
            </a:r>
            <a:endParaRPr lang="zh-CN" altLang="en-US"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The allosteric site for glucose allows liver glycogen phosphorylase to act as its own </a:t>
            </a:r>
            <a:r>
              <a:rPr lang="en-US" altLang="zh-CN" b="1" dirty="0">
                <a:latin typeface="Arial" panose="020B0604020202020204" pitchFamily="34" charset="0"/>
              </a:rPr>
              <a:t>glucose sensor </a:t>
            </a:r>
            <a:r>
              <a:rPr lang="en-US" altLang="zh-CN" dirty="0">
                <a:latin typeface="Arial" panose="020B0604020202020204" pitchFamily="34" charset="0"/>
              </a:rPr>
              <a:t>and to respond appropriately to changes in blood glucose.</a:t>
            </a:r>
            <a:endParaRPr lang="en-US" altLang="zh-CN" dirty="0">
              <a:latin typeface="Arial" panose="020B0604020202020204" pitchFamily="34" charset="0"/>
            </a:endParaRPr>
          </a:p>
          <a:p>
            <a:r>
              <a:rPr lang="en-US" altLang="zh-CN" dirty="0">
                <a:latin typeface="Arial" panose="020B0604020202020204" pitchFamily="34" charset="0"/>
              </a:rPr>
              <a:t>When blood glucose levels return to normal, glucose enters hepatocytes and binds to an inhibitory allosteric site on phosphorylase a.</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4403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0B2A1C-F238-48BF-950B-B1EA3ADAF90F}" type="slidenum">
              <a:rPr lang="zh-CN" altLang="en-US" smtClean="0"/>
            </a:fld>
            <a:endParaRPr lang="en-US" altLang="zh-CN"/>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p:nvPr>
        </p:nvSpPr>
        <p:spPr>
          <a:xfrm>
            <a:off x="381000" y="685800"/>
            <a:ext cx="6096000" cy="3429000"/>
          </a:xfrm>
        </p:spPr>
      </p:sp>
      <p:sp>
        <p:nvSpPr>
          <p:cNvPr id="460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60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87BEF14-6C36-46FB-87EA-5D2EDFF4A536}" type="slidenum">
              <a:rPr lang="zh-CN" altLang="en-US" smtClean="0"/>
            </a:fld>
            <a:endParaRPr lang="en-US" altLang="zh-CN"/>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ChangeArrowheads="1" noTextEdit="1"/>
          </p:cNvSpPr>
          <p:nvPr>
            <p:ph type="sldImg"/>
          </p:nvPr>
        </p:nvSpPr>
        <p:spPr>
          <a:xfrm>
            <a:off x="381000" y="685800"/>
            <a:ext cx="6096000" cy="3429000"/>
          </a:xfrm>
        </p:spPr>
      </p:sp>
      <p:sp>
        <p:nvSpPr>
          <p:cNvPr id="512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糖代谢途径中的先天异常还包括：丙酮酸激酶、丙酮酸脱氢酶复合体、</a:t>
            </a:r>
            <a:r>
              <a:rPr lang="en-US" altLang="zh-CN" dirty="0">
                <a:latin typeface="Arial" panose="020B0604020202020204" pitchFamily="34" charset="0"/>
              </a:rPr>
              <a:t>UDP</a:t>
            </a:r>
            <a:r>
              <a:rPr lang="zh-CN" altLang="en-US" dirty="0">
                <a:latin typeface="Arial" panose="020B0604020202020204" pitchFamily="34" charset="0"/>
              </a:rPr>
              <a:t>－葡萄糖醛酸基转移酶、果糖激酶、</a:t>
            </a:r>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6</a:t>
            </a:r>
            <a:r>
              <a:rPr lang="zh-CN" altLang="en-US" dirty="0">
                <a:latin typeface="Arial" panose="020B0604020202020204" pitchFamily="34" charset="0"/>
              </a:rPr>
              <a:t>－二磷酸果糖激酶、</a:t>
            </a:r>
            <a:r>
              <a:rPr lang="en-US" altLang="zh-CN" dirty="0">
                <a:latin typeface="Arial" panose="020B0604020202020204" pitchFamily="34" charset="0"/>
              </a:rPr>
              <a:t>1</a:t>
            </a:r>
            <a:r>
              <a:rPr lang="zh-CN" altLang="en-US" dirty="0">
                <a:latin typeface="Arial" panose="020B0604020202020204" pitchFamily="34" charset="0"/>
              </a:rPr>
              <a:t>－磷酸果糖醛缩酶、半乳糖激酶等缺陷引起的疾病。 </a:t>
            </a:r>
            <a:endParaRPr lang="en-US" altLang="zh-CN" dirty="0">
              <a:latin typeface="Arial" panose="020B0604020202020204" pitchFamily="34" charset="0"/>
            </a:endParaRPr>
          </a:p>
          <a:p>
            <a:r>
              <a:rPr lang="zh-CN" altLang="en-US" dirty="0">
                <a:latin typeface="Arial" panose="020B0604020202020204" pitchFamily="34" charset="0"/>
              </a:rPr>
              <a:t>人类罕见三羧酸循环中的酶缺陷。</a:t>
            </a:r>
            <a:endParaRPr lang="zh-CN" altLang="en-US" dirty="0">
              <a:latin typeface="Arial" panose="020B0604020202020204" pitchFamily="34" charset="0"/>
            </a:endParaRPr>
          </a:p>
        </p:txBody>
      </p:sp>
      <p:sp>
        <p:nvSpPr>
          <p:cNvPr id="512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89C8508-6AEA-4D9A-A2A0-BE01B2383ADF}" type="slidenum">
              <a:rPr lang="zh-CN" altLang="en-US" smtClean="0"/>
            </a:fld>
            <a:endParaRPr lang="en-US" altLang="zh-CN"/>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381000" y="685800"/>
            <a:ext cx="6096000" cy="3429000"/>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表格来自人卫遗传学教材 </a:t>
            </a:r>
            <a:r>
              <a:rPr lang="en-US" altLang="zh-CN" dirty="0">
                <a:latin typeface="Arial" panose="020B0604020202020204" pitchFamily="34" charset="0"/>
              </a:rPr>
              <a:t>2018</a:t>
            </a:r>
            <a:r>
              <a:rPr lang="zh-CN" altLang="en-US" dirty="0">
                <a:latin typeface="Arial" panose="020B0604020202020204" pitchFamily="34" charset="0"/>
              </a:rPr>
              <a:t>版</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临床疾病有十几型，其中</a:t>
            </a:r>
            <a:r>
              <a:rPr lang="en-US" altLang="zh-CN" dirty="0">
                <a:latin typeface="Arial" panose="020B0604020202020204" pitchFamily="34" charset="0"/>
              </a:rPr>
              <a:t>Ⅰ</a:t>
            </a:r>
            <a:r>
              <a:rPr lang="zh-CN" altLang="en-US" dirty="0">
                <a:latin typeface="Arial" panose="020B0604020202020204" pitchFamily="34" charset="0"/>
              </a:rPr>
              <a:t>、</a:t>
            </a:r>
            <a:r>
              <a:rPr lang="en-US" altLang="zh-CN" dirty="0">
                <a:latin typeface="Arial" panose="020B0604020202020204" pitchFamily="34" charset="0"/>
              </a:rPr>
              <a:t>Ⅲ</a:t>
            </a:r>
            <a:r>
              <a:rPr lang="zh-CN" altLang="en-US" dirty="0">
                <a:latin typeface="Arial" panose="020B0604020202020204" pitchFamily="34" charset="0"/>
              </a:rPr>
              <a:t>、</a:t>
            </a:r>
            <a:r>
              <a:rPr lang="en-US" altLang="zh-CN" dirty="0">
                <a:latin typeface="Arial" panose="020B0604020202020204" pitchFamily="34" charset="0"/>
              </a:rPr>
              <a:t>Ⅳ</a:t>
            </a:r>
            <a:r>
              <a:rPr lang="zh-CN" altLang="en-US" dirty="0">
                <a:latin typeface="Arial" panose="020B0604020202020204" pitchFamily="34" charset="0"/>
              </a:rPr>
              <a:t>、</a:t>
            </a:r>
            <a:r>
              <a:rPr lang="en-US" altLang="zh-CN" dirty="0">
                <a:latin typeface="Arial" panose="020B0604020202020204" pitchFamily="34" charset="0"/>
              </a:rPr>
              <a:t>Ⅵ</a:t>
            </a:r>
            <a:r>
              <a:rPr lang="zh-CN" altLang="en-US" dirty="0">
                <a:latin typeface="Arial" panose="020B0604020202020204" pitchFamily="34" charset="0"/>
              </a:rPr>
              <a:t>、</a:t>
            </a:r>
            <a:r>
              <a:rPr lang="en-US" altLang="zh-CN" dirty="0">
                <a:latin typeface="Arial" panose="020B0604020202020204" pitchFamily="34" charset="0"/>
              </a:rPr>
              <a:t>Ⅸ</a:t>
            </a:r>
            <a:r>
              <a:rPr lang="zh-CN" altLang="en-US" dirty="0">
                <a:latin typeface="Arial" panose="020B0604020202020204" pitchFamily="34" charset="0"/>
              </a:rPr>
              <a:t>型以</a:t>
            </a:r>
            <a:r>
              <a:rPr lang="zh-CN" altLang="en-US" b="1" dirty="0">
                <a:latin typeface="Arial" panose="020B0604020202020204" pitchFamily="34" charset="0"/>
              </a:rPr>
              <a:t>肝脏病变为主</a:t>
            </a:r>
            <a:r>
              <a:rPr lang="zh-CN" altLang="en-US" dirty="0">
                <a:latin typeface="Arial" panose="020B0604020202020204" pitchFamily="34" charset="0"/>
              </a:rPr>
              <a:t>；</a:t>
            </a:r>
            <a:r>
              <a:rPr lang="en-US" altLang="zh-CN" dirty="0">
                <a:latin typeface="Arial" panose="020B0604020202020204" pitchFamily="34" charset="0"/>
              </a:rPr>
              <a:t>Ⅱ</a:t>
            </a:r>
            <a:r>
              <a:rPr lang="zh-CN" altLang="en-US" dirty="0">
                <a:latin typeface="Arial" panose="020B0604020202020204" pitchFamily="34" charset="0"/>
              </a:rPr>
              <a:t>、</a:t>
            </a:r>
            <a:r>
              <a:rPr lang="en-US" altLang="zh-CN" dirty="0">
                <a:latin typeface="Arial" panose="020B0604020202020204" pitchFamily="34" charset="0"/>
              </a:rPr>
              <a:t>Ⅴ</a:t>
            </a:r>
            <a:r>
              <a:rPr lang="zh-CN" altLang="en-US" dirty="0">
                <a:latin typeface="Arial" panose="020B0604020202020204" pitchFamily="34" charset="0"/>
              </a:rPr>
              <a:t>、</a:t>
            </a:r>
            <a:r>
              <a:rPr lang="en-US" altLang="zh-CN" dirty="0">
                <a:latin typeface="Arial" panose="020B0604020202020204" pitchFamily="34" charset="0"/>
              </a:rPr>
              <a:t>Ⅶ</a:t>
            </a:r>
            <a:r>
              <a:rPr lang="zh-CN" altLang="en-US" dirty="0">
                <a:latin typeface="Arial" panose="020B0604020202020204" pitchFamily="34" charset="0"/>
              </a:rPr>
              <a:t>型以肌肉组织受损为主。这类疾病有一个共同的生化特征，即</a:t>
            </a:r>
            <a:r>
              <a:rPr lang="zh-CN" altLang="en-US" b="1" dirty="0">
                <a:latin typeface="Arial" panose="020B0604020202020204" pitchFamily="34" charset="0"/>
              </a:rPr>
              <a:t>糖原贮存异常，绝大多数是糖原在肝脏、肌肉、肾脏等组织中贮积量增加</a:t>
            </a:r>
            <a:r>
              <a:rPr lang="zh-CN" altLang="en-US" dirty="0">
                <a:latin typeface="Arial" panose="020B0604020202020204" pitchFamily="34" charset="0"/>
              </a:rPr>
              <a:t>。仅少数病种的糖原贮积量正常，而糖原的分子结构异常</a:t>
            </a:r>
            <a:endParaRPr lang="zh-CN" altLang="en-US"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出生即可发病，成年之后，轻病者的患者会有所好转。</a:t>
            </a:r>
            <a:r>
              <a:rPr lang="zh-CN" altLang="en-US" b="1" dirty="0">
                <a:latin typeface="Arial" panose="020B0604020202020204" pitchFamily="34" charset="0"/>
              </a:rPr>
              <a:t>以肝病为主的</a:t>
            </a:r>
            <a:r>
              <a:rPr lang="en-US" altLang="zh-CN" b="1" dirty="0">
                <a:latin typeface="Arial" panose="020B0604020202020204" pitchFamily="34" charset="0"/>
              </a:rPr>
              <a:t>Ⅰ</a:t>
            </a:r>
            <a:r>
              <a:rPr lang="zh-CN" altLang="en-US" b="1" dirty="0">
                <a:latin typeface="Arial" panose="020B0604020202020204" pitchFamily="34" charset="0"/>
              </a:rPr>
              <a:t>型最为常见</a:t>
            </a:r>
            <a:r>
              <a:rPr lang="zh-CN" altLang="en-US" dirty="0">
                <a:latin typeface="Arial" panose="020B0604020202020204" pitchFamily="34" charset="0"/>
              </a:rPr>
              <a:t>。</a:t>
            </a:r>
            <a:endParaRPr lang="zh-CN" altLang="en-US" dirty="0">
              <a:latin typeface="Arial" panose="020B0604020202020204" pitchFamily="34" charset="0"/>
            </a:endParaRPr>
          </a:p>
          <a:p>
            <a:r>
              <a:rPr lang="zh-CN" altLang="en-US" dirty="0">
                <a:latin typeface="Arial" panose="020B0604020202020204" pitchFamily="34" charset="0"/>
              </a:rPr>
              <a:t>患儿出生时就会有</a:t>
            </a:r>
            <a:r>
              <a:rPr lang="zh-CN" altLang="en-US" b="1" dirty="0">
                <a:latin typeface="Arial" panose="020B0604020202020204" pitchFamily="34" charset="0"/>
              </a:rPr>
              <a:t>肝脏肿大</a:t>
            </a:r>
            <a:r>
              <a:rPr lang="zh-CN" altLang="en-US" dirty="0">
                <a:latin typeface="Arial" panose="020B0604020202020204" pitchFamily="34" charset="0"/>
              </a:rPr>
              <a:t>的症状。新生儿肝肿大不明显，而不被注意。</a:t>
            </a:r>
            <a:r>
              <a:rPr lang="en-US" altLang="zh-CN" b="1" dirty="0">
                <a:latin typeface="Arial" panose="020B0604020202020204" pitchFamily="34" charset="0"/>
              </a:rPr>
              <a:t>1</a:t>
            </a:r>
            <a:r>
              <a:rPr lang="zh-CN" altLang="en-US" b="1" dirty="0">
                <a:latin typeface="Arial" panose="020B0604020202020204" pitchFamily="34" charset="0"/>
              </a:rPr>
              <a:t>岁左右逐渐见肝脏肿大，甚至占据整个腹腔</a:t>
            </a:r>
            <a:r>
              <a:rPr lang="zh-CN" altLang="en-US" dirty="0">
                <a:latin typeface="Arial" panose="020B0604020202020204" pitchFamily="34" charset="0"/>
              </a:rPr>
              <a:t>。</a:t>
            </a:r>
            <a:endParaRPr lang="zh-CN" altLang="en-US" dirty="0">
              <a:latin typeface="Arial" panose="020B0604020202020204" pitchFamily="34" charset="0"/>
            </a:endParaRPr>
          </a:p>
          <a:p>
            <a:r>
              <a:rPr lang="zh-CN" altLang="en-US" b="1" dirty="0">
                <a:latin typeface="Arial" panose="020B0604020202020204" pitchFamily="34" charset="0"/>
              </a:rPr>
              <a:t>低血糖</a:t>
            </a:r>
            <a:r>
              <a:rPr lang="zh-CN" altLang="en-US" dirty="0">
                <a:latin typeface="Arial" panose="020B0604020202020204" pitchFamily="34" charset="0"/>
              </a:rPr>
              <a:t>：多于</a:t>
            </a:r>
            <a:r>
              <a:rPr lang="en-US" altLang="zh-CN" dirty="0">
                <a:latin typeface="Arial" panose="020B0604020202020204" pitchFamily="34" charset="0"/>
              </a:rPr>
              <a:t>1</a:t>
            </a:r>
            <a:r>
              <a:rPr lang="zh-CN" altLang="en-US" dirty="0">
                <a:latin typeface="Arial" panose="020B0604020202020204" pitchFamily="34" charset="0"/>
              </a:rPr>
              <a:t>岁以内出现，随着年龄增长，会出现明显低血糖症状，例如软弱呕吐、无力、出汗、惊厥和昏迷，</a:t>
            </a:r>
            <a:endParaRPr lang="zh-CN" altLang="en-US" dirty="0">
              <a:latin typeface="Arial" panose="020B0604020202020204" pitchFamily="34" charset="0"/>
            </a:endParaRPr>
          </a:p>
          <a:p>
            <a:r>
              <a:rPr lang="zh-CN" altLang="en-US" b="1" dirty="0">
                <a:latin typeface="Arial" panose="020B0604020202020204" pitchFamily="34" charset="0"/>
              </a:rPr>
              <a:t>生长发育迟缓</a:t>
            </a:r>
            <a:r>
              <a:rPr lang="zh-CN" altLang="en-US" dirty="0">
                <a:latin typeface="Arial" panose="020B0604020202020204" pitchFamily="34" charset="0"/>
              </a:rPr>
              <a:t>：反复发作的低血糖会影响患者的智力发育以及身体发育，表现为智能低下，患者肥胖体、个子矮小、皮肤暗淡，颜色多为淡黄色，肌肉发育差，较常见下肢无力的症状。</a:t>
            </a:r>
            <a:endParaRPr lang="zh-CN" altLang="en-US" dirty="0">
              <a:latin typeface="Arial" panose="020B0604020202020204" pitchFamily="34" charset="0"/>
            </a:endParaRPr>
          </a:p>
          <a:p>
            <a:r>
              <a:rPr lang="zh-CN" altLang="en-US" b="1" dirty="0">
                <a:latin typeface="Arial" panose="020B0604020202020204" pitchFamily="34" charset="0"/>
              </a:rPr>
              <a:t>酮症酸中毒</a:t>
            </a:r>
            <a:r>
              <a:rPr lang="zh-CN" altLang="en-US" dirty="0">
                <a:latin typeface="Arial" panose="020B0604020202020204" pitchFamily="34" charset="0"/>
              </a:rPr>
              <a:t>：是小儿死亡的主要原因。多数病人在发生意识障碍前数天有多尿、烦渴多饮和乏力，随后出现食欲减退、恶心、呕吐，常伴头痛、嗜睡、烦躁、呼吸深快，呼气中有烂苹果味（丙酮）是其典型发作时候的特点。随着病情进一步发展，出现严重失水，尿量减少，皮肤弹性差，眼球下陷，脉细速，血压下降。至晚期时各种反射迟钝甚至消失，嗜睡以至昏迷。</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CE579193-49C0-4539-BC94-F4A7AA037C79}"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幻灯片图像占位符 1"/>
          <p:cNvSpPr>
            <a:spLocks noGrp="1" noRot="1" noChangeAspect="1" noChangeArrowheads="1" noTextEdit="1"/>
          </p:cNvSpPr>
          <p:nvPr>
            <p:ph type="sldImg"/>
          </p:nvPr>
        </p:nvSpPr>
        <p:spPr>
          <a:xfrm>
            <a:off x="381000" y="685800"/>
            <a:ext cx="6096000" cy="3429000"/>
          </a:xfrm>
        </p:spPr>
      </p:sp>
      <p:sp>
        <p:nvSpPr>
          <p:cNvPr id="20377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buClrTx/>
              <a:buSzTx/>
              <a:buFontTx/>
              <a:buNone/>
            </a:pPr>
            <a:r>
              <a:rPr lang="zh-CN" altLang="en-US" sz="1200" b="0" dirty="0">
                <a:latin typeface="Arial" panose="020B0604020202020204" pitchFamily="34" charset="0"/>
                <a:cs typeface="Arial" panose="020B0604020202020204" pitchFamily="34" charset="0"/>
              </a:rPr>
              <a:t>病例</a:t>
            </a:r>
            <a:r>
              <a:rPr lang="en-US" altLang="zh-CN" sz="1200" b="0" dirty="0">
                <a:latin typeface="Arial" panose="020B0604020202020204" pitchFamily="34" charset="0"/>
                <a:cs typeface="Arial" panose="020B0604020202020204" pitchFamily="34" charset="0"/>
              </a:rPr>
              <a:t>A</a:t>
            </a:r>
            <a:r>
              <a:rPr lang="zh-CN" altLang="en-US" sz="1200" b="0" dirty="0">
                <a:latin typeface="Arial" panose="020B0604020202020204" pitchFamily="34" charset="0"/>
                <a:cs typeface="Arial" panose="020B0604020202020204" pitchFamily="34" charset="0"/>
              </a:rPr>
              <a:t>答案： </a:t>
            </a:r>
            <a:r>
              <a:rPr lang="zh-CN" altLang="en-US" sz="1200" b="0" dirty="0">
                <a:solidFill>
                  <a:srgbClr val="0000CC"/>
                </a:solidFill>
                <a:latin typeface="Arial" panose="020B0604020202020204" pitchFamily="34" charset="0"/>
              </a:rPr>
              <a:t>脱支酶缺陷</a:t>
            </a:r>
            <a:r>
              <a:rPr lang="en-US" altLang="zh-CN" sz="1200" b="0" dirty="0">
                <a:solidFill>
                  <a:srgbClr val="0000CC"/>
                </a:solidFill>
                <a:latin typeface="Arial" panose="020B0604020202020204" pitchFamily="34" charset="0"/>
              </a:rPr>
              <a:t>          </a:t>
            </a:r>
            <a:r>
              <a:rPr lang="zh-CN" altLang="en-US" sz="1200" b="0" dirty="0">
                <a:latin typeface="Arial" panose="020B0604020202020204" pitchFamily="34" charset="0"/>
              </a:rPr>
              <a:t>治疗：  避免激烈运动</a:t>
            </a:r>
            <a:endParaRPr lang="en-US" altLang="zh-CN" sz="1200" b="0" dirty="0">
              <a:latin typeface="Arial" panose="020B0604020202020204" pitchFamily="34" charset="0"/>
            </a:endParaRPr>
          </a:p>
          <a:p>
            <a:pPr>
              <a:spcBef>
                <a:spcPct val="0"/>
              </a:spcBef>
              <a:buClrTx/>
              <a:buSzTx/>
              <a:buFontTx/>
              <a:buNone/>
            </a:pPr>
            <a:r>
              <a:rPr lang="zh-CN" altLang="en-US" sz="1200" b="0" dirty="0">
                <a:latin typeface="Arial" panose="020B0604020202020204" pitchFamily="34" charset="0"/>
              </a:rPr>
              <a:t>病例</a:t>
            </a:r>
            <a:r>
              <a:rPr lang="en-US" altLang="zh-CN" sz="1200" b="0" dirty="0">
                <a:latin typeface="Arial" panose="020B0604020202020204" pitchFamily="34" charset="0"/>
              </a:rPr>
              <a:t>B</a:t>
            </a:r>
            <a:r>
              <a:rPr lang="zh-CN" altLang="en-US" sz="1200" b="0" dirty="0">
                <a:latin typeface="Arial" panose="020B0604020202020204" pitchFamily="34" charset="0"/>
              </a:rPr>
              <a:t>答案：  糖原磷酸化酶缺陷    治疗： 少量多餐（每次吃一点点，避免多的葡萄糖生成糖原）</a:t>
            </a:r>
            <a:endParaRPr lang="en-US" altLang="zh-CN" sz="1200" b="0" dirty="0">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b="0"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b="0" dirty="0">
              <a:latin typeface="Arial" panose="020B0604020202020204" pitchFamily="34" charset="0"/>
              <a:cs typeface="Arial" panose="020B0604020202020204" pitchFamily="34" charset="0"/>
            </a:endParaRPr>
          </a:p>
          <a:p>
            <a:endParaRPr lang="zh-CN" altLang="en-US" dirty="0">
              <a:latin typeface="Arial" panose="020B0604020202020204" pitchFamily="34" charset="0"/>
            </a:endParaRPr>
          </a:p>
        </p:txBody>
      </p:sp>
      <p:sp>
        <p:nvSpPr>
          <p:cNvPr id="20378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C47E0036-39B5-4F95-B93C-ECDCBA8117B2}"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ChangeArrowheads="1" noTextEdit="1"/>
          </p:cNvSpPr>
          <p:nvPr>
            <p:ph type="sldImg"/>
          </p:nvPr>
        </p:nvSpPr>
        <p:spPr>
          <a:xfrm>
            <a:off x="381000" y="685800"/>
            <a:ext cx="6096000" cy="3429000"/>
          </a:xfrm>
        </p:spPr>
      </p:sp>
      <p:sp>
        <p:nvSpPr>
          <p:cNvPr id="552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553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1BE94AB8-28E4-44FE-821E-D2FBFAF48564}"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ChangeArrowheads="1" noTextEdit="1"/>
          </p:cNvSpPr>
          <p:nvPr>
            <p:ph type="sldImg"/>
          </p:nvPr>
        </p:nvSpPr>
        <p:spPr>
          <a:xfrm>
            <a:off x="381000" y="685800"/>
            <a:ext cx="6096000" cy="3429000"/>
          </a:xfrm>
        </p:spPr>
      </p:sp>
      <p:sp>
        <p:nvSpPr>
          <p:cNvPr id="573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禁食</a:t>
            </a:r>
            <a:r>
              <a:rPr lang="en-US" altLang="zh-CN" dirty="0">
                <a:latin typeface="Arial" panose="020B0604020202020204" pitchFamily="34" charset="0"/>
              </a:rPr>
              <a:t>16</a:t>
            </a:r>
            <a:r>
              <a:rPr lang="zh-CN" altLang="en-US" dirty="0">
                <a:latin typeface="Arial" panose="020B0604020202020204" pitchFamily="34" charset="0"/>
              </a:rPr>
              <a:t>～</a:t>
            </a:r>
            <a:r>
              <a:rPr lang="en-US" altLang="zh-CN" dirty="0">
                <a:latin typeface="Arial" panose="020B0604020202020204" pitchFamily="34" charset="0"/>
              </a:rPr>
              <a:t>24 </a:t>
            </a:r>
            <a:r>
              <a:rPr lang="zh-CN" altLang="en-US" dirty="0">
                <a:latin typeface="Arial" panose="020B0604020202020204" pitchFamily="34" charset="0"/>
              </a:rPr>
              <a:t>小时肝糖原即将耗尽。 禁食一天，血糖正常，长期饥饿，血糖略有下降。  </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Usually produced only in hepatocytes, in fasting conditions other tissues such as the intestines, muscles, brain, and kidneys are able to produce glucose following activation of gluconeogenesis.</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5734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655A784-6A4C-4333-A7E7-3A774942A0B9}" type="slidenum">
              <a:rPr lang="zh-CN" altLang="en-US" smtClean="0"/>
            </a:fld>
            <a:endParaRPr lang="en-US" altLang="zh-CN"/>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ChangeArrowheads="1" noTextEdit="1"/>
          </p:cNvSpPr>
          <p:nvPr>
            <p:ph type="sldImg"/>
          </p:nvPr>
        </p:nvSpPr>
        <p:spPr>
          <a:xfrm>
            <a:off x="381000" y="685800"/>
            <a:ext cx="6096000" cy="3429000"/>
          </a:xfrm>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乳酸和一些生糖氨基酸（见第九章）经由丙酮酸进行糖异生</a:t>
            </a:r>
            <a:endParaRPr lang="zh-CN" altLang="en-US" dirty="0">
              <a:latin typeface="Arial" panose="020B0604020202020204" pitchFamily="34" charset="0"/>
            </a:endParaRPr>
          </a:p>
        </p:txBody>
      </p:sp>
      <p:sp>
        <p:nvSpPr>
          <p:cNvPr id="5939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779BCBF-393B-4C04-8A3C-202743B65330}" type="slidenum">
              <a:rPr lang="zh-CN" altLang="en-US" smtClean="0"/>
            </a:fld>
            <a:endParaRPr lang="en-US" altLang="zh-CN"/>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ChangeArrowheads="1" noTextEdit="1"/>
          </p:cNvSpPr>
          <p:nvPr>
            <p:ph type="sldImg"/>
          </p:nvPr>
        </p:nvSpPr>
        <p:spPr>
          <a:xfrm>
            <a:off x="381000" y="685800"/>
            <a:ext cx="6096000" cy="3429000"/>
          </a:xfrm>
        </p:spPr>
      </p:sp>
      <p:sp>
        <p:nvSpPr>
          <p:cNvPr id="614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磷酸烯醇式丙酮酸羧激酶胞质和线粒体内均有，分别由不同的基因编码，互为同工酶。 </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614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3C3C3374-8FFB-4C12-A48C-0BA272A43DED}"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ChangeArrowheads="1" noTextEdit="1"/>
          </p:cNvSpPr>
          <p:nvPr>
            <p:ph type="sldImg"/>
          </p:nvPr>
        </p:nvSpPr>
        <p:spPr>
          <a:xfrm>
            <a:off x="381000" y="685800"/>
            <a:ext cx="6096000" cy="3429000"/>
          </a:xfrm>
        </p:spPr>
      </p:sp>
      <p:sp>
        <p:nvSpPr>
          <p:cNvPr id="634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rPr>
              <a:t>以乳酸为原料时，草酰乙酸在线粒体内生成磷酸烯醇式丙酮酸后再出线粒体。</a:t>
            </a:r>
            <a:endParaRPr lang="en-US" altLang="zh-CN" dirty="0">
              <a:latin typeface="Arial" panose="020B0604020202020204" pitchFamily="34" charset="0"/>
            </a:endParaRPr>
          </a:p>
          <a:p>
            <a:pPr eaLnBrk="1" hangingPunct="1"/>
            <a:r>
              <a:rPr lang="zh-CN" altLang="en-US" dirty="0">
                <a:latin typeface="Arial" panose="020B0604020202020204" pitchFamily="34" charset="0"/>
              </a:rPr>
              <a:t>以丙氨酸为原料时，草酰乙酸以苹果酸形式出线粒体，在胞浆内再转变为磷酸烯醇式丙酮酸。 </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en-US" altLang="zh-CN" dirty="0">
                <a:latin typeface="Arial" panose="020B0604020202020204" pitchFamily="34" charset="0"/>
              </a:rPr>
              <a:t>The [NADH]/[NAD+] ratio in the cytosol is 8 × 10</a:t>
            </a:r>
            <a:r>
              <a:rPr lang="en-US" altLang="zh-CN" baseline="30000" dirty="0">
                <a:latin typeface="Arial" panose="020B0604020202020204" pitchFamily="34" charset="0"/>
              </a:rPr>
              <a:t>−4</a:t>
            </a:r>
            <a:r>
              <a:rPr lang="en-US" altLang="zh-CN" dirty="0">
                <a:latin typeface="Arial" panose="020B0604020202020204" pitchFamily="34" charset="0"/>
              </a:rPr>
              <a:t>, about 10</a:t>
            </a:r>
            <a:r>
              <a:rPr lang="en-US" altLang="zh-CN" baseline="30000" dirty="0">
                <a:latin typeface="Arial" panose="020B0604020202020204" pitchFamily="34" charset="0"/>
              </a:rPr>
              <a:t>5</a:t>
            </a:r>
            <a:r>
              <a:rPr lang="en-US" altLang="zh-CN" dirty="0">
                <a:latin typeface="Arial" panose="020B0604020202020204" pitchFamily="34" charset="0"/>
              </a:rPr>
              <a:t> times lower than in mitochondria.</a:t>
            </a:r>
            <a:endParaRPr lang="zh-CN" altLang="en-US" dirty="0">
              <a:latin typeface="Arial" panose="020B0604020202020204" pitchFamily="34" charset="0"/>
            </a:endParaRPr>
          </a:p>
        </p:txBody>
      </p:sp>
      <p:sp>
        <p:nvSpPr>
          <p:cNvPr id="6349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DEBD408-E96F-4805-8D7E-757CA3EDBA1F}" type="slidenum">
              <a:rPr lang="zh-CN" altLang="en-US" smtClean="0"/>
            </a:fld>
            <a:endParaRPr lang="en-US" altLang="zh-CN"/>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ChangeArrowheads="1" noTextEdit="1"/>
          </p:cNvSpPr>
          <p:nvPr>
            <p:ph type="sldImg"/>
          </p:nvPr>
        </p:nvSpPr>
        <p:spPr>
          <a:xfrm>
            <a:off x="381000" y="685800"/>
            <a:ext cx="6096000" cy="3429000"/>
          </a:xfrm>
        </p:spPr>
      </p:sp>
      <p:sp>
        <p:nvSpPr>
          <p:cNvPr id="655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655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8713248-EE8E-4BCD-AF35-1923F4A64869}" type="slidenum">
              <a:rPr lang="zh-CN" altLang="en-US" smtClean="0"/>
            </a:fld>
            <a:endParaRPr lang="en-US" altLang="zh-CN"/>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ChangeArrowheads="1" noTextEdit="1"/>
          </p:cNvSpPr>
          <p:nvPr>
            <p:ph type="sldImg"/>
          </p:nvPr>
        </p:nvSpPr>
        <p:spPr>
          <a:xfrm>
            <a:off x="381000" y="685800"/>
            <a:ext cx="6096000" cy="3429000"/>
          </a:xfrm>
        </p:spPr>
      </p:sp>
      <p:sp>
        <p:nvSpPr>
          <p:cNvPr id="675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latin typeface="Arial" panose="020B0604020202020204" pitchFamily="34" charset="0"/>
              </a:rPr>
              <a:t>2Pyruvate + 4ATP + 2GTP + 2NADH + 2H+ + 4H2O → glucose + 4ADP + 2GDP + 6Pi + 2NAD+</a:t>
            </a:r>
            <a:endParaRPr lang="en-US" altLang="zh-CN" dirty="0">
              <a:latin typeface="Arial" panose="020B0604020202020204" pitchFamily="34" charset="0"/>
            </a:endParaRPr>
          </a:p>
        </p:txBody>
      </p:sp>
      <p:sp>
        <p:nvSpPr>
          <p:cNvPr id="675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1B5B956-321A-4FA8-88C2-3E819FEC0C47}" type="slidenum">
              <a:rPr lang="zh-CN" altLang="en-US" smtClean="0"/>
            </a:fld>
            <a:endParaRPr lang="en-US" altLang="zh-CN"/>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ChangeArrowheads="1" noTextEdit="1"/>
          </p:cNvSpPr>
          <p:nvPr>
            <p:ph type="sldImg"/>
          </p:nvPr>
        </p:nvSpPr>
        <p:spPr>
          <a:xfrm>
            <a:off x="381000" y="685800"/>
            <a:ext cx="6096000" cy="3429000"/>
          </a:xfrm>
        </p:spPr>
      </p:sp>
      <p:sp>
        <p:nvSpPr>
          <p:cNvPr id="696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不是必须从丙酮酸开始 </a:t>
            </a:r>
            <a:r>
              <a:rPr lang="en-US" altLang="zh-CN" dirty="0">
                <a:latin typeface="Arial" panose="020B0604020202020204" pitchFamily="34" charset="0"/>
              </a:rPr>
              <a:t>,</a:t>
            </a:r>
            <a:r>
              <a:rPr lang="zh-CN" altLang="en-US" dirty="0">
                <a:latin typeface="Arial" panose="020B0604020202020204" pitchFamily="34" charset="0"/>
              </a:rPr>
              <a:t>    注意糖异生与糖异生途径之别。</a:t>
            </a:r>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6963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FA9E6F2-385C-4D5F-A013-B6350BF6D16B}" type="slidenum">
              <a:rPr lang="zh-CN" altLang="en-US" smtClean="0"/>
            </a:fld>
            <a:endParaRPr lang="en-US" altLang="zh-CN"/>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ChangeArrowheads="1" noTextEdit="1"/>
          </p:cNvSpPr>
          <p:nvPr>
            <p:ph type="sldImg"/>
          </p:nvPr>
        </p:nvSpPr>
        <p:spPr>
          <a:xfrm>
            <a:off x="381000" y="685800"/>
            <a:ext cx="6096000" cy="3429000"/>
          </a:xfrm>
        </p:spPr>
      </p:sp>
      <p:sp>
        <p:nvSpPr>
          <p:cNvPr id="7168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dirty="0"/>
              <a:t>当两种酶活性相等时，则不能将代谢向前推进，结果仅是</a:t>
            </a:r>
            <a:r>
              <a:rPr kumimoji="1" lang="en-US" altLang="zh-CN" sz="1200" b="0" dirty="0"/>
              <a:t>ATP</a:t>
            </a:r>
            <a:r>
              <a:rPr kumimoji="1" lang="zh-CN" altLang="en-US" sz="1200" b="0" dirty="0"/>
              <a:t>分解释放出能量，因而称之为</a:t>
            </a:r>
            <a:r>
              <a:rPr kumimoji="1" lang="zh-CN" altLang="en-US" sz="1200" b="0" dirty="0">
                <a:solidFill>
                  <a:schemeClr val="tx2"/>
                </a:solidFill>
              </a:rPr>
              <a:t>无效循环(</a:t>
            </a:r>
            <a:r>
              <a:rPr kumimoji="1" lang="en-US" altLang="zh-CN" sz="1200" b="0" dirty="0">
                <a:solidFill>
                  <a:schemeClr val="tx2"/>
                </a:solidFill>
              </a:rPr>
              <a:t>futile cycle)</a:t>
            </a:r>
            <a:r>
              <a:rPr kumimoji="1" lang="en-US" altLang="zh-CN" sz="1200" b="0" dirty="0"/>
              <a:t>。</a:t>
            </a:r>
            <a:endParaRPr kumimoji="1" lang="en-US" altLang="zh-CN" sz="1200" b="0"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dirty="0"/>
              <a:t>因此，有必要通过调节使</a:t>
            </a:r>
            <a:r>
              <a:rPr kumimoji="1" lang="zh-CN" altLang="en-US" sz="1200" b="0" dirty="0">
                <a:solidFill>
                  <a:schemeClr val="tx2"/>
                </a:solidFill>
              </a:rPr>
              <a:t>糖异生途径</a:t>
            </a:r>
            <a:r>
              <a:rPr kumimoji="1" lang="zh-CN" altLang="en-US" sz="1200" b="0" dirty="0"/>
              <a:t>与</a:t>
            </a:r>
            <a:r>
              <a:rPr kumimoji="1" lang="zh-CN" altLang="en-US" sz="1200" b="0" dirty="0">
                <a:solidFill>
                  <a:srgbClr val="000099"/>
                </a:solidFill>
              </a:rPr>
              <a:t>酵解途径</a:t>
            </a:r>
            <a:r>
              <a:rPr kumimoji="1" lang="zh-CN" altLang="en-US" sz="1200" b="0" dirty="0"/>
              <a:t>相互协调，主要是对前述底物循环中的</a:t>
            </a:r>
            <a:r>
              <a:rPr kumimoji="1" lang="zh-CN" altLang="en-US" sz="1200" b="0" u="sng" dirty="0">
                <a:solidFill>
                  <a:schemeClr val="tx2"/>
                </a:solidFill>
              </a:rPr>
              <a:t>后2个底物循环</a:t>
            </a:r>
            <a:r>
              <a:rPr kumimoji="1" lang="zh-CN" altLang="en-US" sz="1200" b="0" dirty="0"/>
              <a:t>进行调节。</a:t>
            </a:r>
            <a:endParaRPr kumimoji="1" lang="en-US" altLang="zh-CN" sz="1200" b="0"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dirty="0"/>
              <a:t>注意两个方向的反应并不是互为逆反应。 </a:t>
            </a:r>
            <a:endParaRPr kumimoji="1" lang="zh-CN" altLang="en-US" sz="1200" b="0" dirty="0"/>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dirty="0"/>
          </a:p>
          <a:p>
            <a:pPr marL="0" marR="0" lvl="0" indent="0" algn="l" defTabSz="914400" rtl="0" eaLnBrk="0" fontAlgn="base" latinLnBrk="0" hangingPunct="0">
              <a:lnSpc>
                <a:spcPct val="100000"/>
              </a:lnSpc>
              <a:spcBef>
                <a:spcPct val="30000"/>
              </a:spcBef>
              <a:spcAft>
                <a:spcPct val="0"/>
              </a:spcAft>
              <a:buClrTx/>
              <a:buSzTx/>
              <a:buFontTx/>
              <a:buNone/>
              <a:defRPr/>
            </a:pPr>
            <a:endParaRPr kumimoji="1" lang="zh-CN" altLang="en-US" sz="1200" b="0" dirty="0"/>
          </a:p>
          <a:p>
            <a:endParaRPr lang="zh-CN" altLang="en-US" dirty="0">
              <a:latin typeface="Arial" panose="020B0604020202020204" pitchFamily="34" charset="0"/>
            </a:endParaRPr>
          </a:p>
        </p:txBody>
      </p:sp>
      <p:sp>
        <p:nvSpPr>
          <p:cNvPr id="7168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15F4FF18-5E6E-423E-98D6-716660F41D55}"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p:nvPr>
        </p:nvSpPr>
        <p:spPr>
          <a:xfrm>
            <a:off x="381000" y="685800"/>
            <a:ext cx="6096000" cy="3429000"/>
          </a:xfrm>
        </p:spPr>
      </p:sp>
      <p:sp>
        <p:nvSpPr>
          <p:cNvPr id="7475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胰高血糖素的作用会减少果糖</a:t>
            </a:r>
            <a:r>
              <a:rPr lang="en-US" altLang="zh-CN"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6-</a:t>
            </a:r>
            <a:r>
              <a:rPr lang="zh-CN" altLang="en-US" dirty="0">
                <a:latin typeface="Arial" panose="020B0604020202020204" pitchFamily="34" charset="0"/>
              </a:rPr>
              <a:t>二磷酸的生成，胰岛素反之</a:t>
            </a:r>
            <a:endParaRPr lang="zh-CN" altLang="en-US" dirty="0">
              <a:latin typeface="Arial" panose="020B0604020202020204" pitchFamily="34" charset="0"/>
            </a:endParaRPr>
          </a:p>
        </p:txBody>
      </p:sp>
      <p:sp>
        <p:nvSpPr>
          <p:cNvPr id="747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27DC901C-9B45-47DD-98BA-73E4898C1F1D}"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ChangeArrowheads="1" noTextEdit="1"/>
          </p:cNvSpPr>
          <p:nvPr>
            <p:ph type="sldImg"/>
          </p:nvPr>
        </p:nvSpPr>
        <p:spPr>
          <a:xfrm>
            <a:off x="381000" y="685800"/>
            <a:ext cx="6096000" cy="3429000"/>
          </a:xfrm>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磷酸烯醇式丙酮酸羧激酶受激素诱导的含量调节   </a:t>
            </a:r>
            <a:endParaRPr lang="en-US" altLang="zh-CN" dirty="0">
              <a:latin typeface="Arial" panose="020B0604020202020204" pitchFamily="34" charset="0"/>
            </a:endParaRPr>
          </a:p>
          <a:p>
            <a:r>
              <a:rPr lang="zh-CN" altLang="en-US" b="1" dirty="0">
                <a:latin typeface="Arial" panose="020B0604020202020204" pitchFamily="34" charset="0"/>
              </a:rPr>
              <a:t>胰高血糖素通过</a:t>
            </a:r>
            <a:r>
              <a:rPr lang="en-US" altLang="zh-CN" b="1" dirty="0">
                <a:latin typeface="Arial" panose="020B0604020202020204" pitchFamily="34" charset="0"/>
              </a:rPr>
              <a:t>cAMP</a:t>
            </a:r>
            <a:r>
              <a:rPr lang="zh-CN" altLang="en-US" b="1" dirty="0">
                <a:latin typeface="Arial" panose="020B0604020202020204" pitchFamily="34" charset="0"/>
              </a:rPr>
              <a:t>，快速诱导磷酸烯醇式丙酮酸羧激酶基因的表达，促进合成酶蛋白，加强糖异生。胰岛素则作用相反</a:t>
            </a:r>
            <a:r>
              <a:rPr lang="zh-CN" altLang="en-US" dirty="0">
                <a:latin typeface="Arial" panose="020B0604020202020204" pitchFamily="34" charset="0"/>
              </a:rPr>
              <a:t>，显著减少磷酸烯醇式丙酮酸羧激酶的蛋白合成，使糖异生减弱。</a:t>
            </a:r>
            <a:endParaRPr lang="zh-CN" altLang="en-US" dirty="0">
              <a:latin typeface="Arial" panose="020B0604020202020204" pitchFamily="34" charset="0"/>
            </a:endParaRPr>
          </a:p>
        </p:txBody>
      </p:sp>
      <p:sp>
        <p:nvSpPr>
          <p:cNvPr id="768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4860956-AD98-452B-8886-EAD92EF703BF}" type="slidenum">
              <a:rPr lang="zh-CN" altLang="en-US" smtClean="0"/>
            </a:fld>
            <a:endParaRPr lang="en-US" altLang="zh-CN"/>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p:nvPr>
        </p:nvSpPr>
        <p:spPr>
          <a:xfrm>
            <a:off x="381000" y="685800"/>
            <a:ext cx="6096000" cy="3429000"/>
          </a:xfrm>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糖异生障碍通常是致命性的，可致严重低血糖</a:t>
            </a:r>
            <a:endParaRPr lang="zh-CN" altLang="en-US"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低血糖</a:t>
            </a:r>
            <a:r>
              <a:rPr lang="en-US" altLang="zh-CN" dirty="0">
                <a:latin typeface="Arial" panose="020B0604020202020204" pitchFamily="34" charset="0"/>
              </a:rPr>
              <a:t>hypoglycemia</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b="1" dirty="0">
                <a:latin typeface="Arial" panose="020B0604020202020204" pitchFamily="34" charset="0"/>
              </a:rPr>
              <a:t>Fructose 1,6-diphosphatase deficiency </a:t>
            </a:r>
            <a:r>
              <a:rPr lang="en-US" altLang="zh-CN" dirty="0">
                <a:latin typeface="Arial" panose="020B0604020202020204" pitchFamily="34" charset="0"/>
              </a:rPr>
              <a:t>is associated with an impaired ability to form glucose from other substrates.   Symptoms include </a:t>
            </a:r>
            <a:r>
              <a:rPr lang="en-US" altLang="zh-CN" b="1" dirty="0">
                <a:latin typeface="Arial" panose="020B0604020202020204" pitchFamily="34" charset="0"/>
              </a:rPr>
              <a:t>severe hypoglycemia, intolerance to fasting, and enlargement of the liver</a:t>
            </a:r>
            <a:r>
              <a:rPr lang="en-US" altLang="zh-CN" dirty="0">
                <a:latin typeface="Arial" panose="020B0604020202020204" pitchFamily="34" charset="0"/>
              </a:rPr>
              <a:t>.   </a:t>
            </a:r>
            <a:endParaRPr lang="en-US" altLang="zh-CN" dirty="0">
              <a:latin typeface="Arial" panose="020B0604020202020204" pitchFamily="34" charset="0"/>
            </a:endParaRPr>
          </a:p>
          <a:p>
            <a:r>
              <a:rPr lang="en-US" altLang="zh-CN" dirty="0">
                <a:latin typeface="Arial" panose="020B0604020202020204" pitchFamily="34" charset="0"/>
              </a:rPr>
              <a:t>Treatment:     not fasting for long periods,     eating high-carbohydrate food.     avoid fructose containing foods (as well as sucrose which breaks down to fructose). hypoglycemic episodes with intravenous fluids containing glucose ,    Some patients require continuous overnight drip feeds or a bedtime dose of cornstarch in order to control their tendency to develop hypoglycemia.</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788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C965A4A-72C2-44AD-8BB3-FA69652FD8DC}" type="slidenum">
              <a:rPr lang="zh-CN" altLang="en-US" smtClean="0"/>
            </a:fld>
            <a:endParaRPr lang="en-US" altLang="zh-CN"/>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ChangeArrowheads="1" noTextEdit="1"/>
          </p:cNvSpPr>
          <p:nvPr>
            <p:ph type="sldImg"/>
          </p:nvPr>
        </p:nvSpPr>
        <p:spPr>
          <a:xfrm>
            <a:off x="381000" y="685800"/>
            <a:ext cx="6096000" cy="3429000"/>
          </a:xfrm>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肾糖异生增强会消耗草酰乙酸，促使</a:t>
            </a:r>
            <a:r>
              <a:rPr kumimoji="1" lang="en-US" altLang="zh-CN" dirty="0">
                <a:latin typeface="Symbol" panose="05050102010706020507" pitchFamily="18" charset="2"/>
              </a:rPr>
              <a:t>a</a:t>
            </a:r>
            <a:r>
              <a:rPr kumimoji="1" lang="en-US" altLang="zh-CN" dirty="0">
                <a:latin typeface="Arial" panose="020B0604020202020204" pitchFamily="34" charset="0"/>
              </a:rPr>
              <a:t>-</a:t>
            </a:r>
            <a:r>
              <a:rPr kumimoji="1" lang="zh-CN" altLang="en-US" dirty="0">
                <a:latin typeface="Arial" panose="020B0604020202020204" pitchFamily="34" charset="0"/>
              </a:rPr>
              <a:t>酮戊二酸向草酰乙酸转变， 进而谷氨酸脱氨转化为</a:t>
            </a:r>
            <a:r>
              <a:rPr kumimoji="1" lang="en-US" altLang="zh-CN" dirty="0">
                <a:latin typeface="Symbol" panose="05050102010706020507" pitchFamily="18" charset="2"/>
              </a:rPr>
              <a:t>a</a:t>
            </a:r>
            <a:r>
              <a:rPr kumimoji="1" lang="en-US" altLang="zh-CN" dirty="0">
                <a:latin typeface="Arial" panose="020B0604020202020204" pitchFamily="34" charset="0"/>
              </a:rPr>
              <a:t>-</a:t>
            </a:r>
            <a:r>
              <a:rPr kumimoji="1" lang="zh-CN" altLang="en-US" dirty="0">
                <a:latin typeface="Arial" panose="020B0604020202020204" pitchFamily="34" charset="0"/>
              </a:rPr>
              <a:t>酮戊二酸，谷氨酰胺又脱氨变为谷氨酸。</a:t>
            </a:r>
            <a:endParaRPr kumimoji="1" lang="en-US" altLang="zh-CN" dirty="0">
              <a:latin typeface="Arial" panose="020B0604020202020204" pitchFamily="34" charset="0"/>
            </a:endParaRPr>
          </a:p>
          <a:p>
            <a:r>
              <a:rPr kumimoji="1" lang="zh-CN" altLang="en-US" dirty="0">
                <a:latin typeface="Arial" panose="020B0604020202020204" pitchFamily="34" charset="0"/>
              </a:rPr>
              <a:t>有利于排氢保钠</a:t>
            </a:r>
            <a:endParaRPr lang="zh-CN" altLang="en-US" dirty="0">
              <a:latin typeface="Arial" panose="020B0604020202020204" pitchFamily="34" charset="0"/>
            </a:endParaRPr>
          </a:p>
        </p:txBody>
      </p:sp>
      <p:sp>
        <p:nvSpPr>
          <p:cNvPr id="8090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E27D6F6-6C87-4842-A889-C344CD3BAC1F}" type="slidenum">
              <a:rPr lang="zh-CN" altLang="en-US" smtClean="0"/>
            </a:fld>
            <a:endParaRPr lang="en-US" altLang="zh-CN"/>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ChangeArrowheads="1" noTextEdit="1"/>
          </p:cNvSpPr>
          <p:nvPr>
            <p:ph type="sldImg"/>
          </p:nvPr>
        </p:nvSpPr>
        <p:spPr>
          <a:xfrm>
            <a:off x="381000" y="685800"/>
            <a:ext cx="6096000" cy="3429000"/>
          </a:xfrm>
        </p:spPr>
      </p:sp>
      <p:sp>
        <p:nvSpPr>
          <p:cNvPr id="829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肌收缩产生的乳酸在肝内糖异生形成乳酸循环</a:t>
            </a:r>
            <a:endParaRPr lang="zh-CN" altLang="en-US" dirty="0">
              <a:latin typeface="Arial" panose="020B0604020202020204" pitchFamily="34" charset="0"/>
            </a:endParaRPr>
          </a:p>
        </p:txBody>
      </p:sp>
      <p:sp>
        <p:nvSpPr>
          <p:cNvPr id="8294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BD8EFF-24EA-40D0-98FF-6CBD493C0C18}" type="slidenum">
              <a:rPr lang="zh-CN" altLang="en-US" smtClean="0"/>
            </a:fld>
            <a:endParaRPr lang="en-US" altLang="zh-CN"/>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ChangeArrowheads="1" noTextEdit="1"/>
          </p:cNvSpPr>
          <p:nvPr>
            <p:ph type="sldImg"/>
          </p:nvPr>
        </p:nvSpPr>
        <p:spPr>
          <a:xfrm>
            <a:off x="381000" y="685800"/>
            <a:ext cx="6096000" cy="3429000"/>
          </a:xfrm>
        </p:spPr>
      </p:sp>
      <p:sp>
        <p:nvSpPr>
          <p:cNvPr id="849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0" i="0" dirty="0">
                <a:solidFill>
                  <a:srgbClr val="3C4043"/>
                </a:solidFill>
                <a:effectLst/>
                <a:latin typeface="Roboto" panose="02000000000000000000" pitchFamily="2" charset="0"/>
              </a:rPr>
              <a:t>当今生物化学教科书中有关糖原代谢的大部分内容都是由卡尔</a:t>
            </a:r>
            <a:r>
              <a:rPr lang="en-US" altLang="zh-CN" b="0" i="0" dirty="0">
                <a:solidFill>
                  <a:srgbClr val="3C4043"/>
                </a:solidFill>
                <a:effectLst/>
                <a:latin typeface="Roboto" panose="02000000000000000000" pitchFamily="2" charset="0"/>
              </a:rPr>
              <a:t>·F·</a:t>
            </a:r>
            <a:r>
              <a:rPr lang="zh-CN" altLang="en-US" b="0" i="0" dirty="0">
                <a:solidFill>
                  <a:srgbClr val="3C4043"/>
                </a:solidFill>
                <a:effectLst/>
                <a:latin typeface="Roboto" panose="02000000000000000000" pitchFamily="2" charset="0"/>
              </a:rPr>
              <a:t>科里 </a:t>
            </a:r>
            <a:r>
              <a:rPr lang="en-US" altLang="zh-CN" b="0" i="0" dirty="0">
                <a:solidFill>
                  <a:srgbClr val="3C4043"/>
                </a:solidFill>
                <a:effectLst/>
                <a:latin typeface="Roboto" panose="02000000000000000000" pitchFamily="2" charset="0"/>
              </a:rPr>
              <a:t>(Carl F. Cori) </a:t>
            </a:r>
            <a:r>
              <a:rPr lang="zh-CN" altLang="en-US" b="0" i="0" dirty="0">
                <a:solidFill>
                  <a:srgbClr val="3C4043"/>
                </a:solidFill>
                <a:effectLst/>
                <a:latin typeface="Roboto" panose="02000000000000000000" pitchFamily="2" charset="0"/>
              </a:rPr>
              <a:t>和格蒂</a:t>
            </a:r>
            <a:r>
              <a:rPr lang="en-US" altLang="zh-CN" b="0" i="0" dirty="0">
                <a:solidFill>
                  <a:srgbClr val="3C4043"/>
                </a:solidFill>
                <a:effectLst/>
                <a:latin typeface="Roboto" panose="02000000000000000000" pitchFamily="2" charset="0"/>
              </a:rPr>
              <a:t>·T·</a:t>
            </a:r>
            <a:r>
              <a:rPr lang="zh-CN" altLang="en-US" b="0" i="0" dirty="0">
                <a:solidFill>
                  <a:srgbClr val="3C4043"/>
                </a:solidFill>
                <a:effectLst/>
                <a:latin typeface="Roboto" panose="02000000000000000000" pitchFamily="2" charset="0"/>
              </a:rPr>
              <a:t>科里 </a:t>
            </a:r>
            <a:r>
              <a:rPr lang="en-US" altLang="zh-CN" b="0" i="0" dirty="0">
                <a:solidFill>
                  <a:srgbClr val="3C4043"/>
                </a:solidFill>
                <a:effectLst/>
                <a:latin typeface="Roboto" panose="02000000000000000000" pitchFamily="2" charset="0"/>
              </a:rPr>
              <a:t>(</a:t>
            </a:r>
            <a:r>
              <a:rPr lang="en-US" altLang="zh-CN" b="0" i="0" dirty="0" err="1">
                <a:solidFill>
                  <a:srgbClr val="3C4043"/>
                </a:solidFill>
                <a:effectLst/>
                <a:latin typeface="Roboto" panose="02000000000000000000" pitchFamily="2" charset="0"/>
              </a:rPr>
              <a:t>Gerty</a:t>
            </a:r>
            <a:r>
              <a:rPr lang="en-US" altLang="zh-CN" b="0" i="0" dirty="0">
                <a:solidFill>
                  <a:srgbClr val="3C4043"/>
                </a:solidFill>
                <a:effectLst/>
                <a:latin typeface="Roboto" panose="02000000000000000000" pitchFamily="2" charset="0"/>
              </a:rPr>
              <a:t> T. Cori) </a:t>
            </a:r>
            <a:r>
              <a:rPr lang="zh-CN" altLang="en-US" b="0" i="0" dirty="0">
                <a:solidFill>
                  <a:srgbClr val="3C4043"/>
                </a:solidFill>
                <a:effectLst/>
                <a:latin typeface="Roboto" panose="02000000000000000000" pitchFamily="2" charset="0"/>
              </a:rPr>
              <a:t>夫妇这一杰出的夫妻团队在大约 </a:t>
            </a:r>
            <a:r>
              <a:rPr lang="en-US" altLang="zh-CN" b="0" i="0" dirty="0">
                <a:solidFill>
                  <a:srgbClr val="3C4043"/>
                </a:solidFill>
                <a:effectLst/>
                <a:latin typeface="Roboto" panose="02000000000000000000" pitchFamily="2" charset="0"/>
              </a:rPr>
              <a:t>1925 </a:t>
            </a:r>
            <a:r>
              <a:rPr lang="zh-CN" altLang="en-US" b="0" i="0" dirty="0">
                <a:solidFill>
                  <a:srgbClr val="3C4043"/>
                </a:solidFill>
                <a:effectLst/>
                <a:latin typeface="Roboto" panose="02000000000000000000" pitchFamily="2" charset="0"/>
              </a:rPr>
              <a:t>年至 </a:t>
            </a:r>
            <a:r>
              <a:rPr lang="en-US" altLang="zh-CN" b="0" i="0" dirty="0">
                <a:solidFill>
                  <a:srgbClr val="3C4043"/>
                </a:solidFill>
                <a:effectLst/>
                <a:latin typeface="Roboto" panose="02000000000000000000" pitchFamily="2" charset="0"/>
              </a:rPr>
              <a:t>1950 </a:t>
            </a:r>
            <a:r>
              <a:rPr lang="zh-CN" altLang="en-US" b="0" i="0" dirty="0">
                <a:solidFill>
                  <a:srgbClr val="3C4043"/>
                </a:solidFill>
                <a:effectLst/>
                <a:latin typeface="Roboto" panose="02000000000000000000" pitchFamily="2" charset="0"/>
              </a:rPr>
              <a:t>年间发现的。</a:t>
            </a:r>
            <a:endParaRPr lang="en-US" altLang="zh-CN" b="0" i="0" dirty="0">
              <a:solidFill>
                <a:srgbClr val="3C4043"/>
              </a:solidFill>
              <a:effectLst/>
              <a:latin typeface="Roboto" panose="02000000000000000000" pitchFamily="2" charset="0"/>
            </a:endParaRPr>
          </a:p>
          <a:p>
            <a:endParaRPr lang="en-US" altLang="zh-CN" b="0" i="0" dirty="0">
              <a:solidFill>
                <a:srgbClr val="3C4043"/>
              </a:solidFill>
              <a:effectLst/>
              <a:latin typeface="Roboto" panose="02000000000000000000" pitchFamily="2" charset="0"/>
            </a:endParaRPr>
          </a:p>
          <a:p>
            <a:r>
              <a:rPr lang="zh-CN" altLang="en-US" b="0" i="0" dirty="0">
                <a:solidFill>
                  <a:srgbClr val="3C4043"/>
                </a:solidFill>
                <a:effectLst/>
                <a:latin typeface="Roboto" panose="02000000000000000000" pitchFamily="2" charset="0"/>
              </a:rPr>
              <a:t>位于圣路易斯的 </a:t>
            </a:r>
            <a:r>
              <a:rPr lang="en-US" altLang="zh-CN" b="0" i="0" dirty="0">
                <a:solidFill>
                  <a:srgbClr val="3C4043"/>
                </a:solidFill>
                <a:effectLst/>
                <a:latin typeface="Roboto" panose="02000000000000000000" pitchFamily="2" charset="0"/>
              </a:rPr>
              <a:t>Cori </a:t>
            </a:r>
            <a:r>
              <a:rPr lang="zh-CN" altLang="en-US" b="0" i="0" dirty="0">
                <a:solidFill>
                  <a:srgbClr val="3C4043"/>
                </a:solidFill>
                <a:effectLst/>
                <a:latin typeface="Roboto" panose="02000000000000000000" pitchFamily="2" charset="0"/>
              </a:rPr>
              <a:t>实验室在 </a:t>
            </a:r>
            <a:r>
              <a:rPr lang="en-US" altLang="zh-CN" b="0" i="0" dirty="0">
                <a:solidFill>
                  <a:srgbClr val="3C4043"/>
                </a:solidFill>
                <a:effectLst/>
                <a:latin typeface="Roboto" panose="02000000000000000000" pitchFamily="2" charset="0"/>
              </a:rPr>
              <a:t>20 </a:t>
            </a:r>
            <a:r>
              <a:rPr lang="zh-CN" altLang="en-US" b="0" i="0" dirty="0">
                <a:solidFill>
                  <a:srgbClr val="3C4043"/>
                </a:solidFill>
                <a:effectLst/>
                <a:latin typeface="Roboto" panose="02000000000000000000" pitchFamily="2" charset="0"/>
              </a:rPr>
              <a:t>世纪 </a:t>
            </a:r>
            <a:r>
              <a:rPr lang="en-US" altLang="zh-CN" b="0" i="0" dirty="0">
                <a:solidFill>
                  <a:srgbClr val="3C4043"/>
                </a:solidFill>
                <a:effectLst/>
                <a:latin typeface="Roboto" panose="02000000000000000000" pitchFamily="2" charset="0"/>
              </a:rPr>
              <a:t>40 </a:t>
            </a:r>
            <a:r>
              <a:rPr lang="zh-CN" altLang="en-US" b="0" i="0" dirty="0">
                <a:solidFill>
                  <a:srgbClr val="3C4043"/>
                </a:solidFill>
                <a:effectLst/>
                <a:latin typeface="Roboto" panose="02000000000000000000" pitchFamily="2" charset="0"/>
              </a:rPr>
              <a:t>年代和 </a:t>
            </a:r>
            <a:r>
              <a:rPr lang="en-US" altLang="zh-CN" b="0" i="0" dirty="0">
                <a:solidFill>
                  <a:srgbClr val="3C4043"/>
                </a:solidFill>
                <a:effectLst/>
                <a:latin typeface="Roboto" panose="02000000000000000000" pitchFamily="2" charset="0"/>
              </a:rPr>
              <a:t>1950 </a:t>
            </a:r>
            <a:r>
              <a:rPr lang="zh-CN" altLang="en-US" b="0" i="0" dirty="0">
                <a:solidFill>
                  <a:srgbClr val="3C4043"/>
                </a:solidFill>
                <a:effectLst/>
                <a:latin typeface="Roboto" panose="02000000000000000000" pitchFamily="2" charset="0"/>
              </a:rPr>
              <a:t>年代成为国际生化研究中心，至少有六名在该实验室受过训练的科学家后来成为诺贝尔奖获得者：</a:t>
            </a:r>
            <a:r>
              <a:rPr lang="en-US" altLang="zh-CN" b="0" i="0" dirty="0">
                <a:solidFill>
                  <a:srgbClr val="3C4043"/>
                </a:solidFill>
                <a:effectLst/>
                <a:latin typeface="Roboto" panose="02000000000000000000" pitchFamily="2" charset="0"/>
              </a:rPr>
              <a:t>Arthur Kornberg</a:t>
            </a:r>
            <a:r>
              <a:rPr lang="zh-CN" altLang="en-US" b="0" i="0" dirty="0">
                <a:solidFill>
                  <a:srgbClr val="3C4043"/>
                </a:solidFill>
                <a:effectLst/>
                <a:latin typeface="Roboto" panose="02000000000000000000" pitchFamily="2" charset="0"/>
              </a:rPr>
              <a:t>（</a:t>
            </a:r>
            <a:r>
              <a:rPr lang="en-US" altLang="zh-CN" b="0" i="0" dirty="0">
                <a:solidFill>
                  <a:srgbClr val="3C4043"/>
                </a:solidFill>
                <a:effectLst/>
                <a:latin typeface="Roboto" panose="02000000000000000000" pitchFamily="2" charset="0"/>
              </a:rPr>
              <a:t>DNA </a:t>
            </a:r>
            <a:r>
              <a:rPr lang="zh-CN" altLang="en-US" b="0" i="0" dirty="0">
                <a:solidFill>
                  <a:srgbClr val="3C4043"/>
                </a:solidFill>
                <a:effectLst/>
                <a:latin typeface="Roboto" panose="02000000000000000000" pitchFamily="2" charset="0"/>
              </a:rPr>
              <a:t>合成酶的发现者，</a:t>
            </a:r>
            <a:r>
              <a:rPr lang="en-US" altLang="zh-CN" b="0" i="0" dirty="0">
                <a:solidFill>
                  <a:srgbClr val="3C4043"/>
                </a:solidFill>
                <a:effectLst/>
                <a:latin typeface="Roboto" panose="02000000000000000000" pitchFamily="2" charset="0"/>
              </a:rPr>
              <a:t>1959 </a:t>
            </a:r>
            <a:r>
              <a:rPr lang="zh-CN" altLang="en-US" b="0" i="0" dirty="0">
                <a:solidFill>
                  <a:srgbClr val="3C4043"/>
                </a:solidFill>
                <a:effectLst/>
                <a:latin typeface="Roboto" panose="02000000000000000000" pitchFamily="2" charset="0"/>
              </a:rPr>
              <a:t>年诺奖）、</a:t>
            </a:r>
            <a:r>
              <a:rPr lang="en-US" altLang="zh-CN" b="0" i="0" dirty="0" err="1">
                <a:solidFill>
                  <a:srgbClr val="3C4043"/>
                </a:solidFill>
                <a:effectLst/>
                <a:latin typeface="Roboto" panose="02000000000000000000" pitchFamily="2" charset="0"/>
              </a:rPr>
              <a:t>Severo</a:t>
            </a:r>
            <a:r>
              <a:rPr lang="en-US" altLang="zh-CN" b="0" i="0" dirty="0">
                <a:solidFill>
                  <a:srgbClr val="3C4043"/>
                </a:solidFill>
                <a:effectLst/>
                <a:latin typeface="Roboto" panose="02000000000000000000" pitchFamily="2" charset="0"/>
              </a:rPr>
              <a:t> Ochoa</a:t>
            </a:r>
            <a:r>
              <a:rPr lang="zh-CN" altLang="en-US" b="0" i="0" dirty="0">
                <a:solidFill>
                  <a:srgbClr val="3C4043"/>
                </a:solidFill>
                <a:effectLst/>
                <a:latin typeface="Roboto" panose="02000000000000000000" pitchFamily="2" charset="0"/>
              </a:rPr>
              <a:t>（</a:t>
            </a:r>
            <a:r>
              <a:rPr lang="en-US" altLang="zh-CN" b="0" i="0" dirty="0">
                <a:solidFill>
                  <a:srgbClr val="3C4043"/>
                </a:solidFill>
                <a:effectLst/>
                <a:latin typeface="Roboto" panose="02000000000000000000" pitchFamily="2" charset="0"/>
              </a:rPr>
              <a:t>RNA </a:t>
            </a:r>
            <a:r>
              <a:rPr lang="zh-CN" altLang="en-US" b="0" i="0" dirty="0">
                <a:solidFill>
                  <a:srgbClr val="3C4043"/>
                </a:solidFill>
                <a:effectLst/>
                <a:latin typeface="Roboto" panose="02000000000000000000" pitchFamily="2" charset="0"/>
              </a:rPr>
              <a:t>合成酶的发现者， </a:t>
            </a:r>
            <a:r>
              <a:rPr lang="en-US" altLang="zh-CN" b="0" i="0" dirty="0">
                <a:solidFill>
                  <a:srgbClr val="3C4043"/>
                </a:solidFill>
                <a:effectLst/>
                <a:latin typeface="Roboto" panose="02000000000000000000" pitchFamily="2" charset="0"/>
              </a:rPr>
              <a:t>1959</a:t>
            </a:r>
            <a:r>
              <a:rPr lang="zh-CN" altLang="en-US" b="0" i="0" dirty="0">
                <a:solidFill>
                  <a:srgbClr val="3C4043"/>
                </a:solidFill>
                <a:effectLst/>
                <a:latin typeface="Roboto" panose="02000000000000000000" pitchFamily="2" charset="0"/>
              </a:rPr>
              <a:t>诺奖），</a:t>
            </a:r>
            <a:r>
              <a:rPr lang="en-US" altLang="zh-CN" b="0" i="0" dirty="0">
                <a:solidFill>
                  <a:srgbClr val="3C4043"/>
                </a:solidFill>
                <a:effectLst/>
                <a:latin typeface="Roboto" panose="02000000000000000000" pitchFamily="2" charset="0"/>
              </a:rPr>
              <a:t>Luis Leloir</a:t>
            </a:r>
            <a:r>
              <a:rPr lang="zh-CN" altLang="en-US" b="0" i="0" dirty="0">
                <a:solidFill>
                  <a:srgbClr val="3C4043"/>
                </a:solidFill>
                <a:effectLst/>
                <a:latin typeface="Roboto" panose="02000000000000000000" pitchFamily="2" charset="0"/>
              </a:rPr>
              <a:t>（发现糖核苷酸在多糖合成中的作用，</a:t>
            </a:r>
            <a:r>
              <a:rPr lang="en-US" altLang="zh-CN" b="0" i="0" dirty="0">
                <a:solidFill>
                  <a:srgbClr val="3C4043"/>
                </a:solidFill>
                <a:effectLst/>
                <a:latin typeface="Roboto" panose="02000000000000000000" pitchFamily="2" charset="0"/>
              </a:rPr>
              <a:t>1970</a:t>
            </a:r>
            <a:r>
              <a:rPr lang="zh-CN" altLang="en-US" b="0" i="0" dirty="0">
                <a:solidFill>
                  <a:srgbClr val="3C4043"/>
                </a:solidFill>
                <a:effectLst/>
                <a:latin typeface="Roboto" panose="02000000000000000000" pitchFamily="2" charset="0"/>
              </a:rPr>
              <a:t>年诺奖），</a:t>
            </a:r>
            <a:r>
              <a:rPr lang="en-US" altLang="zh-CN" b="0" i="0" dirty="0">
                <a:solidFill>
                  <a:srgbClr val="3C4043"/>
                </a:solidFill>
                <a:effectLst/>
                <a:latin typeface="Roboto" panose="02000000000000000000" pitchFamily="2" charset="0"/>
              </a:rPr>
              <a:t>Earl Sutherland</a:t>
            </a:r>
            <a:r>
              <a:rPr lang="zh-CN" altLang="en-US" b="0" i="0" dirty="0">
                <a:solidFill>
                  <a:srgbClr val="3C4043"/>
                </a:solidFill>
                <a:effectLst/>
                <a:latin typeface="Roboto" panose="02000000000000000000" pitchFamily="2" charset="0"/>
              </a:rPr>
              <a:t>（发现 </a:t>
            </a:r>
            <a:r>
              <a:rPr lang="en-US" altLang="zh-CN" b="0" i="0" dirty="0">
                <a:solidFill>
                  <a:srgbClr val="3C4043"/>
                </a:solidFill>
                <a:effectLst/>
                <a:latin typeface="Roboto" panose="02000000000000000000" pitchFamily="2" charset="0"/>
              </a:rPr>
              <a:t>cAMP </a:t>
            </a:r>
            <a:r>
              <a:rPr lang="zh-CN" altLang="en-US" b="0" i="0" dirty="0">
                <a:solidFill>
                  <a:srgbClr val="3C4043"/>
                </a:solidFill>
                <a:effectLst/>
                <a:latin typeface="Roboto" panose="02000000000000000000" pitchFamily="2" charset="0"/>
              </a:rPr>
              <a:t>在碳水化合物代谢调节中的作用，</a:t>
            </a:r>
            <a:r>
              <a:rPr lang="en-US" altLang="zh-CN" b="0" i="0" dirty="0">
                <a:solidFill>
                  <a:srgbClr val="3C4043"/>
                </a:solidFill>
                <a:effectLst/>
                <a:latin typeface="Roboto" panose="02000000000000000000" pitchFamily="2" charset="0"/>
              </a:rPr>
              <a:t>1971</a:t>
            </a:r>
            <a:r>
              <a:rPr lang="zh-CN" altLang="en-US" b="0" i="0" dirty="0">
                <a:solidFill>
                  <a:srgbClr val="3C4043"/>
                </a:solidFill>
                <a:effectLst/>
                <a:latin typeface="Roboto" panose="02000000000000000000" pitchFamily="2" charset="0"/>
              </a:rPr>
              <a:t>年诺奖），</a:t>
            </a:r>
            <a:r>
              <a:rPr lang="en-US" altLang="zh-CN" b="0" i="0" dirty="0">
                <a:solidFill>
                  <a:srgbClr val="3C4043"/>
                </a:solidFill>
                <a:effectLst/>
                <a:latin typeface="Roboto" panose="02000000000000000000" pitchFamily="2" charset="0"/>
              </a:rPr>
              <a:t>Christian de Duve</a:t>
            </a:r>
            <a:r>
              <a:rPr lang="zh-CN" altLang="en-US" b="0" i="0" dirty="0">
                <a:solidFill>
                  <a:srgbClr val="3C4043"/>
                </a:solidFill>
                <a:effectLst/>
                <a:latin typeface="Roboto" panose="02000000000000000000" pitchFamily="2" charset="0"/>
              </a:rPr>
              <a:t>（亚细胞分级分离技术，</a:t>
            </a:r>
            <a:r>
              <a:rPr lang="en-US" altLang="zh-CN" b="0" i="0" dirty="0">
                <a:solidFill>
                  <a:srgbClr val="3C4043"/>
                </a:solidFill>
                <a:effectLst/>
                <a:latin typeface="Roboto" panose="02000000000000000000" pitchFamily="2" charset="0"/>
              </a:rPr>
              <a:t>1974</a:t>
            </a:r>
            <a:r>
              <a:rPr lang="zh-CN" altLang="en-US" b="0" i="0" dirty="0">
                <a:solidFill>
                  <a:srgbClr val="3C4043"/>
                </a:solidFill>
                <a:effectLst/>
                <a:latin typeface="Roboto" panose="02000000000000000000" pitchFamily="2" charset="0"/>
              </a:rPr>
              <a:t>年诺奖），和 </a:t>
            </a:r>
            <a:r>
              <a:rPr lang="en-US" altLang="zh-CN" b="0" i="0" dirty="0">
                <a:solidFill>
                  <a:srgbClr val="3C4043"/>
                </a:solidFill>
                <a:effectLst/>
                <a:latin typeface="Roboto" panose="02000000000000000000" pitchFamily="2" charset="0"/>
              </a:rPr>
              <a:t>Edwin Krebs</a:t>
            </a:r>
            <a:r>
              <a:rPr lang="zh-CN" altLang="en-US" b="0" i="0" dirty="0">
                <a:solidFill>
                  <a:srgbClr val="3C4043"/>
                </a:solidFill>
                <a:effectLst/>
                <a:latin typeface="Roboto" panose="02000000000000000000" pitchFamily="2" charset="0"/>
              </a:rPr>
              <a:t>（发现磷酸化酶激酶，</a:t>
            </a:r>
            <a:r>
              <a:rPr lang="en-US" altLang="zh-CN" b="0" i="0" dirty="0">
                <a:solidFill>
                  <a:srgbClr val="3C4043"/>
                </a:solidFill>
                <a:effectLst/>
                <a:latin typeface="Roboto" panose="02000000000000000000" pitchFamily="2" charset="0"/>
              </a:rPr>
              <a:t>1991</a:t>
            </a:r>
            <a:r>
              <a:rPr lang="zh-CN" altLang="en-US" b="0" i="0" dirty="0">
                <a:solidFill>
                  <a:srgbClr val="3C4043"/>
                </a:solidFill>
                <a:effectLst/>
                <a:latin typeface="Roboto" panose="02000000000000000000" pitchFamily="2" charset="0"/>
              </a:rPr>
              <a:t>年诺奖）。</a:t>
            </a:r>
            <a:endParaRPr lang="en-US" altLang="zh-CN" b="0" i="0" dirty="0">
              <a:solidFill>
                <a:srgbClr val="3C4043"/>
              </a:solidFill>
              <a:effectLst/>
              <a:latin typeface="Roboto" panose="02000000000000000000" pitchFamily="2" charset="0"/>
            </a:endParaRPr>
          </a:p>
          <a:p>
            <a:endParaRPr lang="en-US" altLang="zh-CN" dirty="0">
              <a:latin typeface="Arial" panose="020B0604020202020204" pitchFamily="34" charset="0"/>
            </a:endParaRPr>
          </a:p>
        </p:txBody>
      </p:sp>
      <p:sp>
        <p:nvSpPr>
          <p:cNvPr id="84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7903C649-9469-4B01-AF73-86081BC70D21}"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p:nvPr>
        </p:nvSpPr>
        <p:spPr>
          <a:xfrm>
            <a:off x="381000" y="685800"/>
            <a:ext cx="6096000" cy="3429000"/>
          </a:xfrm>
        </p:spPr>
      </p:sp>
      <p:sp>
        <p:nvSpPr>
          <p:cNvPr id="870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0" dirty="0">
                <a:latin typeface="Arial" panose="020B0604020202020204" pitchFamily="34" charset="0"/>
              </a:rPr>
              <a:t>两个乳酸分子如果直接彻底氧化，生成的</a:t>
            </a:r>
            <a:r>
              <a:rPr lang="en-US" altLang="zh-CN" b="0" dirty="0">
                <a:latin typeface="Arial" panose="020B0604020202020204" pitchFamily="34" charset="0"/>
              </a:rPr>
              <a:t>ATP</a:t>
            </a:r>
            <a:r>
              <a:rPr lang="zh-CN" altLang="en-US" b="0" dirty="0">
                <a:latin typeface="Arial" panose="020B0604020202020204" pitchFamily="34" charset="0"/>
              </a:rPr>
              <a:t>是</a:t>
            </a:r>
            <a:r>
              <a:rPr lang="en-US" altLang="zh-CN" b="0" dirty="0">
                <a:latin typeface="Arial" panose="020B0604020202020204" pitchFamily="34" charset="0"/>
              </a:rPr>
              <a:t>28</a:t>
            </a:r>
            <a:r>
              <a:rPr lang="zh-CN" altLang="en-US" b="0" dirty="0">
                <a:latin typeface="Arial" panose="020B0604020202020204" pitchFamily="34" charset="0"/>
              </a:rPr>
              <a:t>或</a:t>
            </a:r>
            <a:r>
              <a:rPr lang="en-US" altLang="zh-CN" b="0" dirty="0">
                <a:latin typeface="Arial" panose="020B0604020202020204" pitchFamily="34" charset="0"/>
              </a:rPr>
              <a:t>30</a:t>
            </a:r>
            <a:r>
              <a:rPr lang="zh-CN" altLang="en-US" b="0" dirty="0">
                <a:latin typeface="Arial" panose="020B0604020202020204" pitchFamily="34" charset="0"/>
              </a:rPr>
              <a:t>个</a:t>
            </a:r>
            <a:r>
              <a:rPr lang="en-US" altLang="zh-CN" b="0" dirty="0">
                <a:latin typeface="Arial" panose="020B0604020202020204" pitchFamily="34" charset="0"/>
              </a:rPr>
              <a:t>,  </a:t>
            </a:r>
            <a:r>
              <a:rPr lang="zh-CN" altLang="en-US" b="0" dirty="0">
                <a:latin typeface="Arial" panose="020B0604020202020204" pitchFamily="34" charset="0"/>
              </a:rPr>
              <a:t>而如果异生成一个葡萄糖后再彻底氧化 ，则是</a:t>
            </a:r>
            <a:r>
              <a:rPr lang="en-US" altLang="zh-CN" b="0" dirty="0">
                <a:latin typeface="Arial" panose="020B0604020202020204" pitchFamily="34" charset="0"/>
              </a:rPr>
              <a:t>24</a:t>
            </a:r>
            <a:r>
              <a:rPr lang="zh-CN" altLang="en-US" b="0" dirty="0">
                <a:latin typeface="Arial" panose="020B0604020202020204" pitchFamily="34" charset="0"/>
              </a:rPr>
              <a:t>或</a:t>
            </a:r>
            <a:r>
              <a:rPr lang="en-US" altLang="zh-CN" b="0" dirty="0">
                <a:latin typeface="Arial" panose="020B0604020202020204" pitchFamily="34" charset="0"/>
              </a:rPr>
              <a:t>26</a:t>
            </a:r>
            <a:r>
              <a:rPr lang="zh-CN" altLang="en-US" b="0" dirty="0">
                <a:latin typeface="Arial" panose="020B0604020202020204" pitchFamily="34" charset="0"/>
              </a:rPr>
              <a:t>个（</a:t>
            </a:r>
            <a:r>
              <a:rPr lang="en-US" altLang="zh-CN" b="0" dirty="0">
                <a:latin typeface="Arial" panose="020B0604020202020204" pitchFamily="34" charset="0"/>
              </a:rPr>
              <a:t>30</a:t>
            </a:r>
            <a:r>
              <a:rPr lang="zh-CN" altLang="en-US" b="0" dirty="0">
                <a:latin typeface="Arial" panose="020B0604020202020204" pitchFamily="34" charset="0"/>
              </a:rPr>
              <a:t>或</a:t>
            </a:r>
            <a:r>
              <a:rPr lang="en-US" altLang="zh-CN" b="0" dirty="0">
                <a:latin typeface="Arial" panose="020B0604020202020204" pitchFamily="34" charset="0"/>
              </a:rPr>
              <a:t>32 </a:t>
            </a:r>
            <a:r>
              <a:rPr lang="zh-CN" altLang="en-US" b="0" dirty="0">
                <a:latin typeface="Arial" panose="020B0604020202020204" pitchFamily="34" charset="0"/>
              </a:rPr>
              <a:t>减掉糖异生消耗的</a:t>
            </a:r>
            <a:r>
              <a:rPr lang="en-US" altLang="zh-CN" b="0" dirty="0">
                <a:latin typeface="Arial" panose="020B0604020202020204" pitchFamily="34" charset="0"/>
              </a:rPr>
              <a:t>6</a:t>
            </a:r>
            <a:r>
              <a:rPr lang="zh-CN" altLang="en-US" b="0" dirty="0">
                <a:latin typeface="Arial" panose="020B0604020202020204" pitchFamily="34" charset="0"/>
              </a:rPr>
              <a:t>个） ， 这就是糖异生的代价，是维持血糖必须的代价， </a:t>
            </a:r>
            <a:r>
              <a:rPr lang="zh-CN" altLang="en-US" dirty="0">
                <a:latin typeface="Arial" panose="020B0604020202020204" pitchFamily="34" charset="0"/>
              </a:rPr>
              <a:t>当然，也是清除过多乳酸的一条路径。</a:t>
            </a:r>
            <a:endParaRPr lang="zh-CN" altLang="en-US" dirty="0">
              <a:latin typeface="Arial" panose="020B0604020202020204" pitchFamily="34" charset="0"/>
            </a:endParaRPr>
          </a:p>
          <a:p>
            <a:r>
              <a:rPr lang="zh-CN" altLang="en-US" dirty="0">
                <a:latin typeface="Arial" panose="020B0604020202020204" pitchFamily="34" charset="0"/>
              </a:rPr>
              <a:t>因为经过异生成葡萄糖后再氧化，反应过程增多，路径更长，能量以热能释放的更多，储存在</a:t>
            </a:r>
            <a:r>
              <a:rPr lang="en-US" altLang="zh-CN" dirty="0">
                <a:latin typeface="Arial" panose="020B0604020202020204" pitchFamily="34" charset="0"/>
              </a:rPr>
              <a:t>ATP</a:t>
            </a:r>
            <a:r>
              <a:rPr lang="zh-CN" altLang="en-US" dirty="0">
                <a:latin typeface="Arial" panose="020B0604020202020204" pitchFamily="34" charset="0"/>
              </a:rPr>
              <a:t>里的相对少，也就是生成的</a:t>
            </a:r>
            <a:r>
              <a:rPr lang="en-US" altLang="zh-CN" dirty="0">
                <a:latin typeface="Arial" panose="020B0604020202020204" pitchFamily="34" charset="0"/>
              </a:rPr>
              <a:t>ATP</a:t>
            </a:r>
            <a:r>
              <a:rPr lang="zh-CN" altLang="en-US" dirty="0">
                <a:latin typeface="Arial" panose="020B0604020202020204" pitchFamily="34" charset="0"/>
              </a:rPr>
              <a:t>少几个。</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870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CA9535D4-AF1D-422F-8F43-4D464FD53836}"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ChangeArrowheads="1" noTextEdit="1"/>
          </p:cNvSpPr>
          <p:nvPr>
            <p:ph type="sldImg"/>
          </p:nvPr>
        </p:nvSpPr>
        <p:spPr>
          <a:xfrm>
            <a:off x="381000" y="685800"/>
            <a:ext cx="6096000" cy="3429000"/>
          </a:xfrm>
        </p:spPr>
      </p:sp>
      <p:sp>
        <p:nvSpPr>
          <p:cNvPr id="890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8909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DD1D6405-F603-4CB5-83F8-373BE09889B4}"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ChangeArrowheads="1" noTextEdit="1"/>
          </p:cNvSpPr>
          <p:nvPr>
            <p:ph type="sldImg"/>
          </p:nvPr>
        </p:nvSpPr>
        <p:spPr>
          <a:xfrm>
            <a:off x="381000" y="685800"/>
            <a:ext cx="6096000" cy="3429000"/>
          </a:xfrm>
        </p:spPr>
      </p:sp>
      <p:sp>
        <p:nvSpPr>
          <p:cNvPr id="911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糖醛酸途径（</a:t>
            </a:r>
            <a:r>
              <a:rPr lang="en-US" altLang="zh-CN" dirty="0">
                <a:latin typeface="Arial" panose="020B0604020202020204" pitchFamily="34" charset="0"/>
              </a:rPr>
              <a:t>glucuronate pathway</a:t>
            </a:r>
            <a:r>
              <a:rPr lang="zh-CN" altLang="en-US" dirty="0">
                <a:latin typeface="Arial" panose="020B0604020202020204" pitchFamily="34" charset="0"/>
              </a:rPr>
              <a:t>）</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UDPG</a:t>
            </a:r>
            <a:r>
              <a:rPr lang="zh-CN" altLang="en-US" dirty="0">
                <a:latin typeface="Arial" panose="020B0604020202020204" pitchFamily="34" charset="0"/>
              </a:rPr>
              <a:t>脱氢酶催化生成</a:t>
            </a:r>
            <a:r>
              <a:rPr lang="en-US" altLang="zh-CN" dirty="0">
                <a:latin typeface="Arial" panose="020B0604020202020204" pitchFamily="34" charset="0"/>
              </a:rPr>
              <a:t>UDPGA </a:t>
            </a:r>
            <a:endParaRPr lang="zh-CN" altLang="en-US" dirty="0">
              <a:latin typeface="Arial" panose="020B0604020202020204" pitchFamily="34" charset="0"/>
            </a:endParaRPr>
          </a:p>
        </p:txBody>
      </p:sp>
      <p:sp>
        <p:nvSpPr>
          <p:cNvPr id="911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548CC5B2-4A70-48A3-A14C-D5E559CEF0D6}"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ChangeArrowheads="1" noTextEdit="1"/>
          </p:cNvSpPr>
          <p:nvPr>
            <p:ph type="sldImg"/>
          </p:nvPr>
        </p:nvSpPr>
        <p:spPr>
          <a:xfrm>
            <a:off x="381000" y="685800"/>
            <a:ext cx="6096000" cy="3429000"/>
          </a:xfrm>
        </p:spPr>
      </p:sp>
      <p:sp>
        <p:nvSpPr>
          <p:cNvPr id="9625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962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F7229DB9-1B3D-4A0F-B0B4-9A21B3A98F33}"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ChangeArrowheads="1" noTextEdit="1"/>
          </p:cNvSpPr>
          <p:nvPr>
            <p:ph type="sldImg"/>
          </p:nvPr>
        </p:nvSpPr>
        <p:spPr>
          <a:xfrm>
            <a:off x="381000" y="685800"/>
            <a:ext cx="6096000" cy="3429000"/>
          </a:xfrm>
        </p:spPr>
      </p:sp>
      <p:sp>
        <p:nvSpPr>
          <p:cNvPr id="983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983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A74E5EF5-5C7F-4D00-A9AF-47794D67C75C}"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ChangeArrowheads="1" noTextEdit="1"/>
          </p:cNvSpPr>
          <p:nvPr>
            <p:ph type="sldImg"/>
          </p:nvPr>
        </p:nvSpPr>
        <p:spPr>
          <a:xfrm>
            <a:off x="381000" y="685800"/>
            <a:ext cx="6096000" cy="3429000"/>
          </a:xfrm>
        </p:spPr>
      </p:sp>
      <p:sp>
        <p:nvSpPr>
          <p:cNvPr id="1003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dirty="0">
                <a:latin typeface="Arial" panose="020B0604020202020204" pitchFamily="34" charset="0"/>
              </a:rPr>
              <a:t>餐后时间是从吃第一口饭开始算，不是吃完了才算</a:t>
            </a:r>
            <a:r>
              <a:rPr lang="zh-CN" altLang="en-US" dirty="0">
                <a:latin typeface="Arial" panose="020B0604020202020204" pitchFamily="34" charset="0"/>
              </a:rPr>
              <a:t>。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只要能够逐步适应，机体可以耐受更低的血糖浓度。</a:t>
            </a:r>
            <a:endParaRPr lang="en-US" altLang="zh-CN" dirty="0">
              <a:latin typeface="Arial" panose="020B0604020202020204" pitchFamily="34" charset="0"/>
            </a:endParaRPr>
          </a:p>
          <a:p>
            <a:r>
              <a:rPr lang="zh-CN" altLang="en-US" b="1" dirty="0">
                <a:latin typeface="Arial" panose="020B0604020202020204" pitchFamily="34" charset="0"/>
              </a:rPr>
              <a:t>空腹血糖</a:t>
            </a:r>
            <a:r>
              <a:rPr lang="zh-CN" altLang="en-US" dirty="0">
                <a:latin typeface="Arial" panose="020B0604020202020204" pitchFamily="34" charset="0"/>
              </a:rPr>
              <a:t>为糖尿病最常用的检测指标，反映胰岛</a:t>
            </a:r>
            <a:r>
              <a:rPr lang="en-US" altLang="zh-CN" dirty="0">
                <a:latin typeface="Arial" panose="020B0604020202020204" pitchFamily="34" charset="0"/>
              </a:rPr>
              <a:t>B</a:t>
            </a:r>
            <a:r>
              <a:rPr lang="zh-CN" altLang="en-US" dirty="0">
                <a:latin typeface="Arial" panose="020B0604020202020204" pitchFamily="34" charset="0"/>
              </a:rPr>
              <a:t>细胞功能，一般</a:t>
            </a:r>
            <a:r>
              <a:rPr lang="zh-CN" altLang="en-US" b="1" dirty="0">
                <a:latin typeface="Arial" panose="020B0604020202020204" pitchFamily="34" charset="0"/>
              </a:rPr>
              <a:t>代表基础胰岛素的分泌功能</a:t>
            </a:r>
            <a:r>
              <a:rPr lang="zh-CN" altLang="en-US" dirty="0">
                <a:latin typeface="Arial" panose="020B0604020202020204" pitchFamily="34" charset="0"/>
              </a:rPr>
              <a:t>。</a:t>
            </a:r>
            <a:endParaRPr lang="zh-CN" altLang="en-US" dirty="0">
              <a:latin typeface="Arial" panose="020B0604020202020204" pitchFamily="34" charset="0"/>
            </a:endParaRPr>
          </a:p>
          <a:p>
            <a:r>
              <a:rPr lang="en-US" altLang="zh-CN" dirty="0">
                <a:latin typeface="Arial" panose="020B0604020202020204" pitchFamily="34" charset="0"/>
              </a:rPr>
              <a:t>1 mmol/L of glucose is equivalent to 18 mg/dL</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003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5B9FBB7-6E32-4AAC-98C7-1511E5BBAF83}" type="slidenum">
              <a:rPr lang="zh-CN" altLang="en-US" smtClean="0"/>
            </a:fld>
            <a:endParaRPr lang="en-US" altLang="zh-CN"/>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ChangeArrowheads="1" noTextEdit="1"/>
          </p:cNvSpPr>
          <p:nvPr>
            <p:ph type="sldImg"/>
          </p:nvPr>
        </p:nvSpPr>
        <p:spPr>
          <a:xfrm>
            <a:off x="381000" y="685800"/>
            <a:ext cx="6096000" cy="3429000"/>
          </a:xfrm>
        </p:spPr>
      </p:sp>
      <p:sp>
        <p:nvSpPr>
          <p:cNvPr id="1024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dirty="0">
              <a:latin typeface="Arial" panose="020B0604020202020204" pitchFamily="34" charset="0"/>
            </a:endParaRPr>
          </a:p>
        </p:txBody>
      </p:sp>
      <p:sp>
        <p:nvSpPr>
          <p:cNvPr id="1024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D4A81437-ED49-4BAE-AF7C-D1FB1F427023}"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034424-41C7-4219-A891-70745DE6C7B9}" type="slidenum">
              <a:rPr lang="en-US" altLang="zh-CN" smtClean="0"/>
            </a:fld>
            <a:endParaRPr lang="en-US" altLang="zh-CN"/>
          </a:p>
        </p:txBody>
      </p:sp>
      <p:sp>
        <p:nvSpPr>
          <p:cNvPr id="104451" name="Rectangle 2"/>
          <p:cNvSpPr>
            <a:spLocks noGrp="1" noRot="1" noChangeAspect="1" noChangeArrowheads="1" noTextEdit="1"/>
          </p:cNvSpPr>
          <p:nvPr>
            <p:ph type="sldImg"/>
          </p:nvPr>
        </p:nvSpPr>
        <p:spPr>
          <a:xfrm>
            <a:off x="381000" y="685800"/>
            <a:ext cx="6096000" cy="3429000"/>
          </a:xfrm>
        </p:spPr>
      </p:sp>
      <p:sp>
        <p:nvSpPr>
          <p:cNvPr id="1044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ChangeArrowheads="1" noTextEdit="1"/>
          </p:cNvSpPr>
          <p:nvPr>
            <p:ph type="sldImg"/>
          </p:nvPr>
        </p:nvSpPr>
        <p:spPr>
          <a:xfrm>
            <a:off x="381000" y="685800"/>
            <a:ext cx="6096000" cy="3429000"/>
          </a:xfrm>
        </p:spPr>
      </p:sp>
      <p:sp>
        <p:nvSpPr>
          <p:cNvPr id="1064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For the human brain and nervous system, as well as the erythrocytes, testes, renal medulla, and embryonic tissues, glucose from the blood is the sole or major fuel source. </a:t>
            </a:r>
            <a:endParaRPr lang="zh-CN" altLang="en-US" dirty="0">
              <a:latin typeface="Arial" panose="020B0604020202020204" pitchFamily="34" charset="0"/>
            </a:endParaRPr>
          </a:p>
        </p:txBody>
      </p:sp>
      <p:sp>
        <p:nvSpPr>
          <p:cNvPr id="10650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9DA20D0-940B-43F8-8CA6-BE6AB33F3635}" type="slidenum">
              <a:rPr lang="zh-CN" altLang="en-US" smtClean="0"/>
            </a:fld>
            <a:endParaRPr lang="en-US" altLang="zh-CN"/>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ChangeArrowheads="1" noTextEdit="1"/>
          </p:cNvSpPr>
          <p:nvPr>
            <p:ph type="sldImg"/>
          </p:nvPr>
        </p:nvSpPr>
        <p:spPr>
          <a:xfrm>
            <a:off x="381000" y="685800"/>
            <a:ext cx="6096000" cy="3429000"/>
          </a:xfrm>
        </p:spPr>
      </p:sp>
      <p:sp>
        <p:nvSpPr>
          <p:cNvPr id="1105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胰岛素主要在肝脏降解， 半衰期约</a:t>
            </a:r>
            <a:r>
              <a:rPr lang="en-US" altLang="zh-CN" dirty="0">
                <a:latin typeface="Arial" panose="020B0604020202020204" pitchFamily="34" charset="0"/>
              </a:rPr>
              <a:t>6</a:t>
            </a:r>
            <a:r>
              <a:rPr lang="zh-CN" altLang="en-US" dirty="0">
                <a:latin typeface="Arial" panose="020B0604020202020204" pitchFamily="34" charset="0"/>
              </a:rPr>
              <a:t>分钟。</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b="0" dirty="0">
                <a:latin typeface="Arial" panose="020B0604020202020204" pitchFamily="34" charset="0"/>
              </a:rPr>
              <a:t>In healthy individuals, blood glucose concentrations of ~5 mM trigger insulin release.</a:t>
            </a:r>
            <a:endParaRPr lang="en-US" altLang="zh-CN" b="0" dirty="0">
              <a:latin typeface="Arial" panose="020B0604020202020204" pitchFamily="34" charset="0"/>
            </a:endParaRPr>
          </a:p>
          <a:p>
            <a:endParaRPr lang="en-US" altLang="zh-CN" dirty="0">
              <a:latin typeface="Arial" panose="020B0604020202020204" pitchFamily="34" charset="0"/>
            </a:endParaRPr>
          </a:p>
          <a:p>
            <a:r>
              <a:rPr lang="zh-CN" altLang="en-US" sz="1200" b="0" i="0" kern="1200" dirty="0">
                <a:solidFill>
                  <a:schemeClr val="tx1"/>
                </a:solidFill>
                <a:effectLst/>
                <a:latin typeface="Arial" panose="020B0604020202020204" pitchFamily="34" charset="0"/>
                <a:ea typeface="+mn-ea"/>
                <a:cs typeface="+mn-cs"/>
              </a:rPr>
              <a:t>正常人的肾糖阈参考值为</a:t>
            </a:r>
            <a:r>
              <a:rPr lang="en-US" altLang="zh-CN" sz="1200" b="0" i="0" kern="1200" dirty="0">
                <a:solidFill>
                  <a:schemeClr val="tx1"/>
                </a:solidFill>
                <a:effectLst/>
                <a:latin typeface="Arial" panose="020B0604020202020204" pitchFamily="34" charset="0"/>
                <a:ea typeface="+mn-ea"/>
                <a:cs typeface="+mn-cs"/>
              </a:rPr>
              <a:t>8.9~10mmol/L</a:t>
            </a:r>
            <a:r>
              <a:rPr lang="zh-CN" altLang="en-US" sz="1200" b="0" i="0" kern="1200" dirty="0">
                <a:solidFill>
                  <a:schemeClr val="tx1"/>
                </a:solidFill>
                <a:effectLst/>
                <a:latin typeface="Arial" panose="020B0604020202020204" pitchFamily="34" charset="0"/>
                <a:ea typeface="+mn-ea"/>
                <a:cs typeface="+mn-cs"/>
              </a:rPr>
              <a:t>，即超过</a:t>
            </a:r>
            <a:r>
              <a:rPr lang="en-US" altLang="zh-CN" sz="1200" b="0" i="0" kern="1200" dirty="0">
                <a:solidFill>
                  <a:schemeClr val="tx1"/>
                </a:solidFill>
                <a:effectLst/>
                <a:latin typeface="Arial" panose="020B0604020202020204" pitchFamily="34" charset="0"/>
                <a:ea typeface="+mn-ea"/>
                <a:cs typeface="+mn-cs"/>
              </a:rPr>
              <a:t>8.9mM</a:t>
            </a:r>
            <a:r>
              <a:rPr lang="zh-CN" altLang="en-US" sz="1200" b="0" i="0" kern="1200">
                <a:solidFill>
                  <a:schemeClr val="tx1"/>
                </a:solidFill>
                <a:effectLst/>
                <a:latin typeface="Arial" panose="020B0604020202020204" pitchFamily="34" charset="0"/>
                <a:ea typeface="+mn-ea"/>
                <a:cs typeface="+mn-cs"/>
              </a:rPr>
              <a:t>可能出现尿糖。 </a:t>
            </a:r>
            <a:endParaRPr lang="zh-CN" altLang="en-US" dirty="0">
              <a:latin typeface="Arial" panose="020B0604020202020204" pitchFamily="34" charset="0"/>
            </a:endParaRPr>
          </a:p>
        </p:txBody>
      </p:sp>
      <p:sp>
        <p:nvSpPr>
          <p:cNvPr id="1105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4C87E4F3-F55C-4C60-B916-346B1D619D1C}"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ChangeArrowheads="1" noTextEdit="1"/>
          </p:cNvSpPr>
          <p:nvPr>
            <p:ph type="sldImg"/>
          </p:nvPr>
        </p:nvSpPr>
        <p:spPr>
          <a:xfrm>
            <a:off x="381000" y="685800"/>
            <a:ext cx="6096000" cy="3429000"/>
          </a:xfrm>
        </p:spPr>
      </p:sp>
      <p:sp>
        <p:nvSpPr>
          <p:cNvPr id="1126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26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997C3E48-8680-4A13-A499-368198DD1078}"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ChangeArrowheads="1" noTextEdit="1"/>
          </p:cNvSpPr>
          <p:nvPr>
            <p:ph type="sldImg"/>
          </p:nvPr>
        </p:nvSpPr>
        <p:spPr>
          <a:xfrm>
            <a:off x="381000" y="685800"/>
            <a:ext cx="6096000" cy="3429000"/>
          </a:xfrm>
        </p:spPr>
      </p:sp>
      <p:sp>
        <p:nvSpPr>
          <p:cNvPr id="11469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0" i="0" dirty="0">
                <a:solidFill>
                  <a:srgbClr val="3C4043"/>
                </a:solidFill>
                <a:effectLst/>
                <a:latin typeface="Roboto" panose="02000000000000000000" pitchFamily="2" charset="0"/>
              </a:rPr>
              <a:t>除了影响现有酶的活性外，胰岛素还调节多达 </a:t>
            </a:r>
            <a:r>
              <a:rPr lang="en-US" altLang="zh-CN" b="0" i="0" dirty="0">
                <a:solidFill>
                  <a:srgbClr val="3C4043"/>
                </a:solidFill>
                <a:effectLst/>
                <a:latin typeface="Roboto" panose="02000000000000000000" pitchFamily="2" charset="0"/>
              </a:rPr>
              <a:t>150 </a:t>
            </a:r>
            <a:r>
              <a:rPr lang="zh-CN" altLang="en-US" b="0" i="0" dirty="0">
                <a:solidFill>
                  <a:srgbClr val="3C4043"/>
                </a:solidFill>
                <a:effectLst/>
                <a:latin typeface="Roboto" panose="02000000000000000000" pitchFamily="2" charset="0"/>
              </a:rPr>
              <a:t>个基因的表达，其中包括一些与能量物质代谢相关的基因</a:t>
            </a:r>
            <a:r>
              <a:rPr lang="zh-CN" altLang="en-US" dirty="0">
                <a:latin typeface="Arial" panose="020B0604020202020204" pitchFamily="34" charset="0"/>
              </a:rPr>
              <a:t>。</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Malic enzyme</a:t>
            </a:r>
            <a:r>
              <a:rPr lang="zh-CN" altLang="en-US" dirty="0">
                <a:latin typeface="Arial" panose="020B0604020202020204" pitchFamily="34" charset="0"/>
              </a:rPr>
              <a:t>苹果酸酶 </a:t>
            </a:r>
            <a:endParaRPr lang="zh-CN" altLang="en-US" dirty="0">
              <a:latin typeface="Arial" panose="020B0604020202020204" pitchFamily="34" charset="0"/>
            </a:endParaRPr>
          </a:p>
        </p:txBody>
      </p:sp>
      <p:sp>
        <p:nvSpPr>
          <p:cNvPr id="11469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C12D03F-E186-4B81-9AEE-781CE218FCA9}" type="slidenum">
              <a:rPr lang="zh-CN" altLang="en-US" smtClean="0"/>
            </a:fld>
            <a:endParaRPr lang="en-US" altLang="zh-CN"/>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ChangeArrowheads="1" noTextEdit="1"/>
          </p:cNvSpPr>
          <p:nvPr>
            <p:ph type="sldImg"/>
          </p:nvPr>
        </p:nvSpPr>
        <p:spPr>
          <a:xfrm>
            <a:off x="381000" y="685800"/>
            <a:ext cx="6096000" cy="3429000"/>
          </a:xfrm>
        </p:spPr>
      </p:sp>
      <p:sp>
        <p:nvSpPr>
          <p:cNvPr id="1167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胃肠肽</a:t>
            </a:r>
            <a:r>
              <a:rPr lang="en-US" altLang="zh-CN" dirty="0">
                <a:latin typeface="Arial" panose="020B0604020202020204" pitchFamily="34" charset="0"/>
              </a:rPr>
              <a:t>(</a:t>
            </a:r>
            <a:r>
              <a:rPr lang="zh-CN" altLang="en-US" dirty="0">
                <a:latin typeface="Arial" panose="020B0604020202020204" pitchFamily="34" charset="0"/>
              </a:rPr>
              <a:t>如类胰高血糖素肽</a:t>
            </a:r>
            <a:r>
              <a:rPr lang="en-US" altLang="zh-CN" dirty="0">
                <a:latin typeface="Arial" panose="020B0604020202020204" pitchFamily="34" charset="0"/>
              </a:rPr>
              <a:t>GLP-1</a:t>
            </a:r>
            <a:r>
              <a:rPr lang="zh-CN" altLang="en-US" dirty="0">
                <a:latin typeface="Arial" panose="020B0604020202020204" pitchFamily="34" charset="0"/>
              </a:rPr>
              <a:t>、肠抑肽</a:t>
            </a:r>
            <a:r>
              <a:rPr lang="en-US" altLang="zh-CN" dirty="0">
                <a:latin typeface="Arial" panose="020B0604020202020204" pitchFamily="34" charset="0"/>
              </a:rPr>
              <a:t>GIP</a:t>
            </a:r>
            <a:r>
              <a:rPr lang="zh-CN" altLang="en-US" dirty="0">
                <a:latin typeface="Arial" panose="020B0604020202020204" pitchFamily="34" charset="0"/>
              </a:rPr>
              <a:t>）促进胰岛素分泌</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b="1" dirty="0">
                <a:latin typeface="Arial" panose="020B0604020202020204" pitchFamily="34" charset="0"/>
              </a:rPr>
              <a:t>应激状态下，交感神经代替血糖成为控制</a:t>
            </a:r>
            <a:r>
              <a:rPr lang="en-US" altLang="zh-CN" b="1" dirty="0">
                <a:latin typeface="Arial" panose="020B0604020202020204" pitchFamily="34" charset="0"/>
              </a:rPr>
              <a:t>B</a:t>
            </a:r>
            <a:r>
              <a:rPr lang="zh-CN" altLang="en-US" b="1" dirty="0">
                <a:latin typeface="Arial" panose="020B0604020202020204" pitchFamily="34" charset="0"/>
              </a:rPr>
              <a:t>细胞分泌胰岛素的主要因素，肾上腺素的作用优先于血糖对胰岛素释放的刺激作用</a:t>
            </a:r>
            <a:r>
              <a:rPr lang="zh-CN" altLang="en-US" dirty="0">
                <a:latin typeface="Arial" panose="020B0604020202020204" pitchFamily="34" charset="0"/>
              </a:rPr>
              <a:t>， 促进肝脏释放葡萄糖以及脂肪组织释放脂肪酸，保障能量需求。 </a:t>
            </a:r>
            <a:endParaRPr lang="zh-CN" altLang="en-US" dirty="0">
              <a:latin typeface="Arial" panose="020B0604020202020204" pitchFamily="34" charset="0"/>
            </a:endParaRPr>
          </a:p>
        </p:txBody>
      </p:sp>
      <p:sp>
        <p:nvSpPr>
          <p:cNvPr id="1167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8C72ADFD-BDEA-4230-92A2-59D9D43E1099}" type="slidenum">
              <a:rPr lang="zh-CN" altLang="en-US" b="0" smtClean="0">
                <a:latin typeface="Times New Roman" panose="02020603050405020304" pitchFamily="18" charset="0"/>
                <a:ea typeface="宋体" panose="02010600030101010101" pitchFamily="2" charset="-122"/>
              </a:rPr>
            </a:fld>
            <a:endParaRPr lang="en-US" altLang="zh-CN" b="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ChangeArrowheads="1" noTextEdit="1"/>
          </p:cNvSpPr>
          <p:nvPr>
            <p:ph type="sldImg"/>
          </p:nvPr>
        </p:nvSpPr>
        <p:spPr>
          <a:xfrm>
            <a:off x="381000" y="685800"/>
            <a:ext cx="6096000" cy="3429000"/>
          </a:xfrm>
        </p:spPr>
      </p:sp>
      <p:sp>
        <p:nvSpPr>
          <p:cNvPr id="1187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rgbClr val="C00000"/>
                </a:solidFill>
                <a:latin typeface="Arial" panose="020B0604020202020204" pitchFamily="34" charset="0"/>
              </a:rPr>
              <a:t>磺脲类药物 治疗</a:t>
            </a:r>
            <a:r>
              <a:rPr lang="en-US" altLang="zh-CN" dirty="0">
                <a:solidFill>
                  <a:srgbClr val="C00000"/>
                </a:solidFill>
                <a:latin typeface="Arial" panose="020B0604020202020204" pitchFamily="34" charset="0"/>
              </a:rPr>
              <a:t>II</a:t>
            </a:r>
            <a:r>
              <a:rPr lang="zh-CN" altLang="en-US" dirty="0">
                <a:solidFill>
                  <a:srgbClr val="C00000"/>
                </a:solidFill>
                <a:latin typeface="Arial" panose="020B0604020202020204" pitchFamily="34" charset="0"/>
              </a:rPr>
              <a:t>型糖尿病，降血糖</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b="0" i="0" dirty="0">
                <a:solidFill>
                  <a:srgbClr val="3C4043"/>
                </a:solidFill>
                <a:effectLst/>
                <a:latin typeface="Roboto" panose="02000000000000000000" pitchFamily="2" charset="0"/>
              </a:rPr>
              <a:t>当血糖水平较高时，细胞内葡萄糖代谢活跃，细胞内</a:t>
            </a:r>
            <a:r>
              <a:rPr lang="en-US" altLang="zh-CN" b="0" i="0" dirty="0">
                <a:solidFill>
                  <a:srgbClr val="3C4043"/>
                </a:solidFill>
                <a:effectLst/>
                <a:latin typeface="Roboto" panose="02000000000000000000" pitchFamily="2" charset="0"/>
              </a:rPr>
              <a:t>[ATP]</a:t>
            </a:r>
            <a:r>
              <a:rPr lang="zh-CN" altLang="en-US" b="0" i="0" dirty="0">
                <a:solidFill>
                  <a:srgbClr val="3C4043"/>
                </a:solidFill>
                <a:effectLst/>
                <a:latin typeface="Roboto" panose="02000000000000000000" pitchFamily="2" charset="0"/>
              </a:rPr>
              <a:t>升高，关闭质膜中的</a:t>
            </a:r>
            <a:r>
              <a:rPr lang="en-US" altLang="zh-CN" b="0" i="0" dirty="0">
                <a:solidFill>
                  <a:srgbClr val="3C4043"/>
                </a:solidFill>
                <a:effectLst/>
                <a:latin typeface="Roboto" panose="02000000000000000000" pitchFamily="2" charset="0"/>
              </a:rPr>
              <a:t>K+</a:t>
            </a:r>
            <a:r>
              <a:rPr lang="zh-CN" altLang="en-US" b="0" i="0" dirty="0">
                <a:solidFill>
                  <a:srgbClr val="3C4043"/>
                </a:solidFill>
                <a:effectLst/>
                <a:latin typeface="Roboto" panose="02000000000000000000" pitchFamily="2" charset="0"/>
              </a:rPr>
              <a:t>通道，从而使膜去极化。 为了响应高 </a:t>
            </a:r>
            <a:r>
              <a:rPr lang="en-US" altLang="zh-CN" b="0" i="0" dirty="0">
                <a:solidFill>
                  <a:srgbClr val="3C4043"/>
                </a:solidFill>
                <a:effectLst/>
                <a:latin typeface="Roboto" panose="02000000000000000000" pitchFamily="2" charset="0"/>
              </a:rPr>
              <a:t>[ATP] </a:t>
            </a:r>
            <a:r>
              <a:rPr lang="zh-CN" altLang="en-US" b="0" i="0" dirty="0">
                <a:solidFill>
                  <a:srgbClr val="3C4043"/>
                </a:solidFill>
                <a:effectLst/>
                <a:latin typeface="Roboto" panose="02000000000000000000" pitchFamily="2" charset="0"/>
              </a:rPr>
              <a:t>触发的膜去极化，电压门控 </a:t>
            </a:r>
            <a:r>
              <a:rPr lang="en-US" altLang="zh-CN" b="0" i="0" dirty="0">
                <a:solidFill>
                  <a:srgbClr val="3C4043"/>
                </a:solidFill>
                <a:effectLst/>
                <a:latin typeface="Roboto" panose="02000000000000000000" pitchFamily="2" charset="0"/>
              </a:rPr>
              <a:t>Ca</a:t>
            </a:r>
            <a:r>
              <a:rPr lang="en-US" altLang="zh-CN" b="0" i="0" baseline="30000" dirty="0">
                <a:solidFill>
                  <a:srgbClr val="3C4043"/>
                </a:solidFill>
                <a:effectLst/>
                <a:latin typeface="Roboto" panose="02000000000000000000" pitchFamily="2" charset="0"/>
              </a:rPr>
              <a:t>2+ </a:t>
            </a:r>
            <a:r>
              <a:rPr lang="zh-CN" altLang="en-US" b="0" i="0" dirty="0">
                <a:solidFill>
                  <a:srgbClr val="3C4043"/>
                </a:solidFill>
                <a:effectLst/>
                <a:latin typeface="Roboto" panose="02000000000000000000" pitchFamily="2" charset="0"/>
              </a:rPr>
              <a:t>通道打开，允许 </a:t>
            </a:r>
            <a:r>
              <a:rPr lang="en-US" altLang="zh-CN" b="0" i="0" dirty="0">
                <a:solidFill>
                  <a:srgbClr val="3C4043"/>
                </a:solidFill>
                <a:effectLst/>
                <a:latin typeface="Roboto" panose="02000000000000000000" pitchFamily="2" charset="0"/>
              </a:rPr>
              <a:t>Ca</a:t>
            </a:r>
            <a:r>
              <a:rPr lang="en-US" altLang="zh-CN" b="0" i="0" baseline="30000" dirty="0">
                <a:solidFill>
                  <a:srgbClr val="3C4043"/>
                </a:solidFill>
                <a:effectLst/>
                <a:latin typeface="Roboto" panose="02000000000000000000" pitchFamily="2" charset="0"/>
              </a:rPr>
              <a:t>2+ </a:t>
            </a:r>
            <a:r>
              <a:rPr lang="zh-CN" altLang="en-US" b="0" i="0" dirty="0">
                <a:solidFill>
                  <a:srgbClr val="3C4043"/>
                </a:solidFill>
                <a:effectLst/>
                <a:latin typeface="Roboto" panose="02000000000000000000" pitchFamily="2" charset="0"/>
              </a:rPr>
              <a:t>流入细胞。 </a:t>
            </a:r>
            <a:r>
              <a:rPr lang="en-US" altLang="zh-CN" b="0" i="0" dirty="0">
                <a:solidFill>
                  <a:srgbClr val="3C4043"/>
                </a:solidFill>
                <a:effectLst/>
                <a:latin typeface="Roboto" panose="02000000000000000000" pitchFamily="2" charset="0"/>
              </a:rPr>
              <a:t>Ca</a:t>
            </a:r>
            <a:r>
              <a:rPr lang="en-US" altLang="zh-CN" b="0" i="0" baseline="30000" dirty="0">
                <a:solidFill>
                  <a:srgbClr val="3C4043"/>
                </a:solidFill>
                <a:effectLst/>
                <a:latin typeface="Roboto" panose="02000000000000000000" pitchFamily="2" charset="0"/>
              </a:rPr>
              <a:t>2+ </a:t>
            </a:r>
            <a:r>
              <a:rPr lang="zh-CN" altLang="en-US" b="0" i="0" dirty="0">
                <a:solidFill>
                  <a:srgbClr val="3C4043"/>
                </a:solidFill>
                <a:effectLst/>
                <a:latin typeface="Roboto" panose="02000000000000000000" pitchFamily="2" charset="0"/>
              </a:rPr>
              <a:t>也从内质网释放，响应细胞质中 </a:t>
            </a:r>
            <a:r>
              <a:rPr lang="en-US" altLang="zh-CN" b="0" i="0" dirty="0">
                <a:solidFill>
                  <a:srgbClr val="3C4043"/>
                </a:solidFill>
                <a:effectLst/>
                <a:latin typeface="Roboto" panose="02000000000000000000" pitchFamily="2" charset="0"/>
              </a:rPr>
              <a:t>[Ca</a:t>
            </a:r>
            <a:r>
              <a:rPr lang="en-US" altLang="zh-CN" b="0" i="0" baseline="30000" dirty="0">
                <a:solidFill>
                  <a:srgbClr val="3C4043"/>
                </a:solidFill>
                <a:effectLst/>
                <a:latin typeface="Roboto" panose="02000000000000000000" pitchFamily="2" charset="0"/>
              </a:rPr>
              <a:t>2+</a:t>
            </a:r>
            <a:r>
              <a:rPr lang="en-US" altLang="zh-CN" b="0" i="0" dirty="0">
                <a:solidFill>
                  <a:srgbClr val="3C4043"/>
                </a:solidFill>
                <a:effectLst/>
                <a:latin typeface="Roboto" panose="02000000000000000000" pitchFamily="2" charset="0"/>
              </a:rPr>
              <a:t>] </a:t>
            </a:r>
            <a:r>
              <a:rPr lang="zh-CN" altLang="en-US" b="0" i="0" dirty="0">
                <a:solidFill>
                  <a:srgbClr val="3C4043"/>
                </a:solidFill>
                <a:effectLst/>
                <a:latin typeface="Roboto" panose="02000000000000000000" pitchFamily="2" charset="0"/>
              </a:rPr>
              <a:t>的初始升高。细胞质 </a:t>
            </a:r>
            <a:r>
              <a:rPr lang="en-US" altLang="zh-CN" b="0" i="0" dirty="0">
                <a:solidFill>
                  <a:srgbClr val="3C4043"/>
                </a:solidFill>
                <a:effectLst/>
                <a:latin typeface="Roboto" panose="02000000000000000000" pitchFamily="2" charset="0"/>
              </a:rPr>
              <a:t>[Ca</a:t>
            </a:r>
            <a:r>
              <a:rPr lang="en-US" altLang="zh-CN" b="0" i="0" baseline="30000" dirty="0">
                <a:solidFill>
                  <a:srgbClr val="3C4043"/>
                </a:solidFill>
                <a:effectLst/>
                <a:latin typeface="Roboto" panose="02000000000000000000" pitchFamily="2" charset="0"/>
              </a:rPr>
              <a:t>2+</a:t>
            </a:r>
            <a:r>
              <a:rPr lang="en-US" altLang="zh-CN" b="0" i="0" dirty="0">
                <a:solidFill>
                  <a:srgbClr val="3C4043"/>
                </a:solidFill>
                <a:effectLst/>
                <a:latin typeface="Roboto" panose="02000000000000000000" pitchFamily="2" charset="0"/>
              </a:rPr>
              <a:t>] </a:t>
            </a:r>
            <a:r>
              <a:rPr lang="zh-CN" altLang="en-US" b="0" i="0" dirty="0">
                <a:solidFill>
                  <a:srgbClr val="3C4043"/>
                </a:solidFill>
                <a:effectLst/>
                <a:latin typeface="Roboto" panose="02000000000000000000" pitchFamily="2" charset="0"/>
              </a:rPr>
              <a:t>现在足够高，可以通过胞吐作用触发胰岛素释放。 </a:t>
            </a:r>
            <a:endParaRPr lang="en-US" altLang="zh-CN" b="0" i="0" dirty="0">
              <a:solidFill>
                <a:srgbClr val="3C4043"/>
              </a:solidFill>
              <a:effectLst/>
              <a:latin typeface="Roboto" panose="02000000000000000000" pitchFamily="2" charset="0"/>
            </a:endParaRPr>
          </a:p>
          <a:p>
            <a:r>
              <a:rPr lang="en-US" altLang="zh-CN" b="0" i="0" dirty="0">
                <a:solidFill>
                  <a:srgbClr val="3C4043"/>
                </a:solidFill>
                <a:effectLst/>
                <a:latin typeface="Roboto" panose="02000000000000000000" pitchFamily="2" charset="0"/>
              </a:rPr>
              <a:t>ATP </a:t>
            </a:r>
            <a:r>
              <a:rPr lang="zh-CN" altLang="en-US" b="0" i="0" dirty="0">
                <a:solidFill>
                  <a:srgbClr val="3C4043"/>
                </a:solidFill>
                <a:effectLst/>
                <a:latin typeface="Roboto" panose="02000000000000000000" pitchFamily="2" charset="0"/>
              </a:rPr>
              <a:t>门控 </a:t>
            </a:r>
            <a:r>
              <a:rPr lang="en-US" altLang="zh-CN" b="0" i="0" dirty="0">
                <a:solidFill>
                  <a:srgbClr val="3C4043"/>
                </a:solidFill>
                <a:effectLst/>
                <a:latin typeface="Roboto" panose="02000000000000000000" pitchFamily="2" charset="0"/>
              </a:rPr>
              <a:t>K</a:t>
            </a:r>
            <a:r>
              <a:rPr lang="en-US" altLang="zh-CN" b="0" i="0" baseline="30000" dirty="0">
                <a:solidFill>
                  <a:srgbClr val="3C4043"/>
                </a:solidFill>
                <a:effectLst/>
                <a:latin typeface="Roboto" panose="02000000000000000000" pitchFamily="2" charset="0"/>
              </a:rPr>
              <a:t>+</a:t>
            </a:r>
            <a:r>
              <a:rPr lang="en-US" altLang="zh-CN" b="0" i="0" dirty="0">
                <a:solidFill>
                  <a:srgbClr val="3C4043"/>
                </a:solidFill>
                <a:effectLst/>
                <a:latin typeface="Roboto" panose="02000000000000000000" pitchFamily="2" charset="0"/>
              </a:rPr>
              <a:t> </a:t>
            </a:r>
            <a:r>
              <a:rPr lang="zh-CN" altLang="en-US" b="0" i="0" dirty="0">
                <a:solidFill>
                  <a:srgbClr val="3C4043"/>
                </a:solidFill>
                <a:effectLst/>
                <a:latin typeface="Roboto" panose="02000000000000000000" pitchFamily="2" charset="0"/>
              </a:rPr>
              <a:t>通道的活性对于 </a:t>
            </a:r>
            <a:r>
              <a:rPr lang="en-US" altLang="zh-CN" b="0" i="0" dirty="0">
                <a:solidFill>
                  <a:srgbClr val="3C4043"/>
                </a:solidFill>
                <a:effectLst/>
                <a:latin typeface="Roboto" panose="02000000000000000000" pitchFamily="2" charset="0"/>
              </a:rPr>
              <a:t>β </a:t>
            </a:r>
            <a:r>
              <a:rPr lang="zh-CN" altLang="en-US" b="0" i="0" dirty="0">
                <a:solidFill>
                  <a:srgbClr val="3C4043"/>
                </a:solidFill>
                <a:effectLst/>
                <a:latin typeface="Roboto" panose="02000000000000000000" pitchFamily="2" charset="0"/>
              </a:rPr>
              <a:t>细胞分泌胰岛素的调节至关重要。 </a:t>
            </a:r>
            <a:r>
              <a:rPr lang="zh-CN" altLang="en-US" b="1" i="0" dirty="0">
                <a:solidFill>
                  <a:srgbClr val="3C4043"/>
                </a:solidFill>
                <a:effectLst/>
                <a:latin typeface="Roboto" panose="02000000000000000000" pitchFamily="2" charset="0"/>
              </a:rPr>
              <a:t>磺酰脲类药物是用于治疗 </a:t>
            </a:r>
            <a:r>
              <a:rPr lang="en-US" altLang="zh-CN" b="1" i="0" dirty="0">
                <a:solidFill>
                  <a:srgbClr val="3C4043"/>
                </a:solidFill>
                <a:effectLst/>
                <a:latin typeface="Roboto" panose="02000000000000000000" pitchFamily="2" charset="0"/>
              </a:rPr>
              <a:t>2 </a:t>
            </a:r>
            <a:r>
              <a:rPr lang="zh-CN" altLang="en-US" b="1" i="0" dirty="0">
                <a:solidFill>
                  <a:srgbClr val="3C4043"/>
                </a:solidFill>
                <a:effectLst/>
                <a:latin typeface="Roboto" panose="02000000000000000000" pitchFamily="2" charset="0"/>
              </a:rPr>
              <a:t>型糖尿病的口服药物，与 </a:t>
            </a:r>
            <a:r>
              <a:rPr lang="en-US" altLang="zh-CN" b="1" i="0" dirty="0">
                <a:solidFill>
                  <a:srgbClr val="3C4043"/>
                </a:solidFill>
                <a:effectLst/>
                <a:latin typeface="Roboto" panose="02000000000000000000" pitchFamily="2" charset="0"/>
              </a:rPr>
              <a:t>K</a:t>
            </a:r>
            <a:r>
              <a:rPr lang="en-US" altLang="zh-CN" b="1" i="0" baseline="30000" dirty="0">
                <a:solidFill>
                  <a:srgbClr val="3C4043"/>
                </a:solidFill>
                <a:effectLst/>
                <a:latin typeface="Roboto" panose="02000000000000000000" pitchFamily="2" charset="0"/>
              </a:rPr>
              <a:t>+ </a:t>
            </a:r>
            <a:r>
              <a:rPr lang="zh-CN" altLang="en-US" b="1" i="0" dirty="0">
                <a:solidFill>
                  <a:srgbClr val="3C4043"/>
                </a:solidFill>
                <a:effectLst/>
                <a:latin typeface="Roboto" panose="02000000000000000000" pitchFamily="2" charset="0"/>
              </a:rPr>
              <a:t>通道的 </a:t>
            </a:r>
            <a:r>
              <a:rPr lang="en-US" altLang="zh-CN" b="1" i="0" dirty="0">
                <a:solidFill>
                  <a:srgbClr val="3C4043"/>
                </a:solidFill>
                <a:effectLst/>
                <a:latin typeface="Roboto" panose="02000000000000000000" pitchFamily="2" charset="0"/>
              </a:rPr>
              <a:t>SUR1</a:t>
            </a:r>
            <a:r>
              <a:rPr lang="zh-CN" altLang="en-US" b="1" i="0" dirty="0">
                <a:solidFill>
                  <a:srgbClr val="3C4043"/>
                </a:solidFill>
                <a:effectLst/>
                <a:latin typeface="Roboto" panose="02000000000000000000" pitchFamily="2" charset="0"/>
              </a:rPr>
              <a:t>亚基（磺酰脲受体）结合</a:t>
            </a:r>
            <a:r>
              <a:rPr lang="zh-CN" altLang="en-US" b="0" i="0" dirty="0">
                <a:solidFill>
                  <a:srgbClr val="3C4043"/>
                </a:solidFill>
                <a:effectLst/>
                <a:latin typeface="Roboto" panose="02000000000000000000" pitchFamily="2" charset="0"/>
              </a:rPr>
              <a:t>，关闭通道并刺激胰岛素释放。</a:t>
            </a:r>
            <a:endParaRPr lang="en-US" altLang="zh-CN" dirty="0">
              <a:latin typeface="Arial" panose="020B0604020202020204" pitchFamily="34" charset="0"/>
            </a:endParaRPr>
          </a:p>
        </p:txBody>
      </p:sp>
      <p:sp>
        <p:nvSpPr>
          <p:cNvPr id="1187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890D455C-EA79-46F9-9F55-4DE291631F46}"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抑胃肽</a:t>
            </a:r>
            <a:r>
              <a:rPr lang="en-US" altLang="zh-CN" dirty="0"/>
              <a:t>(GIP)</a:t>
            </a:r>
            <a:r>
              <a:rPr lang="zh-CN" altLang="en-US" dirty="0"/>
              <a:t> 由</a:t>
            </a:r>
            <a:r>
              <a:rPr lang="en-US" altLang="zh-CN" dirty="0"/>
              <a:t>43</a:t>
            </a:r>
            <a:r>
              <a:rPr lang="zh-CN" altLang="en-US" dirty="0"/>
              <a:t>个氨基酸残基构成，由小肠粘膜的</a:t>
            </a:r>
            <a:r>
              <a:rPr lang="en-US" altLang="zh-CN" dirty="0"/>
              <a:t>K</a:t>
            </a:r>
            <a:r>
              <a:rPr lang="zh-CN" altLang="en-US" dirty="0"/>
              <a:t>细胞产生。  </a:t>
            </a:r>
            <a:endParaRPr lang="en-US" altLang="zh-CN" dirty="0"/>
          </a:p>
          <a:p>
            <a:r>
              <a:rPr lang="zh-CN" altLang="en-US" dirty="0"/>
              <a:t>生理作用为：</a:t>
            </a:r>
            <a:r>
              <a:rPr lang="zh-CN" altLang="en-US" b="0" dirty="0"/>
              <a:t>抑制胃酸分泌；抑制胃蛋白酶分泌；抑制胃的蠕动和排空；刺激小肠液的分泌；刺激胰岛素的分泌。</a:t>
            </a:r>
            <a:endParaRPr lang="zh-CN" altLang="en-US" b="0"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ChangeArrowheads="1" noTextEdit="1"/>
          </p:cNvSpPr>
          <p:nvPr>
            <p:ph type="sldImg"/>
          </p:nvPr>
        </p:nvSpPr>
        <p:spPr>
          <a:xfrm>
            <a:off x="381000" y="685800"/>
            <a:ext cx="6096000" cy="3429000"/>
          </a:xfrm>
        </p:spPr>
      </p:sp>
      <p:sp>
        <p:nvSpPr>
          <p:cNvPr id="12288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p:txBody>
      </p:sp>
      <p:sp>
        <p:nvSpPr>
          <p:cNvPr id="1228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419120D-B249-4ECD-8381-A28728B569FF}" type="slidenum">
              <a:rPr lang="zh-CN" altLang="en-US" smtClean="0"/>
            </a:fld>
            <a:endParaRPr lang="en-US" altLang="zh-CN"/>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ChangeArrowheads="1" noTextEdit="1"/>
          </p:cNvSpPr>
          <p:nvPr>
            <p:ph type="sldImg"/>
          </p:nvPr>
        </p:nvSpPr>
        <p:spPr>
          <a:xfrm>
            <a:off x="381000" y="685800"/>
            <a:ext cx="6096000" cy="3429000"/>
          </a:xfrm>
        </p:spPr>
      </p:sp>
      <p:sp>
        <p:nvSpPr>
          <p:cNvPr id="1280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zh-CN" altLang="en-US" sz="900" dirty="0">
                <a:latin typeface="Arial" panose="020B0604020202020204" pitchFamily="34" charset="0"/>
              </a:rPr>
              <a:t>肾上腺素（</a:t>
            </a:r>
            <a:r>
              <a:rPr lang="en-US" altLang="zh-CN" sz="900" dirty="0">
                <a:latin typeface="Arial" panose="020B0604020202020204" pitchFamily="34" charset="0"/>
              </a:rPr>
              <a:t>adrenaline, epinephrine</a:t>
            </a:r>
            <a:r>
              <a:rPr lang="zh-CN" altLang="en-US" sz="900" dirty="0">
                <a:latin typeface="Arial" panose="020B0604020202020204" pitchFamily="34" charset="0"/>
              </a:rPr>
              <a:t> ）能让人呼吸加快（提供大量氧气），心跳与血液流动加速，瞳孔放大，为身体活动提供更多能量，使反应更加快速。</a:t>
            </a:r>
            <a:endParaRPr lang="en-US" altLang="zh-CN" sz="900" dirty="0">
              <a:latin typeface="Arial" panose="020B0604020202020204" pitchFamily="34" charset="0"/>
            </a:endParaRPr>
          </a:p>
          <a:p>
            <a:pPr>
              <a:lnSpc>
                <a:spcPct val="80000"/>
              </a:lnSpc>
            </a:pPr>
            <a:endParaRPr lang="en-US" altLang="zh-CN" sz="900" dirty="0">
              <a:latin typeface="Arial" panose="020B0604020202020204" pitchFamily="34" charset="0"/>
            </a:endParaRPr>
          </a:p>
          <a:p>
            <a:pPr>
              <a:lnSpc>
                <a:spcPct val="80000"/>
              </a:lnSpc>
            </a:pPr>
            <a:r>
              <a:rPr lang="zh-CN" altLang="en-US" sz="900" dirty="0">
                <a:latin typeface="Arial" panose="020B0604020202020204" pitchFamily="34" charset="0"/>
              </a:rPr>
              <a:t>由于肾上腺素具有</a:t>
            </a:r>
            <a:r>
              <a:rPr lang="zh-CN" altLang="en-US" sz="900" b="1" dirty="0">
                <a:latin typeface="Arial" panose="020B0604020202020204" pitchFamily="34" charset="0"/>
              </a:rPr>
              <a:t>兴奋心肌、升高血压、松弛支气管平滑肌等作用</a:t>
            </a:r>
            <a:r>
              <a:rPr lang="zh-CN" altLang="en-US" sz="900" dirty="0">
                <a:latin typeface="Arial" panose="020B0604020202020204" pitchFamily="34" charset="0"/>
              </a:rPr>
              <a:t>，可缓解过敏性休克的心跳微弱血压下降、呼吸困难等症状。故是</a:t>
            </a:r>
            <a:r>
              <a:rPr lang="zh-CN" altLang="en-US" sz="900" b="1" dirty="0">
                <a:latin typeface="Arial" panose="020B0604020202020204" pitchFamily="34" charset="0"/>
              </a:rPr>
              <a:t>抢救过敏反应的首选药物</a:t>
            </a:r>
            <a:br>
              <a:rPr lang="zh-CN" altLang="en-US" sz="900" dirty="0">
                <a:latin typeface="Arial" panose="020B0604020202020204" pitchFamily="34" charset="0"/>
              </a:rPr>
            </a:br>
            <a:br>
              <a:rPr lang="zh-CN" altLang="en-US" sz="900" dirty="0">
                <a:latin typeface="Arial" panose="020B0604020202020204" pitchFamily="34" charset="0"/>
              </a:rPr>
            </a:br>
            <a:br>
              <a:rPr lang="zh-CN" altLang="en-US" sz="900" dirty="0">
                <a:latin typeface="Arial" panose="020B0604020202020204" pitchFamily="34" charset="0"/>
              </a:rPr>
            </a:br>
            <a:endParaRPr lang="zh-CN" altLang="en-US" sz="900" dirty="0">
              <a:latin typeface="Arial" panose="020B0604020202020204" pitchFamily="34" charset="0"/>
            </a:endParaRPr>
          </a:p>
        </p:txBody>
      </p:sp>
      <p:sp>
        <p:nvSpPr>
          <p:cNvPr id="1280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C255A90-7B7D-4336-A72A-9504736C019A}" type="slidenum">
              <a:rPr lang="zh-CN" altLang="en-US" smtClean="0"/>
            </a:fld>
            <a:endParaRPr lang="en-US" altLang="zh-CN"/>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ChangeArrowheads="1" noTextEdit="1"/>
          </p:cNvSpPr>
          <p:nvPr>
            <p:ph type="sldImg"/>
          </p:nvPr>
        </p:nvSpPr>
        <p:spPr>
          <a:xfrm>
            <a:off x="381000" y="685800"/>
            <a:ext cx="6096000" cy="3429000"/>
          </a:xfrm>
        </p:spPr>
      </p:sp>
      <p:sp>
        <p:nvSpPr>
          <p:cNvPr id="1300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“fight or flight” response</a:t>
            </a:r>
            <a:r>
              <a:rPr lang="zh-CN" altLang="en-US" dirty="0">
                <a:latin typeface="Arial" panose="020B0604020202020204" pitchFamily="34" charset="0"/>
              </a:rPr>
              <a:t>：  在极端情况下，来自大脑的神经元信号触发肾上腺髓质释放肾上腺素和去甲肾上腺素。 这两种激素都会扩张呼吸道，以促进氧气的吸收，增加心跳的速度和强度，并升高血压，从而促进氧气和燃料流向组织。</a:t>
            </a:r>
            <a:endParaRPr lang="zh-CN" altLang="en-US" dirty="0">
              <a:latin typeface="Arial" panose="020B0604020202020204" pitchFamily="34" charset="0"/>
            </a:endParaRPr>
          </a:p>
        </p:txBody>
      </p:sp>
      <p:sp>
        <p:nvSpPr>
          <p:cNvPr id="1300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D98A8D8-ABE2-4DA9-92F4-A06D6D359F6D}" type="slidenum">
              <a:rPr lang="zh-CN" altLang="en-US" smtClean="0"/>
            </a:fld>
            <a:endParaRPr lang="en-US" altLang="zh-CN"/>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ChangeArrowheads="1" noTextEdit="1"/>
          </p:cNvSpPr>
          <p:nvPr>
            <p:ph type="sldImg"/>
          </p:nvPr>
        </p:nvSpPr>
        <p:spPr>
          <a:xfrm>
            <a:off x="381000" y="685800"/>
            <a:ext cx="6096000" cy="3429000"/>
          </a:xfrm>
        </p:spPr>
      </p:sp>
      <p:sp>
        <p:nvSpPr>
          <p:cNvPr id="1320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皮质醇（</a:t>
            </a:r>
            <a:r>
              <a:rPr lang="en-US" altLang="zh-CN" dirty="0">
                <a:latin typeface="Arial" panose="020B0604020202020204" pitchFamily="34" charset="0"/>
              </a:rPr>
              <a:t>Cortisol </a:t>
            </a:r>
            <a:r>
              <a:rPr lang="zh-CN" altLang="en-US" dirty="0">
                <a:latin typeface="Arial" panose="020B0604020202020204" pitchFamily="34" charset="0"/>
              </a:rPr>
              <a:t>）</a:t>
            </a:r>
            <a:r>
              <a:rPr lang="zh-CN" altLang="en-US" b="1" dirty="0">
                <a:latin typeface="Arial" panose="020B0604020202020204" pitchFamily="34" charset="0"/>
              </a:rPr>
              <a:t>调节机体对长期压力（比如长期焦虑，慢性疼痛等）</a:t>
            </a:r>
            <a:r>
              <a:rPr lang="zh-CN" altLang="en-US" dirty="0">
                <a:latin typeface="Arial" panose="020B0604020202020204" pitchFamily="34" charset="0"/>
              </a:rPr>
              <a:t>的反应</a:t>
            </a:r>
            <a:r>
              <a:rPr lang="en-US" altLang="zh-CN" b="1" dirty="0">
                <a:latin typeface="Arial" panose="020B0604020202020204" pitchFamily="34" charset="0"/>
              </a:rPr>
              <a:t>.   </a:t>
            </a:r>
            <a:r>
              <a:rPr lang="zh-CN" altLang="en-US" b="0" i="0" dirty="0">
                <a:solidFill>
                  <a:srgbClr val="3C4043"/>
                </a:solidFill>
                <a:effectLst/>
                <a:latin typeface="Roboto" panose="02000000000000000000" pitchFamily="2" charset="0"/>
              </a:rPr>
              <a:t>长时间的压力下，皮质醇的持续释放可对肌肉和骨骼造成损害，并损害内分泌和免疫功能。</a:t>
            </a:r>
            <a:endParaRPr lang="en-US" altLang="zh-CN" b="1"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糖皮质激素诱导肝脏合成糖异生的四种关键酶，特别是磷酸烯醇式丙酮酸羧激酶。</a:t>
            </a:r>
            <a:endParaRPr lang="en-US" altLang="zh-CN" dirty="0">
              <a:latin typeface="Arial" panose="020B0604020202020204" pitchFamily="34" charset="0"/>
            </a:endParaRPr>
          </a:p>
          <a:p>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3210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4BD99BC-CB80-4DCA-A3EE-04902E68E760}" type="slidenum">
              <a:rPr lang="zh-CN" altLang="en-US" smtClean="0"/>
            </a:fld>
            <a:endParaRPr lang="en-US" altLang="zh-CN"/>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ChangeArrowheads="1" noTextEdit="1"/>
          </p:cNvSpPr>
          <p:nvPr>
            <p:ph type="sldImg"/>
          </p:nvPr>
        </p:nvSpPr>
        <p:spPr>
          <a:xfrm>
            <a:off x="381000" y="685800"/>
            <a:ext cx="6096000" cy="3429000"/>
          </a:xfrm>
        </p:spPr>
      </p:sp>
      <p:sp>
        <p:nvSpPr>
          <p:cNvPr id="137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还有静脉葡萄糖耐量实验</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dirty="0">
                <a:latin typeface="Arial" panose="020B0604020202020204" pitchFamily="34" charset="0"/>
              </a:rPr>
              <a:t>OGTT</a:t>
            </a:r>
            <a:r>
              <a:rPr lang="zh-CN" altLang="en-US" dirty="0">
                <a:latin typeface="Arial" panose="020B0604020202020204" pitchFamily="34" charset="0"/>
              </a:rPr>
              <a:t>（</a:t>
            </a:r>
            <a:r>
              <a:rPr lang="en-US" altLang="zh-CN" dirty="0">
                <a:latin typeface="Arial" panose="020B0604020202020204" pitchFamily="34" charset="0"/>
              </a:rPr>
              <a:t>oral glucose tolerance test) : </a:t>
            </a:r>
            <a:r>
              <a:rPr lang="zh-CN" altLang="en-US" dirty="0">
                <a:latin typeface="Arial" panose="020B0604020202020204" pitchFamily="34" charset="0"/>
              </a:rPr>
              <a:t>口服含</a:t>
            </a:r>
            <a:r>
              <a:rPr lang="en-US" altLang="zh-CN" dirty="0">
                <a:latin typeface="Arial" panose="020B0604020202020204" pitchFamily="34" charset="0"/>
              </a:rPr>
              <a:t>75</a:t>
            </a:r>
            <a:r>
              <a:rPr lang="zh-CN" altLang="en-US" dirty="0">
                <a:latin typeface="Arial" panose="020B0604020202020204" pitchFamily="34" charset="0"/>
              </a:rPr>
              <a:t>克或</a:t>
            </a:r>
            <a:r>
              <a:rPr lang="en-US" altLang="zh-CN" dirty="0">
                <a:latin typeface="Arial" panose="020B0604020202020204" pitchFamily="34" charset="0"/>
              </a:rPr>
              <a:t>100</a:t>
            </a:r>
            <a:r>
              <a:rPr lang="zh-CN" altLang="en-US" dirty="0">
                <a:latin typeface="Arial" panose="020B0604020202020204" pitchFamily="34" charset="0"/>
              </a:rPr>
              <a:t>克葡萄糖的糖水</a:t>
            </a:r>
            <a:r>
              <a:rPr lang="en-US" altLang="zh-CN" dirty="0">
                <a:latin typeface="Arial" panose="020B0604020202020204" pitchFamily="34" charset="0"/>
              </a:rPr>
              <a:t>250</a:t>
            </a:r>
            <a:r>
              <a:rPr lang="zh-CN" altLang="en-US" dirty="0">
                <a:latin typeface="Arial" panose="020B0604020202020204" pitchFamily="34" charset="0"/>
              </a:rPr>
              <a:t>毫升，</a:t>
            </a:r>
            <a:r>
              <a:rPr lang="en-US" altLang="zh-CN" dirty="0">
                <a:latin typeface="Arial" panose="020B0604020202020204" pitchFamily="34" charset="0"/>
              </a:rPr>
              <a:t>5</a:t>
            </a:r>
            <a:r>
              <a:rPr lang="zh-CN" altLang="en-US" dirty="0">
                <a:latin typeface="Arial" panose="020B0604020202020204" pitchFamily="34" charset="0"/>
              </a:rPr>
              <a:t>分钟内饮入，妊娠妇女为</a:t>
            </a:r>
            <a:r>
              <a:rPr lang="en-US" altLang="zh-CN" dirty="0">
                <a:latin typeface="Arial" panose="020B0604020202020204" pitchFamily="34" charset="0"/>
              </a:rPr>
              <a:t>100</a:t>
            </a:r>
            <a:r>
              <a:rPr lang="zh-CN" altLang="en-US" dirty="0">
                <a:latin typeface="Arial" panose="020B0604020202020204" pitchFamily="34" charset="0"/>
              </a:rPr>
              <a:t>克。</a:t>
            </a:r>
            <a:endParaRPr lang="en-US" altLang="zh-CN" dirty="0">
              <a:latin typeface="Arial" panose="020B0604020202020204" pitchFamily="34" charset="0"/>
            </a:endParaRPr>
          </a:p>
          <a:p>
            <a:endParaRPr lang="en-US" altLang="zh-CN" dirty="0">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正常人体内存在一套精细的调节糖代谢的机制，在一次性食入大量葡萄糖后，血糖水平不会出现大的波动和持续升高。</a:t>
            </a:r>
            <a:endParaRPr lang="zh-CN" altLang="en-US" dirty="0"/>
          </a:p>
          <a:p>
            <a:endParaRPr lang="en-US" altLang="zh-CN" dirty="0">
              <a:latin typeface="Arial" panose="020B0604020202020204" pitchFamily="34" charset="0"/>
            </a:endParaRPr>
          </a:p>
        </p:txBody>
      </p:sp>
      <p:sp>
        <p:nvSpPr>
          <p:cNvPr id="1372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85BDA7A-07EE-4AD0-A967-4EA41B56F02F}" type="slidenum">
              <a:rPr lang="zh-CN" altLang="en-US" smtClean="0"/>
            </a:fld>
            <a:endParaRPr lang="en-US" altLang="zh-CN"/>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ChangeArrowheads="1" noTextEdit="1"/>
          </p:cNvSpPr>
          <p:nvPr>
            <p:ph type="sldImg"/>
          </p:nvPr>
        </p:nvSpPr>
        <p:spPr>
          <a:xfrm>
            <a:off x="381000" y="685800"/>
            <a:ext cx="6096000" cy="3429000"/>
          </a:xfrm>
        </p:spPr>
      </p:sp>
      <p:sp>
        <p:nvSpPr>
          <p:cNvPr id="1392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空腹时为</a:t>
            </a:r>
            <a:r>
              <a:rPr lang="en-US" altLang="zh-CN" dirty="0">
                <a:latin typeface="Arial" panose="020B0604020202020204" pitchFamily="34" charset="0"/>
              </a:rPr>
              <a:t>0h      </a:t>
            </a:r>
            <a:r>
              <a:rPr lang="zh-CN" altLang="en-US" dirty="0">
                <a:latin typeface="Arial" panose="020B0604020202020204" pitchFamily="34" charset="0"/>
              </a:rPr>
              <a:t>正常空腹血糖为 </a:t>
            </a:r>
            <a:r>
              <a:rPr lang="en-US" altLang="zh-CN" dirty="0">
                <a:latin typeface="Arial" panose="020B0604020202020204" pitchFamily="34" charset="0"/>
              </a:rPr>
              <a:t>70-110mg/dL  </a:t>
            </a:r>
            <a:r>
              <a:rPr lang="zh-CN" altLang="en-US" dirty="0">
                <a:latin typeface="Arial" panose="020B0604020202020204" pitchFamily="34" charset="0"/>
              </a:rPr>
              <a:t>即 </a:t>
            </a:r>
            <a:r>
              <a:rPr kumimoji="1" lang="en-US" altLang="zh-CN" dirty="0">
                <a:solidFill>
                  <a:srgbClr val="FF0000"/>
                </a:solidFill>
                <a:latin typeface="Arial" panose="020B0604020202020204" pitchFamily="34" charset="0"/>
              </a:rPr>
              <a:t>3.9~6.1mmol/L</a:t>
            </a:r>
            <a:r>
              <a:rPr kumimoji="1" lang="en-US" altLang="zh-CN" dirty="0">
                <a:solidFill>
                  <a:schemeClr val="tx2"/>
                </a:solidFill>
                <a:latin typeface="Arial" panose="020B0604020202020204" pitchFamily="34" charset="0"/>
              </a:rPr>
              <a:t>  </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健康的个体从血中摄取葡萄糖很快，血糖升高至不超过</a:t>
            </a:r>
            <a:r>
              <a:rPr lang="en-US" altLang="zh-CN" dirty="0">
                <a:latin typeface="Arial" panose="020B0604020202020204" pitchFamily="34" charset="0"/>
              </a:rPr>
              <a:t>9~10 mM</a:t>
            </a:r>
            <a:r>
              <a:rPr lang="zh-CN" altLang="en-US" dirty="0">
                <a:latin typeface="Arial" panose="020B0604020202020204" pitchFamily="34" charset="0"/>
              </a:rPr>
              <a:t>； 尿液中很少或没有葡萄糖。</a:t>
            </a:r>
            <a:endParaRPr lang="zh-CN" altLang="en-US" dirty="0">
              <a:latin typeface="Arial" panose="020B0604020202020204" pitchFamily="34" charset="0"/>
            </a:endParaRPr>
          </a:p>
        </p:txBody>
      </p:sp>
      <p:sp>
        <p:nvSpPr>
          <p:cNvPr id="13926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60A770D-8348-48DE-81DD-DEAD15E851F3}" type="slidenum">
              <a:rPr lang="zh-CN" altLang="en-US" smtClean="0"/>
            </a:fld>
            <a:endParaRPr lang="en-US" altLang="zh-CN"/>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ChangeArrowheads="1" noTextEdit="1"/>
          </p:cNvSpPr>
          <p:nvPr>
            <p:ph type="sldImg"/>
          </p:nvPr>
        </p:nvSpPr>
        <p:spPr>
          <a:xfrm>
            <a:off x="381000" y="685800"/>
            <a:ext cx="6096000" cy="3429000"/>
          </a:xfrm>
        </p:spPr>
      </p:sp>
      <p:sp>
        <p:nvSpPr>
          <p:cNvPr id="14131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Addison’s disease </a:t>
            </a:r>
            <a:r>
              <a:rPr lang="zh-CN" altLang="en-US" dirty="0">
                <a:latin typeface="Arial" panose="020B0604020202020204" pitchFamily="34" charset="0"/>
              </a:rPr>
              <a:t>即慢性原发性肾上腺皮质功能减退 </a:t>
            </a:r>
            <a:endParaRPr lang="zh-CN" altLang="en-US" dirty="0">
              <a:latin typeface="Arial" panose="020B0604020202020204" pitchFamily="34" charset="0"/>
            </a:endParaRPr>
          </a:p>
        </p:txBody>
      </p:sp>
      <p:sp>
        <p:nvSpPr>
          <p:cNvPr id="14131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F8584381-C048-4BAC-A3DB-4E944661B5A3}"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幻灯片图像占位符 1"/>
          <p:cNvSpPr>
            <a:spLocks noGrp="1" noRot="1" noChangeAspect="1" noChangeArrowheads="1" noTextEdit="1"/>
          </p:cNvSpPr>
          <p:nvPr>
            <p:ph type="sldImg"/>
          </p:nvPr>
        </p:nvSpPr>
        <p:spPr>
          <a:xfrm>
            <a:off x="381000" y="685800"/>
            <a:ext cx="6096000" cy="3429000"/>
          </a:xfrm>
        </p:spPr>
      </p:sp>
      <p:sp>
        <p:nvSpPr>
          <p:cNvPr id="1607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latin typeface="Arial" panose="020B0604020202020204" pitchFamily="34" charset="0"/>
            </a:endParaRPr>
          </a:p>
          <a:p>
            <a:endParaRPr lang="zh-CN" altLang="en-US" dirty="0">
              <a:latin typeface="Arial" panose="020B0604020202020204" pitchFamily="34" charset="0"/>
            </a:endParaRPr>
          </a:p>
        </p:txBody>
      </p:sp>
      <p:sp>
        <p:nvSpPr>
          <p:cNvPr id="16077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90046B-BF06-44D7-B7C9-CD3F89D56998}" type="slidenum">
              <a:rPr lang="zh-CN" altLang="en-US" smtClean="0"/>
            </a:fld>
            <a:endParaRPr lang="en-US" altLang="zh-CN"/>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ChangeArrowheads="1" noTextEdit="1"/>
          </p:cNvSpPr>
          <p:nvPr>
            <p:ph type="sldImg"/>
          </p:nvPr>
        </p:nvSpPr>
        <p:spPr>
          <a:xfrm>
            <a:off x="381000" y="685800"/>
            <a:ext cx="6096000" cy="3429000"/>
          </a:xfrm>
        </p:spPr>
      </p:sp>
      <p:sp>
        <p:nvSpPr>
          <p:cNvPr id="1628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628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77AEA052-867D-448D-86FD-D32CCF2CEC95}"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mn-ea"/>
                <a:cs typeface="+mn-cs"/>
              </a:rPr>
              <a:t>alcohol-induced </a:t>
            </a:r>
            <a:r>
              <a:rPr lang="en-US" altLang="zh-CN" sz="1200" b="0" i="0" kern="1200" dirty="0" err="1">
                <a:solidFill>
                  <a:schemeClr val="tx1"/>
                </a:solidFill>
                <a:effectLst/>
                <a:latin typeface="Arial" panose="020B0604020202020204" pitchFamily="34" charset="0"/>
                <a:ea typeface="+mn-ea"/>
                <a:cs typeface="+mn-cs"/>
              </a:rPr>
              <a:t>hypoglycaemia</a:t>
            </a:r>
            <a:endParaRPr lang="en-US" altLang="zh-CN" sz="1200" b="0" i="0" kern="1200" dirty="0">
              <a:solidFill>
                <a:schemeClr val="tx1"/>
              </a:solidFill>
              <a:effectLst/>
              <a:latin typeface="Arial" panose="020B0604020202020204" pitchFamily="34" charset="0"/>
              <a:ea typeface="+mn-ea"/>
              <a:cs typeface="+mn-cs"/>
            </a:endParaRPr>
          </a:p>
          <a:p>
            <a:endParaRPr lang="en-US" altLang="zh-CN" sz="1200" b="0" i="0" kern="1200" dirty="0">
              <a:solidFill>
                <a:schemeClr val="tx1"/>
              </a:solidFill>
              <a:effectLst/>
              <a:latin typeface="Arial" panose="020B0604020202020204" pitchFamily="34" charset="0"/>
              <a:ea typeface="+mn-ea"/>
              <a:cs typeface="+mn-cs"/>
            </a:endParaRPr>
          </a:p>
          <a:p>
            <a:r>
              <a:rPr lang="zh-CN" altLang="en-US" sz="1200" b="0" i="0" kern="1200" dirty="0">
                <a:solidFill>
                  <a:schemeClr val="tx1"/>
                </a:solidFill>
                <a:effectLst/>
                <a:latin typeface="Arial" panose="020B0604020202020204" pitchFamily="34" charset="0"/>
                <a:ea typeface="+mn-ea"/>
                <a:cs typeface="+mn-cs"/>
              </a:rPr>
              <a:t>医生在诊断酒精性低血糖症时，主要依据：</a:t>
            </a:r>
            <a:endParaRPr lang="zh-CN" altLang="en-US" sz="1200" b="0"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r>
              <a:rPr lang="zh-CN" altLang="en-US" sz="1200" b="0" i="0" kern="1200" dirty="0">
                <a:solidFill>
                  <a:schemeClr val="tx1"/>
                </a:solidFill>
                <a:effectLst/>
                <a:latin typeface="Arial" panose="020B0604020202020204" pitchFamily="34" charset="0"/>
                <a:ea typeface="+mn-ea"/>
                <a:cs typeface="+mn-cs"/>
              </a:rPr>
              <a:t>病人特征：发病前有中等量或大量的饮酒史，</a:t>
            </a:r>
            <a:r>
              <a:rPr lang="zh-CN" altLang="en-US" sz="1200" b="1" i="0" kern="1200" dirty="0">
                <a:solidFill>
                  <a:schemeClr val="tx1"/>
                </a:solidFill>
                <a:effectLst/>
                <a:latin typeface="Arial" panose="020B0604020202020204" pitchFamily="34" charset="0"/>
                <a:ea typeface="+mn-ea"/>
                <a:cs typeface="+mn-cs"/>
              </a:rPr>
              <a:t>饮酒前空腹或仅摄人少量食物</a:t>
            </a:r>
            <a:r>
              <a:rPr lang="zh-CN" altLang="en-US" sz="1200" b="0" i="0" kern="1200" dirty="0">
                <a:solidFill>
                  <a:schemeClr val="tx1"/>
                </a:solidFill>
                <a:effectLst/>
                <a:latin typeface="Arial" panose="020B0604020202020204" pitchFamily="34" charset="0"/>
                <a:ea typeface="+mn-ea"/>
                <a:cs typeface="+mn-cs"/>
              </a:rPr>
              <a:t>；患者体重指数偏低；夜间发病；入院时具有典型的低血糖表现或已经处于昏迷状态。</a:t>
            </a:r>
            <a:endParaRPr lang="zh-CN" altLang="en-US" sz="1200" b="0"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r>
              <a:rPr lang="zh-CN" altLang="en-US" sz="1200" b="0" i="0" kern="1200" dirty="0">
                <a:solidFill>
                  <a:schemeClr val="tx1"/>
                </a:solidFill>
                <a:effectLst/>
                <a:latin typeface="Arial" panose="020B0604020202020204" pitchFamily="34" charset="0"/>
                <a:ea typeface="+mn-ea"/>
                <a:cs typeface="+mn-cs"/>
              </a:rPr>
              <a:t>血糖低于 </a:t>
            </a:r>
            <a:r>
              <a:rPr lang="en-US" altLang="zh-CN" sz="1200" b="0" i="0" kern="1200" dirty="0">
                <a:solidFill>
                  <a:schemeClr val="tx1"/>
                </a:solidFill>
                <a:effectLst/>
                <a:latin typeface="Arial" panose="020B0604020202020204" pitchFamily="34" charset="0"/>
                <a:ea typeface="+mn-ea"/>
                <a:cs typeface="+mn-cs"/>
              </a:rPr>
              <a:t>2.8 mmol/L</a:t>
            </a:r>
            <a:r>
              <a:rPr lang="zh-CN" altLang="en-US" sz="1200" b="0" i="0" kern="1200" dirty="0">
                <a:solidFill>
                  <a:schemeClr val="tx1"/>
                </a:solidFill>
                <a:effectLst/>
                <a:latin typeface="Arial" panose="020B0604020202020204" pitchFamily="34" charset="0"/>
                <a:ea typeface="+mn-ea"/>
                <a:cs typeface="+mn-cs"/>
              </a:rPr>
              <a:t>。</a:t>
            </a:r>
            <a:endParaRPr lang="zh-CN" altLang="en-US" sz="1200" b="0"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r>
              <a:rPr lang="zh-CN" altLang="en-US" sz="1200" b="1" i="0" kern="1200" dirty="0">
                <a:solidFill>
                  <a:schemeClr val="tx1"/>
                </a:solidFill>
                <a:effectLst/>
                <a:latin typeface="Arial" panose="020B0604020202020204" pitchFamily="34" charset="0"/>
                <a:ea typeface="+mn-ea"/>
                <a:cs typeface="+mn-cs"/>
              </a:rPr>
              <a:t>输注葡萄糖后症状明显改善。</a:t>
            </a:r>
            <a:endParaRPr lang="zh-CN" altLang="en-US" sz="1200" b="1"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r>
              <a:rPr lang="zh-CN" altLang="en-US" sz="1200" b="0" i="0" kern="1200" dirty="0">
                <a:solidFill>
                  <a:schemeClr val="tx1"/>
                </a:solidFill>
                <a:effectLst/>
                <a:latin typeface="Arial" panose="020B0604020202020204" pitchFamily="34" charset="0"/>
                <a:ea typeface="+mn-ea"/>
                <a:cs typeface="+mn-cs"/>
              </a:rPr>
              <a:t>如果伴有代谢性酸中毒、高乳酸血症或酮症，更支持本症的诊断。</a:t>
            </a:r>
            <a:endParaRPr lang="en-US" altLang="zh-CN" sz="1200" b="0" i="0" kern="1200" dirty="0">
              <a:solidFill>
                <a:schemeClr val="tx1"/>
              </a:solidFill>
              <a:effectLst/>
              <a:latin typeface="Arial" panose="020B0604020202020204" pitchFamily="34" charset="0"/>
              <a:ea typeface="+mn-ea"/>
              <a:cs typeface="+mn-cs"/>
            </a:endParaRPr>
          </a:p>
          <a:p>
            <a:pPr marL="171450" indent="-171450">
              <a:buFont typeface="Arial" panose="020B0604020202020204" pitchFamily="34" charset="0"/>
              <a:buChar char="•"/>
            </a:pPr>
            <a:endParaRPr lang="en-US" altLang="zh-CN" sz="1200" b="0" i="0" kern="1200" dirty="0">
              <a:solidFill>
                <a:schemeClr val="tx1"/>
              </a:solidFill>
              <a:effectLst/>
              <a:latin typeface="Arial" panose="020B0604020202020204" pitchFamily="34" charset="0"/>
              <a:ea typeface="+mn-ea"/>
              <a:cs typeface="+mn-cs"/>
            </a:endParaRPr>
          </a:p>
          <a:p>
            <a:endParaRPr lang="en-US" altLang="zh-CN"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ChangeArrowheads="1" noTextEdit="1"/>
          </p:cNvSpPr>
          <p:nvPr>
            <p:ph type="sldImg"/>
          </p:nvPr>
        </p:nvSpPr>
        <p:spPr>
          <a:xfrm>
            <a:off x="381000" y="685800"/>
            <a:ext cx="6096000" cy="3429000"/>
          </a:xfrm>
        </p:spPr>
      </p:sp>
      <p:sp>
        <p:nvSpPr>
          <p:cNvPr id="1454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高血糖（</a:t>
            </a:r>
            <a:r>
              <a:rPr lang="en-US" altLang="zh-CN" dirty="0">
                <a:latin typeface="Arial" panose="020B0604020202020204" pitchFamily="34" charset="0"/>
              </a:rPr>
              <a:t>hyperglycemia</a:t>
            </a:r>
            <a:r>
              <a:rPr lang="zh-CN" altLang="en-US" dirty="0">
                <a:latin typeface="Arial" panose="020B0604020202020204" pitchFamily="34" charset="0"/>
              </a:rPr>
              <a:t>）</a:t>
            </a:r>
            <a:endParaRPr lang="en-US" altLang="zh-CN" dirty="0">
              <a:latin typeface="Arial" panose="020B0604020202020204" pitchFamily="34" charset="0"/>
            </a:endParaRPr>
          </a:p>
          <a:p>
            <a:endParaRPr lang="en-US" altLang="zh-CN" dirty="0">
              <a:latin typeface="Arial" panose="020B0604020202020204" pitchFamily="34" charset="0"/>
            </a:endParaRPr>
          </a:p>
        </p:txBody>
      </p:sp>
      <p:sp>
        <p:nvSpPr>
          <p:cNvPr id="1454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1EC1E500-79AB-4AC8-8B81-AFE66881241C}"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ChangeArrowheads="1" noTextEdit="1"/>
          </p:cNvSpPr>
          <p:nvPr>
            <p:ph type="sldImg"/>
          </p:nvPr>
        </p:nvSpPr>
        <p:spPr>
          <a:xfrm>
            <a:off x="381000" y="685800"/>
            <a:ext cx="6096000" cy="3429000"/>
          </a:xfrm>
        </p:spPr>
      </p:sp>
      <p:sp>
        <p:nvSpPr>
          <p:cNvPr id="1474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“diabetes mellitus” means “excessive excretion of sweet urine”    </a:t>
            </a:r>
            <a:endParaRPr lang="en-US" altLang="zh-CN" dirty="0">
              <a:latin typeface="Arial" panose="020B0604020202020204" pitchFamily="34" charset="0"/>
            </a:endParaRPr>
          </a:p>
          <a:p>
            <a:endParaRPr lang="en-US" altLang="zh-CN" dirty="0">
              <a:latin typeface="Arial" panose="020B0604020202020204" pitchFamily="34" charset="0"/>
            </a:endParaRPr>
          </a:p>
          <a:p>
            <a:r>
              <a:rPr lang="en-US" altLang="zh-CN" b="1" dirty="0">
                <a:latin typeface="Arial" panose="020B0604020202020204" pitchFamily="34" charset="0"/>
              </a:rPr>
              <a:t>T1DM</a:t>
            </a:r>
            <a:r>
              <a:rPr lang="zh-CN" altLang="en-US" b="1" dirty="0">
                <a:latin typeface="Arial" panose="020B0604020202020204" pitchFamily="34" charset="0"/>
              </a:rPr>
              <a:t>具有以下特点</a:t>
            </a:r>
            <a:r>
              <a:rPr lang="zh-CN" altLang="en-US" dirty="0">
                <a:latin typeface="Arial" panose="020B0604020202020204" pitchFamily="34" charset="0"/>
              </a:rPr>
              <a:t>：</a:t>
            </a:r>
            <a:endParaRPr lang="en-US" altLang="zh-CN" dirty="0">
              <a:latin typeface="Arial" panose="020B0604020202020204" pitchFamily="34" charset="0"/>
            </a:endParaRPr>
          </a:p>
          <a:p>
            <a:r>
              <a:rPr lang="zh-CN" altLang="en-US" dirty="0">
                <a:latin typeface="Arial" panose="020B0604020202020204" pitchFamily="34" charset="0"/>
              </a:rPr>
              <a:t>年龄通常小于 </a:t>
            </a:r>
            <a:r>
              <a:rPr lang="en-US" altLang="zh-CN" dirty="0">
                <a:latin typeface="Arial" panose="020B0604020202020204" pitchFamily="34" charset="0"/>
              </a:rPr>
              <a:t>30 </a:t>
            </a:r>
            <a:r>
              <a:rPr lang="zh-CN" altLang="en-US" dirty="0">
                <a:latin typeface="Arial" panose="020B0604020202020204" pitchFamily="34" charset="0"/>
              </a:rPr>
              <a:t>岁；“</a:t>
            </a:r>
            <a:r>
              <a:rPr lang="zh-CN" altLang="en-US" b="1" dirty="0">
                <a:latin typeface="Arial" panose="020B0604020202020204" pitchFamily="34" charset="0"/>
              </a:rPr>
              <a:t>三多一少”症状明显</a:t>
            </a:r>
            <a:r>
              <a:rPr lang="zh-CN" altLang="en-US" dirty="0">
                <a:latin typeface="Arial" panose="020B0604020202020204" pitchFamily="34" charset="0"/>
              </a:rPr>
              <a:t>；</a:t>
            </a:r>
            <a:r>
              <a:rPr lang="zh-CN" altLang="en-US" b="1" dirty="0">
                <a:latin typeface="Arial" panose="020B0604020202020204" pitchFamily="34" charset="0"/>
              </a:rPr>
              <a:t>常以酮症或酮症酸中毒起病</a:t>
            </a:r>
            <a:r>
              <a:rPr lang="zh-CN" altLang="en-US" dirty="0">
                <a:latin typeface="Arial" panose="020B0604020202020204" pitchFamily="34" charset="0"/>
              </a:rPr>
              <a:t>；</a:t>
            </a:r>
            <a:r>
              <a:rPr lang="zh-CN" altLang="en-US" b="1" dirty="0">
                <a:latin typeface="Arial" panose="020B0604020202020204" pitchFamily="34" charset="0"/>
              </a:rPr>
              <a:t>非肥胖体型</a:t>
            </a:r>
            <a:r>
              <a:rPr lang="zh-CN" altLang="en-US" dirty="0">
                <a:latin typeface="Arial" panose="020B0604020202020204" pitchFamily="34" charset="0"/>
              </a:rPr>
              <a:t>；</a:t>
            </a:r>
            <a:r>
              <a:rPr lang="zh-CN" altLang="en-US" b="1" dirty="0">
                <a:latin typeface="Arial" panose="020B0604020202020204" pitchFamily="34" charset="0"/>
              </a:rPr>
              <a:t>空腹或餐后的血清肽浓度明显降低</a:t>
            </a:r>
            <a:r>
              <a:rPr lang="zh-CN" altLang="en-US" dirty="0">
                <a:latin typeface="Arial" panose="020B0604020202020204" pitchFamily="34" charset="0"/>
              </a:rPr>
              <a:t>；出现胰岛自身免疫标志物，如谷氨酸脱羧酶抗体（</a:t>
            </a:r>
            <a:r>
              <a:rPr lang="en-US" altLang="zh-CN" dirty="0">
                <a:latin typeface="Arial" panose="020B0604020202020204" pitchFamily="34" charset="0"/>
              </a:rPr>
              <a:t>GADA</a:t>
            </a:r>
            <a:r>
              <a:rPr lang="zh-CN" altLang="en-US" dirty="0">
                <a:latin typeface="Arial" panose="020B0604020202020204" pitchFamily="34" charset="0"/>
              </a:rPr>
              <a:t>）、胰岛细胞抗体（</a:t>
            </a:r>
            <a:r>
              <a:rPr lang="en-US" altLang="zh-CN" dirty="0">
                <a:latin typeface="Arial" panose="020B0604020202020204" pitchFamily="34" charset="0"/>
              </a:rPr>
              <a:t>ICA</a:t>
            </a:r>
            <a:r>
              <a:rPr lang="zh-CN" altLang="en-US" dirty="0">
                <a:latin typeface="Arial" panose="020B0604020202020204" pitchFamily="34" charset="0"/>
              </a:rPr>
              <a:t>）、胰岛细胞抗原 </a:t>
            </a:r>
            <a:r>
              <a:rPr lang="en-US" altLang="zh-CN" dirty="0">
                <a:latin typeface="Arial" panose="020B0604020202020204" pitchFamily="34" charset="0"/>
              </a:rPr>
              <a:t>2 </a:t>
            </a:r>
            <a:r>
              <a:rPr lang="zh-CN" altLang="en-US" dirty="0">
                <a:latin typeface="Arial" panose="020B0604020202020204" pitchFamily="34" charset="0"/>
              </a:rPr>
              <a:t>抗体（</a:t>
            </a:r>
            <a:r>
              <a:rPr lang="en-US" altLang="zh-CN" dirty="0">
                <a:latin typeface="Arial" panose="020B0604020202020204" pitchFamily="34" charset="0"/>
              </a:rPr>
              <a:t>IA-2A</a:t>
            </a:r>
            <a:r>
              <a:rPr lang="zh-CN" altLang="en-US" dirty="0">
                <a:latin typeface="Arial" panose="020B0604020202020204" pitchFamily="34" charset="0"/>
              </a:rPr>
              <a:t>）、锌转运体</a:t>
            </a:r>
            <a:r>
              <a:rPr lang="en-US" altLang="zh-CN" dirty="0">
                <a:latin typeface="Arial" panose="020B0604020202020204" pitchFamily="34" charset="0"/>
              </a:rPr>
              <a:t>8</a:t>
            </a:r>
            <a:r>
              <a:rPr lang="zh-CN" altLang="en-US" dirty="0">
                <a:latin typeface="Arial" panose="020B0604020202020204" pitchFamily="34" charset="0"/>
              </a:rPr>
              <a:t>抗体（</a:t>
            </a:r>
            <a:r>
              <a:rPr lang="en-US" altLang="zh-CN" dirty="0">
                <a:latin typeface="Arial" panose="020B0604020202020204" pitchFamily="34" charset="0"/>
              </a:rPr>
              <a:t>ZnT8A</a:t>
            </a:r>
            <a:r>
              <a:rPr lang="zh-CN" altLang="en-US" dirty="0">
                <a:latin typeface="Arial" panose="020B0604020202020204" pitchFamily="34" charset="0"/>
              </a:rPr>
              <a:t>）等。</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b="1" dirty="0">
                <a:latin typeface="Arial" panose="020B0604020202020204" pitchFamily="34" charset="0"/>
              </a:rPr>
              <a:t>特殊类型糖尿病</a:t>
            </a:r>
            <a:r>
              <a:rPr lang="zh-CN" altLang="en-US" dirty="0">
                <a:latin typeface="Arial" panose="020B0604020202020204" pitchFamily="34" charset="0"/>
              </a:rPr>
              <a:t>是病因学相对明确的糖尿病</a:t>
            </a:r>
            <a:r>
              <a:rPr lang="en-US" altLang="zh-CN" dirty="0">
                <a:latin typeface="Arial" panose="020B0604020202020204" pitchFamily="34" charset="0"/>
              </a:rPr>
              <a:t>,  </a:t>
            </a:r>
            <a:r>
              <a:rPr lang="zh-CN" altLang="en-US" dirty="0">
                <a:latin typeface="Arial" panose="020B0604020202020204" pitchFamily="34" charset="0"/>
              </a:rPr>
              <a:t>比如单基因糖尿病综合征、囊性纤维化相关糖尿病、移植后糖尿病</a:t>
            </a:r>
            <a:endParaRPr lang="zh-CN" altLang="en-US" dirty="0">
              <a:latin typeface="Arial" panose="020B0604020202020204" pitchFamily="34" charset="0"/>
            </a:endParaRPr>
          </a:p>
          <a:p>
            <a:endParaRPr lang="en-US" altLang="zh-CN" dirty="0">
              <a:latin typeface="Arial" panose="020B0604020202020204" pitchFamily="34" charset="0"/>
            </a:endParaRPr>
          </a:p>
        </p:txBody>
      </p:sp>
      <p:sp>
        <p:nvSpPr>
          <p:cNvPr id="1474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A03A49D-E011-44BB-9771-AA92CA2115FA}" type="slidenum">
              <a:rPr lang="zh-CN" altLang="en-US" smtClean="0"/>
            </a:fld>
            <a:endParaRPr lang="en-US" altLang="zh-CN"/>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ChangeArrowheads="1" noTextEdit="1"/>
          </p:cNvSpPr>
          <p:nvPr>
            <p:ph type="sldImg"/>
          </p:nvPr>
        </p:nvSpPr>
        <p:spPr>
          <a:xfrm>
            <a:off x="381000" y="685800"/>
            <a:ext cx="6096000" cy="3429000"/>
          </a:xfrm>
        </p:spPr>
      </p:sp>
      <p:sp>
        <p:nvSpPr>
          <p:cNvPr id="1495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dirty="0">
                <a:latin typeface="Arial" panose="020B0604020202020204" pitchFamily="34" charset="0"/>
              </a:rPr>
              <a:t>早期轻度高血糖时通常无症状， 患者可能还肥胖。 </a:t>
            </a:r>
            <a:endParaRPr lang="en-US" altLang="zh-CN" b="1" dirty="0">
              <a:latin typeface="Arial" panose="020B0604020202020204" pitchFamily="34" charset="0"/>
            </a:endParaRPr>
          </a:p>
          <a:p>
            <a:pPr marL="0" marR="0">
              <a:spcBef>
                <a:spcPts val="0"/>
              </a:spcBef>
              <a:spcAft>
                <a:spcPts val="0"/>
              </a:spcAft>
            </a:pPr>
            <a:endParaRPr lang="en-US" altLang="zh-CN" sz="1800" dirty="0">
              <a:solidFill>
                <a:srgbClr val="C00000"/>
              </a:solidFill>
              <a:effectLst/>
              <a:ea typeface="-apple-system"/>
            </a:endParaRPr>
          </a:p>
          <a:p>
            <a:pPr marL="0" marR="0">
              <a:spcBef>
                <a:spcPts val="0"/>
              </a:spcBef>
              <a:spcAft>
                <a:spcPts val="0"/>
              </a:spcAft>
            </a:pPr>
            <a:r>
              <a:rPr lang="zh-CN" altLang="en-US" sz="1800" dirty="0">
                <a:solidFill>
                  <a:srgbClr val="C00000"/>
                </a:solidFill>
                <a:effectLst/>
                <a:ea typeface="-apple-system"/>
              </a:rPr>
              <a:t>诸多研究认为： </a:t>
            </a:r>
            <a:r>
              <a:rPr lang="zh-CN" altLang="zh-CN" sz="1800" dirty="0">
                <a:solidFill>
                  <a:srgbClr val="C00000"/>
                </a:solidFill>
                <a:effectLst/>
                <a:ea typeface="-apple-system"/>
              </a:rPr>
              <a:t>大约90%的糖尿病是肥胖引起的，而不是碳水。</a:t>
            </a:r>
            <a:r>
              <a:rPr lang="en-US" altLang="zh-CN" sz="1800" dirty="0">
                <a:solidFill>
                  <a:srgbClr val="C00000"/>
                </a:solidFill>
                <a:effectLst/>
                <a:ea typeface="-apple-system"/>
              </a:rPr>
              <a:t>  </a:t>
            </a:r>
            <a:r>
              <a:rPr lang="zh-CN" altLang="zh-CN" sz="1800" dirty="0">
                <a:solidFill>
                  <a:srgbClr val="121212"/>
                </a:solidFill>
                <a:effectLst/>
                <a:ea typeface="-apple-system"/>
              </a:rPr>
              <a:t>各种大数据表明，</a:t>
            </a:r>
            <a:r>
              <a:rPr lang="zh-CN" altLang="zh-CN" sz="1800" b="1" dirty="0">
                <a:solidFill>
                  <a:srgbClr val="121212"/>
                </a:solidFill>
                <a:effectLst/>
                <a:ea typeface="-apple-system"/>
              </a:rPr>
              <a:t>全谷物降低糖尿病和各种慢性病风险。</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糖尿病患者有可能兼具高脂血症，高胆固醇血症，酮血症。</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渗透性利尿严重时可能致脑细胞脱水，引起高渗性高血糖昏迷，</a:t>
            </a:r>
            <a:r>
              <a:rPr lang="zh-CN" altLang="en-US" b="1" dirty="0">
                <a:latin typeface="Arial" panose="020B0604020202020204" pitchFamily="34" charset="0"/>
              </a:rPr>
              <a:t>死亡率高于糖尿病酮症酸中毒。 </a:t>
            </a:r>
            <a:endParaRPr lang="en-US" altLang="zh-CN" b="1" dirty="0">
              <a:latin typeface="Arial" panose="020B0604020202020204" pitchFamily="34" charset="0"/>
            </a:endParaRPr>
          </a:p>
          <a:p>
            <a:endParaRPr lang="en-US" altLang="zh-CN" dirty="0">
              <a:latin typeface="Arial" panose="020B0604020202020204" pitchFamily="34" charset="0"/>
            </a:endParaRPr>
          </a:p>
          <a:p>
            <a:r>
              <a:rPr lang="zh-CN" altLang="en-US" b="0" i="0" dirty="0">
                <a:solidFill>
                  <a:srgbClr val="3C4043"/>
                </a:solidFill>
                <a:effectLst/>
                <a:latin typeface="Roboto" panose="02000000000000000000" pitchFamily="2" charset="0"/>
              </a:rPr>
              <a:t>丙酮具有挥发性，会被呼出，在不受控制的糖尿病中，呼出的气体具有一种特有的气味，有时会被误认为是乙醇。 </a:t>
            </a:r>
            <a:endParaRPr lang="en-US" altLang="zh-CN" b="0" i="0" dirty="0">
              <a:solidFill>
                <a:srgbClr val="3C4043"/>
              </a:solidFill>
              <a:effectLst/>
              <a:latin typeface="Roboto" panose="02000000000000000000" pitchFamily="2" charset="0"/>
            </a:endParaRPr>
          </a:p>
          <a:p>
            <a:r>
              <a:rPr lang="zh-CN" altLang="en-US" b="0" i="0" dirty="0">
                <a:solidFill>
                  <a:srgbClr val="3C4043"/>
                </a:solidFill>
                <a:effectLst/>
                <a:latin typeface="Roboto" panose="02000000000000000000" pitchFamily="2" charset="0"/>
              </a:rPr>
              <a:t>由于高血糖而出现精神错乱的糖尿病患者有时会被误诊为醉酒，这种错误可能是致命的。</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肾糖阈</a:t>
            </a:r>
            <a:r>
              <a:rPr lang="en-US" altLang="zh-CN" dirty="0">
                <a:latin typeface="Arial" panose="020B0604020202020204" pitchFamily="34" charset="0"/>
              </a:rPr>
              <a:t>:</a:t>
            </a:r>
            <a:r>
              <a:rPr lang="zh-CN" altLang="en-US" dirty="0">
                <a:latin typeface="Arial" panose="020B0604020202020204" pitchFamily="34" charset="0"/>
              </a:rPr>
              <a:t>血糖浓度 </a:t>
            </a:r>
            <a:r>
              <a:rPr lang="en-US" altLang="zh-CN" dirty="0">
                <a:latin typeface="Arial" panose="020B0604020202020204" pitchFamily="34" charset="0"/>
              </a:rPr>
              <a:t>&gt;  8.89~10.00mmol/L</a:t>
            </a:r>
            <a:r>
              <a:rPr lang="zh-CN" altLang="en-US" dirty="0">
                <a:latin typeface="Arial" panose="020B0604020202020204" pitchFamily="34" charset="0"/>
              </a:rPr>
              <a:t>可出现糖尿 </a:t>
            </a:r>
            <a:endParaRPr lang="zh-CN" altLang="en-US" dirty="0">
              <a:latin typeface="Arial" panose="020B0604020202020204" pitchFamily="34" charset="0"/>
            </a:endParaRPr>
          </a:p>
          <a:p>
            <a:endParaRPr lang="zh-CN" altLang="en-US" dirty="0">
              <a:latin typeface="Arial" panose="020B0604020202020204" pitchFamily="34" charset="0"/>
            </a:endParaRPr>
          </a:p>
        </p:txBody>
      </p:sp>
      <p:sp>
        <p:nvSpPr>
          <p:cNvPr id="1495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1953375-96DF-4BFF-AD31-2292F08DDD69}" type="slidenum">
              <a:rPr lang="zh-CN" altLang="en-US" smtClean="0"/>
            </a:fld>
            <a:endParaRPr lang="en-US" altLang="zh-CN"/>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l"/>
            <a:endParaRPr lang="en-US" altLang="zh-CN" b="0" i="0" dirty="0">
              <a:solidFill>
                <a:srgbClr val="202122"/>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pPr>
              <a:defRPr/>
            </a:pPr>
            <a:fld id="{AB7DB415-1C52-4526-B1E1-6BB472B06DED}" type="slidenum">
              <a:rPr lang="zh-CN" altLang="en-US" smtClean="0"/>
            </a:fld>
            <a:endParaRPr lang="en-US" altLang="zh-CN"/>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ChangeArrowheads="1" noTextEdit="1"/>
          </p:cNvSpPr>
          <p:nvPr>
            <p:ph type="sldImg"/>
          </p:nvPr>
        </p:nvSpPr>
        <p:spPr>
          <a:xfrm>
            <a:off x="381000" y="685800"/>
            <a:ext cx="6096000" cy="3429000"/>
          </a:xfrm>
        </p:spPr>
      </p:sp>
      <p:sp>
        <p:nvSpPr>
          <p:cNvPr id="1536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电泳时，糖化血红蛋白和非糖化血红蛋白速度不同，可以分开，以此检测。 </a:t>
            </a:r>
            <a:endParaRPr lang="en-US" altLang="zh-CN" dirty="0">
              <a:latin typeface="Arial" panose="020B0604020202020204" pitchFamily="34" charset="0"/>
            </a:endParaRPr>
          </a:p>
          <a:p>
            <a:endParaRPr lang="en-US" altLang="zh-CN" dirty="0">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1" dirty="0">
                <a:latin typeface="Arial" panose="020B0604020202020204" pitchFamily="34" charset="0"/>
              </a:rPr>
              <a:t>HbA1c </a:t>
            </a:r>
            <a:r>
              <a:rPr lang="zh-CN" altLang="en-US" b="1" dirty="0">
                <a:latin typeface="Arial" panose="020B0604020202020204" pitchFamily="34" charset="0"/>
              </a:rPr>
              <a:t>在临床上已作为评估长期血糖控制状况的“金标准”</a:t>
            </a:r>
            <a:r>
              <a:rPr lang="zh-CN" altLang="en-US" dirty="0">
                <a:latin typeface="Arial" panose="020B0604020202020204" pitchFamily="34" charset="0"/>
              </a:rPr>
              <a:t>，也是临床决定是否需要调整治疗的重要依据。</a:t>
            </a:r>
            <a:endParaRPr lang="en-US" altLang="zh-CN" b="1" dirty="0">
              <a:latin typeface="Arial" panose="020B0604020202020204" pitchFamily="34" charset="0"/>
            </a:endParaRPr>
          </a:p>
          <a:p>
            <a:endParaRPr lang="en-US" altLang="zh-CN" dirty="0">
              <a:latin typeface="Arial" panose="020B0604020202020204" pitchFamily="34" charset="0"/>
            </a:endParaRPr>
          </a:p>
        </p:txBody>
      </p:sp>
      <p:sp>
        <p:nvSpPr>
          <p:cNvPr id="1536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fld id="{9D95684B-81F3-42C8-8ABB-4276BFACEF68}" type="slidenum">
              <a:rPr lang="zh-CN" altLang="en-US" b="0" smtClean="0">
                <a:ea typeface="宋体" panose="02010600030101010101" pitchFamily="2" charset="-122"/>
              </a:rPr>
            </a:fld>
            <a:endParaRPr lang="en-US" altLang="zh-CN" b="0">
              <a:ea typeface="宋体" panose="02010600030101010101" pitchFamily="2" charset="-122"/>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ChangeArrowheads="1" noTextEdit="1"/>
          </p:cNvSpPr>
          <p:nvPr>
            <p:ph type="sldImg"/>
          </p:nvPr>
        </p:nvSpPr>
        <p:spPr>
          <a:xfrm>
            <a:off x="381000" y="685800"/>
            <a:ext cx="6096000" cy="3429000"/>
          </a:xfrm>
        </p:spPr>
      </p:sp>
      <p:sp>
        <p:nvSpPr>
          <p:cNvPr id="1720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葡萄糖 </a:t>
            </a:r>
            <a:r>
              <a:rPr lang="en-US" altLang="zh-CN" dirty="0">
                <a:latin typeface="Arial" panose="020B0604020202020204" pitchFamily="34" charset="0"/>
              </a:rPr>
              <a:t>6-</a:t>
            </a:r>
            <a:r>
              <a:rPr lang="zh-CN" altLang="en-US" dirty="0">
                <a:latin typeface="Arial" panose="020B0604020202020204" pitchFamily="34" charset="0"/>
              </a:rPr>
              <a:t>磷酸进入糖酵解或进入磷酸戊糖途径很大程度上取决于 </a:t>
            </a:r>
            <a:r>
              <a:rPr lang="en-US" altLang="zh-CN" dirty="0">
                <a:latin typeface="Arial" panose="020B0604020202020204" pitchFamily="34" charset="0"/>
              </a:rPr>
              <a:t>NADP+ </a:t>
            </a:r>
            <a:r>
              <a:rPr lang="zh-CN" altLang="en-US" dirty="0">
                <a:latin typeface="Arial" panose="020B0604020202020204" pitchFamily="34" charset="0"/>
              </a:rPr>
              <a:t>和 </a:t>
            </a:r>
            <a:r>
              <a:rPr lang="en-US" altLang="zh-CN" dirty="0">
                <a:latin typeface="Arial" panose="020B0604020202020204" pitchFamily="34" charset="0"/>
              </a:rPr>
              <a:t>NADPH </a:t>
            </a:r>
            <a:r>
              <a:rPr lang="zh-CN" altLang="en-US" dirty="0">
                <a:latin typeface="Arial" panose="020B0604020202020204" pitchFamily="34" charset="0"/>
              </a:rPr>
              <a:t>的相对浓度。</a:t>
            </a:r>
            <a:endParaRPr lang="en-US" altLang="zh-CN" dirty="0">
              <a:latin typeface="Arial" panose="020B0604020202020204" pitchFamily="34" charset="0"/>
            </a:endParaRPr>
          </a:p>
        </p:txBody>
      </p:sp>
      <p:sp>
        <p:nvSpPr>
          <p:cNvPr id="17203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A7B8F57-E025-4762-95EF-F54C28BFBB7D}" type="slidenum">
              <a:rPr lang="zh-CN" altLang="en-US" smtClean="0"/>
            </a:fld>
            <a:endParaRPr lang="en-US" altLang="zh-CN"/>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E11EA77-C2DB-4D62-A9EE-B85D51697AD1}"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17"/>
          <p:cNvSpPr/>
          <p:nvPr/>
        </p:nvSpPr>
        <p:spPr bwMode="gray">
          <a:xfrm>
            <a:off x="-12700" y="1447801"/>
            <a:ext cx="12219517" cy="3832225"/>
          </a:xfrm>
          <a:custGeom>
            <a:avLst/>
            <a:gdLst>
              <a:gd name="T0" fmla="*/ 2147483646 w 5773"/>
              <a:gd name="T1" fmla="*/ 2147483646 h 2414"/>
              <a:gd name="T2" fmla="*/ 2147483646 w 5773"/>
              <a:gd name="T3" fmla="*/ 2147483646 h 2414"/>
              <a:gd name="T4" fmla="*/ 2147483646 w 5773"/>
              <a:gd name="T5" fmla="*/ 2147483646 h 2414"/>
              <a:gd name="T6" fmla="*/ 2147483646 w 5773"/>
              <a:gd name="T7" fmla="*/ 2147483646 h 2414"/>
              <a:gd name="T8" fmla="*/ 2147483646 w 5773"/>
              <a:gd name="T9" fmla="*/ 2147483646 h 2414"/>
              <a:gd name="T10" fmla="*/ 2147483646 w 5773"/>
              <a:gd name="T11" fmla="*/ 2147483646 h 2414"/>
              <a:gd name="T12" fmla="*/ 2147483646 w 5773"/>
              <a:gd name="T13" fmla="*/ 2147483646 h 2414"/>
              <a:gd name="T14" fmla="*/ 2147483646 w 5773"/>
              <a:gd name="T15" fmla="*/ 2147483646 h 2414"/>
              <a:gd name="T16" fmla="*/ 2147483646 w 5773"/>
              <a:gd name="T17" fmla="*/ 2147483646 h 2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176"/>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 name="Freeform 18"/>
          <p:cNvSpPr/>
          <p:nvPr/>
        </p:nvSpPr>
        <p:spPr bwMode="gray">
          <a:xfrm>
            <a:off x="-12700" y="1730375"/>
            <a:ext cx="12200467" cy="3265488"/>
          </a:xfrm>
          <a:custGeom>
            <a:avLst/>
            <a:gdLst>
              <a:gd name="T0" fmla="*/ 2147483646 w 5764"/>
              <a:gd name="T1" fmla="*/ 2147483646 h 2057"/>
              <a:gd name="T2" fmla="*/ 2147483646 w 5764"/>
              <a:gd name="T3" fmla="*/ 2147483646 h 2057"/>
              <a:gd name="T4" fmla="*/ 2147483646 w 5764"/>
              <a:gd name="T5" fmla="*/ 2147483646 h 2057"/>
              <a:gd name="T6" fmla="*/ 2147483646 w 5764"/>
              <a:gd name="T7" fmla="*/ 2147483646 h 2057"/>
              <a:gd name="T8" fmla="*/ 2147483646 w 5764"/>
              <a:gd name="T9" fmla="*/ 2147483646 h 2057"/>
              <a:gd name="T10" fmla="*/ 2147483646 w 5764"/>
              <a:gd name="T11" fmla="*/ 2147483646 h 2057"/>
              <a:gd name="T12" fmla="*/ 2147483646 w 5764"/>
              <a:gd name="T13" fmla="*/ 2147483646 h 2057"/>
              <a:gd name="T14" fmla="*/ 2147483646 w 5764"/>
              <a:gd name="T15" fmla="*/ 2147483646 h 2057"/>
              <a:gd name="T16" fmla="*/ 2147483646 w 5764"/>
              <a:gd name="T17" fmla="*/ 2147483646 h 2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 name="Group 19"/>
          <p:cNvGrpSpPr/>
          <p:nvPr/>
        </p:nvGrpSpPr>
        <p:grpSpPr bwMode="auto">
          <a:xfrm>
            <a:off x="9448800" y="1947863"/>
            <a:ext cx="711200" cy="533400"/>
            <a:chOff x="4752" y="1200"/>
            <a:chExt cx="288" cy="288"/>
          </a:xfrm>
        </p:grpSpPr>
        <p:sp>
          <p:nvSpPr>
            <p:cNvPr id="7" name="Oval 20"/>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eaLnBrk="1" hangingPunct="1">
                <a:defRPr/>
              </a:pPr>
              <a:endParaRPr lang="zh-CN" altLang="en-US">
                <a:latin typeface="Arial" panose="020B0604020202020204" pitchFamily="34" charset="0"/>
                <a:ea typeface="+mn-ea"/>
              </a:endParaRPr>
            </a:p>
          </p:txBody>
        </p:sp>
        <p:sp>
          <p:nvSpPr>
            <p:cNvPr id="8" name="Oval 21"/>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eaLnBrk="1" hangingPunct="1">
                <a:defRPr/>
              </a:pPr>
              <a:endParaRPr lang="zh-CN" altLang="en-US">
                <a:latin typeface="Arial" panose="020B0604020202020204" pitchFamily="34" charset="0"/>
                <a:ea typeface="+mn-ea"/>
              </a:endParaRPr>
            </a:p>
          </p:txBody>
        </p:sp>
      </p:grpSp>
      <p:grpSp>
        <p:nvGrpSpPr>
          <p:cNvPr id="9" name="Group 22"/>
          <p:cNvGrpSpPr/>
          <p:nvPr/>
        </p:nvGrpSpPr>
        <p:grpSpPr bwMode="auto">
          <a:xfrm>
            <a:off x="10160000" y="1371600"/>
            <a:ext cx="1219200" cy="914400"/>
            <a:chOff x="4992" y="816"/>
            <a:chExt cx="576" cy="576"/>
          </a:xfrm>
        </p:grpSpPr>
        <p:sp>
          <p:nvSpPr>
            <p:cNvPr id="10" name="Oval 23"/>
            <p:cNvSpPr>
              <a:spLocks noChangeArrowheads="1"/>
            </p:cNvSpPr>
            <p:nvPr userDrawn="1"/>
          </p:nvSpPr>
          <p:spPr bwMode="gray">
            <a:xfrm>
              <a:off x="4992" y="816"/>
              <a:ext cx="576" cy="576"/>
            </a:xfrm>
            <a:prstGeom prst="ellipse">
              <a:avLst/>
            </a:prstGeom>
            <a:solidFill>
              <a:schemeClr val="accent1">
                <a:alpha val="52940"/>
              </a:schemeClr>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楷体_GB2312" pitchFamily="49" charset="-122"/>
              </a:endParaRPr>
            </a:p>
          </p:txBody>
        </p:sp>
        <p:sp>
          <p:nvSpPr>
            <p:cNvPr id="11" name="Oval 24"/>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eaLnBrk="1" hangingPunct="1">
                <a:defRPr/>
              </a:pPr>
              <a:endParaRPr lang="zh-CN" altLang="en-US">
                <a:latin typeface="Arial" panose="020B0604020202020204" pitchFamily="34" charset="0"/>
                <a:ea typeface="+mn-ea"/>
              </a:endParaRPr>
            </a:p>
          </p:txBody>
        </p:sp>
      </p:grpSp>
      <p:grpSp>
        <p:nvGrpSpPr>
          <p:cNvPr id="12" name="Group 25"/>
          <p:cNvGrpSpPr/>
          <p:nvPr/>
        </p:nvGrpSpPr>
        <p:grpSpPr bwMode="auto">
          <a:xfrm>
            <a:off x="406400" y="3429000"/>
            <a:ext cx="1727200" cy="1371600"/>
            <a:chOff x="4992" y="816"/>
            <a:chExt cx="576" cy="576"/>
          </a:xfrm>
        </p:grpSpPr>
        <p:sp>
          <p:nvSpPr>
            <p:cNvPr id="13" name="Oval 26"/>
            <p:cNvSpPr>
              <a:spLocks noChangeArrowheads="1"/>
            </p:cNvSpPr>
            <p:nvPr userDrawn="1"/>
          </p:nvSpPr>
          <p:spPr bwMode="gray">
            <a:xfrm>
              <a:off x="4992" y="816"/>
              <a:ext cx="576" cy="576"/>
            </a:xfrm>
            <a:prstGeom prst="ellipse">
              <a:avLst/>
            </a:prstGeom>
            <a:solidFill>
              <a:schemeClr val="tx2">
                <a:alpha val="52940"/>
              </a:schemeClr>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楷体_GB2312" pitchFamily="49" charset="-122"/>
              </a:endParaRPr>
            </a:p>
          </p:txBody>
        </p:sp>
        <p:sp>
          <p:nvSpPr>
            <p:cNvPr id="14" name="Oval 27"/>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algn="ctr" eaLnBrk="1" hangingPunct="1">
                <a:defRPr/>
              </a:pPr>
              <a:endParaRPr lang="en-US" altLang="zh-CN">
                <a:latin typeface="Arial" panose="020B0604020202020204" pitchFamily="34" charset="0"/>
              </a:endParaRPr>
            </a:p>
          </p:txBody>
        </p:sp>
      </p:grpSp>
      <p:sp>
        <p:nvSpPr>
          <p:cNvPr id="3074" name="Rectangle 2"/>
          <p:cNvSpPr>
            <a:spLocks noGrp="1" noChangeArrowheads="1"/>
          </p:cNvSpPr>
          <p:nvPr>
            <p:ph type="ctrTitle"/>
          </p:nvPr>
        </p:nvSpPr>
        <p:spPr>
          <a:xfrm>
            <a:off x="1524000" y="2590801"/>
            <a:ext cx="9448800" cy="1012825"/>
          </a:xfrm>
          <a:effectLst>
            <a:outerShdw dist="53882" dir="2700000" algn="ctr" rotWithShape="0">
              <a:schemeClr val="tx1"/>
            </a:outerShdw>
          </a:effectLst>
        </p:spPr>
        <p:txBody>
          <a:bodyPr/>
          <a:lstStyle>
            <a:lvl1pPr>
              <a:defRPr sz="5400">
                <a:effectLst>
                  <a:outerShdw blurRad="38100" dist="38100" dir="2700000" algn="tl">
                    <a:srgbClr val="C0C0C0"/>
                  </a:outerShdw>
                </a:effectLst>
              </a:defRPr>
            </a:lvl1pPr>
          </a:lstStyle>
          <a:p>
            <a:r>
              <a:rPr lang="zh-CN" altLang="en-US"/>
              <a:t>单击此处编辑母版标题样式</a:t>
            </a:r>
            <a:endParaRPr lang="zh-CN" altLang="en-US"/>
          </a:p>
        </p:txBody>
      </p:sp>
      <p:sp>
        <p:nvSpPr>
          <p:cNvPr id="3075" name="Rectangle 3"/>
          <p:cNvSpPr>
            <a:spLocks noGrp="1" noChangeArrowheads="1"/>
          </p:cNvSpPr>
          <p:nvPr>
            <p:ph type="subTitle" idx="1"/>
          </p:nvPr>
        </p:nvSpPr>
        <p:spPr bwMode="white">
          <a:xfrm>
            <a:off x="1727200" y="3581400"/>
            <a:ext cx="8940800" cy="381000"/>
          </a:xfrm>
        </p:spPr>
        <p:txBody>
          <a:bodyPr/>
          <a:lstStyle>
            <a:lvl1pPr marL="0" indent="0" algn="ctr">
              <a:buFont typeface="Wingdings" panose="05000000000000000000" pitchFamily="2" charset="2"/>
              <a:buNone/>
              <a:defRPr sz="2400"/>
            </a:lvl1pPr>
          </a:lstStyle>
          <a:p>
            <a:r>
              <a:rPr lang="zh-CN" altLang="en-US"/>
              <a:t>单击此处编辑母版副标题样式</a:t>
            </a:r>
            <a:endParaRPr lang="zh-CN" altLang="en-US"/>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showMasterSp="0">
  <p:cSld name="2_空白">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duotone>
              <a:schemeClr val="accent3">
                <a:shade val="45000"/>
                <a:satMod val="135000"/>
              </a:schemeClr>
              <a:prstClr val="white"/>
            </a:duotone>
          </a:blip>
          <a:srcRect l="1221" t="885" r="1344" b="7433"/>
          <a:stretch>
            <a:fillRect/>
          </a:stretch>
        </p:blipFill>
        <p:spPr>
          <a:xfrm>
            <a:off x="2" y="9833"/>
            <a:ext cx="12238525" cy="6884170"/>
          </a:xfrm>
          <a:prstGeom prst="rect">
            <a:avLst/>
          </a:prstGeom>
          <a:effectLst>
            <a:glow rad="127000">
              <a:schemeClr val="accent2">
                <a:lumMod val="20000"/>
                <a:lumOff val="80000"/>
                <a:alpha val="59000"/>
              </a:schemeClr>
            </a:glow>
            <a:outerShdw dist="50800" dir="5400000" sx="1000" sy="1000" algn="ctr" rotWithShape="0">
              <a:srgbClr val="000000"/>
            </a:outerShdw>
          </a:effectLst>
        </p:spPr>
      </p:pic>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828800"/>
            <a:ext cx="53848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828800"/>
            <a:ext cx="53848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showMasterSp="0">
  <p:cSld name="1_空白">
    <p:spTree>
      <p:nvGrpSpPr>
        <p:cNvPr id="1" name=""/>
        <p:cNvGrpSpPr/>
        <p:nvPr/>
      </p:nvGrpSpPr>
      <p:grpSpPr>
        <a:xfrm>
          <a:off x="0" y="0"/>
          <a:ext cx="0" cy="0"/>
          <a:chOff x="0" y="0"/>
          <a:chExt cx="0" cy="0"/>
        </a:xfrm>
      </p:grpSpPr>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685800"/>
            <a:ext cx="2743200" cy="56388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685800"/>
            <a:ext cx="8026400" cy="56388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219200" y="685801"/>
            <a:ext cx="9855200" cy="563563"/>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609600" y="18288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8288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09600" y="41529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6197600" y="41529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828800"/>
            <a:ext cx="5384800" cy="4495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6197600" y="18288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197600" y="4152900"/>
            <a:ext cx="5384800" cy="21717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685800"/>
            <a:ext cx="10972800" cy="5638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spd="med">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1_标题和内容">
    <p:spTree>
      <p:nvGrpSpPr>
        <p:cNvPr id="1" name=""/>
        <p:cNvGrpSpPr/>
        <p:nvPr/>
      </p:nvGrpSpPr>
      <p:grpSpPr>
        <a:xfrm>
          <a:off x="0" y="0"/>
          <a:ext cx="0" cy="0"/>
          <a:chOff x="0" y="0"/>
          <a:chExt cx="0" cy="0"/>
        </a:xfrm>
      </p:grpSpPr>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vmlDrawing" Target="../drawings/vmlDrawing1.vml"/><Relationship Id="rId2" Type="http://schemas.openxmlformats.org/officeDocument/2006/relationships/slideLayout" Target="../slideLayouts/slideLayout2.xml"/><Relationship Id="rId19" Type="http://schemas.openxmlformats.org/officeDocument/2006/relationships/image" Target="../media/image3.png"/><Relationship Id="rId18" Type="http://schemas.openxmlformats.org/officeDocument/2006/relationships/oleObject" Target="../embeddings/oleObject1.bin"/><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26" name="Object 27"/>
          <p:cNvGraphicFramePr>
            <a:graphicFrameLocks noChangeAspect="1"/>
          </p:cNvGraphicFramePr>
          <p:nvPr/>
        </p:nvGraphicFramePr>
        <p:xfrm>
          <a:off x="0" y="0"/>
          <a:ext cx="12192000" cy="1200150"/>
        </p:xfrm>
        <a:graphic>
          <a:graphicData uri="http://schemas.openxmlformats.org/presentationml/2006/ole">
            <mc:AlternateContent xmlns:mc="http://schemas.openxmlformats.org/markup-compatibility/2006">
              <mc:Choice xmlns:v="urn:schemas-microsoft-com:vml" Requires="v">
                <p:oleObj spid="_x0000_s2" name="Image" r:id="rId18" imgW="9563100" imgH="1600200" progId="">
                  <p:embed/>
                </p:oleObj>
              </mc:Choice>
              <mc:Fallback>
                <p:oleObj name="Image" r:id="rId18" imgW="9563100" imgH="1600200" progId="">
                  <p:embed/>
                  <p:pic>
                    <p:nvPicPr>
                      <p:cNvPr id="0" name="Object 2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white">
                      <a:xfrm>
                        <a:off x="0" y="0"/>
                        <a:ext cx="12192000" cy="1200150"/>
                      </a:xfrm>
                      <a:prstGeom prst="rect">
                        <a:avLst/>
                      </a:prstGeom>
                      <a:noFill/>
                      <a:ln>
                        <a:noFill/>
                      </a:ln>
                      <a:effectLst/>
                      <a:extLst>
                        <a:ext uri="{909E8E84-426E-40DD-AFC4-6F175D3DCCD1}">
                          <a14:hiddenFill xmlns:a14="http://schemas.microsoft.com/office/drawing/2010/main">
                            <a:solidFill>
                              <a:srgbClr val="65AAE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pic>
                </p:oleObj>
              </mc:Fallback>
            </mc:AlternateContent>
          </a:graphicData>
        </a:graphic>
      </p:graphicFrame>
      <p:grpSp>
        <p:nvGrpSpPr>
          <p:cNvPr id="1028" name="Group 18"/>
          <p:cNvGrpSpPr/>
          <p:nvPr/>
        </p:nvGrpSpPr>
        <p:grpSpPr bwMode="auto">
          <a:xfrm>
            <a:off x="10320867" y="347663"/>
            <a:ext cx="516467" cy="366712"/>
            <a:chOff x="4752" y="1200"/>
            <a:chExt cx="288" cy="288"/>
          </a:xfrm>
        </p:grpSpPr>
        <p:sp>
          <p:nvSpPr>
            <p:cNvPr id="1043" name="Oval 19"/>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w="9525">
              <a:noFill/>
              <a:round/>
            </a:ln>
            <a:effectLst/>
          </p:spPr>
          <p:txBody>
            <a:bodyPr wrap="none" anchor="ctr"/>
            <a:lstStyle/>
            <a:p>
              <a:pPr eaLnBrk="1" hangingPunct="1">
                <a:defRPr/>
              </a:pPr>
              <a:endParaRPr lang="zh-CN" altLang="en-US">
                <a:latin typeface="Arial" panose="020B0604020202020204" pitchFamily="34" charset="0"/>
                <a:ea typeface="+mn-ea"/>
              </a:endParaRPr>
            </a:p>
          </p:txBody>
        </p:sp>
        <p:sp>
          <p:nvSpPr>
            <p:cNvPr id="1044" name="Oval 20"/>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eaLnBrk="1" hangingPunct="1">
                <a:defRPr/>
              </a:pPr>
              <a:endParaRPr lang="zh-CN" altLang="en-US">
                <a:latin typeface="Arial" panose="020B0604020202020204" pitchFamily="34" charset="0"/>
                <a:ea typeface="+mn-ea"/>
              </a:endParaRPr>
            </a:p>
          </p:txBody>
        </p:sp>
      </p:grpSp>
      <p:grpSp>
        <p:nvGrpSpPr>
          <p:cNvPr id="1029" name="Group 21"/>
          <p:cNvGrpSpPr/>
          <p:nvPr/>
        </p:nvGrpSpPr>
        <p:grpSpPr bwMode="auto">
          <a:xfrm>
            <a:off x="10871200" y="53975"/>
            <a:ext cx="812800" cy="592138"/>
            <a:chOff x="4992" y="816"/>
            <a:chExt cx="576" cy="576"/>
          </a:xfrm>
        </p:grpSpPr>
        <p:sp>
          <p:nvSpPr>
            <p:cNvPr id="1035" name="Oval 22"/>
            <p:cNvSpPr>
              <a:spLocks noChangeArrowheads="1"/>
            </p:cNvSpPr>
            <p:nvPr userDrawn="1"/>
          </p:nvSpPr>
          <p:spPr bwMode="gray">
            <a:xfrm>
              <a:off x="4992" y="816"/>
              <a:ext cx="576" cy="576"/>
            </a:xfrm>
            <a:prstGeom prst="ellipse">
              <a:avLst/>
            </a:prstGeom>
            <a:solidFill>
              <a:schemeClr val="accent1">
                <a:alpha val="52940"/>
              </a:schemeClr>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ea typeface="楷体_GB2312" pitchFamily="49" charset="-122"/>
              </a:endParaRPr>
            </a:p>
          </p:txBody>
        </p:sp>
        <p:sp>
          <p:nvSpPr>
            <p:cNvPr id="1047" name="Oval 23"/>
            <p:cNvSpPr>
              <a:spLocks noChangeArrowheads="1"/>
            </p:cNvSpPr>
            <p:nvPr userDrawn="1"/>
          </p:nvSpPr>
          <p:spPr bwMode="gray">
            <a:xfrm>
              <a:off x="4992" y="912"/>
              <a:ext cx="480" cy="385"/>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w="9525">
              <a:noFill/>
              <a:round/>
            </a:ln>
            <a:effectLst/>
          </p:spPr>
          <p:txBody>
            <a:bodyPr wrap="none" anchor="ctr"/>
            <a:lstStyle/>
            <a:p>
              <a:pPr eaLnBrk="1" hangingPunct="1">
                <a:defRPr/>
              </a:pPr>
              <a:endParaRPr lang="zh-CN" altLang="en-US">
                <a:latin typeface="Arial" panose="020B0604020202020204" pitchFamily="34" charset="0"/>
                <a:ea typeface="+mn-ea"/>
              </a:endParaRPr>
            </a:p>
          </p:txBody>
        </p:sp>
      </p:grpSp>
      <p:sp>
        <p:nvSpPr>
          <p:cNvPr id="1031" name="Rectangle 3"/>
          <p:cNvSpPr>
            <a:spLocks noGrp="1" noChangeArrowheads="1"/>
          </p:cNvSpPr>
          <p:nvPr>
            <p:ph type="body" idx="1"/>
          </p:nvPr>
        </p:nvSpPr>
        <p:spPr bwMode="auto">
          <a:xfrm>
            <a:off x="609600" y="1828800"/>
            <a:ext cx="10972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32" name="Rectangle 2"/>
          <p:cNvSpPr>
            <a:spLocks noGrp="1" noChangeArrowheads="1"/>
          </p:cNvSpPr>
          <p:nvPr>
            <p:ph type="title"/>
          </p:nvPr>
        </p:nvSpPr>
        <p:spPr bwMode="white">
          <a:xfrm>
            <a:off x="1219200" y="685801"/>
            <a:ext cx="9855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zoom/>
  </p:transition>
  <p:txStyles>
    <p:title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p:titleStyle>
    <p:body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cs typeface="楷体_GB2312"/>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customXml" Target="../ink/ink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5.xml"/><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9.xml"/><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vmlDrawing" Target="../drawings/vmlDrawing2.vml"/><Relationship Id="rId5" Type="http://schemas.openxmlformats.org/officeDocument/2006/relationships/slideLayout" Target="../slideLayouts/slideLayout3.xml"/><Relationship Id="rId4" Type="http://schemas.openxmlformats.org/officeDocument/2006/relationships/image" Target="../media/image26.wmf"/><Relationship Id="rId3" Type="http://schemas.openxmlformats.org/officeDocument/2006/relationships/oleObject" Target="../embeddings/oleObject3.bin"/><Relationship Id="rId2" Type="http://schemas.openxmlformats.org/officeDocument/2006/relationships/image" Target="../media/image25.wmf"/><Relationship Id="rId1" Type="http://schemas.openxmlformats.org/officeDocument/2006/relationships/oleObject" Target="../embeddings/oleObject2.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9.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9.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vmlDrawing" Target="../drawings/vmlDrawing3.vml"/><Relationship Id="rId4" Type="http://schemas.openxmlformats.org/officeDocument/2006/relationships/slideLayout" Target="../slideLayouts/slideLayout3.xml"/><Relationship Id="rId3" Type="http://schemas.openxmlformats.org/officeDocument/2006/relationships/image" Target="../media/image29.jpeg"/><Relationship Id="rId2" Type="http://schemas.openxmlformats.org/officeDocument/2006/relationships/image" Target="../media/image26.wmf"/><Relationship Id="rId1"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3.xml"/><Relationship Id="rId2" Type="http://schemas.openxmlformats.org/officeDocument/2006/relationships/image" Target="../media/image30.jpeg"/><Relationship Id="rId1" Type="http://schemas.openxmlformats.org/officeDocument/2006/relationships/image" Target="../media/image29.jpeg"/></Relationships>
</file>

<file path=ppt/slides/_rels/slide37.xml.rels><?xml version="1.0" encoding="UTF-8" standalone="yes"?>
<Relationships xmlns="http://schemas.openxmlformats.org/package/2006/relationships"><Relationship Id="rId9" Type="http://schemas.openxmlformats.org/officeDocument/2006/relationships/notesSlide" Target="../notesSlides/notesSlide36.xml"/><Relationship Id="rId8" Type="http://schemas.openxmlformats.org/officeDocument/2006/relationships/vmlDrawing" Target="../drawings/vmlDrawing4.vml"/><Relationship Id="rId7" Type="http://schemas.openxmlformats.org/officeDocument/2006/relationships/slideLayout" Target="../slideLayouts/slideLayout3.xml"/><Relationship Id="rId6" Type="http://schemas.openxmlformats.org/officeDocument/2006/relationships/image" Target="../media/image33.wmf"/><Relationship Id="rId5" Type="http://schemas.openxmlformats.org/officeDocument/2006/relationships/oleObject" Target="../embeddings/oleObject7.bin"/><Relationship Id="rId4" Type="http://schemas.openxmlformats.org/officeDocument/2006/relationships/image" Target="../media/image32.wmf"/><Relationship Id="rId3" Type="http://schemas.openxmlformats.org/officeDocument/2006/relationships/oleObject" Target="../embeddings/oleObject6.bin"/><Relationship Id="rId2" Type="http://schemas.openxmlformats.org/officeDocument/2006/relationships/image" Target="../media/image31.wmf"/><Relationship Id="rId1"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vmlDrawing" Target="../drawings/vmlDrawing5.vml"/><Relationship Id="rId5" Type="http://schemas.openxmlformats.org/officeDocument/2006/relationships/slideLayout" Target="../slideLayouts/slideLayout3.xml"/><Relationship Id="rId4" Type="http://schemas.openxmlformats.org/officeDocument/2006/relationships/image" Target="../media/image33.wmf"/><Relationship Id="rId3" Type="http://schemas.openxmlformats.org/officeDocument/2006/relationships/oleObject" Target="../embeddings/oleObject9.bin"/><Relationship Id="rId2" Type="http://schemas.openxmlformats.org/officeDocument/2006/relationships/image" Target="../media/image32.wmf"/><Relationship Id="rId1"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vmlDrawing" Target="../drawings/vmlDrawing6.vml"/><Relationship Id="rId5" Type="http://schemas.openxmlformats.org/officeDocument/2006/relationships/slideLayout" Target="../slideLayouts/slideLayout3.xml"/><Relationship Id="rId4" Type="http://schemas.openxmlformats.org/officeDocument/2006/relationships/image" Target="../media/image34.wmf"/><Relationship Id="rId3" Type="http://schemas.openxmlformats.org/officeDocument/2006/relationships/oleObject" Target="../embeddings/oleObject11.bin"/><Relationship Id="rId2" Type="http://schemas.openxmlformats.org/officeDocument/2006/relationships/image" Target="../media/image32.wmf"/><Relationship Id="rId1" Type="http://schemas.openxmlformats.org/officeDocument/2006/relationships/oleObject" Target="../embeddings/oleObject10.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9.xml"/><Relationship Id="rId1" Type="http://schemas.openxmlformats.org/officeDocument/2006/relationships/image" Target="../media/image35.pn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vmlDrawing" Target="../drawings/vmlDrawing7.vml"/><Relationship Id="rId5" Type="http://schemas.openxmlformats.org/officeDocument/2006/relationships/slideLayout" Target="../slideLayouts/slideLayout3.xml"/><Relationship Id="rId4" Type="http://schemas.openxmlformats.org/officeDocument/2006/relationships/image" Target="../media/image36.wmf"/><Relationship Id="rId3" Type="http://schemas.openxmlformats.org/officeDocument/2006/relationships/oleObject" Target="../embeddings/oleObject13.bin"/><Relationship Id="rId2" Type="http://schemas.openxmlformats.org/officeDocument/2006/relationships/image" Target="../media/image34.wmf"/><Relationship Id="rId1" Type="http://schemas.openxmlformats.org/officeDocument/2006/relationships/oleObject" Target="../embeddings/oleObject12.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7.xml"/><Relationship Id="rId1" Type="http://schemas.openxmlformats.org/officeDocument/2006/relationships/image" Target="../media/image37.png"/></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vmlDrawing" Target="../drawings/vmlDrawing8.vml"/><Relationship Id="rId5" Type="http://schemas.openxmlformats.org/officeDocument/2006/relationships/slideLayout" Target="../slideLayouts/slideLayout3.xml"/><Relationship Id="rId4" Type="http://schemas.openxmlformats.org/officeDocument/2006/relationships/image" Target="../media/image38.wmf"/><Relationship Id="rId3" Type="http://schemas.openxmlformats.org/officeDocument/2006/relationships/oleObject" Target="../embeddings/oleObject15.bin"/><Relationship Id="rId2" Type="http://schemas.openxmlformats.org/officeDocument/2006/relationships/image" Target="../media/image36.wmf"/><Relationship Id="rId1" Type="http://schemas.openxmlformats.org/officeDocument/2006/relationships/oleObject" Target="../embeddings/oleObject14.bin"/></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vmlDrawing" Target="../drawings/vmlDrawing9.vml"/><Relationship Id="rId5" Type="http://schemas.openxmlformats.org/officeDocument/2006/relationships/slideLayout" Target="../slideLayouts/slideLayout8.xml"/><Relationship Id="rId4" Type="http://schemas.openxmlformats.org/officeDocument/2006/relationships/image" Target="../media/image39.wmf"/><Relationship Id="rId3" Type="http://schemas.openxmlformats.org/officeDocument/2006/relationships/oleObject" Target="../embeddings/oleObject17.bin"/><Relationship Id="rId2" Type="http://schemas.openxmlformats.org/officeDocument/2006/relationships/image" Target="../media/image38.wmf"/><Relationship Id="rId1" Type="http://schemas.openxmlformats.org/officeDocument/2006/relationships/oleObject" Target="../embeddings/oleObject16.bin"/></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45.xml"/><Relationship Id="rId6" Type="http://schemas.openxmlformats.org/officeDocument/2006/relationships/vmlDrawing" Target="../drawings/vmlDrawing10.vml"/><Relationship Id="rId5" Type="http://schemas.openxmlformats.org/officeDocument/2006/relationships/slideLayout" Target="../slideLayouts/slideLayout8.xml"/><Relationship Id="rId4" Type="http://schemas.openxmlformats.org/officeDocument/2006/relationships/image" Target="../media/image40.wmf"/><Relationship Id="rId3" Type="http://schemas.openxmlformats.org/officeDocument/2006/relationships/oleObject" Target="../embeddings/oleObject19.bin"/><Relationship Id="rId2" Type="http://schemas.openxmlformats.org/officeDocument/2006/relationships/image" Target="../media/image39.wmf"/><Relationship Id="rId1" Type="http://schemas.openxmlformats.org/officeDocument/2006/relationships/oleObject" Target="../embeddings/oleObject18.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9.xml"/><Relationship Id="rId1" Type="http://schemas.openxmlformats.org/officeDocument/2006/relationships/image" Target="../media/image2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9.xml"/><Relationship Id="rId2" Type="http://schemas.openxmlformats.org/officeDocument/2006/relationships/image" Target="../media/image43.png"/><Relationship Id="rId1" Type="http://schemas.openxmlformats.org/officeDocument/2006/relationships/image" Target="../media/image4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image" Target="../media/image44.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4.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9.xml"/><Relationship Id="rId1" Type="http://schemas.openxmlformats.org/officeDocument/2006/relationships/image" Target="../media/image45.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9.xml"/><Relationship Id="rId1" Type="http://schemas.openxmlformats.org/officeDocument/2006/relationships/image" Target="../media/image46.png"/></Relationships>
</file>

<file path=ppt/slides/_rels/slide75.xml.rels><?xml version="1.0" encoding="UTF-8" standalone="yes"?>
<Relationships xmlns="http://schemas.openxmlformats.org/package/2006/relationships"><Relationship Id="rId9" Type="http://schemas.openxmlformats.org/officeDocument/2006/relationships/image" Target="../media/image54.jpeg"/><Relationship Id="rId8" Type="http://schemas.openxmlformats.org/officeDocument/2006/relationships/image" Target="../media/image53.jpeg"/><Relationship Id="rId7" Type="http://schemas.openxmlformats.org/officeDocument/2006/relationships/image" Target="../media/image52.jpeg"/><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5.jpeg"/><Relationship Id="rId3" Type="http://schemas.openxmlformats.org/officeDocument/2006/relationships/image" Target="../media/image49.jpeg"/><Relationship Id="rId2" Type="http://schemas.openxmlformats.org/officeDocument/2006/relationships/image" Target="../media/image48.jpeg"/><Relationship Id="rId15" Type="http://schemas.openxmlformats.org/officeDocument/2006/relationships/notesSlide" Target="../notesSlides/notesSlide71.xml"/><Relationship Id="rId14" Type="http://schemas.openxmlformats.org/officeDocument/2006/relationships/slideLayout" Target="../slideLayouts/slideLayout14.xml"/><Relationship Id="rId13" Type="http://schemas.openxmlformats.org/officeDocument/2006/relationships/slide" Target="slide56.xml"/><Relationship Id="rId12" Type="http://schemas.openxmlformats.org/officeDocument/2006/relationships/slide" Target="slide51.xml"/><Relationship Id="rId11" Type="http://schemas.openxmlformats.org/officeDocument/2006/relationships/slide" Target="slide50.xml"/><Relationship Id="rId10" Type="http://schemas.openxmlformats.org/officeDocument/2006/relationships/slide" Target="slide65.xml"/><Relationship Id="rId1" Type="http://schemas.openxmlformats.org/officeDocument/2006/relationships/image" Target="../media/image47.jpe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9.xml"/><Relationship Id="rId1" Type="http://schemas.openxmlformats.org/officeDocument/2006/relationships/image" Target="../media/image55.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9.xml"/><Relationship Id="rId2" Type="http://schemas.openxmlformats.org/officeDocument/2006/relationships/image" Target="../media/image57.png"/><Relationship Id="rId1" Type="http://schemas.openxmlformats.org/officeDocument/2006/relationships/image" Target="../media/image56.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9.xml"/><Relationship Id="rId2" Type="http://schemas.openxmlformats.org/officeDocument/2006/relationships/image" Target="../media/image59.png"/><Relationship Id="rId1" Type="http://schemas.openxmlformats.org/officeDocument/2006/relationships/image" Target="../media/image58.png"/></Relationships>
</file>

<file path=ppt/slides/_rels/slide80.xml.rels><?xml version="1.0" encoding="UTF-8" standalone="yes"?>
<Relationships xmlns="http://schemas.openxmlformats.org/package/2006/relationships"><Relationship Id="rId9" Type="http://schemas.openxmlformats.org/officeDocument/2006/relationships/image" Target="../media/image68.jpeg"/><Relationship Id="rId8" Type="http://schemas.openxmlformats.org/officeDocument/2006/relationships/image" Target="../media/image67.jpeg"/><Relationship Id="rId7" Type="http://schemas.openxmlformats.org/officeDocument/2006/relationships/image" Target="../media/image66.jpeg"/><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jpeg"/><Relationship Id="rId3" Type="http://schemas.openxmlformats.org/officeDocument/2006/relationships/image" Target="../media/image62.jpeg"/><Relationship Id="rId2" Type="http://schemas.openxmlformats.org/officeDocument/2006/relationships/image" Target="../media/image61.jpeg"/><Relationship Id="rId19" Type="http://schemas.openxmlformats.org/officeDocument/2006/relationships/notesSlide" Target="../notesSlides/notesSlide76.xml"/><Relationship Id="rId18" Type="http://schemas.openxmlformats.org/officeDocument/2006/relationships/slideLayout" Target="../slideLayouts/slideLayout16.xml"/><Relationship Id="rId17" Type="http://schemas.openxmlformats.org/officeDocument/2006/relationships/slide" Target="slide27.xml"/><Relationship Id="rId16" Type="http://schemas.openxmlformats.org/officeDocument/2006/relationships/slide" Target="slide25.xml"/><Relationship Id="rId15" Type="http://schemas.openxmlformats.org/officeDocument/2006/relationships/slide" Target="slide24.xml"/><Relationship Id="rId14" Type="http://schemas.openxmlformats.org/officeDocument/2006/relationships/slide" Target="slide23.xml"/><Relationship Id="rId13" Type="http://schemas.openxmlformats.org/officeDocument/2006/relationships/slide" Target="slide21.xml"/><Relationship Id="rId12" Type="http://schemas.openxmlformats.org/officeDocument/2006/relationships/slide" Target="slide20.xml"/><Relationship Id="rId11" Type="http://schemas.openxmlformats.org/officeDocument/2006/relationships/slide" Target="slide14.xml"/><Relationship Id="rId10" Type="http://schemas.openxmlformats.org/officeDocument/2006/relationships/image" Target="../media/image69.jpeg"/><Relationship Id="rId1" Type="http://schemas.openxmlformats.org/officeDocument/2006/relationships/image" Target="../media/image60.jpe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9.xml"/><Relationship Id="rId1" Type="http://schemas.openxmlformats.org/officeDocument/2006/relationships/image" Target="../media/image4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9.xml"/><Relationship Id="rId1" Type="http://schemas.openxmlformats.org/officeDocument/2006/relationships/image" Target="../media/image44.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9.xml"/><Relationship Id="rId1" Type="http://schemas.openxmlformats.org/officeDocument/2006/relationships/image" Target="../media/image44.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9.xml"/><Relationship Id="rId1" Type="http://schemas.openxmlformats.org/officeDocument/2006/relationships/image" Target="../media/image44.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3.xml"/><Relationship Id="rId1" Type="http://schemas.openxmlformats.org/officeDocument/2006/relationships/image" Target="../media/image44.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9.xml"/><Relationship Id="rId2" Type="http://schemas.openxmlformats.org/officeDocument/2006/relationships/image" Target="../media/image71.png"/><Relationship Id="rId1" Type="http://schemas.openxmlformats.org/officeDocument/2006/relationships/image" Target="../media/image70.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9.xml"/><Relationship Id="rId2" Type="http://schemas.openxmlformats.org/officeDocument/2006/relationships/image" Target="../media/image73.png"/><Relationship Id="rId1" Type="http://schemas.openxmlformats.org/officeDocument/2006/relationships/image" Target="../media/image72.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9.xml"/><Relationship Id="rId1" Type="http://schemas.openxmlformats.org/officeDocument/2006/relationships/image" Target="../media/image74.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8.xml"/><Relationship Id="rId1" Type="http://schemas.openxmlformats.org/officeDocument/2006/relationships/image" Target="../media/image75.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9.xml"/><Relationship Id="rId1" Type="http://schemas.openxmlformats.org/officeDocument/2006/relationships/image" Target="../media/image76.pn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9.xml"/><Relationship Id="rId1" Type="http://schemas.openxmlformats.org/officeDocument/2006/relationships/image" Target="../media/image77.jpe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9.xml"/><Relationship Id="rId1" Type="http://schemas.openxmlformats.org/officeDocument/2006/relationships/image" Target="../media/image78.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9" Type="http://schemas.openxmlformats.org/officeDocument/2006/relationships/image" Target="../media/image83.jpeg"/><Relationship Id="rId8" Type="http://schemas.openxmlformats.org/officeDocument/2006/relationships/image" Target="../media/image82.wmf"/><Relationship Id="rId7" Type="http://schemas.openxmlformats.org/officeDocument/2006/relationships/oleObject" Target="../embeddings/oleObject23.bin"/><Relationship Id="rId6" Type="http://schemas.openxmlformats.org/officeDocument/2006/relationships/image" Target="../media/image81.wmf"/><Relationship Id="rId5" Type="http://schemas.openxmlformats.org/officeDocument/2006/relationships/oleObject" Target="../embeddings/oleObject22.bin"/><Relationship Id="rId4" Type="http://schemas.openxmlformats.org/officeDocument/2006/relationships/image" Target="../media/image80.wmf"/><Relationship Id="rId3" Type="http://schemas.openxmlformats.org/officeDocument/2006/relationships/oleObject" Target="../embeddings/oleObject21.bin"/><Relationship Id="rId2" Type="http://schemas.openxmlformats.org/officeDocument/2006/relationships/image" Target="../media/image79.wmf"/><Relationship Id="rId12" Type="http://schemas.openxmlformats.org/officeDocument/2006/relationships/notesSlide" Target="../notesSlides/notesSlide108.xml"/><Relationship Id="rId11" Type="http://schemas.openxmlformats.org/officeDocument/2006/relationships/vmlDrawing" Target="../drawings/vmlDrawing11.vml"/><Relationship Id="rId10" Type="http://schemas.openxmlformats.org/officeDocument/2006/relationships/slideLayout" Target="../slideLayouts/slideLayout8.xml"/><Relationship Id="rId1" Type="http://schemas.openxmlformats.org/officeDocument/2006/relationships/oleObject" Target="../embeddings/oleObject20.bin"/></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4" Type="http://schemas.openxmlformats.org/officeDocument/2006/relationships/notesSlide" Target="../notesSlides/notesSlide114.xml"/><Relationship Id="rId3" Type="http://schemas.openxmlformats.org/officeDocument/2006/relationships/slideLayout" Target="../slideLayouts/slideLayout9.xml"/><Relationship Id="rId2" Type="http://schemas.openxmlformats.org/officeDocument/2006/relationships/image" Target="../media/image85.png"/><Relationship Id="rId1" Type="http://schemas.openxmlformats.org/officeDocument/2006/relationships/image" Target="../media/image84.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9.xml"/><Relationship Id="rId1" Type="http://schemas.openxmlformats.org/officeDocument/2006/relationships/image" Target="../media/image86.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9.xml"/><Relationship Id="rId1" Type="http://schemas.openxmlformats.org/officeDocument/2006/relationships/image" Target="../media/image44.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9.xml"/><Relationship Id="rId1" Type="http://schemas.openxmlformats.org/officeDocument/2006/relationships/image" Target="../media/image88.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3.xml"/><Relationship Id="rId1" Type="http://schemas.openxmlformats.org/officeDocument/2006/relationships/image" Target="../media/image89.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8.xml"/><Relationship Id="rId1" Type="http://schemas.openxmlformats.org/officeDocument/2006/relationships/image" Target="../media/image90.jpeg"/></Relationships>
</file>

<file path=ppt/slides/_rels/slide132.xml.rels><?xml version="1.0" encoding="UTF-8" standalone="yes"?>
<Relationships xmlns="http://schemas.openxmlformats.org/package/2006/relationships"><Relationship Id="rId4" Type="http://schemas.openxmlformats.org/officeDocument/2006/relationships/notesSlide" Target="../notesSlides/notesSlide127.xml"/><Relationship Id="rId3" Type="http://schemas.openxmlformats.org/officeDocument/2006/relationships/slideLayout" Target="../slideLayouts/slideLayout3.xml"/><Relationship Id="rId2" Type="http://schemas.openxmlformats.org/officeDocument/2006/relationships/image" Target="../media/image92.png"/><Relationship Id="rId1" Type="http://schemas.openxmlformats.org/officeDocument/2006/relationships/image" Target="../media/image91.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9.xml"/><Relationship Id="rId1" Type="http://schemas.openxmlformats.org/officeDocument/2006/relationships/image" Target="../media/image93.png"/></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8.xml"/><Relationship Id="rId1" Type="http://schemas.openxmlformats.org/officeDocument/2006/relationships/image" Target="../media/image94.jpe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9.xml"/><Relationship Id="rId1" Type="http://schemas.openxmlformats.org/officeDocument/2006/relationships/image" Target="../media/image95.png"/></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8.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9.xml"/><Relationship Id="rId1" Type="http://schemas.openxmlformats.org/officeDocument/2006/relationships/image" Target="../media/image96.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9.xml"/><Relationship Id="rId1" Type="http://schemas.openxmlformats.org/officeDocument/2006/relationships/image" Target="../media/image97.png"/></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7" Type="http://schemas.openxmlformats.org/officeDocument/2006/relationships/notesSlide" Target="../notesSlides/notesSlide147.xml"/><Relationship Id="rId6" Type="http://schemas.openxmlformats.org/officeDocument/2006/relationships/slideLayout" Target="../slideLayouts/slideLayout9.xml"/><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image" Target="../media/image98.png"/></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9.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9.xml"/><Relationship Id="rId1" Type="http://schemas.openxmlformats.org/officeDocument/2006/relationships/image" Target="../media/image103.jpeg"/></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9.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8.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9.xml"/><Relationship Id="rId1" Type="http://schemas.openxmlformats.org/officeDocument/2006/relationships/image" Target="../media/image104.png"/></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9.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8.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3.xml"/><Relationship Id="rId1" Type="http://schemas.openxmlformats.org/officeDocument/2006/relationships/image" Target="../media/image44.png"/></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06.png"/></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9.xml"/><Relationship Id="rId1" Type="http://schemas.openxmlformats.org/officeDocument/2006/relationships/image" Target="../media/image107.png"/></Relationships>
</file>

<file path=ppt/slides/_rels/slide174.xml.rels><?xml version="1.0" encoding="UTF-8" standalone="yes"?>
<Relationships xmlns="http://schemas.openxmlformats.org/package/2006/relationships"><Relationship Id="rId4" Type="http://schemas.openxmlformats.org/officeDocument/2006/relationships/notesSlide" Target="../notesSlides/notesSlide168.xml"/><Relationship Id="rId3" Type="http://schemas.openxmlformats.org/officeDocument/2006/relationships/slideLayout" Target="../slideLayouts/slideLayout9.xml"/><Relationship Id="rId2" Type="http://schemas.microsoft.com/office/2007/relationships/hdphoto" Target="../media/image109.wdp"/><Relationship Id="rId1" Type="http://schemas.openxmlformats.org/officeDocument/2006/relationships/image" Target="../media/image108.png"/></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8.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8.xml"/></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9.xml"/><Relationship Id="rId1" Type="http://schemas.openxmlformats.org/officeDocument/2006/relationships/image" Target="../media/image110.png"/></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9.xml"/><Relationship Id="rId1" Type="http://schemas.openxmlformats.org/officeDocument/2006/relationships/image" Target="../media/image111.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74.xml"/><Relationship Id="rId2" Type="http://schemas.openxmlformats.org/officeDocument/2006/relationships/slideLayout" Target="../slideLayouts/slideLayout9.xml"/><Relationship Id="rId1" Type="http://schemas.openxmlformats.org/officeDocument/2006/relationships/image" Target="../media/image112.pn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75.xml"/><Relationship Id="rId2" Type="http://schemas.openxmlformats.org/officeDocument/2006/relationships/slideLayout" Target="../slideLayouts/slideLayout9.xml"/><Relationship Id="rId1" Type="http://schemas.openxmlformats.org/officeDocument/2006/relationships/image" Target="../media/image113.png"/></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9.xml"/><Relationship Id="rId1" Type="http://schemas.openxmlformats.org/officeDocument/2006/relationships/image" Target="../media/image114.png"/></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15.png"/></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9.xml"/></Relationships>
</file>

<file path=ppt/slides/_rels/slide187.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9.xml"/><Relationship Id="rId1" Type="http://schemas.openxmlformats.org/officeDocument/2006/relationships/image" Target="../media/image116.png"/></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9.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8.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9.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8.xml"/></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86.xml"/><Relationship Id="rId2" Type="http://schemas.openxmlformats.org/officeDocument/2006/relationships/slideLayout" Target="../slideLayouts/slideLayout7.xml"/><Relationship Id="rId1" Type="http://schemas.openxmlformats.org/officeDocument/2006/relationships/image" Target="../media/image117.png"/></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9.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9.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9.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9.xml"/></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193.xml"/><Relationship Id="rId2" Type="http://schemas.openxmlformats.org/officeDocument/2006/relationships/slideLayout" Target="../slideLayouts/slideLayout7.xml"/><Relationship Id="rId1" Type="http://schemas.openxmlformats.org/officeDocument/2006/relationships/image" Target="../media/image118.png"/></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195.xml"/><Relationship Id="rId2" Type="http://schemas.openxmlformats.org/officeDocument/2006/relationships/slideLayout" Target="../slideLayouts/slideLayout9.xml"/><Relationship Id="rId1" Type="http://schemas.openxmlformats.org/officeDocument/2006/relationships/image" Target="../media/image119.png"/></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8.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idx="4294967295"/>
          </p:nvPr>
        </p:nvSpPr>
        <p:spPr>
          <a:xfrm>
            <a:off x="2386013" y="1460500"/>
            <a:ext cx="7416800" cy="1905000"/>
          </a:xfrm>
          <a:effectLst>
            <a:outerShdw dist="53882" dir="2700000" algn="ctr" rotWithShape="0">
              <a:schemeClr val="bg2"/>
            </a:outerShdw>
          </a:effectLst>
        </p:spPr>
        <p:txBody>
          <a:bodyPr/>
          <a:lstStyle/>
          <a:p>
            <a:pPr eaLnBrk="1" hangingPunct="1">
              <a:lnSpc>
                <a:spcPct val="160000"/>
              </a:lnSpc>
            </a:pPr>
            <a:r>
              <a:rPr lang="zh-CN" altLang="en-US" sz="5200" b="1" dirty="0">
                <a:solidFill>
                  <a:srgbClr val="FF0000"/>
                </a:solidFill>
              </a:rPr>
              <a:t>第 二 篇</a:t>
            </a:r>
            <a:br>
              <a:rPr lang="zh-CN" altLang="en-US" sz="5200" b="1" dirty="0">
                <a:solidFill>
                  <a:srgbClr val="FF0000"/>
                </a:solidFill>
              </a:rPr>
            </a:br>
            <a:r>
              <a:rPr lang="zh-CN" altLang="en-US" sz="5200" b="1" dirty="0">
                <a:solidFill>
                  <a:srgbClr val="FF0000"/>
                </a:solidFill>
              </a:rPr>
              <a:t>代谢及其调节</a:t>
            </a:r>
            <a:endParaRPr lang="zh-CN" altLang="en-US" sz="5200" b="1" dirty="0">
              <a:solidFill>
                <a:srgbClr val="FF0000"/>
              </a:solidFill>
            </a:endParaRPr>
          </a:p>
        </p:txBody>
      </p:sp>
      <p:sp>
        <p:nvSpPr>
          <p:cNvPr id="7171" name="Rectangle 6"/>
          <p:cNvSpPr>
            <a:spLocks noGrp="1" noChangeArrowheads="1"/>
          </p:cNvSpPr>
          <p:nvPr>
            <p:ph type="subTitle" idx="4294967295"/>
          </p:nvPr>
        </p:nvSpPr>
        <p:spPr>
          <a:xfrm>
            <a:off x="2620963" y="5373688"/>
            <a:ext cx="6946900" cy="1319212"/>
          </a:xfrm>
        </p:spPr>
        <p:txBody>
          <a:bodyPr/>
          <a:lstStyle/>
          <a:p>
            <a:pPr marL="0" indent="0" algn="ctr" eaLnBrk="1" hangingPunct="1">
              <a:buNone/>
            </a:pPr>
            <a:r>
              <a:rPr lang="zh-CN" altLang="en-US" sz="2400" b="0" dirty="0"/>
              <a:t>彭翼飞  </a:t>
            </a:r>
            <a:r>
              <a:rPr lang="en-US" altLang="zh-CN" sz="2400" b="0" dirty="0"/>
              <a:t>yvettegz@163.com</a:t>
            </a:r>
            <a:endParaRPr lang="en-US" altLang="zh-CN" sz="2400" b="0" dirty="0"/>
          </a:p>
          <a:p>
            <a:pPr marL="0" indent="0" algn="ctr" eaLnBrk="1" hangingPunct="1">
              <a:buNone/>
            </a:pPr>
            <a:r>
              <a:rPr lang="zh-CN" altLang="en-US" sz="2400" b="0" dirty="0"/>
              <a:t>生物化学与分子生物学教研室</a:t>
            </a:r>
            <a:endParaRPr lang="en-US" altLang="zh-CN" sz="2400" b="0" dirty="0"/>
          </a:p>
          <a:p>
            <a:pPr marL="0" indent="0" algn="ctr" eaLnBrk="1" hangingPunct="1">
              <a:buNone/>
            </a:pPr>
            <a:r>
              <a:rPr lang="zh-CN" altLang="en-US" sz="2400" b="0" dirty="0"/>
              <a:t>基础医学院</a:t>
            </a:r>
            <a:endParaRPr lang="zh-CN" altLang="en-US" sz="2400" b="0" dirty="0"/>
          </a:p>
          <a:p>
            <a:pPr marL="0" indent="0" algn="ctr" eaLnBrk="1" hangingPunct="1">
              <a:buNone/>
            </a:pPr>
            <a:r>
              <a:rPr lang="zh-CN" altLang="en-US" sz="2400" b="0" dirty="0"/>
              <a:t>     </a:t>
            </a:r>
            <a:endParaRPr lang="en-US" altLang="zh-CN" sz="2400" b="0" dirty="0"/>
          </a:p>
        </p:txBody>
      </p:sp>
      <p:sp>
        <p:nvSpPr>
          <p:cNvPr id="118788" name="Rectangle 4"/>
          <p:cNvSpPr>
            <a:spLocks noChangeArrowheads="1"/>
          </p:cNvSpPr>
          <p:nvPr/>
        </p:nvSpPr>
        <p:spPr bwMode="auto">
          <a:xfrm>
            <a:off x="1990726" y="3860800"/>
            <a:ext cx="8208963" cy="647700"/>
          </a:xfrm>
          <a:prstGeom prst="rect">
            <a:avLst/>
          </a:prstGeom>
          <a:noFill/>
          <a:ln w="9525">
            <a:noFill/>
            <a:miter lim="800000"/>
          </a:ln>
          <a:effectLst/>
        </p:spPr>
        <p:txBody>
          <a:bodyPr anchor="ctr"/>
          <a:lstStyle/>
          <a:p>
            <a:pPr algn="ctr" eaLnBrk="1" hangingPunct="1">
              <a:spcBef>
                <a:spcPct val="20000"/>
              </a:spcBef>
              <a:buSzPct val="85000"/>
              <a:defRPr/>
            </a:pPr>
            <a:r>
              <a:rPr kumimoji="1" lang="en-US" altLang="zh-CN" sz="3600" dirty="0">
                <a:solidFill>
                  <a:srgbClr val="660033"/>
                </a:solidFill>
                <a:effectLst>
                  <a:outerShdw blurRad="38100" dist="38100" dir="2700000" algn="tl">
                    <a:srgbClr val="C0C0C0"/>
                  </a:outerShdw>
                </a:effectLst>
                <a:latin typeface="Arial" panose="020B0604020202020204" pitchFamily="34" charset="0"/>
              </a:rPr>
              <a:t>Metabolism and </a:t>
            </a:r>
            <a:r>
              <a:rPr kumimoji="1" lang="en-US" altLang="zh-CN" sz="3600" dirty="0">
                <a:solidFill>
                  <a:srgbClr val="660033"/>
                </a:solidFill>
                <a:latin typeface="Arial" panose="020B0604020202020204" pitchFamily="34" charset="0"/>
              </a:rPr>
              <a:t>Its</a:t>
            </a:r>
            <a:r>
              <a:rPr kumimoji="1" lang="en-US" altLang="zh-CN" sz="3600" dirty="0">
                <a:solidFill>
                  <a:srgbClr val="660033"/>
                </a:solidFill>
                <a:effectLst>
                  <a:outerShdw blurRad="38100" dist="38100" dir="2700000" algn="tl">
                    <a:srgbClr val="C0C0C0"/>
                  </a:outerShdw>
                </a:effectLst>
                <a:latin typeface="Arial" panose="020B0604020202020204" pitchFamily="34" charset="0"/>
              </a:rPr>
              <a:t> Regulation</a:t>
            </a:r>
            <a:endParaRPr kumimoji="1" lang="en-US" altLang="zh-CN" sz="3600" dirty="0">
              <a:solidFill>
                <a:srgbClr val="660033"/>
              </a:solidFill>
              <a:effectLst>
                <a:outerShdw blurRad="38100" dist="38100" dir="2700000" algn="tl">
                  <a:srgbClr val="C0C0C0"/>
                </a:outerShdw>
              </a:effectLst>
              <a:latin typeface="Arial" panose="020B0604020202020204" pitchFamily="34" charset="0"/>
            </a:endParaRPr>
          </a:p>
        </p:txBody>
      </p:sp>
      <p:pic>
        <p:nvPicPr>
          <p:cNvPr id="7173" name="Picture 7" descr="校徽"/>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9302" y="195860"/>
            <a:ext cx="572953" cy="68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8" descr="南方医科大学（红色立体）"/>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465" y="262536"/>
            <a:ext cx="2880320" cy="646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1568375" y="79667"/>
            <a:ext cx="1447800" cy="1955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50000"/>
              </a:lnSpc>
              <a:spcBef>
                <a:spcPts val="0"/>
              </a:spcBef>
              <a:buClrTx/>
              <a:buSzTx/>
              <a:buFontTx/>
              <a:buNone/>
            </a:pPr>
            <a:r>
              <a:rPr kumimoji="1" lang="zh-CN" altLang="en-US" sz="2800" b="0" dirty="0">
                <a:solidFill>
                  <a:srgbClr val="0000CC"/>
                </a:solidFill>
                <a:latin typeface="楷体_GB2312" pitchFamily="49" charset="-122"/>
              </a:rPr>
              <a:t>多糖</a:t>
            </a:r>
            <a:endParaRPr kumimoji="1" lang="zh-CN" altLang="en-US" sz="2800" b="0" dirty="0">
              <a:solidFill>
                <a:srgbClr val="0000CC"/>
              </a:solidFill>
              <a:latin typeface="楷体_GB2312" pitchFamily="49" charset="-122"/>
            </a:endParaRPr>
          </a:p>
          <a:p>
            <a:pPr eaLnBrk="1" hangingPunct="1">
              <a:lnSpc>
                <a:spcPct val="150000"/>
              </a:lnSpc>
              <a:spcBef>
                <a:spcPts val="0"/>
              </a:spcBef>
              <a:buClrTx/>
              <a:buSzTx/>
              <a:buFontTx/>
              <a:buNone/>
            </a:pPr>
            <a:r>
              <a:rPr kumimoji="1" lang="zh-CN" altLang="en-US" sz="2800" b="0" dirty="0">
                <a:solidFill>
                  <a:srgbClr val="0000CC"/>
                </a:solidFill>
                <a:latin typeface="楷体_GB2312" pitchFamily="49" charset="-122"/>
              </a:rPr>
              <a:t>脂类</a:t>
            </a:r>
            <a:endParaRPr kumimoji="1" lang="zh-CN" altLang="en-US" sz="2800" b="0" dirty="0">
              <a:solidFill>
                <a:srgbClr val="0000CC"/>
              </a:solidFill>
              <a:latin typeface="楷体_GB2312" pitchFamily="49" charset="-122"/>
            </a:endParaRPr>
          </a:p>
          <a:p>
            <a:pPr eaLnBrk="1" hangingPunct="1">
              <a:lnSpc>
                <a:spcPct val="150000"/>
              </a:lnSpc>
              <a:spcBef>
                <a:spcPts val="0"/>
              </a:spcBef>
              <a:buClrTx/>
              <a:buSzTx/>
              <a:buFontTx/>
              <a:buNone/>
            </a:pPr>
            <a:r>
              <a:rPr kumimoji="1" lang="zh-CN" altLang="en-US" sz="2800" b="0" dirty="0">
                <a:solidFill>
                  <a:srgbClr val="0000CC"/>
                </a:solidFill>
                <a:latin typeface="楷体_GB2312" pitchFamily="49" charset="-122"/>
              </a:rPr>
              <a:t>蛋白质</a:t>
            </a:r>
            <a:endParaRPr kumimoji="1" lang="en-US" altLang="zh-CN" sz="2800" b="0" dirty="0">
              <a:solidFill>
                <a:srgbClr val="0000CC"/>
              </a:solidFill>
              <a:latin typeface="楷体_GB2312" pitchFamily="49" charset="-122"/>
            </a:endParaRPr>
          </a:p>
        </p:txBody>
      </p:sp>
      <p:sp>
        <p:nvSpPr>
          <p:cNvPr id="120835" name="AutoShape 3"/>
          <p:cNvSpPr/>
          <p:nvPr/>
        </p:nvSpPr>
        <p:spPr bwMode="auto">
          <a:xfrm>
            <a:off x="2892425" y="385763"/>
            <a:ext cx="228600" cy="1524000"/>
          </a:xfrm>
          <a:prstGeom prst="rightBrace">
            <a:avLst>
              <a:gd name="adj1" fmla="val 55556"/>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grpSp>
        <p:nvGrpSpPr>
          <p:cNvPr id="2" name="Group 4"/>
          <p:cNvGrpSpPr/>
          <p:nvPr/>
        </p:nvGrpSpPr>
        <p:grpSpPr bwMode="auto">
          <a:xfrm>
            <a:off x="3235325" y="538163"/>
            <a:ext cx="990600" cy="1204912"/>
            <a:chOff x="1218" y="339"/>
            <a:chExt cx="624" cy="759"/>
          </a:xfrm>
        </p:grpSpPr>
        <p:sp>
          <p:nvSpPr>
            <p:cNvPr id="14375" name="Line 5"/>
            <p:cNvSpPr>
              <a:spLocks noChangeShapeType="1"/>
            </p:cNvSpPr>
            <p:nvPr/>
          </p:nvSpPr>
          <p:spPr bwMode="auto">
            <a:xfrm>
              <a:off x="1218" y="723"/>
              <a:ext cx="62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376" name="Text Box 6"/>
            <p:cNvSpPr txBox="1">
              <a:spLocks noChangeArrowheads="1"/>
            </p:cNvSpPr>
            <p:nvPr/>
          </p:nvSpPr>
          <p:spPr bwMode="auto">
            <a:xfrm>
              <a:off x="1218" y="339"/>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FF0000"/>
                  </a:solidFill>
                  <a:latin typeface="楷体_GB2312" pitchFamily="49" charset="-122"/>
                </a:rPr>
                <a:t>消化</a:t>
              </a:r>
              <a:endParaRPr kumimoji="1" lang="zh-CN" altLang="en-US" sz="2800" b="0">
                <a:solidFill>
                  <a:srgbClr val="FF0000"/>
                </a:solidFill>
                <a:latin typeface="楷体_GB2312" pitchFamily="49" charset="-122"/>
              </a:endParaRPr>
            </a:p>
          </p:txBody>
        </p:sp>
        <p:sp>
          <p:nvSpPr>
            <p:cNvPr id="14377" name="Text Box 7"/>
            <p:cNvSpPr txBox="1">
              <a:spLocks noChangeArrowheads="1"/>
            </p:cNvSpPr>
            <p:nvPr/>
          </p:nvSpPr>
          <p:spPr bwMode="auto">
            <a:xfrm>
              <a:off x="1218" y="771"/>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FF0000"/>
                  </a:solidFill>
                  <a:latin typeface="楷体_GB2312" pitchFamily="49" charset="-122"/>
                </a:rPr>
                <a:t>吸收</a:t>
              </a:r>
              <a:endParaRPr kumimoji="1" lang="zh-CN" altLang="en-US" sz="2800" b="0">
                <a:solidFill>
                  <a:srgbClr val="FF0000"/>
                </a:solidFill>
                <a:latin typeface="楷体_GB2312" pitchFamily="49" charset="-122"/>
              </a:endParaRPr>
            </a:p>
          </p:txBody>
        </p:sp>
      </p:grpSp>
      <p:sp>
        <p:nvSpPr>
          <p:cNvPr id="120840" name="Text Box 8"/>
          <p:cNvSpPr txBox="1">
            <a:spLocks noChangeArrowheads="1"/>
          </p:cNvSpPr>
          <p:nvPr/>
        </p:nvSpPr>
        <p:spPr bwMode="auto">
          <a:xfrm>
            <a:off x="4151313" y="842964"/>
            <a:ext cx="1981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latin typeface="楷体_GB2312" pitchFamily="49" charset="-122"/>
              </a:rPr>
              <a:t>简单物质</a:t>
            </a:r>
            <a:endParaRPr kumimoji="1" lang="zh-CN" altLang="en-US" b="0">
              <a:latin typeface="楷体_GB2312" pitchFamily="49" charset="-122"/>
            </a:endParaRPr>
          </a:p>
        </p:txBody>
      </p:sp>
      <p:grpSp>
        <p:nvGrpSpPr>
          <p:cNvPr id="3" name="Group 9"/>
          <p:cNvGrpSpPr/>
          <p:nvPr/>
        </p:nvGrpSpPr>
        <p:grpSpPr bwMode="auto">
          <a:xfrm>
            <a:off x="4421189" y="1128714"/>
            <a:ext cx="1330325" cy="1584325"/>
            <a:chOff x="2050" y="771"/>
            <a:chExt cx="848" cy="864"/>
          </a:xfrm>
        </p:grpSpPr>
        <p:sp>
          <p:nvSpPr>
            <p:cNvPr id="14372" name="Line 10"/>
            <p:cNvSpPr>
              <a:spLocks noChangeShapeType="1"/>
            </p:cNvSpPr>
            <p:nvPr/>
          </p:nvSpPr>
          <p:spPr bwMode="auto">
            <a:xfrm>
              <a:off x="2466" y="867"/>
              <a:ext cx="0" cy="76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373" name="Text Box 11"/>
            <p:cNvSpPr txBox="1">
              <a:spLocks noChangeArrowheads="1"/>
            </p:cNvSpPr>
            <p:nvPr/>
          </p:nvSpPr>
          <p:spPr bwMode="auto">
            <a:xfrm>
              <a:off x="2506" y="987"/>
              <a:ext cx="39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FF0000"/>
                  </a:solidFill>
                  <a:latin typeface="楷体_GB2312" pitchFamily="49" charset="-122"/>
                </a:rPr>
                <a:t>合成</a:t>
              </a:r>
              <a:endParaRPr kumimoji="1" lang="zh-CN" altLang="en-US" sz="2800" b="0">
                <a:solidFill>
                  <a:srgbClr val="FF0000"/>
                </a:solidFill>
                <a:latin typeface="楷体_GB2312" pitchFamily="49" charset="-122"/>
              </a:endParaRPr>
            </a:p>
          </p:txBody>
        </p:sp>
        <p:sp>
          <p:nvSpPr>
            <p:cNvPr id="14374" name="Text Box 12"/>
            <p:cNvSpPr txBox="1">
              <a:spLocks noChangeArrowheads="1"/>
            </p:cNvSpPr>
            <p:nvPr/>
          </p:nvSpPr>
          <p:spPr bwMode="auto">
            <a:xfrm>
              <a:off x="2050" y="771"/>
              <a:ext cx="392"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FF0000"/>
                  </a:solidFill>
                  <a:latin typeface="楷体_GB2312" pitchFamily="49" charset="-122"/>
                </a:rPr>
                <a:t>（同化）</a:t>
              </a:r>
              <a:endParaRPr kumimoji="1" lang="zh-CN" altLang="en-US" sz="2800" b="0">
                <a:solidFill>
                  <a:srgbClr val="FF0000"/>
                </a:solidFill>
                <a:latin typeface="楷体_GB2312" pitchFamily="49" charset="-122"/>
              </a:endParaRPr>
            </a:p>
          </p:txBody>
        </p:sp>
      </p:grpSp>
      <p:sp>
        <p:nvSpPr>
          <p:cNvPr id="120845" name="Text Box 13"/>
          <p:cNvSpPr txBox="1">
            <a:spLocks noChangeArrowheads="1"/>
          </p:cNvSpPr>
          <p:nvPr/>
        </p:nvSpPr>
        <p:spPr bwMode="auto">
          <a:xfrm>
            <a:off x="4170363" y="2625725"/>
            <a:ext cx="198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latin typeface="楷体_GB2312" pitchFamily="49" charset="-122"/>
              </a:rPr>
              <a:t>复杂物质</a:t>
            </a:r>
            <a:endParaRPr kumimoji="1" lang="zh-CN" altLang="en-US" b="0">
              <a:latin typeface="楷体_GB2312" pitchFamily="49" charset="-122"/>
            </a:endParaRPr>
          </a:p>
        </p:txBody>
      </p:sp>
      <p:grpSp>
        <p:nvGrpSpPr>
          <p:cNvPr id="4" name="Group 14"/>
          <p:cNvGrpSpPr/>
          <p:nvPr/>
        </p:nvGrpSpPr>
        <p:grpSpPr bwMode="auto">
          <a:xfrm>
            <a:off x="4437063" y="3052764"/>
            <a:ext cx="1333500" cy="1671637"/>
            <a:chOff x="2088" y="1923"/>
            <a:chExt cx="822" cy="864"/>
          </a:xfrm>
        </p:grpSpPr>
        <p:sp>
          <p:nvSpPr>
            <p:cNvPr id="14369" name="Line 15"/>
            <p:cNvSpPr>
              <a:spLocks noChangeShapeType="1"/>
            </p:cNvSpPr>
            <p:nvPr/>
          </p:nvSpPr>
          <p:spPr bwMode="auto">
            <a:xfrm>
              <a:off x="2466" y="2019"/>
              <a:ext cx="0" cy="76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4370" name="Text Box 16"/>
            <p:cNvSpPr txBox="1">
              <a:spLocks noChangeArrowheads="1"/>
            </p:cNvSpPr>
            <p:nvPr/>
          </p:nvSpPr>
          <p:spPr bwMode="auto">
            <a:xfrm>
              <a:off x="2088" y="1923"/>
              <a:ext cx="379"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FF0000"/>
                  </a:solidFill>
                  <a:latin typeface="楷体_GB2312" pitchFamily="49" charset="-122"/>
                </a:rPr>
                <a:t>（异化）</a:t>
              </a:r>
              <a:endParaRPr kumimoji="1" lang="zh-CN" altLang="en-US" sz="2800" b="0">
                <a:solidFill>
                  <a:srgbClr val="FF0000"/>
                </a:solidFill>
                <a:latin typeface="楷体_GB2312" pitchFamily="49" charset="-122"/>
              </a:endParaRPr>
            </a:p>
          </p:txBody>
        </p:sp>
        <p:sp>
          <p:nvSpPr>
            <p:cNvPr id="14371" name="Text Box 17"/>
            <p:cNvSpPr txBox="1">
              <a:spLocks noChangeArrowheads="1"/>
            </p:cNvSpPr>
            <p:nvPr/>
          </p:nvSpPr>
          <p:spPr bwMode="auto">
            <a:xfrm>
              <a:off x="2531" y="2091"/>
              <a:ext cx="379"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FF0000"/>
                  </a:solidFill>
                  <a:latin typeface="楷体_GB2312" pitchFamily="49" charset="-122"/>
                </a:rPr>
                <a:t>分解</a:t>
              </a:r>
              <a:endParaRPr kumimoji="1" lang="zh-CN" altLang="en-US" sz="2800" b="0">
                <a:solidFill>
                  <a:srgbClr val="FF0000"/>
                </a:solidFill>
                <a:latin typeface="楷体_GB2312" pitchFamily="49" charset="-122"/>
              </a:endParaRPr>
            </a:p>
          </p:txBody>
        </p:sp>
      </p:grpSp>
      <p:sp>
        <p:nvSpPr>
          <p:cNvPr id="120850" name="Text Box 18"/>
          <p:cNvSpPr txBox="1">
            <a:spLocks noChangeArrowheads="1"/>
          </p:cNvSpPr>
          <p:nvPr/>
        </p:nvSpPr>
        <p:spPr bwMode="auto">
          <a:xfrm>
            <a:off x="4178300" y="4578350"/>
            <a:ext cx="1981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latin typeface="楷体_GB2312" pitchFamily="49" charset="-122"/>
              </a:rPr>
              <a:t>简单物质</a:t>
            </a:r>
            <a:endParaRPr kumimoji="1" lang="zh-CN" altLang="en-US" b="0">
              <a:latin typeface="楷体_GB2312" pitchFamily="49" charset="-122"/>
            </a:endParaRPr>
          </a:p>
        </p:txBody>
      </p:sp>
      <p:sp>
        <p:nvSpPr>
          <p:cNvPr id="120851" name="Line 19"/>
          <p:cNvSpPr>
            <a:spLocks noChangeShapeType="1"/>
          </p:cNvSpPr>
          <p:nvPr/>
        </p:nvSpPr>
        <p:spPr bwMode="auto">
          <a:xfrm flipH="1">
            <a:off x="5065713" y="5084763"/>
            <a:ext cx="0" cy="7112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0852" name="Text Box 20"/>
          <p:cNvSpPr txBox="1">
            <a:spLocks noChangeArrowheads="1"/>
          </p:cNvSpPr>
          <p:nvPr/>
        </p:nvSpPr>
        <p:spPr bwMode="auto">
          <a:xfrm>
            <a:off x="4608513" y="5749925"/>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latin typeface="楷体_GB2312" pitchFamily="49" charset="-122"/>
              </a:rPr>
              <a:t>废物</a:t>
            </a:r>
            <a:endParaRPr kumimoji="1" lang="zh-CN" altLang="en-US" b="0">
              <a:latin typeface="楷体_GB2312" pitchFamily="49" charset="-122"/>
            </a:endParaRPr>
          </a:p>
        </p:txBody>
      </p:sp>
      <p:sp>
        <p:nvSpPr>
          <p:cNvPr id="120853" name="Line 21"/>
          <p:cNvSpPr>
            <a:spLocks noChangeShapeType="1"/>
          </p:cNvSpPr>
          <p:nvPr/>
        </p:nvSpPr>
        <p:spPr bwMode="auto">
          <a:xfrm rot="-10786978">
            <a:off x="3829050" y="6081714"/>
            <a:ext cx="838200" cy="158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0854" name="Text Box 22"/>
          <p:cNvSpPr txBox="1">
            <a:spLocks noChangeArrowheads="1"/>
          </p:cNvSpPr>
          <p:nvPr/>
        </p:nvSpPr>
        <p:spPr bwMode="auto">
          <a:xfrm>
            <a:off x="2887663" y="5757864"/>
            <a:ext cx="1143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latin typeface="楷体_GB2312" pitchFamily="49" charset="-122"/>
              </a:rPr>
              <a:t>排泄</a:t>
            </a:r>
            <a:endParaRPr kumimoji="1" lang="zh-CN" altLang="en-US" b="0">
              <a:latin typeface="楷体_GB2312" pitchFamily="49" charset="-122"/>
            </a:endParaRPr>
          </a:p>
        </p:txBody>
      </p:sp>
      <p:sp>
        <p:nvSpPr>
          <p:cNvPr id="120855" name="AutoShape 23"/>
          <p:cNvSpPr/>
          <p:nvPr/>
        </p:nvSpPr>
        <p:spPr bwMode="auto">
          <a:xfrm>
            <a:off x="6530975" y="1109663"/>
            <a:ext cx="285750" cy="5029200"/>
          </a:xfrm>
          <a:prstGeom prst="rightBrace">
            <a:avLst>
              <a:gd name="adj1" fmla="val 146667"/>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20856" name="Text Box 24"/>
          <p:cNvSpPr txBox="1">
            <a:spLocks noChangeArrowheads="1"/>
          </p:cNvSpPr>
          <p:nvPr/>
        </p:nvSpPr>
        <p:spPr bwMode="auto">
          <a:xfrm>
            <a:off x="6734175" y="2938464"/>
            <a:ext cx="1981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solidFill>
                  <a:srgbClr val="FF0000"/>
                </a:solidFill>
                <a:latin typeface="黑体" panose="02010609060101010101" pitchFamily="2" charset="-122"/>
                <a:ea typeface="黑体" panose="02010609060101010101" pitchFamily="2" charset="-122"/>
              </a:rPr>
              <a:t>物质代谢</a:t>
            </a:r>
            <a:endParaRPr kumimoji="1" lang="zh-CN" altLang="en-US" b="0">
              <a:solidFill>
                <a:srgbClr val="FF0000"/>
              </a:solidFill>
              <a:latin typeface="黑体" panose="02010609060101010101" pitchFamily="2" charset="-122"/>
              <a:ea typeface="黑体" panose="02010609060101010101" pitchFamily="2" charset="-122"/>
            </a:endParaRPr>
          </a:p>
        </p:txBody>
      </p:sp>
      <p:sp>
        <p:nvSpPr>
          <p:cNvPr id="120857" name="AutoShape 25"/>
          <p:cNvSpPr/>
          <p:nvPr/>
        </p:nvSpPr>
        <p:spPr bwMode="auto">
          <a:xfrm>
            <a:off x="8410575" y="1433513"/>
            <a:ext cx="381000" cy="1828800"/>
          </a:xfrm>
          <a:prstGeom prst="leftBrace">
            <a:avLst>
              <a:gd name="adj1" fmla="val 40000"/>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20858" name="Text Box 26"/>
          <p:cNvSpPr txBox="1">
            <a:spLocks noChangeArrowheads="1"/>
          </p:cNvSpPr>
          <p:nvPr/>
        </p:nvSpPr>
        <p:spPr bwMode="auto">
          <a:xfrm>
            <a:off x="8753475" y="1452563"/>
            <a:ext cx="1219200"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60000"/>
              </a:lnSpc>
              <a:spcBef>
                <a:spcPct val="50000"/>
              </a:spcBef>
              <a:buClrTx/>
              <a:buSzTx/>
              <a:buFontTx/>
              <a:buNone/>
            </a:pPr>
            <a:r>
              <a:rPr kumimoji="1" lang="zh-CN" altLang="en-US" b="0">
                <a:latin typeface="楷体_GB2312" pitchFamily="49" charset="-122"/>
              </a:rPr>
              <a:t>合成</a:t>
            </a:r>
            <a:endParaRPr kumimoji="1" lang="zh-CN" altLang="en-US" b="0">
              <a:latin typeface="楷体_GB2312" pitchFamily="49" charset="-122"/>
            </a:endParaRPr>
          </a:p>
          <a:p>
            <a:pPr eaLnBrk="1" hangingPunct="1">
              <a:lnSpc>
                <a:spcPct val="60000"/>
              </a:lnSpc>
              <a:spcBef>
                <a:spcPct val="50000"/>
              </a:spcBef>
              <a:buClrTx/>
              <a:buSzTx/>
              <a:buFontTx/>
              <a:buNone/>
            </a:pPr>
            <a:r>
              <a:rPr kumimoji="1" lang="zh-CN" altLang="en-US" b="0">
                <a:latin typeface="楷体_GB2312" pitchFamily="49" charset="-122"/>
              </a:rPr>
              <a:t>分解</a:t>
            </a:r>
            <a:endParaRPr kumimoji="1" lang="zh-CN" altLang="en-US" b="0">
              <a:latin typeface="楷体_GB2312" pitchFamily="49" charset="-122"/>
            </a:endParaRPr>
          </a:p>
          <a:p>
            <a:pPr eaLnBrk="1" hangingPunct="1">
              <a:lnSpc>
                <a:spcPct val="60000"/>
              </a:lnSpc>
              <a:spcBef>
                <a:spcPct val="50000"/>
              </a:spcBef>
              <a:buClrTx/>
              <a:buSzTx/>
              <a:buFontTx/>
              <a:buNone/>
            </a:pPr>
            <a:r>
              <a:rPr kumimoji="1" lang="zh-CN" altLang="en-US" b="0">
                <a:latin typeface="楷体_GB2312" pitchFamily="49" charset="-122"/>
              </a:rPr>
              <a:t>转变</a:t>
            </a:r>
            <a:endParaRPr kumimoji="1" lang="zh-CN" altLang="en-US" b="0">
              <a:latin typeface="楷体_GB2312" pitchFamily="49" charset="-122"/>
            </a:endParaRPr>
          </a:p>
          <a:p>
            <a:pPr eaLnBrk="1" hangingPunct="1">
              <a:lnSpc>
                <a:spcPct val="60000"/>
              </a:lnSpc>
              <a:spcBef>
                <a:spcPct val="50000"/>
              </a:spcBef>
              <a:buClrTx/>
              <a:buSzTx/>
              <a:buFontTx/>
              <a:buNone/>
            </a:pPr>
            <a:r>
              <a:rPr kumimoji="1" lang="zh-CN" altLang="en-US" b="0">
                <a:latin typeface="楷体_GB2312" pitchFamily="49" charset="-122"/>
              </a:rPr>
              <a:t>调节</a:t>
            </a:r>
            <a:endParaRPr kumimoji="1" lang="zh-CN" altLang="en-US" b="0">
              <a:latin typeface="楷体_GB2312" pitchFamily="49" charset="-122"/>
            </a:endParaRPr>
          </a:p>
        </p:txBody>
      </p:sp>
      <p:sp>
        <p:nvSpPr>
          <p:cNvPr id="120859" name="Text Box 27"/>
          <p:cNvSpPr txBox="1">
            <a:spLocks noChangeArrowheads="1"/>
          </p:cNvSpPr>
          <p:nvPr/>
        </p:nvSpPr>
        <p:spPr bwMode="auto">
          <a:xfrm>
            <a:off x="8753475" y="3910013"/>
            <a:ext cx="1219200" cy="203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60000"/>
              </a:lnSpc>
              <a:spcBef>
                <a:spcPct val="50000"/>
              </a:spcBef>
              <a:buClrTx/>
              <a:buSzTx/>
              <a:buFontTx/>
              <a:buNone/>
            </a:pPr>
            <a:r>
              <a:rPr kumimoji="1" lang="zh-CN" altLang="en-US" b="0">
                <a:latin typeface="楷体_GB2312" pitchFamily="49" charset="-122"/>
              </a:rPr>
              <a:t>生成</a:t>
            </a:r>
            <a:endParaRPr kumimoji="1" lang="zh-CN" altLang="en-US" b="0">
              <a:latin typeface="楷体_GB2312" pitchFamily="49" charset="-122"/>
            </a:endParaRPr>
          </a:p>
          <a:p>
            <a:pPr eaLnBrk="1" hangingPunct="1">
              <a:lnSpc>
                <a:spcPct val="60000"/>
              </a:lnSpc>
              <a:spcBef>
                <a:spcPct val="50000"/>
              </a:spcBef>
              <a:buClrTx/>
              <a:buSzTx/>
              <a:buFontTx/>
              <a:buNone/>
            </a:pPr>
            <a:r>
              <a:rPr kumimoji="1" lang="zh-CN" altLang="en-US" b="0">
                <a:latin typeface="楷体_GB2312" pitchFamily="49" charset="-122"/>
              </a:rPr>
              <a:t>贮存</a:t>
            </a:r>
            <a:endParaRPr kumimoji="1" lang="zh-CN" altLang="en-US" b="0">
              <a:latin typeface="楷体_GB2312" pitchFamily="49" charset="-122"/>
            </a:endParaRPr>
          </a:p>
          <a:p>
            <a:pPr eaLnBrk="1" hangingPunct="1">
              <a:lnSpc>
                <a:spcPct val="60000"/>
              </a:lnSpc>
              <a:spcBef>
                <a:spcPct val="50000"/>
              </a:spcBef>
              <a:buClrTx/>
              <a:buSzTx/>
              <a:buFontTx/>
              <a:buNone/>
            </a:pPr>
            <a:r>
              <a:rPr kumimoji="1" lang="zh-CN" altLang="en-US" b="0">
                <a:latin typeface="楷体_GB2312" pitchFamily="49" charset="-122"/>
              </a:rPr>
              <a:t>释放</a:t>
            </a:r>
            <a:endParaRPr kumimoji="1" lang="zh-CN" altLang="en-US" b="0">
              <a:latin typeface="楷体_GB2312" pitchFamily="49" charset="-122"/>
            </a:endParaRPr>
          </a:p>
          <a:p>
            <a:pPr eaLnBrk="1" hangingPunct="1">
              <a:lnSpc>
                <a:spcPct val="60000"/>
              </a:lnSpc>
              <a:spcBef>
                <a:spcPct val="50000"/>
              </a:spcBef>
              <a:buClrTx/>
              <a:buSzTx/>
              <a:buFontTx/>
              <a:buNone/>
            </a:pPr>
            <a:r>
              <a:rPr kumimoji="1" lang="zh-CN" altLang="en-US" b="0">
                <a:latin typeface="楷体_GB2312" pitchFamily="49" charset="-122"/>
              </a:rPr>
              <a:t>转化</a:t>
            </a:r>
            <a:endParaRPr kumimoji="1" lang="zh-CN" altLang="en-US" b="0">
              <a:latin typeface="楷体_GB2312" pitchFamily="49" charset="-122"/>
            </a:endParaRPr>
          </a:p>
        </p:txBody>
      </p:sp>
      <p:sp>
        <p:nvSpPr>
          <p:cNvPr id="120860" name="AutoShape 28"/>
          <p:cNvSpPr/>
          <p:nvPr/>
        </p:nvSpPr>
        <p:spPr bwMode="auto">
          <a:xfrm>
            <a:off x="8410575" y="3967163"/>
            <a:ext cx="381000" cy="1828800"/>
          </a:xfrm>
          <a:prstGeom prst="leftBrace">
            <a:avLst>
              <a:gd name="adj1" fmla="val 40000"/>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grpSp>
        <p:nvGrpSpPr>
          <p:cNvPr id="5" name="Group 29"/>
          <p:cNvGrpSpPr/>
          <p:nvPr/>
        </p:nvGrpSpPr>
        <p:grpSpPr bwMode="auto">
          <a:xfrm>
            <a:off x="7648575" y="2328863"/>
            <a:ext cx="609600" cy="685800"/>
            <a:chOff x="3696" y="1344"/>
            <a:chExt cx="384" cy="432"/>
          </a:xfrm>
        </p:grpSpPr>
        <p:sp>
          <p:nvSpPr>
            <p:cNvPr id="14367" name="Line 30"/>
            <p:cNvSpPr>
              <a:spLocks noChangeShapeType="1"/>
            </p:cNvSpPr>
            <p:nvPr/>
          </p:nvSpPr>
          <p:spPr bwMode="auto">
            <a:xfrm>
              <a:off x="3696" y="1344"/>
              <a:ext cx="0" cy="43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4368" name="Line 31"/>
            <p:cNvSpPr>
              <a:spLocks noChangeShapeType="1"/>
            </p:cNvSpPr>
            <p:nvPr/>
          </p:nvSpPr>
          <p:spPr bwMode="auto">
            <a:xfrm>
              <a:off x="3696" y="1344"/>
              <a:ext cx="38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32"/>
          <p:cNvGrpSpPr/>
          <p:nvPr/>
        </p:nvGrpSpPr>
        <p:grpSpPr bwMode="auto">
          <a:xfrm>
            <a:off x="7667625" y="4214813"/>
            <a:ext cx="609600" cy="685800"/>
            <a:chOff x="3696" y="2496"/>
            <a:chExt cx="384" cy="432"/>
          </a:xfrm>
        </p:grpSpPr>
        <p:sp>
          <p:nvSpPr>
            <p:cNvPr id="14365" name="Line 33"/>
            <p:cNvSpPr>
              <a:spLocks noChangeShapeType="1"/>
            </p:cNvSpPr>
            <p:nvPr/>
          </p:nvSpPr>
          <p:spPr bwMode="auto">
            <a:xfrm>
              <a:off x="3696" y="2496"/>
              <a:ext cx="0" cy="43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4366" name="Line 34"/>
            <p:cNvSpPr>
              <a:spLocks noChangeShapeType="1"/>
            </p:cNvSpPr>
            <p:nvPr/>
          </p:nvSpPr>
          <p:spPr bwMode="auto">
            <a:xfrm>
              <a:off x="3696" y="2928"/>
              <a:ext cx="384"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20867" name="Line 35"/>
          <p:cNvSpPr>
            <a:spLocks noChangeShapeType="1"/>
          </p:cNvSpPr>
          <p:nvPr/>
        </p:nvSpPr>
        <p:spPr bwMode="auto">
          <a:xfrm>
            <a:off x="8429625" y="3624263"/>
            <a:ext cx="15240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0868" name="Text Box 36"/>
          <p:cNvSpPr txBox="1">
            <a:spLocks noChangeArrowheads="1"/>
          </p:cNvSpPr>
          <p:nvPr/>
        </p:nvSpPr>
        <p:spPr bwMode="auto">
          <a:xfrm>
            <a:off x="9924217" y="2786063"/>
            <a:ext cx="677108"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latin typeface="楷体_GB2312" pitchFamily="49" charset="-122"/>
              </a:rPr>
              <a:t>生命现象</a:t>
            </a:r>
            <a:endParaRPr kumimoji="1" lang="zh-CN" altLang="en-US" b="0">
              <a:latin typeface="楷体_GB2312" pitchFamily="49" charset="-122"/>
            </a:endParaRPr>
          </a:p>
        </p:txBody>
      </p:sp>
      <p:sp>
        <p:nvSpPr>
          <p:cNvPr id="120869" name="Text Box 37"/>
          <p:cNvSpPr txBox="1">
            <a:spLocks noChangeArrowheads="1"/>
          </p:cNvSpPr>
          <p:nvPr/>
        </p:nvSpPr>
        <p:spPr bwMode="auto">
          <a:xfrm>
            <a:off x="6715125" y="3567114"/>
            <a:ext cx="1828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solidFill>
                  <a:srgbClr val="FF0000"/>
                </a:solidFill>
                <a:latin typeface="黑体" panose="02010609060101010101" pitchFamily="2" charset="-122"/>
                <a:ea typeface="黑体" panose="02010609060101010101" pitchFamily="2" charset="-122"/>
              </a:rPr>
              <a:t>能量代谢</a:t>
            </a:r>
            <a:endParaRPr kumimoji="1" lang="zh-CN" altLang="en-US" b="0">
              <a:solidFill>
                <a:srgbClr val="FF0000"/>
              </a:solidFill>
              <a:latin typeface="黑体" panose="02010609060101010101" pitchFamily="2" charset="-122"/>
              <a:ea typeface="黑体" panose="02010609060101010101" pitchFamily="2" charset="-122"/>
            </a:endParaRPr>
          </a:p>
        </p:txBody>
      </p:sp>
      <p:grpSp>
        <p:nvGrpSpPr>
          <p:cNvPr id="7" name="Group 39"/>
          <p:cNvGrpSpPr/>
          <p:nvPr/>
        </p:nvGrpSpPr>
        <p:grpSpPr bwMode="auto">
          <a:xfrm>
            <a:off x="5591176" y="1139826"/>
            <a:ext cx="720725" cy="4968875"/>
            <a:chOff x="2562" y="718"/>
            <a:chExt cx="454" cy="3130"/>
          </a:xfrm>
        </p:grpSpPr>
        <p:sp>
          <p:nvSpPr>
            <p:cNvPr id="14362" name="Line 40"/>
            <p:cNvSpPr>
              <a:spLocks noChangeShapeType="1"/>
            </p:cNvSpPr>
            <p:nvPr/>
          </p:nvSpPr>
          <p:spPr bwMode="auto">
            <a:xfrm>
              <a:off x="2744" y="718"/>
              <a:ext cx="27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4363" name="Line 41"/>
            <p:cNvSpPr>
              <a:spLocks noChangeShapeType="1"/>
            </p:cNvSpPr>
            <p:nvPr/>
          </p:nvSpPr>
          <p:spPr bwMode="auto">
            <a:xfrm>
              <a:off x="3016" y="718"/>
              <a:ext cx="0" cy="313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4364" name="Line 42"/>
            <p:cNvSpPr>
              <a:spLocks noChangeShapeType="1"/>
            </p:cNvSpPr>
            <p:nvPr/>
          </p:nvSpPr>
          <p:spPr bwMode="auto">
            <a:xfrm>
              <a:off x="2562" y="3838"/>
              <a:ext cx="454" cy="0"/>
            </a:xfrm>
            <a:prstGeom prst="line">
              <a:avLst/>
            </a:prstGeom>
            <a:noFill/>
            <a:ln w="28575">
              <a:solidFill>
                <a:schemeClr val="tx1"/>
              </a:solidFill>
              <a:round/>
              <a:head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20834">
                                            <p:txEl>
                                              <p:pRg st="0" end="0"/>
                                            </p:txEl>
                                          </p:spTgt>
                                        </p:tgtEl>
                                        <p:attrNameLst>
                                          <p:attrName>style.visibility</p:attrName>
                                        </p:attrNameLst>
                                      </p:cBhvr>
                                      <p:to>
                                        <p:strVal val="visible"/>
                                      </p:to>
                                    </p:set>
                                    <p:animEffect transition="in" filter="dissolve">
                                      <p:cBhvr>
                                        <p:cTn id="7" dur="500"/>
                                        <p:tgtEl>
                                          <p:spTgt spid="120834">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0834">
                                            <p:txEl>
                                              <p:pRg st="1" end="1"/>
                                            </p:txEl>
                                          </p:spTgt>
                                        </p:tgtEl>
                                        <p:attrNameLst>
                                          <p:attrName>style.visibility</p:attrName>
                                        </p:attrNameLst>
                                      </p:cBhvr>
                                      <p:to>
                                        <p:strVal val="visible"/>
                                      </p:to>
                                    </p:set>
                                    <p:animEffect transition="in" filter="dissolve">
                                      <p:cBhvr>
                                        <p:cTn id="11" dur="500"/>
                                        <p:tgtEl>
                                          <p:spTgt spid="120834">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20834">
                                            <p:txEl>
                                              <p:pRg st="2" end="2"/>
                                            </p:txEl>
                                          </p:spTgt>
                                        </p:tgtEl>
                                        <p:attrNameLst>
                                          <p:attrName>style.visibility</p:attrName>
                                        </p:attrNameLst>
                                      </p:cBhvr>
                                      <p:to>
                                        <p:strVal val="visible"/>
                                      </p:to>
                                    </p:set>
                                    <p:animEffect transition="in" filter="dissolve">
                                      <p:cBhvr>
                                        <p:cTn id="15" dur="500"/>
                                        <p:tgtEl>
                                          <p:spTgt spid="12083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20835"/>
                                        </p:tgtEl>
                                        <p:attrNameLst>
                                          <p:attrName>style.visibility</p:attrName>
                                        </p:attrNameLst>
                                      </p:cBhvr>
                                      <p:to>
                                        <p:strVal val="visible"/>
                                      </p:to>
                                    </p:set>
                                    <p:animEffect transition="in" filter="wipe(up)">
                                      <p:cBhvr>
                                        <p:cTn id="20" dur="500"/>
                                        <p:tgtEl>
                                          <p:spTgt spid="120835"/>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120840"/>
                                        </p:tgtEl>
                                        <p:attrNameLst>
                                          <p:attrName>style.visibility</p:attrName>
                                        </p:attrNameLst>
                                      </p:cBhvr>
                                      <p:to>
                                        <p:strVal val="visible"/>
                                      </p:to>
                                    </p:set>
                                    <p:animEffect transition="in" filter="dissolve">
                                      <p:cBhvr>
                                        <p:cTn id="28" dur="500"/>
                                        <p:tgtEl>
                                          <p:spTgt spid="12084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up)">
                                      <p:cBhvr>
                                        <p:cTn id="33" dur="500"/>
                                        <p:tgtEl>
                                          <p:spTgt spid="3"/>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120845"/>
                                        </p:tgtEl>
                                        <p:attrNameLst>
                                          <p:attrName>style.visibility</p:attrName>
                                        </p:attrNameLst>
                                      </p:cBhvr>
                                      <p:to>
                                        <p:strVal val="visible"/>
                                      </p:to>
                                    </p:set>
                                    <p:animEffect transition="in" filter="dissolve">
                                      <p:cBhvr>
                                        <p:cTn id="37" dur="500"/>
                                        <p:tgtEl>
                                          <p:spTgt spid="1208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up)">
                                      <p:cBhvr>
                                        <p:cTn id="42" dur="500"/>
                                        <p:tgtEl>
                                          <p:spTgt spid="4"/>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120850"/>
                                        </p:tgtEl>
                                        <p:attrNameLst>
                                          <p:attrName>style.visibility</p:attrName>
                                        </p:attrNameLst>
                                      </p:cBhvr>
                                      <p:to>
                                        <p:strVal val="visible"/>
                                      </p:to>
                                    </p:set>
                                    <p:animEffect transition="in" filter="dissolve">
                                      <p:cBhvr>
                                        <p:cTn id="46" dur="500"/>
                                        <p:tgtEl>
                                          <p:spTgt spid="1208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20851"/>
                                        </p:tgtEl>
                                        <p:attrNameLst>
                                          <p:attrName>style.visibility</p:attrName>
                                        </p:attrNameLst>
                                      </p:cBhvr>
                                      <p:to>
                                        <p:strVal val="visible"/>
                                      </p:to>
                                    </p:set>
                                    <p:animEffect transition="in" filter="wipe(up)">
                                      <p:cBhvr>
                                        <p:cTn id="51" dur="500"/>
                                        <p:tgtEl>
                                          <p:spTgt spid="120851"/>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120852"/>
                                        </p:tgtEl>
                                        <p:attrNameLst>
                                          <p:attrName>style.visibility</p:attrName>
                                        </p:attrNameLst>
                                      </p:cBhvr>
                                      <p:to>
                                        <p:strVal val="visible"/>
                                      </p:to>
                                    </p:set>
                                    <p:animEffect transition="in" filter="dissolve">
                                      <p:cBhvr>
                                        <p:cTn id="55" dur="500"/>
                                        <p:tgtEl>
                                          <p:spTgt spid="120852"/>
                                        </p:tgtEl>
                                      </p:cBhvr>
                                    </p:animEffect>
                                  </p:childTnLst>
                                </p:cTn>
                              </p:par>
                            </p:childTnLst>
                          </p:cTn>
                        </p:par>
                        <p:par>
                          <p:cTn id="56" fill="hold">
                            <p:stCondLst>
                              <p:cond delay="1000"/>
                            </p:stCondLst>
                            <p:childTnLst>
                              <p:par>
                                <p:cTn id="57" presetID="22" presetClass="entr" presetSubtype="2" fill="hold" nodeType="afterEffect">
                                  <p:stCondLst>
                                    <p:cond delay="0"/>
                                  </p:stCondLst>
                                  <p:childTnLst>
                                    <p:set>
                                      <p:cBhvr>
                                        <p:cTn id="58" dur="1" fill="hold">
                                          <p:stCondLst>
                                            <p:cond delay="0"/>
                                          </p:stCondLst>
                                        </p:cTn>
                                        <p:tgtEl>
                                          <p:spTgt spid="120853"/>
                                        </p:tgtEl>
                                        <p:attrNameLst>
                                          <p:attrName>style.visibility</p:attrName>
                                        </p:attrNameLst>
                                      </p:cBhvr>
                                      <p:to>
                                        <p:strVal val="visible"/>
                                      </p:to>
                                    </p:set>
                                    <p:animEffect transition="in" filter="wipe(right)">
                                      <p:cBhvr>
                                        <p:cTn id="59" dur="500"/>
                                        <p:tgtEl>
                                          <p:spTgt spid="120853"/>
                                        </p:tgtEl>
                                      </p:cBhvr>
                                    </p:animEffect>
                                  </p:childTnLst>
                                </p:cTn>
                              </p:par>
                            </p:childTnLst>
                          </p:cTn>
                        </p:par>
                        <p:par>
                          <p:cTn id="60" fill="hold">
                            <p:stCondLst>
                              <p:cond delay="1500"/>
                            </p:stCondLst>
                            <p:childTnLst>
                              <p:par>
                                <p:cTn id="61" presetID="9" presetClass="entr" presetSubtype="0" fill="hold" grpId="0" nodeType="afterEffect">
                                  <p:stCondLst>
                                    <p:cond delay="0"/>
                                  </p:stCondLst>
                                  <p:childTnLst>
                                    <p:set>
                                      <p:cBhvr>
                                        <p:cTn id="62" dur="1" fill="hold">
                                          <p:stCondLst>
                                            <p:cond delay="0"/>
                                          </p:stCondLst>
                                        </p:cTn>
                                        <p:tgtEl>
                                          <p:spTgt spid="120854"/>
                                        </p:tgtEl>
                                        <p:attrNameLst>
                                          <p:attrName>style.visibility</p:attrName>
                                        </p:attrNameLst>
                                      </p:cBhvr>
                                      <p:to>
                                        <p:strVal val="visible"/>
                                      </p:to>
                                    </p:set>
                                    <p:animEffect transition="in" filter="dissolve">
                                      <p:cBhvr>
                                        <p:cTn id="63" dur="500"/>
                                        <p:tgtEl>
                                          <p:spTgt spid="12085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up)">
                                      <p:cBhvr>
                                        <p:cTn id="68" dur="1000"/>
                                        <p:tgtEl>
                                          <p:spTgt spid="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120855"/>
                                        </p:tgtEl>
                                        <p:attrNameLst>
                                          <p:attrName>style.visibility</p:attrName>
                                        </p:attrNameLst>
                                      </p:cBhvr>
                                      <p:to>
                                        <p:strVal val="visible"/>
                                      </p:to>
                                    </p:set>
                                    <p:animEffect transition="in" filter="wipe(up)">
                                      <p:cBhvr>
                                        <p:cTn id="73" dur="500"/>
                                        <p:tgtEl>
                                          <p:spTgt spid="120855"/>
                                        </p:tgtEl>
                                      </p:cBhvr>
                                    </p:animEffect>
                                  </p:childTnLst>
                                </p:cTn>
                              </p:par>
                            </p:childTnLst>
                          </p:cTn>
                        </p:par>
                        <p:par>
                          <p:cTn id="74" fill="hold">
                            <p:stCondLst>
                              <p:cond delay="500"/>
                            </p:stCondLst>
                            <p:childTnLst>
                              <p:par>
                                <p:cTn id="75" presetID="9" presetClass="entr" presetSubtype="0" fill="hold" grpId="0" nodeType="afterEffect">
                                  <p:stCondLst>
                                    <p:cond delay="0"/>
                                  </p:stCondLst>
                                  <p:childTnLst>
                                    <p:set>
                                      <p:cBhvr>
                                        <p:cTn id="76" dur="1" fill="hold">
                                          <p:stCondLst>
                                            <p:cond delay="0"/>
                                          </p:stCondLst>
                                        </p:cTn>
                                        <p:tgtEl>
                                          <p:spTgt spid="120856"/>
                                        </p:tgtEl>
                                        <p:attrNameLst>
                                          <p:attrName>style.visibility</p:attrName>
                                        </p:attrNameLst>
                                      </p:cBhvr>
                                      <p:to>
                                        <p:strVal val="visible"/>
                                      </p:to>
                                    </p:set>
                                    <p:animEffect transition="in" filter="dissolve">
                                      <p:cBhvr>
                                        <p:cTn id="77" dur="500"/>
                                        <p:tgtEl>
                                          <p:spTgt spid="12085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wipe(down)">
                                      <p:cBhvr>
                                        <p:cTn id="82" dur="500"/>
                                        <p:tgtEl>
                                          <p:spTgt spid="5"/>
                                        </p:tgtEl>
                                      </p:cBhvr>
                                    </p:animEffect>
                                  </p:childTnLst>
                                </p:cTn>
                              </p:par>
                            </p:childTnLst>
                          </p:cTn>
                        </p:par>
                        <p:par>
                          <p:cTn id="83" fill="hold">
                            <p:stCondLst>
                              <p:cond delay="500"/>
                            </p:stCondLst>
                            <p:childTnLst>
                              <p:par>
                                <p:cTn id="84" presetID="22" presetClass="entr" presetSubtype="1" fill="hold" grpId="0" nodeType="afterEffect">
                                  <p:stCondLst>
                                    <p:cond delay="0"/>
                                  </p:stCondLst>
                                  <p:childTnLst>
                                    <p:set>
                                      <p:cBhvr>
                                        <p:cTn id="85" dur="1" fill="hold">
                                          <p:stCondLst>
                                            <p:cond delay="0"/>
                                          </p:stCondLst>
                                        </p:cTn>
                                        <p:tgtEl>
                                          <p:spTgt spid="120857"/>
                                        </p:tgtEl>
                                        <p:attrNameLst>
                                          <p:attrName>style.visibility</p:attrName>
                                        </p:attrNameLst>
                                      </p:cBhvr>
                                      <p:to>
                                        <p:strVal val="visible"/>
                                      </p:to>
                                    </p:set>
                                    <p:animEffect transition="in" filter="wipe(up)">
                                      <p:cBhvr>
                                        <p:cTn id="86" dur="500"/>
                                        <p:tgtEl>
                                          <p:spTgt spid="120857"/>
                                        </p:tgtEl>
                                      </p:cBhvr>
                                    </p:animEffect>
                                  </p:childTnLst>
                                </p:cTn>
                              </p:par>
                            </p:childTnLst>
                          </p:cTn>
                        </p:par>
                        <p:par>
                          <p:cTn id="87" fill="hold">
                            <p:stCondLst>
                              <p:cond delay="1000"/>
                            </p:stCondLst>
                            <p:childTnLst>
                              <p:par>
                                <p:cTn id="88" presetID="9" presetClass="entr" presetSubtype="0" fill="hold" grpId="0" nodeType="afterEffect">
                                  <p:stCondLst>
                                    <p:cond delay="0"/>
                                  </p:stCondLst>
                                  <p:childTnLst>
                                    <p:set>
                                      <p:cBhvr>
                                        <p:cTn id="89" dur="1" fill="hold">
                                          <p:stCondLst>
                                            <p:cond delay="0"/>
                                          </p:stCondLst>
                                        </p:cTn>
                                        <p:tgtEl>
                                          <p:spTgt spid="120858">
                                            <p:txEl>
                                              <p:pRg st="0" end="0"/>
                                            </p:txEl>
                                          </p:spTgt>
                                        </p:tgtEl>
                                        <p:attrNameLst>
                                          <p:attrName>style.visibility</p:attrName>
                                        </p:attrNameLst>
                                      </p:cBhvr>
                                      <p:to>
                                        <p:strVal val="visible"/>
                                      </p:to>
                                    </p:set>
                                    <p:animEffect transition="in" filter="dissolve">
                                      <p:cBhvr>
                                        <p:cTn id="90" dur="500"/>
                                        <p:tgtEl>
                                          <p:spTgt spid="120858">
                                            <p:txEl>
                                              <p:pRg st="0" end="0"/>
                                            </p:txEl>
                                          </p:spTgt>
                                        </p:tgtEl>
                                      </p:cBhvr>
                                    </p:animEffect>
                                  </p:childTnLst>
                                </p:cTn>
                              </p:par>
                            </p:childTnLst>
                          </p:cTn>
                        </p:par>
                        <p:par>
                          <p:cTn id="91" fill="hold">
                            <p:stCondLst>
                              <p:cond delay="1500"/>
                            </p:stCondLst>
                            <p:childTnLst>
                              <p:par>
                                <p:cTn id="92" presetID="9" presetClass="entr" presetSubtype="0" fill="hold" grpId="0" nodeType="afterEffect">
                                  <p:stCondLst>
                                    <p:cond delay="0"/>
                                  </p:stCondLst>
                                  <p:childTnLst>
                                    <p:set>
                                      <p:cBhvr>
                                        <p:cTn id="93" dur="1" fill="hold">
                                          <p:stCondLst>
                                            <p:cond delay="0"/>
                                          </p:stCondLst>
                                        </p:cTn>
                                        <p:tgtEl>
                                          <p:spTgt spid="120858">
                                            <p:txEl>
                                              <p:pRg st="1" end="1"/>
                                            </p:txEl>
                                          </p:spTgt>
                                        </p:tgtEl>
                                        <p:attrNameLst>
                                          <p:attrName>style.visibility</p:attrName>
                                        </p:attrNameLst>
                                      </p:cBhvr>
                                      <p:to>
                                        <p:strVal val="visible"/>
                                      </p:to>
                                    </p:set>
                                    <p:animEffect transition="in" filter="dissolve">
                                      <p:cBhvr>
                                        <p:cTn id="94" dur="500"/>
                                        <p:tgtEl>
                                          <p:spTgt spid="120858">
                                            <p:txEl>
                                              <p:pRg st="1" end="1"/>
                                            </p:txEl>
                                          </p:spTgt>
                                        </p:tgtEl>
                                      </p:cBhvr>
                                    </p:animEffect>
                                  </p:childTnLst>
                                </p:cTn>
                              </p:par>
                            </p:childTnLst>
                          </p:cTn>
                        </p:par>
                        <p:par>
                          <p:cTn id="95" fill="hold">
                            <p:stCondLst>
                              <p:cond delay="2000"/>
                            </p:stCondLst>
                            <p:childTnLst>
                              <p:par>
                                <p:cTn id="96" presetID="9" presetClass="entr" presetSubtype="0" fill="hold" grpId="0" nodeType="afterEffect">
                                  <p:stCondLst>
                                    <p:cond delay="0"/>
                                  </p:stCondLst>
                                  <p:childTnLst>
                                    <p:set>
                                      <p:cBhvr>
                                        <p:cTn id="97" dur="1" fill="hold">
                                          <p:stCondLst>
                                            <p:cond delay="0"/>
                                          </p:stCondLst>
                                        </p:cTn>
                                        <p:tgtEl>
                                          <p:spTgt spid="120858">
                                            <p:txEl>
                                              <p:pRg st="2" end="2"/>
                                            </p:txEl>
                                          </p:spTgt>
                                        </p:tgtEl>
                                        <p:attrNameLst>
                                          <p:attrName>style.visibility</p:attrName>
                                        </p:attrNameLst>
                                      </p:cBhvr>
                                      <p:to>
                                        <p:strVal val="visible"/>
                                      </p:to>
                                    </p:set>
                                    <p:animEffect transition="in" filter="dissolve">
                                      <p:cBhvr>
                                        <p:cTn id="98" dur="500"/>
                                        <p:tgtEl>
                                          <p:spTgt spid="120858">
                                            <p:txEl>
                                              <p:pRg st="2" end="2"/>
                                            </p:txEl>
                                          </p:spTgt>
                                        </p:tgtEl>
                                      </p:cBhvr>
                                    </p:animEffect>
                                  </p:childTnLst>
                                </p:cTn>
                              </p:par>
                            </p:childTnLst>
                          </p:cTn>
                        </p:par>
                        <p:par>
                          <p:cTn id="99" fill="hold">
                            <p:stCondLst>
                              <p:cond delay="2500"/>
                            </p:stCondLst>
                            <p:childTnLst>
                              <p:par>
                                <p:cTn id="100" presetID="9" presetClass="entr" presetSubtype="0" fill="hold" grpId="0" nodeType="afterEffect">
                                  <p:stCondLst>
                                    <p:cond delay="0"/>
                                  </p:stCondLst>
                                  <p:childTnLst>
                                    <p:set>
                                      <p:cBhvr>
                                        <p:cTn id="101" dur="1" fill="hold">
                                          <p:stCondLst>
                                            <p:cond delay="0"/>
                                          </p:stCondLst>
                                        </p:cTn>
                                        <p:tgtEl>
                                          <p:spTgt spid="120858">
                                            <p:txEl>
                                              <p:pRg st="3" end="3"/>
                                            </p:txEl>
                                          </p:spTgt>
                                        </p:tgtEl>
                                        <p:attrNameLst>
                                          <p:attrName>style.visibility</p:attrName>
                                        </p:attrNameLst>
                                      </p:cBhvr>
                                      <p:to>
                                        <p:strVal val="visible"/>
                                      </p:to>
                                    </p:set>
                                    <p:animEffect transition="in" filter="dissolve">
                                      <p:cBhvr>
                                        <p:cTn id="102" dur="500"/>
                                        <p:tgtEl>
                                          <p:spTgt spid="120858">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120869"/>
                                        </p:tgtEl>
                                        <p:attrNameLst>
                                          <p:attrName>style.visibility</p:attrName>
                                        </p:attrNameLst>
                                      </p:cBhvr>
                                      <p:to>
                                        <p:strVal val="visible"/>
                                      </p:to>
                                    </p:set>
                                    <p:animEffect transition="in" filter="dissolve">
                                      <p:cBhvr>
                                        <p:cTn id="107" dur="500"/>
                                        <p:tgtEl>
                                          <p:spTgt spid="120869"/>
                                        </p:tgtEl>
                                      </p:cBhvr>
                                    </p:animEffect>
                                  </p:childTnLst>
                                </p:cTn>
                              </p:par>
                            </p:childTnLst>
                          </p:cTn>
                        </p:par>
                        <p:par>
                          <p:cTn id="108" fill="hold">
                            <p:stCondLst>
                              <p:cond delay="500"/>
                            </p:stCondLst>
                            <p:childTnLst>
                              <p:par>
                                <p:cTn id="109" presetID="22" presetClass="entr" presetSubtype="1" fill="hold" nodeType="afterEffect">
                                  <p:stCondLst>
                                    <p:cond delay="0"/>
                                  </p:stCondLst>
                                  <p:childTnLst>
                                    <p:set>
                                      <p:cBhvr>
                                        <p:cTn id="110" dur="1" fill="hold">
                                          <p:stCondLst>
                                            <p:cond delay="0"/>
                                          </p:stCondLst>
                                        </p:cTn>
                                        <p:tgtEl>
                                          <p:spTgt spid="6"/>
                                        </p:tgtEl>
                                        <p:attrNameLst>
                                          <p:attrName>style.visibility</p:attrName>
                                        </p:attrNameLst>
                                      </p:cBhvr>
                                      <p:to>
                                        <p:strVal val="visible"/>
                                      </p:to>
                                    </p:set>
                                    <p:animEffect transition="in" filter="wipe(up)">
                                      <p:cBhvr>
                                        <p:cTn id="111" dur="500"/>
                                        <p:tgtEl>
                                          <p:spTgt spid="6"/>
                                        </p:tgtEl>
                                      </p:cBhvr>
                                    </p:animEffect>
                                  </p:childTnLst>
                                </p:cTn>
                              </p:par>
                            </p:childTnLst>
                          </p:cTn>
                        </p:par>
                        <p:par>
                          <p:cTn id="112" fill="hold">
                            <p:stCondLst>
                              <p:cond delay="1000"/>
                            </p:stCondLst>
                            <p:childTnLst>
                              <p:par>
                                <p:cTn id="113" presetID="22" presetClass="entr" presetSubtype="1" fill="hold" grpId="0" nodeType="afterEffect">
                                  <p:stCondLst>
                                    <p:cond delay="0"/>
                                  </p:stCondLst>
                                  <p:childTnLst>
                                    <p:set>
                                      <p:cBhvr>
                                        <p:cTn id="114" dur="1" fill="hold">
                                          <p:stCondLst>
                                            <p:cond delay="0"/>
                                          </p:stCondLst>
                                        </p:cTn>
                                        <p:tgtEl>
                                          <p:spTgt spid="120860"/>
                                        </p:tgtEl>
                                        <p:attrNameLst>
                                          <p:attrName>style.visibility</p:attrName>
                                        </p:attrNameLst>
                                      </p:cBhvr>
                                      <p:to>
                                        <p:strVal val="visible"/>
                                      </p:to>
                                    </p:set>
                                    <p:animEffect transition="in" filter="wipe(up)">
                                      <p:cBhvr>
                                        <p:cTn id="115" dur="500"/>
                                        <p:tgtEl>
                                          <p:spTgt spid="120860"/>
                                        </p:tgtEl>
                                      </p:cBhvr>
                                    </p:animEffect>
                                  </p:childTnLst>
                                </p:cTn>
                              </p:par>
                            </p:childTnLst>
                          </p:cTn>
                        </p:par>
                        <p:par>
                          <p:cTn id="116" fill="hold">
                            <p:stCondLst>
                              <p:cond delay="1500"/>
                            </p:stCondLst>
                            <p:childTnLst>
                              <p:par>
                                <p:cTn id="117" presetID="9" presetClass="entr" presetSubtype="0" fill="hold" grpId="0" nodeType="afterEffect">
                                  <p:stCondLst>
                                    <p:cond delay="0"/>
                                  </p:stCondLst>
                                  <p:childTnLst>
                                    <p:set>
                                      <p:cBhvr>
                                        <p:cTn id="118" dur="1" fill="hold">
                                          <p:stCondLst>
                                            <p:cond delay="0"/>
                                          </p:stCondLst>
                                        </p:cTn>
                                        <p:tgtEl>
                                          <p:spTgt spid="120859">
                                            <p:txEl>
                                              <p:pRg st="0" end="0"/>
                                            </p:txEl>
                                          </p:spTgt>
                                        </p:tgtEl>
                                        <p:attrNameLst>
                                          <p:attrName>style.visibility</p:attrName>
                                        </p:attrNameLst>
                                      </p:cBhvr>
                                      <p:to>
                                        <p:strVal val="visible"/>
                                      </p:to>
                                    </p:set>
                                    <p:animEffect transition="in" filter="dissolve">
                                      <p:cBhvr>
                                        <p:cTn id="119" dur="500"/>
                                        <p:tgtEl>
                                          <p:spTgt spid="120859">
                                            <p:txEl>
                                              <p:pRg st="0" end="0"/>
                                            </p:txEl>
                                          </p:spTgt>
                                        </p:tgtEl>
                                      </p:cBhvr>
                                    </p:animEffect>
                                  </p:childTnLst>
                                </p:cTn>
                              </p:par>
                            </p:childTnLst>
                          </p:cTn>
                        </p:par>
                        <p:par>
                          <p:cTn id="120" fill="hold">
                            <p:stCondLst>
                              <p:cond delay="2000"/>
                            </p:stCondLst>
                            <p:childTnLst>
                              <p:par>
                                <p:cTn id="121" presetID="9" presetClass="entr" presetSubtype="0" fill="hold" grpId="0" nodeType="afterEffect">
                                  <p:stCondLst>
                                    <p:cond delay="0"/>
                                  </p:stCondLst>
                                  <p:childTnLst>
                                    <p:set>
                                      <p:cBhvr>
                                        <p:cTn id="122" dur="1" fill="hold">
                                          <p:stCondLst>
                                            <p:cond delay="0"/>
                                          </p:stCondLst>
                                        </p:cTn>
                                        <p:tgtEl>
                                          <p:spTgt spid="120859">
                                            <p:txEl>
                                              <p:pRg st="1" end="1"/>
                                            </p:txEl>
                                          </p:spTgt>
                                        </p:tgtEl>
                                        <p:attrNameLst>
                                          <p:attrName>style.visibility</p:attrName>
                                        </p:attrNameLst>
                                      </p:cBhvr>
                                      <p:to>
                                        <p:strVal val="visible"/>
                                      </p:to>
                                    </p:set>
                                    <p:animEffect transition="in" filter="dissolve">
                                      <p:cBhvr>
                                        <p:cTn id="123" dur="500"/>
                                        <p:tgtEl>
                                          <p:spTgt spid="120859">
                                            <p:txEl>
                                              <p:pRg st="1" end="1"/>
                                            </p:txEl>
                                          </p:spTgt>
                                        </p:tgtEl>
                                      </p:cBhvr>
                                    </p:animEffect>
                                  </p:childTnLst>
                                </p:cTn>
                              </p:par>
                            </p:childTnLst>
                          </p:cTn>
                        </p:par>
                        <p:par>
                          <p:cTn id="124" fill="hold">
                            <p:stCondLst>
                              <p:cond delay="2500"/>
                            </p:stCondLst>
                            <p:childTnLst>
                              <p:par>
                                <p:cTn id="125" presetID="9" presetClass="entr" presetSubtype="0" fill="hold" grpId="0" nodeType="afterEffect">
                                  <p:stCondLst>
                                    <p:cond delay="0"/>
                                  </p:stCondLst>
                                  <p:childTnLst>
                                    <p:set>
                                      <p:cBhvr>
                                        <p:cTn id="126" dur="1" fill="hold">
                                          <p:stCondLst>
                                            <p:cond delay="0"/>
                                          </p:stCondLst>
                                        </p:cTn>
                                        <p:tgtEl>
                                          <p:spTgt spid="120859">
                                            <p:txEl>
                                              <p:pRg st="2" end="2"/>
                                            </p:txEl>
                                          </p:spTgt>
                                        </p:tgtEl>
                                        <p:attrNameLst>
                                          <p:attrName>style.visibility</p:attrName>
                                        </p:attrNameLst>
                                      </p:cBhvr>
                                      <p:to>
                                        <p:strVal val="visible"/>
                                      </p:to>
                                    </p:set>
                                    <p:animEffect transition="in" filter="dissolve">
                                      <p:cBhvr>
                                        <p:cTn id="127" dur="500"/>
                                        <p:tgtEl>
                                          <p:spTgt spid="120859">
                                            <p:txEl>
                                              <p:pRg st="2" end="2"/>
                                            </p:txEl>
                                          </p:spTgt>
                                        </p:tgtEl>
                                      </p:cBhvr>
                                    </p:animEffect>
                                  </p:childTnLst>
                                </p:cTn>
                              </p:par>
                            </p:childTnLst>
                          </p:cTn>
                        </p:par>
                        <p:par>
                          <p:cTn id="128" fill="hold">
                            <p:stCondLst>
                              <p:cond delay="3000"/>
                            </p:stCondLst>
                            <p:childTnLst>
                              <p:par>
                                <p:cTn id="129" presetID="9" presetClass="entr" presetSubtype="0" fill="hold" grpId="0" nodeType="afterEffect">
                                  <p:stCondLst>
                                    <p:cond delay="0"/>
                                  </p:stCondLst>
                                  <p:childTnLst>
                                    <p:set>
                                      <p:cBhvr>
                                        <p:cTn id="130" dur="1" fill="hold">
                                          <p:stCondLst>
                                            <p:cond delay="0"/>
                                          </p:stCondLst>
                                        </p:cTn>
                                        <p:tgtEl>
                                          <p:spTgt spid="120859">
                                            <p:txEl>
                                              <p:pRg st="3" end="3"/>
                                            </p:txEl>
                                          </p:spTgt>
                                        </p:tgtEl>
                                        <p:attrNameLst>
                                          <p:attrName>style.visibility</p:attrName>
                                        </p:attrNameLst>
                                      </p:cBhvr>
                                      <p:to>
                                        <p:strVal val="visible"/>
                                      </p:to>
                                    </p:set>
                                    <p:animEffect transition="in" filter="dissolve">
                                      <p:cBhvr>
                                        <p:cTn id="131" dur="500"/>
                                        <p:tgtEl>
                                          <p:spTgt spid="120859">
                                            <p:txEl>
                                              <p:pRg st="3" end="3"/>
                                            </p:txEl>
                                          </p:spTgt>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120867"/>
                                        </p:tgtEl>
                                        <p:attrNameLst>
                                          <p:attrName>style.visibility</p:attrName>
                                        </p:attrNameLst>
                                      </p:cBhvr>
                                      <p:to>
                                        <p:strVal val="visible"/>
                                      </p:to>
                                    </p:set>
                                    <p:animEffect transition="in" filter="wipe(left)">
                                      <p:cBhvr>
                                        <p:cTn id="136" dur="500"/>
                                        <p:tgtEl>
                                          <p:spTgt spid="120867"/>
                                        </p:tgtEl>
                                      </p:cBhvr>
                                    </p:animEffect>
                                  </p:childTnLst>
                                </p:cTn>
                              </p:par>
                            </p:childTnLst>
                          </p:cTn>
                        </p:par>
                        <p:par>
                          <p:cTn id="137" fill="hold">
                            <p:stCondLst>
                              <p:cond delay="500"/>
                            </p:stCondLst>
                            <p:childTnLst>
                              <p:par>
                                <p:cTn id="138" presetID="9" presetClass="entr" presetSubtype="0" fill="hold" grpId="0" nodeType="afterEffect">
                                  <p:stCondLst>
                                    <p:cond delay="0"/>
                                  </p:stCondLst>
                                  <p:childTnLst>
                                    <p:set>
                                      <p:cBhvr>
                                        <p:cTn id="139" dur="1" fill="hold">
                                          <p:stCondLst>
                                            <p:cond delay="0"/>
                                          </p:stCondLst>
                                        </p:cTn>
                                        <p:tgtEl>
                                          <p:spTgt spid="120868"/>
                                        </p:tgtEl>
                                        <p:attrNameLst>
                                          <p:attrName>style.visibility</p:attrName>
                                        </p:attrNameLst>
                                      </p:cBhvr>
                                      <p:to>
                                        <p:strVal val="visible"/>
                                      </p:to>
                                    </p:set>
                                    <p:animEffect transition="in" filter="dissolve">
                                      <p:cBhvr>
                                        <p:cTn id="140" dur="500"/>
                                        <p:tgtEl>
                                          <p:spTgt spid="120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advAuto="0" autoUpdateAnimBg="0" build="p"/>
      <p:bldP spid="120835" grpId="0" animBg="1"/>
      <p:bldP spid="120840" grpId="0" autoUpdateAnimBg="0"/>
      <p:bldP spid="120845" grpId="0" autoUpdateAnimBg="0"/>
      <p:bldP spid="120850" grpId="0" autoUpdateAnimBg="0"/>
      <p:bldP spid="120852" grpId="0" autoUpdateAnimBg="0"/>
      <p:bldP spid="120854" grpId="0" autoUpdateAnimBg="0"/>
      <p:bldP spid="120855" grpId="0" animBg="1"/>
      <p:bldP spid="120856" grpId="0" autoUpdateAnimBg="0"/>
      <p:bldP spid="120857" grpId="0" animBg="1"/>
      <p:bldP spid="120858" grpId="0" advAuto="0" autoUpdateAnimBg="0" build="p"/>
      <p:bldP spid="120859" grpId="0" advAuto="0" autoUpdateAnimBg="0" build="p"/>
      <p:bldP spid="120860" grpId="0" animBg="1"/>
      <p:bldP spid="120868" grpId="0" autoUpdateAnimBg="0"/>
      <p:bldP spid="12086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noChangeArrowheads="1"/>
          </p:cNvSpPr>
          <p:nvPr>
            <p:ph type="title"/>
          </p:nvPr>
        </p:nvSpPr>
        <p:spPr>
          <a:xfrm>
            <a:off x="2438400" y="476251"/>
            <a:ext cx="7391400" cy="563563"/>
          </a:xfrm>
        </p:spPr>
        <p:txBody>
          <a:bodyPr/>
          <a:lstStyle/>
          <a:p>
            <a:r>
              <a:rPr lang="zh-CN" altLang="en-US" b="1">
                <a:solidFill>
                  <a:srgbClr val="5D2785"/>
                </a:solidFill>
              </a:rPr>
              <a:t>物质代谢（</a:t>
            </a:r>
            <a:r>
              <a:rPr lang="en-US" altLang="zh-CN" b="1">
                <a:solidFill>
                  <a:srgbClr val="5D2785"/>
                </a:solidFill>
              </a:rPr>
              <a:t>metabolism)</a:t>
            </a:r>
            <a:endParaRPr lang="zh-CN" altLang="en-US" b="1">
              <a:solidFill>
                <a:srgbClr val="5D2785"/>
              </a:solidFill>
            </a:endParaRPr>
          </a:p>
        </p:txBody>
      </p:sp>
      <p:sp>
        <p:nvSpPr>
          <p:cNvPr id="9219" name="内容占位符 2"/>
          <p:cNvSpPr>
            <a:spLocks noGrp="1" noChangeArrowheads="1"/>
          </p:cNvSpPr>
          <p:nvPr>
            <p:ph idx="1"/>
          </p:nvPr>
        </p:nvSpPr>
        <p:spPr>
          <a:xfrm>
            <a:off x="1055440" y="1989621"/>
            <a:ext cx="10368792" cy="4392128"/>
          </a:xfrm>
        </p:spPr>
        <p:txBody>
          <a:bodyPr/>
          <a:lstStyle/>
          <a:p>
            <a:pPr marL="0" indent="-539750">
              <a:lnSpc>
                <a:spcPct val="130000"/>
              </a:lnSpc>
              <a:spcBef>
                <a:spcPts val="0"/>
              </a:spcBef>
            </a:pPr>
            <a:r>
              <a:rPr lang="zh-CN" altLang="en-US" sz="2800" b="0" dirty="0">
                <a:solidFill>
                  <a:srgbClr val="0000CC"/>
                </a:solidFill>
                <a:latin typeface="微软雅黑" panose="020B0503020204020204" pitchFamily="34" charset="-122"/>
                <a:ea typeface="微软雅黑" panose="020B0503020204020204" pitchFamily="34" charset="-122"/>
              </a:rPr>
              <a:t>定义：</a:t>
            </a:r>
            <a:r>
              <a:rPr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物质在生物体内的</a:t>
            </a:r>
            <a:r>
              <a:rPr lang="zh-CN" altLang="en-US" sz="2800" b="0" dirty="0">
                <a:solidFill>
                  <a:srgbClr val="0000FF"/>
                </a:solidFill>
                <a:latin typeface="微软雅黑" panose="020B0503020204020204" pitchFamily="34" charset="-122"/>
                <a:ea typeface="微软雅黑" panose="020B0503020204020204" pitchFamily="34" charset="-122"/>
              </a:rPr>
              <a:t>消化、吸收、运动、分解、合成</a:t>
            </a:r>
            <a:r>
              <a:rPr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等</a:t>
            </a:r>
            <a:r>
              <a:rPr lang="zh-CN" altLang="en-US" sz="2800" b="0" dirty="0">
                <a:solidFill>
                  <a:srgbClr val="0000FF"/>
                </a:solidFill>
                <a:latin typeface="微软雅黑" panose="020B0503020204020204" pitchFamily="34" charset="-122"/>
                <a:ea typeface="微软雅黑" panose="020B0503020204020204" pitchFamily="34" charset="-122"/>
              </a:rPr>
              <a:t>与</a:t>
            </a:r>
            <a:endParaRPr lang="en-US" altLang="zh-CN" sz="2800" b="0" dirty="0">
              <a:solidFill>
                <a:srgbClr val="0000FF"/>
              </a:solidFill>
              <a:latin typeface="微软雅黑" panose="020B0503020204020204" pitchFamily="34" charset="-122"/>
              <a:ea typeface="微软雅黑" panose="020B0503020204020204" pitchFamily="34" charset="-122"/>
            </a:endParaRPr>
          </a:p>
          <a:p>
            <a:pPr marL="0" indent="-539750">
              <a:lnSpc>
                <a:spcPct val="130000"/>
              </a:lnSpc>
              <a:spcBef>
                <a:spcPts val="0"/>
              </a:spcBef>
              <a:buNone/>
            </a:pPr>
            <a:r>
              <a:rPr lang="en-US" altLang="zh-CN" sz="2800" b="0" dirty="0">
                <a:solidFill>
                  <a:srgbClr val="0000FF"/>
                </a:solidFill>
                <a:latin typeface="微软雅黑" panose="020B0503020204020204" pitchFamily="34" charset="-122"/>
                <a:ea typeface="微软雅黑" panose="020B0503020204020204" pitchFamily="34" charset="-122"/>
              </a:rPr>
              <a:t>          </a:t>
            </a:r>
            <a:r>
              <a:rPr lang="zh-CN" altLang="en-US" sz="2800" b="0" dirty="0">
                <a:solidFill>
                  <a:srgbClr val="0000FF"/>
                </a:solidFill>
                <a:latin typeface="微软雅黑" panose="020B0503020204020204" pitchFamily="34" charset="-122"/>
                <a:ea typeface="微软雅黑" panose="020B0503020204020204" pitchFamily="34" charset="-122"/>
              </a:rPr>
              <a:t>生理有关的化学过程</a:t>
            </a:r>
            <a:r>
              <a:rPr lang="zh-CN" altLang="en-US" sz="2800" b="0" dirty="0">
                <a:latin typeface="微软雅黑" panose="020B0503020204020204" pitchFamily="34" charset="-122"/>
                <a:ea typeface="微软雅黑" panose="020B0503020204020204" pitchFamily="34" charset="-122"/>
              </a:rPr>
              <a:t>。</a:t>
            </a:r>
            <a:endParaRPr lang="en-US" altLang="zh-CN" sz="2800" b="0" dirty="0">
              <a:latin typeface="微软雅黑" panose="020B0503020204020204" pitchFamily="34" charset="-122"/>
              <a:ea typeface="微软雅黑" panose="020B0503020204020204" pitchFamily="34" charset="-122"/>
            </a:endParaRPr>
          </a:p>
          <a:p>
            <a:pPr marL="0" indent="-539750">
              <a:lnSpc>
                <a:spcPct val="130000"/>
              </a:lnSpc>
              <a:spcBef>
                <a:spcPts val="0"/>
              </a:spcBef>
              <a:buNone/>
            </a:pPr>
            <a:r>
              <a:rPr lang="zh-CN" altLang="en-US" sz="2400" dirty="0">
                <a:latin typeface="微软雅黑" panose="020B0503020204020204" pitchFamily="34" charset="-122"/>
                <a:ea typeface="微软雅黑" panose="020B0503020204020204" pitchFamily="34" charset="-122"/>
              </a:rPr>
              <a:t> </a:t>
            </a:r>
            <a:endParaRPr lang="en-US" altLang="zh-CN" sz="2400" b="0" dirty="0">
              <a:solidFill>
                <a:srgbClr val="5D2785"/>
              </a:solidFill>
              <a:latin typeface="微软雅黑" panose="020B0503020204020204" pitchFamily="34" charset="-122"/>
              <a:ea typeface="微软雅黑" panose="020B0503020204020204" pitchFamily="34" charset="-122"/>
            </a:endParaRPr>
          </a:p>
          <a:p>
            <a:pPr>
              <a:lnSpc>
                <a:spcPct val="130000"/>
              </a:lnSpc>
            </a:pP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本篇主要阐明物质代谢途径的中间环节，即</a:t>
            </a:r>
            <a:r>
              <a:rPr lang="zh-CN" altLang="en-US" sz="2800" b="0" dirty="0">
                <a:solidFill>
                  <a:srgbClr val="FF0000"/>
                </a:solidFill>
                <a:latin typeface="微软雅黑" panose="020B0503020204020204" pitchFamily="34" charset="-122"/>
                <a:ea typeface="微软雅黑" panose="020B0503020204020204" pitchFamily="34" charset="-122"/>
              </a:rPr>
              <a:t>中间代谢</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000" b="0" dirty="0">
                <a:solidFill>
                  <a:schemeClr val="tx1">
                    <a:lumMod val="95000"/>
                    <a:lumOff val="5000"/>
                  </a:schemeClr>
                </a:solidFill>
                <a:latin typeface="微软雅黑" panose="020B0503020204020204" pitchFamily="34" charset="-122"/>
                <a:ea typeface="微软雅黑" panose="020B0503020204020204" pitchFamily="34" charset="-122"/>
              </a:rPr>
              <a:t>intermediary metabolism) </a:t>
            </a:r>
            <a:r>
              <a:rPr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800" b="0" dirty="0">
                <a:latin typeface="微软雅黑" panose="020B0503020204020204" pitchFamily="34" charset="-122"/>
                <a:ea typeface="微软雅黑" panose="020B0503020204020204" pitchFamily="34" charset="-122"/>
              </a:rPr>
              <a:t>被消化吸收的物质由血液运送到各组织细胞，</a:t>
            </a:r>
            <a:r>
              <a:rPr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主要在</a:t>
            </a:r>
            <a:r>
              <a:rPr lang="zh-CN" altLang="en-US" sz="2800" b="0" dirty="0">
                <a:solidFill>
                  <a:srgbClr val="FF0000"/>
                </a:solidFill>
                <a:latin typeface="微软雅黑" panose="020B0503020204020204" pitchFamily="34" charset="-122"/>
                <a:ea typeface="微软雅黑" panose="020B0503020204020204" pitchFamily="34" charset="-122"/>
              </a:rPr>
              <a:t>细胞内</a:t>
            </a:r>
            <a:r>
              <a:rPr lang="zh-CN" altLang="en-US" sz="2800" b="0" dirty="0">
                <a:latin typeface="微软雅黑" panose="020B0503020204020204" pitchFamily="34" charset="-122"/>
                <a:ea typeface="微软雅黑" panose="020B0503020204020204" pitchFamily="34" charset="-122"/>
              </a:rPr>
              <a:t>各种</a:t>
            </a:r>
            <a:r>
              <a:rPr lang="zh-CN" altLang="en-US" sz="2800" b="0" dirty="0">
                <a:solidFill>
                  <a:srgbClr val="0000CC"/>
                </a:solidFill>
                <a:latin typeface="微软雅黑" panose="020B0503020204020204" pitchFamily="34" charset="-122"/>
                <a:ea typeface="微软雅黑" panose="020B0503020204020204" pitchFamily="34" charset="-122"/>
              </a:rPr>
              <a:t>酶的催化</a:t>
            </a:r>
            <a:r>
              <a:rPr lang="zh-CN" altLang="en-US" sz="2800" b="0" dirty="0">
                <a:latin typeface="微软雅黑" panose="020B0503020204020204" pitchFamily="34" charset="-122"/>
                <a:ea typeface="微软雅黑" panose="020B0503020204020204" pitchFamily="34" charset="-122"/>
              </a:rPr>
              <a:t>下，进行</a:t>
            </a:r>
            <a:r>
              <a:rPr lang="zh-CN" altLang="en-US" sz="2800" dirty="0">
                <a:latin typeface="微软雅黑" panose="020B0503020204020204" pitchFamily="34" charset="-122"/>
                <a:ea typeface="微软雅黑" panose="020B0503020204020204" pitchFamily="34" charset="-122"/>
              </a:rPr>
              <a:t>分解代谢</a:t>
            </a:r>
            <a:r>
              <a:rPr lang="zh-CN" altLang="en-US" sz="2800" b="0" dirty="0">
                <a:latin typeface="微软雅黑" panose="020B0503020204020204" pitchFamily="34" charset="-122"/>
                <a:ea typeface="微软雅黑" panose="020B0503020204020204" pitchFamily="34" charset="-122"/>
              </a:rPr>
              <a:t>和</a:t>
            </a:r>
            <a:r>
              <a:rPr lang="zh-CN" altLang="en-US" sz="2800" dirty="0">
                <a:latin typeface="微软雅黑" panose="020B0503020204020204" pitchFamily="34" charset="-122"/>
                <a:ea typeface="微软雅黑" panose="020B0503020204020204" pitchFamily="34" charset="-122"/>
              </a:rPr>
              <a:t>合成代谢</a:t>
            </a:r>
            <a:r>
              <a:rPr lang="zh-CN" altLang="en-US" sz="2800" b="0" dirty="0">
                <a:latin typeface="微软雅黑" panose="020B0503020204020204" pitchFamily="34" charset="-122"/>
                <a:ea typeface="微软雅黑" panose="020B0503020204020204" pitchFamily="34" charset="-122"/>
              </a:rPr>
              <a:t>，实现细胞内外</a:t>
            </a:r>
            <a:r>
              <a:rPr lang="zh-CN" altLang="en-US" sz="2800" dirty="0">
                <a:latin typeface="微软雅黑" panose="020B0503020204020204" pitchFamily="34" charset="-122"/>
                <a:ea typeface="微软雅黑" panose="020B0503020204020204" pitchFamily="34" charset="-122"/>
              </a:rPr>
              <a:t>物质交换和能量转变。</a:t>
            </a:r>
            <a:endParaRPr lang="en-US" altLang="zh-CN" sz="2800" dirty="0">
              <a:latin typeface="微软雅黑" panose="020B0503020204020204" pitchFamily="34" charset="-122"/>
              <a:ea typeface="微软雅黑" panose="020B0503020204020204" pitchFamily="34" charset="-122"/>
            </a:endParaRPr>
          </a:p>
          <a:p>
            <a:pPr marL="0" indent="0">
              <a:buNone/>
            </a:pPr>
            <a:endParaRPr lang="zh-CN" altLang="en-US" sz="2400" b="0" dirty="0">
              <a:solidFill>
                <a:srgbClr val="5D2785"/>
              </a:solidFill>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r:id="rId1" p14:bwMode="auto">
            <p14:nvContentPartPr>
              <p14:cNvPr id="3" name="墨迹 2"/>
              <p14:cNvContentPartPr/>
              <p14:nvPr/>
            </p14:nvContentPartPr>
            <p14:xfrm>
              <a:off x="-1488579" y="1872784"/>
              <a:ext cx="360" cy="360"/>
            </p14:xfrm>
          </p:contentPart>
        </mc:Choice>
        <mc:Fallback xmlns="">
          <p:pic>
            <p:nvPicPr>
              <p:cNvPr id="3" name="墨迹 2"/>
            </p:nvPicPr>
            <p:blipFill>
              <a:blip r:embed="rId2"/>
            </p:blipFill>
            <p:spPr>
              <a:xfrm>
                <a:off x="-1488579" y="1872784"/>
                <a:ext cx="360" cy="360"/>
              </a:xfrm>
              <a:prstGeom prst="rect"/>
            </p:spPr>
          </p:pic>
        </mc:Fallback>
      </mc:AlternateContent>
    </p:spTree>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290" name="Picture 2" descr="https://www.researchgate.net/publication/333580473/figure/fig5/AS:765758338519043@1559582423647/Metabolism-consisting-of-catabolic-and-anabolic-processes-encompasses-the-sum-of-all.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9169" y="476672"/>
            <a:ext cx="10633661" cy="5616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文本框 2"/>
          <p:cNvSpPr txBox="1">
            <a:spLocks noChangeArrowheads="1"/>
          </p:cNvSpPr>
          <p:nvPr/>
        </p:nvSpPr>
        <p:spPr bwMode="auto">
          <a:xfrm>
            <a:off x="6672064" y="1988840"/>
            <a:ext cx="16859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b="0" dirty="0">
                <a:solidFill>
                  <a:srgbClr val="0000CC"/>
                </a:solidFill>
                <a:latin typeface="微软雅黑" panose="020B0503020204020204" pitchFamily="34" charset="-122"/>
                <a:ea typeface="微软雅黑" panose="020B0503020204020204" pitchFamily="34" charset="-122"/>
              </a:rPr>
              <a:t>分解代谢</a:t>
            </a:r>
            <a:endParaRPr lang="zh-CN" altLang="en-US" sz="1800" b="0" dirty="0">
              <a:latin typeface="微软雅黑" panose="020B0503020204020204" pitchFamily="34" charset="-122"/>
              <a:ea typeface="微软雅黑" panose="020B0503020204020204" pitchFamily="34" charset="-122"/>
            </a:endParaRPr>
          </a:p>
        </p:txBody>
      </p:sp>
      <p:sp>
        <p:nvSpPr>
          <p:cNvPr id="12292" name="文本框 4"/>
          <p:cNvSpPr txBox="1">
            <a:spLocks noChangeArrowheads="1"/>
          </p:cNvSpPr>
          <p:nvPr/>
        </p:nvSpPr>
        <p:spPr bwMode="auto">
          <a:xfrm>
            <a:off x="6960096" y="5148199"/>
            <a:ext cx="1543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b="0" dirty="0">
                <a:solidFill>
                  <a:srgbClr val="0000CC"/>
                </a:solidFill>
                <a:latin typeface="微软雅黑" panose="020B0503020204020204" pitchFamily="34" charset="-122"/>
                <a:ea typeface="微软雅黑" panose="020B0503020204020204" pitchFamily="34" charset="-122"/>
              </a:rPr>
              <a:t>合成代谢</a:t>
            </a:r>
            <a:endParaRPr lang="zh-CN" altLang="en-US" sz="2400" b="0" dirty="0">
              <a:solidFill>
                <a:srgbClr val="0000CC"/>
              </a:solidFill>
              <a:latin typeface="微软雅黑" panose="020B0503020204020204" pitchFamily="34" charset="-122"/>
              <a:ea typeface="微软雅黑" panose="020B0503020204020204" pitchFamily="34" charset="-122"/>
            </a:endParaRPr>
          </a:p>
        </p:txBody>
      </p:sp>
      <p:sp>
        <p:nvSpPr>
          <p:cNvPr id="12293" name="文本框 5"/>
          <p:cNvSpPr txBox="1">
            <a:spLocks noChangeArrowheads="1"/>
          </p:cNvSpPr>
          <p:nvPr/>
        </p:nvSpPr>
        <p:spPr bwMode="auto">
          <a:xfrm>
            <a:off x="4759326" y="1397893"/>
            <a:ext cx="2663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oxidative, exergonic</a:t>
            </a:r>
            <a:endParaRPr lang="zh-CN" altLang="en-US" sz="1800">
              <a:latin typeface="Arial" panose="020B0604020202020204" pitchFamily="34" charset="0"/>
              <a:ea typeface="宋体" panose="02010600030101010101" pitchFamily="2" charset="-122"/>
            </a:endParaRPr>
          </a:p>
        </p:txBody>
      </p:sp>
      <p:sp>
        <p:nvSpPr>
          <p:cNvPr id="12294" name="文本框 6"/>
          <p:cNvSpPr txBox="1">
            <a:spLocks noChangeArrowheads="1"/>
          </p:cNvSpPr>
          <p:nvPr/>
        </p:nvSpPr>
        <p:spPr bwMode="auto">
          <a:xfrm>
            <a:off x="5016501" y="4744107"/>
            <a:ext cx="2828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reductive, endergonic</a:t>
            </a:r>
            <a:endParaRPr lang="zh-CN" altLang="en-US" sz="1800">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43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705" y="348224"/>
            <a:ext cx="11020605" cy="3252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矩形 1"/>
          <p:cNvSpPr>
            <a:spLocks noChangeArrowheads="1"/>
          </p:cNvSpPr>
          <p:nvPr/>
        </p:nvSpPr>
        <p:spPr bwMode="auto">
          <a:xfrm>
            <a:off x="2495600" y="4653136"/>
            <a:ext cx="8028892" cy="1602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30000"/>
              </a:lnSpc>
              <a:spcBef>
                <a:spcPct val="0"/>
              </a:spcBef>
              <a:buClrTx/>
              <a:buSzTx/>
              <a:buFontTx/>
              <a:buNone/>
            </a:pPr>
            <a:r>
              <a:rPr lang="zh-CN" altLang="en-US" sz="2600" b="0" dirty="0">
                <a:latin typeface="微软雅黑" panose="020B0503020204020204" pitchFamily="34" charset="-122"/>
                <a:ea typeface="微软雅黑" panose="020B0503020204020204" pitchFamily="34" charset="-122"/>
              </a:rPr>
              <a:t>第一阶段： 从葡萄糖、脂肪酸、氨基酸到</a:t>
            </a:r>
            <a:r>
              <a:rPr lang="zh-CN" altLang="en-US" sz="2600" b="0" dirty="0">
                <a:solidFill>
                  <a:srgbClr val="C00000"/>
                </a:solidFill>
                <a:latin typeface="微软雅黑" panose="020B0503020204020204" pitchFamily="34" charset="-122"/>
                <a:ea typeface="微软雅黑" panose="020B0503020204020204" pitchFamily="34" charset="-122"/>
              </a:rPr>
              <a:t>乙酰</a:t>
            </a:r>
            <a:r>
              <a:rPr lang="en-US" altLang="zh-CN" sz="2600" b="0" dirty="0">
                <a:solidFill>
                  <a:srgbClr val="C00000"/>
                </a:solidFill>
                <a:latin typeface="微软雅黑" panose="020B0503020204020204" pitchFamily="34" charset="-122"/>
                <a:ea typeface="微软雅黑" panose="020B0503020204020204" pitchFamily="34" charset="-122"/>
              </a:rPr>
              <a:t>CoA</a:t>
            </a:r>
            <a:endParaRPr lang="en-US" altLang="zh-CN" sz="2600" b="0" dirty="0">
              <a:solidFill>
                <a:srgbClr val="C00000"/>
              </a:solidFill>
              <a:latin typeface="微软雅黑" panose="020B0503020204020204" pitchFamily="34" charset="-122"/>
              <a:ea typeface="微软雅黑" panose="020B0503020204020204" pitchFamily="34" charset="-122"/>
            </a:endParaRPr>
          </a:p>
          <a:p>
            <a:pPr>
              <a:lnSpc>
                <a:spcPct val="130000"/>
              </a:lnSpc>
              <a:spcBef>
                <a:spcPct val="0"/>
              </a:spcBef>
              <a:buClrTx/>
              <a:buSzTx/>
              <a:buFontTx/>
              <a:buNone/>
            </a:pPr>
            <a:r>
              <a:rPr lang="zh-CN" altLang="en-US" sz="2600" b="0" dirty="0">
                <a:latin typeface="微软雅黑" panose="020B0503020204020204" pitchFamily="34" charset="-122"/>
                <a:ea typeface="微软雅黑" panose="020B0503020204020204" pitchFamily="34" charset="-122"/>
              </a:rPr>
              <a:t>第二阶段： 三羧酸循环</a:t>
            </a:r>
            <a:r>
              <a:rPr lang="en-US" altLang="zh-CN" sz="2600" b="0" dirty="0">
                <a:latin typeface="微软雅黑" panose="020B0503020204020204" pitchFamily="34" charset="-122"/>
                <a:ea typeface="微软雅黑" panose="020B0503020204020204" pitchFamily="34" charset="-122"/>
              </a:rPr>
              <a:t>(TCA  cycle)</a:t>
            </a:r>
            <a:endParaRPr lang="en-US" altLang="zh-CN" sz="2600" b="0" dirty="0">
              <a:latin typeface="微软雅黑" panose="020B0503020204020204" pitchFamily="34" charset="-122"/>
              <a:ea typeface="微软雅黑" panose="020B0503020204020204" pitchFamily="34" charset="-122"/>
            </a:endParaRPr>
          </a:p>
          <a:p>
            <a:pPr>
              <a:lnSpc>
                <a:spcPct val="130000"/>
              </a:lnSpc>
              <a:spcBef>
                <a:spcPct val="0"/>
              </a:spcBef>
              <a:buClrTx/>
              <a:buSzTx/>
              <a:buFontTx/>
              <a:buNone/>
            </a:pPr>
            <a:r>
              <a:rPr lang="zh-CN" altLang="en-US" sz="2600" b="0" dirty="0">
                <a:latin typeface="微软雅黑" panose="020B0503020204020204" pitchFamily="34" charset="-122"/>
                <a:ea typeface="微软雅黑" panose="020B0503020204020204" pitchFamily="34" charset="-122"/>
              </a:rPr>
              <a:t>第三阶段： 电子传递与氧化磷酸化　</a:t>
            </a:r>
            <a:endParaRPr lang="zh-CN" altLang="en-US" sz="2600" b="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767408" y="3865374"/>
            <a:ext cx="11020604" cy="523220"/>
          </a:xfrm>
          <a:prstGeom prst="rect">
            <a:avLst/>
          </a:prstGeom>
          <a:noFill/>
        </p:spPr>
        <p:txBody>
          <a:bodyPr wrap="square">
            <a:spAutoFit/>
          </a:bodyPr>
          <a:lstStyle/>
          <a:p>
            <a:r>
              <a:rPr lang="zh-CN" altLang="en-US" sz="2800" b="0" dirty="0">
                <a:solidFill>
                  <a:srgbClr val="0000CC"/>
                </a:solidFill>
                <a:latin typeface="微软雅黑" panose="020B0503020204020204" pitchFamily="34" charset="-122"/>
                <a:ea typeface="微软雅黑" panose="020B0503020204020204" pitchFamily="34" charset="-122"/>
              </a:rPr>
              <a:t>细胞呼吸： </a:t>
            </a:r>
            <a:r>
              <a:rPr lang="zh-CN" altLang="en-US" sz="2800" b="0" dirty="0">
                <a:latin typeface="微软雅黑" panose="020B0503020204020204" pitchFamily="34" charset="-122"/>
                <a:ea typeface="微软雅黑" panose="020B0503020204020204" pitchFamily="34" charset="-122"/>
              </a:rPr>
              <a:t>葡萄糖、脂肪酸、氨基酸等进入细胞后的氧化分解过程。</a:t>
            </a:r>
            <a:endParaRPr lang="zh-CN" altLang="en-US" sz="28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noChangeArrowheads="1"/>
          </p:cNvSpPr>
          <p:nvPr>
            <p:ph type="title"/>
          </p:nvPr>
        </p:nvSpPr>
        <p:spPr>
          <a:xfrm>
            <a:off x="2495600" y="548681"/>
            <a:ext cx="7391400" cy="563563"/>
          </a:xfrm>
        </p:spPr>
        <p:txBody>
          <a:bodyPr/>
          <a:lstStyle/>
          <a:p>
            <a:r>
              <a:rPr lang="zh-CN" altLang="en-US" dirty="0">
                <a:solidFill>
                  <a:srgbClr val="660066"/>
                </a:solidFill>
              </a:rPr>
              <a:t>学习“物质代谢”的关键点</a:t>
            </a:r>
            <a:endParaRPr lang="zh-CN" altLang="en-US" dirty="0">
              <a:solidFill>
                <a:srgbClr val="660066"/>
              </a:solidFill>
            </a:endParaRPr>
          </a:p>
        </p:txBody>
      </p:sp>
      <p:sp>
        <p:nvSpPr>
          <p:cNvPr id="17411" name="内容占位符 2"/>
          <p:cNvSpPr>
            <a:spLocks noGrp="1" noChangeArrowheads="1"/>
          </p:cNvSpPr>
          <p:nvPr>
            <p:ph idx="1"/>
          </p:nvPr>
        </p:nvSpPr>
        <p:spPr>
          <a:xfrm>
            <a:off x="1415480" y="1773239"/>
            <a:ext cx="9649072" cy="4103687"/>
          </a:xfrm>
        </p:spPr>
        <p:txBody>
          <a:bodyPr/>
          <a:lstStyle/>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重要代谢路径的生理功能或意义</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physiological function)</a:t>
            </a:r>
            <a:endParaRPr lang="en-US" altLang="zh-CN" sz="2400" b="0" dirty="0">
              <a:latin typeface="微软雅黑" panose="020B0503020204020204" pitchFamily="34" charset="-122"/>
              <a:ea typeface="微软雅黑" panose="020B0503020204020204" pitchFamily="34" charset="-122"/>
            </a:endParaRPr>
          </a:p>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反应部位（组织、细胞定位）</a:t>
            </a:r>
            <a:r>
              <a:rPr lang="en-US" altLang="zh-CN" sz="2600" b="0" dirty="0">
                <a:latin typeface="微软雅黑" panose="020B0503020204020204" pitchFamily="34" charset="-122"/>
                <a:ea typeface="微软雅黑" panose="020B0503020204020204" pitchFamily="34" charset="-122"/>
              </a:rPr>
              <a:t>(occurring place)</a:t>
            </a:r>
            <a:endParaRPr lang="en-US" altLang="zh-CN" sz="2600" b="0" dirty="0">
              <a:latin typeface="微软雅黑" panose="020B0503020204020204" pitchFamily="34" charset="-122"/>
              <a:ea typeface="微软雅黑" panose="020B0503020204020204" pitchFamily="34" charset="-122"/>
            </a:endParaRPr>
          </a:p>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限速步骤、关键酶（调节酶）</a:t>
            </a:r>
            <a:r>
              <a:rPr lang="en-US" altLang="zh-CN" sz="2400" b="0" dirty="0">
                <a:latin typeface="微软雅黑" panose="020B0503020204020204" pitchFamily="34" charset="-122"/>
                <a:ea typeface="微软雅黑" panose="020B0503020204020204" pitchFamily="34" charset="-122"/>
              </a:rPr>
              <a:t>(committed steps</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regulatory enzymes)</a:t>
            </a:r>
            <a:endParaRPr lang="en-US" altLang="zh-CN" sz="2400" b="0" dirty="0">
              <a:latin typeface="微软雅黑" panose="020B0503020204020204" pitchFamily="34" charset="-122"/>
              <a:ea typeface="微软雅黑" panose="020B0503020204020204" pitchFamily="34" charset="-122"/>
            </a:endParaRPr>
          </a:p>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能量的代谢</a:t>
            </a:r>
            <a:r>
              <a:rPr lang="en-US" altLang="zh-CN" sz="2600" b="0" dirty="0">
                <a:latin typeface="微软雅黑" panose="020B0503020204020204" pitchFamily="34" charset="-122"/>
                <a:ea typeface="微软雅黑" panose="020B0503020204020204" pitchFamily="34" charset="-122"/>
              </a:rPr>
              <a:t>(ATP</a:t>
            </a:r>
            <a:r>
              <a:rPr lang="zh-CN" altLang="en-US" sz="2600" b="0" dirty="0">
                <a:latin typeface="微软雅黑" panose="020B0503020204020204" pitchFamily="34" charset="-122"/>
                <a:ea typeface="微软雅黑" panose="020B0503020204020204" pitchFamily="34" charset="-122"/>
              </a:rPr>
              <a:t>消耗或生成数量）</a:t>
            </a:r>
            <a:endParaRPr lang="en-US" altLang="zh-CN" sz="2600" b="0" dirty="0">
              <a:latin typeface="微软雅黑" panose="020B0503020204020204" pitchFamily="34" charset="-122"/>
              <a:ea typeface="微软雅黑" panose="020B0503020204020204" pitchFamily="34" charset="-122"/>
            </a:endParaRPr>
          </a:p>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代谢调节 </a:t>
            </a:r>
            <a:r>
              <a:rPr lang="en-US" altLang="zh-CN" sz="2600" b="0" dirty="0">
                <a:latin typeface="微软雅黑" panose="020B0503020204020204" pitchFamily="34" charset="-122"/>
                <a:ea typeface="微软雅黑" panose="020B0503020204020204" pitchFamily="34" charset="-122"/>
              </a:rPr>
              <a:t>(regulation of pathways)</a:t>
            </a:r>
            <a:endParaRPr lang="en-US" altLang="zh-CN" sz="2600" b="0" dirty="0">
              <a:latin typeface="微软雅黑" panose="020B0503020204020204" pitchFamily="34" charset="-122"/>
              <a:ea typeface="微软雅黑" panose="020B0503020204020204" pitchFamily="34" charset="-122"/>
            </a:endParaRPr>
          </a:p>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与其它代谢途径的联系（</a:t>
            </a:r>
            <a:r>
              <a:rPr lang="zh-CN" altLang="en-US" sz="2600" b="0" dirty="0">
                <a:solidFill>
                  <a:srgbClr val="0000CC"/>
                </a:solidFill>
                <a:latin typeface="微软雅黑" panose="020B0503020204020204" pitchFamily="34" charset="-122"/>
                <a:ea typeface="微软雅黑" panose="020B0503020204020204" pitchFamily="34" charset="-122"/>
              </a:rPr>
              <a:t>枢纽物质</a:t>
            </a:r>
            <a:r>
              <a:rPr lang="zh-CN" altLang="en-US" sz="2600" b="0" dirty="0">
                <a:latin typeface="微软雅黑" panose="020B0503020204020204" pitchFamily="34" charset="-122"/>
                <a:ea typeface="微软雅黑" panose="020B0503020204020204" pitchFamily="34" charset="-122"/>
              </a:rPr>
              <a:t>、物质转变）</a:t>
            </a:r>
            <a:endParaRPr lang="en-US" altLang="zh-CN" sz="2600" b="0" dirty="0">
              <a:latin typeface="微软雅黑" panose="020B0503020204020204" pitchFamily="34" charset="-122"/>
              <a:ea typeface="微软雅黑" panose="020B0503020204020204" pitchFamily="34" charset="-122"/>
            </a:endParaRPr>
          </a:p>
          <a:p>
            <a:pPr marL="514350" indent="-514350">
              <a:lnSpc>
                <a:spcPct val="120000"/>
              </a:lnSpc>
              <a:buFont typeface="黑体" panose="02010609060101010101" pitchFamily="2" charset="-122"/>
              <a:buAutoNum type="arabicPeriod"/>
            </a:pPr>
            <a:r>
              <a:rPr lang="zh-CN" altLang="en-US" sz="2600" b="0" dirty="0">
                <a:latin typeface="微软雅黑" panose="020B0503020204020204" pitchFamily="34" charset="-122"/>
                <a:ea typeface="微软雅黑" panose="020B0503020204020204" pitchFamily="34" charset="-122"/>
              </a:rPr>
              <a:t>代谢异常与疾病的关系 </a:t>
            </a:r>
            <a:endParaRPr lang="zh-CN" altLang="en-US" sz="26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135560" y="626939"/>
            <a:ext cx="7391400" cy="563563"/>
          </a:xfrm>
        </p:spPr>
        <p:txBody>
          <a:bodyPr/>
          <a:lstStyle/>
          <a:p>
            <a:pPr eaLnBrk="1" hangingPunct="1"/>
            <a:r>
              <a:rPr lang="zh-CN" altLang="en-US" sz="4800" dirty="0">
                <a:solidFill>
                  <a:srgbClr val="7030A0"/>
                </a:solidFill>
              </a:rPr>
              <a:t>本篇内容概要</a:t>
            </a:r>
            <a:endParaRPr lang="zh-CN" altLang="en-US" sz="4800" dirty="0">
              <a:solidFill>
                <a:srgbClr val="7030A0"/>
              </a:solidFill>
            </a:endParaRPr>
          </a:p>
        </p:txBody>
      </p:sp>
      <p:sp>
        <p:nvSpPr>
          <p:cNvPr id="25603" name="Rectangle 3"/>
          <p:cNvSpPr>
            <a:spLocks noGrp="1" noChangeArrowheads="1"/>
          </p:cNvSpPr>
          <p:nvPr>
            <p:ph type="body" idx="4294967295"/>
          </p:nvPr>
        </p:nvSpPr>
        <p:spPr>
          <a:xfrm>
            <a:off x="4151784" y="1556792"/>
            <a:ext cx="4320902" cy="4392488"/>
          </a:xfrm>
        </p:spPr>
        <p:txBody>
          <a:bodyPr/>
          <a:lstStyle/>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糖代谢</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生物氧化</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脂类代谢</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氨基酸代谢</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核苷酸代谢</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肝的生物化学</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血液的生物化学</a:t>
            </a:r>
            <a:endParaRPr lang="en-US" altLang="zh-CN" sz="2800"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sz="2800" b="0" dirty="0">
                <a:latin typeface="黑体" panose="02010609060101010101" pitchFamily="2" charset="-122"/>
                <a:ea typeface="黑体" panose="02010609060101010101" pitchFamily="2" charset="-122"/>
              </a:rPr>
              <a:t>物质代谢的整合与调节</a:t>
            </a:r>
            <a:endParaRPr lang="zh-CN" altLang="en-US" sz="2800" b="0" dirty="0">
              <a:latin typeface="黑体" panose="02010609060101010101" pitchFamily="2" charset="-122"/>
              <a:ea typeface="黑体" panose="02010609060101010101" pitchFamily="2" charset="-122"/>
            </a:endParaRP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063750" y="957264"/>
            <a:ext cx="7772400" cy="3019425"/>
          </a:xfrm>
        </p:spPr>
        <p:txBody>
          <a:bodyPr/>
          <a:lstStyle/>
          <a:p>
            <a:pPr eaLnBrk="1" hangingPunct="1">
              <a:lnSpc>
                <a:spcPct val="160000"/>
              </a:lnSpc>
            </a:pPr>
            <a:r>
              <a:rPr lang="zh-CN" altLang="en-US" sz="5400" dirty="0"/>
              <a:t>第</a:t>
            </a:r>
            <a:r>
              <a:rPr lang="en-US" altLang="zh-CN" sz="5400" dirty="0"/>
              <a:t> </a:t>
            </a:r>
            <a:r>
              <a:rPr lang="zh-CN" altLang="en-US" sz="5400" dirty="0"/>
              <a:t>七 章</a:t>
            </a:r>
            <a:br>
              <a:rPr lang="zh-CN" altLang="en-US" sz="5400" dirty="0"/>
            </a:br>
            <a:r>
              <a:rPr lang="zh-CN" altLang="en-US" sz="5400" b="1" dirty="0">
                <a:solidFill>
                  <a:srgbClr val="660033"/>
                </a:solidFill>
              </a:rPr>
              <a:t>糖  代  谢</a:t>
            </a:r>
            <a:endParaRPr lang="zh-CN" altLang="en-US" sz="5400" b="1" dirty="0">
              <a:solidFill>
                <a:srgbClr val="660033"/>
              </a:solidFill>
            </a:endParaRPr>
          </a:p>
        </p:txBody>
      </p:sp>
      <p:sp>
        <p:nvSpPr>
          <p:cNvPr id="27651" name="Text Box 3"/>
          <p:cNvSpPr txBox="1">
            <a:spLocks noChangeArrowheads="1"/>
          </p:cNvSpPr>
          <p:nvPr/>
        </p:nvSpPr>
        <p:spPr bwMode="auto">
          <a:xfrm>
            <a:off x="2597150" y="3200400"/>
            <a:ext cx="678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endParaRPr kumimoji="1" lang="zh-CN" altLang="en-US"/>
          </a:p>
        </p:txBody>
      </p:sp>
      <p:sp>
        <p:nvSpPr>
          <p:cNvPr id="27652" name="Rectangle 4"/>
          <p:cNvSpPr>
            <a:spLocks noChangeArrowheads="1"/>
          </p:cNvSpPr>
          <p:nvPr/>
        </p:nvSpPr>
        <p:spPr bwMode="auto">
          <a:xfrm>
            <a:off x="2711450" y="3860800"/>
            <a:ext cx="67691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ClrTx/>
              <a:buSzPct val="85000"/>
              <a:buFontTx/>
              <a:buNone/>
            </a:pPr>
            <a:r>
              <a:rPr kumimoji="1" lang="en-US" altLang="zh-CN" sz="3600">
                <a:latin typeface="Arial" panose="020B0604020202020204" pitchFamily="34" charset="0"/>
                <a:ea typeface="宋体" panose="02010600030101010101" pitchFamily="2" charset="-122"/>
              </a:rPr>
              <a:t>Metabolism of </a:t>
            </a:r>
            <a:r>
              <a:rPr kumimoji="1" lang="en-US" altLang="zh-CN">
                <a:latin typeface="Arial" panose="020B0604020202020204" pitchFamily="34" charset="0"/>
                <a:ea typeface="宋体" panose="02010600030101010101" pitchFamily="2" charset="-122"/>
              </a:rPr>
              <a:t>Carbohydrates</a:t>
            </a:r>
            <a:endParaRPr kumimoji="1" lang="en-US" altLang="zh-CN">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2"/>
          <p:cNvSpPr>
            <a:spLocks noGrp="1" noChangeArrowheads="1"/>
          </p:cNvSpPr>
          <p:nvPr>
            <p:ph type="title"/>
          </p:nvPr>
        </p:nvSpPr>
        <p:spPr>
          <a:xfrm>
            <a:off x="2438400" y="476251"/>
            <a:ext cx="7391400" cy="563563"/>
          </a:xfrm>
        </p:spPr>
        <p:txBody>
          <a:bodyPr/>
          <a:lstStyle/>
          <a:p>
            <a:pPr eaLnBrk="1" hangingPunct="1"/>
            <a:r>
              <a:rPr lang="zh-CN" altLang="en-US" sz="4800"/>
              <a:t>本章内容</a:t>
            </a:r>
            <a:endParaRPr lang="zh-CN" altLang="en-US" sz="4800"/>
          </a:p>
        </p:txBody>
      </p:sp>
      <p:sp>
        <p:nvSpPr>
          <p:cNvPr id="20483" name="Rectangle 2"/>
          <p:cNvSpPr>
            <a:spLocks noGrp="1" noChangeArrowheads="1"/>
          </p:cNvSpPr>
          <p:nvPr>
            <p:ph type="body" idx="4294967295"/>
          </p:nvPr>
        </p:nvSpPr>
        <p:spPr>
          <a:xfrm>
            <a:off x="2474914" y="1412875"/>
            <a:ext cx="7623175" cy="5119688"/>
          </a:xfrm>
        </p:spPr>
        <p:txBody>
          <a:bodyPr/>
          <a:lstStyle/>
          <a:p>
            <a:pPr eaLnBrk="1" hangingPunct="1">
              <a:lnSpc>
                <a:spcPct val="115000"/>
              </a:lnSpc>
              <a:buClr>
                <a:schemeClr val="tx1"/>
              </a:buClr>
              <a:defRPr/>
            </a:pPr>
            <a:r>
              <a:rPr lang="zh-CN" altLang="en-US" sz="2400" b="0" dirty="0">
                <a:latin typeface="微软雅黑" panose="020B0503020204020204" pitchFamily="34" charset="-122"/>
                <a:ea typeface="微软雅黑" panose="020B0503020204020204" pitchFamily="34" charset="-122"/>
              </a:rPr>
              <a:t> 糖的摄取与利用  </a:t>
            </a:r>
            <a:endParaRPr lang="zh-CN" altLang="en-US" sz="2400" b="0" dirty="0">
              <a:latin typeface="微软雅黑" panose="020B0503020204020204" pitchFamily="34" charset="-122"/>
              <a:ea typeface="微软雅黑" panose="020B0503020204020204" pitchFamily="34" charset="-122"/>
            </a:endParaRPr>
          </a:p>
          <a:p>
            <a:pPr eaLnBrk="1" hangingPunct="1">
              <a:lnSpc>
                <a:spcPct val="115000"/>
              </a:lnSpc>
              <a:buClr>
                <a:schemeClr val="tx1"/>
              </a:buClr>
              <a:defRPr/>
            </a:pPr>
            <a:r>
              <a:rPr lang="zh-CN" altLang="en-US" sz="2400" b="0" dirty="0">
                <a:latin typeface="微软雅黑" panose="020B0503020204020204" pitchFamily="34" charset="-122"/>
                <a:ea typeface="微软雅黑" panose="020B0503020204020204" pitchFamily="34" charset="-122"/>
              </a:rPr>
              <a:t> </a:t>
            </a:r>
            <a:r>
              <a:rPr lang="zh-CN" altLang="en-US" sz="2400" b="0" dirty="0">
                <a:solidFill>
                  <a:srgbClr val="FF0000"/>
                </a:solidFill>
                <a:latin typeface="微软雅黑" panose="020B0503020204020204" pitchFamily="34" charset="-122"/>
                <a:ea typeface="微软雅黑" panose="020B0503020204020204" pitchFamily="34" charset="-122"/>
              </a:rPr>
              <a:t>糖的分解代谢</a:t>
            </a:r>
            <a:endParaRPr lang="zh-CN" altLang="en-US" sz="2400" b="0" dirty="0">
              <a:solidFill>
                <a:srgbClr val="FF0000"/>
              </a:solidFill>
              <a:latin typeface="微软雅黑" panose="020B0503020204020204" pitchFamily="34" charset="-122"/>
              <a:ea typeface="微软雅黑" panose="020B0503020204020204" pitchFamily="34" charset="-122"/>
            </a:endParaRPr>
          </a:p>
          <a:p>
            <a:pPr lvl="1" eaLnBrk="1" hangingPunct="1">
              <a:lnSpc>
                <a:spcPct val="115000"/>
              </a:lnSpc>
              <a:buClr>
                <a:schemeClr val="tx1"/>
              </a:buClr>
              <a:defRPr/>
            </a:pPr>
            <a:r>
              <a:rPr lang="zh-CN" altLang="en-US" sz="2400" b="0" dirty="0">
                <a:solidFill>
                  <a:srgbClr val="FF0000"/>
                </a:solidFill>
                <a:latin typeface="微软雅黑" panose="020B0503020204020204" pitchFamily="34" charset="-122"/>
                <a:ea typeface="微软雅黑" panose="020B0503020204020204" pitchFamily="34" charset="-122"/>
              </a:rPr>
              <a:t>糖的无氧氧化 </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Anaerobic Oxidation</a:t>
            </a: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115000"/>
              </a:lnSpc>
              <a:buClr>
                <a:schemeClr val="tx1"/>
              </a:buClr>
              <a:defRPr/>
            </a:pPr>
            <a:r>
              <a:rPr lang="zh-CN" altLang="en-US" sz="2400" b="0" dirty="0">
                <a:solidFill>
                  <a:srgbClr val="FF0000"/>
                </a:solidFill>
                <a:latin typeface="微软雅黑" panose="020B0503020204020204" pitchFamily="34" charset="-122"/>
                <a:ea typeface="微软雅黑" panose="020B0503020204020204" pitchFamily="34" charset="-122"/>
              </a:rPr>
              <a:t>糖的有氧氧化 </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Aerobic Oxidation</a:t>
            </a:r>
            <a:endParaRPr lang="zh-CN" altLang="en-US" sz="2400" b="0" dirty="0">
              <a:solidFill>
                <a:srgbClr val="FF0000"/>
              </a:solidFill>
              <a:latin typeface="微软雅黑" panose="020B0503020204020204" pitchFamily="34" charset="-122"/>
              <a:ea typeface="微软雅黑" panose="020B0503020204020204" pitchFamily="34" charset="-122"/>
            </a:endParaRPr>
          </a:p>
          <a:p>
            <a:pPr lvl="1" eaLnBrk="1" hangingPunct="1">
              <a:lnSpc>
                <a:spcPct val="115000"/>
              </a:lnSpc>
              <a:buClr>
                <a:schemeClr val="tx1"/>
              </a:buClr>
              <a:defRPr/>
            </a:pPr>
            <a:r>
              <a:rPr lang="zh-CN" altLang="en-US" sz="2400" b="0" dirty="0">
                <a:solidFill>
                  <a:srgbClr val="FF0000"/>
                </a:solidFill>
                <a:latin typeface="微软雅黑" panose="020B0503020204020204" pitchFamily="34" charset="-122"/>
                <a:ea typeface="微软雅黑" panose="020B0503020204020204" pitchFamily="34" charset="-122"/>
              </a:rPr>
              <a:t>戊糖磷酸途径  </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Pentose Phosphate Pathway</a:t>
            </a: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lnSpc>
                <a:spcPct val="115000"/>
              </a:lnSpc>
              <a:buClr>
                <a:schemeClr val="tx1"/>
              </a:buClr>
              <a:defRPr/>
            </a:pPr>
            <a:r>
              <a:rPr lang="zh-CN" altLang="en-US" sz="2400" b="0" dirty="0">
                <a:solidFill>
                  <a:srgbClr val="FF0000"/>
                </a:solidFill>
                <a:latin typeface="微软雅黑" panose="020B0503020204020204" pitchFamily="34" charset="-122"/>
                <a:ea typeface="微软雅黑" panose="020B0503020204020204" pitchFamily="34" charset="-122"/>
              </a:rPr>
              <a:t> 糖的合成代谢 </a:t>
            </a:r>
            <a:endParaRPr lang="zh-CN" altLang="en-US" sz="2400" b="0" dirty="0">
              <a:solidFill>
                <a:srgbClr val="FF0000"/>
              </a:solidFill>
              <a:latin typeface="微软雅黑" panose="020B0503020204020204" pitchFamily="34" charset="-122"/>
              <a:ea typeface="微软雅黑" panose="020B0503020204020204" pitchFamily="34" charset="-122"/>
            </a:endParaRPr>
          </a:p>
          <a:p>
            <a:pPr lvl="1" eaLnBrk="1" hangingPunct="1">
              <a:lnSpc>
                <a:spcPct val="115000"/>
              </a:lnSpc>
              <a:buClr>
                <a:schemeClr val="tx1"/>
              </a:buClr>
              <a:defRPr/>
            </a:pPr>
            <a:r>
              <a:rPr lang="zh-CN" altLang="en-US" sz="2400" b="0" dirty="0">
                <a:solidFill>
                  <a:srgbClr val="FF0000"/>
                </a:solidFill>
                <a:latin typeface="微软雅黑" panose="020B0503020204020204" pitchFamily="34" charset="-122"/>
                <a:ea typeface="微软雅黑" panose="020B0503020204020204" pitchFamily="34" charset="-122"/>
              </a:rPr>
              <a:t>糖原的合成与分解  </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Metabolism of Glycogen</a:t>
            </a: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lvl="1" eaLnBrk="1" hangingPunct="1">
              <a:lnSpc>
                <a:spcPct val="115000"/>
              </a:lnSpc>
              <a:buClr>
                <a:schemeClr val="tx1"/>
              </a:buClr>
              <a:defRPr/>
            </a:pPr>
            <a:r>
              <a:rPr lang="zh-CN" altLang="en-US" sz="2400" b="0" dirty="0">
                <a:solidFill>
                  <a:srgbClr val="FF0000"/>
                </a:solidFill>
                <a:latin typeface="微软雅黑" panose="020B0503020204020204" pitchFamily="34" charset="-122"/>
                <a:ea typeface="微软雅黑" panose="020B0503020204020204" pitchFamily="34" charset="-122"/>
              </a:rPr>
              <a:t>糖异生  </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Gluconeogenesis</a:t>
            </a: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lnSpc>
                <a:spcPct val="115000"/>
              </a:lnSpc>
              <a:buClr>
                <a:schemeClr val="tx1"/>
              </a:buClr>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 葡萄糖的其它代谢途径</a:t>
            </a: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lnSpc>
                <a:spcPct val="115000"/>
              </a:lnSpc>
              <a:buClr>
                <a:schemeClr val="tx1"/>
              </a:buClr>
              <a:defRPr/>
            </a:pPr>
            <a:r>
              <a:rPr lang="zh-CN" altLang="en-US" sz="2400" b="0" dirty="0">
                <a:latin typeface="微软雅黑" panose="020B0503020204020204" pitchFamily="34" charset="-122"/>
                <a:ea typeface="微软雅黑" panose="020B0503020204020204" pitchFamily="34" charset="-122"/>
              </a:rPr>
              <a:t> </a:t>
            </a:r>
            <a:r>
              <a:rPr lang="zh-CN" altLang="en-US" sz="2400" b="0" dirty="0">
                <a:solidFill>
                  <a:srgbClr val="FF0000"/>
                </a:solidFill>
                <a:latin typeface="微软雅黑" panose="020B0503020204020204" pitchFamily="34" charset="-122"/>
                <a:ea typeface="微软雅黑" panose="020B0503020204020204" pitchFamily="34" charset="-122"/>
              </a:rPr>
              <a:t>血糖</a:t>
            </a:r>
            <a:r>
              <a:rPr lang="zh-CN" altLang="en-US" sz="2400" b="0" dirty="0">
                <a:latin typeface="微软雅黑" panose="020B0503020204020204" pitchFamily="34" charset="-122"/>
                <a:ea typeface="微软雅黑" panose="020B0503020204020204" pitchFamily="34" charset="-122"/>
              </a:rPr>
              <a:t>及其调节 </a:t>
            </a:r>
            <a:r>
              <a:rPr lang="en-US" altLang="zh-CN" sz="2400" b="0" dirty="0">
                <a:latin typeface="微软雅黑" panose="020B0503020204020204" pitchFamily="34" charset="-122"/>
                <a:ea typeface="微软雅黑" panose="020B0503020204020204" pitchFamily="34" charset="-122"/>
              </a:rPr>
              <a:t>Blood Sugar and Its Regulation</a:t>
            </a: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351584" y="620689"/>
            <a:ext cx="7391400" cy="347663"/>
          </a:xfrm>
        </p:spPr>
        <p:txBody>
          <a:bodyPr/>
          <a:lstStyle/>
          <a:p>
            <a:pPr eaLnBrk="1" hangingPunct="1"/>
            <a:r>
              <a:rPr lang="zh-CN" altLang="en-US" sz="3600" b="1" dirty="0"/>
              <a:t>要    求</a:t>
            </a:r>
            <a:endParaRPr lang="zh-CN" altLang="en-US" sz="3600" b="1" dirty="0"/>
          </a:p>
        </p:txBody>
      </p:sp>
      <p:sp>
        <p:nvSpPr>
          <p:cNvPr id="30723" name="Rectangle 3"/>
          <p:cNvSpPr>
            <a:spLocks noGrp="1" noChangeArrowheads="1"/>
          </p:cNvSpPr>
          <p:nvPr>
            <p:ph type="body" idx="1"/>
          </p:nvPr>
        </p:nvSpPr>
        <p:spPr>
          <a:xfrm>
            <a:off x="1474776" y="1556792"/>
            <a:ext cx="9301744" cy="4464967"/>
          </a:xfrm>
        </p:spPr>
        <p:txBody>
          <a:bodyPr/>
          <a:lstStyle/>
          <a:p>
            <a:pPr eaLnBrk="1" hangingPunct="1">
              <a:lnSpc>
                <a:spcPct val="120000"/>
              </a:lnSpc>
            </a:pPr>
            <a:r>
              <a:rPr lang="zh-CN" altLang="en-US" sz="2800" b="0" dirty="0">
                <a:solidFill>
                  <a:srgbClr val="800000"/>
                </a:solidFill>
                <a:latin typeface="微软雅黑" panose="020B0503020204020204" pitchFamily="34" charset="-122"/>
                <a:ea typeface="微软雅黑" panose="020B0503020204020204" pitchFamily="34" charset="-122"/>
              </a:rPr>
              <a:t>重要概念</a:t>
            </a:r>
            <a:r>
              <a:rPr lang="zh-CN" altLang="en-US" sz="2800" b="0" dirty="0">
                <a:latin typeface="微软雅黑" panose="020B0503020204020204" pitchFamily="34" charset="-122"/>
                <a:ea typeface="微软雅黑" panose="020B0503020204020204" pitchFamily="34" charset="-122"/>
              </a:rPr>
              <a:t>：</a:t>
            </a:r>
            <a:r>
              <a:rPr lang="zh-CN" altLang="en-US" sz="2400" b="0" dirty="0">
                <a:solidFill>
                  <a:srgbClr val="0000FF"/>
                </a:solidFill>
                <a:latin typeface="微软雅黑" panose="020B0503020204020204" pitchFamily="34" charset="-122"/>
                <a:ea typeface="微软雅黑" panose="020B0503020204020204" pitchFamily="34" charset="-122"/>
              </a:rPr>
              <a:t>糖酵解、糖异生、</a:t>
            </a:r>
            <a:r>
              <a:rPr lang="en-US" altLang="zh-CN" sz="2400" b="0" dirty="0">
                <a:solidFill>
                  <a:srgbClr val="0000FF"/>
                </a:solidFill>
                <a:latin typeface="微软雅黑" panose="020B0503020204020204" pitchFamily="34" charset="-122"/>
                <a:ea typeface="微软雅黑" panose="020B0503020204020204" pitchFamily="34" charset="-122"/>
              </a:rPr>
              <a:t>Cori</a:t>
            </a:r>
            <a:r>
              <a:rPr lang="zh-CN" altLang="en-US" sz="2400" b="0" dirty="0">
                <a:solidFill>
                  <a:srgbClr val="0000FF"/>
                </a:solidFill>
                <a:latin typeface="微软雅黑" panose="020B0503020204020204" pitchFamily="34" charset="-122"/>
                <a:ea typeface="微软雅黑" panose="020B0503020204020204" pitchFamily="34" charset="-122"/>
              </a:rPr>
              <a:t> </a:t>
            </a:r>
            <a:r>
              <a:rPr lang="en-US" altLang="zh-CN" sz="2400" b="0" dirty="0">
                <a:solidFill>
                  <a:srgbClr val="0000FF"/>
                </a:solidFill>
                <a:latin typeface="微软雅黑" panose="020B0503020204020204" pitchFamily="34" charset="-122"/>
                <a:ea typeface="微软雅黑" panose="020B0503020204020204" pitchFamily="34" charset="-122"/>
              </a:rPr>
              <a:t>cycle</a:t>
            </a:r>
            <a:r>
              <a:rPr lang="zh-CN" altLang="en-US" sz="2400" b="0" dirty="0">
                <a:solidFill>
                  <a:srgbClr val="0000FF"/>
                </a:solidFill>
                <a:latin typeface="微软雅黑" panose="020B0503020204020204" pitchFamily="34" charset="-122"/>
                <a:ea typeface="微软雅黑" panose="020B0503020204020204" pitchFamily="34" charset="-122"/>
              </a:rPr>
              <a:t>、底物循环、底物水平磷酸化、三羧酸循环、巴斯德效应、瓦尔堡效应</a:t>
            </a:r>
            <a:endParaRPr lang="en-US" altLang="zh-CN" sz="2400" b="0" dirty="0">
              <a:solidFill>
                <a:srgbClr val="0000FF"/>
              </a:solidFill>
              <a:latin typeface="微软雅黑" panose="020B0503020204020204" pitchFamily="34" charset="-122"/>
              <a:ea typeface="微软雅黑" panose="020B0503020204020204" pitchFamily="34" charset="-122"/>
            </a:endParaRPr>
          </a:p>
          <a:p>
            <a:pPr eaLnBrk="1" hangingPunct="1">
              <a:lnSpc>
                <a:spcPct val="120000"/>
              </a:lnSpc>
            </a:pPr>
            <a:r>
              <a:rPr lang="zh-CN" altLang="en-US" sz="2800" b="0" dirty="0">
                <a:solidFill>
                  <a:srgbClr val="800000"/>
                </a:solidFill>
                <a:latin typeface="微软雅黑" panose="020B0503020204020204" pitchFamily="34" charset="-122"/>
                <a:ea typeface="微软雅黑" panose="020B0503020204020204" pitchFamily="34" charset="-122"/>
              </a:rPr>
              <a:t>掌握：</a:t>
            </a:r>
            <a:endParaRPr lang="en-US" altLang="zh-CN" sz="2800" b="0" dirty="0">
              <a:solidFill>
                <a:srgbClr val="800000"/>
              </a:solidFill>
              <a:latin typeface="微软雅黑" panose="020B0503020204020204" pitchFamily="34" charset="-122"/>
              <a:ea typeface="微软雅黑" panose="020B0503020204020204" pitchFamily="34" charset="-122"/>
            </a:endParaRPr>
          </a:p>
          <a:p>
            <a:pPr lvl="1" eaLnBrk="1" hangingPunct="1">
              <a:lnSpc>
                <a:spcPct val="120000"/>
              </a:lnSpc>
            </a:pPr>
            <a:r>
              <a:rPr lang="zh-CN" altLang="en-US" sz="2400" b="0" dirty="0">
                <a:solidFill>
                  <a:srgbClr val="FF0000"/>
                </a:solidFill>
                <a:latin typeface="微软雅黑" panose="020B0503020204020204" pitchFamily="34" charset="-122"/>
                <a:ea typeface="微软雅黑" panose="020B0503020204020204" pitchFamily="34" charset="-122"/>
              </a:rPr>
              <a:t>糖的三种主要分解代谢途径</a:t>
            </a:r>
            <a:r>
              <a:rPr lang="zh-CN" altLang="en-US" sz="2400" b="0" dirty="0">
                <a:latin typeface="微软雅黑" panose="020B0503020204020204" pitchFamily="34" charset="-122"/>
                <a:ea typeface="微软雅黑" panose="020B0503020204020204" pitchFamily="34" charset="-122"/>
              </a:rPr>
              <a:t>（过程、产能、主要调节方式、生理意义）</a:t>
            </a:r>
            <a:endParaRPr lang="zh-CN" altLang="en-US" sz="2400" b="0" dirty="0">
              <a:latin typeface="微软雅黑" panose="020B0503020204020204" pitchFamily="34" charset="-122"/>
              <a:ea typeface="微软雅黑" panose="020B0503020204020204" pitchFamily="34" charset="-122"/>
            </a:endParaRPr>
          </a:p>
          <a:p>
            <a:pPr lvl="1" eaLnBrk="1" hangingPunct="1">
              <a:lnSpc>
                <a:spcPct val="120000"/>
              </a:lnSpc>
            </a:pPr>
            <a:r>
              <a:rPr lang="zh-CN" altLang="en-US" sz="2400" b="0" dirty="0">
                <a:solidFill>
                  <a:srgbClr val="FF0000"/>
                </a:solidFill>
                <a:latin typeface="微软雅黑" panose="020B0503020204020204" pitchFamily="34" charset="-122"/>
                <a:ea typeface="微软雅黑" panose="020B0503020204020204" pitchFamily="34" charset="-122"/>
              </a:rPr>
              <a:t>血糖的来源与去路</a:t>
            </a:r>
            <a:r>
              <a:rPr lang="zh-CN" altLang="en-US" sz="2400" b="0" dirty="0">
                <a:latin typeface="微软雅黑" panose="020B0503020204020204" pitchFamily="34" charset="-122"/>
                <a:ea typeface="微软雅黑" panose="020B0503020204020204" pitchFamily="34" charset="-122"/>
              </a:rPr>
              <a:t>，激素对血糖的调节。</a:t>
            </a:r>
            <a:endParaRPr lang="zh-CN" altLang="en-US" sz="2400" b="0"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800" b="0" dirty="0">
                <a:solidFill>
                  <a:srgbClr val="800000"/>
                </a:solidFill>
                <a:latin typeface="微软雅黑" panose="020B0503020204020204" pitchFamily="34" charset="-122"/>
                <a:ea typeface="微软雅黑" panose="020B0503020204020204" pitchFamily="34" charset="-122"/>
              </a:rPr>
              <a:t>熟悉：</a:t>
            </a:r>
            <a:r>
              <a:rPr lang="zh-CN" altLang="en-US" sz="2400" b="0" dirty="0">
                <a:latin typeface="微软雅黑" panose="020B0503020204020204" pitchFamily="34" charset="-122"/>
                <a:ea typeface="微软雅黑" panose="020B0503020204020204" pitchFamily="34" charset="-122"/>
              </a:rPr>
              <a:t>糖原合成与分解代谢以及糖异生的调节。</a:t>
            </a:r>
            <a:endParaRPr lang="zh-CN" altLang="en-US" sz="2400" b="0"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800" b="0" dirty="0">
                <a:solidFill>
                  <a:srgbClr val="800000"/>
                </a:solidFill>
                <a:latin typeface="微软雅黑" panose="020B0503020204020204" pitchFamily="34" charset="-122"/>
                <a:ea typeface="微软雅黑" panose="020B0503020204020204" pitchFamily="34" charset="-122"/>
              </a:rPr>
              <a:t>了解：</a:t>
            </a:r>
            <a:r>
              <a:rPr lang="zh-CN" altLang="en-US" sz="2400" b="0" dirty="0">
                <a:latin typeface="微软雅黑" panose="020B0503020204020204" pitchFamily="34" charset="-122"/>
                <a:ea typeface="微软雅黑" panose="020B0503020204020204" pitchFamily="34" charset="-122"/>
              </a:rPr>
              <a:t>糖的分类、生理功能、消化吸收</a:t>
            </a: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739516" y="1047041"/>
            <a:ext cx="8712968" cy="2032000"/>
          </a:xfrm>
          <a:prstGeom prst="rect">
            <a:avLst/>
          </a:prstGeom>
          <a:noFill/>
          <a:ln>
            <a:noFill/>
          </a:ln>
        </p:spPr>
        <p:txBody>
          <a:bodyPr wrap="square">
            <a:spAutoFit/>
          </a:bodyPr>
          <a:lstStyle>
            <a:lvl1pPr indent="7131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50000"/>
              </a:lnSpc>
              <a:spcBef>
                <a:spcPct val="0"/>
              </a:spcBef>
              <a:buClrTx/>
              <a:buSzTx/>
              <a:buFontTx/>
              <a:buNone/>
              <a:defRPr/>
            </a:pPr>
            <a:r>
              <a:rPr kumimoji="1" lang="zh-CN" altLang="en-US" sz="2800" b="0" dirty="0">
                <a:solidFill>
                  <a:srgbClr val="660033"/>
                </a:solidFill>
                <a:latin typeface="微软雅黑" panose="020B0503020204020204" pitchFamily="34" charset="-122"/>
                <a:ea typeface="微软雅黑" panose="020B0503020204020204" pitchFamily="34" charset="-122"/>
              </a:rPr>
              <a:t>糖</a:t>
            </a:r>
            <a:r>
              <a:rPr kumimoji="1" lang="en-US" altLang="zh-CN" sz="2600" b="0" dirty="0">
                <a:solidFill>
                  <a:srgbClr val="660033"/>
                </a:solidFill>
                <a:latin typeface="微软雅黑" panose="020B0503020204020204" pitchFamily="34" charset="-122"/>
                <a:ea typeface="微软雅黑" panose="020B0503020204020204" pitchFamily="34" charset="-122"/>
              </a:rPr>
              <a:t>(</a:t>
            </a:r>
            <a:r>
              <a:rPr kumimoji="1"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rPr>
              <a:t>carbohydrates, </a:t>
            </a:r>
            <a:r>
              <a:rPr lang="en-US" altLang="zh-CN" sz="2600" b="0" dirty="0">
                <a:latin typeface="微软雅黑" panose="020B0503020204020204" pitchFamily="34" charset="-122"/>
                <a:ea typeface="微软雅黑" panose="020B0503020204020204" pitchFamily="34" charset="-122"/>
              </a:rPr>
              <a:t>saccharide , sugar </a:t>
            </a:r>
            <a:r>
              <a:rPr kumimoji="1"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rPr>
              <a:t>)</a:t>
            </a:r>
            <a:r>
              <a:rPr kumimoji="1" lang="zh-CN" altLang="en-US" sz="2800" b="0" dirty="0">
                <a:latin typeface="微软雅黑" panose="020B0503020204020204" pitchFamily="34" charset="-122"/>
                <a:ea typeface="微软雅黑" panose="020B0503020204020204" pitchFamily="34" charset="-122"/>
              </a:rPr>
              <a:t>，也称碳水化合物，其化学本质为</a:t>
            </a:r>
            <a:r>
              <a:rPr kumimoji="1" lang="zh-CN" altLang="en-US" sz="2800" b="0" dirty="0">
                <a:solidFill>
                  <a:srgbClr val="0000CC"/>
                </a:solidFill>
                <a:latin typeface="微软雅黑" panose="020B0503020204020204" pitchFamily="34" charset="-122"/>
                <a:ea typeface="微软雅黑" panose="020B0503020204020204" pitchFamily="34" charset="-122"/>
              </a:rPr>
              <a:t>多羟醛</a:t>
            </a:r>
            <a:r>
              <a:rPr kumimoji="1" lang="zh-CN" altLang="en-US" sz="2800" b="0" dirty="0">
                <a:latin typeface="微软雅黑" panose="020B0503020204020204" pitchFamily="34" charset="-122"/>
                <a:ea typeface="微软雅黑" panose="020B0503020204020204" pitchFamily="34" charset="-122"/>
              </a:rPr>
              <a:t>或</a:t>
            </a:r>
            <a:r>
              <a:rPr kumimoji="1" lang="zh-CN" altLang="en-US" sz="2800" b="0" dirty="0">
                <a:solidFill>
                  <a:srgbClr val="0000CC"/>
                </a:solidFill>
                <a:latin typeface="微软雅黑" panose="020B0503020204020204" pitchFamily="34" charset="-122"/>
                <a:ea typeface="微软雅黑" panose="020B0503020204020204" pitchFamily="34" charset="-122"/>
              </a:rPr>
              <a:t>多羟酮类</a:t>
            </a:r>
            <a:r>
              <a:rPr kumimoji="1" lang="zh-CN" altLang="en-US" sz="2800" b="0" dirty="0">
                <a:latin typeface="微软雅黑" panose="020B0503020204020204" pitchFamily="34" charset="-122"/>
                <a:ea typeface="微软雅黑" panose="020B0503020204020204" pitchFamily="34" charset="-122"/>
              </a:rPr>
              <a:t>及其</a:t>
            </a:r>
            <a:r>
              <a:rPr kumimoji="1" lang="zh-CN" altLang="en-US" sz="2800" b="0" dirty="0">
                <a:solidFill>
                  <a:srgbClr val="0000CC"/>
                </a:solidFill>
                <a:latin typeface="微软雅黑" panose="020B0503020204020204" pitchFamily="34" charset="-122"/>
                <a:ea typeface="微软雅黑" panose="020B0503020204020204" pitchFamily="34" charset="-122"/>
              </a:rPr>
              <a:t>衍生物</a:t>
            </a:r>
            <a:r>
              <a:rPr kumimoji="1" lang="zh-CN" altLang="en-US" sz="2800" b="0" dirty="0">
                <a:latin typeface="微软雅黑" panose="020B0503020204020204" pitchFamily="34" charset="-122"/>
                <a:ea typeface="微软雅黑" panose="020B0503020204020204" pitchFamily="34" charset="-122"/>
              </a:rPr>
              <a:t>或</a:t>
            </a:r>
            <a:r>
              <a:rPr kumimoji="1" lang="zh-CN" altLang="en-US" sz="2800" b="0" dirty="0">
                <a:solidFill>
                  <a:srgbClr val="0000CC"/>
                </a:solidFill>
                <a:latin typeface="微软雅黑" panose="020B0503020204020204" pitchFamily="34" charset="-122"/>
                <a:ea typeface="微软雅黑" panose="020B0503020204020204" pitchFamily="34" charset="-122"/>
              </a:rPr>
              <a:t>多聚物</a:t>
            </a:r>
            <a:r>
              <a:rPr kumimoji="1" lang="zh-CN" altLang="en-US" sz="2800" b="0" dirty="0">
                <a:latin typeface="微软雅黑" panose="020B0503020204020204" pitchFamily="34" charset="-122"/>
                <a:ea typeface="微软雅黑" panose="020B0503020204020204" pitchFamily="34" charset="-122"/>
              </a:rPr>
              <a:t>。</a:t>
            </a:r>
            <a:endParaRPr kumimoji="1" lang="zh-CN" altLang="en-US" sz="2800" b="0" dirty="0">
              <a:latin typeface="微软雅黑" panose="020B0503020204020204" pitchFamily="34" charset="-122"/>
              <a:ea typeface="微软雅黑" panose="020B0503020204020204" pitchFamily="34" charset="-122"/>
            </a:endParaRPr>
          </a:p>
        </p:txBody>
      </p:sp>
      <p:sp>
        <p:nvSpPr>
          <p:cNvPr id="32771" name="Text Box 4"/>
          <p:cNvSpPr txBox="1">
            <a:spLocks noChangeArrowheads="1"/>
          </p:cNvSpPr>
          <p:nvPr/>
        </p:nvSpPr>
        <p:spPr bwMode="auto">
          <a:xfrm>
            <a:off x="1631504" y="562315"/>
            <a:ext cx="38877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solidFill>
                  <a:srgbClr val="660033"/>
                </a:solidFill>
                <a:latin typeface="微软雅黑" panose="020B0503020204020204" pitchFamily="34" charset="-122"/>
                <a:ea typeface="微软雅黑" panose="020B0503020204020204" pitchFamily="34" charset="-122"/>
              </a:rPr>
              <a:t>      糖的概念</a:t>
            </a:r>
            <a:endParaRPr kumimoji="1" lang="zh-CN" altLang="en-US" dirty="0">
              <a:solidFill>
                <a:srgbClr val="660033"/>
              </a:solidFill>
              <a:latin typeface="微软雅黑" panose="020B0503020204020204" pitchFamily="34" charset="-122"/>
              <a:ea typeface="微软雅黑" panose="020B0503020204020204" pitchFamily="34" charset="-122"/>
            </a:endParaRPr>
          </a:p>
        </p:txBody>
      </p:sp>
      <p:sp>
        <p:nvSpPr>
          <p:cNvPr id="23556" name="矩形 1"/>
          <p:cNvSpPr>
            <a:spLocks noChangeArrowheads="1"/>
          </p:cNvSpPr>
          <p:nvPr/>
        </p:nvSpPr>
        <p:spPr bwMode="auto">
          <a:xfrm>
            <a:off x="2351089" y="3441031"/>
            <a:ext cx="223678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solidFill>
                  <a:srgbClr val="660033"/>
                </a:solidFill>
                <a:latin typeface="微软雅黑" panose="020B0503020204020204" pitchFamily="34" charset="-122"/>
                <a:ea typeface="微软雅黑" panose="020B0503020204020204" pitchFamily="34" charset="-122"/>
              </a:rPr>
              <a:t>糖的分类</a:t>
            </a:r>
            <a:r>
              <a:rPr lang="zh-CN" altLang="en-US" dirty="0">
                <a:solidFill>
                  <a:srgbClr val="660066"/>
                </a:solidFill>
                <a:latin typeface="微软雅黑" panose="020B0503020204020204" pitchFamily="34" charset="-122"/>
                <a:ea typeface="微软雅黑" panose="020B0503020204020204" pitchFamily="34" charset="-122"/>
              </a:rPr>
              <a:t>：</a:t>
            </a:r>
            <a:endParaRPr lang="en-US" altLang="zh-CN" dirty="0">
              <a:solidFill>
                <a:srgbClr val="660066"/>
              </a:solidFill>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3468688" y="4133180"/>
            <a:ext cx="5086350" cy="1816100"/>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单糖 </a:t>
            </a:r>
            <a:r>
              <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rPr>
              <a:t>(monosaccharide)</a:t>
            </a:r>
            <a:endPar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spcBef>
                <a:spcPct val="0"/>
              </a:spcBef>
              <a:buClrTx/>
              <a:buSzTx/>
              <a:buFontTx/>
              <a:buNone/>
              <a:defRPr/>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寡糖 </a:t>
            </a:r>
            <a:r>
              <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rPr>
              <a:t>(oligosaccharide)</a:t>
            </a:r>
            <a:endPar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spcBef>
                <a:spcPct val="0"/>
              </a:spcBef>
              <a:buClrTx/>
              <a:buSzTx/>
              <a:buFontTx/>
              <a:buNone/>
              <a:defRPr/>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多糖 </a:t>
            </a:r>
            <a:r>
              <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rPr>
              <a:t>(polysaccharide)</a:t>
            </a:r>
            <a:endPar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spcBef>
                <a:spcPct val="0"/>
              </a:spcBef>
              <a:buClrTx/>
              <a:buSzTx/>
              <a:buFontTx/>
              <a:buNone/>
              <a:defRPr/>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结合糖 </a:t>
            </a:r>
            <a:r>
              <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rPr>
              <a:t>(glycoconjugate)</a:t>
            </a:r>
            <a:endPar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Text Box 4"/>
          <p:cNvSpPr txBox="1">
            <a:spLocks noChangeArrowheads="1"/>
          </p:cNvSpPr>
          <p:nvPr/>
        </p:nvSpPr>
        <p:spPr bwMode="auto">
          <a:xfrm>
            <a:off x="2353546" y="1125824"/>
            <a:ext cx="33131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ea typeface="华文楷体" panose="02010600040101010101" pitchFamily="2" charset="-122"/>
              </a:rPr>
              <a:t>葡萄糖</a:t>
            </a:r>
            <a:r>
              <a:rPr kumimoji="1" lang="en-US" altLang="zh-CN" sz="2800">
                <a:ea typeface="宋体" panose="02010600030101010101" pitchFamily="2" charset="-122"/>
              </a:rPr>
              <a:t>(glucose)</a:t>
            </a:r>
            <a:endParaRPr kumimoji="1" lang="en-US" altLang="zh-CN" sz="2800">
              <a:ea typeface="宋体" panose="02010600030101010101" pitchFamily="2" charset="-122"/>
            </a:endParaRPr>
          </a:p>
          <a:p>
            <a:pPr eaLnBrk="1" hangingPunct="1">
              <a:spcBef>
                <a:spcPct val="0"/>
              </a:spcBef>
              <a:buClrTx/>
              <a:buSzTx/>
              <a:buFontTx/>
              <a:buNone/>
            </a:pPr>
            <a:r>
              <a:rPr kumimoji="1" lang="en-US" altLang="zh-CN" sz="2800">
                <a:ea typeface="宋体" panose="02010600030101010101" pitchFamily="2" charset="-122"/>
              </a:rPr>
              <a:t>            ——</a:t>
            </a:r>
            <a:r>
              <a:rPr kumimoji="1" lang="zh-CN" altLang="en-US" sz="2800">
                <a:latin typeface="Antique Olive"/>
                <a:ea typeface="华文楷体" panose="02010600040101010101" pitchFamily="2" charset="-122"/>
              </a:rPr>
              <a:t>几醛糖</a:t>
            </a:r>
            <a:endParaRPr kumimoji="1" lang="zh-CN" altLang="en-US" sz="2800">
              <a:latin typeface="Antique Olive"/>
              <a:ea typeface="华文楷体" panose="02010600040101010101" pitchFamily="2" charset="-122"/>
            </a:endParaRPr>
          </a:p>
        </p:txBody>
      </p:sp>
      <p:sp>
        <p:nvSpPr>
          <p:cNvPr id="21509" name="Text Box 5"/>
          <p:cNvSpPr txBox="1">
            <a:spLocks noChangeArrowheads="1"/>
          </p:cNvSpPr>
          <p:nvPr/>
        </p:nvSpPr>
        <p:spPr bwMode="auto">
          <a:xfrm>
            <a:off x="7032104" y="1197263"/>
            <a:ext cx="29511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ea typeface="华文楷体" panose="02010600040101010101" pitchFamily="2" charset="-122"/>
              </a:rPr>
              <a:t>果糖</a:t>
            </a:r>
            <a:r>
              <a:rPr kumimoji="1" lang="en-US" altLang="zh-CN" sz="2800" dirty="0">
                <a:ea typeface="宋体" panose="02010600030101010101" pitchFamily="2" charset="-122"/>
              </a:rPr>
              <a:t>(fructose)</a:t>
            </a:r>
            <a:endParaRPr kumimoji="1" lang="en-US" altLang="zh-CN" sz="2800" dirty="0">
              <a:ea typeface="宋体" panose="02010600030101010101" pitchFamily="2" charset="-122"/>
            </a:endParaRPr>
          </a:p>
          <a:p>
            <a:pPr eaLnBrk="1" hangingPunct="1">
              <a:spcBef>
                <a:spcPct val="0"/>
              </a:spcBef>
              <a:buClrTx/>
              <a:buSzTx/>
              <a:buFontTx/>
              <a:buNone/>
            </a:pPr>
            <a:r>
              <a:rPr kumimoji="1" lang="en-US" altLang="zh-CN" sz="2800" dirty="0">
                <a:ea typeface="宋体" panose="02010600030101010101" pitchFamily="2" charset="-122"/>
              </a:rPr>
              <a:t>         ——</a:t>
            </a:r>
            <a:r>
              <a:rPr kumimoji="1" lang="zh-CN" altLang="en-US" sz="2800" dirty="0">
                <a:latin typeface="Antique Olive"/>
                <a:ea typeface="华文楷体" panose="02010600040101010101" pitchFamily="2" charset="-122"/>
              </a:rPr>
              <a:t>几酮糖  </a:t>
            </a:r>
            <a:endParaRPr kumimoji="1" lang="zh-CN" altLang="en-US" sz="2800" dirty="0">
              <a:latin typeface="Antique Olive"/>
              <a:ea typeface="华文楷体" panose="02010600040101010101" pitchFamily="2"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752828" y="2214852"/>
            <a:ext cx="1397000" cy="25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04201" y="5030156"/>
            <a:ext cx="2071687"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35700" y="5131756"/>
            <a:ext cx="1968500"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图片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87058" y="4926300"/>
            <a:ext cx="1592262"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4" name="图片 10"/>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97934" y="4926299"/>
            <a:ext cx="1589087" cy="160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5" name="图片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171109" y="2143413"/>
            <a:ext cx="1425575"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Text Box 7"/>
          <p:cNvSpPr txBox="1">
            <a:spLocks noChangeArrowheads="1"/>
          </p:cNvSpPr>
          <p:nvPr/>
        </p:nvSpPr>
        <p:spPr bwMode="auto">
          <a:xfrm>
            <a:off x="2263776" y="350838"/>
            <a:ext cx="72294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3600" dirty="0">
                <a:solidFill>
                  <a:srgbClr val="660033"/>
                </a:solidFill>
                <a:latin typeface="Arial" panose="020B0604020202020204" pitchFamily="34" charset="0"/>
                <a:ea typeface="华文楷体" panose="02010600040101010101" pitchFamily="2" charset="-122"/>
              </a:rPr>
              <a:t>  </a:t>
            </a:r>
            <a:r>
              <a:rPr kumimoji="1" lang="zh-CN" altLang="en-US" sz="3600" dirty="0">
                <a:solidFill>
                  <a:srgbClr val="660033"/>
                </a:solidFill>
                <a:latin typeface="Arial" panose="020B0604020202020204" pitchFamily="34" charset="0"/>
                <a:ea typeface="华文楷体" panose="02010600040101010101" pitchFamily="2" charset="-122"/>
              </a:rPr>
              <a:t>糖代谢：  以葡萄糖的代谢为核心</a:t>
            </a:r>
            <a:endParaRPr kumimoji="1" lang="zh-CN" altLang="en-US" sz="3600" dirty="0">
              <a:solidFill>
                <a:srgbClr val="660033"/>
              </a:solidFill>
              <a:latin typeface="Arial" panose="020B0604020202020204" pitchFamily="34" charset="0"/>
              <a:ea typeface="华文楷体" panose="0201060004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fade">
                                      <p:cBhvr>
                                        <p:cTn id="7" dur="500"/>
                                        <p:tgtEl>
                                          <p:spTgt spid="21509"/>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2857500" y="1125760"/>
            <a:ext cx="7391400" cy="646113"/>
          </a:xfrm>
        </p:spPr>
        <p:txBody>
          <a:bodyPr>
            <a:spAutoFit/>
          </a:bodyPr>
          <a:lstStyle/>
          <a:p>
            <a:pPr algn="l" eaLnBrk="1" hangingPunct="1">
              <a:defRPr/>
            </a:pPr>
            <a:r>
              <a:rPr kumimoji="1" lang="zh-CN" altLang="en-US" sz="3600" b="1" kern="1200" dirty="0">
                <a:solidFill>
                  <a:srgbClr val="660033"/>
                </a:solidFill>
                <a:latin typeface="Times New Roman" panose="02020603050405020304" pitchFamily="18" charset="0"/>
                <a:ea typeface="宋体" panose="02010600030101010101" pitchFamily="2" charset="-122"/>
                <a:cs typeface="+mn-cs"/>
              </a:rPr>
              <a:t>糖的功能</a:t>
            </a:r>
            <a:endParaRPr kumimoji="1" lang="zh-CN" altLang="en-US" sz="3600" b="1" kern="1200" dirty="0">
              <a:solidFill>
                <a:srgbClr val="660033"/>
              </a:solidFill>
              <a:latin typeface="Times New Roman" panose="02020603050405020304" pitchFamily="18" charset="0"/>
              <a:ea typeface="宋体" panose="02010600030101010101" pitchFamily="2" charset="-122"/>
              <a:cs typeface="+mn-cs"/>
            </a:endParaRPr>
          </a:p>
        </p:txBody>
      </p:sp>
      <p:sp>
        <p:nvSpPr>
          <p:cNvPr id="51203" name="内容占位符 2"/>
          <p:cNvSpPr>
            <a:spLocks noGrp="1" noChangeArrowheads="1"/>
          </p:cNvSpPr>
          <p:nvPr>
            <p:ph idx="1"/>
          </p:nvPr>
        </p:nvSpPr>
        <p:spPr>
          <a:xfrm>
            <a:off x="2438400" y="2133823"/>
            <a:ext cx="7810500" cy="3527425"/>
          </a:xfrm>
        </p:spPr>
        <p:txBody>
          <a:bodyPr/>
          <a:lstStyle/>
          <a:p>
            <a:pPr marL="514350" indent="-514350">
              <a:lnSpc>
                <a:spcPct val="150000"/>
              </a:lnSpc>
              <a:spcBef>
                <a:spcPct val="0"/>
              </a:spcBef>
              <a:buFont typeface="黑体" panose="02010609060101010101" pitchFamily="2" charset="-122"/>
              <a:buAutoNum type="arabicPeriod"/>
              <a:defRPr/>
            </a:pPr>
            <a:r>
              <a:rPr lang="zh-CN" altLang="en-US" b="0" dirty="0">
                <a:latin typeface="+mj-ea"/>
                <a:ea typeface="+mj-ea"/>
              </a:rPr>
              <a:t>提供能量</a:t>
            </a:r>
            <a:r>
              <a:rPr lang="en-US" altLang="zh-CN" b="0" dirty="0">
                <a:latin typeface="+mj-ea"/>
                <a:ea typeface="+mj-ea"/>
              </a:rPr>
              <a:t>----</a:t>
            </a:r>
            <a:r>
              <a:rPr lang="zh-CN" altLang="en-US" b="0" dirty="0">
                <a:latin typeface="+mj-ea"/>
                <a:ea typeface="+mj-ea"/>
              </a:rPr>
              <a:t>最主要的功能</a:t>
            </a:r>
            <a:r>
              <a:rPr lang="en-US" altLang="zh-CN" b="0" dirty="0">
                <a:latin typeface="+mj-ea"/>
                <a:ea typeface="+mj-ea"/>
              </a:rPr>
              <a:t>(</a:t>
            </a:r>
            <a:r>
              <a:rPr lang="zh-CN" altLang="en-US" b="0" dirty="0">
                <a:latin typeface="+mj-ea"/>
                <a:ea typeface="+mj-ea"/>
              </a:rPr>
              <a:t>动物）</a:t>
            </a:r>
            <a:endParaRPr lang="en-US" altLang="zh-CN" b="0" dirty="0">
              <a:latin typeface="+mj-ea"/>
              <a:ea typeface="+mj-ea"/>
            </a:endParaRPr>
          </a:p>
          <a:p>
            <a:pPr marL="514350" indent="-514350">
              <a:lnSpc>
                <a:spcPct val="150000"/>
              </a:lnSpc>
              <a:spcBef>
                <a:spcPct val="0"/>
              </a:spcBef>
              <a:buFont typeface="黑体" panose="02010609060101010101" pitchFamily="2" charset="-122"/>
              <a:buAutoNum type="arabicPeriod"/>
              <a:defRPr/>
            </a:pPr>
            <a:r>
              <a:rPr lang="zh-CN" altLang="en-US" b="0" dirty="0">
                <a:latin typeface="+mj-ea"/>
                <a:ea typeface="+mj-ea"/>
              </a:rPr>
              <a:t>人体组织结构的重要成分</a:t>
            </a:r>
            <a:endParaRPr lang="en-US" altLang="zh-CN" b="0" dirty="0">
              <a:latin typeface="+mj-ea"/>
              <a:ea typeface="+mj-ea"/>
            </a:endParaRPr>
          </a:p>
          <a:p>
            <a:pPr marL="514350" indent="-514350">
              <a:lnSpc>
                <a:spcPct val="150000"/>
              </a:lnSpc>
              <a:spcBef>
                <a:spcPct val="0"/>
              </a:spcBef>
              <a:buFont typeface="黑体" panose="02010609060101010101" pitchFamily="2" charset="-122"/>
              <a:buAutoNum type="arabicPeriod"/>
              <a:defRPr/>
            </a:pPr>
            <a:r>
              <a:rPr lang="zh-CN" altLang="en-US" b="0" dirty="0">
                <a:latin typeface="+mj-ea"/>
                <a:ea typeface="+mj-ea"/>
              </a:rPr>
              <a:t>作为碳源，转变为其它含碳化合物</a:t>
            </a:r>
            <a:endParaRPr lang="en-US" altLang="zh-CN" b="0" dirty="0">
              <a:latin typeface="+mj-ea"/>
              <a:ea typeface="+mj-ea"/>
            </a:endParaRPr>
          </a:p>
          <a:p>
            <a:pPr marL="514350" indent="-514350">
              <a:lnSpc>
                <a:spcPct val="150000"/>
              </a:lnSpc>
              <a:spcBef>
                <a:spcPct val="0"/>
              </a:spcBef>
              <a:buFont typeface="黑体" panose="02010609060101010101" pitchFamily="2" charset="-122"/>
              <a:buAutoNum type="arabicPeriod"/>
              <a:defRPr/>
            </a:pPr>
            <a:r>
              <a:rPr lang="zh-CN" altLang="en-US" b="0" dirty="0">
                <a:latin typeface="+mj-ea"/>
                <a:ea typeface="+mj-ea"/>
              </a:rPr>
              <a:t>作为细胞识别的信息分子</a:t>
            </a:r>
            <a:endParaRPr lang="zh-CN" altLang="en-US" b="0" dirty="0">
              <a:latin typeface="+mj-ea"/>
              <a:ea typeface="+mj-ea"/>
            </a:endParaRPr>
          </a:p>
        </p:txBody>
      </p:sp>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847850" y="1989138"/>
            <a:ext cx="7772400" cy="914400"/>
          </a:xfrm>
        </p:spPr>
        <p:txBody>
          <a:bodyPr/>
          <a:lstStyle/>
          <a:p>
            <a:pPr eaLnBrk="1" hangingPunct="1"/>
            <a:r>
              <a:rPr lang="zh-CN" altLang="en-US" sz="4400" b="1">
                <a:solidFill>
                  <a:srgbClr val="660033"/>
                </a:solidFill>
              </a:rPr>
              <a:t>第一节  糖的摄取和利用</a:t>
            </a:r>
            <a:endParaRPr lang="zh-CN" altLang="en-US" sz="4400" b="1">
              <a:solidFill>
                <a:srgbClr val="660033"/>
              </a:solidFill>
            </a:endParaRPr>
          </a:p>
        </p:txBody>
      </p:sp>
      <p:sp>
        <p:nvSpPr>
          <p:cNvPr id="38915" name="Rectangle 3"/>
          <p:cNvSpPr>
            <a:spLocks noChangeArrowheads="1"/>
          </p:cNvSpPr>
          <p:nvPr/>
        </p:nvSpPr>
        <p:spPr bwMode="auto">
          <a:xfrm>
            <a:off x="1847850" y="3141663"/>
            <a:ext cx="8280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b="0">
                <a:latin typeface="Arial" panose="020B0604020202020204" pitchFamily="34" charset="0"/>
                <a:ea typeface="宋体" panose="02010600030101010101" pitchFamily="2" charset="-122"/>
              </a:rPr>
              <a:t>Uptake and Utilization of Carbohydrates</a:t>
            </a:r>
            <a:endParaRPr kumimoji="1" lang="en-US" altLang="zh-CN" b="0">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bwMode="auto">
          <a:xfrm>
            <a:off x="3157539" y="431939"/>
            <a:ext cx="5508625" cy="707886"/>
          </a:xfrm>
        </p:spPr>
        <p:txBody>
          <a:bodyPr anchor="b">
            <a:spAutoFit/>
          </a:bodyPr>
          <a:lstStyle/>
          <a:p>
            <a:pPr algn="dist" eaLnBrk="1" hangingPunct="1"/>
            <a:r>
              <a:rPr lang="zh-CN" altLang="en-US" b="1">
                <a:latin typeface="楷体_GB2312" pitchFamily="49" charset="-122"/>
                <a:ea typeface="楷体_GB2312" pitchFamily="49" charset="-122"/>
              </a:rPr>
              <a:t>人类膳食中的常见糖类</a:t>
            </a:r>
            <a:endParaRPr lang="zh-CN" altLang="en-US" b="1">
              <a:latin typeface="楷体_GB2312" pitchFamily="49" charset="-122"/>
              <a:ea typeface="楷体_GB2312" pitchFamily="49" charset="-122"/>
            </a:endParaRPr>
          </a:p>
        </p:txBody>
      </p:sp>
      <p:sp>
        <p:nvSpPr>
          <p:cNvPr id="40963" name="Text Box 3"/>
          <p:cNvSpPr txBox="1">
            <a:spLocks noChangeArrowheads="1"/>
          </p:cNvSpPr>
          <p:nvPr/>
        </p:nvSpPr>
        <p:spPr bwMode="auto">
          <a:xfrm>
            <a:off x="2076450" y="3425826"/>
            <a:ext cx="2146300"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50000"/>
              </a:lnSpc>
              <a:spcBef>
                <a:spcPct val="50000"/>
              </a:spcBef>
              <a:buClrTx/>
              <a:buSzTx/>
              <a:buFontTx/>
              <a:buNone/>
            </a:pPr>
            <a:r>
              <a:rPr kumimoji="1" lang="zh-CN" altLang="en-US" b="0">
                <a:latin typeface="楷体_GB2312" pitchFamily="49" charset="-122"/>
              </a:rPr>
              <a:t>葡萄糖</a:t>
            </a:r>
            <a:r>
              <a:rPr kumimoji="1" lang="zh-CN" altLang="en-GB" b="0">
                <a:latin typeface="楷体_GB2312" pitchFamily="49" charset="-122"/>
              </a:rPr>
              <a:t>*</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果　糖</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半乳糖</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甘露糖</a:t>
            </a:r>
            <a:endParaRPr kumimoji="1" lang="zh-CN" altLang="en-US" b="0">
              <a:latin typeface="楷体_GB2312" pitchFamily="49" charset="-122"/>
            </a:endParaRPr>
          </a:p>
        </p:txBody>
      </p:sp>
      <p:sp>
        <p:nvSpPr>
          <p:cNvPr id="40964" name="Text Box 4"/>
          <p:cNvSpPr txBox="1">
            <a:spLocks noChangeArrowheads="1"/>
          </p:cNvSpPr>
          <p:nvPr/>
        </p:nvSpPr>
        <p:spPr bwMode="auto">
          <a:xfrm>
            <a:off x="4332288" y="3443288"/>
            <a:ext cx="165735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50000"/>
              </a:lnSpc>
              <a:spcBef>
                <a:spcPct val="50000"/>
              </a:spcBef>
              <a:buClrTx/>
              <a:buSzTx/>
              <a:buFontTx/>
              <a:buNone/>
            </a:pPr>
            <a:r>
              <a:rPr kumimoji="1" lang="zh-CN" altLang="en-US" b="0">
                <a:latin typeface="楷体_GB2312" pitchFamily="49" charset="-122"/>
              </a:rPr>
              <a:t>蔗糖</a:t>
            </a:r>
            <a:r>
              <a:rPr kumimoji="1" lang="zh-CN" altLang="en-GB" b="0">
                <a:latin typeface="楷体_GB2312" pitchFamily="49" charset="-122"/>
              </a:rPr>
              <a:t>*</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乳糖</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麦芽糖</a:t>
            </a:r>
            <a:endParaRPr kumimoji="1" lang="zh-CN" altLang="en-US" b="0">
              <a:latin typeface="楷体_GB2312" pitchFamily="49" charset="-122"/>
            </a:endParaRPr>
          </a:p>
        </p:txBody>
      </p:sp>
      <p:sp>
        <p:nvSpPr>
          <p:cNvPr id="40965" name="Text Box 5"/>
          <p:cNvSpPr txBox="1">
            <a:spLocks noChangeArrowheads="1"/>
          </p:cNvSpPr>
          <p:nvPr/>
        </p:nvSpPr>
        <p:spPr bwMode="auto">
          <a:xfrm>
            <a:off x="6275389" y="2997201"/>
            <a:ext cx="1951037"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50000"/>
              </a:lnSpc>
              <a:spcBef>
                <a:spcPct val="50000"/>
              </a:spcBef>
              <a:buClrTx/>
              <a:buSzTx/>
              <a:buFontTx/>
              <a:buNone/>
            </a:pPr>
            <a:r>
              <a:rPr kumimoji="1" lang="zh-CN" altLang="en-US" b="0">
                <a:solidFill>
                  <a:schemeClr val="tx2"/>
                </a:solidFill>
                <a:latin typeface="楷体_GB2312" pitchFamily="49" charset="-122"/>
              </a:rPr>
              <a:t>能吸收类</a:t>
            </a:r>
            <a:endParaRPr kumimoji="1" lang="zh-CN" altLang="en-US" b="0">
              <a:solidFill>
                <a:schemeClr val="tx2"/>
              </a:solidFill>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淀粉</a:t>
            </a:r>
            <a:r>
              <a:rPr kumimoji="1" lang="zh-CN" altLang="en-GB" b="0">
                <a:latin typeface="楷体_GB2312" pitchFamily="49" charset="-122"/>
              </a:rPr>
              <a:t>*</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糊精</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糖原</a:t>
            </a:r>
            <a:r>
              <a:rPr kumimoji="1" lang="zh-CN" altLang="en-GB" b="0">
                <a:latin typeface="楷体_GB2312" pitchFamily="49" charset="-122"/>
              </a:rPr>
              <a:t>*</a:t>
            </a:r>
            <a:endParaRPr kumimoji="1" lang="zh-CN" altLang="en-US" b="0">
              <a:latin typeface="楷体_GB2312" pitchFamily="49" charset="-122"/>
            </a:endParaRPr>
          </a:p>
        </p:txBody>
      </p:sp>
      <p:sp>
        <p:nvSpPr>
          <p:cNvPr id="40966" name="Text Box 6"/>
          <p:cNvSpPr txBox="1">
            <a:spLocks noChangeArrowheads="1"/>
          </p:cNvSpPr>
          <p:nvPr/>
        </p:nvSpPr>
        <p:spPr bwMode="auto">
          <a:xfrm>
            <a:off x="8240713" y="2979739"/>
            <a:ext cx="2438400" cy="234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50000"/>
              </a:lnSpc>
              <a:spcBef>
                <a:spcPct val="50000"/>
              </a:spcBef>
              <a:buClrTx/>
              <a:buSzTx/>
              <a:buFontTx/>
              <a:buNone/>
            </a:pPr>
            <a:r>
              <a:rPr kumimoji="1" lang="zh-CN" altLang="en-US" b="0">
                <a:solidFill>
                  <a:schemeClr val="tx2"/>
                </a:solidFill>
                <a:latin typeface="楷体_GB2312" pitchFamily="49" charset="-122"/>
              </a:rPr>
              <a:t>不能吸收类</a:t>
            </a:r>
            <a:endParaRPr kumimoji="1" lang="zh-CN" altLang="en-US" b="0">
              <a:solidFill>
                <a:schemeClr val="tx2"/>
              </a:solidFill>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纤维素</a:t>
            </a:r>
            <a:r>
              <a:rPr kumimoji="1" lang="zh-CN" altLang="en-GB" b="0">
                <a:latin typeface="楷体_GB2312" pitchFamily="49" charset="-122"/>
              </a:rPr>
              <a:t>*</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半纤维素</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木质素</a:t>
            </a:r>
            <a:endParaRPr kumimoji="1" lang="zh-CN" altLang="en-US" b="0">
              <a:latin typeface="楷体_GB2312" pitchFamily="49" charset="-122"/>
            </a:endParaRPr>
          </a:p>
          <a:p>
            <a:pPr eaLnBrk="1" hangingPunct="1">
              <a:lnSpc>
                <a:spcPct val="50000"/>
              </a:lnSpc>
              <a:spcBef>
                <a:spcPct val="50000"/>
              </a:spcBef>
              <a:buClrTx/>
              <a:buSzTx/>
              <a:buFontTx/>
              <a:buNone/>
            </a:pPr>
            <a:r>
              <a:rPr kumimoji="1" lang="zh-CN" altLang="en-US" b="0">
                <a:latin typeface="楷体_GB2312" pitchFamily="49" charset="-122"/>
              </a:rPr>
              <a:t>果胶类</a:t>
            </a:r>
            <a:r>
              <a:rPr kumimoji="1" lang="zh-CN" altLang="en-GB" b="0">
                <a:latin typeface="楷体_GB2312" pitchFamily="49" charset="-122"/>
              </a:rPr>
              <a:t>*</a:t>
            </a:r>
            <a:endParaRPr kumimoji="1" lang="zh-CN" altLang="en-US" b="0">
              <a:latin typeface="楷体_GB2312" pitchFamily="49" charset="-122"/>
            </a:endParaRPr>
          </a:p>
        </p:txBody>
      </p:sp>
      <p:sp>
        <p:nvSpPr>
          <p:cNvPr id="40967" name="Text Box 7"/>
          <p:cNvSpPr txBox="1">
            <a:spLocks noChangeArrowheads="1"/>
          </p:cNvSpPr>
          <p:nvPr/>
        </p:nvSpPr>
        <p:spPr bwMode="auto">
          <a:xfrm>
            <a:off x="2135188" y="2155826"/>
            <a:ext cx="8839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50000"/>
              </a:lnSpc>
              <a:spcBef>
                <a:spcPct val="50000"/>
              </a:spcBef>
              <a:buClrTx/>
              <a:buSzTx/>
              <a:buFontTx/>
              <a:buNone/>
            </a:pPr>
            <a:r>
              <a:rPr kumimoji="1" lang="zh-CN" altLang="en-US" b="0">
                <a:solidFill>
                  <a:srgbClr val="660033"/>
                </a:solidFill>
                <a:latin typeface="黑体" panose="02010609060101010101" pitchFamily="2" charset="-122"/>
                <a:ea typeface="黑体" panose="02010609060101010101" pitchFamily="2" charset="-122"/>
              </a:rPr>
              <a:t>单　糖　　双　糖　　　　多　　糖</a:t>
            </a:r>
            <a:endParaRPr kumimoji="1" lang="zh-CN" altLang="en-US" b="0">
              <a:solidFill>
                <a:srgbClr val="660033"/>
              </a:solidFill>
              <a:latin typeface="黑体" panose="02010609060101010101" pitchFamily="2" charset="-122"/>
              <a:ea typeface="黑体" panose="02010609060101010101" pitchFamily="2" charset="-122"/>
            </a:endParaRPr>
          </a:p>
        </p:txBody>
      </p:sp>
      <p:sp>
        <p:nvSpPr>
          <p:cNvPr id="40968" name="Line 8"/>
          <p:cNvSpPr>
            <a:spLocks noChangeShapeType="1"/>
          </p:cNvSpPr>
          <p:nvPr/>
        </p:nvSpPr>
        <p:spPr bwMode="auto">
          <a:xfrm>
            <a:off x="1847851" y="2636838"/>
            <a:ext cx="8532813"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zoom/>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8162" name="Picture 2" descr="淀粉2"/>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7176120" y="1707711"/>
            <a:ext cx="3313113" cy="2132012"/>
          </a:xfrm>
        </p:spPr>
      </p:pic>
      <p:pic>
        <p:nvPicPr>
          <p:cNvPr id="348163" name="Picture 3" descr="淀粉1"/>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624032" y="1676400"/>
            <a:ext cx="2806700" cy="2249488"/>
          </a:xfrm>
        </p:spPr>
      </p:pic>
      <p:sp>
        <p:nvSpPr>
          <p:cNvPr id="43012" name="Text Box 4"/>
          <p:cNvSpPr txBox="1">
            <a:spLocks noChangeArrowheads="1"/>
          </p:cNvSpPr>
          <p:nvPr/>
        </p:nvSpPr>
        <p:spPr bwMode="auto">
          <a:xfrm>
            <a:off x="2279650" y="401638"/>
            <a:ext cx="7920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a:solidFill>
                  <a:srgbClr val="660033"/>
                </a:solidFill>
                <a:latin typeface="华文楷体" panose="02010600040101010101" pitchFamily="2" charset="-122"/>
                <a:ea typeface="华文楷体" panose="02010600040101010101" pitchFamily="2" charset="-122"/>
              </a:rPr>
              <a:t>淀粉    是植物中葡萄糖的储存形式</a:t>
            </a:r>
            <a:endParaRPr kumimoji="1" lang="zh-CN" altLang="en-US" sz="3600">
              <a:solidFill>
                <a:srgbClr val="660033"/>
              </a:solidFill>
              <a:latin typeface="华文楷体" panose="02010600040101010101" pitchFamily="2" charset="-122"/>
              <a:ea typeface="华文楷体" panose="02010600040101010101" pitchFamily="2" charset="-122"/>
            </a:endParaRPr>
          </a:p>
        </p:txBody>
      </p:sp>
      <p:pic>
        <p:nvPicPr>
          <p:cNvPr id="348165" name="Picture 5" descr="未标题-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9239" y="3988947"/>
            <a:ext cx="4105275"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66" name="Line 6"/>
          <p:cNvSpPr>
            <a:spLocks noChangeShapeType="1"/>
          </p:cNvSpPr>
          <p:nvPr/>
        </p:nvSpPr>
        <p:spPr bwMode="auto">
          <a:xfrm>
            <a:off x="4007768" y="3051177"/>
            <a:ext cx="2591471" cy="522288"/>
          </a:xfrm>
          <a:prstGeom prst="line">
            <a:avLst/>
          </a:prstGeom>
          <a:noFill/>
          <a:ln w="38100">
            <a:solidFill>
              <a:schemeClr val="accent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167" name="Line 7"/>
          <p:cNvSpPr>
            <a:spLocks noChangeShapeType="1"/>
          </p:cNvSpPr>
          <p:nvPr/>
        </p:nvSpPr>
        <p:spPr bwMode="auto">
          <a:xfrm flipV="1">
            <a:off x="4007768" y="2492375"/>
            <a:ext cx="1510383" cy="409578"/>
          </a:xfrm>
          <a:prstGeom prst="line">
            <a:avLst/>
          </a:prstGeom>
          <a:noFill/>
          <a:ln w="9525">
            <a:solidFill>
              <a:schemeClr val="accent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168" name="Line 8"/>
          <p:cNvSpPr>
            <a:spLocks noChangeShapeType="1"/>
          </p:cNvSpPr>
          <p:nvPr/>
        </p:nvSpPr>
        <p:spPr bwMode="auto">
          <a:xfrm>
            <a:off x="3503613" y="2205039"/>
            <a:ext cx="2087562" cy="217487"/>
          </a:xfrm>
          <a:prstGeom prst="line">
            <a:avLst/>
          </a:prstGeom>
          <a:noFill/>
          <a:ln w="9525">
            <a:solidFill>
              <a:schemeClr val="accent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8169" name="Text Box 9"/>
          <p:cNvSpPr txBox="1">
            <a:spLocks noChangeArrowheads="1"/>
          </p:cNvSpPr>
          <p:nvPr/>
        </p:nvSpPr>
        <p:spPr bwMode="auto">
          <a:xfrm>
            <a:off x="5519739" y="2205038"/>
            <a:ext cx="12969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800">
                <a:solidFill>
                  <a:srgbClr val="C00000"/>
                </a:solidFill>
                <a:ea typeface="黑体" panose="02010609060101010101" pitchFamily="2" charset="-122"/>
              </a:rPr>
              <a:t>淀粉颗粒</a:t>
            </a:r>
            <a:endParaRPr kumimoji="1" lang="zh-CN" altLang="en-US" sz="1800">
              <a:solidFill>
                <a:srgbClr val="C00000"/>
              </a:solidFill>
              <a:ea typeface="黑体" panose="02010609060101010101" pitchFamily="2" charset="-122"/>
            </a:endParaRPr>
          </a:p>
        </p:txBody>
      </p:sp>
      <p:sp>
        <p:nvSpPr>
          <p:cNvPr id="348170" name="Line 10"/>
          <p:cNvSpPr>
            <a:spLocks noChangeShapeType="1"/>
          </p:cNvSpPr>
          <p:nvPr/>
        </p:nvSpPr>
        <p:spPr bwMode="auto">
          <a:xfrm flipH="1">
            <a:off x="9200163" y="3573465"/>
            <a:ext cx="144463" cy="748504"/>
          </a:xfrm>
          <a:prstGeom prst="line">
            <a:avLst/>
          </a:prstGeom>
          <a:noFill/>
          <a:ln w="57150">
            <a:solidFill>
              <a:schemeClr val="accent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3019" name="Rectangle 11"/>
          <p:cNvSpPr>
            <a:spLocks noChangeArrowheads="1"/>
          </p:cNvSpPr>
          <p:nvPr/>
        </p:nvSpPr>
        <p:spPr bwMode="auto">
          <a:xfrm>
            <a:off x="839416" y="4230689"/>
            <a:ext cx="51831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dirty="0">
                <a:solidFill>
                  <a:srgbClr val="660033"/>
                </a:solidFill>
                <a:latin typeface="Arial" panose="020B0604020202020204" pitchFamily="34" charset="0"/>
                <a:ea typeface="宋体" panose="02010600030101010101" pitchFamily="2" charset="-122"/>
              </a:rPr>
              <a:t>直链淀粉（</a:t>
            </a:r>
            <a:r>
              <a:rPr lang="en-US" altLang="zh-CN" sz="2400" dirty="0">
                <a:solidFill>
                  <a:srgbClr val="660033"/>
                </a:solidFill>
                <a:latin typeface="Arial" panose="020B0604020202020204" pitchFamily="34" charset="0"/>
                <a:ea typeface="宋体" panose="02010600030101010101" pitchFamily="2" charset="-122"/>
              </a:rPr>
              <a:t>amylose)</a:t>
            </a:r>
            <a:r>
              <a:rPr lang="zh-CN" altLang="en-US" sz="2400" dirty="0">
                <a:latin typeface="Arial" panose="020B0604020202020204" pitchFamily="34" charset="0"/>
                <a:ea typeface="宋体" panose="02010600030101010101" pitchFamily="2" charset="-122"/>
              </a:rPr>
              <a:t>： </a:t>
            </a:r>
            <a:r>
              <a:rPr lang="en-US" altLang="zh-CN" sz="2400" dirty="0">
                <a:latin typeface="Arial" panose="020B0604020202020204" pitchFamily="34" charset="0"/>
                <a:ea typeface="宋体" panose="02010600030101010101" pitchFamily="2" charset="-122"/>
              </a:rPr>
              <a:t>200~3000</a:t>
            </a:r>
            <a:r>
              <a:rPr lang="zh-CN" altLang="en-US" sz="2400" dirty="0">
                <a:latin typeface="Arial" panose="020B0604020202020204" pitchFamily="34" charset="0"/>
                <a:ea typeface="宋体" panose="02010600030101010101" pitchFamily="2" charset="-122"/>
              </a:rPr>
              <a:t>个葡萄糖以</a:t>
            </a:r>
            <a:r>
              <a:rPr lang="en-US" altLang="zh-CN" sz="2400" dirty="0">
                <a:solidFill>
                  <a:srgbClr val="C00000"/>
                </a:solidFill>
                <a:latin typeface="Arial" panose="020B0604020202020204" pitchFamily="34" charset="0"/>
                <a:ea typeface="宋体" panose="02010600030101010101" pitchFamily="2" charset="-122"/>
              </a:rPr>
              <a:t>α</a:t>
            </a:r>
            <a:r>
              <a:rPr lang="en-US" altLang="zh-CN" sz="2400" dirty="0">
                <a:solidFill>
                  <a:srgbClr val="0000CC"/>
                </a:solidFill>
                <a:latin typeface="Arial" panose="020B0604020202020204" pitchFamily="34" charset="0"/>
                <a:ea typeface="宋体" panose="02010600030101010101" pitchFamily="2" charset="-122"/>
              </a:rPr>
              <a:t>-1,4-</a:t>
            </a:r>
            <a:r>
              <a:rPr lang="zh-CN" altLang="en-US" sz="2400" dirty="0">
                <a:solidFill>
                  <a:srgbClr val="0000CC"/>
                </a:solidFill>
                <a:latin typeface="Arial" panose="020B0604020202020204" pitchFamily="34" charset="0"/>
                <a:ea typeface="宋体" panose="02010600030101010101" pitchFamily="2" charset="-122"/>
              </a:rPr>
              <a:t>糖苷键</a:t>
            </a:r>
            <a:r>
              <a:rPr lang="zh-CN" altLang="en-US" sz="2400" dirty="0">
                <a:latin typeface="Arial" panose="020B0604020202020204" pitchFamily="34" charset="0"/>
                <a:ea typeface="宋体" panose="02010600030101010101" pitchFamily="2" charset="-122"/>
              </a:rPr>
              <a:t>连接</a:t>
            </a:r>
            <a:endParaRPr lang="en-US" altLang="zh-CN" sz="2400" dirty="0">
              <a:latin typeface="Arial" panose="020B0604020202020204" pitchFamily="34" charset="0"/>
              <a:ea typeface="宋体" panose="02010600030101010101" pitchFamily="2" charset="-122"/>
            </a:endParaRPr>
          </a:p>
          <a:p>
            <a:pPr>
              <a:spcBef>
                <a:spcPct val="0"/>
              </a:spcBef>
              <a:buClrTx/>
              <a:buSzTx/>
              <a:buFontTx/>
              <a:buNone/>
            </a:pP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a:p>
            <a:pPr>
              <a:spcBef>
                <a:spcPct val="0"/>
              </a:spcBef>
              <a:buClrTx/>
              <a:buSzTx/>
              <a:buFontTx/>
              <a:buNone/>
            </a:pPr>
            <a:r>
              <a:rPr lang="zh-CN" altLang="en-US" sz="2400" dirty="0">
                <a:solidFill>
                  <a:srgbClr val="660033"/>
                </a:solidFill>
                <a:latin typeface="Arial" panose="020B0604020202020204" pitchFamily="34" charset="0"/>
                <a:ea typeface="宋体" panose="02010600030101010101" pitchFamily="2" charset="-122"/>
              </a:rPr>
              <a:t>支链淀粉</a:t>
            </a:r>
            <a:r>
              <a:rPr lang="en-US" altLang="zh-CN" sz="2400" dirty="0">
                <a:solidFill>
                  <a:srgbClr val="660033"/>
                </a:solidFill>
                <a:latin typeface="Arial" panose="020B0604020202020204" pitchFamily="34" charset="0"/>
                <a:ea typeface="宋体" panose="02010600030101010101" pitchFamily="2" charset="-122"/>
              </a:rPr>
              <a:t>(amylopectin)</a:t>
            </a:r>
            <a:r>
              <a:rPr lang="zh-CN" altLang="en-US" sz="2400" dirty="0">
                <a:latin typeface="Arial" panose="020B0604020202020204" pitchFamily="34" charset="0"/>
                <a:ea typeface="宋体" panose="02010600030101010101" pitchFamily="2" charset="-122"/>
              </a:rPr>
              <a:t>：</a:t>
            </a:r>
            <a:r>
              <a:rPr lang="en-US" altLang="zh-CN" sz="2400" dirty="0">
                <a:latin typeface="Arial" panose="020B0604020202020204" pitchFamily="34" charset="0"/>
                <a:ea typeface="宋体" panose="02010600030101010101" pitchFamily="2" charset="-122"/>
              </a:rPr>
              <a:t>600~6000</a:t>
            </a:r>
            <a:r>
              <a:rPr lang="zh-CN" altLang="en-US" sz="2400" dirty="0">
                <a:latin typeface="Arial" panose="020B0604020202020204" pitchFamily="34" charset="0"/>
                <a:ea typeface="宋体" panose="02010600030101010101" pitchFamily="2" charset="-122"/>
              </a:rPr>
              <a:t>个葡萄糖</a:t>
            </a:r>
            <a:endParaRPr lang="zh-CN" altLang="en-US" sz="2400" dirty="0">
              <a:latin typeface="Arial" panose="020B0604020202020204" pitchFamily="34" charset="0"/>
              <a:ea typeface="宋体" panose="02010600030101010101" pitchFamily="2" charset="-122"/>
            </a:endParaRPr>
          </a:p>
          <a:p>
            <a:pPr>
              <a:spcBef>
                <a:spcPct val="0"/>
              </a:spcBef>
              <a:buClrTx/>
              <a:buSzTx/>
              <a:buFontTx/>
              <a:buNone/>
            </a:pPr>
            <a:r>
              <a:rPr lang="zh-CN" altLang="en-US" sz="2400" dirty="0">
                <a:latin typeface="Arial" panose="020B0604020202020204" pitchFamily="34" charset="0"/>
                <a:ea typeface="宋体" panose="02010600030101010101" pitchFamily="2" charset="-122"/>
              </a:rPr>
              <a:t>以</a:t>
            </a:r>
            <a:r>
              <a:rPr lang="en-US" altLang="zh-CN" sz="2400" dirty="0">
                <a:solidFill>
                  <a:srgbClr val="C00000"/>
                </a:solidFill>
                <a:latin typeface="Arial" panose="020B0604020202020204" pitchFamily="34" charset="0"/>
                <a:ea typeface="宋体" panose="02010600030101010101" pitchFamily="2" charset="-122"/>
              </a:rPr>
              <a:t>α</a:t>
            </a:r>
            <a:r>
              <a:rPr lang="en-US" altLang="zh-CN" sz="2400" dirty="0">
                <a:solidFill>
                  <a:srgbClr val="0000CC"/>
                </a:solidFill>
                <a:latin typeface="Arial" panose="020B0604020202020204" pitchFamily="34" charset="0"/>
                <a:ea typeface="宋体" panose="02010600030101010101" pitchFamily="2" charset="-122"/>
              </a:rPr>
              <a:t>-1</a:t>
            </a:r>
            <a:r>
              <a:rPr lang="zh-CN" altLang="en-US" sz="2400" dirty="0">
                <a:solidFill>
                  <a:srgbClr val="0000CC"/>
                </a:solidFill>
                <a:latin typeface="Arial" panose="020B0604020202020204" pitchFamily="34" charset="0"/>
                <a:ea typeface="宋体" panose="02010600030101010101" pitchFamily="2" charset="-122"/>
              </a:rPr>
              <a:t>，</a:t>
            </a:r>
            <a:r>
              <a:rPr lang="en-US" altLang="zh-CN" sz="2400" dirty="0">
                <a:solidFill>
                  <a:srgbClr val="0000CC"/>
                </a:solidFill>
                <a:latin typeface="Arial" panose="020B0604020202020204" pitchFamily="34" charset="0"/>
                <a:ea typeface="宋体" panose="02010600030101010101" pitchFamily="2" charset="-122"/>
              </a:rPr>
              <a:t>4</a:t>
            </a:r>
            <a:r>
              <a:rPr lang="zh-CN" altLang="en-US" sz="2400" dirty="0">
                <a:latin typeface="Arial" panose="020B0604020202020204" pitchFamily="34" charset="0"/>
                <a:ea typeface="宋体" panose="02010600030101010101" pitchFamily="2" charset="-122"/>
              </a:rPr>
              <a:t>和</a:t>
            </a:r>
            <a:r>
              <a:rPr lang="en-US" altLang="zh-CN" sz="2400" dirty="0">
                <a:solidFill>
                  <a:srgbClr val="C00000"/>
                </a:solidFill>
                <a:latin typeface="Arial" panose="020B0604020202020204" pitchFamily="34" charset="0"/>
                <a:ea typeface="宋体" panose="02010600030101010101" pitchFamily="2" charset="-122"/>
              </a:rPr>
              <a:t>α</a:t>
            </a:r>
            <a:r>
              <a:rPr lang="en-US" altLang="zh-CN" sz="2400" dirty="0">
                <a:solidFill>
                  <a:srgbClr val="0000CC"/>
                </a:solidFill>
                <a:latin typeface="Arial" panose="020B0604020202020204" pitchFamily="34" charset="0"/>
                <a:ea typeface="宋体" panose="02010600030101010101" pitchFamily="2" charset="-122"/>
              </a:rPr>
              <a:t>-1</a:t>
            </a:r>
            <a:r>
              <a:rPr lang="zh-CN" altLang="en-US" sz="2400" dirty="0">
                <a:solidFill>
                  <a:srgbClr val="0000CC"/>
                </a:solidFill>
                <a:latin typeface="Arial" panose="020B0604020202020204" pitchFamily="34" charset="0"/>
                <a:ea typeface="宋体" panose="02010600030101010101" pitchFamily="2" charset="-122"/>
              </a:rPr>
              <a:t>，</a:t>
            </a:r>
            <a:r>
              <a:rPr lang="en-US" altLang="zh-CN" sz="2400" dirty="0">
                <a:solidFill>
                  <a:srgbClr val="0000CC"/>
                </a:solidFill>
                <a:latin typeface="Arial" panose="020B0604020202020204" pitchFamily="34" charset="0"/>
                <a:ea typeface="宋体" panose="02010600030101010101" pitchFamily="2" charset="-122"/>
              </a:rPr>
              <a:t>6</a:t>
            </a:r>
            <a:r>
              <a:rPr lang="zh-CN" altLang="en-US" sz="2400" dirty="0">
                <a:solidFill>
                  <a:srgbClr val="0000CC"/>
                </a:solidFill>
                <a:latin typeface="Arial" panose="020B0604020202020204" pitchFamily="34" charset="0"/>
                <a:ea typeface="宋体" panose="02010600030101010101" pitchFamily="2" charset="-122"/>
              </a:rPr>
              <a:t>糖苷键</a:t>
            </a:r>
            <a:r>
              <a:rPr lang="zh-CN" altLang="en-US" sz="2400" dirty="0">
                <a:latin typeface="Arial" panose="020B0604020202020204" pitchFamily="34" charset="0"/>
                <a:ea typeface="宋体" panose="02010600030101010101" pitchFamily="2" charset="-122"/>
              </a:rPr>
              <a:t>相连</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48163"/>
                                        </p:tgtEl>
                                        <p:attrNameLst>
                                          <p:attrName>style.visibility</p:attrName>
                                        </p:attrNameLst>
                                      </p:cBhvr>
                                      <p:to>
                                        <p:strVal val="visible"/>
                                      </p:to>
                                    </p:set>
                                    <p:animEffect transition="in" filter="randombar(horizontal)">
                                      <p:cBhvr>
                                        <p:cTn id="7" dur="500"/>
                                        <p:tgtEl>
                                          <p:spTgt spid="34816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48168"/>
                                        </p:tgtEl>
                                        <p:attrNameLst>
                                          <p:attrName>style.visibility</p:attrName>
                                        </p:attrNameLst>
                                      </p:cBhvr>
                                      <p:to>
                                        <p:strVal val="visible"/>
                                      </p:to>
                                    </p:set>
                                    <p:animEffect transition="in" filter="wipe(left)">
                                      <p:cBhvr>
                                        <p:cTn id="11" dur="500"/>
                                        <p:tgtEl>
                                          <p:spTgt spid="34816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48167"/>
                                        </p:tgtEl>
                                        <p:attrNameLst>
                                          <p:attrName>style.visibility</p:attrName>
                                        </p:attrNameLst>
                                      </p:cBhvr>
                                      <p:to>
                                        <p:strVal val="visible"/>
                                      </p:to>
                                    </p:set>
                                    <p:animEffect transition="in" filter="wipe(left)">
                                      <p:cBhvr>
                                        <p:cTn id="15" dur="500"/>
                                        <p:tgtEl>
                                          <p:spTgt spid="34816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48169"/>
                                        </p:tgtEl>
                                        <p:attrNameLst>
                                          <p:attrName>style.visibility</p:attrName>
                                        </p:attrNameLst>
                                      </p:cBhvr>
                                      <p:to>
                                        <p:strVal val="visible"/>
                                      </p:to>
                                    </p:set>
                                    <p:animEffect transition="in" filter="wipe(left)">
                                      <p:cBhvr>
                                        <p:cTn id="19" dur="500"/>
                                        <p:tgtEl>
                                          <p:spTgt spid="348169"/>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48166"/>
                                        </p:tgtEl>
                                        <p:attrNameLst>
                                          <p:attrName>style.visibility</p:attrName>
                                        </p:attrNameLst>
                                      </p:cBhvr>
                                      <p:to>
                                        <p:strVal val="visible"/>
                                      </p:to>
                                    </p:set>
                                    <p:animEffect transition="in" filter="wipe(left)">
                                      <p:cBhvr>
                                        <p:cTn id="23" dur="500"/>
                                        <p:tgtEl>
                                          <p:spTgt spid="348166"/>
                                        </p:tgtEl>
                                      </p:cBhvr>
                                    </p:animEffect>
                                  </p:childTnLst>
                                </p:cTn>
                              </p:par>
                            </p:childTnLst>
                          </p:cTn>
                        </p:par>
                        <p:par>
                          <p:cTn id="24" fill="hold">
                            <p:stCondLst>
                              <p:cond delay="2500"/>
                            </p:stCondLst>
                            <p:childTnLst>
                              <p:par>
                                <p:cTn id="25" presetID="1" presetClass="entr" presetSubtype="0" fill="hold" nodeType="afterEffect">
                                  <p:stCondLst>
                                    <p:cond delay="0"/>
                                  </p:stCondLst>
                                  <p:childTnLst>
                                    <p:set>
                                      <p:cBhvr>
                                        <p:cTn id="26" dur="1" fill="hold">
                                          <p:stCondLst>
                                            <p:cond delay="499"/>
                                          </p:stCondLst>
                                        </p:cTn>
                                        <p:tgtEl>
                                          <p:spTgt spid="348162"/>
                                        </p:tgtEl>
                                        <p:attrNameLst>
                                          <p:attrName>style.visibility</p:attrName>
                                        </p:attrNameLst>
                                      </p:cBhvr>
                                      <p:to>
                                        <p:strVal val="visible"/>
                                      </p:to>
                                    </p:set>
                                  </p:childTnLst>
                                </p:cTn>
                              </p:par>
                            </p:childTnLst>
                          </p:cTn>
                        </p:par>
                        <p:par>
                          <p:cTn id="27" fill="hold">
                            <p:stCondLst>
                              <p:cond delay="3000"/>
                            </p:stCondLst>
                            <p:childTnLst>
                              <p:par>
                                <p:cTn id="28" presetID="22" presetClass="entr" presetSubtype="1" fill="hold" nodeType="afterEffect">
                                  <p:stCondLst>
                                    <p:cond delay="0"/>
                                  </p:stCondLst>
                                  <p:childTnLst>
                                    <p:set>
                                      <p:cBhvr>
                                        <p:cTn id="29" dur="1" fill="hold">
                                          <p:stCondLst>
                                            <p:cond delay="0"/>
                                          </p:stCondLst>
                                        </p:cTn>
                                        <p:tgtEl>
                                          <p:spTgt spid="348170"/>
                                        </p:tgtEl>
                                        <p:attrNameLst>
                                          <p:attrName>style.visibility</p:attrName>
                                        </p:attrNameLst>
                                      </p:cBhvr>
                                      <p:to>
                                        <p:strVal val="visible"/>
                                      </p:to>
                                    </p:set>
                                    <p:animEffect transition="in" filter="wipe(up)">
                                      <p:cBhvr>
                                        <p:cTn id="30" dur="500"/>
                                        <p:tgtEl>
                                          <p:spTgt spid="348170"/>
                                        </p:tgtEl>
                                      </p:cBhvr>
                                    </p:animEffect>
                                  </p:childTnLst>
                                </p:cTn>
                              </p:par>
                            </p:childTnLst>
                          </p:cTn>
                        </p:par>
                        <p:par>
                          <p:cTn id="31" fill="hold">
                            <p:stCondLst>
                              <p:cond delay="3500"/>
                            </p:stCondLst>
                            <p:childTnLst>
                              <p:par>
                                <p:cTn id="32" presetID="5" presetClass="entr" presetSubtype="5" fill="hold" nodeType="afterEffect">
                                  <p:stCondLst>
                                    <p:cond delay="0"/>
                                  </p:stCondLst>
                                  <p:childTnLst>
                                    <p:set>
                                      <p:cBhvr>
                                        <p:cTn id="33" dur="1" fill="hold">
                                          <p:stCondLst>
                                            <p:cond delay="0"/>
                                          </p:stCondLst>
                                        </p:cTn>
                                        <p:tgtEl>
                                          <p:spTgt spid="348165"/>
                                        </p:tgtEl>
                                        <p:attrNameLst>
                                          <p:attrName>style.visibility</p:attrName>
                                        </p:attrNameLst>
                                      </p:cBhvr>
                                      <p:to>
                                        <p:strVal val="visible"/>
                                      </p:to>
                                    </p:set>
                                    <p:animEffect transition="in" filter="checkerboard(down)">
                                      <p:cBhvr>
                                        <p:cTn id="34" dur="500"/>
                                        <p:tgtEl>
                                          <p:spTgt spid="348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2076450" y="476251"/>
            <a:ext cx="8280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a:solidFill>
                  <a:srgbClr val="660033"/>
                </a:solidFill>
                <a:latin typeface="华文楷体" panose="02010600040101010101" pitchFamily="2" charset="-122"/>
                <a:ea typeface="华文楷体" panose="02010600040101010101" pitchFamily="2" charset="-122"/>
              </a:rPr>
              <a:t>  糖原   是动物体内葡萄糖的储存形式</a:t>
            </a:r>
            <a:endParaRPr kumimoji="1" lang="zh-CN" altLang="en-US" sz="3600">
              <a:solidFill>
                <a:srgbClr val="660033"/>
              </a:solidFill>
              <a:latin typeface="华文楷体" panose="02010600040101010101" pitchFamily="2" charset="-122"/>
              <a:ea typeface="华文楷体" panose="02010600040101010101" pitchFamily="2" charset="-122"/>
            </a:endParaRPr>
          </a:p>
        </p:txBody>
      </p:sp>
      <p:pic>
        <p:nvPicPr>
          <p:cNvPr id="351235" name="Picture 3" descr="1"/>
          <p:cNvPicPr>
            <a:picLocks noChangeAspect="1" noChangeArrowheads="1"/>
          </p:cNvPicPr>
          <p:nvPr/>
        </p:nvPicPr>
        <p:blipFill>
          <a:blip r:embed="rId1">
            <a:clrChange>
              <a:clrFrom>
                <a:srgbClr val="FCFFFF"/>
              </a:clrFrom>
              <a:clrTo>
                <a:srgbClr val="FCFFFF">
                  <a:alpha val="0"/>
                </a:srgbClr>
              </a:clrTo>
            </a:clrChange>
            <a:extLst>
              <a:ext uri="{28A0092B-C50C-407E-A947-70E740481C1C}">
                <a14:useLocalDpi xmlns:a14="http://schemas.microsoft.com/office/drawing/2010/main" val="0"/>
              </a:ext>
            </a:extLst>
          </a:blip>
          <a:srcRect l="4065" t="7129" r="17613" b="2037"/>
          <a:stretch>
            <a:fillRect/>
          </a:stretch>
        </p:blipFill>
        <p:spPr bwMode="auto">
          <a:xfrm>
            <a:off x="1703512" y="1633346"/>
            <a:ext cx="2663651" cy="389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Rectangle 4"/>
          <p:cNvSpPr>
            <a:spLocks noChangeArrowheads="1"/>
          </p:cNvSpPr>
          <p:nvPr/>
        </p:nvSpPr>
        <p:spPr bwMode="auto">
          <a:xfrm>
            <a:off x="5447928" y="1659731"/>
            <a:ext cx="5184576"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dirty="0">
                <a:solidFill>
                  <a:srgbClr val="000000"/>
                </a:solidFill>
                <a:latin typeface="Arial" panose="020B0604020202020204" pitchFamily="34" charset="0"/>
                <a:ea typeface="宋体" panose="02010600030101010101" pitchFamily="2" charset="-122"/>
              </a:rPr>
              <a:t>含有</a:t>
            </a:r>
            <a:r>
              <a:rPr lang="en-US" altLang="zh-CN" sz="2800" dirty="0">
                <a:solidFill>
                  <a:srgbClr val="000000"/>
                </a:solidFill>
                <a:latin typeface="Arial" panose="020B0604020202020204" pitchFamily="34" charset="0"/>
                <a:ea typeface="宋体" panose="02010600030101010101" pitchFamily="2" charset="-122"/>
              </a:rPr>
              <a:t>α-1</a:t>
            </a:r>
            <a:r>
              <a:rPr lang="zh-CN" altLang="en-US" sz="2800" dirty="0">
                <a:solidFill>
                  <a:srgbClr val="000000"/>
                </a:solidFill>
                <a:latin typeface="Arial" panose="020B0604020202020204" pitchFamily="34" charset="0"/>
                <a:ea typeface="宋体" panose="02010600030101010101" pitchFamily="2" charset="-122"/>
              </a:rPr>
              <a:t>，</a:t>
            </a:r>
            <a:r>
              <a:rPr lang="en-US" altLang="zh-CN" sz="2800" dirty="0">
                <a:solidFill>
                  <a:srgbClr val="000000"/>
                </a:solidFill>
                <a:latin typeface="Arial" panose="020B0604020202020204" pitchFamily="34" charset="0"/>
                <a:ea typeface="宋体" panose="02010600030101010101" pitchFamily="2" charset="-122"/>
              </a:rPr>
              <a:t>4</a:t>
            </a:r>
            <a:r>
              <a:rPr lang="zh-CN" altLang="en-US" sz="2800" dirty="0">
                <a:solidFill>
                  <a:srgbClr val="000000"/>
                </a:solidFill>
                <a:latin typeface="Arial" panose="020B0604020202020204" pitchFamily="34" charset="0"/>
                <a:ea typeface="宋体" panose="02010600030101010101" pitchFamily="2" charset="-122"/>
              </a:rPr>
              <a:t>和</a:t>
            </a:r>
            <a:r>
              <a:rPr lang="en-US" altLang="zh-CN" sz="2800" dirty="0">
                <a:solidFill>
                  <a:srgbClr val="000000"/>
                </a:solidFill>
                <a:latin typeface="Arial" panose="020B0604020202020204" pitchFamily="34" charset="0"/>
                <a:ea typeface="宋体" panose="02010600030101010101" pitchFamily="2" charset="-122"/>
              </a:rPr>
              <a:t>α-1</a:t>
            </a:r>
            <a:r>
              <a:rPr lang="zh-CN" altLang="en-US" sz="2800" dirty="0">
                <a:solidFill>
                  <a:srgbClr val="000000"/>
                </a:solidFill>
                <a:latin typeface="Arial" panose="020B0604020202020204" pitchFamily="34" charset="0"/>
                <a:ea typeface="宋体" panose="02010600030101010101" pitchFamily="2" charset="-122"/>
              </a:rPr>
              <a:t>，</a:t>
            </a:r>
            <a:r>
              <a:rPr lang="en-US" altLang="zh-CN" sz="2800" dirty="0">
                <a:solidFill>
                  <a:srgbClr val="000000"/>
                </a:solidFill>
                <a:latin typeface="Arial" panose="020B0604020202020204" pitchFamily="34" charset="0"/>
                <a:ea typeface="宋体" panose="02010600030101010101" pitchFamily="2" charset="-122"/>
              </a:rPr>
              <a:t>6</a:t>
            </a:r>
            <a:r>
              <a:rPr lang="zh-CN" altLang="en-US" sz="2800" dirty="0">
                <a:solidFill>
                  <a:srgbClr val="000000"/>
                </a:solidFill>
                <a:latin typeface="Arial" panose="020B0604020202020204" pitchFamily="34" charset="0"/>
                <a:ea typeface="宋体" panose="02010600030101010101" pitchFamily="2" charset="-122"/>
              </a:rPr>
              <a:t>糖苷键</a:t>
            </a:r>
            <a:endParaRPr lang="en-US" altLang="zh-CN" sz="2800" dirty="0">
              <a:solidFill>
                <a:srgbClr val="000000"/>
              </a:solidFill>
              <a:latin typeface="Arial" panose="020B0604020202020204" pitchFamily="34" charset="0"/>
              <a:ea typeface="宋体" panose="02010600030101010101" pitchFamily="2" charset="-122"/>
            </a:endParaRPr>
          </a:p>
          <a:p>
            <a:pPr>
              <a:spcBef>
                <a:spcPct val="0"/>
              </a:spcBef>
              <a:buClrTx/>
              <a:buSzTx/>
              <a:buFontTx/>
              <a:buNone/>
            </a:pPr>
            <a:endParaRPr lang="en-US" altLang="zh-CN" sz="2800" dirty="0">
              <a:solidFill>
                <a:srgbClr val="660033"/>
              </a:solidFill>
              <a:latin typeface="Arial" panose="020B0604020202020204" pitchFamily="34" charset="0"/>
              <a:ea typeface="宋体" panose="02010600030101010101" pitchFamily="2" charset="-122"/>
            </a:endParaRPr>
          </a:p>
          <a:p>
            <a:pPr>
              <a:spcBef>
                <a:spcPct val="0"/>
              </a:spcBef>
              <a:buClrTx/>
              <a:buSzTx/>
              <a:buFontTx/>
              <a:buNone/>
            </a:pPr>
            <a:r>
              <a:rPr lang="zh-CN" altLang="en-US" sz="2800" dirty="0">
                <a:solidFill>
                  <a:srgbClr val="660033"/>
                </a:solidFill>
                <a:latin typeface="Arial" panose="020B0604020202020204" pitchFamily="34" charset="0"/>
                <a:ea typeface="宋体" panose="02010600030101010101" pitchFamily="2" charset="-122"/>
              </a:rPr>
              <a:t>其侧链较支链淀粉多、密、短，即非还原端更多。</a:t>
            </a:r>
            <a:endParaRPr lang="en-US" altLang="zh-CN" sz="2800" dirty="0">
              <a:solidFill>
                <a:srgbClr val="660033"/>
              </a:solidFill>
              <a:latin typeface="Arial" panose="020B0604020202020204" pitchFamily="34" charset="0"/>
              <a:ea typeface="宋体" panose="02010600030101010101" pitchFamily="2" charset="-122"/>
            </a:endParaRPr>
          </a:p>
        </p:txBody>
      </p:sp>
      <p:sp>
        <p:nvSpPr>
          <p:cNvPr id="6" name="文本框 5"/>
          <p:cNvSpPr txBox="1"/>
          <p:nvPr/>
        </p:nvSpPr>
        <p:spPr>
          <a:xfrm>
            <a:off x="5303912" y="3789040"/>
            <a:ext cx="5578736" cy="1949060"/>
          </a:xfrm>
          <a:prstGeom prst="rect">
            <a:avLst/>
          </a:prstGeom>
          <a:noFill/>
        </p:spPr>
        <p:txBody>
          <a:bodyPr wrap="square">
            <a:spAutoFit/>
          </a:bodyPr>
          <a:lstStyle/>
          <a:p>
            <a:pPr>
              <a:lnSpc>
                <a:spcPct val="120000"/>
              </a:lnSpc>
            </a:pPr>
            <a:r>
              <a:rPr lang="zh-CN" altLang="en-US" sz="2600" b="0" dirty="0">
                <a:latin typeface="+mj-ea"/>
                <a:ea typeface="+mj-ea"/>
              </a:rPr>
              <a:t>淀粉或糖原的分支中，其</a:t>
            </a:r>
            <a:r>
              <a:rPr lang="zh-CN" altLang="en-US" sz="2600" b="0" dirty="0">
                <a:solidFill>
                  <a:srgbClr val="0000CC"/>
                </a:solidFill>
                <a:latin typeface="+mj-ea"/>
                <a:ea typeface="+mj-ea"/>
              </a:rPr>
              <a:t>葡萄糖残基</a:t>
            </a:r>
            <a:r>
              <a:rPr lang="en-US" altLang="zh-CN" sz="2600" b="0" dirty="0">
                <a:solidFill>
                  <a:srgbClr val="0000CC"/>
                </a:solidFill>
                <a:latin typeface="+mj-ea"/>
                <a:ea typeface="+mj-ea"/>
              </a:rPr>
              <a:t>C1</a:t>
            </a:r>
            <a:r>
              <a:rPr lang="zh-CN" altLang="en-US" sz="2600" b="0" dirty="0">
                <a:solidFill>
                  <a:srgbClr val="0000CC"/>
                </a:solidFill>
                <a:latin typeface="+mj-ea"/>
                <a:ea typeface="+mj-ea"/>
              </a:rPr>
              <a:t>上</a:t>
            </a:r>
            <a:r>
              <a:rPr lang="zh-CN" altLang="en-US" sz="2600" b="0" dirty="0">
                <a:latin typeface="+mj-ea"/>
                <a:ea typeface="+mj-ea"/>
              </a:rPr>
              <a:t>仍保留半缩醛羟基的一端称为还原末端，</a:t>
            </a:r>
            <a:r>
              <a:rPr lang="zh-CN" altLang="en-US" sz="2600" b="0" dirty="0">
                <a:solidFill>
                  <a:srgbClr val="0000CC"/>
                </a:solidFill>
                <a:latin typeface="+mj-ea"/>
                <a:ea typeface="+mj-ea"/>
              </a:rPr>
              <a:t>不再存在半缩醛羟基的一端称为非还原端</a:t>
            </a:r>
            <a:r>
              <a:rPr lang="zh-CN" altLang="en-US" sz="2600" b="0" dirty="0">
                <a:latin typeface="+mj-ea"/>
                <a:ea typeface="+mj-ea"/>
              </a:rPr>
              <a:t>，即每条糖链的末端。 </a:t>
            </a:r>
            <a:endParaRPr lang="en-US" altLang="zh-CN" sz="2600" b="0" dirty="0">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51235"/>
                                        </p:tgtEl>
                                        <p:attrNameLst>
                                          <p:attrName>style.visibility</p:attrName>
                                        </p:attrNameLst>
                                      </p:cBhvr>
                                      <p:to>
                                        <p:strVal val="visible"/>
                                      </p:to>
                                    </p:set>
                                    <p:animEffect transition="in" filter="wipe(up)">
                                      <p:cBhvr>
                                        <p:cTn id="7" dur="500"/>
                                        <p:tgtEl>
                                          <p:spTgt spid="35123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a:xfrm>
            <a:off x="2371725" y="549276"/>
            <a:ext cx="7391400" cy="563563"/>
          </a:xfrm>
        </p:spPr>
        <p:txBody>
          <a:bodyPr/>
          <a:lstStyle/>
          <a:p>
            <a:r>
              <a:rPr lang="zh-CN" altLang="en-US"/>
              <a:t>半缩醛或半缩酮的生成</a:t>
            </a:r>
            <a:endParaRPr lang="zh-CN" altLang="en-US"/>
          </a:p>
        </p:txBody>
      </p:sp>
      <p:pic>
        <p:nvPicPr>
          <p:cNvPr id="4915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95489" y="1722439"/>
            <a:ext cx="8142287" cy="393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标题 1"/>
          <p:cNvSpPr>
            <a:spLocks noGrp="1" noChangeArrowheads="1"/>
          </p:cNvSpPr>
          <p:nvPr>
            <p:ph type="title" idx="4294967295"/>
          </p:nvPr>
        </p:nvSpPr>
        <p:spPr>
          <a:xfrm>
            <a:off x="1524001" y="719138"/>
            <a:ext cx="3800475" cy="563562"/>
          </a:xfrm>
        </p:spPr>
        <p:txBody>
          <a:bodyPr/>
          <a:lstStyle/>
          <a:p>
            <a:r>
              <a:rPr lang="zh-CN" altLang="en-US"/>
              <a:t>葡萄糖成环</a:t>
            </a:r>
            <a:endParaRPr lang="zh-CN" altLang="en-US"/>
          </a:p>
        </p:txBody>
      </p:sp>
      <p:grpSp>
        <p:nvGrpSpPr>
          <p:cNvPr id="51203" name="组合 2"/>
          <p:cNvGrpSpPr/>
          <p:nvPr/>
        </p:nvGrpSpPr>
        <p:grpSpPr bwMode="auto">
          <a:xfrm>
            <a:off x="5886451" y="188913"/>
            <a:ext cx="4752975" cy="6418262"/>
            <a:chOff x="3563938" y="115888"/>
            <a:chExt cx="4752478" cy="6418262"/>
          </a:xfrm>
        </p:grpSpPr>
        <p:pic>
          <p:nvPicPr>
            <p:cNvPr id="5120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563938" y="115888"/>
              <a:ext cx="4608512" cy="641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6" name="矩形 1"/>
            <p:cNvSpPr>
              <a:spLocks noChangeArrowheads="1"/>
            </p:cNvSpPr>
            <p:nvPr/>
          </p:nvSpPr>
          <p:spPr bwMode="auto">
            <a:xfrm>
              <a:off x="7308304" y="836712"/>
              <a:ext cx="1008112" cy="792088"/>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grpSp>
      <p:sp>
        <p:nvSpPr>
          <p:cNvPr id="4" name="矩形 3"/>
          <p:cNvSpPr>
            <a:spLocks noChangeArrowheads="1"/>
          </p:cNvSpPr>
          <p:nvPr/>
        </p:nvSpPr>
        <p:spPr bwMode="auto">
          <a:xfrm>
            <a:off x="983433" y="2132856"/>
            <a:ext cx="4759038" cy="1865312"/>
          </a:xfrm>
          <a:prstGeom prst="rect">
            <a:avLst/>
          </a:prstGeom>
          <a:noFill/>
          <a:ln w="9525">
            <a:solidFill>
              <a:srgbClr val="0070C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20000"/>
              </a:lnSpc>
              <a:spcBef>
                <a:spcPct val="0"/>
              </a:spcBef>
              <a:buClrTx/>
              <a:buSzTx/>
              <a:buFontTx/>
              <a:buNone/>
            </a:pPr>
            <a:r>
              <a:rPr lang="zh-CN" altLang="en-US" sz="2400" b="0" dirty="0">
                <a:latin typeface="微软雅黑" panose="020B0503020204020204" pitchFamily="34" charset="-122"/>
                <a:ea typeface="微软雅黑" panose="020B0503020204020204" pitchFamily="34" charset="-122"/>
              </a:rPr>
              <a:t>寡糖或多糖的糖链中，还没有生成糖苷键的</a:t>
            </a:r>
            <a:r>
              <a:rPr lang="en-US" altLang="zh-CN" sz="2400" b="0" dirty="0">
                <a:solidFill>
                  <a:srgbClr val="0000CC"/>
                </a:solidFill>
                <a:latin typeface="微软雅黑" panose="020B0503020204020204" pitchFamily="34" charset="-122"/>
                <a:ea typeface="微软雅黑" panose="020B0503020204020204" pitchFamily="34" charset="-122"/>
              </a:rPr>
              <a:t>C1</a:t>
            </a:r>
            <a:r>
              <a:rPr lang="zh-CN" altLang="en-US" sz="2400" b="0" dirty="0">
                <a:solidFill>
                  <a:srgbClr val="0000CC"/>
                </a:solidFill>
                <a:latin typeface="微软雅黑" panose="020B0503020204020204" pitchFamily="34" charset="-122"/>
                <a:ea typeface="微软雅黑" panose="020B0503020204020204" pitchFamily="34" charset="-122"/>
              </a:rPr>
              <a:t>这一端被称为还原端</a:t>
            </a:r>
            <a:r>
              <a:rPr lang="zh-CN" altLang="en-US" sz="2400" b="0" dirty="0">
                <a:latin typeface="微软雅黑" panose="020B0503020204020204" pitchFamily="34" charset="-122"/>
                <a:ea typeface="微软雅黑" panose="020B0503020204020204" pitchFamily="34" charset="-122"/>
              </a:rPr>
              <a:t>（即仍保留有半缩醛羟基）， 而</a:t>
            </a:r>
            <a:r>
              <a:rPr lang="zh-CN" altLang="en-US" sz="2400" b="0" dirty="0">
                <a:solidFill>
                  <a:srgbClr val="0000CC"/>
                </a:solidFill>
                <a:latin typeface="微软雅黑" panose="020B0503020204020204" pitchFamily="34" charset="-122"/>
                <a:ea typeface="微软雅黑" panose="020B0503020204020204" pitchFamily="34" charset="-122"/>
              </a:rPr>
              <a:t>另一端则为非还原端</a:t>
            </a:r>
            <a:r>
              <a:rPr lang="zh-CN" altLang="en-US" sz="2400" b="0" dirty="0">
                <a:latin typeface="微软雅黑" panose="020B0503020204020204" pitchFamily="34" charset="-122"/>
                <a:ea typeface="微软雅黑" panose="020B0503020204020204" pitchFamily="34" charset="-122"/>
              </a:rPr>
              <a:t>。 </a:t>
            </a:r>
            <a:endParaRPr lang="en-US" altLang="zh-CN"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392264" y="461369"/>
            <a:ext cx="7407472" cy="809625"/>
          </a:xfrm>
        </p:spPr>
        <p:txBody>
          <a:bodyPr/>
          <a:lstStyle/>
          <a:p>
            <a:pPr eaLnBrk="1" hangingPunct="1"/>
            <a:r>
              <a:rPr lang="zh-CN" altLang="en-US" dirty="0">
                <a:solidFill>
                  <a:srgbClr val="660033"/>
                </a:solidFill>
              </a:rPr>
              <a:t>一、糖消化后以单体形式吸收</a:t>
            </a:r>
            <a:endParaRPr lang="zh-CN" altLang="en-US" dirty="0">
              <a:solidFill>
                <a:srgbClr val="660033"/>
              </a:solidFill>
            </a:endParaRPr>
          </a:p>
        </p:txBody>
      </p:sp>
      <p:sp>
        <p:nvSpPr>
          <p:cNvPr id="53251" name="Text Box 3"/>
          <p:cNvSpPr txBox="1">
            <a:spLocks noChangeArrowheads="1"/>
          </p:cNvSpPr>
          <p:nvPr/>
        </p:nvSpPr>
        <p:spPr bwMode="auto">
          <a:xfrm>
            <a:off x="4338639" y="1490664"/>
            <a:ext cx="57372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b="0"/>
              <a:t>淀粉</a:t>
            </a:r>
            <a:r>
              <a:rPr kumimoji="1" lang="en-US" altLang="zh-CN" b="0"/>
              <a:t>(</a:t>
            </a:r>
            <a:r>
              <a:rPr kumimoji="1" lang="zh-CN" altLang="en-US" sz="2400" b="0"/>
              <a:t>约</a:t>
            </a:r>
            <a:r>
              <a:rPr kumimoji="1" lang="en-US" altLang="zh-CN" sz="2400" b="0"/>
              <a:t>20%</a:t>
            </a:r>
            <a:r>
              <a:rPr kumimoji="1" lang="zh-CN" altLang="en-US" sz="2400" b="0"/>
              <a:t>直链淀粉</a:t>
            </a:r>
            <a:r>
              <a:rPr kumimoji="1" lang="en-US" altLang="zh-CN" sz="2400" b="0"/>
              <a:t>+80%</a:t>
            </a:r>
            <a:r>
              <a:rPr kumimoji="1" lang="zh-CN" altLang="en-US" sz="2400" b="0"/>
              <a:t>支链淀粉）</a:t>
            </a:r>
            <a:endParaRPr kumimoji="1" lang="zh-CN" altLang="en-US" sz="2400" b="0"/>
          </a:p>
        </p:txBody>
      </p:sp>
      <p:sp>
        <p:nvSpPr>
          <p:cNvPr id="53252" name="Line 4"/>
          <p:cNvSpPr>
            <a:spLocks noChangeShapeType="1"/>
          </p:cNvSpPr>
          <p:nvPr/>
        </p:nvSpPr>
        <p:spPr bwMode="auto">
          <a:xfrm>
            <a:off x="5511800" y="2179639"/>
            <a:ext cx="0" cy="606425"/>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b="0"/>
          </a:p>
        </p:txBody>
      </p:sp>
      <p:sp>
        <p:nvSpPr>
          <p:cNvPr id="53253" name="Line 5"/>
          <p:cNvSpPr>
            <a:spLocks noChangeShapeType="1"/>
          </p:cNvSpPr>
          <p:nvPr/>
        </p:nvSpPr>
        <p:spPr bwMode="auto">
          <a:xfrm>
            <a:off x="3198814" y="2786063"/>
            <a:ext cx="2312987"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b="0"/>
          </a:p>
        </p:txBody>
      </p:sp>
      <p:sp>
        <p:nvSpPr>
          <p:cNvPr id="53254" name="Line 6"/>
          <p:cNvSpPr>
            <a:spLocks noChangeShapeType="1"/>
          </p:cNvSpPr>
          <p:nvPr/>
        </p:nvSpPr>
        <p:spPr bwMode="auto">
          <a:xfrm>
            <a:off x="5511800" y="2787650"/>
            <a:ext cx="2389188"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b="0"/>
          </a:p>
        </p:txBody>
      </p:sp>
      <p:sp>
        <p:nvSpPr>
          <p:cNvPr id="53255" name="Line 7"/>
          <p:cNvSpPr>
            <a:spLocks noChangeShapeType="1"/>
          </p:cNvSpPr>
          <p:nvPr/>
        </p:nvSpPr>
        <p:spPr bwMode="auto">
          <a:xfrm>
            <a:off x="3209925" y="2805113"/>
            <a:ext cx="0" cy="37306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b="0"/>
          </a:p>
        </p:txBody>
      </p:sp>
      <p:sp>
        <p:nvSpPr>
          <p:cNvPr id="53256" name="Line 8"/>
          <p:cNvSpPr>
            <a:spLocks noChangeShapeType="1"/>
          </p:cNvSpPr>
          <p:nvPr/>
        </p:nvSpPr>
        <p:spPr bwMode="auto">
          <a:xfrm>
            <a:off x="7875588" y="2790826"/>
            <a:ext cx="0" cy="373063"/>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b="0"/>
          </a:p>
        </p:txBody>
      </p:sp>
      <p:sp>
        <p:nvSpPr>
          <p:cNvPr id="53257" name="Text Box 9"/>
          <p:cNvSpPr txBox="1">
            <a:spLocks noChangeArrowheads="1"/>
          </p:cNvSpPr>
          <p:nvPr/>
        </p:nvSpPr>
        <p:spPr bwMode="auto">
          <a:xfrm>
            <a:off x="5505450" y="2217738"/>
            <a:ext cx="3887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400" b="0">
                <a:solidFill>
                  <a:srgbClr val="000099"/>
                </a:solidFill>
                <a:latin typeface="楷体_GB2312" pitchFamily="49" charset="-122"/>
              </a:rPr>
              <a:t>α-</a:t>
            </a:r>
            <a:r>
              <a:rPr kumimoji="1" lang="zh-CN" altLang="en-US" sz="2400" b="0">
                <a:solidFill>
                  <a:srgbClr val="000099"/>
                </a:solidFill>
                <a:latin typeface="楷体_GB2312" pitchFamily="49" charset="-122"/>
              </a:rPr>
              <a:t>淀粉酶（唾液、胰液）</a:t>
            </a:r>
            <a:endParaRPr kumimoji="1" lang="zh-CN" altLang="en-US" sz="2400" b="0">
              <a:solidFill>
                <a:srgbClr val="000099"/>
              </a:solidFill>
              <a:latin typeface="楷体_GB2312" pitchFamily="49" charset="-122"/>
            </a:endParaRPr>
          </a:p>
        </p:txBody>
      </p:sp>
      <p:sp>
        <p:nvSpPr>
          <p:cNvPr id="53258" name="Text Box 10"/>
          <p:cNvSpPr txBox="1">
            <a:spLocks noChangeArrowheads="1"/>
          </p:cNvSpPr>
          <p:nvPr/>
        </p:nvSpPr>
        <p:spPr bwMode="auto">
          <a:xfrm>
            <a:off x="1676400" y="3159125"/>
            <a:ext cx="39893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t>麦芽糖 + 麦芽三糖</a:t>
            </a:r>
            <a:endParaRPr kumimoji="1" lang="zh-CN" altLang="en-US" sz="2800" b="0"/>
          </a:p>
        </p:txBody>
      </p:sp>
      <p:sp>
        <p:nvSpPr>
          <p:cNvPr id="53259" name="Line 11"/>
          <p:cNvSpPr>
            <a:spLocks noChangeShapeType="1"/>
          </p:cNvSpPr>
          <p:nvPr/>
        </p:nvSpPr>
        <p:spPr bwMode="auto">
          <a:xfrm>
            <a:off x="3228975" y="3738563"/>
            <a:ext cx="0" cy="124936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b="0"/>
          </a:p>
        </p:txBody>
      </p:sp>
      <p:sp>
        <p:nvSpPr>
          <p:cNvPr id="53260" name="Text Box 12"/>
          <p:cNvSpPr txBox="1">
            <a:spLocks noChangeArrowheads="1"/>
          </p:cNvSpPr>
          <p:nvPr/>
        </p:nvSpPr>
        <p:spPr bwMode="auto">
          <a:xfrm>
            <a:off x="3167064" y="3768726"/>
            <a:ext cx="2498725" cy="941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buClr>
                <a:schemeClr val="accent1"/>
              </a:buClr>
              <a:buSzPct val="90000"/>
              <a:buFont typeface="Monotype Sorts" charset="2"/>
              <a:buNone/>
            </a:pPr>
            <a:r>
              <a:rPr kumimoji="1" lang="en-US" altLang="zh-CN" sz="2400" b="0" dirty="0">
                <a:solidFill>
                  <a:srgbClr val="000099"/>
                </a:solidFill>
                <a:latin typeface="楷体_GB2312" pitchFamily="49" charset="-122"/>
              </a:rPr>
              <a:t>  α-</a:t>
            </a:r>
            <a:r>
              <a:rPr kumimoji="1" lang="zh-CN" altLang="en-US" sz="2400" b="0" dirty="0">
                <a:solidFill>
                  <a:srgbClr val="000099"/>
                </a:solidFill>
                <a:latin typeface="楷体_GB2312" pitchFamily="49" charset="-122"/>
              </a:rPr>
              <a:t>葡萄糖苷酶 （包括麦芽糖酶）</a:t>
            </a:r>
            <a:endParaRPr kumimoji="1" lang="zh-CN" altLang="en-US" sz="2400" b="0" dirty="0">
              <a:solidFill>
                <a:srgbClr val="000099"/>
              </a:solidFill>
              <a:latin typeface="楷体_GB2312" pitchFamily="49" charset="-122"/>
            </a:endParaRPr>
          </a:p>
        </p:txBody>
      </p:sp>
      <p:sp>
        <p:nvSpPr>
          <p:cNvPr id="53261" name="Text Box 13"/>
          <p:cNvSpPr txBox="1">
            <a:spLocks noChangeArrowheads="1"/>
          </p:cNvSpPr>
          <p:nvPr/>
        </p:nvSpPr>
        <p:spPr bwMode="auto">
          <a:xfrm>
            <a:off x="2586037" y="5034886"/>
            <a:ext cx="18303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葡萄糖</a:t>
            </a:r>
            <a:endParaRPr kumimoji="1" lang="zh-CN" altLang="en-US" sz="2800" b="0" dirty="0"/>
          </a:p>
        </p:txBody>
      </p:sp>
      <p:sp>
        <p:nvSpPr>
          <p:cNvPr id="53262" name="Text Box 14"/>
          <p:cNvSpPr txBox="1">
            <a:spLocks noChangeArrowheads="1"/>
          </p:cNvSpPr>
          <p:nvPr/>
        </p:nvSpPr>
        <p:spPr bwMode="auto">
          <a:xfrm>
            <a:off x="5608638" y="3121025"/>
            <a:ext cx="48307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dirty="0">
                <a:latin typeface="楷体_GB2312" pitchFamily="49" charset="-122"/>
              </a:rPr>
              <a:t>α-</a:t>
            </a:r>
            <a:r>
              <a:rPr kumimoji="1" lang="zh-CN" altLang="en-US" sz="2800" b="0" dirty="0">
                <a:latin typeface="楷体_GB2312" pitchFamily="49" charset="-122"/>
              </a:rPr>
              <a:t>极限糊精+异麦芽糖</a:t>
            </a:r>
            <a:endParaRPr kumimoji="1" lang="zh-CN" altLang="en-US" sz="2800" b="0" dirty="0">
              <a:latin typeface="楷体_GB2312" pitchFamily="49" charset="-122"/>
            </a:endParaRPr>
          </a:p>
        </p:txBody>
      </p:sp>
      <p:sp>
        <p:nvSpPr>
          <p:cNvPr id="53263" name="Line 15"/>
          <p:cNvSpPr>
            <a:spLocks noChangeShapeType="1"/>
          </p:cNvSpPr>
          <p:nvPr/>
        </p:nvSpPr>
        <p:spPr bwMode="auto">
          <a:xfrm>
            <a:off x="7870825" y="3795713"/>
            <a:ext cx="0" cy="124936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b="0"/>
          </a:p>
        </p:txBody>
      </p:sp>
      <p:sp>
        <p:nvSpPr>
          <p:cNvPr id="53264" name="Text Box 16"/>
          <p:cNvSpPr txBox="1">
            <a:spLocks noChangeArrowheads="1"/>
          </p:cNvSpPr>
          <p:nvPr/>
        </p:nvSpPr>
        <p:spPr bwMode="auto">
          <a:xfrm>
            <a:off x="7233691" y="5053013"/>
            <a:ext cx="19780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葡萄糖</a:t>
            </a:r>
            <a:endParaRPr kumimoji="1" lang="zh-CN" altLang="en-US" sz="2800" b="0" dirty="0"/>
          </a:p>
        </p:txBody>
      </p:sp>
      <p:sp>
        <p:nvSpPr>
          <p:cNvPr id="53265" name="Text Box 17"/>
          <p:cNvSpPr txBox="1">
            <a:spLocks noChangeArrowheads="1"/>
          </p:cNvSpPr>
          <p:nvPr/>
        </p:nvSpPr>
        <p:spPr bwMode="auto">
          <a:xfrm>
            <a:off x="7735888" y="3787776"/>
            <a:ext cx="2963862" cy="1015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120000"/>
              </a:lnSpc>
              <a:buClr>
                <a:schemeClr val="accent1"/>
              </a:buClr>
              <a:buSzPct val="90000"/>
              <a:buFont typeface="Monotype Sorts" charset="2"/>
              <a:buNone/>
            </a:pPr>
            <a:r>
              <a:rPr kumimoji="1" lang="en-US" altLang="zh-CN" sz="2400" b="0" dirty="0">
                <a:solidFill>
                  <a:srgbClr val="000099"/>
                </a:solidFill>
                <a:latin typeface="楷体_GB2312" pitchFamily="49" charset="-122"/>
              </a:rPr>
              <a:t>α-</a:t>
            </a:r>
            <a:r>
              <a:rPr kumimoji="1" lang="zh-CN" altLang="en-US" sz="2400" b="0" dirty="0">
                <a:solidFill>
                  <a:srgbClr val="000099"/>
                </a:solidFill>
                <a:latin typeface="楷体_GB2312" pitchFamily="49" charset="-122"/>
              </a:rPr>
              <a:t>临界糊精酶</a:t>
            </a:r>
            <a:endParaRPr kumimoji="1" lang="zh-CN" altLang="en-US" sz="2400" b="0" dirty="0">
              <a:solidFill>
                <a:srgbClr val="000099"/>
              </a:solidFill>
              <a:latin typeface="楷体_GB2312" pitchFamily="49" charset="-122"/>
            </a:endParaRPr>
          </a:p>
          <a:p>
            <a:pPr algn="ctr" eaLnBrk="1" hangingPunct="1">
              <a:lnSpc>
                <a:spcPct val="120000"/>
              </a:lnSpc>
              <a:buClr>
                <a:schemeClr val="accent1"/>
              </a:buClr>
              <a:buSzPct val="90000"/>
              <a:buFont typeface="Monotype Sorts" charset="2"/>
              <a:buNone/>
            </a:pPr>
            <a:r>
              <a:rPr kumimoji="1" lang="zh-CN" altLang="en-US" sz="2400" b="0" dirty="0">
                <a:solidFill>
                  <a:srgbClr val="000099"/>
                </a:solidFill>
                <a:latin typeface="楷体_GB2312" pitchFamily="49" charset="-122"/>
              </a:rPr>
              <a:t>（包括异麦芽糖酶）</a:t>
            </a:r>
            <a:endParaRPr kumimoji="1" lang="zh-CN" altLang="en-US" sz="2400" b="0" dirty="0">
              <a:solidFill>
                <a:srgbClr val="000099"/>
              </a:solidFill>
              <a:latin typeface="楷体_GB2312" pitchFamily="49" charset="-122"/>
            </a:endParaRPr>
          </a:p>
        </p:txBody>
      </p:sp>
      <p:sp>
        <p:nvSpPr>
          <p:cNvPr id="53266" name="Text Box 18"/>
          <p:cNvSpPr txBox="1">
            <a:spLocks noChangeArrowheads="1"/>
          </p:cNvSpPr>
          <p:nvPr/>
        </p:nvSpPr>
        <p:spPr bwMode="auto">
          <a:xfrm>
            <a:off x="2630824" y="5898081"/>
            <a:ext cx="72405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消化产物还有少量半乳糖、果糖等单糖</a:t>
            </a:r>
            <a:endParaRPr kumimoji="1" lang="zh-CN" altLang="en-US" sz="2800" b="0" dirty="0"/>
          </a:p>
        </p:txBody>
      </p:sp>
    </p:spTree>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2064072" y="980728"/>
            <a:ext cx="8280400" cy="1284006"/>
          </a:xfrm>
          <a:prstGeom prst="rect">
            <a:avLst/>
          </a:prstGeom>
          <a:noFill/>
          <a:ln>
            <a:noFill/>
          </a:ln>
        </p:spPr>
        <p:txBody>
          <a:bodyPr>
            <a:spAutoFit/>
          </a:bodyPr>
          <a:lstStyle>
            <a:lvl1pPr indent="7131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50000"/>
              </a:lnSpc>
              <a:spcBef>
                <a:spcPct val="0"/>
              </a:spcBef>
              <a:buClrTx/>
              <a:buSzTx/>
              <a:defRPr/>
            </a:pPr>
            <a:r>
              <a:rPr kumimoji="1" lang="zh-CN" altLang="en-US" sz="2800" b="0" dirty="0">
                <a:latin typeface="黑体" panose="02010609060101010101" pitchFamily="2" charset="-122"/>
                <a:ea typeface="黑体" panose="02010609060101010101" pitchFamily="2" charset="-122"/>
              </a:rPr>
              <a:t>人体</a:t>
            </a:r>
            <a:r>
              <a:rPr kumimoji="1" lang="zh-CN" altLang="en-US" sz="2800" b="0" dirty="0">
                <a:solidFill>
                  <a:srgbClr val="0000FF"/>
                </a:solidFill>
                <a:latin typeface="黑体" panose="02010609060101010101" pitchFamily="2" charset="-122"/>
                <a:ea typeface="黑体" panose="02010609060101010101" pitchFamily="2" charset="-122"/>
              </a:rPr>
              <a:t>无</a:t>
            </a:r>
            <a:r>
              <a:rPr kumimoji="1" lang="el-GR" altLang="zh-CN" sz="2800" b="0" dirty="0">
                <a:solidFill>
                  <a:srgbClr val="0000CC"/>
                </a:solidFill>
                <a:latin typeface="黑体" panose="02010609060101010101" pitchFamily="2" charset="-122"/>
                <a:ea typeface="黑体" panose="02010609060101010101" pitchFamily="2" charset="-122"/>
                <a:sym typeface="Symbol" panose="05050102010706020507" pitchFamily="18" charset="2"/>
              </a:rPr>
              <a:t></a:t>
            </a:r>
            <a:r>
              <a:rPr kumimoji="1" lang="zh-CN" altLang="en-US" sz="2800" b="0" dirty="0">
                <a:solidFill>
                  <a:srgbClr val="0000CC"/>
                </a:solidFill>
                <a:latin typeface="黑体" panose="02010609060101010101" pitchFamily="2" charset="-122"/>
                <a:ea typeface="黑体" panose="02010609060101010101" pitchFamily="2" charset="-122"/>
              </a:rPr>
              <a:t>-糖苷酶</a:t>
            </a:r>
            <a:r>
              <a:rPr kumimoji="1" lang="zh-CN" altLang="en-US" sz="2800" b="0" dirty="0">
                <a:latin typeface="黑体" panose="02010609060101010101" pitchFamily="2" charset="-122"/>
                <a:ea typeface="黑体" panose="02010609060101010101" pitchFamily="2" charset="-122"/>
              </a:rPr>
              <a:t>而不能分解利用</a:t>
            </a:r>
            <a:r>
              <a:rPr kumimoji="1" lang="zh-CN" altLang="en-US" sz="2800" b="0" dirty="0">
                <a:solidFill>
                  <a:srgbClr val="0000FF"/>
                </a:solidFill>
                <a:latin typeface="黑体" panose="02010609060101010101" pitchFamily="2" charset="-122"/>
                <a:ea typeface="黑体" panose="02010609060101010101" pitchFamily="2" charset="-122"/>
              </a:rPr>
              <a:t>膳食纤维</a:t>
            </a:r>
            <a:r>
              <a:rPr kumimoji="1" lang="zh-CN" altLang="en-US" sz="2800" b="0" dirty="0">
                <a:latin typeface="黑体" panose="02010609060101010101" pitchFamily="2" charset="-122"/>
                <a:ea typeface="黑体" panose="02010609060101010101" pitchFamily="2" charset="-122"/>
              </a:rPr>
              <a:t>，但膳食纤维有多种功能，为健康所必需：</a:t>
            </a:r>
            <a:endParaRPr kumimoji="1" lang="zh-CN" altLang="el-GR" sz="2800" b="0" dirty="0">
              <a:latin typeface="黑体" panose="02010609060101010101" pitchFamily="2" charset="-122"/>
              <a:ea typeface="黑体" panose="02010609060101010101" pitchFamily="2" charset="-122"/>
            </a:endParaRPr>
          </a:p>
        </p:txBody>
      </p:sp>
      <p:pic>
        <p:nvPicPr>
          <p:cNvPr id="5529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47756" y="2781300"/>
            <a:ext cx="8371305" cy="345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2451101" y="404814"/>
            <a:ext cx="7718425" cy="809625"/>
          </a:xfrm>
          <a:prstGeom prst="rect">
            <a:avLst/>
          </a:prstGeom>
        </p:spPr>
        <p:txBody>
          <a:bodyPr/>
          <a:lstStyle/>
          <a:p>
            <a:pPr algn="ctr" eaLnBrk="1" hangingPunct="1">
              <a:defRPr/>
            </a:pPr>
            <a:r>
              <a:rPr lang="zh-CN" altLang="en-US" sz="3600" b="0" kern="0" dirty="0">
                <a:solidFill>
                  <a:srgbClr val="660066"/>
                </a:solidFill>
                <a:latin typeface="+mj-lt"/>
                <a:ea typeface="+mj-ea"/>
                <a:cs typeface="+mj-cs"/>
              </a:rPr>
              <a:t>乳糖不耐受（</a:t>
            </a:r>
            <a:r>
              <a:rPr lang="en-US" altLang="zh-CN" sz="3600" dirty="0">
                <a:solidFill>
                  <a:srgbClr val="660066"/>
                </a:solidFill>
              </a:rPr>
              <a:t>lactose intolerance</a:t>
            </a:r>
            <a:r>
              <a:rPr lang="zh-CN" altLang="en-US" sz="3600" dirty="0">
                <a:solidFill>
                  <a:srgbClr val="660066"/>
                </a:solidFill>
              </a:rPr>
              <a:t>）</a:t>
            </a:r>
            <a:endParaRPr lang="zh-CN" altLang="en-US" sz="3600" b="0" kern="0" dirty="0">
              <a:solidFill>
                <a:srgbClr val="660066"/>
              </a:solidFill>
              <a:latin typeface="+mj-lt"/>
              <a:ea typeface="+mj-ea"/>
              <a:cs typeface="+mj-cs"/>
            </a:endParaRPr>
          </a:p>
        </p:txBody>
      </p:sp>
      <p:sp>
        <p:nvSpPr>
          <p:cNvPr id="57347" name="Text Box 2"/>
          <p:cNvSpPr txBox="1">
            <a:spLocks noChangeArrowheads="1"/>
          </p:cNvSpPr>
          <p:nvPr/>
        </p:nvSpPr>
        <p:spPr bwMode="auto">
          <a:xfrm>
            <a:off x="1013160" y="1529848"/>
            <a:ext cx="10411431"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ClrTx/>
              <a:buSzTx/>
              <a:buFontTx/>
              <a:buNone/>
            </a:pPr>
            <a:r>
              <a:rPr kumimoji="1" lang="zh-CN" altLang="en-US" sz="2400" b="0" dirty="0">
                <a:latin typeface="微软雅黑" panose="020B0503020204020204" pitchFamily="34" charset="-122"/>
                <a:ea typeface="微软雅黑" panose="020B0503020204020204" pitchFamily="34" charset="-122"/>
              </a:rPr>
              <a:t>肠粘膜细胞含有乳糖酶，可水解乳糖。有些人由于</a:t>
            </a:r>
            <a:r>
              <a:rPr kumimoji="1" lang="zh-CN" altLang="en-US" sz="2400" b="0" dirty="0">
                <a:solidFill>
                  <a:srgbClr val="C00000"/>
                </a:solidFill>
                <a:latin typeface="微软雅黑" panose="020B0503020204020204" pitchFamily="34" charset="-122"/>
                <a:ea typeface="微软雅黑" panose="020B0503020204020204" pitchFamily="34" charset="-122"/>
              </a:rPr>
              <a:t>缺乏乳糖酶</a:t>
            </a:r>
            <a:r>
              <a:rPr kumimoji="1" lang="zh-CN" altLang="en-US" sz="2400" b="0" dirty="0">
                <a:latin typeface="微软雅黑" panose="020B0503020204020204" pitchFamily="34" charset="-122"/>
                <a:ea typeface="微软雅黑" panose="020B0503020204020204" pitchFamily="34" charset="-122"/>
              </a:rPr>
              <a:t>，在进食奶制品后产生</a:t>
            </a:r>
            <a:r>
              <a:rPr kumimoji="1" lang="zh-CN" altLang="en-US" sz="2400" b="0" dirty="0">
                <a:solidFill>
                  <a:srgbClr val="0000CC"/>
                </a:solidFill>
                <a:latin typeface="微软雅黑" panose="020B0503020204020204" pitchFamily="34" charset="-122"/>
                <a:ea typeface="微软雅黑" panose="020B0503020204020204" pitchFamily="34" charset="-122"/>
              </a:rPr>
              <a:t>腹胀、腹泻、腹痛等症状。</a:t>
            </a:r>
            <a:endParaRPr kumimoji="1" lang="en-US" altLang="zh-CN" sz="2400" b="0" dirty="0">
              <a:solidFill>
                <a:srgbClr val="0000CC"/>
              </a:solidFill>
              <a:latin typeface="微软雅黑" panose="020B0503020204020204" pitchFamily="34" charset="-122"/>
              <a:ea typeface="微软雅黑" panose="020B0503020204020204" pitchFamily="34" charset="-122"/>
            </a:endParaRPr>
          </a:p>
        </p:txBody>
      </p:sp>
      <p:pic>
        <p:nvPicPr>
          <p:cNvPr id="57348" name="图片 1"/>
          <p:cNvPicPr>
            <a:picLocks noChangeAspect="1"/>
          </p:cNvPicPr>
          <p:nvPr/>
        </p:nvPicPr>
        <p:blipFill>
          <a:blip r:embed="rId1">
            <a:extLst>
              <a:ext uri="{28A0092B-C50C-407E-A947-70E740481C1C}">
                <a14:useLocalDpi xmlns:a14="http://schemas.microsoft.com/office/drawing/2010/main" val="0"/>
              </a:ext>
            </a:extLst>
          </a:blip>
          <a:srcRect t="4279"/>
          <a:stretch>
            <a:fillRect/>
          </a:stretch>
        </p:blipFill>
        <p:spPr bwMode="auto">
          <a:xfrm>
            <a:off x="1158798" y="3140968"/>
            <a:ext cx="4684388" cy="3086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6303917" y="2783222"/>
            <a:ext cx="5408707" cy="934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20000"/>
              </a:lnSpc>
              <a:spcBef>
                <a:spcPct val="0"/>
              </a:spcBef>
              <a:buClrTx/>
              <a:buSzTx/>
              <a:buFontTx/>
              <a:buNone/>
            </a:pPr>
            <a:r>
              <a:rPr kumimoji="1" lang="zh-CN" altLang="en-US" sz="2400" b="0" dirty="0">
                <a:latin typeface="黑体" panose="02010609060101010101" pitchFamily="2" charset="-122"/>
                <a:ea typeface="黑体" panose="02010609060101010101" pitchFamily="2" charset="-122"/>
              </a:rPr>
              <a:t>约有</a:t>
            </a:r>
            <a:r>
              <a:rPr kumimoji="1" lang="en-US" altLang="zh-CN" sz="2400" b="0" dirty="0">
                <a:latin typeface="黑体" panose="02010609060101010101" pitchFamily="2" charset="-122"/>
                <a:ea typeface="黑体" panose="02010609060101010101" pitchFamily="2" charset="-122"/>
              </a:rPr>
              <a:t>20%</a:t>
            </a:r>
            <a:r>
              <a:rPr kumimoji="1" lang="zh-CN" altLang="en-US" sz="2400" b="0" dirty="0">
                <a:latin typeface="黑体" panose="02010609060101010101" pitchFamily="2" charset="-122"/>
                <a:ea typeface="黑体" panose="02010609060101010101" pitchFamily="2" charset="-122"/>
              </a:rPr>
              <a:t>到</a:t>
            </a:r>
            <a:r>
              <a:rPr kumimoji="1" lang="en-US" altLang="zh-CN" sz="2400" b="0" dirty="0">
                <a:latin typeface="黑体" panose="02010609060101010101" pitchFamily="2" charset="-122"/>
                <a:ea typeface="黑体" panose="02010609060101010101" pitchFamily="2" charset="-122"/>
              </a:rPr>
              <a:t>30%</a:t>
            </a:r>
            <a:r>
              <a:rPr kumimoji="1" lang="zh-CN" altLang="en-US" sz="2400" b="0" dirty="0">
                <a:latin typeface="黑体" panose="02010609060101010101" pitchFamily="2" charset="-122"/>
                <a:ea typeface="黑体" panose="02010609060101010101" pitchFamily="2" charset="-122"/>
              </a:rPr>
              <a:t>的东方人在断奶后</a:t>
            </a:r>
            <a:r>
              <a:rPr kumimoji="1" lang="en-US" altLang="zh-CN" sz="2400" b="0" dirty="0">
                <a:latin typeface="黑体" panose="02010609060101010101" pitchFamily="2" charset="-122"/>
                <a:ea typeface="黑体" panose="02010609060101010101" pitchFamily="2" charset="-122"/>
              </a:rPr>
              <a:t>4</a:t>
            </a:r>
            <a:r>
              <a:rPr kumimoji="1" lang="zh-CN" altLang="en-US" sz="2400" b="0" dirty="0">
                <a:latin typeface="黑体" panose="02010609060101010101" pitchFamily="2" charset="-122"/>
                <a:ea typeface="黑体" panose="02010609060101010101" pitchFamily="2" charset="-122"/>
              </a:rPr>
              <a:t>到</a:t>
            </a:r>
            <a:r>
              <a:rPr kumimoji="1" lang="en-US" altLang="zh-CN" sz="2400" b="0" dirty="0">
                <a:latin typeface="黑体" panose="02010609060101010101" pitchFamily="2" charset="-122"/>
                <a:ea typeface="黑体" panose="02010609060101010101" pitchFamily="2" charset="-122"/>
              </a:rPr>
              <a:t>5</a:t>
            </a:r>
            <a:r>
              <a:rPr kumimoji="1" lang="zh-CN" altLang="en-US" sz="2400" b="0" dirty="0">
                <a:latin typeface="黑体" panose="02010609060101010101" pitchFamily="2" charset="-122"/>
                <a:ea typeface="黑体" panose="02010609060101010101" pitchFamily="2" charset="-122"/>
              </a:rPr>
              <a:t>年内就发生乳糖不耐。</a:t>
            </a:r>
            <a:endParaRPr lang="zh-CN" altLang="en-US" sz="2400" dirty="0">
              <a:latin typeface="Arial" panose="020B0604020202020204" pitchFamily="34" charset="0"/>
              <a:ea typeface="宋体" panose="02010600030101010101" pitchFamily="2" charset="-122"/>
            </a:endParaRPr>
          </a:p>
        </p:txBody>
      </p:sp>
      <p:sp>
        <p:nvSpPr>
          <p:cNvPr id="6" name="矩形 5"/>
          <p:cNvSpPr>
            <a:spLocks noChangeArrowheads="1"/>
          </p:cNvSpPr>
          <p:nvPr/>
        </p:nvSpPr>
        <p:spPr bwMode="auto">
          <a:xfrm>
            <a:off x="6320157" y="3775530"/>
            <a:ext cx="4918140" cy="2677656"/>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spcBef>
                <a:spcPct val="0"/>
              </a:spcBef>
              <a:buClrTx/>
              <a:buSzTx/>
              <a:buFontTx/>
              <a:buNone/>
              <a:defRPr/>
            </a:pPr>
            <a:r>
              <a:rPr kumimoji="1" lang="zh-CN" altLang="en-US" sz="2400" b="0" dirty="0">
                <a:solidFill>
                  <a:srgbClr val="0000CC"/>
                </a:solidFill>
                <a:latin typeface="黑体" panose="02010609060101010101" pitchFamily="2" charset="-122"/>
                <a:ea typeface="黑体" panose="02010609060101010101" pitchFamily="2" charset="-122"/>
              </a:rPr>
              <a:t>解决办法</a:t>
            </a:r>
            <a:r>
              <a:rPr kumimoji="1" lang="zh-CN" altLang="en-US" sz="2400" b="0" dirty="0">
                <a:latin typeface="黑体" panose="02010609060101010101" pitchFamily="2" charset="-122"/>
                <a:ea typeface="黑体" panose="02010609060101010101" pitchFamily="2" charset="-122"/>
              </a:rPr>
              <a:t>：</a:t>
            </a:r>
            <a:endParaRPr kumimoji="1" lang="en-US" altLang="zh-CN" sz="2400" b="0" dirty="0">
              <a:latin typeface="黑体" panose="02010609060101010101" pitchFamily="2" charset="-122"/>
              <a:ea typeface="黑体" panose="02010609060101010101" pitchFamily="2" charset="-122"/>
            </a:endParaRPr>
          </a:p>
          <a:p>
            <a:pPr marL="342900" indent="-342900" algn="just" eaLnBrk="1" hangingPunct="1">
              <a:spcBef>
                <a:spcPct val="0"/>
              </a:spcBef>
              <a:buClrTx/>
              <a:buSzTx/>
              <a:defRPr/>
            </a:pPr>
            <a:r>
              <a:rPr kumimoji="1" lang="zh-CN" altLang="en-US" sz="2400" b="0" dirty="0">
                <a:latin typeface="黑体" panose="02010609060101010101" pitchFamily="2" charset="-122"/>
                <a:ea typeface="黑体" panose="02010609060101010101" pitchFamily="2" charset="-122"/>
              </a:rPr>
              <a:t>婴幼儿：无乳糖或低乳糖配方奶粉，乳糖酶。</a:t>
            </a:r>
            <a:endParaRPr kumimoji="1" lang="en-US" altLang="zh-CN" sz="2400" b="0" dirty="0">
              <a:latin typeface="黑体" panose="02010609060101010101" pitchFamily="2" charset="-122"/>
              <a:ea typeface="黑体" panose="02010609060101010101" pitchFamily="2" charset="-122"/>
            </a:endParaRPr>
          </a:p>
          <a:p>
            <a:pPr marL="342900" indent="-342900" algn="just" eaLnBrk="1" hangingPunct="1">
              <a:spcBef>
                <a:spcPct val="0"/>
              </a:spcBef>
              <a:buClrTx/>
              <a:buSzTx/>
              <a:defRPr/>
            </a:pPr>
            <a:endParaRPr kumimoji="1" lang="en-US" altLang="zh-CN" sz="2400" b="0" dirty="0">
              <a:latin typeface="黑体" panose="02010609060101010101" pitchFamily="2" charset="-122"/>
              <a:ea typeface="黑体" panose="02010609060101010101" pitchFamily="2" charset="-122"/>
            </a:endParaRPr>
          </a:p>
          <a:p>
            <a:pPr marL="342900" indent="-342900" algn="just" eaLnBrk="1" hangingPunct="1">
              <a:spcBef>
                <a:spcPct val="0"/>
              </a:spcBef>
              <a:buClrTx/>
              <a:buSzTx/>
              <a:defRPr/>
            </a:pPr>
            <a:r>
              <a:rPr kumimoji="1" lang="zh-CN" altLang="en-US" sz="2400" b="0" dirty="0">
                <a:latin typeface="黑体" panose="02010609060101010101" pitchFamily="2" charset="-122"/>
                <a:ea typeface="黑体" panose="02010609060101010101" pitchFamily="2" charset="-122"/>
              </a:rPr>
              <a:t>青少年及成人：　选择零乳糖或低乳糖牛奶；酸奶；少量喝奶开始，逐步增加。</a:t>
            </a:r>
            <a:endParaRPr kumimoji="1" lang="en-US" altLang="zh-CN" sz="2400" b="0" dirty="0">
              <a:latin typeface="黑体" panose="02010609060101010101" pitchFamily="2" charset="-122"/>
              <a:ea typeface="黑体" panose="0201060906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2423592" y="1628775"/>
            <a:ext cx="54102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000" b="0" dirty="0"/>
              <a:t>1.  吸收部位：</a:t>
            </a:r>
            <a:r>
              <a:rPr kumimoji="1" lang="zh-CN" altLang="en-US" sz="3000" b="0" dirty="0">
                <a:solidFill>
                  <a:srgbClr val="000099"/>
                </a:solidFill>
              </a:rPr>
              <a:t>小肠上段</a:t>
            </a:r>
            <a:r>
              <a:rPr kumimoji="1" lang="zh-CN" altLang="en-US" sz="3000" b="0" dirty="0"/>
              <a:t>  </a:t>
            </a:r>
            <a:endParaRPr kumimoji="1" lang="zh-CN" altLang="en-US" sz="3000" b="0" dirty="0"/>
          </a:p>
        </p:txBody>
      </p:sp>
      <p:sp>
        <p:nvSpPr>
          <p:cNvPr id="139267" name="Text Box 3"/>
          <p:cNvSpPr txBox="1">
            <a:spLocks noChangeArrowheads="1"/>
          </p:cNvSpPr>
          <p:nvPr/>
        </p:nvSpPr>
        <p:spPr bwMode="auto">
          <a:xfrm>
            <a:off x="2423592" y="2581275"/>
            <a:ext cx="50292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000" b="0" dirty="0"/>
              <a:t>2.  吸收形式：</a:t>
            </a:r>
            <a:r>
              <a:rPr kumimoji="1" lang="zh-CN" altLang="en-US" sz="3000" b="0" dirty="0">
                <a:solidFill>
                  <a:srgbClr val="000099"/>
                </a:solidFill>
              </a:rPr>
              <a:t>单  糖</a:t>
            </a:r>
            <a:r>
              <a:rPr kumimoji="1" lang="zh-CN" altLang="en-US" sz="3000" b="0" dirty="0"/>
              <a:t>  </a:t>
            </a:r>
            <a:endParaRPr kumimoji="1" lang="zh-CN" altLang="en-US" sz="3000" b="0" dirty="0"/>
          </a:p>
        </p:txBody>
      </p:sp>
      <p:sp>
        <p:nvSpPr>
          <p:cNvPr id="59396" name="Rectangle 4"/>
          <p:cNvSpPr>
            <a:spLocks noChangeArrowheads="1"/>
          </p:cNvSpPr>
          <p:nvPr/>
        </p:nvSpPr>
        <p:spPr bwMode="auto">
          <a:xfrm>
            <a:off x="2063552" y="409576"/>
            <a:ext cx="777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4000" b="0" dirty="0">
                <a:solidFill>
                  <a:srgbClr val="660033"/>
                </a:solidFill>
                <a:latin typeface="Arial Black" panose="020B0A04020102020204" pitchFamily="34" charset="0"/>
                <a:ea typeface="黑体" panose="02010609060101010101" pitchFamily="2" charset="-122"/>
              </a:rPr>
              <a:t>二、糖吸收依赖转运蛋白</a:t>
            </a:r>
            <a:endParaRPr kumimoji="1" lang="zh-CN" altLang="en-US" sz="4000" b="0" dirty="0">
              <a:solidFill>
                <a:srgbClr val="660033"/>
              </a:solidFill>
              <a:latin typeface="Arial Black" panose="020B0A04020102020204" pitchFamily="34" charset="0"/>
              <a:ea typeface="黑体" panose="02010609060101010101" pitchFamily="2" charset="-122"/>
            </a:endParaRPr>
          </a:p>
        </p:txBody>
      </p:sp>
      <p:sp>
        <p:nvSpPr>
          <p:cNvPr id="139269" name="Text Box 5"/>
          <p:cNvSpPr txBox="1">
            <a:spLocks noChangeArrowheads="1"/>
          </p:cNvSpPr>
          <p:nvPr/>
        </p:nvSpPr>
        <p:spPr bwMode="auto">
          <a:xfrm>
            <a:off x="2433117" y="3494089"/>
            <a:ext cx="8137078" cy="3206519"/>
          </a:xfrm>
          <a:prstGeom prst="rect">
            <a:avLst/>
          </a:prstGeom>
          <a:noFill/>
          <a:ln>
            <a:noFill/>
          </a:ln>
        </p:spPr>
        <p:txBody>
          <a:bodyPr wrap="square">
            <a:spAutoFit/>
          </a:bodyPr>
          <a:lstStyle>
            <a:lvl1pPr marL="457200" indent="-4572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AutoNum type="arabicPeriod" startAt="3"/>
              <a:defRPr/>
            </a:pPr>
            <a:r>
              <a:rPr kumimoji="1" lang="zh-CN" altLang="en-US" sz="3000" b="0" dirty="0"/>
              <a:t>吸收机制：  </a:t>
            </a:r>
            <a:r>
              <a:rPr kumimoji="1" lang="zh-CN" altLang="en-US" sz="3000" dirty="0">
                <a:solidFill>
                  <a:srgbClr val="0000CC"/>
                </a:solidFill>
              </a:rPr>
              <a:t>主动吸收</a:t>
            </a:r>
            <a:endParaRPr kumimoji="1" lang="zh-CN" altLang="en-US" sz="3000" dirty="0">
              <a:solidFill>
                <a:srgbClr val="0000CC"/>
              </a:solidFill>
            </a:endParaRPr>
          </a:p>
          <a:p>
            <a:pPr marL="0" indent="0" eaLnBrk="1" hangingPunct="1">
              <a:lnSpc>
                <a:spcPct val="130000"/>
              </a:lnSpc>
              <a:spcBef>
                <a:spcPct val="0"/>
              </a:spcBef>
              <a:buClrTx/>
              <a:buSzTx/>
              <a:buNone/>
              <a:defRPr/>
            </a:pPr>
            <a:r>
              <a:rPr kumimoji="1" lang="en-US" altLang="zh-CN" sz="2800" b="0" dirty="0">
                <a:solidFill>
                  <a:srgbClr val="000099"/>
                </a:solidFill>
              </a:rPr>
              <a:t>     Na</a:t>
            </a:r>
            <a:r>
              <a:rPr kumimoji="1" lang="en-US" altLang="zh-CN" sz="2800" b="0" baseline="30000" dirty="0">
                <a:solidFill>
                  <a:srgbClr val="000099"/>
                </a:solidFill>
              </a:rPr>
              <a:t>+</a:t>
            </a:r>
            <a:r>
              <a:rPr kumimoji="1" lang="zh-CN" altLang="en-US" sz="2800" b="0" dirty="0">
                <a:solidFill>
                  <a:srgbClr val="000099"/>
                </a:solidFill>
              </a:rPr>
              <a:t>依赖型葡萄糖转运体（</a:t>
            </a:r>
            <a:r>
              <a:rPr kumimoji="1" lang="en-US" altLang="zh-CN" sz="2800" b="0" dirty="0">
                <a:solidFill>
                  <a:srgbClr val="000099"/>
                </a:solidFill>
              </a:rPr>
              <a:t>SGLT）</a:t>
            </a:r>
            <a:endParaRPr kumimoji="1" lang="en-US" altLang="zh-CN" sz="2800" b="0" dirty="0">
              <a:solidFill>
                <a:srgbClr val="000099"/>
              </a:solidFill>
            </a:endParaRPr>
          </a:p>
          <a:p>
            <a:pPr lvl="2" eaLnBrk="1" hangingPunct="1">
              <a:lnSpc>
                <a:spcPct val="130000"/>
              </a:lnSpc>
              <a:spcBef>
                <a:spcPct val="0"/>
              </a:spcBef>
              <a:buClrTx/>
              <a:buSzTx/>
              <a:buFontTx/>
              <a:buNone/>
              <a:defRPr/>
            </a:pPr>
            <a:r>
              <a:rPr kumimoji="1" lang="zh-CN" altLang="en-US" sz="2400" dirty="0">
                <a:solidFill>
                  <a:schemeClr val="tx1">
                    <a:lumMod val="95000"/>
                    <a:lumOff val="5000"/>
                  </a:schemeClr>
                </a:solidFill>
              </a:rPr>
              <a:t>逆葡萄糖浓度梯度</a:t>
            </a:r>
            <a:r>
              <a:rPr kumimoji="1" lang="zh-CN" altLang="en-US" sz="2400" b="0" dirty="0">
                <a:solidFill>
                  <a:schemeClr val="tx1">
                    <a:lumMod val="95000"/>
                    <a:lumOff val="5000"/>
                  </a:schemeClr>
                </a:solidFill>
              </a:rPr>
              <a:t>将其从肠腔转入小肠粘膜细胞</a:t>
            </a:r>
            <a:endParaRPr kumimoji="1" lang="en-US" altLang="zh-CN" sz="2400" b="0" dirty="0">
              <a:solidFill>
                <a:schemeClr val="tx1">
                  <a:lumMod val="95000"/>
                  <a:lumOff val="5000"/>
                </a:schemeClr>
              </a:solidFill>
            </a:endParaRPr>
          </a:p>
          <a:p>
            <a:pPr eaLnBrk="1" hangingPunct="1">
              <a:lnSpc>
                <a:spcPct val="130000"/>
              </a:lnSpc>
              <a:spcBef>
                <a:spcPct val="0"/>
              </a:spcBef>
              <a:buClrTx/>
              <a:buSzTx/>
              <a:buFontTx/>
              <a:buNone/>
              <a:defRPr/>
            </a:pPr>
            <a:r>
              <a:rPr kumimoji="1" lang="en-US" altLang="zh-CN" sz="2800" b="0" dirty="0">
                <a:solidFill>
                  <a:srgbClr val="000099"/>
                </a:solidFill>
              </a:rPr>
              <a:t>     </a:t>
            </a:r>
            <a:r>
              <a:rPr kumimoji="1" lang="zh-CN" altLang="en-US" sz="2800" b="0" dirty="0">
                <a:solidFill>
                  <a:srgbClr val="000099"/>
                </a:solidFill>
              </a:rPr>
              <a:t>葡萄糖转运体（</a:t>
            </a:r>
            <a:r>
              <a:rPr kumimoji="1" lang="en-US" altLang="zh-CN" sz="2800" b="0" dirty="0">
                <a:solidFill>
                  <a:srgbClr val="000099"/>
                </a:solidFill>
              </a:rPr>
              <a:t>GLUT</a:t>
            </a:r>
            <a:r>
              <a:rPr kumimoji="1" lang="zh-CN" altLang="en-US" sz="2800" b="0" dirty="0">
                <a:solidFill>
                  <a:srgbClr val="000099"/>
                </a:solidFill>
              </a:rPr>
              <a:t>）</a:t>
            </a:r>
            <a:endParaRPr kumimoji="1" lang="en-US" altLang="zh-CN" sz="2800" b="0" dirty="0">
              <a:solidFill>
                <a:srgbClr val="000099"/>
              </a:solidFill>
            </a:endParaRPr>
          </a:p>
          <a:p>
            <a:pPr lvl="2" eaLnBrk="1" hangingPunct="1">
              <a:lnSpc>
                <a:spcPct val="130000"/>
              </a:lnSpc>
              <a:spcBef>
                <a:spcPct val="0"/>
              </a:spcBef>
              <a:buClrTx/>
              <a:buSzTx/>
              <a:buFontTx/>
              <a:buNone/>
              <a:defRPr/>
            </a:pPr>
            <a:r>
              <a:rPr kumimoji="1" lang="zh-CN" altLang="en-US" sz="2400" dirty="0">
                <a:solidFill>
                  <a:schemeClr val="tx1">
                    <a:lumMod val="95000"/>
                    <a:lumOff val="5000"/>
                  </a:schemeClr>
                </a:solidFill>
              </a:rPr>
              <a:t>顺浓度梯度</a:t>
            </a:r>
            <a:r>
              <a:rPr kumimoji="1" lang="zh-CN" altLang="en-US" sz="2400" b="0" dirty="0">
                <a:solidFill>
                  <a:schemeClr val="tx1">
                    <a:lumMod val="95000"/>
                    <a:lumOff val="5000"/>
                  </a:schemeClr>
                </a:solidFill>
              </a:rPr>
              <a:t>将葡萄糖从小肠粘膜细胞转入毛细血管</a:t>
            </a:r>
            <a:r>
              <a:rPr kumimoji="1" lang="en-US" altLang="zh-CN" sz="2400" b="0" dirty="0">
                <a:solidFill>
                  <a:schemeClr val="tx1">
                    <a:lumMod val="95000"/>
                    <a:lumOff val="5000"/>
                  </a:schemeClr>
                </a:solidFill>
              </a:rPr>
              <a:t>  </a:t>
            </a:r>
            <a:endParaRPr kumimoji="1" lang="en-US" altLang="zh-CN" sz="2400" b="0" dirty="0">
              <a:solidFill>
                <a:schemeClr val="tx1">
                  <a:lumMod val="95000"/>
                  <a:lumOff val="5000"/>
                </a:schemeClr>
              </a:solidFill>
            </a:endParaRPr>
          </a:p>
          <a:p>
            <a:pPr eaLnBrk="1" hangingPunct="1">
              <a:lnSpc>
                <a:spcPct val="110000"/>
              </a:lnSpc>
              <a:buClrTx/>
              <a:buSzPct val="85000"/>
              <a:buFontTx/>
              <a:buNone/>
              <a:defRPr/>
            </a:pPr>
            <a:r>
              <a:rPr kumimoji="1" lang="en-US" altLang="zh-CN" sz="2800" b="0" dirty="0">
                <a:solidFill>
                  <a:schemeClr val="tx1">
                    <a:lumMod val="95000"/>
                    <a:lumOff val="5000"/>
                  </a:schemeClr>
                </a:solidFill>
              </a:rPr>
              <a:t>     </a:t>
            </a:r>
            <a:endParaRPr kumimoji="1" lang="en-US" altLang="zh-CN" sz="2800" b="0" dirty="0">
              <a:solidFill>
                <a:schemeClr val="tx1">
                  <a:lumMod val="95000"/>
                  <a:lumOff val="5000"/>
                </a:schemeClr>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dissolve">
                                      <p:cBhvr>
                                        <p:cTn id="7" dur="500"/>
                                        <p:tgtEl>
                                          <p:spTgt spid="13926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9267"/>
                                        </p:tgtEl>
                                        <p:attrNameLst>
                                          <p:attrName>style.visibility</p:attrName>
                                        </p:attrNameLst>
                                      </p:cBhvr>
                                      <p:to>
                                        <p:strVal val="visible"/>
                                      </p:to>
                                    </p:set>
                                    <p:animEffect transition="in" filter="dissolve">
                                      <p:cBhvr>
                                        <p:cTn id="12" dur="500"/>
                                        <p:tgtEl>
                                          <p:spTgt spid="13926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9269"/>
                                        </p:tgtEl>
                                        <p:attrNameLst>
                                          <p:attrName>style.visibility</p:attrName>
                                        </p:attrNameLst>
                                      </p:cBhvr>
                                      <p:to>
                                        <p:strVal val="visible"/>
                                      </p:to>
                                    </p:set>
                                    <p:animEffect transition="in" filter="dissolve">
                                      <p:cBhvr>
                                        <p:cTn id="17" dur="500"/>
                                        <p:tgtEl>
                                          <p:spTgt spid="139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utoUpdateAnimBg="0"/>
      <p:bldP spid="139267" grpId="0" autoUpdateAnimBg="0"/>
      <p:bldP spid="13926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3"/>
          <p:cNvPicPr>
            <a:picLocks noChangeAspect="1" noChangeArrowheads="1"/>
          </p:cNvPicPr>
          <p:nvPr/>
        </p:nvPicPr>
        <p:blipFill>
          <a:blip r:embed="rId1">
            <a:lum bright="-10000" contrast="10000"/>
            <a:extLst>
              <a:ext uri="{28A0092B-C50C-407E-A947-70E740481C1C}">
                <a14:useLocalDpi xmlns:a14="http://schemas.microsoft.com/office/drawing/2010/main" val="0"/>
              </a:ext>
            </a:extLst>
          </a:blip>
          <a:srcRect/>
          <a:stretch>
            <a:fillRect/>
          </a:stretch>
        </p:blipFill>
        <p:spPr bwMode="auto">
          <a:xfrm>
            <a:off x="2613323" y="1071563"/>
            <a:ext cx="6768802" cy="5525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Rectangle 4"/>
          <p:cNvSpPr>
            <a:spLocks noChangeArrowheads="1"/>
          </p:cNvSpPr>
          <p:nvPr/>
        </p:nvSpPr>
        <p:spPr bwMode="auto">
          <a:xfrm>
            <a:off x="2209800" y="260650"/>
            <a:ext cx="777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4000" b="0" dirty="0">
                <a:solidFill>
                  <a:srgbClr val="660033"/>
                </a:solidFill>
                <a:latin typeface="Arial Black" panose="020B0A04020102020204" pitchFamily="34" charset="0"/>
                <a:ea typeface="黑体" panose="02010609060101010101" pitchFamily="2" charset="-122"/>
              </a:rPr>
              <a:t>小肠中葡萄糖的吸收机制</a:t>
            </a:r>
            <a:endParaRPr kumimoji="1" lang="zh-CN" altLang="en-US" sz="4000" b="0" dirty="0">
              <a:solidFill>
                <a:srgbClr val="660033"/>
              </a:solidFill>
              <a:latin typeface="Arial Black" panose="020B0A04020102020204" pitchFamily="34" charset="0"/>
              <a:ea typeface="黑体" panose="02010609060101010101" pitchFamily="2" charset="-122"/>
            </a:endParaRPr>
          </a:p>
        </p:txBody>
      </p:sp>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535470" y="594739"/>
            <a:ext cx="68728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t>4.  葡萄糖吸收进入组织细胞的途径  </a:t>
            </a:r>
            <a:endParaRPr kumimoji="1" lang="zh-CN" altLang="en-US" dirty="0"/>
          </a:p>
        </p:txBody>
      </p:sp>
      <p:sp>
        <p:nvSpPr>
          <p:cNvPr id="141315" name="Text Box 3"/>
          <p:cNvSpPr txBox="1">
            <a:spLocks noChangeArrowheads="1"/>
          </p:cNvSpPr>
          <p:nvPr/>
        </p:nvSpPr>
        <p:spPr bwMode="auto">
          <a:xfrm>
            <a:off x="4080766" y="1677989"/>
            <a:ext cx="20193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小肠肠腔  </a:t>
            </a:r>
            <a:endParaRPr kumimoji="1" lang="zh-CN" altLang="en-US" b="0"/>
          </a:p>
        </p:txBody>
      </p:sp>
      <p:sp>
        <p:nvSpPr>
          <p:cNvPr id="141316" name="Text Box 4"/>
          <p:cNvSpPr txBox="1">
            <a:spLocks noChangeArrowheads="1"/>
          </p:cNvSpPr>
          <p:nvPr/>
        </p:nvSpPr>
        <p:spPr bwMode="auto">
          <a:xfrm>
            <a:off x="7104955" y="1697039"/>
            <a:ext cx="33115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肠粘膜上皮细胞   </a:t>
            </a:r>
            <a:endParaRPr kumimoji="1" lang="zh-CN" altLang="en-US" b="0"/>
          </a:p>
        </p:txBody>
      </p:sp>
      <p:sp>
        <p:nvSpPr>
          <p:cNvPr id="141317" name="Text Box 5"/>
          <p:cNvSpPr txBox="1">
            <a:spLocks noChangeArrowheads="1"/>
          </p:cNvSpPr>
          <p:nvPr/>
        </p:nvSpPr>
        <p:spPr bwMode="auto">
          <a:xfrm>
            <a:off x="7536755" y="3138489"/>
            <a:ext cx="17287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门静脉    </a:t>
            </a:r>
            <a:endParaRPr kumimoji="1" lang="zh-CN" altLang="en-US" b="0"/>
          </a:p>
        </p:txBody>
      </p:sp>
      <p:sp>
        <p:nvSpPr>
          <p:cNvPr id="141318" name="Text Box 6"/>
          <p:cNvSpPr txBox="1">
            <a:spLocks noChangeArrowheads="1"/>
          </p:cNvSpPr>
          <p:nvPr/>
        </p:nvSpPr>
        <p:spPr bwMode="auto">
          <a:xfrm>
            <a:off x="7752655" y="4365625"/>
            <a:ext cx="1584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肝脏 </a:t>
            </a:r>
            <a:endParaRPr kumimoji="1" lang="zh-CN" altLang="en-US" b="0"/>
          </a:p>
        </p:txBody>
      </p:sp>
      <p:sp>
        <p:nvSpPr>
          <p:cNvPr id="141319" name="Text Box 7"/>
          <p:cNvSpPr txBox="1">
            <a:spLocks noChangeArrowheads="1"/>
          </p:cNvSpPr>
          <p:nvPr/>
        </p:nvSpPr>
        <p:spPr bwMode="auto">
          <a:xfrm>
            <a:off x="7608191" y="5518150"/>
            <a:ext cx="1873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体循环</a:t>
            </a:r>
            <a:endParaRPr kumimoji="1" lang="zh-CN" altLang="en-US" b="0"/>
          </a:p>
        </p:txBody>
      </p:sp>
      <p:sp>
        <p:nvSpPr>
          <p:cNvPr id="141320" name="AutoShape 8"/>
          <p:cNvSpPr>
            <a:spLocks noChangeArrowheads="1"/>
          </p:cNvSpPr>
          <p:nvPr/>
        </p:nvSpPr>
        <p:spPr bwMode="auto">
          <a:xfrm flipV="1">
            <a:off x="6023866" y="1912938"/>
            <a:ext cx="1079500" cy="144462"/>
          </a:xfrm>
          <a:prstGeom prst="rightArrow">
            <a:avLst>
              <a:gd name="adj1" fmla="val 50000"/>
              <a:gd name="adj2" fmla="val 186814"/>
            </a:avLst>
          </a:prstGeom>
          <a:solidFill>
            <a:schemeClr val="accent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41321" name="AutoShape 9"/>
          <p:cNvSpPr>
            <a:spLocks noChangeArrowheads="1"/>
          </p:cNvSpPr>
          <p:nvPr/>
        </p:nvSpPr>
        <p:spPr bwMode="auto">
          <a:xfrm>
            <a:off x="8184455" y="2349501"/>
            <a:ext cx="142875" cy="792163"/>
          </a:xfrm>
          <a:prstGeom prst="downArrow">
            <a:avLst>
              <a:gd name="adj1" fmla="val 50000"/>
              <a:gd name="adj2" fmla="val 138611"/>
            </a:avLst>
          </a:prstGeom>
          <a:solidFill>
            <a:schemeClr val="accent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41322" name="AutoShape 10"/>
          <p:cNvSpPr>
            <a:spLocks noChangeArrowheads="1"/>
          </p:cNvSpPr>
          <p:nvPr/>
        </p:nvSpPr>
        <p:spPr bwMode="auto">
          <a:xfrm>
            <a:off x="8184455" y="3717925"/>
            <a:ext cx="142875" cy="647700"/>
          </a:xfrm>
          <a:prstGeom prst="downArrow">
            <a:avLst>
              <a:gd name="adj1" fmla="val 50000"/>
              <a:gd name="adj2" fmla="val 113333"/>
            </a:avLst>
          </a:prstGeom>
          <a:solidFill>
            <a:schemeClr val="accent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41323" name="AutoShape 11"/>
          <p:cNvSpPr>
            <a:spLocks noChangeArrowheads="1"/>
          </p:cNvSpPr>
          <p:nvPr/>
        </p:nvSpPr>
        <p:spPr bwMode="auto">
          <a:xfrm>
            <a:off x="8184455" y="4941889"/>
            <a:ext cx="142875" cy="649287"/>
          </a:xfrm>
          <a:prstGeom prst="downArrow">
            <a:avLst>
              <a:gd name="adj1" fmla="val 50000"/>
              <a:gd name="adj2" fmla="val 113611"/>
            </a:avLst>
          </a:prstGeom>
          <a:solidFill>
            <a:schemeClr val="accent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41324" name="Rectangle 12"/>
          <p:cNvSpPr>
            <a:spLocks noChangeArrowheads="1"/>
          </p:cNvSpPr>
          <p:nvPr/>
        </p:nvSpPr>
        <p:spPr bwMode="auto">
          <a:xfrm>
            <a:off x="6028630" y="1357314"/>
            <a:ext cx="1050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solidFill>
                  <a:srgbClr val="000099"/>
                </a:solidFill>
              </a:rPr>
              <a:t>SGLT</a:t>
            </a:r>
            <a:endParaRPr kumimoji="1" lang="en-US" altLang="zh-CN" sz="2800" b="0">
              <a:solidFill>
                <a:schemeClr val="tx2"/>
              </a:solidFill>
            </a:endParaRPr>
          </a:p>
        </p:txBody>
      </p:sp>
      <p:sp>
        <p:nvSpPr>
          <p:cNvPr id="141325" name="AutoShape 13"/>
          <p:cNvSpPr>
            <a:spLocks noChangeArrowheads="1"/>
          </p:cNvSpPr>
          <p:nvPr/>
        </p:nvSpPr>
        <p:spPr bwMode="auto">
          <a:xfrm>
            <a:off x="6455666" y="5807076"/>
            <a:ext cx="1081088" cy="144463"/>
          </a:xfrm>
          <a:prstGeom prst="leftArrow">
            <a:avLst>
              <a:gd name="adj1" fmla="val 50000"/>
              <a:gd name="adj2" fmla="val 187087"/>
            </a:avLst>
          </a:prstGeom>
          <a:solidFill>
            <a:schemeClr val="accent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41326" name="Text Box 14"/>
          <p:cNvSpPr txBox="1">
            <a:spLocks noChangeArrowheads="1"/>
          </p:cNvSpPr>
          <p:nvPr/>
        </p:nvSpPr>
        <p:spPr bwMode="auto">
          <a:xfrm>
            <a:off x="3791841" y="5586414"/>
            <a:ext cx="2952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各种组织细胞 </a:t>
            </a:r>
            <a:endParaRPr kumimoji="1" lang="zh-CN" altLang="en-US" b="0"/>
          </a:p>
        </p:txBody>
      </p:sp>
      <p:sp>
        <p:nvSpPr>
          <p:cNvPr id="141327" name="Text Box 15"/>
          <p:cNvSpPr txBox="1">
            <a:spLocks noChangeArrowheads="1"/>
          </p:cNvSpPr>
          <p:nvPr/>
        </p:nvSpPr>
        <p:spPr bwMode="auto">
          <a:xfrm>
            <a:off x="6528692" y="5230813"/>
            <a:ext cx="1368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t>GLUT </a:t>
            </a:r>
            <a:endParaRPr kumimoji="1" lang="en-US" altLang="zh-CN" sz="2800" b="0"/>
          </a:p>
        </p:txBody>
      </p:sp>
      <p:sp>
        <p:nvSpPr>
          <p:cNvPr id="141328" name="Text Box 16"/>
          <p:cNvSpPr txBox="1">
            <a:spLocks noChangeArrowheads="1"/>
          </p:cNvSpPr>
          <p:nvPr/>
        </p:nvSpPr>
        <p:spPr bwMode="auto">
          <a:xfrm>
            <a:off x="1419155" y="3036888"/>
            <a:ext cx="3956765" cy="1827360"/>
          </a:xfrm>
          <a:prstGeom prst="rect">
            <a:avLst/>
          </a:prstGeom>
          <a:noFill/>
          <a:ln w="9525">
            <a:solidFill>
              <a:srgbClr val="00B0F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ClrTx/>
              <a:buSzTx/>
              <a:buFontTx/>
              <a:buNone/>
            </a:pPr>
            <a:r>
              <a:rPr kumimoji="1" lang="en-US" altLang="zh-CN" sz="2400" dirty="0">
                <a:solidFill>
                  <a:srgbClr val="0000CC"/>
                </a:solidFill>
              </a:rPr>
              <a:t>GLUT：</a:t>
            </a:r>
            <a:r>
              <a:rPr kumimoji="1" lang="zh-CN" altLang="en-US" sz="2400" b="0" dirty="0"/>
              <a:t>葡萄糖转运体(</a:t>
            </a:r>
            <a:r>
              <a:rPr kumimoji="1" lang="en-US" altLang="zh-CN" sz="2400" b="0" dirty="0"/>
              <a:t>glucose transporter)，</a:t>
            </a:r>
            <a:r>
              <a:rPr kumimoji="1" lang="zh-CN" altLang="en-US" sz="2400" b="0" dirty="0"/>
              <a:t>已发现</a:t>
            </a:r>
            <a:r>
              <a:rPr kumimoji="1" lang="en-US" altLang="zh-CN" sz="2400" b="0" dirty="0"/>
              <a:t>14</a:t>
            </a:r>
            <a:r>
              <a:rPr kumimoji="1" lang="zh-CN" altLang="en-US" sz="2400" b="0" dirty="0"/>
              <a:t>种葡萄糖转运体， 有</a:t>
            </a:r>
            <a:r>
              <a:rPr kumimoji="1" lang="zh-CN" altLang="en-US" sz="2400" b="0" dirty="0">
                <a:solidFill>
                  <a:srgbClr val="0000CC"/>
                </a:solidFill>
              </a:rPr>
              <a:t>组织器官分布特异性</a:t>
            </a:r>
            <a:r>
              <a:rPr kumimoji="1" lang="zh-CN" altLang="en-US" sz="2400" b="0" dirty="0"/>
              <a:t>。</a:t>
            </a:r>
            <a:endParaRPr kumimoji="1" lang="en-US" altLang="zh-CN" sz="2400" b="0" dirty="0"/>
          </a:p>
        </p:txBody>
      </p:sp>
      <p:sp>
        <p:nvSpPr>
          <p:cNvPr id="18" name="Rectangle 12"/>
          <p:cNvSpPr>
            <a:spLocks noChangeArrowheads="1"/>
          </p:cNvSpPr>
          <p:nvPr/>
        </p:nvSpPr>
        <p:spPr bwMode="auto">
          <a:xfrm>
            <a:off x="8303516" y="2182814"/>
            <a:ext cx="13160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solidFill>
                  <a:srgbClr val="000099"/>
                </a:solidFill>
              </a:rPr>
              <a:t>GLUT</a:t>
            </a:r>
            <a:r>
              <a:rPr kumimoji="1" lang="en-US" altLang="zh-CN" sz="2800" b="0">
                <a:solidFill>
                  <a:schemeClr val="tx2"/>
                </a:solidFill>
              </a:rPr>
              <a:t>  </a:t>
            </a:r>
            <a:endParaRPr kumimoji="1" lang="en-US" altLang="zh-CN" sz="2800" b="0">
              <a:solidFill>
                <a:schemeClr val="tx2"/>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141315"/>
                                        </p:tgtEl>
                                        <p:attrNameLst>
                                          <p:attrName>style.visibility</p:attrName>
                                        </p:attrNameLst>
                                      </p:cBhvr>
                                      <p:to>
                                        <p:strVal val="visible"/>
                                      </p:to>
                                    </p:set>
                                    <p:anim calcmode="lin" valueType="num">
                                      <p:cBhvr>
                                        <p:cTn id="7" dur="500" fill="hold"/>
                                        <p:tgtEl>
                                          <p:spTgt spid="141315"/>
                                        </p:tgtEl>
                                        <p:attrNameLst>
                                          <p:attrName>ppt_w</p:attrName>
                                        </p:attrNameLst>
                                      </p:cBhvr>
                                      <p:tavLst>
                                        <p:tav tm="0">
                                          <p:val>
                                            <p:fltVal val="0"/>
                                          </p:val>
                                        </p:tav>
                                        <p:tav tm="100000">
                                          <p:val>
                                            <p:strVal val="#ppt_w"/>
                                          </p:val>
                                        </p:tav>
                                      </p:tavLst>
                                    </p:anim>
                                    <p:anim calcmode="lin" valueType="num">
                                      <p:cBhvr>
                                        <p:cTn id="8" dur="500" fill="hold"/>
                                        <p:tgtEl>
                                          <p:spTgt spid="14131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 presetClass="entr" presetSubtype="10" fill="hold" grpId="0" nodeType="afterEffect">
                                  <p:stCondLst>
                                    <p:cond delay="0"/>
                                  </p:stCondLst>
                                  <p:childTnLst>
                                    <p:set>
                                      <p:cBhvr>
                                        <p:cTn id="11" dur="1" fill="hold">
                                          <p:stCondLst>
                                            <p:cond delay="0"/>
                                          </p:stCondLst>
                                        </p:cTn>
                                        <p:tgtEl>
                                          <p:spTgt spid="141324"/>
                                        </p:tgtEl>
                                        <p:attrNameLst>
                                          <p:attrName>style.visibility</p:attrName>
                                        </p:attrNameLst>
                                      </p:cBhvr>
                                      <p:to>
                                        <p:strVal val="visible"/>
                                      </p:to>
                                    </p:set>
                                    <p:animEffect transition="in" filter="checkerboard(across)">
                                      <p:cBhvr>
                                        <p:cTn id="12" dur="500"/>
                                        <p:tgtEl>
                                          <p:spTgt spid="141324"/>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41320"/>
                                        </p:tgtEl>
                                        <p:attrNameLst>
                                          <p:attrName>style.visibility</p:attrName>
                                        </p:attrNameLst>
                                      </p:cBhvr>
                                      <p:to>
                                        <p:strVal val="visible"/>
                                      </p:to>
                                    </p:set>
                                    <p:animEffect transition="in" filter="wipe(left)">
                                      <p:cBhvr>
                                        <p:cTn id="16" dur="500"/>
                                        <p:tgtEl>
                                          <p:spTgt spid="141320"/>
                                        </p:tgtEl>
                                      </p:cBhvr>
                                    </p:animEffect>
                                  </p:childTnLst>
                                </p:cTn>
                              </p:par>
                            </p:childTnLst>
                          </p:cTn>
                        </p:par>
                        <p:par>
                          <p:cTn id="17" fill="hold">
                            <p:stCondLst>
                              <p:cond delay="1500"/>
                            </p:stCondLst>
                            <p:childTnLst>
                              <p:par>
                                <p:cTn id="18" presetID="17" presetClass="entr" presetSubtype="8" fill="hold" grpId="0" nodeType="afterEffect">
                                  <p:stCondLst>
                                    <p:cond delay="0"/>
                                  </p:stCondLst>
                                  <p:childTnLst>
                                    <p:set>
                                      <p:cBhvr>
                                        <p:cTn id="19" dur="1" fill="hold">
                                          <p:stCondLst>
                                            <p:cond delay="0"/>
                                          </p:stCondLst>
                                        </p:cTn>
                                        <p:tgtEl>
                                          <p:spTgt spid="141316"/>
                                        </p:tgtEl>
                                        <p:attrNameLst>
                                          <p:attrName>style.visibility</p:attrName>
                                        </p:attrNameLst>
                                      </p:cBhvr>
                                      <p:to>
                                        <p:strVal val="visible"/>
                                      </p:to>
                                    </p:set>
                                    <p:anim calcmode="lin" valueType="num">
                                      <p:cBhvr>
                                        <p:cTn id="20" dur="500" fill="hold"/>
                                        <p:tgtEl>
                                          <p:spTgt spid="141316"/>
                                        </p:tgtEl>
                                        <p:attrNameLst>
                                          <p:attrName>ppt_x</p:attrName>
                                        </p:attrNameLst>
                                      </p:cBhvr>
                                      <p:tavLst>
                                        <p:tav tm="0">
                                          <p:val>
                                            <p:strVal val="#ppt_x-#ppt_w/2"/>
                                          </p:val>
                                        </p:tav>
                                        <p:tav tm="100000">
                                          <p:val>
                                            <p:strVal val="#ppt_x"/>
                                          </p:val>
                                        </p:tav>
                                      </p:tavLst>
                                    </p:anim>
                                    <p:anim calcmode="lin" valueType="num">
                                      <p:cBhvr>
                                        <p:cTn id="21" dur="500" fill="hold"/>
                                        <p:tgtEl>
                                          <p:spTgt spid="141316"/>
                                        </p:tgtEl>
                                        <p:attrNameLst>
                                          <p:attrName>ppt_y</p:attrName>
                                        </p:attrNameLst>
                                      </p:cBhvr>
                                      <p:tavLst>
                                        <p:tav tm="0">
                                          <p:val>
                                            <p:strVal val="#ppt_y"/>
                                          </p:val>
                                        </p:tav>
                                        <p:tav tm="100000">
                                          <p:val>
                                            <p:strVal val="#ppt_y"/>
                                          </p:val>
                                        </p:tav>
                                      </p:tavLst>
                                    </p:anim>
                                    <p:anim calcmode="lin" valueType="num">
                                      <p:cBhvr>
                                        <p:cTn id="22" dur="500" fill="hold"/>
                                        <p:tgtEl>
                                          <p:spTgt spid="141316"/>
                                        </p:tgtEl>
                                        <p:attrNameLst>
                                          <p:attrName>ppt_w</p:attrName>
                                        </p:attrNameLst>
                                      </p:cBhvr>
                                      <p:tavLst>
                                        <p:tav tm="0">
                                          <p:val>
                                            <p:fltVal val="0"/>
                                          </p:val>
                                        </p:tav>
                                        <p:tav tm="100000">
                                          <p:val>
                                            <p:strVal val="#ppt_w"/>
                                          </p:val>
                                        </p:tav>
                                      </p:tavLst>
                                    </p:anim>
                                    <p:anim calcmode="lin" valueType="num">
                                      <p:cBhvr>
                                        <p:cTn id="23" dur="500" fill="hold"/>
                                        <p:tgtEl>
                                          <p:spTgt spid="141316"/>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41321"/>
                                        </p:tgtEl>
                                        <p:attrNameLst>
                                          <p:attrName>style.visibility</p:attrName>
                                        </p:attrNameLst>
                                      </p:cBhvr>
                                      <p:to>
                                        <p:strVal val="visible"/>
                                      </p:to>
                                    </p:set>
                                    <p:animEffect transition="in" filter="wipe(up)">
                                      <p:cBhvr>
                                        <p:cTn id="28" dur="500"/>
                                        <p:tgtEl>
                                          <p:spTgt spid="141321"/>
                                        </p:tgtEl>
                                      </p:cBhvr>
                                    </p:animEffect>
                                  </p:childTnLst>
                                </p:cTn>
                              </p:par>
                            </p:childTnLst>
                          </p:cTn>
                        </p:par>
                        <p:par>
                          <p:cTn id="29" fill="hold">
                            <p:stCondLst>
                              <p:cond delay="500"/>
                            </p:stCondLst>
                            <p:childTnLst>
                              <p:par>
                                <p:cTn id="30" presetID="3" presetClass="entr" presetSubtype="10" fill="hold" grpId="0" nodeType="after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linds(horizontal)">
                                      <p:cBhvr>
                                        <p:cTn id="32" dur="500"/>
                                        <p:tgtEl>
                                          <p:spTgt spid="18"/>
                                        </p:tgtEl>
                                      </p:cBhvr>
                                    </p:animEffect>
                                  </p:childTnLst>
                                </p:cTn>
                              </p:par>
                            </p:childTnLst>
                          </p:cTn>
                        </p:par>
                        <p:par>
                          <p:cTn id="33" fill="hold">
                            <p:stCondLst>
                              <p:cond delay="1000"/>
                            </p:stCondLst>
                            <p:childTnLst>
                              <p:par>
                                <p:cTn id="34" presetID="5" presetClass="entr" presetSubtype="5" fill="hold" grpId="0" nodeType="afterEffect">
                                  <p:stCondLst>
                                    <p:cond delay="0"/>
                                  </p:stCondLst>
                                  <p:childTnLst>
                                    <p:set>
                                      <p:cBhvr>
                                        <p:cTn id="35" dur="1" fill="hold">
                                          <p:stCondLst>
                                            <p:cond delay="0"/>
                                          </p:stCondLst>
                                        </p:cTn>
                                        <p:tgtEl>
                                          <p:spTgt spid="141317"/>
                                        </p:tgtEl>
                                        <p:attrNameLst>
                                          <p:attrName>style.visibility</p:attrName>
                                        </p:attrNameLst>
                                      </p:cBhvr>
                                      <p:to>
                                        <p:strVal val="visible"/>
                                      </p:to>
                                    </p:set>
                                    <p:animEffect transition="in" filter="checkerboard(down)">
                                      <p:cBhvr>
                                        <p:cTn id="36" dur="500"/>
                                        <p:tgtEl>
                                          <p:spTgt spid="141317"/>
                                        </p:tgtEl>
                                      </p:cBhvr>
                                    </p:animEffect>
                                  </p:childTnLst>
                                </p:cTn>
                              </p:par>
                            </p:childTnLst>
                          </p:cTn>
                        </p:par>
                        <p:par>
                          <p:cTn id="37" fill="hold">
                            <p:stCondLst>
                              <p:cond delay="1500"/>
                            </p:stCondLst>
                            <p:childTnLst>
                              <p:par>
                                <p:cTn id="38" presetID="22" presetClass="entr" presetSubtype="1" fill="hold" grpId="0" nodeType="afterEffect">
                                  <p:stCondLst>
                                    <p:cond delay="0"/>
                                  </p:stCondLst>
                                  <p:childTnLst>
                                    <p:set>
                                      <p:cBhvr>
                                        <p:cTn id="39" dur="1" fill="hold">
                                          <p:stCondLst>
                                            <p:cond delay="0"/>
                                          </p:stCondLst>
                                        </p:cTn>
                                        <p:tgtEl>
                                          <p:spTgt spid="141322"/>
                                        </p:tgtEl>
                                        <p:attrNameLst>
                                          <p:attrName>style.visibility</p:attrName>
                                        </p:attrNameLst>
                                      </p:cBhvr>
                                      <p:to>
                                        <p:strVal val="visible"/>
                                      </p:to>
                                    </p:set>
                                    <p:animEffect transition="in" filter="wipe(up)">
                                      <p:cBhvr>
                                        <p:cTn id="40" dur="500"/>
                                        <p:tgtEl>
                                          <p:spTgt spid="141322"/>
                                        </p:tgtEl>
                                      </p:cBhvr>
                                    </p:animEffect>
                                  </p:childTnLst>
                                </p:cTn>
                              </p:par>
                            </p:childTnLst>
                          </p:cTn>
                        </p:par>
                        <p:par>
                          <p:cTn id="41" fill="hold">
                            <p:stCondLst>
                              <p:cond delay="2000"/>
                            </p:stCondLst>
                            <p:childTnLst>
                              <p:par>
                                <p:cTn id="42" presetID="9" presetClass="entr" presetSubtype="0" fill="hold" grpId="0" nodeType="afterEffect">
                                  <p:stCondLst>
                                    <p:cond delay="0"/>
                                  </p:stCondLst>
                                  <p:childTnLst>
                                    <p:set>
                                      <p:cBhvr>
                                        <p:cTn id="43" dur="1" fill="hold">
                                          <p:stCondLst>
                                            <p:cond delay="0"/>
                                          </p:stCondLst>
                                        </p:cTn>
                                        <p:tgtEl>
                                          <p:spTgt spid="141318"/>
                                        </p:tgtEl>
                                        <p:attrNameLst>
                                          <p:attrName>style.visibility</p:attrName>
                                        </p:attrNameLst>
                                      </p:cBhvr>
                                      <p:to>
                                        <p:strVal val="visible"/>
                                      </p:to>
                                    </p:set>
                                    <p:animEffect transition="in" filter="dissolve">
                                      <p:cBhvr>
                                        <p:cTn id="44" dur="500"/>
                                        <p:tgtEl>
                                          <p:spTgt spid="141318"/>
                                        </p:tgtEl>
                                      </p:cBhvr>
                                    </p:animEffect>
                                  </p:childTnLst>
                                </p:cTn>
                              </p:par>
                            </p:childTnLst>
                          </p:cTn>
                        </p:par>
                        <p:par>
                          <p:cTn id="45" fill="hold">
                            <p:stCondLst>
                              <p:cond delay="2500"/>
                            </p:stCondLst>
                            <p:childTnLst>
                              <p:par>
                                <p:cTn id="46" presetID="22" presetClass="entr" presetSubtype="1" fill="hold" grpId="0" nodeType="afterEffect">
                                  <p:stCondLst>
                                    <p:cond delay="0"/>
                                  </p:stCondLst>
                                  <p:childTnLst>
                                    <p:set>
                                      <p:cBhvr>
                                        <p:cTn id="47" dur="1" fill="hold">
                                          <p:stCondLst>
                                            <p:cond delay="0"/>
                                          </p:stCondLst>
                                        </p:cTn>
                                        <p:tgtEl>
                                          <p:spTgt spid="141323"/>
                                        </p:tgtEl>
                                        <p:attrNameLst>
                                          <p:attrName>style.visibility</p:attrName>
                                        </p:attrNameLst>
                                      </p:cBhvr>
                                      <p:to>
                                        <p:strVal val="visible"/>
                                      </p:to>
                                    </p:set>
                                    <p:animEffect transition="in" filter="wipe(up)">
                                      <p:cBhvr>
                                        <p:cTn id="48" dur="500"/>
                                        <p:tgtEl>
                                          <p:spTgt spid="141323"/>
                                        </p:tgtEl>
                                      </p:cBhvr>
                                    </p:animEffect>
                                  </p:childTnLst>
                                </p:cTn>
                              </p:par>
                            </p:childTnLst>
                          </p:cTn>
                        </p:par>
                        <p:par>
                          <p:cTn id="49" fill="hold">
                            <p:stCondLst>
                              <p:cond delay="3000"/>
                            </p:stCondLst>
                            <p:childTnLst>
                              <p:par>
                                <p:cTn id="50" presetID="12" presetClass="entr" presetSubtype="1" fill="hold" grpId="0" nodeType="afterEffect">
                                  <p:stCondLst>
                                    <p:cond delay="0"/>
                                  </p:stCondLst>
                                  <p:childTnLst>
                                    <p:set>
                                      <p:cBhvr>
                                        <p:cTn id="51" dur="1" fill="hold">
                                          <p:stCondLst>
                                            <p:cond delay="0"/>
                                          </p:stCondLst>
                                        </p:cTn>
                                        <p:tgtEl>
                                          <p:spTgt spid="141319"/>
                                        </p:tgtEl>
                                        <p:attrNameLst>
                                          <p:attrName>style.visibility</p:attrName>
                                        </p:attrNameLst>
                                      </p:cBhvr>
                                      <p:to>
                                        <p:strVal val="visible"/>
                                      </p:to>
                                    </p:set>
                                    <p:animEffect transition="in" filter="slide(fromTop)">
                                      <p:cBhvr>
                                        <p:cTn id="52" dur="500"/>
                                        <p:tgtEl>
                                          <p:spTgt spid="141319"/>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41327"/>
                                        </p:tgtEl>
                                        <p:attrNameLst>
                                          <p:attrName>style.visibility</p:attrName>
                                        </p:attrNameLst>
                                      </p:cBhvr>
                                      <p:to>
                                        <p:strVal val="visible"/>
                                      </p:to>
                                    </p:set>
                                    <p:animEffect transition="in" filter="dissolve">
                                      <p:cBhvr>
                                        <p:cTn id="57" dur="500"/>
                                        <p:tgtEl>
                                          <p:spTgt spid="141327"/>
                                        </p:tgtEl>
                                      </p:cBhvr>
                                    </p:animEffect>
                                  </p:childTnLst>
                                </p:cTn>
                              </p:par>
                            </p:childTnLst>
                          </p:cTn>
                        </p:par>
                        <p:par>
                          <p:cTn id="58" fill="hold">
                            <p:stCondLst>
                              <p:cond delay="500"/>
                            </p:stCondLst>
                            <p:childTnLst>
                              <p:par>
                                <p:cTn id="59" presetID="22" presetClass="entr" presetSubtype="2" fill="hold" grpId="0" nodeType="afterEffect">
                                  <p:stCondLst>
                                    <p:cond delay="0"/>
                                  </p:stCondLst>
                                  <p:childTnLst>
                                    <p:set>
                                      <p:cBhvr>
                                        <p:cTn id="60" dur="1" fill="hold">
                                          <p:stCondLst>
                                            <p:cond delay="0"/>
                                          </p:stCondLst>
                                        </p:cTn>
                                        <p:tgtEl>
                                          <p:spTgt spid="141325"/>
                                        </p:tgtEl>
                                        <p:attrNameLst>
                                          <p:attrName>style.visibility</p:attrName>
                                        </p:attrNameLst>
                                      </p:cBhvr>
                                      <p:to>
                                        <p:strVal val="visible"/>
                                      </p:to>
                                    </p:set>
                                    <p:animEffect transition="in" filter="wipe(right)">
                                      <p:cBhvr>
                                        <p:cTn id="61" dur="500"/>
                                        <p:tgtEl>
                                          <p:spTgt spid="141325"/>
                                        </p:tgtEl>
                                      </p:cBhvr>
                                    </p:animEffect>
                                  </p:childTnLst>
                                </p:cTn>
                              </p:par>
                            </p:childTnLst>
                          </p:cTn>
                        </p:par>
                        <p:par>
                          <p:cTn id="62" fill="hold">
                            <p:stCondLst>
                              <p:cond delay="1000"/>
                            </p:stCondLst>
                            <p:childTnLst>
                              <p:par>
                                <p:cTn id="63" presetID="4" presetClass="entr" presetSubtype="16" fill="hold" grpId="0" nodeType="afterEffect">
                                  <p:stCondLst>
                                    <p:cond delay="0"/>
                                  </p:stCondLst>
                                  <p:childTnLst>
                                    <p:set>
                                      <p:cBhvr>
                                        <p:cTn id="64" dur="1" fill="hold">
                                          <p:stCondLst>
                                            <p:cond delay="0"/>
                                          </p:stCondLst>
                                        </p:cTn>
                                        <p:tgtEl>
                                          <p:spTgt spid="141326"/>
                                        </p:tgtEl>
                                        <p:attrNameLst>
                                          <p:attrName>style.visibility</p:attrName>
                                        </p:attrNameLst>
                                      </p:cBhvr>
                                      <p:to>
                                        <p:strVal val="visible"/>
                                      </p:to>
                                    </p:set>
                                    <p:animEffect transition="in" filter="box(in)">
                                      <p:cBhvr>
                                        <p:cTn id="65" dur="500"/>
                                        <p:tgtEl>
                                          <p:spTgt spid="141326"/>
                                        </p:tgtEl>
                                      </p:cBhvr>
                                    </p:animEffect>
                                  </p:childTnLst>
                                </p:cTn>
                              </p:par>
                            </p:childTnLst>
                          </p:cTn>
                        </p:par>
                        <p:par>
                          <p:cTn id="66" fill="hold">
                            <p:stCondLst>
                              <p:cond delay="1500"/>
                            </p:stCondLst>
                            <p:childTnLst>
                              <p:par>
                                <p:cTn id="67" presetID="22" presetClass="entr" presetSubtype="8" fill="hold" grpId="0" nodeType="afterEffect">
                                  <p:stCondLst>
                                    <p:cond delay="0"/>
                                  </p:stCondLst>
                                  <p:childTnLst>
                                    <p:set>
                                      <p:cBhvr>
                                        <p:cTn id="68" dur="1" fill="hold">
                                          <p:stCondLst>
                                            <p:cond delay="0"/>
                                          </p:stCondLst>
                                        </p:cTn>
                                        <p:tgtEl>
                                          <p:spTgt spid="141328"/>
                                        </p:tgtEl>
                                        <p:attrNameLst>
                                          <p:attrName>style.visibility</p:attrName>
                                        </p:attrNameLst>
                                      </p:cBhvr>
                                      <p:to>
                                        <p:strVal val="visible"/>
                                      </p:to>
                                    </p:set>
                                    <p:animEffect transition="in" filter="wipe(left)">
                                      <p:cBhvr>
                                        <p:cTn id="69" dur="500"/>
                                        <p:tgtEl>
                                          <p:spTgt spid="141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utoUpdateAnimBg="0"/>
      <p:bldP spid="141316" grpId="0" autoUpdateAnimBg="0"/>
      <p:bldP spid="141317" grpId="0" autoUpdateAnimBg="0"/>
      <p:bldP spid="141318" grpId="0" autoUpdateAnimBg="0"/>
      <p:bldP spid="141319" grpId="0" autoUpdateAnimBg="0"/>
      <p:bldP spid="141320" grpId="0" animBg="1"/>
      <p:bldP spid="141321" grpId="0" animBg="1"/>
      <p:bldP spid="141322" grpId="0" animBg="1"/>
      <p:bldP spid="141323" grpId="0" animBg="1"/>
      <p:bldP spid="141324" grpId="0" autoUpdateAnimBg="0"/>
      <p:bldP spid="141325" grpId="0" animBg="1"/>
      <p:bldP spid="141326" grpId="0" autoUpdateAnimBg="0"/>
      <p:bldP spid="141327" grpId="0" autoUpdateAnimBg="0"/>
      <p:bldP spid="141328" grpId="0" animBg="1" autoUpdateAnimBg="0"/>
      <p:bldP spid="1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noChangeArrowheads="1"/>
          </p:cNvSpPr>
          <p:nvPr>
            <p:ph type="title" idx="4294967295"/>
          </p:nvPr>
        </p:nvSpPr>
        <p:spPr>
          <a:xfrm>
            <a:off x="1991544" y="188640"/>
            <a:ext cx="8568952" cy="830342"/>
          </a:xfrm>
        </p:spPr>
        <p:txBody>
          <a:bodyPr/>
          <a:lstStyle/>
          <a:p>
            <a:r>
              <a:rPr lang="zh-CN" altLang="en-US" sz="3200" dirty="0">
                <a:solidFill>
                  <a:srgbClr val="660066"/>
                </a:solidFill>
              </a:rPr>
              <a:t>细胞摄取葡萄糖需要葡萄糖转运蛋白</a:t>
            </a:r>
            <a:r>
              <a:rPr lang="en-US" altLang="zh-CN" sz="3200" dirty="0">
                <a:solidFill>
                  <a:srgbClr val="660066"/>
                </a:solidFill>
              </a:rPr>
              <a:t>(GLUT)</a:t>
            </a:r>
            <a:endParaRPr lang="zh-CN" altLang="en-US" sz="2400" dirty="0">
              <a:solidFill>
                <a:srgbClr val="660066"/>
              </a:solidFill>
            </a:endParaRPr>
          </a:p>
        </p:txBody>
      </p:sp>
      <p:graphicFrame>
        <p:nvGraphicFramePr>
          <p:cNvPr id="4" name="表格 3"/>
          <p:cNvGraphicFramePr>
            <a:graphicFrameLocks noGrp="1"/>
          </p:cNvGraphicFramePr>
          <p:nvPr/>
        </p:nvGraphicFramePr>
        <p:xfrm>
          <a:off x="551385" y="1124744"/>
          <a:ext cx="11161241" cy="5411138"/>
        </p:xfrm>
        <a:graphic>
          <a:graphicData uri="http://schemas.openxmlformats.org/drawingml/2006/table">
            <a:tbl>
              <a:tblPr/>
              <a:tblGrid>
                <a:gridCol w="1272773"/>
                <a:gridCol w="5325495"/>
                <a:gridCol w="4562973"/>
              </a:tblGrid>
              <a:tr h="504056">
                <a:tc>
                  <a:txBody>
                    <a:bodyPr/>
                    <a:lstStyle/>
                    <a:p>
                      <a:pPr algn="ctr"/>
                      <a:r>
                        <a:rPr lang="zh-CN" altLang="en-US" sz="2400" b="1" dirty="0">
                          <a:effectLst/>
                          <a:latin typeface="微软雅黑" panose="020B0503020204020204" pitchFamily="34" charset="-122"/>
                          <a:ea typeface="微软雅黑" panose="020B0503020204020204" pitchFamily="34" charset="-122"/>
                        </a:rPr>
                        <a:t>类型</a:t>
                      </a:r>
                      <a:endParaRPr lang="en-US" sz="2400" b="1"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noFill/>
                  </a:tcPr>
                </a:tc>
                <a:tc>
                  <a:txBody>
                    <a:bodyPr/>
                    <a:lstStyle/>
                    <a:p>
                      <a:pPr algn="ctr"/>
                      <a:r>
                        <a:rPr lang="zh-CN" altLang="en-US" sz="2400" b="1" dirty="0">
                          <a:effectLst/>
                          <a:latin typeface="微软雅黑" panose="020B0503020204020204" pitchFamily="34" charset="-122"/>
                          <a:ea typeface="微软雅黑" panose="020B0503020204020204" pitchFamily="34" charset="-122"/>
                        </a:rPr>
                        <a:t>分布</a:t>
                      </a:r>
                      <a:endParaRPr lang="en-US" sz="2400" b="1"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noFill/>
                  </a:tcPr>
                </a:tc>
                <a:tc>
                  <a:txBody>
                    <a:bodyPr/>
                    <a:lstStyle/>
                    <a:p>
                      <a:pPr algn="ctr"/>
                      <a:r>
                        <a:rPr lang="zh-CN" altLang="en-US" sz="2400" b="1" dirty="0">
                          <a:effectLst/>
                          <a:latin typeface="微软雅黑" panose="020B0503020204020204" pitchFamily="34" charset="-122"/>
                          <a:ea typeface="微软雅黑" panose="020B0503020204020204" pitchFamily="34" charset="-122"/>
                        </a:rPr>
                        <a:t>作用特点</a:t>
                      </a:r>
                      <a:endParaRPr lang="en-US" sz="2400" b="1"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noFill/>
                  </a:tcPr>
                </a:tc>
              </a:tr>
              <a:tr h="823083">
                <a:tc>
                  <a:txBody>
                    <a:bodyPr/>
                    <a:lstStyle/>
                    <a:p>
                      <a:r>
                        <a:rPr lang="en-US" sz="2000" dirty="0">
                          <a:effectLst/>
                          <a:latin typeface="微软雅黑" panose="020B0503020204020204" pitchFamily="34" charset="-122"/>
                          <a:ea typeface="微软雅黑" panose="020B0503020204020204" pitchFamily="34" charset="-122"/>
                        </a:rPr>
                        <a:t>GLUT1</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pPr>
                        <a:lnSpc>
                          <a:spcPct val="110000"/>
                        </a:lnSpc>
                      </a:pPr>
                      <a:r>
                        <a:rPr lang="zh-CN" altLang="en-US" sz="2000" b="1" dirty="0">
                          <a:effectLst/>
                          <a:latin typeface="微软雅黑" panose="020B0503020204020204" pitchFamily="34" charset="-122"/>
                          <a:ea typeface="微软雅黑" panose="020B0503020204020204" pitchFamily="34" charset="-122"/>
                        </a:rPr>
                        <a:t>所有细胞膜上均有，</a:t>
                      </a:r>
                      <a:r>
                        <a:rPr lang="zh-CN" altLang="en-US" sz="2000" dirty="0">
                          <a:solidFill>
                            <a:srgbClr val="0000CC"/>
                          </a:solidFill>
                          <a:effectLst/>
                          <a:latin typeface="微软雅黑" panose="020B0503020204020204" pitchFamily="34" charset="-122"/>
                          <a:ea typeface="微软雅黑" panose="020B0503020204020204" pitchFamily="34" charset="-122"/>
                        </a:rPr>
                        <a:t>满足各细胞对葡萄糖的最低摄取</a:t>
                      </a:r>
                      <a:r>
                        <a:rPr lang="zh-CN" altLang="en-US" sz="2000" dirty="0">
                          <a:effectLst/>
                          <a:latin typeface="微软雅黑" panose="020B0503020204020204" pitchFamily="34" charset="-122"/>
                          <a:ea typeface="微软雅黑" panose="020B0503020204020204" pitchFamily="34" charset="-122"/>
                        </a:rPr>
                        <a:t>。红细胞、血脑屏障上皮细胞较多</a:t>
                      </a:r>
                      <a:r>
                        <a:rPr lang="en-US" sz="2000" dirty="0">
                          <a:effectLst/>
                          <a:latin typeface="微软雅黑" panose="020B0503020204020204" pitchFamily="34" charset="-122"/>
                          <a:ea typeface="微软雅黑" panose="020B0503020204020204" pitchFamily="34" charset="-122"/>
                        </a:rPr>
                        <a:t> </a:t>
                      </a:r>
                      <a:r>
                        <a:rPr lang="zh-CN" altLang="en-US" sz="2000" dirty="0">
                          <a:effectLst/>
                          <a:latin typeface="微软雅黑" panose="020B0503020204020204" pitchFamily="34" charset="-122"/>
                          <a:ea typeface="微软雅黑" panose="020B0503020204020204" pitchFamily="34" charset="-122"/>
                        </a:rPr>
                        <a:t>。</a:t>
                      </a:r>
                      <a:endParaRPr lang="en-US" sz="16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zh-CN" altLang="en-US" sz="2000" dirty="0">
                          <a:effectLst/>
                          <a:latin typeface="微软雅黑" panose="020B0503020204020204" pitchFamily="34" charset="-122"/>
                          <a:ea typeface="微软雅黑" panose="020B0503020204020204" pitchFamily="34" charset="-122"/>
                        </a:rPr>
                        <a:t>血糖高时，膜上的转运体减少，血糖低时，转运体增多。 </a:t>
                      </a:r>
                      <a:r>
                        <a:rPr lang="zh-CN" altLang="en-US" sz="2000" dirty="0">
                          <a:solidFill>
                            <a:srgbClr val="0000CC"/>
                          </a:solidFill>
                          <a:effectLst/>
                          <a:latin typeface="微软雅黑" panose="020B0503020204020204" pitchFamily="34" charset="-122"/>
                          <a:ea typeface="微软雅黑" panose="020B0503020204020204" pitchFamily="34" charset="-122"/>
                        </a:rPr>
                        <a:t>肿瘤细胞的</a:t>
                      </a:r>
                      <a:r>
                        <a:rPr lang="en-US" sz="2000" dirty="0">
                          <a:solidFill>
                            <a:srgbClr val="0000CC"/>
                          </a:solidFill>
                          <a:effectLst/>
                          <a:latin typeface="微软雅黑" panose="020B0503020204020204" pitchFamily="34" charset="-122"/>
                          <a:ea typeface="微软雅黑" panose="020B0503020204020204" pitchFamily="34" charset="-122"/>
                        </a:rPr>
                        <a:t>GLUT1 </a:t>
                      </a:r>
                      <a:r>
                        <a:rPr lang="zh-CN" altLang="en-US" sz="2000" dirty="0">
                          <a:solidFill>
                            <a:srgbClr val="0000CC"/>
                          </a:solidFill>
                          <a:effectLst/>
                          <a:latin typeface="微软雅黑" panose="020B0503020204020204" pitchFamily="34" charset="-122"/>
                          <a:ea typeface="微软雅黑" panose="020B0503020204020204" pitchFamily="34" charset="-122"/>
                        </a:rPr>
                        <a:t>增多</a:t>
                      </a:r>
                      <a:r>
                        <a:rPr lang="zh-CN" altLang="en-US" sz="2000" dirty="0">
                          <a:effectLst/>
                          <a:latin typeface="微软雅黑" panose="020B0503020204020204" pitchFamily="34" charset="-122"/>
                          <a:ea typeface="微软雅黑" panose="020B0503020204020204" pitchFamily="34" charset="-122"/>
                        </a:rPr>
                        <a:t>。</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1565744">
                <a:tc>
                  <a:txBody>
                    <a:bodyPr/>
                    <a:lstStyle/>
                    <a:p>
                      <a:r>
                        <a:rPr lang="en-US" sz="2000" u="none" strike="noStrike" dirty="0">
                          <a:solidFill>
                            <a:srgbClr val="0B0080"/>
                          </a:solidFill>
                          <a:effectLst/>
                          <a:latin typeface="微软雅黑" panose="020B0503020204020204" pitchFamily="34" charset="-122"/>
                          <a:ea typeface="微软雅黑" panose="020B0503020204020204" pitchFamily="34" charset="-122"/>
                        </a:rPr>
                        <a:t>GLUT2</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c>
                  <a:txBody>
                    <a:bodyPr/>
                    <a:lstStyle/>
                    <a:p>
                      <a:pPr>
                        <a:lnSpc>
                          <a:spcPct val="110000"/>
                        </a:lnSpc>
                      </a:pPr>
                      <a:r>
                        <a:rPr lang="zh-CN" altLang="en-US" sz="2000" kern="1200" dirty="0">
                          <a:solidFill>
                            <a:schemeClr val="tx1"/>
                          </a:solidFill>
                          <a:effectLst/>
                          <a:latin typeface="微软雅黑" panose="020B0503020204020204" pitchFamily="34" charset="-122"/>
                          <a:ea typeface="微软雅黑" panose="020B0503020204020204" pitchFamily="34" charset="-122"/>
                          <a:cs typeface="+mn-cs"/>
                        </a:rPr>
                        <a:t>见于</a:t>
                      </a:r>
                      <a:r>
                        <a:rPr lang="zh-CN" altLang="en-US" sz="2000" kern="1200" dirty="0">
                          <a:solidFill>
                            <a:srgbClr val="0000CC"/>
                          </a:solidFill>
                          <a:effectLst/>
                          <a:latin typeface="微软雅黑" panose="020B0503020204020204" pitchFamily="34" charset="-122"/>
                          <a:ea typeface="微软雅黑" panose="020B0503020204020204" pitchFamily="34" charset="-122"/>
                          <a:cs typeface="+mn-cs"/>
                        </a:rPr>
                        <a:t>肾小管上皮细胞</a:t>
                      </a:r>
                      <a:r>
                        <a:rPr lang="en-US" sz="2000" kern="1200" dirty="0">
                          <a:solidFill>
                            <a:srgbClr val="0000CC"/>
                          </a:solidFill>
                          <a:effectLst/>
                          <a:latin typeface="微软雅黑" panose="020B0503020204020204" pitchFamily="34" charset="-122"/>
                          <a:ea typeface="微软雅黑" panose="020B0503020204020204" pitchFamily="34" charset="-122"/>
                          <a:cs typeface="+mn-cs"/>
                        </a:rPr>
                        <a:t>, </a:t>
                      </a:r>
                      <a:r>
                        <a:rPr lang="zh-CN" altLang="en-US" sz="2000" kern="1200" dirty="0">
                          <a:solidFill>
                            <a:srgbClr val="C00000"/>
                          </a:solidFill>
                          <a:effectLst/>
                          <a:latin typeface="微软雅黑" panose="020B0503020204020204" pitchFamily="34" charset="-122"/>
                          <a:ea typeface="微软雅黑" panose="020B0503020204020204" pitchFamily="34" charset="-122"/>
                          <a:cs typeface="+mn-cs"/>
                        </a:rPr>
                        <a:t>肝细胞</a:t>
                      </a:r>
                      <a:r>
                        <a:rPr lang="zh-CN" altLang="en-US" sz="2000" kern="1200" dirty="0">
                          <a:solidFill>
                            <a:schemeClr val="tx1"/>
                          </a:solidFill>
                          <a:effectLst/>
                          <a:latin typeface="微软雅黑" panose="020B0503020204020204" pitchFamily="34" charset="-122"/>
                          <a:ea typeface="微软雅黑" panose="020B0503020204020204" pitchFamily="34" charset="-122"/>
                          <a:cs typeface="+mn-cs"/>
                        </a:rPr>
                        <a:t>和</a:t>
                      </a:r>
                      <a:r>
                        <a:rPr lang="zh-CN" altLang="en-US" sz="2000" kern="1200" dirty="0">
                          <a:solidFill>
                            <a:srgbClr val="C00000"/>
                          </a:solidFill>
                          <a:effectLst/>
                          <a:latin typeface="微软雅黑" panose="020B0503020204020204" pitchFamily="34" charset="-122"/>
                          <a:ea typeface="微软雅黑" panose="020B0503020204020204" pitchFamily="34" charset="-122"/>
                          <a:cs typeface="+mn-cs"/>
                        </a:rPr>
                        <a:t>胰腺</a:t>
                      </a:r>
                      <a:r>
                        <a:rPr lang="el-GR" altLang="zh-CN" sz="2000" kern="1200" dirty="0">
                          <a:solidFill>
                            <a:srgbClr val="C00000"/>
                          </a:solidFill>
                          <a:effectLst/>
                          <a:latin typeface="微软雅黑" panose="020B0503020204020204" pitchFamily="34" charset="-122"/>
                          <a:ea typeface="微软雅黑" panose="020B0503020204020204" pitchFamily="34" charset="-122"/>
                          <a:cs typeface="+mn-cs"/>
                        </a:rPr>
                        <a:t>β</a:t>
                      </a:r>
                      <a:r>
                        <a:rPr lang="zh-CN" altLang="en-US" sz="2000" kern="1200" dirty="0">
                          <a:solidFill>
                            <a:srgbClr val="C00000"/>
                          </a:solidFill>
                          <a:effectLst/>
                          <a:latin typeface="微软雅黑" panose="020B0503020204020204" pitchFamily="34" charset="-122"/>
                          <a:ea typeface="微软雅黑" panose="020B0503020204020204" pitchFamily="34" charset="-122"/>
                          <a:cs typeface="+mn-cs"/>
                        </a:rPr>
                        <a:t>细胞</a:t>
                      </a:r>
                      <a:r>
                        <a:rPr lang="zh-CN" altLang="en-US" sz="200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2000" kern="1200" dirty="0">
                          <a:solidFill>
                            <a:srgbClr val="0000CC"/>
                          </a:solidFill>
                          <a:effectLst/>
                          <a:latin typeface="微软雅黑" panose="020B0503020204020204" pitchFamily="34" charset="-122"/>
                          <a:ea typeface="微软雅黑" panose="020B0503020204020204" pitchFamily="34" charset="-122"/>
                          <a:cs typeface="+mn-cs"/>
                        </a:rPr>
                        <a:t>小肠粘膜细胞基底侧</a:t>
                      </a:r>
                      <a:r>
                        <a:rPr lang="zh-CN" altLang="en-US" sz="2000" kern="1200" dirty="0">
                          <a:solidFill>
                            <a:schemeClr val="tx1"/>
                          </a:solidFill>
                          <a:effectLst/>
                          <a:latin typeface="微软雅黑" panose="020B0503020204020204" pitchFamily="34" charset="-122"/>
                          <a:ea typeface="微软雅黑" panose="020B0503020204020204" pitchFamily="34" charset="-122"/>
                          <a:cs typeface="+mn-cs"/>
                        </a:rPr>
                        <a:t>。</a:t>
                      </a:r>
                      <a:r>
                        <a:rPr lang="en-US" sz="2000" kern="1200" dirty="0">
                          <a:solidFill>
                            <a:schemeClr val="tx1"/>
                          </a:solidFill>
                          <a:effectLst/>
                          <a:latin typeface="微软雅黑" panose="020B0503020204020204" pitchFamily="34" charset="-122"/>
                          <a:ea typeface="微软雅黑" panose="020B0503020204020204" pitchFamily="34" charset="-122"/>
                          <a:cs typeface="+mn-cs"/>
                        </a:rPr>
                        <a:t> </a:t>
                      </a:r>
                      <a:endParaRPr lang="en-US" altLang="zh-CN" sz="2000" kern="1200" dirty="0">
                        <a:solidFill>
                          <a:schemeClr val="tx1"/>
                        </a:solidFill>
                        <a:effectLst/>
                        <a:latin typeface="微软雅黑" panose="020B0503020204020204" pitchFamily="34" charset="-122"/>
                        <a:ea typeface="微软雅黑" panose="020B0503020204020204" pitchFamily="34" charset="-122"/>
                        <a:cs typeface="+mn-cs"/>
                      </a:endParaRPr>
                    </a:p>
                    <a:p>
                      <a:pPr>
                        <a:lnSpc>
                          <a:spcPct val="110000"/>
                        </a:lnSpc>
                        <a:spcBef>
                          <a:spcPts val="600"/>
                        </a:spcBef>
                      </a:pPr>
                      <a:r>
                        <a:rPr lang="zh-CN" altLang="en-US" sz="2000" kern="1200" dirty="0">
                          <a:solidFill>
                            <a:schemeClr val="tx1"/>
                          </a:solidFill>
                          <a:effectLst/>
                          <a:latin typeface="微软雅黑" panose="020B0503020204020204" pitchFamily="34" charset="-122"/>
                          <a:ea typeface="微软雅黑" panose="020B0503020204020204" pitchFamily="34" charset="-122"/>
                          <a:cs typeface="+mn-cs"/>
                        </a:rPr>
                        <a:t>葡萄糖、半乳糖、果糖均通过此转运体由肠粘膜细胞进入血循环。</a:t>
                      </a:r>
                      <a:endParaRPr lang="en-US" sz="1600" kern="1200" dirty="0">
                        <a:solidFill>
                          <a:schemeClr val="tx1"/>
                        </a:solidFill>
                        <a:effectLst/>
                        <a:latin typeface="微软雅黑" panose="020B0503020204020204" pitchFamily="34" charset="-122"/>
                        <a:ea typeface="微软雅黑" panose="020B0503020204020204" pitchFamily="34" charset="-122"/>
                        <a:cs typeface="+mn-cs"/>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c>
                  <a:txBody>
                    <a:bodyPr/>
                    <a:lstStyle/>
                    <a:p>
                      <a:r>
                        <a:rPr lang="zh-CN" altLang="en-US" sz="2400" b="0" kern="1200" dirty="0">
                          <a:solidFill>
                            <a:schemeClr val="tx1"/>
                          </a:solidFill>
                          <a:effectLst/>
                          <a:latin typeface="微软雅黑" panose="020B0503020204020204" pitchFamily="34" charset="-122"/>
                          <a:ea typeface="微软雅黑" panose="020B0503020204020204" pitchFamily="34" charset="-122"/>
                          <a:cs typeface="+mn-cs"/>
                        </a:rPr>
                        <a:t>不受激素影响。 高频，</a:t>
                      </a:r>
                      <a:r>
                        <a:rPr lang="zh-CN" altLang="en-US" sz="2400" b="1" kern="1200" dirty="0">
                          <a:solidFill>
                            <a:schemeClr val="tx1"/>
                          </a:solidFill>
                          <a:effectLst/>
                          <a:latin typeface="微软雅黑" panose="020B0503020204020204" pitchFamily="34" charset="-122"/>
                          <a:ea typeface="微软雅黑" panose="020B0503020204020204" pitchFamily="34" charset="-122"/>
                          <a:cs typeface="+mn-cs"/>
                        </a:rPr>
                        <a:t>低亲和力类型</a:t>
                      </a:r>
                      <a:r>
                        <a:rPr lang="zh-CN" altLang="en-US" sz="240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2400" kern="1200" dirty="0">
                          <a:solidFill>
                            <a:srgbClr val="C00000"/>
                          </a:solidFill>
                          <a:effectLst/>
                          <a:latin typeface="微软雅黑" panose="020B0503020204020204" pitchFamily="34" charset="-122"/>
                          <a:ea typeface="微软雅黑" panose="020B0503020204020204" pitchFamily="34" charset="-122"/>
                          <a:cs typeface="+mn-cs"/>
                        </a:rPr>
                        <a:t>可逆向转运。 </a:t>
                      </a:r>
                      <a:endParaRPr lang="en-US" sz="2400" kern="1200" dirty="0">
                        <a:solidFill>
                          <a:srgbClr val="C00000"/>
                        </a:solidFill>
                        <a:effectLst/>
                        <a:latin typeface="微软雅黑" panose="020B0503020204020204" pitchFamily="34" charset="-122"/>
                        <a:ea typeface="微软雅黑" panose="020B0503020204020204" pitchFamily="34" charset="-122"/>
                        <a:cs typeface="+mn-cs"/>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r>
              <a:tr h="875184">
                <a:tc>
                  <a:txBody>
                    <a:bodyPr/>
                    <a:lstStyle/>
                    <a:p>
                      <a:r>
                        <a:rPr lang="en-US" sz="2000" u="none" strike="noStrike" dirty="0">
                          <a:solidFill>
                            <a:srgbClr val="0B0080"/>
                          </a:solidFill>
                          <a:effectLst/>
                          <a:latin typeface="微软雅黑" panose="020B0503020204020204" pitchFamily="34" charset="-122"/>
                          <a:ea typeface="微软雅黑" panose="020B0503020204020204" pitchFamily="34" charset="-122"/>
                        </a:rPr>
                        <a:t>GLUT3</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zh-CN" altLang="en-US" sz="2000" b="1" dirty="0">
                          <a:effectLst/>
                          <a:latin typeface="微软雅黑" panose="020B0503020204020204" pitchFamily="34" charset="-122"/>
                          <a:ea typeface="微软雅黑" panose="020B0503020204020204" pitchFamily="34" charset="-122"/>
                        </a:rPr>
                        <a:t>主要见于神经元</a:t>
                      </a:r>
                      <a:r>
                        <a:rPr lang="zh-CN" altLang="en-US" sz="2000" dirty="0">
                          <a:effectLst/>
                          <a:latin typeface="微软雅黑" panose="020B0503020204020204" pitchFamily="34" charset="-122"/>
                          <a:ea typeface="微软雅黑" panose="020B0503020204020204" pitchFamily="34" charset="-122"/>
                        </a:rPr>
                        <a:t>，是神经元的主要葡萄糖转运体， 也见于胎盘。</a:t>
                      </a:r>
                      <a:endParaRPr lang="en-US" sz="16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c>
                  <a:txBody>
                    <a:bodyPr/>
                    <a:lstStyle/>
                    <a:p>
                      <a:r>
                        <a:rPr lang="zh-CN" altLang="en-US" sz="2400" b="1" dirty="0">
                          <a:solidFill>
                            <a:srgbClr val="0000CC"/>
                          </a:solidFill>
                          <a:effectLst/>
                          <a:latin typeface="微软雅黑" panose="020B0503020204020204" pitchFamily="34" charset="-122"/>
                          <a:ea typeface="微软雅黑" panose="020B0503020204020204" pitchFamily="34" charset="-122"/>
                        </a:rPr>
                        <a:t>高亲和力型</a:t>
                      </a:r>
                      <a:r>
                        <a:rPr lang="zh-CN" altLang="en-US" sz="2400" dirty="0">
                          <a:effectLst/>
                          <a:latin typeface="微软雅黑" panose="020B0503020204020204" pitchFamily="34" charset="-122"/>
                          <a:ea typeface="微软雅黑" panose="020B0503020204020204" pitchFamily="34" charset="-122"/>
                        </a:rPr>
                        <a:t>，</a:t>
                      </a:r>
                      <a:r>
                        <a:rPr lang="zh-CN" altLang="en-US" sz="2000" dirty="0">
                          <a:effectLst/>
                          <a:latin typeface="微软雅黑" panose="020B0503020204020204" pitchFamily="34" charset="-122"/>
                          <a:ea typeface="微软雅黑" panose="020B0503020204020204" pitchFamily="34" charset="-122"/>
                        </a:rPr>
                        <a:t>在血糖浓度很低时也能转运葡萄糖到细胞内。</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rgbClr val="F8F9FA"/>
                    </a:solidFill>
                  </a:tcPr>
                </a:tc>
              </a:tr>
              <a:tr h="586550">
                <a:tc>
                  <a:txBody>
                    <a:bodyPr/>
                    <a:lstStyle/>
                    <a:p>
                      <a:r>
                        <a:rPr lang="en-US" sz="2000" u="none" strike="noStrike" dirty="0">
                          <a:solidFill>
                            <a:srgbClr val="0B0080"/>
                          </a:solidFill>
                          <a:effectLst/>
                          <a:latin typeface="微软雅黑" panose="020B0503020204020204" pitchFamily="34" charset="-122"/>
                          <a:ea typeface="微软雅黑" panose="020B0503020204020204" pitchFamily="34" charset="-122"/>
                        </a:rPr>
                        <a:t>GLUT4</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c>
                  <a:txBody>
                    <a:bodyPr/>
                    <a:lstStyle/>
                    <a:p>
                      <a:r>
                        <a:rPr lang="zh-CN" altLang="en-US" sz="2400" dirty="0">
                          <a:solidFill>
                            <a:srgbClr val="C00000"/>
                          </a:solidFill>
                          <a:effectLst/>
                          <a:latin typeface="微软雅黑" panose="020B0503020204020204" pitchFamily="34" charset="-122"/>
                          <a:ea typeface="微软雅黑" panose="020B0503020204020204" pitchFamily="34" charset="-122"/>
                        </a:rPr>
                        <a:t>脂肪组织、骨骼肌和心肌细胞</a:t>
                      </a:r>
                      <a:endParaRPr lang="en-US" sz="1600" dirty="0">
                        <a:solidFill>
                          <a:srgbClr val="C00000"/>
                        </a:solidFill>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c>
                  <a:txBody>
                    <a:bodyPr/>
                    <a:lstStyle/>
                    <a:p>
                      <a:r>
                        <a:rPr lang="zh-CN" altLang="en-US" sz="2400" dirty="0">
                          <a:solidFill>
                            <a:srgbClr val="C00000"/>
                          </a:solidFill>
                          <a:effectLst/>
                          <a:latin typeface="微软雅黑" panose="020B0503020204020204" pitchFamily="34" charset="-122"/>
                          <a:ea typeface="微软雅黑" panose="020B0503020204020204" pitchFamily="34" charset="-122"/>
                        </a:rPr>
                        <a:t>受胰岛素调节。</a:t>
                      </a:r>
                      <a:r>
                        <a:rPr lang="zh-CN" altLang="en-US" sz="1800" dirty="0">
                          <a:solidFill>
                            <a:schemeClr val="tx1">
                              <a:lumMod val="95000"/>
                              <a:lumOff val="5000"/>
                            </a:schemeClr>
                          </a:solidFill>
                          <a:effectLst/>
                          <a:latin typeface="微软雅黑" panose="020B0503020204020204" pitchFamily="34" charset="-122"/>
                          <a:ea typeface="微软雅黑" panose="020B0503020204020204" pitchFamily="34" charset="-122"/>
                        </a:rPr>
                        <a:t>在胰岛素分泌少时呆在细胞质的囊泡里，胰岛素分泌增加时，囊泡移向细胞膜，</a:t>
                      </a:r>
                      <a:r>
                        <a:rPr lang="en-US" altLang="zh-CN" sz="1800" dirty="0">
                          <a:solidFill>
                            <a:schemeClr val="tx1">
                              <a:lumMod val="95000"/>
                              <a:lumOff val="5000"/>
                            </a:schemeClr>
                          </a:solidFill>
                          <a:effectLst/>
                          <a:latin typeface="微软雅黑" panose="020B0503020204020204" pitchFamily="34" charset="-122"/>
                          <a:ea typeface="微软雅黑" panose="020B0503020204020204" pitchFamily="34" charset="-122"/>
                        </a:rPr>
                        <a:t>GLUT4</a:t>
                      </a:r>
                      <a:r>
                        <a:rPr lang="zh-CN" altLang="en-US" sz="1800" dirty="0">
                          <a:solidFill>
                            <a:schemeClr val="tx1">
                              <a:lumMod val="95000"/>
                              <a:lumOff val="5000"/>
                            </a:schemeClr>
                          </a:solidFill>
                          <a:effectLst/>
                          <a:latin typeface="微软雅黑" panose="020B0503020204020204" pitchFamily="34" charset="-122"/>
                          <a:ea typeface="微软雅黑" panose="020B0503020204020204" pitchFamily="34" charset="-122"/>
                        </a:rPr>
                        <a:t>出现在膜上。</a:t>
                      </a:r>
                      <a:endParaRPr lang="en-US" sz="1800" dirty="0">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r>
              <a:tr h="586550">
                <a:tc>
                  <a:txBody>
                    <a:bodyPr/>
                    <a:lstStyle/>
                    <a:p>
                      <a:r>
                        <a:rPr lang="en-US" sz="2000" dirty="0">
                          <a:effectLst/>
                          <a:latin typeface="微软雅黑" panose="020B0503020204020204" pitchFamily="34" charset="-122"/>
                          <a:ea typeface="微软雅黑" panose="020B0503020204020204" pitchFamily="34" charset="-122"/>
                        </a:rPr>
                        <a:t>GLUT5</a:t>
                      </a:r>
                      <a:endParaRPr lang="en-US" sz="2000" dirty="0">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c>
                  <a:txBody>
                    <a:bodyPr/>
                    <a:lstStyle/>
                    <a:p>
                      <a:r>
                        <a:rPr lang="zh-CN" altLang="en-US" sz="2000" kern="1200" dirty="0">
                          <a:solidFill>
                            <a:schemeClr val="tx1"/>
                          </a:solidFill>
                          <a:effectLst/>
                          <a:latin typeface="微软雅黑" panose="020B0503020204020204" pitchFamily="34" charset="-122"/>
                          <a:ea typeface="微软雅黑" panose="020B0503020204020204" pitchFamily="34" charset="-122"/>
                          <a:cs typeface="+mn-cs"/>
                        </a:rPr>
                        <a:t>小肠 </a:t>
                      </a:r>
                      <a:endParaRPr lang="en-US" sz="2000" kern="1200" dirty="0">
                        <a:solidFill>
                          <a:schemeClr val="tx1"/>
                        </a:solidFill>
                        <a:effectLst/>
                        <a:latin typeface="微软雅黑" panose="020B0503020204020204" pitchFamily="34" charset="-122"/>
                        <a:ea typeface="微软雅黑" panose="020B0503020204020204" pitchFamily="34" charset="-122"/>
                        <a:cs typeface="+mn-cs"/>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c>
                  <a:txBody>
                    <a:bodyPr/>
                    <a:lstStyle/>
                    <a:p>
                      <a:r>
                        <a:rPr lang="zh-CN" altLang="en-US" sz="1800" dirty="0">
                          <a:solidFill>
                            <a:schemeClr val="tx1">
                              <a:lumMod val="95000"/>
                              <a:lumOff val="5000"/>
                            </a:schemeClr>
                          </a:solidFill>
                          <a:effectLst/>
                          <a:latin typeface="微软雅黑" panose="020B0503020204020204" pitchFamily="34" charset="-122"/>
                          <a:ea typeface="微软雅黑" panose="020B0503020204020204" pitchFamily="34" charset="-122"/>
                        </a:rPr>
                        <a:t>果糖转运体</a:t>
                      </a:r>
                      <a:endParaRPr lang="en-US" sz="1800" dirty="0">
                        <a:solidFill>
                          <a:schemeClr val="tx1">
                            <a:lumMod val="95000"/>
                            <a:lumOff val="5000"/>
                          </a:schemeClr>
                        </a:solidFill>
                        <a:effectLst/>
                        <a:latin typeface="微软雅黑" panose="020B0503020204020204" pitchFamily="34" charset="-122"/>
                        <a:ea typeface="微软雅黑" panose="020B0503020204020204" pitchFamily="34" charset="-122"/>
                      </a:endParaRPr>
                    </a:p>
                  </a:txBody>
                  <a:tcPr marL="25404" marR="25404" marT="12701" marB="12701" anchor="ctr">
                    <a:lnL w="9525" cap="flat" cmpd="sng" algn="ctr">
                      <a:solidFill>
                        <a:srgbClr val="A2A9B1"/>
                      </a:solidFill>
                      <a:prstDash val="solid"/>
                      <a:round/>
                      <a:headEnd type="none" w="med" len="med"/>
                      <a:tailEnd type="none" w="med" len="med"/>
                    </a:lnL>
                    <a:lnR w="9525" cap="flat" cmpd="sng" algn="ctr">
                      <a:solidFill>
                        <a:srgbClr val="A2A9B1"/>
                      </a:solidFill>
                      <a:prstDash val="solid"/>
                      <a:round/>
                      <a:headEnd type="none" w="med" len="med"/>
                      <a:tailEnd type="none" w="med" len="med"/>
                    </a:lnR>
                    <a:lnT w="9525" cap="flat" cmpd="sng" algn="ctr">
                      <a:solidFill>
                        <a:srgbClr val="A2A9B1"/>
                      </a:solidFill>
                      <a:prstDash val="solid"/>
                      <a:round/>
                      <a:headEnd type="none" w="med" len="med"/>
                      <a:tailEnd type="none" w="med" len="med"/>
                    </a:lnT>
                    <a:lnB w="9525" cap="flat" cmpd="sng" algn="ctr">
                      <a:solidFill>
                        <a:srgbClr val="A2A9B1"/>
                      </a:solidFill>
                      <a:prstDash val="solid"/>
                      <a:round/>
                      <a:headEnd type="none" w="med" len="med"/>
                      <a:tailEnd type="none" w="med" len="med"/>
                    </a:lnB>
                    <a:solidFill>
                      <a:schemeClr val="bg1"/>
                    </a:solidFill>
                  </a:tcPr>
                </a:tc>
              </a:tr>
            </a:tbl>
          </a:graphicData>
        </a:graphic>
      </p:graphicFrame>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body" sz="half" idx="1"/>
          </p:nvPr>
        </p:nvSpPr>
        <p:spPr>
          <a:xfrm>
            <a:off x="3351213" y="401638"/>
            <a:ext cx="5473700" cy="792162"/>
          </a:xfrm>
        </p:spPr>
        <p:txBody>
          <a:bodyPr/>
          <a:lstStyle/>
          <a:p>
            <a:pPr algn="ctr" eaLnBrk="1" hangingPunct="1">
              <a:buFont typeface="Wingdings" panose="05000000000000000000" pitchFamily="2" charset="2"/>
              <a:buNone/>
            </a:pPr>
            <a:r>
              <a:rPr lang="zh-CN" altLang="en-US" sz="4000" b="0">
                <a:solidFill>
                  <a:srgbClr val="660033"/>
                </a:solidFill>
                <a:latin typeface="黑体" panose="02010609060101010101" pitchFamily="2" charset="-122"/>
                <a:ea typeface="黑体" panose="02010609060101010101" pitchFamily="2" charset="-122"/>
              </a:rPr>
              <a:t>糖 代 谢 概 况 </a:t>
            </a:r>
            <a:endParaRPr lang="zh-CN" altLang="en-US" sz="4000" b="0">
              <a:solidFill>
                <a:srgbClr val="660033"/>
              </a:solidFill>
              <a:latin typeface="黑体" panose="02010609060101010101" pitchFamily="2" charset="-122"/>
              <a:ea typeface="黑体" panose="02010609060101010101" pitchFamily="2" charset="-122"/>
            </a:endParaRPr>
          </a:p>
        </p:txBody>
      </p:sp>
      <p:sp>
        <p:nvSpPr>
          <p:cNvPr id="362499" name="Text Box 3"/>
          <p:cNvSpPr txBox="1">
            <a:spLocks noChangeArrowheads="1"/>
          </p:cNvSpPr>
          <p:nvPr/>
        </p:nvSpPr>
        <p:spPr bwMode="auto">
          <a:xfrm>
            <a:off x="4192588" y="3000376"/>
            <a:ext cx="2214562" cy="1014413"/>
          </a:xfrm>
          <a:prstGeom prst="rect">
            <a:avLst/>
          </a:prstGeom>
          <a:solidFill>
            <a:srgbClr val="FFCCFF"/>
          </a:solidFill>
          <a:ln w="9525">
            <a:solidFill>
              <a:srgbClr val="FFCCFF"/>
            </a:solidFill>
            <a:miter lim="800000"/>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b="0" dirty="0">
                <a:latin typeface="微软雅黑" panose="020B0503020204020204" pitchFamily="34" charset="-122"/>
                <a:ea typeface="微软雅黑" panose="020B0503020204020204" pitchFamily="34" charset="-122"/>
              </a:rPr>
              <a:t>血糖</a:t>
            </a:r>
            <a:r>
              <a:rPr kumimoji="1" lang="en-US" altLang="zh-CN" sz="2800" b="0" dirty="0">
                <a:latin typeface="微软雅黑" panose="020B0503020204020204" pitchFamily="34" charset="-122"/>
                <a:ea typeface="微软雅黑" panose="020B0503020204020204" pitchFamily="34" charset="-122"/>
              </a:rPr>
              <a:t>3.9~6.0mM</a:t>
            </a:r>
            <a:endParaRPr kumimoji="1" lang="en-US" altLang="zh-CN" sz="2800" b="0"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6551615" y="3286924"/>
            <a:ext cx="1290638" cy="461963"/>
            <a:chOff x="3131" y="2123"/>
            <a:chExt cx="813" cy="291"/>
          </a:xfrm>
        </p:grpSpPr>
        <p:sp>
          <p:nvSpPr>
            <p:cNvPr id="67626" name="Line 5"/>
            <p:cNvSpPr>
              <a:spLocks noChangeShapeType="1"/>
            </p:cNvSpPr>
            <p:nvPr/>
          </p:nvSpPr>
          <p:spPr bwMode="auto">
            <a:xfrm flipV="1">
              <a:off x="3138" y="2400"/>
              <a:ext cx="558" cy="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627" name="Text Box 6"/>
            <p:cNvSpPr txBox="1">
              <a:spLocks noChangeArrowheads="1"/>
            </p:cNvSpPr>
            <p:nvPr/>
          </p:nvSpPr>
          <p:spPr bwMode="auto">
            <a:xfrm>
              <a:off x="3131" y="2123"/>
              <a:ext cx="81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dirty="0">
                  <a:solidFill>
                    <a:srgbClr val="FF0000"/>
                  </a:solidFill>
                  <a:latin typeface="微软雅黑" panose="020B0503020204020204" pitchFamily="34" charset="-122"/>
                  <a:ea typeface="微软雅黑" panose="020B0503020204020204" pitchFamily="34" charset="-122"/>
                </a:rPr>
                <a:t>糖酵解  </a:t>
              </a:r>
              <a:endParaRPr kumimoji="1" lang="zh-CN" altLang="en-US" sz="2400" b="0" dirty="0">
                <a:solidFill>
                  <a:srgbClr val="FF0000"/>
                </a:solidFill>
                <a:latin typeface="微软雅黑" panose="020B0503020204020204" pitchFamily="34" charset="-122"/>
                <a:ea typeface="微软雅黑" panose="020B0503020204020204" pitchFamily="34" charset="-122"/>
              </a:endParaRPr>
            </a:p>
          </p:txBody>
        </p:sp>
      </p:grpSp>
      <p:sp>
        <p:nvSpPr>
          <p:cNvPr id="362503" name="Text Box 7"/>
          <p:cNvSpPr txBox="1">
            <a:spLocks noChangeArrowheads="1"/>
          </p:cNvSpPr>
          <p:nvPr/>
        </p:nvSpPr>
        <p:spPr bwMode="auto">
          <a:xfrm>
            <a:off x="7596845" y="3508376"/>
            <a:ext cx="1158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latin typeface="微软雅黑" panose="020B0503020204020204" pitchFamily="34" charset="-122"/>
                <a:ea typeface="微软雅黑" panose="020B0503020204020204" pitchFamily="34" charset="-122"/>
              </a:rPr>
              <a:t>丙酮酸  </a:t>
            </a:r>
            <a:endParaRPr kumimoji="1" lang="zh-CN" altLang="en-US" sz="2400" dirty="0">
              <a:latin typeface="微软雅黑" panose="020B0503020204020204" pitchFamily="34" charset="-122"/>
              <a:ea typeface="微软雅黑" panose="020B0503020204020204" pitchFamily="34" charset="-122"/>
            </a:endParaRPr>
          </a:p>
        </p:txBody>
      </p:sp>
      <p:grpSp>
        <p:nvGrpSpPr>
          <p:cNvPr id="3" name="Group 8"/>
          <p:cNvGrpSpPr/>
          <p:nvPr/>
        </p:nvGrpSpPr>
        <p:grpSpPr bwMode="auto">
          <a:xfrm>
            <a:off x="8604907" y="2965451"/>
            <a:ext cx="919162" cy="704850"/>
            <a:chOff x="4226" y="1895"/>
            <a:chExt cx="579" cy="444"/>
          </a:xfrm>
        </p:grpSpPr>
        <p:sp>
          <p:nvSpPr>
            <p:cNvPr id="67624" name="Line 9"/>
            <p:cNvSpPr>
              <a:spLocks noChangeShapeType="1"/>
            </p:cNvSpPr>
            <p:nvPr/>
          </p:nvSpPr>
          <p:spPr bwMode="auto">
            <a:xfrm flipV="1">
              <a:off x="4272" y="2051"/>
              <a:ext cx="533"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625" name="Text Box 10"/>
            <p:cNvSpPr txBox="1">
              <a:spLocks noChangeArrowheads="1"/>
            </p:cNvSpPr>
            <p:nvPr/>
          </p:nvSpPr>
          <p:spPr bwMode="auto">
            <a:xfrm>
              <a:off x="4226" y="1895"/>
              <a:ext cx="52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rgbClr val="FF0000"/>
                  </a:solidFill>
                  <a:latin typeface="微软雅黑" panose="020B0503020204020204" pitchFamily="34" charset="-122"/>
                  <a:ea typeface="微软雅黑" panose="020B0503020204020204" pitchFamily="34" charset="-122"/>
                </a:rPr>
                <a:t>有氧</a:t>
              </a:r>
              <a:r>
                <a:rPr kumimoji="1" lang="zh-CN" altLang="en-US" sz="1800" b="0">
                  <a:latin typeface="微软雅黑" panose="020B0503020204020204" pitchFamily="34" charset="-122"/>
                  <a:ea typeface="微软雅黑" panose="020B0503020204020204" pitchFamily="34" charset="-122"/>
                </a:rPr>
                <a:t>  </a:t>
              </a:r>
              <a:endParaRPr kumimoji="1" lang="zh-CN" altLang="en-US" sz="1800" b="0">
                <a:latin typeface="微软雅黑" panose="020B0503020204020204" pitchFamily="34" charset="-122"/>
                <a:ea typeface="微软雅黑" panose="020B0503020204020204" pitchFamily="34" charset="-122"/>
              </a:endParaRPr>
            </a:p>
          </p:txBody>
        </p:sp>
      </p:grpSp>
      <p:grpSp>
        <p:nvGrpSpPr>
          <p:cNvPr id="4" name="Group 11"/>
          <p:cNvGrpSpPr/>
          <p:nvPr/>
        </p:nvGrpSpPr>
        <p:grpSpPr bwMode="auto">
          <a:xfrm>
            <a:off x="8677932" y="3795714"/>
            <a:ext cx="990600" cy="574675"/>
            <a:chOff x="4272" y="2483"/>
            <a:chExt cx="624" cy="362"/>
          </a:xfrm>
        </p:grpSpPr>
        <p:sp>
          <p:nvSpPr>
            <p:cNvPr id="67622" name="Line 12"/>
            <p:cNvSpPr>
              <a:spLocks noChangeShapeType="1"/>
            </p:cNvSpPr>
            <p:nvPr/>
          </p:nvSpPr>
          <p:spPr bwMode="auto">
            <a:xfrm>
              <a:off x="4272" y="2483"/>
              <a:ext cx="624"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623" name="Text Box 13"/>
            <p:cNvSpPr txBox="1">
              <a:spLocks noChangeArrowheads="1"/>
            </p:cNvSpPr>
            <p:nvPr/>
          </p:nvSpPr>
          <p:spPr bwMode="auto">
            <a:xfrm>
              <a:off x="4272" y="2593"/>
              <a:ext cx="5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rgbClr val="FF0000"/>
                  </a:solidFill>
                  <a:latin typeface="微软雅黑" panose="020B0503020204020204" pitchFamily="34" charset="-122"/>
                  <a:ea typeface="微软雅黑" panose="020B0503020204020204" pitchFamily="34" charset="-122"/>
                </a:rPr>
                <a:t>无氧</a:t>
              </a:r>
              <a:r>
                <a:rPr kumimoji="1" lang="zh-CN" altLang="en-US" sz="1600" b="0">
                  <a:latin typeface="微软雅黑" panose="020B0503020204020204" pitchFamily="34" charset="-122"/>
                  <a:ea typeface="微软雅黑" panose="020B0503020204020204" pitchFamily="34" charset="-122"/>
                </a:rPr>
                <a:t>    </a:t>
              </a:r>
              <a:endParaRPr kumimoji="1" lang="zh-CN" altLang="en-US" sz="1600" b="0">
                <a:latin typeface="微软雅黑" panose="020B0503020204020204" pitchFamily="34" charset="-122"/>
                <a:ea typeface="微软雅黑" panose="020B0503020204020204" pitchFamily="34" charset="-122"/>
              </a:endParaRPr>
            </a:p>
          </p:txBody>
        </p:sp>
      </p:grpSp>
      <p:sp>
        <p:nvSpPr>
          <p:cNvPr id="362510" name="Text Box 14"/>
          <p:cNvSpPr txBox="1">
            <a:spLocks noChangeArrowheads="1"/>
          </p:cNvSpPr>
          <p:nvPr/>
        </p:nvSpPr>
        <p:spPr bwMode="auto">
          <a:xfrm>
            <a:off x="9465332" y="2943226"/>
            <a:ext cx="1725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t>H</a:t>
            </a:r>
            <a:r>
              <a:rPr kumimoji="1" lang="en-US" altLang="zh-CN" sz="2400" b="0" baseline="-25000"/>
              <a:t>2</a:t>
            </a:r>
            <a:r>
              <a:rPr kumimoji="1" lang="en-US" altLang="zh-CN" sz="2400" b="0"/>
              <a:t>O</a:t>
            </a:r>
            <a:r>
              <a:rPr kumimoji="1" lang="zh-CN" altLang="en-US" sz="2400" b="0"/>
              <a:t>及</a:t>
            </a:r>
            <a:r>
              <a:rPr kumimoji="1" lang="en-US" altLang="zh-CN" sz="2400" b="0"/>
              <a:t>CO</a:t>
            </a:r>
            <a:r>
              <a:rPr kumimoji="1" lang="en-US" altLang="zh-CN" sz="2400" b="0" baseline="-25000"/>
              <a:t>2  </a:t>
            </a:r>
            <a:endParaRPr kumimoji="1" lang="en-US" altLang="zh-CN" sz="2400" b="0" baseline="-25000"/>
          </a:p>
        </p:txBody>
      </p:sp>
      <p:sp>
        <p:nvSpPr>
          <p:cNvPr id="362511" name="Text Box 15"/>
          <p:cNvSpPr txBox="1">
            <a:spLocks noChangeArrowheads="1"/>
          </p:cNvSpPr>
          <p:nvPr/>
        </p:nvSpPr>
        <p:spPr bwMode="auto">
          <a:xfrm>
            <a:off x="9612970" y="3868739"/>
            <a:ext cx="982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latin typeface="微软雅黑" panose="020B0503020204020204" pitchFamily="34" charset="-122"/>
                <a:ea typeface="微软雅黑" panose="020B0503020204020204" pitchFamily="34" charset="-122"/>
              </a:rPr>
              <a:t>乳酸  </a:t>
            </a:r>
            <a:endParaRPr kumimoji="1" lang="zh-CN" altLang="en-US" sz="2400" b="0">
              <a:latin typeface="微软雅黑" panose="020B0503020204020204" pitchFamily="34" charset="-122"/>
              <a:ea typeface="微软雅黑" panose="020B0503020204020204" pitchFamily="34" charset="-122"/>
            </a:endParaRPr>
          </a:p>
        </p:txBody>
      </p:sp>
      <p:grpSp>
        <p:nvGrpSpPr>
          <p:cNvPr id="5" name="Group 16"/>
          <p:cNvGrpSpPr/>
          <p:nvPr/>
        </p:nvGrpSpPr>
        <p:grpSpPr bwMode="auto">
          <a:xfrm>
            <a:off x="5232400" y="4151313"/>
            <a:ext cx="2709863" cy="863600"/>
            <a:chOff x="2517" y="2931"/>
            <a:chExt cx="1707" cy="544"/>
          </a:xfrm>
        </p:grpSpPr>
        <p:sp>
          <p:nvSpPr>
            <p:cNvPr id="67620" name="Line 17"/>
            <p:cNvSpPr>
              <a:spLocks noChangeShapeType="1"/>
            </p:cNvSpPr>
            <p:nvPr/>
          </p:nvSpPr>
          <p:spPr bwMode="auto">
            <a:xfrm flipH="1" flipV="1">
              <a:off x="2517" y="2931"/>
              <a:ext cx="318" cy="5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519" name="Text Box 18"/>
            <p:cNvSpPr txBox="1">
              <a:spLocks noChangeArrowheads="1"/>
            </p:cNvSpPr>
            <p:nvPr/>
          </p:nvSpPr>
          <p:spPr bwMode="auto">
            <a:xfrm>
              <a:off x="2695" y="2971"/>
              <a:ext cx="1529" cy="485"/>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400" b="0" dirty="0">
                  <a:solidFill>
                    <a:srgbClr val="FF0000"/>
                  </a:solidFill>
                  <a:latin typeface="微软雅黑" panose="020B0503020204020204" pitchFamily="34" charset="-122"/>
                  <a:ea typeface="微软雅黑" panose="020B0503020204020204" pitchFamily="34" charset="-122"/>
                </a:rPr>
                <a:t>糖异生</a:t>
              </a:r>
              <a:r>
                <a:rPr kumimoji="1" lang="zh-CN" altLang="en-US" sz="2000" b="0" dirty="0">
                  <a:solidFill>
                    <a:srgbClr val="FF0000"/>
                  </a:solidFill>
                  <a:latin typeface="微软雅黑" panose="020B0503020204020204" pitchFamily="34" charset="-122"/>
                  <a:ea typeface="微软雅黑" panose="020B0503020204020204" pitchFamily="34" charset="-122"/>
                </a:rPr>
                <a:t> </a:t>
              </a:r>
              <a:endParaRPr kumimoji="1" lang="en-US" altLang="zh-CN" sz="2000" b="0" dirty="0">
                <a:solidFill>
                  <a:srgbClr val="FF0000"/>
                </a:solidFill>
                <a:latin typeface="微软雅黑" panose="020B0503020204020204" pitchFamily="34" charset="-122"/>
                <a:ea typeface="微软雅黑" panose="020B0503020204020204" pitchFamily="34" charset="-122"/>
              </a:endParaRPr>
            </a:p>
            <a:p>
              <a:pPr eaLnBrk="1" hangingPunct="1">
                <a:spcBef>
                  <a:spcPct val="0"/>
                </a:spcBef>
                <a:buClrTx/>
                <a:buSzTx/>
                <a:buFontTx/>
                <a:buNone/>
                <a:defRPr/>
              </a:pPr>
              <a:r>
                <a:rPr kumimoji="1" lang="en-US" altLang="zh-CN" sz="2000" b="0" dirty="0">
                  <a:solidFill>
                    <a:srgbClr val="FF0000"/>
                  </a:solidFill>
                  <a:latin typeface="微软雅黑" panose="020B0503020204020204" pitchFamily="34" charset="-122"/>
                  <a:ea typeface="微软雅黑" panose="020B0503020204020204" pitchFamily="34" charset="-122"/>
                </a:rPr>
                <a:t>  </a:t>
              </a:r>
              <a:r>
                <a:rPr kumimoji="1" lang="en-US" altLang="zh-CN" sz="1800" dirty="0">
                  <a:solidFill>
                    <a:schemeClr val="tx1">
                      <a:lumMod val="95000"/>
                      <a:lumOff val="5000"/>
                    </a:schemeClr>
                  </a:solidFill>
                  <a:latin typeface="微软雅黑" panose="020B0503020204020204" pitchFamily="34" charset="-122"/>
                  <a:ea typeface="微软雅黑" panose="020B0503020204020204" pitchFamily="34" charset="-122"/>
                </a:rPr>
                <a:t>gluconeogenesis</a:t>
              </a:r>
              <a:r>
                <a:rPr kumimoji="1" lang="zh-CN" altLang="en-US" sz="1800" b="0" dirty="0">
                  <a:solidFill>
                    <a:srgbClr val="FF0000"/>
                  </a:solidFill>
                  <a:latin typeface="微软雅黑" panose="020B0503020204020204" pitchFamily="34" charset="-122"/>
                  <a:ea typeface="微软雅黑" panose="020B0503020204020204" pitchFamily="34" charset="-122"/>
                </a:rPr>
                <a:t> </a:t>
              </a:r>
              <a:r>
                <a:rPr kumimoji="1" lang="zh-CN" altLang="en-US" sz="2000" b="0" dirty="0">
                  <a:solidFill>
                    <a:srgbClr val="FF0000"/>
                  </a:solidFill>
                  <a:latin typeface="微软雅黑" panose="020B0503020204020204" pitchFamily="34" charset="-122"/>
                  <a:ea typeface="微软雅黑" panose="020B0503020204020204" pitchFamily="34" charset="-122"/>
                </a:rPr>
                <a:t> </a:t>
              </a:r>
              <a:endParaRPr kumimoji="1" lang="zh-CN" altLang="en-US" sz="2000" b="0" dirty="0">
                <a:solidFill>
                  <a:srgbClr val="FF0000"/>
                </a:solidFill>
                <a:latin typeface="微软雅黑" panose="020B0503020204020204" pitchFamily="34" charset="-122"/>
                <a:ea typeface="微软雅黑" panose="020B0503020204020204" pitchFamily="34" charset="-122"/>
              </a:endParaRPr>
            </a:p>
          </p:txBody>
        </p:sp>
      </p:grpSp>
      <p:sp>
        <p:nvSpPr>
          <p:cNvPr id="362515" name="Text Box 19"/>
          <p:cNvSpPr txBox="1">
            <a:spLocks noChangeArrowheads="1"/>
          </p:cNvSpPr>
          <p:nvPr/>
        </p:nvSpPr>
        <p:spPr bwMode="auto">
          <a:xfrm>
            <a:off x="5442745" y="5022206"/>
            <a:ext cx="3108324" cy="461665"/>
          </a:xfrm>
          <a:prstGeom prst="rect">
            <a:avLst/>
          </a:prstGeom>
          <a:solidFill>
            <a:schemeClr val="accent1">
              <a:lumMod val="20000"/>
              <a:lumOff val="80000"/>
            </a:schemeClr>
          </a:solid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b="0" dirty="0">
                <a:latin typeface="微软雅黑" panose="020B0503020204020204" pitchFamily="34" charset="-122"/>
                <a:ea typeface="微软雅黑" panose="020B0503020204020204" pitchFamily="34" charset="-122"/>
              </a:rPr>
              <a:t>乳酸、氨基酸、甘油  </a:t>
            </a:r>
            <a:endParaRPr kumimoji="1" lang="zh-CN" altLang="en-US" sz="2400" b="0" dirty="0">
              <a:latin typeface="微软雅黑" panose="020B0503020204020204" pitchFamily="34" charset="-122"/>
              <a:ea typeface="微软雅黑" panose="020B0503020204020204" pitchFamily="34" charset="-122"/>
            </a:endParaRPr>
          </a:p>
        </p:txBody>
      </p:sp>
      <p:sp>
        <p:nvSpPr>
          <p:cNvPr id="362516" name="Text Box 20"/>
          <p:cNvSpPr txBox="1">
            <a:spLocks noChangeArrowheads="1"/>
          </p:cNvSpPr>
          <p:nvPr/>
        </p:nvSpPr>
        <p:spPr bwMode="auto">
          <a:xfrm>
            <a:off x="4605874" y="1549585"/>
            <a:ext cx="2330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dirty="0">
                <a:latin typeface="微软雅黑" panose="020B0503020204020204" pitchFamily="34" charset="-122"/>
                <a:ea typeface="微软雅黑" panose="020B0503020204020204" pitchFamily="34" charset="-122"/>
              </a:rPr>
              <a:t>糖原</a:t>
            </a:r>
            <a:r>
              <a:rPr kumimoji="1" lang="en-US" altLang="zh-CN" sz="2000" b="0" dirty="0">
                <a:latin typeface="微软雅黑" panose="020B0503020204020204" pitchFamily="34" charset="-122"/>
                <a:ea typeface="微软雅黑" panose="020B0503020204020204" pitchFamily="34" charset="-122"/>
              </a:rPr>
              <a:t>(glycogen)</a:t>
            </a:r>
            <a:r>
              <a:rPr kumimoji="1" lang="zh-CN" altLang="en-US" sz="2000" b="0" dirty="0">
                <a:latin typeface="微软雅黑" panose="020B0503020204020204" pitchFamily="34" charset="-122"/>
                <a:ea typeface="微软雅黑" panose="020B0503020204020204" pitchFamily="34" charset="-122"/>
              </a:rPr>
              <a:t>         </a:t>
            </a:r>
            <a:endParaRPr kumimoji="1" lang="zh-CN" altLang="en-US" sz="2000" b="0" dirty="0">
              <a:latin typeface="微软雅黑" panose="020B0503020204020204" pitchFamily="34" charset="-122"/>
              <a:ea typeface="微软雅黑" panose="020B0503020204020204" pitchFamily="34" charset="-122"/>
            </a:endParaRPr>
          </a:p>
        </p:txBody>
      </p:sp>
      <p:grpSp>
        <p:nvGrpSpPr>
          <p:cNvPr id="6" name="Group 21"/>
          <p:cNvGrpSpPr/>
          <p:nvPr/>
        </p:nvGrpSpPr>
        <p:grpSpPr bwMode="auto">
          <a:xfrm>
            <a:off x="5232403" y="2206627"/>
            <a:ext cx="2324101" cy="758826"/>
            <a:chOff x="2496" y="1440"/>
            <a:chExt cx="1464" cy="478"/>
          </a:xfrm>
        </p:grpSpPr>
        <p:sp>
          <p:nvSpPr>
            <p:cNvPr id="67618" name="Line 22"/>
            <p:cNvSpPr>
              <a:spLocks noChangeShapeType="1"/>
            </p:cNvSpPr>
            <p:nvPr/>
          </p:nvSpPr>
          <p:spPr bwMode="auto">
            <a:xfrm>
              <a:off x="2496" y="1440"/>
              <a:ext cx="0" cy="47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517" name="Text Box 23"/>
            <p:cNvSpPr txBox="1">
              <a:spLocks noChangeArrowheads="1"/>
            </p:cNvSpPr>
            <p:nvPr/>
          </p:nvSpPr>
          <p:spPr bwMode="auto">
            <a:xfrm>
              <a:off x="2635" y="1453"/>
              <a:ext cx="1325" cy="465"/>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400" b="0" dirty="0">
                  <a:solidFill>
                    <a:srgbClr val="FF0000"/>
                  </a:solidFill>
                  <a:latin typeface="微软雅黑" panose="020B0503020204020204" pitchFamily="34" charset="-122"/>
                  <a:ea typeface="微软雅黑" panose="020B0503020204020204" pitchFamily="34" charset="-122"/>
                </a:rPr>
                <a:t>肝糖原分解</a:t>
              </a:r>
              <a:endParaRPr kumimoji="1" lang="en-US" altLang="zh-CN" sz="2400" b="0" dirty="0">
                <a:solidFill>
                  <a:srgbClr val="FF0000"/>
                </a:solidFill>
                <a:latin typeface="微软雅黑" panose="020B0503020204020204" pitchFamily="34" charset="-122"/>
                <a:ea typeface="微软雅黑" panose="020B0503020204020204" pitchFamily="34" charset="-122"/>
              </a:endParaRPr>
            </a:p>
            <a:p>
              <a:pPr eaLnBrk="1" hangingPunct="1">
                <a:spcBef>
                  <a:spcPct val="0"/>
                </a:spcBef>
                <a:buClrTx/>
                <a:buSzTx/>
                <a:buFontTx/>
                <a:buNone/>
                <a:defRPr/>
              </a:pPr>
              <a:r>
                <a:rPr kumimoji="1" lang="en-US" altLang="zh-CN" sz="1800" dirty="0">
                  <a:solidFill>
                    <a:schemeClr val="tx1">
                      <a:lumMod val="95000"/>
                      <a:lumOff val="5000"/>
                    </a:schemeClr>
                  </a:solidFill>
                  <a:latin typeface="微软雅黑" panose="020B0503020204020204" pitchFamily="34" charset="-122"/>
                  <a:ea typeface="微软雅黑" panose="020B0503020204020204" pitchFamily="34" charset="-122"/>
                </a:rPr>
                <a:t>glycogenolysis</a:t>
              </a:r>
              <a:r>
                <a:rPr kumimoji="1" lang="zh-CN" altLang="en-US" sz="1800" b="0" dirty="0">
                  <a:solidFill>
                    <a:schemeClr val="tx1">
                      <a:lumMod val="95000"/>
                      <a:lumOff val="5000"/>
                    </a:schemeClr>
                  </a:solidFill>
                  <a:latin typeface="微软雅黑" panose="020B0503020204020204" pitchFamily="34" charset="-122"/>
                  <a:ea typeface="微软雅黑" panose="020B0503020204020204" pitchFamily="34" charset="-122"/>
                </a:rPr>
                <a:t> </a:t>
              </a:r>
              <a:r>
                <a:rPr kumimoji="1" lang="zh-CN" altLang="en-US" sz="1800" b="0" dirty="0">
                  <a:solidFill>
                    <a:srgbClr val="FF0000"/>
                  </a:solidFill>
                  <a:latin typeface="微软雅黑" panose="020B0503020204020204" pitchFamily="34" charset="-122"/>
                  <a:ea typeface="微软雅黑" panose="020B0503020204020204" pitchFamily="34" charset="-122"/>
                </a:rPr>
                <a:t>  </a:t>
              </a:r>
              <a:endParaRPr kumimoji="1" lang="zh-CN" altLang="en-US" sz="1800" b="0" dirty="0">
                <a:solidFill>
                  <a:srgbClr val="FF0000"/>
                </a:solidFill>
                <a:latin typeface="微软雅黑" panose="020B0503020204020204" pitchFamily="34" charset="-122"/>
                <a:ea typeface="微软雅黑" panose="020B0503020204020204" pitchFamily="34" charset="-122"/>
              </a:endParaRPr>
            </a:p>
          </p:txBody>
        </p:sp>
      </p:grpSp>
      <p:grpSp>
        <p:nvGrpSpPr>
          <p:cNvPr id="7" name="Group 24"/>
          <p:cNvGrpSpPr/>
          <p:nvPr/>
        </p:nvGrpSpPr>
        <p:grpSpPr bwMode="auto">
          <a:xfrm>
            <a:off x="3185198" y="2216231"/>
            <a:ext cx="2065337" cy="790576"/>
            <a:chOff x="1327" y="1760"/>
            <a:chExt cx="1301" cy="498"/>
          </a:xfrm>
        </p:grpSpPr>
        <p:sp>
          <p:nvSpPr>
            <p:cNvPr id="67616" name="Line 25"/>
            <p:cNvSpPr>
              <a:spLocks noChangeShapeType="1"/>
            </p:cNvSpPr>
            <p:nvPr/>
          </p:nvSpPr>
          <p:spPr bwMode="auto">
            <a:xfrm flipV="1">
              <a:off x="2389" y="1760"/>
              <a:ext cx="0" cy="45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3515" name="Text Box 26"/>
            <p:cNvSpPr txBox="1">
              <a:spLocks noChangeArrowheads="1"/>
            </p:cNvSpPr>
            <p:nvPr/>
          </p:nvSpPr>
          <p:spPr bwMode="auto">
            <a:xfrm>
              <a:off x="1327" y="1773"/>
              <a:ext cx="1301" cy="485"/>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400" b="0" dirty="0">
                  <a:solidFill>
                    <a:srgbClr val="FF0000"/>
                  </a:solidFill>
                  <a:latin typeface="微软雅黑" panose="020B0503020204020204" pitchFamily="34" charset="-122"/>
                  <a:ea typeface="微软雅黑" panose="020B0503020204020204" pitchFamily="34" charset="-122"/>
                </a:rPr>
                <a:t>糖原合成</a:t>
              </a:r>
              <a:endParaRPr kumimoji="1" lang="en-US" altLang="zh-CN" sz="2400" b="0" dirty="0">
                <a:solidFill>
                  <a:srgbClr val="FF0000"/>
                </a:solidFill>
                <a:latin typeface="微软雅黑" panose="020B0503020204020204" pitchFamily="34" charset="-122"/>
                <a:ea typeface="微软雅黑" panose="020B0503020204020204" pitchFamily="34" charset="-122"/>
              </a:endParaRPr>
            </a:p>
            <a:p>
              <a:pPr eaLnBrk="1" hangingPunct="1">
                <a:spcBef>
                  <a:spcPct val="0"/>
                </a:spcBef>
                <a:buClrTx/>
                <a:buSzTx/>
                <a:buFontTx/>
                <a:buNone/>
                <a:defRPr/>
              </a:pPr>
              <a:r>
                <a:rPr kumimoji="1" lang="en-US" altLang="zh-CN" sz="2000" dirty="0">
                  <a:solidFill>
                    <a:schemeClr val="tx1">
                      <a:lumMod val="95000"/>
                      <a:lumOff val="5000"/>
                    </a:schemeClr>
                  </a:solidFill>
                  <a:latin typeface="微软雅黑" panose="020B0503020204020204" pitchFamily="34" charset="-122"/>
                  <a:ea typeface="微软雅黑" panose="020B0503020204020204" pitchFamily="34" charset="-122"/>
                </a:rPr>
                <a:t>glycogenesis</a:t>
              </a:r>
              <a:r>
                <a:rPr kumimoji="1"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rPr>
                <a:t>   </a:t>
              </a:r>
              <a:endParaRPr kumimoji="1"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Group 27"/>
          <p:cNvGrpSpPr/>
          <p:nvPr/>
        </p:nvGrpSpPr>
        <p:grpSpPr bwMode="auto">
          <a:xfrm>
            <a:off x="2009775" y="3135313"/>
            <a:ext cx="2604240" cy="527051"/>
            <a:chOff x="559" y="2363"/>
            <a:chExt cx="1568" cy="240"/>
          </a:xfrm>
        </p:grpSpPr>
        <p:sp>
          <p:nvSpPr>
            <p:cNvPr id="67614" name="Line 28"/>
            <p:cNvSpPr>
              <a:spLocks noChangeShapeType="1"/>
            </p:cNvSpPr>
            <p:nvPr/>
          </p:nvSpPr>
          <p:spPr bwMode="auto">
            <a:xfrm flipH="1">
              <a:off x="559" y="2594"/>
              <a:ext cx="1216" cy="9"/>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sz="2400"/>
            </a:p>
          </p:txBody>
        </p:sp>
        <p:sp>
          <p:nvSpPr>
            <p:cNvPr id="67615" name="Text Box 29"/>
            <p:cNvSpPr txBox="1">
              <a:spLocks noChangeArrowheads="1"/>
            </p:cNvSpPr>
            <p:nvPr/>
          </p:nvSpPr>
          <p:spPr bwMode="auto">
            <a:xfrm>
              <a:off x="684" y="2363"/>
              <a:ext cx="144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dirty="0">
                  <a:solidFill>
                    <a:srgbClr val="FF0000"/>
                  </a:solidFill>
                  <a:latin typeface="微软雅黑" panose="020B0503020204020204" pitchFamily="34" charset="-122"/>
                  <a:ea typeface="微软雅黑" panose="020B0503020204020204" pitchFamily="34" charset="-122"/>
                </a:rPr>
                <a:t>戊糖磷酸途径    </a:t>
              </a:r>
              <a:endParaRPr kumimoji="1" lang="zh-CN" altLang="en-US" sz="2400" b="0" dirty="0">
                <a:solidFill>
                  <a:srgbClr val="FF0000"/>
                </a:solidFill>
                <a:latin typeface="微软雅黑" panose="020B0503020204020204" pitchFamily="34" charset="-122"/>
                <a:ea typeface="微软雅黑" panose="020B0503020204020204" pitchFamily="34" charset="-122"/>
              </a:endParaRPr>
            </a:p>
          </p:txBody>
        </p:sp>
      </p:grpSp>
      <p:sp>
        <p:nvSpPr>
          <p:cNvPr id="362526" name="Text Box 30"/>
          <p:cNvSpPr txBox="1">
            <a:spLocks noChangeArrowheads="1"/>
          </p:cNvSpPr>
          <p:nvPr/>
        </p:nvSpPr>
        <p:spPr bwMode="auto">
          <a:xfrm>
            <a:off x="496532" y="3057526"/>
            <a:ext cx="1692275" cy="1200329"/>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400" b="0" dirty="0">
                <a:latin typeface="+mj-ea"/>
                <a:ea typeface="+mj-ea"/>
              </a:rPr>
              <a:t> 核糖</a:t>
            </a:r>
            <a:endParaRPr kumimoji="1" lang="zh-CN" altLang="en-US" sz="2400" b="0" dirty="0">
              <a:latin typeface="+mj-ea"/>
              <a:ea typeface="+mj-ea"/>
            </a:endParaRPr>
          </a:p>
          <a:p>
            <a:pPr eaLnBrk="1" hangingPunct="1">
              <a:spcBef>
                <a:spcPct val="0"/>
              </a:spcBef>
              <a:buClrTx/>
              <a:buSzTx/>
              <a:buFontTx/>
              <a:buNone/>
              <a:defRPr/>
            </a:pPr>
            <a:r>
              <a:rPr kumimoji="1" lang="zh-CN" altLang="en-US" sz="2400" b="0" dirty="0">
                <a:latin typeface="+mj-ea"/>
                <a:ea typeface="+mj-ea"/>
              </a:rPr>
              <a:t>  +    </a:t>
            </a:r>
            <a:endParaRPr kumimoji="1" lang="zh-CN" altLang="en-US" sz="2400" b="0" dirty="0">
              <a:latin typeface="+mj-ea"/>
              <a:ea typeface="+mj-ea"/>
            </a:endParaRPr>
          </a:p>
          <a:p>
            <a:pPr eaLnBrk="1" hangingPunct="1">
              <a:spcBef>
                <a:spcPct val="0"/>
              </a:spcBef>
              <a:buClrTx/>
              <a:buSzTx/>
              <a:buFontTx/>
              <a:buNone/>
              <a:defRPr/>
            </a:pPr>
            <a:r>
              <a:rPr kumimoji="1" lang="en-US" altLang="zh-CN" sz="2400" b="0" dirty="0">
                <a:latin typeface="+mj-ea"/>
                <a:ea typeface="+mj-ea"/>
              </a:rPr>
              <a:t> NADPH+H</a:t>
            </a:r>
            <a:r>
              <a:rPr kumimoji="1" lang="en-US" altLang="zh-CN" sz="2400" b="0" baseline="30000" dirty="0">
                <a:latin typeface="+mj-ea"/>
                <a:ea typeface="+mj-ea"/>
              </a:rPr>
              <a:t>+</a:t>
            </a:r>
            <a:endParaRPr kumimoji="1" lang="en-US" altLang="zh-CN" sz="2400" b="0" baseline="30000" dirty="0">
              <a:latin typeface="+mj-ea"/>
              <a:ea typeface="+mj-ea"/>
            </a:endParaRPr>
          </a:p>
        </p:txBody>
      </p:sp>
      <p:sp>
        <p:nvSpPr>
          <p:cNvPr id="362527" name="Text Box 31"/>
          <p:cNvSpPr txBox="1">
            <a:spLocks noChangeArrowheads="1"/>
          </p:cNvSpPr>
          <p:nvPr/>
        </p:nvSpPr>
        <p:spPr bwMode="auto">
          <a:xfrm>
            <a:off x="3780632" y="4973639"/>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latin typeface="微软雅黑" panose="020B0503020204020204" pitchFamily="34" charset="-122"/>
                <a:ea typeface="微软雅黑" panose="020B0503020204020204" pitchFamily="34" charset="-122"/>
              </a:rPr>
              <a:t>食物糖</a:t>
            </a:r>
            <a:endParaRPr kumimoji="1" lang="zh-CN" altLang="en-US" sz="2800" b="0" dirty="0">
              <a:latin typeface="微软雅黑" panose="020B0503020204020204" pitchFamily="34" charset="-122"/>
              <a:ea typeface="微软雅黑" panose="020B0503020204020204" pitchFamily="34" charset="-122"/>
            </a:endParaRPr>
          </a:p>
        </p:txBody>
      </p:sp>
      <p:grpSp>
        <p:nvGrpSpPr>
          <p:cNvPr id="9" name="Group 32"/>
          <p:cNvGrpSpPr/>
          <p:nvPr/>
        </p:nvGrpSpPr>
        <p:grpSpPr bwMode="auto">
          <a:xfrm>
            <a:off x="3287713" y="4151313"/>
            <a:ext cx="2025650" cy="863600"/>
            <a:chOff x="1292" y="2931"/>
            <a:chExt cx="1276" cy="544"/>
          </a:xfrm>
        </p:grpSpPr>
        <p:sp>
          <p:nvSpPr>
            <p:cNvPr id="67612" name="Line 33"/>
            <p:cNvSpPr>
              <a:spLocks noChangeShapeType="1"/>
            </p:cNvSpPr>
            <p:nvPr/>
          </p:nvSpPr>
          <p:spPr bwMode="auto">
            <a:xfrm flipV="1">
              <a:off x="2109" y="2931"/>
              <a:ext cx="280" cy="5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613" name="Text Box 34"/>
            <p:cNvSpPr txBox="1">
              <a:spLocks noChangeArrowheads="1"/>
            </p:cNvSpPr>
            <p:nvPr/>
          </p:nvSpPr>
          <p:spPr bwMode="auto">
            <a:xfrm>
              <a:off x="1292" y="2987"/>
              <a:ext cx="12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000066"/>
                  </a:solidFill>
                  <a:latin typeface="微软雅黑" panose="020B0503020204020204" pitchFamily="34" charset="-122"/>
                  <a:ea typeface="微软雅黑" panose="020B0503020204020204" pitchFamily="34" charset="-122"/>
                </a:rPr>
                <a:t>消化与吸收</a:t>
              </a:r>
              <a:r>
                <a:rPr kumimoji="1" lang="zh-CN" altLang="en-US" sz="2000" b="0">
                  <a:solidFill>
                    <a:srgbClr val="000066"/>
                  </a:solidFill>
                  <a:latin typeface="微软雅黑" panose="020B0503020204020204" pitchFamily="34" charset="-122"/>
                  <a:ea typeface="微软雅黑" panose="020B0503020204020204" pitchFamily="34" charset="-122"/>
                </a:rPr>
                <a:t>    </a:t>
              </a:r>
              <a:endParaRPr kumimoji="1" lang="zh-CN" altLang="en-US" sz="2000" b="0">
                <a:solidFill>
                  <a:srgbClr val="000066"/>
                </a:solidFill>
                <a:latin typeface="微软雅黑" panose="020B0503020204020204" pitchFamily="34" charset="-122"/>
                <a:ea typeface="微软雅黑" panose="020B0503020204020204" pitchFamily="34" charset="-122"/>
              </a:endParaRPr>
            </a:p>
          </p:txBody>
        </p:sp>
      </p:grpSp>
      <p:grpSp>
        <p:nvGrpSpPr>
          <p:cNvPr id="10" name="Group 35"/>
          <p:cNvGrpSpPr/>
          <p:nvPr/>
        </p:nvGrpSpPr>
        <p:grpSpPr bwMode="auto">
          <a:xfrm>
            <a:off x="8893833" y="2346327"/>
            <a:ext cx="923925" cy="968375"/>
            <a:chOff x="4377" y="1505"/>
            <a:chExt cx="582" cy="610"/>
          </a:xfrm>
        </p:grpSpPr>
        <p:sp>
          <p:nvSpPr>
            <p:cNvPr id="67610" name="Line 36"/>
            <p:cNvSpPr>
              <a:spLocks noChangeShapeType="1"/>
            </p:cNvSpPr>
            <p:nvPr/>
          </p:nvSpPr>
          <p:spPr bwMode="auto">
            <a:xfrm flipV="1">
              <a:off x="4649" y="1797"/>
              <a:ext cx="0" cy="318"/>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7611" name="Text Box 37"/>
            <p:cNvSpPr txBox="1">
              <a:spLocks noChangeArrowheads="1"/>
            </p:cNvSpPr>
            <p:nvPr/>
          </p:nvSpPr>
          <p:spPr bwMode="auto">
            <a:xfrm>
              <a:off x="4377" y="1505"/>
              <a:ext cx="5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solidFill>
                    <a:srgbClr val="FF00FF"/>
                  </a:solidFill>
                  <a:latin typeface="微软雅黑" panose="020B0503020204020204" pitchFamily="34" charset="-122"/>
                  <a:ea typeface="微软雅黑" panose="020B0503020204020204" pitchFamily="34" charset="-122"/>
                </a:rPr>
                <a:t>ATP</a:t>
              </a:r>
              <a:r>
                <a:rPr kumimoji="1" lang="en-US" altLang="zh-CN" sz="2400" b="0">
                  <a:solidFill>
                    <a:srgbClr val="FFCCFF"/>
                  </a:solidFill>
                  <a:latin typeface="微软雅黑" panose="020B0503020204020204" pitchFamily="34" charset="-122"/>
                  <a:ea typeface="微软雅黑" panose="020B0503020204020204" pitchFamily="34" charset="-122"/>
                </a:rPr>
                <a:t>  </a:t>
              </a:r>
              <a:endParaRPr kumimoji="1" lang="en-US" altLang="zh-CN" sz="2400" b="0">
                <a:solidFill>
                  <a:srgbClr val="FFCCFF"/>
                </a:solidFill>
                <a:latin typeface="微软雅黑" panose="020B0503020204020204" pitchFamily="34" charset="-122"/>
                <a:ea typeface="微软雅黑" panose="020B0503020204020204" pitchFamily="34" charset="-122"/>
              </a:endParaRPr>
            </a:p>
          </p:txBody>
        </p:sp>
      </p:grpSp>
      <p:sp>
        <p:nvSpPr>
          <p:cNvPr id="11" name="文本框 10"/>
          <p:cNvSpPr txBox="1">
            <a:spLocks noChangeArrowheads="1"/>
          </p:cNvSpPr>
          <p:nvPr/>
        </p:nvSpPr>
        <p:spPr bwMode="auto">
          <a:xfrm>
            <a:off x="6449220" y="3733806"/>
            <a:ext cx="137146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dirty="0">
                <a:latin typeface="Arial" panose="020B0604020202020204" pitchFamily="34" charset="0"/>
                <a:ea typeface="宋体" panose="02010600030101010101" pitchFamily="2" charset="-122"/>
              </a:rPr>
              <a:t>glycolysis</a:t>
            </a:r>
            <a:endParaRPr lang="zh-CN" altLang="en-US" sz="1800" dirty="0">
              <a:latin typeface="Arial" panose="020B0604020202020204" pitchFamily="34" charset="0"/>
              <a:ea typeface="宋体" panose="02010600030101010101" pitchFamily="2" charset="-122"/>
            </a:endParaRPr>
          </a:p>
        </p:txBody>
      </p:sp>
      <p:sp>
        <p:nvSpPr>
          <p:cNvPr id="39" name="文本框 38"/>
          <p:cNvSpPr txBox="1">
            <a:spLocks noChangeArrowheads="1"/>
          </p:cNvSpPr>
          <p:nvPr/>
        </p:nvSpPr>
        <p:spPr bwMode="auto">
          <a:xfrm>
            <a:off x="9314482" y="3394870"/>
            <a:ext cx="23809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dirty="0">
                <a:latin typeface="Arial" panose="020B0604020202020204" pitchFamily="34" charset="0"/>
                <a:ea typeface="宋体" panose="02010600030101010101" pitchFamily="2" charset="-122"/>
              </a:rPr>
              <a:t>aerobic oxidation</a:t>
            </a:r>
            <a:endParaRPr lang="zh-CN" altLang="en-US" sz="1800" dirty="0">
              <a:latin typeface="Arial" panose="020B0604020202020204" pitchFamily="34" charset="0"/>
              <a:ea typeface="宋体" panose="02010600030101010101" pitchFamily="2" charset="-122"/>
            </a:endParaRPr>
          </a:p>
        </p:txBody>
      </p:sp>
      <p:sp>
        <p:nvSpPr>
          <p:cNvPr id="40" name="文本框 39"/>
          <p:cNvSpPr txBox="1">
            <a:spLocks noChangeArrowheads="1"/>
          </p:cNvSpPr>
          <p:nvPr/>
        </p:nvSpPr>
        <p:spPr bwMode="auto">
          <a:xfrm>
            <a:off x="8755720" y="4438652"/>
            <a:ext cx="27408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dirty="0">
                <a:latin typeface="Arial" panose="020B0604020202020204" pitchFamily="34" charset="0"/>
                <a:ea typeface="宋体" panose="02010600030101010101" pitchFamily="2" charset="-122"/>
              </a:rPr>
              <a:t>anaerobic oxidation</a:t>
            </a:r>
            <a:endParaRPr lang="zh-CN" altLang="en-US" sz="1800" dirty="0">
              <a:latin typeface="Arial" panose="020B0604020202020204" pitchFamily="34" charset="0"/>
              <a:ea typeface="宋体" panose="02010600030101010101" pitchFamily="2" charset="-122"/>
            </a:endParaRPr>
          </a:p>
        </p:txBody>
      </p:sp>
      <p:sp>
        <p:nvSpPr>
          <p:cNvPr id="41" name="文本框 40"/>
          <p:cNvSpPr txBox="1">
            <a:spLocks noChangeArrowheads="1"/>
          </p:cNvSpPr>
          <p:nvPr/>
        </p:nvSpPr>
        <p:spPr bwMode="auto">
          <a:xfrm>
            <a:off x="1755198" y="3642600"/>
            <a:ext cx="26589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400" dirty="0">
                <a:latin typeface="Arial" panose="020B0604020202020204" pitchFamily="34" charset="0"/>
                <a:ea typeface="宋体" panose="02010600030101010101" pitchFamily="2" charset="-122"/>
              </a:rPr>
              <a:t>pentose phosphate pathway</a:t>
            </a:r>
            <a:endParaRPr lang="zh-CN" altLang="en-US" sz="1400" dirty="0">
              <a:latin typeface="Arial" panose="020B0604020202020204" pitchFamily="34" charset="0"/>
              <a:ea typeface="宋体" panose="02010600030101010101" pitchFamily="2" charset="-122"/>
            </a:endParaRPr>
          </a:p>
        </p:txBody>
      </p:sp>
      <p:cxnSp>
        <p:nvCxnSpPr>
          <p:cNvPr id="13" name="直接箭头连接符 12"/>
          <p:cNvCxnSpPr>
            <a:cxnSpLocks noChangeShapeType="1"/>
          </p:cNvCxnSpPr>
          <p:nvPr/>
        </p:nvCxnSpPr>
        <p:spPr bwMode="auto">
          <a:xfrm>
            <a:off x="9325632" y="4019552"/>
            <a:ext cx="112712" cy="225425"/>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7" name="文本框 16"/>
          <p:cNvSpPr txBox="1">
            <a:spLocks noChangeArrowheads="1"/>
          </p:cNvSpPr>
          <p:nvPr/>
        </p:nvSpPr>
        <p:spPr bwMode="auto">
          <a:xfrm>
            <a:off x="9231969" y="4165602"/>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1400" b="0">
                <a:solidFill>
                  <a:srgbClr val="FF00FF"/>
                </a:solidFill>
                <a:latin typeface="微软雅黑" panose="020B0503020204020204" pitchFamily="34" charset="-122"/>
                <a:ea typeface="微软雅黑" panose="020B0503020204020204" pitchFamily="34" charset="-122"/>
              </a:rPr>
              <a:t>ATP</a:t>
            </a:r>
            <a:endParaRPr kumimoji="1" lang="zh-CN" altLang="en-US" sz="1400" b="0">
              <a:solidFill>
                <a:srgbClr val="FF00FF"/>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2527"/>
                                        </p:tgtEl>
                                        <p:attrNameLst>
                                          <p:attrName>style.visibility</p:attrName>
                                        </p:attrNameLst>
                                      </p:cBhvr>
                                      <p:to>
                                        <p:strVal val="visible"/>
                                      </p:to>
                                    </p:set>
                                  </p:childTnLst>
                                </p:cTn>
                              </p:par>
                            </p:childTnLst>
                          </p:cTn>
                        </p:par>
                        <p:par>
                          <p:cTn id="7" fill="hold">
                            <p:stCondLst>
                              <p:cond delay="500"/>
                            </p:stCondLst>
                            <p:childTnLst>
                              <p:par>
                                <p:cTn id="8" presetID="22" presetClass="entr" presetSubtype="4" fill="hold" nodeType="after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childTnLst>
                          </p:cTn>
                        </p:par>
                        <p:par>
                          <p:cTn id="11" fill="hold">
                            <p:stCondLst>
                              <p:cond delay="1000"/>
                            </p:stCondLst>
                            <p:childTnLst>
                              <p:par>
                                <p:cTn id="12" presetID="12" presetClass="entr" presetSubtype="4" fill="hold" grpId="0" nodeType="afterEffect">
                                  <p:stCondLst>
                                    <p:cond delay="0"/>
                                  </p:stCondLst>
                                  <p:childTnLst>
                                    <p:set>
                                      <p:cBhvr>
                                        <p:cTn id="13" dur="1" fill="hold">
                                          <p:stCondLst>
                                            <p:cond delay="0"/>
                                          </p:stCondLst>
                                        </p:cTn>
                                        <p:tgtEl>
                                          <p:spTgt spid="362499"/>
                                        </p:tgtEl>
                                        <p:attrNameLst>
                                          <p:attrName>style.visibility</p:attrName>
                                        </p:attrNameLst>
                                      </p:cBhvr>
                                      <p:to>
                                        <p:strVal val="visible"/>
                                      </p:to>
                                    </p:set>
                                    <p:animEffect transition="in" filter="slide(fromBottom)">
                                      <p:cBhvr>
                                        <p:cTn id="14" dur="500"/>
                                        <p:tgtEl>
                                          <p:spTgt spid="36249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par>
                          <p:cTn id="20" fill="hold">
                            <p:stCondLst>
                              <p:cond delay="500"/>
                            </p:stCondLst>
                            <p:childTnLst>
                              <p:par>
                                <p:cTn id="21" presetID="9" presetClass="entr" presetSubtype="0" fill="hold" grpId="0" nodeType="afterEffect">
                                  <p:stCondLst>
                                    <p:cond delay="0"/>
                                  </p:stCondLst>
                                  <p:childTnLst>
                                    <p:set>
                                      <p:cBhvr>
                                        <p:cTn id="22" dur="1" fill="hold">
                                          <p:stCondLst>
                                            <p:cond delay="0"/>
                                          </p:stCondLst>
                                        </p:cTn>
                                        <p:tgtEl>
                                          <p:spTgt spid="362503"/>
                                        </p:tgtEl>
                                        <p:attrNameLst>
                                          <p:attrName>style.visibility</p:attrName>
                                        </p:attrNameLst>
                                      </p:cBhvr>
                                      <p:to>
                                        <p:strVal val="visible"/>
                                      </p:to>
                                    </p:set>
                                    <p:animEffect transition="in" filter="dissolve">
                                      <p:cBhvr>
                                        <p:cTn id="23" dur="500"/>
                                        <p:tgtEl>
                                          <p:spTgt spid="362503"/>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down)">
                                      <p:cBhvr>
                                        <p:cTn id="30" dur="500"/>
                                        <p:tgtEl>
                                          <p:spTgt spid="3"/>
                                        </p:tgtEl>
                                      </p:cBhvr>
                                    </p:animEffec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362510"/>
                                        </p:tgtEl>
                                        <p:attrNameLst>
                                          <p:attrName>style.visibility</p:attrName>
                                        </p:attrNameLst>
                                      </p:cBhvr>
                                      <p:to>
                                        <p:strVal val="visible"/>
                                      </p:to>
                                    </p:set>
                                  </p:childTnLst>
                                </p:cTn>
                              </p:par>
                            </p:childTnLst>
                          </p:cTn>
                        </p:par>
                        <p:par>
                          <p:cTn id="34" fill="hold">
                            <p:stCondLst>
                              <p:cond delay="1000"/>
                            </p:stCondLst>
                            <p:childTnLst>
                              <p:par>
                                <p:cTn id="35" presetID="22" presetClass="entr" presetSubtype="4"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par>
                                <p:cTn id="38" presetID="1"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wipe(up)">
                                      <p:cBhvr>
                                        <p:cTn id="44" dur="500"/>
                                        <p:tgtEl>
                                          <p:spTgt spid="4"/>
                                        </p:tgtEl>
                                      </p:cBhvr>
                                    </p:animEffect>
                                  </p:childTnLst>
                                </p:cTn>
                              </p:par>
                              <p:par>
                                <p:cTn id="45" presetID="1" presetClass="entr" presetSubtype="0" fill="hold" grpId="0" nodeType="withEffect">
                                  <p:stCondLst>
                                    <p:cond delay="0"/>
                                  </p:stCondLst>
                                  <p:childTnLst>
                                    <p:set>
                                      <p:cBhvr>
                                        <p:cTn id="46" dur="1" fill="hold">
                                          <p:stCondLst>
                                            <p:cond delay="499"/>
                                          </p:stCondLst>
                                        </p:cTn>
                                        <p:tgtEl>
                                          <p:spTgt spid="362511"/>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0"/>
                                          </p:stCondLst>
                                        </p:cTn>
                                        <p:tgtEl>
                                          <p:spTgt spid="17"/>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8" presetClass="entr" presetSubtype="9"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strips(upLeft)">
                                      <p:cBhvr>
                                        <p:cTn id="58" dur="500"/>
                                        <p:tgtEl>
                                          <p:spTgt spid="8"/>
                                        </p:tgtEl>
                                      </p:cBhvr>
                                    </p:animEffect>
                                  </p:childTnLst>
                                </p:cTn>
                              </p:par>
                            </p:childTnLst>
                          </p:cTn>
                        </p:par>
                        <p:par>
                          <p:cTn id="59" fill="hold">
                            <p:stCondLst>
                              <p:cond delay="500"/>
                            </p:stCondLst>
                            <p:childTnLst>
                              <p:par>
                                <p:cTn id="60" presetID="5" presetClass="entr" presetSubtype="10" fill="hold" grpId="0" nodeType="afterEffect">
                                  <p:stCondLst>
                                    <p:cond delay="0"/>
                                  </p:stCondLst>
                                  <p:childTnLst>
                                    <p:set>
                                      <p:cBhvr>
                                        <p:cTn id="61" dur="1" fill="hold">
                                          <p:stCondLst>
                                            <p:cond delay="0"/>
                                          </p:stCondLst>
                                        </p:cTn>
                                        <p:tgtEl>
                                          <p:spTgt spid="362526"/>
                                        </p:tgtEl>
                                        <p:attrNameLst>
                                          <p:attrName>style.visibility</p:attrName>
                                        </p:attrNameLst>
                                      </p:cBhvr>
                                      <p:to>
                                        <p:strVal val="visible"/>
                                      </p:to>
                                    </p:set>
                                    <p:animEffect transition="in" filter="checkerboard(across)">
                                      <p:cBhvr>
                                        <p:cTn id="62" dur="500"/>
                                        <p:tgtEl>
                                          <p:spTgt spid="362526"/>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7" presetClass="entr" presetSubtype="4" fill="hold" nodeType="clickEffect">
                                  <p:stCondLst>
                                    <p:cond delay="0"/>
                                  </p:stCondLst>
                                  <p:childTnLst>
                                    <p:set>
                                      <p:cBhvr>
                                        <p:cTn id="68" dur="1" fill="hold">
                                          <p:stCondLst>
                                            <p:cond delay="0"/>
                                          </p:stCondLst>
                                        </p:cTn>
                                        <p:tgtEl>
                                          <p:spTgt spid="7"/>
                                        </p:tgtEl>
                                        <p:attrNameLst>
                                          <p:attrName>style.visibility</p:attrName>
                                        </p:attrNameLst>
                                      </p:cBhvr>
                                      <p:to>
                                        <p:strVal val="visible"/>
                                      </p:to>
                                    </p:set>
                                    <p:anim calcmode="lin" valueType="num">
                                      <p:cBhvr>
                                        <p:cTn id="69" dur="500" fill="hold"/>
                                        <p:tgtEl>
                                          <p:spTgt spid="7"/>
                                        </p:tgtEl>
                                        <p:attrNameLst>
                                          <p:attrName>ppt_x</p:attrName>
                                        </p:attrNameLst>
                                      </p:cBhvr>
                                      <p:tavLst>
                                        <p:tav tm="0">
                                          <p:val>
                                            <p:strVal val="#ppt_x"/>
                                          </p:val>
                                        </p:tav>
                                        <p:tav tm="100000">
                                          <p:val>
                                            <p:strVal val="#ppt_x"/>
                                          </p:val>
                                        </p:tav>
                                      </p:tavLst>
                                    </p:anim>
                                    <p:anim calcmode="lin" valueType="num">
                                      <p:cBhvr>
                                        <p:cTn id="70" dur="500" fill="hold"/>
                                        <p:tgtEl>
                                          <p:spTgt spid="7"/>
                                        </p:tgtEl>
                                        <p:attrNameLst>
                                          <p:attrName>ppt_y</p:attrName>
                                        </p:attrNameLst>
                                      </p:cBhvr>
                                      <p:tavLst>
                                        <p:tav tm="0">
                                          <p:val>
                                            <p:strVal val="#ppt_y+#ppt_h/2"/>
                                          </p:val>
                                        </p:tav>
                                        <p:tav tm="100000">
                                          <p:val>
                                            <p:strVal val="#ppt_y"/>
                                          </p:val>
                                        </p:tav>
                                      </p:tavLst>
                                    </p:anim>
                                    <p:anim calcmode="lin" valueType="num">
                                      <p:cBhvr>
                                        <p:cTn id="71" dur="500" fill="hold"/>
                                        <p:tgtEl>
                                          <p:spTgt spid="7"/>
                                        </p:tgtEl>
                                        <p:attrNameLst>
                                          <p:attrName>ppt_w</p:attrName>
                                        </p:attrNameLst>
                                      </p:cBhvr>
                                      <p:tavLst>
                                        <p:tav tm="0">
                                          <p:val>
                                            <p:strVal val="#ppt_w"/>
                                          </p:val>
                                        </p:tav>
                                        <p:tav tm="100000">
                                          <p:val>
                                            <p:strVal val="#ppt_w"/>
                                          </p:val>
                                        </p:tav>
                                      </p:tavLst>
                                    </p:anim>
                                    <p:anim calcmode="lin" valueType="num">
                                      <p:cBhvr>
                                        <p:cTn id="72" dur="500" fill="hold"/>
                                        <p:tgtEl>
                                          <p:spTgt spid="7"/>
                                        </p:tgtEl>
                                        <p:attrNameLst>
                                          <p:attrName>ppt_h</p:attrName>
                                        </p:attrNameLst>
                                      </p:cBhvr>
                                      <p:tavLst>
                                        <p:tav tm="0">
                                          <p:val>
                                            <p:fltVal val="0"/>
                                          </p:val>
                                        </p:tav>
                                        <p:tav tm="100000">
                                          <p:val>
                                            <p:strVal val="#ppt_h"/>
                                          </p:val>
                                        </p:tav>
                                      </p:tavLst>
                                    </p:anim>
                                  </p:childTnLst>
                                </p:cTn>
                              </p:par>
                            </p:childTnLst>
                          </p:cTn>
                        </p:par>
                        <p:par>
                          <p:cTn id="73" fill="hold">
                            <p:stCondLst>
                              <p:cond delay="500"/>
                            </p:stCondLst>
                            <p:childTnLst>
                              <p:par>
                                <p:cTn id="74" presetID="14" presetClass="entr" presetSubtype="5" fill="hold" grpId="0" nodeType="afterEffect">
                                  <p:stCondLst>
                                    <p:cond delay="0"/>
                                  </p:stCondLst>
                                  <p:childTnLst>
                                    <p:set>
                                      <p:cBhvr>
                                        <p:cTn id="75" dur="1" fill="hold">
                                          <p:stCondLst>
                                            <p:cond delay="0"/>
                                          </p:stCondLst>
                                        </p:cTn>
                                        <p:tgtEl>
                                          <p:spTgt spid="362516"/>
                                        </p:tgtEl>
                                        <p:attrNameLst>
                                          <p:attrName>style.visibility</p:attrName>
                                        </p:attrNameLst>
                                      </p:cBhvr>
                                      <p:to>
                                        <p:strVal val="visible"/>
                                      </p:to>
                                    </p:set>
                                    <p:animEffect transition="in" filter="randombar(vertical)">
                                      <p:cBhvr>
                                        <p:cTn id="76" dur="500"/>
                                        <p:tgtEl>
                                          <p:spTgt spid="36251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up)">
                                      <p:cBhvr>
                                        <p:cTn id="81" dur="500"/>
                                        <p:tgtEl>
                                          <p:spTgt spid="6"/>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362515"/>
                                        </p:tgtEl>
                                        <p:attrNameLst>
                                          <p:attrName>style.visibility</p:attrName>
                                        </p:attrNameLst>
                                      </p:cBhvr>
                                      <p:to>
                                        <p:strVal val="visible"/>
                                      </p:to>
                                    </p:set>
                                    <p:animEffect transition="in" filter="dissolve">
                                      <p:cBhvr>
                                        <p:cTn id="86" dur="500"/>
                                        <p:tgtEl>
                                          <p:spTgt spid="362515"/>
                                        </p:tgtEl>
                                      </p:cBhvr>
                                    </p:animEffect>
                                  </p:childTnLst>
                                </p:cTn>
                              </p:par>
                            </p:childTnLst>
                          </p:cTn>
                        </p:par>
                        <p:par>
                          <p:cTn id="87" fill="hold">
                            <p:stCondLst>
                              <p:cond delay="500"/>
                            </p:stCondLst>
                            <p:childTnLst>
                              <p:par>
                                <p:cTn id="88" presetID="22" presetClass="entr" presetSubtype="4" fill="hold" nodeType="afterEffect">
                                  <p:stCondLst>
                                    <p:cond delay="0"/>
                                  </p:stCondLst>
                                  <p:childTnLst>
                                    <p:set>
                                      <p:cBhvr>
                                        <p:cTn id="89" dur="1" fill="hold">
                                          <p:stCondLst>
                                            <p:cond delay="0"/>
                                          </p:stCondLst>
                                        </p:cTn>
                                        <p:tgtEl>
                                          <p:spTgt spid="5"/>
                                        </p:tgtEl>
                                        <p:attrNameLst>
                                          <p:attrName>style.visibility</p:attrName>
                                        </p:attrNameLst>
                                      </p:cBhvr>
                                      <p:to>
                                        <p:strVal val="visible"/>
                                      </p:to>
                                    </p:set>
                                    <p:animEffect transition="in" filter="wipe(down)">
                                      <p:cBhvr>
                                        <p:cTn id="9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animBg="1" autoUpdateAnimBg="0"/>
      <p:bldP spid="362503" grpId="0" autoUpdateAnimBg="0"/>
      <p:bldP spid="362510" grpId="0" autoUpdateAnimBg="0"/>
      <p:bldP spid="362511" grpId="0" autoUpdateAnimBg="0"/>
      <p:bldP spid="362515" grpId="0" animBg="1" autoUpdateAnimBg="0"/>
      <p:bldP spid="362516" grpId="0" autoUpdateAnimBg="0"/>
      <p:bldP spid="362526" grpId="0" autoUpdateAnimBg="0"/>
      <p:bldP spid="362527" grpId="0" autoUpdateAnimBg="0"/>
      <p:bldP spid="11" grpId="0"/>
      <p:bldP spid="39" grpId="0"/>
      <p:bldP spid="40" grpId="0"/>
      <p:bldP spid="41"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933575" y="2332038"/>
            <a:ext cx="8382000" cy="914400"/>
          </a:xfrm>
        </p:spPr>
        <p:txBody>
          <a:bodyPr/>
          <a:lstStyle/>
          <a:p>
            <a:pPr eaLnBrk="1" hangingPunct="1"/>
            <a:r>
              <a:rPr lang="zh-CN" altLang="en-US" sz="4800" b="1">
                <a:solidFill>
                  <a:srgbClr val="660033"/>
                </a:solidFill>
              </a:rPr>
              <a:t>第二节  糖的无氧氧化</a:t>
            </a:r>
            <a:endParaRPr lang="zh-CN" altLang="en-US" sz="4800" b="1">
              <a:solidFill>
                <a:srgbClr val="660033"/>
              </a:solidFill>
            </a:endParaRPr>
          </a:p>
        </p:txBody>
      </p:sp>
      <p:sp>
        <p:nvSpPr>
          <p:cNvPr id="71683" name="Text Box 3"/>
          <p:cNvSpPr txBox="1">
            <a:spLocks noChangeArrowheads="1"/>
          </p:cNvSpPr>
          <p:nvPr/>
        </p:nvSpPr>
        <p:spPr bwMode="auto">
          <a:xfrm>
            <a:off x="2855913" y="3500438"/>
            <a:ext cx="71564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3600">
                <a:latin typeface="Arial" panose="020B0604020202020204" pitchFamily="34" charset="0"/>
                <a:ea typeface="宋体" panose="02010600030101010101" pitchFamily="2" charset="-122"/>
              </a:rPr>
              <a:t>Anaerobic Oxidation of Glucose</a:t>
            </a:r>
            <a:endParaRPr kumimoji="1" lang="zh-CN" altLang="en-US" sz="3600">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1271464" y="701555"/>
            <a:ext cx="9649072" cy="1834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628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0"/>
              </a:spcBef>
              <a:buClrTx/>
              <a:buSzTx/>
            </a:pPr>
            <a:r>
              <a:rPr kumimoji="1" lang="zh-CN" altLang="en-US" sz="3000" b="0" dirty="0">
                <a:solidFill>
                  <a:srgbClr val="C00000"/>
                </a:solidFill>
                <a:latin typeface="微软雅黑" panose="020B0503020204020204" pitchFamily="34" charset="-122"/>
                <a:ea typeface="微软雅黑" panose="020B0503020204020204" pitchFamily="34" charset="-122"/>
              </a:rPr>
              <a:t>糖的无氧氧化(</a:t>
            </a:r>
            <a:r>
              <a:rPr kumimoji="1" lang="en-US" altLang="zh-CN" sz="3000" b="0" dirty="0">
                <a:solidFill>
                  <a:srgbClr val="C00000"/>
                </a:solidFill>
                <a:latin typeface="微软雅黑" panose="020B0503020204020204" pitchFamily="34" charset="-122"/>
                <a:ea typeface="微软雅黑" panose="020B0503020204020204" pitchFamily="34" charset="-122"/>
              </a:rPr>
              <a:t>anaerobic oxidation)</a:t>
            </a:r>
            <a:r>
              <a:rPr kumimoji="1" lang="zh-CN" altLang="en-US" sz="3000" b="0" dirty="0">
                <a:solidFill>
                  <a:srgbClr val="000099"/>
                </a:solidFill>
                <a:latin typeface="微软雅黑" panose="020B0503020204020204" pitchFamily="34" charset="-122"/>
                <a:ea typeface="微软雅黑" panose="020B0503020204020204" pitchFamily="34" charset="-122"/>
              </a:rPr>
              <a:t>：</a:t>
            </a:r>
            <a:r>
              <a:rPr kumimoji="1" lang="zh-CN" altLang="en-US" sz="3000" b="0" dirty="0">
                <a:latin typeface="微软雅黑" panose="020B0503020204020204" pitchFamily="34" charset="-122"/>
                <a:ea typeface="微软雅黑" panose="020B0503020204020204" pitchFamily="34" charset="-122"/>
              </a:rPr>
              <a:t>指机体缺氧时，一分子葡萄糖氧化成两分子乳酸</a:t>
            </a:r>
            <a:r>
              <a:rPr kumimoji="1" lang="en-US" altLang="zh-CN" sz="3000" b="0" dirty="0">
                <a:latin typeface="微软雅黑" panose="020B0503020204020204" pitchFamily="34" charset="-122"/>
                <a:ea typeface="微软雅黑" panose="020B0503020204020204" pitchFamily="34" charset="-122"/>
              </a:rPr>
              <a:t>，</a:t>
            </a:r>
            <a:r>
              <a:rPr kumimoji="1" lang="zh-CN" altLang="en-US" sz="3000" b="0" dirty="0">
                <a:latin typeface="微软雅黑" panose="020B0503020204020204" pitchFamily="34" charset="-122"/>
                <a:ea typeface="微软雅黑" panose="020B0503020204020204" pitchFamily="34" charset="-122"/>
              </a:rPr>
              <a:t>并净生成</a:t>
            </a:r>
            <a:r>
              <a:rPr kumimoji="1" lang="en-US" altLang="zh-CN" sz="3000" b="0" dirty="0">
                <a:latin typeface="微软雅黑" panose="020B0503020204020204" pitchFamily="34" charset="-122"/>
                <a:ea typeface="微软雅黑" panose="020B0503020204020204" pitchFamily="34" charset="-122"/>
              </a:rPr>
              <a:t>2</a:t>
            </a:r>
            <a:r>
              <a:rPr kumimoji="1" lang="zh-CN" altLang="en-US" sz="3000" b="0" dirty="0">
                <a:latin typeface="微软雅黑" panose="020B0503020204020204" pitchFamily="34" charset="-122"/>
                <a:ea typeface="微软雅黑" panose="020B0503020204020204" pitchFamily="34" charset="-122"/>
              </a:rPr>
              <a:t>个</a:t>
            </a:r>
            <a:r>
              <a:rPr kumimoji="1" lang="en-US" altLang="zh-CN" sz="3000" b="0" dirty="0">
                <a:latin typeface="微软雅黑" panose="020B0503020204020204" pitchFamily="34" charset="-122"/>
                <a:ea typeface="微软雅黑" panose="020B0503020204020204" pitchFamily="34" charset="-122"/>
              </a:rPr>
              <a:t>ATP</a:t>
            </a:r>
            <a:r>
              <a:rPr kumimoji="1" lang="zh-CN" altLang="en-US" sz="3000" b="0" dirty="0">
                <a:latin typeface="微软雅黑" panose="020B0503020204020204" pitchFamily="34" charset="-122"/>
                <a:ea typeface="微软雅黑" panose="020B0503020204020204" pitchFamily="34" charset="-122"/>
              </a:rPr>
              <a:t>的过程</a:t>
            </a:r>
            <a:r>
              <a:rPr kumimoji="1" lang="en-US" altLang="zh-CN" sz="3000" b="0" dirty="0">
                <a:latin typeface="微软雅黑" panose="020B0503020204020204" pitchFamily="34" charset="-122"/>
                <a:ea typeface="微软雅黑" panose="020B0503020204020204" pitchFamily="34" charset="-122"/>
              </a:rPr>
              <a:t>，</a:t>
            </a:r>
            <a:r>
              <a:rPr kumimoji="1" lang="zh-CN" altLang="en-US" sz="3000" b="0" dirty="0">
                <a:latin typeface="微软雅黑" panose="020B0503020204020204" pitchFamily="34" charset="-122"/>
                <a:ea typeface="微软雅黑" panose="020B0503020204020204" pitchFamily="34" charset="-122"/>
              </a:rPr>
              <a:t>也称</a:t>
            </a:r>
            <a:r>
              <a:rPr kumimoji="1" lang="zh-CN" altLang="en-US" sz="3000" b="0" dirty="0">
                <a:solidFill>
                  <a:srgbClr val="0000CC"/>
                </a:solidFill>
                <a:latin typeface="微软雅黑" panose="020B0503020204020204" pitchFamily="34" charset="-122"/>
                <a:ea typeface="微软雅黑" panose="020B0503020204020204" pitchFamily="34" charset="-122"/>
              </a:rPr>
              <a:t>乳酸发酵</a:t>
            </a:r>
            <a:r>
              <a:rPr kumimoji="1" lang="zh-CN" altLang="en-US" sz="3000" b="0" dirty="0">
                <a:latin typeface="微软雅黑" panose="020B0503020204020204" pitchFamily="34" charset="-122"/>
                <a:ea typeface="微软雅黑" panose="020B0503020204020204" pitchFamily="34" charset="-122"/>
              </a:rPr>
              <a:t>（</a:t>
            </a:r>
            <a:r>
              <a:rPr kumimoji="1" lang="en-US" altLang="zh-CN" sz="3000" b="0" dirty="0">
                <a:latin typeface="微软雅黑" panose="020B0503020204020204" pitchFamily="34" charset="-122"/>
                <a:ea typeface="微软雅黑" panose="020B0503020204020204" pitchFamily="34" charset="-122"/>
              </a:rPr>
              <a:t>lactic acid fermentation)</a:t>
            </a:r>
            <a:endParaRPr kumimoji="1" lang="zh-CN" altLang="en-US" sz="3000" b="0" dirty="0">
              <a:latin typeface="微软雅黑" panose="020B0503020204020204" pitchFamily="34" charset="-122"/>
              <a:ea typeface="微软雅黑" panose="020B0503020204020204" pitchFamily="34" charset="-122"/>
            </a:endParaRPr>
          </a:p>
        </p:txBody>
      </p:sp>
      <p:sp>
        <p:nvSpPr>
          <p:cNvPr id="177155" name="Text Box 3"/>
          <p:cNvSpPr txBox="1">
            <a:spLocks noChangeArrowheads="1"/>
          </p:cNvSpPr>
          <p:nvPr/>
        </p:nvSpPr>
        <p:spPr bwMode="auto">
          <a:xfrm>
            <a:off x="3863752" y="2815989"/>
            <a:ext cx="3529013" cy="6477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dirty="0"/>
              <a:t>* </a:t>
            </a:r>
            <a:r>
              <a:rPr kumimoji="1" lang="zh-CN" altLang="en-US" dirty="0"/>
              <a:t>部位：细胞质</a:t>
            </a:r>
            <a:endParaRPr kumimoji="1" lang="zh-CN" altLang="en-US" sz="3600" dirty="0"/>
          </a:p>
        </p:txBody>
      </p:sp>
      <p:sp>
        <p:nvSpPr>
          <p:cNvPr id="2" name="Rectangle 2"/>
          <p:cNvSpPr txBox="1">
            <a:spLocks noChangeArrowheads="1"/>
          </p:cNvSpPr>
          <p:nvPr/>
        </p:nvSpPr>
        <p:spPr>
          <a:xfrm>
            <a:off x="1520955" y="3825582"/>
            <a:ext cx="7772400" cy="64135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algn="l" eaLnBrk="1" hangingPunct="1"/>
            <a:r>
              <a:rPr lang="zh-CN" altLang="en-US" sz="3600" b="0" kern="0" dirty="0">
                <a:solidFill>
                  <a:srgbClr val="000066"/>
                </a:solidFill>
              </a:rPr>
              <a:t>糖无氧氧化的总反应式：</a:t>
            </a:r>
            <a:endParaRPr lang="zh-CN" altLang="en-US" sz="3600" b="0" kern="0" dirty="0">
              <a:solidFill>
                <a:srgbClr val="000066"/>
              </a:solidFill>
            </a:endParaRPr>
          </a:p>
        </p:txBody>
      </p:sp>
      <p:sp>
        <p:nvSpPr>
          <p:cNvPr id="3" name="Text Box 3"/>
          <p:cNvSpPr txBox="1">
            <a:spLocks noChangeArrowheads="1"/>
          </p:cNvSpPr>
          <p:nvPr/>
        </p:nvSpPr>
        <p:spPr bwMode="auto">
          <a:xfrm>
            <a:off x="1520955" y="4717893"/>
            <a:ext cx="4103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dirty="0"/>
              <a:t>葡萄糖 </a:t>
            </a:r>
            <a:r>
              <a:rPr kumimoji="1" lang="en-US" altLang="zh-CN" dirty="0"/>
              <a:t>+ 2Pi + 2ADP</a:t>
            </a:r>
            <a:endParaRPr kumimoji="1" lang="en-US" altLang="zh-CN" dirty="0"/>
          </a:p>
        </p:txBody>
      </p:sp>
      <p:sp>
        <p:nvSpPr>
          <p:cNvPr id="4" name="Text Box 4"/>
          <p:cNvSpPr txBox="1">
            <a:spLocks noChangeArrowheads="1"/>
          </p:cNvSpPr>
          <p:nvPr/>
        </p:nvSpPr>
        <p:spPr bwMode="auto">
          <a:xfrm>
            <a:off x="6888088" y="4730428"/>
            <a:ext cx="4248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dirty="0"/>
              <a:t>2</a:t>
            </a:r>
            <a:r>
              <a:rPr kumimoji="1" lang="zh-CN" altLang="en-US" dirty="0"/>
              <a:t>乳酸 </a:t>
            </a:r>
            <a:r>
              <a:rPr kumimoji="1" lang="en-US" altLang="zh-CN" dirty="0"/>
              <a:t>+ 2ATP + 2H</a:t>
            </a:r>
            <a:r>
              <a:rPr kumimoji="1" lang="en-US" altLang="zh-CN" baseline="-25000" dirty="0"/>
              <a:t>2</a:t>
            </a:r>
            <a:r>
              <a:rPr kumimoji="1" lang="en-US" altLang="zh-CN" dirty="0"/>
              <a:t>O</a:t>
            </a:r>
            <a:endParaRPr kumimoji="1" lang="en-US" altLang="zh-CN" dirty="0"/>
          </a:p>
        </p:txBody>
      </p:sp>
      <p:sp>
        <p:nvSpPr>
          <p:cNvPr id="6" name="箭头: 右 5"/>
          <p:cNvSpPr/>
          <p:nvPr/>
        </p:nvSpPr>
        <p:spPr bwMode="auto">
          <a:xfrm>
            <a:off x="5791620" y="4941168"/>
            <a:ext cx="775739" cy="12329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wheel(4)">
                                      <p:cBhvr>
                                        <p:cTn id="7" dur="500"/>
                                        <p:tgtEl>
                                          <p:spTgt spid="17715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77155"/>
                                        </p:tgtEl>
                                        <p:attrNameLst>
                                          <p:attrName>style.visibility</p:attrName>
                                        </p:attrNameLst>
                                      </p:cBhvr>
                                      <p:to>
                                        <p:strVal val="visible"/>
                                      </p:to>
                                    </p:set>
                                    <p:animEffect transition="in" filter="fade">
                                      <p:cBhvr>
                                        <p:cTn id="12" dur="1000"/>
                                        <p:tgtEl>
                                          <p:spTgt spid="177155"/>
                                        </p:tgtEl>
                                      </p:cBhvr>
                                    </p:animEffect>
                                    <p:anim calcmode="lin" valueType="num">
                                      <p:cBhvr>
                                        <p:cTn id="13" dur="1000" fill="hold"/>
                                        <p:tgtEl>
                                          <p:spTgt spid="177155"/>
                                        </p:tgtEl>
                                        <p:attrNameLst>
                                          <p:attrName>ppt_x</p:attrName>
                                        </p:attrNameLst>
                                      </p:cBhvr>
                                      <p:tavLst>
                                        <p:tav tm="0">
                                          <p:val>
                                            <p:strVal val="#ppt_x"/>
                                          </p:val>
                                        </p:tav>
                                        <p:tav tm="100000">
                                          <p:val>
                                            <p:strVal val="#ppt_x"/>
                                          </p:val>
                                        </p:tav>
                                      </p:tavLst>
                                    </p:anim>
                                    <p:anim calcmode="lin" valueType="num">
                                      <p:cBhvr>
                                        <p:cTn id="14" dur="1000" fill="hold"/>
                                        <p:tgtEl>
                                          <p:spTgt spid="17715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left)">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utoUpdateAnimBg="0"/>
      <p:bldP spid="177155" grpId="0" animBg="1" autoUpdateAnimBg="0"/>
      <p:bldP spid="2" grpId="0"/>
      <p:bldP spid="3" grpId="0"/>
      <p:bldP spid="4" grpId="0"/>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Rectangle 2"/>
          <p:cNvSpPr>
            <a:spLocks noGrp="1" noChangeArrowheads="1"/>
          </p:cNvSpPr>
          <p:nvPr>
            <p:ph type="body" idx="1"/>
          </p:nvPr>
        </p:nvSpPr>
        <p:spPr>
          <a:xfrm>
            <a:off x="1992313" y="1268414"/>
            <a:ext cx="8784207" cy="4537075"/>
          </a:xfrm>
        </p:spPr>
        <p:txBody>
          <a:bodyPr/>
          <a:lstStyle/>
          <a:p>
            <a:pPr eaLnBrk="1" hangingPunct="1">
              <a:lnSpc>
                <a:spcPct val="110000"/>
              </a:lnSpc>
              <a:buClr>
                <a:schemeClr val="tx1"/>
              </a:buClr>
              <a:buFont typeface="Wingdings" panose="05000000000000000000" pitchFamily="2" charset="2"/>
              <a:buNone/>
            </a:pPr>
            <a:r>
              <a:rPr lang="zh-CN" altLang="en-US" sz="3600" dirty="0">
                <a:solidFill>
                  <a:srgbClr val="660066"/>
                </a:solidFill>
              </a:rPr>
              <a:t>一、糖无氧氧化的反应过程</a:t>
            </a:r>
            <a:endParaRPr lang="zh-CN" altLang="en-US" sz="3600" dirty="0">
              <a:solidFill>
                <a:srgbClr val="660066"/>
              </a:solidFill>
            </a:endParaRPr>
          </a:p>
          <a:p>
            <a:pPr eaLnBrk="1" hangingPunct="1">
              <a:lnSpc>
                <a:spcPct val="20000"/>
              </a:lnSpc>
              <a:buClr>
                <a:schemeClr val="tx1"/>
              </a:buClr>
              <a:buFont typeface="Wingdings" panose="05000000000000000000" pitchFamily="2" charset="2"/>
              <a:buNone/>
            </a:pPr>
            <a:endParaRPr lang="zh-CN" altLang="en-US" sz="3600" b="0" dirty="0"/>
          </a:p>
          <a:p>
            <a:pPr eaLnBrk="1" hangingPunct="1">
              <a:lnSpc>
                <a:spcPct val="140000"/>
              </a:lnSpc>
              <a:buClr>
                <a:schemeClr val="tx1"/>
              </a:buClr>
            </a:pPr>
            <a:r>
              <a:rPr lang="zh-CN" altLang="en-US" b="0" dirty="0"/>
              <a:t>   </a:t>
            </a:r>
            <a:r>
              <a:rPr lang="zh-CN" altLang="en-US" sz="2800" b="0" dirty="0"/>
              <a:t>第一阶段：葡萄糖分解为</a:t>
            </a:r>
            <a:r>
              <a:rPr lang="zh-CN" altLang="en-US" sz="2800" dirty="0"/>
              <a:t>丙酮酸</a:t>
            </a:r>
            <a:endParaRPr lang="zh-CN" altLang="en-US" sz="2800" dirty="0"/>
          </a:p>
          <a:p>
            <a:pPr eaLnBrk="1" hangingPunct="1">
              <a:spcBef>
                <a:spcPts val="0"/>
              </a:spcBef>
              <a:buClr>
                <a:schemeClr val="tx1"/>
              </a:buClr>
              <a:buNone/>
            </a:pPr>
            <a:r>
              <a:rPr lang="zh-CN" altLang="en-US" sz="2800" b="0" dirty="0">
                <a:solidFill>
                  <a:srgbClr val="C00000"/>
                </a:solidFill>
              </a:rPr>
              <a:t>         </a:t>
            </a:r>
            <a:r>
              <a:rPr lang="zh-CN" altLang="en-US" sz="2800" b="0" dirty="0"/>
              <a:t>即</a:t>
            </a:r>
            <a:r>
              <a:rPr lang="zh-CN" altLang="en-US" sz="2800" b="0" dirty="0">
                <a:solidFill>
                  <a:srgbClr val="C00000"/>
                </a:solidFill>
              </a:rPr>
              <a:t> 糖酵解（</a:t>
            </a:r>
            <a:r>
              <a:rPr lang="en-US" altLang="zh-CN" sz="2800" b="0" dirty="0">
                <a:solidFill>
                  <a:srgbClr val="C00000"/>
                </a:solidFill>
              </a:rPr>
              <a:t>glycolysis)</a:t>
            </a:r>
            <a:r>
              <a:rPr lang="en-US" altLang="zh-CN" sz="2800" b="0" dirty="0"/>
              <a:t> = glycolytic pathway</a:t>
            </a:r>
            <a:endParaRPr lang="zh-CN" altLang="en-US" sz="2800" b="0" dirty="0"/>
          </a:p>
          <a:p>
            <a:pPr eaLnBrk="1" hangingPunct="1">
              <a:lnSpc>
                <a:spcPct val="140000"/>
              </a:lnSpc>
              <a:spcBef>
                <a:spcPts val="0"/>
              </a:spcBef>
              <a:buClr>
                <a:schemeClr val="tx1"/>
              </a:buClr>
              <a:buNone/>
            </a:pPr>
            <a:r>
              <a:rPr lang="zh-CN" altLang="en-US" sz="2800" b="0" dirty="0"/>
              <a:t>       </a:t>
            </a:r>
            <a:r>
              <a:rPr lang="zh-CN" altLang="en-US" sz="2400" b="0" dirty="0"/>
              <a:t>又称为 </a:t>
            </a:r>
            <a:r>
              <a:rPr lang="en-US" altLang="zh-CN" sz="2800" b="0" dirty="0"/>
              <a:t>the Embden–Meyerhof–</a:t>
            </a:r>
            <a:r>
              <a:rPr lang="en-US" altLang="zh-CN" sz="2800" b="0" dirty="0" err="1"/>
              <a:t>Parnas</a:t>
            </a:r>
            <a:r>
              <a:rPr lang="en-US" altLang="zh-CN" sz="2800" b="0" dirty="0"/>
              <a:t> (EMP) pathway</a:t>
            </a:r>
            <a:endParaRPr lang="en-US" altLang="zh-CN" sz="2800" b="0" dirty="0"/>
          </a:p>
          <a:p>
            <a:pPr marL="0" indent="0" eaLnBrk="1" hangingPunct="1">
              <a:buClr>
                <a:schemeClr val="tx1"/>
              </a:buClr>
              <a:buNone/>
            </a:pPr>
            <a:r>
              <a:rPr lang="zh-CN" altLang="en-US" sz="2800" b="0" dirty="0"/>
              <a:t> </a:t>
            </a:r>
            <a:endParaRPr lang="en-US" altLang="zh-CN" sz="2800" b="0" dirty="0"/>
          </a:p>
          <a:p>
            <a:pPr eaLnBrk="1" hangingPunct="1">
              <a:buClr>
                <a:schemeClr val="tx1"/>
              </a:buClr>
            </a:pPr>
            <a:r>
              <a:rPr lang="zh-CN" altLang="en-US" sz="2800" b="0" dirty="0"/>
              <a:t>    第二阶段：丙酮酸还原为</a:t>
            </a:r>
            <a:r>
              <a:rPr lang="zh-CN" altLang="en-US" sz="2800" dirty="0"/>
              <a:t>乳酸</a:t>
            </a:r>
            <a:endParaRPr lang="zh-CN" altLang="en-US" sz="2800" dirty="0"/>
          </a:p>
        </p:txBody>
      </p:sp>
      <p:sp>
        <p:nvSpPr>
          <p:cNvPr id="147459" name="Rectangle 3"/>
          <p:cNvSpPr>
            <a:spLocks noChangeArrowheads="1"/>
          </p:cNvSpPr>
          <p:nvPr/>
        </p:nvSpPr>
        <p:spPr bwMode="auto">
          <a:xfrm>
            <a:off x="3143672" y="5511007"/>
            <a:ext cx="3949700" cy="588962"/>
          </a:xfrm>
          <a:prstGeom prst="rect">
            <a:avLst/>
          </a:prstGeom>
          <a:solidFill>
            <a:srgbClr val="FFCCCC"/>
          </a:solidFill>
          <a:ln w="9525">
            <a:solidFill>
              <a:srgbClr val="FFCCCC"/>
            </a:solidFill>
            <a:miter lim="800000"/>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dirty="0"/>
              <a:t>* 反应部位：胞质</a:t>
            </a:r>
            <a:endParaRPr kumimoji="1" lang="zh-CN" altLang="en-US"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7458">
                                            <p:txEl>
                                              <p:pRg st="0" end="0"/>
                                            </p:txEl>
                                          </p:spTgt>
                                        </p:tgtEl>
                                        <p:attrNameLst>
                                          <p:attrName>style.visibility</p:attrName>
                                        </p:attrNameLst>
                                      </p:cBhvr>
                                      <p:to>
                                        <p:strVal val="visible"/>
                                      </p:to>
                                    </p:set>
                                    <p:animEffect transition="in" filter="dissolve">
                                      <p:cBhvr>
                                        <p:cTn id="7" dur="500"/>
                                        <p:tgtEl>
                                          <p:spTgt spid="147458">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7458">
                                            <p:txEl>
                                              <p:pRg st="2" end="2"/>
                                            </p:txEl>
                                          </p:spTgt>
                                        </p:tgtEl>
                                        <p:attrNameLst>
                                          <p:attrName>style.visibility</p:attrName>
                                        </p:attrNameLst>
                                      </p:cBhvr>
                                      <p:to>
                                        <p:strVal val="visible"/>
                                      </p:to>
                                    </p:set>
                                    <p:animEffect transition="in" filter="dissolve">
                                      <p:cBhvr>
                                        <p:cTn id="10" dur="500"/>
                                        <p:tgtEl>
                                          <p:spTgt spid="147458">
                                            <p:txEl>
                                              <p:pRg st="2" end="2"/>
                                            </p:txEl>
                                          </p:spTgt>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147458">
                                            <p:txEl>
                                              <p:pRg st="3" end="3"/>
                                            </p:txEl>
                                          </p:spTgt>
                                        </p:tgtEl>
                                        <p:attrNameLst>
                                          <p:attrName>style.visibility</p:attrName>
                                        </p:attrNameLst>
                                      </p:cBhvr>
                                      <p:to>
                                        <p:strVal val="visible"/>
                                      </p:to>
                                    </p:set>
                                    <p:animEffect transition="in" filter="dissolve">
                                      <p:cBhvr>
                                        <p:cTn id="14" dur="500"/>
                                        <p:tgtEl>
                                          <p:spTgt spid="147458">
                                            <p:txEl>
                                              <p:pRg st="3" end="3"/>
                                            </p:txEl>
                                          </p:spTgt>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147458">
                                            <p:txEl>
                                              <p:pRg st="4" end="4"/>
                                            </p:txEl>
                                          </p:spTgt>
                                        </p:tgtEl>
                                        <p:attrNameLst>
                                          <p:attrName>style.visibility</p:attrName>
                                        </p:attrNameLst>
                                      </p:cBhvr>
                                      <p:to>
                                        <p:strVal val="visible"/>
                                      </p:to>
                                    </p:set>
                                    <p:animEffect transition="in" filter="dissolve">
                                      <p:cBhvr>
                                        <p:cTn id="17" dur="500"/>
                                        <p:tgtEl>
                                          <p:spTgt spid="14745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7458">
                                            <p:txEl>
                                              <p:pRg st="6" end="6"/>
                                            </p:txEl>
                                          </p:spTgt>
                                        </p:tgtEl>
                                        <p:attrNameLst>
                                          <p:attrName>style.visibility</p:attrName>
                                        </p:attrNameLst>
                                      </p:cBhvr>
                                      <p:to>
                                        <p:strVal val="visible"/>
                                      </p:to>
                                    </p:set>
                                    <p:animEffect transition="in" filter="dissolve">
                                      <p:cBhvr>
                                        <p:cTn id="22" dur="500"/>
                                        <p:tgtEl>
                                          <p:spTgt spid="14745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7459"/>
                                        </p:tgtEl>
                                        <p:attrNameLst>
                                          <p:attrName>style.visibility</p:attrName>
                                        </p:attrNameLst>
                                      </p:cBhvr>
                                      <p:to>
                                        <p:strVal val="visible"/>
                                      </p:to>
                                    </p:set>
                                    <p:animEffect transition="in" filter="dissolve">
                                      <p:cBhvr>
                                        <p:cTn id="27" dur="500"/>
                                        <p:tgtEl>
                                          <p:spTgt spid="147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advAuto="0" autoUpdateAnimBg="0" uiExpand="1" build="p"/>
      <p:bldP spid="147459"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48385" y="0"/>
            <a:ext cx="541496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81923" name="Picture 4"/>
          <p:cNvPicPr>
            <a:picLocks noChangeAspect="1" noChangeArrowheads="1"/>
          </p:cNvPicPr>
          <p:nvPr/>
        </p:nvPicPr>
        <p:blipFill>
          <a:blip r:embed="rId1">
            <a:extLst>
              <a:ext uri="{28A0092B-C50C-407E-A947-70E740481C1C}">
                <a14:useLocalDpi xmlns:a14="http://schemas.microsoft.com/office/drawing/2010/main" val="0"/>
              </a:ext>
            </a:extLst>
          </a:blip>
          <a:srcRect l="62296"/>
          <a:stretch>
            <a:fillRect/>
          </a:stretch>
        </p:blipFill>
        <p:spPr bwMode="auto">
          <a:xfrm>
            <a:off x="1559323" y="0"/>
            <a:ext cx="1393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81924" name="Text Box 5"/>
          <p:cNvSpPr txBox="1">
            <a:spLocks noChangeArrowheads="1"/>
          </p:cNvSpPr>
          <p:nvPr/>
        </p:nvSpPr>
        <p:spPr bwMode="auto">
          <a:xfrm>
            <a:off x="6886973" y="6453189"/>
            <a:ext cx="682625" cy="376237"/>
          </a:xfrm>
          <a:prstGeom prst="rect">
            <a:avLst/>
          </a:prstGeom>
          <a:solidFill>
            <a:srgbClr val="00FFFF"/>
          </a:solidFill>
          <a:ln w="9525">
            <a:solidFill>
              <a:schemeClr val="tx1"/>
            </a:solidFill>
            <a:miter lim="800000"/>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1800">
                <a:ea typeface="宋体" panose="02010600030101010101" pitchFamily="2" charset="-122"/>
              </a:rPr>
              <a:t>乳酸</a:t>
            </a:r>
            <a:endParaRPr kumimoji="1" lang="zh-CN" altLang="en-US" sz="1800">
              <a:ea typeface="宋体" panose="02010600030101010101" pitchFamily="2" charset="-122"/>
            </a:endParaRPr>
          </a:p>
        </p:txBody>
      </p:sp>
      <p:sp>
        <p:nvSpPr>
          <p:cNvPr id="81925" name="Text Box 8"/>
          <p:cNvSpPr txBox="1">
            <a:spLocks noChangeArrowheads="1"/>
          </p:cNvSpPr>
          <p:nvPr/>
        </p:nvSpPr>
        <p:spPr bwMode="auto">
          <a:xfrm>
            <a:off x="335360" y="765175"/>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endParaRPr kumimoji="1" lang="zh-CN" altLang="en-US" sz="2400" b="0">
              <a:ea typeface="华文新魏" panose="02010800040101010101" pitchFamily="2" charset="-122"/>
            </a:endParaRPr>
          </a:p>
        </p:txBody>
      </p:sp>
      <p:sp>
        <p:nvSpPr>
          <p:cNvPr id="81926" name="Text Box 9"/>
          <p:cNvSpPr txBox="1">
            <a:spLocks noChangeArrowheads="1"/>
          </p:cNvSpPr>
          <p:nvPr/>
        </p:nvSpPr>
        <p:spPr bwMode="auto">
          <a:xfrm>
            <a:off x="554673" y="0"/>
            <a:ext cx="86177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lang="zh-CN" altLang="en-US" sz="4400" b="0">
                <a:ea typeface="黑体" panose="02010609060101010101" pitchFamily="2" charset="-122"/>
              </a:rPr>
              <a:t>糖的无氧氧化过程</a:t>
            </a:r>
            <a:endParaRPr kumimoji="1" lang="zh-CN" altLang="en-US" sz="4400" b="0">
              <a:ea typeface="黑体" panose="02010609060101010101" pitchFamily="2" charset="-122"/>
            </a:endParaRPr>
          </a:p>
        </p:txBody>
      </p:sp>
      <p:sp>
        <p:nvSpPr>
          <p:cNvPr id="323601" name="Line 17"/>
          <p:cNvSpPr>
            <a:spLocks noChangeShapeType="1"/>
          </p:cNvSpPr>
          <p:nvPr/>
        </p:nvSpPr>
        <p:spPr bwMode="auto">
          <a:xfrm>
            <a:off x="4870847" y="6669088"/>
            <a:ext cx="1944688" cy="0"/>
          </a:xfrm>
          <a:prstGeom prst="line">
            <a:avLst/>
          </a:prstGeom>
          <a:noFill/>
          <a:ln w="101600">
            <a:solidFill>
              <a:srgbClr val="006666"/>
            </a:solidFill>
            <a:round/>
            <a:tailEnd type="triangle" w="med" len="sm"/>
          </a:ln>
          <a:effectLst>
            <a:outerShdw dist="107763" dir="2700000" algn="ctr" rotWithShape="0">
              <a:schemeClr val="bg2">
                <a:alpha val="50000"/>
              </a:schemeClr>
            </a:outerShdw>
          </a:effectLst>
        </p:spPr>
        <p:txBody>
          <a:bodyPr wrap="none"/>
          <a:lstStyle/>
          <a:p>
            <a:pPr eaLnBrk="1" hangingPunct="1">
              <a:defRPr/>
            </a:pPr>
            <a:endParaRPr lang="zh-CN" altLang="en-US">
              <a:latin typeface="Arial" panose="020B0604020202020204" pitchFamily="34" charset="0"/>
              <a:ea typeface="+mn-ea"/>
            </a:endParaRPr>
          </a:p>
        </p:txBody>
      </p:sp>
      <p:sp>
        <p:nvSpPr>
          <p:cNvPr id="323602" name="Text Box 18"/>
          <p:cNvSpPr txBox="1">
            <a:spLocks noChangeArrowheads="1"/>
          </p:cNvSpPr>
          <p:nvPr/>
        </p:nvSpPr>
        <p:spPr bwMode="auto">
          <a:xfrm>
            <a:off x="2422922" y="2238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① </a:t>
            </a:r>
            <a:endParaRPr kumimoji="1" lang="zh-CN" altLang="en-US" sz="2000" b="0">
              <a:solidFill>
                <a:srgbClr val="0000FF"/>
              </a:solidFill>
              <a:ea typeface="华文新魏" panose="02010800040101010101" pitchFamily="2" charset="-122"/>
            </a:endParaRPr>
          </a:p>
        </p:txBody>
      </p:sp>
      <p:sp>
        <p:nvSpPr>
          <p:cNvPr id="323603" name="Text Box 19"/>
          <p:cNvSpPr txBox="1">
            <a:spLocks noChangeArrowheads="1"/>
          </p:cNvSpPr>
          <p:nvPr/>
        </p:nvSpPr>
        <p:spPr bwMode="auto">
          <a:xfrm>
            <a:off x="2422922" y="8715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②  </a:t>
            </a:r>
            <a:endParaRPr kumimoji="1" lang="zh-CN" altLang="en-US" sz="2000" b="0">
              <a:solidFill>
                <a:srgbClr val="0000FF"/>
              </a:solidFill>
              <a:ea typeface="华文新魏" panose="02010800040101010101" pitchFamily="2" charset="-122"/>
            </a:endParaRPr>
          </a:p>
        </p:txBody>
      </p:sp>
      <p:sp>
        <p:nvSpPr>
          <p:cNvPr id="323604" name="Text Box 20"/>
          <p:cNvSpPr txBox="1">
            <a:spLocks noChangeArrowheads="1"/>
          </p:cNvSpPr>
          <p:nvPr/>
        </p:nvSpPr>
        <p:spPr bwMode="auto">
          <a:xfrm>
            <a:off x="2422922" y="15192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③  </a:t>
            </a:r>
            <a:endParaRPr kumimoji="1" lang="zh-CN" altLang="en-US" sz="2000" b="0">
              <a:solidFill>
                <a:srgbClr val="0000FF"/>
              </a:solidFill>
              <a:ea typeface="华文新魏" panose="02010800040101010101" pitchFamily="2" charset="-122"/>
            </a:endParaRPr>
          </a:p>
        </p:txBody>
      </p:sp>
      <p:sp>
        <p:nvSpPr>
          <p:cNvPr id="323605" name="Text Box 21"/>
          <p:cNvSpPr txBox="1">
            <a:spLocks noChangeArrowheads="1"/>
          </p:cNvSpPr>
          <p:nvPr/>
        </p:nvSpPr>
        <p:spPr bwMode="auto">
          <a:xfrm>
            <a:off x="2422922" y="21685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④  </a:t>
            </a:r>
            <a:endParaRPr kumimoji="1" lang="zh-CN" altLang="en-US" sz="2000" b="0">
              <a:solidFill>
                <a:srgbClr val="0000FF"/>
              </a:solidFill>
              <a:ea typeface="华文新魏" panose="02010800040101010101" pitchFamily="2" charset="-122"/>
            </a:endParaRPr>
          </a:p>
        </p:txBody>
      </p:sp>
      <p:sp>
        <p:nvSpPr>
          <p:cNvPr id="323606" name="Text Box 22"/>
          <p:cNvSpPr txBox="1">
            <a:spLocks noChangeArrowheads="1"/>
          </p:cNvSpPr>
          <p:nvPr/>
        </p:nvSpPr>
        <p:spPr bwMode="auto">
          <a:xfrm>
            <a:off x="2422922" y="26368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⑤  </a:t>
            </a:r>
            <a:endParaRPr kumimoji="1" lang="zh-CN" altLang="en-US" sz="2000" b="0">
              <a:solidFill>
                <a:srgbClr val="0000FF"/>
              </a:solidFill>
              <a:ea typeface="华文新魏" panose="02010800040101010101" pitchFamily="2" charset="-122"/>
            </a:endParaRPr>
          </a:p>
        </p:txBody>
      </p:sp>
      <p:sp>
        <p:nvSpPr>
          <p:cNvPr id="323607" name="Text Box 23"/>
          <p:cNvSpPr txBox="1">
            <a:spLocks noChangeArrowheads="1"/>
          </p:cNvSpPr>
          <p:nvPr/>
        </p:nvSpPr>
        <p:spPr bwMode="auto">
          <a:xfrm>
            <a:off x="2424511" y="3357564"/>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⑥ </a:t>
            </a:r>
            <a:endParaRPr kumimoji="1" lang="zh-CN" altLang="en-US" sz="2000" b="0">
              <a:solidFill>
                <a:srgbClr val="0000FF"/>
              </a:solidFill>
              <a:ea typeface="华文新魏" panose="02010800040101010101" pitchFamily="2" charset="-122"/>
            </a:endParaRPr>
          </a:p>
        </p:txBody>
      </p:sp>
      <p:sp>
        <p:nvSpPr>
          <p:cNvPr id="323608" name="Text Box 24"/>
          <p:cNvSpPr txBox="1">
            <a:spLocks noChangeArrowheads="1"/>
          </p:cNvSpPr>
          <p:nvPr/>
        </p:nvSpPr>
        <p:spPr bwMode="auto">
          <a:xfrm>
            <a:off x="2422922" y="41497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⑦  </a:t>
            </a:r>
            <a:endParaRPr kumimoji="1" lang="zh-CN" altLang="en-US" sz="2000" b="0">
              <a:solidFill>
                <a:srgbClr val="0000FF"/>
              </a:solidFill>
              <a:ea typeface="华文新魏" panose="02010800040101010101" pitchFamily="2" charset="-122"/>
            </a:endParaRPr>
          </a:p>
        </p:txBody>
      </p:sp>
      <p:sp>
        <p:nvSpPr>
          <p:cNvPr id="323609" name="Text Box 25"/>
          <p:cNvSpPr txBox="1">
            <a:spLocks noChangeArrowheads="1"/>
          </p:cNvSpPr>
          <p:nvPr/>
        </p:nvSpPr>
        <p:spPr bwMode="auto">
          <a:xfrm>
            <a:off x="2422922" y="47974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⑧ </a:t>
            </a:r>
            <a:endParaRPr kumimoji="1" lang="zh-CN" altLang="en-US" sz="2000" b="0">
              <a:solidFill>
                <a:srgbClr val="0000FF"/>
              </a:solidFill>
              <a:ea typeface="华文新魏" panose="02010800040101010101" pitchFamily="2" charset="-122"/>
            </a:endParaRPr>
          </a:p>
        </p:txBody>
      </p:sp>
      <p:sp>
        <p:nvSpPr>
          <p:cNvPr id="323610" name="Text Box 26"/>
          <p:cNvSpPr txBox="1">
            <a:spLocks noChangeArrowheads="1"/>
          </p:cNvSpPr>
          <p:nvPr/>
        </p:nvSpPr>
        <p:spPr bwMode="auto">
          <a:xfrm>
            <a:off x="2422922" y="537368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⑨  </a:t>
            </a:r>
            <a:endParaRPr kumimoji="1" lang="zh-CN" altLang="en-US" sz="2000" b="0">
              <a:solidFill>
                <a:srgbClr val="0000FF"/>
              </a:solidFill>
              <a:ea typeface="华文新魏" panose="02010800040101010101" pitchFamily="2" charset="-122"/>
            </a:endParaRPr>
          </a:p>
        </p:txBody>
      </p:sp>
      <p:sp>
        <p:nvSpPr>
          <p:cNvPr id="323611" name="Text Box 27"/>
          <p:cNvSpPr txBox="1">
            <a:spLocks noChangeArrowheads="1"/>
          </p:cNvSpPr>
          <p:nvPr/>
        </p:nvSpPr>
        <p:spPr bwMode="auto">
          <a:xfrm>
            <a:off x="2422922" y="6056314"/>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⑩ </a:t>
            </a:r>
            <a:endParaRPr kumimoji="1" lang="zh-CN" altLang="en-US" sz="2000" b="0">
              <a:solidFill>
                <a:srgbClr val="0000FF"/>
              </a:solidFill>
              <a:ea typeface="华文新魏" panose="02010800040101010101" pitchFamily="2" charset="-122"/>
            </a:endParaRPr>
          </a:p>
        </p:txBody>
      </p:sp>
      <p:sp>
        <p:nvSpPr>
          <p:cNvPr id="323612" name="Text Box 28"/>
          <p:cNvSpPr txBox="1">
            <a:spLocks noChangeArrowheads="1"/>
          </p:cNvSpPr>
          <p:nvPr/>
        </p:nvSpPr>
        <p:spPr bwMode="auto">
          <a:xfrm>
            <a:off x="7679136" y="6400801"/>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⑾  </a:t>
            </a:r>
            <a:endParaRPr kumimoji="1" lang="zh-CN" altLang="en-US" sz="2000" b="0">
              <a:solidFill>
                <a:srgbClr val="0000FF"/>
              </a:solidFill>
              <a:ea typeface="华文新魏" panose="02010800040101010101" pitchFamily="2" charset="-122"/>
            </a:endParaRPr>
          </a:p>
        </p:txBody>
      </p:sp>
      <p:sp>
        <p:nvSpPr>
          <p:cNvPr id="323615" name="Rectangle 31"/>
          <p:cNvSpPr>
            <a:spLocks noChangeArrowheads="1"/>
          </p:cNvSpPr>
          <p:nvPr/>
        </p:nvSpPr>
        <p:spPr bwMode="auto">
          <a:xfrm>
            <a:off x="3575448" y="-33338"/>
            <a:ext cx="1008063" cy="260351"/>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3616" name="Rectangle 32"/>
          <p:cNvSpPr>
            <a:spLocks noChangeArrowheads="1"/>
          </p:cNvSpPr>
          <p:nvPr/>
        </p:nvSpPr>
        <p:spPr bwMode="auto">
          <a:xfrm>
            <a:off x="3430985" y="6502401"/>
            <a:ext cx="1223962" cy="333375"/>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3617" name="Rectangle 33"/>
          <p:cNvSpPr>
            <a:spLocks noChangeArrowheads="1"/>
          </p:cNvSpPr>
          <p:nvPr/>
        </p:nvSpPr>
        <p:spPr bwMode="auto">
          <a:xfrm>
            <a:off x="6886973" y="6453188"/>
            <a:ext cx="720725" cy="404812"/>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2" name="Group 50"/>
          <p:cNvGrpSpPr/>
          <p:nvPr/>
        </p:nvGrpSpPr>
        <p:grpSpPr bwMode="auto">
          <a:xfrm>
            <a:off x="5447110" y="3622676"/>
            <a:ext cx="539750" cy="2879725"/>
            <a:chOff x="3923" y="2282"/>
            <a:chExt cx="340" cy="1814"/>
          </a:xfrm>
        </p:grpSpPr>
        <p:sp>
          <p:nvSpPr>
            <p:cNvPr id="81947" name="Line 48"/>
            <p:cNvSpPr>
              <a:spLocks noChangeShapeType="1"/>
            </p:cNvSpPr>
            <p:nvPr/>
          </p:nvSpPr>
          <p:spPr bwMode="auto">
            <a:xfrm>
              <a:off x="3923" y="2296"/>
              <a:ext cx="340" cy="0"/>
            </a:xfrm>
            <a:prstGeom prst="line">
              <a:avLst/>
            </a:prstGeom>
            <a:noFill/>
            <a:ln w="38100">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81948" name="Line 49"/>
            <p:cNvSpPr>
              <a:spLocks noChangeShapeType="1"/>
            </p:cNvSpPr>
            <p:nvPr/>
          </p:nvSpPr>
          <p:spPr bwMode="auto">
            <a:xfrm>
              <a:off x="4255" y="2282"/>
              <a:ext cx="0" cy="1814"/>
            </a:xfrm>
            <a:prstGeom prst="line">
              <a:avLst/>
            </a:prstGeom>
            <a:noFill/>
            <a:ln w="38100">
              <a:solidFill>
                <a:schemeClr val="tx1"/>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81943" name="右大括号 2"/>
          <p:cNvSpPr/>
          <p:nvPr/>
        </p:nvSpPr>
        <p:spPr bwMode="auto">
          <a:xfrm>
            <a:off x="6383735" y="223838"/>
            <a:ext cx="431800" cy="2628900"/>
          </a:xfrm>
          <a:prstGeom prst="rightBrace">
            <a:avLst>
              <a:gd name="adj1" fmla="val 8343"/>
              <a:gd name="adj2" fmla="val 50000"/>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sp>
        <p:nvSpPr>
          <p:cNvPr id="81944" name="右大括号 25"/>
          <p:cNvSpPr/>
          <p:nvPr/>
        </p:nvSpPr>
        <p:spPr bwMode="auto">
          <a:xfrm>
            <a:off x="6459936" y="3482976"/>
            <a:ext cx="427037" cy="2970213"/>
          </a:xfrm>
          <a:prstGeom prst="rightBrace">
            <a:avLst>
              <a:gd name="adj1" fmla="val 8340"/>
              <a:gd name="adj2" fmla="val 50000"/>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sp>
        <p:nvSpPr>
          <p:cNvPr id="81945" name="文本框 3"/>
          <p:cNvSpPr txBox="1">
            <a:spLocks noChangeArrowheads="1"/>
          </p:cNvSpPr>
          <p:nvPr/>
        </p:nvSpPr>
        <p:spPr bwMode="auto">
          <a:xfrm>
            <a:off x="6886972" y="1069976"/>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a:latin typeface="Arial" panose="020B0604020202020204" pitchFamily="34" charset="0"/>
                <a:ea typeface="宋体" panose="02010600030101010101" pitchFamily="2" charset="-122"/>
              </a:rPr>
              <a:t>耗能阶段</a:t>
            </a:r>
            <a:endParaRPr lang="zh-CN" altLang="en-US" sz="2800">
              <a:latin typeface="Arial" panose="020B0604020202020204" pitchFamily="34" charset="0"/>
              <a:ea typeface="宋体" panose="02010600030101010101" pitchFamily="2" charset="-122"/>
            </a:endParaRPr>
          </a:p>
        </p:txBody>
      </p:sp>
      <p:sp>
        <p:nvSpPr>
          <p:cNvPr id="81946" name="文本框 27"/>
          <p:cNvSpPr txBox="1">
            <a:spLocks noChangeArrowheads="1"/>
          </p:cNvSpPr>
          <p:nvPr/>
        </p:nvSpPr>
        <p:spPr bwMode="auto">
          <a:xfrm>
            <a:off x="6940947" y="4876801"/>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a:latin typeface="Arial" panose="020B0604020202020204" pitchFamily="34" charset="0"/>
                <a:ea typeface="宋体" panose="02010600030101010101" pitchFamily="2" charset="-122"/>
              </a:rPr>
              <a:t>放能阶段</a:t>
            </a:r>
            <a:endParaRPr lang="zh-CN" altLang="en-US" sz="2800">
              <a:latin typeface="Arial" panose="020B0604020202020204" pitchFamily="34" charset="0"/>
              <a:ea typeface="宋体" panose="02010600030101010101" pitchFamily="2" charset="-122"/>
            </a:endParaRPr>
          </a:p>
        </p:txBody>
      </p:sp>
      <p:sp>
        <p:nvSpPr>
          <p:cNvPr id="4" name="文本框 3"/>
          <p:cNvSpPr txBox="1"/>
          <p:nvPr/>
        </p:nvSpPr>
        <p:spPr>
          <a:xfrm>
            <a:off x="8517930" y="1618784"/>
            <a:ext cx="3456384" cy="2677656"/>
          </a:xfrm>
          <a:prstGeom prst="rect">
            <a:avLst/>
          </a:prstGeom>
          <a:noFill/>
        </p:spPr>
        <p:txBody>
          <a:bodyPr wrap="square">
            <a:spAutoFit/>
          </a:bodyPr>
          <a:lstStyle/>
          <a:p>
            <a:r>
              <a:rPr lang="zh-CN" altLang="en-US" sz="2400" b="0" dirty="0">
                <a:latin typeface="+mj-ea"/>
                <a:ea typeface="+mj-ea"/>
              </a:rPr>
              <a:t>糖酵解（一分子葡萄糖变两分子丙酮酸）总标准自由能变化 ：</a:t>
            </a:r>
            <a:endParaRPr lang="en-US" altLang="zh-CN" sz="2400" b="0" dirty="0">
              <a:latin typeface="+mj-ea"/>
              <a:ea typeface="+mj-ea"/>
            </a:endParaRPr>
          </a:p>
          <a:p>
            <a:r>
              <a:rPr lang="el-GR" altLang="zh-CN" sz="2400" b="0" dirty="0"/>
              <a:t>Δ</a:t>
            </a:r>
            <a:r>
              <a:rPr lang="en-US" altLang="zh-CN" sz="2400" b="0" dirty="0"/>
              <a:t>G′</a:t>
            </a:r>
            <a:r>
              <a:rPr lang="en-US" altLang="zh-CN" sz="2400" b="0" baseline="30000" dirty="0"/>
              <a:t>0</a:t>
            </a:r>
            <a:r>
              <a:rPr lang="en-US" altLang="zh-CN" sz="2400" b="0" dirty="0"/>
              <a:t>  </a:t>
            </a:r>
            <a:r>
              <a:rPr lang="en-US" altLang="zh-CN" sz="2400" b="0" dirty="0">
                <a:latin typeface="+mj-ea"/>
                <a:ea typeface="+mj-ea"/>
              </a:rPr>
              <a:t>= −85 kJ/mol   </a:t>
            </a:r>
            <a:endParaRPr lang="en-US" altLang="zh-CN" sz="2400" b="0" dirty="0">
              <a:latin typeface="+mj-ea"/>
              <a:ea typeface="+mj-ea"/>
            </a:endParaRPr>
          </a:p>
          <a:p>
            <a:r>
              <a:rPr lang="zh-CN" altLang="en-US" sz="2400" b="0" dirty="0">
                <a:latin typeface="+mj-ea"/>
                <a:ea typeface="+mj-ea"/>
              </a:rPr>
              <a:t>自由能变化如此之大，所以糖酵解是不可逆过程。  </a:t>
            </a:r>
            <a:endParaRPr lang="zh-CN" altLang="en-US" sz="2400" b="0" dirty="0">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36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32361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323602"/>
                                        </p:tgtEl>
                                        <p:attrNameLst>
                                          <p:attrName>style.visibility</p:attrName>
                                        </p:attrNameLst>
                                      </p:cBhvr>
                                      <p:to>
                                        <p:strVal val="visible"/>
                                      </p:to>
                                    </p:set>
                                    <p:animEffect transition="in" filter="dissolve">
                                      <p:cBhvr>
                                        <p:cTn id="14" dur="500"/>
                                        <p:tgtEl>
                                          <p:spTgt spid="323602"/>
                                        </p:tgtEl>
                                      </p:cBhvr>
                                    </p:animEffect>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323603"/>
                                        </p:tgtEl>
                                        <p:attrNameLst>
                                          <p:attrName>style.visibility</p:attrName>
                                        </p:attrNameLst>
                                      </p:cBhvr>
                                      <p:to>
                                        <p:strVal val="visible"/>
                                      </p:to>
                                    </p:set>
                                    <p:animEffect transition="in" filter="dissolve">
                                      <p:cBhvr>
                                        <p:cTn id="18" dur="500"/>
                                        <p:tgtEl>
                                          <p:spTgt spid="323603"/>
                                        </p:tgtEl>
                                      </p:cBhvr>
                                    </p:animEffect>
                                  </p:childTnLst>
                                </p:cTn>
                              </p:par>
                            </p:childTnLst>
                          </p:cTn>
                        </p:par>
                        <p:par>
                          <p:cTn id="19" fill="hold">
                            <p:stCondLst>
                              <p:cond delay="1000"/>
                            </p:stCondLst>
                            <p:childTnLst>
                              <p:par>
                                <p:cTn id="20" presetID="9" presetClass="entr" presetSubtype="0" fill="hold" grpId="0" nodeType="afterEffect">
                                  <p:stCondLst>
                                    <p:cond delay="0"/>
                                  </p:stCondLst>
                                  <p:childTnLst>
                                    <p:set>
                                      <p:cBhvr>
                                        <p:cTn id="21" dur="1" fill="hold">
                                          <p:stCondLst>
                                            <p:cond delay="0"/>
                                          </p:stCondLst>
                                        </p:cTn>
                                        <p:tgtEl>
                                          <p:spTgt spid="323604"/>
                                        </p:tgtEl>
                                        <p:attrNameLst>
                                          <p:attrName>style.visibility</p:attrName>
                                        </p:attrNameLst>
                                      </p:cBhvr>
                                      <p:to>
                                        <p:strVal val="visible"/>
                                      </p:to>
                                    </p:set>
                                    <p:animEffect transition="in" filter="dissolve">
                                      <p:cBhvr>
                                        <p:cTn id="22" dur="500"/>
                                        <p:tgtEl>
                                          <p:spTgt spid="323604"/>
                                        </p:tgtEl>
                                      </p:cBhvr>
                                    </p:animEffect>
                                  </p:childTnLst>
                                </p:cTn>
                              </p:par>
                            </p:childTnLst>
                          </p:cTn>
                        </p:par>
                        <p:par>
                          <p:cTn id="23" fill="hold">
                            <p:stCondLst>
                              <p:cond delay="1500"/>
                            </p:stCondLst>
                            <p:childTnLst>
                              <p:par>
                                <p:cTn id="24" presetID="9" presetClass="entr" presetSubtype="0" fill="hold" grpId="0" nodeType="afterEffect">
                                  <p:stCondLst>
                                    <p:cond delay="0"/>
                                  </p:stCondLst>
                                  <p:childTnLst>
                                    <p:set>
                                      <p:cBhvr>
                                        <p:cTn id="25" dur="1" fill="hold">
                                          <p:stCondLst>
                                            <p:cond delay="0"/>
                                          </p:stCondLst>
                                        </p:cTn>
                                        <p:tgtEl>
                                          <p:spTgt spid="323605"/>
                                        </p:tgtEl>
                                        <p:attrNameLst>
                                          <p:attrName>style.visibility</p:attrName>
                                        </p:attrNameLst>
                                      </p:cBhvr>
                                      <p:to>
                                        <p:strVal val="visible"/>
                                      </p:to>
                                    </p:set>
                                    <p:animEffect transition="in" filter="dissolve">
                                      <p:cBhvr>
                                        <p:cTn id="26" dur="500"/>
                                        <p:tgtEl>
                                          <p:spTgt spid="323605"/>
                                        </p:tgtEl>
                                      </p:cBhvr>
                                    </p:animEffect>
                                  </p:childTnLst>
                                </p:cTn>
                              </p:par>
                            </p:childTnLst>
                          </p:cTn>
                        </p:par>
                        <p:par>
                          <p:cTn id="27" fill="hold">
                            <p:stCondLst>
                              <p:cond delay="2000"/>
                            </p:stCondLst>
                            <p:childTnLst>
                              <p:par>
                                <p:cTn id="28" presetID="9" presetClass="entr" presetSubtype="0" fill="hold" grpId="0" nodeType="afterEffect">
                                  <p:stCondLst>
                                    <p:cond delay="0"/>
                                  </p:stCondLst>
                                  <p:childTnLst>
                                    <p:set>
                                      <p:cBhvr>
                                        <p:cTn id="29" dur="1" fill="hold">
                                          <p:stCondLst>
                                            <p:cond delay="0"/>
                                          </p:stCondLst>
                                        </p:cTn>
                                        <p:tgtEl>
                                          <p:spTgt spid="323606"/>
                                        </p:tgtEl>
                                        <p:attrNameLst>
                                          <p:attrName>style.visibility</p:attrName>
                                        </p:attrNameLst>
                                      </p:cBhvr>
                                      <p:to>
                                        <p:strVal val="visible"/>
                                      </p:to>
                                    </p:set>
                                    <p:animEffect transition="in" filter="dissolve">
                                      <p:cBhvr>
                                        <p:cTn id="30" dur="500"/>
                                        <p:tgtEl>
                                          <p:spTgt spid="323606"/>
                                        </p:tgtEl>
                                      </p:cBhvr>
                                    </p:animEffect>
                                  </p:childTnLst>
                                </p:cTn>
                              </p:par>
                            </p:childTnLst>
                          </p:cTn>
                        </p:par>
                        <p:par>
                          <p:cTn id="31" fill="hold">
                            <p:stCondLst>
                              <p:cond delay="2500"/>
                            </p:stCondLst>
                            <p:childTnLst>
                              <p:par>
                                <p:cTn id="32" presetID="9" presetClass="entr" presetSubtype="0" fill="hold" grpId="0" nodeType="afterEffect">
                                  <p:stCondLst>
                                    <p:cond delay="0"/>
                                  </p:stCondLst>
                                  <p:childTnLst>
                                    <p:set>
                                      <p:cBhvr>
                                        <p:cTn id="33" dur="1" fill="hold">
                                          <p:stCondLst>
                                            <p:cond delay="0"/>
                                          </p:stCondLst>
                                        </p:cTn>
                                        <p:tgtEl>
                                          <p:spTgt spid="323607"/>
                                        </p:tgtEl>
                                        <p:attrNameLst>
                                          <p:attrName>style.visibility</p:attrName>
                                        </p:attrNameLst>
                                      </p:cBhvr>
                                      <p:to>
                                        <p:strVal val="visible"/>
                                      </p:to>
                                    </p:set>
                                    <p:animEffect transition="in" filter="dissolve">
                                      <p:cBhvr>
                                        <p:cTn id="34" dur="500"/>
                                        <p:tgtEl>
                                          <p:spTgt spid="323607"/>
                                        </p:tgtEl>
                                      </p:cBhvr>
                                    </p:animEffect>
                                  </p:childTnLst>
                                </p:cTn>
                              </p:par>
                            </p:childTnLst>
                          </p:cTn>
                        </p:par>
                        <p:par>
                          <p:cTn id="35" fill="hold">
                            <p:stCondLst>
                              <p:cond delay="3000"/>
                            </p:stCondLst>
                            <p:childTnLst>
                              <p:par>
                                <p:cTn id="36" presetID="9" presetClass="entr" presetSubtype="0" fill="hold" grpId="0" nodeType="afterEffect">
                                  <p:stCondLst>
                                    <p:cond delay="0"/>
                                  </p:stCondLst>
                                  <p:childTnLst>
                                    <p:set>
                                      <p:cBhvr>
                                        <p:cTn id="37" dur="1" fill="hold">
                                          <p:stCondLst>
                                            <p:cond delay="0"/>
                                          </p:stCondLst>
                                        </p:cTn>
                                        <p:tgtEl>
                                          <p:spTgt spid="323608"/>
                                        </p:tgtEl>
                                        <p:attrNameLst>
                                          <p:attrName>style.visibility</p:attrName>
                                        </p:attrNameLst>
                                      </p:cBhvr>
                                      <p:to>
                                        <p:strVal val="visible"/>
                                      </p:to>
                                    </p:set>
                                    <p:animEffect transition="in" filter="dissolve">
                                      <p:cBhvr>
                                        <p:cTn id="38" dur="500"/>
                                        <p:tgtEl>
                                          <p:spTgt spid="323608"/>
                                        </p:tgtEl>
                                      </p:cBhvr>
                                    </p:animEffect>
                                  </p:childTnLst>
                                </p:cTn>
                              </p:par>
                            </p:childTnLst>
                          </p:cTn>
                        </p:par>
                        <p:par>
                          <p:cTn id="39" fill="hold">
                            <p:stCondLst>
                              <p:cond delay="3500"/>
                            </p:stCondLst>
                            <p:childTnLst>
                              <p:par>
                                <p:cTn id="40" presetID="9" presetClass="entr" presetSubtype="0" fill="hold" grpId="0" nodeType="afterEffect">
                                  <p:stCondLst>
                                    <p:cond delay="0"/>
                                  </p:stCondLst>
                                  <p:childTnLst>
                                    <p:set>
                                      <p:cBhvr>
                                        <p:cTn id="41" dur="1" fill="hold">
                                          <p:stCondLst>
                                            <p:cond delay="0"/>
                                          </p:stCondLst>
                                        </p:cTn>
                                        <p:tgtEl>
                                          <p:spTgt spid="323609"/>
                                        </p:tgtEl>
                                        <p:attrNameLst>
                                          <p:attrName>style.visibility</p:attrName>
                                        </p:attrNameLst>
                                      </p:cBhvr>
                                      <p:to>
                                        <p:strVal val="visible"/>
                                      </p:to>
                                    </p:set>
                                    <p:animEffect transition="in" filter="dissolve">
                                      <p:cBhvr>
                                        <p:cTn id="42" dur="500"/>
                                        <p:tgtEl>
                                          <p:spTgt spid="323609"/>
                                        </p:tgtEl>
                                      </p:cBhvr>
                                    </p:animEffect>
                                  </p:childTnLst>
                                </p:cTn>
                              </p:par>
                            </p:childTnLst>
                          </p:cTn>
                        </p:par>
                        <p:par>
                          <p:cTn id="43" fill="hold">
                            <p:stCondLst>
                              <p:cond delay="4000"/>
                            </p:stCondLst>
                            <p:childTnLst>
                              <p:par>
                                <p:cTn id="44" presetID="9" presetClass="entr" presetSubtype="0" fill="hold" grpId="0" nodeType="afterEffect">
                                  <p:stCondLst>
                                    <p:cond delay="0"/>
                                  </p:stCondLst>
                                  <p:childTnLst>
                                    <p:set>
                                      <p:cBhvr>
                                        <p:cTn id="45" dur="1" fill="hold">
                                          <p:stCondLst>
                                            <p:cond delay="0"/>
                                          </p:stCondLst>
                                        </p:cTn>
                                        <p:tgtEl>
                                          <p:spTgt spid="323610"/>
                                        </p:tgtEl>
                                        <p:attrNameLst>
                                          <p:attrName>style.visibility</p:attrName>
                                        </p:attrNameLst>
                                      </p:cBhvr>
                                      <p:to>
                                        <p:strVal val="visible"/>
                                      </p:to>
                                    </p:set>
                                    <p:animEffect transition="in" filter="dissolve">
                                      <p:cBhvr>
                                        <p:cTn id="46" dur="500"/>
                                        <p:tgtEl>
                                          <p:spTgt spid="323610"/>
                                        </p:tgtEl>
                                      </p:cBhvr>
                                    </p:animEffect>
                                  </p:childTnLst>
                                </p:cTn>
                              </p:par>
                            </p:childTnLst>
                          </p:cTn>
                        </p:par>
                        <p:par>
                          <p:cTn id="47" fill="hold">
                            <p:stCondLst>
                              <p:cond delay="4500"/>
                            </p:stCondLst>
                            <p:childTnLst>
                              <p:par>
                                <p:cTn id="48" presetID="9" presetClass="entr" presetSubtype="0" fill="hold" grpId="0" nodeType="afterEffect">
                                  <p:stCondLst>
                                    <p:cond delay="0"/>
                                  </p:stCondLst>
                                  <p:childTnLst>
                                    <p:set>
                                      <p:cBhvr>
                                        <p:cTn id="49" dur="1" fill="hold">
                                          <p:stCondLst>
                                            <p:cond delay="0"/>
                                          </p:stCondLst>
                                        </p:cTn>
                                        <p:tgtEl>
                                          <p:spTgt spid="323611"/>
                                        </p:tgtEl>
                                        <p:attrNameLst>
                                          <p:attrName>style.visibility</p:attrName>
                                        </p:attrNameLst>
                                      </p:cBhvr>
                                      <p:to>
                                        <p:strVal val="visible"/>
                                      </p:to>
                                    </p:set>
                                    <p:animEffect transition="in" filter="dissolve">
                                      <p:cBhvr>
                                        <p:cTn id="50" dur="500"/>
                                        <p:tgtEl>
                                          <p:spTgt spid="323611"/>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3617"/>
                                        </p:tgtEl>
                                        <p:attrNameLst>
                                          <p:attrName>style.visibility</p:attrName>
                                        </p:attrNameLst>
                                      </p:cBhvr>
                                      <p:to>
                                        <p:strVal val="visible"/>
                                      </p:to>
                                    </p:set>
                                  </p:childTnLst>
                                </p:cTn>
                              </p:par>
                            </p:childTnLst>
                          </p:cTn>
                        </p:par>
                        <p:par>
                          <p:cTn id="55" fill="hold">
                            <p:stCondLst>
                              <p:cond delay="0"/>
                            </p:stCondLst>
                            <p:childTnLst>
                              <p:par>
                                <p:cTn id="56" presetID="9" presetClass="entr" presetSubtype="0" fill="hold" grpId="0" nodeType="afterEffect">
                                  <p:stCondLst>
                                    <p:cond delay="0"/>
                                  </p:stCondLst>
                                  <p:childTnLst>
                                    <p:set>
                                      <p:cBhvr>
                                        <p:cTn id="57" dur="1" fill="hold">
                                          <p:stCondLst>
                                            <p:cond delay="0"/>
                                          </p:stCondLst>
                                        </p:cTn>
                                        <p:tgtEl>
                                          <p:spTgt spid="323612"/>
                                        </p:tgtEl>
                                        <p:attrNameLst>
                                          <p:attrName>style.visibility</p:attrName>
                                        </p:attrNameLst>
                                      </p:cBhvr>
                                      <p:to>
                                        <p:strVal val="visible"/>
                                      </p:to>
                                    </p:set>
                                    <p:animEffect transition="in" filter="dissolve">
                                      <p:cBhvr>
                                        <p:cTn id="58" dur="500"/>
                                        <p:tgtEl>
                                          <p:spTgt spid="323612"/>
                                        </p:tgtEl>
                                      </p:cBhvr>
                                    </p:animEffect>
                                  </p:childTnLst>
                                </p:cTn>
                              </p:par>
                            </p:childTnLst>
                          </p:cTn>
                        </p:par>
                        <p:par>
                          <p:cTn id="59" fill="hold">
                            <p:stCondLst>
                              <p:cond delay="500"/>
                            </p:stCondLst>
                            <p:childTnLst>
                              <p:par>
                                <p:cTn id="60" presetID="18" presetClass="entr" presetSubtype="6" fill="hold" nodeType="after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strips(downRight)">
                                      <p:cBhvr>
                                        <p:cTn id="62" dur="10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602" grpId="0"/>
      <p:bldP spid="323603" grpId="0"/>
      <p:bldP spid="323604" grpId="0"/>
      <p:bldP spid="323605" grpId="0"/>
      <p:bldP spid="323606" grpId="0"/>
      <p:bldP spid="323607" grpId="0"/>
      <p:bldP spid="323608" grpId="0"/>
      <p:bldP spid="323609" grpId="0"/>
      <p:bldP spid="323610" grpId="0"/>
      <p:bldP spid="323611" grpId="0"/>
      <p:bldP spid="323612" grpId="0"/>
      <p:bldP spid="323615" grpId="0" animBg="1"/>
      <p:bldP spid="323616" grpId="0" animBg="1"/>
      <p:bldP spid="323617" grpId="0" animBg="1"/>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1271465"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321539" name="Text Box 3"/>
          <p:cNvSpPr txBox="1">
            <a:spLocks noChangeArrowheads="1"/>
          </p:cNvSpPr>
          <p:nvPr/>
        </p:nvSpPr>
        <p:spPr bwMode="auto">
          <a:xfrm>
            <a:off x="4007768" y="1700214"/>
            <a:ext cx="61198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dirty="0">
                <a:solidFill>
                  <a:srgbClr val="FFFF00"/>
                </a:solidFill>
              </a:rPr>
              <a:t>⑴ </a:t>
            </a:r>
            <a:r>
              <a:rPr kumimoji="1" lang="zh-CN" altLang="en-US" dirty="0">
                <a:solidFill>
                  <a:srgbClr val="FFFF00"/>
                </a:solidFill>
              </a:rPr>
              <a:t>葡萄糖磷酸化为葡萄糖</a:t>
            </a:r>
            <a:r>
              <a:rPr kumimoji="1" lang="en-US" altLang="zh-CN" dirty="0">
                <a:solidFill>
                  <a:srgbClr val="FFFF00"/>
                </a:solidFill>
              </a:rPr>
              <a:t>-</a:t>
            </a:r>
            <a:r>
              <a:rPr kumimoji="1" lang="zh-CN" altLang="en-US" dirty="0">
                <a:solidFill>
                  <a:srgbClr val="FFFF00"/>
                </a:solidFill>
              </a:rPr>
              <a:t>6-磷酸</a:t>
            </a:r>
            <a:endParaRPr kumimoji="1" lang="zh-CN" altLang="en-US" dirty="0">
              <a:solidFill>
                <a:srgbClr val="FFFF00"/>
              </a:solidFill>
            </a:endParaRPr>
          </a:p>
        </p:txBody>
      </p:sp>
      <p:grpSp>
        <p:nvGrpSpPr>
          <p:cNvPr id="2" name="Group 73"/>
          <p:cNvGrpSpPr/>
          <p:nvPr/>
        </p:nvGrpSpPr>
        <p:grpSpPr bwMode="auto">
          <a:xfrm>
            <a:off x="6168356" y="3208339"/>
            <a:ext cx="2251075" cy="681037"/>
            <a:chOff x="2835" y="2021"/>
            <a:chExt cx="1418" cy="429"/>
          </a:xfrm>
        </p:grpSpPr>
        <p:grpSp>
          <p:nvGrpSpPr>
            <p:cNvPr id="84034" name="Group 72"/>
            <p:cNvGrpSpPr/>
            <p:nvPr/>
          </p:nvGrpSpPr>
          <p:grpSpPr bwMode="auto">
            <a:xfrm>
              <a:off x="2997" y="2248"/>
              <a:ext cx="1086" cy="192"/>
              <a:chOff x="2997" y="2248"/>
              <a:chExt cx="1086" cy="192"/>
            </a:xfrm>
          </p:grpSpPr>
          <p:sp>
            <p:nvSpPr>
              <p:cNvPr id="84037" name="Line 6"/>
              <p:cNvSpPr>
                <a:spLocks noChangeShapeType="1"/>
              </p:cNvSpPr>
              <p:nvPr/>
            </p:nvSpPr>
            <p:spPr bwMode="auto">
              <a:xfrm>
                <a:off x="2997" y="2440"/>
                <a:ext cx="1086" cy="0"/>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38" name="Line 7"/>
              <p:cNvSpPr>
                <a:spLocks noChangeShapeType="1"/>
              </p:cNvSpPr>
              <p:nvPr/>
            </p:nvSpPr>
            <p:spPr bwMode="auto">
              <a:xfrm>
                <a:off x="3122" y="2248"/>
                <a:ext cx="252" cy="192"/>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4039" name="Line 8"/>
              <p:cNvSpPr>
                <a:spLocks noChangeShapeType="1"/>
              </p:cNvSpPr>
              <p:nvPr/>
            </p:nvSpPr>
            <p:spPr bwMode="auto">
              <a:xfrm flipV="1">
                <a:off x="3750" y="2248"/>
                <a:ext cx="250" cy="192"/>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4035" name="Text Box 9"/>
            <p:cNvSpPr txBox="1">
              <a:spLocks noChangeArrowheads="1"/>
            </p:cNvSpPr>
            <p:nvPr/>
          </p:nvSpPr>
          <p:spPr bwMode="auto">
            <a:xfrm>
              <a:off x="2835" y="2021"/>
              <a:ext cx="1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solidFill>
                    <a:srgbClr val="FFFF00"/>
                  </a:solidFill>
                  <a:latin typeface="Arial" panose="020B0604020202020204" pitchFamily="34" charset="0"/>
                  <a:ea typeface="宋体" panose="02010600030101010101" pitchFamily="2" charset="-122"/>
                </a:rPr>
                <a:t>ATP</a:t>
              </a:r>
              <a:r>
                <a:rPr kumimoji="1" lang="en-US" altLang="zh-CN" sz="2000" b="0">
                  <a:solidFill>
                    <a:schemeClr val="accent1"/>
                  </a:solidFill>
                  <a:latin typeface="Arial" panose="020B0604020202020204" pitchFamily="34" charset="0"/>
                  <a:ea typeface="宋体" panose="02010600030101010101" pitchFamily="2" charset="-122"/>
                </a:rPr>
                <a:t>               </a:t>
              </a:r>
              <a:r>
                <a:rPr kumimoji="1" lang="en-US" altLang="zh-CN" sz="2000" b="0">
                  <a:solidFill>
                    <a:schemeClr val="bg1"/>
                  </a:solidFill>
                  <a:latin typeface="Arial" panose="020B0604020202020204" pitchFamily="34" charset="0"/>
                  <a:ea typeface="宋体" panose="02010600030101010101" pitchFamily="2" charset="-122"/>
                </a:rPr>
                <a:t>ADP</a:t>
              </a:r>
              <a:endParaRPr kumimoji="1" lang="en-US" altLang="zh-CN" sz="2000" b="0">
                <a:solidFill>
                  <a:schemeClr val="bg1"/>
                </a:solidFill>
                <a:latin typeface="Arial" panose="020B0604020202020204" pitchFamily="34" charset="0"/>
                <a:ea typeface="宋体" panose="02010600030101010101" pitchFamily="2" charset="-122"/>
              </a:endParaRPr>
            </a:p>
          </p:txBody>
        </p:sp>
        <p:sp>
          <p:nvSpPr>
            <p:cNvPr id="84036" name="Text Box 10"/>
            <p:cNvSpPr txBox="1">
              <a:spLocks noChangeArrowheads="1"/>
            </p:cNvSpPr>
            <p:nvPr/>
          </p:nvSpPr>
          <p:spPr bwMode="auto">
            <a:xfrm>
              <a:off x="3321" y="2198"/>
              <a:ext cx="5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chemeClr val="bg1"/>
                  </a:solidFill>
                  <a:latin typeface="Arial" panose="020B0604020202020204" pitchFamily="34" charset="0"/>
                  <a:ea typeface="宋体" panose="02010600030101010101" pitchFamily="2" charset="-122"/>
                </a:rPr>
                <a:t>Mg</a:t>
              </a:r>
              <a:r>
                <a:rPr kumimoji="1" lang="en-US" altLang="zh-CN" sz="2000" baseline="30000">
                  <a:solidFill>
                    <a:schemeClr val="bg1"/>
                  </a:solidFill>
                  <a:latin typeface="Arial" panose="020B0604020202020204" pitchFamily="34" charset="0"/>
                  <a:ea typeface="宋体" panose="02010600030101010101" pitchFamily="2" charset="-122"/>
                </a:rPr>
                <a:t>2+</a:t>
              </a:r>
              <a:r>
                <a:rPr kumimoji="1" lang="en-US" altLang="zh-CN" sz="2000" baseline="30000">
                  <a:latin typeface="Arial" panose="020B0604020202020204" pitchFamily="34" charset="0"/>
                  <a:ea typeface="宋体" panose="02010600030101010101" pitchFamily="2" charset="-122"/>
                </a:rPr>
                <a:t>  </a:t>
              </a:r>
              <a:endParaRPr kumimoji="1" lang="en-US" altLang="zh-CN" sz="2000" baseline="30000">
                <a:latin typeface="Arial" panose="020B0604020202020204" pitchFamily="34" charset="0"/>
                <a:ea typeface="宋体" panose="02010600030101010101" pitchFamily="2" charset="-122"/>
              </a:endParaRPr>
            </a:p>
          </p:txBody>
        </p:sp>
      </p:grpSp>
      <p:sp>
        <p:nvSpPr>
          <p:cNvPr id="321547" name="Rectangle 11"/>
          <p:cNvSpPr>
            <a:spLocks noChangeArrowheads="1"/>
          </p:cNvSpPr>
          <p:nvPr/>
        </p:nvSpPr>
        <p:spPr bwMode="auto">
          <a:xfrm>
            <a:off x="6452516" y="3944939"/>
            <a:ext cx="1825627"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dirty="0">
                <a:solidFill>
                  <a:srgbClr val="FF0000"/>
                </a:solidFill>
                <a:ea typeface="黑体" panose="02010609060101010101" pitchFamily="2" charset="-122"/>
              </a:rPr>
              <a:t>  己糖激酶</a:t>
            </a:r>
            <a:endParaRPr kumimoji="1" lang="zh-CN" altLang="en-US" sz="2400" b="0" dirty="0">
              <a:solidFill>
                <a:srgbClr val="FF0000"/>
              </a:solidFill>
              <a:ea typeface="黑体" panose="02010609060101010101" pitchFamily="2" charset="-122"/>
            </a:endParaRPr>
          </a:p>
          <a:p>
            <a:pPr eaLnBrk="1" hangingPunct="1">
              <a:spcBef>
                <a:spcPct val="0"/>
              </a:spcBef>
              <a:buClrTx/>
              <a:buSzTx/>
              <a:buFontTx/>
              <a:buNone/>
            </a:pPr>
            <a:r>
              <a:rPr kumimoji="1" lang="zh-CN" altLang="en-US" sz="2400" b="0" dirty="0">
                <a:solidFill>
                  <a:srgbClr val="FF0000"/>
                </a:solidFill>
                <a:ea typeface="黑体" panose="02010609060101010101" pitchFamily="2" charset="-122"/>
              </a:rPr>
              <a:t>(</a:t>
            </a:r>
            <a:r>
              <a:rPr kumimoji="1" lang="en-US" altLang="zh-CN" sz="2400" b="0" dirty="0">
                <a:solidFill>
                  <a:srgbClr val="FF0000"/>
                </a:solidFill>
                <a:ea typeface="黑体" panose="02010609060101010101" pitchFamily="2" charset="-122"/>
              </a:rPr>
              <a:t>hexokinase)</a:t>
            </a:r>
            <a:endParaRPr kumimoji="1" lang="en-US" altLang="zh-CN" sz="2400" b="0" dirty="0">
              <a:solidFill>
                <a:srgbClr val="FF0000"/>
              </a:solidFill>
              <a:ea typeface="黑体" panose="02010609060101010101" pitchFamily="2" charset="-122"/>
            </a:endParaRPr>
          </a:p>
        </p:txBody>
      </p:sp>
      <p:sp>
        <p:nvSpPr>
          <p:cNvPr id="321548" name="Rectangle 12"/>
          <p:cNvSpPr>
            <a:spLocks noChangeArrowheads="1"/>
          </p:cNvSpPr>
          <p:nvPr/>
        </p:nvSpPr>
        <p:spPr bwMode="auto">
          <a:xfrm>
            <a:off x="1576264" y="0"/>
            <a:ext cx="1600200" cy="1066800"/>
          </a:xfrm>
          <a:prstGeom prst="rect">
            <a:avLst/>
          </a:prstGeom>
          <a:noFill/>
          <a:ln w="57150">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endParaRPr kumimoji="1" lang="zh-CN" altLang="en-US" sz="2800">
              <a:solidFill>
                <a:srgbClr val="FF66FF"/>
              </a:solidFill>
              <a:latin typeface="Arial" panose="020B0604020202020204" pitchFamily="34" charset="0"/>
              <a:ea typeface="宋体" panose="02010600030101010101" pitchFamily="2" charset="-122"/>
            </a:endParaRPr>
          </a:p>
        </p:txBody>
      </p:sp>
      <p:grpSp>
        <p:nvGrpSpPr>
          <p:cNvPr id="83975" name="Group 13"/>
          <p:cNvGrpSpPr/>
          <p:nvPr/>
        </p:nvGrpSpPr>
        <p:grpSpPr bwMode="auto">
          <a:xfrm>
            <a:off x="1271464" y="-60325"/>
            <a:ext cx="2484438" cy="6918325"/>
            <a:chOff x="0" y="-38"/>
            <a:chExt cx="1496" cy="4358"/>
          </a:xfrm>
        </p:grpSpPr>
        <p:sp>
          <p:nvSpPr>
            <p:cNvPr id="83983" name="Text Box 14"/>
            <p:cNvSpPr txBox="1">
              <a:spLocks noChangeArrowheads="1"/>
            </p:cNvSpPr>
            <p:nvPr/>
          </p:nvSpPr>
          <p:spPr bwMode="auto">
            <a:xfrm>
              <a:off x="195" y="-38"/>
              <a:ext cx="99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83984" name="Text Box 15"/>
            <p:cNvSpPr txBox="1">
              <a:spLocks noChangeArrowheads="1"/>
            </p:cNvSpPr>
            <p:nvPr/>
          </p:nvSpPr>
          <p:spPr bwMode="auto">
            <a:xfrm>
              <a:off x="336" y="478"/>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83985" name="Text Box 16"/>
            <p:cNvSpPr txBox="1">
              <a:spLocks noChangeArrowheads="1"/>
            </p:cNvSpPr>
            <p:nvPr/>
          </p:nvSpPr>
          <p:spPr bwMode="auto">
            <a:xfrm>
              <a:off x="288" y="910"/>
              <a:ext cx="5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83986" name="Text Box 17"/>
            <p:cNvSpPr txBox="1">
              <a:spLocks noChangeArrowheads="1"/>
            </p:cNvSpPr>
            <p:nvPr/>
          </p:nvSpPr>
          <p:spPr bwMode="auto">
            <a:xfrm>
              <a:off x="192" y="1390"/>
              <a:ext cx="7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83987" name="Line 18"/>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88" name="Text Box 19"/>
            <p:cNvSpPr txBox="1">
              <a:spLocks noChangeArrowheads="1"/>
            </p:cNvSpPr>
            <p:nvPr/>
          </p:nvSpPr>
          <p:spPr bwMode="auto">
            <a:xfrm>
              <a:off x="720" y="143"/>
              <a:ext cx="3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83989" name="Group 20"/>
            <p:cNvGrpSpPr/>
            <p:nvPr/>
          </p:nvGrpSpPr>
          <p:grpSpPr bwMode="auto">
            <a:xfrm>
              <a:off x="528" y="240"/>
              <a:ext cx="192" cy="240"/>
              <a:chOff x="480" y="336"/>
              <a:chExt cx="144" cy="240"/>
            </a:xfrm>
          </p:grpSpPr>
          <p:sp>
            <p:nvSpPr>
              <p:cNvPr id="84031" name="Line 21"/>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32" name="Line 22"/>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4033" name="Line 23"/>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3990" name="Text Box 24"/>
            <p:cNvSpPr txBox="1">
              <a:spLocks noChangeArrowheads="1"/>
            </p:cNvSpPr>
            <p:nvPr/>
          </p:nvSpPr>
          <p:spPr bwMode="auto">
            <a:xfrm>
              <a:off x="720" y="363"/>
              <a:ext cx="4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83991" name="Text Box 25"/>
            <p:cNvSpPr txBox="1">
              <a:spLocks noChangeArrowheads="1"/>
            </p:cNvSpPr>
            <p:nvPr/>
          </p:nvSpPr>
          <p:spPr bwMode="auto">
            <a:xfrm>
              <a:off x="720" y="1037"/>
              <a:ext cx="3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83992" name="Group 26"/>
            <p:cNvGrpSpPr/>
            <p:nvPr/>
          </p:nvGrpSpPr>
          <p:grpSpPr bwMode="auto">
            <a:xfrm>
              <a:off x="528" y="1104"/>
              <a:ext cx="240" cy="288"/>
              <a:chOff x="432" y="1296"/>
              <a:chExt cx="144" cy="288"/>
            </a:xfrm>
          </p:grpSpPr>
          <p:sp>
            <p:nvSpPr>
              <p:cNvPr id="84028" name="Line 27"/>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29" name="Line 28"/>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4030" name="Line 29"/>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3993" name="Text Box 30"/>
            <p:cNvSpPr txBox="1">
              <a:spLocks noChangeArrowheads="1"/>
            </p:cNvSpPr>
            <p:nvPr/>
          </p:nvSpPr>
          <p:spPr bwMode="auto">
            <a:xfrm>
              <a:off x="720" y="1229"/>
              <a:ext cx="4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83994" name="Text Box 31"/>
            <p:cNvSpPr txBox="1">
              <a:spLocks noChangeArrowheads="1"/>
            </p:cNvSpPr>
            <p:nvPr/>
          </p:nvSpPr>
          <p:spPr bwMode="auto">
            <a:xfrm>
              <a:off x="15" y="2601"/>
              <a:ext cx="12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83995" name="Text Box 32"/>
            <p:cNvSpPr txBox="1">
              <a:spLocks noChangeArrowheads="1"/>
            </p:cNvSpPr>
            <p:nvPr/>
          </p:nvSpPr>
          <p:spPr bwMode="auto">
            <a:xfrm>
              <a:off x="432" y="3033"/>
              <a:ext cx="10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83996" name="Text Box 33"/>
            <p:cNvSpPr txBox="1">
              <a:spLocks noChangeArrowheads="1"/>
            </p:cNvSpPr>
            <p:nvPr/>
          </p:nvSpPr>
          <p:spPr bwMode="auto">
            <a:xfrm>
              <a:off x="414" y="3369"/>
              <a:ext cx="10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83997" name="Text Box 34"/>
            <p:cNvSpPr txBox="1">
              <a:spLocks noChangeArrowheads="1"/>
            </p:cNvSpPr>
            <p:nvPr/>
          </p:nvSpPr>
          <p:spPr bwMode="auto">
            <a:xfrm>
              <a:off x="624" y="407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83998" name="Line 35"/>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3999" name="Line 36"/>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00" name="Text Box 37"/>
            <p:cNvSpPr txBox="1">
              <a:spLocks noChangeArrowheads="1"/>
            </p:cNvSpPr>
            <p:nvPr/>
          </p:nvSpPr>
          <p:spPr bwMode="auto">
            <a:xfrm>
              <a:off x="0" y="1872"/>
              <a:ext cx="59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84001" name="Text Box 38"/>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84002" name="Group 39"/>
            <p:cNvGrpSpPr/>
            <p:nvPr/>
          </p:nvGrpSpPr>
          <p:grpSpPr bwMode="auto">
            <a:xfrm>
              <a:off x="240" y="1584"/>
              <a:ext cx="624" cy="336"/>
              <a:chOff x="3888" y="576"/>
              <a:chExt cx="624" cy="336"/>
            </a:xfrm>
          </p:grpSpPr>
          <p:sp>
            <p:nvSpPr>
              <p:cNvPr id="84024" name="Line 40"/>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4025" name="Group 41"/>
              <p:cNvGrpSpPr/>
              <p:nvPr/>
            </p:nvGrpSpPr>
            <p:grpSpPr bwMode="auto">
              <a:xfrm>
                <a:off x="3888" y="576"/>
                <a:ext cx="288" cy="336"/>
                <a:chOff x="3888" y="576"/>
                <a:chExt cx="288" cy="336"/>
              </a:xfrm>
            </p:grpSpPr>
            <p:sp>
              <p:nvSpPr>
                <p:cNvPr id="84026" name="Line 42"/>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27" name="Line 43"/>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84003" name="Line 44"/>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04" name="Text Box 45"/>
            <p:cNvSpPr txBox="1">
              <a:spLocks noChangeArrowheads="1"/>
            </p:cNvSpPr>
            <p:nvPr/>
          </p:nvSpPr>
          <p:spPr bwMode="auto">
            <a:xfrm>
              <a:off x="288" y="2285"/>
              <a:ext cx="42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84005" name="Text Box 46"/>
            <p:cNvSpPr txBox="1">
              <a:spLocks noChangeArrowheads="1"/>
            </p:cNvSpPr>
            <p:nvPr/>
          </p:nvSpPr>
          <p:spPr bwMode="auto">
            <a:xfrm>
              <a:off x="0" y="2462"/>
              <a:ext cx="6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84006" name="Text Box 47"/>
            <p:cNvSpPr txBox="1">
              <a:spLocks noChangeArrowheads="1"/>
            </p:cNvSpPr>
            <p:nvPr/>
          </p:nvSpPr>
          <p:spPr bwMode="auto">
            <a:xfrm>
              <a:off x="432" y="2783"/>
              <a:ext cx="3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84007" name="Group 48"/>
            <p:cNvGrpSpPr/>
            <p:nvPr/>
          </p:nvGrpSpPr>
          <p:grpSpPr bwMode="auto">
            <a:xfrm>
              <a:off x="816" y="2784"/>
              <a:ext cx="336" cy="288"/>
              <a:chOff x="912" y="2736"/>
              <a:chExt cx="336" cy="384"/>
            </a:xfrm>
          </p:grpSpPr>
          <p:sp>
            <p:nvSpPr>
              <p:cNvPr id="84020" name="Line 49"/>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4021" name="Group 50"/>
              <p:cNvGrpSpPr/>
              <p:nvPr/>
            </p:nvGrpSpPr>
            <p:grpSpPr bwMode="auto">
              <a:xfrm>
                <a:off x="912" y="2880"/>
                <a:ext cx="336" cy="192"/>
                <a:chOff x="4560" y="2127"/>
                <a:chExt cx="336" cy="192"/>
              </a:xfrm>
            </p:grpSpPr>
            <p:sp>
              <p:nvSpPr>
                <p:cNvPr id="84022" name="Line 51"/>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4023" name="Line 52"/>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84008" name="Text Box 53"/>
            <p:cNvSpPr txBox="1">
              <a:spLocks noChangeArrowheads="1"/>
            </p:cNvSpPr>
            <p:nvPr/>
          </p:nvSpPr>
          <p:spPr bwMode="auto">
            <a:xfrm>
              <a:off x="1104" y="2880"/>
              <a:ext cx="3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84009" name="Text Box 54"/>
            <p:cNvSpPr txBox="1">
              <a:spLocks noChangeArrowheads="1"/>
            </p:cNvSpPr>
            <p:nvPr/>
          </p:nvSpPr>
          <p:spPr bwMode="auto">
            <a:xfrm>
              <a:off x="480" y="3887"/>
              <a:ext cx="3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84010" name="Text Box 55"/>
            <p:cNvSpPr txBox="1">
              <a:spLocks noChangeArrowheads="1"/>
            </p:cNvSpPr>
            <p:nvPr/>
          </p:nvSpPr>
          <p:spPr bwMode="auto">
            <a:xfrm>
              <a:off x="1104" y="3966"/>
              <a:ext cx="35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84011" name="Group 56"/>
            <p:cNvGrpSpPr/>
            <p:nvPr/>
          </p:nvGrpSpPr>
          <p:grpSpPr bwMode="auto">
            <a:xfrm>
              <a:off x="720" y="2256"/>
              <a:ext cx="240" cy="384"/>
              <a:chOff x="4512" y="1248"/>
              <a:chExt cx="240" cy="432"/>
            </a:xfrm>
          </p:grpSpPr>
          <p:sp>
            <p:nvSpPr>
              <p:cNvPr id="84017" name="Line 57"/>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18" name="Line 58"/>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19" name="Line 59"/>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84012" name="Text Box 60"/>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84013" name="Group 61"/>
            <p:cNvGrpSpPr/>
            <p:nvPr/>
          </p:nvGrpSpPr>
          <p:grpSpPr bwMode="auto">
            <a:xfrm>
              <a:off x="816" y="3888"/>
              <a:ext cx="336" cy="240"/>
              <a:chOff x="912" y="3888"/>
              <a:chExt cx="336" cy="240"/>
            </a:xfrm>
          </p:grpSpPr>
          <p:sp>
            <p:nvSpPr>
              <p:cNvPr id="84014" name="Line 62"/>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4015" name="Line 63"/>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4016" name="Line 64"/>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3" name="Group 65"/>
          <p:cNvGrpSpPr/>
          <p:nvPr/>
        </p:nvGrpSpPr>
        <p:grpSpPr bwMode="auto">
          <a:xfrm>
            <a:off x="4007768" y="2705101"/>
            <a:ext cx="2232025" cy="2632075"/>
            <a:chOff x="1474" y="1525"/>
            <a:chExt cx="1406" cy="1658"/>
          </a:xfrm>
        </p:grpSpPr>
        <p:sp>
          <p:nvSpPr>
            <p:cNvPr id="83981" name="Text Box 66"/>
            <p:cNvSpPr txBox="1">
              <a:spLocks noChangeArrowheads="1"/>
            </p:cNvSpPr>
            <p:nvPr/>
          </p:nvSpPr>
          <p:spPr bwMode="auto">
            <a:xfrm>
              <a:off x="1837" y="2856"/>
              <a:ext cx="9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FFFF00"/>
                  </a:solidFill>
                  <a:latin typeface="Arial" panose="020B0604020202020204" pitchFamily="34" charset="0"/>
                  <a:ea typeface="华文楷体" panose="02010600040101010101" pitchFamily="2" charset="-122"/>
                </a:rPr>
                <a:t>葡萄糖</a:t>
              </a:r>
              <a:r>
                <a:rPr kumimoji="1" lang="zh-CN" altLang="en-US" sz="2800">
                  <a:solidFill>
                    <a:schemeClr val="bg1"/>
                  </a:solidFill>
                  <a:latin typeface="Arial" panose="020B0604020202020204" pitchFamily="34" charset="0"/>
                  <a:ea typeface="华文楷体" panose="02010600040101010101" pitchFamily="2" charset="-122"/>
                </a:rPr>
                <a:t> </a:t>
              </a:r>
              <a:r>
                <a:rPr kumimoji="1" lang="zh-CN" altLang="en-US" sz="2400">
                  <a:solidFill>
                    <a:schemeClr val="bg1"/>
                  </a:solidFill>
                  <a:latin typeface="Arial" panose="020B0604020202020204" pitchFamily="34" charset="0"/>
                  <a:ea typeface="华文楷体" panose="02010600040101010101" pitchFamily="2" charset="-122"/>
                </a:rPr>
                <a:t>    </a:t>
              </a:r>
              <a:endParaRPr kumimoji="1" lang="zh-CN" altLang="en-US" sz="2400">
                <a:solidFill>
                  <a:schemeClr val="bg1"/>
                </a:solidFill>
                <a:latin typeface="Arial" panose="020B0604020202020204" pitchFamily="34" charset="0"/>
                <a:ea typeface="华文楷体" panose="02010600040101010101" pitchFamily="2" charset="-122"/>
              </a:endParaRPr>
            </a:p>
          </p:txBody>
        </p:sp>
        <p:graphicFrame>
          <p:nvGraphicFramePr>
            <p:cNvPr id="83982" name="Object 67"/>
            <p:cNvGraphicFramePr>
              <a:graphicFrameLocks noChangeAspect="1"/>
            </p:cNvGraphicFramePr>
            <p:nvPr/>
          </p:nvGraphicFramePr>
          <p:xfrm>
            <a:off x="1474" y="1525"/>
            <a:ext cx="1406" cy="1324"/>
          </p:xfrm>
          <a:graphic>
            <a:graphicData uri="http://schemas.openxmlformats.org/presentationml/2006/ole">
              <mc:AlternateContent xmlns:mc="http://schemas.openxmlformats.org/markup-compatibility/2006">
                <mc:Choice xmlns:v="urn:schemas-microsoft-com:vml" Requires="v">
                  <p:oleObj spid="_x0000_s3" name="Document" r:id="rId1" imgW="2447925" imgH="2305050" progId="">
                    <p:embed/>
                  </p:oleObj>
                </mc:Choice>
                <mc:Fallback>
                  <p:oleObj name="Document" r:id="rId1" imgW="2447925" imgH="2305050" progId="">
                    <p:embed/>
                    <p:pic>
                      <p:nvPicPr>
                        <p:cNvPr id="0" name="Object 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 y="1525"/>
                          <a:ext cx="1406" cy="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4" name="Group 68"/>
          <p:cNvGrpSpPr/>
          <p:nvPr/>
        </p:nvGrpSpPr>
        <p:grpSpPr bwMode="auto">
          <a:xfrm>
            <a:off x="7890793" y="2714625"/>
            <a:ext cx="3965575" cy="2906713"/>
            <a:chOff x="3920" y="1531"/>
            <a:chExt cx="2498" cy="1831"/>
          </a:xfrm>
        </p:grpSpPr>
        <p:sp>
          <p:nvSpPr>
            <p:cNvPr id="83979" name="Text Box 69"/>
            <p:cNvSpPr txBox="1">
              <a:spLocks noChangeArrowheads="1"/>
            </p:cNvSpPr>
            <p:nvPr/>
          </p:nvSpPr>
          <p:spPr bwMode="auto">
            <a:xfrm>
              <a:off x="3920" y="2839"/>
              <a:ext cx="249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dirty="0">
                  <a:solidFill>
                    <a:srgbClr val="FFFF00"/>
                  </a:solidFill>
                  <a:ea typeface="华文楷体" panose="02010600040101010101" pitchFamily="2" charset="-122"/>
                </a:rPr>
                <a:t>葡萄糖</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 6-磷酸</a:t>
              </a:r>
              <a:endParaRPr kumimoji="1" lang="zh-CN" altLang="en-US" sz="2400" dirty="0">
                <a:solidFill>
                  <a:srgbClr val="FFFF00"/>
                </a:solidFill>
                <a:ea typeface="华文楷体" panose="02010600040101010101" pitchFamily="2" charset="-122"/>
              </a:endParaRPr>
            </a:p>
            <a:p>
              <a:pPr eaLnBrk="1" hangingPunct="1">
                <a:spcBef>
                  <a:spcPct val="0"/>
                </a:spcBef>
                <a:buClrTx/>
                <a:buSzTx/>
                <a:buFontTx/>
                <a:buNone/>
              </a:pPr>
              <a:r>
                <a:rPr kumimoji="1" lang="en-US" altLang="en-US" sz="2400" dirty="0">
                  <a:solidFill>
                    <a:srgbClr val="FFFF00"/>
                  </a:solidFill>
                  <a:ea typeface="华文楷体" panose="02010600040101010101" pitchFamily="2" charset="-122"/>
                </a:rPr>
                <a:t>(glucose-6-phosphate, G-6-P)</a:t>
              </a:r>
              <a:endParaRPr kumimoji="1" lang="en-US" altLang="zh-CN" sz="2400" dirty="0">
                <a:solidFill>
                  <a:srgbClr val="FFFF00"/>
                </a:solidFill>
                <a:ea typeface="华文楷体" panose="02010600040101010101" pitchFamily="2" charset="-122"/>
              </a:endParaRPr>
            </a:p>
          </p:txBody>
        </p:sp>
        <p:graphicFrame>
          <p:nvGraphicFramePr>
            <p:cNvPr id="83980" name="Object 70"/>
            <p:cNvGraphicFramePr>
              <a:graphicFrameLocks noChangeAspect="1"/>
            </p:cNvGraphicFramePr>
            <p:nvPr/>
          </p:nvGraphicFramePr>
          <p:xfrm>
            <a:off x="4241" y="1531"/>
            <a:ext cx="1519" cy="1316"/>
          </p:xfrm>
          <a:graphic>
            <a:graphicData uri="http://schemas.openxmlformats.org/presentationml/2006/ole">
              <mc:AlternateContent xmlns:mc="http://schemas.openxmlformats.org/markup-compatibility/2006">
                <mc:Choice xmlns:v="urn:schemas-microsoft-com:vml" Requires="v">
                  <p:oleObj spid="_x0000_s4" name="Document" r:id="rId3" imgW="2714625" imgH="2352675" progId="">
                    <p:embed/>
                  </p:oleObj>
                </mc:Choice>
                <mc:Fallback>
                  <p:oleObj name="Document" r:id="rId3" imgW="2714625" imgH="2352675" progId="">
                    <p:embed/>
                    <p:pic>
                      <p:nvPicPr>
                        <p:cNvPr id="0" name="Object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 y="1531"/>
                          <a:ext cx="1519" cy="1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3978" name="Rectangle 71"/>
          <p:cNvSpPr>
            <a:spLocks noChangeArrowheads="1"/>
          </p:cNvSpPr>
          <p:nvPr/>
        </p:nvSpPr>
        <p:spPr bwMode="auto">
          <a:xfrm>
            <a:off x="3863975" y="115888"/>
            <a:ext cx="66246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dirty="0">
                <a:solidFill>
                  <a:srgbClr val="660066"/>
                </a:solidFill>
                <a:latin typeface="黑体" panose="02010609060101010101" pitchFamily="2" charset="-122"/>
                <a:ea typeface="黑体" panose="02010609060101010101" pitchFamily="2" charset="-122"/>
              </a:rPr>
              <a:t>第一阶段（糖酵解）：</a:t>
            </a:r>
            <a:endParaRPr kumimoji="1" lang="zh-CN" altLang="en-US" b="0" dirty="0">
              <a:solidFill>
                <a:srgbClr val="660066"/>
              </a:solidFill>
              <a:latin typeface="黑体" panose="02010609060101010101" pitchFamily="2" charset="-122"/>
              <a:ea typeface="黑体" panose="02010609060101010101" pitchFamily="2" charset="-122"/>
            </a:endParaRPr>
          </a:p>
          <a:p>
            <a:pPr eaLnBrk="1" hangingPunct="1">
              <a:spcBef>
                <a:spcPct val="0"/>
              </a:spcBef>
              <a:buClrTx/>
              <a:buSzTx/>
              <a:buFontTx/>
              <a:buNone/>
            </a:pPr>
            <a:r>
              <a:rPr kumimoji="1" lang="zh-CN" altLang="en-US" b="0" dirty="0">
                <a:solidFill>
                  <a:srgbClr val="660066"/>
                </a:solidFill>
                <a:latin typeface="黑体" panose="02010609060101010101" pitchFamily="2" charset="-122"/>
                <a:ea typeface="黑体" panose="02010609060101010101" pitchFamily="2" charset="-122"/>
              </a:rPr>
              <a:t>        葡萄糖分解成</a:t>
            </a:r>
            <a:r>
              <a:rPr kumimoji="1" lang="en-US" altLang="zh-CN" b="0" dirty="0">
                <a:solidFill>
                  <a:srgbClr val="660066"/>
                </a:solidFill>
                <a:latin typeface="黑体" panose="02010609060101010101" pitchFamily="2" charset="-122"/>
                <a:ea typeface="黑体" panose="02010609060101010101" pitchFamily="2" charset="-122"/>
              </a:rPr>
              <a:t>2</a:t>
            </a:r>
            <a:r>
              <a:rPr kumimoji="1" lang="zh-CN" altLang="en-US" b="0" dirty="0">
                <a:solidFill>
                  <a:srgbClr val="660066"/>
                </a:solidFill>
                <a:latin typeface="黑体" panose="02010609060101010101" pitchFamily="2" charset="-122"/>
                <a:ea typeface="黑体" panose="02010609060101010101" pitchFamily="2" charset="-122"/>
              </a:rPr>
              <a:t>分子丙酮酸</a:t>
            </a:r>
            <a:endParaRPr kumimoji="1" lang="zh-CN" altLang="en-US" b="0" dirty="0">
              <a:solidFill>
                <a:srgbClr val="660066"/>
              </a:solidFill>
              <a:latin typeface="黑体" panose="02010609060101010101" pitchFamily="2" charset="-122"/>
              <a:ea typeface="黑体" panose="02010609060101010101" pitchFamily="2" charset="-122"/>
            </a:endParaRPr>
          </a:p>
        </p:txBody>
      </p:sp>
      <p:sp>
        <p:nvSpPr>
          <p:cNvPr id="5" name="文本框 4"/>
          <p:cNvSpPr txBox="1"/>
          <p:nvPr/>
        </p:nvSpPr>
        <p:spPr>
          <a:xfrm>
            <a:off x="5449274" y="5906715"/>
            <a:ext cx="3523928" cy="461665"/>
          </a:xfrm>
          <a:prstGeom prst="rect">
            <a:avLst/>
          </a:prstGeom>
          <a:noFill/>
        </p:spPr>
        <p:txBody>
          <a:bodyPr wrap="square">
            <a:spAutoFit/>
          </a:bodyPr>
          <a:lstStyle/>
          <a:p>
            <a:pPr>
              <a:defRPr/>
            </a:pPr>
            <a:r>
              <a:rPr lang="el-GR" altLang="zh-CN" sz="24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Δ</a:t>
            </a:r>
            <a:r>
              <a:rPr lang="en-US" altLang="zh-CN" sz="2400" b="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G</a:t>
            </a:r>
            <a:r>
              <a:rPr lang="en-US" altLang="zh-CN" sz="2400" baseline="300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0" baseline="300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4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0" dirty="0">
                <a:solidFill>
                  <a:srgbClr val="FFFF00"/>
                </a:solidFill>
                <a:latin typeface="Arial" panose="020B0604020202020204" pitchFamily="34" charset="0"/>
                <a:ea typeface="+mn-ea"/>
              </a:rPr>
              <a:t>−16.7 kJ/mol </a:t>
            </a:r>
            <a:endParaRPr lang="en-US" altLang="zh-CN" sz="2400" i="1" dirty="0">
              <a:solidFill>
                <a:srgbClr val="FFFF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21539"/>
                                        </p:tgtEl>
                                        <p:attrNameLst>
                                          <p:attrName>style.visibility</p:attrName>
                                        </p:attrNameLst>
                                      </p:cBhvr>
                                      <p:to>
                                        <p:strVal val="visible"/>
                                      </p:to>
                                    </p:set>
                                    <p:animEffect transition="in" filter="box(in)">
                                      <p:cBhvr>
                                        <p:cTn id="7" dur="500"/>
                                        <p:tgtEl>
                                          <p:spTgt spid="321539"/>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321548"/>
                                        </p:tgtEl>
                                        <p:attrNameLst>
                                          <p:attrName>style.visibility</p:attrName>
                                        </p:attrNameLst>
                                      </p:cBhvr>
                                      <p:to>
                                        <p:strVal val="visible"/>
                                      </p:to>
                                    </p:set>
                                    <p:animEffect transition="in" filter="box(out)">
                                      <p:cBhvr>
                                        <p:cTn id="11" dur="500"/>
                                        <p:tgtEl>
                                          <p:spTgt spid="32154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13"/>
                                        </p:tgtEl>
                                        <p:attrNameLst>
                                          <p:attrName>style.visibility</p:attrName>
                                        </p:attrNameLst>
                                      </p:cBhvr>
                                      <p:to>
                                        <p:strVal val="visible"/>
                                      </p:to>
                                    </p:se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1000"/>
                                        <p:tgtEl>
                                          <p:spTgt spid="2"/>
                                        </p:tgtEl>
                                      </p:cBhvr>
                                    </p:animEffect>
                                  </p:childTnLst>
                                </p:cTn>
                              </p:par>
                            </p:childTnLst>
                          </p:cTn>
                        </p:par>
                        <p:par>
                          <p:cTn id="20" fill="hold">
                            <p:stCondLst>
                              <p:cond delay="1500"/>
                            </p:stCondLst>
                            <p:childTnLst>
                              <p:par>
                                <p:cTn id="21" presetID="5" presetClass="entr" presetSubtype="10"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checkerboard(across)">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321547"/>
                                        </p:tgtEl>
                                        <p:attrNameLst>
                                          <p:attrName>style.visibility</p:attrName>
                                        </p:attrNameLst>
                                      </p:cBhvr>
                                      <p:to>
                                        <p:strVal val="visible"/>
                                      </p:to>
                                    </p:set>
                                    <p:animEffect transition="in" filter="slide(fromBottom)">
                                      <p:cBhvr>
                                        <p:cTn id="28" dur="500"/>
                                        <p:tgtEl>
                                          <p:spTgt spid="321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autoUpdateAnimBg="0"/>
      <p:bldP spid="321547" grpId="0" animBg="1"/>
      <p:bldP spid="321548"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0155238" y="6492876"/>
            <a:ext cx="512762" cy="365125"/>
          </a:xfrm>
          <a:prstGeom prst="rect">
            <a:avLst/>
          </a:prstGeom>
        </p:spPr>
        <p:txBody>
          <a:bodyPr vert="horz" lIns="91440" tIns="45720" rIns="91440" bIns="45720" rtlCol="0" anchor="ctr"/>
          <a:lstStyle>
            <a:defPPr>
              <a:defRPr lang="zh-CN"/>
            </a:defPPr>
            <a:lvl1pPr algn="ctr" rtl="0" fontAlgn="base">
              <a:spcBef>
                <a:spcPct val="0"/>
              </a:spcBef>
              <a:spcAft>
                <a:spcPct val="0"/>
              </a:spcAft>
              <a:defRPr kumimoji="1" sz="1400" b="1" kern="1200">
                <a:solidFill>
                  <a:schemeClr val="tx1">
                    <a:lumMod val="40000"/>
                    <a:lumOff val="60000"/>
                  </a:schemeClr>
                </a:solidFill>
                <a:latin typeface="Arial" panose="020B0604020202020204" pitchFamily="34" charset="0"/>
                <a:ea typeface="+mn-ea"/>
                <a:cs typeface="+mn-cs"/>
              </a:defRPr>
            </a:lvl1pPr>
            <a:lvl2pPr marL="4572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a:lstStyle>
          <a:p>
            <a:pPr>
              <a:defRPr/>
            </a:pPr>
            <a:fld id="{F8D76436-C5B7-46F1-A288-21BDA1594FB5}" type="slidenum">
              <a:rPr lang="en-US" altLang="zh-CN" smtClean="0"/>
            </a:fld>
            <a:endParaRPr lang="en-US" altLang="zh-CN" b="0" dirty="0"/>
          </a:p>
        </p:txBody>
      </p:sp>
      <p:pic>
        <p:nvPicPr>
          <p:cNvPr id="7" name="图片 6"/>
          <p:cNvPicPr>
            <a:picLocks noChangeAspect="1"/>
          </p:cNvPicPr>
          <p:nvPr/>
        </p:nvPicPr>
        <p:blipFill>
          <a:blip r:embed="rId1"/>
          <a:stretch>
            <a:fillRect/>
          </a:stretch>
        </p:blipFill>
        <p:spPr>
          <a:xfrm>
            <a:off x="3215680" y="692696"/>
            <a:ext cx="5328592" cy="3430366"/>
          </a:xfrm>
          <a:prstGeom prst="rect">
            <a:avLst/>
          </a:prstGeom>
        </p:spPr>
      </p:pic>
      <p:sp>
        <p:nvSpPr>
          <p:cNvPr id="8" name="文本框 7"/>
          <p:cNvSpPr txBox="1"/>
          <p:nvPr/>
        </p:nvSpPr>
        <p:spPr>
          <a:xfrm>
            <a:off x="2761673" y="4564909"/>
            <a:ext cx="7560840" cy="597215"/>
          </a:xfrm>
          <a:prstGeom prst="rect">
            <a:avLst/>
          </a:prstGeom>
          <a:noFill/>
        </p:spPr>
        <p:txBody>
          <a:bodyPr wrap="square" rtlCol="0">
            <a:spAutoFit/>
          </a:bodyPr>
          <a:lstStyle/>
          <a:p>
            <a:pPr>
              <a:lnSpc>
                <a:spcPct val="130000"/>
              </a:lnSpc>
            </a:pPr>
            <a:r>
              <a:rPr lang="zh-CN" altLang="en-US" sz="2800" dirty="0">
                <a:solidFill>
                  <a:srgbClr val="0000CC"/>
                </a:solidFill>
                <a:ea typeface="微软雅黑" panose="020B0503020204020204" pitchFamily="34" charset="-122"/>
              </a:rPr>
              <a:t>细胞里的</a:t>
            </a:r>
            <a:r>
              <a:rPr lang="en-US" altLang="zh-CN" sz="2800" dirty="0">
                <a:solidFill>
                  <a:srgbClr val="0000CC"/>
                </a:solidFill>
                <a:ea typeface="微软雅黑" panose="020B0503020204020204" pitchFamily="34" charset="-122"/>
              </a:rPr>
              <a:t>ATP</a:t>
            </a:r>
            <a:r>
              <a:rPr lang="zh-CN" altLang="en-US" sz="2800" dirty="0">
                <a:solidFill>
                  <a:srgbClr val="0000CC"/>
                </a:solidFill>
                <a:ea typeface="微软雅黑" panose="020B0503020204020204" pitchFamily="34" charset="-122"/>
              </a:rPr>
              <a:t>、</a:t>
            </a:r>
            <a:r>
              <a:rPr lang="en-US" altLang="zh-CN" sz="2800" dirty="0">
                <a:solidFill>
                  <a:srgbClr val="0000CC"/>
                </a:solidFill>
                <a:ea typeface="微软雅黑" panose="020B0503020204020204" pitchFamily="34" charset="-122"/>
              </a:rPr>
              <a:t>ADP</a:t>
            </a:r>
            <a:r>
              <a:rPr lang="zh-CN" altLang="en-US" sz="2800" dirty="0">
                <a:solidFill>
                  <a:srgbClr val="0000CC"/>
                </a:solidFill>
                <a:ea typeface="微软雅黑" panose="020B0503020204020204" pitchFamily="34" charset="-122"/>
              </a:rPr>
              <a:t>通常总是与</a:t>
            </a:r>
            <a:r>
              <a:rPr lang="en-US" altLang="zh-CN" sz="2800" dirty="0">
                <a:solidFill>
                  <a:srgbClr val="0000CC"/>
                </a:solidFill>
                <a:ea typeface="微软雅黑" panose="020B0503020204020204" pitchFamily="34" charset="-122"/>
              </a:rPr>
              <a:t>Mg</a:t>
            </a:r>
            <a:r>
              <a:rPr lang="en-US" altLang="zh-CN" sz="2800" baseline="30000" dirty="0">
                <a:solidFill>
                  <a:srgbClr val="0000CC"/>
                </a:solidFill>
                <a:ea typeface="微软雅黑" panose="020B0503020204020204" pitchFamily="34" charset="-122"/>
              </a:rPr>
              <a:t>2+</a:t>
            </a:r>
            <a:r>
              <a:rPr lang="zh-CN" altLang="en-US" sz="2800" dirty="0">
                <a:solidFill>
                  <a:srgbClr val="0000CC"/>
                </a:solidFill>
                <a:ea typeface="微软雅黑" panose="020B0503020204020204" pitchFamily="34" charset="-122"/>
              </a:rPr>
              <a:t>结合</a:t>
            </a:r>
            <a:endParaRPr lang="zh-CN" altLang="en-US" sz="2800" dirty="0">
              <a:solidFill>
                <a:srgbClr val="0000CC"/>
              </a:solidFill>
              <a:ea typeface="微软雅黑" panose="020B0503020204020204" pitchFamily="34" charset="-122"/>
            </a:endParaRPr>
          </a:p>
        </p:txBody>
      </p:sp>
      <p:sp>
        <p:nvSpPr>
          <p:cNvPr id="2" name="文本框 1"/>
          <p:cNvSpPr txBox="1"/>
          <p:nvPr/>
        </p:nvSpPr>
        <p:spPr>
          <a:xfrm>
            <a:off x="2738414" y="5229201"/>
            <a:ext cx="8542162" cy="523220"/>
          </a:xfrm>
          <a:prstGeom prst="rect">
            <a:avLst/>
          </a:prstGeom>
          <a:noFill/>
        </p:spPr>
        <p:txBody>
          <a:bodyPr wrap="square" rtlCol="0">
            <a:spAutoFit/>
          </a:bodyPr>
          <a:lstStyle/>
          <a:p>
            <a:r>
              <a:rPr lang="zh-CN" altLang="en-US" sz="2800" b="0" dirty="0">
                <a:latin typeface="微软雅黑" panose="020B0503020204020204" pitchFamily="34" charset="-122"/>
                <a:ea typeface="微软雅黑" panose="020B0503020204020204" pitchFamily="34" charset="-122"/>
              </a:rPr>
              <a:t>故所有需要</a:t>
            </a:r>
            <a:r>
              <a:rPr lang="en-US" altLang="zh-CN" sz="2800" b="0" dirty="0">
                <a:latin typeface="微软雅黑" panose="020B0503020204020204" pitchFamily="34" charset="-122"/>
                <a:ea typeface="微软雅黑" panose="020B0503020204020204" pitchFamily="34" charset="-122"/>
              </a:rPr>
              <a:t>ATP</a:t>
            </a:r>
            <a:r>
              <a:rPr lang="zh-CN" altLang="en-US" sz="2800" b="0" dirty="0">
                <a:latin typeface="微软雅黑" panose="020B0503020204020204" pitchFamily="34" charset="-122"/>
                <a:ea typeface="微软雅黑" panose="020B0503020204020204" pitchFamily="34" charset="-122"/>
              </a:rPr>
              <a:t>的反应，酶的实际底物是</a:t>
            </a:r>
            <a:r>
              <a:rPr lang="en-US" altLang="zh-CN" sz="2800" b="0" dirty="0">
                <a:latin typeface="微软雅黑" panose="020B0503020204020204" pitchFamily="34" charset="-122"/>
                <a:ea typeface="微软雅黑" panose="020B0503020204020204" pitchFamily="34" charset="-122"/>
              </a:rPr>
              <a:t>MgATP</a:t>
            </a:r>
            <a:r>
              <a:rPr lang="en-US" altLang="zh-CN" sz="2800" b="0" baseline="30000" dirty="0">
                <a:latin typeface="微软雅黑" panose="020B0503020204020204" pitchFamily="34" charset="-122"/>
                <a:ea typeface="微软雅黑" panose="020B0503020204020204" pitchFamily="34" charset="-122"/>
              </a:rPr>
              <a:t>2-</a:t>
            </a:r>
            <a:endParaRPr lang="zh-CN" altLang="en-US" sz="2800" b="0" baseline="3000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79376" y="1196752"/>
          <a:ext cx="6696744" cy="4968552"/>
        </p:xfrm>
        <a:graphic>
          <a:graphicData uri="http://schemas.openxmlformats.org/drawingml/2006/table">
            <a:tbl>
              <a:tblPr firstRow="1" bandRow="1">
                <a:tableStyleId>{5C22544A-7EE6-4342-B048-85BDC9FD1C3A}</a:tableStyleId>
              </a:tblPr>
              <a:tblGrid>
                <a:gridCol w="1379844"/>
                <a:gridCol w="2925907"/>
                <a:gridCol w="2390993"/>
              </a:tblGrid>
              <a:tr h="860008">
                <a:tc>
                  <a:txBody>
                    <a:bodyPr/>
                    <a:lstStyle/>
                    <a:p>
                      <a:endParaRPr lang="zh-CN" altLang="en-US" sz="2800" dirty="0">
                        <a:solidFill>
                          <a:srgbClr val="0033CC"/>
                        </a:solidFill>
                        <a:latin typeface="微软雅黑" panose="020B0503020204020204" pitchFamily="34" charset="-122"/>
                        <a:ea typeface="微软雅黑" panose="020B0503020204020204" pitchFamily="34" charset="-122"/>
                      </a:endParaRPr>
                    </a:p>
                  </a:txBody>
                  <a:tcPr marL="91445" marR="91445" marT="45734" marB="45734">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己糖激酶</a:t>
                      </a:r>
                      <a:r>
                        <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rPr>
                        <a:t>I</a:t>
                      </a:r>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rPr>
                        <a:t>II</a:t>
                      </a:r>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rPr>
                        <a:t>III</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a:p>
                      <a:r>
                        <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rPr>
                        <a:t>hexokinase</a:t>
                      </a:r>
                      <a:endPar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91445" marR="91445" marT="45734" marB="45734">
                    <a:solidFill>
                      <a:schemeClr val="bg1">
                        <a:lumMod val="85000"/>
                      </a:schemeClr>
                    </a:solidFill>
                  </a:tcPr>
                </a:tc>
                <a:tc>
                  <a:txBody>
                    <a:bodyPr/>
                    <a:lstStyle/>
                    <a:p>
                      <a:r>
                        <a:rPr lang="zh-CN" altLang="en-US" sz="2400" b="1" dirty="0">
                          <a:solidFill>
                            <a:srgbClr val="C00000"/>
                          </a:solidFill>
                          <a:latin typeface="微软雅黑" panose="020B0503020204020204" pitchFamily="34" charset="-122"/>
                          <a:ea typeface="微软雅黑" panose="020B0503020204020204" pitchFamily="34" charset="-122"/>
                        </a:rPr>
                        <a:t>葡萄糖激酶，</a:t>
                      </a:r>
                      <a:r>
                        <a:rPr lang="en-US" altLang="zh-CN" sz="2400" b="1" dirty="0">
                          <a:solidFill>
                            <a:srgbClr val="C00000"/>
                          </a:solidFill>
                          <a:latin typeface="微软雅黑" panose="020B0503020204020204" pitchFamily="34" charset="-122"/>
                          <a:ea typeface="微软雅黑" panose="020B0503020204020204" pitchFamily="34" charset="-122"/>
                        </a:rPr>
                        <a:t>GK</a:t>
                      </a:r>
                      <a:r>
                        <a:rPr lang="en-US" altLang="zh-CN" sz="2400" b="1" dirty="0">
                          <a:solidFill>
                            <a:schemeClr val="tx1">
                              <a:lumMod val="95000"/>
                              <a:lumOff val="5000"/>
                            </a:schemeClr>
                          </a:solidFill>
                          <a:latin typeface="微软雅黑" panose="020B0503020204020204" pitchFamily="34" charset="-122"/>
                          <a:ea typeface="微软雅黑" panose="020B0503020204020204" pitchFamily="34" charset="-122"/>
                        </a:rPr>
                        <a:t>, </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glucokinase</a:t>
                      </a: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91445" marR="91445" marT="45734" marB="45734">
                    <a:solidFill>
                      <a:schemeClr val="bg1">
                        <a:lumMod val="85000"/>
                      </a:schemeClr>
                    </a:solidFill>
                  </a:tcPr>
                </a:tc>
              </a:tr>
              <a:tr h="996322">
                <a:tc>
                  <a:txBody>
                    <a:bodyPr/>
                    <a:lstStyle/>
                    <a:p>
                      <a:r>
                        <a:rPr lang="zh-CN" altLang="en-US" sz="2400" dirty="0">
                          <a:solidFill>
                            <a:srgbClr val="0033CC"/>
                          </a:solidFill>
                          <a:latin typeface="微软雅黑" panose="020B0503020204020204" pitchFamily="34" charset="-122"/>
                          <a:ea typeface="微软雅黑" panose="020B0503020204020204" pitchFamily="34" charset="-122"/>
                        </a:rPr>
                        <a:t>分布</a:t>
                      </a:r>
                      <a:endParaRPr lang="zh-CN" altLang="en-US" sz="2400" dirty="0">
                        <a:solidFill>
                          <a:srgbClr val="0033CC"/>
                        </a:solidFill>
                        <a:latin typeface="微软雅黑" panose="020B0503020204020204" pitchFamily="34" charset="-122"/>
                        <a:ea typeface="微软雅黑" panose="020B0503020204020204" pitchFamily="34" charset="-122"/>
                      </a:endParaRPr>
                    </a:p>
                  </a:txBody>
                  <a:tcPr marL="91445" marR="91445" marT="45734" marB="45734"/>
                </a:tc>
                <a:tc>
                  <a:txBody>
                    <a:bodyPr/>
                    <a:lstStyle/>
                    <a:p>
                      <a:r>
                        <a:rPr lang="en-US" altLang="zh-CN" sz="2400" dirty="0">
                          <a:latin typeface="微软雅黑" panose="020B0503020204020204" pitchFamily="34" charset="-122"/>
                          <a:ea typeface="微软雅黑" panose="020B0503020204020204" pitchFamily="34" charset="-122"/>
                        </a:rPr>
                        <a:t>I</a:t>
                      </a:r>
                      <a:r>
                        <a:rPr lang="en-US" altLang="zh-CN" sz="2400" baseline="0" dirty="0">
                          <a:latin typeface="微软雅黑" panose="020B0503020204020204" pitchFamily="34" charset="-122"/>
                          <a:ea typeface="微软雅黑" panose="020B0503020204020204" pitchFamily="34" charset="-122"/>
                        </a:rPr>
                        <a:t> </a:t>
                      </a:r>
                      <a:r>
                        <a:rPr lang="zh-CN" altLang="en-US" sz="2400" baseline="0" dirty="0">
                          <a:latin typeface="微软雅黑" panose="020B0503020204020204" pitchFamily="34" charset="-122"/>
                          <a:ea typeface="微软雅黑" panose="020B0503020204020204" pitchFamily="34" charset="-122"/>
                        </a:rPr>
                        <a:t>见于</a:t>
                      </a:r>
                      <a:r>
                        <a:rPr lang="zh-CN" altLang="en-US" sz="2400" dirty="0">
                          <a:latin typeface="微软雅黑" panose="020B0503020204020204" pitchFamily="34" charset="-122"/>
                          <a:ea typeface="微软雅黑" panose="020B0503020204020204" pitchFamily="34" charset="-122"/>
                        </a:rPr>
                        <a:t>所有组织，</a:t>
                      </a:r>
                      <a:r>
                        <a:rPr lang="en-US" altLang="zh-CN" sz="2400" dirty="0">
                          <a:latin typeface="微软雅黑" panose="020B0503020204020204" pitchFamily="34" charset="-122"/>
                          <a:ea typeface="微软雅黑" panose="020B0503020204020204" pitchFamily="34" charset="-122"/>
                        </a:rPr>
                        <a:t>II</a:t>
                      </a:r>
                      <a:r>
                        <a:rPr lang="zh-CN" altLang="en-US" sz="2400" dirty="0">
                          <a:latin typeface="微软雅黑" panose="020B0503020204020204" pitchFamily="34" charset="-122"/>
                          <a:ea typeface="微软雅黑" panose="020B0503020204020204" pitchFamily="34" charset="-122"/>
                        </a:rPr>
                        <a:t>在骨骼肌和心肌等。</a:t>
                      </a:r>
                      <a:endParaRPr lang="zh-CN" altLang="en-US" sz="2400" dirty="0">
                        <a:latin typeface="微软雅黑" panose="020B0503020204020204" pitchFamily="34" charset="-122"/>
                        <a:ea typeface="微软雅黑" panose="020B0503020204020204" pitchFamily="34" charset="-122"/>
                      </a:endParaRPr>
                    </a:p>
                  </a:txBody>
                  <a:tcPr marL="91445" marR="91445" marT="45734" marB="45734"/>
                </a:tc>
                <a:tc>
                  <a:txBody>
                    <a:bodyPr/>
                    <a:lstStyle/>
                    <a:p>
                      <a:r>
                        <a:rPr lang="zh-CN" altLang="en-US" sz="2400" dirty="0">
                          <a:solidFill>
                            <a:srgbClr val="C00000"/>
                          </a:solidFill>
                          <a:latin typeface="微软雅黑" panose="020B0503020204020204" pitchFamily="34" charset="-122"/>
                          <a:ea typeface="微软雅黑" panose="020B0503020204020204" pitchFamily="34" charset="-122"/>
                        </a:rPr>
                        <a:t>肝脏、</a:t>
                      </a:r>
                      <a:r>
                        <a:rPr lang="zh-CN" altLang="en-US" sz="2400" dirty="0">
                          <a:solidFill>
                            <a:srgbClr val="C00000"/>
                          </a:solidFill>
                          <a:latin typeface="Arial" panose="020B0604020202020204" pitchFamily="34" charset="0"/>
                        </a:rPr>
                        <a:t>胰腺</a:t>
                      </a:r>
                      <a:r>
                        <a:rPr lang="en-US" altLang="zh-CN" sz="2400" dirty="0">
                          <a:solidFill>
                            <a:srgbClr val="C00000"/>
                          </a:solidFill>
                          <a:latin typeface="Arial" panose="020B0604020202020204" pitchFamily="34" charset="0"/>
                        </a:rPr>
                        <a:t>α</a:t>
                      </a:r>
                      <a:r>
                        <a:rPr lang="zh-CN" altLang="en-US" sz="2400" dirty="0">
                          <a:solidFill>
                            <a:srgbClr val="C00000"/>
                          </a:solidFill>
                          <a:latin typeface="Arial" panose="020B0604020202020204" pitchFamily="34" charset="0"/>
                        </a:rPr>
                        <a:t>及</a:t>
                      </a:r>
                      <a:r>
                        <a:rPr lang="en-US" altLang="zh-CN" sz="2400" dirty="0">
                          <a:solidFill>
                            <a:srgbClr val="C00000"/>
                          </a:solidFill>
                          <a:latin typeface="Arial" panose="020B0604020202020204" pitchFamily="34" charset="0"/>
                        </a:rPr>
                        <a:t>β</a:t>
                      </a:r>
                      <a:r>
                        <a:rPr lang="zh-CN" altLang="en-US" sz="2400" dirty="0">
                          <a:solidFill>
                            <a:srgbClr val="C00000"/>
                          </a:solidFill>
                          <a:latin typeface="Arial" panose="020B0604020202020204" pitchFamily="34" charset="0"/>
                        </a:rPr>
                        <a:t>细胞</a:t>
                      </a:r>
                      <a:endParaRPr lang="zh-CN" altLang="en-US" sz="2400" dirty="0">
                        <a:solidFill>
                          <a:srgbClr val="C00000"/>
                        </a:solidFill>
                        <a:latin typeface="微软雅黑" panose="020B0503020204020204" pitchFamily="34" charset="-122"/>
                        <a:ea typeface="微软雅黑" panose="020B0503020204020204" pitchFamily="34" charset="-122"/>
                      </a:endParaRPr>
                    </a:p>
                  </a:txBody>
                  <a:tcPr marL="91445" marR="91445" marT="45734" marB="45734"/>
                </a:tc>
              </a:tr>
              <a:tr h="842052">
                <a:tc>
                  <a:txBody>
                    <a:bodyPr/>
                    <a:lstStyle/>
                    <a:p>
                      <a:r>
                        <a:rPr lang="zh-CN" altLang="en-US" sz="2400" dirty="0">
                          <a:solidFill>
                            <a:srgbClr val="0033CC"/>
                          </a:solidFill>
                          <a:latin typeface="微软雅黑" panose="020B0503020204020204" pitchFamily="34" charset="-122"/>
                          <a:ea typeface="微软雅黑" panose="020B0503020204020204" pitchFamily="34" charset="-122"/>
                        </a:rPr>
                        <a:t>底物</a:t>
                      </a:r>
                      <a:endParaRPr lang="zh-CN" altLang="en-US" sz="2400" dirty="0">
                        <a:solidFill>
                          <a:srgbClr val="0033CC"/>
                        </a:solidFill>
                        <a:latin typeface="微软雅黑" panose="020B0503020204020204" pitchFamily="34" charset="-122"/>
                        <a:ea typeface="微软雅黑" panose="020B0503020204020204" pitchFamily="34" charset="-122"/>
                      </a:endParaRPr>
                    </a:p>
                  </a:txBody>
                  <a:tcPr marL="91445" marR="91445" marT="45734" marB="45734"/>
                </a:tc>
                <a:tc>
                  <a:txBody>
                    <a:bodyPr/>
                    <a:lstStyle/>
                    <a:p>
                      <a:r>
                        <a:rPr lang="en-US" altLang="zh-CN" sz="2400" dirty="0">
                          <a:latin typeface="微软雅黑" panose="020B0503020204020204" pitchFamily="34" charset="-122"/>
                          <a:ea typeface="微软雅黑" panose="020B0503020204020204" pitchFamily="34" charset="-122"/>
                        </a:rPr>
                        <a:t>glucose</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fructose</a:t>
                      </a:r>
                      <a:r>
                        <a:rPr lang="zh-CN" altLang="en-US" sz="2400" dirty="0">
                          <a:latin typeface="微软雅黑" panose="020B0503020204020204" pitchFamily="34" charset="-122"/>
                          <a:ea typeface="微软雅黑" panose="020B0503020204020204" pitchFamily="34" charset="-122"/>
                        </a:rPr>
                        <a:t>等己糖</a:t>
                      </a:r>
                      <a:endParaRPr lang="zh-CN" altLang="en-US" sz="2400" dirty="0">
                        <a:latin typeface="微软雅黑" panose="020B0503020204020204" pitchFamily="34" charset="-122"/>
                        <a:ea typeface="微软雅黑" panose="020B0503020204020204" pitchFamily="34" charset="-122"/>
                      </a:endParaRPr>
                    </a:p>
                  </a:txBody>
                  <a:tcPr marL="91445" marR="91445" marT="45734" marB="45734"/>
                </a:tc>
                <a:tc>
                  <a:txBody>
                    <a:bodyPr/>
                    <a:lstStyle/>
                    <a:p>
                      <a:r>
                        <a:rPr lang="en-US" altLang="zh-CN" sz="2400" dirty="0">
                          <a:latin typeface="微软雅黑" panose="020B0503020204020204" pitchFamily="34" charset="-122"/>
                          <a:ea typeface="微软雅黑" panose="020B0503020204020204" pitchFamily="34" charset="-122"/>
                        </a:rPr>
                        <a:t>glucose</a:t>
                      </a:r>
                      <a:endParaRPr lang="zh-CN" altLang="en-US" sz="2400" dirty="0">
                        <a:latin typeface="微软雅黑" panose="020B0503020204020204" pitchFamily="34" charset="-122"/>
                        <a:ea typeface="微软雅黑" panose="020B0503020204020204" pitchFamily="34" charset="-122"/>
                      </a:endParaRPr>
                    </a:p>
                  </a:txBody>
                  <a:tcPr marL="91445" marR="91445" marT="45734" marB="45734"/>
                </a:tc>
              </a:tr>
              <a:tr h="1135020">
                <a:tc>
                  <a:txBody>
                    <a:bodyPr/>
                    <a:lstStyle/>
                    <a:p>
                      <a:r>
                        <a:rPr lang="zh-CN" altLang="en-US" sz="2400" dirty="0">
                          <a:solidFill>
                            <a:srgbClr val="0033CC"/>
                          </a:solidFill>
                          <a:latin typeface="微软雅黑" panose="020B0503020204020204" pitchFamily="34" charset="-122"/>
                          <a:ea typeface="微软雅黑" panose="020B0503020204020204" pitchFamily="34" charset="-122"/>
                        </a:rPr>
                        <a:t>对</a:t>
                      </a:r>
                      <a:r>
                        <a:rPr lang="en-US" altLang="zh-CN" sz="2400" dirty="0">
                          <a:solidFill>
                            <a:srgbClr val="0033CC"/>
                          </a:solidFill>
                          <a:latin typeface="微软雅黑" panose="020B0503020204020204" pitchFamily="34" charset="-122"/>
                          <a:ea typeface="微软雅黑" panose="020B0503020204020204" pitchFamily="34" charset="-122"/>
                        </a:rPr>
                        <a:t>G</a:t>
                      </a:r>
                      <a:r>
                        <a:rPr lang="zh-CN" altLang="en-US" sz="2400" dirty="0">
                          <a:solidFill>
                            <a:srgbClr val="0033CC"/>
                          </a:solidFill>
                          <a:latin typeface="微软雅黑" panose="020B0503020204020204" pitchFamily="34" charset="-122"/>
                          <a:ea typeface="微软雅黑" panose="020B0503020204020204" pitchFamily="34" charset="-122"/>
                        </a:rPr>
                        <a:t>的亲合力</a:t>
                      </a:r>
                      <a:endParaRPr lang="zh-CN" altLang="en-US" sz="2400" dirty="0">
                        <a:solidFill>
                          <a:srgbClr val="0033CC"/>
                        </a:solidFill>
                        <a:latin typeface="微软雅黑" panose="020B0503020204020204" pitchFamily="34" charset="-122"/>
                        <a:ea typeface="微软雅黑" panose="020B0503020204020204" pitchFamily="34" charset="-122"/>
                      </a:endParaRPr>
                    </a:p>
                  </a:txBody>
                  <a:tcPr marL="91445" marR="91445" marT="45734" marB="45734"/>
                </a:tc>
                <a:tc>
                  <a:txBody>
                    <a:bodyPr/>
                    <a:lstStyle/>
                    <a:p>
                      <a:r>
                        <a:rPr lang="en-US" altLang="zh-CN" sz="2000" dirty="0">
                          <a:latin typeface="微软雅黑" panose="020B0503020204020204" pitchFamily="34" charset="-122"/>
                          <a:ea typeface="微软雅黑" panose="020B0503020204020204" pitchFamily="34" charset="-122"/>
                        </a:rPr>
                        <a:t>Km</a:t>
                      </a:r>
                      <a:r>
                        <a:rPr lang="zh-CN" altLang="en-US" sz="2000" dirty="0">
                          <a:latin typeface="微软雅黑" panose="020B0503020204020204" pitchFamily="34" charset="-122"/>
                          <a:ea typeface="微软雅黑" panose="020B0503020204020204" pitchFamily="34" charset="-122"/>
                        </a:rPr>
                        <a:t>低，</a:t>
                      </a:r>
                      <a:r>
                        <a:rPr lang="en-US" altLang="zh-CN" sz="2000" dirty="0">
                          <a:latin typeface="微软雅黑" panose="020B0503020204020204" pitchFamily="34" charset="-122"/>
                          <a:ea typeface="微软雅黑" panose="020B0503020204020204" pitchFamily="34" charset="-122"/>
                        </a:rPr>
                        <a:t>~0.2mM</a:t>
                      </a:r>
                      <a:endParaRPr lang="en-US" altLang="zh-CN" sz="20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亲合力高</a:t>
                      </a:r>
                      <a:endParaRPr lang="zh-CN" altLang="en-US" sz="2400" dirty="0">
                        <a:latin typeface="微软雅黑" panose="020B0503020204020204" pitchFamily="34" charset="-122"/>
                        <a:ea typeface="微软雅黑" panose="020B0503020204020204" pitchFamily="34" charset="-122"/>
                      </a:endParaRPr>
                    </a:p>
                  </a:txBody>
                  <a:tcPr marL="91445" marR="91445" marT="45734" marB="45734"/>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dirty="0">
                          <a:solidFill>
                            <a:srgbClr val="C00000"/>
                          </a:solidFill>
                          <a:latin typeface="微软雅黑" panose="020B0503020204020204" pitchFamily="34" charset="-122"/>
                          <a:ea typeface="微软雅黑" panose="020B0503020204020204" pitchFamily="34" charset="-122"/>
                        </a:rPr>
                        <a:t>亲合力低</a:t>
                      </a:r>
                      <a:endParaRPr lang="en-US" altLang="zh-CN" sz="2400" dirty="0">
                        <a:solidFill>
                          <a:srgbClr val="C00000"/>
                        </a:solidFill>
                        <a:latin typeface="微软雅黑" panose="020B0503020204020204" pitchFamily="34" charset="-122"/>
                        <a:ea typeface="微软雅黑" panose="020B0503020204020204" pitchFamily="34" charset="-122"/>
                      </a:endParaRPr>
                    </a:p>
                    <a:p>
                      <a:r>
                        <a:rPr lang="en-US" altLang="zh-CN" sz="2400" dirty="0">
                          <a:solidFill>
                            <a:srgbClr val="C00000"/>
                          </a:solidFill>
                          <a:latin typeface="微软雅黑" panose="020B0503020204020204" pitchFamily="34" charset="-122"/>
                          <a:ea typeface="微软雅黑" panose="020B0503020204020204" pitchFamily="34" charset="-122"/>
                        </a:rPr>
                        <a:t>Km</a:t>
                      </a:r>
                      <a:r>
                        <a:rPr lang="zh-CN" altLang="en-US" sz="2400" dirty="0">
                          <a:solidFill>
                            <a:srgbClr val="C00000"/>
                          </a:solidFill>
                          <a:latin typeface="微软雅黑" panose="020B0503020204020204" pitchFamily="34" charset="-122"/>
                          <a:ea typeface="微软雅黑" panose="020B0503020204020204" pitchFamily="34" charset="-122"/>
                        </a:rPr>
                        <a:t>高，</a:t>
                      </a:r>
                      <a:r>
                        <a:rPr lang="en-US" altLang="zh-CN" sz="2200" dirty="0">
                          <a:solidFill>
                            <a:srgbClr val="C00000"/>
                          </a:solidFill>
                          <a:latin typeface="微软雅黑" panose="020B0503020204020204" pitchFamily="34" charset="-122"/>
                          <a:ea typeface="微软雅黑" panose="020B0503020204020204" pitchFamily="34" charset="-122"/>
                        </a:rPr>
                        <a:t>~10mM</a:t>
                      </a:r>
                      <a:endParaRPr lang="en-US" altLang="zh-CN" sz="2200" dirty="0">
                        <a:solidFill>
                          <a:srgbClr val="C00000"/>
                        </a:solidFill>
                        <a:latin typeface="微软雅黑" panose="020B0503020204020204" pitchFamily="34" charset="-122"/>
                        <a:ea typeface="微软雅黑" panose="020B0503020204020204" pitchFamily="34" charset="-122"/>
                      </a:endParaRPr>
                    </a:p>
                  </a:txBody>
                  <a:tcPr marL="91445" marR="91445" marT="45734" marB="45734"/>
                </a:tc>
              </a:tr>
              <a:tr h="1135150">
                <a:tc>
                  <a:txBody>
                    <a:bodyPr/>
                    <a:lstStyle/>
                    <a:p>
                      <a:pPr>
                        <a:spcBef>
                          <a:spcPts val="1800"/>
                        </a:spcBef>
                      </a:pPr>
                      <a:r>
                        <a:rPr lang="zh-CN" altLang="en-US" sz="2400" dirty="0">
                          <a:solidFill>
                            <a:srgbClr val="0033CC"/>
                          </a:solidFill>
                          <a:latin typeface="微软雅黑" panose="020B0503020204020204" pitchFamily="34" charset="-122"/>
                          <a:ea typeface="微软雅黑" panose="020B0503020204020204" pitchFamily="34" charset="-122"/>
                        </a:rPr>
                        <a:t>抑制</a:t>
                      </a:r>
                      <a:endParaRPr lang="zh-CN" altLang="en-US" sz="2400" dirty="0">
                        <a:solidFill>
                          <a:srgbClr val="0033CC"/>
                        </a:solidFill>
                        <a:latin typeface="微软雅黑" panose="020B0503020204020204" pitchFamily="34" charset="-122"/>
                        <a:ea typeface="微软雅黑" panose="020B0503020204020204" pitchFamily="34" charset="-122"/>
                      </a:endParaRPr>
                    </a:p>
                  </a:txBody>
                  <a:tcPr marL="91445" marR="91445" marT="45734" marB="45734"/>
                </a:tc>
                <a:tc>
                  <a:txBody>
                    <a:bodyPr/>
                    <a:lstStyle/>
                    <a:p>
                      <a:pPr>
                        <a:spcBef>
                          <a:spcPts val="1800"/>
                        </a:spcBef>
                      </a:pPr>
                      <a:r>
                        <a:rPr lang="zh-CN" altLang="en-US" sz="2400" dirty="0">
                          <a:solidFill>
                            <a:srgbClr val="C00000"/>
                          </a:solidFill>
                          <a:latin typeface="微软雅黑" panose="020B0503020204020204" pitchFamily="34" charset="-122"/>
                          <a:ea typeface="微软雅黑" panose="020B0503020204020204" pitchFamily="34" charset="-122"/>
                        </a:rPr>
                        <a:t>受</a:t>
                      </a:r>
                      <a:r>
                        <a:rPr lang="en-US" altLang="zh-CN" sz="2400" dirty="0">
                          <a:solidFill>
                            <a:srgbClr val="C00000"/>
                          </a:solidFill>
                          <a:latin typeface="微软雅黑" panose="020B0503020204020204" pitchFamily="34" charset="-122"/>
                          <a:ea typeface="微软雅黑" panose="020B0503020204020204" pitchFamily="34" charset="-122"/>
                        </a:rPr>
                        <a:t>G-6-P</a:t>
                      </a:r>
                      <a:r>
                        <a:rPr lang="zh-CN" altLang="en-US" sz="2400" dirty="0">
                          <a:solidFill>
                            <a:srgbClr val="C00000"/>
                          </a:solidFill>
                          <a:latin typeface="微软雅黑" panose="020B0503020204020204" pitchFamily="34" charset="-122"/>
                          <a:ea typeface="微软雅黑" panose="020B0503020204020204" pitchFamily="34" charset="-122"/>
                        </a:rPr>
                        <a:t>抑制</a:t>
                      </a:r>
                      <a:endParaRPr lang="zh-CN" altLang="en-US" sz="2400" dirty="0">
                        <a:solidFill>
                          <a:srgbClr val="C00000"/>
                        </a:solidFill>
                        <a:latin typeface="微软雅黑" panose="020B0503020204020204" pitchFamily="34" charset="-122"/>
                        <a:ea typeface="微软雅黑" panose="020B0503020204020204" pitchFamily="34" charset="-122"/>
                      </a:endParaRPr>
                    </a:p>
                  </a:txBody>
                  <a:tcPr marL="91445" marR="91445" marT="45734" marB="45734"/>
                </a:tc>
                <a:tc>
                  <a:txBody>
                    <a:bodyPr/>
                    <a:lstStyle/>
                    <a:p>
                      <a:pPr>
                        <a:lnSpc>
                          <a:spcPct val="150000"/>
                        </a:lnSpc>
                      </a:pPr>
                      <a:r>
                        <a:rPr lang="zh-CN" altLang="en-US" sz="2400" dirty="0">
                          <a:latin typeface="微软雅黑" panose="020B0503020204020204" pitchFamily="34" charset="-122"/>
                          <a:ea typeface="微软雅黑" panose="020B0503020204020204" pitchFamily="34" charset="-122"/>
                        </a:rPr>
                        <a:t>不受</a:t>
                      </a:r>
                      <a:r>
                        <a:rPr lang="en-US" altLang="zh-CN" sz="2400" dirty="0">
                          <a:latin typeface="微软雅黑" panose="020B0503020204020204" pitchFamily="34" charset="-122"/>
                          <a:ea typeface="微软雅黑" panose="020B0503020204020204" pitchFamily="34" charset="-122"/>
                        </a:rPr>
                        <a:t>G-6-P</a:t>
                      </a:r>
                      <a:r>
                        <a:rPr lang="zh-CN" altLang="en-US" sz="2400" dirty="0">
                          <a:latin typeface="微软雅黑" panose="020B0503020204020204" pitchFamily="34" charset="-122"/>
                          <a:ea typeface="微软雅黑" panose="020B0503020204020204" pitchFamily="34" charset="-122"/>
                        </a:rPr>
                        <a:t>抑制，</a:t>
                      </a:r>
                      <a:r>
                        <a:rPr lang="zh-CN" altLang="en-US" sz="2400" dirty="0">
                          <a:solidFill>
                            <a:srgbClr val="C00000"/>
                          </a:solidFill>
                          <a:latin typeface="微软雅黑" panose="020B0503020204020204" pitchFamily="34" charset="-122"/>
                          <a:ea typeface="微软雅黑" panose="020B0503020204020204" pitchFamily="34" charset="-122"/>
                        </a:rPr>
                        <a:t>受激素调节</a:t>
                      </a:r>
                      <a:endParaRPr lang="zh-CN" altLang="en-US" sz="2400" dirty="0">
                        <a:solidFill>
                          <a:srgbClr val="C00000"/>
                        </a:solidFill>
                        <a:latin typeface="微软雅黑" panose="020B0503020204020204" pitchFamily="34" charset="-122"/>
                        <a:ea typeface="微软雅黑" panose="020B0503020204020204" pitchFamily="34" charset="-122"/>
                      </a:endParaRPr>
                    </a:p>
                  </a:txBody>
                  <a:tcPr marL="91445" marR="91445" marT="45734" marB="45734"/>
                </a:tc>
              </a:tr>
            </a:tbl>
          </a:graphicData>
        </a:graphic>
      </p:graphicFrame>
      <p:pic>
        <p:nvPicPr>
          <p:cNvPr id="8604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55904" y="1126845"/>
            <a:ext cx="3528392" cy="3416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45" name="矩形 2"/>
          <p:cNvSpPr>
            <a:spLocks noChangeArrowheads="1"/>
          </p:cNvSpPr>
          <p:nvPr/>
        </p:nvSpPr>
        <p:spPr bwMode="auto">
          <a:xfrm>
            <a:off x="2351088" y="260350"/>
            <a:ext cx="74803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0"/>
              </a:spcBef>
              <a:buClrTx/>
              <a:buSzTx/>
              <a:buFontTx/>
              <a:buNone/>
            </a:pPr>
            <a:r>
              <a:rPr kumimoji="1" lang="zh-CN" altLang="en-US">
                <a:solidFill>
                  <a:srgbClr val="660066"/>
                </a:solidFill>
                <a:latin typeface="微软雅黑" panose="020B0503020204020204" pitchFamily="34" charset="-122"/>
                <a:ea typeface="微软雅黑" panose="020B0503020204020204" pitchFamily="34" charset="-122"/>
              </a:rPr>
              <a:t>哺乳动物有4种己糖激酶同工酶</a:t>
            </a:r>
            <a:endParaRPr lang="zh-CN" altLang="en-US">
              <a:solidFill>
                <a:srgbClr val="660066"/>
              </a:solidFill>
              <a:latin typeface="Arial" panose="020B0604020202020204" pitchFamily="34" charset="0"/>
              <a:ea typeface="宋体" panose="02010600030101010101" pitchFamily="2" charset="-122"/>
            </a:endParaRPr>
          </a:p>
        </p:txBody>
      </p:sp>
      <p:sp>
        <p:nvSpPr>
          <p:cNvPr id="4" name="文本框 3"/>
          <p:cNvSpPr txBox="1"/>
          <p:nvPr/>
        </p:nvSpPr>
        <p:spPr>
          <a:xfrm>
            <a:off x="7536160" y="4653136"/>
            <a:ext cx="4248472" cy="1785104"/>
          </a:xfrm>
          <a:prstGeom prst="rect">
            <a:avLst/>
          </a:prstGeom>
          <a:solidFill>
            <a:schemeClr val="accent1">
              <a:lumMod val="20000"/>
              <a:lumOff val="80000"/>
            </a:schemeClr>
          </a:solidFill>
        </p:spPr>
        <p:txBody>
          <a:bodyPr wrap="square">
            <a:spAutoFit/>
          </a:bodyPr>
          <a:lstStyle/>
          <a:p>
            <a:r>
              <a:rPr lang="zh-CN" altLang="en-US" sz="2200" b="0" dirty="0">
                <a:solidFill>
                  <a:srgbClr val="0000FF"/>
                </a:solidFill>
                <a:latin typeface="+mj-ea"/>
                <a:ea typeface="+mj-ea"/>
              </a:rPr>
              <a:t>血糖低时</a:t>
            </a:r>
            <a:r>
              <a:rPr lang="zh-CN" altLang="en-US" sz="2200" b="0" dirty="0">
                <a:latin typeface="+mj-ea"/>
                <a:ea typeface="+mj-ea"/>
              </a:rPr>
              <a:t>，</a:t>
            </a:r>
            <a:r>
              <a:rPr lang="en-US" altLang="zh-CN" sz="2200" b="0" dirty="0">
                <a:solidFill>
                  <a:srgbClr val="0000CC"/>
                </a:solidFill>
                <a:latin typeface="+mj-ea"/>
                <a:ea typeface="+mj-ea"/>
              </a:rPr>
              <a:t>GK</a:t>
            </a:r>
            <a:r>
              <a:rPr lang="zh-CN" altLang="en-US" sz="2200" b="0" dirty="0">
                <a:latin typeface="+mj-ea"/>
                <a:ea typeface="+mj-ea"/>
              </a:rPr>
              <a:t>与葡萄糖激酶调节蛋白（</a:t>
            </a:r>
            <a:r>
              <a:rPr lang="en-US" altLang="zh-CN" sz="2200" b="0" dirty="0">
                <a:latin typeface="+mj-ea"/>
                <a:ea typeface="+mj-ea"/>
              </a:rPr>
              <a:t>GKRP</a:t>
            </a:r>
            <a:r>
              <a:rPr lang="zh-CN" altLang="en-US" sz="2200" b="0" dirty="0">
                <a:latin typeface="+mj-ea"/>
                <a:ea typeface="+mj-ea"/>
              </a:rPr>
              <a:t>）结合，</a:t>
            </a:r>
            <a:r>
              <a:rPr lang="zh-CN" altLang="en-US" sz="2200" b="0" dirty="0">
                <a:solidFill>
                  <a:srgbClr val="C00000"/>
                </a:solidFill>
                <a:latin typeface="+mj-ea"/>
                <a:ea typeface="+mj-ea"/>
              </a:rPr>
              <a:t>呆在细胞核内</a:t>
            </a:r>
            <a:r>
              <a:rPr lang="zh-CN" altLang="en-US" sz="2200" b="0" dirty="0">
                <a:latin typeface="+mj-ea"/>
                <a:ea typeface="+mj-ea"/>
              </a:rPr>
              <a:t>， 血糖高时，</a:t>
            </a:r>
            <a:r>
              <a:rPr lang="en-US" altLang="zh-CN" sz="2200" b="0" dirty="0">
                <a:latin typeface="+mj-ea"/>
                <a:ea typeface="+mj-ea"/>
              </a:rPr>
              <a:t>GK</a:t>
            </a:r>
            <a:r>
              <a:rPr lang="zh-CN" altLang="en-US" sz="2200" b="0" dirty="0">
                <a:latin typeface="+mj-ea"/>
                <a:ea typeface="+mj-ea"/>
              </a:rPr>
              <a:t>与调节蛋白分离，进入细胞质，作用于葡萄糖。</a:t>
            </a:r>
            <a:endParaRPr lang="zh-CN" altLang="en-US" sz="2200" b="0" dirty="0">
              <a:latin typeface="+mj-ea"/>
              <a:ea typeface="+mj-ea"/>
            </a:endParaRPr>
          </a:p>
        </p:txBody>
      </p:sp>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1199456"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150531" name="Text Box 3"/>
          <p:cNvSpPr txBox="1">
            <a:spLocks noChangeArrowheads="1"/>
          </p:cNvSpPr>
          <p:nvPr/>
        </p:nvSpPr>
        <p:spPr bwMode="auto">
          <a:xfrm>
            <a:off x="3825051" y="571501"/>
            <a:ext cx="684294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tabLst>
                <a:tab pos="4381500" algn="l"/>
              </a:tabLst>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tabLst>
                <a:tab pos="4381500" algn="l"/>
              </a:tabLst>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tabLst>
                <a:tab pos="4381500" algn="l"/>
              </a:tabLst>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tabLst>
                <a:tab pos="4381500" algn="l"/>
              </a:tabLst>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tabLst>
                <a:tab pos="4381500" algn="l"/>
              </a:tabLst>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tabLst>
                <a:tab pos="4381500" algn="l"/>
              </a:tabLs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tabLst>
                <a:tab pos="4381500" algn="l"/>
              </a:tabLs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tabLst>
                <a:tab pos="4381500" algn="l"/>
              </a:tabLs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tabLst>
                <a:tab pos="4381500" algn="l"/>
              </a:tabLst>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t>⑵ 葡萄糖</a:t>
            </a:r>
            <a:r>
              <a:rPr kumimoji="1" lang="en-US" altLang="zh-CN" dirty="0"/>
              <a:t>-</a:t>
            </a:r>
            <a:r>
              <a:rPr kumimoji="1" lang="zh-CN" altLang="en-US" dirty="0"/>
              <a:t>6-磷酸转变为果糖</a:t>
            </a:r>
            <a:r>
              <a:rPr kumimoji="1" lang="en-US" altLang="zh-CN" dirty="0"/>
              <a:t>-</a:t>
            </a:r>
            <a:r>
              <a:rPr kumimoji="1" lang="zh-CN" altLang="en-US" dirty="0"/>
              <a:t>6-磷酸</a:t>
            </a:r>
            <a:endParaRPr kumimoji="1" lang="zh-CN" altLang="en-US" dirty="0"/>
          </a:p>
        </p:txBody>
      </p:sp>
      <p:grpSp>
        <p:nvGrpSpPr>
          <p:cNvPr id="2" name="Group 4"/>
          <p:cNvGrpSpPr/>
          <p:nvPr/>
        </p:nvGrpSpPr>
        <p:grpSpPr bwMode="auto">
          <a:xfrm>
            <a:off x="6851898" y="3429001"/>
            <a:ext cx="1512887" cy="468313"/>
            <a:chOff x="3061" y="2160"/>
            <a:chExt cx="953" cy="295"/>
          </a:xfrm>
        </p:grpSpPr>
        <p:sp>
          <p:nvSpPr>
            <p:cNvPr id="88128" name="Line 5"/>
            <p:cNvSpPr>
              <a:spLocks noChangeShapeType="1"/>
            </p:cNvSpPr>
            <p:nvPr/>
          </p:nvSpPr>
          <p:spPr bwMode="auto">
            <a:xfrm>
              <a:off x="3061" y="2160"/>
              <a:ext cx="953"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29" name="Rectangle 6"/>
            <p:cNvSpPr>
              <a:spLocks noChangeArrowheads="1"/>
            </p:cNvSpPr>
            <p:nvPr/>
          </p:nvSpPr>
          <p:spPr bwMode="auto">
            <a:xfrm>
              <a:off x="3061" y="2205"/>
              <a:ext cx="9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chemeClr val="bg1"/>
                  </a:solidFill>
                  <a:latin typeface="黑体" panose="02010609060101010101" pitchFamily="2" charset="-122"/>
                  <a:ea typeface="黑体" panose="02010609060101010101" pitchFamily="2" charset="-122"/>
                </a:rPr>
                <a:t>己糖异构酶</a:t>
              </a:r>
              <a:r>
                <a:rPr kumimoji="1" lang="zh-CN" altLang="en-US" sz="2000">
                  <a:solidFill>
                    <a:schemeClr val="bg1"/>
                  </a:solidFill>
                  <a:latin typeface="黑体" panose="02010609060101010101" pitchFamily="2" charset="-122"/>
                  <a:ea typeface="黑体" panose="02010609060101010101" pitchFamily="2" charset="-122"/>
                </a:rPr>
                <a:t>        </a:t>
              </a:r>
              <a:endParaRPr kumimoji="1" lang="zh-CN" altLang="en-US" sz="2000">
                <a:solidFill>
                  <a:schemeClr val="bg1"/>
                </a:solidFill>
                <a:latin typeface="黑体" panose="02010609060101010101" pitchFamily="2" charset="-122"/>
                <a:ea typeface="黑体" panose="02010609060101010101" pitchFamily="2" charset="-122"/>
              </a:endParaRPr>
            </a:p>
          </p:txBody>
        </p:sp>
      </p:grpSp>
      <p:sp>
        <p:nvSpPr>
          <p:cNvPr id="150535" name="Rectangle 7"/>
          <p:cNvSpPr>
            <a:spLocks noChangeArrowheads="1"/>
          </p:cNvSpPr>
          <p:nvPr/>
        </p:nvSpPr>
        <p:spPr bwMode="auto">
          <a:xfrm>
            <a:off x="1612205" y="838200"/>
            <a:ext cx="990600" cy="914400"/>
          </a:xfrm>
          <a:prstGeom prst="rect">
            <a:avLst/>
          </a:prstGeom>
          <a:noFill/>
          <a:ln w="57150">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3" name="Group 8"/>
          <p:cNvGrpSpPr/>
          <p:nvPr/>
        </p:nvGrpSpPr>
        <p:grpSpPr bwMode="auto">
          <a:xfrm>
            <a:off x="4332535" y="2347913"/>
            <a:ext cx="2411413" cy="2613024"/>
            <a:chOff x="4241" y="1531"/>
            <a:chExt cx="1519" cy="1646"/>
          </a:xfrm>
        </p:grpSpPr>
        <p:sp>
          <p:nvSpPr>
            <p:cNvPr id="88126" name="Text Box 9"/>
            <p:cNvSpPr txBox="1">
              <a:spLocks noChangeArrowheads="1"/>
            </p:cNvSpPr>
            <p:nvPr/>
          </p:nvSpPr>
          <p:spPr bwMode="auto">
            <a:xfrm>
              <a:off x="4332" y="2886"/>
              <a:ext cx="14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葡萄糖</a:t>
              </a:r>
              <a:r>
                <a:rPr kumimoji="1" lang="en-US" altLang="zh-CN" sz="2400" dirty="0">
                  <a:solidFill>
                    <a:schemeClr val="accent1"/>
                  </a:solidFill>
                  <a:latin typeface="Arial" panose="020B0604020202020204" pitchFamily="34" charset="0"/>
                  <a:ea typeface="华文楷体" panose="02010600040101010101" pitchFamily="2" charset="-122"/>
                </a:rPr>
                <a:t>-</a:t>
              </a:r>
              <a:r>
                <a:rPr kumimoji="1" lang="zh-CN" altLang="en-US" sz="2400" dirty="0">
                  <a:solidFill>
                    <a:srgbClr val="FFFF00"/>
                  </a:solidFill>
                  <a:ea typeface="华文楷体" panose="02010600040101010101" pitchFamily="2" charset="-122"/>
                </a:rPr>
                <a:t>6-磷酸</a:t>
              </a:r>
              <a:endParaRPr kumimoji="1" lang="zh-CN" altLang="en-US" sz="2400" dirty="0">
                <a:solidFill>
                  <a:schemeClr val="accent1"/>
                </a:solidFill>
                <a:latin typeface="Arial" panose="020B0604020202020204" pitchFamily="34" charset="0"/>
                <a:ea typeface="华文楷体" panose="02010600040101010101" pitchFamily="2" charset="-122"/>
              </a:endParaRPr>
            </a:p>
          </p:txBody>
        </p:sp>
        <p:graphicFrame>
          <p:nvGraphicFramePr>
            <p:cNvPr id="88127" name="Object 10"/>
            <p:cNvGraphicFramePr>
              <a:graphicFrameLocks noChangeAspect="1"/>
            </p:cNvGraphicFramePr>
            <p:nvPr/>
          </p:nvGraphicFramePr>
          <p:xfrm>
            <a:off x="4241" y="1531"/>
            <a:ext cx="1519" cy="1316"/>
          </p:xfrm>
          <a:graphic>
            <a:graphicData uri="http://schemas.openxmlformats.org/presentationml/2006/ole">
              <mc:AlternateContent xmlns:mc="http://schemas.openxmlformats.org/markup-compatibility/2006">
                <mc:Choice xmlns:v="urn:schemas-microsoft-com:vml" Requires="v">
                  <p:oleObj spid="_x0000_s4" name="Document" r:id="rId1" imgW="2714625" imgH="2352675" progId="">
                    <p:embed/>
                  </p:oleObj>
                </mc:Choice>
                <mc:Fallback>
                  <p:oleObj name="Document" r:id="rId1" imgW="2714625" imgH="2352675" progId="">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 y="1531"/>
                          <a:ext cx="1519" cy="1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1"/>
          <p:cNvGrpSpPr/>
          <p:nvPr/>
        </p:nvGrpSpPr>
        <p:grpSpPr bwMode="auto">
          <a:xfrm>
            <a:off x="7786935" y="2565400"/>
            <a:ext cx="3349625" cy="3143250"/>
            <a:chOff x="3650" y="1616"/>
            <a:chExt cx="2110" cy="1980"/>
          </a:xfrm>
        </p:grpSpPr>
        <p:sp>
          <p:nvSpPr>
            <p:cNvPr id="88124" name="Text Box 12"/>
            <p:cNvSpPr txBox="1">
              <a:spLocks noChangeArrowheads="1"/>
            </p:cNvSpPr>
            <p:nvPr/>
          </p:nvSpPr>
          <p:spPr bwMode="auto">
            <a:xfrm>
              <a:off x="3650" y="2840"/>
              <a:ext cx="211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dirty="0">
                  <a:solidFill>
                    <a:srgbClr val="FFFF00"/>
                  </a:solidFill>
                  <a:ea typeface="华文楷体" panose="02010600040101010101" pitchFamily="2" charset="-122"/>
                </a:rPr>
                <a:t>果糖</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6-磷酸</a:t>
              </a:r>
              <a:endParaRPr kumimoji="1" lang="zh-CN" altLang="en-US" sz="2400" dirty="0">
                <a:solidFill>
                  <a:srgbClr val="FFFF00"/>
                </a:solidFill>
                <a:ea typeface="华文楷体" panose="02010600040101010101" pitchFamily="2" charset="-122"/>
              </a:endParaRPr>
            </a:p>
            <a:p>
              <a:pPr eaLnBrk="1" hangingPunct="1">
                <a:spcBef>
                  <a:spcPct val="0"/>
                </a:spcBef>
                <a:buClrTx/>
                <a:buSzTx/>
                <a:buFontTx/>
                <a:buNone/>
              </a:pPr>
              <a:r>
                <a:rPr kumimoji="1" lang="zh-CN" altLang="en-US" sz="2400" dirty="0">
                  <a:solidFill>
                    <a:srgbClr val="FFFF00"/>
                  </a:solidFill>
                  <a:ea typeface="华文楷体" panose="02010600040101010101" pitchFamily="2" charset="-122"/>
                </a:rPr>
                <a:t>(</a:t>
              </a:r>
              <a:r>
                <a:rPr kumimoji="1" lang="en-US" altLang="zh-CN" sz="2400" dirty="0">
                  <a:solidFill>
                    <a:srgbClr val="FFFF00"/>
                  </a:solidFill>
                  <a:ea typeface="华文楷体" panose="02010600040101010101" pitchFamily="2" charset="-122"/>
                </a:rPr>
                <a:t>fructose-6-phosphate, F-6-P)</a:t>
              </a:r>
              <a:endParaRPr kumimoji="1" lang="en-US" altLang="zh-CN" sz="2400" dirty="0">
                <a:solidFill>
                  <a:srgbClr val="FFFF00"/>
                </a:solidFill>
                <a:ea typeface="华文楷体" panose="02010600040101010101" pitchFamily="2" charset="-122"/>
              </a:endParaRPr>
            </a:p>
          </p:txBody>
        </p:sp>
        <p:pic>
          <p:nvPicPr>
            <p:cNvPr id="88125" name="Picture 13" descr="图片1"/>
            <p:cNvPicPr>
              <a:picLocks noChangeAspect="1" noChangeArrowheads="1"/>
            </p:cNvPicPr>
            <p:nvPr/>
          </p:nvPicPr>
          <p:blipFill>
            <a:blip r:embed="rId3">
              <a:clrChange>
                <a:clrFrom>
                  <a:srgbClr val="020266"/>
                </a:clrFrom>
                <a:clrTo>
                  <a:srgbClr val="020266">
                    <a:alpha val="0"/>
                  </a:srgbClr>
                </a:clrTo>
              </a:clrChange>
              <a:extLst>
                <a:ext uri="{28A0092B-C50C-407E-A947-70E740481C1C}">
                  <a14:useLocalDpi xmlns:a14="http://schemas.microsoft.com/office/drawing/2010/main" val="0"/>
                </a:ext>
              </a:extLst>
            </a:blip>
            <a:srcRect/>
            <a:stretch>
              <a:fillRect/>
            </a:stretch>
          </p:blipFill>
          <p:spPr bwMode="auto">
            <a:xfrm>
              <a:off x="3742" y="1616"/>
              <a:ext cx="1814"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8072" name="Group 14"/>
          <p:cNvGrpSpPr/>
          <p:nvPr/>
        </p:nvGrpSpPr>
        <p:grpSpPr bwMode="auto">
          <a:xfrm>
            <a:off x="1199456" y="-26988"/>
            <a:ext cx="2466975" cy="6888163"/>
            <a:chOff x="0" y="-19"/>
            <a:chExt cx="1451" cy="4339"/>
          </a:xfrm>
        </p:grpSpPr>
        <p:sp>
          <p:nvSpPr>
            <p:cNvPr id="88073" name="Text Box 15"/>
            <p:cNvSpPr txBox="1">
              <a:spLocks noChangeArrowheads="1"/>
            </p:cNvSpPr>
            <p:nvPr/>
          </p:nvSpPr>
          <p:spPr bwMode="auto">
            <a:xfrm>
              <a:off x="209" y="-19"/>
              <a:ext cx="10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88074" name="Text Box 16"/>
            <p:cNvSpPr txBox="1">
              <a:spLocks noChangeArrowheads="1"/>
            </p:cNvSpPr>
            <p:nvPr/>
          </p:nvSpPr>
          <p:spPr bwMode="auto">
            <a:xfrm>
              <a:off x="336" y="478"/>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88075" name="Text Box 17"/>
            <p:cNvSpPr txBox="1">
              <a:spLocks noChangeArrowheads="1"/>
            </p:cNvSpPr>
            <p:nvPr/>
          </p:nvSpPr>
          <p:spPr bwMode="auto">
            <a:xfrm>
              <a:off x="288" y="910"/>
              <a:ext cx="5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88076" name="Text Box 18"/>
            <p:cNvSpPr txBox="1">
              <a:spLocks noChangeArrowheads="1"/>
            </p:cNvSpPr>
            <p:nvPr/>
          </p:nvSpPr>
          <p:spPr bwMode="auto">
            <a:xfrm>
              <a:off x="192" y="1390"/>
              <a:ext cx="68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88077" name="Line 19"/>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078" name="Text Box 20"/>
            <p:cNvSpPr txBox="1">
              <a:spLocks noChangeArrowheads="1"/>
            </p:cNvSpPr>
            <p:nvPr/>
          </p:nvSpPr>
          <p:spPr bwMode="auto">
            <a:xfrm>
              <a:off x="720" y="143"/>
              <a:ext cx="3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88079" name="Group 21"/>
            <p:cNvGrpSpPr/>
            <p:nvPr/>
          </p:nvGrpSpPr>
          <p:grpSpPr bwMode="auto">
            <a:xfrm>
              <a:off x="528" y="240"/>
              <a:ext cx="192" cy="240"/>
              <a:chOff x="480" y="336"/>
              <a:chExt cx="144" cy="240"/>
            </a:xfrm>
          </p:grpSpPr>
          <p:sp>
            <p:nvSpPr>
              <p:cNvPr id="88121" name="Line 22"/>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122" name="Line 23"/>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8123" name="Line 24"/>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8080" name="Text Box 25"/>
            <p:cNvSpPr txBox="1">
              <a:spLocks noChangeArrowheads="1"/>
            </p:cNvSpPr>
            <p:nvPr/>
          </p:nvSpPr>
          <p:spPr bwMode="auto">
            <a:xfrm>
              <a:off x="720" y="363"/>
              <a:ext cx="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88081" name="Text Box 26"/>
            <p:cNvSpPr txBox="1">
              <a:spLocks noChangeArrowheads="1"/>
            </p:cNvSpPr>
            <p:nvPr/>
          </p:nvSpPr>
          <p:spPr bwMode="auto">
            <a:xfrm>
              <a:off x="720" y="1037"/>
              <a:ext cx="3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88082" name="Group 27"/>
            <p:cNvGrpSpPr/>
            <p:nvPr/>
          </p:nvGrpSpPr>
          <p:grpSpPr bwMode="auto">
            <a:xfrm>
              <a:off x="528" y="1104"/>
              <a:ext cx="240" cy="288"/>
              <a:chOff x="432" y="1296"/>
              <a:chExt cx="144" cy="288"/>
            </a:xfrm>
          </p:grpSpPr>
          <p:sp>
            <p:nvSpPr>
              <p:cNvPr id="88118" name="Line 28"/>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119" name="Line 29"/>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8120" name="Line 30"/>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88083" name="Text Box 31"/>
            <p:cNvSpPr txBox="1">
              <a:spLocks noChangeArrowheads="1"/>
            </p:cNvSpPr>
            <p:nvPr/>
          </p:nvSpPr>
          <p:spPr bwMode="auto">
            <a:xfrm>
              <a:off x="720" y="1229"/>
              <a:ext cx="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88084" name="Text Box 32"/>
            <p:cNvSpPr txBox="1">
              <a:spLocks noChangeArrowheads="1"/>
            </p:cNvSpPr>
            <p:nvPr/>
          </p:nvSpPr>
          <p:spPr bwMode="auto">
            <a:xfrm>
              <a:off x="15" y="2601"/>
              <a:ext cx="1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88085" name="Text Box 33"/>
            <p:cNvSpPr txBox="1">
              <a:spLocks noChangeArrowheads="1"/>
            </p:cNvSpPr>
            <p:nvPr/>
          </p:nvSpPr>
          <p:spPr bwMode="auto">
            <a:xfrm>
              <a:off x="432" y="3033"/>
              <a:ext cx="9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88086" name="Text Box 34"/>
            <p:cNvSpPr txBox="1">
              <a:spLocks noChangeArrowheads="1"/>
            </p:cNvSpPr>
            <p:nvPr/>
          </p:nvSpPr>
          <p:spPr bwMode="auto">
            <a:xfrm>
              <a:off x="414" y="3369"/>
              <a:ext cx="10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88087" name="Text Box 35"/>
            <p:cNvSpPr txBox="1">
              <a:spLocks noChangeArrowheads="1"/>
            </p:cNvSpPr>
            <p:nvPr/>
          </p:nvSpPr>
          <p:spPr bwMode="auto">
            <a:xfrm>
              <a:off x="624" y="4070"/>
              <a:ext cx="55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88088" name="Line 36"/>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089" name="Line 37"/>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090" name="Text Box 38"/>
            <p:cNvSpPr txBox="1">
              <a:spLocks noChangeArrowheads="1"/>
            </p:cNvSpPr>
            <p:nvPr/>
          </p:nvSpPr>
          <p:spPr bwMode="auto">
            <a:xfrm>
              <a:off x="0" y="1872"/>
              <a:ext cx="55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88091" name="Text Box 39"/>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dirty="0">
                  <a:latin typeface="Arial" panose="020B0604020202020204" pitchFamily="34" charset="0"/>
                </a:rPr>
                <a:t>3-磷酸</a:t>
              </a:r>
              <a:endParaRPr kumimoji="1" lang="zh-CN" altLang="en-US" sz="2000" dirty="0">
                <a:latin typeface="Arial" panose="020B0604020202020204" pitchFamily="34" charset="0"/>
              </a:endParaRPr>
            </a:p>
            <a:p>
              <a:pPr eaLnBrk="1" hangingPunct="1">
                <a:spcBef>
                  <a:spcPct val="0"/>
                </a:spcBef>
                <a:buClrTx/>
                <a:buSzTx/>
                <a:buFontTx/>
                <a:buNone/>
              </a:pPr>
              <a:r>
                <a:rPr kumimoji="1" lang="zh-CN" altLang="en-US" sz="2000" dirty="0">
                  <a:latin typeface="Arial" panose="020B0604020202020204" pitchFamily="34" charset="0"/>
                </a:rPr>
                <a:t>甘油醛</a:t>
              </a:r>
              <a:endParaRPr kumimoji="1" lang="zh-CN" altLang="en-US" sz="2000" dirty="0">
                <a:latin typeface="Arial" panose="020B0604020202020204" pitchFamily="34" charset="0"/>
              </a:endParaRPr>
            </a:p>
          </p:txBody>
        </p:sp>
        <p:grpSp>
          <p:nvGrpSpPr>
            <p:cNvPr id="88092" name="Group 40"/>
            <p:cNvGrpSpPr/>
            <p:nvPr/>
          </p:nvGrpSpPr>
          <p:grpSpPr bwMode="auto">
            <a:xfrm>
              <a:off x="240" y="1584"/>
              <a:ext cx="624" cy="336"/>
              <a:chOff x="3888" y="576"/>
              <a:chExt cx="624" cy="336"/>
            </a:xfrm>
          </p:grpSpPr>
          <p:sp>
            <p:nvSpPr>
              <p:cNvPr id="88114" name="Line 41"/>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8115" name="Group 42"/>
              <p:cNvGrpSpPr/>
              <p:nvPr/>
            </p:nvGrpSpPr>
            <p:grpSpPr bwMode="auto">
              <a:xfrm>
                <a:off x="3888" y="576"/>
                <a:ext cx="288" cy="336"/>
                <a:chOff x="3888" y="576"/>
                <a:chExt cx="288" cy="336"/>
              </a:xfrm>
            </p:grpSpPr>
            <p:sp>
              <p:nvSpPr>
                <p:cNvPr id="88116" name="Line 43"/>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117" name="Line 44"/>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88093" name="Line 45"/>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094" name="Text Box 46"/>
            <p:cNvSpPr txBox="1">
              <a:spLocks noChangeArrowheads="1"/>
            </p:cNvSpPr>
            <p:nvPr/>
          </p:nvSpPr>
          <p:spPr bwMode="auto">
            <a:xfrm>
              <a:off x="288" y="2285"/>
              <a:ext cx="4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88095" name="Text Box 47"/>
            <p:cNvSpPr txBox="1">
              <a:spLocks noChangeArrowheads="1"/>
            </p:cNvSpPr>
            <p:nvPr/>
          </p:nvSpPr>
          <p:spPr bwMode="auto">
            <a:xfrm>
              <a:off x="0" y="2462"/>
              <a:ext cx="6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88096" name="Text Box 48"/>
            <p:cNvSpPr txBox="1">
              <a:spLocks noChangeArrowheads="1"/>
            </p:cNvSpPr>
            <p:nvPr/>
          </p:nvSpPr>
          <p:spPr bwMode="auto">
            <a:xfrm>
              <a:off x="432" y="2783"/>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88097" name="Group 49"/>
            <p:cNvGrpSpPr/>
            <p:nvPr/>
          </p:nvGrpSpPr>
          <p:grpSpPr bwMode="auto">
            <a:xfrm>
              <a:off x="816" y="2784"/>
              <a:ext cx="336" cy="288"/>
              <a:chOff x="912" y="2736"/>
              <a:chExt cx="336" cy="384"/>
            </a:xfrm>
          </p:grpSpPr>
          <p:sp>
            <p:nvSpPr>
              <p:cNvPr id="88110" name="Line 50"/>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88111" name="Group 51"/>
              <p:cNvGrpSpPr/>
              <p:nvPr/>
            </p:nvGrpSpPr>
            <p:grpSpPr bwMode="auto">
              <a:xfrm>
                <a:off x="912" y="2880"/>
                <a:ext cx="336" cy="192"/>
                <a:chOff x="4560" y="2127"/>
                <a:chExt cx="336" cy="192"/>
              </a:xfrm>
            </p:grpSpPr>
            <p:sp>
              <p:nvSpPr>
                <p:cNvPr id="88112" name="Line 52"/>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8113" name="Line 53"/>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88098" name="Text Box 54"/>
            <p:cNvSpPr txBox="1">
              <a:spLocks noChangeArrowheads="1"/>
            </p:cNvSpPr>
            <p:nvPr/>
          </p:nvSpPr>
          <p:spPr bwMode="auto">
            <a:xfrm>
              <a:off x="1104" y="2880"/>
              <a:ext cx="3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88099" name="Text Box 55"/>
            <p:cNvSpPr txBox="1">
              <a:spLocks noChangeArrowheads="1"/>
            </p:cNvSpPr>
            <p:nvPr/>
          </p:nvSpPr>
          <p:spPr bwMode="auto">
            <a:xfrm>
              <a:off x="480" y="3887"/>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88100" name="Text Box 56"/>
            <p:cNvSpPr txBox="1">
              <a:spLocks noChangeArrowheads="1"/>
            </p:cNvSpPr>
            <p:nvPr/>
          </p:nvSpPr>
          <p:spPr bwMode="auto">
            <a:xfrm>
              <a:off x="1104" y="3966"/>
              <a:ext cx="3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88101" name="Group 57"/>
            <p:cNvGrpSpPr/>
            <p:nvPr/>
          </p:nvGrpSpPr>
          <p:grpSpPr bwMode="auto">
            <a:xfrm>
              <a:off x="720" y="2256"/>
              <a:ext cx="240" cy="384"/>
              <a:chOff x="4512" y="1248"/>
              <a:chExt cx="240" cy="432"/>
            </a:xfrm>
          </p:grpSpPr>
          <p:sp>
            <p:nvSpPr>
              <p:cNvPr id="88107" name="Line 58"/>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108" name="Line 59"/>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109" name="Line 60"/>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88102" name="Text Box 61"/>
            <p:cNvSpPr txBox="1">
              <a:spLocks noChangeArrowheads="1"/>
            </p:cNvSpPr>
            <p:nvPr/>
          </p:nvSpPr>
          <p:spPr bwMode="auto">
            <a:xfrm>
              <a:off x="92" y="3696"/>
              <a:ext cx="1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88103" name="Group 62"/>
            <p:cNvGrpSpPr/>
            <p:nvPr/>
          </p:nvGrpSpPr>
          <p:grpSpPr bwMode="auto">
            <a:xfrm>
              <a:off x="816" y="3888"/>
              <a:ext cx="336" cy="240"/>
              <a:chOff x="912" y="3888"/>
              <a:chExt cx="336" cy="240"/>
            </a:xfrm>
          </p:grpSpPr>
          <p:sp>
            <p:nvSpPr>
              <p:cNvPr id="88104" name="Line 63"/>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8105" name="Line 64"/>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8106" name="Line 65"/>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 name="文本框 5"/>
          <p:cNvSpPr txBox="1"/>
          <p:nvPr/>
        </p:nvSpPr>
        <p:spPr>
          <a:xfrm>
            <a:off x="7253278" y="2987660"/>
            <a:ext cx="855806" cy="369332"/>
          </a:xfrm>
          <a:prstGeom prst="rect">
            <a:avLst/>
          </a:prstGeom>
          <a:noFill/>
        </p:spPr>
        <p:txBody>
          <a:bodyPr wrap="square">
            <a:spAutoFit/>
          </a:bodyPr>
          <a:lstStyle/>
          <a:p>
            <a:r>
              <a:rPr lang="en-US" altLang="zh-CN" dirty="0">
                <a:solidFill>
                  <a:schemeClr val="bg1"/>
                </a:solidFill>
              </a:rPr>
              <a:t>Mg2+</a:t>
            </a:r>
            <a:endParaRPr lang="zh-CN" altLang="en-US" dirty="0">
              <a:solidFill>
                <a:schemeClr val="bg1"/>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50531"/>
                                        </p:tgtEl>
                                        <p:attrNameLst>
                                          <p:attrName>style.visibility</p:attrName>
                                        </p:attrNameLst>
                                      </p:cBhvr>
                                      <p:to>
                                        <p:strVal val="visible"/>
                                      </p:to>
                                    </p:set>
                                    <p:animEffect transition="in" filter="box(in)">
                                      <p:cBhvr>
                                        <p:cTn id="7" dur="500"/>
                                        <p:tgtEl>
                                          <p:spTgt spid="150531"/>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150535"/>
                                        </p:tgtEl>
                                        <p:attrNameLst>
                                          <p:attrName>style.visibility</p:attrName>
                                        </p:attrNameLst>
                                      </p:cBhvr>
                                      <p:to>
                                        <p:strVal val="visible"/>
                                      </p:to>
                                    </p:set>
                                    <p:animEffect transition="in" filter="box(out)">
                                      <p:cBhvr>
                                        <p:cTn id="11" dur="500"/>
                                        <p:tgtEl>
                                          <p:spTgt spid="15053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p:stCondLst>
                              <p:cond delay="1000"/>
                            </p:stCondLst>
                            <p:childTnLst>
                              <p:par>
                                <p:cTn id="22" presetID="1"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autoUpdateAnimBg="0"/>
      <p:bldP spid="150535" grpId="0" animBg="1"/>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95234" name="Rectangle 2"/>
          <p:cNvSpPr>
            <a:spLocks noChangeArrowheads="1"/>
          </p:cNvSpPr>
          <p:nvPr/>
        </p:nvSpPr>
        <p:spPr bwMode="auto">
          <a:xfrm>
            <a:off x="1127449"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90115" name="Text Box 3"/>
          <p:cNvSpPr txBox="1">
            <a:spLocks noChangeArrowheads="1"/>
          </p:cNvSpPr>
          <p:nvPr/>
        </p:nvSpPr>
        <p:spPr bwMode="auto">
          <a:xfrm>
            <a:off x="3868738" y="571500"/>
            <a:ext cx="657066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000" dirty="0"/>
              <a:t>⑶果糖</a:t>
            </a:r>
            <a:r>
              <a:rPr kumimoji="1" lang="en-US" altLang="zh-CN" sz="3000" dirty="0"/>
              <a:t>-</a:t>
            </a:r>
            <a:r>
              <a:rPr kumimoji="1" lang="zh-CN" altLang="en-US" sz="3000" dirty="0"/>
              <a:t>6-磷酸转变为果糖</a:t>
            </a:r>
            <a:r>
              <a:rPr kumimoji="1" lang="en-US" altLang="zh-CN" sz="3000" dirty="0"/>
              <a:t>-</a:t>
            </a:r>
            <a:r>
              <a:rPr kumimoji="1" lang="zh-CN" altLang="en-US" sz="3000" dirty="0"/>
              <a:t>1,6-二磷酸</a:t>
            </a:r>
            <a:endParaRPr kumimoji="1" lang="zh-CN" altLang="en-US" sz="3000" dirty="0"/>
          </a:p>
        </p:txBody>
      </p:sp>
      <p:grpSp>
        <p:nvGrpSpPr>
          <p:cNvPr id="2" name="Group 71"/>
          <p:cNvGrpSpPr/>
          <p:nvPr/>
        </p:nvGrpSpPr>
        <p:grpSpPr bwMode="auto">
          <a:xfrm>
            <a:off x="6240586" y="2489205"/>
            <a:ext cx="2405063" cy="1019177"/>
            <a:chOff x="2744" y="1568"/>
            <a:chExt cx="1515" cy="642"/>
          </a:xfrm>
        </p:grpSpPr>
        <p:sp>
          <p:nvSpPr>
            <p:cNvPr id="90177" name="Line 5"/>
            <p:cNvSpPr>
              <a:spLocks noChangeShapeType="1"/>
            </p:cNvSpPr>
            <p:nvPr/>
          </p:nvSpPr>
          <p:spPr bwMode="auto">
            <a:xfrm>
              <a:off x="2788" y="1989"/>
              <a:ext cx="1380" cy="0"/>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78" name="Line 6"/>
            <p:cNvSpPr>
              <a:spLocks noChangeShapeType="1"/>
            </p:cNvSpPr>
            <p:nvPr/>
          </p:nvSpPr>
          <p:spPr bwMode="auto">
            <a:xfrm>
              <a:off x="3056" y="1807"/>
              <a:ext cx="267" cy="181"/>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0179" name="Line 7"/>
            <p:cNvSpPr>
              <a:spLocks noChangeShapeType="1"/>
            </p:cNvSpPr>
            <p:nvPr/>
          </p:nvSpPr>
          <p:spPr bwMode="auto">
            <a:xfrm flipV="1">
              <a:off x="3590" y="1807"/>
              <a:ext cx="222" cy="181"/>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80" name="Text Box 8"/>
            <p:cNvSpPr txBox="1">
              <a:spLocks noChangeArrowheads="1"/>
            </p:cNvSpPr>
            <p:nvPr/>
          </p:nvSpPr>
          <p:spPr bwMode="auto">
            <a:xfrm>
              <a:off x="2744" y="1568"/>
              <a:ext cx="15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ea typeface="宋体" panose="02010600030101010101" pitchFamily="2" charset="-122"/>
                </a:rPr>
                <a:t>  </a:t>
              </a:r>
              <a:r>
                <a:rPr kumimoji="1" lang="en-US" altLang="zh-CN" sz="2000" b="0">
                  <a:solidFill>
                    <a:srgbClr val="FFFF00"/>
                  </a:solidFill>
                  <a:latin typeface="Arial" panose="020B0604020202020204" pitchFamily="34" charset="0"/>
                  <a:ea typeface="宋体" panose="02010600030101010101" pitchFamily="2" charset="-122"/>
                </a:rPr>
                <a:t>ATP</a:t>
              </a:r>
              <a:r>
                <a:rPr kumimoji="1" lang="en-US" altLang="zh-CN" sz="2000" b="0">
                  <a:solidFill>
                    <a:srgbClr val="E4A9E9"/>
                  </a:solidFill>
                  <a:latin typeface="Arial" panose="020B0604020202020204" pitchFamily="34" charset="0"/>
                  <a:ea typeface="宋体" panose="02010600030101010101" pitchFamily="2" charset="-122"/>
                </a:rPr>
                <a:t>          </a:t>
              </a:r>
              <a:r>
                <a:rPr kumimoji="1" lang="en-US" altLang="zh-CN" sz="2000" b="0">
                  <a:solidFill>
                    <a:schemeClr val="bg1"/>
                  </a:solidFill>
                  <a:latin typeface="Arial" panose="020B0604020202020204" pitchFamily="34" charset="0"/>
                  <a:ea typeface="宋体" panose="02010600030101010101" pitchFamily="2" charset="-122"/>
                </a:rPr>
                <a:t>ADP</a:t>
              </a:r>
              <a:r>
                <a:rPr kumimoji="1" lang="en-US" altLang="zh-CN" sz="200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 </a:t>
              </a:r>
              <a:endParaRPr kumimoji="1" lang="en-US" altLang="zh-CN" sz="2400">
                <a:latin typeface="Arial" panose="020B0604020202020204" pitchFamily="34" charset="0"/>
                <a:ea typeface="宋体" panose="02010600030101010101" pitchFamily="2" charset="-122"/>
              </a:endParaRPr>
            </a:p>
          </p:txBody>
        </p:sp>
        <p:sp>
          <p:nvSpPr>
            <p:cNvPr id="90181" name="Text Box 9"/>
            <p:cNvSpPr txBox="1">
              <a:spLocks noChangeArrowheads="1"/>
            </p:cNvSpPr>
            <p:nvPr/>
          </p:nvSpPr>
          <p:spPr bwMode="auto">
            <a:xfrm>
              <a:off x="3234" y="1979"/>
              <a:ext cx="4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dirty="0">
                  <a:solidFill>
                    <a:schemeClr val="bg1"/>
                  </a:solidFill>
                  <a:latin typeface="Arial" panose="020B0604020202020204" pitchFamily="34" charset="0"/>
                  <a:ea typeface="宋体" panose="02010600030101010101" pitchFamily="2" charset="-122"/>
                </a:rPr>
                <a:t>Mg</a:t>
              </a:r>
              <a:r>
                <a:rPr kumimoji="1" lang="en-US" altLang="zh-CN" sz="1800" baseline="30000" dirty="0">
                  <a:solidFill>
                    <a:schemeClr val="bg1"/>
                  </a:solidFill>
                  <a:latin typeface="Arial" panose="020B0604020202020204" pitchFamily="34" charset="0"/>
                  <a:ea typeface="宋体" panose="02010600030101010101" pitchFamily="2" charset="-122"/>
                </a:rPr>
                <a:t>2+ </a:t>
              </a:r>
              <a:endParaRPr kumimoji="1" lang="en-US" altLang="zh-CN" sz="1800" baseline="30000" dirty="0">
                <a:solidFill>
                  <a:schemeClr val="bg1"/>
                </a:solidFill>
                <a:latin typeface="Arial" panose="020B0604020202020204" pitchFamily="34" charset="0"/>
                <a:ea typeface="宋体" panose="02010600030101010101" pitchFamily="2" charset="-122"/>
              </a:endParaRPr>
            </a:p>
          </p:txBody>
        </p:sp>
      </p:grpSp>
      <p:sp>
        <p:nvSpPr>
          <p:cNvPr id="151563" name="Rectangle 11"/>
          <p:cNvSpPr>
            <a:spLocks noChangeArrowheads="1"/>
          </p:cNvSpPr>
          <p:nvPr/>
        </p:nvSpPr>
        <p:spPr bwMode="auto">
          <a:xfrm>
            <a:off x="1356048" y="1524000"/>
            <a:ext cx="1600200" cy="990600"/>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51564" name="Rectangle 12"/>
          <p:cNvSpPr>
            <a:spLocks noChangeArrowheads="1"/>
          </p:cNvSpPr>
          <p:nvPr/>
        </p:nvSpPr>
        <p:spPr bwMode="auto">
          <a:xfrm>
            <a:off x="4501042" y="5558136"/>
            <a:ext cx="6265333"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0000"/>
                </a:solidFill>
                <a:ea typeface="黑体" panose="02010609060101010101" pitchFamily="2" charset="-122"/>
              </a:rPr>
              <a:t>磷酸果糖激酶-</a:t>
            </a:r>
            <a:r>
              <a:rPr kumimoji="1" lang="zh-CN" altLang="en-US" sz="2400" dirty="0">
                <a:solidFill>
                  <a:srgbClr val="FF0000"/>
                </a:solidFill>
                <a:latin typeface="Arial" panose="020B0604020202020204" pitchFamily="34" charset="0"/>
                <a:ea typeface="黑体" panose="02010609060101010101" pitchFamily="2" charset="-122"/>
              </a:rPr>
              <a:t>1</a:t>
            </a:r>
            <a:r>
              <a:rPr kumimoji="1" lang="zh-CN" altLang="en-US" sz="2400" dirty="0">
                <a:solidFill>
                  <a:srgbClr val="FF0000"/>
                </a:solidFill>
                <a:ea typeface="黑体" panose="02010609060101010101" pitchFamily="2" charset="-122"/>
              </a:rPr>
              <a:t>(</a:t>
            </a:r>
            <a:r>
              <a:rPr kumimoji="1" lang="en-US" altLang="zh-CN" sz="2200" dirty="0">
                <a:solidFill>
                  <a:srgbClr val="FF0000"/>
                </a:solidFill>
                <a:ea typeface="黑体" panose="02010609060101010101" pitchFamily="2" charset="-122"/>
              </a:rPr>
              <a:t>phosphfructokinase-1</a:t>
            </a:r>
            <a:r>
              <a:rPr kumimoji="1" lang="zh-CN" altLang="en-US" sz="2200" dirty="0">
                <a:solidFill>
                  <a:srgbClr val="FF0000"/>
                </a:solidFill>
                <a:ea typeface="黑体" panose="02010609060101010101" pitchFamily="2" charset="-122"/>
              </a:rPr>
              <a:t>，</a:t>
            </a:r>
            <a:r>
              <a:rPr kumimoji="1" lang="en-US" altLang="zh-CN" sz="2200" dirty="0">
                <a:solidFill>
                  <a:srgbClr val="FF0000"/>
                </a:solidFill>
                <a:ea typeface="黑体" panose="02010609060101010101" pitchFamily="2" charset="-122"/>
              </a:rPr>
              <a:t>PFK-1)</a:t>
            </a:r>
            <a:endParaRPr kumimoji="1" lang="en-US" altLang="zh-CN" sz="2200" dirty="0">
              <a:solidFill>
                <a:srgbClr val="FF0000"/>
              </a:solidFill>
              <a:ea typeface="黑体" panose="02010609060101010101" pitchFamily="2" charset="-122"/>
            </a:endParaRPr>
          </a:p>
        </p:txBody>
      </p:sp>
      <p:grpSp>
        <p:nvGrpSpPr>
          <p:cNvPr id="3" name="Group 13"/>
          <p:cNvGrpSpPr/>
          <p:nvPr/>
        </p:nvGrpSpPr>
        <p:grpSpPr bwMode="auto">
          <a:xfrm>
            <a:off x="3935536" y="2057402"/>
            <a:ext cx="2665413" cy="2336801"/>
            <a:chOff x="1292" y="1661"/>
            <a:chExt cx="1679" cy="1472"/>
          </a:xfrm>
        </p:grpSpPr>
        <p:sp>
          <p:nvSpPr>
            <p:cNvPr id="90175" name="Text Box 14"/>
            <p:cNvSpPr txBox="1">
              <a:spLocks noChangeArrowheads="1"/>
            </p:cNvSpPr>
            <p:nvPr/>
          </p:nvSpPr>
          <p:spPr bwMode="auto">
            <a:xfrm>
              <a:off x="1655" y="2842"/>
              <a:ext cx="111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果糖</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6-磷酸</a:t>
              </a:r>
              <a:endParaRPr kumimoji="1" lang="zh-CN" altLang="en-US" sz="2400" dirty="0">
                <a:solidFill>
                  <a:schemeClr val="tx2"/>
                </a:solidFill>
                <a:latin typeface="Arial" panose="020B0604020202020204" pitchFamily="34" charset="0"/>
                <a:ea typeface="华文楷体" panose="02010600040101010101" pitchFamily="2" charset="-122"/>
              </a:endParaRPr>
            </a:p>
          </p:txBody>
        </p:sp>
        <p:pic>
          <p:nvPicPr>
            <p:cNvPr id="90176" name="Picture 15" descr="图片1"/>
            <p:cNvPicPr>
              <a:picLocks noChangeAspect="1" noChangeArrowheads="1"/>
            </p:cNvPicPr>
            <p:nvPr/>
          </p:nvPicPr>
          <p:blipFill>
            <a:blip r:embed="rId1">
              <a:clrChange>
                <a:clrFrom>
                  <a:srgbClr val="020266"/>
                </a:clrFrom>
                <a:clrTo>
                  <a:srgbClr val="020266">
                    <a:alpha val="0"/>
                  </a:srgbClr>
                </a:clrTo>
              </a:clrChange>
              <a:extLst>
                <a:ext uri="{28A0092B-C50C-407E-A947-70E740481C1C}">
                  <a14:useLocalDpi xmlns:a14="http://schemas.microsoft.com/office/drawing/2010/main" val="0"/>
                </a:ext>
              </a:extLst>
            </a:blip>
            <a:srcRect/>
            <a:stretch>
              <a:fillRect/>
            </a:stretch>
          </p:blipFill>
          <p:spPr bwMode="auto">
            <a:xfrm>
              <a:off x="1292" y="1661"/>
              <a:ext cx="1679" cy="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16"/>
          <p:cNvGrpSpPr/>
          <p:nvPr/>
        </p:nvGrpSpPr>
        <p:grpSpPr bwMode="auto">
          <a:xfrm>
            <a:off x="7583611" y="2128839"/>
            <a:ext cx="3336925" cy="3000375"/>
            <a:chOff x="3590" y="1706"/>
            <a:chExt cx="2102" cy="1890"/>
          </a:xfrm>
        </p:grpSpPr>
        <p:sp>
          <p:nvSpPr>
            <p:cNvPr id="90173" name="Text Box 17"/>
            <p:cNvSpPr txBox="1">
              <a:spLocks noChangeArrowheads="1"/>
            </p:cNvSpPr>
            <p:nvPr/>
          </p:nvSpPr>
          <p:spPr bwMode="auto">
            <a:xfrm>
              <a:off x="3590" y="2840"/>
              <a:ext cx="2057"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果糖</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1,6-二磷酸</a:t>
              </a:r>
              <a:endParaRPr kumimoji="1" lang="zh-CN" altLang="en-US" sz="2400" dirty="0">
                <a:solidFill>
                  <a:srgbClr val="FFFF00"/>
                </a:solidFill>
                <a:ea typeface="华文楷体" panose="02010600040101010101" pitchFamily="2" charset="-122"/>
              </a:endParaRPr>
            </a:p>
            <a:p>
              <a:pPr eaLnBrk="1" hangingPunct="1">
                <a:spcBef>
                  <a:spcPct val="0"/>
                </a:spcBef>
                <a:buClrTx/>
                <a:buSzTx/>
                <a:buFontTx/>
                <a:buNone/>
              </a:pPr>
              <a:r>
                <a:rPr kumimoji="1" lang="en-US" altLang="en-US" sz="2400" dirty="0">
                  <a:solidFill>
                    <a:srgbClr val="FFFF00"/>
                  </a:solidFill>
                  <a:ea typeface="华文楷体" panose="02010600040101010101" pitchFamily="2" charset="-122"/>
                </a:rPr>
                <a:t>(</a:t>
              </a:r>
              <a:r>
                <a:rPr kumimoji="1" lang="en-US" altLang="en-US" sz="2000" dirty="0">
                  <a:solidFill>
                    <a:srgbClr val="FFFF00"/>
                  </a:solidFill>
                  <a:ea typeface="华文楷体" panose="02010600040101010101" pitchFamily="2" charset="-122"/>
                </a:rPr>
                <a:t>fructose</a:t>
              </a:r>
              <a:r>
                <a:rPr kumimoji="1" lang="en-US" altLang="zh-CN" sz="2000" dirty="0">
                  <a:solidFill>
                    <a:srgbClr val="FFFF00"/>
                  </a:solidFill>
                  <a:ea typeface="华文楷体" panose="02010600040101010101" pitchFamily="2" charset="-122"/>
                </a:rPr>
                <a:t>-1,6</a:t>
              </a:r>
              <a:r>
                <a:rPr kumimoji="1" lang="en-US" altLang="en-US" sz="2000" dirty="0">
                  <a:solidFill>
                    <a:srgbClr val="FFFF00"/>
                  </a:solidFill>
                  <a:ea typeface="华文楷体" panose="02010600040101010101" pitchFamily="2" charset="-122"/>
                </a:rPr>
                <a:t>-biphosphate</a:t>
              </a:r>
              <a:r>
                <a:rPr kumimoji="1" lang="en-US" altLang="zh-CN" sz="2000" dirty="0">
                  <a:solidFill>
                    <a:srgbClr val="FFFF00"/>
                  </a:solidFill>
                  <a:ea typeface="华文楷体" panose="02010600040101010101" pitchFamily="2" charset="-122"/>
                </a:rPr>
                <a:t>,  </a:t>
              </a:r>
              <a:r>
                <a:rPr kumimoji="1" lang="en-US" altLang="zh-CN" sz="2400" dirty="0">
                  <a:solidFill>
                    <a:srgbClr val="FFFF00"/>
                  </a:solidFill>
                  <a:ea typeface="华文楷体" panose="02010600040101010101" pitchFamily="2" charset="-122"/>
                </a:rPr>
                <a:t>F-1,6-2P</a:t>
              </a:r>
              <a:r>
                <a:rPr kumimoji="1" lang="en-US" altLang="en-US" sz="2400" dirty="0">
                  <a:solidFill>
                    <a:srgbClr val="FFFF00"/>
                  </a:solidFill>
                  <a:ea typeface="华文楷体" panose="02010600040101010101" pitchFamily="2" charset="-122"/>
                </a:rPr>
                <a:t>)</a:t>
              </a:r>
              <a:endParaRPr kumimoji="1" lang="en-US" altLang="zh-CN" sz="2400" dirty="0">
                <a:solidFill>
                  <a:srgbClr val="FFFF00"/>
                </a:solidFill>
                <a:ea typeface="华文楷体" panose="02010600040101010101" pitchFamily="2" charset="-122"/>
              </a:endParaRPr>
            </a:p>
          </p:txBody>
        </p:sp>
        <p:pic>
          <p:nvPicPr>
            <p:cNvPr id="90174" name="Picture 18" descr="图片1"/>
            <p:cNvPicPr>
              <a:picLocks noChangeAspect="1" noChangeArrowheads="1"/>
            </p:cNvPicPr>
            <p:nvPr/>
          </p:nvPicPr>
          <p:blipFill>
            <a:blip r:embed="rId2">
              <a:clrChange>
                <a:clrFrom>
                  <a:srgbClr val="020266"/>
                </a:clrFrom>
                <a:clrTo>
                  <a:srgbClr val="020266">
                    <a:alpha val="0"/>
                  </a:srgbClr>
                </a:clrTo>
              </a:clrChange>
              <a:extLst>
                <a:ext uri="{28A0092B-C50C-407E-A947-70E740481C1C}">
                  <a14:useLocalDpi xmlns:a14="http://schemas.microsoft.com/office/drawing/2010/main" val="0"/>
                </a:ext>
              </a:extLst>
            </a:blip>
            <a:srcRect/>
            <a:stretch>
              <a:fillRect/>
            </a:stretch>
          </p:blipFill>
          <p:spPr bwMode="auto">
            <a:xfrm>
              <a:off x="3787" y="1706"/>
              <a:ext cx="1905" cy="1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0121" name="Group 19"/>
          <p:cNvGrpSpPr/>
          <p:nvPr/>
        </p:nvGrpSpPr>
        <p:grpSpPr bwMode="auto">
          <a:xfrm>
            <a:off x="1127448" y="-66675"/>
            <a:ext cx="2484438" cy="6924675"/>
            <a:chOff x="0" y="-42"/>
            <a:chExt cx="1474" cy="4362"/>
          </a:xfrm>
        </p:grpSpPr>
        <p:sp>
          <p:nvSpPr>
            <p:cNvPr id="90122" name="Text Box 20"/>
            <p:cNvSpPr txBox="1">
              <a:spLocks noChangeArrowheads="1"/>
            </p:cNvSpPr>
            <p:nvPr/>
          </p:nvSpPr>
          <p:spPr bwMode="auto">
            <a:xfrm>
              <a:off x="208" y="-42"/>
              <a:ext cx="122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90123" name="Text Box 21"/>
            <p:cNvSpPr txBox="1">
              <a:spLocks noChangeArrowheads="1"/>
            </p:cNvSpPr>
            <p:nvPr/>
          </p:nvSpPr>
          <p:spPr bwMode="auto">
            <a:xfrm>
              <a:off x="336" y="478"/>
              <a:ext cx="5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rgbClr val="FFFF00"/>
                  </a:solidFill>
                  <a:latin typeface="Arial" panose="020B0604020202020204" pitchFamily="34" charset="0"/>
                  <a:ea typeface="宋体" panose="02010600030101010101" pitchFamily="2" charset="-122"/>
                </a:rPr>
                <a:t> </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90124" name="Text Box 22"/>
            <p:cNvSpPr txBox="1">
              <a:spLocks noChangeArrowheads="1"/>
            </p:cNvSpPr>
            <p:nvPr/>
          </p:nvSpPr>
          <p:spPr bwMode="auto">
            <a:xfrm>
              <a:off x="288" y="91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90125" name="Text Box 23"/>
            <p:cNvSpPr txBox="1">
              <a:spLocks noChangeArrowheads="1"/>
            </p:cNvSpPr>
            <p:nvPr/>
          </p:nvSpPr>
          <p:spPr bwMode="auto">
            <a:xfrm>
              <a:off x="192" y="1390"/>
              <a:ext cx="69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dirty="0">
                  <a:latin typeface="Arial" panose="020B0604020202020204" pitchFamily="34" charset="0"/>
                  <a:ea typeface="宋体" panose="02010600030101010101" pitchFamily="2" charset="-122"/>
                </a:rPr>
                <a:t>F-1,6-2P</a:t>
              </a:r>
              <a:endParaRPr kumimoji="1" lang="en-US" altLang="zh-CN" sz="2000" b="0" dirty="0">
                <a:latin typeface="Arial" panose="020B0604020202020204" pitchFamily="34" charset="0"/>
                <a:ea typeface="宋体" panose="02010600030101010101" pitchFamily="2" charset="-122"/>
              </a:endParaRPr>
            </a:p>
          </p:txBody>
        </p:sp>
        <p:sp>
          <p:nvSpPr>
            <p:cNvPr id="90126" name="Line 24"/>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27" name="Text Box 25"/>
            <p:cNvSpPr txBox="1">
              <a:spLocks noChangeArrowheads="1"/>
            </p:cNvSpPr>
            <p:nvPr/>
          </p:nvSpPr>
          <p:spPr bwMode="auto">
            <a:xfrm>
              <a:off x="720" y="143"/>
              <a:ext cx="3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0128" name="Group 26"/>
            <p:cNvGrpSpPr/>
            <p:nvPr/>
          </p:nvGrpSpPr>
          <p:grpSpPr bwMode="auto">
            <a:xfrm>
              <a:off x="528" y="240"/>
              <a:ext cx="192" cy="240"/>
              <a:chOff x="480" y="336"/>
              <a:chExt cx="144" cy="240"/>
            </a:xfrm>
          </p:grpSpPr>
          <p:sp>
            <p:nvSpPr>
              <p:cNvPr id="90170" name="Line 27"/>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71" name="Line 28"/>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0172" name="Line 29"/>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0129" name="Text Box 30"/>
            <p:cNvSpPr txBox="1">
              <a:spLocks noChangeArrowheads="1"/>
            </p:cNvSpPr>
            <p:nvPr/>
          </p:nvSpPr>
          <p:spPr bwMode="auto">
            <a:xfrm>
              <a:off x="720" y="363"/>
              <a:ext cx="3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0130" name="Text Box 31"/>
            <p:cNvSpPr txBox="1">
              <a:spLocks noChangeArrowheads="1"/>
            </p:cNvSpPr>
            <p:nvPr/>
          </p:nvSpPr>
          <p:spPr bwMode="auto">
            <a:xfrm>
              <a:off x="720" y="1037"/>
              <a:ext cx="3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0131" name="Group 32"/>
            <p:cNvGrpSpPr/>
            <p:nvPr/>
          </p:nvGrpSpPr>
          <p:grpSpPr bwMode="auto">
            <a:xfrm>
              <a:off x="528" y="1104"/>
              <a:ext cx="240" cy="288"/>
              <a:chOff x="432" y="1296"/>
              <a:chExt cx="144" cy="288"/>
            </a:xfrm>
          </p:grpSpPr>
          <p:sp>
            <p:nvSpPr>
              <p:cNvPr id="90167" name="Line 33"/>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68" name="Line 34"/>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0169" name="Line 35"/>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0132" name="Text Box 36"/>
            <p:cNvSpPr txBox="1">
              <a:spLocks noChangeArrowheads="1"/>
            </p:cNvSpPr>
            <p:nvPr/>
          </p:nvSpPr>
          <p:spPr bwMode="auto">
            <a:xfrm>
              <a:off x="720" y="1229"/>
              <a:ext cx="3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0133" name="Text Box 37"/>
            <p:cNvSpPr txBox="1">
              <a:spLocks noChangeArrowheads="1"/>
            </p:cNvSpPr>
            <p:nvPr/>
          </p:nvSpPr>
          <p:spPr bwMode="auto">
            <a:xfrm>
              <a:off x="15" y="2601"/>
              <a:ext cx="12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90134" name="Text Box 38"/>
            <p:cNvSpPr txBox="1">
              <a:spLocks noChangeArrowheads="1"/>
            </p:cNvSpPr>
            <p:nvPr/>
          </p:nvSpPr>
          <p:spPr bwMode="auto">
            <a:xfrm>
              <a:off x="432" y="3033"/>
              <a:ext cx="10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dirty="0">
                  <a:latin typeface="Arial" panose="020B0604020202020204" pitchFamily="34" charset="0"/>
                </a:rPr>
                <a:t>3-磷酸甘油酸</a:t>
              </a:r>
              <a:endParaRPr kumimoji="1" lang="zh-CN" altLang="en-US" sz="2000" dirty="0">
                <a:latin typeface="Arial" panose="020B0604020202020204" pitchFamily="34" charset="0"/>
              </a:endParaRPr>
            </a:p>
          </p:txBody>
        </p:sp>
        <p:sp>
          <p:nvSpPr>
            <p:cNvPr id="90135" name="Text Box 39"/>
            <p:cNvSpPr txBox="1">
              <a:spLocks noChangeArrowheads="1"/>
            </p:cNvSpPr>
            <p:nvPr/>
          </p:nvSpPr>
          <p:spPr bwMode="auto">
            <a:xfrm>
              <a:off x="414" y="3369"/>
              <a:ext cx="10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90136" name="Text Box 40"/>
            <p:cNvSpPr txBox="1">
              <a:spLocks noChangeArrowheads="1"/>
            </p:cNvSpPr>
            <p:nvPr/>
          </p:nvSpPr>
          <p:spPr bwMode="auto">
            <a:xfrm>
              <a:off x="624" y="4070"/>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90137" name="Line 41"/>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38" name="Line 42"/>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39" name="Text Box 43"/>
            <p:cNvSpPr txBox="1">
              <a:spLocks noChangeArrowheads="1"/>
            </p:cNvSpPr>
            <p:nvPr/>
          </p:nvSpPr>
          <p:spPr bwMode="auto">
            <a:xfrm>
              <a:off x="0" y="1872"/>
              <a:ext cx="56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90140" name="Text Box 44"/>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90141" name="Group 45"/>
            <p:cNvGrpSpPr/>
            <p:nvPr/>
          </p:nvGrpSpPr>
          <p:grpSpPr bwMode="auto">
            <a:xfrm>
              <a:off x="240" y="1584"/>
              <a:ext cx="624" cy="336"/>
              <a:chOff x="3888" y="576"/>
              <a:chExt cx="624" cy="336"/>
            </a:xfrm>
          </p:grpSpPr>
          <p:sp>
            <p:nvSpPr>
              <p:cNvPr id="90163" name="Line 46"/>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0164" name="Group 47"/>
              <p:cNvGrpSpPr/>
              <p:nvPr/>
            </p:nvGrpSpPr>
            <p:grpSpPr bwMode="auto">
              <a:xfrm>
                <a:off x="3888" y="576"/>
                <a:ext cx="288" cy="336"/>
                <a:chOff x="3888" y="576"/>
                <a:chExt cx="288" cy="336"/>
              </a:xfrm>
            </p:grpSpPr>
            <p:sp>
              <p:nvSpPr>
                <p:cNvPr id="90165" name="Line 48"/>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66" name="Line 49"/>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0142" name="Line 50"/>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43" name="Text Box 51"/>
            <p:cNvSpPr txBox="1">
              <a:spLocks noChangeArrowheads="1"/>
            </p:cNvSpPr>
            <p:nvPr/>
          </p:nvSpPr>
          <p:spPr bwMode="auto">
            <a:xfrm>
              <a:off x="288" y="2285"/>
              <a:ext cx="41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90144" name="Text Box 52"/>
            <p:cNvSpPr txBox="1">
              <a:spLocks noChangeArrowheads="1"/>
            </p:cNvSpPr>
            <p:nvPr/>
          </p:nvSpPr>
          <p:spPr bwMode="auto">
            <a:xfrm>
              <a:off x="0" y="2462"/>
              <a:ext cx="66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90145" name="Text Box 53"/>
            <p:cNvSpPr txBox="1">
              <a:spLocks noChangeArrowheads="1"/>
            </p:cNvSpPr>
            <p:nvPr/>
          </p:nvSpPr>
          <p:spPr bwMode="auto">
            <a:xfrm>
              <a:off x="432" y="2783"/>
              <a:ext cx="36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90146" name="Group 54"/>
            <p:cNvGrpSpPr/>
            <p:nvPr/>
          </p:nvGrpSpPr>
          <p:grpSpPr bwMode="auto">
            <a:xfrm>
              <a:off x="816" y="2784"/>
              <a:ext cx="336" cy="288"/>
              <a:chOff x="912" y="2736"/>
              <a:chExt cx="336" cy="384"/>
            </a:xfrm>
          </p:grpSpPr>
          <p:sp>
            <p:nvSpPr>
              <p:cNvPr id="90159" name="Line 55"/>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0160" name="Group 56"/>
              <p:cNvGrpSpPr/>
              <p:nvPr/>
            </p:nvGrpSpPr>
            <p:grpSpPr bwMode="auto">
              <a:xfrm>
                <a:off x="912" y="2880"/>
                <a:ext cx="336" cy="192"/>
                <a:chOff x="4560" y="2127"/>
                <a:chExt cx="336" cy="192"/>
              </a:xfrm>
            </p:grpSpPr>
            <p:sp>
              <p:nvSpPr>
                <p:cNvPr id="90161" name="Line 57"/>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0162" name="Line 58"/>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0147" name="Text Box 59"/>
            <p:cNvSpPr txBox="1">
              <a:spLocks noChangeArrowheads="1"/>
            </p:cNvSpPr>
            <p:nvPr/>
          </p:nvSpPr>
          <p:spPr bwMode="auto">
            <a:xfrm>
              <a:off x="1104" y="2880"/>
              <a:ext cx="34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90148" name="Text Box 60"/>
            <p:cNvSpPr txBox="1">
              <a:spLocks noChangeArrowheads="1"/>
            </p:cNvSpPr>
            <p:nvPr/>
          </p:nvSpPr>
          <p:spPr bwMode="auto">
            <a:xfrm>
              <a:off x="480" y="3887"/>
              <a:ext cx="36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90149" name="Text Box 61"/>
            <p:cNvSpPr txBox="1">
              <a:spLocks noChangeArrowheads="1"/>
            </p:cNvSpPr>
            <p:nvPr/>
          </p:nvSpPr>
          <p:spPr bwMode="auto">
            <a:xfrm>
              <a:off x="1104" y="3966"/>
              <a:ext cx="34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90150" name="Group 62"/>
            <p:cNvGrpSpPr/>
            <p:nvPr/>
          </p:nvGrpSpPr>
          <p:grpSpPr bwMode="auto">
            <a:xfrm>
              <a:off x="720" y="2256"/>
              <a:ext cx="240" cy="384"/>
              <a:chOff x="4512" y="1248"/>
              <a:chExt cx="240" cy="432"/>
            </a:xfrm>
          </p:grpSpPr>
          <p:sp>
            <p:nvSpPr>
              <p:cNvPr id="90156" name="Line 63"/>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57" name="Line 64"/>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58" name="Line 65"/>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90151" name="Text Box 66"/>
            <p:cNvSpPr txBox="1">
              <a:spLocks noChangeArrowheads="1"/>
            </p:cNvSpPr>
            <p:nvPr/>
          </p:nvSpPr>
          <p:spPr bwMode="auto">
            <a:xfrm>
              <a:off x="92" y="3696"/>
              <a:ext cx="1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90152" name="Group 67"/>
            <p:cNvGrpSpPr/>
            <p:nvPr/>
          </p:nvGrpSpPr>
          <p:grpSpPr bwMode="auto">
            <a:xfrm>
              <a:off x="816" y="3888"/>
              <a:ext cx="336" cy="240"/>
              <a:chOff x="912" y="3888"/>
              <a:chExt cx="336" cy="240"/>
            </a:xfrm>
          </p:grpSpPr>
          <p:sp>
            <p:nvSpPr>
              <p:cNvPr id="90153" name="Line 68"/>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54" name="Line 69"/>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0155" name="Line 70"/>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 name="文本框 5"/>
          <p:cNvSpPr txBox="1"/>
          <p:nvPr/>
        </p:nvSpPr>
        <p:spPr>
          <a:xfrm>
            <a:off x="7882673" y="6170614"/>
            <a:ext cx="2917213" cy="430887"/>
          </a:xfrm>
          <a:prstGeom prst="rect">
            <a:avLst/>
          </a:prstGeom>
          <a:noFill/>
        </p:spPr>
        <p:txBody>
          <a:bodyPr wrap="square">
            <a:spAutoFit/>
          </a:bodyPr>
          <a:lstStyle/>
          <a:p>
            <a:pPr>
              <a:defRPr/>
            </a:pPr>
            <a:r>
              <a:rPr lang="en-US" altLang="zh-CN" sz="22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200" b="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G</a:t>
            </a:r>
            <a:r>
              <a:rPr lang="en-US" altLang="zh-CN" sz="2200" baseline="300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200" b="0" baseline="300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0</a:t>
            </a:r>
            <a:r>
              <a:rPr lang="en-US" altLang="zh-CN" sz="2200" dirty="0">
                <a:solidFill>
                  <a:srgbClr val="FFFF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200" b="0" dirty="0">
                <a:solidFill>
                  <a:srgbClr val="FFFF00"/>
                </a:solidFill>
                <a:latin typeface="Arial" panose="020B0604020202020204" pitchFamily="34" charset="0"/>
                <a:ea typeface="+mn-ea"/>
              </a:rPr>
              <a:t>−14.2 kJ/mol </a:t>
            </a:r>
            <a:endParaRPr lang="en-US" altLang="zh-CN" sz="2200" i="1" dirty="0">
              <a:solidFill>
                <a:srgbClr val="FFFF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1563"/>
                                        </p:tgtEl>
                                        <p:attrNameLst>
                                          <p:attrName>style.visibility</p:attrName>
                                        </p:attrNameLst>
                                      </p:cBhvr>
                                      <p:to>
                                        <p:strVal val="visible"/>
                                      </p:to>
                                    </p:set>
                                    <p:animEffect transition="in" filter="box(out)">
                                      <p:cBhvr>
                                        <p:cTn id="7" dur="500"/>
                                        <p:tgtEl>
                                          <p:spTgt spid="15156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1000"/>
                                        <p:tgtEl>
                                          <p:spTgt spid="2"/>
                                        </p:tgtEl>
                                      </p:cBhvr>
                                    </p:animEffect>
                                  </p:childTnLst>
                                </p:cTn>
                              </p:par>
                            </p:childTnLst>
                          </p:cTn>
                        </p:par>
                        <p:par>
                          <p:cTn id="16" fill="hold">
                            <p:stCondLst>
                              <p:cond delay="2000"/>
                            </p:stCondLst>
                            <p:childTnLst>
                              <p:par>
                                <p:cTn id="17" presetID="3" presetClass="entr" presetSubtype="5"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51564"/>
                                        </p:tgtEl>
                                        <p:attrNameLst>
                                          <p:attrName>style.visibility</p:attrName>
                                        </p:attrNameLst>
                                      </p:cBhvr>
                                      <p:to>
                                        <p:strVal val="visible"/>
                                      </p:to>
                                    </p:set>
                                    <p:animEffect transition="in" filter="slide(fromLeft)">
                                      <p:cBhvr>
                                        <p:cTn id="24" dur="500"/>
                                        <p:tgtEl>
                                          <p:spTgt spid="151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63" grpId="0" animBg="1"/>
      <p:bldP spid="151564"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2" name="Group 2"/>
          <p:cNvGrpSpPr/>
          <p:nvPr/>
        </p:nvGrpSpPr>
        <p:grpSpPr bwMode="auto">
          <a:xfrm>
            <a:off x="4275385" y="2527300"/>
            <a:ext cx="2917825" cy="3125788"/>
            <a:chOff x="1474" y="1344"/>
            <a:chExt cx="1669" cy="1969"/>
          </a:xfrm>
        </p:grpSpPr>
        <p:graphicFrame>
          <p:nvGraphicFramePr>
            <p:cNvPr id="92230" name="Object 3"/>
            <p:cNvGraphicFramePr>
              <a:graphicFrameLocks noChangeAspect="1"/>
            </p:cNvGraphicFramePr>
            <p:nvPr/>
          </p:nvGraphicFramePr>
          <p:xfrm>
            <a:off x="1474" y="1344"/>
            <a:ext cx="1449" cy="1632"/>
          </p:xfrm>
          <a:graphic>
            <a:graphicData uri="http://schemas.openxmlformats.org/presentationml/2006/ole">
              <mc:AlternateContent xmlns:mc="http://schemas.openxmlformats.org/markup-compatibility/2006">
                <mc:Choice xmlns:v="urn:schemas-microsoft-com:vml" Requires="v">
                  <p:oleObj spid="_x0000_s3" name="Document" r:id="rId1" imgW="2266950" imgH="2552700" progId="">
                    <p:embed/>
                  </p:oleObj>
                </mc:Choice>
                <mc:Fallback>
                  <p:oleObj name="Document" r:id="rId1" imgW="2266950" imgH="2552700"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4" y="1344"/>
                          <a:ext cx="1449" cy="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1" name="Text Box 4"/>
            <p:cNvSpPr txBox="1">
              <a:spLocks noChangeArrowheads="1"/>
            </p:cNvSpPr>
            <p:nvPr/>
          </p:nvSpPr>
          <p:spPr bwMode="auto">
            <a:xfrm>
              <a:off x="1655" y="3022"/>
              <a:ext cx="148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果糖</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1,6-二磷酸</a:t>
              </a:r>
              <a:endParaRPr kumimoji="1" lang="zh-CN" altLang="en-US" sz="2400" dirty="0">
                <a:solidFill>
                  <a:schemeClr val="bg1"/>
                </a:solidFill>
                <a:latin typeface="Arial" panose="020B0604020202020204" pitchFamily="34" charset="0"/>
                <a:ea typeface="华文楷体" panose="02010600040101010101" pitchFamily="2" charset="-122"/>
              </a:endParaRPr>
            </a:p>
          </p:txBody>
        </p:sp>
      </p:grpSp>
      <p:sp>
        <p:nvSpPr>
          <p:cNvPr id="97283" name="Rectangle 5"/>
          <p:cNvSpPr>
            <a:spLocks noChangeArrowheads="1"/>
          </p:cNvSpPr>
          <p:nvPr/>
        </p:nvSpPr>
        <p:spPr bwMode="auto">
          <a:xfrm>
            <a:off x="1235970" y="0"/>
            <a:ext cx="2506228"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algn="ctr" eaLnBrk="1" hangingPunct="1">
              <a:spcBef>
                <a:spcPct val="0"/>
              </a:spcBef>
              <a:buClrTx/>
              <a:buSzTx/>
              <a:buFontTx/>
              <a:buNone/>
              <a:defRPr/>
            </a:pPr>
            <a:endParaRPr kumimoji="1" lang="zh-CN" altLang="en-US" sz="2400">
              <a:solidFill>
                <a:schemeClr val="tx2"/>
              </a:solidFill>
              <a:latin typeface="Arial" panose="020B0604020202020204" pitchFamily="34" charset="0"/>
              <a:ea typeface="宋体" panose="02010600030101010101" pitchFamily="2" charset="-122"/>
            </a:endParaRPr>
          </a:p>
        </p:txBody>
      </p:sp>
      <p:sp>
        <p:nvSpPr>
          <p:cNvPr id="92164" name="Text Box 6"/>
          <p:cNvSpPr txBox="1">
            <a:spLocks noChangeArrowheads="1"/>
          </p:cNvSpPr>
          <p:nvPr/>
        </p:nvSpPr>
        <p:spPr bwMode="auto">
          <a:xfrm>
            <a:off x="3886200" y="428625"/>
            <a:ext cx="6553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a:t>⑷ </a:t>
            </a:r>
            <a:r>
              <a:rPr kumimoji="1" lang="zh-CN" altLang="en-US"/>
              <a:t>磷酸己糖裂解成2分子磷酸丙糖       </a:t>
            </a:r>
            <a:endParaRPr kumimoji="1" lang="zh-CN" altLang="en-US"/>
          </a:p>
        </p:txBody>
      </p:sp>
      <p:grpSp>
        <p:nvGrpSpPr>
          <p:cNvPr id="4" name="Group 7"/>
          <p:cNvGrpSpPr/>
          <p:nvPr/>
        </p:nvGrpSpPr>
        <p:grpSpPr bwMode="auto">
          <a:xfrm>
            <a:off x="6420097" y="3751263"/>
            <a:ext cx="1320800" cy="773112"/>
            <a:chOff x="2653" y="2115"/>
            <a:chExt cx="832" cy="487"/>
          </a:xfrm>
        </p:grpSpPr>
        <p:sp>
          <p:nvSpPr>
            <p:cNvPr id="92228" name="Line 8"/>
            <p:cNvSpPr>
              <a:spLocks noChangeShapeType="1"/>
            </p:cNvSpPr>
            <p:nvPr/>
          </p:nvSpPr>
          <p:spPr bwMode="auto">
            <a:xfrm>
              <a:off x="2653" y="2115"/>
              <a:ext cx="832"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29" name="Rectangle 9"/>
            <p:cNvSpPr>
              <a:spLocks noChangeArrowheads="1"/>
            </p:cNvSpPr>
            <p:nvPr/>
          </p:nvSpPr>
          <p:spPr bwMode="auto">
            <a:xfrm>
              <a:off x="2699" y="2160"/>
              <a:ext cx="74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chemeClr val="bg1"/>
                  </a:solidFill>
                  <a:ea typeface="黑体" panose="02010609060101010101" pitchFamily="2" charset="-122"/>
                </a:rPr>
                <a:t> </a:t>
              </a:r>
              <a:r>
                <a:rPr kumimoji="1" lang="zh-CN" altLang="en-US" sz="2000" b="0">
                  <a:solidFill>
                    <a:schemeClr val="bg1"/>
                  </a:solidFill>
                  <a:ea typeface="黑体" panose="02010609060101010101" pitchFamily="2" charset="-122"/>
                </a:rPr>
                <a:t>醛缩酶</a:t>
              </a:r>
              <a:endParaRPr kumimoji="1" lang="zh-CN" altLang="en-US" sz="2000" b="0">
                <a:solidFill>
                  <a:schemeClr val="bg1"/>
                </a:solidFill>
                <a:ea typeface="黑体" panose="02010609060101010101" pitchFamily="2" charset="-122"/>
              </a:endParaRPr>
            </a:p>
            <a:p>
              <a:pPr eaLnBrk="1" hangingPunct="1">
                <a:spcBef>
                  <a:spcPct val="0"/>
                </a:spcBef>
                <a:buClrTx/>
                <a:buSzTx/>
                <a:buFontTx/>
                <a:buNone/>
              </a:pPr>
              <a:r>
                <a:rPr kumimoji="1" lang="zh-CN" altLang="en-US" sz="2000" b="0">
                  <a:solidFill>
                    <a:schemeClr val="bg1"/>
                  </a:solidFill>
                  <a:ea typeface="黑体" panose="02010609060101010101" pitchFamily="2" charset="-122"/>
                </a:rPr>
                <a:t>(</a:t>
              </a:r>
              <a:r>
                <a:rPr kumimoji="1" lang="en-US" altLang="zh-CN" sz="2000" b="0">
                  <a:solidFill>
                    <a:schemeClr val="bg1"/>
                  </a:solidFill>
                  <a:ea typeface="黑体" panose="02010609060101010101" pitchFamily="2" charset="-122"/>
                </a:rPr>
                <a:t>aldolase)</a:t>
              </a:r>
              <a:endParaRPr kumimoji="1" lang="en-US" altLang="zh-CN" sz="2000" b="0">
                <a:solidFill>
                  <a:schemeClr val="bg1"/>
                </a:solidFill>
                <a:ea typeface="黑体" panose="02010609060101010101" pitchFamily="2" charset="-122"/>
              </a:endParaRPr>
            </a:p>
          </p:txBody>
        </p:sp>
      </p:grpSp>
      <p:sp>
        <p:nvSpPr>
          <p:cNvPr id="152586" name="Rectangle 10"/>
          <p:cNvSpPr>
            <a:spLocks noChangeArrowheads="1"/>
          </p:cNvSpPr>
          <p:nvPr/>
        </p:nvSpPr>
        <p:spPr bwMode="auto">
          <a:xfrm>
            <a:off x="1307408" y="2276476"/>
            <a:ext cx="1908175" cy="1368425"/>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5" name="Group 11"/>
          <p:cNvGrpSpPr/>
          <p:nvPr/>
        </p:nvGrpSpPr>
        <p:grpSpPr bwMode="auto">
          <a:xfrm>
            <a:off x="4629397" y="3798889"/>
            <a:ext cx="1439862" cy="1587"/>
            <a:chOff x="1776" y="2208"/>
            <a:chExt cx="816" cy="240"/>
          </a:xfrm>
        </p:grpSpPr>
        <p:sp>
          <p:nvSpPr>
            <p:cNvPr id="92226" name="Line 12"/>
            <p:cNvSpPr>
              <a:spLocks noChangeShapeType="1"/>
            </p:cNvSpPr>
            <p:nvPr/>
          </p:nvSpPr>
          <p:spPr bwMode="auto">
            <a:xfrm>
              <a:off x="1776" y="2208"/>
              <a:ext cx="624" cy="0"/>
            </a:xfrm>
            <a:prstGeom prst="line">
              <a:avLst/>
            </a:prstGeom>
            <a:noFill/>
            <a:ln w="38100">
              <a:solidFill>
                <a:srgbClr val="FF0000"/>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sp>
          <p:nvSpPr>
            <p:cNvPr id="92227" name="Line 14"/>
            <p:cNvSpPr>
              <a:spLocks noChangeShapeType="1"/>
            </p:cNvSpPr>
            <p:nvPr/>
          </p:nvSpPr>
          <p:spPr bwMode="auto">
            <a:xfrm>
              <a:off x="2400" y="2448"/>
              <a:ext cx="192" cy="0"/>
            </a:xfrm>
            <a:prstGeom prst="line">
              <a:avLst/>
            </a:prstGeom>
            <a:noFill/>
            <a:ln w="38100">
              <a:solidFill>
                <a:srgbClr val="FF0000"/>
              </a:solidFill>
              <a:prstDash val="dash"/>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15"/>
          <p:cNvGrpSpPr/>
          <p:nvPr/>
        </p:nvGrpSpPr>
        <p:grpSpPr bwMode="auto">
          <a:xfrm>
            <a:off x="7717085" y="1735139"/>
            <a:ext cx="3419475" cy="4162425"/>
            <a:chOff x="3606" y="981"/>
            <a:chExt cx="2154" cy="2622"/>
          </a:xfrm>
        </p:grpSpPr>
        <p:sp>
          <p:nvSpPr>
            <p:cNvPr id="92221" name="Text Box 16"/>
            <p:cNvSpPr txBox="1">
              <a:spLocks noChangeArrowheads="1"/>
            </p:cNvSpPr>
            <p:nvPr/>
          </p:nvSpPr>
          <p:spPr bwMode="auto">
            <a:xfrm>
              <a:off x="4439" y="1344"/>
              <a:ext cx="132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latin typeface="Arial" panose="020B0604020202020204" pitchFamily="34" charset="0"/>
                  <a:ea typeface="华文楷体" panose="02010600040101010101" pitchFamily="2" charset="-122"/>
                </a:rPr>
                <a:t>磷酸二羟丙酮</a:t>
              </a:r>
              <a:r>
                <a:rPr kumimoji="1" lang="zh-CN" altLang="en-US" sz="2400" dirty="0">
                  <a:solidFill>
                    <a:schemeClr val="bg1"/>
                  </a:solidFill>
                  <a:latin typeface="Arial" panose="020B0604020202020204" pitchFamily="34" charset="0"/>
                  <a:ea typeface="华文楷体" panose="02010600040101010101" pitchFamily="2" charset="-122"/>
                </a:rPr>
                <a:t> </a:t>
              </a:r>
              <a:endParaRPr kumimoji="1" lang="zh-CN" altLang="en-US" sz="2400" dirty="0">
                <a:solidFill>
                  <a:schemeClr val="bg1"/>
                </a:solidFill>
                <a:latin typeface="Arial" panose="020B0604020202020204" pitchFamily="34" charset="0"/>
                <a:ea typeface="华文楷体" panose="02010600040101010101" pitchFamily="2" charset="-122"/>
              </a:endParaRPr>
            </a:p>
          </p:txBody>
        </p:sp>
        <p:sp>
          <p:nvSpPr>
            <p:cNvPr id="92222" name="Text Box 17"/>
            <p:cNvSpPr txBox="1">
              <a:spLocks noChangeArrowheads="1"/>
            </p:cNvSpPr>
            <p:nvPr/>
          </p:nvSpPr>
          <p:spPr bwMode="auto">
            <a:xfrm>
              <a:off x="4457" y="2931"/>
              <a:ext cx="13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甘油醛</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3-磷酸</a:t>
              </a:r>
              <a:endParaRPr kumimoji="1" lang="zh-CN" altLang="en-US" sz="2400" dirty="0">
                <a:solidFill>
                  <a:schemeClr val="bg1"/>
                </a:solidFill>
                <a:latin typeface="Arial" panose="020B0604020202020204" pitchFamily="34" charset="0"/>
                <a:ea typeface="华文楷体" panose="02010600040101010101" pitchFamily="2" charset="-122"/>
              </a:endParaRPr>
            </a:p>
          </p:txBody>
        </p:sp>
        <p:sp>
          <p:nvSpPr>
            <p:cNvPr id="92223" name="Text Box 18"/>
            <p:cNvSpPr txBox="1">
              <a:spLocks noChangeArrowheads="1"/>
            </p:cNvSpPr>
            <p:nvPr/>
          </p:nvSpPr>
          <p:spPr bwMode="auto">
            <a:xfrm>
              <a:off x="3697" y="2069"/>
              <a:ext cx="26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solidFill>
                    <a:schemeClr val="bg1"/>
                  </a:solidFill>
                  <a:latin typeface="Arial" panose="020B0604020202020204" pitchFamily="34" charset="0"/>
                  <a:ea typeface="宋体" panose="02010600030101010101" pitchFamily="2" charset="-122"/>
                </a:rPr>
                <a:t>+</a:t>
              </a:r>
              <a:endParaRPr kumimoji="1" lang="zh-CN" altLang="en-US">
                <a:solidFill>
                  <a:schemeClr val="bg1"/>
                </a:solidFill>
                <a:latin typeface="Arial" panose="020B0604020202020204" pitchFamily="34" charset="0"/>
                <a:ea typeface="宋体" panose="02010600030101010101" pitchFamily="2" charset="-122"/>
              </a:endParaRPr>
            </a:p>
          </p:txBody>
        </p:sp>
        <p:graphicFrame>
          <p:nvGraphicFramePr>
            <p:cNvPr id="92224" name="Object 19"/>
            <p:cNvGraphicFramePr>
              <a:graphicFrameLocks noChangeAspect="1"/>
            </p:cNvGraphicFramePr>
            <p:nvPr/>
          </p:nvGraphicFramePr>
          <p:xfrm>
            <a:off x="3606" y="2523"/>
            <a:ext cx="1050" cy="1080"/>
          </p:xfrm>
          <a:graphic>
            <a:graphicData uri="http://schemas.openxmlformats.org/presentationml/2006/ole">
              <mc:AlternateContent xmlns:mc="http://schemas.openxmlformats.org/markup-compatibility/2006">
                <mc:Choice xmlns:v="urn:schemas-microsoft-com:vml" Requires="v">
                  <p:oleObj spid="_x0000_s7" name="Document" r:id="rId3" imgW="1666875" imgH="1714500" progId="">
                    <p:embed/>
                  </p:oleObj>
                </mc:Choice>
                <mc:Fallback>
                  <p:oleObj name="Document" r:id="rId3" imgW="1666875" imgH="1714500" progId="">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6" y="2523"/>
                          <a:ext cx="1050" cy="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25" name="Object 20"/>
            <p:cNvGraphicFramePr>
              <a:graphicFrameLocks noChangeAspect="1"/>
            </p:cNvGraphicFramePr>
            <p:nvPr/>
          </p:nvGraphicFramePr>
          <p:xfrm>
            <a:off x="3606" y="981"/>
            <a:ext cx="1005" cy="1022"/>
          </p:xfrm>
          <a:graphic>
            <a:graphicData uri="http://schemas.openxmlformats.org/presentationml/2006/ole">
              <mc:AlternateContent xmlns:mc="http://schemas.openxmlformats.org/markup-compatibility/2006">
                <mc:Choice xmlns:v="urn:schemas-microsoft-com:vml" Requires="v">
                  <p:oleObj spid="_x0000_s8" name="Document" r:id="rId5" imgW="1666875" imgH="1695450" progId="">
                    <p:embed/>
                  </p:oleObj>
                </mc:Choice>
                <mc:Fallback>
                  <p:oleObj name="Document" r:id="rId5" imgW="1666875" imgH="1695450" progId="">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6" y="981"/>
                          <a:ext cx="1005" cy="1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2169" name="Group 21"/>
          <p:cNvGrpSpPr/>
          <p:nvPr/>
        </p:nvGrpSpPr>
        <p:grpSpPr bwMode="auto">
          <a:xfrm>
            <a:off x="1199456" y="1"/>
            <a:ext cx="2606676" cy="6861175"/>
            <a:chOff x="0" y="-2"/>
            <a:chExt cx="1427" cy="4322"/>
          </a:xfrm>
        </p:grpSpPr>
        <p:sp>
          <p:nvSpPr>
            <p:cNvPr id="92170" name="Text Box 22"/>
            <p:cNvSpPr txBox="1">
              <a:spLocks noChangeArrowheads="1"/>
            </p:cNvSpPr>
            <p:nvPr/>
          </p:nvSpPr>
          <p:spPr bwMode="auto">
            <a:xfrm>
              <a:off x="336" y="-2"/>
              <a:ext cx="6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92171" name="Text Box 23"/>
            <p:cNvSpPr txBox="1">
              <a:spLocks noChangeArrowheads="1"/>
            </p:cNvSpPr>
            <p:nvPr/>
          </p:nvSpPr>
          <p:spPr bwMode="auto">
            <a:xfrm>
              <a:off x="336" y="478"/>
              <a:ext cx="5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92172" name="Text Box 24"/>
            <p:cNvSpPr txBox="1">
              <a:spLocks noChangeArrowheads="1"/>
            </p:cNvSpPr>
            <p:nvPr/>
          </p:nvSpPr>
          <p:spPr bwMode="auto">
            <a:xfrm>
              <a:off x="288" y="910"/>
              <a:ext cx="4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92173" name="Text Box 25"/>
            <p:cNvSpPr txBox="1">
              <a:spLocks noChangeArrowheads="1"/>
            </p:cNvSpPr>
            <p:nvPr/>
          </p:nvSpPr>
          <p:spPr bwMode="auto">
            <a:xfrm>
              <a:off x="192" y="1390"/>
              <a:ext cx="6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92174" name="Line 26"/>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175" name="Text Box 27"/>
            <p:cNvSpPr txBox="1">
              <a:spLocks noChangeArrowheads="1"/>
            </p:cNvSpPr>
            <p:nvPr/>
          </p:nvSpPr>
          <p:spPr bwMode="auto">
            <a:xfrm>
              <a:off x="720" y="143"/>
              <a:ext cx="35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2176" name="Group 28"/>
            <p:cNvGrpSpPr/>
            <p:nvPr/>
          </p:nvGrpSpPr>
          <p:grpSpPr bwMode="auto">
            <a:xfrm>
              <a:off x="528" y="240"/>
              <a:ext cx="192" cy="240"/>
              <a:chOff x="480" y="336"/>
              <a:chExt cx="144" cy="240"/>
            </a:xfrm>
          </p:grpSpPr>
          <p:sp>
            <p:nvSpPr>
              <p:cNvPr id="92218" name="Line 29"/>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19" name="Line 30"/>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2220" name="Line 31"/>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2177" name="Text Box 32"/>
            <p:cNvSpPr txBox="1">
              <a:spLocks noChangeArrowheads="1"/>
            </p:cNvSpPr>
            <p:nvPr/>
          </p:nvSpPr>
          <p:spPr bwMode="auto">
            <a:xfrm>
              <a:off x="720" y="363"/>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2178" name="Text Box 33"/>
            <p:cNvSpPr txBox="1">
              <a:spLocks noChangeArrowheads="1"/>
            </p:cNvSpPr>
            <p:nvPr/>
          </p:nvSpPr>
          <p:spPr bwMode="auto">
            <a:xfrm>
              <a:off x="720" y="1037"/>
              <a:ext cx="35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2179" name="Group 34"/>
            <p:cNvGrpSpPr/>
            <p:nvPr/>
          </p:nvGrpSpPr>
          <p:grpSpPr bwMode="auto">
            <a:xfrm>
              <a:off x="528" y="1104"/>
              <a:ext cx="240" cy="288"/>
              <a:chOff x="432" y="1296"/>
              <a:chExt cx="144" cy="288"/>
            </a:xfrm>
          </p:grpSpPr>
          <p:sp>
            <p:nvSpPr>
              <p:cNvPr id="92215" name="Line 35"/>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16" name="Line 36"/>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2217" name="Line 37"/>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2180" name="Text Box 38"/>
            <p:cNvSpPr txBox="1">
              <a:spLocks noChangeArrowheads="1"/>
            </p:cNvSpPr>
            <p:nvPr/>
          </p:nvSpPr>
          <p:spPr bwMode="auto">
            <a:xfrm>
              <a:off x="720" y="1229"/>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2181" name="Text Box 39"/>
            <p:cNvSpPr txBox="1">
              <a:spLocks noChangeArrowheads="1"/>
            </p:cNvSpPr>
            <p:nvPr/>
          </p:nvSpPr>
          <p:spPr bwMode="auto">
            <a:xfrm>
              <a:off x="15" y="2601"/>
              <a:ext cx="11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92182" name="Text Box 40"/>
            <p:cNvSpPr txBox="1">
              <a:spLocks noChangeArrowheads="1"/>
            </p:cNvSpPr>
            <p:nvPr/>
          </p:nvSpPr>
          <p:spPr bwMode="auto">
            <a:xfrm>
              <a:off x="432" y="3033"/>
              <a:ext cx="9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92183" name="Text Box 41"/>
            <p:cNvSpPr txBox="1">
              <a:spLocks noChangeArrowheads="1"/>
            </p:cNvSpPr>
            <p:nvPr/>
          </p:nvSpPr>
          <p:spPr bwMode="auto">
            <a:xfrm>
              <a:off x="414" y="3369"/>
              <a:ext cx="9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92184" name="Text Box 42"/>
            <p:cNvSpPr txBox="1">
              <a:spLocks noChangeArrowheads="1"/>
            </p:cNvSpPr>
            <p:nvPr/>
          </p:nvSpPr>
          <p:spPr bwMode="auto">
            <a:xfrm>
              <a:off x="624" y="4070"/>
              <a:ext cx="5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92185" name="Line 43"/>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186" name="Line 44"/>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187" name="Text Box 45"/>
            <p:cNvSpPr txBox="1">
              <a:spLocks noChangeArrowheads="1"/>
            </p:cNvSpPr>
            <p:nvPr/>
          </p:nvSpPr>
          <p:spPr bwMode="auto">
            <a:xfrm>
              <a:off x="0" y="1872"/>
              <a:ext cx="55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92188" name="Text Box 46"/>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92189" name="Group 47"/>
            <p:cNvGrpSpPr/>
            <p:nvPr/>
          </p:nvGrpSpPr>
          <p:grpSpPr bwMode="auto">
            <a:xfrm>
              <a:off x="240" y="1584"/>
              <a:ext cx="624" cy="336"/>
              <a:chOff x="3888" y="576"/>
              <a:chExt cx="624" cy="336"/>
            </a:xfrm>
          </p:grpSpPr>
          <p:sp>
            <p:nvSpPr>
              <p:cNvPr id="92211" name="Line 48"/>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2212" name="Group 49"/>
              <p:cNvGrpSpPr/>
              <p:nvPr/>
            </p:nvGrpSpPr>
            <p:grpSpPr bwMode="auto">
              <a:xfrm>
                <a:off x="3888" y="576"/>
                <a:ext cx="288" cy="336"/>
                <a:chOff x="3888" y="576"/>
                <a:chExt cx="288" cy="336"/>
              </a:xfrm>
            </p:grpSpPr>
            <p:sp>
              <p:nvSpPr>
                <p:cNvPr id="92213" name="Line 50"/>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14" name="Line 51"/>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2190" name="Line 52"/>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191" name="Text Box 53"/>
            <p:cNvSpPr txBox="1">
              <a:spLocks noChangeArrowheads="1"/>
            </p:cNvSpPr>
            <p:nvPr/>
          </p:nvSpPr>
          <p:spPr bwMode="auto">
            <a:xfrm>
              <a:off x="288" y="2285"/>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92192" name="Text Box 54"/>
            <p:cNvSpPr txBox="1">
              <a:spLocks noChangeArrowheads="1"/>
            </p:cNvSpPr>
            <p:nvPr/>
          </p:nvSpPr>
          <p:spPr bwMode="auto">
            <a:xfrm>
              <a:off x="0" y="2462"/>
              <a:ext cx="6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92193" name="Text Box 55"/>
            <p:cNvSpPr txBox="1">
              <a:spLocks noChangeArrowheads="1"/>
            </p:cNvSpPr>
            <p:nvPr/>
          </p:nvSpPr>
          <p:spPr bwMode="auto">
            <a:xfrm>
              <a:off x="432" y="2783"/>
              <a:ext cx="3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92194" name="Group 56"/>
            <p:cNvGrpSpPr/>
            <p:nvPr/>
          </p:nvGrpSpPr>
          <p:grpSpPr bwMode="auto">
            <a:xfrm>
              <a:off x="816" y="2784"/>
              <a:ext cx="336" cy="288"/>
              <a:chOff x="912" y="2736"/>
              <a:chExt cx="336" cy="384"/>
            </a:xfrm>
          </p:grpSpPr>
          <p:sp>
            <p:nvSpPr>
              <p:cNvPr id="92207" name="Line 57"/>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2208" name="Group 58"/>
              <p:cNvGrpSpPr/>
              <p:nvPr/>
            </p:nvGrpSpPr>
            <p:grpSpPr bwMode="auto">
              <a:xfrm>
                <a:off x="912" y="2880"/>
                <a:ext cx="336" cy="192"/>
                <a:chOff x="4560" y="2127"/>
                <a:chExt cx="336" cy="192"/>
              </a:xfrm>
            </p:grpSpPr>
            <p:sp>
              <p:nvSpPr>
                <p:cNvPr id="92209" name="Line 59"/>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2210" name="Line 60"/>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2195" name="Text Box 61"/>
            <p:cNvSpPr txBox="1">
              <a:spLocks noChangeArrowheads="1"/>
            </p:cNvSpPr>
            <p:nvPr/>
          </p:nvSpPr>
          <p:spPr bwMode="auto">
            <a:xfrm>
              <a:off x="1104" y="2880"/>
              <a:ext cx="32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92196" name="Text Box 62"/>
            <p:cNvSpPr txBox="1">
              <a:spLocks noChangeArrowheads="1"/>
            </p:cNvSpPr>
            <p:nvPr/>
          </p:nvSpPr>
          <p:spPr bwMode="auto">
            <a:xfrm>
              <a:off x="480" y="3887"/>
              <a:ext cx="33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92197" name="Text Box 63"/>
            <p:cNvSpPr txBox="1">
              <a:spLocks noChangeArrowheads="1"/>
            </p:cNvSpPr>
            <p:nvPr/>
          </p:nvSpPr>
          <p:spPr bwMode="auto">
            <a:xfrm>
              <a:off x="1104" y="3966"/>
              <a:ext cx="32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92198" name="Group 64"/>
            <p:cNvGrpSpPr/>
            <p:nvPr/>
          </p:nvGrpSpPr>
          <p:grpSpPr bwMode="auto">
            <a:xfrm>
              <a:off x="720" y="2256"/>
              <a:ext cx="240" cy="384"/>
              <a:chOff x="4512" y="1248"/>
              <a:chExt cx="240" cy="432"/>
            </a:xfrm>
          </p:grpSpPr>
          <p:sp>
            <p:nvSpPr>
              <p:cNvPr id="92204" name="Line 65"/>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05" name="Line 66"/>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06" name="Line 67"/>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92199" name="Text Box 68"/>
            <p:cNvSpPr txBox="1">
              <a:spLocks noChangeArrowheads="1"/>
            </p:cNvSpPr>
            <p:nvPr/>
          </p:nvSpPr>
          <p:spPr bwMode="auto">
            <a:xfrm>
              <a:off x="92" y="3696"/>
              <a:ext cx="12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92200" name="Group 69"/>
            <p:cNvGrpSpPr/>
            <p:nvPr/>
          </p:nvGrpSpPr>
          <p:grpSpPr bwMode="auto">
            <a:xfrm>
              <a:off x="816" y="3888"/>
              <a:ext cx="336" cy="240"/>
              <a:chOff x="912" y="3888"/>
              <a:chExt cx="336" cy="240"/>
            </a:xfrm>
          </p:grpSpPr>
          <p:sp>
            <p:nvSpPr>
              <p:cNvPr id="92201" name="Line 70"/>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2202" name="Line 71"/>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2203" name="Line 72"/>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2586"/>
                                        </p:tgtEl>
                                        <p:attrNameLst>
                                          <p:attrName>style.visibility</p:attrName>
                                        </p:attrNameLst>
                                      </p:cBhvr>
                                      <p:to>
                                        <p:strVal val="visible"/>
                                      </p:to>
                                    </p:set>
                                    <p:animEffect transition="in" filter="box(out)">
                                      <p:cBhvr>
                                        <p:cTn id="7" dur="500"/>
                                        <p:tgtEl>
                                          <p:spTgt spid="152586"/>
                                        </p:tgtEl>
                                      </p:cBhvr>
                                    </p:animEffect>
                                  </p:childTnLst>
                                </p:cTn>
                              </p:par>
                            </p:childTnLst>
                          </p:cTn>
                        </p:par>
                        <p:par>
                          <p:cTn id="8" fill="hold">
                            <p:stCondLst>
                              <p:cond delay="500"/>
                            </p:stCondLst>
                            <p:childTnLst>
                              <p:par>
                                <p:cTn id="9" presetID="21"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heel(4)">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3" presetClass="entr" presetSubtype="5"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vertical)">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1452339"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94211" name="Text Box 3"/>
          <p:cNvSpPr txBox="1">
            <a:spLocks noChangeArrowheads="1"/>
          </p:cNvSpPr>
          <p:nvPr/>
        </p:nvSpPr>
        <p:spPr bwMode="auto">
          <a:xfrm>
            <a:off x="4368911" y="509225"/>
            <a:ext cx="51831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t>⑸ 磷酸丙糖的同分异构化</a:t>
            </a:r>
            <a:endParaRPr kumimoji="1" lang="zh-CN" altLang="en-US" dirty="0"/>
          </a:p>
        </p:txBody>
      </p:sp>
      <p:grpSp>
        <p:nvGrpSpPr>
          <p:cNvPr id="2" name="Group 4"/>
          <p:cNvGrpSpPr/>
          <p:nvPr/>
        </p:nvGrpSpPr>
        <p:grpSpPr bwMode="auto">
          <a:xfrm>
            <a:off x="6168006" y="3213100"/>
            <a:ext cx="2306638" cy="419100"/>
            <a:chOff x="2562" y="1869"/>
            <a:chExt cx="1453" cy="264"/>
          </a:xfrm>
        </p:grpSpPr>
        <p:sp>
          <p:nvSpPr>
            <p:cNvPr id="94273" name="Line 5"/>
            <p:cNvSpPr>
              <a:spLocks noChangeShapeType="1"/>
            </p:cNvSpPr>
            <p:nvPr/>
          </p:nvSpPr>
          <p:spPr bwMode="auto">
            <a:xfrm>
              <a:off x="2562" y="1869"/>
              <a:ext cx="1315"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74" name="Rectangle 6"/>
            <p:cNvSpPr>
              <a:spLocks noChangeArrowheads="1"/>
            </p:cNvSpPr>
            <p:nvPr/>
          </p:nvSpPr>
          <p:spPr bwMode="auto">
            <a:xfrm>
              <a:off x="2608" y="1888"/>
              <a:ext cx="140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000" b="0">
                  <a:solidFill>
                    <a:schemeClr val="bg1"/>
                  </a:solidFill>
                  <a:latin typeface="黑体" panose="02010609060101010101" pitchFamily="2" charset="-122"/>
                  <a:ea typeface="黑体" panose="02010609060101010101" pitchFamily="2" charset="-122"/>
                </a:rPr>
                <a:t>磷酸丙糖异构酶</a:t>
              </a:r>
              <a:r>
                <a:rPr kumimoji="1" lang="zh-CN" altLang="en-US" sz="2000">
                  <a:solidFill>
                    <a:schemeClr val="bg1"/>
                  </a:solidFill>
                  <a:latin typeface="黑体" panose="02010609060101010101" pitchFamily="2" charset="-122"/>
                  <a:ea typeface="黑体" panose="02010609060101010101" pitchFamily="2" charset="-122"/>
                </a:rPr>
                <a:t> </a:t>
              </a:r>
              <a:endParaRPr kumimoji="1" lang="zh-CN" altLang="en-US" sz="2000">
                <a:solidFill>
                  <a:schemeClr val="bg1"/>
                </a:solidFill>
                <a:latin typeface="黑体" panose="02010609060101010101" pitchFamily="2" charset="-122"/>
                <a:ea typeface="黑体" panose="02010609060101010101" pitchFamily="2" charset="-122"/>
              </a:endParaRPr>
            </a:p>
          </p:txBody>
        </p:sp>
      </p:grpSp>
      <p:sp>
        <p:nvSpPr>
          <p:cNvPr id="153607" name="Rectangle 7"/>
          <p:cNvSpPr>
            <a:spLocks noChangeArrowheads="1"/>
          </p:cNvSpPr>
          <p:nvPr/>
        </p:nvSpPr>
        <p:spPr bwMode="auto">
          <a:xfrm>
            <a:off x="1523777" y="3068638"/>
            <a:ext cx="1908175" cy="576262"/>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53608" name="Rectangle 8"/>
          <p:cNvSpPr>
            <a:spLocks noChangeArrowheads="1"/>
          </p:cNvSpPr>
          <p:nvPr/>
        </p:nvSpPr>
        <p:spPr bwMode="auto">
          <a:xfrm>
            <a:off x="4631306" y="5084764"/>
            <a:ext cx="5784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dirty="0">
                <a:solidFill>
                  <a:schemeClr val="bg1"/>
                </a:solidFill>
                <a:ea typeface="黑体" panose="02010609060101010101" pitchFamily="2" charset="-122"/>
              </a:rPr>
              <a:t>磷酸丙糖异构酶  (</a:t>
            </a:r>
            <a:r>
              <a:rPr kumimoji="1" lang="en-US" altLang="zh-CN" sz="2400" b="0" dirty="0">
                <a:solidFill>
                  <a:schemeClr val="bg1"/>
                </a:solidFill>
                <a:ea typeface="黑体" panose="02010609060101010101" pitchFamily="2" charset="-122"/>
              </a:rPr>
              <a:t>triosephosphate isomerase)</a:t>
            </a:r>
            <a:endParaRPr kumimoji="1" lang="en-US" altLang="zh-CN" sz="2400" b="0" dirty="0">
              <a:solidFill>
                <a:schemeClr val="bg1"/>
              </a:solidFill>
              <a:ea typeface="黑体" panose="02010609060101010101" pitchFamily="2" charset="-122"/>
            </a:endParaRPr>
          </a:p>
        </p:txBody>
      </p:sp>
      <p:grpSp>
        <p:nvGrpSpPr>
          <p:cNvPr id="3" name="Group 9"/>
          <p:cNvGrpSpPr/>
          <p:nvPr/>
        </p:nvGrpSpPr>
        <p:grpSpPr bwMode="auto">
          <a:xfrm>
            <a:off x="8288907" y="2276476"/>
            <a:ext cx="2487613" cy="2257425"/>
            <a:chOff x="4150" y="1434"/>
            <a:chExt cx="1406" cy="1422"/>
          </a:xfrm>
        </p:grpSpPr>
        <p:sp>
          <p:nvSpPr>
            <p:cNvPr id="94271" name="Text Box 10"/>
            <p:cNvSpPr txBox="1">
              <a:spLocks noChangeArrowheads="1"/>
            </p:cNvSpPr>
            <p:nvPr/>
          </p:nvSpPr>
          <p:spPr bwMode="auto">
            <a:xfrm>
              <a:off x="4150" y="2568"/>
              <a:ext cx="140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甘油醛</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 3-磷酸</a:t>
              </a:r>
              <a:endParaRPr kumimoji="1" lang="zh-CN" altLang="en-US" sz="2400" dirty="0">
                <a:solidFill>
                  <a:schemeClr val="bg1"/>
                </a:solidFill>
                <a:latin typeface="Arial" panose="020B0604020202020204" pitchFamily="34" charset="0"/>
                <a:ea typeface="华文楷体" panose="02010600040101010101" pitchFamily="2" charset="-122"/>
              </a:endParaRPr>
            </a:p>
          </p:txBody>
        </p:sp>
        <p:graphicFrame>
          <p:nvGraphicFramePr>
            <p:cNvPr id="94272" name="Object 11"/>
            <p:cNvGraphicFramePr>
              <a:graphicFrameLocks noChangeAspect="1"/>
            </p:cNvGraphicFramePr>
            <p:nvPr/>
          </p:nvGraphicFramePr>
          <p:xfrm>
            <a:off x="4241" y="1434"/>
            <a:ext cx="1050" cy="1080"/>
          </p:xfrm>
          <a:graphic>
            <a:graphicData uri="http://schemas.openxmlformats.org/presentationml/2006/ole">
              <mc:AlternateContent xmlns:mc="http://schemas.openxmlformats.org/markup-compatibility/2006">
                <mc:Choice xmlns:v="urn:schemas-microsoft-com:vml" Requires="v">
                  <p:oleObj spid="_x0000_s4" name="Document" r:id="rId1" imgW="1666875" imgH="1714500" progId="">
                    <p:embed/>
                  </p:oleObj>
                </mc:Choice>
                <mc:Fallback>
                  <p:oleObj name="Document" r:id="rId1" imgW="1666875" imgH="1714500" progId="">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 y="1434"/>
                          <a:ext cx="1050" cy="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2"/>
          <p:cNvGrpSpPr/>
          <p:nvPr/>
        </p:nvGrpSpPr>
        <p:grpSpPr bwMode="auto">
          <a:xfrm>
            <a:off x="4367782" y="2276475"/>
            <a:ext cx="2265363" cy="2305050"/>
            <a:chOff x="1568" y="1415"/>
            <a:chExt cx="1427" cy="1452"/>
          </a:xfrm>
        </p:grpSpPr>
        <p:sp>
          <p:nvSpPr>
            <p:cNvPr id="94269" name="Text Box 13"/>
            <p:cNvSpPr txBox="1">
              <a:spLocks noChangeArrowheads="1"/>
            </p:cNvSpPr>
            <p:nvPr/>
          </p:nvSpPr>
          <p:spPr bwMode="auto">
            <a:xfrm>
              <a:off x="1568" y="2579"/>
              <a:ext cx="14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FFFF00"/>
                  </a:solidFill>
                  <a:latin typeface="Arial" panose="020B0604020202020204" pitchFamily="34" charset="0"/>
                  <a:ea typeface="华文楷体" panose="02010600040101010101" pitchFamily="2" charset="-122"/>
                </a:rPr>
                <a:t>磷酸二羟丙酮</a:t>
              </a:r>
              <a:r>
                <a:rPr kumimoji="1" lang="zh-CN" altLang="en-US" sz="2400">
                  <a:solidFill>
                    <a:schemeClr val="bg1"/>
                  </a:solidFill>
                  <a:latin typeface="Arial" panose="020B0604020202020204" pitchFamily="34" charset="0"/>
                  <a:ea typeface="华文楷体" panose="02010600040101010101" pitchFamily="2" charset="-122"/>
                </a:rPr>
                <a:t>   </a:t>
              </a:r>
              <a:endParaRPr kumimoji="1" lang="zh-CN" altLang="en-US" sz="2400">
                <a:solidFill>
                  <a:schemeClr val="bg1"/>
                </a:solidFill>
                <a:latin typeface="Arial" panose="020B0604020202020204" pitchFamily="34" charset="0"/>
                <a:ea typeface="华文楷体" panose="02010600040101010101" pitchFamily="2" charset="-122"/>
              </a:endParaRPr>
            </a:p>
          </p:txBody>
        </p:sp>
        <p:graphicFrame>
          <p:nvGraphicFramePr>
            <p:cNvPr id="94270" name="Object 14"/>
            <p:cNvGraphicFramePr>
              <a:graphicFrameLocks noChangeAspect="1"/>
            </p:cNvGraphicFramePr>
            <p:nvPr/>
          </p:nvGraphicFramePr>
          <p:xfrm>
            <a:off x="1610" y="1415"/>
            <a:ext cx="1050" cy="1068"/>
          </p:xfrm>
          <a:graphic>
            <a:graphicData uri="http://schemas.openxmlformats.org/presentationml/2006/ole">
              <mc:AlternateContent xmlns:mc="http://schemas.openxmlformats.org/markup-compatibility/2006">
                <mc:Choice xmlns:v="urn:schemas-microsoft-com:vml" Requires="v">
                  <p:oleObj spid="_x0000_s6" name="Document" r:id="rId3" imgW="1666875" imgH="1695450" progId="">
                    <p:embed/>
                  </p:oleObj>
                </mc:Choice>
                <mc:Fallback>
                  <p:oleObj name="Document" r:id="rId3" imgW="1666875" imgH="1695450" progId="">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0" y="1415"/>
                          <a:ext cx="1050" cy="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4217" name="Group 15"/>
          <p:cNvGrpSpPr/>
          <p:nvPr/>
        </p:nvGrpSpPr>
        <p:grpSpPr bwMode="auto">
          <a:xfrm>
            <a:off x="1452339" y="1"/>
            <a:ext cx="2411413" cy="6861175"/>
            <a:chOff x="0" y="-2"/>
            <a:chExt cx="1462" cy="4322"/>
          </a:xfrm>
        </p:grpSpPr>
        <p:sp>
          <p:nvSpPr>
            <p:cNvPr id="94218" name="Text Box 16"/>
            <p:cNvSpPr txBox="1">
              <a:spLocks noChangeArrowheads="1"/>
            </p:cNvSpPr>
            <p:nvPr/>
          </p:nvSpPr>
          <p:spPr bwMode="auto">
            <a:xfrm>
              <a:off x="336" y="-2"/>
              <a:ext cx="7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94219" name="Text Box 17"/>
            <p:cNvSpPr txBox="1">
              <a:spLocks noChangeArrowheads="1"/>
            </p:cNvSpPr>
            <p:nvPr/>
          </p:nvSpPr>
          <p:spPr bwMode="auto">
            <a:xfrm>
              <a:off x="336" y="478"/>
              <a:ext cx="5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94220" name="Text Box 18"/>
            <p:cNvSpPr txBox="1">
              <a:spLocks noChangeArrowheads="1"/>
            </p:cNvSpPr>
            <p:nvPr/>
          </p:nvSpPr>
          <p:spPr bwMode="auto">
            <a:xfrm>
              <a:off x="288" y="910"/>
              <a:ext cx="5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94221" name="Text Box 19"/>
            <p:cNvSpPr txBox="1">
              <a:spLocks noChangeArrowheads="1"/>
            </p:cNvSpPr>
            <p:nvPr/>
          </p:nvSpPr>
          <p:spPr bwMode="auto">
            <a:xfrm>
              <a:off x="192" y="1390"/>
              <a:ext cx="7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94222" name="Line 20"/>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23" name="Text Box 21"/>
            <p:cNvSpPr txBox="1">
              <a:spLocks noChangeArrowheads="1"/>
            </p:cNvSpPr>
            <p:nvPr/>
          </p:nvSpPr>
          <p:spPr bwMode="auto">
            <a:xfrm>
              <a:off x="720" y="143"/>
              <a:ext cx="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4224" name="Group 22"/>
            <p:cNvGrpSpPr/>
            <p:nvPr/>
          </p:nvGrpSpPr>
          <p:grpSpPr bwMode="auto">
            <a:xfrm>
              <a:off x="528" y="240"/>
              <a:ext cx="192" cy="240"/>
              <a:chOff x="480" y="336"/>
              <a:chExt cx="144" cy="240"/>
            </a:xfrm>
          </p:grpSpPr>
          <p:sp>
            <p:nvSpPr>
              <p:cNvPr id="94266" name="Line 23"/>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67" name="Line 24"/>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4268" name="Line 25"/>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4225" name="Text Box 26"/>
            <p:cNvSpPr txBox="1">
              <a:spLocks noChangeArrowheads="1"/>
            </p:cNvSpPr>
            <p:nvPr/>
          </p:nvSpPr>
          <p:spPr bwMode="auto">
            <a:xfrm>
              <a:off x="720" y="363"/>
              <a:ext cx="4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4226" name="Text Box 27"/>
            <p:cNvSpPr txBox="1">
              <a:spLocks noChangeArrowheads="1"/>
            </p:cNvSpPr>
            <p:nvPr/>
          </p:nvSpPr>
          <p:spPr bwMode="auto">
            <a:xfrm>
              <a:off x="720" y="1037"/>
              <a:ext cx="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4227" name="Group 28"/>
            <p:cNvGrpSpPr/>
            <p:nvPr/>
          </p:nvGrpSpPr>
          <p:grpSpPr bwMode="auto">
            <a:xfrm>
              <a:off x="528" y="1104"/>
              <a:ext cx="240" cy="288"/>
              <a:chOff x="432" y="1296"/>
              <a:chExt cx="144" cy="288"/>
            </a:xfrm>
          </p:grpSpPr>
          <p:sp>
            <p:nvSpPr>
              <p:cNvPr id="94263" name="Line 29"/>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64" name="Line 30"/>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4265" name="Line 31"/>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4228" name="Text Box 32"/>
            <p:cNvSpPr txBox="1">
              <a:spLocks noChangeArrowheads="1"/>
            </p:cNvSpPr>
            <p:nvPr/>
          </p:nvSpPr>
          <p:spPr bwMode="auto">
            <a:xfrm>
              <a:off x="720" y="1229"/>
              <a:ext cx="4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4229" name="Text Box 33"/>
            <p:cNvSpPr txBox="1">
              <a:spLocks noChangeArrowheads="1"/>
            </p:cNvSpPr>
            <p:nvPr/>
          </p:nvSpPr>
          <p:spPr bwMode="auto">
            <a:xfrm>
              <a:off x="15" y="2601"/>
              <a:ext cx="13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94230" name="Text Box 34"/>
            <p:cNvSpPr txBox="1">
              <a:spLocks noChangeArrowheads="1"/>
            </p:cNvSpPr>
            <p:nvPr/>
          </p:nvSpPr>
          <p:spPr bwMode="auto">
            <a:xfrm>
              <a:off x="432" y="3033"/>
              <a:ext cx="10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94231" name="Text Box 35"/>
            <p:cNvSpPr txBox="1">
              <a:spLocks noChangeArrowheads="1"/>
            </p:cNvSpPr>
            <p:nvPr/>
          </p:nvSpPr>
          <p:spPr bwMode="auto">
            <a:xfrm>
              <a:off x="414" y="3369"/>
              <a:ext cx="10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94232" name="Text Box 36"/>
            <p:cNvSpPr txBox="1">
              <a:spLocks noChangeArrowheads="1"/>
            </p:cNvSpPr>
            <p:nvPr/>
          </p:nvSpPr>
          <p:spPr bwMode="auto">
            <a:xfrm>
              <a:off x="624" y="407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94233" name="Line 37"/>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34" name="Line 38"/>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35" name="Text Box 39"/>
            <p:cNvSpPr txBox="1">
              <a:spLocks noChangeArrowheads="1"/>
            </p:cNvSpPr>
            <p:nvPr/>
          </p:nvSpPr>
          <p:spPr bwMode="auto">
            <a:xfrm>
              <a:off x="0" y="1872"/>
              <a:ext cx="57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94236" name="Text Box 40"/>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94237" name="Group 41"/>
            <p:cNvGrpSpPr/>
            <p:nvPr/>
          </p:nvGrpSpPr>
          <p:grpSpPr bwMode="auto">
            <a:xfrm>
              <a:off x="240" y="1584"/>
              <a:ext cx="624" cy="336"/>
              <a:chOff x="3888" y="576"/>
              <a:chExt cx="624" cy="336"/>
            </a:xfrm>
          </p:grpSpPr>
          <p:sp>
            <p:nvSpPr>
              <p:cNvPr id="94259" name="Line 42"/>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4260" name="Group 43"/>
              <p:cNvGrpSpPr/>
              <p:nvPr/>
            </p:nvGrpSpPr>
            <p:grpSpPr bwMode="auto">
              <a:xfrm>
                <a:off x="3888" y="576"/>
                <a:ext cx="288" cy="336"/>
                <a:chOff x="3888" y="576"/>
                <a:chExt cx="288" cy="336"/>
              </a:xfrm>
            </p:grpSpPr>
            <p:sp>
              <p:nvSpPr>
                <p:cNvPr id="94261" name="Line 44"/>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62" name="Line 45"/>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4238" name="Line 46"/>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39" name="Text Box 47"/>
            <p:cNvSpPr txBox="1">
              <a:spLocks noChangeArrowheads="1"/>
            </p:cNvSpPr>
            <p:nvPr/>
          </p:nvSpPr>
          <p:spPr bwMode="auto">
            <a:xfrm>
              <a:off x="288" y="2285"/>
              <a:ext cx="42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94240" name="Text Box 48"/>
            <p:cNvSpPr txBox="1">
              <a:spLocks noChangeArrowheads="1"/>
            </p:cNvSpPr>
            <p:nvPr/>
          </p:nvSpPr>
          <p:spPr bwMode="auto">
            <a:xfrm>
              <a:off x="0" y="2462"/>
              <a:ext cx="6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94241" name="Text Box 49"/>
            <p:cNvSpPr txBox="1">
              <a:spLocks noChangeArrowheads="1"/>
            </p:cNvSpPr>
            <p:nvPr/>
          </p:nvSpPr>
          <p:spPr bwMode="auto">
            <a:xfrm>
              <a:off x="432" y="2783"/>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94242" name="Group 50"/>
            <p:cNvGrpSpPr/>
            <p:nvPr/>
          </p:nvGrpSpPr>
          <p:grpSpPr bwMode="auto">
            <a:xfrm>
              <a:off x="816" y="2784"/>
              <a:ext cx="336" cy="288"/>
              <a:chOff x="912" y="2736"/>
              <a:chExt cx="336" cy="384"/>
            </a:xfrm>
          </p:grpSpPr>
          <p:sp>
            <p:nvSpPr>
              <p:cNvPr id="94255" name="Line 51"/>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4256" name="Group 52"/>
              <p:cNvGrpSpPr/>
              <p:nvPr/>
            </p:nvGrpSpPr>
            <p:grpSpPr bwMode="auto">
              <a:xfrm>
                <a:off x="912" y="2880"/>
                <a:ext cx="336" cy="192"/>
                <a:chOff x="4560" y="2127"/>
                <a:chExt cx="336" cy="192"/>
              </a:xfrm>
            </p:grpSpPr>
            <p:sp>
              <p:nvSpPr>
                <p:cNvPr id="94257" name="Line 53"/>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4258" name="Line 54"/>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4243" name="Text Box 55"/>
            <p:cNvSpPr txBox="1">
              <a:spLocks noChangeArrowheads="1"/>
            </p:cNvSpPr>
            <p:nvPr/>
          </p:nvSpPr>
          <p:spPr bwMode="auto">
            <a:xfrm>
              <a:off x="1104" y="2880"/>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94244" name="Text Box 56"/>
            <p:cNvSpPr txBox="1">
              <a:spLocks noChangeArrowheads="1"/>
            </p:cNvSpPr>
            <p:nvPr/>
          </p:nvSpPr>
          <p:spPr bwMode="auto">
            <a:xfrm>
              <a:off x="480" y="3887"/>
              <a:ext cx="3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94245" name="Text Box 57"/>
            <p:cNvSpPr txBox="1">
              <a:spLocks noChangeArrowheads="1"/>
            </p:cNvSpPr>
            <p:nvPr/>
          </p:nvSpPr>
          <p:spPr bwMode="auto">
            <a:xfrm>
              <a:off x="1104" y="3966"/>
              <a:ext cx="3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94246" name="Group 58"/>
            <p:cNvGrpSpPr/>
            <p:nvPr/>
          </p:nvGrpSpPr>
          <p:grpSpPr bwMode="auto">
            <a:xfrm>
              <a:off x="720" y="2256"/>
              <a:ext cx="240" cy="384"/>
              <a:chOff x="4512" y="1248"/>
              <a:chExt cx="240" cy="432"/>
            </a:xfrm>
          </p:grpSpPr>
          <p:sp>
            <p:nvSpPr>
              <p:cNvPr id="94252" name="Line 59"/>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53" name="Line 60"/>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54" name="Line 61"/>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94247" name="Text Box 62"/>
            <p:cNvSpPr txBox="1">
              <a:spLocks noChangeArrowheads="1"/>
            </p:cNvSpPr>
            <p:nvPr/>
          </p:nvSpPr>
          <p:spPr bwMode="auto">
            <a:xfrm>
              <a:off x="92" y="3696"/>
              <a:ext cx="13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94248" name="Group 63"/>
            <p:cNvGrpSpPr/>
            <p:nvPr/>
          </p:nvGrpSpPr>
          <p:grpSpPr bwMode="auto">
            <a:xfrm>
              <a:off x="816" y="3888"/>
              <a:ext cx="336" cy="240"/>
              <a:chOff x="912" y="3888"/>
              <a:chExt cx="336" cy="240"/>
            </a:xfrm>
          </p:grpSpPr>
          <p:sp>
            <p:nvSpPr>
              <p:cNvPr id="94249" name="Line 64"/>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4250" name="Line 65"/>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4251" name="Line 66"/>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3607"/>
                                        </p:tgtEl>
                                        <p:attrNameLst>
                                          <p:attrName>style.visibility</p:attrName>
                                        </p:attrNameLst>
                                      </p:cBhvr>
                                      <p:to>
                                        <p:strVal val="visible"/>
                                      </p:to>
                                    </p:set>
                                    <p:animEffect transition="in" filter="box(out)">
                                      <p:cBhvr>
                                        <p:cTn id="7" dur="500"/>
                                        <p:tgtEl>
                                          <p:spTgt spid="153607"/>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checkerboard(across)">
                                      <p:cBhvr>
                                        <p:cTn id="11" dur="500"/>
                                        <p:tgtEl>
                                          <p:spTgt spid="2"/>
                                        </p:tgtEl>
                                      </p:cBhvr>
                                    </p:animEffect>
                                  </p:childTnLst>
                                </p:cTn>
                              </p:par>
                            </p:childTnLst>
                          </p:cTn>
                        </p:par>
                        <p:par>
                          <p:cTn id="12" fill="hold">
                            <p:stCondLst>
                              <p:cond delay="1000"/>
                            </p:stCondLst>
                            <p:childTnLst>
                              <p:par>
                                <p:cTn id="13" presetID="1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slide(fromLeft)">
                                      <p:cBhvr>
                                        <p:cTn id="15" dur="500"/>
                                        <p:tgtEl>
                                          <p:spTgt spid="3"/>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53608"/>
                                        </p:tgtEl>
                                        <p:attrNameLst>
                                          <p:attrName>style.visibility</p:attrName>
                                        </p:attrNameLst>
                                      </p:cBhvr>
                                      <p:to>
                                        <p:strVal val="visible"/>
                                      </p:to>
                                    </p:set>
                                    <p:animEffect transition="in" filter="dissolve">
                                      <p:cBhvr>
                                        <p:cTn id="19" dur="500"/>
                                        <p:tgtEl>
                                          <p:spTgt spid="153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7" grpId="0" animBg="1"/>
      <p:bldP spid="15360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0354" name="Rectangle 2"/>
          <p:cNvSpPr>
            <a:spLocks noChangeArrowheads="1"/>
          </p:cNvSpPr>
          <p:nvPr/>
        </p:nvSpPr>
        <p:spPr bwMode="auto">
          <a:xfrm>
            <a:off x="1055440" y="0"/>
            <a:ext cx="2520504"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96259" name="Text Box 3"/>
          <p:cNvSpPr txBox="1">
            <a:spLocks noChangeArrowheads="1"/>
          </p:cNvSpPr>
          <p:nvPr/>
        </p:nvSpPr>
        <p:spPr bwMode="auto">
          <a:xfrm>
            <a:off x="3868738" y="500063"/>
            <a:ext cx="69797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76250" indent="-4762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t>⑹甘油醛</a:t>
            </a:r>
            <a:r>
              <a:rPr kumimoji="1" lang="en-US" altLang="zh-CN" sz="2800" dirty="0"/>
              <a:t>-</a:t>
            </a:r>
            <a:r>
              <a:rPr kumimoji="1" lang="zh-CN" altLang="en-US" sz="2800" dirty="0"/>
              <a:t>3-磷酸氧化为甘油酸</a:t>
            </a:r>
            <a:r>
              <a:rPr kumimoji="1" lang="en-US" altLang="zh-CN" sz="2800" dirty="0"/>
              <a:t>-</a:t>
            </a:r>
            <a:r>
              <a:rPr kumimoji="1" lang="zh-CN" altLang="en-US" sz="2800" dirty="0"/>
              <a:t>1,3-二磷酸</a:t>
            </a:r>
            <a:endParaRPr kumimoji="1" lang="zh-CN" altLang="en-US" sz="2800" dirty="0"/>
          </a:p>
        </p:txBody>
      </p:sp>
      <p:grpSp>
        <p:nvGrpSpPr>
          <p:cNvPr id="2" name="Group 4"/>
          <p:cNvGrpSpPr/>
          <p:nvPr/>
        </p:nvGrpSpPr>
        <p:grpSpPr bwMode="auto">
          <a:xfrm>
            <a:off x="5998838" y="2167658"/>
            <a:ext cx="3168650" cy="1189037"/>
            <a:chOff x="2608" y="1661"/>
            <a:chExt cx="1996" cy="749"/>
          </a:xfrm>
        </p:grpSpPr>
        <p:sp>
          <p:nvSpPr>
            <p:cNvPr id="96322" name="Line 5"/>
            <p:cNvSpPr>
              <a:spLocks noChangeShapeType="1"/>
            </p:cNvSpPr>
            <p:nvPr/>
          </p:nvSpPr>
          <p:spPr bwMode="auto">
            <a:xfrm>
              <a:off x="2744" y="2123"/>
              <a:ext cx="1561" cy="1"/>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23" name="Line 6"/>
            <p:cNvSpPr>
              <a:spLocks noChangeShapeType="1"/>
            </p:cNvSpPr>
            <p:nvPr/>
          </p:nvSpPr>
          <p:spPr bwMode="auto">
            <a:xfrm>
              <a:off x="2925" y="1933"/>
              <a:ext cx="375" cy="181"/>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6324" name="Text Box 7"/>
            <p:cNvSpPr txBox="1">
              <a:spLocks noChangeArrowheads="1"/>
            </p:cNvSpPr>
            <p:nvPr/>
          </p:nvSpPr>
          <p:spPr bwMode="auto">
            <a:xfrm>
              <a:off x="2608" y="1661"/>
              <a:ext cx="19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chemeClr val="bg1"/>
                  </a:solidFill>
                  <a:latin typeface="Arial" panose="020B0604020202020204" pitchFamily="34" charset="0"/>
                  <a:ea typeface="宋体" panose="02010600030101010101" pitchFamily="2" charset="-122"/>
                </a:rPr>
                <a:t>Pi、NAD</a:t>
              </a:r>
              <a:r>
                <a:rPr kumimoji="1" lang="en-US" altLang="zh-CN" sz="2800" baseline="30000">
                  <a:solidFill>
                    <a:schemeClr val="bg1"/>
                  </a:solidFill>
                  <a:latin typeface="Arial" panose="020B0604020202020204" pitchFamily="34" charset="0"/>
                  <a:ea typeface="宋体" panose="02010600030101010101" pitchFamily="2" charset="-122"/>
                </a:rPr>
                <a:t>+</a:t>
              </a:r>
              <a:r>
                <a:rPr kumimoji="1" lang="en-US" altLang="zh-CN" sz="2800" baseline="30000">
                  <a:latin typeface="Arial" panose="020B0604020202020204" pitchFamily="34" charset="0"/>
                  <a:ea typeface="宋体" panose="02010600030101010101" pitchFamily="2" charset="-122"/>
                </a:rPr>
                <a:t>    </a:t>
              </a:r>
              <a:r>
                <a:rPr kumimoji="1" lang="en-US" altLang="zh-CN" sz="2000">
                  <a:solidFill>
                    <a:srgbClr val="FFFF00"/>
                  </a:solidFill>
                  <a:latin typeface="Antique Olive"/>
                  <a:ea typeface="宋体" panose="02010600030101010101" pitchFamily="2" charset="-122"/>
                </a:rPr>
                <a:t>NADH+H</a:t>
              </a:r>
              <a:r>
                <a:rPr kumimoji="1" lang="en-US" altLang="zh-CN" sz="2000" baseline="30000">
                  <a:solidFill>
                    <a:srgbClr val="FFFF00"/>
                  </a:solidFill>
                  <a:latin typeface="Antique Olive"/>
                  <a:ea typeface="宋体" panose="02010600030101010101" pitchFamily="2" charset="-122"/>
                </a:rPr>
                <a:t>+</a:t>
              </a:r>
              <a:r>
                <a:rPr kumimoji="1" lang="en-US" altLang="zh-CN" sz="2000" baseline="30000">
                  <a:solidFill>
                    <a:schemeClr val="accent1"/>
                  </a:solidFill>
                  <a:latin typeface="Antique Olive"/>
                  <a:ea typeface="宋体" panose="02010600030101010101" pitchFamily="2" charset="-122"/>
                </a:rPr>
                <a:t>  </a:t>
              </a:r>
              <a:endParaRPr kumimoji="1" lang="en-US" altLang="zh-CN" sz="2000" baseline="30000">
                <a:solidFill>
                  <a:schemeClr val="accent1"/>
                </a:solidFill>
                <a:latin typeface="Antique Olive"/>
                <a:ea typeface="宋体" panose="02010600030101010101" pitchFamily="2" charset="-122"/>
              </a:endParaRPr>
            </a:p>
          </p:txBody>
        </p:sp>
        <p:sp>
          <p:nvSpPr>
            <p:cNvPr id="96325" name="Line 8"/>
            <p:cNvSpPr>
              <a:spLocks noChangeShapeType="1"/>
            </p:cNvSpPr>
            <p:nvPr/>
          </p:nvSpPr>
          <p:spPr bwMode="auto">
            <a:xfrm flipV="1">
              <a:off x="3696" y="1888"/>
              <a:ext cx="272" cy="228"/>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26" name="Rectangle 9"/>
            <p:cNvSpPr>
              <a:spLocks noChangeArrowheads="1"/>
            </p:cNvSpPr>
            <p:nvPr/>
          </p:nvSpPr>
          <p:spPr bwMode="auto">
            <a:xfrm>
              <a:off x="2744" y="2160"/>
              <a:ext cx="167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chemeClr val="bg1"/>
                  </a:solidFill>
                  <a:latin typeface="黑体" panose="02010609060101010101" pitchFamily="2" charset="-122"/>
                  <a:ea typeface="黑体" panose="02010609060101010101" pitchFamily="2" charset="-122"/>
                </a:rPr>
                <a:t>3-磷酸甘油醛脱氢酶</a:t>
              </a:r>
              <a:endParaRPr kumimoji="1" lang="zh-CN" altLang="en-US" sz="2000" b="0">
                <a:solidFill>
                  <a:schemeClr val="bg1"/>
                </a:solidFill>
                <a:latin typeface="黑体" panose="02010609060101010101" pitchFamily="2" charset="-122"/>
                <a:ea typeface="黑体" panose="02010609060101010101" pitchFamily="2" charset="-122"/>
              </a:endParaRPr>
            </a:p>
          </p:txBody>
        </p:sp>
      </p:grpSp>
      <p:sp>
        <p:nvSpPr>
          <p:cNvPr id="154634" name="Rectangle 10"/>
          <p:cNvSpPr>
            <a:spLocks noChangeArrowheads="1"/>
          </p:cNvSpPr>
          <p:nvPr/>
        </p:nvSpPr>
        <p:spPr bwMode="auto">
          <a:xfrm>
            <a:off x="1235968" y="3068639"/>
            <a:ext cx="2233613" cy="1368425"/>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54635" name="Rectangle 11"/>
          <p:cNvSpPr>
            <a:spLocks noChangeArrowheads="1"/>
          </p:cNvSpPr>
          <p:nvPr/>
        </p:nvSpPr>
        <p:spPr bwMode="auto">
          <a:xfrm>
            <a:off x="4048015" y="4896021"/>
            <a:ext cx="7233592"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50000"/>
              </a:spcBef>
              <a:buClrTx/>
              <a:buSzTx/>
              <a:buFontTx/>
              <a:buNone/>
            </a:pPr>
            <a:r>
              <a:rPr kumimoji="1" lang="zh-CN" altLang="en-US" sz="2400" b="0" dirty="0">
                <a:solidFill>
                  <a:schemeClr val="bg1"/>
                </a:solidFill>
                <a:ea typeface="黑体" panose="02010609060101010101" pitchFamily="2" charset="-122"/>
              </a:rPr>
              <a:t>甘油醛</a:t>
            </a:r>
            <a:r>
              <a:rPr kumimoji="1" lang="en-US" altLang="zh-CN" sz="2400" b="0" dirty="0">
                <a:solidFill>
                  <a:schemeClr val="bg1"/>
                </a:solidFill>
                <a:ea typeface="黑体" panose="02010609060101010101" pitchFamily="2" charset="-122"/>
              </a:rPr>
              <a:t>-</a:t>
            </a:r>
            <a:r>
              <a:rPr kumimoji="1" lang="zh-CN" altLang="en-US" sz="2400" b="0" dirty="0">
                <a:solidFill>
                  <a:schemeClr val="bg1"/>
                </a:solidFill>
                <a:ea typeface="黑体" panose="02010609060101010101" pitchFamily="2" charset="-122"/>
              </a:rPr>
              <a:t>3-磷酸脱氢酶</a:t>
            </a:r>
            <a:endParaRPr kumimoji="1" lang="zh-CN" altLang="en-US" sz="2400" b="0" dirty="0">
              <a:solidFill>
                <a:schemeClr val="bg1"/>
              </a:solidFill>
              <a:ea typeface="黑体" panose="02010609060101010101" pitchFamily="2" charset="-122"/>
            </a:endParaRPr>
          </a:p>
          <a:p>
            <a:pPr eaLnBrk="1" hangingPunct="1">
              <a:spcBef>
                <a:spcPct val="0"/>
              </a:spcBef>
              <a:buClrTx/>
              <a:buSzTx/>
              <a:buFontTx/>
              <a:buNone/>
            </a:pPr>
            <a:r>
              <a:rPr kumimoji="1" lang="zh-CN" altLang="en-US" sz="2400" dirty="0">
                <a:solidFill>
                  <a:schemeClr val="bg1"/>
                </a:solidFill>
                <a:ea typeface="黑体" panose="02010609060101010101" pitchFamily="2" charset="-122"/>
              </a:rPr>
              <a:t>(</a:t>
            </a:r>
            <a:r>
              <a:rPr kumimoji="1" lang="en-US" altLang="zh-CN" sz="2400" dirty="0">
                <a:solidFill>
                  <a:schemeClr val="bg1"/>
                </a:solidFill>
                <a:ea typeface="黑体" panose="02010609060101010101" pitchFamily="2" charset="-122"/>
              </a:rPr>
              <a:t>glyceraldehyde-3-phosphate dehydrogenase, </a:t>
            </a:r>
            <a:r>
              <a:rPr kumimoji="1" lang="en-US" altLang="zh-CN" sz="2400" dirty="0">
                <a:solidFill>
                  <a:srgbClr val="FFFF00"/>
                </a:solidFill>
                <a:ea typeface="黑体" panose="02010609060101010101" pitchFamily="2" charset="-122"/>
              </a:rPr>
              <a:t>GAPDH</a:t>
            </a:r>
            <a:r>
              <a:rPr kumimoji="1" lang="en-US" altLang="zh-CN" sz="2400" dirty="0">
                <a:solidFill>
                  <a:schemeClr val="bg1"/>
                </a:solidFill>
                <a:ea typeface="黑体" panose="02010609060101010101" pitchFamily="2" charset="-122"/>
              </a:rPr>
              <a:t>)</a:t>
            </a:r>
            <a:endParaRPr kumimoji="1" lang="en-US" altLang="zh-CN" sz="2400" dirty="0">
              <a:solidFill>
                <a:schemeClr val="bg1"/>
              </a:solidFill>
              <a:ea typeface="黑体" panose="02010609060101010101" pitchFamily="2" charset="-122"/>
            </a:endParaRPr>
          </a:p>
        </p:txBody>
      </p:sp>
      <p:grpSp>
        <p:nvGrpSpPr>
          <p:cNvPr id="3" name="Group 12"/>
          <p:cNvGrpSpPr/>
          <p:nvPr/>
        </p:nvGrpSpPr>
        <p:grpSpPr bwMode="auto">
          <a:xfrm>
            <a:off x="4270052" y="2023194"/>
            <a:ext cx="2376487" cy="2205038"/>
            <a:chOff x="1519" y="1570"/>
            <a:chExt cx="1497" cy="1389"/>
          </a:xfrm>
        </p:grpSpPr>
        <p:sp>
          <p:nvSpPr>
            <p:cNvPr id="96320" name="Text Box 13"/>
            <p:cNvSpPr txBox="1">
              <a:spLocks noChangeArrowheads="1"/>
            </p:cNvSpPr>
            <p:nvPr/>
          </p:nvSpPr>
          <p:spPr bwMode="auto">
            <a:xfrm>
              <a:off x="1519" y="2668"/>
              <a:ext cx="14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甘油醛</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3-磷酸</a:t>
              </a:r>
              <a:endParaRPr kumimoji="1" lang="zh-CN" altLang="en-US" sz="2400" dirty="0">
                <a:solidFill>
                  <a:schemeClr val="tx2"/>
                </a:solidFill>
                <a:latin typeface="Arial" panose="020B0604020202020204" pitchFamily="34" charset="0"/>
                <a:ea typeface="华文楷体" panose="02010600040101010101" pitchFamily="2" charset="-122"/>
              </a:endParaRPr>
            </a:p>
          </p:txBody>
        </p:sp>
        <p:graphicFrame>
          <p:nvGraphicFramePr>
            <p:cNvPr id="96321" name="Object 14"/>
            <p:cNvGraphicFramePr>
              <a:graphicFrameLocks noChangeAspect="1"/>
            </p:cNvGraphicFramePr>
            <p:nvPr/>
          </p:nvGraphicFramePr>
          <p:xfrm>
            <a:off x="1565" y="1570"/>
            <a:ext cx="1050" cy="1080"/>
          </p:xfrm>
          <a:graphic>
            <a:graphicData uri="http://schemas.openxmlformats.org/presentationml/2006/ole">
              <mc:AlternateContent xmlns:mc="http://schemas.openxmlformats.org/markup-compatibility/2006">
                <mc:Choice xmlns:v="urn:schemas-microsoft-com:vml" Requires="v">
                  <p:oleObj spid="_x0000_s4" name="Document" r:id="rId1" imgW="1666875" imgH="1714500" progId="">
                    <p:embed/>
                  </p:oleObj>
                </mc:Choice>
                <mc:Fallback>
                  <p:oleObj name="Document" r:id="rId1" imgW="1666875" imgH="1714500" progId="">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 y="1570"/>
                          <a:ext cx="1050" cy="1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5"/>
          <p:cNvGrpSpPr/>
          <p:nvPr/>
        </p:nvGrpSpPr>
        <p:grpSpPr bwMode="auto">
          <a:xfrm>
            <a:off x="8357864" y="1916833"/>
            <a:ext cx="2706688" cy="2292349"/>
            <a:chOff x="3944" y="1570"/>
            <a:chExt cx="1705" cy="1444"/>
          </a:xfrm>
        </p:grpSpPr>
        <p:sp>
          <p:nvSpPr>
            <p:cNvPr id="96318" name="Text Box 16"/>
            <p:cNvSpPr txBox="1">
              <a:spLocks noChangeArrowheads="1"/>
            </p:cNvSpPr>
            <p:nvPr/>
          </p:nvSpPr>
          <p:spPr bwMode="auto">
            <a:xfrm>
              <a:off x="3944" y="2723"/>
              <a:ext cx="17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dirty="0">
                  <a:solidFill>
                    <a:srgbClr val="FFFF00"/>
                  </a:solidFill>
                  <a:ea typeface="华文楷体" panose="02010600040101010101" pitchFamily="2" charset="-122"/>
                </a:rPr>
                <a:t>甘油酸</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1,3-二磷酸</a:t>
              </a:r>
              <a:r>
                <a:rPr kumimoji="1" lang="zh-CN" altLang="en-US" sz="2400" dirty="0">
                  <a:solidFill>
                    <a:schemeClr val="bg1"/>
                  </a:solidFill>
                  <a:latin typeface="Arial" panose="020B0604020202020204" pitchFamily="34" charset="0"/>
                  <a:ea typeface="华文楷体" panose="02010600040101010101" pitchFamily="2" charset="-122"/>
                </a:rPr>
                <a:t> </a:t>
              </a:r>
              <a:endParaRPr kumimoji="1" lang="zh-CN" altLang="en-US" sz="2400" dirty="0">
                <a:solidFill>
                  <a:schemeClr val="bg1"/>
                </a:solidFill>
                <a:latin typeface="Arial" panose="020B0604020202020204" pitchFamily="34" charset="0"/>
                <a:ea typeface="华文楷体" panose="02010600040101010101" pitchFamily="2" charset="-122"/>
              </a:endParaRPr>
            </a:p>
          </p:txBody>
        </p:sp>
        <p:graphicFrame>
          <p:nvGraphicFramePr>
            <p:cNvPr id="96319" name="Object 17"/>
            <p:cNvGraphicFramePr>
              <a:graphicFrameLocks noChangeAspect="1"/>
            </p:cNvGraphicFramePr>
            <p:nvPr/>
          </p:nvGraphicFramePr>
          <p:xfrm>
            <a:off x="4332" y="1570"/>
            <a:ext cx="1278" cy="1086"/>
          </p:xfrm>
          <a:graphic>
            <a:graphicData uri="http://schemas.openxmlformats.org/presentationml/2006/ole">
              <mc:AlternateContent xmlns:mc="http://schemas.openxmlformats.org/markup-compatibility/2006">
                <mc:Choice xmlns:v="urn:schemas-microsoft-com:vml" Requires="v">
                  <p:oleObj spid="_x0000_s6" name="Document" r:id="rId3" imgW="2028825" imgH="1724025" progId="">
                    <p:embed/>
                  </p:oleObj>
                </mc:Choice>
                <mc:Fallback>
                  <p:oleObj name="Document" r:id="rId3" imgW="2028825" imgH="1724025" progId="">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2" y="1570"/>
                          <a:ext cx="1278" cy="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6265" name="Group 18"/>
          <p:cNvGrpSpPr/>
          <p:nvPr/>
        </p:nvGrpSpPr>
        <p:grpSpPr bwMode="auto">
          <a:xfrm>
            <a:off x="1235968" y="1"/>
            <a:ext cx="2466975" cy="6861175"/>
            <a:chOff x="0" y="-2"/>
            <a:chExt cx="1451" cy="4322"/>
          </a:xfrm>
        </p:grpSpPr>
        <p:sp>
          <p:nvSpPr>
            <p:cNvPr id="96267" name="Text Box 19"/>
            <p:cNvSpPr txBox="1">
              <a:spLocks noChangeArrowheads="1"/>
            </p:cNvSpPr>
            <p:nvPr/>
          </p:nvSpPr>
          <p:spPr bwMode="auto">
            <a:xfrm>
              <a:off x="336" y="-2"/>
              <a:ext cx="70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96268" name="Text Box 20"/>
            <p:cNvSpPr txBox="1">
              <a:spLocks noChangeArrowheads="1"/>
            </p:cNvSpPr>
            <p:nvPr/>
          </p:nvSpPr>
          <p:spPr bwMode="auto">
            <a:xfrm>
              <a:off x="336" y="478"/>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96269" name="Text Box 21"/>
            <p:cNvSpPr txBox="1">
              <a:spLocks noChangeArrowheads="1"/>
            </p:cNvSpPr>
            <p:nvPr/>
          </p:nvSpPr>
          <p:spPr bwMode="auto">
            <a:xfrm>
              <a:off x="288" y="910"/>
              <a:ext cx="5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96270" name="Text Box 22"/>
            <p:cNvSpPr txBox="1">
              <a:spLocks noChangeArrowheads="1"/>
            </p:cNvSpPr>
            <p:nvPr/>
          </p:nvSpPr>
          <p:spPr bwMode="auto">
            <a:xfrm>
              <a:off x="192" y="1390"/>
              <a:ext cx="7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96271" name="Line 23"/>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272" name="Text Box 24"/>
            <p:cNvSpPr txBox="1">
              <a:spLocks noChangeArrowheads="1"/>
            </p:cNvSpPr>
            <p:nvPr/>
          </p:nvSpPr>
          <p:spPr bwMode="auto">
            <a:xfrm>
              <a:off x="720" y="143"/>
              <a:ext cx="3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6273" name="Group 25"/>
            <p:cNvGrpSpPr/>
            <p:nvPr/>
          </p:nvGrpSpPr>
          <p:grpSpPr bwMode="auto">
            <a:xfrm>
              <a:off x="528" y="240"/>
              <a:ext cx="192" cy="240"/>
              <a:chOff x="480" y="336"/>
              <a:chExt cx="144" cy="240"/>
            </a:xfrm>
          </p:grpSpPr>
          <p:sp>
            <p:nvSpPr>
              <p:cNvPr id="96315" name="Line 26"/>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16" name="Line 27"/>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6317" name="Line 28"/>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6274" name="Text Box 29"/>
            <p:cNvSpPr txBox="1">
              <a:spLocks noChangeArrowheads="1"/>
            </p:cNvSpPr>
            <p:nvPr/>
          </p:nvSpPr>
          <p:spPr bwMode="auto">
            <a:xfrm>
              <a:off x="720" y="363"/>
              <a:ext cx="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6275" name="Text Box 30"/>
            <p:cNvSpPr txBox="1">
              <a:spLocks noChangeArrowheads="1"/>
            </p:cNvSpPr>
            <p:nvPr/>
          </p:nvSpPr>
          <p:spPr bwMode="auto">
            <a:xfrm>
              <a:off x="720" y="1037"/>
              <a:ext cx="3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96276" name="Group 31"/>
            <p:cNvGrpSpPr/>
            <p:nvPr/>
          </p:nvGrpSpPr>
          <p:grpSpPr bwMode="auto">
            <a:xfrm>
              <a:off x="528" y="1104"/>
              <a:ext cx="240" cy="288"/>
              <a:chOff x="432" y="1296"/>
              <a:chExt cx="144" cy="288"/>
            </a:xfrm>
          </p:grpSpPr>
          <p:sp>
            <p:nvSpPr>
              <p:cNvPr id="96312" name="Line 32"/>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13" name="Line 33"/>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6314" name="Line 34"/>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6277" name="Text Box 35"/>
            <p:cNvSpPr txBox="1">
              <a:spLocks noChangeArrowheads="1"/>
            </p:cNvSpPr>
            <p:nvPr/>
          </p:nvSpPr>
          <p:spPr bwMode="auto">
            <a:xfrm>
              <a:off x="720" y="1229"/>
              <a:ext cx="39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96278" name="Text Box 36"/>
            <p:cNvSpPr txBox="1">
              <a:spLocks noChangeArrowheads="1"/>
            </p:cNvSpPr>
            <p:nvPr/>
          </p:nvSpPr>
          <p:spPr bwMode="auto">
            <a:xfrm>
              <a:off x="15" y="2601"/>
              <a:ext cx="12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96279" name="Text Box 37"/>
            <p:cNvSpPr txBox="1">
              <a:spLocks noChangeArrowheads="1"/>
            </p:cNvSpPr>
            <p:nvPr/>
          </p:nvSpPr>
          <p:spPr bwMode="auto">
            <a:xfrm>
              <a:off x="432" y="3033"/>
              <a:ext cx="9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96280" name="Text Box 38"/>
            <p:cNvSpPr txBox="1">
              <a:spLocks noChangeArrowheads="1"/>
            </p:cNvSpPr>
            <p:nvPr/>
          </p:nvSpPr>
          <p:spPr bwMode="auto">
            <a:xfrm>
              <a:off x="414" y="3369"/>
              <a:ext cx="99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96281" name="Text Box 39"/>
            <p:cNvSpPr txBox="1">
              <a:spLocks noChangeArrowheads="1"/>
            </p:cNvSpPr>
            <p:nvPr/>
          </p:nvSpPr>
          <p:spPr bwMode="auto">
            <a:xfrm>
              <a:off x="624" y="4070"/>
              <a:ext cx="59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96282" name="Line 40"/>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283" name="Line 41"/>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284" name="Text Box 42"/>
            <p:cNvSpPr txBox="1">
              <a:spLocks noChangeArrowheads="1"/>
            </p:cNvSpPr>
            <p:nvPr/>
          </p:nvSpPr>
          <p:spPr bwMode="auto">
            <a:xfrm>
              <a:off x="0" y="1872"/>
              <a:ext cx="55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96285" name="Text Box 43"/>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96286" name="Group 44"/>
            <p:cNvGrpSpPr/>
            <p:nvPr/>
          </p:nvGrpSpPr>
          <p:grpSpPr bwMode="auto">
            <a:xfrm>
              <a:off x="240" y="1584"/>
              <a:ext cx="624" cy="336"/>
              <a:chOff x="3888" y="576"/>
              <a:chExt cx="624" cy="336"/>
            </a:xfrm>
          </p:grpSpPr>
          <p:sp>
            <p:nvSpPr>
              <p:cNvPr id="96308" name="Line 45"/>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6309" name="Group 46"/>
              <p:cNvGrpSpPr/>
              <p:nvPr/>
            </p:nvGrpSpPr>
            <p:grpSpPr bwMode="auto">
              <a:xfrm>
                <a:off x="3888" y="576"/>
                <a:ext cx="288" cy="336"/>
                <a:chOff x="3888" y="576"/>
                <a:chExt cx="288" cy="336"/>
              </a:xfrm>
            </p:grpSpPr>
            <p:sp>
              <p:nvSpPr>
                <p:cNvPr id="96310" name="Line 47"/>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11" name="Line 48"/>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6287" name="Line 49"/>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288" name="Text Box 50"/>
            <p:cNvSpPr txBox="1">
              <a:spLocks noChangeArrowheads="1"/>
            </p:cNvSpPr>
            <p:nvPr/>
          </p:nvSpPr>
          <p:spPr bwMode="auto">
            <a:xfrm>
              <a:off x="288" y="2285"/>
              <a:ext cx="41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96289" name="Text Box 51"/>
            <p:cNvSpPr txBox="1">
              <a:spLocks noChangeArrowheads="1"/>
            </p:cNvSpPr>
            <p:nvPr/>
          </p:nvSpPr>
          <p:spPr bwMode="auto">
            <a:xfrm>
              <a:off x="0" y="2462"/>
              <a:ext cx="6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96290" name="Text Box 52"/>
            <p:cNvSpPr txBox="1">
              <a:spLocks noChangeArrowheads="1"/>
            </p:cNvSpPr>
            <p:nvPr/>
          </p:nvSpPr>
          <p:spPr bwMode="auto">
            <a:xfrm>
              <a:off x="432" y="2783"/>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96291" name="Group 53"/>
            <p:cNvGrpSpPr/>
            <p:nvPr/>
          </p:nvGrpSpPr>
          <p:grpSpPr bwMode="auto">
            <a:xfrm>
              <a:off x="816" y="2784"/>
              <a:ext cx="336" cy="288"/>
              <a:chOff x="912" y="2736"/>
              <a:chExt cx="336" cy="384"/>
            </a:xfrm>
          </p:grpSpPr>
          <p:sp>
            <p:nvSpPr>
              <p:cNvPr id="96304" name="Line 54"/>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96305" name="Group 55"/>
              <p:cNvGrpSpPr/>
              <p:nvPr/>
            </p:nvGrpSpPr>
            <p:grpSpPr bwMode="auto">
              <a:xfrm>
                <a:off x="912" y="2880"/>
                <a:ext cx="336" cy="192"/>
                <a:chOff x="4560" y="2127"/>
                <a:chExt cx="336" cy="192"/>
              </a:xfrm>
            </p:grpSpPr>
            <p:sp>
              <p:nvSpPr>
                <p:cNvPr id="96306" name="Line 56"/>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6307" name="Line 57"/>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96292" name="Text Box 58"/>
            <p:cNvSpPr txBox="1">
              <a:spLocks noChangeArrowheads="1"/>
            </p:cNvSpPr>
            <p:nvPr/>
          </p:nvSpPr>
          <p:spPr bwMode="auto">
            <a:xfrm>
              <a:off x="1104" y="2880"/>
              <a:ext cx="3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96293" name="Text Box 59"/>
            <p:cNvSpPr txBox="1">
              <a:spLocks noChangeArrowheads="1"/>
            </p:cNvSpPr>
            <p:nvPr/>
          </p:nvSpPr>
          <p:spPr bwMode="auto">
            <a:xfrm>
              <a:off x="480" y="3887"/>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96294" name="Text Box 60"/>
            <p:cNvSpPr txBox="1">
              <a:spLocks noChangeArrowheads="1"/>
            </p:cNvSpPr>
            <p:nvPr/>
          </p:nvSpPr>
          <p:spPr bwMode="auto">
            <a:xfrm>
              <a:off x="1104" y="3966"/>
              <a:ext cx="3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96295" name="Group 61"/>
            <p:cNvGrpSpPr/>
            <p:nvPr/>
          </p:nvGrpSpPr>
          <p:grpSpPr bwMode="auto">
            <a:xfrm>
              <a:off x="720" y="2256"/>
              <a:ext cx="240" cy="384"/>
              <a:chOff x="4512" y="1248"/>
              <a:chExt cx="240" cy="432"/>
            </a:xfrm>
          </p:grpSpPr>
          <p:sp>
            <p:nvSpPr>
              <p:cNvPr id="96301" name="Line 62"/>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02" name="Line 63"/>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303" name="Line 64"/>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96296" name="Text Box 65"/>
            <p:cNvSpPr txBox="1">
              <a:spLocks noChangeArrowheads="1"/>
            </p:cNvSpPr>
            <p:nvPr/>
          </p:nvSpPr>
          <p:spPr bwMode="auto">
            <a:xfrm>
              <a:off x="92" y="3696"/>
              <a:ext cx="13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96297" name="Group 66"/>
            <p:cNvGrpSpPr/>
            <p:nvPr/>
          </p:nvGrpSpPr>
          <p:grpSpPr bwMode="auto">
            <a:xfrm>
              <a:off x="816" y="3888"/>
              <a:ext cx="336" cy="240"/>
              <a:chOff x="912" y="3888"/>
              <a:chExt cx="336" cy="240"/>
            </a:xfrm>
          </p:grpSpPr>
          <p:sp>
            <p:nvSpPr>
              <p:cNvPr id="96298" name="Line 67"/>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6299" name="Line 68"/>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96300" name="Line 69"/>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7" name="文本框 6"/>
          <p:cNvSpPr txBox="1">
            <a:spLocks noChangeArrowheads="1"/>
          </p:cNvSpPr>
          <p:nvPr/>
        </p:nvSpPr>
        <p:spPr bwMode="auto">
          <a:xfrm>
            <a:off x="9167488" y="2586758"/>
            <a:ext cx="215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a:t>
            </a:r>
            <a:endParaRPr lang="zh-CN" altLang="en-US" sz="1800">
              <a:solidFill>
                <a:schemeClr val="bg1"/>
              </a:solidFill>
              <a:latin typeface="Arial" panose="020B0604020202020204" pitchFamily="34" charset="0"/>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4634"/>
                                        </p:tgtEl>
                                        <p:attrNameLst>
                                          <p:attrName>style.visibility</p:attrName>
                                        </p:attrNameLst>
                                      </p:cBhvr>
                                      <p:to>
                                        <p:strVal val="visible"/>
                                      </p:to>
                                    </p:set>
                                    <p:animEffect transition="in" filter="box(out)">
                                      <p:cBhvr>
                                        <p:cTn id="7" dur="500"/>
                                        <p:tgtEl>
                                          <p:spTgt spid="15463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Bottom)">
                                      <p:cBhvr>
                                        <p:cTn id="12" dur="500"/>
                                        <p:tgtEl>
                                          <p:spTgt spid="3"/>
                                        </p:tgtEl>
                                      </p:cBhvr>
                                    </p:animEffect>
                                  </p:childTnLst>
                                </p:cTn>
                              </p:par>
                            </p:childTnLst>
                          </p:cTn>
                        </p:par>
                        <p:par>
                          <p:cTn id="13" fill="hold">
                            <p:stCondLst>
                              <p:cond delay="500"/>
                            </p:stCondLst>
                            <p:childTnLst>
                              <p:par>
                                <p:cTn id="14" presetID="3" presetClass="entr" presetSubtype="5"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vertical)">
                                      <p:cBhvr>
                                        <p:cTn id="16" dur="500"/>
                                        <p:tgtEl>
                                          <p:spTgt spid="2"/>
                                        </p:tgtEl>
                                      </p:cBhvr>
                                    </p:animEffect>
                                  </p:childTnLst>
                                </p:cTn>
                              </p:par>
                            </p:childTnLst>
                          </p:cTn>
                        </p:par>
                        <p:par>
                          <p:cTn id="17" fill="hold">
                            <p:stCondLst>
                              <p:cond delay="1000"/>
                            </p:stCondLst>
                            <p:childTnLst>
                              <p:par>
                                <p:cTn id="18" presetID="4" presetClass="entr" presetSubtype="16" fill="hold" grpId="0" nodeType="afterEffect">
                                  <p:stCondLst>
                                    <p:cond delay="0"/>
                                  </p:stCondLst>
                                  <p:childTnLst>
                                    <p:set>
                                      <p:cBhvr>
                                        <p:cTn id="19" dur="1" fill="hold">
                                          <p:stCondLst>
                                            <p:cond delay="0"/>
                                          </p:stCondLst>
                                        </p:cTn>
                                        <p:tgtEl>
                                          <p:spTgt spid="154635"/>
                                        </p:tgtEl>
                                        <p:attrNameLst>
                                          <p:attrName>style.visibility</p:attrName>
                                        </p:attrNameLst>
                                      </p:cBhvr>
                                      <p:to>
                                        <p:strVal val="visible"/>
                                      </p:to>
                                    </p:set>
                                    <p:animEffect transition="in" filter="box(in)">
                                      <p:cBhvr>
                                        <p:cTn id="20" dur="500"/>
                                        <p:tgtEl>
                                          <p:spTgt spid="154635"/>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4" grpId="0" animBg="1"/>
      <p:bldP spid="154635" grpId="0" autoUpdateAnimBg="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标题 1"/>
          <p:cNvSpPr>
            <a:spLocks noGrp="1" noChangeArrowheads="1"/>
          </p:cNvSpPr>
          <p:nvPr>
            <p:ph type="title" idx="4294967295"/>
          </p:nvPr>
        </p:nvSpPr>
        <p:spPr>
          <a:xfrm>
            <a:off x="2566988" y="496888"/>
            <a:ext cx="7815262" cy="563562"/>
          </a:xfrm>
        </p:spPr>
        <p:txBody>
          <a:bodyPr/>
          <a:lstStyle/>
          <a:p>
            <a:r>
              <a:rPr lang="en-US" altLang="zh-CN" sz="3600"/>
              <a:t>NAD</a:t>
            </a:r>
            <a:r>
              <a:rPr lang="zh-CN" altLang="en-US" sz="3600"/>
              <a:t>和</a:t>
            </a:r>
            <a:r>
              <a:rPr lang="en-US" altLang="zh-CN" sz="3600"/>
              <a:t>NADP</a:t>
            </a:r>
            <a:r>
              <a:rPr lang="zh-CN" altLang="en-US" sz="3600"/>
              <a:t>的氧化态及还原态写法</a:t>
            </a:r>
            <a:endParaRPr lang="zh-CN" altLang="en-US" sz="3600"/>
          </a:p>
        </p:txBody>
      </p:sp>
      <p:grpSp>
        <p:nvGrpSpPr>
          <p:cNvPr id="98307" name="组合 5"/>
          <p:cNvGrpSpPr/>
          <p:nvPr/>
        </p:nvGrpSpPr>
        <p:grpSpPr bwMode="auto">
          <a:xfrm>
            <a:off x="1055440" y="1592759"/>
            <a:ext cx="7743825" cy="4019550"/>
            <a:chOff x="700087" y="1419225"/>
            <a:chExt cx="7743825" cy="4019550"/>
          </a:xfrm>
        </p:grpSpPr>
        <p:pic>
          <p:nvPicPr>
            <p:cNvPr id="98309"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00087" y="1419225"/>
              <a:ext cx="7743825"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0" name="矩形 4"/>
            <p:cNvSpPr>
              <a:spLocks noChangeArrowheads="1"/>
            </p:cNvSpPr>
            <p:nvPr/>
          </p:nvSpPr>
          <p:spPr bwMode="auto">
            <a:xfrm>
              <a:off x="5148064" y="3429000"/>
              <a:ext cx="3295848" cy="2009775"/>
            </a:xfrm>
            <a:prstGeom prst="rect">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grpSp>
      <p:sp>
        <p:nvSpPr>
          <p:cNvPr id="98308" name="内容占位符 2"/>
          <p:cNvSpPr>
            <a:spLocks noGrp="1" noChangeArrowheads="1"/>
          </p:cNvSpPr>
          <p:nvPr>
            <p:ph idx="4294967295"/>
          </p:nvPr>
        </p:nvSpPr>
        <p:spPr>
          <a:xfrm>
            <a:off x="5519936" y="3602534"/>
            <a:ext cx="5976664" cy="2470150"/>
          </a:xfrm>
        </p:spPr>
        <p:txBody>
          <a:bodyPr/>
          <a:lstStyle/>
          <a:p>
            <a:pPr>
              <a:lnSpc>
                <a:spcPct val="110000"/>
              </a:lnSpc>
            </a:pPr>
            <a:r>
              <a:rPr lang="zh-CN" altLang="en-US" sz="2000" b="0" dirty="0">
                <a:solidFill>
                  <a:srgbClr val="C00000"/>
                </a:solidFill>
              </a:rPr>
              <a:t>氧化态</a:t>
            </a:r>
            <a:r>
              <a:rPr lang="en-US" altLang="zh-CN" sz="2000" b="0" dirty="0">
                <a:solidFill>
                  <a:srgbClr val="C00000"/>
                </a:solidFill>
              </a:rPr>
              <a:t>NAD</a:t>
            </a:r>
            <a:r>
              <a:rPr lang="en-US" altLang="zh-CN" sz="2000" b="0" baseline="30000" dirty="0">
                <a:solidFill>
                  <a:srgbClr val="C00000"/>
                </a:solidFill>
              </a:rPr>
              <a:t>+ </a:t>
            </a:r>
            <a:r>
              <a:rPr lang="zh-CN" altLang="en-US" sz="2000" b="0" dirty="0">
                <a:solidFill>
                  <a:srgbClr val="C00000"/>
                </a:solidFill>
              </a:rPr>
              <a:t>和</a:t>
            </a:r>
            <a:r>
              <a:rPr lang="en-US" altLang="zh-CN" sz="2000" b="0" dirty="0">
                <a:solidFill>
                  <a:srgbClr val="C00000"/>
                </a:solidFill>
              </a:rPr>
              <a:t>NADP</a:t>
            </a:r>
            <a:r>
              <a:rPr lang="en-US" altLang="zh-CN" sz="2000" b="0" baseline="30000" dirty="0">
                <a:solidFill>
                  <a:srgbClr val="C00000"/>
                </a:solidFill>
              </a:rPr>
              <a:t>+ </a:t>
            </a:r>
            <a:r>
              <a:rPr lang="zh-CN" altLang="en-US" sz="2000" b="0" dirty="0"/>
              <a:t>并不表示分子带正电荷 ，实际上这两个辅酶带负电荷。</a:t>
            </a:r>
            <a:r>
              <a:rPr lang="zh-CN" altLang="en-US" sz="2000" b="0" dirty="0">
                <a:solidFill>
                  <a:srgbClr val="0000CC"/>
                </a:solidFill>
              </a:rPr>
              <a:t>右上角“</a:t>
            </a:r>
            <a:r>
              <a:rPr lang="en-US" altLang="zh-CN" sz="2000" b="0" dirty="0">
                <a:solidFill>
                  <a:srgbClr val="0000CC"/>
                </a:solidFill>
              </a:rPr>
              <a:t>+</a:t>
            </a:r>
            <a:r>
              <a:rPr lang="zh-CN" altLang="en-US" sz="2000" b="0" dirty="0">
                <a:solidFill>
                  <a:srgbClr val="0000CC"/>
                </a:solidFill>
              </a:rPr>
              <a:t>”只是表示烟酰胺环的解离形式，氮原子带一个正电荷。</a:t>
            </a:r>
            <a:endParaRPr lang="en-US" altLang="zh-CN" sz="2000" b="0" dirty="0">
              <a:solidFill>
                <a:srgbClr val="0000CC"/>
              </a:solidFill>
            </a:endParaRPr>
          </a:p>
          <a:p>
            <a:pPr>
              <a:lnSpc>
                <a:spcPct val="110000"/>
              </a:lnSpc>
            </a:pPr>
            <a:r>
              <a:rPr lang="zh-CN" altLang="en-US" sz="2000" b="0" dirty="0"/>
              <a:t>被还原时它们接受一个</a:t>
            </a:r>
            <a:r>
              <a:rPr lang="zh-CN" altLang="en-US" sz="2000" b="0" dirty="0">
                <a:solidFill>
                  <a:srgbClr val="0000CC"/>
                </a:solidFill>
              </a:rPr>
              <a:t>氢负离子</a:t>
            </a:r>
            <a:r>
              <a:rPr lang="zh-CN" altLang="en-US" sz="2000" b="0" dirty="0"/>
              <a:t>（即两个电子和一个质子）， </a:t>
            </a:r>
            <a:r>
              <a:rPr lang="zh-CN" altLang="en-US" sz="2000" b="0" dirty="0">
                <a:solidFill>
                  <a:srgbClr val="C00000"/>
                </a:solidFill>
              </a:rPr>
              <a:t>还原态写为</a:t>
            </a:r>
            <a:r>
              <a:rPr lang="en-US" altLang="zh-CN" sz="2000" b="0" dirty="0">
                <a:solidFill>
                  <a:srgbClr val="C00000"/>
                </a:solidFill>
              </a:rPr>
              <a:t>NADH</a:t>
            </a:r>
            <a:r>
              <a:rPr lang="zh-CN" altLang="en-US" sz="2000" b="0" dirty="0">
                <a:solidFill>
                  <a:srgbClr val="C00000"/>
                </a:solidFill>
              </a:rPr>
              <a:t>和</a:t>
            </a:r>
            <a:r>
              <a:rPr lang="en-US" altLang="zh-CN" sz="2000" b="0" dirty="0">
                <a:solidFill>
                  <a:srgbClr val="C00000"/>
                </a:solidFill>
              </a:rPr>
              <a:t>NADPH</a:t>
            </a:r>
            <a:r>
              <a:rPr lang="zh-CN" altLang="en-US" sz="2000" b="0" dirty="0"/>
              <a:t>。</a:t>
            </a:r>
            <a:endParaRPr lang="zh-CN" altLang="en-US" sz="2000" b="0" dirty="0"/>
          </a:p>
        </p:txBody>
      </p:sp>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1524001"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100355" name="Text Box 3"/>
          <p:cNvSpPr txBox="1">
            <a:spLocks noChangeArrowheads="1"/>
          </p:cNvSpPr>
          <p:nvPr/>
        </p:nvSpPr>
        <p:spPr bwMode="auto">
          <a:xfrm>
            <a:off x="4244976" y="574676"/>
            <a:ext cx="68040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1500" indent="-5715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t>⑺甘油酸</a:t>
            </a:r>
            <a:r>
              <a:rPr kumimoji="1" lang="en-US" altLang="zh-CN" sz="2800" dirty="0"/>
              <a:t>-</a:t>
            </a:r>
            <a:r>
              <a:rPr kumimoji="1" lang="zh-CN" altLang="en-US" sz="2800" dirty="0"/>
              <a:t>1,3-二磷酸转变成甘油酸</a:t>
            </a:r>
            <a:r>
              <a:rPr kumimoji="1" lang="en-US" altLang="zh-CN" sz="2800" dirty="0"/>
              <a:t>-</a:t>
            </a:r>
            <a:r>
              <a:rPr kumimoji="1" lang="zh-CN" altLang="en-US" sz="2800" dirty="0"/>
              <a:t>3-磷酸</a:t>
            </a:r>
            <a:endParaRPr kumimoji="1" lang="zh-CN" altLang="en-US" sz="2800" dirty="0"/>
          </a:p>
        </p:txBody>
      </p:sp>
      <p:grpSp>
        <p:nvGrpSpPr>
          <p:cNvPr id="2" name="Group 4"/>
          <p:cNvGrpSpPr/>
          <p:nvPr/>
        </p:nvGrpSpPr>
        <p:grpSpPr bwMode="auto">
          <a:xfrm>
            <a:off x="6726609" y="2468564"/>
            <a:ext cx="2374900" cy="1189037"/>
            <a:chOff x="2699" y="935"/>
            <a:chExt cx="1496" cy="749"/>
          </a:xfrm>
        </p:grpSpPr>
        <p:sp>
          <p:nvSpPr>
            <p:cNvPr id="100423" name="Line 5"/>
            <p:cNvSpPr>
              <a:spLocks noChangeShapeType="1"/>
            </p:cNvSpPr>
            <p:nvPr/>
          </p:nvSpPr>
          <p:spPr bwMode="auto">
            <a:xfrm flipV="1">
              <a:off x="2699" y="1388"/>
              <a:ext cx="1496"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24" name="Text Box 6"/>
            <p:cNvSpPr txBox="1">
              <a:spLocks noChangeArrowheads="1"/>
            </p:cNvSpPr>
            <p:nvPr/>
          </p:nvSpPr>
          <p:spPr bwMode="auto">
            <a:xfrm>
              <a:off x="2744" y="935"/>
              <a:ext cx="8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solidFill>
                    <a:schemeClr val="bg1"/>
                  </a:solidFill>
                  <a:latin typeface="Arial" panose="020B0604020202020204" pitchFamily="34" charset="0"/>
                  <a:ea typeface="宋体" panose="02010600030101010101" pitchFamily="2" charset="-122"/>
                </a:rPr>
                <a:t>ADP</a:t>
              </a:r>
              <a:r>
                <a:rPr kumimoji="1" lang="en-US" altLang="zh-CN" sz="2000" b="0">
                  <a:latin typeface="Arial" panose="020B0604020202020204" pitchFamily="34" charset="0"/>
                  <a:ea typeface="宋体" panose="02010600030101010101" pitchFamily="2" charset="-122"/>
                </a:rPr>
                <a:t>         </a:t>
              </a:r>
              <a:r>
                <a:rPr kumimoji="1" lang="en-US" altLang="zh-CN" sz="2000">
                  <a:solidFill>
                    <a:srgbClr val="F78FF5"/>
                  </a:solidFill>
                  <a:latin typeface="Arial" panose="020B0604020202020204" pitchFamily="34" charset="0"/>
                  <a:ea typeface="宋体" panose="02010600030101010101" pitchFamily="2" charset="-122"/>
                </a:rPr>
                <a:t> </a:t>
              </a:r>
              <a:endParaRPr kumimoji="1" lang="en-US" altLang="zh-CN" sz="2000">
                <a:solidFill>
                  <a:srgbClr val="F78FF5"/>
                </a:solidFill>
                <a:latin typeface="Arial" panose="020B0604020202020204" pitchFamily="34" charset="0"/>
                <a:ea typeface="宋体" panose="02010600030101010101" pitchFamily="2" charset="-122"/>
              </a:endParaRPr>
            </a:p>
          </p:txBody>
        </p:sp>
        <p:sp>
          <p:nvSpPr>
            <p:cNvPr id="100425" name="Line 7"/>
            <p:cNvSpPr>
              <a:spLocks noChangeShapeType="1"/>
            </p:cNvSpPr>
            <p:nvPr/>
          </p:nvSpPr>
          <p:spPr bwMode="auto">
            <a:xfrm>
              <a:off x="2971" y="1162"/>
              <a:ext cx="224" cy="225"/>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0426" name="Line 8"/>
            <p:cNvSpPr>
              <a:spLocks noChangeShapeType="1"/>
            </p:cNvSpPr>
            <p:nvPr/>
          </p:nvSpPr>
          <p:spPr bwMode="auto">
            <a:xfrm flipV="1">
              <a:off x="3651" y="1162"/>
              <a:ext cx="182" cy="237"/>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27" name="Rectangle 9"/>
            <p:cNvSpPr>
              <a:spLocks noChangeArrowheads="1"/>
            </p:cNvSpPr>
            <p:nvPr/>
          </p:nvSpPr>
          <p:spPr bwMode="auto">
            <a:xfrm>
              <a:off x="2835" y="1434"/>
              <a:ext cx="1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chemeClr val="bg1"/>
                  </a:solidFill>
                  <a:ea typeface="黑体" panose="02010609060101010101" pitchFamily="2" charset="-122"/>
                </a:rPr>
                <a:t>磷酸甘油酸激酶</a:t>
              </a:r>
              <a:r>
                <a:rPr kumimoji="1" lang="zh-CN" altLang="en-US" sz="2000">
                  <a:ea typeface="黑体" panose="02010609060101010101" pitchFamily="2" charset="-122"/>
                </a:rPr>
                <a:t>  </a:t>
              </a:r>
              <a:endParaRPr kumimoji="1" lang="zh-CN" altLang="en-US" sz="2000">
                <a:ea typeface="黑体" panose="02010609060101010101" pitchFamily="2" charset="-122"/>
              </a:endParaRPr>
            </a:p>
          </p:txBody>
        </p:sp>
      </p:grpSp>
      <p:sp>
        <p:nvSpPr>
          <p:cNvPr id="155658" name="Rectangle 10"/>
          <p:cNvSpPr>
            <a:spLocks noChangeArrowheads="1"/>
          </p:cNvSpPr>
          <p:nvPr/>
        </p:nvSpPr>
        <p:spPr bwMode="auto">
          <a:xfrm>
            <a:off x="1595439" y="4184651"/>
            <a:ext cx="2268537" cy="936625"/>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100358" name="Group 11"/>
          <p:cNvGrpSpPr/>
          <p:nvPr/>
        </p:nvGrpSpPr>
        <p:grpSpPr bwMode="auto">
          <a:xfrm>
            <a:off x="4602534" y="2278063"/>
            <a:ext cx="2235200" cy="2559050"/>
            <a:chOff x="1565" y="1207"/>
            <a:chExt cx="1278" cy="1612"/>
          </a:xfrm>
        </p:grpSpPr>
        <p:sp>
          <p:nvSpPr>
            <p:cNvPr id="100421" name="Text Box 12"/>
            <p:cNvSpPr txBox="1">
              <a:spLocks noChangeArrowheads="1"/>
            </p:cNvSpPr>
            <p:nvPr/>
          </p:nvSpPr>
          <p:spPr bwMode="auto">
            <a:xfrm>
              <a:off x="1701" y="2296"/>
              <a:ext cx="1083"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None/>
              </a:pPr>
              <a:r>
                <a:rPr kumimoji="1" lang="zh-CN" altLang="en-US" sz="2400" dirty="0">
                  <a:solidFill>
                    <a:schemeClr val="bg1"/>
                  </a:solidFill>
                  <a:ea typeface="华文楷体" panose="02010600040101010101" pitchFamily="2" charset="-122"/>
                </a:rPr>
                <a:t>甘油酸</a:t>
              </a:r>
              <a:r>
                <a:rPr kumimoji="1" lang="en-US" altLang="zh-CN" sz="2400" dirty="0">
                  <a:solidFill>
                    <a:schemeClr val="bg1"/>
                  </a:solidFill>
                  <a:ea typeface="华文楷体" panose="02010600040101010101" pitchFamily="2" charset="-122"/>
                </a:rPr>
                <a:t>-</a:t>
              </a:r>
              <a:endParaRPr kumimoji="1" lang="zh-CN" altLang="en-US" sz="2400" dirty="0">
                <a:solidFill>
                  <a:schemeClr val="bg1"/>
                </a:solidFill>
                <a:ea typeface="华文楷体" panose="02010600040101010101" pitchFamily="2" charset="-122"/>
              </a:endParaRPr>
            </a:p>
            <a:p>
              <a:pPr algn="ctr" eaLnBrk="1" hangingPunct="1">
                <a:spcBef>
                  <a:spcPct val="0"/>
                </a:spcBef>
                <a:buClrTx/>
                <a:buSzTx/>
                <a:buFontTx/>
                <a:buNone/>
              </a:pPr>
              <a:r>
                <a:rPr kumimoji="1" lang="zh-CN" altLang="en-US" sz="2400" dirty="0">
                  <a:solidFill>
                    <a:schemeClr val="bg1"/>
                  </a:solidFill>
                  <a:ea typeface="华文楷体" panose="02010600040101010101" pitchFamily="2" charset="-122"/>
                </a:rPr>
                <a:t>1,3-二磷酸 </a:t>
              </a:r>
              <a:endParaRPr kumimoji="1" lang="zh-CN" altLang="en-US" sz="2400" dirty="0">
                <a:solidFill>
                  <a:schemeClr val="bg1"/>
                </a:solidFill>
                <a:ea typeface="华文楷体" panose="02010600040101010101" pitchFamily="2" charset="-122"/>
              </a:endParaRPr>
            </a:p>
          </p:txBody>
        </p:sp>
        <p:graphicFrame>
          <p:nvGraphicFramePr>
            <p:cNvPr id="100422" name="Object 13"/>
            <p:cNvGraphicFramePr>
              <a:graphicFrameLocks noChangeAspect="1"/>
            </p:cNvGraphicFramePr>
            <p:nvPr/>
          </p:nvGraphicFramePr>
          <p:xfrm>
            <a:off x="1565" y="1207"/>
            <a:ext cx="1278" cy="1086"/>
          </p:xfrm>
          <a:graphic>
            <a:graphicData uri="http://schemas.openxmlformats.org/presentationml/2006/ole">
              <mc:AlternateContent xmlns:mc="http://schemas.openxmlformats.org/markup-compatibility/2006">
                <mc:Choice xmlns:v="urn:schemas-microsoft-com:vml" Requires="v">
                  <p:oleObj spid="_x0000_s3" name="Document" r:id="rId1" imgW="2028825" imgH="1724025" progId="">
                    <p:embed/>
                  </p:oleObj>
                </mc:Choice>
                <mc:Fallback>
                  <p:oleObj name="Document" r:id="rId1" imgW="2028825" imgH="1724025" progId="">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5" y="1207"/>
                          <a:ext cx="1278" cy="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14"/>
          <p:cNvGrpSpPr/>
          <p:nvPr/>
        </p:nvGrpSpPr>
        <p:grpSpPr bwMode="auto">
          <a:xfrm>
            <a:off x="9047534" y="2373314"/>
            <a:ext cx="2305050" cy="2189163"/>
            <a:chOff x="4332" y="1344"/>
            <a:chExt cx="1344" cy="1379"/>
          </a:xfrm>
        </p:grpSpPr>
        <p:sp>
          <p:nvSpPr>
            <p:cNvPr id="100419" name="Text Box 15"/>
            <p:cNvSpPr txBox="1">
              <a:spLocks noChangeArrowheads="1"/>
            </p:cNvSpPr>
            <p:nvPr/>
          </p:nvSpPr>
          <p:spPr bwMode="auto">
            <a:xfrm>
              <a:off x="4332" y="2432"/>
              <a:ext cx="1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chemeClr val="bg1"/>
                  </a:solidFill>
                  <a:ea typeface="华文楷体" panose="02010600040101010101" pitchFamily="2" charset="-122"/>
                </a:rPr>
                <a:t>甘油酸</a:t>
              </a:r>
              <a:r>
                <a:rPr kumimoji="1" lang="en-US" altLang="zh-CN" sz="2400" dirty="0">
                  <a:solidFill>
                    <a:schemeClr val="bg1"/>
                  </a:solidFill>
                  <a:ea typeface="华文楷体" panose="02010600040101010101" pitchFamily="2" charset="-122"/>
                </a:rPr>
                <a:t>-</a:t>
              </a:r>
              <a:r>
                <a:rPr kumimoji="1" lang="zh-CN" altLang="en-US" sz="2400" dirty="0">
                  <a:solidFill>
                    <a:schemeClr val="bg1"/>
                  </a:solidFill>
                  <a:ea typeface="华文楷体" panose="02010600040101010101" pitchFamily="2" charset="-122"/>
                </a:rPr>
                <a:t>3-磷酸</a:t>
              </a:r>
              <a:endParaRPr kumimoji="1" lang="zh-CN" altLang="en-US" sz="2400" dirty="0">
                <a:solidFill>
                  <a:schemeClr val="tx2"/>
                </a:solidFill>
                <a:latin typeface="Arial" panose="020B0604020202020204" pitchFamily="34" charset="0"/>
                <a:ea typeface="华文楷体" panose="02010600040101010101" pitchFamily="2" charset="-122"/>
              </a:endParaRPr>
            </a:p>
          </p:txBody>
        </p:sp>
        <p:graphicFrame>
          <p:nvGraphicFramePr>
            <p:cNvPr id="100420" name="Object 16"/>
            <p:cNvGraphicFramePr>
              <a:graphicFrameLocks noChangeAspect="1"/>
            </p:cNvGraphicFramePr>
            <p:nvPr/>
          </p:nvGraphicFramePr>
          <p:xfrm>
            <a:off x="4468" y="1344"/>
            <a:ext cx="1050" cy="1068"/>
          </p:xfrm>
          <a:graphic>
            <a:graphicData uri="http://schemas.openxmlformats.org/presentationml/2006/ole">
              <mc:AlternateContent xmlns:mc="http://schemas.openxmlformats.org/markup-compatibility/2006">
                <mc:Choice xmlns:v="urn:schemas-microsoft-com:vml" Requires="v">
                  <p:oleObj spid="_x0000_s5" name="Document" r:id="rId3" imgW="1666875" imgH="1695450" progId="">
                    <p:embed/>
                  </p:oleObj>
                </mc:Choice>
                <mc:Fallback>
                  <p:oleObj name="Document" r:id="rId3" imgW="1666875" imgH="1695450" progId="">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8" y="1344"/>
                          <a:ext cx="1050" cy="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0360" name="Group 18"/>
          <p:cNvGrpSpPr/>
          <p:nvPr/>
        </p:nvGrpSpPr>
        <p:grpSpPr bwMode="auto">
          <a:xfrm>
            <a:off x="1524000" y="1"/>
            <a:ext cx="2374900" cy="6861175"/>
            <a:chOff x="0" y="-2"/>
            <a:chExt cx="1496" cy="4322"/>
          </a:xfrm>
        </p:grpSpPr>
        <p:sp>
          <p:nvSpPr>
            <p:cNvPr id="100368" name="Text Box 19"/>
            <p:cNvSpPr txBox="1">
              <a:spLocks noChangeArrowheads="1"/>
            </p:cNvSpPr>
            <p:nvPr/>
          </p:nvSpPr>
          <p:spPr bwMode="auto">
            <a:xfrm>
              <a:off x="336" y="-2"/>
              <a:ext cx="7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100369" name="Text Box 20"/>
            <p:cNvSpPr txBox="1">
              <a:spLocks noChangeArrowheads="1"/>
            </p:cNvSpPr>
            <p:nvPr/>
          </p:nvSpPr>
          <p:spPr bwMode="auto">
            <a:xfrm>
              <a:off x="336" y="478"/>
              <a:ext cx="5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100370" name="Text Box 21"/>
            <p:cNvSpPr txBox="1">
              <a:spLocks noChangeArrowheads="1"/>
            </p:cNvSpPr>
            <p:nvPr/>
          </p:nvSpPr>
          <p:spPr bwMode="auto">
            <a:xfrm>
              <a:off x="288" y="91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100371" name="Text Box 22"/>
            <p:cNvSpPr txBox="1">
              <a:spLocks noChangeArrowheads="1"/>
            </p:cNvSpPr>
            <p:nvPr/>
          </p:nvSpPr>
          <p:spPr bwMode="auto">
            <a:xfrm>
              <a:off x="192" y="1390"/>
              <a:ext cx="7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100372" name="Line 23"/>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373" name="Text Box 24"/>
            <p:cNvSpPr txBox="1">
              <a:spLocks noChangeArrowheads="1"/>
            </p:cNvSpPr>
            <p:nvPr/>
          </p:nvSpPr>
          <p:spPr bwMode="auto">
            <a:xfrm>
              <a:off x="720" y="143"/>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0374" name="Group 25"/>
            <p:cNvGrpSpPr/>
            <p:nvPr/>
          </p:nvGrpSpPr>
          <p:grpSpPr bwMode="auto">
            <a:xfrm>
              <a:off x="528" y="240"/>
              <a:ext cx="192" cy="240"/>
              <a:chOff x="480" y="336"/>
              <a:chExt cx="144" cy="240"/>
            </a:xfrm>
          </p:grpSpPr>
          <p:sp>
            <p:nvSpPr>
              <p:cNvPr id="100416" name="Line 26"/>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17" name="Line 27"/>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0418" name="Line 28"/>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0375" name="Text Box 29"/>
            <p:cNvSpPr txBox="1">
              <a:spLocks noChangeArrowheads="1"/>
            </p:cNvSpPr>
            <p:nvPr/>
          </p:nvSpPr>
          <p:spPr bwMode="auto">
            <a:xfrm>
              <a:off x="720" y="363"/>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0376" name="Text Box 30"/>
            <p:cNvSpPr txBox="1">
              <a:spLocks noChangeArrowheads="1"/>
            </p:cNvSpPr>
            <p:nvPr/>
          </p:nvSpPr>
          <p:spPr bwMode="auto">
            <a:xfrm>
              <a:off x="720" y="1037"/>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0377" name="Group 31"/>
            <p:cNvGrpSpPr/>
            <p:nvPr/>
          </p:nvGrpSpPr>
          <p:grpSpPr bwMode="auto">
            <a:xfrm>
              <a:off x="528" y="1104"/>
              <a:ext cx="240" cy="288"/>
              <a:chOff x="432" y="1296"/>
              <a:chExt cx="144" cy="288"/>
            </a:xfrm>
          </p:grpSpPr>
          <p:sp>
            <p:nvSpPr>
              <p:cNvPr id="100413" name="Line 32"/>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14" name="Line 33"/>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0415" name="Line 34"/>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0378" name="Text Box 35"/>
            <p:cNvSpPr txBox="1">
              <a:spLocks noChangeArrowheads="1"/>
            </p:cNvSpPr>
            <p:nvPr/>
          </p:nvSpPr>
          <p:spPr bwMode="auto">
            <a:xfrm>
              <a:off x="720" y="1229"/>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0379" name="Text Box 36"/>
            <p:cNvSpPr txBox="1">
              <a:spLocks noChangeArrowheads="1"/>
            </p:cNvSpPr>
            <p:nvPr/>
          </p:nvSpPr>
          <p:spPr bwMode="auto">
            <a:xfrm>
              <a:off x="15" y="2601"/>
              <a:ext cx="13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100380" name="Text Box 37"/>
            <p:cNvSpPr txBox="1">
              <a:spLocks noChangeArrowheads="1"/>
            </p:cNvSpPr>
            <p:nvPr/>
          </p:nvSpPr>
          <p:spPr bwMode="auto">
            <a:xfrm>
              <a:off x="432" y="3033"/>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100381" name="Text Box 38"/>
            <p:cNvSpPr txBox="1">
              <a:spLocks noChangeArrowheads="1"/>
            </p:cNvSpPr>
            <p:nvPr/>
          </p:nvSpPr>
          <p:spPr bwMode="auto">
            <a:xfrm>
              <a:off x="414" y="3369"/>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100382" name="Text Box 39"/>
            <p:cNvSpPr txBox="1">
              <a:spLocks noChangeArrowheads="1"/>
            </p:cNvSpPr>
            <p:nvPr/>
          </p:nvSpPr>
          <p:spPr bwMode="auto">
            <a:xfrm>
              <a:off x="624" y="4070"/>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100383" name="Line 40"/>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384" name="Line 41"/>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385" name="Text Box 42"/>
            <p:cNvSpPr txBox="1">
              <a:spLocks noChangeArrowheads="1"/>
            </p:cNvSpPr>
            <p:nvPr/>
          </p:nvSpPr>
          <p:spPr bwMode="auto">
            <a:xfrm>
              <a:off x="0" y="1872"/>
              <a:ext cx="5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100386" name="Text Box 43"/>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100387" name="Group 44"/>
            <p:cNvGrpSpPr/>
            <p:nvPr/>
          </p:nvGrpSpPr>
          <p:grpSpPr bwMode="auto">
            <a:xfrm>
              <a:off x="240" y="1584"/>
              <a:ext cx="624" cy="336"/>
              <a:chOff x="3888" y="576"/>
              <a:chExt cx="624" cy="336"/>
            </a:xfrm>
          </p:grpSpPr>
          <p:sp>
            <p:nvSpPr>
              <p:cNvPr id="100409" name="Line 45"/>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0410" name="Group 46"/>
              <p:cNvGrpSpPr/>
              <p:nvPr/>
            </p:nvGrpSpPr>
            <p:grpSpPr bwMode="auto">
              <a:xfrm>
                <a:off x="3888" y="576"/>
                <a:ext cx="288" cy="336"/>
                <a:chOff x="3888" y="576"/>
                <a:chExt cx="288" cy="336"/>
              </a:xfrm>
            </p:grpSpPr>
            <p:sp>
              <p:nvSpPr>
                <p:cNvPr id="100411" name="Line 47"/>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12" name="Line 48"/>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0388" name="Line 49"/>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389" name="Text Box 50"/>
            <p:cNvSpPr txBox="1">
              <a:spLocks noChangeArrowheads="1"/>
            </p:cNvSpPr>
            <p:nvPr/>
          </p:nvSpPr>
          <p:spPr bwMode="auto">
            <a:xfrm>
              <a:off x="288" y="2285"/>
              <a:ext cx="44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100390" name="Text Box 51"/>
            <p:cNvSpPr txBox="1">
              <a:spLocks noChangeArrowheads="1"/>
            </p:cNvSpPr>
            <p:nvPr/>
          </p:nvSpPr>
          <p:spPr bwMode="auto">
            <a:xfrm>
              <a:off x="0" y="2462"/>
              <a:ext cx="7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100391" name="Text Box 52"/>
            <p:cNvSpPr txBox="1">
              <a:spLocks noChangeArrowheads="1"/>
            </p:cNvSpPr>
            <p:nvPr/>
          </p:nvSpPr>
          <p:spPr bwMode="auto">
            <a:xfrm>
              <a:off x="432" y="2783"/>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100392" name="Group 53"/>
            <p:cNvGrpSpPr/>
            <p:nvPr/>
          </p:nvGrpSpPr>
          <p:grpSpPr bwMode="auto">
            <a:xfrm>
              <a:off x="816" y="2784"/>
              <a:ext cx="336" cy="288"/>
              <a:chOff x="912" y="2736"/>
              <a:chExt cx="336" cy="384"/>
            </a:xfrm>
          </p:grpSpPr>
          <p:sp>
            <p:nvSpPr>
              <p:cNvPr id="100405" name="Line 54"/>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0406" name="Group 55"/>
              <p:cNvGrpSpPr/>
              <p:nvPr/>
            </p:nvGrpSpPr>
            <p:grpSpPr bwMode="auto">
              <a:xfrm>
                <a:off x="912" y="2880"/>
                <a:ext cx="336" cy="192"/>
                <a:chOff x="4560" y="2127"/>
                <a:chExt cx="336" cy="192"/>
              </a:xfrm>
            </p:grpSpPr>
            <p:sp>
              <p:nvSpPr>
                <p:cNvPr id="100407" name="Line 56"/>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0408" name="Line 57"/>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0393" name="Text Box 58"/>
            <p:cNvSpPr txBox="1">
              <a:spLocks noChangeArrowheads="1"/>
            </p:cNvSpPr>
            <p:nvPr/>
          </p:nvSpPr>
          <p:spPr bwMode="auto">
            <a:xfrm>
              <a:off x="1104" y="2880"/>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100394" name="Text Box 59"/>
            <p:cNvSpPr txBox="1">
              <a:spLocks noChangeArrowheads="1"/>
            </p:cNvSpPr>
            <p:nvPr/>
          </p:nvSpPr>
          <p:spPr bwMode="auto">
            <a:xfrm>
              <a:off x="480" y="3887"/>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100395" name="Text Box 60"/>
            <p:cNvSpPr txBox="1">
              <a:spLocks noChangeArrowheads="1"/>
            </p:cNvSpPr>
            <p:nvPr/>
          </p:nvSpPr>
          <p:spPr bwMode="auto">
            <a:xfrm>
              <a:off x="1104" y="3966"/>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100396" name="Group 61"/>
            <p:cNvGrpSpPr/>
            <p:nvPr/>
          </p:nvGrpSpPr>
          <p:grpSpPr bwMode="auto">
            <a:xfrm>
              <a:off x="720" y="2256"/>
              <a:ext cx="240" cy="384"/>
              <a:chOff x="4512" y="1248"/>
              <a:chExt cx="240" cy="432"/>
            </a:xfrm>
          </p:grpSpPr>
          <p:sp>
            <p:nvSpPr>
              <p:cNvPr id="100402" name="Line 62"/>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03" name="Line 63"/>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04" name="Line 64"/>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00397" name="Text Box 65"/>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100398" name="Group 66"/>
            <p:cNvGrpSpPr/>
            <p:nvPr/>
          </p:nvGrpSpPr>
          <p:grpSpPr bwMode="auto">
            <a:xfrm>
              <a:off x="816" y="3888"/>
              <a:ext cx="336" cy="240"/>
              <a:chOff x="912" y="3888"/>
              <a:chExt cx="336" cy="240"/>
            </a:xfrm>
          </p:grpSpPr>
          <p:sp>
            <p:nvSpPr>
              <p:cNvPr id="100399" name="Line 67"/>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0400" name="Line 68"/>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0401" name="Line 69"/>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70" name="文本框 69"/>
          <p:cNvSpPr txBox="1">
            <a:spLocks noChangeArrowheads="1"/>
          </p:cNvSpPr>
          <p:nvPr/>
        </p:nvSpPr>
        <p:spPr bwMode="auto">
          <a:xfrm>
            <a:off x="9091984" y="3021013"/>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a:t>
            </a:r>
            <a:endParaRPr lang="zh-CN" altLang="en-US" sz="1800">
              <a:solidFill>
                <a:schemeClr val="bg1"/>
              </a:solidFill>
              <a:latin typeface="Arial" panose="020B0604020202020204" pitchFamily="34" charset="0"/>
              <a:ea typeface="宋体" panose="02010600030101010101" pitchFamily="2" charset="-122"/>
            </a:endParaRPr>
          </a:p>
        </p:txBody>
      </p:sp>
      <p:sp>
        <p:nvSpPr>
          <p:cNvPr id="71" name="文本框 70"/>
          <p:cNvSpPr txBox="1">
            <a:spLocks noChangeArrowheads="1"/>
          </p:cNvSpPr>
          <p:nvPr/>
        </p:nvSpPr>
        <p:spPr bwMode="auto">
          <a:xfrm>
            <a:off x="4813672" y="2960688"/>
            <a:ext cx="2143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a:t>
            </a:r>
            <a:endParaRPr lang="zh-CN" altLang="en-US" sz="1800">
              <a:solidFill>
                <a:schemeClr val="bg1"/>
              </a:solidFill>
              <a:latin typeface="Arial" panose="020B0604020202020204" pitchFamily="34" charset="0"/>
              <a:ea typeface="宋体" panose="02010600030101010101" pitchFamily="2" charset="-122"/>
            </a:endParaRPr>
          </a:p>
        </p:txBody>
      </p:sp>
      <p:grpSp>
        <p:nvGrpSpPr>
          <p:cNvPr id="98315" name="组合 71"/>
          <p:cNvGrpSpPr/>
          <p:nvPr/>
        </p:nvGrpSpPr>
        <p:grpSpPr bwMode="auto">
          <a:xfrm>
            <a:off x="7983910" y="1484313"/>
            <a:ext cx="1609725" cy="1441450"/>
            <a:chOff x="6444392" y="1627511"/>
            <a:chExt cx="1609725" cy="1441449"/>
          </a:xfrm>
        </p:grpSpPr>
        <p:sp>
          <p:nvSpPr>
            <p:cNvPr id="100366" name="爆炸形: 8 pt  72"/>
            <p:cNvSpPr>
              <a:spLocks noChangeArrowheads="1"/>
            </p:cNvSpPr>
            <p:nvPr/>
          </p:nvSpPr>
          <p:spPr bwMode="auto">
            <a:xfrm>
              <a:off x="6444392" y="1627511"/>
              <a:ext cx="1609725" cy="1441449"/>
            </a:xfrm>
            <a:prstGeom prst="irregularSeal1">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sp>
          <p:nvSpPr>
            <p:cNvPr id="100367" name="文本框 73"/>
            <p:cNvSpPr txBox="1">
              <a:spLocks noChangeArrowheads="1"/>
            </p:cNvSpPr>
            <p:nvPr/>
          </p:nvSpPr>
          <p:spPr bwMode="auto">
            <a:xfrm>
              <a:off x="6876256" y="2113692"/>
              <a:ext cx="9778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solidFill>
                    <a:srgbClr val="FFFF00"/>
                  </a:solidFill>
                  <a:latin typeface="Arial" panose="020B0604020202020204" pitchFamily="34" charset="0"/>
                  <a:ea typeface="宋体" panose="02010600030101010101" pitchFamily="2" charset="-122"/>
                </a:rPr>
                <a:t>ATP</a:t>
              </a:r>
              <a:endParaRPr lang="zh-CN" altLang="en-US" sz="2800">
                <a:solidFill>
                  <a:srgbClr val="FFFF00"/>
                </a:solidFill>
                <a:latin typeface="Arial" panose="020B0604020202020204" pitchFamily="34" charset="0"/>
                <a:ea typeface="宋体" panose="02010600030101010101" pitchFamily="2" charset="-122"/>
              </a:endParaRPr>
            </a:p>
          </p:txBody>
        </p:sp>
      </p:grpSp>
      <p:sp>
        <p:nvSpPr>
          <p:cNvPr id="100364" name="矩形 4"/>
          <p:cNvSpPr>
            <a:spLocks noChangeArrowheads="1"/>
          </p:cNvSpPr>
          <p:nvPr/>
        </p:nvSpPr>
        <p:spPr bwMode="auto">
          <a:xfrm>
            <a:off x="5037956" y="5503864"/>
            <a:ext cx="569436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kumimoji="1" lang="zh-CN" altLang="en-US" sz="2800" b="0" dirty="0">
                <a:solidFill>
                  <a:srgbClr val="FFFF00"/>
                </a:solidFill>
                <a:latin typeface="微软雅黑" panose="020B0503020204020204" pitchFamily="34" charset="-122"/>
                <a:ea typeface="微软雅黑" panose="020B0503020204020204" pitchFamily="34" charset="-122"/>
              </a:rPr>
              <a:t>底物水平磷酸化</a:t>
            </a:r>
            <a:endParaRPr kumimoji="1" lang="en-US" altLang="zh-CN" sz="2800" b="0" dirty="0">
              <a:solidFill>
                <a:srgbClr val="FFFF00"/>
              </a:solidFill>
              <a:latin typeface="微软雅黑" panose="020B0503020204020204" pitchFamily="34" charset="-122"/>
              <a:ea typeface="微软雅黑" panose="020B0503020204020204" pitchFamily="34" charset="-122"/>
            </a:endParaRPr>
          </a:p>
          <a:p>
            <a:pPr>
              <a:spcBef>
                <a:spcPct val="0"/>
              </a:spcBef>
              <a:buClrTx/>
              <a:buSzTx/>
              <a:buFontTx/>
              <a:buNone/>
            </a:pPr>
            <a:r>
              <a:rPr kumimoji="1" lang="zh-CN" altLang="en-US" sz="2400" b="0" dirty="0">
                <a:solidFill>
                  <a:srgbClr val="FFFF00"/>
                </a:solidFill>
                <a:latin typeface="微软雅黑" panose="020B0503020204020204" pitchFamily="34" charset="-122"/>
                <a:ea typeface="微软雅黑" panose="020B0503020204020204" pitchFamily="34" charset="-122"/>
              </a:rPr>
              <a:t>(</a:t>
            </a:r>
            <a:r>
              <a:rPr kumimoji="1" lang="en-US" altLang="zh-CN" sz="2400" b="0" dirty="0">
                <a:solidFill>
                  <a:srgbClr val="FFFF00"/>
                </a:solidFill>
                <a:latin typeface="微软雅黑" panose="020B0503020204020204" pitchFamily="34" charset="-122"/>
                <a:ea typeface="微软雅黑" panose="020B0503020204020204" pitchFamily="34" charset="-122"/>
              </a:rPr>
              <a:t>substrate-level phosphorylation) </a:t>
            </a:r>
            <a:endParaRPr lang="zh-CN" altLang="en-US" sz="2400" dirty="0">
              <a:solidFill>
                <a:srgbClr val="FFFF00"/>
              </a:solidFill>
              <a:latin typeface="微软雅黑" panose="020B0503020204020204" pitchFamily="34" charset="-122"/>
              <a:ea typeface="微软雅黑" panose="020B0503020204020204" pitchFamily="34" charset="-122"/>
            </a:endParaRPr>
          </a:p>
        </p:txBody>
      </p:sp>
      <p:sp>
        <p:nvSpPr>
          <p:cNvPr id="100365" name="矩形 5"/>
          <p:cNvSpPr>
            <a:spLocks noChangeArrowheads="1"/>
          </p:cNvSpPr>
          <p:nvPr/>
        </p:nvSpPr>
        <p:spPr bwMode="auto">
          <a:xfrm>
            <a:off x="6798048" y="3622676"/>
            <a:ext cx="2497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400">
                <a:solidFill>
                  <a:schemeClr val="bg1"/>
                </a:solidFill>
                <a:latin typeface="Arial" panose="020B0604020202020204" pitchFamily="34" charset="0"/>
                <a:ea typeface="宋体" panose="02010600030101010101" pitchFamily="2" charset="-122"/>
              </a:rPr>
              <a:t>(</a:t>
            </a:r>
            <a:r>
              <a:rPr kumimoji="1" lang="en-US" altLang="zh-CN" sz="1400">
                <a:solidFill>
                  <a:schemeClr val="bg1"/>
                </a:solidFill>
                <a:latin typeface="Arial" panose="020B0604020202020204" pitchFamily="34" charset="0"/>
                <a:ea typeface="宋体" panose="02010600030101010101" pitchFamily="2" charset="-122"/>
              </a:rPr>
              <a:t>phosphoglycerate kinase) </a:t>
            </a:r>
            <a:endParaRPr kumimoji="1" lang="en-US" altLang="zh-CN" sz="1400">
              <a:solidFill>
                <a:schemeClr val="bg1"/>
              </a:solidFill>
              <a:latin typeface="Arial" panose="020B0604020202020204" pitchFamily="34" charset="0"/>
              <a:ea typeface="宋体" panose="02010600030101010101" pitchFamily="2" charset="-122"/>
            </a:endParaRPr>
          </a:p>
        </p:txBody>
      </p:sp>
      <p:sp>
        <p:nvSpPr>
          <p:cNvPr id="6" name="文本框 5"/>
          <p:cNvSpPr txBox="1"/>
          <p:nvPr/>
        </p:nvSpPr>
        <p:spPr>
          <a:xfrm>
            <a:off x="7545503" y="2752726"/>
            <a:ext cx="855806" cy="369332"/>
          </a:xfrm>
          <a:prstGeom prst="rect">
            <a:avLst/>
          </a:prstGeom>
          <a:noFill/>
        </p:spPr>
        <p:txBody>
          <a:bodyPr wrap="square">
            <a:spAutoFit/>
          </a:bodyPr>
          <a:lstStyle/>
          <a:p>
            <a:r>
              <a:rPr lang="en-US" altLang="zh-CN" dirty="0">
                <a:solidFill>
                  <a:schemeClr val="bg1"/>
                </a:solidFill>
              </a:rPr>
              <a:t>Mg2+</a:t>
            </a:r>
            <a:endParaRPr lang="zh-CN" altLang="en-US" dirty="0">
              <a:solidFill>
                <a:schemeClr val="bg1"/>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5658"/>
                                        </p:tgtEl>
                                        <p:attrNameLst>
                                          <p:attrName>style.visibility</p:attrName>
                                        </p:attrNameLst>
                                      </p:cBhvr>
                                      <p:to>
                                        <p:strVal val="visible"/>
                                      </p:to>
                                    </p:set>
                                    <p:animEffect transition="in" filter="box(out)">
                                      <p:cBhvr>
                                        <p:cTn id="7" dur="500"/>
                                        <p:tgtEl>
                                          <p:spTgt spid="15565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70"/>
                                        </p:tgtEl>
                                        <p:attrNameLst>
                                          <p:attrName>style.visibility</p:attrName>
                                        </p:attrNameLst>
                                      </p:cBhvr>
                                      <p:to>
                                        <p:strVal val="visible"/>
                                      </p:to>
                                    </p:set>
                                  </p:childTnLst>
                                </p:cTn>
                              </p:par>
                            </p:childTnLst>
                          </p:cTn>
                        </p:par>
                        <p:par>
                          <p:cTn id="16" fill="hold">
                            <p:stCondLst>
                              <p:cond delay="1000"/>
                            </p:stCondLst>
                            <p:childTnLst>
                              <p:par>
                                <p:cTn id="17" presetID="16" presetClass="entr" presetSubtype="26"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Horizontal)">
                                      <p:cBhvr>
                                        <p:cTn id="19" dur="500"/>
                                        <p:tgtEl>
                                          <p:spTgt spid="4"/>
                                        </p:tgtEl>
                                      </p:cBhvr>
                                    </p:animEffect>
                                  </p:childTnLst>
                                </p:cTn>
                              </p:par>
                            </p:childTnLst>
                          </p:cTn>
                        </p:par>
                        <p:par>
                          <p:cTn id="20" fill="hold">
                            <p:stCondLst>
                              <p:cond delay="1500"/>
                            </p:stCondLst>
                            <p:childTnLst>
                              <p:par>
                                <p:cTn id="21" presetID="1" presetClass="entr" presetSubtype="0" fill="hold" nodeType="afterEffect">
                                  <p:stCondLst>
                                    <p:cond delay="0"/>
                                  </p:stCondLst>
                                  <p:childTnLst>
                                    <p:set>
                                      <p:cBhvr>
                                        <p:cTn id="22" dur="1" fill="hold">
                                          <p:stCondLst>
                                            <p:cond delay="0"/>
                                          </p:stCondLst>
                                        </p:cTn>
                                        <p:tgtEl>
                                          <p:spTgt spid="98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8" grpId="0" animBg="1"/>
      <p:bldP spid="70" grpId="0"/>
      <p:bldP spid="7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a:spLocks noChangeArrowheads="1"/>
          </p:cNvSpPr>
          <p:nvPr/>
        </p:nvSpPr>
        <p:spPr bwMode="auto">
          <a:xfrm>
            <a:off x="1631504" y="1412776"/>
            <a:ext cx="8693494" cy="2304256"/>
          </a:xfrm>
          <a:prstGeom prst="rect">
            <a:avLst/>
          </a:prstGeom>
          <a:noFill/>
          <a:ln>
            <a:noFill/>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457200" indent="-457200" eaLnBrk="1" hangingPunct="1">
              <a:lnSpc>
                <a:spcPct val="130000"/>
              </a:lnSpc>
              <a:spcBef>
                <a:spcPct val="0"/>
              </a:spcBef>
              <a:buClrTx/>
              <a:buSzPct val="85000"/>
              <a:defRPr/>
            </a:pPr>
            <a:r>
              <a:rPr lang="zh-CN" altLang="en-US" sz="2800" b="0" dirty="0">
                <a:solidFill>
                  <a:srgbClr val="C00000"/>
                </a:solidFill>
                <a:latin typeface="微软雅黑" panose="020B0503020204020204" pitchFamily="34" charset="-122"/>
                <a:ea typeface="微软雅黑" panose="020B0503020204020204" pitchFamily="34" charset="-122"/>
              </a:rPr>
              <a:t>底物水平磷酸化</a:t>
            </a:r>
            <a:r>
              <a:rPr lang="zh-CN" altLang="en-US" sz="2400" b="0" dirty="0">
                <a:solidFill>
                  <a:srgbClr val="C00000"/>
                </a:solidFill>
                <a:latin typeface="微软雅黑" panose="020B0503020204020204" pitchFamily="34" charset="-122"/>
                <a:ea typeface="微软雅黑" panose="020B0503020204020204" pitchFamily="34" charset="-122"/>
              </a:rPr>
              <a:t>(</a:t>
            </a:r>
            <a:r>
              <a:rPr lang="en-US" altLang="zh-CN" sz="2400" b="0" dirty="0">
                <a:solidFill>
                  <a:srgbClr val="C00000"/>
                </a:solidFill>
                <a:latin typeface="微软雅黑" panose="020B0503020204020204" pitchFamily="34" charset="-122"/>
                <a:ea typeface="微软雅黑" panose="020B0503020204020204" pitchFamily="34" charset="-122"/>
              </a:rPr>
              <a:t>substrate-level phosphorylation)</a:t>
            </a:r>
            <a:r>
              <a:rPr lang="zh-CN" altLang="en-US" sz="2400" b="0" dirty="0">
                <a:solidFill>
                  <a:srgbClr val="C00000"/>
                </a:solidFill>
                <a:latin typeface="微软雅黑" panose="020B0503020204020204" pitchFamily="34" charset="-122"/>
                <a:ea typeface="微软雅黑" panose="020B0503020204020204" pitchFamily="34" charset="-122"/>
              </a:rPr>
              <a:t>：</a:t>
            </a:r>
            <a:r>
              <a:rPr lang="en-US" altLang="zh-CN" sz="2400" b="0" dirty="0">
                <a:solidFill>
                  <a:srgbClr val="C00000"/>
                </a:solidFill>
                <a:latin typeface="微软雅黑" panose="020B0503020204020204" pitchFamily="34" charset="-122"/>
                <a:ea typeface="微软雅黑" panose="020B0503020204020204" pitchFamily="34" charset="-122"/>
              </a:rPr>
              <a:t>    </a:t>
            </a:r>
            <a:r>
              <a:rPr kumimoji="1"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某些</a:t>
            </a:r>
            <a:r>
              <a:rPr kumimoji="1" lang="zh-CN" altLang="en-US" sz="2600" b="0" dirty="0">
                <a:solidFill>
                  <a:srgbClr val="0000FF"/>
                </a:solidFill>
                <a:latin typeface="微软雅黑" panose="020B0503020204020204" pitchFamily="34" charset="-122"/>
                <a:ea typeface="微软雅黑" panose="020B0503020204020204" pitchFamily="34" charset="-122"/>
              </a:rPr>
              <a:t>高能化合物的高能键水解释放能量</a:t>
            </a:r>
            <a:r>
              <a:rPr kumimoji="1"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，反应中将能量转移给</a:t>
            </a:r>
            <a:r>
              <a:rPr kumimoji="1"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rPr>
              <a:t>ADP</a:t>
            </a:r>
            <a:r>
              <a:rPr kumimoji="1"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或</a:t>
            </a:r>
            <a:r>
              <a:rPr kumimoji="1"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rPr>
              <a:t>GDP, </a:t>
            </a:r>
            <a:r>
              <a:rPr kumimoji="1"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使之与无机磷酸结合，</a:t>
            </a:r>
            <a:r>
              <a:rPr kumimoji="1" lang="zh-CN" altLang="en-US" sz="2600" b="0" dirty="0">
                <a:solidFill>
                  <a:srgbClr val="0000FF"/>
                </a:solidFill>
                <a:latin typeface="微软雅黑" panose="020B0503020204020204" pitchFamily="34" charset="-122"/>
                <a:ea typeface="微软雅黑" panose="020B0503020204020204" pitchFamily="34" charset="-122"/>
              </a:rPr>
              <a:t>直接生成</a:t>
            </a:r>
            <a:r>
              <a:rPr kumimoji="1" lang="en-US" altLang="zh-CN" sz="2600" b="0" dirty="0">
                <a:solidFill>
                  <a:srgbClr val="0000FF"/>
                </a:solidFill>
                <a:latin typeface="微软雅黑" panose="020B0503020204020204" pitchFamily="34" charset="-122"/>
                <a:ea typeface="微软雅黑" panose="020B0503020204020204" pitchFamily="34" charset="-122"/>
              </a:rPr>
              <a:t>ATP</a:t>
            </a:r>
            <a:r>
              <a:rPr kumimoji="1" lang="zh-CN" altLang="en-US" sz="2600" b="0" dirty="0">
                <a:solidFill>
                  <a:srgbClr val="0000FF"/>
                </a:solidFill>
                <a:latin typeface="微软雅黑" panose="020B0503020204020204" pitchFamily="34" charset="-122"/>
                <a:ea typeface="微软雅黑" panose="020B0503020204020204" pitchFamily="34" charset="-122"/>
              </a:rPr>
              <a:t>或</a:t>
            </a:r>
            <a:r>
              <a:rPr kumimoji="1" lang="en-US" altLang="zh-CN" sz="2600" b="0" dirty="0">
                <a:solidFill>
                  <a:srgbClr val="0000FF"/>
                </a:solidFill>
                <a:latin typeface="微软雅黑" panose="020B0503020204020204" pitchFamily="34" charset="-122"/>
                <a:ea typeface="微软雅黑" panose="020B0503020204020204" pitchFamily="34" charset="-122"/>
              </a:rPr>
              <a:t>GTP</a:t>
            </a:r>
            <a:r>
              <a:rPr kumimoji="1" lang="zh-CN" altLang="en-US" sz="2600" b="0" dirty="0">
                <a:solidFill>
                  <a:schemeClr val="tx1">
                    <a:lumMod val="95000"/>
                    <a:lumOff val="5000"/>
                  </a:schemeClr>
                </a:solidFill>
                <a:latin typeface="微软雅黑" panose="020B0503020204020204" pitchFamily="34" charset="-122"/>
                <a:ea typeface="微软雅黑" panose="020B0503020204020204" pitchFamily="34" charset="-122"/>
              </a:rPr>
              <a:t>的产能方式。</a:t>
            </a:r>
            <a:endParaRPr kumimoji="1" lang="en-US" altLang="zh-CN" sz="26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9331" name="矩形 1"/>
          <p:cNvSpPr>
            <a:spLocks noChangeArrowheads="1"/>
          </p:cNvSpPr>
          <p:nvPr/>
        </p:nvSpPr>
        <p:spPr bwMode="auto">
          <a:xfrm>
            <a:off x="1559496" y="4077072"/>
            <a:ext cx="8693494" cy="164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457200" indent="-457200">
              <a:lnSpc>
                <a:spcPct val="130000"/>
              </a:lnSpc>
              <a:spcBef>
                <a:spcPct val="0"/>
              </a:spcBef>
              <a:buClrTx/>
              <a:buSzTx/>
            </a:pPr>
            <a:r>
              <a:rPr lang="zh-CN" altLang="en-US" sz="2800" b="0" dirty="0">
                <a:solidFill>
                  <a:srgbClr val="C00000"/>
                </a:solidFill>
                <a:latin typeface="微软雅黑" panose="020B0503020204020204" pitchFamily="34" charset="-122"/>
                <a:ea typeface="微软雅黑" panose="020B0503020204020204" pitchFamily="34" charset="-122"/>
              </a:rPr>
              <a:t>氧化磷酸化  </a:t>
            </a:r>
            <a:r>
              <a:rPr lang="en-US" altLang="zh-CN" sz="2800" b="0" dirty="0">
                <a:solidFill>
                  <a:srgbClr val="C00000"/>
                </a:solidFill>
                <a:latin typeface="微软雅黑" panose="020B0503020204020204" pitchFamily="34" charset="-122"/>
                <a:ea typeface="微软雅黑" panose="020B0503020204020204" pitchFamily="34" charset="-122"/>
              </a:rPr>
              <a:t>Oxidative Phosphorylation: </a:t>
            </a:r>
            <a:endParaRPr lang="en-US" altLang="zh-CN" sz="2800" b="0" dirty="0">
              <a:solidFill>
                <a:srgbClr val="C00000"/>
              </a:solidFill>
              <a:latin typeface="微软雅黑" panose="020B0503020204020204" pitchFamily="34" charset="-122"/>
              <a:ea typeface="微软雅黑" panose="020B0503020204020204" pitchFamily="34" charset="-122"/>
            </a:endParaRPr>
          </a:p>
          <a:p>
            <a:pPr marL="431800">
              <a:lnSpc>
                <a:spcPct val="130000"/>
              </a:lnSpc>
              <a:spcBef>
                <a:spcPct val="0"/>
              </a:spcBef>
              <a:buClrTx/>
              <a:buSzTx/>
              <a:buNone/>
            </a:pPr>
            <a:r>
              <a:rPr lang="zh-CN" altLang="en-US" sz="2600" b="0" dirty="0">
                <a:latin typeface="微软雅黑" panose="020B0503020204020204" pitchFamily="34" charset="-122"/>
                <a:ea typeface="微软雅黑" panose="020B0503020204020204" pitchFamily="34" charset="-122"/>
              </a:rPr>
              <a:t>代谢物氧化脱下的</a:t>
            </a:r>
            <a:r>
              <a:rPr lang="zh-CN" altLang="en-US" sz="2600" b="0" dirty="0">
                <a:solidFill>
                  <a:srgbClr val="0000FF"/>
                </a:solidFill>
                <a:latin typeface="微软雅黑" panose="020B0503020204020204" pitchFamily="34" charset="-122"/>
                <a:ea typeface="微软雅黑" panose="020B0503020204020204" pitchFamily="34" charset="-122"/>
              </a:rPr>
              <a:t>氢经呼吸链传递给氧</a:t>
            </a:r>
            <a:r>
              <a:rPr lang="zh-CN" altLang="en-US" sz="2600" b="0" dirty="0">
                <a:latin typeface="微软雅黑" panose="020B0503020204020204" pitchFamily="34" charset="-122"/>
                <a:ea typeface="微软雅黑" panose="020B0503020204020204" pitchFamily="34" charset="-122"/>
              </a:rPr>
              <a:t>生成水，同时释放能量，促使</a:t>
            </a:r>
            <a:r>
              <a:rPr lang="en-US" altLang="zh-CN" sz="2600" b="0" dirty="0">
                <a:latin typeface="微软雅黑" panose="020B0503020204020204" pitchFamily="34" charset="-122"/>
                <a:ea typeface="微软雅黑" panose="020B0503020204020204" pitchFamily="34" charset="-122"/>
              </a:rPr>
              <a:t>ADP </a:t>
            </a:r>
            <a:r>
              <a:rPr lang="zh-CN" altLang="en-US" sz="2600" b="0" dirty="0">
                <a:latin typeface="微软雅黑" panose="020B0503020204020204" pitchFamily="34" charset="-122"/>
                <a:ea typeface="微软雅黑" panose="020B0503020204020204" pitchFamily="34" charset="-122"/>
              </a:rPr>
              <a:t>磷酸化生成 </a:t>
            </a:r>
            <a:r>
              <a:rPr lang="en-US" altLang="zh-CN" sz="2600" b="0" dirty="0">
                <a:latin typeface="微软雅黑" panose="020B0503020204020204" pitchFamily="34" charset="-122"/>
                <a:ea typeface="微软雅黑" panose="020B0503020204020204" pitchFamily="34" charset="-122"/>
              </a:rPr>
              <a:t>ATP</a:t>
            </a:r>
            <a:r>
              <a:rPr lang="zh-CN" altLang="en-US" sz="2600" b="0" dirty="0">
                <a:latin typeface="微软雅黑" panose="020B0503020204020204" pitchFamily="34" charset="-122"/>
                <a:ea typeface="微软雅黑" panose="020B0503020204020204" pitchFamily="34" charset="-122"/>
              </a:rPr>
              <a:t>的过程。</a:t>
            </a:r>
            <a:endParaRPr lang="zh-CN" altLang="en-US" sz="26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1504" y="620688"/>
            <a:ext cx="9144000"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文本框 1"/>
          <p:cNvSpPr txBox="1">
            <a:spLocks noChangeArrowheads="1"/>
          </p:cNvSpPr>
          <p:nvPr/>
        </p:nvSpPr>
        <p:spPr bwMode="auto">
          <a:xfrm>
            <a:off x="1271464" y="4221088"/>
            <a:ext cx="10225136" cy="170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30000"/>
              </a:lnSpc>
              <a:spcBef>
                <a:spcPct val="0"/>
              </a:spcBef>
              <a:buClrTx/>
              <a:buSzTx/>
              <a:buFontTx/>
              <a:buNone/>
            </a:pPr>
            <a:r>
              <a:rPr lang="zh-CN" altLang="en-US" sz="2600" b="0" dirty="0">
                <a:solidFill>
                  <a:srgbClr val="C00000"/>
                </a:solidFill>
                <a:latin typeface="微软雅黑" panose="020B0503020204020204" pitchFamily="34" charset="-122"/>
                <a:ea typeface="微软雅黑" panose="020B0503020204020204" pitchFamily="34" charset="-122"/>
              </a:rPr>
              <a:t>红细胞内特有的代谢支路</a:t>
            </a:r>
            <a:r>
              <a:rPr lang="zh-CN" altLang="en-US" sz="2200" b="0" dirty="0">
                <a:latin typeface="微软雅黑" panose="020B0503020204020204" pitchFamily="34" charset="-122"/>
                <a:ea typeface="微软雅黑" panose="020B0503020204020204" pitchFamily="34" charset="-122"/>
              </a:rPr>
              <a:t>（</a:t>
            </a:r>
            <a:r>
              <a:rPr lang="en-US" altLang="zh-CN" sz="2200" b="0" dirty="0" err="1">
                <a:latin typeface="微软雅黑" panose="020B0503020204020204" pitchFamily="34" charset="-122"/>
                <a:ea typeface="微软雅黑" panose="020B0503020204020204" pitchFamily="34" charset="-122"/>
              </a:rPr>
              <a:t>Luebering</a:t>
            </a:r>
            <a:r>
              <a:rPr lang="en-US" altLang="zh-CN" sz="2200" b="0" dirty="0">
                <a:latin typeface="微软雅黑" panose="020B0503020204020204" pitchFamily="34" charset="-122"/>
                <a:ea typeface="微软雅黑" panose="020B0503020204020204" pitchFamily="34" charset="-122"/>
              </a:rPr>
              <a:t>–Rapoport pathway/shunt</a:t>
            </a:r>
            <a:r>
              <a:rPr lang="zh-CN" altLang="en-US" sz="2200" b="0" dirty="0">
                <a:latin typeface="微软雅黑" panose="020B0503020204020204" pitchFamily="34" charset="-122"/>
                <a:ea typeface="微软雅黑" panose="020B0503020204020204" pitchFamily="34" charset="-122"/>
              </a:rPr>
              <a:t>）， </a:t>
            </a:r>
            <a:r>
              <a:rPr lang="zh-CN" altLang="en-US" sz="2600" b="0" dirty="0">
                <a:solidFill>
                  <a:srgbClr val="0000CC"/>
                </a:solidFill>
                <a:latin typeface="微软雅黑" panose="020B0503020204020204" pitchFamily="34" charset="-122"/>
                <a:ea typeface="微软雅黑" panose="020B0503020204020204" pitchFamily="34" charset="-122"/>
              </a:rPr>
              <a:t>以生成 </a:t>
            </a:r>
            <a:r>
              <a:rPr lang="en-US" altLang="zh-CN" sz="2600" b="0" dirty="0">
                <a:solidFill>
                  <a:srgbClr val="0000CC"/>
                </a:solidFill>
                <a:latin typeface="微软雅黑" panose="020B0503020204020204" pitchFamily="34" charset="-122"/>
                <a:ea typeface="微软雅黑" panose="020B0503020204020204" pitchFamily="34" charset="-122"/>
              </a:rPr>
              <a:t>2</a:t>
            </a:r>
            <a:r>
              <a:rPr lang="zh-CN" altLang="en-US" sz="2600" b="0" dirty="0">
                <a:solidFill>
                  <a:srgbClr val="0000CC"/>
                </a:solidFill>
                <a:latin typeface="微软雅黑" panose="020B0503020204020204" pitchFamily="34" charset="-122"/>
                <a:ea typeface="微软雅黑" panose="020B0503020204020204" pitchFamily="34" charset="-122"/>
              </a:rPr>
              <a:t>，</a:t>
            </a:r>
            <a:r>
              <a:rPr lang="en-US" altLang="zh-CN" sz="2600" b="0" dirty="0">
                <a:solidFill>
                  <a:srgbClr val="0000CC"/>
                </a:solidFill>
                <a:latin typeface="微软雅黑" panose="020B0503020204020204" pitchFamily="34" charset="-122"/>
                <a:ea typeface="微软雅黑" panose="020B0503020204020204" pitchFamily="34" charset="-122"/>
              </a:rPr>
              <a:t>3-BPG</a:t>
            </a:r>
            <a:r>
              <a:rPr lang="zh-CN" altLang="en-US" sz="2600" b="0" dirty="0">
                <a:latin typeface="微软雅黑" panose="020B0503020204020204" pitchFamily="34" charset="-122"/>
                <a:ea typeface="微软雅黑" panose="020B0503020204020204" pitchFamily="34" charset="-122"/>
              </a:rPr>
              <a:t>，调节血红蛋白的携氧。 </a:t>
            </a:r>
            <a:endParaRPr lang="en-US" altLang="zh-CN" sz="2600" b="0" dirty="0">
              <a:solidFill>
                <a:srgbClr val="0000CC"/>
              </a:solidFill>
              <a:latin typeface="微软雅黑" panose="020B0503020204020204" pitchFamily="34" charset="-122"/>
              <a:ea typeface="微软雅黑" panose="020B0503020204020204" pitchFamily="34" charset="-122"/>
            </a:endParaRPr>
          </a:p>
          <a:p>
            <a:pPr>
              <a:lnSpc>
                <a:spcPct val="150000"/>
              </a:lnSpc>
              <a:spcBef>
                <a:spcPct val="0"/>
              </a:spcBef>
              <a:buClrTx/>
              <a:buSzTx/>
              <a:buFontTx/>
              <a:buNone/>
            </a:pPr>
            <a:r>
              <a:rPr lang="zh-CN" altLang="en-US" sz="2800" b="0" dirty="0">
                <a:solidFill>
                  <a:srgbClr val="0000CC"/>
                </a:solidFill>
                <a:latin typeface="微软雅黑" panose="020B0503020204020204" pitchFamily="34" charset="-122"/>
                <a:ea typeface="微软雅黑" panose="020B0503020204020204" pitchFamily="34" charset="-122"/>
              </a:rPr>
              <a:t>这一支路不生成</a:t>
            </a:r>
            <a:r>
              <a:rPr lang="en-US" altLang="zh-CN" sz="2800" b="0" dirty="0">
                <a:solidFill>
                  <a:srgbClr val="0000CC"/>
                </a:solidFill>
                <a:latin typeface="微软雅黑" panose="020B0503020204020204" pitchFamily="34" charset="-122"/>
                <a:ea typeface="微软雅黑" panose="020B0503020204020204" pitchFamily="34" charset="-122"/>
              </a:rPr>
              <a:t>ATP</a:t>
            </a:r>
            <a:endParaRPr lang="zh-CN" altLang="en-US" sz="2800" b="0" dirty="0">
              <a:solidFill>
                <a:srgbClr val="0000CC"/>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2639616" y="2852936"/>
            <a:ext cx="2592288" cy="400110"/>
          </a:xfrm>
          <a:prstGeom prst="rect">
            <a:avLst/>
          </a:prstGeom>
          <a:noFill/>
        </p:spPr>
        <p:txBody>
          <a:bodyPr wrap="square" rtlCol="0">
            <a:spAutoFit/>
          </a:bodyPr>
          <a:lstStyle/>
          <a:p>
            <a:r>
              <a:rPr lang="zh-CN" altLang="en-US" sz="2000" dirty="0"/>
              <a:t>二磷酸甘油酸变位酶</a:t>
            </a:r>
            <a:endParaRPr lang="zh-CN" altLang="en-US" sz="2000" dirty="0"/>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1524001"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104451" name="Text Box 3"/>
          <p:cNvSpPr txBox="1">
            <a:spLocks noChangeArrowheads="1"/>
          </p:cNvSpPr>
          <p:nvPr/>
        </p:nvSpPr>
        <p:spPr bwMode="auto">
          <a:xfrm>
            <a:off x="4378744" y="485002"/>
            <a:ext cx="680402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marL="535305" indent="-5353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000" dirty="0"/>
              <a:t>⑻ 甘油酸</a:t>
            </a:r>
            <a:r>
              <a:rPr kumimoji="1" lang="en-US" altLang="zh-CN" sz="3000" dirty="0"/>
              <a:t>-</a:t>
            </a:r>
            <a:r>
              <a:rPr kumimoji="1" lang="zh-CN" altLang="en-US" sz="3000" dirty="0"/>
              <a:t>3-磷酸转变为甘油酸</a:t>
            </a:r>
            <a:r>
              <a:rPr kumimoji="1" lang="en-US" altLang="zh-CN" sz="3000" dirty="0"/>
              <a:t>-</a:t>
            </a:r>
            <a:r>
              <a:rPr kumimoji="1" lang="zh-CN" altLang="en-US" sz="3000" dirty="0"/>
              <a:t>2-磷酸</a:t>
            </a:r>
            <a:endParaRPr kumimoji="1" lang="zh-CN" altLang="en-US" sz="3000" dirty="0"/>
          </a:p>
        </p:txBody>
      </p:sp>
      <p:grpSp>
        <p:nvGrpSpPr>
          <p:cNvPr id="2" name="Group 4"/>
          <p:cNvGrpSpPr/>
          <p:nvPr/>
        </p:nvGrpSpPr>
        <p:grpSpPr bwMode="auto">
          <a:xfrm>
            <a:off x="6599361" y="2865438"/>
            <a:ext cx="1947862" cy="760412"/>
            <a:chOff x="2925" y="1805"/>
            <a:chExt cx="1227" cy="479"/>
          </a:xfrm>
        </p:grpSpPr>
        <p:sp>
          <p:nvSpPr>
            <p:cNvPr id="104515" name="Line 5"/>
            <p:cNvSpPr>
              <a:spLocks noChangeShapeType="1"/>
            </p:cNvSpPr>
            <p:nvPr/>
          </p:nvSpPr>
          <p:spPr bwMode="auto">
            <a:xfrm flipV="1">
              <a:off x="2925" y="1805"/>
              <a:ext cx="1227"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516" name="Rectangle 6"/>
            <p:cNvSpPr>
              <a:spLocks noChangeArrowheads="1"/>
            </p:cNvSpPr>
            <p:nvPr/>
          </p:nvSpPr>
          <p:spPr bwMode="auto">
            <a:xfrm>
              <a:off x="3063" y="1842"/>
              <a:ext cx="91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b="0">
                  <a:solidFill>
                    <a:schemeClr val="bg1"/>
                  </a:solidFill>
                  <a:ea typeface="黑体" panose="02010609060101010101" pitchFamily="2" charset="-122"/>
                </a:rPr>
                <a:t>磷酸甘油酸</a:t>
              </a:r>
              <a:endParaRPr kumimoji="1" lang="zh-CN" altLang="en-US" sz="2000" b="0">
                <a:solidFill>
                  <a:schemeClr val="bg1"/>
                </a:solidFill>
                <a:ea typeface="黑体" panose="02010609060101010101" pitchFamily="2" charset="-122"/>
              </a:endParaRPr>
            </a:p>
            <a:p>
              <a:pPr algn="ctr" eaLnBrk="1" hangingPunct="1">
                <a:spcBef>
                  <a:spcPct val="0"/>
                </a:spcBef>
                <a:buClrTx/>
                <a:buSzTx/>
                <a:buFontTx/>
                <a:buNone/>
              </a:pPr>
              <a:r>
                <a:rPr kumimoji="1" lang="zh-CN" altLang="en-US" sz="2000" b="0">
                  <a:solidFill>
                    <a:schemeClr val="bg1"/>
                  </a:solidFill>
                  <a:ea typeface="黑体" panose="02010609060101010101" pitchFamily="2" charset="-122"/>
                </a:rPr>
                <a:t>变位酶</a:t>
              </a:r>
              <a:endParaRPr kumimoji="1" lang="zh-CN" altLang="en-US" sz="2000" b="0">
                <a:solidFill>
                  <a:schemeClr val="bg1"/>
                </a:solidFill>
                <a:ea typeface="黑体" panose="02010609060101010101" pitchFamily="2" charset="-122"/>
              </a:endParaRPr>
            </a:p>
          </p:txBody>
        </p:sp>
      </p:grpSp>
      <p:sp>
        <p:nvSpPr>
          <p:cNvPr id="157703" name="Rectangle 7"/>
          <p:cNvSpPr>
            <a:spLocks noChangeArrowheads="1"/>
          </p:cNvSpPr>
          <p:nvPr/>
        </p:nvSpPr>
        <p:spPr bwMode="auto">
          <a:xfrm>
            <a:off x="2208213" y="4868863"/>
            <a:ext cx="1655762" cy="792162"/>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57704" name="Rectangle 8"/>
          <p:cNvSpPr>
            <a:spLocks noChangeArrowheads="1"/>
          </p:cNvSpPr>
          <p:nvPr/>
        </p:nvSpPr>
        <p:spPr bwMode="auto">
          <a:xfrm>
            <a:off x="4583236" y="5084763"/>
            <a:ext cx="633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b="0">
                <a:solidFill>
                  <a:schemeClr val="bg1"/>
                </a:solidFill>
                <a:ea typeface="黑体" panose="02010609060101010101" pitchFamily="2" charset="-122"/>
              </a:rPr>
              <a:t>磷酸甘油酸变位酶 </a:t>
            </a:r>
            <a:r>
              <a:rPr kumimoji="1" lang="zh-CN" altLang="en-US" sz="2400">
                <a:solidFill>
                  <a:schemeClr val="bg1"/>
                </a:solidFill>
                <a:ea typeface="黑体" panose="02010609060101010101" pitchFamily="2" charset="-122"/>
              </a:rPr>
              <a:t>(</a:t>
            </a:r>
            <a:r>
              <a:rPr kumimoji="1" lang="en-US" altLang="zh-CN" sz="2400">
                <a:solidFill>
                  <a:schemeClr val="bg1"/>
                </a:solidFill>
                <a:ea typeface="黑体" panose="02010609060101010101" pitchFamily="2" charset="-122"/>
              </a:rPr>
              <a:t>phosphoglycerate mutase)</a:t>
            </a:r>
            <a:endParaRPr kumimoji="1" lang="en-US" altLang="zh-CN" sz="2400">
              <a:solidFill>
                <a:schemeClr val="bg1"/>
              </a:solidFill>
              <a:ea typeface="黑体" panose="02010609060101010101" pitchFamily="2" charset="-122"/>
            </a:endParaRPr>
          </a:p>
        </p:txBody>
      </p:sp>
      <p:grpSp>
        <p:nvGrpSpPr>
          <p:cNvPr id="3" name="Group 9"/>
          <p:cNvGrpSpPr/>
          <p:nvPr/>
        </p:nvGrpSpPr>
        <p:grpSpPr bwMode="auto">
          <a:xfrm>
            <a:off x="4727700" y="2060576"/>
            <a:ext cx="2082801" cy="2265363"/>
            <a:chOff x="1746" y="1298"/>
            <a:chExt cx="1312" cy="1427"/>
          </a:xfrm>
        </p:grpSpPr>
        <p:sp>
          <p:nvSpPr>
            <p:cNvPr id="104513" name="Text Box 10"/>
            <p:cNvSpPr txBox="1">
              <a:spLocks noChangeArrowheads="1"/>
            </p:cNvSpPr>
            <p:nvPr/>
          </p:nvSpPr>
          <p:spPr bwMode="auto">
            <a:xfrm>
              <a:off x="1746" y="2434"/>
              <a:ext cx="13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甘油酸</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3-磷酸</a:t>
              </a:r>
              <a:endParaRPr kumimoji="1" lang="zh-CN" altLang="en-US" sz="2400" dirty="0">
                <a:solidFill>
                  <a:schemeClr val="tx2"/>
                </a:solidFill>
                <a:latin typeface="Arial" panose="020B0604020202020204" pitchFamily="34" charset="0"/>
                <a:ea typeface="华文楷体" panose="02010600040101010101" pitchFamily="2" charset="-122"/>
              </a:endParaRPr>
            </a:p>
          </p:txBody>
        </p:sp>
        <p:graphicFrame>
          <p:nvGraphicFramePr>
            <p:cNvPr id="104514" name="Object 11"/>
            <p:cNvGraphicFramePr>
              <a:graphicFrameLocks noChangeAspect="1"/>
            </p:cNvGraphicFramePr>
            <p:nvPr/>
          </p:nvGraphicFramePr>
          <p:xfrm>
            <a:off x="1746" y="1298"/>
            <a:ext cx="1050" cy="1068"/>
          </p:xfrm>
          <a:graphic>
            <a:graphicData uri="http://schemas.openxmlformats.org/presentationml/2006/ole">
              <mc:AlternateContent xmlns:mc="http://schemas.openxmlformats.org/markup-compatibility/2006">
                <mc:Choice xmlns:v="urn:schemas-microsoft-com:vml" Requires="v">
                  <p:oleObj spid="_x0000_s4" name="Document" r:id="rId1" imgW="1666875" imgH="1695450" progId="">
                    <p:embed/>
                  </p:oleObj>
                </mc:Choice>
                <mc:Fallback>
                  <p:oleObj name="Document" r:id="rId1" imgW="1666875" imgH="1695450" progId="">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6" y="1298"/>
                          <a:ext cx="1050" cy="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2"/>
          <p:cNvGrpSpPr/>
          <p:nvPr/>
        </p:nvGrpSpPr>
        <p:grpSpPr bwMode="auto">
          <a:xfrm>
            <a:off x="8544051" y="2060575"/>
            <a:ext cx="2082801" cy="2338388"/>
            <a:chOff x="4150" y="1298"/>
            <a:chExt cx="1312" cy="1473"/>
          </a:xfrm>
        </p:grpSpPr>
        <p:sp>
          <p:nvSpPr>
            <p:cNvPr id="104511" name="Text Box 13"/>
            <p:cNvSpPr txBox="1">
              <a:spLocks noChangeArrowheads="1"/>
            </p:cNvSpPr>
            <p:nvPr/>
          </p:nvSpPr>
          <p:spPr bwMode="auto">
            <a:xfrm>
              <a:off x="4150" y="2480"/>
              <a:ext cx="13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甘油酸</a:t>
              </a:r>
              <a:r>
                <a:rPr kumimoji="1" lang="en-US" altLang="zh-CN" sz="2400" dirty="0">
                  <a:solidFill>
                    <a:srgbClr val="FFFF00"/>
                  </a:solidFill>
                  <a:ea typeface="华文楷体" panose="02010600040101010101" pitchFamily="2" charset="-122"/>
                </a:rPr>
                <a:t>-</a:t>
              </a:r>
              <a:r>
                <a:rPr kumimoji="1" lang="zh-CN" altLang="en-US" sz="2400" dirty="0">
                  <a:solidFill>
                    <a:srgbClr val="FFFF00"/>
                  </a:solidFill>
                  <a:ea typeface="华文楷体" panose="02010600040101010101" pitchFamily="2" charset="-122"/>
                </a:rPr>
                <a:t>2-磷酸</a:t>
              </a:r>
              <a:endParaRPr kumimoji="1" lang="zh-CN" altLang="en-US" sz="2400" dirty="0">
                <a:solidFill>
                  <a:schemeClr val="accent1"/>
                </a:solidFill>
                <a:latin typeface="Arial" panose="020B0604020202020204" pitchFamily="34" charset="0"/>
                <a:ea typeface="华文楷体" panose="02010600040101010101" pitchFamily="2" charset="-122"/>
              </a:endParaRPr>
            </a:p>
          </p:txBody>
        </p:sp>
        <p:graphicFrame>
          <p:nvGraphicFramePr>
            <p:cNvPr id="104512" name="Object 14"/>
            <p:cNvGraphicFramePr>
              <a:graphicFrameLocks noChangeAspect="1"/>
            </p:cNvGraphicFramePr>
            <p:nvPr/>
          </p:nvGraphicFramePr>
          <p:xfrm>
            <a:off x="4332" y="1298"/>
            <a:ext cx="894" cy="1044"/>
          </p:xfrm>
          <a:graphic>
            <a:graphicData uri="http://schemas.openxmlformats.org/presentationml/2006/ole">
              <mc:AlternateContent xmlns:mc="http://schemas.openxmlformats.org/markup-compatibility/2006">
                <mc:Choice xmlns:v="urn:schemas-microsoft-com:vml" Requires="v">
                  <p:oleObj spid="_x0000_s6" name="Document" r:id="rId3" imgW="1419225" imgH="1657350" progId="">
                    <p:embed/>
                  </p:oleObj>
                </mc:Choice>
                <mc:Fallback>
                  <p:oleObj name="Document" r:id="rId3" imgW="1419225" imgH="1657350" progId="">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2" y="1298"/>
                          <a:ext cx="894" cy="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4457" name="Group 15"/>
          <p:cNvGrpSpPr/>
          <p:nvPr/>
        </p:nvGrpSpPr>
        <p:grpSpPr bwMode="auto">
          <a:xfrm>
            <a:off x="1524000" y="1"/>
            <a:ext cx="2374900" cy="6861175"/>
            <a:chOff x="0" y="-2"/>
            <a:chExt cx="1496" cy="4322"/>
          </a:xfrm>
        </p:grpSpPr>
        <p:sp>
          <p:nvSpPr>
            <p:cNvPr id="104460" name="Text Box 16"/>
            <p:cNvSpPr txBox="1">
              <a:spLocks noChangeArrowheads="1"/>
            </p:cNvSpPr>
            <p:nvPr/>
          </p:nvSpPr>
          <p:spPr bwMode="auto">
            <a:xfrm>
              <a:off x="336" y="-2"/>
              <a:ext cx="7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104461" name="Text Box 17"/>
            <p:cNvSpPr txBox="1">
              <a:spLocks noChangeArrowheads="1"/>
            </p:cNvSpPr>
            <p:nvPr/>
          </p:nvSpPr>
          <p:spPr bwMode="auto">
            <a:xfrm>
              <a:off x="336" y="478"/>
              <a:ext cx="5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104462" name="Text Box 18"/>
            <p:cNvSpPr txBox="1">
              <a:spLocks noChangeArrowheads="1"/>
            </p:cNvSpPr>
            <p:nvPr/>
          </p:nvSpPr>
          <p:spPr bwMode="auto">
            <a:xfrm>
              <a:off x="288" y="91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104463" name="Text Box 19"/>
            <p:cNvSpPr txBox="1">
              <a:spLocks noChangeArrowheads="1"/>
            </p:cNvSpPr>
            <p:nvPr/>
          </p:nvSpPr>
          <p:spPr bwMode="auto">
            <a:xfrm>
              <a:off x="192" y="1390"/>
              <a:ext cx="7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104464" name="Line 20"/>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65" name="Text Box 21"/>
            <p:cNvSpPr txBox="1">
              <a:spLocks noChangeArrowheads="1"/>
            </p:cNvSpPr>
            <p:nvPr/>
          </p:nvSpPr>
          <p:spPr bwMode="auto">
            <a:xfrm>
              <a:off x="720" y="143"/>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4466" name="Group 22"/>
            <p:cNvGrpSpPr/>
            <p:nvPr/>
          </p:nvGrpSpPr>
          <p:grpSpPr bwMode="auto">
            <a:xfrm>
              <a:off x="528" y="240"/>
              <a:ext cx="192" cy="240"/>
              <a:chOff x="480" y="336"/>
              <a:chExt cx="144" cy="240"/>
            </a:xfrm>
          </p:grpSpPr>
          <p:sp>
            <p:nvSpPr>
              <p:cNvPr id="104508" name="Line 23"/>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509" name="Line 24"/>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510" name="Line 25"/>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4467" name="Text Box 26"/>
            <p:cNvSpPr txBox="1">
              <a:spLocks noChangeArrowheads="1"/>
            </p:cNvSpPr>
            <p:nvPr/>
          </p:nvSpPr>
          <p:spPr bwMode="auto">
            <a:xfrm>
              <a:off x="720" y="363"/>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4468" name="Text Box 27"/>
            <p:cNvSpPr txBox="1">
              <a:spLocks noChangeArrowheads="1"/>
            </p:cNvSpPr>
            <p:nvPr/>
          </p:nvSpPr>
          <p:spPr bwMode="auto">
            <a:xfrm>
              <a:off x="720" y="1037"/>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4469" name="Group 28"/>
            <p:cNvGrpSpPr/>
            <p:nvPr/>
          </p:nvGrpSpPr>
          <p:grpSpPr bwMode="auto">
            <a:xfrm>
              <a:off x="528" y="1104"/>
              <a:ext cx="240" cy="288"/>
              <a:chOff x="432" y="1296"/>
              <a:chExt cx="144" cy="288"/>
            </a:xfrm>
          </p:grpSpPr>
          <p:sp>
            <p:nvSpPr>
              <p:cNvPr id="104505" name="Line 29"/>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506" name="Line 30"/>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507" name="Line 31"/>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4470" name="Text Box 32"/>
            <p:cNvSpPr txBox="1">
              <a:spLocks noChangeArrowheads="1"/>
            </p:cNvSpPr>
            <p:nvPr/>
          </p:nvSpPr>
          <p:spPr bwMode="auto">
            <a:xfrm>
              <a:off x="720" y="1229"/>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4471" name="Text Box 33"/>
            <p:cNvSpPr txBox="1">
              <a:spLocks noChangeArrowheads="1"/>
            </p:cNvSpPr>
            <p:nvPr/>
          </p:nvSpPr>
          <p:spPr bwMode="auto">
            <a:xfrm>
              <a:off x="15" y="2601"/>
              <a:ext cx="13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104472" name="Text Box 34"/>
            <p:cNvSpPr txBox="1">
              <a:spLocks noChangeArrowheads="1"/>
            </p:cNvSpPr>
            <p:nvPr/>
          </p:nvSpPr>
          <p:spPr bwMode="auto">
            <a:xfrm>
              <a:off x="432" y="3033"/>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104473" name="Text Box 35"/>
            <p:cNvSpPr txBox="1">
              <a:spLocks noChangeArrowheads="1"/>
            </p:cNvSpPr>
            <p:nvPr/>
          </p:nvSpPr>
          <p:spPr bwMode="auto">
            <a:xfrm>
              <a:off x="414" y="3369"/>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104474" name="Text Box 36"/>
            <p:cNvSpPr txBox="1">
              <a:spLocks noChangeArrowheads="1"/>
            </p:cNvSpPr>
            <p:nvPr/>
          </p:nvSpPr>
          <p:spPr bwMode="auto">
            <a:xfrm>
              <a:off x="624" y="4070"/>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104475" name="Line 37"/>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76" name="Line 38"/>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77" name="Text Box 39"/>
            <p:cNvSpPr txBox="1">
              <a:spLocks noChangeArrowheads="1"/>
            </p:cNvSpPr>
            <p:nvPr/>
          </p:nvSpPr>
          <p:spPr bwMode="auto">
            <a:xfrm>
              <a:off x="0" y="1872"/>
              <a:ext cx="5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104478" name="Text Box 40"/>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104479" name="Group 41"/>
            <p:cNvGrpSpPr/>
            <p:nvPr/>
          </p:nvGrpSpPr>
          <p:grpSpPr bwMode="auto">
            <a:xfrm>
              <a:off x="240" y="1584"/>
              <a:ext cx="624" cy="336"/>
              <a:chOff x="3888" y="576"/>
              <a:chExt cx="624" cy="336"/>
            </a:xfrm>
          </p:grpSpPr>
          <p:sp>
            <p:nvSpPr>
              <p:cNvPr id="104501" name="Line 42"/>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4502" name="Group 43"/>
              <p:cNvGrpSpPr/>
              <p:nvPr/>
            </p:nvGrpSpPr>
            <p:grpSpPr bwMode="auto">
              <a:xfrm>
                <a:off x="3888" y="576"/>
                <a:ext cx="288" cy="336"/>
                <a:chOff x="3888" y="576"/>
                <a:chExt cx="288" cy="336"/>
              </a:xfrm>
            </p:grpSpPr>
            <p:sp>
              <p:nvSpPr>
                <p:cNvPr id="104503" name="Line 44"/>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504" name="Line 45"/>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4480" name="Line 46"/>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81" name="Text Box 47"/>
            <p:cNvSpPr txBox="1">
              <a:spLocks noChangeArrowheads="1"/>
            </p:cNvSpPr>
            <p:nvPr/>
          </p:nvSpPr>
          <p:spPr bwMode="auto">
            <a:xfrm>
              <a:off x="288" y="2285"/>
              <a:ext cx="44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104482" name="Text Box 48"/>
            <p:cNvSpPr txBox="1">
              <a:spLocks noChangeArrowheads="1"/>
            </p:cNvSpPr>
            <p:nvPr/>
          </p:nvSpPr>
          <p:spPr bwMode="auto">
            <a:xfrm>
              <a:off x="0" y="2462"/>
              <a:ext cx="7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104483" name="Text Box 49"/>
            <p:cNvSpPr txBox="1">
              <a:spLocks noChangeArrowheads="1"/>
            </p:cNvSpPr>
            <p:nvPr/>
          </p:nvSpPr>
          <p:spPr bwMode="auto">
            <a:xfrm>
              <a:off x="432" y="2783"/>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104484" name="Group 50"/>
            <p:cNvGrpSpPr/>
            <p:nvPr/>
          </p:nvGrpSpPr>
          <p:grpSpPr bwMode="auto">
            <a:xfrm>
              <a:off x="816" y="2784"/>
              <a:ext cx="336" cy="288"/>
              <a:chOff x="912" y="2736"/>
              <a:chExt cx="336" cy="384"/>
            </a:xfrm>
          </p:grpSpPr>
          <p:sp>
            <p:nvSpPr>
              <p:cNvPr id="104497" name="Line 51"/>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4498" name="Group 52"/>
              <p:cNvGrpSpPr/>
              <p:nvPr/>
            </p:nvGrpSpPr>
            <p:grpSpPr bwMode="auto">
              <a:xfrm>
                <a:off x="912" y="2880"/>
                <a:ext cx="336" cy="192"/>
                <a:chOff x="4560" y="2127"/>
                <a:chExt cx="336" cy="192"/>
              </a:xfrm>
            </p:grpSpPr>
            <p:sp>
              <p:nvSpPr>
                <p:cNvPr id="104499" name="Line 53"/>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500" name="Line 54"/>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4485" name="Text Box 55"/>
            <p:cNvSpPr txBox="1">
              <a:spLocks noChangeArrowheads="1"/>
            </p:cNvSpPr>
            <p:nvPr/>
          </p:nvSpPr>
          <p:spPr bwMode="auto">
            <a:xfrm>
              <a:off x="1104" y="2880"/>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104486" name="Text Box 56"/>
            <p:cNvSpPr txBox="1">
              <a:spLocks noChangeArrowheads="1"/>
            </p:cNvSpPr>
            <p:nvPr/>
          </p:nvSpPr>
          <p:spPr bwMode="auto">
            <a:xfrm>
              <a:off x="480" y="3887"/>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104487" name="Text Box 57"/>
            <p:cNvSpPr txBox="1">
              <a:spLocks noChangeArrowheads="1"/>
            </p:cNvSpPr>
            <p:nvPr/>
          </p:nvSpPr>
          <p:spPr bwMode="auto">
            <a:xfrm>
              <a:off x="1104" y="3966"/>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104488" name="Group 58"/>
            <p:cNvGrpSpPr/>
            <p:nvPr/>
          </p:nvGrpSpPr>
          <p:grpSpPr bwMode="auto">
            <a:xfrm>
              <a:off x="720" y="2256"/>
              <a:ext cx="240" cy="384"/>
              <a:chOff x="4512" y="1248"/>
              <a:chExt cx="240" cy="432"/>
            </a:xfrm>
          </p:grpSpPr>
          <p:sp>
            <p:nvSpPr>
              <p:cNvPr id="104494" name="Line 59"/>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95" name="Line 60"/>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96" name="Line 61"/>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04489" name="Text Box 62"/>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104490" name="Group 63"/>
            <p:cNvGrpSpPr/>
            <p:nvPr/>
          </p:nvGrpSpPr>
          <p:grpSpPr bwMode="auto">
            <a:xfrm>
              <a:off x="816" y="3888"/>
              <a:ext cx="336" cy="240"/>
              <a:chOff x="912" y="3888"/>
              <a:chExt cx="336" cy="240"/>
            </a:xfrm>
          </p:grpSpPr>
          <p:sp>
            <p:nvSpPr>
              <p:cNvPr id="104491" name="Line 64"/>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4492" name="Line 65"/>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4493" name="Line 66"/>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7" name="文本框 66"/>
          <p:cNvSpPr txBox="1">
            <a:spLocks noChangeArrowheads="1"/>
          </p:cNvSpPr>
          <p:nvPr/>
        </p:nvSpPr>
        <p:spPr bwMode="auto">
          <a:xfrm>
            <a:off x="4540373" y="2705100"/>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a:t>
            </a:r>
            <a:endParaRPr lang="zh-CN" altLang="en-US" sz="1800">
              <a:solidFill>
                <a:schemeClr val="bg1"/>
              </a:solidFill>
              <a:latin typeface="Arial" panose="020B0604020202020204" pitchFamily="34" charset="0"/>
              <a:ea typeface="宋体" panose="02010600030101010101" pitchFamily="2" charset="-122"/>
            </a:endParaRPr>
          </a:p>
        </p:txBody>
      </p:sp>
      <p:sp>
        <p:nvSpPr>
          <p:cNvPr id="68" name="文本框 67"/>
          <p:cNvSpPr txBox="1">
            <a:spLocks noChangeArrowheads="1"/>
          </p:cNvSpPr>
          <p:nvPr/>
        </p:nvSpPr>
        <p:spPr bwMode="auto">
          <a:xfrm>
            <a:off x="8644061" y="2705100"/>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a:t>
            </a:r>
            <a:endParaRPr lang="zh-CN" altLang="en-US" sz="1800">
              <a:solidFill>
                <a:schemeClr val="bg1"/>
              </a:solidFill>
              <a:latin typeface="Arial" panose="020B0604020202020204" pitchFamily="34" charset="0"/>
              <a:ea typeface="宋体" panose="02010600030101010101" pitchFamily="2" charset="-122"/>
            </a:endParaRPr>
          </a:p>
        </p:txBody>
      </p:sp>
      <p:sp>
        <p:nvSpPr>
          <p:cNvPr id="7" name="文本框 6"/>
          <p:cNvSpPr txBox="1"/>
          <p:nvPr/>
        </p:nvSpPr>
        <p:spPr>
          <a:xfrm>
            <a:off x="7216642" y="2348880"/>
            <a:ext cx="855806" cy="369332"/>
          </a:xfrm>
          <a:prstGeom prst="rect">
            <a:avLst/>
          </a:prstGeom>
          <a:noFill/>
        </p:spPr>
        <p:txBody>
          <a:bodyPr wrap="square">
            <a:spAutoFit/>
          </a:bodyPr>
          <a:lstStyle/>
          <a:p>
            <a:r>
              <a:rPr lang="en-US" altLang="zh-CN" dirty="0">
                <a:solidFill>
                  <a:schemeClr val="bg1"/>
                </a:solidFill>
              </a:rPr>
              <a:t>Mg2+</a:t>
            </a:r>
            <a:endParaRPr lang="zh-CN" altLang="en-US" dirty="0">
              <a:solidFill>
                <a:schemeClr val="bg1"/>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7703"/>
                                        </p:tgtEl>
                                        <p:attrNameLst>
                                          <p:attrName>style.visibility</p:attrName>
                                        </p:attrNameLst>
                                      </p:cBhvr>
                                      <p:to>
                                        <p:strVal val="visible"/>
                                      </p:to>
                                    </p:set>
                                    <p:animEffect transition="in" filter="box(out)">
                                      <p:cBhvr>
                                        <p:cTn id="7" dur="500"/>
                                        <p:tgtEl>
                                          <p:spTgt spid="15770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par>
                          <p:cTn id="18" fill="hold">
                            <p:stCondLst>
                              <p:cond delay="500"/>
                            </p:stCondLst>
                            <p:childTnLst>
                              <p:par>
                                <p:cTn id="19" presetID="4"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in)">
                                      <p:cBhvr>
                                        <p:cTn id="21" dur="500"/>
                                        <p:tgtEl>
                                          <p:spTgt spid="2"/>
                                        </p:tgtEl>
                                      </p:cBhvr>
                                    </p:animEffect>
                                  </p:childTnLst>
                                </p:cTn>
                              </p:par>
                            </p:childTnLst>
                          </p:cTn>
                        </p:par>
                        <p:par>
                          <p:cTn id="22" fill="hold">
                            <p:stCondLst>
                              <p:cond delay="1000"/>
                            </p:stCondLst>
                            <p:childTnLst>
                              <p:par>
                                <p:cTn id="23" presetID="3" presetClass="entr" presetSubtype="10" fill="hold" grpId="0" nodeType="afterEffect">
                                  <p:stCondLst>
                                    <p:cond delay="0"/>
                                  </p:stCondLst>
                                  <p:childTnLst>
                                    <p:set>
                                      <p:cBhvr>
                                        <p:cTn id="24" dur="1" fill="hold">
                                          <p:stCondLst>
                                            <p:cond delay="0"/>
                                          </p:stCondLst>
                                        </p:cTn>
                                        <p:tgtEl>
                                          <p:spTgt spid="157704"/>
                                        </p:tgtEl>
                                        <p:attrNameLst>
                                          <p:attrName>style.visibility</p:attrName>
                                        </p:attrNameLst>
                                      </p:cBhvr>
                                      <p:to>
                                        <p:strVal val="visible"/>
                                      </p:to>
                                    </p:set>
                                    <p:animEffect transition="in" filter="blinds(horizontal)">
                                      <p:cBhvr>
                                        <p:cTn id="25" dur="500"/>
                                        <p:tgtEl>
                                          <p:spTgt spid="157704"/>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3" grpId="0" animBg="1"/>
      <p:bldP spid="157704" grpId="0" autoUpdateAnimBg="0"/>
      <p:bldP spid="67" grpId="0"/>
      <p:bldP spid="68" grpId="0"/>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1524001"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sp>
        <p:nvSpPr>
          <p:cNvPr id="106499" name="Text Box 3"/>
          <p:cNvSpPr txBox="1">
            <a:spLocks noChangeArrowheads="1"/>
          </p:cNvSpPr>
          <p:nvPr/>
        </p:nvSpPr>
        <p:spPr bwMode="auto">
          <a:xfrm>
            <a:off x="4280309" y="500391"/>
            <a:ext cx="68040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6405" indent="-4464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t>⑼ 甘油酸</a:t>
            </a:r>
            <a:r>
              <a:rPr kumimoji="1" lang="en-US" altLang="zh-CN" sz="2800" dirty="0"/>
              <a:t>-</a:t>
            </a:r>
            <a:r>
              <a:rPr kumimoji="1" lang="zh-CN" altLang="en-US" sz="2800" dirty="0"/>
              <a:t>2-磷酸转变为磷酸烯醇式丙酮酸       </a:t>
            </a:r>
            <a:endParaRPr kumimoji="1" lang="zh-CN" altLang="en-US" sz="2800" dirty="0"/>
          </a:p>
        </p:txBody>
      </p:sp>
      <p:grpSp>
        <p:nvGrpSpPr>
          <p:cNvPr id="2" name="Group 4"/>
          <p:cNvGrpSpPr/>
          <p:nvPr/>
        </p:nvGrpSpPr>
        <p:grpSpPr bwMode="auto">
          <a:xfrm>
            <a:off x="6491982" y="3141663"/>
            <a:ext cx="1609725" cy="773112"/>
            <a:chOff x="2925" y="2251"/>
            <a:chExt cx="1014" cy="487"/>
          </a:xfrm>
        </p:grpSpPr>
        <p:sp>
          <p:nvSpPr>
            <p:cNvPr id="106563" name="Line 5"/>
            <p:cNvSpPr>
              <a:spLocks noChangeShapeType="1"/>
            </p:cNvSpPr>
            <p:nvPr/>
          </p:nvSpPr>
          <p:spPr bwMode="auto">
            <a:xfrm>
              <a:off x="2925" y="2251"/>
              <a:ext cx="1014"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64" name="Rectangle 6"/>
            <p:cNvSpPr>
              <a:spLocks noChangeArrowheads="1"/>
            </p:cNvSpPr>
            <p:nvPr/>
          </p:nvSpPr>
          <p:spPr bwMode="auto">
            <a:xfrm>
              <a:off x="3061" y="2296"/>
              <a:ext cx="75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b="0">
                  <a:solidFill>
                    <a:schemeClr val="bg1"/>
                  </a:solidFill>
                  <a:ea typeface="黑体" panose="02010609060101010101" pitchFamily="2" charset="-122"/>
                </a:rPr>
                <a:t>烯醇化酶</a:t>
              </a:r>
              <a:endParaRPr kumimoji="1" lang="zh-CN" altLang="en-US" sz="2000" b="0">
                <a:solidFill>
                  <a:schemeClr val="bg1"/>
                </a:solidFill>
                <a:ea typeface="黑体" panose="02010609060101010101" pitchFamily="2" charset="-122"/>
              </a:endParaRPr>
            </a:p>
            <a:p>
              <a:pPr algn="ctr" eaLnBrk="1" hangingPunct="1">
                <a:spcBef>
                  <a:spcPct val="0"/>
                </a:spcBef>
                <a:buClrTx/>
                <a:buSzTx/>
                <a:buFontTx/>
                <a:buNone/>
              </a:pPr>
              <a:r>
                <a:rPr kumimoji="1" lang="zh-CN" altLang="en-US" sz="2000" b="0">
                  <a:solidFill>
                    <a:schemeClr val="bg1"/>
                  </a:solidFill>
                  <a:ea typeface="黑体" panose="02010609060101010101" pitchFamily="2" charset="-122"/>
                </a:rPr>
                <a:t>(</a:t>
              </a:r>
              <a:r>
                <a:rPr kumimoji="1" lang="en-US" altLang="zh-CN" sz="2000" b="0">
                  <a:solidFill>
                    <a:schemeClr val="bg1"/>
                  </a:solidFill>
                  <a:ea typeface="黑体" panose="02010609060101010101" pitchFamily="2" charset="-122"/>
                </a:rPr>
                <a:t>enolase)</a:t>
              </a:r>
              <a:endParaRPr kumimoji="1" lang="en-US" altLang="zh-CN" sz="2000" b="0">
                <a:solidFill>
                  <a:schemeClr val="bg1"/>
                </a:solidFill>
                <a:ea typeface="黑体" panose="02010609060101010101" pitchFamily="2" charset="-122"/>
              </a:endParaRPr>
            </a:p>
          </p:txBody>
        </p:sp>
      </p:grpSp>
      <p:sp>
        <p:nvSpPr>
          <p:cNvPr id="158727" name="Rectangle 7"/>
          <p:cNvSpPr>
            <a:spLocks noChangeArrowheads="1"/>
          </p:cNvSpPr>
          <p:nvPr/>
        </p:nvSpPr>
        <p:spPr bwMode="auto">
          <a:xfrm>
            <a:off x="1774826" y="5445126"/>
            <a:ext cx="2016125" cy="792163"/>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3" name="Group 8"/>
          <p:cNvGrpSpPr/>
          <p:nvPr/>
        </p:nvGrpSpPr>
        <p:grpSpPr bwMode="auto">
          <a:xfrm>
            <a:off x="4404420" y="2349501"/>
            <a:ext cx="2060576" cy="2554288"/>
            <a:chOff x="1610" y="1752"/>
            <a:chExt cx="1298" cy="1609"/>
          </a:xfrm>
        </p:grpSpPr>
        <p:sp>
          <p:nvSpPr>
            <p:cNvPr id="106561" name="Text Box 9"/>
            <p:cNvSpPr txBox="1">
              <a:spLocks noChangeArrowheads="1"/>
            </p:cNvSpPr>
            <p:nvPr/>
          </p:nvSpPr>
          <p:spPr bwMode="auto">
            <a:xfrm>
              <a:off x="1610" y="3070"/>
              <a:ext cx="129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latin typeface="华文楷体" panose="02010600040101010101" pitchFamily="2" charset="-122"/>
                  <a:ea typeface="华文楷体" panose="02010600040101010101" pitchFamily="2" charset="-122"/>
                </a:rPr>
                <a:t>甘油酸</a:t>
              </a:r>
              <a:r>
                <a:rPr kumimoji="1" lang="en-US" altLang="zh-CN" sz="2400" dirty="0">
                  <a:solidFill>
                    <a:srgbClr val="FFFF00"/>
                  </a:solidFill>
                  <a:latin typeface="华文楷体" panose="02010600040101010101" pitchFamily="2" charset="-122"/>
                  <a:ea typeface="华文楷体" panose="02010600040101010101" pitchFamily="2" charset="-122"/>
                </a:rPr>
                <a:t>-</a:t>
              </a:r>
              <a:r>
                <a:rPr kumimoji="1" lang="zh-CN" altLang="en-US" sz="2400" dirty="0">
                  <a:solidFill>
                    <a:srgbClr val="FFFF00"/>
                  </a:solidFill>
                  <a:latin typeface="华文楷体" panose="02010600040101010101" pitchFamily="2" charset="-122"/>
                  <a:ea typeface="华文楷体" panose="02010600040101010101" pitchFamily="2" charset="-122"/>
                </a:rPr>
                <a:t>2-磷酸</a:t>
              </a:r>
              <a:endParaRPr kumimoji="1" lang="zh-CN" altLang="en-US" sz="2400" dirty="0">
                <a:solidFill>
                  <a:schemeClr val="accent1"/>
                </a:solidFill>
                <a:latin typeface="华文楷体" panose="02010600040101010101" pitchFamily="2" charset="-122"/>
                <a:ea typeface="华文楷体" panose="02010600040101010101" pitchFamily="2" charset="-122"/>
              </a:endParaRPr>
            </a:p>
          </p:txBody>
        </p:sp>
        <p:graphicFrame>
          <p:nvGraphicFramePr>
            <p:cNvPr id="106562" name="Object 10"/>
            <p:cNvGraphicFramePr>
              <a:graphicFrameLocks noChangeAspect="1"/>
            </p:cNvGraphicFramePr>
            <p:nvPr/>
          </p:nvGraphicFramePr>
          <p:xfrm>
            <a:off x="1837" y="1752"/>
            <a:ext cx="894" cy="1044"/>
          </p:xfrm>
          <a:graphic>
            <a:graphicData uri="http://schemas.openxmlformats.org/presentationml/2006/ole">
              <mc:AlternateContent xmlns:mc="http://schemas.openxmlformats.org/markup-compatibility/2006">
                <mc:Choice xmlns:v="urn:schemas-microsoft-com:vml" Requires="v">
                  <p:oleObj spid="_x0000_s4" name="Document" r:id="rId1" imgW="1419225" imgH="1657350" progId="">
                    <p:embed/>
                  </p:oleObj>
                </mc:Choice>
                <mc:Fallback>
                  <p:oleObj name="Document" r:id="rId1" imgW="1419225" imgH="1657350" progId="">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 y="1752"/>
                          <a:ext cx="894" cy="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1"/>
          <p:cNvGrpSpPr/>
          <p:nvPr/>
        </p:nvGrpSpPr>
        <p:grpSpPr bwMode="auto">
          <a:xfrm>
            <a:off x="7536557" y="2333625"/>
            <a:ext cx="3960812" cy="3055938"/>
            <a:chOff x="3470" y="1752"/>
            <a:chExt cx="2495" cy="1925"/>
          </a:xfrm>
        </p:grpSpPr>
        <p:sp>
          <p:nvSpPr>
            <p:cNvPr id="106557" name="Text Box 12"/>
            <p:cNvSpPr txBox="1">
              <a:spLocks noChangeArrowheads="1"/>
            </p:cNvSpPr>
            <p:nvPr/>
          </p:nvSpPr>
          <p:spPr bwMode="auto">
            <a:xfrm>
              <a:off x="4921" y="2069"/>
              <a:ext cx="7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chemeClr val="bg1"/>
                  </a:solidFill>
                  <a:latin typeface="Arial" panose="020B0604020202020204" pitchFamily="34" charset="0"/>
                  <a:ea typeface="宋体" panose="02010600030101010101" pitchFamily="2" charset="-122"/>
                </a:rPr>
                <a:t>+</a:t>
              </a:r>
              <a:r>
                <a:rPr kumimoji="1" lang="zh-CN" altLang="en-US" sz="2400">
                  <a:solidFill>
                    <a:schemeClr val="bg1"/>
                  </a:solidFill>
                  <a:latin typeface="Arial" panose="020B0604020202020204" pitchFamily="34" charset="0"/>
                  <a:ea typeface="宋体" panose="02010600030101010101" pitchFamily="2" charset="-122"/>
                </a:rPr>
                <a:t>  </a:t>
              </a:r>
              <a:r>
                <a:rPr kumimoji="1" lang="en-US" altLang="zh-CN" sz="2000">
                  <a:solidFill>
                    <a:schemeClr val="bg1"/>
                  </a:solidFill>
                  <a:latin typeface="Arial" panose="020B0604020202020204" pitchFamily="34" charset="0"/>
                  <a:ea typeface="宋体" panose="02010600030101010101" pitchFamily="2" charset="-122"/>
                </a:rPr>
                <a:t>H</a:t>
              </a:r>
              <a:r>
                <a:rPr kumimoji="1" lang="en-US" altLang="zh-CN" sz="2000" baseline="-25000">
                  <a:solidFill>
                    <a:schemeClr val="bg1"/>
                  </a:solidFill>
                  <a:latin typeface="Arial" panose="020B0604020202020204" pitchFamily="34" charset="0"/>
                  <a:ea typeface="宋体" panose="02010600030101010101" pitchFamily="2" charset="-122"/>
                </a:rPr>
                <a:t>2</a:t>
              </a:r>
              <a:r>
                <a:rPr kumimoji="1" lang="en-US" altLang="zh-CN" sz="2000">
                  <a:solidFill>
                    <a:schemeClr val="bg1"/>
                  </a:solidFill>
                  <a:latin typeface="Arial" panose="020B0604020202020204" pitchFamily="34" charset="0"/>
                  <a:ea typeface="宋体" panose="02010600030101010101" pitchFamily="2" charset="-122"/>
                </a:rPr>
                <a:t>O</a:t>
              </a:r>
              <a:endParaRPr kumimoji="1" lang="en-US" altLang="zh-CN" sz="2000">
                <a:solidFill>
                  <a:schemeClr val="bg1"/>
                </a:solidFill>
                <a:latin typeface="Arial" panose="020B0604020202020204" pitchFamily="34" charset="0"/>
                <a:ea typeface="宋体" panose="02010600030101010101" pitchFamily="2" charset="-122"/>
              </a:endParaRPr>
            </a:p>
          </p:txBody>
        </p:sp>
        <p:grpSp>
          <p:nvGrpSpPr>
            <p:cNvPr id="106558" name="Group 13"/>
            <p:cNvGrpSpPr/>
            <p:nvPr/>
          </p:nvGrpSpPr>
          <p:grpSpPr bwMode="auto">
            <a:xfrm>
              <a:off x="3470" y="1752"/>
              <a:ext cx="2495" cy="1925"/>
              <a:chOff x="3470" y="1752"/>
              <a:chExt cx="2495" cy="1925"/>
            </a:xfrm>
          </p:grpSpPr>
          <p:sp>
            <p:nvSpPr>
              <p:cNvPr id="106559" name="Text Box 14"/>
              <p:cNvSpPr txBox="1">
                <a:spLocks noChangeArrowheads="1"/>
              </p:cNvSpPr>
              <p:nvPr/>
            </p:nvSpPr>
            <p:spPr bwMode="auto">
              <a:xfrm>
                <a:off x="3470" y="3115"/>
                <a:ext cx="2495"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latin typeface="华文楷体" panose="02010600040101010101" pitchFamily="2" charset="-122"/>
                    <a:ea typeface="华文楷体" panose="02010600040101010101" pitchFamily="2" charset="-122"/>
                  </a:rPr>
                  <a:t>磷酸烯醇式丙酮酸</a:t>
                </a:r>
                <a:r>
                  <a:rPr kumimoji="1" lang="zh-CN" altLang="en-US" sz="2800" dirty="0">
                    <a:solidFill>
                      <a:schemeClr val="bg1"/>
                    </a:solidFill>
                    <a:latin typeface="Arial" panose="020B0604020202020204" pitchFamily="34" charset="0"/>
                    <a:ea typeface="华文楷体" panose="02010600040101010101" pitchFamily="2" charset="-122"/>
                  </a:rPr>
                  <a:t>  </a:t>
                </a:r>
                <a:r>
                  <a:rPr kumimoji="1" lang="zh-CN" altLang="en-US" sz="2400" dirty="0">
                    <a:solidFill>
                      <a:srgbClr val="FFFF00"/>
                    </a:solidFill>
                    <a:ea typeface="华文楷体" panose="02010600040101010101" pitchFamily="2" charset="-122"/>
                  </a:rPr>
                  <a:t>(</a:t>
                </a:r>
                <a:r>
                  <a:rPr kumimoji="1" lang="en-US" altLang="zh-CN" sz="2400" dirty="0">
                    <a:solidFill>
                      <a:srgbClr val="FFFF00"/>
                    </a:solidFill>
                    <a:ea typeface="华文楷体" panose="02010600040101010101" pitchFamily="2" charset="-122"/>
                  </a:rPr>
                  <a:t>phosphoenolpyruvate, PEP)</a:t>
                </a:r>
                <a:endParaRPr kumimoji="1" lang="en-US" altLang="zh-CN" sz="2400" dirty="0">
                  <a:solidFill>
                    <a:srgbClr val="FFFF00"/>
                  </a:solidFill>
                  <a:latin typeface="Arial" panose="020B0604020202020204" pitchFamily="34" charset="0"/>
                  <a:ea typeface="华文楷体" panose="02010600040101010101" pitchFamily="2" charset="-122"/>
                </a:endParaRPr>
              </a:p>
            </p:txBody>
          </p:sp>
          <p:graphicFrame>
            <p:nvGraphicFramePr>
              <p:cNvPr id="106560" name="Object 15"/>
              <p:cNvGraphicFramePr>
                <a:graphicFrameLocks noChangeAspect="1"/>
              </p:cNvGraphicFramePr>
              <p:nvPr/>
            </p:nvGraphicFramePr>
            <p:xfrm>
              <a:off x="4014" y="1752"/>
              <a:ext cx="894" cy="1044"/>
            </p:xfrm>
            <a:graphic>
              <a:graphicData uri="http://schemas.openxmlformats.org/presentationml/2006/ole">
                <mc:AlternateContent xmlns:mc="http://schemas.openxmlformats.org/markup-compatibility/2006">
                  <mc:Choice xmlns:v="urn:schemas-microsoft-com:vml" Requires="v">
                    <p:oleObj spid="_x0000_s6" name="Document" r:id="rId3" imgW="1419225" imgH="1657350" progId="">
                      <p:embed/>
                    </p:oleObj>
                  </mc:Choice>
                  <mc:Fallback>
                    <p:oleObj name="Document" r:id="rId3" imgW="1419225" imgH="1657350"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4" y="1752"/>
                            <a:ext cx="894" cy="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06504" name="Group 16"/>
          <p:cNvGrpSpPr/>
          <p:nvPr/>
        </p:nvGrpSpPr>
        <p:grpSpPr bwMode="auto">
          <a:xfrm>
            <a:off x="1524000" y="1"/>
            <a:ext cx="2374900" cy="6861175"/>
            <a:chOff x="0" y="-2"/>
            <a:chExt cx="1496" cy="4322"/>
          </a:xfrm>
        </p:grpSpPr>
        <p:sp>
          <p:nvSpPr>
            <p:cNvPr id="106506" name="Text Box 17"/>
            <p:cNvSpPr txBox="1">
              <a:spLocks noChangeArrowheads="1"/>
            </p:cNvSpPr>
            <p:nvPr/>
          </p:nvSpPr>
          <p:spPr bwMode="auto">
            <a:xfrm>
              <a:off x="336" y="-2"/>
              <a:ext cx="7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106507" name="Text Box 18"/>
            <p:cNvSpPr txBox="1">
              <a:spLocks noChangeArrowheads="1"/>
            </p:cNvSpPr>
            <p:nvPr/>
          </p:nvSpPr>
          <p:spPr bwMode="auto">
            <a:xfrm>
              <a:off x="336" y="478"/>
              <a:ext cx="5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106508" name="Text Box 19"/>
            <p:cNvSpPr txBox="1">
              <a:spLocks noChangeArrowheads="1"/>
            </p:cNvSpPr>
            <p:nvPr/>
          </p:nvSpPr>
          <p:spPr bwMode="auto">
            <a:xfrm>
              <a:off x="288" y="91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106509" name="Text Box 20"/>
            <p:cNvSpPr txBox="1">
              <a:spLocks noChangeArrowheads="1"/>
            </p:cNvSpPr>
            <p:nvPr/>
          </p:nvSpPr>
          <p:spPr bwMode="auto">
            <a:xfrm>
              <a:off x="192" y="1390"/>
              <a:ext cx="7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106510" name="Line 21"/>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11" name="Text Box 22"/>
            <p:cNvSpPr txBox="1">
              <a:spLocks noChangeArrowheads="1"/>
            </p:cNvSpPr>
            <p:nvPr/>
          </p:nvSpPr>
          <p:spPr bwMode="auto">
            <a:xfrm>
              <a:off x="720" y="143"/>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6512" name="Group 23"/>
            <p:cNvGrpSpPr/>
            <p:nvPr/>
          </p:nvGrpSpPr>
          <p:grpSpPr bwMode="auto">
            <a:xfrm>
              <a:off x="528" y="240"/>
              <a:ext cx="192" cy="240"/>
              <a:chOff x="480" y="336"/>
              <a:chExt cx="144" cy="240"/>
            </a:xfrm>
          </p:grpSpPr>
          <p:sp>
            <p:nvSpPr>
              <p:cNvPr id="106554" name="Line 24"/>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55" name="Line 25"/>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6556" name="Line 26"/>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6513" name="Text Box 27"/>
            <p:cNvSpPr txBox="1">
              <a:spLocks noChangeArrowheads="1"/>
            </p:cNvSpPr>
            <p:nvPr/>
          </p:nvSpPr>
          <p:spPr bwMode="auto">
            <a:xfrm>
              <a:off x="720" y="363"/>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6514" name="Text Box 28"/>
            <p:cNvSpPr txBox="1">
              <a:spLocks noChangeArrowheads="1"/>
            </p:cNvSpPr>
            <p:nvPr/>
          </p:nvSpPr>
          <p:spPr bwMode="auto">
            <a:xfrm>
              <a:off x="720" y="1037"/>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6515" name="Group 29"/>
            <p:cNvGrpSpPr/>
            <p:nvPr/>
          </p:nvGrpSpPr>
          <p:grpSpPr bwMode="auto">
            <a:xfrm>
              <a:off x="528" y="1104"/>
              <a:ext cx="240" cy="288"/>
              <a:chOff x="432" y="1296"/>
              <a:chExt cx="144" cy="288"/>
            </a:xfrm>
          </p:grpSpPr>
          <p:sp>
            <p:nvSpPr>
              <p:cNvPr id="106551" name="Line 30"/>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52" name="Line 31"/>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6553" name="Line 32"/>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6516" name="Text Box 33"/>
            <p:cNvSpPr txBox="1">
              <a:spLocks noChangeArrowheads="1"/>
            </p:cNvSpPr>
            <p:nvPr/>
          </p:nvSpPr>
          <p:spPr bwMode="auto">
            <a:xfrm>
              <a:off x="720" y="1229"/>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6517" name="Text Box 34"/>
            <p:cNvSpPr txBox="1">
              <a:spLocks noChangeArrowheads="1"/>
            </p:cNvSpPr>
            <p:nvPr/>
          </p:nvSpPr>
          <p:spPr bwMode="auto">
            <a:xfrm>
              <a:off x="15" y="2601"/>
              <a:ext cx="13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106518" name="Text Box 35"/>
            <p:cNvSpPr txBox="1">
              <a:spLocks noChangeArrowheads="1"/>
            </p:cNvSpPr>
            <p:nvPr/>
          </p:nvSpPr>
          <p:spPr bwMode="auto">
            <a:xfrm>
              <a:off x="432" y="3033"/>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106519" name="Text Box 36"/>
            <p:cNvSpPr txBox="1">
              <a:spLocks noChangeArrowheads="1"/>
            </p:cNvSpPr>
            <p:nvPr/>
          </p:nvSpPr>
          <p:spPr bwMode="auto">
            <a:xfrm>
              <a:off x="414" y="3369"/>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106520" name="Text Box 37"/>
            <p:cNvSpPr txBox="1">
              <a:spLocks noChangeArrowheads="1"/>
            </p:cNvSpPr>
            <p:nvPr/>
          </p:nvSpPr>
          <p:spPr bwMode="auto">
            <a:xfrm>
              <a:off x="624" y="4070"/>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106521" name="Line 38"/>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22" name="Line 39"/>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23" name="Text Box 40"/>
            <p:cNvSpPr txBox="1">
              <a:spLocks noChangeArrowheads="1"/>
            </p:cNvSpPr>
            <p:nvPr/>
          </p:nvSpPr>
          <p:spPr bwMode="auto">
            <a:xfrm>
              <a:off x="0" y="1872"/>
              <a:ext cx="5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106524" name="Text Box 41"/>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106525" name="Group 42"/>
            <p:cNvGrpSpPr/>
            <p:nvPr/>
          </p:nvGrpSpPr>
          <p:grpSpPr bwMode="auto">
            <a:xfrm>
              <a:off x="240" y="1584"/>
              <a:ext cx="624" cy="336"/>
              <a:chOff x="3888" y="576"/>
              <a:chExt cx="624" cy="336"/>
            </a:xfrm>
          </p:grpSpPr>
          <p:sp>
            <p:nvSpPr>
              <p:cNvPr id="106547" name="Line 43"/>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6548" name="Group 44"/>
              <p:cNvGrpSpPr/>
              <p:nvPr/>
            </p:nvGrpSpPr>
            <p:grpSpPr bwMode="auto">
              <a:xfrm>
                <a:off x="3888" y="576"/>
                <a:ext cx="288" cy="336"/>
                <a:chOff x="3888" y="576"/>
                <a:chExt cx="288" cy="336"/>
              </a:xfrm>
            </p:grpSpPr>
            <p:sp>
              <p:nvSpPr>
                <p:cNvPr id="106549" name="Line 45"/>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50" name="Line 46"/>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6526" name="Line 47"/>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27" name="Text Box 48"/>
            <p:cNvSpPr txBox="1">
              <a:spLocks noChangeArrowheads="1"/>
            </p:cNvSpPr>
            <p:nvPr/>
          </p:nvSpPr>
          <p:spPr bwMode="auto">
            <a:xfrm>
              <a:off x="288" y="2285"/>
              <a:ext cx="44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106528" name="Text Box 49"/>
            <p:cNvSpPr txBox="1">
              <a:spLocks noChangeArrowheads="1"/>
            </p:cNvSpPr>
            <p:nvPr/>
          </p:nvSpPr>
          <p:spPr bwMode="auto">
            <a:xfrm>
              <a:off x="0" y="2462"/>
              <a:ext cx="7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106529" name="Text Box 50"/>
            <p:cNvSpPr txBox="1">
              <a:spLocks noChangeArrowheads="1"/>
            </p:cNvSpPr>
            <p:nvPr/>
          </p:nvSpPr>
          <p:spPr bwMode="auto">
            <a:xfrm>
              <a:off x="432" y="2783"/>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106530" name="Group 51"/>
            <p:cNvGrpSpPr/>
            <p:nvPr/>
          </p:nvGrpSpPr>
          <p:grpSpPr bwMode="auto">
            <a:xfrm>
              <a:off x="816" y="2784"/>
              <a:ext cx="336" cy="288"/>
              <a:chOff x="912" y="2736"/>
              <a:chExt cx="336" cy="384"/>
            </a:xfrm>
          </p:grpSpPr>
          <p:sp>
            <p:nvSpPr>
              <p:cNvPr id="106543" name="Line 52"/>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6544" name="Group 53"/>
              <p:cNvGrpSpPr/>
              <p:nvPr/>
            </p:nvGrpSpPr>
            <p:grpSpPr bwMode="auto">
              <a:xfrm>
                <a:off x="912" y="2880"/>
                <a:ext cx="336" cy="192"/>
                <a:chOff x="4560" y="2127"/>
                <a:chExt cx="336" cy="192"/>
              </a:xfrm>
            </p:grpSpPr>
            <p:sp>
              <p:nvSpPr>
                <p:cNvPr id="106545" name="Line 54"/>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6546" name="Line 55"/>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6531" name="Text Box 56"/>
            <p:cNvSpPr txBox="1">
              <a:spLocks noChangeArrowheads="1"/>
            </p:cNvSpPr>
            <p:nvPr/>
          </p:nvSpPr>
          <p:spPr bwMode="auto">
            <a:xfrm>
              <a:off x="1104" y="2880"/>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106532" name="Text Box 57"/>
            <p:cNvSpPr txBox="1">
              <a:spLocks noChangeArrowheads="1"/>
            </p:cNvSpPr>
            <p:nvPr/>
          </p:nvSpPr>
          <p:spPr bwMode="auto">
            <a:xfrm>
              <a:off x="480" y="3887"/>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106533" name="Text Box 58"/>
            <p:cNvSpPr txBox="1">
              <a:spLocks noChangeArrowheads="1"/>
            </p:cNvSpPr>
            <p:nvPr/>
          </p:nvSpPr>
          <p:spPr bwMode="auto">
            <a:xfrm>
              <a:off x="1104" y="3966"/>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106534" name="Group 59"/>
            <p:cNvGrpSpPr/>
            <p:nvPr/>
          </p:nvGrpSpPr>
          <p:grpSpPr bwMode="auto">
            <a:xfrm>
              <a:off x="720" y="2256"/>
              <a:ext cx="240" cy="384"/>
              <a:chOff x="4512" y="1248"/>
              <a:chExt cx="240" cy="432"/>
            </a:xfrm>
          </p:grpSpPr>
          <p:sp>
            <p:nvSpPr>
              <p:cNvPr id="106540" name="Line 60"/>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41" name="Line 61"/>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42" name="Line 62"/>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06535" name="Text Box 63"/>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106536" name="Group 64"/>
            <p:cNvGrpSpPr/>
            <p:nvPr/>
          </p:nvGrpSpPr>
          <p:grpSpPr bwMode="auto">
            <a:xfrm>
              <a:off x="816" y="3888"/>
              <a:ext cx="336" cy="240"/>
              <a:chOff x="912" y="3888"/>
              <a:chExt cx="336" cy="240"/>
            </a:xfrm>
          </p:grpSpPr>
          <p:sp>
            <p:nvSpPr>
              <p:cNvPr id="106537" name="Line 65"/>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6538" name="Line 66"/>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6539" name="Line 67"/>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8" name="文本框 67"/>
          <p:cNvSpPr txBox="1">
            <a:spLocks noChangeArrowheads="1"/>
          </p:cNvSpPr>
          <p:nvPr/>
        </p:nvSpPr>
        <p:spPr bwMode="auto">
          <a:xfrm>
            <a:off x="4620318" y="2994025"/>
            <a:ext cx="215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a:t>
            </a:r>
            <a:endParaRPr lang="zh-CN" altLang="en-US" sz="1800">
              <a:solidFill>
                <a:schemeClr val="bg1"/>
              </a:solidFill>
              <a:latin typeface="Arial" panose="020B0604020202020204" pitchFamily="34" charset="0"/>
              <a:ea typeface="宋体" panose="02010600030101010101" pitchFamily="2" charset="-122"/>
            </a:endParaRPr>
          </a:p>
        </p:txBody>
      </p:sp>
      <p:sp>
        <p:nvSpPr>
          <p:cNvPr id="7" name="文本框 6"/>
          <p:cNvSpPr txBox="1"/>
          <p:nvPr/>
        </p:nvSpPr>
        <p:spPr>
          <a:xfrm>
            <a:off x="6905053" y="2681843"/>
            <a:ext cx="855806" cy="369332"/>
          </a:xfrm>
          <a:prstGeom prst="rect">
            <a:avLst/>
          </a:prstGeom>
          <a:noFill/>
        </p:spPr>
        <p:txBody>
          <a:bodyPr wrap="square">
            <a:spAutoFit/>
          </a:bodyPr>
          <a:lstStyle/>
          <a:p>
            <a:r>
              <a:rPr lang="en-US" altLang="zh-CN" dirty="0">
                <a:solidFill>
                  <a:schemeClr val="bg1"/>
                </a:solidFill>
              </a:rPr>
              <a:t>Mg2+</a:t>
            </a:r>
            <a:endParaRPr lang="zh-CN" altLang="en-US" dirty="0">
              <a:solidFill>
                <a:schemeClr val="bg1"/>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8727"/>
                                        </p:tgtEl>
                                        <p:attrNameLst>
                                          <p:attrName>style.visibility</p:attrName>
                                        </p:attrNameLst>
                                      </p:cBhvr>
                                      <p:to>
                                        <p:strVal val="visible"/>
                                      </p:to>
                                    </p:set>
                                    <p:animEffect transition="in" filter="box(out)">
                                      <p:cBhvr>
                                        <p:cTn id="7" dur="500"/>
                                        <p:tgtEl>
                                          <p:spTgt spid="158727"/>
                                        </p:tgtEl>
                                      </p:cBhvr>
                                    </p:animEffect>
                                  </p:childTnLst>
                                </p:cTn>
                              </p:par>
                            </p:childTnLst>
                          </p:cTn>
                        </p:par>
                        <p:par>
                          <p:cTn id="8" fill="hold">
                            <p:stCondLst>
                              <p:cond delay="500"/>
                            </p:stCondLst>
                            <p:childTnLst>
                              <p:par>
                                <p:cTn id="9" presetID="16" presetClass="entr" presetSubtype="26"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Horizontal)">
                                      <p:cBhvr>
                                        <p:cTn id="11" dur="500"/>
                                        <p:tgtEl>
                                          <p:spTgt spid="3"/>
                                        </p:tgtEl>
                                      </p:cBhvr>
                                    </p:animEffect>
                                  </p:childTnLst>
                                </p:cTn>
                              </p:par>
                            </p:childTnLst>
                          </p:cTn>
                        </p:par>
                        <p:par>
                          <p:cTn id="12" fill="hold">
                            <p:stCondLst>
                              <p:cond delay="1000"/>
                            </p:stCondLst>
                            <p:childTnLst>
                              <p:par>
                                <p:cTn id="13" presetID="17"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p:cTn id="15" dur="500" fill="hold"/>
                                        <p:tgtEl>
                                          <p:spTgt spid="2"/>
                                        </p:tgtEl>
                                        <p:attrNameLst>
                                          <p:attrName>ppt_x</p:attrName>
                                        </p:attrNameLst>
                                      </p:cBhvr>
                                      <p:tavLst>
                                        <p:tav tm="0">
                                          <p:val>
                                            <p:strVal val="#ppt_x-#ppt_w/2"/>
                                          </p:val>
                                        </p:tav>
                                        <p:tav tm="100000">
                                          <p:val>
                                            <p:strVal val="#ppt_x"/>
                                          </p:val>
                                        </p:tav>
                                      </p:tavLst>
                                    </p:anim>
                                    <p:anim calcmode="lin" valueType="num">
                                      <p:cBhvr>
                                        <p:cTn id="16" dur="500" fill="hold"/>
                                        <p:tgtEl>
                                          <p:spTgt spid="2"/>
                                        </p:tgtEl>
                                        <p:attrNameLst>
                                          <p:attrName>ppt_y</p:attrName>
                                        </p:attrNameLst>
                                      </p:cBhvr>
                                      <p:tavLst>
                                        <p:tav tm="0">
                                          <p:val>
                                            <p:strVal val="#ppt_y"/>
                                          </p:val>
                                        </p:tav>
                                        <p:tav tm="100000">
                                          <p:val>
                                            <p:strVal val="#ppt_y"/>
                                          </p:val>
                                        </p:tav>
                                      </p:tavLst>
                                    </p:anim>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strVal val="#ppt_h"/>
                                          </p:val>
                                        </p:tav>
                                        <p:tav tm="100000">
                                          <p:val>
                                            <p:strVal val="#ppt_h"/>
                                          </p:val>
                                        </p:tav>
                                      </p:tavLst>
                                    </p:anim>
                                  </p:childTnLst>
                                </p:cTn>
                              </p:par>
                            </p:childTnLst>
                          </p:cTn>
                        </p:par>
                        <p:par>
                          <p:cTn id="19" fill="hold">
                            <p:stCondLst>
                              <p:cond delay="1500"/>
                            </p:stCondLst>
                            <p:childTnLst>
                              <p:par>
                                <p:cTn id="20" presetID="1"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7" grpId="0" animBg="1"/>
      <p:bldP spid="68" grpId="0"/>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1524001" y="0"/>
            <a:ext cx="2339975" cy="6858000"/>
          </a:xfrm>
          <a:prstGeom prst="rect">
            <a:avLst/>
          </a:prstGeom>
          <a:solidFill>
            <a:schemeClr val="accent1">
              <a:lumMod val="40000"/>
              <a:lumOff val="60000"/>
            </a:schemeClr>
          </a:solidFill>
          <a:ln>
            <a:noFill/>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endParaRPr lang="zh-CN" altLang="en-US" sz="1800">
              <a:latin typeface="Arial" panose="020B0604020202020204" pitchFamily="34" charset="0"/>
            </a:endParaRPr>
          </a:p>
        </p:txBody>
      </p:sp>
      <p:grpSp>
        <p:nvGrpSpPr>
          <p:cNvPr id="2" name="Group 72"/>
          <p:cNvGrpSpPr/>
          <p:nvPr/>
        </p:nvGrpSpPr>
        <p:grpSpPr bwMode="auto">
          <a:xfrm>
            <a:off x="6528965" y="2861766"/>
            <a:ext cx="2862262" cy="738187"/>
            <a:chOff x="2835" y="1478"/>
            <a:chExt cx="1803" cy="465"/>
          </a:xfrm>
        </p:grpSpPr>
        <p:sp>
          <p:nvSpPr>
            <p:cNvPr id="108612" name="Line 4"/>
            <p:cNvSpPr>
              <a:spLocks noChangeShapeType="1"/>
            </p:cNvSpPr>
            <p:nvPr/>
          </p:nvSpPr>
          <p:spPr bwMode="auto">
            <a:xfrm>
              <a:off x="2985" y="1943"/>
              <a:ext cx="1653" cy="0"/>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613" name="Line 5"/>
            <p:cNvSpPr>
              <a:spLocks noChangeShapeType="1"/>
            </p:cNvSpPr>
            <p:nvPr/>
          </p:nvSpPr>
          <p:spPr bwMode="auto">
            <a:xfrm>
              <a:off x="3061" y="1752"/>
              <a:ext cx="275" cy="191"/>
            </a:xfrm>
            <a:prstGeom prst="line">
              <a:avLst/>
            </a:prstGeom>
            <a:noFill/>
            <a:ln w="38100">
              <a:solidFill>
                <a:schemeClr val="bg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8614" name="Line 6"/>
            <p:cNvSpPr>
              <a:spLocks noChangeShapeType="1"/>
            </p:cNvSpPr>
            <p:nvPr/>
          </p:nvSpPr>
          <p:spPr bwMode="auto">
            <a:xfrm flipV="1">
              <a:off x="4236" y="1751"/>
              <a:ext cx="251" cy="192"/>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615" name="Text Box 7"/>
            <p:cNvSpPr txBox="1">
              <a:spLocks noChangeArrowheads="1"/>
            </p:cNvSpPr>
            <p:nvPr/>
          </p:nvSpPr>
          <p:spPr bwMode="auto">
            <a:xfrm>
              <a:off x="2835" y="1478"/>
              <a:ext cx="5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solidFill>
                    <a:schemeClr val="bg1"/>
                  </a:solidFill>
                  <a:latin typeface="Arial" panose="020B0604020202020204" pitchFamily="34" charset="0"/>
                  <a:ea typeface="宋体" panose="02010600030101010101" pitchFamily="2" charset="-122"/>
                </a:rPr>
                <a:t>ADP</a:t>
              </a:r>
              <a:r>
                <a:rPr kumimoji="1" lang="en-US" altLang="zh-CN" sz="2400">
                  <a:latin typeface="Arial" panose="020B0604020202020204" pitchFamily="34" charset="0"/>
                  <a:ea typeface="宋体" panose="02010600030101010101" pitchFamily="2" charset="-122"/>
                </a:rPr>
                <a:t> </a:t>
              </a:r>
              <a:endParaRPr kumimoji="1" lang="en-US" altLang="zh-CN" sz="2400">
                <a:latin typeface="Arial" panose="020B0604020202020204" pitchFamily="34" charset="0"/>
                <a:ea typeface="宋体" panose="02010600030101010101" pitchFamily="2" charset="-122"/>
              </a:endParaRPr>
            </a:p>
          </p:txBody>
        </p:sp>
        <p:sp>
          <p:nvSpPr>
            <p:cNvPr id="108616" name="Text Box 8"/>
            <p:cNvSpPr txBox="1">
              <a:spLocks noChangeArrowheads="1"/>
            </p:cNvSpPr>
            <p:nvPr/>
          </p:nvSpPr>
          <p:spPr bwMode="auto">
            <a:xfrm>
              <a:off x="4186" y="1511"/>
              <a:ext cx="11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kumimoji="1" lang="en-US" altLang="zh-CN" sz="2400">
                <a:solidFill>
                  <a:srgbClr val="FFFF00"/>
                </a:solidFill>
                <a:latin typeface="Arial" panose="020B0604020202020204" pitchFamily="34" charset="0"/>
                <a:ea typeface="宋体" panose="02010600030101010101" pitchFamily="2" charset="-122"/>
              </a:endParaRPr>
            </a:p>
          </p:txBody>
        </p:sp>
        <p:sp>
          <p:nvSpPr>
            <p:cNvPr id="108617" name="Text Box 9"/>
            <p:cNvSpPr txBox="1">
              <a:spLocks noChangeArrowheads="1"/>
            </p:cNvSpPr>
            <p:nvPr/>
          </p:nvSpPr>
          <p:spPr bwMode="auto">
            <a:xfrm>
              <a:off x="3336" y="1684"/>
              <a:ext cx="8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chemeClr val="bg1"/>
                  </a:solidFill>
                  <a:latin typeface="Arial" panose="020B0604020202020204" pitchFamily="34" charset="0"/>
                  <a:ea typeface="宋体" panose="02010600030101010101" pitchFamily="2" charset="-122"/>
                </a:rPr>
                <a:t>K</a:t>
              </a:r>
              <a:r>
                <a:rPr kumimoji="1" lang="en-US" altLang="zh-CN" sz="2000" baseline="30000">
                  <a:solidFill>
                    <a:schemeClr val="bg1"/>
                  </a:solidFill>
                  <a:latin typeface="Arial" panose="020B0604020202020204" pitchFamily="34" charset="0"/>
                  <a:ea typeface="宋体" panose="02010600030101010101" pitchFamily="2" charset="-122"/>
                </a:rPr>
                <a:t>+</a:t>
              </a:r>
              <a:r>
                <a:rPr kumimoji="1" lang="en-US" altLang="zh-CN" sz="2000">
                  <a:solidFill>
                    <a:schemeClr val="bg1"/>
                  </a:solidFill>
                  <a:latin typeface="Arial" panose="020B0604020202020204" pitchFamily="34" charset="0"/>
                  <a:ea typeface="宋体" panose="02010600030101010101" pitchFamily="2" charset="-122"/>
                </a:rPr>
                <a:t>    Mg</a:t>
              </a:r>
              <a:r>
                <a:rPr kumimoji="1" lang="en-US" altLang="zh-CN" sz="2000" baseline="30000">
                  <a:solidFill>
                    <a:schemeClr val="bg1"/>
                  </a:solidFill>
                  <a:latin typeface="Arial" panose="020B0604020202020204" pitchFamily="34" charset="0"/>
                  <a:ea typeface="宋体" panose="02010600030101010101" pitchFamily="2" charset="-122"/>
                </a:rPr>
                <a:t>2+</a:t>
              </a:r>
              <a:endParaRPr kumimoji="1" lang="en-US" altLang="zh-CN" sz="2000" baseline="30000">
                <a:solidFill>
                  <a:schemeClr val="bg1"/>
                </a:solidFill>
                <a:latin typeface="Arial" panose="020B0604020202020204" pitchFamily="34" charset="0"/>
                <a:ea typeface="宋体" panose="02010600030101010101" pitchFamily="2" charset="-122"/>
              </a:endParaRPr>
            </a:p>
          </p:txBody>
        </p:sp>
      </p:grpSp>
      <p:sp>
        <p:nvSpPr>
          <p:cNvPr id="159754" name="Rectangle 10"/>
          <p:cNvSpPr>
            <a:spLocks noChangeArrowheads="1"/>
          </p:cNvSpPr>
          <p:nvPr/>
        </p:nvSpPr>
        <p:spPr bwMode="auto">
          <a:xfrm>
            <a:off x="7032203" y="3707903"/>
            <a:ext cx="2079625" cy="701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a:solidFill>
                  <a:srgbClr val="FF0000"/>
                </a:solidFill>
                <a:ea typeface="黑体" panose="02010609060101010101" pitchFamily="2" charset="-122"/>
              </a:rPr>
              <a:t>丙酮酸激酶</a:t>
            </a:r>
            <a:endParaRPr kumimoji="1" lang="zh-CN" altLang="en-US" sz="2000">
              <a:solidFill>
                <a:srgbClr val="FF0000"/>
              </a:solidFill>
              <a:ea typeface="黑体" panose="02010609060101010101" pitchFamily="2" charset="-122"/>
            </a:endParaRPr>
          </a:p>
          <a:p>
            <a:pPr algn="ctr" eaLnBrk="1" hangingPunct="1">
              <a:spcBef>
                <a:spcPct val="0"/>
              </a:spcBef>
              <a:buClrTx/>
              <a:buSzTx/>
              <a:buFontTx/>
              <a:buNone/>
            </a:pPr>
            <a:r>
              <a:rPr kumimoji="1" lang="zh-CN" altLang="en-US" sz="2000">
                <a:solidFill>
                  <a:srgbClr val="FF0000"/>
                </a:solidFill>
                <a:ea typeface="黑体" panose="02010609060101010101" pitchFamily="2" charset="-122"/>
              </a:rPr>
              <a:t>(</a:t>
            </a:r>
            <a:r>
              <a:rPr kumimoji="1" lang="en-US" altLang="zh-CN" sz="2000">
                <a:solidFill>
                  <a:srgbClr val="FF0000"/>
                </a:solidFill>
                <a:ea typeface="黑体" panose="02010609060101010101" pitchFamily="2" charset="-122"/>
              </a:rPr>
              <a:t>pyruvate kinase)</a:t>
            </a:r>
            <a:endParaRPr kumimoji="1" lang="en-US" altLang="zh-CN" sz="2000">
              <a:solidFill>
                <a:srgbClr val="FF0000"/>
              </a:solidFill>
              <a:ea typeface="黑体" panose="02010609060101010101" pitchFamily="2" charset="-122"/>
            </a:endParaRPr>
          </a:p>
        </p:txBody>
      </p:sp>
      <p:sp>
        <p:nvSpPr>
          <p:cNvPr id="159755" name="Rectangle 11"/>
          <p:cNvSpPr>
            <a:spLocks noChangeArrowheads="1"/>
          </p:cNvSpPr>
          <p:nvPr/>
        </p:nvSpPr>
        <p:spPr bwMode="auto">
          <a:xfrm>
            <a:off x="1774825" y="5949950"/>
            <a:ext cx="2089150" cy="908050"/>
          </a:xfrm>
          <a:prstGeom prst="rect">
            <a:avLst/>
          </a:prstGeom>
          <a:noFill/>
          <a:ln w="57150" cap="rnd">
            <a:solidFill>
              <a:srgbClr val="FF97FF"/>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08550" name="Text Box 12"/>
          <p:cNvSpPr txBox="1">
            <a:spLocks noChangeArrowheads="1"/>
          </p:cNvSpPr>
          <p:nvPr/>
        </p:nvSpPr>
        <p:spPr bwMode="auto">
          <a:xfrm>
            <a:off x="4162424" y="175797"/>
            <a:ext cx="719016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0850" indent="-4508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Tx/>
              <a:buNone/>
            </a:pPr>
            <a:r>
              <a:rPr kumimoji="1" lang="zh-CN" altLang="en-US" sz="2800" dirty="0"/>
              <a:t>⑽ 磷酸烯醇式丙酮酸转变成丙酮酸， 并通过</a:t>
            </a:r>
            <a:r>
              <a:rPr kumimoji="1" lang="zh-CN" altLang="en-US" sz="2800" u="sng" dirty="0"/>
              <a:t>底物水平磷酸化生成</a:t>
            </a:r>
            <a:r>
              <a:rPr kumimoji="1" lang="en-US" altLang="zh-CN" sz="2800" u="sng" dirty="0"/>
              <a:t>ATP</a:t>
            </a:r>
            <a:endParaRPr kumimoji="1" lang="en-US" altLang="zh-CN" sz="2800" u="sng" dirty="0"/>
          </a:p>
        </p:txBody>
      </p:sp>
      <p:grpSp>
        <p:nvGrpSpPr>
          <p:cNvPr id="3" name="Group 13"/>
          <p:cNvGrpSpPr/>
          <p:nvPr/>
        </p:nvGrpSpPr>
        <p:grpSpPr bwMode="auto">
          <a:xfrm>
            <a:off x="4439816" y="2791915"/>
            <a:ext cx="2790825" cy="2328862"/>
            <a:chOff x="1519" y="1797"/>
            <a:chExt cx="1758" cy="1467"/>
          </a:xfrm>
        </p:grpSpPr>
        <p:sp>
          <p:nvSpPr>
            <p:cNvPr id="108610" name="Rectangle 14"/>
            <p:cNvSpPr>
              <a:spLocks noChangeArrowheads="1"/>
            </p:cNvSpPr>
            <p:nvPr/>
          </p:nvSpPr>
          <p:spPr bwMode="auto">
            <a:xfrm>
              <a:off x="1519" y="2976"/>
              <a:ext cx="17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FFFF00"/>
                  </a:solidFill>
                  <a:latin typeface="Arial" panose="020B0604020202020204" pitchFamily="34" charset="0"/>
                  <a:ea typeface="华文楷体" panose="02010600040101010101" pitchFamily="2" charset="-122"/>
                </a:rPr>
                <a:t>磷酸烯醇式丙酮酸</a:t>
              </a:r>
              <a:r>
                <a:rPr kumimoji="1" lang="zh-CN" altLang="en-US" sz="2400">
                  <a:solidFill>
                    <a:schemeClr val="tx2"/>
                  </a:solidFill>
                  <a:latin typeface="Arial" panose="020B0604020202020204" pitchFamily="34" charset="0"/>
                  <a:ea typeface="华文楷体" panose="02010600040101010101" pitchFamily="2" charset="-122"/>
                </a:rPr>
                <a:t>  </a:t>
              </a:r>
              <a:endParaRPr kumimoji="1" lang="zh-CN" altLang="en-US" sz="2400">
                <a:solidFill>
                  <a:schemeClr val="tx2"/>
                </a:solidFill>
                <a:latin typeface="Arial" panose="020B0604020202020204" pitchFamily="34" charset="0"/>
                <a:ea typeface="华文楷体" panose="02010600040101010101" pitchFamily="2" charset="-122"/>
              </a:endParaRPr>
            </a:p>
          </p:txBody>
        </p:sp>
        <p:graphicFrame>
          <p:nvGraphicFramePr>
            <p:cNvPr id="108611" name="Object 15"/>
            <p:cNvGraphicFramePr>
              <a:graphicFrameLocks noChangeAspect="1"/>
            </p:cNvGraphicFramePr>
            <p:nvPr/>
          </p:nvGraphicFramePr>
          <p:xfrm>
            <a:off x="1791" y="1797"/>
            <a:ext cx="894" cy="1044"/>
          </p:xfrm>
          <a:graphic>
            <a:graphicData uri="http://schemas.openxmlformats.org/presentationml/2006/ole">
              <mc:AlternateContent xmlns:mc="http://schemas.openxmlformats.org/markup-compatibility/2006">
                <mc:Choice xmlns:v="urn:schemas-microsoft-com:vml" Requires="v">
                  <p:oleObj spid="_x0000_s4" name="Document" r:id="rId1" imgW="1419225" imgH="1657350" progId="">
                    <p:embed/>
                  </p:oleObj>
                </mc:Choice>
                <mc:Fallback>
                  <p:oleObj name="Document" r:id="rId1" imgW="1419225" imgH="1657350" progId="">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 y="1797"/>
                          <a:ext cx="894" cy="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16"/>
          <p:cNvGrpSpPr/>
          <p:nvPr/>
        </p:nvGrpSpPr>
        <p:grpSpPr bwMode="auto">
          <a:xfrm>
            <a:off x="9696028" y="2791915"/>
            <a:ext cx="1266825" cy="2347912"/>
            <a:chOff x="4830" y="1797"/>
            <a:chExt cx="798" cy="1479"/>
          </a:xfrm>
        </p:grpSpPr>
        <p:sp>
          <p:nvSpPr>
            <p:cNvPr id="108608" name="Text Box 17"/>
            <p:cNvSpPr txBox="1">
              <a:spLocks noChangeArrowheads="1"/>
            </p:cNvSpPr>
            <p:nvPr/>
          </p:nvSpPr>
          <p:spPr bwMode="auto">
            <a:xfrm>
              <a:off x="4830" y="2988"/>
              <a:ext cx="7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FFFF00"/>
                  </a:solidFill>
                  <a:latin typeface="Arial" panose="020B0604020202020204" pitchFamily="34" charset="0"/>
                  <a:ea typeface="华文楷体" panose="02010600040101010101" pitchFamily="2" charset="-122"/>
                </a:rPr>
                <a:t>丙酮酸</a:t>
              </a:r>
              <a:r>
                <a:rPr kumimoji="1" lang="zh-CN" altLang="en-US" sz="2400">
                  <a:solidFill>
                    <a:srgbClr val="9CE157"/>
                  </a:solidFill>
                  <a:latin typeface="Arial" panose="020B0604020202020204" pitchFamily="34" charset="0"/>
                  <a:ea typeface="华文楷体" panose="02010600040101010101" pitchFamily="2" charset="-122"/>
                </a:rPr>
                <a:t>  </a:t>
              </a:r>
              <a:endParaRPr kumimoji="1" lang="zh-CN" altLang="en-US" sz="2400">
                <a:solidFill>
                  <a:srgbClr val="9CE157"/>
                </a:solidFill>
                <a:latin typeface="Arial" panose="020B0604020202020204" pitchFamily="34" charset="0"/>
                <a:ea typeface="华文楷体" panose="02010600040101010101" pitchFamily="2" charset="-122"/>
              </a:endParaRPr>
            </a:p>
          </p:txBody>
        </p:sp>
        <p:graphicFrame>
          <p:nvGraphicFramePr>
            <p:cNvPr id="108609" name="Object 18"/>
            <p:cNvGraphicFramePr>
              <a:graphicFrameLocks noChangeAspect="1"/>
            </p:cNvGraphicFramePr>
            <p:nvPr/>
          </p:nvGraphicFramePr>
          <p:xfrm>
            <a:off x="4876" y="1797"/>
            <a:ext cx="606" cy="1044"/>
          </p:xfrm>
          <a:graphic>
            <a:graphicData uri="http://schemas.openxmlformats.org/presentationml/2006/ole">
              <mc:AlternateContent xmlns:mc="http://schemas.openxmlformats.org/markup-compatibility/2006">
                <mc:Choice xmlns:v="urn:schemas-microsoft-com:vml" Requires="v">
                  <p:oleObj spid="_x0000_s6" name="Document" r:id="rId3" imgW="962025" imgH="1657350" progId="">
                    <p:embed/>
                  </p:oleObj>
                </mc:Choice>
                <mc:Fallback>
                  <p:oleObj name="Document" r:id="rId3" imgW="962025" imgH="1657350" progId="">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 y="1797"/>
                          <a:ext cx="606" cy="1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8553" name="Group 19"/>
          <p:cNvGrpSpPr/>
          <p:nvPr/>
        </p:nvGrpSpPr>
        <p:grpSpPr bwMode="auto">
          <a:xfrm>
            <a:off x="1524000" y="1"/>
            <a:ext cx="2374900" cy="6861175"/>
            <a:chOff x="0" y="-2"/>
            <a:chExt cx="1496" cy="4322"/>
          </a:xfrm>
        </p:grpSpPr>
        <p:sp>
          <p:nvSpPr>
            <p:cNvPr id="108557" name="Text Box 20"/>
            <p:cNvSpPr txBox="1">
              <a:spLocks noChangeArrowheads="1"/>
            </p:cNvSpPr>
            <p:nvPr/>
          </p:nvSpPr>
          <p:spPr bwMode="auto">
            <a:xfrm>
              <a:off x="336" y="-2"/>
              <a:ext cx="7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Glucose</a:t>
              </a:r>
              <a:r>
                <a:rPr kumimoji="1" lang="en-US" altLang="zh-CN" sz="2000">
                  <a:solidFill>
                    <a:schemeClr val="tx2"/>
                  </a:solidFill>
                  <a:latin typeface="Arial" panose="020B0604020202020204" pitchFamily="34" charset="0"/>
                  <a:ea typeface="宋体" panose="02010600030101010101" pitchFamily="2" charset="-122"/>
                </a:rPr>
                <a:t> </a:t>
              </a:r>
              <a:endParaRPr kumimoji="1" lang="en-US" altLang="zh-CN" sz="2000">
                <a:solidFill>
                  <a:schemeClr val="tx2"/>
                </a:solidFill>
                <a:latin typeface="Arial" panose="020B0604020202020204" pitchFamily="34" charset="0"/>
                <a:ea typeface="宋体" panose="02010600030101010101" pitchFamily="2" charset="-122"/>
              </a:endParaRPr>
            </a:p>
          </p:txBody>
        </p:sp>
        <p:sp>
          <p:nvSpPr>
            <p:cNvPr id="108558" name="Text Box 21"/>
            <p:cNvSpPr txBox="1">
              <a:spLocks noChangeArrowheads="1"/>
            </p:cNvSpPr>
            <p:nvPr/>
          </p:nvSpPr>
          <p:spPr bwMode="auto">
            <a:xfrm>
              <a:off x="336" y="478"/>
              <a:ext cx="58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G-6-P</a:t>
              </a:r>
              <a:r>
                <a:rPr kumimoji="1" lang="en-US" altLang="zh-CN" sz="2000">
                  <a:solidFill>
                    <a:schemeClr val="accent1"/>
                  </a:solidFill>
                  <a:latin typeface="Arial" panose="020B0604020202020204" pitchFamily="34" charset="0"/>
                  <a:ea typeface="宋体" panose="02010600030101010101" pitchFamily="2" charset="-122"/>
                </a:rPr>
                <a:t> </a:t>
              </a:r>
              <a:endParaRPr kumimoji="1" lang="en-US" altLang="zh-CN" sz="2000">
                <a:solidFill>
                  <a:schemeClr val="accent1"/>
                </a:solidFill>
                <a:latin typeface="Arial" panose="020B0604020202020204" pitchFamily="34" charset="0"/>
                <a:ea typeface="宋体" panose="02010600030101010101" pitchFamily="2" charset="-122"/>
              </a:endParaRPr>
            </a:p>
          </p:txBody>
        </p:sp>
        <p:sp>
          <p:nvSpPr>
            <p:cNvPr id="108559" name="Text Box 22"/>
            <p:cNvSpPr txBox="1">
              <a:spLocks noChangeArrowheads="1"/>
            </p:cNvSpPr>
            <p:nvPr/>
          </p:nvSpPr>
          <p:spPr bwMode="auto">
            <a:xfrm>
              <a:off x="288" y="91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F-6-P</a:t>
              </a:r>
              <a:r>
                <a:rPr kumimoji="1" lang="en-US" altLang="zh-CN" sz="2000">
                  <a:latin typeface="Arial" panose="020B0604020202020204" pitchFamily="34" charset="0"/>
                  <a:ea typeface="宋体" panose="02010600030101010101" pitchFamily="2" charset="-122"/>
                </a:rPr>
                <a:t> </a:t>
              </a:r>
              <a:endParaRPr kumimoji="1" lang="en-US" altLang="zh-CN" sz="2000">
                <a:latin typeface="Arial" panose="020B0604020202020204" pitchFamily="34" charset="0"/>
                <a:ea typeface="宋体" panose="02010600030101010101" pitchFamily="2" charset="-122"/>
              </a:endParaRPr>
            </a:p>
          </p:txBody>
        </p:sp>
        <p:sp>
          <p:nvSpPr>
            <p:cNvPr id="108560" name="Text Box 23"/>
            <p:cNvSpPr txBox="1">
              <a:spLocks noChangeArrowheads="1"/>
            </p:cNvSpPr>
            <p:nvPr/>
          </p:nvSpPr>
          <p:spPr bwMode="auto">
            <a:xfrm>
              <a:off x="192" y="1390"/>
              <a:ext cx="73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rial" panose="020B0604020202020204" pitchFamily="34" charset="0"/>
                  <a:ea typeface="宋体" panose="02010600030101010101" pitchFamily="2" charset="-122"/>
                </a:rPr>
                <a:t>F-1,6-2P</a:t>
              </a:r>
              <a:endParaRPr kumimoji="1" lang="en-US" altLang="zh-CN" sz="2000" b="0">
                <a:latin typeface="Arial" panose="020B0604020202020204" pitchFamily="34" charset="0"/>
                <a:ea typeface="宋体" panose="02010600030101010101" pitchFamily="2" charset="-122"/>
              </a:endParaRPr>
            </a:p>
          </p:txBody>
        </p:sp>
        <p:sp>
          <p:nvSpPr>
            <p:cNvPr id="108561" name="Line 24"/>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62" name="Text Box 25"/>
            <p:cNvSpPr txBox="1">
              <a:spLocks noChangeArrowheads="1"/>
            </p:cNvSpPr>
            <p:nvPr/>
          </p:nvSpPr>
          <p:spPr bwMode="auto">
            <a:xfrm>
              <a:off x="720" y="143"/>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8563" name="Group 26"/>
            <p:cNvGrpSpPr/>
            <p:nvPr/>
          </p:nvGrpSpPr>
          <p:grpSpPr bwMode="auto">
            <a:xfrm>
              <a:off x="528" y="240"/>
              <a:ext cx="192" cy="240"/>
              <a:chOff x="480" y="336"/>
              <a:chExt cx="144" cy="240"/>
            </a:xfrm>
          </p:grpSpPr>
          <p:sp>
            <p:nvSpPr>
              <p:cNvPr id="108605" name="Line 27"/>
              <p:cNvSpPr>
                <a:spLocks noChangeShapeType="1"/>
              </p:cNvSpPr>
              <p:nvPr/>
            </p:nvSpPr>
            <p:spPr bwMode="auto">
              <a:xfrm>
                <a:off x="480" y="336"/>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606" name="Line 28"/>
              <p:cNvSpPr>
                <a:spLocks noChangeShapeType="1"/>
              </p:cNvSpPr>
              <p:nvPr/>
            </p:nvSpPr>
            <p:spPr bwMode="auto">
              <a:xfrm flipV="1">
                <a:off x="480" y="336"/>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8607" name="Line 29"/>
              <p:cNvSpPr>
                <a:spLocks noChangeShapeType="1"/>
              </p:cNvSpPr>
              <p:nvPr/>
            </p:nvSpPr>
            <p:spPr bwMode="auto">
              <a:xfrm>
                <a:off x="480" y="432"/>
                <a:ext cx="144" cy="144"/>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8564" name="Text Box 30"/>
            <p:cNvSpPr txBox="1">
              <a:spLocks noChangeArrowheads="1"/>
            </p:cNvSpPr>
            <p:nvPr/>
          </p:nvSpPr>
          <p:spPr bwMode="auto">
            <a:xfrm>
              <a:off x="720" y="363"/>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8565" name="Text Box 31"/>
            <p:cNvSpPr txBox="1">
              <a:spLocks noChangeArrowheads="1"/>
            </p:cNvSpPr>
            <p:nvPr/>
          </p:nvSpPr>
          <p:spPr bwMode="auto">
            <a:xfrm>
              <a:off x="720" y="1037"/>
              <a:ext cx="40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r>
                <a:rPr kumimoji="1" lang="en-US" altLang="zh-CN" sz="1600">
                  <a:solidFill>
                    <a:schemeClr val="accent1"/>
                  </a:solidFill>
                  <a:latin typeface="Arial" panose="020B0604020202020204" pitchFamily="34" charset="0"/>
                  <a:ea typeface="宋体" panose="02010600030101010101" pitchFamily="2" charset="-122"/>
                </a:rPr>
                <a:t> </a:t>
              </a:r>
              <a:endParaRPr kumimoji="1" lang="en-US" altLang="zh-CN" sz="1600">
                <a:solidFill>
                  <a:schemeClr val="accent1"/>
                </a:solidFill>
                <a:latin typeface="Arial" panose="020B0604020202020204" pitchFamily="34" charset="0"/>
                <a:ea typeface="宋体" panose="02010600030101010101" pitchFamily="2" charset="-122"/>
              </a:endParaRPr>
            </a:p>
          </p:txBody>
        </p:sp>
        <p:grpSp>
          <p:nvGrpSpPr>
            <p:cNvPr id="108566" name="Group 32"/>
            <p:cNvGrpSpPr/>
            <p:nvPr/>
          </p:nvGrpSpPr>
          <p:grpSpPr bwMode="auto">
            <a:xfrm>
              <a:off x="528" y="1104"/>
              <a:ext cx="240" cy="288"/>
              <a:chOff x="432" y="1296"/>
              <a:chExt cx="144" cy="288"/>
            </a:xfrm>
          </p:grpSpPr>
          <p:sp>
            <p:nvSpPr>
              <p:cNvPr id="108602" name="Line 33"/>
              <p:cNvSpPr>
                <a:spLocks noChangeShapeType="1"/>
              </p:cNvSpPr>
              <p:nvPr/>
            </p:nvSpPr>
            <p:spPr bwMode="auto">
              <a:xfrm>
                <a:off x="432" y="1296"/>
                <a:ext cx="0" cy="28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603" name="Line 34"/>
              <p:cNvSpPr>
                <a:spLocks noChangeShapeType="1"/>
              </p:cNvSpPr>
              <p:nvPr/>
            </p:nvSpPr>
            <p:spPr bwMode="auto">
              <a:xfrm flipV="1">
                <a:off x="432" y="1344"/>
                <a:ext cx="144"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8604" name="Line 35"/>
              <p:cNvSpPr>
                <a:spLocks noChangeShapeType="1"/>
              </p:cNvSpPr>
              <p:nvPr/>
            </p:nvSpPr>
            <p:spPr bwMode="auto">
              <a:xfrm>
                <a:off x="432" y="1440"/>
                <a:ext cx="144"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08567" name="Text Box 36"/>
            <p:cNvSpPr txBox="1">
              <a:spLocks noChangeArrowheads="1"/>
            </p:cNvSpPr>
            <p:nvPr/>
          </p:nvSpPr>
          <p:spPr bwMode="auto">
            <a:xfrm>
              <a:off x="720" y="1229"/>
              <a:ext cx="42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 </a:t>
              </a:r>
              <a:endParaRPr kumimoji="1" lang="en-US" altLang="zh-CN" sz="1600">
                <a:latin typeface="Arial" panose="020B0604020202020204" pitchFamily="34" charset="0"/>
                <a:ea typeface="宋体" panose="02010600030101010101" pitchFamily="2" charset="-122"/>
              </a:endParaRPr>
            </a:p>
          </p:txBody>
        </p:sp>
        <p:sp>
          <p:nvSpPr>
            <p:cNvPr id="108568" name="Text Box 37"/>
            <p:cNvSpPr txBox="1">
              <a:spLocks noChangeArrowheads="1"/>
            </p:cNvSpPr>
            <p:nvPr/>
          </p:nvSpPr>
          <p:spPr bwMode="auto">
            <a:xfrm>
              <a:off x="15" y="2601"/>
              <a:ext cx="13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108569" name="Text Box 38"/>
            <p:cNvSpPr txBox="1">
              <a:spLocks noChangeArrowheads="1"/>
            </p:cNvSpPr>
            <p:nvPr/>
          </p:nvSpPr>
          <p:spPr bwMode="auto">
            <a:xfrm>
              <a:off x="432" y="3033"/>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108570" name="Text Box 39"/>
            <p:cNvSpPr txBox="1">
              <a:spLocks noChangeArrowheads="1"/>
            </p:cNvSpPr>
            <p:nvPr/>
          </p:nvSpPr>
          <p:spPr bwMode="auto">
            <a:xfrm>
              <a:off x="414" y="3369"/>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108571" name="Text Box 40"/>
            <p:cNvSpPr txBox="1">
              <a:spLocks noChangeArrowheads="1"/>
            </p:cNvSpPr>
            <p:nvPr/>
          </p:nvSpPr>
          <p:spPr bwMode="auto">
            <a:xfrm>
              <a:off x="624" y="4070"/>
              <a:ext cx="5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丙酮酸</a:t>
              </a:r>
              <a:endParaRPr kumimoji="1" lang="zh-CN" altLang="en-US" sz="2000">
                <a:latin typeface="Arial" panose="020B0604020202020204" pitchFamily="34" charset="0"/>
              </a:endParaRPr>
            </a:p>
          </p:txBody>
        </p:sp>
        <p:sp>
          <p:nvSpPr>
            <p:cNvPr id="108572" name="Line 41"/>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73" name="Line 42"/>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74" name="Text Box 43"/>
            <p:cNvSpPr txBox="1">
              <a:spLocks noChangeArrowheads="1"/>
            </p:cNvSpPr>
            <p:nvPr/>
          </p:nvSpPr>
          <p:spPr bwMode="auto">
            <a:xfrm>
              <a:off x="0" y="1872"/>
              <a:ext cx="59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108575" name="Text Box 44"/>
            <p:cNvSpPr txBox="1">
              <a:spLocks noChangeArrowheads="1"/>
            </p:cNvSpPr>
            <p:nvPr/>
          </p:nvSpPr>
          <p:spPr bwMode="auto">
            <a:xfrm>
              <a:off x="672" y="1872"/>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108576" name="Group 45"/>
            <p:cNvGrpSpPr/>
            <p:nvPr/>
          </p:nvGrpSpPr>
          <p:grpSpPr bwMode="auto">
            <a:xfrm>
              <a:off x="240" y="1584"/>
              <a:ext cx="624" cy="336"/>
              <a:chOff x="3888" y="576"/>
              <a:chExt cx="624" cy="336"/>
            </a:xfrm>
          </p:grpSpPr>
          <p:sp>
            <p:nvSpPr>
              <p:cNvPr id="108598" name="Line 46"/>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8599" name="Group 47"/>
              <p:cNvGrpSpPr/>
              <p:nvPr/>
            </p:nvGrpSpPr>
            <p:grpSpPr bwMode="auto">
              <a:xfrm>
                <a:off x="3888" y="576"/>
                <a:ext cx="288" cy="336"/>
                <a:chOff x="3888" y="576"/>
                <a:chExt cx="288" cy="336"/>
              </a:xfrm>
            </p:grpSpPr>
            <p:sp>
              <p:nvSpPr>
                <p:cNvPr id="108600" name="Line 48"/>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601" name="Line 49"/>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8577" name="Line 50"/>
            <p:cNvSpPr>
              <a:spLocks noChangeShapeType="1"/>
            </p:cNvSpPr>
            <p:nvPr/>
          </p:nvSpPr>
          <p:spPr bwMode="auto">
            <a:xfrm>
              <a:off x="480" y="2112"/>
              <a:ext cx="28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78" name="Text Box 51"/>
            <p:cNvSpPr txBox="1">
              <a:spLocks noChangeArrowheads="1"/>
            </p:cNvSpPr>
            <p:nvPr/>
          </p:nvSpPr>
          <p:spPr bwMode="auto">
            <a:xfrm>
              <a:off x="288" y="2285"/>
              <a:ext cx="44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a:t>
              </a:r>
              <a:endParaRPr kumimoji="1" lang="en-US" altLang="zh-CN" sz="1600" baseline="30000">
                <a:latin typeface="Arial" panose="020B0604020202020204" pitchFamily="34" charset="0"/>
                <a:ea typeface="宋体" panose="02010600030101010101" pitchFamily="2" charset="-122"/>
              </a:endParaRPr>
            </a:p>
          </p:txBody>
        </p:sp>
        <p:sp>
          <p:nvSpPr>
            <p:cNvPr id="108579" name="Text Box 52"/>
            <p:cNvSpPr txBox="1">
              <a:spLocks noChangeArrowheads="1"/>
            </p:cNvSpPr>
            <p:nvPr/>
          </p:nvSpPr>
          <p:spPr bwMode="auto">
            <a:xfrm>
              <a:off x="0" y="2462"/>
              <a:ext cx="7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66"/>
                  </a:solidFill>
                  <a:latin typeface="Arial" panose="020B0604020202020204" pitchFamily="34" charset="0"/>
                  <a:ea typeface="宋体" panose="02010600030101010101" pitchFamily="2" charset="-122"/>
                </a:rPr>
                <a:t>NADH+H</a:t>
              </a:r>
              <a:r>
                <a:rPr kumimoji="1" lang="en-US" altLang="zh-CN" sz="1600" baseline="30000">
                  <a:solidFill>
                    <a:srgbClr val="FF0066"/>
                  </a:solidFill>
                  <a:latin typeface="Arial" panose="020B0604020202020204" pitchFamily="34" charset="0"/>
                  <a:ea typeface="宋体" panose="02010600030101010101" pitchFamily="2" charset="-122"/>
                </a:rPr>
                <a:t>+</a:t>
              </a:r>
              <a:endParaRPr kumimoji="1" lang="en-US" altLang="zh-CN" sz="1600" baseline="30000">
                <a:solidFill>
                  <a:srgbClr val="FF0066"/>
                </a:solidFill>
                <a:latin typeface="Arial" panose="020B0604020202020204" pitchFamily="34" charset="0"/>
                <a:ea typeface="宋体" panose="02010600030101010101" pitchFamily="2" charset="-122"/>
              </a:endParaRPr>
            </a:p>
          </p:txBody>
        </p:sp>
        <p:sp>
          <p:nvSpPr>
            <p:cNvPr id="108580" name="Text Box 53"/>
            <p:cNvSpPr txBox="1">
              <a:spLocks noChangeArrowheads="1"/>
            </p:cNvSpPr>
            <p:nvPr/>
          </p:nvSpPr>
          <p:spPr bwMode="auto">
            <a:xfrm>
              <a:off x="432" y="2783"/>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108581" name="Group 54"/>
            <p:cNvGrpSpPr/>
            <p:nvPr/>
          </p:nvGrpSpPr>
          <p:grpSpPr bwMode="auto">
            <a:xfrm>
              <a:off x="816" y="2784"/>
              <a:ext cx="336" cy="288"/>
              <a:chOff x="912" y="2736"/>
              <a:chExt cx="336" cy="384"/>
            </a:xfrm>
          </p:grpSpPr>
          <p:sp>
            <p:nvSpPr>
              <p:cNvPr id="108594" name="Line 55"/>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08595" name="Group 56"/>
              <p:cNvGrpSpPr/>
              <p:nvPr/>
            </p:nvGrpSpPr>
            <p:grpSpPr bwMode="auto">
              <a:xfrm>
                <a:off x="912" y="2880"/>
                <a:ext cx="336" cy="192"/>
                <a:chOff x="4560" y="2127"/>
                <a:chExt cx="336" cy="192"/>
              </a:xfrm>
            </p:grpSpPr>
            <p:sp>
              <p:nvSpPr>
                <p:cNvPr id="108596" name="Line 57"/>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8597" name="Line 58"/>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08582" name="Text Box 59"/>
            <p:cNvSpPr txBox="1">
              <a:spLocks noChangeArrowheads="1"/>
            </p:cNvSpPr>
            <p:nvPr/>
          </p:nvSpPr>
          <p:spPr bwMode="auto">
            <a:xfrm>
              <a:off x="1104" y="2880"/>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sp>
          <p:nvSpPr>
            <p:cNvPr id="108583" name="Text Box 60"/>
            <p:cNvSpPr txBox="1">
              <a:spLocks noChangeArrowheads="1"/>
            </p:cNvSpPr>
            <p:nvPr/>
          </p:nvSpPr>
          <p:spPr bwMode="auto">
            <a:xfrm>
              <a:off x="480" y="3887"/>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108584" name="Text Box 61"/>
            <p:cNvSpPr txBox="1">
              <a:spLocks noChangeArrowheads="1"/>
            </p:cNvSpPr>
            <p:nvPr/>
          </p:nvSpPr>
          <p:spPr bwMode="auto">
            <a:xfrm>
              <a:off x="1104" y="3966"/>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000"/>
                  </a:solidFill>
                  <a:latin typeface="Arial" panose="020B0604020202020204" pitchFamily="34" charset="0"/>
                  <a:ea typeface="宋体" panose="02010600030101010101" pitchFamily="2" charset="-122"/>
                </a:rPr>
                <a:t>ATP</a:t>
              </a:r>
              <a:endParaRPr kumimoji="1" lang="en-US" altLang="zh-CN" sz="1600">
                <a:solidFill>
                  <a:srgbClr val="FF0000"/>
                </a:solidFill>
                <a:latin typeface="Arial" panose="020B0604020202020204" pitchFamily="34" charset="0"/>
                <a:ea typeface="宋体" panose="02010600030101010101" pitchFamily="2" charset="-122"/>
              </a:endParaRPr>
            </a:p>
          </p:txBody>
        </p:sp>
        <p:grpSp>
          <p:nvGrpSpPr>
            <p:cNvPr id="108585" name="Group 62"/>
            <p:cNvGrpSpPr/>
            <p:nvPr/>
          </p:nvGrpSpPr>
          <p:grpSpPr bwMode="auto">
            <a:xfrm>
              <a:off x="720" y="2256"/>
              <a:ext cx="240" cy="384"/>
              <a:chOff x="4512" y="1248"/>
              <a:chExt cx="240" cy="432"/>
            </a:xfrm>
          </p:grpSpPr>
          <p:sp>
            <p:nvSpPr>
              <p:cNvPr id="108591" name="Line 63"/>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92" name="Line 64"/>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93" name="Line 65"/>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08586" name="Text Box 66"/>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磷酸烯醇式丙酮酸</a:t>
              </a:r>
              <a:endParaRPr kumimoji="1" lang="zh-CN" altLang="en-US" sz="2000">
                <a:latin typeface="Arial" panose="020B0604020202020204" pitchFamily="34" charset="0"/>
              </a:endParaRPr>
            </a:p>
          </p:txBody>
        </p:sp>
        <p:grpSp>
          <p:nvGrpSpPr>
            <p:cNvPr id="108587" name="Group 67"/>
            <p:cNvGrpSpPr/>
            <p:nvPr/>
          </p:nvGrpSpPr>
          <p:grpSpPr bwMode="auto">
            <a:xfrm>
              <a:off x="816" y="3888"/>
              <a:ext cx="336" cy="240"/>
              <a:chOff x="912" y="3888"/>
              <a:chExt cx="336" cy="240"/>
            </a:xfrm>
          </p:grpSpPr>
          <p:sp>
            <p:nvSpPr>
              <p:cNvPr id="108588" name="Line 68"/>
              <p:cNvSpPr>
                <a:spLocks noChangeShapeType="1"/>
              </p:cNvSpPr>
              <p:nvPr/>
            </p:nvSpPr>
            <p:spPr bwMode="auto">
              <a:xfrm flipH="1">
                <a:off x="1056" y="3888"/>
                <a:ext cx="0"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8589" name="Line 69"/>
              <p:cNvSpPr>
                <a:spLocks noChangeShapeType="1"/>
              </p:cNvSpPr>
              <p:nvPr/>
            </p:nvSpPr>
            <p:spPr bwMode="auto">
              <a:xfrm flipH="1" flipV="1">
                <a:off x="912" y="3936"/>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08590" name="Line 70"/>
              <p:cNvSpPr>
                <a:spLocks noChangeShapeType="1"/>
              </p:cNvSpPr>
              <p:nvPr/>
            </p:nvSpPr>
            <p:spPr bwMode="auto">
              <a:xfrm rot="-318911">
                <a:off x="1056" y="4005"/>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03434" name="组合 7"/>
          <p:cNvGrpSpPr/>
          <p:nvPr/>
        </p:nvGrpSpPr>
        <p:grpSpPr bwMode="auto">
          <a:xfrm>
            <a:off x="8472066" y="1969590"/>
            <a:ext cx="1609725" cy="1441450"/>
            <a:chOff x="6444392" y="1627511"/>
            <a:chExt cx="1609725" cy="1441449"/>
          </a:xfrm>
        </p:grpSpPr>
        <p:sp>
          <p:nvSpPr>
            <p:cNvPr id="108555" name="爆炸形: 8 pt  5"/>
            <p:cNvSpPr>
              <a:spLocks noChangeArrowheads="1"/>
            </p:cNvSpPr>
            <p:nvPr/>
          </p:nvSpPr>
          <p:spPr bwMode="auto">
            <a:xfrm>
              <a:off x="6444392" y="1627511"/>
              <a:ext cx="1609725" cy="1441449"/>
            </a:xfrm>
            <a:prstGeom prst="irregularSeal1">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sp>
          <p:nvSpPr>
            <p:cNvPr id="108556" name="文本框 6"/>
            <p:cNvSpPr txBox="1">
              <a:spLocks noChangeArrowheads="1"/>
            </p:cNvSpPr>
            <p:nvPr/>
          </p:nvSpPr>
          <p:spPr bwMode="auto">
            <a:xfrm>
              <a:off x="6876256" y="2113692"/>
              <a:ext cx="9778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solidFill>
                    <a:srgbClr val="FFFF00"/>
                  </a:solidFill>
                  <a:latin typeface="Arial" panose="020B0604020202020204" pitchFamily="34" charset="0"/>
                  <a:ea typeface="宋体" panose="02010600030101010101" pitchFamily="2" charset="-122"/>
                </a:rPr>
                <a:t>ATP</a:t>
              </a:r>
              <a:endParaRPr lang="zh-CN" altLang="en-US" sz="2800">
                <a:solidFill>
                  <a:srgbClr val="FFFF00"/>
                </a:solidFill>
                <a:latin typeface="Arial" panose="020B0604020202020204" pitchFamily="34" charset="0"/>
                <a:ea typeface="宋体" panose="02010600030101010101" pitchFamily="2" charset="-122"/>
              </a:endParaRPr>
            </a:p>
          </p:txBody>
        </p:sp>
      </p:grpSp>
      <p:sp>
        <p:nvSpPr>
          <p:cNvPr id="7" name="文本框 6"/>
          <p:cNvSpPr txBox="1"/>
          <p:nvPr/>
        </p:nvSpPr>
        <p:spPr>
          <a:xfrm>
            <a:off x="8057728" y="5271591"/>
            <a:ext cx="3114675" cy="461665"/>
          </a:xfrm>
          <a:prstGeom prst="rect">
            <a:avLst/>
          </a:prstGeom>
          <a:noFill/>
        </p:spPr>
        <p:txBody>
          <a:bodyPr wrap="square">
            <a:spAutoFit/>
          </a:bodyPr>
          <a:lstStyle/>
          <a:p>
            <a:r>
              <a:rPr lang="el-GR" altLang="zh-CN" sz="2400" b="0" dirty="0">
                <a:solidFill>
                  <a:srgbClr val="FFFF00"/>
                </a:solidFill>
              </a:rPr>
              <a:t>Δ</a:t>
            </a:r>
            <a:r>
              <a:rPr lang="en-US" altLang="zh-CN" sz="2400" b="0" dirty="0">
                <a:solidFill>
                  <a:srgbClr val="FFFF00"/>
                </a:solidFill>
              </a:rPr>
              <a:t>G′</a:t>
            </a:r>
            <a:r>
              <a:rPr lang="en-US" altLang="zh-CN" sz="2400" b="0" baseline="30000" dirty="0">
                <a:solidFill>
                  <a:srgbClr val="FFFF00"/>
                </a:solidFill>
              </a:rPr>
              <a:t>0</a:t>
            </a:r>
            <a:r>
              <a:rPr lang="en-US" altLang="zh-CN" sz="2400" b="0" dirty="0">
                <a:solidFill>
                  <a:srgbClr val="FFFF00"/>
                </a:solidFill>
              </a:rPr>
              <a:t> = -31.4kJ/mol </a:t>
            </a:r>
            <a:endParaRPr lang="en-US" altLang="zh-CN" sz="2400" b="0" dirty="0">
              <a:solidFill>
                <a:srgbClr val="FFFF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159755"/>
                                        </p:tgtEl>
                                        <p:attrNameLst>
                                          <p:attrName>style.visibility</p:attrName>
                                        </p:attrNameLst>
                                      </p:cBhvr>
                                      <p:to>
                                        <p:strVal val="visible"/>
                                      </p:to>
                                    </p:set>
                                    <p:animEffect transition="in" filter="box(out)">
                                      <p:cBhvr>
                                        <p:cTn id="7" dur="500"/>
                                        <p:tgtEl>
                                          <p:spTgt spid="159755"/>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strVal val="#ppt_h"/>
                                          </p:val>
                                        </p:tav>
                                        <p:tav tm="100000">
                                          <p:val>
                                            <p:strVal val="#ppt_h"/>
                                          </p:val>
                                        </p:tav>
                                      </p:tavLst>
                                    </p:anim>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1000"/>
                                        <p:tgtEl>
                                          <p:spTgt spid="2"/>
                                        </p:tgtEl>
                                      </p:cBhvr>
                                    </p:animEffect>
                                  </p:childTnLst>
                                </p:cTn>
                              </p:par>
                            </p:childTnLst>
                          </p:cTn>
                        </p:par>
                        <p:par>
                          <p:cTn id="17" fill="hold">
                            <p:stCondLst>
                              <p:cond delay="2000"/>
                            </p:stCondLst>
                            <p:childTnLst>
                              <p:par>
                                <p:cTn id="18" presetID="1" presetClass="entr" presetSubtype="0" fill="hold" nodeType="afterEffect">
                                  <p:stCondLst>
                                    <p:cond delay="0"/>
                                  </p:stCondLst>
                                  <p:childTnLst>
                                    <p:set>
                                      <p:cBhvr>
                                        <p:cTn id="19" dur="1" fill="hold">
                                          <p:stCondLst>
                                            <p:cond delay="0"/>
                                          </p:stCondLst>
                                        </p:cTn>
                                        <p:tgtEl>
                                          <p:spTgt spid="103434"/>
                                        </p:tgtEl>
                                        <p:attrNameLst>
                                          <p:attrName>style.visibility</p:attrName>
                                        </p:attrNameLst>
                                      </p:cBhvr>
                                      <p:to>
                                        <p:strVal val="visible"/>
                                      </p:to>
                                    </p:set>
                                  </p:childTnLst>
                                </p:cTn>
                              </p:par>
                            </p:childTnLst>
                          </p:cTn>
                        </p:par>
                        <p:par>
                          <p:cTn id="20" fill="hold">
                            <p:stCondLst>
                              <p:cond delay="2000"/>
                            </p:stCondLst>
                            <p:childTnLst>
                              <p:par>
                                <p:cTn id="21" presetID="12" presetClass="entr" presetSubtype="4" fill="hold" grpId="0" nodeType="afterEffect">
                                  <p:stCondLst>
                                    <p:cond delay="0"/>
                                  </p:stCondLst>
                                  <p:childTnLst>
                                    <p:set>
                                      <p:cBhvr>
                                        <p:cTn id="22" dur="1" fill="hold">
                                          <p:stCondLst>
                                            <p:cond delay="0"/>
                                          </p:stCondLst>
                                        </p:cTn>
                                        <p:tgtEl>
                                          <p:spTgt spid="159754"/>
                                        </p:tgtEl>
                                        <p:attrNameLst>
                                          <p:attrName>style.visibility</p:attrName>
                                        </p:attrNameLst>
                                      </p:cBhvr>
                                      <p:to>
                                        <p:strVal val="visible"/>
                                      </p:to>
                                    </p:set>
                                    <p:animEffect transition="in" filter="slide(fromBottom)">
                                      <p:cBhvr>
                                        <p:cTn id="23" dur="500"/>
                                        <p:tgtEl>
                                          <p:spTgt spid="159754"/>
                                        </p:tgtEl>
                                      </p:cBhvr>
                                    </p:animEffect>
                                  </p:childTnLst>
                                </p:cTn>
                              </p:par>
                            </p:childTnLst>
                          </p:cTn>
                        </p:par>
                        <p:par>
                          <p:cTn id="24" fill="hold">
                            <p:stCondLst>
                              <p:cond delay="2500"/>
                            </p:stCondLst>
                            <p:childTnLst>
                              <p:par>
                                <p:cTn id="25" presetID="1" presetClass="entr" presetSubtype="0"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54" grpId="0" animBg="1"/>
      <p:bldP spid="159755" grpId="0" animBg="1"/>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body" idx="1"/>
          </p:nvPr>
        </p:nvSpPr>
        <p:spPr>
          <a:xfrm>
            <a:off x="2660650" y="685801"/>
            <a:ext cx="6891338" cy="576263"/>
          </a:xfrm>
        </p:spPr>
        <p:txBody>
          <a:bodyPr/>
          <a:lstStyle/>
          <a:p>
            <a:pPr eaLnBrk="1" hangingPunct="1">
              <a:buFont typeface="Wingdings" panose="05000000000000000000" pitchFamily="2" charset="2"/>
              <a:buNone/>
            </a:pPr>
            <a:r>
              <a:rPr lang="zh-CN" altLang="en-US" sz="3600" b="0">
                <a:solidFill>
                  <a:srgbClr val="660066"/>
                </a:solidFill>
                <a:latin typeface="黑体" panose="02010609060101010101" pitchFamily="2" charset="-122"/>
                <a:ea typeface="黑体" panose="02010609060101010101" pitchFamily="2" charset="-122"/>
              </a:rPr>
              <a:t>第二阶段：丙酮酸转变成乳酸</a:t>
            </a:r>
            <a:endParaRPr lang="zh-CN" altLang="en-US" sz="3600" b="0">
              <a:solidFill>
                <a:srgbClr val="660066"/>
              </a:solidFill>
              <a:latin typeface="黑体" panose="02010609060101010101" pitchFamily="2" charset="-122"/>
              <a:ea typeface="黑体" panose="02010609060101010101" pitchFamily="2" charset="-122"/>
            </a:endParaRPr>
          </a:p>
        </p:txBody>
      </p:sp>
      <p:sp>
        <p:nvSpPr>
          <p:cNvPr id="160773" name="Text Box 5"/>
          <p:cNvSpPr txBox="1">
            <a:spLocks noChangeArrowheads="1"/>
          </p:cNvSpPr>
          <p:nvPr/>
        </p:nvSpPr>
        <p:spPr bwMode="auto">
          <a:xfrm>
            <a:off x="2927350" y="4292601"/>
            <a:ext cx="6408738" cy="1153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628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buFontTx/>
              <a:buNone/>
            </a:pPr>
            <a:r>
              <a:rPr kumimoji="1" lang="en-US" altLang="zh-CN" sz="2800" u="sng" dirty="0">
                <a:solidFill>
                  <a:srgbClr val="FF3F8D"/>
                </a:solidFill>
                <a:latin typeface="Arial" panose="020B0604020202020204" pitchFamily="34" charset="0"/>
                <a:ea typeface="宋体" panose="02010600030101010101" pitchFamily="2" charset="-122"/>
              </a:rPr>
              <a:t>NADH+H</a:t>
            </a:r>
            <a:r>
              <a:rPr kumimoji="1" lang="en-US" altLang="zh-CN" sz="2800" u="sng" baseline="30000" dirty="0">
                <a:solidFill>
                  <a:srgbClr val="FF3F8D"/>
                </a:solidFill>
                <a:latin typeface="Arial" panose="020B0604020202020204" pitchFamily="34" charset="0"/>
                <a:ea typeface="宋体" panose="02010600030101010101" pitchFamily="2" charset="-122"/>
              </a:rPr>
              <a:t>+</a:t>
            </a:r>
            <a:r>
              <a:rPr kumimoji="1" lang="en-US" altLang="zh-CN" sz="2400" baseline="30000" dirty="0">
                <a:solidFill>
                  <a:srgbClr val="F026EB"/>
                </a:solidFill>
                <a:ea typeface="宋体" panose="02010600030101010101" pitchFamily="2" charset="-122"/>
              </a:rPr>
              <a:t>  </a:t>
            </a:r>
            <a:r>
              <a:rPr kumimoji="1" lang="zh-CN" altLang="en-US" sz="2800" dirty="0">
                <a:latin typeface="楷体_GB2312" pitchFamily="49" charset="-122"/>
                <a:ea typeface="宋体" panose="02010600030101010101" pitchFamily="2" charset="-122"/>
              </a:rPr>
              <a:t>来自于上述第</a:t>
            </a:r>
            <a:r>
              <a:rPr kumimoji="1" lang="zh-CN" altLang="en-US" sz="2800" dirty="0">
                <a:ea typeface="宋体" panose="02010600030101010101" pitchFamily="2" charset="-122"/>
              </a:rPr>
              <a:t>6</a:t>
            </a:r>
            <a:r>
              <a:rPr kumimoji="1" lang="zh-CN" altLang="en-US" sz="2800" dirty="0">
                <a:latin typeface="楷体_GB2312" pitchFamily="49" charset="-122"/>
                <a:ea typeface="宋体" panose="02010600030101010101" pitchFamily="2" charset="-122"/>
              </a:rPr>
              <a:t>步反应中的甘油醛</a:t>
            </a:r>
            <a:r>
              <a:rPr kumimoji="1" lang="en-US" altLang="zh-CN" sz="2800" dirty="0">
                <a:latin typeface="楷体_GB2312" pitchFamily="49" charset="-122"/>
                <a:ea typeface="宋体" panose="02010600030101010101" pitchFamily="2" charset="-122"/>
              </a:rPr>
              <a:t>-</a:t>
            </a:r>
            <a:r>
              <a:rPr kumimoji="1" lang="zh-CN" altLang="en-US" sz="2800" dirty="0">
                <a:ea typeface="宋体" panose="02010600030101010101" pitchFamily="2" charset="-122"/>
              </a:rPr>
              <a:t>3-</a:t>
            </a:r>
            <a:r>
              <a:rPr kumimoji="1" lang="zh-CN" altLang="en-US" sz="2800" dirty="0">
                <a:latin typeface="楷体_GB2312" pitchFamily="49" charset="-122"/>
                <a:ea typeface="宋体" panose="02010600030101010101" pitchFamily="2" charset="-122"/>
              </a:rPr>
              <a:t>磷酸脱氢反应。</a:t>
            </a:r>
            <a:endParaRPr kumimoji="1" lang="zh-CN" altLang="en-US" sz="2800" dirty="0">
              <a:latin typeface="楷体_GB2312" pitchFamily="49" charset="-122"/>
              <a:ea typeface="宋体" panose="02010600030101010101" pitchFamily="2" charset="-122"/>
            </a:endParaRPr>
          </a:p>
        </p:txBody>
      </p:sp>
      <p:grpSp>
        <p:nvGrpSpPr>
          <p:cNvPr id="2" name="Group 15"/>
          <p:cNvGrpSpPr/>
          <p:nvPr/>
        </p:nvGrpSpPr>
        <p:grpSpPr bwMode="auto">
          <a:xfrm>
            <a:off x="2660650" y="2260601"/>
            <a:ext cx="6502400" cy="1560513"/>
            <a:chOff x="716" y="1424"/>
            <a:chExt cx="4096" cy="983"/>
          </a:xfrm>
        </p:grpSpPr>
        <p:sp>
          <p:nvSpPr>
            <p:cNvPr id="110597" name="Text Box 3"/>
            <p:cNvSpPr txBox="1">
              <a:spLocks noChangeArrowheads="1"/>
            </p:cNvSpPr>
            <p:nvPr/>
          </p:nvSpPr>
          <p:spPr bwMode="auto">
            <a:xfrm>
              <a:off x="716" y="1750"/>
              <a:ext cx="93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latin typeface="Arial" panose="020B0604020202020204" pitchFamily="34" charset="0"/>
                </a:rPr>
                <a:t>丙酮酸</a:t>
              </a:r>
              <a:r>
                <a:rPr kumimoji="1" lang="zh-CN" altLang="en-US">
                  <a:solidFill>
                    <a:schemeClr val="accent1"/>
                  </a:solidFill>
                  <a:latin typeface="Arial" panose="020B0604020202020204" pitchFamily="34" charset="0"/>
                </a:rPr>
                <a:t>     </a:t>
              </a:r>
              <a:endParaRPr kumimoji="1" lang="zh-CN" altLang="en-US">
                <a:solidFill>
                  <a:schemeClr val="accent1"/>
                </a:solidFill>
                <a:latin typeface="Arial" panose="020B0604020202020204" pitchFamily="34" charset="0"/>
              </a:endParaRPr>
            </a:p>
          </p:txBody>
        </p:sp>
        <p:sp>
          <p:nvSpPr>
            <p:cNvPr id="110598" name="Text Box 4"/>
            <p:cNvSpPr txBox="1">
              <a:spLocks noChangeArrowheads="1"/>
            </p:cNvSpPr>
            <p:nvPr/>
          </p:nvSpPr>
          <p:spPr bwMode="auto">
            <a:xfrm>
              <a:off x="3969" y="1752"/>
              <a:ext cx="84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solidFill>
                    <a:srgbClr val="000066"/>
                  </a:solidFill>
                  <a:latin typeface="Arial" panose="020B0604020202020204" pitchFamily="34" charset="0"/>
                </a:rPr>
                <a:t>乳酸   </a:t>
              </a:r>
              <a:endParaRPr kumimoji="1" lang="zh-CN" altLang="en-US">
                <a:solidFill>
                  <a:srgbClr val="000066"/>
                </a:solidFill>
                <a:latin typeface="Arial" panose="020B0604020202020204" pitchFamily="34" charset="0"/>
              </a:endParaRPr>
            </a:p>
          </p:txBody>
        </p:sp>
        <p:grpSp>
          <p:nvGrpSpPr>
            <p:cNvPr id="110599" name="Group 6"/>
            <p:cNvGrpSpPr/>
            <p:nvPr/>
          </p:nvGrpSpPr>
          <p:grpSpPr bwMode="auto">
            <a:xfrm>
              <a:off x="1610" y="1424"/>
              <a:ext cx="2398" cy="983"/>
              <a:chOff x="1536" y="1375"/>
              <a:chExt cx="2398" cy="983"/>
            </a:xfrm>
          </p:grpSpPr>
          <p:sp>
            <p:nvSpPr>
              <p:cNvPr id="110600" name="Line 7"/>
              <p:cNvSpPr>
                <a:spLocks noChangeShapeType="1"/>
              </p:cNvSpPr>
              <p:nvPr/>
            </p:nvSpPr>
            <p:spPr bwMode="auto">
              <a:xfrm>
                <a:off x="1824" y="1872"/>
                <a:ext cx="1776"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0601" name="Text Box 8"/>
              <p:cNvSpPr txBox="1">
                <a:spLocks noChangeArrowheads="1"/>
              </p:cNvSpPr>
              <p:nvPr/>
            </p:nvSpPr>
            <p:spPr bwMode="auto">
              <a:xfrm>
                <a:off x="1872" y="2031"/>
                <a:ext cx="20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黑体" panose="02010609060101010101" pitchFamily="2" charset="-122"/>
                  </a:rPr>
                  <a:t>乳酸脱氢酶</a:t>
                </a:r>
                <a:r>
                  <a:rPr kumimoji="1" lang="zh-CN" altLang="en-US" sz="2800">
                    <a:ea typeface="黑体" panose="02010609060101010101" pitchFamily="2" charset="-122"/>
                  </a:rPr>
                  <a:t>(</a:t>
                </a:r>
                <a:r>
                  <a:rPr kumimoji="1" lang="en-US" altLang="zh-CN" sz="2800">
                    <a:ea typeface="黑体" panose="02010609060101010101" pitchFamily="2" charset="-122"/>
                  </a:rPr>
                  <a:t>LDH)</a:t>
                </a:r>
                <a:r>
                  <a:rPr kumimoji="1" lang="en-US" altLang="zh-CN" sz="2800">
                    <a:latin typeface="Arial" panose="020B0604020202020204" pitchFamily="34" charset="0"/>
                    <a:ea typeface="黑体" panose="02010609060101010101" pitchFamily="2" charset="-122"/>
                  </a:rPr>
                  <a:t>   </a:t>
                </a:r>
                <a:endParaRPr kumimoji="1" lang="en-US" altLang="zh-CN" sz="2800">
                  <a:latin typeface="Arial" panose="020B0604020202020204" pitchFamily="34" charset="0"/>
                  <a:ea typeface="黑体" panose="02010609060101010101" pitchFamily="2" charset="-122"/>
                </a:endParaRPr>
              </a:p>
            </p:txBody>
          </p:sp>
          <p:sp>
            <p:nvSpPr>
              <p:cNvPr id="110602" name="Rectangle 9"/>
              <p:cNvSpPr>
                <a:spLocks noChangeArrowheads="1"/>
              </p:cNvSpPr>
              <p:nvPr/>
            </p:nvSpPr>
            <p:spPr bwMode="auto">
              <a:xfrm>
                <a:off x="1536" y="1375"/>
                <a:ext cx="1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solidFill>
                      <a:srgbClr val="FF3F8D"/>
                    </a:solidFill>
                    <a:latin typeface="Arial" panose="020B0604020202020204" pitchFamily="34" charset="0"/>
                    <a:ea typeface="宋体" panose="02010600030101010101" pitchFamily="2" charset="-122"/>
                  </a:rPr>
                  <a:t>NADH + H</a:t>
                </a:r>
                <a:r>
                  <a:rPr kumimoji="1" lang="en-US" altLang="zh-CN" sz="2400" baseline="30000">
                    <a:solidFill>
                      <a:srgbClr val="FF3F8D"/>
                    </a:solidFill>
                    <a:latin typeface="Arial" panose="020B0604020202020204" pitchFamily="34" charset="0"/>
                    <a:ea typeface="宋体" panose="02010600030101010101" pitchFamily="2" charset="-122"/>
                  </a:rPr>
                  <a:t>+   </a:t>
                </a:r>
                <a:endParaRPr kumimoji="1" lang="en-US" altLang="zh-CN" sz="2400" baseline="30000">
                  <a:solidFill>
                    <a:srgbClr val="FF3F8D"/>
                  </a:solidFill>
                  <a:latin typeface="Arial" panose="020B0604020202020204" pitchFamily="34" charset="0"/>
                  <a:ea typeface="宋体" panose="02010600030101010101" pitchFamily="2" charset="-122"/>
                </a:endParaRPr>
              </a:p>
            </p:txBody>
          </p:sp>
          <p:sp>
            <p:nvSpPr>
              <p:cNvPr id="110603" name="Rectangle 10"/>
              <p:cNvSpPr>
                <a:spLocks noChangeArrowheads="1"/>
              </p:cNvSpPr>
              <p:nvPr/>
            </p:nvSpPr>
            <p:spPr bwMode="auto">
              <a:xfrm>
                <a:off x="3120" y="1391"/>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NAD</a:t>
                </a:r>
                <a:r>
                  <a:rPr kumimoji="1" lang="en-US" altLang="zh-CN" sz="2400" baseline="30000">
                    <a:latin typeface="Arial" panose="020B0604020202020204" pitchFamily="34" charset="0"/>
                    <a:ea typeface="宋体" panose="02010600030101010101" pitchFamily="2" charset="-122"/>
                  </a:rPr>
                  <a:t>+  </a:t>
                </a:r>
                <a:endParaRPr kumimoji="1" lang="en-US" altLang="zh-CN" sz="2400" baseline="30000">
                  <a:latin typeface="Arial" panose="020B0604020202020204" pitchFamily="34" charset="0"/>
                  <a:ea typeface="宋体" panose="02010600030101010101" pitchFamily="2" charset="-122"/>
                </a:endParaRPr>
              </a:p>
            </p:txBody>
          </p:sp>
          <p:sp>
            <p:nvSpPr>
              <p:cNvPr id="110604" name="Line 11"/>
              <p:cNvSpPr>
                <a:spLocks noChangeShapeType="1"/>
              </p:cNvSpPr>
              <p:nvPr/>
            </p:nvSpPr>
            <p:spPr bwMode="auto">
              <a:xfrm>
                <a:off x="2016" y="1680"/>
                <a:ext cx="288" cy="19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0605" name="Line 12"/>
              <p:cNvSpPr>
                <a:spLocks noChangeShapeType="1"/>
              </p:cNvSpPr>
              <p:nvPr/>
            </p:nvSpPr>
            <p:spPr bwMode="auto">
              <a:xfrm flipV="1">
                <a:off x="3120" y="1680"/>
                <a:ext cx="288" cy="144"/>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60773"/>
                                        </p:tgtEl>
                                        <p:attrNameLst>
                                          <p:attrName>style.visibility</p:attrName>
                                        </p:attrNameLst>
                                      </p:cBhvr>
                                      <p:to>
                                        <p:strVal val="visible"/>
                                      </p:to>
                                    </p:set>
                                    <p:animEffect transition="in" filter="randombar(horizontal)">
                                      <p:cBhvr>
                                        <p:cTn id="11" dur="500"/>
                                        <p:tgtEl>
                                          <p:spTgt spid="1607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2495550" y="685801"/>
            <a:ext cx="7391400" cy="563563"/>
          </a:xfrm>
        </p:spPr>
        <p:txBody>
          <a:bodyPr/>
          <a:lstStyle/>
          <a:p>
            <a:pPr eaLnBrk="1" hangingPunct="1"/>
            <a:r>
              <a:rPr lang="zh-CN" altLang="en-US"/>
              <a:t>自然界的糖无氧氧化有两种形式</a:t>
            </a:r>
            <a:endParaRPr lang="zh-CN" altLang="en-US"/>
          </a:p>
        </p:txBody>
      </p:sp>
      <p:sp>
        <p:nvSpPr>
          <p:cNvPr id="75779" name="内容占位符 3"/>
          <p:cNvSpPr>
            <a:spLocks noGrp="1" noChangeArrowheads="1"/>
          </p:cNvSpPr>
          <p:nvPr>
            <p:ph idx="4294967295"/>
          </p:nvPr>
        </p:nvSpPr>
        <p:spPr>
          <a:xfrm>
            <a:off x="1703611" y="1772816"/>
            <a:ext cx="8784778" cy="4495800"/>
          </a:xfrm>
        </p:spPr>
        <p:txBody>
          <a:bodyPr/>
          <a:lstStyle/>
          <a:p>
            <a:pPr marL="514350" indent="-514350">
              <a:buFont typeface="黑体" panose="02010609060101010101" pitchFamily="2" charset="-122"/>
              <a:buAutoNum type="arabicPeriod"/>
            </a:pPr>
            <a:r>
              <a:rPr lang="zh-CN" altLang="en-US" b="0" dirty="0">
                <a:solidFill>
                  <a:srgbClr val="0000CC"/>
                </a:solidFill>
              </a:rPr>
              <a:t>乳酸发酵（</a:t>
            </a:r>
            <a:r>
              <a:rPr lang="en-US" altLang="zh-CN" b="0" dirty="0">
                <a:solidFill>
                  <a:srgbClr val="0000CC"/>
                </a:solidFill>
              </a:rPr>
              <a:t>lactic acid fermentation)</a:t>
            </a:r>
            <a:r>
              <a:rPr lang="en-US" altLang="zh-CN" b="0" dirty="0"/>
              <a:t>:</a:t>
            </a:r>
            <a:endParaRPr lang="en-US" altLang="zh-CN" b="0" dirty="0"/>
          </a:p>
          <a:p>
            <a:pPr marL="457200" lvl="1" indent="0">
              <a:lnSpc>
                <a:spcPct val="120000"/>
              </a:lnSpc>
              <a:buNone/>
            </a:pPr>
            <a:r>
              <a:rPr lang="zh-CN" altLang="en-US" sz="2600" b="0" dirty="0"/>
              <a:t>在缺氧的情况下，葡萄糖经糖酵解生成丙酮酸并进一步还原生成乳酸的过程。</a:t>
            </a:r>
            <a:endParaRPr lang="en-US" altLang="zh-CN" sz="2600" b="0" dirty="0"/>
          </a:p>
          <a:p>
            <a:pPr marL="457200" lvl="1" indent="0">
              <a:buNone/>
            </a:pPr>
            <a:r>
              <a:rPr lang="zh-CN" altLang="en-US" b="0" dirty="0"/>
              <a:t> </a:t>
            </a:r>
            <a:endParaRPr lang="en-US" altLang="zh-CN" b="0" dirty="0"/>
          </a:p>
          <a:p>
            <a:pPr marL="514350" indent="-514350">
              <a:buFont typeface="黑体" panose="02010609060101010101" pitchFamily="2" charset="-122"/>
              <a:buAutoNum type="arabicPeriod"/>
            </a:pPr>
            <a:r>
              <a:rPr lang="zh-CN" altLang="en-US" b="0" dirty="0">
                <a:solidFill>
                  <a:srgbClr val="0000CC"/>
                </a:solidFill>
              </a:rPr>
              <a:t>乙醇发酵（</a:t>
            </a:r>
            <a:r>
              <a:rPr lang="en-US" altLang="zh-CN" b="0" dirty="0">
                <a:solidFill>
                  <a:srgbClr val="0000CC"/>
                </a:solidFill>
              </a:rPr>
              <a:t>ethanol fermentation)</a:t>
            </a:r>
            <a:r>
              <a:rPr lang="zh-CN" altLang="en-US" b="0" dirty="0"/>
              <a:t>：</a:t>
            </a:r>
            <a:endParaRPr lang="en-US" altLang="zh-CN" b="0" dirty="0"/>
          </a:p>
          <a:p>
            <a:pPr marL="457200" lvl="1" indent="0">
              <a:lnSpc>
                <a:spcPct val="120000"/>
              </a:lnSpc>
              <a:buNone/>
            </a:pPr>
            <a:r>
              <a:rPr lang="zh-CN" altLang="en-US" sz="2600" b="0" dirty="0"/>
              <a:t>缺氧情况下，葡萄糖经糖酵解生成丙酮酸并进一步转变成乙醇和</a:t>
            </a:r>
            <a:r>
              <a:rPr lang="en-US" altLang="zh-CN" sz="2600" b="0" dirty="0"/>
              <a:t>CO</a:t>
            </a:r>
            <a:r>
              <a:rPr lang="en-US" altLang="zh-CN" sz="2600" b="0" baseline="-25000" dirty="0"/>
              <a:t>2</a:t>
            </a:r>
            <a:r>
              <a:rPr lang="zh-CN" altLang="en-US" sz="2600" b="0" dirty="0"/>
              <a:t>的过程。</a:t>
            </a:r>
            <a:endParaRPr lang="en-US" altLang="zh-CN" sz="2600" b="0" dirty="0"/>
          </a:p>
          <a:p>
            <a:pPr marL="457200" lvl="1" indent="0">
              <a:lnSpc>
                <a:spcPct val="120000"/>
              </a:lnSpc>
              <a:buNone/>
            </a:pPr>
            <a:r>
              <a:rPr lang="zh-CN" altLang="en-US" sz="2600" b="0" dirty="0"/>
              <a:t>见于某些植物、部分动物组织和微生物。 </a:t>
            </a:r>
            <a:endParaRPr lang="zh-CN" altLang="en-US" sz="2600" b="0" dirty="0"/>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3095625" y="428626"/>
            <a:ext cx="5907088" cy="576263"/>
          </a:xfrm>
          <a:prstGeom prst="rect">
            <a:avLst/>
          </a:prstGeom>
        </p:spPr>
        <p:txBody>
          <a:bodyPr/>
          <a:lstStyle/>
          <a:p>
            <a:pPr marL="342900" indent="-342900" eaLnBrk="1" hangingPunct="1">
              <a:spcBef>
                <a:spcPct val="20000"/>
              </a:spcBef>
              <a:buClr>
                <a:schemeClr val="hlink"/>
              </a:buClr>
              <a:buSzPct val="75000"/>
              <a:defRPr/>
            </a:pPr>
            <a:r>
              <a:rPr lang="zh-CN" altLang="en-US" sz="3600" b="0" kern="0" dirty="0">
                <a:latin typeface="黑体" panose="02010609060101010101" pitchFamily="2" charset="-122"/>
                <a:ea typeface="黑体" panose="02010609060101010101" pitchFamily="2" charset="-122"/>
              </a:rPr>
              <a:t> 酵母等微生物中的乙醇发酵</a:t>
            </a:r>
            <a:endParaRPr lang="zh-CN" altLang="en-US" sz="3600" b="0" kern="0" dirty="0">
              <a:latin typeface="黑体" panose="02010609060101010101" pitchFamily="2" charset="-122"/>
              <a:ea typeface="黑体" panose="02010609060101010101" pitchFamily="2" charset="-122"/>
            </a:endParaRPr>
          </a:p>
        </p:txBody>
      </p:sp>
      <p:pic>
        <p:nvPicPr>
          <p:cNvPr id="112643"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2139" y="1773239"/>
            <a:ext cx="83724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1415480" y="4652963"/>
            <a:ext cx="9217024" cy="204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10000"/>
              </a:lnSpc>
              <a:spcBef>
                <a:spcPct val="0"/>
              </a:spcBef>
              <a:buClrTx/>
              <a:buSzTx/>
              <a:buFontTx/>
              <a:buNone/>
            </a:pPr>
            <a:r>
              <a:rPr lang="zh-CN" altLang="en-US" sz="2400" b="0" dirty="0">
                <a:solidFill>
                  <a:srgbClr val="0000CC"/>
                </a:solidFill>
                <a:latin typeface="微软雅黑" panose="020B0503020204020204" pitchFamily="34" charset="-122"/>
                <a:ea typeface="微软雅黑" panose="020B0503020204020204" pitchFamily="34" charset="-122"/>
              </a:rPr>
              <a:t>肠道发酵综合征</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gut fermentation syndrome</a:t>
            </a:r>
            <a:r>
              <a:rPr lang="zh-CN" altLang="en-US" sz="20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又名</a:t>
            </a:r>
            <a:r>
              <a:rPr lang="zh-CN" altLang="en-US" sz="2400" b="0" dirty="0">
                <a:solidFill>
                  <a:srgbClr val="0000CC"/>
                </a:solidFill>
                <a:latin typeface="微软雅黑" panose="020B0503020204020204" pitchFamily="34" charset="-122"/>
                <a:ea typeface="微软雅黑" panose="020B0503020204020204" pitchFamily="34" charset="-122"/>
              </a:rPr>
              <a:t>自动酿酒综合征</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auto-brewery syndrome</a:t>
            </a:r>
            <a:r>
              <a:rPr lang="zh-CN" altLang="en-US" sz="20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是一种在消化系统内通过内源性发酵产生酒精使人致醉的罕见疾病。</a:t>
            </a:r>
            <a:endParaRPr lang="en-US" altLang="zh-CN" sz="2400" b="0" dirty="0">
              <a:latin typeface="微软雅黑" panose="020B0503020204020204" pitchFamily="34" charset="-122"/>
              <a:ea typeface="微软雅黑" panose="020B0503020204020204" pitchFamily="34" charset="-122"/>
            </a:endParaRPr>
          </a:p>
          <a:p>
            <a:pPr>
              <a:spcBef>
                <a:spcPct val="0"/>
              </a:spcBef>
              <a:buClrTx/>
              <a:buSzTx/>
              <a:buFontTx/>
              <a:buNone/>
            </a:pPr>
            <a:endParaRPr lang="en-US" altLang="zh-CN" sz="2400" b="0" dirty="0">
              <a:latin typeface="微软雅黑" panose="020B0503020204020204" pitchFamily="34" charset="-122"/>
              <a:ea typeface="微软雅黑" panose="020B0503020204020204" pitchFamily="34" charset="-122"/>
            </a:endParaRPr>
          </a:p>
          <a:p>
            <a:pPr>
              <a:spcBef>
                <a:spcPct val="0"/>
              </a:spcBef>
              <a:buClrTx/>
              <a:buSzTx/>
              <a:buFontTx/>
              <a:buNone/>
            </a:pPr>
            <a:r>
              <a:rPr lang="zh-CN" altLang="en-US" sz="2400" b="0" dirty="0">
                <a:latin typeface="微软雅黑" panose="020B0503020204020204" pitchFamily="34" charset="-122"/>
                <a:ea typeface="微软雅黑" panose="020B0503020204020204" pitchFamily="34" charset="-122"/>
              </a:rPr>
              <a:t>近年有用</a:t>
            </a:r>
            <a:r>
              <a:rPr lang="zh-CN" altLang="en-US" sz="2400" b="0" dirty="0">
                <a:solidFill>
                  <a:srgbClr val="0000CC"/>
                </a:solidFill>
                <a:latin typeface="微软雅黑" panose="020B0503020204020204" pitchFamily="34" charset="-122"/>
                <a:ea typeface="微软雅黑" panose="020B0503020204020204" pitchFamily="34" charset="-122"/>
              </a:rPr>
              <a:t>粪菌移植疗法</a:t>
            </a:r>
            <a:r>
              <a:rPr lang="zh-CN" altLang="en-US" sz="2400" b="0" dirty="0">
                <a:latin typeface="微软雅黑" panose="020B0503020204020204" pitchFamily="34" charset="-122"/>
                <a:ea typeface="微软雅黑" panose="020B0503020204020204" pitchFamily="34" charset="-122"/>
              </a:rPr>
              <a:t>成功治疗该综合征。 </a:t>
            </a: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Group 2"/>
          <p:cNvGrpSpPr/>
          <p:nvPr/>
        </p:nvGrpSpPr>
        <p:grpSpPr bwMode="auto">
          <a:xfrm>
            <a:off x="3216276" y="0"/>
            <a:ext cx="7451725" cy="6858000"/>
            <a:chOff x="1728" y="0"/>
            <a:chExt cx="4040" cy="4320"/>
          </a:xfrm>
        </p:grpSpPr>
        <p:pic>
          <p:nvPicPr>
            <p:cNvPr id="11472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2" y="0"/>
              <a:ext cx="2936" cy="4320"/>
            </a:xfrm>
            <a:prstGeom prst="rect">
              <a:avLst/>
            </a:prstGeom>
            <a:solidFill>
              <a:srgbClr val="65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14722" name="Picture 4"/>
            <p:cNvPicPr>
              <a:picLocks noChangeAspect="1" noChangeArrowheads="1"/>
            </p:cNvPicPr>
            <p:nvPr/>
          </p:nvPicPr>
          <p:blipFill>
            <a:blip r:embed="rId1">
              <a:extLst>
                <a:ext uri="{28A0092B-C50C-407E-A947-70E740481C1C}">
                  <a14:useLocalDpi xmlns:a14="http://schemas.microsoft.com/office/drawing/2010/main" val="0"/>
                </a:ext>
              </a:extLst>
            </a:blip>
            <a:srcRect l="62296"/>
            <a:stretch>
              <a:fillRect/>
            </a:stretch>
          </p:blipFill>
          <p:spPr bwMode="auto">
            <a:xfrm>
              <a:off x="1728" y="0"/>
              <a:ext cx="1107" cy="4320"/>
            </a:xfrm>
            <a:prstGeom prst="rect">
              <a:avLst/>
            </a:prstGeom>
            <a:solidFill>
              <a:srgbClr val="65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grpSp>
      <p:sp>
        <p:nvSpPr>
          <p:cNvPr id="114691" name="Text Box 5"/>
          <p:cNvSpPr txBox="1">
            <a:spLocks noChangeArrowheads="1"/>
          </p:cNvSpPr>
          <p:nvPr/>
        </p:nvSpPr>
        <p:spPr bwMode="auto">
          <a:xfrm>
            <a:off x="9191626" y="6453189"/>
            <a:ext cx="682625" cy="376237"/>
          </a:xfrm>
          <a:prstGeom prst="rect">
            <a:avLst/>
          </a:prstGeom>
          <a:solidFill>
            <a:srgbClr val="00FFFF"/>
          </a:solidFill>
          <a:ln w="9525">
            <a:solidFill>
              <a:schemeClr val="tx1"/>
            </a:solidFill>
            <a:miter lim="800000"/>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1800">
                <a:ea typeface="宋体" panose="02010600030101010101" pitchFamily="2" charset="-122"/>
              </a:rPr>
              <a:t>乳酸</a:t>
            </a:r>
            <a:endParaRPr kumimoji="1" lang="zh-CN" altLang="en-US" sz="1800">
              <a:ea typeface="宋体" panose="02010600030101010101" pitchFamily="2" charset="-122"/>
            </a:endParaRPr>
          </a:p>
        </p:txBody>
      </p:sp>
      <p:grpSp>
        <p:nvGrpSpPr>
          <p:cNvPr id="3" name="Group 44"/>
          <p:cNvGrpSpPr/>
          <p:nvPr/>
        </p:nvGrpSpPr>
        <p:grpSpPr bwMode="auto">
          <a:xfrm>
            <a:off x="7680325" y="3716339"/>
            <a:ext cx="577850" cy="2808287"/>
            <a:chOff x="3878" y="2341"/>
            <a:chExt cx="364" cy="1769"/>
          </a:xfrm>
        </p:grpSpPr>
        <p:sp>
          <p:nvSpPr>
            <p:cNvPr id="114719" name="Line 6"/>
            <p:cNvSpPr>
              <a:spLocks noChangeShapeType="1"/>
            </p:cNvSpPr>
            <p:nvPr/>
          </p:nvSpPr>
          <p:spPr bwMode="auto">
            <a:xfrm>
              <a:off x="4241" y="2341"/>
              <a:ext cx="0" cy="1769"/>
            </a:xfrm>
            <a:prstGeom prst="line">
              <a:avLst/>
            </a:prstGeom>
            <a:noFill/>
            <a:ln w="28575">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4720" name="Line 7"/>
            <p:cNvSpPr>
              <a:spLocks noChangeShapeType="1"/>
            </p:cNvSpPr>
            <p:nvPr/>
          </p:nvSpPr>
          <p:spPr bwMode="auto">
            <a:xfrm>
              <a:off x="3878" y="2341"/>
              <a:ext cx="364" cy="0"/>
            </a:xfrm>
            <a:prstGeom prst="line">
              <a:avLst/>
            </a:prstGeom>
            <a:noFill/>
            <a:ln w="28575">
              <a:solidFill>
                <a:schemeClr val="tx1"/>
              </a:solidFill>
              <a:prstDash val="lgDash"/>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14693" name="Text Box 8"/>
          <p:cNvSpPr txBox="1">
            <a:spLocks noChangeArrowheads="1"/>
          </p:cNvSpPr>
          <p:nvPr/>
        </p:nvSpPr>
        <p:spPr bwMode="auto">
          <a:xfrm>
            <a:off x="2135188" y="765175"/>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endParaRPr kumimoji="1" lang="zh-CN" altLang="en-US" sz="2400" b="0">
              <a:ea typeface="华文新魏" panose="02010800040101010101" pitchFamily="2" charset="-122"/>
            </a:endParaRPr>
          </a:p>
        </p:txBody>
      </p:sp>
      <p:sp>
        <p:nvSpPr>
          <p:cNvPr id="114694" name="Text Box 9"/>
          <p:cNvSpPr txBox="1">
            <a:spLocks noChangeArrowheads="1"/>
          </p:cNvSpPr>
          <p:nvPr/>
        </p:nvSpPr>
        <p:spPr bwMode="auto">
          <a:xfrm>
            <a:off x="1579920" y="0"/>
            <a:ext cx="86177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lang="zh-CN" altLang="en-US" sz="4400" b="0" dirty="0">
                <a:solidFill>
                  <a:srgbClr val="FF3300"/>
                </a:solidFill>
                <a:ea typeface="黑体" panose="02010609060101010101" pitchFamily="2" charset="-122"/>
              </a:rPr>
              <a:t>糖的无氧氧化过程</a:t>
            </a:r>
            <a:endParaRPr kumimoji="1" lang="zh-CN" altLang="en-US" sz="4400" b="0" dirty="0">
              <a:solidFill>
                <a:srgbClr val="FF3300"/>
              </a:solidFill>
              <a:ea typeface="黑体" panose="02010609060101010101" pitchFamily="2" charset="-122"/>
            </a:endParaRPr>
          </a:p>
        </p:txBody>
      </p:sp>
      <p:sp>
        <p:nvSpPr>
          <p:cNvPr id="328714" name="Text Box 10"/>
          <p:cNvSpPr txBox="1">
            <a:spLocks noChangeArrowheads="1"/>
          </p:cNvSpPr>
          <p:nvPr/>
        </p:nvSpPr>
        <p:spPr bwMode="auto">
          <a:xfrm>
            <a:off x="8832850" y="3357563"/>
            <a:ext cx="1657350" cy="457200"/>
          </a:xfrm>
          <a:prstGeom prst="rect">
            <a:avLst/>
          </a:prstGeom>
          <a:gradFill rotWithShape="1">
            <a:gsLst>
              <a:gs pos="0">
                <a:srgbClr val="CDFFFF"/>
              </a:gs>
              <a:gs pos="100000">
                <a:srgbClr val="97FF97"/>
              </a:gs>
            </a:gsLst>
            <a:path path="shape">
              <a:fillToRect l="50000" t="50000" r="50000" b="50000"/>
            </a:path>
          </a:gradFill>
          <a:ln w="9525">
            <a:miter lim="800000"/>
          </a:ln>
          <a:scene3d>
            <a:camera prst="legacyPerspectiveTopRight"/>
            <a:lightRig rig="legacyFlat3" dir="b"/>
          </a:scene3d>
          <a:sp3d extrusionH="887400" prstMaterial="legacyMatte">
            <a:bevelT w="13500" h="13500" prst="angle"/>
            <a:bevelB w="13500" h="13500" prst="angle"/>
            <a:extrusionClr>
              <a:srgbClr val="97FF97"/>
            </a:extrusionClr>
            <a:contourClr>
              <a:srgbClr val="CDFFFF"/>
            </a:contourClr>
          </a:sp3d>
        </p:spPr>
        <p:txBody>
          <a:bodyPr>
            <a:spAutoFit/>
            <a:flatTx/>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u="sng">
                <a:ea typeface="华文新魏" panose="02010800040101010101" pitchFamily="2" charset="-122"/>
              </a:rPr>
              <a:t>一次脱氢</a:t>
            </a:r>
            <a:endParaRPr lang="zh-CN" altLang="en-US" sz="2400" u="sng">
              <a:ea typeface="华文新魏" panose="02010800040101010101" pitchFamily="2" charset="-122"/>
            </a:endParaRPr>
          </a:p>
        </p:txBody>
      </p:sp>
      <p:sp>
        <p:nvSpPr>
          <p:cNvPr id="328715" name="Text Box 11"/>
          <p:cNvSpPr txBox="1">
            <a:spLocks noChangeArrowheads="1"/>
          </p:cNvSpPr>
          <p:nvPr/>
        </p:nvSpPr>
        <p:spPr bwMode="auto">
          <a:xfrm>
            <a:off x="8831264" y="4724401"/>
            <a:ext cx="1836737" cy="1015663"/>
          </a:xfrm>
          <a:prstGeom prst="rect">
            <a:avLst/>
          </a:prstGeom>
          <a:gradFill rotWithShape="1">
            <a:gsLst>
              <a:gs pos="0">
                <a:srgbClr val="CDFFFF"/>
              </a:gs>
              <a:gs pos="100000">
                <a:srgbClr val="97FF97"/>
              </a:gs>
            </a:gsLst>
            <a:path path="shape">
              <a:fillToRect l="50000" t="50000" r="50000" b="50000"/>
            </a:path>
          </a:gradFill>
          <a:ln w="9525">
            <a:miter lim="800000"/>
          </a:ln>
          <a:scene3d>
            <a:camera prst="legacyPerspectiveTopRight"/>
            <a:lightRig rig="legacyFlat3" dir="b"/>
          </a:scene3d>
          <a:sp3d extrusionH="887400" prstMaterial="legacyMatte">
            <a:bevelT w="13500" h="13500" prst="angle"/>
            <a:bevelB w="13500" h="13500" prst="angle"/>
            <a:extrusionClr>
              <a:srgbClr val="97FF97"/>
            </a:extrusionClr>
            <a:contourClr>
              <a:srgbClr val="CDFFFF"/>
            </a:contourClr>
          </a:sp3d>
        </p:spPr>
        <p:txBody>
          <a:bodyPr>
            <a:spAutoFit/>
            <a:flatTx/>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u="sng">
                <a:ea typeface="华文新魏" panose="02010800040101010101" pitchFamily="2" charset="-122"/>
              </a:rPr>
              <a:t>二次底物</a:t>
            </a:r>
            <a:endParaRPr lang="zh-CN" altLang="en-US" sz="2400" u="sng">
              <a:ea typeface="华文新魏" panose="02010800040101010101" pitchFamily="2" charset="-122"/>
            </a:endParaRPr>
          </a:p>
          <a:p>
            <a:pPr eaLnBrk="1" hangingPunct="1">
              <a:spcBef>
                <a:spcPct val="50000"/>
              </a:spcBef>
              <a:buClrTx/>
              <a:buSzTx/>
              <a:buFontTx/>
              <a:buNone/>
            </a:pPr>
            <a:r>
              <a:rPr lang="zh-CN" altLang="en-US" sz="2400" u="sng">
                <a:ea typeface="华文新魏" panose="02010800040101010101" pitchFamily="2" charset="-122"/>
              </a:rPr>
              <a:t>水平磷酸化</a:t>
            </a:r>
            <a:endParaRPr lang="zh-CN" altLang="en-US" sz="2400" u="sng">
              <a:ea typeface="华文新魏" panose="02010800040101010101" pitchFamily="2" charset="-122"/>
            </a:endParaRPr>
          </a:p>
        </p:txBody>
      </p:sp>
      <p:sp>
        <p:nvSpPr>
          <p:cNvPr id="328716" name="Text Box 12"/>
          <p:cNvSpPr txBox="1">
            <a:spLocks noChangeArrowheads="1"/>
          </p:cNvSpPr>
          <p:nvPr/>
        </p:nvSpPr>
        <p:spPr bwMode="auto">
          <a:xfrm>
            <a:off x="2927350" y="188914"/>
            <a:ext cx="1657350" cy="466725"/>
          </a:xfrm>
          <a:prstGeom prst="rect">
            <a:avLst/>
          </a:prstGeom>
          <a:solidFill>
            <a:srgbClr val="FFCCFF"/>
          </a:solidFill>
          <a:ln w="9525">
            <a:solidFill>
              <a:srgbClr val="FFCCFF"/>
            </a:solidFill>
            <a:miter lim="800000"/>
          </a:ln>
          <a:effectLst>
            <a:outerShdw dist="35921" dir="2700000" algn="ctr" rotWithShape="0">
              <a:schemeClr val="bg2"/>
            </a:outerShdw>
          </a:effec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ea typeface="华文新魏" panose="02010800040101010101" pitchFamily="2" charset="-122"/>
              </a:rPr>
              <a:t>已糖激酶</a:t>
            </a:r>
            <a:endParaRPr kumimoji="1" lang="zh-CN" altLang="en-US" sz="2400">
              <a:ea typeface="华文新魏" panose="02010800040101010101" pitchFamily="2" charset="-122"/>
            </a:endParaRPr>
          </a:p>
        </p:txBody>
      </p:sp>
      <p:sp>
        <p:nvSpPr>
          <p:cNvPr id="328717" name="Text Box 13"/>
          <p:cNvSpPr txBox="1">
            <a:spLocks noChangeArrowheads="1"/>
          </p:cNvSpPr>
          <p:nvPr/>
        </p:nvSpPr>
        <p:spPr bwMode="auto">
          <a:xfrm>
            <a:off x="2927350" y="1341438"/>
            <a:ext cx="1728788" cy="831850"/>
          </a:xfrm>
          <a:prstGeom prst="rect">
            <a:avLst/>
          </a:prstGeom>
          <a:solidFill>
            <a:srgbClr val="FFCCFF"/>
          </a:solidFill>
          <a:ln w="9525" algn="ctr">
            <a:solidFill>
              <a:srgbClr val="FFE5FF"/>
            </a:solidFill>
            <a:miter lim="800000"/>
          </a:ln>
          <a:effectLst>
            <a:outerShdw dist="35921" dir="2700000" algn="ctr" rotWithShape="0">
              <a:schemeClr val="bg2"/>
            </a:outerShdw>
          </a:effec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dirty="0">
                <a:ea typeface="华文新魏" panose="02010800040101010101" pitchFamily="2" charset="-122"/>
              </a:rPr>
              <a:t>6-</a:t>
            </a:r>
            <a:r>
              <a:rPr kumimoji="1" lang="zh-CN" altLang="en-US" sz="2400" dirty="0">
                <a:ea typeface="华文新魏" panose="02010800040101010101" pitchFamily="2" charset="-122"/>
              </a:rPr>
              <a:t>磷酸果糖</a:t>
            </a:r>
            <a:endParaRPr kumimoji="1" lang="zh-CN" altLang="en-US" sz="2400" dirty="0">
              <a:ea typeface="华文新魏" panose="02010800040101010101" pitchFamily="2" charset="-122"/>
            </a:endParaRPr>
          </a:p>
          <a:p>
            <a:pPr algn="ctr" eaLnBrk="1" hangingPunct="1">
              <a:spcBef>
                <a:spcPct val="0"/>
              </a:spcBef>
              <a:buClrTx/>
              <a:buSzTx/>
              <a:buFontTx/>
              <a:buNone/>
            </a:pPr>
            <a:r>
              <a:rPr kumimoji="1" lang="zh-CN" altLang="en-US" sz="2400" dirty="0">
                <a:ea typeface="华文新魏" panose="02010800040101010101" pitchFamily="2" charset="-122"/>
              </a:rPr>
              <a:t>激酶</a:t>
            </a:r>
            <a:r>
              <a:rPr kumimoji="1" lang="en-US" altLang="zh-CN" sz="2400" dirty="0">
                <a:ea typeface="华文新魏" panose="02010800040101010101" pitchFamily="2" charset="-122"/>
              </a:rPr>
              <a:t>-1</a:t>
            </a:r>
            <a:endParaRPr kumimoji="1" lang="en-US" altLang="zh-CN" sz="2400" dirty="0">
              <a:ea typeface="华文新魏" panose="02010800040101010101" pitchFamily="2" charset="-122"/>
            </a:endParaRPr>
          </a:p>
        </p:txBody>
      </p:sp>
      <p:sp>
        <p:nvSpPr>
          <p:cNvPr id="328718" name="Text Box 14"/>
          <p:cNvSpPr txBox="1">
            <a:spLocks noChangeArrowheads="1"/>
          </p:cNvSpPr>
          <p:nvPr/>
        </p:nvSpPr>
        <p:spPr bwMode="auto">
          <a:xfrm>
            <a:off x="2782889" y="6021389"/>
            <a:ext cx="1800225" cy="466725"/>
          </a:xfrm>
          <a:prstGeom prst="rect">
            <a:avLst/>
          </a:prstGeom>
          <a:solidFill>
            <a:srgbClr val="FFCCFF"/>
          </a:solidFill>
          <a:ln w="9525" algn="ctr">
            <a:solidFill>
              <a:srgbClr val="FFE5FF"/>
            </a:solidFill>
            <a:miter lim="800000"/>
          </a:ln>
          <a:effectLst>
            <a:outerShdw dist="35921" dir="2700000" algn="ctr" rotWithShape="0">
              <a:schemeClr val="bg2"/>
            </a:outerShdw>
          </a:effec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ea typeface="华文新魏" panose="02010800040101010101" pitchFamily="2" charset="-122"/>
              </a:rPr>
              <a:t>丙酮酸激酶</a:t>
            </a:r>
            <a:endParaRPr kumimoji="1" lang="zh-CN" altLang="en-US" sz="2400">
              <a:ea typeface="华文新魏" panose="02010800040101010101" pitchFamily="2" charset="-122"/>
            </a:endParaRPr>
          </a:p>
        </p:txBody>
      </p:sp>
      <p:sp>
        <p:nvSpPr>
          <p:cNvPr id="328719" name="Text Box 15"/>
          <p:cNvSpPr txBox="1">
            <a:spLocks noChangeArrowheads="1"/>
          </p:cNvSpPr>
          <p:nvPr/>
        </p:nvSpPr>
        <p:spPr bwMode="auto">
          <a:xfrm>
            <a:off x="8759826" y="549275"/>
            <a:ext cx="1800225" cy="457200"/>
          </a:xfrm>
          <a:prstGeom prst="rect">
            <a:avLst/>
          </a:prstGeom>
          <a:gradFill rotWithShape="1">
            <a:gsLst>
              <a:gs pos="0">
                <a:srgbClr val="CDFFFF"/>
              </a:gs>
              <a:gs pos="100000">
                <a:srgbClr val="97FF97"/>
              </a:gs>
            </a:gsLst>
            <a:path path="shape">
              <a:fillToRect l="50000" t="50000" r="50000" b="50000"/>
            </a:path>
          </a:gradFill>
          <a:ln w="9525">
            <a:miter lim="800000"/>
          </a:ln>
          <a:scene3d>
            <a:camera prst="legacyPerspectiveTopRight"/>
            <a:lightRig rig="legacyFlat3" dir="b"/>
          </a:scene3d>
          <a:sp3d extrusionH="887400" prstMaterial="legacyMatte">
            <a:bevelT w="13500" h="13500" prst="angle"/>
            <a:bevelB w="13500" h="13500" prst="angle"/>
            <a:extrusionClr>
              <a:srgbClr val="97FF97"/>
            </a:extrusionClr>
            <a:contourClr>
              <a:srgbClr val="CDFFFF"/>
            </a:contourClr>
          </a:sp3d>
        </p:spPr>
        <p:txBody>
          <a:bodyPr>
            <a:spAutoFit/>
            <a:flatTx/>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u="sng">
                <a:ea typeface="华文新魏" panose="02010800040101010101" pitchFamily="2" charset="-122"/>
              </a:rPr>
              <a:t>三个关键酶</a:t>
            </a:r>
            <a:endParaRPr lang="zh-CN" altLang="en-US" sz="2400" u="sng">
              <a:ea typeface="华文新魏" panose="02010800040101010101" pitchFamily="2" charset="-122"/>
            </a:endParaRPr>
          </a:p>
        </p:txBody>
      </p:sp>
      <p:sp>
        <p:nvSpPr>
          <p:cNvPr id="328721" name="Line 17"/>
          <p:cNvSpPr>
            <a:spLocks noChangeShapeType="1"/>
          </p:cNvSpPr>
          <p:nvPr/>
        </p:nvSpPr>
        <p:spPr bwMode="auto">
          <a:xfrm>
            <a:off x="7175500" y="6669088"/>
            <a:ext cx="1944688" cy="0"/>
          </a:xfrm>
          <a:prstGeom prst="line">
            <a:avLst/>
          </a:prstGeom>
          <a:noFill/>
          <a:ln w="101600">
            <a:solidFill>
              <a:srgbClr val="006666"/>
            </a:solidFill>
            <a:round/>
            <a:tailEnd type="triangle" w="med" len="sm"/>
          </a:ln>
          <a:effectLst>
            <a:outerShdw dist="107763" dir="2700000" algn="ctr" rotWithShape="0">
              <a:schemeClr val="bg2">
                <a:alpha val="50000"/>
              </a:schemeClr>
            </a:outerShdw>
          </a:effectLst>
        </p:spPr>
        <p:txBody>
          <a:bodyPr wrap="none"/>
          <a:lstStyle/>
          <a:p>
            <a:pPr eaLnBrk="1" hangingPunct="1">
              <a:defRPr/>
            </a:pPr>
            <a:endParaRPr lang="zh-CN" altLang="en-US">
              <a:latin typeface="Arial" panose="020B0604020202020204" pitchFamily="34" charset="0"/>
              <a:ea typeface="+mn-ea"/>
            </a:endParaRPr>
          </a:p>
        </p:txBody>
      </p:sp>
      <p:sp>
        <p:nvSpPr>
          <p:cNvPr id="114702" name="Text Box 18"/>
          <p:cNvSpPr txBox="1">
            <a:spLocks noChangeArrowheads="1"/>
          </p:cNvSpPr>
          <p:nvPr/>
        </p:nvSpPr>
        <p:spPr bwMode="auto">
          <a:xfrm>
            <a:off x="4727575" y="2238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① </a:t>
            </a:r>
            <a:endParaRPr kumimoji="1" lang="zh-CN" altLang="en-US" sz="2000" b="0">
              <a:solidFill>
                <a:srgbClr val="0000FF"/>
              </a:solidFill>
              <a:ea typeface="华文新魏" panose="02010800040101010101" pitchFamily="2" charset="-122"/>
            </a:endParaRPr>
          </a:p>
        </p:txBody>
      </p:sp>
      <p:sp>
        <p:nvSpPr>
          <p:cNvPr id="114703" name="Text Box 19"/>
          <p:cNvSpPr txBox="1">
            <a:spLocks noChangeArrowheads="1"/>
          </p:cNvSpPr>
          <p:nvPr/>
        </p:nvSpPr>
        <p:spPr bwMode="auto">
          <a:xfrm>
            <a:off x="4727575" y="8715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②  </a:t>
            </a:r>
            <a:endParaRPr kumimoji="1" lang="zh-CN" altLang="en-US" sz="2000" b="0">
              <a:solidFill>
                <a:srgbClr val="0000FF"/>
              </a:solidFill>
              <a:ea typeface="华文新魏" panose="02010800040101010101" pitchFamily="2" charset="-122"/>
            </a:endParaRPr>
          </a:p>
        </p:txBody>
      </p:sp>
      <p:sp>
        <p:nvSpPr>
          <p:cNvPr id="114704" name="Text Box 20"/>
          <p:cNvSpPr txBox="1">
            <a:spLocks noChangeArrowheads="1"/>
          </p:cNvSpPr>
          <p:nvPr/>
        </p:nvSpPr>
        <p:spPr bwMode="auto">
          <a:xfrm>
            <a:off x="4727575" y="15192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③  </a:t>
            </a:r>
            <a:endParaRPr kumimoji="1" lang="zh-CN" altLang="en-US" sz="2000" b="0">
              <a:solidFill>
                <a:srgbClr val="0000FF"/>
              </a:solidFill>
              <a:ea typeface="华文新魏" panose="02010800040101010101" pitchFamily="2" charset="-122"/>
            </a:endParaRPr>
          </a:p>
        </p:txBody>
      </p:sp>
      <p:sp>
        <p:nvSpPr>
          <p:cNvPr id="114705" name="Text Box 21"/>
          <p:cNvSpPr txBox="1">
            <a:spLocks noChangeArrowheads="1"/>
          </p:cNvSpPr>
          <p:nvPr/>
        </p:nvSpPr>
        <p:spPr bwMode="auto">
          <a:xfrm>
            <a:off x="4727575" y="21685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④  </a:t>
            </a:r>
            <a:endParaRPr kumimoji="1" lang="zh-CN" altLang="en-US" sz="2000" b="0">
              <a:solidFill>
                <a:srgbClr val="0000FF"/>
              </a:solidFill>
              <a:ea typeface="华文新魏" panose="02010800040101010101" pitchFamily="2" charset="-122"/>
            </a:endParaRPr>
          </a:p>
        </p:txBody>
      </p:sp>
      <p:sp>
        <p:nvSpPr>
          <p:cNvPr id="114706" name="Text Box 22"/>
          <p:cNvSpPr txBox="1">
            <a:spLocks noChangeArrowheads="1"/>
          </p:cNvSpPr>
          <p:nvPr/>
        </p:nvSpPr>
        <p:spPr bwMode="auto">
          <a:xfrm>
            <a:off x="4727575" y="26368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⑤  </a:t>
            </a:r>
            <a:endParaRPr kumimoji="1" lang="zh-CN" altLang="en-US" sz="2000" b="0">
              <a:solidFill>
                <a:srgbClr val="0000FF"/>
              </a:solidFill>
              <a:ea typeface="华文新魏" panose="02010800040101010101" pitchFamily="2" charset="-122"/>
            </a:endParaRPr>
          </a:p>
        </p:txBody>
      </p:sp>
      <p:sp>
        <p:nvSpPr>
          <p:cNvPr id="114707" name="Text Box 23"/>
          <p:cNvSpPr txBox="1">
            <a:spLocks noChangeArrowheads="1"/>
          </p:cNvSpPr>
          <p:nvPr/>
        </p:nvSpPr>
        <p:spPr bwMode="auto">
          <a:xfrm>
            <a:off x="4729164" y="3357564"/>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⑥ </a:t>
            </a:r>
            <a:endParaRPr kumimoji="1" lang="zh-CN" altLang="en-US" sz="2000" b="0">
              <a:solidFill>
                <a:srgbClr val="0000FF"/>
              </a:solidFill>
              <a:ea typeface="华文新魏" panose="02010800040101010101" pitchFamily="2" charset="-122"/>
            </a:endParaRPr>
          </a:p>
        </p:txBody>
      </p:sp>
      <p:sp>
        <p:nvSpPr>
          <p:cNvPr id="114708" name="Text Box 24"/>
          <p:cNvSpPr txBox="1">
            <a:spLocks noChangeArrowheads="1"/>
          </p:cNvSpPr>
          <p:nvPr/>
        </p:nvSpPr>
        <p:spPr bwMode="auto">
          <a:xfrm>
            <a:off x="4727575" y="41497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⑦  </a:t>
            </a:r>
            <a:endParaRPr kumimoji="1" lang="zh-CN" altLang="en-US" sz="2000" b="0">
              <a:solidFill>
                <a:srgbClr val="0000FF"/>
              </a:solidFill>
              <a:ea typeface="华文新魏" panose="02010800040101010101" pitchFamily="2" charset="-122"/>
            </a:endParaRPr>
          </a:p>
        </p:txBody>
      </p:sp>
      <p:sp>
        <p:nvSpPr>
          <p:cNvPr id="114709" name="Text Box 25"/>
          <p:cNvSpPr txBox="1">
            <a:spLocks noChangeArrowheads="1"/>
          </p:cNvSpPr>
          <p:nvPr/>
        </p:nvSpPr>
        <p:spPr bwMode="auto">
          <a:xfrm>
            <a:off x="4727575" y="47974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⑧ </a:t>
            </a:r>
            <a:endParaRPr kumimoji="1" lang="zh-CN" altLang="en-US" sz="2000" b="0">
              <a:solidFill>
                <a:srgbClr val="0000FF"/>
              </a:solidFill>
              <a:ea typeface="华文新魏" panose="02010800040101010101" pitchFamily="2" charset="-122"/>
            </a:endParaRPr>
          </a:p>
        </p:txBody>
      </p:sp>
      <p:sp>
        <p:nvSpPr>
          <p:cNvPr id="114710" name="Text Box 26"/>
          <p:cNvSpPr txBox="1">
            <a:spLocks noChangeArrowheads="1"/>
          </p:cNvSpPr>
          <p:nvPr/>
        </p:nvSpPr>
        <p:spPr bwMode="auto">
          <a:xfrm>
            <a:off x="4727575" y="537368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⑨  </a:t>
            </a:r>
            <a:endParaRPr kumimoji="1" lang="zh-CN" altLang="en-US" sz="2000" b="0">
              <a:solidFill>
                <a:srgbClr val="0000FF"/>
              </a:solidFill>
              <a:ea typeface="华文新魏" panose="02010800040101010101" pitchFamily="2" charset="-122"/>
            </a:endParaRPr>
          </a:p>
        </p:txBody>
      </p:sp>
      <p:sp>
        <p:nvSpPr>
          <p:cNvPr id="114711" name="Text Box 27"/>
          <p:cNvSpPr txBox="1">
            <a:spLocks noChangeArrowheads="1"/>
          </p:cNvSpPr>
          <p:nvPr/>
        </p:nvSpPr>
        <p:spPr bwMode="auto">
          <a:xfrm>
            <a:off x="4727575" y="6056314"/>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⑩ </a:t>
            </a:r>
            <a:endParaRPr kumimoji="1" lang="zh-CN" altLang="en-US" sz="2000" b="0">
              <a:solidFill>
                <a:srgbClr val="0000FF"/>
              </a:solidFill>
              <a:ea typeface="华文新魏" panose="02010800040101010101" pitchFamily="2" charset="-122"/>
            </a:endParaRPr>
          </a:p>
        </p:txBody>
      </p:sp>
      <p:sp>
        <p:nvSpPr>
          <p:cNvPr id="114712" name="Text Box 28"/>
          <p:cNvSpPr txBox="1">
            <a:spLocks noChangeArrowheads="1"/>
          </p:cNvSpPr>
          <p:nvPr/>
        </p:nvSpPr>
        <p:spPr bwMode="auto">
          <a:xfrm>
            <a:off x="9983789" y="6400801"/>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⑾  </a:t>
            </a:r>
            <a:endParaRPr kumimoji="1" lang="zh-CN" altLang="en-US" sz="2000" b="0">
              <a:solidFill>
                <a:srgbClr val="0000FF"/>
              </a:solidFill>
              <a:ea typeface="华文新魏" panose="02010800040101010101" pitchFamily="2" charset="-122"/>
            </a:endParaRPr>
          </a:p>
        </p:txBody>
      </p:sp>
      <p:sp>
        <p:nvSpPr>
          <p:cNvPr id="328733" name="Rectangle 29"/>
          <p:cNvSpPr>
            <a:spLocks noChangeArrowheads="1"/>
          </p:cNvSpPr>
          <p:nvPr/>
        </p:nvSpPr>
        <p:spPr bwMode="auto">
          <a:xfrm>
            <a:off x="5303838" y="3789363"/>
            <a:ext cx="2520950" cy="1079500"/>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4" name="Rectangle 30"/>
          <p:cNvSpPr>
            <a:spLocks noChangeArrowheads="1"/>
          </p:cNvSpPr>
          <p:nvPr/>
        </p:nvSpPr>
        <p:spPr bwMode="auto">
          <a:xfrm>
            <a:off x="5303838" y="5705476"/>
            <a:ext cx="2520950" cy="1152525"/>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5" name="Rectangle 31"/>
          <p:cNvSpPr>
            <a:spLocks noChangeArrowheads="1"/>
          </p:cNvSpPr>
          <p:nvPr/>
        </p:nvSpPr>
        <p:spPr bwMode="auto">
          <a:xfrm>
            <a:off x="5880101" y="-49213"/>
            <a:ext cx="1008063" cy="260351"/>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6" name="Rectangle 32"/>
          <p:cNvSpPr>
            <a:spLocks noChangeArrowheads="1"/>
          </p:cNvSpPr>
          <p:nvPr/>
        </p:nvSpPr>
        <p:spPr bwMode="auto">
          <a:xfrm>
            <a:off x="5735638" y="6524626"/>
            <a:ext cx="1223962" cy="333375"/>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7" name="Rectangle 33"/>
          <p:cNvSpPr>
            <a:spLocks noChangeArrowheads="1"/>
          </p:cNvSpPr>
          <p:nvPr/>
        </p:nvSpPr>
        <p:spPr bwMode="auto">
          <a:xfrm>
            <a:off x="9191626" y="6453188"/>
            <a:ext cx="720725" cy="404812"/>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47" name="Oval 43"/>
          <p:cNvSpPr>
            <a:spLocks noChangeArrowheads="1"/>
          </p:cNvSpPr>
          <p:nvPr/>
        </p:nvSpPr>
        <p:spPr bwMode="auto">
          <a:xfrm>
            <a:off x="4727575" y="2565401"/>
            <a:ext cx="3024188" cy="1584325"/>
          </a:xfrm>
          <a:prstGeom prst="ellipse">
            <a:avLst/>
          </a:prstGeom>
          <a:noFill/>
          <a:ln w="6350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87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87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87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5" fill="hold" grpId="0" nodeType="clickEffect">
                                  <p:stCondLst>
                                    <p:cond delay="0"/>
                                  </p:stCondLst>
                                  <p:childTnLst>
                                    <p:set>
                                      <p:cBhvr>
                                        <p:cTn id="18" dur="1" fill="hold">
                                          <p:stCondLst>
                                            <p:cond delay="0"/>
                                          </p:stCondLst>
                                        </p:cTn>
                                        <p:tgtEl>
                                          <p:spTgt spid="328714"/>
                                        </p:tgtEl>
                                        <p:attrNameLst>
                                          <p:attrName>style.visibility</p:attrName>
                                        </p:attrNameLst>
                                      </p:cBhvr>
                                      <p:to>
                                        <p:strVal val="visible"/>
                                      </p:to>
                                    </p:set>
                                    <p:animEffect transition="in" filter="blinds(vertical)">
                                      <p:cBhvr>
                                        <p:cTn id="19" dur="500"/>
                                        <p:tgtEl>
                                          <p:spTgt spid="3287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2874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8" presetClass="entr" presetSubtype="6"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trips(downRight)">
                                      <p:cBhvr>
                                        <p:cTn id="28" dur="10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328715"/>
                                        </p:tgtEl>
                                        <p:attrNameLst>
                                          <p:attrName>style.visibility</p:attrName>
                                        </p:attrNameLst>
                                      </p:cBhvr>
                                      <p:to>
                                        <p:strVal val="visible"/>
                                      </p:to>
                                    </p:set>
                                    <p:animEffect transition="in" filter="checkerboard(across)">
                                      <p:cBhvr>
                                        <p:cTn id="33" dur="500"/>
                                        <p:tgtEl>
                                          <p:spTgt spid="328715"/>
                                        </p:tgtEl>
                                      </p:cBhvr>
                                    </p:animEffect>
                                  </p:childTnLst>
                                </p:cTn>
                              </p:par>
                            </p:childTnLst>
                          </p:cTn>
                        </p:par>
                      </p:childTnLst>
                    </p:cTn>
                  </p:par>
                  <p:par>
                    <p:cTn id="34" fill="hold">
                      <p:stCondLst>
                        <p:cond delay="indefinite"/>
                      </p:stCondLst>
                      <p:childTnLst>
                        <p:par>
                          <p:cTn id="35" fill="hold">
                            <p:stCondLst>
                              <p:cond delay="0"/>
                            </p:stCondLst>
                            <p:childTnLst>
                              <p:par>
                                <p:cTn id="36" presetID="20" presetClass="entr" presetSubtype="0" fill="hold" grpId="0" nodeType="clickEffect">
                                  <p:stCondLst>
                                    <p:cond delay="0"/>
                                  </p:stCondLst>
                                  <p:childTnLst>
                                    <p:set>
                                      <p:cBhvr>
                                        <p:cTn id="37" dur="1" fill="hold">
                                          <p:stCondLst>
                                            <p:cond delay="0"/>
                                          </p:stCondLst>
                                        </p:cTn>
                                        <p:tgtEl>
                                          <p:spTgt spid="328733"/>
                                        </p:tgtEl>
                                        <p:attrNameLst>
                                          <p:attrName>style.visibility</p:attrName>
                                        </p:attrNameLst>
                                      </p:cBhvr>
                                      <p:to>
                                        <p:strVal val="visible"/>
                                      </p:to>
                                    </p:set>
                                    <p:animEffect transition="in" filter="wedge">
                                      <p:cBhvr>
                                        <p:cTn id="38" dur="2000"/>
                                        <p:tgtEl>
                                          <p:spTgt spid="328733"/>
                                        </p:tgtEl>
                                      </p:cBhvr>
                                    </p:animEffect>
                                  </p:childTnLst>
                                </p:cTn>
                              </p:par>
                            </p:childTnLst>
                          </p:cTn>
                        </p:par>
                        <p:par>
                          <p:cTn id="39" fill="hold">
                            <p:stCondLst>
                              <p:cond delay="2000"/>
                            </p:stCondLst>
                            <p:childTnLst>
                              <p:par>
                                <p:cTn id="40" presetID="20" presetClass="entr" presetSubtype="0" fill="hold" grpId="0" nodeType="afterEffect">
                                  <p:stCondLst>
                                    <p:cond delay="0"/>
                                  </p:stCondLst>
                                  <p:childTnLst>
                                    <p:set>
                                      <p:cBhvr>
                                        <p:cTn id="41" dur="1" fill="hold">
                                          <p:stCondLst>
                                            <p:cond delay="0"/>
                                          </p:stCondLst>
                                        </p:cTn>
                                        <p:tgtEl>
                                          <p:spTgt spid="328734"/>
                                        </p:tgtEl>
                                        <p:attrNameLst>
                                          <p:attrName>style.visibility</p:attrName>
                                        </p:attrNameLst>
                                      </p:cBhvr>
                                      <p:to>
                                        <p:strVal val="visible"/>
                                      </p:to>
                                    </p:set>
                                    <p:animEffect transition="in" filter="wedge">
                                      <p:cBhvr>
                                        <p:cTn id="42" dur="2000"/>
                                        <p:tgtEl>
                                          <p:spTgt spid="328734"/>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28719"/>
                                        </p:tgtEl>
                                        <p:attrNameLst>
                                          <p:attrName>style.visibility</p:attrName>
                                        </p:attrNameLst>
                                      </p:cBhvr>
                                      <p:to>
                                        <p:strVal val="visible"/>
                                      </p:to>
                                    </p:set>
                                    <p:anim calcmode="lin" valueType="num">
                                      <p:cBhvr additive="base">
                                        <p:cTn id="47" dur="500" fill="hold"/>
                                        <p:tgtEl>
                                          <p:spTgt spid="328719"/>
                                        </p:tgtEl>
                                        <p:attrNameLst>
                                          <p:attrName>ppt_x</p:attrName>
                                        </p:attrNameLst>
                                      </p:cBhvr>
                                      <p:tavLst>
                                        <p:tav tm="0">
                                          <p:val>
                                            <p:strVal val="#ppt_x"/>
                                          </p:val>
                                        </p:tav>
                                        <p:tav tm="100000">
                                          <p:val>
                                            <p:strVal val="#ppt_x"/>
                                          </p:val>
                                        </p:tav>
                                      </p:tavLst>
                                    </p:anim>
                                    <p:anim calcmode="lin" valueType="num">
                                      <p:cBhvr additive="base">
                                        <p:cTn id="48" dur="500" fill="hold"/>
                                        <p:tgtEl>
                                          <p:spTgt spid="32871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328716"/>
                                        </p:tgtEl>
                                        <p:attrNameLst>
                                          <p:attrName>style.visibility</p:attrName>
                                        </p:attrNameLst>
                                      </p:cBhvr>
                                      <p:to>
                                        <p:strVal val="visible"/>
                                      </p:to>
                                    </p:set>
                                    <p:anim calcmode="lin" valueType="num">
                                      <p:cBhvr additive="base">
                                        <p:cTn id="53" dur="500" fill="hold"/>
                                        <p:tgtEl>
                                          <p:spTgt spid="328716"/>
                                        </p:tgtEl>
                                        <p:attrNameLst>
                                          <p:attrName>ppt_x</p:attrName>
                                        </p:attrNameLst>
                                      </p:cBhvr>
                                      <p:tavLst>
                                        <p:tav tm="0">
                                          <p:val>
                                            <p:strVal val="0-#ppt_w/2"/>
                                          </p:val>
                                        </p:tav>
                                        <p:tav tm="100000">
                                          <p:val>
                                            <p:strVal val="#ppt_x"/>
                                          </p:val>
                                        </p:tav>
                                      </p:tavLst>
                                    </p:anim>
                                    <p:anim calcmode="lin" valueType="num">
                                      <p:cBhvr additive="base">
                                        <p:cTn id="54" dur="500" fill="hold"/>
                                        <p:tgtEl>
                                          <p:spTgt spid="328716"/>
                                        </p:tgtEl>
                                        <p:attrNameLst>
                                          <p:attrName>ppt_y</p:attrName>
                                        </p:attrNameLst>
                                      </p:cBhvr>
                                      <p:tavLst>
                                        <p:tav tm="0">
                                          <p:val>
                                            <p:strVal val="#ppt_y"/>
                                          </p:val>
                                        </p:tav>
                                        <p:tav tm="100000">
                                          <p:val>
                                            <p:strVal val="#ppt_y"/>
                                          </p:val>
                                        </p:tav>
                                      </p:tavLst>
                                    </p:anim>
                                  </p:childTnLst>
                                </p:cTn>
                              </p:par>
                            </p:childTnLst>
                          </p:cTn>
                        </p:par>
                        <p:par>
                          <p:cTn id="55" fill="hold">
                            <p:stCondLst>
                              <p:cond delay="500"/>
                            </p:stCondLst>
                            <p:childTnLst>
                              <p:par>
                                <p:cTn id="56" presetID="2" presetClass="entr" presetSubtype="2" fill="hold" grpId="0" nodeType="afterEffect">
                                  <p:stCondLst>
                                    <p:cond delay="0"/>
                                  </p:stCondLst>
                                  <p:childTnLst>
                                    <p:set>
                                      <p:cBhvr>
                                        <p:cTn id="57" dur="1" fill="hold">
                                          <p:stCondLst>
                                            <p:cond delay="0"/>
                                          </p:stCondLst>
                                        </p:cTn>
                                        <p:tgtEl>
                                          <p:spTgt spid="328717"/>
                                        </p:tgtEl>
                                        <p:attrNameLst>
                                          <p:attrName>style.visibility</p:attrName>
                                        </p:attrNameLst>
                                      </p:cBhvr>
                                      <p:to>
                                        <p:strVal val="visible"/>
                                      </p:to>
                                    </p:set>
                                    <p:anim calcmode="lin" valueType="num">
                                      <p:cBhvr additive="base">
                                        <p:cTn id="58" dur="500" fill="hold"/>
                                        <p:tgtEl>
                                          <p:spTgt spid="328717"/>
                                        </p:tgtEl>
                                        <p:attrNameLst>
                                          <p:attrName>ppt_x</p:attrName>
                                        </p:attrNameLst>
                                      </p:cBhvr>
                                      <p:tavLst>
                                        <p:tav tm="0">
                                          <p:val>
                                            <p:strVal val="1+#ppt_w/2"/>
                                          </p:val>
                                        </p:tav>
                                        <p:tav tm="100000">
                                          <p:val>
                                            <p:strVal val="#ppt_x"/>
                                          </p:val>
                                        </p:tav>
                                      </p:tavLst>
                                    </p:anim>
                                    <p:anim calcmode="lin" valueType="num">
                                      <p:cBhvr additive="base">
                                        <p:cTn id="59" dur="500" fill="hold"/>
                                        <p:tgtEl>
                                          <p:spTgt spid="328717"/>
                                        </p:tgtEl>
                                        <p:attrNameLst>
                                          <p:attrName>ppt_y</p:attrName>
                                        </p:attrNameLst>
                                      </p:cBhvr>
                                      <p:tavLst>
                                        <p:tav tm="0">
                                          <p:val>
                                            <p:strVal val="#ppt_y"/>
                                          </p:val>
                                        </p:tav>
                                        <p:tav tm="100000">
                                          <p:val>
                                            <p:strVal val="#ppt_y"/>
                                          </p:val>
                                        </p:tav>
                                      </p:tavLst>
                                    </p:anim>
                                  </p:childTnLst>
                                </p:cTn>
                              </p:par>
                            </p:childTnLst>
                          </p:cTn>
                        </p:par>
                        <p:par>
                          <p:cTn id="60" fill="hold">
                            <p:stCondLst>
                              <p:cond delay="1000"/>
                            </p:stCondLst>
                            <p:childTnLst>
                              <p:par>
                                <p:cTn id="61" presetID="2" presetClass="entr" presetSubtype="1" fill="hold" grpId="0" nodeType="afterEffect">
                                  <p:stCondLst>
                                    <p:cond delay="0"/>
                                  </p:stCondLst>
                                  <p:childTnLst>
                                    <p:set>
                                      <p:cBhvr>
                                        <p:cTn id="62" dur="1" fill="hold">
                                          <p:stCondLst>
                                            <p:cond delay="0"/>
                                          </p:stCondLst>
                                        </p:cTn>
                                        <p:tgtEl>
                                          <p:spTgt spid="328718"/>
                                        </p:tgtEl>
                                        <p:attrNameLst>
                                          <p:attrName>style.visibility</p:attrName>
                                        </p:attrNameLst>
                                      </p:cBhvr>
                                      <p:to>
                                        <p:strVal val="visible"/>
                                      </p:to>
                                    </p:set>
                                    <p:anim calcmode="lin" valueType="num">
                                      <p:cBhvr additive="base">
                                        <p:cTn id="63" dur="500" fill="hold"/>
                                        <p:tgtEl>
                                          <p:spTgt spid="328718"/>
                                        </p:tgtEl>
                                        <p:attrNameLst>
                                          <p:attrName>ppt_x</p:attrName>
                                        </p:attrNameLst>
                                      </p:cBhvr>
                                      <p:tavLst>
                                        <p:tav tm="0">
                                          <p:val>
                                            <p:strVal val="#ppt_x"/>
                                          </p:val>
                                        </p:tav>
                                        <p:tav tm="100000">
                                          <p:val>
                                            <p:strVal val="#ppt_x"/>
                                          </p:val>
                                        </p:tav>
                                      </p:tavLst>
                                    </p:anim>
                                    <p:anim calcmode="lin" valueType="num">
                                      <p:cBhvr additive="base">
                                        <p:cTn id="64" dur="500" fill="hold"/>
                                        <p:tgtEl>
                                          <p:spTgt spid="3287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4" grpId="0" animBg="1"/>
      <p:bldP spid="328715" grpId="0" animBg="1"/>
      <p:bldP spid="328716" grpId="0" animBg="1"/>
      <p:bldP spid="328717" grpId="0" animBg="1"/>
      <p:bldP spid="328718" grpId="0" animBg="1"/>
      <p:bldP spid="328719" grpId="0" animBg="1"/>
      <p:bldP spid="328733" grpId="0" animBg="1"/>
      <p:bldP spid="328734" grpId="0" animBg="1"/>
      <p:bldP spid="328735" grpId="0" animBg="1"/>
      <p:bldP spid="328736" grpId="0" animBg="1"/>
      <p:bldP spid="328737" grpId="0" animBg="1"/>
      <p:bldP spid="328747"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1778" name="Rectangle 2"/>
          <p:cNvSpPr>
            <a:spLocks noChangeArrowheads="1"/>
          </p:cNvSpPr>
          <p:nvPr/>
        </p:nvSpPr>
        <p:spPr bwMode="auto">
          <a:xfrm>
            <a:off x="2505076" y="333376"/>
            <a:ext cx="469582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7800" indent="-1778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buClr>
                <a:srgbClr val="FF0000"/>
              </a:buClr>
              <a:buSzPct val="85000"/>
              <a:buFont typeface="Wingdings" panose="05000000000000000000" pitchFamily="2" charset="2"/>
              <a:buChar char="Ø"/>
            </a:pPr>
            <a:r>
              <a:rPr kumimoji="1" lang="zh-CN" altLang="en-US" sz="3600">
                <a:solidFill>
                  <a:srgbClr val="5D2785"/>
                </a:solidFill>
                <a:ea typeface="黑体" panose="02010609060101010101" pitchFamily="2" charset="-122"/>
              </a:rPr>
              <a:t> 糖酵解的要点</a:t>
            </a:r>
            <a:endParaRPr kumimoji="1" lang="zh-CN" altLang="en-US" sz="3600">
              <a:solidFill>
                <a:srgbClr val="5D2785"/>
              </a:solidFill>
              <a:ea typeface="黑体" panose="02010609060101010101" pitchFamily="2" charset="-122"/>
            </a:endParaRPr>
          </a:p>
        </p:txBody>
      </p:sp>
      <p:sp>
        <p:nvSpPr>
          <p:cNvPr id="331779" name="Text Box 3"/>
          <p:cNvSpPr txBox="1">
            <a:spLocks noChangeArrowheads="1"/>
          </p:cNvSpPr>
          <p:nvPr/>
        </p:nvSpPr>
        <p:spPr bwMode="auto">
          <a:xfrm>
            <a:off x="2505076" y="1300163"/>
            <a:ext cx="7496175"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lvl="1" eaLnBrk="1" hangingPunct="1">
              <a:lnSpc>
                <a:spcPct val="120000"/>
              </a:lnSpc>
              <a:buClr>
                <a:srgbClr val="FF0000"/>
              </a:buClr>
              <a:buSzTx/>
              <a:buFont typeface="Wingdings" panose="05000000000000000000" pitchFamily="2" charset="2"/>
              <a:buChar char="ü"/>
            </a:pPr>
            <a:r>
              <a:rPr kumimoji="1" lang="zh-CN" altLang="en-US" b="0" dirty="0"/>
              <a:t> 一次脱氢（</a:t>
            </a:r>
            <a:r>
              <a:rPr kumimoji="1" lang="en-US" altLang="zh-CN" b="0" dirty="0">
                <a:solidFill>
                  <a:srgbClr val="FF0000"/>
                </a:solidFill>
              </a:rPr>
              <a:t>NADH</a:t>
            </a:r>
            <a:r>
              <a:rPr kumimoji="1" lang="en-US" altLang="zh-CN" b="0" dirty="0"/>
              <a:t>）</a:t>
            </a:r>
            <a:endParaRPr kumimoji="1" lang="en-US" altLang="zh-CN" b="0" dirty="0"/>
          </a:p>
          <a:p>
            <a:pPr lvl="1" eaLnBrk="1" hangingPunct="1">
              <a:lnSpc>
                <a:spcPct val="120000"/>
              </a:lnSpc>
              <a:buClr>
                <a:srgbClr val="FF0000"/>
              </a:buClr>
              <a:buSzTx/>
              <a:buFont typeface="Wingdings" panose="05000000000000000000" pitchFamily="2" charset="2"/>
              <a:buChar char="ü"/>
            </a:pPr>
            <a:r>
              <a:rPr kumimoji="1" lang="zh-CN" altLang="en-US" b="0" dirty="0"/>
              <a:t> 二个底物水平磷酸化反应</a:t>
            </a:r>
            <a:endParaRPr kumimoji="1" lang="en-US" altLang="zh-CN" b="0" dirty="0"/>
          </a:p>
          <a:p>
            <a:pPr lvl="1" eaLnBrk="1" hangingPunct="1">
              <a:lnSpc>
                <a:spcPct val="120000"/>
              </a:lnSpc>
              <a:buClr>
                <a:srgbClr val="FF0000"/>
              </a:buClr>
              <a:buSzTx/>
              <a:buFont typeface="Wingdings" panose="05000000000000000000" pitchFamily="2" charset="2"/>
              <a:buChar char="ü"/>
            </a:pPr>
            <a:r>
              <a:rPr kumimoji="1" lang="zh-CN" altLang="en-US" b="0" dirty="0"/>
              <a:t> 三次不可逆反应</a:t>
            </a:r>
            <a:endParaRPr kumimoji="1" lang="zh-CN" altLang="en-US" b="0" dirty="0"/>
          </a:p>
          <a:p>
            <a:pPr lvl="1" eaLnBrk="1" hangingPunct="1">
              <a:lnSpc>
                <a:spcPct val="120000"/>
              </a:lnSpc>
              <a:buClr>
                <a:srgbClr val="FF0000"/>
              </a:buClr>
              <a:buSzTx/>
              <a:buFont typeface="Wingdings" panose="05000000000000000000" pitchFamily="2" charset="2"/>
              <a:buNone/>
            </a:pPr>
            <a:r>
              <a:rPr kumimoji="1" lang="zh-CN" altLang="en-US" b="0" dirty="0"/>
              <a:t>     关键酶有：</a:t>
            </a:r>
            <a:r>
              <a:rPr kumimoji="1" lang="zh-CN" altLang="en-US" b="0" dirty="0">
                <a:solidFill>
                  <a:srgbClr val="FF0000"/>
                </a:solidFill>
              </a:rPr>
              <a:t>己糖激酶或葡萄糖激酶</a:t>
            </a:r>
            <a:endParaRPr kumimoji="1" lang="zh-CN" altLang="en-US" b="0" dirty="0">
              <a:solidFill>
                <a:srgbClr val="FF0000"/>
              </a:solidFill>
            </a:endParaRPr>
          </a:p>
          <a:p>
            <a:pPr eaLnBrk="1" hangingPunct="1">
              <a:lnSpc>
                <a:spcPct val="120000"/>
              </a:lnSpc>
              <a:spcBef>
                <a:spcPct val="0"/>
              </a:spcBef>
              <a:buClr>
                <a:srgbClr val="FF0000"/>
              </a:buClr>
              <a:buSzTx/>
              <a:buFont typeface="Wingdings" panose="05000000000000000000" pitchFamily="2" charset="2"/>
              <a:buNone/>
            </a:pPr>
            <a:r>
              <a:rPr kumimoji="1" lang="zh-CN" altLang="en-US" sz="2800" b="0" dirty="0">
                <a:solidFill>
                  <a:srgbClr val="FF0000"/>
                </a:solidFill>
              </a:rPr>
              <a:t>                              磷酸果糖激酶</a:t>
            </a:r>
            <a:r>
              <a:rPr kumimoji="1" lang="en-US" altLang="zh-CN" sz="2800" b="0" dirty="0">
                <a:solidFill>
                  <a:srgbClr val="FF0000"/>
                </a:solidFill>
              </a:rPr>
              <a:t>-1(PFK-1)</a:t>
            </a:r>
            <a:endParaRPr kumimoji="1" lang="en-US" altLang="zh-CN" sz="2800" b="0" dirty="0">
              <a:solidFill>
                <a:srgbClr val="FF0000"/>
              </a:solidFill>
            </a:endParaRPr>
          </a:p>
          <a:p>
            <a:pPr eaLnBrk="1" hangingPunct="1">
              <a:lnSpc>
                <a:spcPct val="120000"/>
              </a:lnSpc>
              <a:spcBef>
                <a:spcPct val="0"/>
              </a:spcBef>
              <a:buClr>
                <a:srgbClr val="FF0000"/>
              </a:buClr>
              <a:buSzTx/>
              <a:buFont typeface="Wingdings" panose="05000000000000000000" pitchFamily="2" charset="2"/>
              <a:buNone/>
            </a:pPr>
            <a:r>
              <a:rPr kumimoji="1" lang="en-US" altLang="zh-CN" sz="2800" b="0" dirty="0">
                <a:solidFill>
                  <a:srgbClr val="FF0000"/>
                </a:solidFill>
              </a:rPr>
              <a:t>                              </a:t>
            </a:r>
            <a:r>
              <a:rPr kumimoji="1" lang="zh-CN" altLang="en-US" sz="2800" b="0" dirty="0">
                <a:solidFill>
                  <a:srgbClr val="FF0000"/>
                </a:solidFill>
              </a:rPr>
              <a:t>丙酮酸激酶</a:t>
            </a:r>
            <a:r>
              <a:rPr kumimoji="1" lang="zh-CN" altLang="en-US" sz="2800" b="0" dirty="0">
                <a:solidFill>
                  <a:schemeClr val="tx2"/>
                </a:solidFill>
              </a:rPr>
              <a:t> </a:t>
            </a:r>
            <a:endParaRPr kumimoji="1" lang="zh-CN" altLang="en-US" sz="2800" b="0" dirty="0"/>
          </a:p>
          <a:p>
            <a:pPr lvl="1" eaLnBrk="1" hangingPunct="1">
              <a:lnSpc>
                <a:spcPct val="120000"/>
              </a:lnSpc>
              <a:buClr>
                <a:srgbClr val="FF0000"/>
              </a:buClr>
              <a:buSzTx/>
              <a:buFont typeface="Wingdings" panose="05000000000000000000" pitchFamily="2" charset="2"/>
              <a:buChar char="ü"/>
            </a:pPr>
            <a:r>
              <a:rPr kumimoji="1" lang="zh-CN" altLang="en-US" b="0" dirty="0"/>
              <a:t> 产能方式：</a:t>
            </a:r>
            <a:r>
              <a:rPr kumimoji="1" lang="zh-CN" altLang="en-US" b="0" dirty="0">
                <a:solidFill>
                  <a:srgbClr val="FF0000"/>
                </a:solidFill>
              </a:rPr>
              <a:t>底物水平磷酸化</a:t>
            </a:r>
            <a:endParaRPr kumimoji="1" lang="en-US" altLang="zh-CN" b="0" dirty="0">
              <a:solidFill>
                <a:srgbClr val="FF0000"/>
              </a:solidFill>
            </a:endParaRPr>
          </a:p>
          <a:p>
            <a:pPr lvl="1" eaLnBrk="1" hangingPunct="1">
              <a:lnSpc>
                <a:spcPct val="120000"/>
              </a:lnSpc>
              <a:buClr>
                <a:srgbClr val="FF0000"/>
              </a:buClr>
              <a:buSzTx/>
              <a:buFont typeface="Wingdings" panose="05000000000000000000" pitchFamily="2" charset="2"/>
              <a:buChar char="ü"/>
            </a:pPr>
            <a:r>
              <a:rPr kumimoji="1" lang="zh-CN" altLang="en-US" b="0" dirty="0"/>
              <a:t> 产能：生成</a:t>
            </a:r>
            <a:r>
              <a:rPr kumimoji="1" lang="en-US" altLang="zh-CN" b="0" dirty="0"/>
              <a:t>4</a:t>
            </a:r>
            <a:r>
              <a:rPr kumimoji="1" lang="zh-CN" altLang="en-US" b="0" dirty="0"/>
              <a:t>个</a:t>
            </a:r>
            <a:r>
              <a:rPr kumimoji="1" lang="en-US" altLang="zh-CN" b="0" dirty="0"/>
              <a:t>ATP</a:t>
            </a:r>
            <a:r>
              <a:rPr kumimoji="1" lang="zh-CN" altLang="en-US" b="0" dirty="0"/>
              <a:t>，消耗</a:t>
            </a:r>
            <a:r>
              <a:rPr kumimoji="1" lang="en-US" altLang="zh-CN" b="0" dirty="0"/>
              <a:t>2</a:t>
            </a:r>
            <a:r>
              <a:rPr kumimoji="1" lang="zh-CN" altLang="en-US" b="0" dirty="0"/>
              <a:t>个</a:t>
            </a:r>
            <a:r>
              <a:rPr kumimoji="1" lang="en-US" altLang="zh-CN" b="0" dirty="0"/>
              <a:t>ATP</a:t>
            </a:r>
            <a:r>
              <a:rPr kumimoji="1" lang="zh-CN" altLang="en-US" b="0" dirty="0"/>
              <a:t>，</a:t>
            </a:r>
            <a:endParaRPr kumimoji="1" lang="zh-CN" altLang="en-US" b="0" dirty="0"/>
          </a:p>
          <a:p>
            <a:pPr lvl="1" eaLnBrk="1" hangingPunct="1">
              <a:lnSpc>
                <a:spcPct val="120000"/>
              </a:lnSpc>
              <a:buClr>
                <a:srgbClr val="FF0000"/>
              </a:buClr>
              <a:buSzTx/>
              <a:buFont typeface="Wingdings" panose="05000000000000000000" pitchFamily="2" charset="2"/>
              <a:buNone/>
            </a:pPr>
            <a:r>
              <a:rPr kumimoji="1" lang="zh-CN" altLang="en-US" b="0" dirty="0"/>
              <a:t>                </a:t>
            </a:r>
            <a:r>
              <a:rPr kumimoji="1" lang="zh-CN" altLang="en-US" b="0" dirty="0">
                <a:solidFill>
                  <a:srgbClr val="FF0000"/>
                </a:solidFill>
              </a:rPr>
              <a:t>净生成</a:t>
            </a:r>
            <a:r>
              <a:rPr kumimoji="1" lang="en-US" altLang="zh-CN" b="0" dirty="0">
                <a:solidFill>
                  <a:srgbClr val="FF0000"/>
                </a:solidFill>
              </a:rPr>
              <a:t>2</a:t>
            </a:r>
            <a:r>
              <a:rPr kumimoji="1" lang="zh-CN" altLang="en-US" b="0" dirty="0">
                <a:solidFill>
                  <a:srgbClr val="FF0000"/>
                </a:solidFill>
              </a:rPr>
              <a:t>个</a:t>
            </a:r>
            <a:r>
              <a:rPr kumimoji="1" lang="en-US" altLang="zh-CN" b="0" dirty="0">
                <a:solidFill>
                  <a:srgbClr val="FF0000"/>
                </a:solidFill>
              </a:rPr>
              <a:t>ATP</a:t>
            </a:r>
            <a:endParaRPr kumimoji="1" lang="en-US" altLang="zh-CN" b="0" dirty="0">
              <a:solidFill>
                <a:srgbClr val="FF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31778"/>
                                        </p:tgtEl>
                                        <p:attrNameLst>
                                          <p:attrName>style.visibility</p:attrName>
                                        </p:attrNameLst>
                                      </p:cBhvr>
                                      <p:to>
                                        <p:strVal val="visible"/>
                                      </p:to>
                                    </p:set>
                                    <p:animEffect transition="in" filter="dissolve">
                                      <p:cBhvr>
                                        <p:cTn id="7" dur="500"/>
                                        <p:tgtEl>
                                          <p:spTgt spid="33177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1779">
                                            <p:txEl>
                                              <p:pRg st="0" end="0"/>
                                            </p:txEl>
                                          </p:spTgt>
                                        </p:tgtEl>
                                        <p:attrNameLst>
                                          <p:attrName>style.visibility</p:attrName>
                                        </p:attrNameLst>
                                      </p:cBhvr>
                                      <p:to>
                                        <p:strVal val="visible"/>
                                      </p:to>
                                    </p:set>
                                    <p:animEffect transition="in" filter="dissolve">
                                      <p:cBhvr>
                                        <p:cTn id="12" dur="500"/>
                                        <p:tgtEl>
                                          <p:spTgt spid="3317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1779">
                                            <p:txEl>
                                              <p:pRg st="1" end="1"/>
                                            </p:txEl>
                                          </p:spTgt>
                                        </p:tgtEl>
                                        <p:attrNameLst>
                                          <p:attrName>style.visibility</p:attrName>
                                        </p:attrNameLst>
                                      </p:cBhvr>
                                      <p:to>
                                        <p:strVal val="visible"/>
                                      </p:to>
                                    </p:set>
                                    <p:animEffect transition="in" filter="dissolve">
                                      <p:cBhvr>
                                        <p:cTn id="17" dur="500"/>
                                        <p:tgtEl>
                                          <p:spTgt spid="3317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31779">
                                            <p:txEl>
                                              <p:pRg st="2" end="2"/>
                                            </p:txEl>
                                          </p:spTgt>
                                        </p:tgtEl>
                                        <p:attrNameLst>
                                          <p:attrName>style.visibility</p:attrName>
                                        </p:attrNameLst>
                                      </p:cBhvr>
                                      <p:to>
                                        <p:strVal val="visible"/>
                                      </p:to>
                                    </p:set>
                                    <p:animEffect transition="in" filter="dissolve">
                                      <p:cBhvr>
                                        <p:cTn id="22" dur="500"/>
                                        <p:tgtEl>
                                          <p:spTgt spid="33177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31779">
                                            <p:txEl>
                                              <p:pRg st="3" end="3"/>
                                            </p:txEl>
                                          </p:spTgt>
                                        </p:tgtEl>
                                        <p:attrNameLst>
                                          <p:attrName>style.visibility</p:attrName>
                                        </p:attrNameLst>
                                      </p:cBhvr>
                                      <p:to>
                                        <p:strVal val="visible"/>
                                      </p:to>
                                    </p:set>
                                    <p:animEffect transition="in" filter="dissolve">
                                      <p:cBhvr>
                                        <p:cTn id="27" dur="500"/>
                                        <p:tgtEl>
                                          <p:spTgt spid="331779">
                                            <p:txEl>
                                              <p:pRg st="3" end="3"/>
                                            </p:txEl>
                                          </p:spTgt>
                                        </p:tgtEl>
                                      </p:cBhvr>
                                    </p:animEffect>
                                  </p:childTnLst>
                                </p:cTn>
                              </p:par>
                            </p:childTnLst>
                          </p:cTn>
                        </p:par>
                        <p:par>
                          <p:cTn id="28" fill="hold">
                            <p:stCondLst>
                              <p:cond delay="500"/>
                            </p:stCondLst>
                            <p:childTnLst>
                              <p:par>
                                <p:cTn id="29" presetID="9" presetClass="entr" presetSubtype="0" fill="hold" grpId="0" nodeType="afterEffect">
                                  <p:stCondLst>
                                    <p:cond delay="0"/>
                                  </p:stCondLst>
                                  <p:childTnLst>
                                    <p:set>
                                      <p:cBhvr>
                                        <p:cTn id="30" dur="1" fill="hold">
                                          <p:stCondLst>
                                            <p:cond delay="0"/>
                                          </p:stCondLst>
                                        </p:cTn>
                                        <p:tgtEl>
                                          <p:spTgt spid="331779">
                                            <p:txEl>
                                              <p:pRg st="4" end="4"/>
                                            </p:txEl>
                                          </p:spTgt>
                                        </p:tgtEl>
                                        <p:attrNameLst>
                                          <p:attrName>style.visibility</p:attrName>
                                        </p:attrNameLst>
                                      </p:cBhvr>
                                      <p:to>
                                        <p:strVal val="visible"/>
                                      </p:to>
                                    </p:set>
                                    <p:animEffect transition="in" filter="dissolve">
                                      <p:cBhvr>
                                        <p:cTn id="31" dur="500"/>
                                        <p:tgtEl>
                                          <p:spTgt spid="331779">
                                            <p:txEl>
                                              <p:pRg st="4" end="4"/>
                                            </p:txEl>
                                          </p:spTgt>
                                        </p:tgtEl>
                                      </p:cBhvr>
                                    </p:animEffect>
                                  </p:childTnLst>
                                </p:cTn>
                              </p:par>
                            </p:childTnLst>
                          </p:cTn>
                        </p:par>
                        <p:par>
                          <p:cTn id="32" fill="hold">
                            <p:stCondLst>
                              <p:cond delay="1000"/>
                            </p:stCondLst>
                            <p:childTnLst>
                              <p:par>
                                <p:cTn id="33" presetID="9" presetClass="entr" presetSubtype="0" fill="hold" grpId="0" nodeType="afterEffect">
                                  <p:stCondLst>
                                    <p:cond delay="0"/>
                                  </p:stCondLst>
                                  <p:childTnLst>
                                    <p:set>
                                      <p:cBhvr>
                                        <p:cTn id="34" dur="1" fill="hold">
                                          <p:stCondLst>
                                            <p:cond delay="0"/>
                                          </p:stCondLst>
                                        </p:cTn>
                                        <p:tgtEl>
                                          <p:spTgt spid="331779">
                                            <p:txEl>
                                              <p:pRg st="5" end="5"/>
                                            </p:txEl>
                                          </p:spTgt>
                                        </p:tgtEl>
                                        <p:attrNameLst>
                                          <p:attrName>style.visibility</p:attrName>
                                        </p:attrNameLst>
                                      </p:cBhvr>
                                      <p:to>
                                        <p:strVal val="visible"/>
                                      </p:to>
                                    </p:set>
                                    <p:animEffect transition="in" filter="dissolve">
                                      <p:cBhvr>
                                        <p:cTn id="35" dur="500"/>
                                        <p:tgtEl>
                                          <p:spTgt spid="331779">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31779">
                                            <p:txEl>
                                              <p:pRg st="6" end="6"/>
                                            </p:txEl>
                                          </p:spTgt>
                                        </p:tgtEl>
                                        <p:attrNameLst>
                                          <p:attrName>style.visibility</p:attrName>
                                        </p:attrNameLst>
                                      </p:cBhvr>
                                      <p:to>
                                        <p:strVal val="visible"/>
                                      </p:to>
                                    </p:set>
                                    <p:animEffect transition="in" filter="dissolve">
                                      <p:cBhvr>
                                        <p:cTn id="40" dur="500"/>
                                        <p:tgtEl>
                                          <p:spTgt spid="331779">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31779">
                                            <p:txEl>
                                              <p:pRg st="7" end="7"/>
                                            </p:txEl>
                                          </p:spTgt>
                                        </p:tgtEl>
                                        <p:attrNameLst>
                                          <p:attrName>style.visibility</p:attrName>
                                        </p:attrNameLst>
                                      </p:cBhvr>
                                      <p:to>
                                        <p:strVal val="visible"/>
                                      </p:to>
                                    </p:set>
                                    <p:animEffect transition="in" filter="dissolve">
                                      <p:cBhvr>
                                        <p:cTn id="45" dur="500"/>
                                        <p:tgtEl>
                                          <p:spTgt spid="331779">
                                            <p:txEl>
                                              <p:pRg st="7" end="7"/>
                                            </p:txEl>
                                          </p:spTgt>
                                        </p:tgtEl>
                                      </p:cBhvr>
                                    </p:animEffec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331779">
                                            <p:txEl>
                                              <p:pRg st="8" end="8"/>
                                            </p:txEl>
                                          </p:spTgt>
                                        </p:tgtEl>
                                        <p:attrNameLst>
                                          <p:attrName>style.visibility</p:attrName>
                                        </p:attrNameLst>
                                      </p:cBhvr>
                                      <p:to>
                                        <p:strVal val="visible"/>
                                      </p:to>
                                    </p:set>
                                    <p:animEffect transition="in" filter="dissolve">
                                      <p:cBhvr>
                                        <p:cTn id="49" dur="500"/>
                                        <p:tgtEl>
                                          <p:spTgt spid="33177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8" grpId="0" autoUpdateAnimBg="0"/>
      <p:bldP spid="331779" grpId="0" autoUpdateAnimBg="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7608" y="548681"/>
            <a:ext cx="7391400" cy="563563"/>
          </a:xfrm>
        </p:spPr>
        <p:txBody>
          <a:bodyPr/>
          <a:lstStyle/>
          <a:p>
            <a:r>
              <a:rPr lang="zh-CN" altLang="en-US" dirty="0">
                <a:solidFill>
                  <a:srgbClr val="660066"/>
                </a:solidFill>
              </a:rPr>
              <a:t>记忆糖酵解十步反应口诀</a:t>
            </a:r>
            <a:endParaRPr lang="zh-CN" altLang="en-US" dirty="0">
              <a:solidFill>
                <a:srgbClr val="660066"/>
              </a:solidFill>
            </a:endParaRPr>
          </a:p>
        </p:txBody>
      </p:sp>
      <p:sp>
        <p:nvSpPr>
          <p:cNvPr id="3" name="内容占位符 2"/>
          <p:cNvSpPr>
            <a:spLocks noGrp="1"/>
          </p:cNvSpPr>
          <p:nvPr>
            <p:ph idx="1"/>
          </p:nvPr>
        </p:nvSpPr>
        <p:spPr>
          <a:xfrm>
            <a:off x="2355411" y="2420888"/>
            <a:ext cx="7632848" cy="3083024"/>
          </a:xfrm>
        </p:spPr>
        <p:txBody>
          <a:bodyPr/>
          <a:lstStyle/>
          <a:p>
            <a:pPr>
              <a:lnSpc>
                <a:spcPct val="120000"/>
              </a:lnSpc>
            </a:pPr>
            <a:r>
              <a:rPr lang="zh-CN" altLang="en-US" b="0" dirty="0"/>
              <a:t>一加磷酸，二变果糖，三加磷酸，</a:t>
            </a:r>
            <a:endParaRPr lang="en-US" altLang="zh-CN" b="0" dirty="0"/>
          </a:p>
          <a:p>
            <a:pPr marL="0" indent="0">
              <a:lnSpc>
                <a:spcPct val="120000"/>
              </a:lnSpc>
              <a:buNone/>
            </a:pPr>
            <a:r>
              <a:rPr lang="en-US" altLang="zh-CN" b="0" dirty="0"/>
              <a:t>    </a:t>
            </a:r>
            <a:r>
              <a:rPr lang="zh-CN" altLang="en-US" b="0" dirty="0"/>
              <a:t>四分两半，五变相同，六氧化加磷酸，</a:t>
            </a:r>
            <a:endParaRPr lang="en-US" altLang="zh-CN" b="0" dirty="0"/>
          </a:p>
          <a:p>
            <a:pPr marL="0" indent="0">
              <a:lnSpc>
                <a:spcPct val="120000"/>
              </a:lnSpc>
              <a:buNone/>
            </a:pPr>
            <a:r>
              <a:rPr lang="en-US" altLang="zh-CN" b="0" dirty="0"/>
              <a:t>    </a:t>
            </a:r>
            <a:r>
              <a:rPr lang="zh-CN" altLang="en-US" b="0" dirty="0"/>
              <a:t>七产能去磷酸，八变位、九脱水、</a:t>
            </a:r>
            <a:endParaRPr lang="en-US" altLang="zh-CN" b="0" dirty="0"/>
          </a:p>
          <a:p>
            <a:pPr marL="0" indent="0">
              <a:lnSpc>
                <a:spcPct val="120000"/>
              </a:lnSpc>
              <a:buNone/>
            </a:pPr>
            <a:r>
              <a:rPr lang="en-US" altLang="zh-CN" b="0" dirty="0"/>
              <a:t>    </a:t>
            </a:r>
            <a:r>
              <a:rPr lang="zh-CN" altLang="en-US" b="0" dirty="0"/>
              <a:t>十产能去磷酸</a:t>
            </a:r>
            <a:endParaRPr lang="zh-CN" altLang="en-US" b="0" dirty="0"/>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143671" y="4437112"/>
            <a:ext cx="3263309" cy="428625"/>
          </a:xfrm>
          <a:prstGeom prst="rect">
            <a:avLst/>
          </a:prstGeom>
        </p:spPr>
      </p:pic>
      <p:sp>
        <p:nvSpPr>
          <p:cNvPr id="2" name="标题 1"/>
          <p:cNvSpPr>
            <a:spLocks noGrp="1"/>
          </p:cNvSpPr>
          <p:nvPr>
            <p:ph type="title" idx="4294967295"/>
          </p:nvPr>
        </p:nvSpPr>
        <p:spPr>
          <a:xfrm>
            <a:off x="1800461" y="449164"/>
            <a:ext cx="8591078" cy="563563"/>
          </a:xfrm>
        </p:spPr>
        <p:txBody>
          <a:bodyPr/>
          <a:lstStyle/>
          <a:p>
            <a:r>
              <a:rPr lang="zh-CN" altLang="en-US" sz="3200" dirty="0">
                <a:solidFill>
                  <a:srgbClr val="0000CC"/>
                </a:solidFill>
              </a:rPr>
              <a:t>代谢方程和化学反应方程式不完全相同</a:t>
            </a:r>
            <a:endParaRPr lang="zh-CN" altLang="en-US" sz="3200" dirty="0">
              <a:solidFill>
                <a:srgbClr val="0000CC"/>
              </a:solidFill>
            </a:endParaRPr>
          </a:p>
        </p:txBody>
      </p:sp>
      <p:sp>
        <p:nvSpPr>
          <p:cNvPr id="4" name="内容占位符 3"/>
          <p:cNvSpPr>
            <a:spLocks noGrp="1"/>
          </p:cNvSpPr>
          <p:nvPr>
            <p:ph idx="4294967295"/>
          </p:nvPr>
        </p:nvSpPr>
        <p:spPr>
          <a:xfrm>
            <a:off x="1415480" y="1449725"/>
            <a:ext cx="9433048" cy="5184576"/>
          </a:xfrm>
        </p:spPr>
        <p:txBody>
          <a:bodyPr/>
          <a:lstStyle/>
          <a:p>
            <a:pPr>
              <a:lnSpc>
                <a:spcPct val="120000"/>
              </a:lnSpc>
            </a:pPr>
            <a:r>
              <a:rPr lang="zh-CN" altLang="en-US" sz="2400" b="0" dirty="0">
                <a:solidFill>
                  <a:srgbClr val="0000CC"/>
                </a:solidFill>
                <a:latin typeface="微软雅黑" panose="020B0503020204020204" pitchFamily="34" charset="-122"/>
                <a:ea typeface="微软雅黑" panose="020B0503020204020204" pitchFamily="34" charset="-122"/>
              </a:rPr>
              <a:t>生物化学反应方程式通常平衡</a:t>
            </a:r>
            <a:r>
              <a:rPr lang="zh-CN" altLang="en-US" sz="2400" dirty="0">
                <a:solidFill>
                  <a:srgbClr val="0000CC"/>
                </a:solidFill>
                <a:latin typeface="微软雅黑" panose="020B0503020204020204" pitchFamily="34" charset="-122"/>
                <a:ea typeface="微软雅黑" panose="020B0503020204020204" pitchFamily="34" charset="-122"/>
              </a:rPr>
              <a:t>反应中涉及的</a:t>
            </a:r>
            <a:r>
              <a:rPr lang="en-US" altLang="zh-CN" sz="2400" dirty="0">
                <a:solidFill>
                  <a:srgbClr val="0000CC"/>
                </a:solidFill>
                <a:latin typeface="微软雅黑" panose="020B0503020204020204" pitchFamily="34" charset="-122"/>
                <a:ea typeface="微软雅黑" panose="020B0503020204020204" pitchFamily="34" charset="-122"/>
              </a:rPr>
              <a:t>C</a:t>
            </a:r>
            <a:r>
              <a:rPr lang="zh-CN" altLang="en-US" sz="2400" dirty="0">
                <a:solidFill>
                  <a:srgbClr val="0000CC"/>
                </a:solidFill>
                <a:latin typeface="微软雅黑" panose="020B0503020204020204" pitchFamily="34" charset="-122"/>
                <a:ea typeface="微软雅黑" panose="020B0503020204020204" pitchFamily="34" charset="-122"/>
              </a:rPr>
              <a:t>、</a:t>
            </a:r>
            <a:r>
              <a:rPr lang="en-US" altLang="zh-CN" sz="2400" dirty="0">
                <a:solidFill>
                  <a:srgbClr val="0000CC"/>
                </a:solidFill>
                <a:latin typeface="微软雅黑" panose="020B0503020204020204" pitchFamily="34" charset="-122"/>
                <a:ea typeface="微软雅黑" panose="020B0503020204020204" pitchFamily="34" charset="-122"/>
              </a:rPr>
              <a:t>N</a:t>
            </a:r>
            <a:r>
              <a:rPr lang="zh-CN" altLang="en-US" sz="2400" dirty="0">
                <a:solidFill>
                  <a:srgbClr val="0000CC"/>
                </a:solidFill>
                <a:latin typeface="微软雅黑" panose="020B0503020204020204" pitchFamily="34" charset="-122"/>
                <a:ea typeface="微软雅黑" panose="020B0503020204020204" pitchFamily="34" charset="-122"/>
              </a:rPr>
              <a:t>、</a:t>
            </a:r>
            <a:r>
              <a:rPr lang="en-US" altLang="zh-CN" sz="2400" dirty="0">
                <a:solidFill>
                  <a:srgbClr val="0000CC"/>
                </a:solidFill>
                <a:latin typeface="微软雅黑" panose="020B0503020204020204" pitchFamily="34" charset="-122"/>
                <a:ea typeface="微软雅黑" panose="020B0503020204020204" pitchFamily="34" charset="-122"/>
              </a:rPr>
              <a:t>O </a:t>
            </a:r>
            <a:r>
              <a:rPr lang="zh-CN" altLang="en-US" sz="2400" dirty="0">
                <a:solidFill>
                  <a:srgbClr val="0000CC"/>
                </a:solidFill>
                <a:latin typeface="微软雅黑" panose="020B0503020204020204" pitchFamily="34" charset="-122"/>
                <a:ea typeface="微软雅黑" panose="020B0503020204020204" pitchFamily="34" charset="-122"/>
              </a:rPr>
              <a:t>和 </a:t>
            </a:r>
            <a:r>
              <a:rPr lang="en-US" altLang="zh-CN" sz="2400" dirty="0">
                <a:solidFill>
                  <a:srgbClr val="0000CC"/>
                </a:solidFill>
                <a:latin typeface="微软雅黑" panose="020B0503020204020204" pitchFamily="34" charset="-122"/>
                <a:ea typeface="微软雅黑" panose="020B0503020204020204" pitchFamily="34" charset="-122"/>
              </a:rPr>
              <a:t>P</a:t>
            </a:r>
            <a:r>
              <a:rPr lang="zh-CN" altLang="en-US" sz="2400" dirty="0">
                <a:solidFill>
                  <a:srgbClr val="0000CC"/>
                </a:solidFill>
                <a:latin typeface="微软雅黑" panose="020B0503020204020204" pitchFamily="34" charset="-122"/>
                <a:ea typeface="微软雅黑" panose="020B0503020204020204" pitchFamily="34" charset="-122"/>
              </a:rPr>
              <a:t>元素</a:t>
            </a:r>
            <a:r>
              <a:rPr lang="zh-CN" altLang="en-US" sz="2400" b="0" dirty="0">
                <a:latin typeface="微软雅黑" panose="020B0503020204020204" pitchFamily="34" charset="-122"/>
                <a:ea typeface="微软雅黑" panose="020B0503020204020204" pitchFamily="34" charset="-122"/>
              </a:rPr>
              <a:t>，但</a:t>
            </a:r>
            <a:r>
              <a:rPr lang="zh-CN" altLang="en-US" sz="2400" b="0" dirty="0">
                <a:solidFill>
                  <a:srgbClr val="C00000"/>
                </a:solidFill>
                <a:latin typeface="微软雅黑" panose="020B0503020204020204" pitchFamily="34" charset="-122"/>
                <a:ea typeface="微软雅黑" panose="020B0503020204020204" pitchFamily="34" charset="-122"/>
              </a:rPr>
              <a:t>不一定平衡反应式两边的 </a:t>
            </a:r>
            <a:r>
              <a:rPr lang="en-US" altLang="zh-CN" sz="2400" b="0" dirty="0">
                <a:solidFill>
                  <a:srgbClr val="C00000"/>
                </a:solidFill>
                <a:latin typeface="微软雅黑" panose="020B0503020204020204" pitchFamily="34" charset="-122"/>
                <a:ea typeface="微软雅黑" panose="020B0503020204020204" pitchFamily="34" charset="-122"/>
              </a:rPr>
              <a:t>H</a:t>
            </a:r>
            <a:r>
              <a:rPr lang="zh-CN" altLang="en-US" sz="2400" b="0" dirty="0">
                <a:solidFill>
                  <a:srgbClr val="C00000"/>
                </a:solidFill>
                <a:latin typeface="微软雅黑" panose="020B0503020204020204" pitchFamily="34" charset="-122"/>
                <a:ea typeface="微软雅黑" panose="020B0503020204020204" pitchFamily="34" charset="-122"/>
              </a:rPr>
              <a:t>、</a:t>
            </a:r>
            <a:r>
              <a:rPr lang="en-US" altLang="zh-CN" sz="2400" b="0" dirty="0">
                <a:solidFill>
                  <a:srgbClr val="C00000"/>
                </a:solidFill>
                <a:latin typeface="微软雅黑" panose="020B0503020204020204" pitchFamily="34" charset="-122"/>
                <a:ea typeface="微软雅黑" panose="020B0503020204020204" pitchFamily="34" charset="-122"/>
              </a:rPr>
              <a:t>Mg</a:t>
            </a:r>
            <a:r>
              <a:rPr lang="en-US" altLang="zh-CN" sz="2400" b="0" baseline="30000" dirty="0">
                <a:solidFill>
                  <a:srgbClr val="C00000"/>
                </a:solidFill>
                <a:latin typeface="微软雅黑" panose="020B0503020204020204" pitchFamily="34" charset="-122"/>
                <a:ea typeface="微软雅黑" panose="020B0503020204020204" pitchFamily="34" charset="-122"/>
              </a:rPr>
              <a:t>2+ </a:t>
            </a:r>
            <a:r>
              <a:rPr lang="zh-CN" altLang="en-US" sz="2400" b="0" dirty="0">
                <a:solidFill>
                  <a:srgbClr val="C00000"/>
                </a:solidFill>
                <a:latin typeface="微软雅黑" panose="020B0503020204020204" pitchFamily="34" charset="-122"/>
                <a:ea typeface="微软雅黑" panose="020B0503020204020204" pitchFamily="34" charset="-122"/>
              </a:rPr>
              <a:t>或电荷。</a:t>
            </a:r>
            <a:endParaRPr lang="en-US" altLang="zh-CN" sz="2400" b="0" dirty="0">
              <a:solidFill>
                <a:srgbClr val="C00000"/>
              </a:solidFill>
              <a:latin typeface="微软雅黑" panose="020B0503020204020204" pitchFamily="34" charset="-122"/>
              <a:ea typeface="微软雅黑" panose="020B0503020204020204" pitchFamily="34" charset="-122"/>
            </a:endParaRPr>
          </a:p>
          <a:p>
            <a:pPr>
              <a:lnSpc>
                <a:spcPct val="120000"/>
              </a:lnSpc>
            </a:pPr>
            <a:r>
              <a:rPr lang="zh-CN" altLang="en-US" sz="2400" b="0" dirty="0">
                <a:solidFill>
                  <a:srgbClr val="C00000"/>
                </a:solidFill>
                <a:latin typeface="微软雅黑" panose="020B0503020204020204" pitchFamily="34" charset="-122"/>
                <a:ea typeface="微软雅黑" panose="020B0503020204020204" pitchFamily="34" charset="-122"/>
              </a:rPr>
              <a:t>生物化学家以简化的方式写代谢方程</a:t>
            </a:r>
            <a:r>
              <a:rPr lang="zh-CN" altLang="en-US" sz="24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对于涉及 </a:t>
            </a:r>
            <a:r>
              <a:rPr lang="en-US" altLang="zh-CN" sz="2000" b="0" dirty="0">
                <a:latin typeface="微软雅黑" panose="020B0503020204020204" pitchFamily="34" charset="-122"/>
                <a:ea typeface="微软雅黑" panose="020B0503020204020204" pitchFamily="34" charset="-122"/>
              </a:rPr>
              <a:t>ATP </a:t>
            </a:r>
            <a:r>
              <a:rPr lang="zh-CN" altLang="en-US" sz="2000" b="0" dirty="0">
                <a:latin typeface="微软雅黑" panose="020B0503020204020204" pitchFamily="34" charset="-122"/>
                <a:ea typeface="微软雅黑" panose="020B0503020204020204" pitchFamily="34" charset="-122"/>
              </a:rPr>
              <a:t>的反应尤为明显。磷酸化合物可以多种电离状态存在，且都可以结合 </a:t>
            </a:r>
            <a:r>
              <a:rPr lang="en-US" altLang="zh-CN" sz="2000" b="0" dirty="0">
                <a:latin typeface="微软雅黑" panose="020B0503020204020204" pitchFamily="34" charset="-122"/>
                <a:ea typeface="微软雅黑" panose="020B0503020204020204" pitchFamily="34" charset="-122"/>
              </a:rPr>
              <a:t>Mg</a:t>
            </a:r>
            <a:r>
              <a:rPr lang="en-US" altLang="zh-CN" sz="2000" b="0" baseline="3000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。例如，在 </a:t>
            </a:r>
            <a:r>
              <a:rPr lang="en-US" altLang="zh-CN" sz="2000" b="0" dirty="0">
                <a:latin typeface="微软雅黑" panose="020B0503020204020204" pitchFamily="34" charset="-122"/>
                <a:ea typeface="微软雅黑" panose="020B0503020204020204" pitchFamily="34" charset="-122"/>
              </a:rPr>
              <a:t>pH 7 </a:t>
            </a:r>
            <a:r>
              <a:rPr lang="zh-CN" altLang="en-US" sz="2000" b="0" dirty="0">
                <a:latin typeface="微软雅黑" panose="020B0503020204020204" pitchFamily="34" charset="-122"/>
                <a:ea typeface="微软雅黑" panose="020B0503020204020204" pitchFamily="34" charset="-122"/>
              </a:rPr>
              <a:t>和 </a:t>
            </a:r>
            <a:r>
              <a:rPr lang="en-US" altLang="zh-CN" sz="2000" b="0" dirty="0">
                <a:latin typeface="微软雅黑" panose="020B0503020204020204" pitchFamily="34" charset="-122"/>
                <a:ea typeface="微软雅黑" panose="020B0503020204020204" pitchFamily="34" charset="-122"/>
              </a:rPr>
              <a:t>2 mM Mg</a:t>
            </a:r>
            <a:r>
              <a:rPr lang="en-US" altLang="zh-CN" sz="2000" b="0" baseline="30000" dirty="0">
                <a:latin typeface="微软雅黑" panose="020B0503020204020204" pitchFamily="34" charset="-122"/>
                <a:ea typeface="微软雅黑" panose="020B0503020204020204" pitchFamily="34" charset="-122"/>
              </a:rPr>
              <a:t>2+ </a:t>
            </a:r>
            <a:r>
              <a:rPr lang="zh-CN" altLang="en-US" sz="2000" b="0" dirty="0">
                <a:latin typeface="微软雅黑" panose="020B0503020204020204" pitchFamily="34" charset="-122"/>
                <a:ea typeface="微软雅黑" panose="020B0503020204020204" pitchFamily="34" charset="-122"/>
              </a:rPr>
              <a:t>时，</a:t>
            </a:r>
            <a:r>
              <a:rPr lang="en-US" altLang="zh-CN" sz="2000" b="0" dirty="0">
                <a:latin typeface="微软雅黑" panose="020B0503020204020204" pitchFamily="34" charset="-122"/>
                <a:ea typeface="微软雅黑" panose="020B0503020204020204" pitchFamily="34" charset="-122"/>
              </a:rPr>
              <a:t>ATP </a:t>
            </a:r>
            <a:r>
              <a:rPr lang="zh-CN" altLang="en-US" sz="2000" b="0" dirty="0">
                <a:latin typeface="微软雅黑" panose="020B0503020204020204" pitchFamily="34" charset="-122"/>
                <a:ea typeface="微软雅黑" panose="020B0503020204020204" pitchFamily="34" charset="-122"/>
              </a:rPr>
              <a:t>以 </a:t>
            </a:r>
            <a:r>
              <a:rPr lang="en-US" altLang="zh-CN" sz="2000" b="0" dirty="0">
                <a:latin typeface="微软雅黑" panose="020B0503020204020204" pitchFamily="34" charset="-122"/>
                <a:ea typeface="微软雅黑" panose="020B0503020204020204" pitchFamily="34" charset="-122"/>
              </a:rPr>
              <a:t>ATP</a:t>
            </a:r>
            <a:r>
              <a:rPr lang="en-US" altLang="zh-CN" sz="2000" b="0" baseline="30000" dirty="0">
                <a:latin typeface="微软雅黑" panose="020B0503020204020204" pitchFamily="34" charset="-122"/>
                <a:ea typeface="微软雅黑" panose="020B0503020204020204" pitchFamily="34" charset="-122"/>
              </a:rPr>
              <a:t>4-</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HATP</a:t>
            </a:r>
            <a:r>
              <a:rPr lang="en-US" altLang="zh-CN" sz="2000" b="0" baseline="30000" dirty="0">
                <a:latin typeface="微软雅黑" panose="020B0503020204020204" pitchFamily="34" charset="-122"/>
                <a:ea typeface="微软雅黑" panose="020B0503020204020204" pitchFamily="34" charset="-122"/>
              </a:rPr>
              <a:t>3-</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H</a:t>
            </a:r>
            <a:r>
              <a:rPr lang="en-US" altLang="zh-CN" sz="2000" b="0" baseline="-25000" dirty="0">
                <a:latin typeface="微软雅黑" panose="020B0503020204020204" pitchFamily="34" charset="-122"/>
                <a:ea typeface="微软雅黑" panose="020B0503020204020204" pitchFamily="34" charset="-122"/>
              </a:rPr>
              <a:t>2</a:t>
            </a:r>
            <a:r>
              <a:rPr lang="en-US" altLang="zh-CN" sz="2000" b="0" dirty="0">
                <a:latin typeface="微软雅黑" panose="020B0503020204020204" pitchFamily="34" charset="-122"/>
                <a:ea typeface="微软雅黑" panose="020B0503020204020204" pitchFamily="34" charset="-122"/>
              </a:rPr>
              <a:t>ATP</a:t>
            </a:r>
            <a:r>
              <a:rPr lang="en-US" altLang="zh-CN" sz="2000" b="0" baseline="3000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a:t>
            </a:r>
            <a:r>
              <a:rPr lang="en-US" altLang="zh-CN" sz="2000" b="0" dirty="0" err="1">
                <a:latin typeface="微软雅黑" panose="020B0503020204020204" pitchFamily="34" charset="-122"/>
                <a:ea typeface="微软雅黑" panose="020B0503020204020204" pitchFamily="34" charset="-122"/>
              </a:rPr>
              <a:t>MgHATP</a:t>
            </a:r>
            <a:r>
              <a:rPr lang="en-US" altLang="zh-CN" sz="2000" b="0" baseline="3000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 </a:t>
            </a:r>
            <a:r>
              <a:rPr lang="zh-CN" altLang="en-US" sz="2000" b="0" dirty="0">
                <a:latin typeface="微软雅黑" panose="020B0503020204020204" pitchFamily="34" charset="-122"/>
                <a:ea typeface="微软雅黑" panose="020B0503020204020204" pitchFamily="34" charset="-122"/>
              </a:rPr>
              <a:t>和 </a:t>
            </a:r>
            <a:r>
              <a:rPr lang="en-US" altLang="zh-CN" sz="2000" b="0" dirty="0">
                <a:latin typeface="微软雅黑" panose="020B0503020204020204" pitchFamily="34" charset="-122"/>
                <a:ea typeface="微软雅黑" panose="020B0503020204020204" pitchFamily="34" charset="-122"/>
              </a:rPr>
              <a:t>Mg</a:t>
            </a:r>
            <a:r>
              <a:rPr lang="en-US" altLang="zh-CN" sz="2000" b="0" baseline="-25000" dirty="0">
                <a:latin typeface="微软雅黑" panose="020B0503020204020204" pitchFamily="34" charset="-122"/>
                <a:ea typeface="微软雅黑" panose="020B0503020204020204" pitchFamily="34" charset="-122"/>
              </a:rPr>
              <a:t>2</a:t>
            </a:r>
            <a:r>
              <a:rPr lang="en-US" altLang="zh-CN" sz="2000" b="0" dirty="0">
                <a:latin typeface="微软雅黑" panose="020B0503020204020204" pitchFamily="34" charset="-122"/>
                <a:ea typeface="微软雅黑" panose="020B0503020204020204" pitchFamily="34" charset="-122"/>
              </a:rPr>
              <a:t>ATP </a:t>
            </a:r>
            <a:r>
              <a:rPr lang="zh-CN" altLang="en-US" sz="2000" b="0" dirty="0">
                <a:latin typeface="微软雅黑" panose="020B0503020204020204" pitchFamily="34" charset="-122"/>
                <a:ea typeface="微软雅黑" panose="020B0503020204020204" pitchFamily="34" charset="-122"/>
              </a:rPr>
              <a:t>的形式存在。考虑到 </a:t>
            </a:r>
            <a:r>
              <a:rPr lang="en-US" altLang="zh-CN" sz="2000" b="0" dirty="0">
                <a:latin typeface="微软雅黑" panose="020B0503020204020204" pitchFamily="34" charset="-122"/>
                <a:ea typeface="微软雅黑" panose="020B0503020204020204" pitchFamily="34" charset="-122"/>
              </a:rPr>
              <a:t>ATP </a:t>
            </a:r>
            <a:r>
              <a:rPr lang="zh-CN" altLang="en-US" sz="2000" b="0" dirty="0">
                <a:latin typeface="微软雅黑" panose="020B0503020204020204" pitchFamily="34" charset="-122"/>
                <a:ea typeface="微软雅黑" panose="020B0503020204020204" pitchFamily="34" charset="-122"/>
              </a:rPr>
              <a:t>的生物学作用，我们并不总是对所有这些细节感兴趣，因此我们把上述各种形式统称为</a:t>
            </a:r>
            <a:r>
              <a:rPr lang="en-US" altLang="zh-CN" sz="2000" b="0" dirty="0">
                <a:latin typeface="微软雅黑" panose="020B0503020204020204" pitchFamily="34" charset="-122"/>
                <a:ea typeface="微软雅黑" panose="020B0503020204020204" pitchFamily="34" charset="-122"/>
              </a:rPr>
              <a:t>ATP </a:t>
            </a:r>
            <a:r>
              <a:rPr lang="zh-CN" altLang="en-US" sz="2000" b="0" dirty="0">
                <a:latin typeface="微软雅黑" panose="020B0503020204020204" pitchFamily="34" charset="-122"/>
                <a:ea typeface="微软雅黑" panose="020B0503020204020204" pitchFamily="34" charset="-122"/>
              </a:rPr>
              <a:t>，将其水解简写为：</a:t>
            </a:r>
            <a:endParaRPr lang="en-US" altLang="zh-CN" sz="2000" b="0" dirty="0">
              <a:latin typeface="微软雅黑" panose="020B0503020204020204" pitchFamily="34" charset="-122"/>
              <a:ea typeface="微软雅黑" panose="020B0503020204020204" pitchFamily="34" charset="-122"/>
            </a:endParaRPr>
          </a:p>
          <a:p>
            <a:pPr marL="0" indent="0">
              <a:buNone/>
            </a:pPr>
            <a:endParaRPr lang="en-US" altLang="zh-CN" sz="2400" b="0" dirty="0">
              <a:latin typeface="微软雅黑" panose="020B0503020204020204" pitchFamily="34" charset="-122"/>
              <a:ea typeface="微软雅黑" panose="020B0503020204020204" pitchFamily="34" charset="-122"/>
            </a:endParaRPr>
          </a:p>
          <a:p>
            <a:pPr marL="0" indent="0">
              <a:buNone/>
            </a:pPr>
            <a:endParaRPr lang="en-US" altLang="zh-CN" sz="2400" b="0" dirty="0">
              <a:latin typeface="微软雅黑" panose="020B0503020204020204" pitchFamily="34" charset="-122"/>
              <a:ea typeface="微软雅黑" panose="020B0503020204020204" pitchFamily="34" charset="-122"/>
            </a:endParaRPr>
          </a:p>
          <a:p>
            <a:pPr>
              <a:lnSpc>
                <a:spcPct val="120000"/>
              </a:lnSpc>
            </a:pPr>
            <a:r>
              <a:rPr lang="zh-CN" altLang="en-US" sz="2000" b="0" dirty="0">
                <a:latin typeface="微软雅黑" panose="020B0503020204020204" pitchFamily="34" charset="-122"/>
                <a:ea typeface="微软雅黑" panose="020B0503020204020204" pitchFamily="34" charset="-122"/>
              </a:rPr>
              <a:t>相应的反应平衡常数表示为：</a:t>
            </a:r>
            <a:endParaRPr lang="en-US" altLang="zh-CN" sz="2000" b="0" dirty="0">
              <a:latin typeface="微软雅黑" panose="020B0503020204020204" pitchFamily="34" charset="-122"/>
              <a:ea typeface="微软雅黑" panose="020B0503020204020204" pitchFamily="34" charset="-122"/>
            </a:endParaRPr>
          </a:p>
          <a:p>
            <a:pPr>
              <a:lnSpc>
                <a:spcPct val="120000"/>
              </a:lnSpc>
            </a:pPr>
            <a:r>
              <a:rPr lang="zh-CN" altLang="en-US" sz="2000" b="0" dirty="0">
                <a:latin typeface="微软雅黑" panose="020B0503020204020204" pitchFamily="34" charset="-122"/>
                <a:ea typeface="微软雅黑" panose="020B0503020204020204" pitchFamily="34" charset="-122"/>
              </a:rPr>
              <a:t>注意，</a:t>
            </a:r>
            <a:r>
              <a:rPr lang="en-US" altLang="zh-CN" sz="2000" b="0" dirty="0">
                <a:latin typeface="微软雅黑" panose="020B0503020204020204" pitchFamily="34" charset="-122"/>
                <a:ea typeface="微软雅黑" panose="020B0503020204020204" pitchFamily="34" charset="-122"/>
              </a:rPr>
              <a:t>H</a:t>
            </a:r>
            <a:r>
              <a:rPr lang="en-US" altLang="zh-CN" sz="2000" b="0" baseline="3000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a:t>
            </a:r>
            <a:r>
              <a:rPr lang="en-US" altLang="zh-CN" sz="2000" b="0" dirty="0">
                <a:latin typeface="微软雅黑" panose="020B0503020204020204" pitchFamily="34" charset="-122"/>
                <a:ea typeface="微软雅黑" panose="020B0503020204020204" pitchFamily="34" charset="-122"/>
              </a:rPr>
              <a:t>Mg</a:t>
            </a:r>
            <a:r>
              <a:rPr lang="en-US" altLang="zh-CN" sz="2000" b="0" baseline="30000" dirty="0">
                <a:latin typeface="微软雅黑" panose="020B0503020204020204" pitchFamily="34" charset="-122"/>
                <a:ea typeface="微软雅黑" panose="020B0503020204020204" pitchFamily="34" charset="-122"/>
              </a:rPr>
              <a:t>2+</a:t>
            </a:r>
            <a:r>
              <a:rPr lang="zh-CN" altLang="en-US" sz="2000" b="0" dirty="0">
                <a:latin typeface="微软雅黑" panose="020B0503020204020204" pitchFamily="34" charset="-122"/>
                <a:ea typeface="微软雅黑" panose="020B0503020204020204" pitchFamily="34" charset="-122"/>
              </a:rPr>
              <a:t>都没有出现在方程式中，因为它们的浓度是恒定的。同样道理，平衡常数计算时没有</a:t>
            </a:r>
            <a:r>
              <a:rPr lang="en-US" altLang="zh-CN" sz="2000" b="0" dirty="0">
                <a:latin typeface="微软雅黑" panose="020B0503020204020204" pitchFamily="34" charset="-122"/>
                <a:ea typeface="微软雅黑" panose="020B0503020204020204" pitchFamily="34" charset="-122"/>
              </a:rPr>
              <a:t>H</a:t>
            </a:r>
            <a:r>
              <a:rPr lang="en-US" altLang="zh-CN" sz="2000" b="0" baseline="-25000" dirty="0">
                <a:latin typeface="微软雅黑" panose="020B0503020204020204" pitchFamily="34" charset="-122"/>
                <a:ea typeface="微软雅黑" panose="020B0503020204020204" pitchFamily="34" charset="-122"/>
              </a:rPr>
              <a:t>2</a:t>
            </a:r>
            <a:r>
              <a:rPr lang="en-US" altLang="zh-CN" sz="2000" b="0" dirty="0">
                <a:latin typeface="微软雅黑" panose="020B0503020204020204" pitchFamily="34" charset="-122"/>
                <a:ea typeface="微软雅黑" panose="020B0503020204020204" pitchFamily="34" charset="-122"/>
              </a:rPr>
              <a:t>O</a:t>
            </a:r>
            <a:r>
              <a:rPr lang="zh-CN" altLang="en-US" sz="2000" b="0" dirty="0">
                <a:latin typeface="微软雅黑" panose="020B0503020204020204" pitchFamily="34" charset="-122"/>
                <a:ea typeface="微软雅黑" panose="020B0503020204020204" pitchFamily="34" charset="-122"/>
              </a:rPr>
              <a:t>（水相中浓度恒定为</a:t>
            </a:r>
            <a:r>
              <a:rPr lang="en-US" altLang="zh-CN" sz="2000" b="0" dirty="0">
                <a:latin typeface="微软雅黑" panose="020B0503020204020204" pitchFamily="34" charset="-122"/>
                <a:ea typeface="微软雅黑" panose="020B0503020204020204" pitchFamily="34" charset="-122"/>
              </a:rPr>
              <a:t>55M</a:t>
            </a:r>
            <a:r>
              <a:rPr lang="zh-CN" altLang="en-US" sz="2000" b="0" dirty="0">
                <a:latin typeface="微软雅黑" panose="020B0503020204020204" pitchFamily="34" charset="-122"/>
                <a:ea typeface="微软雅黑" panose="020B0503020204020204" pitchFamily="34" charset="-122"/>
              </a:rPr>
              <a:t>）</a:t>
            </a:r>
            <a:endParaRPr lang="en-US" altLang="zh-CN" sz="2000" b="0"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5447928" y="5302735"/>
            <a:ext cx="2953858" cy="400050"/>
          </a:xfrm>
          <a:prstGeom prst="rect">
            <a:avLst/>
          </a:prstGeom>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noChangeArrowheads="1"/>
          </p:cNvSpPr>
          <p:nvPr>
            <p:ph type="title"/>
          </p:nvPr>
        </p:nvSpPr>
        <p:spPr>
          <a:xfrm>
            <a:off x="2438400" y="549276"/>
            <a:ext cx="7391400" cy="563563"/>
          </a:xfrm>
        </p:spPr>
        <p:txBody>
          <a:bodyPr/>
          <a:lstStyle/>
          <a:p>
            <a:r>
              <a:rPr lang="zh-CN" altLang="en-US">
                <a:solidFill>
                  <a:srgbClr val="C00000"/>
                </a:solidFill>
              </a:rPr>
              <a:t>糖酵解的意义</a:t>
            </a:r>
            <a:endParaRPr lang="zh-CN" altLang="en-US">
              <a:solidFill>
                <a:srgbClr val="C00000"/>
              </a:solidFill>
            </a:endParaRPr>
          </a:p>
        </p:txBody>
      </p:sp>
      <p:sp>
        <p:nvSpPr>
          <p:cNvPr id="3" name="内容占位符 2"/>
          <p:cNvSpPr>
            <a:spLocks noGrp="1" noChangeArrowheads="1"/>
          </p:cNvSpPr>
          <p:nvPr>
            <p:ph idx="1"/>
          </p:nvPr>
        </p:nvSpPr>
        <p:spPr>
          <a:xfrm>
            <a:off x="2063552" y="1556792"/>
            <a:ext cx="8208912" cy="4392612"/>
          </a:xfrm>
        </p:spPr>
        <p:txBody>
          <a:bodyPr/>
          <a:lstStyle/>
          <a:p>
            <a:pPr>
              <a:lnSpc>
                <a:spcPct val="150000"/>
              </a:lnSpc>
            </a:pPr>
            <a:r>
              <a:rPr lang="zh-CN" altLang="en-US" sz="2800" b="0" dirty="0">
                <a:solidFill>
                  <a:srgbClr val="0000CC"/>
                </a:solidFill>
                <a:latin typeface="微软雅黑" panose="020B0503020204020204" pitchFamily="34" charset="-122"/>
                <a:ea typeface="微软雅黑" panose="020B0503020204020204" pitchFamily="34" charset="-122"/>
              </a:rPr>
              <a:t>糖有氧氧化和无氧氧化的第一阶段，为几乎所有组织提供能量</a:t>
            </a:r>
            <a:endParaRPr lang="en-US" altLang="zh-CN" sz="2800" b="0" dirty="0">
              <a:solidFill>
                <a:srgbClr val="0000CC"/>
              </a:solidFill>
              <a:latin typeface="微软雅黑" panose="020B0503020204020204" pitchFamily="34" charset="-122"/>
              <a:ea typeface="微软雅黑" panose="020B0503020204020204" pitchFamily="34" charset="-122"/>
            </a:endParaRPr>
          </a:p>
          <a:p>
            <a:pPr lvl="1">
              <a:lnSpc>
                <a:spcPct val="150000"/>
              </a:lnSpc>
            </a:pPr>
            <a:r>
              <a:rPr lang="zh-CN" altLang="en-US" sz="2400" b="0" dirty="0">
                <a:latin typeface="微软雅黑" panose="020B0503020204020204" pitchFamily="34" charset="-122"/>
                <a:ea typeface="微软雅黑" panose="020B0503020204020204" pitchFamily="34" charset="-122"/>
              </a:rPr>
              <a:t>脑组织的能量几乎都来自葡萄糖的有氧氧化</a:t>
            </a:r>
            <a:endParaRPr lang="en-US" altLang="zh-CN" sz="2400" b="0" dirty="0">
              <a:latin typeface="微软雅黑" panose="020B0503020204020204" pitchFamily="34" charset="-122"/>
              <a:ea typeface="微软雅黑" panose="020B0503020204020204" pitchFamily="34" charset="-122"/>
            </a:endParaRPr>
          </a:p>
          <a:p>
            <a:pPr>
              <a:lnSpc>
                <a:spcPct val="150000"/>
              </a:lnSpc>
            </a:pPr>
            <a:r>
              <a:rPr lang="zh-CN" altLang="en-US" sz="2800" b="0" dirty="0">
                <a:solidFill>
                  <a:srgbClr val="0000CC"/>
                </a:solidFill>
                <a:latin typeface="微软雅黑" panose="020B0503020204020204" pitchFamily="34" charset="-122"/>
                <a:ea typeface="微软雅黑" panose="020B0503020204020204" pitchFamily="34" charset="-122"/>
              </a:rPr>
              <a:t>为其它代谢路径提供小分子前体物质</a:t>
            </a:r>
            <a:endParaRPr lang="en-US" altLang="zh-CN" sz="2800" b="0" dirty="0">
              <a:solidFill>
                <a:srgbClr val="0000CC"/>
              </a:solidFill>
              <a:latin typeface="微软雅黑" panose="020B0503020204020204" pitchFamily="34" charset="-122"/>
              <a:ea typeface="微软雅黑" panose="020B0503020204020204" pitchFamily="34" charset="-122"/>
            </a:endParaRPr>
          </a:p>
          <a:p>
            <a:pPr lvl="1">
              <a:lnSpc>
                <a:spcPct val="120000"/>
              </a:lnSpc>
            </a:pPr>
            <a:r>
              <a:rPr lang="zh-CN" altLang="en-US" sz="2400" b="0" dirty="0">
                <a:latin typeface="微软雅黑" panose="020B0503020204020204" pitchFamily="34" charset="-122"/>
                <a:ea typeface="微软雅黑" panose="020B0503020204020204" pitchFamily="34" charset="-122"/>
              </a:rPr>
              <a:t>磷酸二羟丙酮 → 磷酸甘油 → 脂质合成</a:t>
            </a:r>
            <a:endParaRPr lang="en-US" altLang="zh-CN" sz="2400" b="0" dirty="0">
              <a:latin typeface="微软雅黑" panose="020B0503020204020204" pitchFamily="34" charset="-122"/>
              <a:ea typeface="微软雅黑" panose="020B0503020204020204" pitchFamily="34" charset="-122"/>
            </a:endParaRPr>
          </a:p>
          <a:p>
            <a:pPr lvl="1">
              <a:lnSpc>
                <a:spcPct val="120000"/>
              </a:lnSpc>
            </a:pPr>
            <a:r>
              <a:rPr lang="zh-CN" altLang="en-US" sz="2400" b="0" dirty="0">
                <a:latin typeface="微软雅黑" panose="020B0503020204020204" pitchFamily="34" charset="-122"/>
                <a:ea typeface="微软雅黑" panose="020B0503020204020204" pitchFamily="34" charset="-122"/>
              </a:rPr>
              <a:t>丙酮酸 → 丙氨酸</a:t>
            </a:r>
            <a:endParaRPr lang="en-US" altLang="zh-CN" sz="2400" b="0" dirty="0">
              <a:latin typeface="微软雅黑" panose="020B0503020204020204" pitchFamily="34" charset="-122"/>
              <a:ea typeface="微软雅黑" panose="020B0503020204020204" pitchFamily="34" charset="-122"/>
            </a:endParaRPr>
          </a:p>
          <a:p>
            <a:pPr lvl="1">
              <a:lnSpc>
                <a:spcPct val="120000"/>
              </a:lnSpc>
            </a:pPr>
            <a:r>
              <a:rPr lang="en-US" altLang="zh-CN" sz="2400" b="0" dirty="0">
                <a:latin typeface="微软雅黑" panose="020B0503020204020204" pitchFamily="34" charset="-122"/>
                <a:ea typeface="微软雅黑" panose="020B0503020204020204" pitchFamily="34" charset="-122"/>
              </a:rPr>
              <a:t>1,3-BPG</a:t>
            </a:r>
            <a:r>
              <a:rPr lang="zh-CN" altLang="en-US" sz="2400" b="0" dirty="0">
                <a:latin typeface="微软雅黑" panose="020B0503020204020204" pitchFamily="34" charset="-122"/>
                <a:ea typeface="微软雅黑" panose="020B0503020204020204" pitchFamily="34" charset="-122"/>
              </a:rPr>
              <a:t> → </a:t>
            </a:r>
            <a:r>
              <a:rPr lang="en-US" altLang="zh-CN" sz="2400" b="0" dirty="0">
                <a:latin typeface="微软雅黑" panose="020B0503020204020204" pitchFamily="34" charset="-122"/>
                <a:ea typeface="微软雅黑" panose="020B0503020204020204" pitchFamily="34" charset="-122"/>
              </a:rPr>
              <a:t>2,3-BPG</a:t>
            </a:r>
            <a:r>
              <a:rPr lang="zh-CN" altLang="en-US" sz="2400" b="0" dirty="0">
                <a:latin typeface="微软雅黑" panose="020B0503020204020204" pitchFamily="34" charset="-122"/>
                <a:ea typeface="微软雅黑" panose="020B0503020204020204" pitchFamily="34" charset="-122"/>
              </a:rPr>
              <a:t>，调节血红蛋白运氧</a:t>
            </a:r>
            <a:endParaRPr lang="en-US" altLang="zh-CN" sz="2400" b="0" dirty="0">
              <a:latin typeface="微软雅黑" panose="020B0503020204020204" pitchFamily="34" charset="-122"/>
              <a:ea typeface="微软雅黑" panose="020B0503020204020204" pitchFamily="34" charset="-122"/>
            </a:endParaRPr>
          </a:p>
          <a:p>
            <a:pPr>
              <a:lnSpc>
                <a:spcPct val="150000"/>
              </a:lnSpc>
            </a:pPr>
            <a:endParaRPr lang="zh-CN" altLang="en-US" sz="28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695400" y="1628800"/>
          <a:ext cx="10873209" cy="4719638"/>
        </p:xfrm>
        <a:graphic>
          <a:graphicData uri="http://schemas.openxmlformats.org/drawingml/2006/table">
            <a:tbl>
              <a:tblPr firstRow="1" bandRow="1">
                <a:tableStyleId>{5C22544A-7EE6-4342-B048-85BDC9FD1C3A}</a:tableStyleId>
              </a:tblPr>
              <a:tblGrid>
                <a:gridCol w="2094839"/>
                <a:gridCol w="3380878"/>
                <a:gridCol w="2877211"/>
                <a:gridCol w="1112239"/>
                <a:gridCol w="1408042"/>
              </a:tblGrid>
              <a:tr h="655294">
                <a:tc rowSpan="2">
                  <a:txBody>
                    <a:bodyPr/>
                    <a:lstStyle/>
                    <a:p>
                      <a:pPr algn="ctr"/>
                      <a:endParaRPr lang="en-US" altLang="zh-CN" sz="2800" dirty="0">
                        <a:latin typeface="微软雅黑" panose="020B0503020204020204" pitchFamily="34" charset="-122"/>
                        <a:ea typeface="微软雅黑" panose="020B0503020204020204" pitchFamily="34" charset="-122"/>
                      </a:endParaRPr>
                    </a:p>
                    <a:p>
                      <a:pPr algn="ctr"/>
                      <a:r>
                        <a:rPr lang="zh-CN" altLang="en-US" sz="2800" b="0" dirty="0">
                          <a:latin typeface="微软雅黑" panose="020B0503020204020204" pitchFamily="34" charset="-122"/>
                          <a:ea typeface="微软雅黑" panose="020B0503020204020204" pitchFamily="34" charset="-122"/>
                        </a:rPr>
                        <a:t>酶</a:t>
                      </a:r>
                      <a:endParaRPr lang="zh-CN" altLang="en-US" sz="2800" b="0" dirty="0">
                        <a:latin typeface="微软雅黑" panose="020B0503020204020204" pitchFamily="34" charset="-122"/>
                        <a:ea typeface="微软雅黑" panose="020B0503020204020204" pitchFamily="34" charset="-122"/>
                      </a:endParaRPr>
                    </a:p>
                  </a:txBody>
                  <a:tcPr marL="91455" marR="91455" marT="45710" marB="45710" anchor="ctr">
                    <a:solidFill>
                      <a:schemeClr val="accent5">
                        <a:lumMod val="50000"/>
                      </a:schemeClr>
                    </a:solidFill>
                  </a:tcPr>
                </a:tc>
                <a:tc gridSpan="2">
                  <a:txBody>
                    <a:bodyPr/>
                    <a:lstStyle/>
                    <a:p>
                      <a:pPr algn="ctr"/>
                      <a:r>
                        <a:rPr lang="zh-CN" altLang="en-US" sz="2800" b="0" dirty="0">
                          <a:latin typeface="微软雅黑" panose="020B0503020204020204" pitchFamily="34" charset="-122"/>
                          <a:ea typeface="微软雅黑" panose="020B0503020204020204" pitchFamily="34" charset="-122"/>
                        </a:rPr>
                        <a:t>别构调节</a:t>
                      </a:r>
                      <a:endParaRPr lang="zh-CN" altLang="en-US" sz="2800" b="0" dirty="0">
                        <a:latin typeface="微软雅黑" panose="020B0503020204020204" pitchFamily="34" charset="-122"/>
                        <a:ea typeface="微软雅黑" panose="020B0503020204020204" pitchFamily="34" charset="-122"/>
                      </a:endParaRPr>
                    </a:p>
                  </a:txBody>
                  <a:tcPr marL="91455" marR="91455" marT="45710" marB="45710" anchor="ctr">
                    <a:solidFill>
                      <a:schemeClr val="accent5">
                        <a:lumMod val="50000"/>
                      </a:schemeClr>
                    </a:solidFill>
                  </a:tcPr>
                </a:tc>
                <a:tc hMerge="1">
                  <a:tcPr/>
                </a:tc>
                <a:tc gridSpan="2">
                  <a:txBody>
                    <a:bodyPr/>
                    <a:lstStyle/>
                    <a:p>
                      <a:pPr algn="ctr"/>
                      <a:r>
                        <a:rPr lang="zh-CN" altLang="en-US" sz="2800" b="0" dirty="0">
                          <a:latin typeface="微软雅黑" panose="020B0503020204020204" pitchFamily="34" charset="-122"/>
                          <a:ea typeface="微软雅黑" panose="020B0503020204020204" pitchFamily="34" charset="-122"/>
                        </a:rPr>
                        <a:t>化学修饰调节</a:t>
                      </a:r>
                      <a:endParaRPr lang="zh-CN" altLang="en-US" sz="2800" b="0" dirty="0">
                        <a:latin typeface="微软雅黑" panose="020B0503020204020204" pitchFamily="34" charset="-122"/>
                        <a:ea typeface="微软雅黑" panose="020B0503020204020204" pitchFamily="34" charset="-122"/>
                      </a:endParaRPr>
                    </a:p>
                  </a:txBody>
                  <a:tcPr marL="91455" marR="91455" marT="45710" marB="45710" anchor="ctr">
                    <a:solidFill>
                      <a:schemeClr val="accent5">
                        <a:lumMod val="50000"/>
                      </a:schemeClr>
                    </a:solidFill>
                  </a:tcPr>
                </a:tc>
                <a:tc hMerge="1">
                  <a:tcPr/>
                </a:tc>
              </a:tr>
              <a:tr h="458763">
                <a:tc vMerge="1">
                  <a:tcPr/>
                </a:tc>
                <a:tc>
                  <a:txBody>
                    <a:bodyPr/>
                    <a:lstStyle/>
                    <a:p>
                      <a:pPr algn="ctr"/>
                      <a:r>
                        <a:rPr lang="zh-CN" altLang="en-US" sz="2200" dirty="0">
                          <a:latin typeface="微软雅黑" panose="020B0503020204020204" pitchFamily="34" charset="-122"/>
                          <a:ea typeface="微软雅黑" panose="020B0503020204020204" pitchFamily="34" charset="-122"/>
                        </a:rPr>
                        <a:t>别构激活剂</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solidFill>
                      <a:schemeClr val="accent1">
                        <a:lumMod val="40000"/>
                        <a:lumOff val="60000"/>
                      </a:schemeClr>
                    </a:solidFill>
                  </a:tcPr>
                </a:tc>
                <a:tc>
                  <a:txBody>
                    <a:bodyPr/>
                    <a:lstStyle/>
                    <a:p>
                      <a:pPr algn="ctr"/>
                      <a:r>
                        <a:rPr lang="zh-CN" altLang="en-US" sz="2200" dirty="0">
                          <a:latin typeface="微软雅黑" panose="020B0503020204020204" pitchFamily="34" charset="-122"/>
                          <a:ea typeface="微软雅黑" panose="020B0503020204020204" pitchFamily="34" charset="-122"/>
                        </a:rPr>
                        <a:t>别构抑制剂</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solidFill>
                      <a:schemeClr val="accent1">
                        <a:lumMod val="40000"/>
                        <a:lumOff val="60000"/>
                      </a:schemeClr>
                    </a:solidFill>
                  </a:tcPr>
                </a:tc>
                <a:tc>
                  <a:txBody>
                    <a:bodyPr/>
                    <a:lstStyle/>
                    <a:p>
                      <a:r>
                        <a:rPr lang="zh-CN" altLang="en-US" sz="2200" dirty="0">
                          <a:latin typeface="微软雅黑" panose="020B0503020204020204" pitchFamily="34" charset="-122"/>
                          <a:ea typeface="微软雅黑" panose="020B0503020204020204" pitchFamily="34" charset="-122"/>
                        </a:rPr>
                        <a:t>磷酸化</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solidFill>
                      <a:schemeClr val="accent1">
                        <a:lumMod val="40000"/>
                        <a:lumOff val="60000"/>
                      </a:schemeClr>
                    </a:solidFill>
                  </a:tcPr>
                </a:tc>
                <a:tc>
                  <a:txBody>
                    <a:bodyPr/>
                    <a:lstStyle/>
                    <a:p>
                      <a:r>
                        <a:rPr lang="zh-CN" altLang="en-US" sz="2200" dirty="0">
                          <a:latin typeface="微软雅黑" panose="020B0503020204020204" pitchFamily="34" charset="-122"/>
                          <a:ea typeface="微软雅黑" panose="020B0503020204020204" pitchFamily="34" charset="-122"/>
                        </a:rPr>
                        <a:t>去磷酸化</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solidFill>
                      <a:schemeClr val="accent1">
                        <a:lumMod val="40000"/>
                        <a:lumOff val="60000"/>
                      </a:schemeClr>
                    </a:solidFill>
                  </a:tcPr>
                </a:tc>
              </a:tr>
              <a:tr h="1432540">
                <a:tc>
                  <a:txBody>
                    <a:bodyPr/>
                    <a:lstStyle/>
                    <a:p>
                      <a:r>
                        <a:rPr lang="zh-CN" altLang="en-US" sz="2200" dirty="0">
                          <a:solidFill>
                            <a:srgbClr val="FF0000"/>
                          </a:solidFill>
                          <a:latin typeface="微软雅黑" panose="020B0503020204020204" pitchFamily="34" charset="-122"/>
                          <a:ea typeface="微软雅黑" panose="020B0503020204020204" pitchFamily="34" charset="-122"/>
                        </a:rPr>
                        <a:t>磷酸果糖激酶</a:t>
                      </a:r>
                      <a:r>
                        <a:rPr lang="en-US" altLang="zh-CN" sz="2200" dirty="0">
                          <a:solidFill>
                            <a:srgbClr val="FF0000"/>
                          </a:solidFill>
                          <a:latin typeface="微软雅黑" panose="020B0503020204020204" pitchFamily="34" charset="-122"/>
                          <a:ea typeface="微软雅黑" panose="020B0503020204020204" pitchFamily="34" charset="-122"/>
                        </a:rPr>
                        <a:t>-1(PFK-1)</a:t>
                      </a:r>
                      <a:endParaRPr lang="zh-CN" altLang="en-US" sz="2200" dirty="0">
                        <a:solidFill>
                          <a:srgbClr val="FF0000"/>
                        </a:solidFill>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en-US" altLang="zh-CN" sz="2200" dirty="0">
                          <a:latin typeface="微软雅黑" panose="020B0503020204020204" pitchFamily="34" charset="-122"/>
                          <a:ea typeface="微软雅黑" panose="020B0503020204020204" pitchFamily="34" charset="-122"/>
                        </a:rPr>
                        <a:t>AMP</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ADP</a:t>
                      </a:r>
                      <a:r>
                        <a:rPr lang="zh-CN" altLang="en-US" sz="2200" dirty="0">
                          <a:latin typeface="微软雅黑" panose="020B0503020204020204" pitchFamily="34" charset="-122"/>
                          <a:ea typeface="微软雅黑" panose="020B0503020204020204" pitchFamily="34" charset="-122"/>
                        </a:rPr>
                        <a:t>、</a:t>
                      </a:r>
                      <a:r>
                        <a:rPr lang="en-US" altLang="zh-CN" sz="2200" dirty="0">
                          <a:solidFill>
                            <a:srgbClr val="FF0000"/>
                          </a:solidFill>
                          <a:latin typeface="微软雅黑" panose="020B0503020204020204" pitchFamily="34" charset="-122"/>
                          <a:ea typeface="微软雅黑" panose="020B0503020204020204" pitchFamily="34" charset="-122"/>
                        </a:rPr>
                        <a:t>1</a:t>
                      </a:r>
                      <a:r>
                        <a:rPr lang="zh-CN" altLang="en-US" sz="2200" dirty="0">
                          <a:solidFill>
                            <a:srgbClr val="FF0000"/>
                          </a:solidFill>
                          <a:latin typeface="微软雅黑" panose="020B0503020204020204" pitchFamily="34" charset="-122"/>
                          <a:ea typeface="微软雅黑" panose="020B0503020204020204" pitchFamily="34" charset="-122"/>
                        </a:rPr>
                        <a:t>，</a:t>
                      </a:r>
                      <a:r>
                        <a:rPr lang="en-US" altLang="zh-CN" sz="2200" dirty="0">
                          <a:solidFill>
                            <a:srgbClr val="FF0000"/>
                          </a:solidFill>
                          <a:latin typeface="微软雅黑" panose="020B0503020204020204" pitchFamily="34" charset="-122"/>
                          <a:ea typeface="微软雅黑" panose="020B0503020204020204" pitchFamily="34" charset="-122"/>
                        </a:rPr>
                        <a:t>6-</a:t>
                      </a:r>
                      <a:r>
                        <a:rPr lang="zh-CN" altLang="en-US" sz="2200" dirty="0">
                          <a:solidFill>
                            <a:srgbClr val="FF0000"/>
                          </a:solidFill>
                          <a:latin typeface="微软雅黑" panose="020B0503020204020204" pitchFamily="34" charset="-122"/>
                          <a:ea typeface="微软雅黑" panose="020B0503020204020204" pitchFamily="34" charset="-122"/>
                        </a:rPr>
                        <a:t>二磷酸果糖（正反馈）</a:t>
                      </a:r>
                      <a:r>
                        <a:rPr lang="zh-CN" altLang="en-US" sz="2200" dirty="0">
                          <a:latin typeface="微软雅黑" panose="020B0503020204020204" pitchFamily="34" charset="-122"/>
                          <a:ea typeface="微软雅黑" panose="020B0503020204020204" pitchFamily="34" charset="-122"/>
                        </a:rPr>
                        <a:t>，</a:t>
                      </a:r>
                      <a:r>
                        <a:rPr lang="zh-CN" altLang="en-US" sz="2200" dirty="0">
                          <a:solidFill>
                            <a:srgbClr val="FF0000"/>
                          </a:solidFill>
                          <a:latin typeface="微软雅黑" panose="020B0503020204020204" pitchFamily="34" charset="-122"/>
                          <a:ea typeface="微软雅黑" panose="020B0503020204020204" pitchFamily="34" charset="-122"/>
                        </a:rPr>
                        <a:t>果糖</a:t>
                      </a:r>
                      <a:r>
                        <a:rPr lang="en-US" altLang="zh-CN" sz="2200" dirty="0">
                          <a:solidFill>
                            <a:srgbClr val="FF0000"/>
                          </a:solidFill>
                          <a:latin typeface="微软雅黑" panose="020B0503020204020204" pitchFamily="34" charset="-122"/>
                          <a:ea typeface="微软雅黑" panose="020B0503020204020204" pitchFamily="34" charset="-122"/>
                        </a:rPr>
                        <a:t>-2</a:t>
                      </a:r>
                      <a:r>
                        <a:rPr lang="zh-CN" altLang="en-US" sz="2200" dirty="0">
                          <a:solidFill>
                            <a:srgbClr val="FF0000"/>
                          </a:solidFill>
                          <a:latin typeface="微软雅黑" panose="020B0503020204020204" pitchFamily="34" charset="-122"/>
                          <a:ea typeface="微软雅黑" panose="020B0503020204020204" pitchFamily="34" charset="-122"/>
                        </a:rPr>
                        <a:t>，</a:t>
                      </a:r>
                      <a:r>
                        <a:rPr lang="en-US" altLang="zh-CN" sz="2200" dirty="0">
                          <a:solidFill>
                            <a:srgbClr val="FF0000"/>
                          </a:solidFill>
                          <a:latin typeface="微软雅黑" panose="020B0503020204020204" pitchFamily="34" charset="-122"/>
                          <a:ea typeface="微软雅黑" panose="020B0503020204020204" pitchFamily="34" charset="-122"/>
                        </a:rPr>
                        <a:t>6-</a:t>
                      </a:r>
                      <a:r>
                        <a:rPr lang="zh-CN" altLang="en-US" sz="2200" dirty="0">
                          <a:solidFill>
                            <a:srgbClr val="FF0000"/>
                          </a:solidFill>
                          <a:latin typeface="微软雅黑" panose="020B0503020204020204" pitchFamily="34" charset="-122"/>
                          <a:ea typeface="微软雅黑" panose="020B0503020204020204" pitchFamily="34" charset="-122"/>
                        </a:rPr>
                        <a:t>二磷酸</a:t>
                      </a:r>
                      <a:endParaRPr lang="zh-CN" altLang="en-US" sz="2200" dirty="0">
                        <a:solidFill>
                          <a:srgbClr val="FF0000"/>
                        </a:solidFill>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zh-CN" altLang="en-US" sz="2200" dirty="0">
                          <a:latin typeface="微软雅黑" panose="020B0503020204020204" pitchFamily="34" charset="-122"/>
                          <a:ea typeface="微软雅黑" panose="020B0503020204020204" pitchFamily="34" charset="-122"/>
                        </a:rPr>
                        <a:t>柠檬酸、高浓度</a:t>
                      </a:r>
                      <a:r>
                        <a:rPr lang="en-US" altLang="zh-CN" sz="2200" dirty="0">
                          <a:latin typeface="微软雅黑" panose="020B0503020204020204" pitchFamily="34" charset="-122"/>
                          <a:ea typeface="微软雅黑" panose="020B0503020204020204" pitchFamily="34" charset="-122"/>
                        </a:rPr>
                        <a:t>ATP</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r>
              <a:tr h="811653">
                <a:tc>
                  <a:txBody>
                    <a:bodyPr/>
                    <a:lstStyle/>
                    <a:p>
                      <a:r>
                        <a:rPr lang="zh-CN" altLang="en-US" sz="2200" dirty="0">
                          <a:latin typeface="微软雅黑" panose="020B0503020204020204" pitchFamily="34" charset="-122"/>
                          <a:ea typeface="微软雅黑" panose="020B0503020204020204" pitchFamily="34" charset="-122"/>
                        </a:rPr>
                        <a:t>丙酮酸激酶</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zh-CN" altLang="en-US" sz="2400" dirty="0">
                          <a:solidFill>
                            <a:srgbClr val="FF0000"/>
                          </a:solidFill>
                          <a:latin typeface="微软雅黑" panose="020B0503020204020204" pitchFamily="34" charset="-122"/>
                          <a:ea typeface="微软雅黑" panose="020B0503020204020204" pitchFamily="34" charset="-122"/>
                        </a:rPr>
                        <a:t>果糖</a:t>
                      </a:r>
                      <a:r>
                        <a:rPr lang="en-US" altLang="zh-CN" sz="2400" dirty="0">
                          <a:solidFill>
                            <a:srgbClr val="FF0000"/>
                          </a:solidFill>
                          <a:latin typeface="微软雅黑" panose="020B0503020204020204" pitchFamily="34" charset="-122"/>
                          <a:ea typeface="微软雅黑" panose="020B0503020204020204" pitchFamily="34" charset="-122"/>
                        </a:rPr>
                        <a:t>-1</a:t>
                      </a: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6-</a:t>
                      </a:r>
                      <a:r>
                        <a:rPr lang="zh-CN" altLang="en-US" sz="2400" dirty="0">
                          <a:solidFill>
                            <a:srgbClr val="FF0000"/>
                          </a:solidFill>
                          <a:latin typeface="微软雅黑" panose="020B0503020204020204" pitchFamily="34" charset="-122"/>
                          <a:ea typeface="微软雅黑" panose="020B0503020204020204" pitchFamily="34" charset="-122"/>
                        </a:rPr>
                        <a:t>二磷酸</a:t>
                      </a:r>
                      <a:endParaRPr lang="zh-CN" altLang="en-US" sz="2400" dirty="0">
                        <a:solidFill>
                          <a:srgbClr val="FF0000"/>
                        </a:solidFill>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en-US" altLang="zh-CN" sz="2400" dirty="0">
                          <a:latin typeface="微软雅黑" panose="020B0503020204020204" pitchFamily="34" charset="-122"/>
                          <a:ea typeface="微软雅黑" panose="020B0503020204020204" pitchFamily="34" charset="-122"/>
                        </a:rPr>
                        <a:t>ATP</a:t>
                      </a:r>
                      <a:r>
                        <a:rPr lang="zh-CN" altLang="en-US" sz="2400" dirty="0">
                          <a:latin typeface="微软雅黑" panose="020B0503020204020204" pitchFamily="34" charset="-122"/>
                          <a:ea typeface="微软雅黑" panose="020B0503020204020204" pitchFamily="34" charset="-122"/>
                        </a:rPr>
                        <a:t>、丙氨酸</a:t>
                      </a:r>
                      <a:endParaRPr lang="zh-CN" altLang="en-US" sz="24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zh-CN" altLang="en-US" sz="2200" dirty="0">
                          <a:latin typeface="微软雅黑" panose="020B0503020204020204" pitchFamily="34" charset="-122"/>
                          <a:ea typeface="微软雅黑" panose="020B0503020204020204" pitchFamily="34" charset="-122"/>
                        </a:rPr>
                        <a:t>无</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低活性</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zh-CN" altLang="en-US" sz="2200" dirty="0">
                          <a:latin typeface="微软雅黑" panose="020B0503020204020204" pitchFamily="34" charset="-122"/>
                          <a:ea typeface="微软雅黑" panose="020B0503020204020204" pitchFamily="34" charset="-122"/>
                        </a:rPr>
                        <a:t>有</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高活性</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r>
              <a:tr h="680694">
                <a:tc>
                  <a:txBody>
                    <a:bodyPr/>
                    <a:lstStyle/>
                    <a:p>
                      <a:r>
                        <a:rPr lang="zh-CN" altLang="en-US" sz="2200" dirty="0">
                          <a:latin typeface="微软雅黑" panose="020B0503020204020204" pitchFamily="34" charset="-122"/>
                          <a:ea typeface="微软雅黑" panose="020B0503020204020204" pitchFamily="34" charset="-122"/>
                        </a:rPr>
                        <a:t>己糖激酶</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zh-CN" altLang="en-US" sz="2400" dirty="0">
                          <a:solidFill>
                            <a:srgbClr val="0000CC"/>
                          </a:solidFill>
                          <a:latin typeface="微软雅黑" panose="020B0503020204020204" pitchFamily="34" charset="-122"/>
                          <a:ea typeface="微软雅黑" panose="020B0503020204020204" pitchFamily="34" charset="-122"/>
                        </a:rPr>
                        <a:t>葡萄糖</a:t>
                      </a:r>
                      <a:r>
                        <a:rPr lang="en-US" altLang="zh-CN" sz="2400" dirty="0">
                          <a:solidFill>
                            <a:srgbClr val="0000CC"/>
                          </a:solidFill>
                          <a:latin typeface="微软雅黑" panose="020B0503020204020204" pitchFamily="34" charset="-122"/>
                          <a:ea typeface="微软雅黑" panose="020B0503020204020204" pitchFamily="34" charset="-122"/>
                        </a:rPr>
                        <a:t>-6-</a:t>
                      </a:r>
                      <a:r>
                        <a:rPr lang="zh-CN" altLang="en-US" sz="2400" dirty="0">
                          <a:solidFill>
                            <a:srgbClr val="0000CC"/>
                          </a:solidFill>
                          <a:latin typeface="微软雅黑" panose="020B0503020204020204" pitchFamily="34" charset="-122"/>
                          <a:ea typeface="微软雅黑" panose="020B0503020204020204" pitchFamily="34" charset="-122"/>
                        </a:rPr>
                        <a:t>磷酸</a:t>
                      </a:r>
                      <a:endParaRPr lang="zh-CN" altLang="en-US" sz="2400" dirty="0">
                        <a:solidFill>
                          <a:srgbClr val="0000CC"/>
                        </a:solidFill>
                        <a:latin typeface="微软雅黑" panose="020B0503020204020204" pitchFamily="34" charset="-122"/>
                        <a:ea typeface="微软雅黑" panose="020B0503020204020204" pitchFamily="34" charset="-122"/>
                      </a:endParaRPr>
                    </a:p>
                  </a:txBody>
                  <a:tcPr marL="91455" marR="91455" marT="45710" marB="45710" anchor="ctr"/>
                </a:tc>
                <a:tc>
                  <a:txBody>
                    <a:bodyPr/>
                    <a:lstStyle/>
                    <a:p>
                      <a:endParaRPr lang="zh-CN" altLang="en-US" sz="2200">
                        <a:latin typeface="微软雅黑" panose="020B0503020204020204" pitchFamily="34" charset="-122"/>
                        <a:ea typeface="微软雅黑" panose="020B0503020204020204" pitchFamily="34" charset="-122"/>
                      </a:endParaRPr>
                    </a:p>
                  </a:txBody>
                  <a:tcPr marL="91455" marR="91455" marT="45710" marB="45710" anchor="ctr"/>
                </a:tc>
                <a:tc>
                  <a:txBody>
                    <a:bodyPr/>
                    <a:lstStyle/>
                    <a:p>
                      <a:endParaRPr lang="zh-CN" altLang="en-US" sz="2200">
                        <a:latin typeface="微软雅黑" panose="020B0503020204020204" pitchFamily="34" charset="-122"/>
                        <a:ea typeface="微软雅黑" panose="020B0503020204020204" pitchFamily="34" charset="-122"/>
                      </a:endParaRPr>
                    </a:p>
                  </a:txBody>
                  <a:tcPr marL="91455" marR="91455" marT="45710" marB="45710" anchor="ctr"/>
                </a:tc>
              </a:tr>
              <a:tr h="680694">
                <a:tc>
                  <a:txBody>
                    <a:bodyPr/>
                    <a:lstStyle/>
                    <a:p>
                      <a:r>
                        <a:rPr lang="zh-CN" altLang="en-US" sz="2200" dirty="0">
                          <a:latin typeface="微软雅黑" panose="020B0503020204020204" pitchFamily="34" charset="-122"/>
                          <a:ea typeface="微软雅黑" panose="020B0503020204020204" pitchFamily="34" charset="-122"/>
                        </a:rPr>
                        <a:t>葡萄糖激酶</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a:txBody>
                    <a:bodyPr/>
                    <a:lstStyle/>
                    <a:p>
                      <a:r>
                        <a:rPr lang="zh-CN" altLang="en-US" sz="2400" dirty="0">
                          <a:latin typeface="微软雅黑" panose="020B0503020204020204" pitchFamily="34" charset="-122"/>
                          <a:ea typeface="微软雅黑" panose="020B0503020204020204" pitchFamily="34" charset="-122"/>
                        </a:rPr>
                        <a:t>长链脂酰</a:t>
                      </a:r>
                      <a:r>
                        <a:rPr lang="en-US" altLang="zh-CN" sz="2400" dirty="0">
                          <a:latin typeface="微软雅黑" panose="020B0503020204020204" pitchFamily="34" charset="-122"/>
                          <a:ea typeface="微软雅黑" panose="020B0503020204020204" pitchFamily="34" charset="-122"/>
                        </a:rPr>
                        <a:t>CoA</a:t>
                      </a:r>
                      <a:endParaRPr lang="zh-CN" altLang="en-US" sz="2400" dirty="0">
                        <a:latin typeface="微软雅黑" panose="020B0503020204020204" pitchFamily="34" charset="-122"/>
                        <a:ea typeface="微软雅黑" panose="020B0503020204020204" pitchFamily="34" charset="-122"/>
                      </a:endParaRPr>
                    </a:p>
                  </a:txBody>
                  <a:tcPr marL="91455" marR="91455" marT="45710" marB="45710" anchor="ctr"/>
                </a:tc>
                <a:tc gridSpan="2">
                  <a:txBody>
                    <a:bodyPr/>
                    <a:lstStyle/>
                    <a:p>
                      <a:r>
                        <a:rPr lang="zh-CN" altLang="en-US" sz="2200" dirty="0">
                          <a:latin typeface="微软雅黑" panose="020B0503020204020204" pitchFamily="34" charset="-122"/>
                          <a:ea typeface="微软雅黑" panose="020B0503020204020204" pitchFamily="34" charset="-122"/>
                        </a:rPr>
                        <a:t>胰岛素促进其合成</a:t>
                      </a:r>
                      <a:endParaRPr lang="zh-CN" altLang="en-US" sz="2200" dirty="0">
                        <a:latin typeface="微软雅黑" panose="020B0503020204020204" pitchFamily="34" charset="-122"/>
                        <a:ea typeface="微软雅黑" panose="020B0503020204020204" pitchFamily="34" charset="-122"/>
                      </a:endParaRPr>
                    </a:p>
                  </a:txBody>
                  <a:tcPr marL="91455" marR="91455" marT="45710" marB="45710" anchor="ctr"/>
                </a:tc>
                <a:tc hMerge="1">
                  <a:tcPr/>
                </a:tc>
              </a:tr>
            </a:tbl>
          </a:graphicData>
        </a:graphic>
      </p:graphicFrame>
      <p:sp>
        <p:nvSpPr>
          <p:cNvPr id="4" name="Rectangle 15"/>
          <p:cNvSpPr txBox="1">
            <a:spLocks noChangeArrowheads="1"/>
          </p:cNvSpPr>
          <p:nvPr/>
        </p:nvSpPr>
        <p:spPr>
          <a:xfrm>
            <a:off x="1783801" y="581024"/>
            <a:ext cx="8064895" cy="700088"/>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eaLnBrk="1" hangingPunct="1">
              <a:buClr>
                <a:schemeClr val="tx1"/>
              </a:buClr>
              <a:buSzPct val="90000"/>
              <a:buFont typeface="Wingdings" panose="05000000000000000000" pitchFamily="2" charset="2"/>
              <a:buNone/>
              <a:defRPr/>
            </a:pPr>
            <a:r>
              <a:rPr lang="zh-CN" altLang="en-US" sz="3400" kern="0" dirty="0">
                <a:solidFill>
                  <a:srgbClr val="660033"/>
                </a:solidFill>
              </a:rPr>
              <a:t>二、糖酵解的代谢流量受三个关键酶调控</a:t>
            </a:r>
            <a:endParaRPr lang="zh-CN" altLang="en-US" sz="3400" kern="0" dirty="0">
              <a:solidFill>
                <a:srgbClr val="660033"/>
              </a:solidFill>
            </a:endParaRPr>
          </a:p>
        </p:txBody>
      </p:sp>
    </p:spTree>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Text Box 2"/>
          <p:cNvSpPr txBox="1">
            <a:spLocks noChangeArrowheads="1"/>
          </p:cNvSpPr>
          <p:nvPr/>
        </p:nvSpPr>
        <p:spPr bwMode="auto">
          <a:xfrm>
            <a:off x="3000375" y="2781301"/>
            <a:ext cx="1271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宋体" panose="02010600030101010101" pitchFamily="2" charset="-122"/>
              </a:rPr>
              <a:t>F-6-P  </a:t>
            </a:r>
            <a:endParaRPr kumimoji="1" lang="en-US" altLang="zh-CN" sz="2800">
              <a:latin typeface="Arial" panose="020B0604020202020204" pitchFamily="34" charset="0"/>
              <a:ea typeface="宋体" panose="02010600030101010101" pitchFamily="2" charset="-122"/>
            </a:endParaRPr>
          </a:p>
        </p:txBody>
      </p:sp>
      <p:sp>
        <p:nvSpPr>
          <p:cNvPr id="126979" name="Text Box 3"/>
          <p:cNvSpPr txBox="1">
            <a:spLocks noChangeArrowheads="1"/>
          </p:cNvSpPr>
          <p:nvPr/>
        </p:nvSpPr>
        <p:spPr bwMode="auto">
          <a:xfrm>
            <a:off x="2495550" y="6327776"/>
            <a:ext cx="1766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0000CC"/>
                </a:solidFill>
                <a:latin typeface="Arial" panose="020B0604020202020204" pitchFamily="34" charset="0"/>
                <a:ea typeface="宋体" panose="02010600030101010101" pitchFamily="2" charset="-122"/>
              </a:rPr>
              <a:t>F-1,6-2P  </a:t>
            </a:r>
            <a:endParaRPr kumimoji="1" lang="en-US" altLang="zh-CN" sz="2800">
              <a:solidFill>
                <a:srgbClr val="0000CC"/>
              </a:solidFill>
              <a:latin typeface="Arial" panose="020B0604020202020204" pitchFamily="34" charset="0"/>
              <a:ea typeface="宋体" panose="02010600030101010101" pitchFamily="2" charset="-122"/>
            </a:endParaRPr>
          </a:p>
        </p:txBody>
      </p:sp>
      <p:sp>
        <p:nvSpPr>
          <p:cNvPr id="126980" name="Text Box 4"/>
          <p:cNvSpPr txBox="1">
            <a:spLocks noChangeArrowheads="1"/>
          </p:cNvSpPr>
          <p:nvPr/>
        </p:nvSpPr>
        <p:spPr bwMode="auto">
          <a:xfrm>
            <a:off x="1774825" y="3598864"/>
            <a:ext cx="763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66"/>
                </a:solidFill>
                <a:latin typeface="Arial" panose="020B0604020202020204" pitchFamily="34" charset="0"/>
                <a:ea typeface="宋体" panose="02010600030101010101" pitchFamily="2" charset="-122"/>
              </a:rPr>
              <a:t>ATP</a:t>
            </a:r>
            <a:r>
              <a:rPr kumimoji="1" lang="en-US" altLang="zh-CN" sz="2000">
                <a:solidFill>
                  <a:srgbClr val="FF99FF"/>
                </a:solidFill>
                <a:latin typeface="Arial" panose="020B0604020202020204" pitchFamily="34" charset="0"/>
                <a:ea typeface="宋体" panose="02010600030101010101" pitchFamily="2" charset="-122"/>
              </a:rPr>
              <a:t> </a:t>
            </a:r>
            <a:endParaRPr kumimoji="1" lang="en-US" altLang="zh-CN" sz="2000">
              <a:solidFill>
                <a:srgbClr val="FF99FF"/>
              </a:solidFill>
              <a:latin typeface="Arial" panose="020B0604020202020204" pitchFamily="34" charset="0"/>
              <a:ea typeface="宋体" panose="02010600030101010101" pitchFamily="2" charset="-122"/>
            </a:endParaRPr>
          </a:p>
        </p:txBody>
      </p:sp>
      <p:sp>
        <p:nvSpPr>
          <p:cNvPr id="126981" name="Text Box 5"/>
          <p:cNvSpPr txBox="1">
            <a:spLocks noChangeArrowheads="1"/>
          </p:cNvSpPr>
          <p:nvPr/>
        </p:nvSpPr>
        <p:spPr bwMode="auto">
          <a:xfrm>
            <a:off x="1774826" y="5399089"/>
            <a:ext cx="862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ADP  </a:t>
            </a:r>
            <a:endParaRPr kumimoji="1" lang="en-US" altLang="zh-CN" sz="2000">
              <a:latin typeface="Arial" panose="020B0604020202020204" pitchFamily="34" charset="0"/>
              <a:ea typeface="宋体" panose="02010600030101010101" pitchFamily="2" charset="-122"/>
            </a:endParaRPr>
          </a:p>
        </p:txBody>
      </p:sp>
      <p:sp>
        <p:nvSpPr>
          <p:cNvPr id="126982" name="Text Box 6"/>
          <p:cNvSpPr txBox="1">
            <a:spLocks noChangeArrowheads="1"/>
          </p:cNvSpPr>
          <p:nvPr/>
        </p:nvSpPr>
        <p:spPr bwMode="auto">
          <a:xfrm>
            <a:off x="3503613" y="5207001"/>
            <a:ext cx="1212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FF0000"/>
                </a:solidFill>
                <a:latin typeface="Arial" panose="020B0604020202020204" pitchFamily="34" charset="0"/>
                <a:ea typeface="宋体" panose="02010600030101010101" pitchFamily="2" charset="-122"/>
              </a:rPr>
              <a:t>PFK-1</a:t>
            </a:r>
            <a:endParaRPr kumimoji="1" lang="en-US" altLang="zh-CN" sz="2800">
              <a:solidFill>
                <a:srgbClr val="FF0000"/>
              </a:solidFill>
              <a:latin typeface="Arial" panose="020B0604020202020204" pitchFamily="34" charset="0"/>
              <a:ea typeface="宋体" panose="02010600030101010101" pitchFamily="2" charset="-122"/>
            </a:endParaRPr>
          </a:p>
        </p:txBody>
      </p:sp>
      <p:sp>
        <p:nvSpPr>
          <p:cNvPr id="126983" name="Line 7"/>
          <p:cNvSpPr>
            <a:spLocks noChangeShapeType="1"/>
          </p:cNvSpPr>
          <p:nvPr/>
        </p:nvSpPr>
        <p:spPr bwMode="auto">
          <a:xfrm>
            <a:off x="3432175" y="3284539"/>
            <a:ext cx="0" cy="302418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6984" name="Arc 8"/>
          <p:cNvSpPr/>
          <p:nvPr/>
        </p:nvSpPr>
        <p:spPr bwMode="auto">
          <a:xfrm>
            <a:off x="2603501" y="3792538"/>
            <a:ext cx="809625" cy="1827212"/>
          </a:xfrm>
          <a:custGeom>
            <a:avLst/>
            <a:gdLst>
              <a:gd name="T0" fmla="*/ 2147483646 w 22621"/>
              <a:gd name="T1" fmla="*/ 0 h 43193"/>
              <a:gd name="T2" fmla="*/ 0 w 22621"/>
              <a:gd name="T3" fmla="*/ 2147483646 h 43193"/>
              <a:gd name="T4" fmla="*/ 2147483646 w 22621"/>
              <a:gd name="T5" fmla="*/ 2147483646 h 43193"/>
              <a:gd name="T6" fmla="*/ 0 60000 65536"/>
              <a:gd name="T7" fmla="*/ 0 60000 65536"/>
              <a:gd name="T8" fmla="*/ 0 60000 65536"/>
              <a:gd name="T9" fmla="*/ 0 w 22621"/>
              <a:gd name="T10" fmla="*/ 0 h 43193"/>
              <a:gd name="T11" fmla="*/ 22621 w 22621"/>
              <a:gd name="T12" fmla="*/ 43193 h 43193"/>
            </a:gdLst>
            <a:ahLst/>
            <a:cxnLst>
              <a:cxn ang="T6">
                <a:pos x="T0" y="T1"/>
              </a:cxn>
              <a:cxn ang="T7">
                <a:pos x="T2" y="T3"/>
              </a:cxn>
              <a:cxn ang="T8">
                <a:pos x="T4" y="T5"/>
              </a:cxn>
            </a:cxnLst>
            <a:rect l="T9" t="T10" r="T11" b="T12"/>
            <a:pathLst>
              <a:path w="22621" h="43193" fill="none" extrusionOk="0">
                <a:moveTo>
                  <a:pt x="1552" y="-1"/>
                </a:moveTo>
                <a:cubicBezTo>
                  <a:pt x="13270" y="287"/>
                  <a:pt x="22621" y="9870"/>
                  <a:pt x="22621" y="21593"/>
                </a:cubicBezTo>
                <a:cubicBezTo>
                  <a:pt x="22621" y="33522"/>
                  <a:pt x="12950" y="43193"/>
                  <a:pt x="1021" y="43193"/>
                </a:cubicBezTo>
                <a:cubicBezTo>
                  <a:pt x="680" y="43193"/>
                  <a:pt x="340" y="43184"/>
                  <a:pt x="0" y="43168"/>
                </a:cubicBezTo>
              </a:path>
              <a:path w="22621" h="43193" stroke="0" extrusionOk="0">
                <a:moveTo>
                  <a:pt x="1552" y="-1"/>
                </a:moveTo>
                <a:cubicBezTo>
                  <a:pt x="13270" y="287"/>
                  <a:pt x="22621" y="9870"/>
                  <a:pt x="22621" y="21593"/>
                </a:cubicBezTo>
                <a:cubicBezTo>
                  <a:pt x="22621" y="33522"/>
                  <a:pt x="12950" y="43193"/>
                  <a:pt x="1021" y="43193"/>
                </a:cubicBezTo>
                <a:cubicBezTo>
                  <a:pt x="680" y="43193"/>
                  <a:pt x="340" y="43184"/>
                  <a:pt x="0" y="43168"/>
                </a:cubicBezTo>
                <a:lnTo>
                  <a:pt x="1021" y="21593"/>
                </a:lnTo>
                <a:lnTo>
                  <a:pt x="1552" y="-1"/>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8969" name="AutoShape 9"/>
          <p:cNvSpPr>
            <a:spLocks noChangeArrowheads="1"/>
          </p:cNvSpPr>
          <p:nvPr/>
        </p:nvSpPr>
        <p:spPr bwMode="auto">
          <a:xfrm>
            <a:off x="3575051" y="1052513"/>
            <a:ext cx="6697663" cy="1670050"/>
          </a:xfrm>
          <a:prstGeom prst="curvedDownArrow">
            <a:avLst>
              <a:gd name="adj1" fmla="val 5236"/>
              <a:gd name="adj2" fmla="val 33940"/>
              <a:gd name="adj3" fmla="val 12356"/>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68970" name="Rectangle 10"/>
          <p:cNvSpPr>
            <a:spLocks noChangeArrowheads="1"/>
          </p:cNvSpPr>
          <p:nvPr/>
        </p:nvSpPr>
        <p:spPr bwMode="auto">
          <a:xfrm>
            <a:off x="6872289" y="2435226"/>
            <a:ext cx="1787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磷蛋白磷酸酶 </a:t>
            </a:r>
            <a:endParaRPr kumimoji="1" lang="zh-CN" altLang="en-US" sz="2000">
              <a:latin typeface="Arial" panose="020B0604020202020204" pitchFamily="34" charset="0"/>
            </a:endParaRPr>
          </a:p>
        </p:txBody>
      </p:sp>
      <p:grpSp>
        <p:nvGrpSpPr>
          <p:cNvPr id="2" name="Group 11"/>
          <p:cNvGrpSpPr/>
          <p:nvPr/>
        </p:nvGrpSpPr>
        <p:grpSpPr bwMode="auto">
          <a:xfrm>
            <a:off x="8112125" y="1628775"/>
            <a:ext cx="1360488" cy="2592388"/>
            <a:chOff x="4150" y="1026"/>
            <a:chExt cx="857" cy="1633"/>
          </a:xfrm>
        </p:grpSpPr>
        <p:sp>
          <p:nvSpPr>
            <p:cNvPr id="127061" name="AutoShape 12"/>
            <p:cNvSpPr>
              <a:spLocks noChangeArrowheads="1"/>
            </p:cNvSpPr>
            <p:nvPr/>
          </p:nvSpPr>
          <p:spPr bwMode="auto">
            <a:xfrm rot="10800000">
              <a:off x="4150" y="1026"/>
              <a:ext cx="318" cy="1633"/>
            </a:xfrm>
            <a:prstGeom prst="curvedRightArrow">
              <a:avLst>
                <a:gd name="adj1" fmla="val 36541"/>
                <a:gd name="adj2" fmla="val 139531"/>
                <a:gd name="adj3" fmla="val 33333"/>
              </a:avLst>
            </a:prstGeom>
            <a:solidFill>
              <a:srgbClr val="CCFFCC"/>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27062" name="Line 13"/>
            <p:cNvSpPr>
              <a:spLocks noChangeShapeType="1"/>
            </p:cNvSpPr>
            <p:nvPr/>
          </p:nvSpPr>
          <p:spPr bwMode="auto">
            <a:xfrm flipV="1">
              <a:off x="4377" y="2251"/>
              <a:ext cx="227" cy="13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63" name="Text Box 14"/>
            <p:cNvSpPr txBox="1">
              <a:spLocks noChangeArrowheads="1"/>
            </p:cNvSpPr>
            <p:nvPr/>
          </p:nvSpPr>
          <p:spPr bwMode="auto">
            <a:xfrm>
              <a:off x="4604" y="2147"/>
              <a:ext cx="4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Pi  </a:t>
              </a:r>
              <a:endParaRPr kumimoji="1" lang="en-US" altLang="zh-CN" sz="2400">
                <a:latin typeface="Arial" panose="020B0604020202020204" pitchFamily="34" charset="0"/>
                <a:ea typeface="宋体" panose="02010600030101010101" pitchFamily="2" charset="-122"/>
              </a:endParaRPr>
            </a:p>
          </p:txBody>
        </p:sp>
      </p:grpSp>
      <p:sp>
        <p:nvSpPr>
          <p:cNvPr id="168975" name="Text Box 15"/>
          <p:cNvSpPr txBox="1">
            <a:spLocks noChangeArrowheads="1"/>
          </p:cNvSpPr>
          <p:nvPr/>
        </p:nvSpPr>
        <p:spPr bwMode="auto">
          <a:xfrm>
            <a:off x="5016501" y="2832101"/>
            <a:ext cx="30591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PKA</a:t>
            </a:r>
            <a:r>
              <a:rPr kumimoji="1" lang="zh-CN" altLang="en-US" sz="1800">
                <a:latin typeface="Arial" panose="020B0604020202020204" pitchFamily="34" charset="0"/>
                <a:ea typeface="宋体" panose="02010600030101010101" pitchFamily="2" charset="-122"/>
              </a:rPr>
              <a:t>（</a:t>
            </a:r>
            <a:r>
              <a:rPr kumimoji="1" lang="en-US" altLang="zh-CN" sz="1800">
                <a:latin typeface="Arial" panose="020B0604020202020204" pitchFamily="34" charset="0"/>
                <a:ea typeface="宋体" panose="02010600030101010101" pitchFamily="2" charset="-122"/>
              </a:rPr>
              <a:t>protein kinase A)  </a:t>
            </a:r>
            <a:endParaRPr kumimoji="1" lang="en-US" altLang="zh-CN" sz="1800">
              <a:latin typeface="Arial" panose="020B0604020202020204" pitchFamily="34" charset="0"/>
              <a:ea typeface="宋体" panose="02010600030101010101" pitchFamily="2" charset="-122"/>
            </a:endParaRPr>
          </a:p>
        </p:txBody>
      </p:sp>
      <p:grpSp>
        <p:nvGrpSpPr>
          <p:cNvPr id="3" name="Group 16"/>
          <p:cNvGrpSpPr/>
          <p:nvPr/>
        </p:nvGrpSpPr>
        <p:grpSpPr bwMode="auto">
          <a:xfrm>
            <a:off x="3935414" y="1773239"/>
            <a:ext cx="1512887" cy="2592387"/>
            <a:chOff x="1519" y="1117"/>
            <a:chExt cx="953" cy="1633"/>
          </a:xfrm>
        </p:grpSpPr>
        <p:sp>
          <p:nvSpPr>
            <p:cNvPr id="127056" name="AutoShape 17"/>
            <p:cNvSpPr>
              <a:spLocks noChangeArrowheads="1"/>
            </p:cNvSpPr>
            <p:nvPr/>
          </p:nvSpPr>
          <p:spPr bwMode="auto">
            <a:xfrm>
              <a:off x="2154" y="1117"/>
              <a:ext cx="318" cy="1633"/>
            </a:xfrm>
            <a:prstGeom prst="curvedRightArrow">
              <a:avLst>
                <a:gd name="adj1" fmla="val 36541"/>
                <a:gd name="adj2" fmla="val 139531"/>
                <a:gd name="adj3" fmla="val 33333"/>
              </a:avLst>
            </a:prstGeom>
            <a:solidFill>
              <a:srgbClr val="CCFFCC"/>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127057" name="Group 18"/>
            <p:cNvGrpSpPr/>
            <p:nvPr/>
          </p:nvGrpSpPr>
          <p:grpSpPr bwMode="auto">
            <a:xfrm>
              <a:off x="1519" y="1421"/>
              <a:ext cx="635" cy="1150"/>
              <a:chOff x="1519" y="1421"/>
              <a:chExt cx="635" cy="1150"/>
            </a:xfrm>
          </p:grpSpPr>
          <p:sp>
            <p:nvSpPr>
              <p:cNvPr id="127058" name="Text Box 19"/>
              <p:cNvSpPr txBox="1">
                <a:spLocks noChangeArrowheads="1"/>
              </p:cNvSpPr>
              <p:nvPr/>
            </p:nvSpPr>
            <p:spPr bwMode="auto">
              <a:xfrm>
                <a:off x="1519" y="1421"/>
                <a:ext cx="5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solidFill>
                      <a:srgbClr val="000066"/>
                    </a:solidFill>
                    <a:latin typeface="Arial" panose="020B0604020202020204" pitchFamily="34" charset="0"/>
                    <a:ea typeface="宋体" panose="02010600030101010101" pitchFamily="2" charset="-122"/>
                  </a:rPr>
                  <a:t>ATP</a:t>
                </a:r>
                <a:r>
                  <a:rPr kumimoji="1" lang="en-US" altLang="zh-CN" sz="2400">
                    <a:solidFill>
                      <a:srgbClr val="FF99FF"/>
                    </a:solidFill>
                    <a:latin typeface="Arial" panose="020B0604020202020204" pitchFamily="34" charset="0"/>
                    <a:ea typeface="宋体" panose="02010600030101010101" pitchFamily="2" charset="-122"/>
                  </a:rPr>
                  <a:t> </a:t>
                </a:r>
                <a:endParaRPr kumimoji="1" lang="en-US" altLang="zh-CN" sz="2400">
                  <a:solidFill>
                    <a:srgbClr val="FF99FF"/>
                  </a:solidFill>
                  <a:latin typeface="Arial" panose="020B0604020202020204" pitchFamily="34" charset="0"/>
                  <a:ea typeface="宋体" panose="02010600030101010101" pitchFamily="2" charset="-122"/>
                </a:endParaRPr>
              </a:p>
            </p:txBody>
          </p:sp>
          <p:sp>
            <p:nvSpPr>
              <p:cNvPr id="127059" name="Text Box 20"/>
              <p:cNvSpPr txBox="1">
                <a:spLocks noChangeArrowheads="1"/>
              </p:cNvSpPr>
              <p:nvPr/>
            </p:nvSpPr>
            <p:spPr bwMode="auto">
              <a:xfrm>
                <a:off x="1519" y="2283"/>
                <a:ext cx="6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宋体" panose="02010600030101010101" pitchFamily="2" charset="-122"/>
                  </a:rPr>
                  <a:t>ADP  </a:t>
                </a:r>
                <a:endParaRPr kumimoji="1" lang="en-US" altLang="zh-CN" sz="2400">
                  <a:latin typeface="Arial" panose="020B0604020202020204" pitchFamily="34" charset="0"/>
                  <a:ea typeface="宋体" panose="02010600030101010101" pitchFamily="2" charset="-122"/>
                </a:endParaRPr>
              </a:p>
            </p:txBody>
          </p:sp>
          <p:sp>
            <p:nvSpPr>
              <p:cNvPr id="127060" name="Arc 21"/>
              <p:cNvSpPr/>
              <p:nvPr/>
            </p:nvSpPr>
            <p:spPr bwMode="auto">
              <a:xfrm>
                <a:off x="2018" y="1525"/>
                <a:ext cx="136" cy="817"/>
              </a:xfrm>
              <a:custGeom>
                <a:avLst/>
                <a:gdLst>
                  <a:gd name="T0" fmla="*/ 0 w 22621"/>
                  <a:gd name="T1" fmla="*/ 0 h 43193"/>
                  <a:gd name="T2" fmla="*/ 0 w 22621"/>
                  <a:gd name="T3" fmla="*/ 0 h 43193"/>
                  <a:gd name="T4" fmla="*/ 0 w 22621"/>
                  <a:gd name="T5" fmla="*/ 0 h 43193"/>
                  <a:gd name="T6" fmla="*/ 0 60000 65536"/>
                  <a:gd name="T7" fmla="*/ 0 60000 65536"/>
                  <a:gd name="T8" fmla="*/ 0 60000 65536"/>
                  <a:gd name="T9" fmla="*/ 0 w 22621"/>
                  <a:gd name="T10" fmla="*/ 0 h 43193"/>
                  <a:gd name="T11" fmla="*/ 22621 w 22621"/>
                  <a:gd name="T12" fmla="*/ 43193 h 43193"/>
                </a:gdLst>
                <a:ahLst/>
                <a:cxnLst>
                  <a:cxn ang="T6">
                    <a:pos x="T0" y="T1"/>
                  </a:cxn>
                  <a:cxn ang="T7">
                    <a:pos x="T2" y="T3"/>
                  </a:cxn>
                  <a:cxn ang="T8">
                    <a:pos x="T4" y="T5"/>
                  </a:cxn>
                </a:cxnLst>
                <a:rect l="T9" t="T10" r="T11" b="T12"/>
                <a:pathLst>
                  <a:path w="22621" h="43193" fill="none" extrusionOk="0">
                    <a:moveTo>
                      <a:pt x="1552" y="-1"/>
                    </a:moveTo>
                    <a:cubicBezTo>
                      <a:pt x="13270" y="287"/>
                      <a:pt x="22621" y="9870"/>
                      <a:pt x="22621" y="21593"/>
                    </a:cubicBezTo>
                    <a:cubicBezTo>
                      <a:pt x="22621" y="33522"/>
                      <a:pt x="12950" y="43193"/>
                      <a:pt x="1021" y="43193"/>
                    </a:cubicBezTo>
                    <a:cubicBezTo>
                      <a:pt x="680" y="43193"/>
                      <a:pt x="340" y="43184"/>
                      <a:pt x="0" y="43168"/>
                    </a:cubicBezTo>
                  </a:path>
                  <a:path w="22621" h="43193" stroke="0" extrusionOk="0">
                    <a:moveTo>
                      <a:pt x="1552" y="-1"/>
                    </a:moveTo>
                    <a:cubicBezTo>
                      <a:pt x="13270" y="287"/>
                      <a:pt x="22621" y="9870"/>
                      <a:pt x="22621" y="21593"/>
                    </a:cubicBezTo>
                    <a:cubicBezTo>
                      <a:pt x="22621" y="33522"/>
                      <a:pt x="12950" y="43193"/>
                      <a:pt x="1021" y="43193"/>
                    </a:cubicBezTo>
                    <a:cubicBezTo>
                      <a:pt x="680" y="43193"/>
                      <a:pt x="340" y="43184"/>
                      <a:pt x="0" y="43168"/>
                    </a:cubicBezTo>
                    <a:lnTo>
                      <a:pt x="1021" y="21593"/>
                    </a:lnTo>
                    <a:lnTo>
                      <a:pt x="1552" y="-1"/>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168983" name="AutoShape 23"/>
          <p:cNvSpPr>
            <a:spLocks noChangeArrowheads="1"/>
          </p:cNvSpPr>
          <p:nvPr/>
        </p:nvSpPr>
        <p:spPr bwMode="auto">
          <a:xfrm rot="10800000">
            <a:off x="3432175" y="3357563"/>
            <a:ext cx="6553200" cy="1655762"/>
          </a:xfrm>
          <a:prstGeom prst="curvedDownArrow">
            <a:avLst>
              <a:gd name="adj1" fmla="val 5955"/>
              <a:gd name="adj2" fmla="val 37984"/>
              <a:gd name="adj3" fmla="val 10551"/>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26991" name="Line 24"/>
          <p:cNvSpPr>
            <a:spLocks noChangeShapeType="1"/>
          </p:cNvSpPr>
          <p:nvPr/>
        </p:nvSpPr>
        <p:spPr bwMode="auto">
          <a:xfrm flipH="1">
            <a:off x="8312151" y="4724400"/>
            <a:ext cx="347663" cy="4333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57150">
                <a:solidFill>
                  <a:srgbClr val="000000"/>
                </a:solidFill>
                <a:round/>
                <a:tailEnd type="triangle" w="med" len="med"/>
              </a14:hiddenLine>
            </a:ext>
          </a:extLst>
        </p:spPr>
        <p:txBody>
          <a:bodyPr wrap="none"/>
          <a:lstStyle/>
          <a:p>
            <a:endParaRPr lang="zh-CN" altLang="en-US"/>
          </a:p>
        </p:txBody>
      </p:sp>
      <p:sp>
        <p:nvSpPr>
          <p:cNvPr id="168985" name="Text Box 25"/>
          <p:cNvSpPr txBox="1">
            <a:spLocks noChangeArrowheads="1"/>
          </p:cNvSpPr>
          <p:nvPr/>
        </p:nvSpPr>
        <p:spPr bwMode="auto">
          <a:xfrm>
            <a:off x="7823201" y="4941889"/>
            <a:ext cx="557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Pi </a:t>
            </a:r>
            <a:endParaRPr kumimoji="1" lang="en-US" altLang="zh-CN" sz="2000">
              <a:latin typeface="Arial" panose="020B0604020202020204" pitchFamily="34" charset="0"/>
              <a:ea typeface="宋体" panose="02010600030101010101" pitchFamily="2" charset="-122"/>
            </a:endParaRPr>
          </a:p>
        </p:txBody>
      </p:sp>
      <p:grpSp>
        <p:nvGrpSpPr>
          <p:cNvPr id="5" name="Group 26"/>
          <p:cNvGrpSpPr/>
          <p:nvPr/>
        </p:nvGrpSpPr>
        <p:grpSpPr bwMode="auto">
          <a:xfrm>
            <a:off x="1847851" y="311150"/>
            <a:ext cx="1884363" cy="1028700"/>
            <a:chOff x="204" y="196"/>
            <a:chExt cx="1187" cy="648"/>
          </a:xfrm>
        </p:grpSpPr>
        <p:sp>
          <p:nvSpPr>
            <p:cNvPr id="127052" name="Text Box 27"/>
            <p:cNvSpPr txBox="1">
              <a:spLocks noChangeArrowheads="1"/>
            </p:cNvSpPr>
            <p:nvPr/>
          </p:nvSpPr>
          <p:spPr bwMode="auto">
            <a:xfrm>
              <a:off x="204" y="196"/>
              <a:ext cx="11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胰高血糖素  </a:t>
              </a:r>
              <a:endParaRPr kumimoji="1" lang="zh-CN" altLang="en-US" sz="2400">
                <a:latin typeface="Arial" panose="020B0604020202020204" pitchFamily="34" charset="0"/>
                <a:ea typeface="宋体" panose="02010600030101010101" pitchFamily="2" charset="-122"/>
              </a:endParaRPr>
            </a:p>
          </p:txBody>
        </p:sp>
        <p:grpSp>
          <p:nvGrpSpPr>
            <p:cNvPr id="127053" name="Group 28"/>
            <p:cNvGrpSpPr/>
            <p:nvPr/>
          </p:nvGrpSpPr>
          <p:grpSpPr bwMode="auto">
            <a:xfrm>
              <a:off x="703" y="436"/>
              <a:ext cx="0" cy="408"/>
              <a:chOff x="703" y="436"/>
              <a:chExt cx="0" cy="408"/>
            </a:xfrm>
          </p:grpSpPr>
          <p:sp>
            <p:nvSpPr>
              <p:cNvPr id="127054" name="Line 29"/>
              <p:cNvSpPr>
                <a:spLocks noChangeShapeType="1"/>
              </p:cNvSpPr>
              <p:nvPr/>
            </p:nvSpPr>
            <p:spPr bwMode="auto">
              <a:xfrm>
                <a:off x="703" y="436"/>
                <a:ext cx="0" cy="22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55" name="Line 30"/>
              <p:cNvSpPr>
                <a:spLocks noChangeShapeType="1"/>
              </p:cNvSpPr>
              <p:nvPr/>
            </p:nvSpPr>
            <p:spPr bwMode="auto">
              <a:xfrm>
                <a:off x="703" y="663"/>
                <a:ext cx="0" cy="18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7" name="Group 31"/>
          <p:cNvGrpSpPr/>
          <p:nvPr/>
        </p:nvGrpSpPr>
        <p:grpSpPr bwMode="auto">
          <a:xfrm>
            <a:off x="1524000" y="1341438"/>
            <a:ext cx="2147888" cy="927100"/>
            <a:chOff x="0" y="845"/>
            <a:chExt cx="1353" cy="584"/>
          </a:xfrm>
        </p:grpSpPr>
        <p:sp>
          <p:nvSpPr>
            <p:cNvPr id="127049" name="Arc 32"/>
            <p:cNvSpPr/>
            <p:nvPr/>
          </p:nvSpPr>
          <p:spPr bwMode="auto">
            <a:xfrm>
              <a:off x="295" y="845"/>
              <a:ext cx="843" cy="575"/>
            </a:xfrm>
            <a:custGeom>
              <a:avLst/>
              <a:gdLst>
                <a:gd name="T0" fmla="*/ 0 w 37429"/>
                <a:gd name="T1" fmla="*/ 0 h 21600"/>
                <a:gd name="T2" fmla="*/ 0 w 37429"/>
                <a:gd name="T3" fmla="*/ 0 h 21600"/>
                <a:gd name="T4" fmla="*/ 0 w 37429"/>
                <a:gd name="T5" fmla="*/ 0 h 21600"/>
                <a:gd name="T6" fmla="*/ 0 60000 65536"/>
                <a:gd name="T7" fmla="*/ 0 60000 65536"/>
                <a:gd name="T8" fmla="*/ 0 60000 65536"/>
                <a:gd name="T9" fmla="*/ 0 w 37429"/>
                <a:gd name="T10" fmla="*/ 0 h 21600"/>
                <a:gd name="T11" fmla="*/ 37429 w 37429"/>
                <a:gd name="T12" fmla="*/ 21600 h 21600"/>
              </a:gdLst>
              <a:ahLst/>
              <a:cxnLst>
                <a:cxn ang="T6">
                  <a:pos x="T0" y="T1"/>
                </a:cxn>
                <a:cxn ang="T7">
                  <a:pos x="T2" y="T3"/>
                </a:cxn>
                <a:cxn ang="T8">
                  <a:pos x="T4" y="T5"/>
                </a:cxn>
              </a:cxnLst>
              <a:rect l="T9" t="T10" r="T11" b="T12"/>
              <a:pathLst>
                <a:path w="37429" h="21600" fill="none" extrusionOk="0">
                  <a:moveTo>
                    <a:pt x="-1" y="10052"/>
                  </a:moveTo>
                  <a:cubicBezTo>
                    <a:pt x="3958" y="3794"/>
                    <a:pt x="10848" y="-1"/>
                    <a:pt x="18254" y="0"/>
                  </a:cubicBezTo>
                  <a:cubicBezTo>
                    <a:pt x="26320" y="0"/>
                    <a:pt x="33715" y="4494"/>
                    <a:pt x="37428" y="11656"/>
                  </a:cubicBezTo>
                </a:path>
                <a:path w="37429" h="21600" stroke="0" extrusionOk="0">
                  <a:moveTo>
                    <a:pt x="-1" y="10052"/>
                  </a:moveTo>
                  <a:cubicBezTo>
                    <a:pt x="3958" y="3794"/>
                    <a:pt x="10848" y="-1"/>
                    <a:pt x="18254" y="0"/>
                  </a:cubicBezTo>
                  <a:cubicBezTo>
                    <a:pt x="26320" y="0"/>
                    <a:pt x="33715" y="4494"/>
                    <a:pt x="37428" y="11656"/>
                  </a:cubicBezTo>
                  <a:lnTo>
                    <a:pt x="18254" y="21600"/>
                  </a:lnTo>
                  <a:lnTo>
                    <a:pt x="-1" y="10052"/>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27050" name="Text Box 33"/>
            <p:cNvSpPr txBox="1">
              <a:spLocks noChangeArrowheads="1"/>
            </p:cNvSpPr>
            <p:nvPr/>
          </p:nvSpPr>
          <p:spPr bwMode="auto">
            <a:xfrm>
              <a:off x="0" y="1179"/>
              <a:ext cx="4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ATP </a:t>
              </a:r>
              <a:endParaRPr kumimoji="1" lang="en-US" altLang="zh-CN" sz="2000">
                <a:latin typeface="Arial" panose="020B0604020202020204" pitchFamily="34" charset="0"/>
                <a:ea typeface="宋体" panose="02010600030101010101" pitchFamily="2" charset="-122"/>
              </a:endParaRPr>
            </a:p>
          </p:txBody>
        </p:sp>
        <p:sp>
          <p:nvSpPr>
            <p:cNvPr id="127051" name="Text Box 34"/>
            <p:cNvSpPr txBox="1">
              <a:spLocks noChangeArrowheads="1"/>
            </p:cNvSpPr>
            <p:nvPr/>
          </p:nvSpPr>
          <p:spPr bwMode="auto">
            <a:xfrm>
              <a:off x="748" y="1179"/>
              <a:ext cx="6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cAMP </a:t>
              </a:r>
              <a:endParaRPr kumimoji="1" lang="en-US" altLang="zh-CN" sz="2000">
                <a:latin typeface="Arial" panose="020B0604020202020204" pitchFamily="34" charset="0"/>
                <a:ea typeface="宋体" panose="02010600030101010101" pitchFamily="2" charset="-122"/>
              </a:endParaRPr>
            </a:p>
          </p:txBody>
        </p:sp>
      </p:grpSp>
      <p:grpSp>
        <p:nvGrpSpPr>
          <p:cNvPr id="8" name="Group 35"/>
          <p:cNvGrpSpPr/>
          <p:nvPr/>
        </p:nvGrpSpPr>
        <p:grpSpPr bwMode="auto">
          <a:xfrm>
            <a:off x="3792539" y="2060576"/>
            <a:ext cx="2492375" cy="792163"/>
            <a:chOff x="1429" y="1298"/>
            <a:chExt cx="1570" cy="499"/>
          </a:xfrm>
        </p:grpSpPr>
        <p:grpSp>
          <p:nvGrpSpPr>
            <p:cNvPr id="127045" name="Group 36"/>
            <p:cNvGrpSpPr/>
            <p:nvPr/>
          </p:nvGrpSpPr>
          <p:grpSpPr bwMode="auto">
            <a:xfrm>
              <a:off x="1429" y="1298"/>
              <a:ext cx="1088" cy="499"/>
              <a:chOff x="1429" y="1298"/>
              <a:chExt cx="1088" cy="499"/>
            </a:xfrm>
          </p:grpSpPr>
          <p:sp>
            <p:nvSpPr>
              <p:cNvPr id="127047" name="Line 37"/>
              <p:cNvSpPr>
                <a:spLocks noChangeShapeType="1"/>
              </p:cNvSpPr>
              <p:nvPr/>
            </p:nvSpPr>
            <p:spPr bwMode="auto">
              <a:xfrm>
                <a:off x="1429" y="1298"/>
                <a:ext cx="1088" cy="0"/>
              </a:xfrm>
              <a:prstGeom prst="line">
                <a:avLst/>
              </a:prstGeom>
              <a:noFill/>
              <a:ln w="57150">
                <a:solidFill>
                  <a:srgbClr val="FF0000"/>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
            <p:nvSpPr>
              <p:cNvPr id="127048" name="Line 38"/>
              <p:cNvSpPr>
                <a:spLocks noChangeShapeType="1"/>
              </p:cNvSpPr>
              <p:nvPr/>
            </p:nvSpPr>
            <p:spPr bwMode="auto">
              <a:xfrm>
                <a:off x="2517" y="1298"/>
                <a:ext cx="0" cy="499"/>
              </a:xfrm>
              <a:prstGeom prst="line">
                <a:avLst/>
              </a:prstGeom>
              <a:noFill/>
              <a:ln w="5715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27046" name="Text Box 39"/>
            <p:cNvSpPr txBox="1">
              <a:spLocks noChangeArrowheads="1"/>
            </p:cNvSpPr>
            <p:nvPr/>
          </p:nvSpPr>
          <p:spPr bwMode="auto">
            <a:xfrm>
              <a:off x="2517" y="1434"/>
              <a:ext cx="4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latin typeface="Arial" panose="020B0604020202020204" pitchFamily="34" charset="0"/>
                  <a:ea typeface="宋体" panose="02010600030101010101" pitchFamily="2" charset="-122"/>
                </a:rPr>
                <a:t>活化 </a:t>
              </a:r>
              <a:endParaRPr kumimoji="1" lang="zh-CN" altLang="en-US" sz="2000">
                <a:solidFill>
                  <a:srgbClr val="FF0000"/>
                </a:solidFill>
                <a:latin typeface="Arial" panose="020B0604020202020204" pitchFamily="34" charset="0"/>
                <a:ea typeface="宋体" panose="02010600030101010101" pitchFamily="2" charset="-122"/>
              </a:endParaRPr>
            </a:p>
          </p:txBody>
        </p:sp>
      </p:grpSp>
      <p:grpSp>
        <p:nvGrpSpPr>
          <p:cNvPr id="10" name="Group 40"/>
          <p:cNvGrpSpPr/>
          <p:nvPr/>
        </p:nvGrpSpPr>
        <p:grpSpPr bwMode="auto">
          <a:xfrm>
            <a:off x="4913313" y="2852738"/>
            <a:ext cx="5695950" cy="2616200"/>
            <a:chOff x="2064" y="1827"/>
            <a:chExt cx="3588" cy="1648"/>
          </a:xfrm>
        </p:grpSpPr>
        <p:sp>
          <p:nvSpPr>
            <p:cNvPr id="127040" name="Text Box 41"/>
            <p:cNvSpPr txBox="1">
              <a:spLocks noChangeArrowheads="1"/>
            </p:cNvSpPr>
            <p:nvPr/>
          </p:nvSpPr>
          <p:spPr bwMode="auto">
            <a:xfrm>
              <a:off x="4539" y="1827"/>
              <a:ext cx="111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0"/>
                </a:spcBef>
                <a:buClrTx/>
                <a:buSzTx/>
                <a:buFontTx/>
                <a:buNone/>
              </a:pPr>
              <a:r>
                <a:rPr kumimoji="1" lang="en-US" altLang="zh-CN" sz="2800">
                  <a:solidFill>
                    <a:srgbClr val="0000CC"/>
                  </a:solidFill>
                  <a:latin typeface="Arial" panose="020B0604020202020204" pitchFamily="34" charset="0"/>
                  <a:ea typeface="宋体" panose="02010600030101010101" pitchFamily="2" charset="-122"/>
                </a:rPr>
                <a:t>F-2,6-2P  </a:t>
              </a:r>
              <a:endParaRPr kumimoji="1" lang="en-US" altLang="zh-CN" sz="2800">
                <a:solidFill>
                  <a:srgbClr val="0000CC"/>
                </a:solidFill>
                <a:latin typeface="Arial" panose="020B0604020202020204" pitchFamily="34" charset="0"/>
                <a:ea typeface="宋体" panose="02010600030101010101" pitchFamily="2" charset="-122"/>
              </a:endParaRPr>
            </a:p>
          </p:txBody>
        </p:sp>
        <p:grpSp>
          <p:nvGrpSpPr>
            <p:cNvPr id="127041" name="Group 42"/>
            <p:cNvGrpSpPr/>
            <p:nvPr/>
          </p:nvGrpSpPr>
          <p:grpSpPr bwMode="auto">
            <a:xfrm>
              <a:off x="2064" y="2115"/>
              <a:ext cx="3311" cy="1360"/>
              <a:chOff x="2064" y="2115"/>
              <a:chExt cx="3311" cy="1360"/>
            </a:xfrm>
          </p:grpSpPr>
          <p:sp>
            <p:nvSpPr>
              <p:cNvPr id="127043" name="Line 43"/>
              <p:cNvSpPr>
                <a:spLocks noChangeShapeType="1"/>
              </p:cNvSpPr>
              <p:nvPr/>
            </p:nvSpPr>
            <p:spPr bwMode="auto">
              <a:xfrm>
                <a:off x="5375" y="2115"/>
                <a:ext cx="0" cy="1360"/>
              </a:xfrm>
              <a:prstGeom prst="line">
                <a:avLst/>
              </a:prstGeom>
              <a:noFill/>
              <a:ln w="57150" cap="rnd">
                <a:solidFill>
                  <a:schemeClr val="tx1"/>
                </a:solidFill>
                <a:prstDash val="sysDot"/>
                <a:round/>
              </a:ln>
              <a:extLst>
                <a:ext uri="{909E8E84-426E-40DD-AFC4-6F175D3DCCD1}">
                  <a14:hiddenFill xmlns:a14="http://schemas.microsoft.com/office/drawing/2010/main">
                    <a:noFill/>
                  </a14:hiddenFill>
                </a:ext>
              </a:extLst>
            </p:spPr>
            <p:txBody>
              <a:bodyPr wrap="none"/>
              <a:lstStyle/>
              <a:p>
                <a:endParaRPr lang="zh-CN" altLang="en-US"/>
              </a:p>
            </p:txBody>
          </p:sp>
          <p:sp>
            <p:nvSpPr>
              <p:cNvPr id="127044" name="Line 44"/>
              <p:cNvSpPr>
                <a:spLocks noChangeShapeType="1"/>
              </p:cNvSpPr>
              <p:nvPr/>
            </p:nvSpPr>
            <p:spPr bwMode="auto">
              <a:xfrm flipH="1" flipV="1">
                <a:off x="2064" y="3475"/>
                <a:ext cx="3311" cy="0"/>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27042" name="Oval 45"/>
            <p:cNvSpPr>
              <a:spLocks noChangeArrowheads="1"/>
            </p:cNvSpPr>
            <p:nvPr/>
          </p:nvSpPr>
          <p:spPr bwMode="auto">
            <a:xfrm>
              <a:off x="2154" y="3249"/>
              <a:ext cx="182" cy="182"/>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ea typeface="宋体" panose="02010600030101010101" pitchFamily="2" charset="-122"/>
                </a:rPr>
                <a:t>+</a:t>
              </a:r>
              <a:endParaRPr kumimoji="1" lang="zh-CN" altLang="en-US" sz="2400">
                <a:solidFill>
                  <a:srgbClr val="FF0000"/>
                </a:solidFill>
                <a:latin typeface="Arial" panose="020B0604020202020204" pitchFamily="34" charset="0"/>
                <a:ea typeface="宋体" panose="02010600030101010101" pitchFamily="2" charset="-122"/>
              </a:endParaRPr>
            </a:p>
          </p:txBody>
        </p:sp>
      </p:grpSp>
      <p:grpSp>
        <p:nvGrpSpPr>
          <p:cNvPr id="12" name="Group 46"/>
          <p:cNvGrpSpPr/>
          <p:nvPr/>
        </p:nvGrpSpPr>
        <p:grpSpPr bwMode="auto">
          <a:xfrm>
            <a:off x="3863976" y="5589589"/>
            <a:ext cx="358775" cy="719137"/>
            <a:chOff x="1474" y="3521"/>
            <a:chExt cx="226" cy="453"/>
          </a:xfrm>
        </p:grpSpPr>
        <p:sp>
          <p:nvSpPr>
            <p:cNvPr id="127038" name="Line 47"/>
            <p:cNvSpPr>
              <a:spLocks noChangeShapeType="1"/>
            </p:cNvSpPr>
            <p:nvPr/>
          </p:nvSpPr>
          <p:spPr bwMode="auto">
            <a:xfrm flipV="1">
              <a:off x="1474" y="3521"/>
              <a:ext cx="0" cy="453"/>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9" name="Oval 48"/>
            <p:cNvSpPr>
              <a:spLocks noChangeArrowheads="1"/>
            </p:cNvSpPr>
            <p:nvPr/>
          </p:nvSpPr>
          <p:spPr bwMode="auto">
            <a:xfrm>
              <a:off x="1519" y="3612"/>
              <a:ext cx="181" cy="181"/>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a:solidFill>
                    <a:srgbClr val="FF0000"/>
                  </a:solidFill>
                  <a:latin typeface="Arial" panose="020B0604020202020204" pitchFamily="34" charset="0"/>
                  <a:ea typeface="宋体" panose="02010600030101010101" pitchFamily="2" charset="-122"/>
                </a:rPr>
                <a:t>+</a:t>
              </a:r>
              <a:endParaRPr kumimoji="1" lang="zh-CN" altLang="en-US" sz="2800">
                <a:solidFill>
                  <a:srgbClr val="FF0000"/>
                </a:solidFill>
                <a:latin typeface="Arial" panose="020B0604020202020204" pitchFamily="34" charset="0"/>
                <a:ea typeface="宋体" panose="02010600030101010101" pitchFamily="2" charset="-122"/>
              </a:endParaRPr>
            </a:p>
          </p:txBody>
        </p:sp>
      </p:grpSp>
      <p:grpSp>
        <p:nvGrpSpPr>
          <p:cNvPr id="13" name="Group 49"/>
          <p:cNvGrpSpPr/>
          <p:nvPr/>
        </p:nvGrpSpPr>
        <p:grpSpPr bwMode="auto">
          <a:xfrm>
            <a:off x="2640014" y="5084763"/>
            <a:ext cx="935037" cy="360362"/>
            <a:chOff x="703" y="3203"/>
            <a:chExt cx="589" cy="227"/>
          </a:xfrm>
        </p:grpSpPr>
        <p:sp>
          <p:nvSpPr>
            <p:cNvPr id="127036" name="Line 50"/>
            <p:cNvSpPr>
              <a:spLocks noChangeShapeType="1"/>
            </p:cNvSpPr>
            <p:nvPr/>
          </p:nvSpPr>
          <p:spPr bwMode="auto">
            <a:xfrm>
              <a:off x="703" y="3430"/>
              <a:ext cx="589" cy="0"/>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7" name="Oval 51"/>
            <p:cNvSpPr>
              <a:spLocks noChangeArrowheads="1"/>
            </p:cNvSpPr>
            <p:nvPr/>
          </p:nvSpPr>
          <p:spPr bwMode="auto">
            <a:xfrm>
              <a:off x="748" y="3203"/>
              <a:ext cx="182" cy="182"/>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a:solidFill>
                    <a:srgbClr val="FF0000"/>
                  </a:solidFill>
                  <a:latin typeface="Arial" panose="020B0604020202020204" pitchFamily="34" charset="0"/>
                  <a:ea typeface="宋体" panose="02010600030101010101" pitchFamily="2" charset="-122"/>
                </a:rPr>
                <a:t>+</a:t>
              </a:r>
              <a:endParaRPr kumimoji="1" lang="zh-CN" altLang="en-US" sz="2800">
                <a:solidFill>
                  <a:srgbClr val="FF0000"/>
                </a:solidFill>
                <a:latin typeface="Arial" panose="020B0604020202020204" pitchFamily="34" charset="0"/>
                <a:ea typeface="宋体" panose="02010600030101010101" pitchFamily="2" charset="-122"/>
              </a:endParaRPr>
            </a:p>
          </p:txBody>
        </p:sp>
      </p:grpSp>
      <p:grpSp>
        <p:nvGrpSpPr>
          <p:cNvPr id="14" name="Group 52"/>
          <p:cNvGrpSpPr/>
          <p:nvPr/>
        </p:nvGrpSpPr>
        <p:grpSpPr bwMode="auto">
          <a:xfrm>
            <a:off x="2566989" y="3860800"/>
            <a:ext cx="1514475" cy="1296988"/>
            <a:chOff x="657" y="2432"/>
            <a:chExt cx="954" cy="817"/>
          </a:xfrm>
        </p:grpSpPr>
        <p:sp>
          <p:nvSpPr>
            <p:cNvPr id="127034" name="Line 53"/>
            <p:cNvSpPr>
              <a:spLocks noChangeShapeType="1"/>
            </p:cNvSpPr>
            <p:nvPr/>
          </p:nvSpPr>
          <p:spPr bwMode="auto">
            <a:xfrm>
              <a:off x="657" y="2432"/>
              <a:ext cx="908" cy="817"/>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5" name="Oval 54"/>
            <p:cNvSpPr>
              <a:spLocks noChangeArrowheads="1"/>
            </p:cNvSpPr>
            <p:nvPr/>
          </p:nvSpPr>
          <p:spPr bwMode="auto">
            <a:xfrm>
              <a:off x="1338" y="2886"/>
              <a:ext cx="273" cy="182"/>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cs typeface="Arial" panose="020B0604020202020204" pitchFamily="34" charset="0"/>
                </a:rPr>
                <a:t>–/</a:t>
              </a:r>
              <a:r>
                <a:rPr kumimoji="1" lang="zh-CN" altLang="en-US" sz="2400">
                  <a:solidFill>
                    <a:srgbClr val="FF0000"/>
                  </a:solidFill>
                  <a:latin typeface="Arial" panose="020B0604020202020204" pitchFamily="34" charset="0"/>
                  <a:ea typeface="宋体" panose="02010600030101010101" pitchFamily="2" charset="-122"/>
                  <a:cs typeface="Arial" panose="020B0604020202020204" pitchFamily="34" charset="0"/>
                </a:rPr>
                <a:t>+</a:t>
              </a:r>
              <a:endParaRPr kumimoji="1" lang="zh-CN" altLang="en-US" sz="2400">
                <a:solidFill>
                  <a:srgbClr val="FF0000"/>
                </a:solidFill>
                <a:latin typeface="Arial" panose="020B0604020202020204" pitchFamily="34" charset="0"/>
                <a:ea typeface="宋体" panose="02010600030101010101" pitchFamily="2" charset="-122"/>
                <a:cs typeface="Arial" panose="020B0604020202020204" pitchFamily="34" charset="0"/>
              </a:endParaRPr>
            </a:p>
          </p:txBody>
        </p:sp>
      </p:grpSp>
      <p:grpSp>
        <p:nvGrpSpPr>
          <p:cNvPr id="15" name="Group 55"/>
          <p:cNvGrpSpPr/>
          <p:nvPr/>
        </p:nvGrpSpPr>
        <p:grpSpPr bwMode="auto">
          <a:xfrm>
            <a:off x="4440238" y="5661026"/>
            <a:ext cx="889000" cy="1173163"/>
            <a:chOff x="1837" y="3566"/>
            <a:chExt cx="560" cy="739"/>
          </a:xfrm>
        </p:grpSpPr>
        <p:sp>
          <p:nvSpPr>
            <p:cNvPr id="127031" name="Text Box 56"/>
            <p:cNvSpPr txBox="1">
              <a:spLocks noChangeArrowheads="1"/>
            </p:cNvSpPr>
            <p:nvPr/>
          </p:nvSpPr>
          <p:spPr bwMode="auto">
            <a:xfrm>
              <a:off x="1837" y="4055"/>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AMP  </a:t>
              </a:r>
              <a:endParaRPr kumimoji="1" lang="en-US" altLang="zh-CN" sz="2000">
                <a:latin typeface="Arial" panose="020B0604020202020204" pitchFamily="34" charset="0"/>
                <a:ea typeface="宋体" panose="02010600030101010101" pitchFamily="2" charset="-122"/>
              </a:endParaRPr>
            </a:p>
          </p:txBody>
        </p:sp>
        <p:sp>
          <p:nvSpPr>
            <p:cNvPr id="127032" name="Line 57"/>
            <p:cNvSpPr>
              <a:spLocks noChangeShapeType="1"/>
            </p:cNvSpPr>
            <p:nvPr/>
          </p:nvSpPr>
          <p:spPr bwMode="auto">
            <a:xfrm flipH="1" flipV="1">
              <a:off x="1837" y="3566"/>
              <a:ext cx="181" cy="454"/>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33" name="Oval 58"/>
            <p:cNvSpPr>
              <a:spLocks noChangeArrowheads="1"/>
            </p:cNvSpPr>
            <p:nvPr/>
          </p:nvSpPr>
          <p:spPr bwMode="auto">
            <a:xfrm>
              <a:off x="1938" y="3657"/>
              <a:ext cx="182" cy="182"/>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ea typeface="宋体" panose="02010600030101010101" pitchFamily="2" charset="-122"/>
                </a:rPr>
                <a:t>+</a:t>
              </a:r>
              <a:endParaRPr kumimoji="1" lang="zh-CN" altLang="en-US" sz="2400">
                <a:solidFill>
                  <a:srgbClr val="FF0000"/>
                </a:solidFill>
                <a:latin typeface="Arial" panose="020B0604020202020204" pitchFamily="34" charset="0"/>
                <a:ea typeface="宋体" panose="02010600030101010101" pitchFamily="2" charset="-122"/>
              </a:endParaRPr>
            </a:p>
          </p:txBody>
        </p:sp>
      </p:grpSp>
      <p:grpSp>
        <p:nvGrpSpPr>
          <p:cNvPr id="16" name="Group 59"/>
          <p:cNvGrpSpPr/>
          <p:nvPr/>
        </p:nvGrpSpPr>
        <p:grpSpPr bwMode="auto">
          <a:xfrm>
            <a:off x="4727575" y="5589589"/>
            <a:ext cx="2457450" cy="1265237"/>
            <a:chOff x="2018" y="3521"/>
            <a:chExt cx="1548" cy="797"/>
          </a:xfrm>
        </p:grpSpPr>
        <p:sp>
          <p:nvSpPr>
            <p:cNvPr id="127028" name="Line 60"/>
            <p:cNvSpPr>
              <a:spLocks noChangeShapeType="1"/>
            </p:cNvSpPr>
            <p:nvPr/>
          </p:nvSpPr>
          <p:spPr bwMode="auto">
            <a:xfrm flipH="1" flipV="1">
              <a:off x="2018" y="3521"/>
              <a:ext cx="1224" cy="499"/>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29" name="Rectangle 61"/>
            <p:cNvSpPr>
              <a:spLocks noChangeArrowheads="1"/>
            </p:cNvSpPr>
            <p:nvPr/>
          </p:nvSpPr>
          <p:spPr bwMode="auto">
            <a:xfrm>
              <a:off x="2879" y="4068"/>
              <a:ext cx="6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柠檬酸  </a:t>
              </a:r>
              <a:endParaRPr kumimoji="1" lang="zh-CN" altLang="en-US" sz="2000">
                <a:latin typeface="Arial" panose="020B0604020202020204" pitchFamily="34" charset="0"/>
                <a:ea typeface="宋体" panose="02010600030101010101" pitchFamily="2" charset="-122"/>
              </a:endParaRPr>
            </a:p>
          </p:txBody>
        </p:sp>
        <p:sp>
          <p:nvSpPr>
            <p:cNvPr id="169022" name="Oval 62"/>
            <p:cNvSpPr>
              <a:spLocks noChangeArrowheads="1"/>
            </p:cNvSpPr>
            <p:nvPr/>
          </p:nvSpPr>
          <p:spPr bwMode="auto">
            <a:xfrm>
              <a:off x="2472" y="3521"/>
              <a:ext cx="182" cy="182"/>
            </a:xfrm>
            <a:prstGeom prst="ellipse">
              <a:avLst/>
            </a:prstGeom>
            <a:noFill/>
            <a:ln w="38100">
              <a:solidFill>
                <a:schemeClr val="tx1"/>
              </a:solidFill>
              <a:round/>
            </a:ln>
            <a:effectLst/>
          </p:spPr>
          <p:txBody>
            <a:bodyPr wrap="none" anchor="ctr"/>
            <a:lstStyle/>
            <a:p>
              <a:pPr algn="ctr" eaLnBrk="1" hangingPunct="1">
                <a:lnSpc>
                  <a:spcPct val="80000"/>
                </a:lnSpc>
                <a:defRPr/>
              </a:pPr>
              <a:r>
                <a:rPr kumimoji="1" lang="zh-CN" altLang="en-US" sz="2400">
                  <a:effectLst>
                    <a:outerShdw blurRad="38100" dist="38100" dir="2700000" algn="tl">
                      <a:srgbClr val="C0C0C0"/>
                    </a:outerShdw>
                  </a:effectLst>
                  <a:latin typeface="Arial" panose="020B0604020202020204" pitchFamily="34" charset="0"/>
                  <a:cs typeface="Arial" panose="020B0604020202020204" pitchFamily="34" charset="0"/>
                </a:rPr>
                <a:t>–</a:t>
              </a:r>
              <a:endParaRPr kumimoji="1" lang="zh-CN" altLang="en-US" sz="2400">
                <a:effectLst>
                  <a:outerShdw blurRad="38100" dist="38100" dir="2700000" algn="tl">
                    <a:srgbClr val="C0C0C0"/>
                  </a:outerShdw>
                </a:effectLst>
                <a:latin typeface="Arial" panose="020B0604020202020204" pitchFamily="34" charset="0"/>
                <a:cs typeface="Arial" panose="020B0604020202020204" pitchFamily="34" charset="0"/>
              </a:endParaRPr>
            </a:p>
          </p:txBody>
        </p:sp>
      </p:grpSp>
      <p:grpSp>
        <p:nvGrpSpPr>
          <p:cNvPr id="17" name="Group 63"/>
          <p:cNvGrpSpPr/>
          <p:nvPr/>
        </p:nvGrpSpPr>
        <p:grpSpPr bwMode="auto">
          <a:xfrm>
            <a:off x="5232400" y="98425"/>
            <a:ext cx="819150" cy="1169988"/>
            <a:chOff x="2336" y="62"/>
            <a:chExt cx="516" cy="737"/>
          </a:xfrm>
        </p:grpSpPr>
        <p:sp>
          <p:nvSpPr>
            <p:cNvPr id="127025" name="Text Box 64"/>
            <p:cNvSpPr txBox="1">
              <a:spLocks noChangeArrowheads="1"/>
            </p:cNvSpPr>
            <p:nvPr/>
          </p:nvSpPr>
          <p:spPr bwMode="auto">
            <a:xfrm>
              <a:off x="2336" y="62"/>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宋体" panose="02010600030101010101" pitchFamily="2" charset="-122"/>
                </a:rPr>
                <a:t>AMP </a:t>
              </a:r>
              <a:endParaRPr kumimoji="1" lang="en-US" altLang="zh-CN" sz="2000">
                <a:latin typeface="Arial" panose="020B0604020202020204" pitchFamily="34" charset="0"/>
                <a:ea typeface="宋体" panose="02010600030101010101" pitchFamily="2" charset="-122"/>
              </a:endParaRPr>
            </a:p>
          </p:txBody>
        </p:sp>
        <p:sp>
          <p:nvSpPr>
            <p:cNvPr id="127026" name="Line 65"/>
            <p:cNvSpPr>
              <a:spLocks noChangeShapeType="1"/>
            </p:cNvSpPr>
            <p:nvPr/>
          </p:nvSpPr>
          <p:spPr bwMode="auto">
            <a:xfrm>
              <a:off x="2608" y="300"/>
              <a:ext cx="227" cy="499"/>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27" name="Oval 66"/>
            <p:cNvSpPr>
              <a:spLocks noChangeArrowheads="1"/>
            </p:cNvSpPr>
            <p:nvPr/>
          </p:nvSpPr>
          <p:spPr bwMode="auto">
            <a:xfrm>
              <a:off x="2448" y="432"/>
              <a:ext cx="166" cy="166"/>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ea typeface="宋体" panose="02010600030101010101" pitchFamily="2" charset="-122"/>
                </a:rPr>
                <a:t>+</a:t>
              </a:r>
              <a:endParaRPr kumimoji="1" lang="zh-CN" altLang="en-US" sz="2400">
                <a:solidFill>
                  <a:srgbClr val="FF0000"/>
                </a:solidFill>
                <a:latin typeface="Arial" panose="020B0604020202020204" pitchFamily="34" charset="0"/>
                <a:ea typeface="宋体" panose="02010600030101010101" pitchFamily="2" charset="-122"/>
              </a:endParaRPr>
            </a:p>
          </p:txBody>
        </p:sp>
      </p:grpSp>
      <p:grpSp>
        <p:nvGrpSpPr>
          <p:cNvPr id="18" name="Group 67"/>
          <p:cNvGrpSpPr/>
          <p:nvPr/>
        </p:nvGrpSpPr>
        <p:grpSpPr bwMode="auto">
          <a:xfrm>
            <a:off x="6172200" y="119063"/>
            <a:ext cx="1087438" cy="1149350"/>
            <a:chOff x="2928" y="75"/>
            <a:chExt cx="685" cy="724"/>
          </a:xfrm>
        </p:grpSpPr>
        <p:sp>
          <p:nvSpPr>
            <p:cNvPr id="127022" name="Rectangle 68"/>
            <p:cNvSpPr>
              <a:spLocks noChangeArrowheads="1"/>
            </p:cNvSpPr>
            <p:nvPr/>
          </p:nvSpPr>
          <p:spPr bwMode="auto">
            <a:xfrm>
              <a:off x="2970" y="75"/>
              <a:ext cx="6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柠檬酸 </a:t>
              </a:r>
              <a:endParaRPr kumimoji="1" lang="zh-CN" altLang="en-US" sz="2000">
                <a:latin typeface="Arial" panose="020B0604020202020204" pitchFamily="34" charset="0"/>
                <a:ea typeface="宋体" panose="02010600030101010101" pitchFamily="2" charset="-122"/>
              </a:endParaRPr>
            </a:p>
          </p:txBody>
        </p:sp>
        <p:sp>
          <p:nvSpPr>
            <p:cNvPr id="127023" name="Line 69"/>
            <p:cNvSpPr>
              <a:spLocks noChangeShapeType="1"/>
            </p:cNvSpPr>
            <p:nvPr/>
          </p:nvSpPr>
          <p:spPr bwMode="auto">
            <a:xfrm flipH="1">
              <a:off x="3016" y="300"/>
              <a:ext cx="227" cy="499"/>
            </a:xfrm>
            <a:prstGeom prst="line">
              <a:avLst/>
            </a:prstGeom>
            <a:noFill/>
            <a:ln w="57150"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9030" name="Oval 70"/>
            <p:cNvSpPr>
              <a:spLocks noChangeArrowheads="1"/>
            </p:cNvSpPr>
            <p:nvPr/>
          </p:nvSpPr>
          <p:spPr bwMode="auto">
            <a:xfrm>
              <a:off x="2928" y="429"/>
              <a:ext cx="144" cy="144"/>
            </a:xfrm>
            <a:prstGeom prst="ellipse">
              <a:avLst/>
            </a:prstGeom>
            <a:noFill/>
            <a:ln w="38100">
              <a:solidFill>
                <a:schemeClr val="tx1"/>
              </a:solidFill>
              <a:round/>
            </a:ln>
            <a:effectLst/>
          </p:spPr>
          <p:txBody>
            <a:bodyPr wrap="none" anchor="ctr"/>
            <a:lstStyle/>
            <a:p>
              <a:pPr algn="ctr" eaLnBrk="1" hangingPunct="1">
                <a:lnSpc>
                  <a:spcPct val="80000"/>
                </a:lnSpc>
                <a:defRPr/>
              </a:pPr>
              <a:r>
                <a:rPr kumimoji="1" lang="zh-CN" altLang="en-US" sz="2400">
                  <a:effectLst>
                    <a:outerShdw blurRad="38100" dist="38100" dir="2700000" algn="tl">
                      <a:srgbClr val="C0C0C0"/>
                    </a:outerShdw>
                  </a:effectLst>
                  <a:latin typeface="Arial" panose="020B0604020202020204" pitchFamily="34" charset="0"/>
                  <a:cs typeface="Arial" panose="020B0604020202020204" pitchFamily="34" charset="0"/>
                </a:rPr>
                <a:t>–</a:t>
              </a:r>
              <a:endParaRPr kumimoji="1" lang="zh-CN" altLang="en-US" sz="2400">
                <a:effectLst>
                  <a:outerShdw blurRad="38100" dist="38100" dir="2700000" algn="tl">
                    <a:srgbClr val="C0C0C0"/>
                  </a:outerShdw>
                </a:effectLst>
                <a:latin typeface="Arial" panose="020B0604020202020204" pitchFamily="34" charset="0"/>
                <a:cs typeface="Arial" panose="020B0604020202020204" pitchFamily="34" charset="0"/>
              </a:endParaRPr>
            </a:p>
          </p:txBody>
        </p:sp>
      </p:grpSp>
      <p:grpSp>
        <p:nvGrpSpPr>
          <p:cNvPr id="19" name="Group 71"/>
          <p:cNvGrpSpPr/>
          <p:nvPr/>
        </p:nvGrpSpPr>
        <p:grpSpPr bwMode="auto">
          <a:xfrm>
            <a:off x="5303839" y="1268414"/>
            <a:ext cx="2808287" cy="1036637"/>
            <a:chOff x="2381" y="799"/>
            <a:chExt cx="1769" cy="653"/>
          </a:xfrm>
        </p:grpSpPr>
        <p:grpSp>
          <p:nvGrpSpPr>
            <p:cNvPr id="127018" name="Group 72"/>
            <p:cNvGrpSpPr/>
            <p:nvPr/>
          </p:nvGrpSpPr>
          <p:grpSpPr bwMode="auto">
            <a:xfrm>
              <a:off x="2381" y="799"/>
              <a:ext cx="1769" cy="409"/>
              <a:chOff x="1973" y="1253"/>
              <a:chExt cx="1769" cy="409"/>
            </a:xfrm>
          </p:grpSpPr>
          <p:sp>
            <p:nvSpPr>
              <p:cNvPr id="127020" name="Oval 73"/>
              <p:cNvSpPr>
                <a:spLocks noChangeArrowheads="1"/>
              </p:cNvSpPr>
              <p:nvPr/>
            </p:nvSpPr>
            <p:spPr bwMode="auto">
              <a:xfrm>
                <a:off x="1973" y="1253"/>
                <a:ext cx="1044" cy="409"/>
              </a:xfrm>
              <a:prstGeom prst="ellipse">
                <a:avLst/>
              </a:prstGeom>
              <a:solidFill>
                <a:srgbClr val="FF3F8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PFK-2</a:t>
                </a:r>
                <a:endParaRPr kumimoji="1" lang="en-US" altLang="zh-CN" sz="1800">
                  <a:latin typeface="Arial" panose="020B0604020202020204" pitchFamily="34" charset="0"/>
                  <a:ea typeface="宋体" panose="02010600030101010101" pitchFamily="2" charset="-122"/>
                </a:endParaRPr>
              </a:p>
              <a:p>
                <a:pPr algn="ctr" eaLnBrk="1" hangingPunct="1">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有活性）</a:t>
                </a:r>
                <a:endParaRPr kumimoji="1" lang="zh-CN" altLang="en-US" sz="1400">
                  <a:latin typeface="Arial" panose="020B0604020202020204" pitchFamily="34" charset="0"/>
                  <a:ea typeface="宋体" panose="02010600030101010101" pitchFamily="2" charset="-122"/>
                </a:endParaRPr>
              </a:p>
            </p:txBody>
          </p:sp>
          <p:sp>
            <p:nvSpPr>
              <p:cNvPr id="127021" name="Rectangle 74"/>
              <p:cNvSpPr>
                <a:spLocks noChangeArrowheads="1"/>
              </p:cNvSpPr>
              <p:nvPr/>
            </p:nvSpPr>
            <p:spPr bwMode="auto">
              <a:xfrm>
                <a:off x="2880" y="1253"/>
                <a:ext cx="862" cy="40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FBP-2</a:t>
                </a:r>
                <a:endParaRPr kumimoji="1" lang="en-US" altLang="zh-CN" sz="1800">
                  <a:latin typeface="Arial" panose="020B0604020202020204" pitchFamily="34" charset="0"/>
                  <a:ea typeface="宋体" panose="02010600030101010101" pitchFamily="2" charset="-122"/>
                </a:endParaRPr>
              </a:p>
              <a:p>
                <a:pPr algn="ctr" eaLnBrk="1" hangingPunct="1">
                  <a:lnSpc>
                    <a:spcPct val="80000"/>
                  </a:lnSpc>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无活性）</a:t>
                </a:r>
                <a:endParaRPr kumimoji="1" lang="zh-CN" altLang="en-US" sz="1400">
                  <a:latin typeface="Arial" panose="020B0604020202020204" pitchFamily="34" charset="0"/>
                  <a:ea typeface="宋体" panose="02010600030101010101" pitchFamily="2" charset="-122"/>
                </a:endParaRPr>
              </a:p>
            </p:txBody>
          </p:sp>
        </p:grpSp>
        <p:sp>
          <p:nvSpPr>
            <p:cNvPr id="127019" name="Text Box 75"/>
            <p:cNvSpPr txBox="1">
              <a:spLocks noChangeArrowheads="1"/>
            </p:cNvSpPr>
            <p:nvPr/>
          </p:nvSpPr>
          <p:spPr bwMode="auto">
            <a:xfrm>
              <a:off x="2544" y="1200"/>
              <a:ext cx="14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6-磷酸果糖激酶-2  </a:t>
              </a:r>
              <a:endParaRPr kumimoji="1" lang="zh-CN" altLang="en-US" sz="2000">
                <a:latin typeface="Arial" panose="020B0604020202020204" pitchFamily="34" charset="0"/>
                <a:ea typeface="宋体" panose="02010600030101010101" pitchFamily="2" charset="-122"/>
              </a:endParaRPr>
            </a:p>
          </p:txBody>
        </p:sp>
      </p:grpSp>
      <p:grpSp>
        <p:nvGrpSpPr>
          <p:cNvPr id="21" name="Group 76"/>
          <p:cNvGrpSpPr/>
          <p:nvPr/>
        </p:nvGrpSpPr>
        <p:grpSpPr bwMode="auto">
          <a:xfrm>
            <a:off x="5375275" y="3276600"/>
            <a:ext cx="2736850" cy="1500188"/>
            <a:chOff x="2426" y="2064"/>
            <a:chExt cx="1724" cy="945"/>
          </a:xfrm>
        </p:grpSpPr>
        <p:grpSp>
          <p:nvGrpSpPr>
            <p:cNvPr id="127007" name="Group 77"/>
            <p:cNvGrpSpPr/>
            <p:nvPr/>
          </p:nvGrpSpPr>
          <p:grpSpPr bwMode="auto">
            <a:xfrm>
              <a:off x="2426" y="2251"/>
              <a:ext cx="1724" cy="758"/>
              <a:chOff x="2426" y="2251"/>
              <a:chExt cx="1724" cy="758"/>
            </a:xfrm>
          </p:grpSpPr>
          <p:grpSp>
            <p:nvGrpSpPr>
              <p:cNvPr id="127009" name="Group 78"/>
              <p:cNvGrpSpPr/>
              <p:nvPr/>
            </p:nvGrpSpPr>
            <p:grpSpPr bwMode="auto">
              <a:xfrm>
                <a:off x="2426" y="2614"/>
                <a:ext cx="1724" cy="395"/>
                <a:chOff x="2381" y="2523"/>
                <a:chExt cx="1724" cy="395"/>
              </a:xfrm>
            </p:grpSpPr>
            <p:sp>
              <p:nvSpPr>
                <p:cNvPr id="127016" name="AutoShape 79"/>
                <p:cNvSpPr>
                  <a:spLocks noChangeArrowheads="1"/>
                </p:cNvSpPr>
                <p:nvPr/>
              </p:nvSpPr>
              <p:spPr bwMode="auto">
                <a:xfrm>
                  <a:off x="2381" y="2523"/>
                  <a:ext cx="907" cy="395"/>
                </a:xfrm>
                <a:prstGeom prst="octagon">
                  <a:avLst>
                    <a:gd name="adj" fmla="val 29287"/>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PFK-2</a:t>
                  </a:r>
                  <a:endParaRPr kumimoji="1" lang="en-US" altLang="zh-CN" sz="1800">
                    <a:latin typeface="Arial" panose="020B0604020202020204" pitchFamily="34" charset="0"/>
                    <a:ea typeface="宋体" panose="02010600030101010101" pitchFamily="2" charset="-122"/>
                  </a:endParaRPr>
                </a:p>
                <a:p>
                  <a:pPr algn="ctr" eaLnBrk="1" hangingPunct="1">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无活性）</a:t>
                  </a:r>
                  <a:endParaRPr kumimoji="1" lang="zh-CN" altLang="en-US" sz="1400">
                    <a:latin typeface="Arial" panose="020B0604020202020204" pitchFamily="34" charset="0"/>
                    <a:ea typeface="宋体" panose="02010600030101010101" pitchFamily="2" charset="-122"/>
                  </a:endParaRPr>
                </a:p>
              </p:txBody>
            </p:sp>
            <p:sp>
              <p:nvSpPr>
                <p:cNvPr id="127017" name="AutoShape 80"/>
                <p:cNvSpPr>
                  <a:spLocks noChangeArrowheads="1"/>
                </p:cNvSpPr>
                <p:nvPr/>
              </p:nvSpPr>
              <p:spPr bwMode="auto">
                <a:xfrm>
                  <a:off x="3243" y="2523"/>
                  <a:ext cx="862" cy="395"/>
                </a:xfrm>
                <a:prstGeom prst="roundRect">
                  <a:avLst>
                    <a:gd name="adj" fmla="val 16667"/>
                  </a:avLst>
                </a:prstGeom>
                <a:solidFill>
                  <a:srgbClr val="FF3F8D"/>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FBP-2</a:t>
                  </a:r>
                  <a:endParaRPr kumimoji="1" lang="en-US" altLang="zh-CN" sz="1800">
                    <a:latin typeface="Arial" panose="020B0604020202020204" pitchFamily="34" charset="0"/>
                    <a:ea typeface="宋体" panose="02010600030101010101" pitchFamily="2" charset="-122"/>
                  </a:endParaRPr>
                </a:p>
                <a:p>
                  <a:pPr algn="ctr" eaLnBrk="1" hangingPunct="1">
                    <a:lnSpc>
                      <a:spcPct val="90000"/>
                    </a:lnSpc>
                    <a:spcBef>
                      <a:spcPct val="0"/>
                    </a:spcBef>
                    <a:buClrTx/>
                    <a:buSzTx/>
                    <a:buFontTx/>
                    <a:buNone/>
                  </a:pPr>
                  <a:r>
                    <a:rPr kumimoji="1" lang="en-US" altLang="zh-CN" sz="1400">
                      <a:latin typeface="Arial" panose="020B0604020202020204" pitchFamily="34" charset="0"/>
                      <a:ea typeface="宋体" panose="02010600030101010101" pitchFamily="2" charset="-122"/>
                    </a:rPr>
                    <a:t>（</a:t>
                  </a:r>
                  <a:r>
                    <a:rPr kumimoji="1" lang="zh-CN" altLang="en-US" sz="1400">
                      <a:latin typeface="Arial" panose="020B0604020202020204" pitchFamily="34" charset="0"/>
                      <a:ea typeface="宋体" panose="02010600030101010101" pitchFamily="2" charset="-122"/>
                    </a:rPr>
                    <a:t>有活性）</a:t>
                  </a:r>
                  <a:endParaRPr kumimoji="1" lang="zh-CN" altLang="en-US" sz="1400">
                    <a:latin typeface="Arial" panose="020B0604020202020204" pitchFamily="34" charset="0"/>
                    <a:ea typeface="宋体" panose="02010600030101010101" pitchFamily="2" charset="-122"/>
                  </a:endParaRPr>
                </a:p>
              </p:txBody>
            </p:sp>
          </p:grpSp>
          <p:grpSp>
            <p:nvGrpSpPr>
              <p:cNvPr id="127010" name="Group 81"/>
              <p:cNvGrpSpPr/>
              <p:nvPr/>
            </p:nvGrpSpPr>
            <p:grpSpPr bwMode="auto">
              <a:xfrm>
                <a:off x="2744" y="2251"/>
                <a:ext cx="272" cy="363"/>
                <a:chOff x="2744" y="2251"/>
                <a:chExt cx="272" cy="363"/>
              </a:xfrm>
            </p:grpSpPr>
            <p:sp>
              <p:nvSpPr>
                <p:cNvPr id="127014" name="Oval 82"/>
                <p:cNvSpPr>
                  <a:spLocks noChangeArrowheads="1"/>
                </p:cNvSpPr>
                <p:nvPr/>
              </p:nvSpPr>
              <p:spPr bwMode="auto">
                <a:xfrm>
                  <a:off x="2744" y="2251"/>
                  <a:ext cx="272" cy="272"/>
                </a:xfrm>
                <a:prstGeom prst="ellipse">
                  <a:avLst/>
                </a:prstGeom>
                <a:solidFill>
                  <a:srgbClr val="FCFC5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a:t>
                  </a:r>
                  <a:endParaRPr kumimoji="1" lang="en-US" altLang="zh-CN" sz="1800">
                    <a:latin typeface="Arial" panose="020B0604020202020204" pitchFamily="34" charset="0"/>
                    <a:ea typeface="宋体" panose="02010600030101010101" pitchFamily="2" charset="-122"/>
                  </a:endParaRPr>
                </a:p>
              </p:txBody>
            </p:sp>
            <p:sp>
              <p:nvSpPr>
                <p:cNvPr id="127015" name="Line 83"/>
                <p:cNvSpPr>
                  <a:spLocks noChangeShapeType="1"/>
                </p:cNvSpPr>
                <p:nvPr/>
              </p:nvSpPr>
              <p:spPr bwMode="auto">
                <a:xfrm>
                  <a:off x="2880" y="2478"/>
                  <a:ext cx="0" cy="136"/>
                </a:xfrm>
                <a:prstGeom prst="line">
                  <a:avLst/>
                </a:prstGeom>
                <a:noFill/>
                <a:ln w="762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7011" name="Group 84"/>
              <p:cNvGrpSpPr/>
              <p:nvPr/>
            </p:nvGrpSpPr>
            <p:grpSpPr bwMode="auto">
              <a:xfrm>
                <a:off x="3560" y="2251"/>
                <a:ext cx="272" cy="363"/>
                <a:chOff x="2744" y="2251"/>
                <a:chExt cx="272" cy="363"/>
              </a:xfrm>
            </p:grpSpPr>
            <p:sp>
              <p:nvSpPr>
                <p:cNvPr id="127012" name="Oval 85"/>
                <p:cNvSpPr>
                  <a:spLocks noChangeArrowheads="1"/>
                </p:cNvSpPr>
                <p:nvPr/>
              </p:nvSpPr>
              <p:spPr bwMode="auto">
                <a:xfrm>
                  <a:off x="2744" y="2251"/>
                  <a:ext cx="272" cy="272"/>
                </a:xfrm>
                <a:prstGeom prst="ellipse">
                  <a:avLst/>
                </a:prstGeom>
                <a:solidFill>
                  <a:srgbClr val="FCFC5C"/>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ea typeface="宋体" panose="02010600030101010101" pitchFamily="2" charset="-122"/>
                    </a:rPr>
                    <a:t>P</a:t>
                  </a:r>
                  <a:endParaRPr kumimoji="1" lang="en-US" altLang="zh-CN" sz="1800">
                    <a:latin typeface="Arial" panose="020B0604020202020204" pitchFamily="34" charset="0"/>
                    <a:ea typeface="宋体" panose="02010600030101010101" pitchFamily="2" charset="-122"/>
                  </a:endParaRPr>
                </a:p>
              </p:txBody>
            </p:sp>
            <p:sp>
              <p:nvSpPr>
                <p:cNvPr id="127013" name="Line 86"/>
                <p:cNvSpPr>
                  <a:spLocks noChangeShapeType="1"/>
                </p:cNvSpPr>
                <p:nvPr/>
              </p:nvSpPr>
              <p:spPr bwMode="auto">
                <a:xfrm>
                  <a:off x="2880" y="2478"/>
                  <a:ext cx="0" cy="136"/>
                </a:xfrm>
                <a:prstGeom prst="line">
                  <a:avLst/>
                </a:prstGeom>
                <a:noFill/>
                <a:ln w="762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127008" name="Text Box 87"/>
            <p:cNvSpPr txBox="1">
              <a:spLocks noChangeArrowheads="1"/>
            </p:cNvSpPr>
            <p:nvPr/>
          </p:nvSpPr>
          <p:spPr bwMode="auto">
            <a:xfrm>
              <a:off x="2699" y="2064"/>
              <a:ext cx="13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宋体" panose="02010600030101010101" pitchFamily="2" charset="-122"/>
                </a:rPr>
                <a:t>果糖双磷酸酶-2  </a:t>
              </a:r>
              <a:endParaRPr kumimoji="1" lang="zh-CN" altLang="en-US" sz="2000">
                <a:latin typeface="Arial" panose="020B0604020202020204" pitchFamily="34" charset="0"/>
                <a:ea typeface="宋体" panose="02010600030101010101" pitchFamily="2" charset="-122"/>
              </a:endParaRPr>
            </a:p>
          </p:txBody>
        </p:sp>
      </p:grpSp>
      <p:sp>
        <p:nvSpPr>
          <p:cNvPr id="127006" name="Text Box 88"/>
          <p:cNvSpPr txBox="1">
            <a:spLocks noChangeArrowheads="1"/>
          </p:cNvSpPr>
          <p:nvPr/>
        </p:nvSpPr>
        <p:spPr bwMode="auto">
          <a:xfrm>
            <a:off x="7175501" y="5783264"/>
            <a:ext cx="3529013" cy="879475"/>
          </a:xfrm>
          <a:prstGeom prst="rect">
            <a:avLst/>
          </a:prstGeom>
          <a:solidFill>
            <a:srgbClr val="FFFF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50000"/>
              </a:spcBef>
              <a:buClrTx/>
              <a:buSzTx/>
              <a:buFontTx/>
              <a:buNone/>
            </a:pPr>
            <a:r>
              <a:rPr lang="en-US" altLang="zh-CN">
                <a:solidFill>
                  <a:srgbClr val="FF0000"/>
                </a:solidFill>
                <a:latin typeface="Arial" panose="020B0604020202020204" pitchFamily="34" charset="0"/>
                <a:ea typeface="黑体" panose="02010609060101010101" pitchFamily="2" charset="-122"/>
              </a:rPr>
              <a:t>6-</a:t>
            </a:r>
            <a:r>
              <a:rPr lang="zh-CN" altLang="en-US">
                <a:solidFill>
                  <a:srgbClr val="FF0000"/>
                </a:solidFill>
                <a:latin typeface="Arial" panose="020B0604020202020204" pitchFamily="34" charset="0"/>
                <a:ea typeface="黑体" panose="02010609060101010101" pitchFamily="2" charset="-122"/>
              </a:rPr>
              <a:t>磷酸果糖激酶</a:t>
            </a:r>
            <a:r>
              <a:rPr lang="en-US" altLang="zh-CN">
                <a:solidFill>
                  <a:srgbClr val="FF0000"/>
                </a:solidFill>
                <a:latin typeface="Arial" panose="020B0604020202020204" pitchFamily="34" charset="0"/>
                <a:ea typeface="黑体" panose="02010609060101010101" pitchFamily="2" charset="-122"/>
              </a:rPr>
              <a:t>-1 </a:t>
            </a:r>
            <a:r>
              <a:rPr lang="zh-CN" altLang="en-US">
                <a:solidFill>
                  <a:srgbClr val="FF0000"/>
                </a:solidFill>
                <a:latin typeface="Arial" panose="020B0604020202020204" pitchFamily="34" charset="0"/>
                <a:ea typeface="黑体" panose="02010609060101010101" pitchFamily="2" charset="-122"/>
              </a:rPr>
              <a:t>（</a:t>
            </a:r>
            <a:r>
              <a:rPr lang="en-US" altLang="zh-CN">
                <a:solidFill>
                  <a:srgbClr val="FF0000"/>
                </a:solidFill>
                <a:latin typeface="Arial" panose="020B0604020202020204" pitchFamily="34" charset="0"/>
                <a:ea typeface="黑体" panose="02010609060101010101" pitchFamily="2" charset="-122"/>
              </a:rPr>
              <a:t>PFK-1)</a:t>
            </a:r>
            <a:r>
              <a:rPr lang="zh-CN" altLang="en-US">
                <a:solidFill>
                  <a:srgbClr val="FF0000"/>
                </a:solidFill>
                <a:latin typeface="Arial" panose="020B0604020202020204" pitchFamily="34" charset="0"/>
                <a:ea typeface="黑体" panose="02010609060101010101" pitchFamily="2" charset="-122"/>
              </a:rPr>
              <a:t>的调节</a:t>
            </a:r>
            <a:endParaRPr lang="zh-CN" altLang="en-US">
              <a:solidFill>
                <a:srgbClr val="FF0000"/>
              </a:solidFill>
              <a:latin typeface="Arial" panose="020B0604020202020204" pitchFamily="34" charset="0"/>
              <a:ea typeface="黑体" panose="0201060906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left)">
                                      <p:cBhvr>
                                        <p:cTn id="16" dur="500"/>
                                        <p:tgtEl>
                                          <p:spTgt spid="13"/>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par>
                          <p:cTn id="21" fill="hold">
                            <p:stCondLst>
                              <p:cond delay="1000"/>
                            </p:stCondLst>
                            <p:childTnLst>
                              <p:par>
                                <p:cTn id="22" presetID="22" presetClass="entr" presetSubtype="4"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childTnLst>
                          </p:cTn>
                        </p:par>
                        <p:par>
                          <p:cTn id="25" fill="hold">
                            <p:stCondLst>
                              <p:cond delay="1500"/>
                            </p:stCondLst>
                            <p:childTnLst>
                              <p:par>
                                <p:cTn id="26" presetID="18" presetClass="entr" presetSubtype="12"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strips(downLeft)">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8969"/>
                                        </p:tgtEl>
                                        <p:attrNameLst>
                                          <p:attrName>style.visibility</p:attrName>
                                        </p:attrNameLst>
                                      </p:cBhvr>
                                      <p:to>
                                        <p:strVal val="visible"/>
                                      </p:to>
                                    </p:set>
                                    <p:animEffect transition="in" filter="wipe(left)">
                                      <p:cBhvr>
                                        <p:cTn id="33" dur="500"/>
                                        <p:tgtEl>
                                          <p:spTgt spid="168969"/>
                                        </p:tgtEl>
                                      </p:cBhvr>
                                    </p:animEffec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dissolv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68983"/>
                                        </p:tgtEl>
                                        <p:attrNameLst>
                                          <p:attrName>style.visibility</p:attrName>
                                        </p:attrNameLst>
                                      </p:cBhvr>
                                      <p:to>
                                        <p:strVal val="visible"/>
                                      </p:to>
                                    </p:set>
                                    <p:animEffect transition="in" filter="wipe(right)">
                                      <p:cBhvr>
                                        <p:cTn id="42" dur="500"/>
                                        <p:tgtEl>
                                          <p:spTgt spid="168983"/>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dissolve">
                                      <p:cBhvr>
                                        <p:cTn id="46" dur="500"/>
                                        <p:tgtEl>
                                          <p:spTgt spid="21"/>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68985"/>
                                        </p:tgtEl>
                                        <p:attrNameLst>
                                          <p:attrName>style.visibility</p:attrName>
                                        </p:attrNameLst>
                                      </p:cBhvr>
                                      <p:to>
                                        <p:strVal val="visible"/>
                                      </p:to>
                                    </p:set>
                                    <p:animEffect transition="in" filter="dissolve">
                                      <p:cBhvr>
                                        <p:cTn id="50" dur="500"/>
                                        <p:tgtEl>
                                          <p:spTgt spid="168985"/>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68975"/>
                                        </p:tgtEl>
                                        <p:attrNameLst>
                                          <p:attrName>style.visibility</p:attrName>
                                        </p:attrNameLst>
                                      </p:cBhvr>
                                      <p:to>
                                        <p:strVal val="visible"/>
                                      </p:to>
                                    </p:set>
                                    <p:animEffect transition="in" filter="dissolve">
                                      <p:cBhvr>
                                        <p:cTn id="55" dur="500"/>
                                        <p:tgtEl>
                                          <p:spTgt spid="168975"/>
                                        </p:tgtEl>
                                      </p:cBhvr>
                                    </p:animEffect>
                                  </p:childTnLst>
                                </p:cTn>
                              </p:par>
                            </p:childTnLst>
                          </p:cTn>
                        </p:par>
                        <p:par>
                          <p:cTn id="56" fill="hold">
                            <p:stCondLst>
                              <p:cond delay="500"/>
                            </p:stCondLst>
                            <p:childTnLst>
                              <p:par>
                                <p:cTn id="57" presetID="22" presetClass="entr" presetSubtype="1" fill="hold" nodeType="after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wipe(up)">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wipe(up)">
                                      <p:cBhvr>
                                        <p:cTn id="64" dur="500"/>
                                        <p:tgtEl>
                                          <p:spTgt spid="5"/>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ipe(left)">
                                      <p:cBhvr>
                                        <p:cTn id="68" dur="500"/>
                                        <p:tgtEl>
                                          <p:spTgt spid="7"/>
                                        </p:tgtEl>
                                      </p:cBhvr>
                                    </p:animEffect>
                                  </p:childTnLst>
                                </p:cTn>
                              </p:par>
                            </p:childTnLst>
                          </p:cTn>
                        </p:par>
                        <p:par>
                          <p:cTn id="69" fill="hold">
                            <p:stCondLst>
                              <p:cond delay="1000"/>
                            </p:stCondLst>
                            <p:childTnLst>
                              <p:par>
                                <p:cTn id="70" presetID="18" presetClass="entr" presetSubtype="6" fill="hold" nodeType="after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strips(downRight)">
                                      <p:cBhvr>
                                        <p:cTn id="72" dur="500"/>
                                        <p:tgtEl>
                                          <p:spTgt spid="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wipe(down)">
                                      <p:cBhvr>
                                        <p:cTn id="77" dur="500"/>
                                        <p:tgtEl>
                                          <p:spTgt spid="2"/>
                                        </p:tgtEl>
                                      </p:cBhvr>
                                    </p:animEffect>
                                  </p:childTnLst>
                                </p:cTn>
                              </p:par>
                            </p:childTnLst>
                          </p:cTn>
                        </p:par>
                        <p:par>
                          <p:cTn id="78" fill="hold">
                            <p:stCondLst>
                              <p:cond delay="500"/>
                            </p:stCondLst>
                            <p:childTnLst>
                              <p:par>
                                <p:cTn id="79" presetID="5" presetClass="entr" presetSubtype="10" fill="hold" grpId="0" nodeType="afterEffect">
                                  <p:stCondLst>
                                    <p:cond delay="0"/>
                                  </p:stCondLst>
                                  <p:childTnLst>
                                    <p:set>
                                      <p:cBhvr>
                                        <p:cTn id="80" dur="1" fill="hold">
                                          <p:stCondLst>
                                            <p:cond delay="0"/>
                                          </p:stCondLst>
                                        </p:cTn>
                                        <p:tgtEl>
                                          <p:spTgt spid="168970"/>
                                        </p:tgtEl>
                                        <p:attrNameLst>
                                          <p:attrName>style.visibility</p:attrName>
                                        </p:attrNameLst>
                                      </p:cBhvr>
                                      <p:to>
                                        <p:strVal val="visible"/>
                                      </p:to>
                                    </p:set>
                                    <p:animEffect transition="in" filter="checkerboard(across)">
                                      <p:cBhvr>
                                        <p:cTn id="81" dur="500"/>
                                        <p:tgtEl>
                                          <p:spTgt spid="16897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wipe(up)">
                                      <p:cBhvr>
                                        <p:cTn id="86" dur="500"/>
                                        <p:tgtEl>
                                          <p:spTgt spid="17"/>
                                        </p:tgtEl>
                                      </p:cBhvr>
                                    </p:animEffect>
                                  </p:childTnLst>
                                </p:cTn>
                              </p:par>
                            </p:childTnLst>
                          </p:cTn>
                        </p:par>
                        <p:par>
                          <p:cTn id="87" fill="hold">
                            <p:stCondLst>
                              <p:cond delay="500"/>
                            </p:stCondLst>
                            <p:childTnLst>
                              <p:par>
                                <p:cTn id="88" presetID="22" presetClass="entr" presetSubtype="1" fill="hold"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wipe(up)">
                                      <p:cBhvr>
                                        <p:cTn id="9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9" grpId="0" animBg="1"/>
      <p:bldP spid="168970" grpId="0" autoUpdateAnimBg="0"/>
      <p:bldP spid="168975" grpId="0" autoUpdateAnimBg="0"/>
      <p:bldP spid="168983" grpId="0" animBg="1"/>
      <p:bldP spid="168985"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8"/>
          <p:cNvGrpSpPr/>
          <p:nvPr/>
        </p:nvGrpSpPr>
        <p:grpSpPr bwMode="auto">
          <a:xfrm>
            <a:off x="3970339" y="3635375"/>
            <a:ext cx="5024437" cy="1106488"/>
            <a:chOff x="1359" y="2318"/>
            <a:chExt cx="3165" cy="697"/>
          </a:xfrm>
        </p:grpSpPr>
        <p:sp>
          <p:nvSpPr>
            <p:cNvPr id="131106" name="AutoShape 5"/>
            <p:cNvSpPr>
              <a:spLocks noChangeArrowheads="1"/>
            </p:cNvSpPr>
            <p:nvPr/>
          </p:nvSpPr>
          <p:spPr bwMode="auto">
            <a:xfrm rot="-5480557">
              <a:off x="2834" y="1032"/>
              <a:ext cx="404" cy="2976"/>
            </a:xfrm>
            <a:prstGeom prst="curvedRightArrow">
              <a:avLst>
                <a:gd name="adj1" fmla="val 31409"/>
                <a:gd name="adj2" fmla="val 225321"/>
                <a:gd name="adj3" fmla="val 15245"/>
              </a:avLst>
            </a:prstGeom>
            <a:solidFill>
              <a:schemeClr val="tx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31107" name="Line 6"/>
            <p:cNvSpPr>
              <a:spLocks noChangeShapeType="1"/>
            </p:cNvSpPr>
            <p:nvPr/>
          </p:nvSpPr>
          <p:spPr bwMode="auto">
            <a:xfrm flipV="1">
              <a:off x="1837" y="2688"/>
              <a:ext cx="336" cy="96"/>
            </a:xfrm>
            <a:prstGeom prst="line">
              <a:avLst/>
            </a:prstGeom>
            <a:noFill/>
            <a:ln w="508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08" name="Line 7"/>
            <p:cNvSpPr>
              <a:spLocks noChangeShapeType="1"/>
            </p:cNvSpPr>
            <p:nvPr/>
          </p:nvSpPr>
          <p:spPr bwMode="auto">
            <a:xfrm>
              <a:off x="3663" y="2629"/>
              <a:ext cx="384" cy="192"/>
            </a:xfrm>
            <a:prstGeom prst="line">
              <a:avLst/>
            </a:prstGeom>
            <a:noFill/>
            <a:ln w="508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09" name="Text Box 8"/>
            <p:cNvSpPr txBox="1">
              <a:spLocks noChangeArrowheads="1"/>
            </p:cNvSpPr>
            <p:nvPr/>
          </p:nvSpPr>
          <p:spPr bwMode="auto">
            <a:xfrm>
              <a:off x="1359" y="2724"/>
              <a:ext cx="5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latin typeface="Antique Olive"/>
                  <a:ea typeface="宋体" panose="02010600030101010101" pitchFamily="2" charset="-122"/>
                </a:rPr>
                <a:t>ATP    </a:t>
              </a:r>
              <a:endParaRPr kumimoji="1" lang="en-US" altLang="zh-CN" sz="2400" b="0">
                <a:latin typeface="Antique Olive"/>
                <a:ea typeface="宋体" panose="02010600030101010101" pitchFamily="2" charset="-122"/>
              </a:endParaRPr>
            </a:p>
          </p:txBody>
        </p:sp>
        <p:sp>
          <p:nvSpPr>
            <p:cNvPr id="131110" name="Text Box 9"/>
            <p:cNvSpPr txBox="1">
              <a:spLocks noChangeArrowheads="1"/>
            </p:cNvSpPr>
            <p:nvPr/>
          </p:nvSpPr>
          <p:spPr bwMode="auto">
            <a:xfrm>
              <a:off x="3989" y="2724"/>
              <a:ext cx="53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latin typeface="Antique Olive"/>
                  <a:ea typeface="宋体" panose="02010600030101010101" pitchFamily="2" charset="-122"/>
                </a:rPr>
                <a:t>ADP  </a:t>
              </a:r>
              <a:endParaRPr kumimoji="1" lang="en-US" altLang="zh-CN" sz="2400" b="0">
                <a:latin typeface="Antique Olive"/>
                <a:ea typeface="宋体" panose="02010600030101010101" pitchFamily="2" charset="-122"/>
              </a:endParaRPr>
            </a:p>
          </p:txBody>
        </p:sp>
      </p:grpSp>
      <p:grpSp>
        <p:nvGrpSpPr>
          <p:cNvPr id="3" name="Group 39"/>
          <p:cNvGrpSpPr/>
          <p:nvPr/>
        </p:nvGrpSpPr>
        <p:grpSpPr bwMode="auto">
          <a:xfrm>
            <a:off x="4021138" y="1557339"/>
            <a:ext cx="4254500" cy="962025"/>
            <a:chOff x="1391" y="1009"/>
            <a:chExt cx="2680" cy="606"/>
          </a:xfrm>
        </p:grpSpPr>
        <p:sp>
          <p:nvSpPr>
            <p:cNvPr id="131102" name="AutoShape 4"/>
            <p:cNvSpPr>
              <a:spLocks noChangeArrowheads="1"/>
            </p:cNvSpPr>
            <p:nvPr/>
          </p:nvSpPr>
          <p:spPr bwMode="auto">
            <a:xfrm rot="5444127">
              <a:off x="2587" y="131"/>
              <a:ext cx="288" cy="2680"/>
            </a:xfrm>
            <a:prstGeom prst="curvedRightArrow">
              <a:avLst>
                <a:gd name="adj1" fmla="val 30243"/>
                <a:gd name="adj2" fmla="val 269689"/>
                <a:gd name="adj3" fmla="val 33042"/>
              </a:avLst>
            </a:prstGeom>
            <a:solidFill>
              <a:schemeClr val="tx1"/>
            </a:solidFill>
            <a:ln w="9525">
              <a:solidFill>
                <a:schemeClr val="tx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131103" name="Line 11"/>
            <p:cNvSpPr>
              <a:spLocks noChangeShapeType="1"/>
            </p:cNvSpPr>
            <p:nvPr/>
          </p:nvSpPr>
          <p:spPr bwMode="auto">
            <a:xfrm flipH="1" flipV="1">
              <a:off x="2018" y="1281"/>
              <a:ext cx="288" cy="96"/>
            </a:xfrm>
            <a:prstGeom prst="line">
              <a:avLst/>
            </a:prstGeom>
            <a:noFill/>
            <a:ln w="508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104" name="Text Box 12"/>
            <p:cNvSpPr txBox="1">
              <a:spLocks noChangeArrowheads="1"/>
            </p:cNvSpPr>
            <p:nvPr/>
          </p:nvSpPr>
          <p:spPr bwMode="auto">
            <a:xfrm>
              <a:off x="1766" y="1013"/>
              <a:ext cx="3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latin typeface="Antique Olive"/>
                  <a:ea typeface="宋体" panose="02010600030101010101" pitchFamily="2" charset="-122"/>
                </a:rPr>
                <a:t>Pi  </a:t>
              </a:r>
              <a:endParaRPr kumimoji="1" lang="en-US" altLang="zh-CN" sz="2800" b="0">
                <a:latin typeface="Antique Olive"/>
                <a:ea typeface="宋体" panose="02010600030101010101" pitchFamily="2" charset="-122"/>
              </a:endParaRPr>
            </a:p>
          </p:txBody>
        </p:sp>
        <p:sp>
          <p:nvSpPr>
            <p:cNvPr id="131105" name="Text Box 13"/>
            <p:cNvSpPr txBox="1">
              <a:spLocks noChangeArrowheads="1"/>
            </p:cNvSpPr>
            <p:nvPr/>
          </p:nvSpPr>
          <p:spPr bwMode="auto">
            <a:xfrm>
              <a:off x="2245" y="1009"/>
              <a:ext cx="14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latin typeface="楷体_GB2312" pitchFamily="49" charset="-122"/>
                </a:rPr>
                <a:t>磷蛋白磷酸酶</a:t>
              </a:r>
              <a:endParaRPr kumimoji="1" lang="zh-CN" altLang="en-US" sz="2400" b="0">
                <a:latin typeface="楷体_GB2312" pitchFamily="49" charset="-122"/>
              </a:endParaRPr>
            </a:p>
          </p:txBody>
        </p:sp>
      </p:grpSp>
      <p:grpSp>
        <p:nvGrpSpPr>
          <p:cNvPr id="4" name="Group 36"/>
          <p:cNvGrpSpPr/>
          <p:nvPr/>
        </p:nvGrpSpPr>
        <p:grpSpPr bwMode="auto">
          <a:xfrm>
            <a:off x="3081339" y="2682875"/>
            <a:ext cx="2198687" cy="876300"/>
            <a:chOff x="799" y="1718"/>
            <a:chExt cx="1385" cy="552"/>
          </a:xfrm>
        </p:grpSpPr>
        <p:sp>
          <p:nvSpPr>
            <p:cNvPr id="131100" name="Text Box 2"/>
            <p:cNvSpPr txBox="1">
              <a:spLocks noChangeArrowheads="1"/>
            </p:cNvSpPr>
            <p:nvPr/>
          </p:nvSpPr>
          <p:spPr bwMode="auto">
            <a:xfrm>
              <a:off x="799" y="1718"/>
              <a:ext cx="13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latin typeface="楷体_GB2312" pitchFamily="49" charset="-122"/>
                </a:rPr>
                <a:t>丙酮酸激酶</a:t>
              </a:r>
              <a:r>
                <a:rPr kumimoji="1" lang="zh-CN" altLang="en-US" sz="2800" b="0">
                  <a:latin typeface="华文中宋" panose="02010600040101010101" pitchFamily="2" charset="-122"/>
                  <a:ea typeface="华文中宋" panose="02010600040101010101" pitchFamily="2" charset="-122"/>
                </a:rPr>
                <a:t>  </a:t>
              </a:r>
              <a:endParaRPr kumimoji="1" lang="zh-CN" altLang="en-US" sz="2800" b="0">
                <a:latin typeface="华文中宋" panose="02010600040101010101" pitchFamily="2" charset="-122"/>
                <a:ea typeface="华文中宋" panose="02010600040101010101" pitchFamily="2" charset="-122"/>
              </a:endParaRPr>
            </a:p>
          </p:txBody>
        </p:sp>
        <p:sp>
          <p:nvSpPr>
            <p:cNvPr id="131101" name="Text Box 15"/>
            <p:cNvSpPr txBox="1">
              <a:spLocks noChangeArrowheads="1"/>
            </p:cNvSpPr>
            <p:nvPr/>
          </p:nvSpPr>
          <p:spPr bwMode="auto">
            <a:xfrm>
              <a:off x="831" y="1982"/>
              <a:ext cx="11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ea typeface="隶书" panose="02010509060101010101" pitchFamily="49" charset="-122"/>
                </a:rPr>
                <a:t>（有活性）</a:t>
              </a:r>
              <a:r>
                <a:rPr kumimoji="1" lang="zh-CN" altLang="en-US" sz="2400" b="0">
                  <a:solidFill>
                    <a:schemeClr val="tx2"/>
                  </a:solidFill>
                  <a:ea typeface="宋体" panose="02010600030101010101" pitchFamily="2" charset="-122"/>
                </a:rPr>
                <a:t>  </a:t>
              </a:r>
              <a:endParaRPr kumimoji="1" lang="zh-CN" altLang="en-US" sz="2400" b="0">
                <a:solidFill>
                  <a:schemeClr val="tx2"/>
                </a:solidFill>
                <a:ea typeface="宋体" panose="02010600030101010101" pitchFamily="2" charset="-122"/>
              </a:endParaRPr>
            </a:p>
          </p:txBody>
        </p:sp>
      </p:grpSp>
      <p:sp>
        <p:nvSpPr>
          <p:cNvPr id="171024" name="Text Box 16"/>
          <p:cNvSpPr txBox="1">
            <a:spLocks noChangeArrowheads="1"/>
          </p:cNvSpPr>
          <p:nvPr/>
        </p:nvSpPr>
        <p:spPr bwMode="auto">
          <a:xfrm>
            <a:off x="2154239" y="3892551"/>
            <a:ext cx="2325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000066"/>
                </a:solidFill>
              </a:rPr>
              <a:t>胰高血糖素    </a:t>
            </a:r>
            <a:endParaRPr kumimoji="1" lang="zh-CN" altLang="en-US" sz="2800" b="0">
              <a:solidFill>
                <a:srgbClr val="000066"/>
              </a:solidFill>
            </a:endParaRPr>
          </a:p>
        </p:txBody>
      </p:sp>
      <p:sp>
        <p:nvSpPr>
          <p:cNvPr id="171025" name="Line 17"/>
          <p:cNvSpPr>
            <a:spLocks noChangeShapeType="1"/>
          </p:cNvSpPr>
          <p:nvPr/>
        </p:nvSpPr>
        <p:spPr bwMode="auto">
          <a:xfrm>
            <a:off x="4251325" y="5665788"/>
            <a:ext cx="125095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026" name="Text Box 18"/>
          <p:cNvSpPr txBox="1">
            <a:spLocks noChangeArrowheads="1"/>
          </p:cNvSpPr>
          <p:nvPr/>
        </p:nvSpPr>
        <p:spPr bwMode="auto">
          <a:xfrm>
            <a:off x="5581650" y="5430838"/>
            <a:ext cx="2597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solidFill>
                  <a:srgbClr val="000066"/>
                </a:solidFill>
              </a:rPr>
              <a:t>PKA, CaM</a:t>
            </a:r>
            <a:r>
              <a:rPr kumimoji="1" lang="zh-CN" altLang="en-US" sz="2800" b="0">
                <a:solidFill>
                  <a:srgbClr val="000066"/>
                </a:solidFill>
              </a:rPr>
              <a:t>激酶</a:t>
            </a:r>
            <a:endParaRPr kumimoji="1" lang="zh-CN" altLang="en-US" sz="2800" b="0">
              <a:solidFill>
                <a:srgbClr val="000066"/>
              </a:solidFill>
            </a:endParaRPr>
          </a:p>
        </p:txBody>
      </p:sp>
      <p:grpSp>
        <p:nvGrpSpPr>
          <p:cNvPr id="5" name="Group 19"/>
          <p:cNvGrpSpPr/>
          <p:nvPr/>
        </p:nvGrpSpPr>
        <p:grpSpPr bwMode="auto">
          <a:xfrm>
            <a:off x="6384925" y="4438650"/>
            <a:ext cx="431800" cy="1054100"/>
            <a:chOff x="2880" y="2284"/>
            <a:chExt cx="212" cy="500"/>
          </a:xfrm>
        </p:grpSpPr>
        <p:sp>
          <p:nvSpPr>
            <p:cNvPr id="131096" name="Line 20"/>
            <p:cNvSpPr>
              <a:spLocks noChangeShapeType="1"/>
            </p:cNvSpPr>
            <p:nvPr/>
          </p:nvSpPr>
          <p:spPr bwMode="auto">
            <a:xfrm flipV="1">
              <a:off x="2880" y="2284"/>
              <a:ext cx="0" cy="50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1097" name="Group 21"/>
            <p:cNvGrpSpPr/>
            <p:nvPr/>
          </p:nvGrpSpPr>
          <p:grpSpPr bwMode="auto">
            <a:xfrm>
              <a:off x="2996" y="2544"/>
              <a:ext cx="96" cy="96"/>
              <a:chOff x="3072" y="3600"/>
              <a:chExt cx="96" cy="96"/>
            </a:xfrm>
          </p:grpSpPr>
          <p:sp>
            <p:nvSpPr>
              <p:cNvPr id="131098" name="Line 22"/>
              <p:cNvSpPr>
                <a:spLocks noChangeShapeType="1"/>
              </p:cNvSpPr>
              <p:nvPr/>
            </p:nvSpPr>
            <p:spPr bwMode="auto">
              <a:xfrm>
                <a:off x="3072" y="3648"/>
                <a:ext cx="96"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1099" name="Line 23"/>
              <p:cNvSpPr>
                <a:spLocks noChangeShapeType="1"/>
              </p:cNvSpPr>
              <p:nvPr/>
            </p:nvSpPr>
            <p:spPr bwMode="auto">
              <a:xfrm>
                <a:off x="3120" y="3600"/>
                <a:ext cx="0" cy="9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7" name="Group 37"/>
          <p:cNvGrpSpPr/>
          <p:nvPr/>
        </p:nvGrpSpPr>
        <p:grpSpPr bwMode="auto">
          <a:xfrm>
            <a:off x="7475539" y="2681289"/>
            <a:ext cx="2581275" cy="877887"/>
            <a:chOff x="3567" y="1717"/>
            <a:chExt cx="1626" cy="553"/>
          </a:xfrm>
        </p:grpSpPr>
        <p:sp>
          <p:nvSpPr>
            <p:cNvPr id="131090" name="Text Box 3"/>
            <p:cNvSpPr txBox="1">
              <a:spLocks noChangeArrowheads="1"/>
            </p:cNvSpPr>
            <p:nvPr/>
          </p:nvSpPr>
          <p:spPr bwMode="auto">
            <a:xfrm>
              <a:off x="3567" y="1717"/>
              <a:ext cx="13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latin typeface="楷体_GB2312" pitchFamily="49" charset="-122"/>
                </a:rPr>
                <a:t>丙酮酸激酶  </a:t>
              </a:r>
              <a:endParaRPr kumimoji="1" lang="zh-CN" altLang="en-US" sz="2800" b="0">
                <a:latin typeface="楷体_GB2312" pitchFamily="49" charset="-122"/>
              </a:endParaRPr>
            </a:p>
          </p:txBody>
        </p:sp>
        <p:sp>
          <p:nvSpPr>
            <p:cNvPr id="131091" name="Line 10"/>
            <p:cNvSpPr>
              <a:spLocks noChangeShapeType="1"/>
            </p:cNvSpPr>
            <p:nvPr/>
          </p:nvSpPr>
          <p:spPr bwMode="auto">
            <a:xfrm>
              <a:off x="4740" y="1916"/>
              <a:ext cx="1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092" name="Text Box 14"/>
            <p:cNvSpPr txBox="1">
              <a:spLocks noChangeArrowheads="1"/>
            </p:cNvSpPr>
            <p:nvPr/>
          </p:nvSpPr>
          <p:spPr bwMode="auto">
            <a:xfrm>
              <a:off x="3623" y="1982"/>
              <a:ext cx="11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000066"/>
                  </a:solidFill>
                  <a:ea typeface="隶书" panose="02010509060101010101" pitchFamily="49" charset="-122"/>
                </a:rPr>
                <a:t>（无活性）</a:t>
              </a:r>
              <a:r>
                <a:rPr kumimoji="1" lang="zh-CN" altLang="en-US" sz="2400" b="0">
                  <a:solidFill>
                    <a:schemeClr val="accent1"/>
                  </a:solidFill>
                  <a:ea typeface="宋体" panose="02010600030101010101" pitchFamily="2" charset="-122"/>
                </a:rPr>
                <a:t> </a:t>
              </a:r>
              <a:endParaRPr kumimoji="1" lang="zh-CN" altLang="en-US" sz="2400" b="0">
                <a:solidFill>
                  <a:schemeClr val="accent1"/>
                </a:solidFill>
                <a:ea typeface="宋体" panose="02010600030101010101" pitchFamily="2" charset="-122"/>
              </a:endParaRPr>
            </a:p>
          </p:txBody>
        </p:sp>
        <p:grpSp>
          <p:nvGrpSpPr>
            <p:cNvPr id="131093" name="Group 24"/>
            <p:cNvGrpSpPr/>
            <p:nvPr/>
          </p:nvGrpSpPr>
          <p:grpSpPr bwMode="auto">
            <a:xfrm>
              <a:off x="4921" y="1735"/>
              <a:ext cx="272" cy="327"/>
              <a:chOff x="4785" y="1008"/>
              <a:chExt cx="272" cy="327"/>
            </a:xfrm>
          </p:grpSpPr>
          <p:sp>
            <p:nvSpPr>
              <p:cNvPr id="131094" name="Oval 25"/>
              <p:cNvSpPr>
                <a:spLocks noChangeArrowheads="1"/>
              </p:cNvSpPr>
              <p:nvPr/>
            </p:nvSpPr>
            <p:spPr bwMode="auto">
              <a:xfrm>
                <a:off x="4785" y="1026"/>
                <a:ext cx="272" cy="288"/>
              </a:xfrm>
              <a:prstGeom prst="ellipse">
                <a:avLst/>
              </a:prstGeom>
              <a:solidFill>
                <a:srgbClr val="CCFF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kumimoji="1" lang="zh-CN" altLang="en-US" sz="2800" b="0">
                  <a:solidFill>
                    <a:srgbClr val="CCFF33"/>
                  </a:solidFill>
                  <a:ea typeface="宋体" panose="02010600030101010101" pitchFamily="2" charset="-122"/>
                </a:endParaRPr>
              </a:p>
            </p:txBody>
          </p:sp>
          <p:sp>
            <p:nvSpPr>
              <p:cNvPr id="131095" name="Rectangle 26"/>
              <p:cNvSpPr>
                <a:spLocks noChangeArrowheads="1"/>
              </p:cNvSpPr>
              <p:nvPr/>
            </p:nvSpPr>
            <p:spPr bwMode="auto">
              <a:xfrm>
                <a:off x="4806" y="1008"/>
                <a:ext cx="2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latin typeface="Antique Olive"/>
                    <a:ea typeface="宋体" panose="02010600030101010101" pitchFamily="2" charset="-122"/>
                  </a:rPr>
                  <a:t>P</a:t>
                </a:r>
                <a:endParaRPr kumimoji="1" lang="en-US" altLang="zh-CN" sz="2800" b="0">
                  <a:latin typeface="Antique Olive"/>
                  <a:ea typeface="宋体" panose="02010600030101010101" pitchFamily="2" charset="-122"/>
                </a:endParaRPr>
              </a:p>
            </p:txBody>
          </p:sp>
        </p:grpSp>
      </p:grpSp>
      <p:grpSp>
        <p:nvGrpSpPr>
          <p:cNvPr id="9" name="Group 29"/>
          <p:cNvGrpSpPr/>
          <p:nvPr/>
        </p:nvGrpSpPr>
        <p:grpSpPr bwMode="auto">
          <a:xfrm>
            <a:off x="2056713" y="4895551"/>
            <a:ext cx="2254250" cy="939800"/>
            <a:chOff x="0" y="845"/>
            <a:chExt cx="1420" cy="592"/>
          </a:xfrm>
        </p:grpSpPr>
        <p:sp>
          <p:nvSpPr>
            <p:cNvPr id="131087" name="Arc 30"/>
            <p:cNvSpPr/>
            <p:nvPr/>
          </p:nvSpPr>
          <p:spPr bwMode="auto">
            <a:xfrm>
              <a:off x="295" y="845"/>
              <a:ext cx="843" cy="575"/>
            </a:xfrm>
            <a:custGeom>
              <a:avLst/>
              <a:gdLst>
                <a:gd name="T0" fmla="*/ 0 w 37429"/>
                <a:gd name="T1" fmla="*/ 0 h 21600"/>
                <a:gd name="T2" fmla="*/ 0 w 37429"/>
                <a:gd name="T3" fmla="*/ 0 h 21600"/>
                <a:gd name="T4" fmla="*/ 0 w 37429"/>
                <a:gd name="T5" fmla="*/ 0 h 21600"/>
                <a:gd name="T6" fmla="*/ 0 60000 65536"/>
                <a:gd name="T7" fmla="*/ 0 60000 65536"/>
                <a:gd name="T8" fmla="*/ 0 60000 65536"/>
                <a:gd name="T9" fmla="*/ 0 w 37429"/>
                <a:gd name="T10" fmla="*/ 0 h 21600"/>
                <a:gd name="T11" fmla="*/ 37429 w 37429"/>
                <a:gd name="T12" fmla="*/ 21600 h 21600"/>
              </a:gdLst>
              <a:ahLst/>
              <a:cxnLst>
                <a:cxn ang="T6">
                  <a:pos x="T0" y="T1"/>
                </a:cxn>
                <a:cxn ang="T7">
                  <a:pos x="T2" y="T3"/>
                </a:cxn>
                <a:cxn ang="T8">
                  <a:pos x="T4" y="T5"/>
                </a:cxn>
              </a:cxnLst>
              <a:rect l="T9" t="T10" r="T11" b="T12"/>
              <a:pathLst>
                <a:path w="37429" h="21600" fill="none" extrusionOk="0">
                  <a:moveTo>
                    <a:pt x="-1" y="10052"/>
                  </a:moveTo>
                  <a:cubicBezTo>
                    <a:pt x="3958" y="3794"/>
                    <a:pt x="10848" y="-1"/>
                    <a:pt x="18254" y="0"/>
                  </a:cubicBezTo>
                  <a:cubicBezTo>
                    <a:pt x="26320" y="0"/>
                    <a:pt x="33715" y="4494"/>
                    <a:pt x="37428" y="11656"/>
                  </a:cubicBezTo>
                </a:path>
                <a:path w="37429" h="21600" stroke="0" extrusionOk="0">
                  <a:moveTo>
                    <a:pt x="-1" y="10052"/>
                  </a:moveTo>
                  <a:cubicBezTo>
                    <a:pt x="3958" y="3794"/>
                    <a:pt x="10848" y="-1"/>
                    <a:pt x="18254" y="0"/>
                  </a:cubicBezTo>
                  <a:cubicBezTo>
                    <a:pt x="26320" y="0"/>
                    <a:pt x="33715" y="4494"/>
                    <a:pt x="37428" y="11656"/>
                  </a:cubicBezTo>
                  <a:lnTo>
                    <a:pt x="18254" y="21600"/>
                  </a:lnTo>
                  <a:lnTo>
                    <a:pt x="-1" y="10052"/>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31088" name="Text Box 31"/>
            <p:cNvSpPr txBox="1">
              <a:spLocks noChangeArrowheads="1"/>
            </p:cNvSpPr>
            <p:nvPr/>
          </p:nvSpPr>
          <p:spPr bwMode="auto">
            <a:xfrm>
              <a:off x="0" y="1149"/>
              <a:ext cx="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latin typeface="Arial" panose="020B0604020202020204" pitchFamily="34" charset="0"/>
                  <a:ea typeface="宋体" panose="02010600030101010101" pitchFamily="2" charset="-122"/>
                </a:rPr>
                <a:t>ATP</a:t>
              </a:r>
              <a:r>
                <a:rPr kumimoji="1" lang="en-US" altLang="zh-CN" sz="2400" b="0">
                  <a:solidFill>
                    <a:srgbClr val="FF99FF"/>
                  </a:solidFill>
                  <a:latin typeface="Arial" panose="020B0604020202020204" pitchFamily="34" charset="0"/>
                  <a:ea typeface="宋体" panose="02010600030101010101" pitchFamily="2" charset="-122"/>
                </a:rPr>
                <a:t> </a:t>
              </a:r>
              <a:endParaRPr kumimoji="1" lang="en-US" altLang="zh-CN" sz="2400" b="0">
                <a:solidFill>
                  <a:srgbClr val="FF99FF"/>
                </a:solidFill>
                <a:latin typeface="Arial" panose="020B0604020202020204" pitchFamily="34" charset="0"/>
                <a:ea typeface="宋体" panose="02010600030101010101" pitchFamily="2" charset="-122"/>
              </a:endParaRPr>
            </a:p>
          </p:txBody>
        </p:sp>
        <p:sp>
          <p:nvSpPr>
            <p:cNvPr id="131089" name="Text Box 32"/>
            <p:cNvSpPr txBox="1">
              <a:spLocks noChangeArrowheads="1"/>
            </p:cNvSpPr>
            <p:nvPr/>
          </p:nvSpPr>
          <p:spPr bwMode="auto">
            <a:xfrm>
              <a:off x="748" y="1149"/>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latin typeface="Arial" panose="020B0604020202020204" pitchFamily="34" charset="0"/>
                  <a:ea typeface="宋体" panose="02010600030101010101" pitchFamily="2" charset="-122"/>
                </a:rPr>
                <a:t>cAMP</a:t>
              </a:r>
              <a:r>
                <a:rPr kumimoji="1" lang="en-US" altLang="zh-CN" sz="2000" b="0">
                  <a:solidFill>
                    <a:srgbClr val="FCFC5C"/>
                  </a:solidFill>
                  <a:latin typeface="Arial" panose="020B0604020202020204" pitchFamily="34" charset="0"/>
                  <a:ea typeface="宋体" panose="02010600030101010101" pitchFamily="2" charset="-122"/>
                </a:rPr>
                <a:t> </a:t>
              </a:r>
              <a:endParaRPr kumimoji="1" lang="en-US" altLang="zh-CN" sz="2000" b="0">
                <a:solidFill>
                  <a:srgbClr val="FCFC5C"/>
                </a:solidFill>
                <a:latin typeface="Arial" panose="020B0604020202020204" pitchFamily="34" charset="0"/>
                <a:ea typeface="宋体" panose="02010600030101010101" pitchFamily="2" charset="-122"/>
              </a:endParaRPr>
            </a:p>
          </p:txBody>
        </p:sp>
      </p:grpSp>
      <p:grpSp>
        <p:nvGrpSpPr>
          <p:cNvPr id="10" name="Group 33"/>
          <p:cNvGrpSpPr/>
          <p:nvPr/>
        </p:nvGrpSpPr>
        <p:grpSpPr bwMode="auto">
          <a:xfrm>
            <a:off x="3184525" y="4318000"/>
            <a:ext cx="0" cy="623888"/>
            <a:chOff x="864" y="2055"/>
            <a:chExt cx="0" cy="393"/>
          </a:xfrm>
        </p:grpSpPr>
        <p:sp>
          <p:nvSpPr>
            <p:cNvPr id="131085" name="Line 34"/>
            <p:cNvSpPr>
              <a:spLocks noChangeShapeType="1"/>
            </p:cNvSpPr>
            <p:nvPr/>
          </p:nvSpPr>
          <p:spPr bwMode="auto">
            <a:xfrm>
              <a:off x="864" y="2055"/>
              <a:ext cx="0" cy="209"/>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1086" name="Line 35"/>
            <p:cNvSpPr>
              <a:spLocks noChangeShapeType="1"/>
            </p:cNvSpPr>
            <p:nvPr/>
          </p:nvSpPr>
          <p:spPr bwMode="auto">
            <a:xfrm>
              <a:off x="864" y="2239"/>
              <a:ext cx="0" cy="209"/>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31084" name="Text Box 40"/>
          <p:cNvSpPr txBox="1">
            <a:spLocks noChangeArrowheads="1"/>
          </p:cNvSpPr>
          <p:nvPr/>
        </p:nvSpPr>
        <p:spPr bwMode="auto">
          <a:xfrm>
            <a:off x="2762251" y="436564"/>
            <a:ext cx="70469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dirty="0">
                <a:solidFill>
                  <a:srgbClr val="660033"/>
                </a:solidFill>
                <a:latin typeface="微软雅黑" panose="020B0503020204020204" pitchFamily="34" charset="-122"/>
                <a:ea typeface="微软雅黑" panose="020B0503020204020204" pitchFamily="34" charset="-122"/>
              </a:rPr>
              <a:t>肝细胞中丙酮酸激酶的共价修饰调节</a:t>
            </a:r>
            <a:endParaRPr lang="zh-CN" altLang="en-US" dirty="0">
              <a:solidFill>
                <a:srgbClr val="660033"/>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71024"/>
                                        </p:tgtEl>
                                        <p:attrNameLst>
                                          <p:attrName>style.visibility</p:attrName>
                                        </p:attrNameLst>
                                      </p:cBhvr>
                                      <p:to>
                                        <p:strVal val="visible"/>
                                      </p:to>
                                    </p:set>
                                    <p:animEffect transition="in" filter="dissolve">
                                      <p:cBhvr>
                                        <p:cTn id="7" dur="500"/>
                                        <p:tgtEl>
                                          <p:spTgt spid="17102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71025"/>
                                        </p:tgtEl>
                                        <p:attrNameLst>
                                          <p:attrName>style.visibility</p:attrName>
                                        </p:attrNameLst>
                                      </p:cBhvr>
                                      <p:to>
                                        <p:strVal val="visible"/>
                                      </p:to>
                                    </p:set>
                                    <p:animEffect transition="in" filter="wipe(left)">
                                      <p:cBhvr>
                                        <p:cTn id="19" dur="500"/>
                                        <p:tgtEl>
                                          <p:spTgt spid="171025"/>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171026"/>
                                        </p:tgtEl>
                                        <p:attrNameLst>
                                          <p:attrName>style.visibility</p:attrName>
                                        </p:attrNameLst>
                                      </p:cBhvr>
                                      <p:to>
                                        <p:strVal val="visible"/>
                                      </p:to>
                                    </p:set>
                                    <p:animEffect transition="in" filter="dissolve">
                                      <p:cBhvr>
                                        <p:cTn id="23" dur="500"/>
                                        <p:tgtEl>
                                          <p:spTgt spid="17102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ssolve">
                                      <p:cBhvr>
                                        <p:cTn id="32" dur="500"/>
                                        <p:tgtEl>
                                          <p:spTgt spid="4"/>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par>
                          <p:cTn id="37" fill="hold">
                            <p:stCondLst>
                              <p:cond delay="1500"/>
                            </p:stCondLst>
                            <p:childTnLst>
                              <p:par>
                                <p:cTn id="38" presetID="9" presetClass="entr" presetSubtype="0"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dissolve">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right)">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24" grpId="0" autoUpdateAnimBg="0"/>
      <p:bldP spid="171026"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标题 1"/>
          <p:cNvSpPr>
            <a:spLocks noGrp="1" noChangeArrowheads="1"/>
          </p:cNvSpPr>
          <p:nvPr>
            <p:ph type="title" idx="4294967295"/>
          </p:nvPr>
        </p:nvSpPr>
        <p:spPr>
          <a:xfrm>
            <a:off x="2063553" y="404665"/>
            <a:ext cx="8516937" cy="563563"/>
          </a:xfrm>
        </p:spPr>
        <p:txBody>
          <a:bodyPr/>
          <a:lstStyle/>
          <a:p>
            <a:r>
              <a:rPr lang="zh-CN" altLang="en-US" sz="3600" dirty="0">
                <a:solidFill>
                  <a:srgbClr val="660066"/>
                </a:solidFill>
              </a:rPr>
              <a:t>糖酵解的调节在肝脏及肝外组织不同</a:t>
            </a:r>
            <a:endParaRPr lang="zh-CN" altLang="en-US" sz="3600" dirty="0">
              <a:solidFill>
                <a:srgbClr val="660066"/>
              </a:solidFill>
            </a:endParaRPr>
          </a:p>
        </p:txBody>
      </p:sp>
      <p:sp>
        <p:nvSpPr>
          <p:cNvPr id="3" name="文本框 2"/>
          <p:cNvSpPr txBox="1"/>
          <p:nvPr/>
        </p:nvSpPr>
        <p:spPr>
          <a:xfrm>
            <a:off x="1972205" y="1412776"/>
            <a:ext cx="8588946" cy="5176802"/>
          </a:xfrm>
          <a:prstGeom prst="rect">
            <a:avLst/>
          </a:prstGeom>
          <a:noFill/>
        </p:spPr>
        <p:txBody>
          <a:bodyPr wrap="square" rtlCol="0">
            <a:spAutoFit/>
          </a:bodyPr>
          <a:lstStyle/>
          <a:p>
            <a:pPr marL="457200" indent="-457200">
              <a:lnSpc>
                <a:spcPct val="120000"/>
              </a:lnSpc>
              <a:buClr>
                <a:srgbClr val="0000CC"/>
              </a:buClr>
              <a:buFont typeface="Wingdings" panose="05000000000000000000" pitchFamily="2" charset="2"/>
              <a:buChar char="Ø"/>
            </a:pPr>
            <a:r>
              <a:rPr lang="zh-CN" altLang="en-US" sz="2800" dirty="0">
                <a:solidFill>
                  <a:srgbClr val="0000CC"/>
                </a:solidFill>
                <a:latin typeface="微软雅黑" panose="020B0503020204020204" pitchFamily="34" charset="-122"/>
                <a:ea typeface="微软雅黑" panose="020B0503020204020204" pitchFamily="34" charset="-122"/>
              </a:rPr>
              <a:t>肌</a:t>
            </a:r>
            <a:r>
              <a:rPr lang="zh-CN" altLang="en-US" sz="2800" dirty="0">
                <a:latin typeface="微软雅黑" panose="020B0503020204020204" pitchFamily="34" charset="-122"/>
                <a:ea typeface="微软雅黑" panose="020B0503020204020204" pitchFamily="34" charset="-122"/>
              </a:rPr>
              <a:t>内糖酵解调节主要</a:t>
            </a:r>
            <a:r>
              <a:rPr lang="zh-CN" altLang="en-US" sz="2800" dirty="0">
                <a:solidFill>
                  <a:srgbClr val="0000CC"/>
                </a:solidFill>
                <a:latin typeface="微软雅黑" panose="020B0503020204020204" pitchFamily="34" charset="-122"/>
                <a:ea typeface="微软雅黑" panose="020B0503020204020204" pitchFamily="34" charset="-122"/>
              </a:rPr>
              <a:t>适应能量需求</a:t>
            </a:r>
            <a:r>
              <a:rPr lang="zh-CN" altLang="en-US"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400" dirty="0"/>
              <a:t>消耗能量多 </a:t>
            </a:r>
            <a:r>
              <a:rPr lang="zh-CN" altLang="en-US" sz="2400" dirty="0">
                <a:sym typeface="Symbol" panose="05050102010706020507" pitchFamily="18" charset="2"/>
              </a:rPr>
              <a:t> </a:t>
            </a:r>
            <a:r>
              <a:rPr lang="en-US" altLang="zh-CN" sz="2400" dirty="0">
                <a:sym typeface="Symbol" panose="05050102010706020507" pitchFamily="18" charset="2"/>
              </a:rPr>
              <a:t>ATP/AMP ↓</a:t>
            </a:r>
            <a:r>
              <a:rPr lang="zh-CN" altLang="en-US" sz="2400" dirty="0">
                <a:sym typeface="Symbol" panose="05050102010706020507" pitchFamily="18" charset="2"/>
              </a:rPr>
              <a:t>  </a:t>
            </a:r>
            <a:r>
              <a:rPr lang="zh-CN" altLang="en-US" sz="2400" dirty="0">
                <a:solidFill>
                  <a:srgbClr val="C00000"/>
                </a:solidFill>
                <a:sym typeface="Symbol" panose="05050102010706020507" pitchFamily="18" charset="2"/>
              </a:rPr>
              <a:t>磷酸果糖激酶</a:t>
            </a:r>
            <a:r>
              <a:rPr lang="en-US" altLang="zh-CN" sz="2400" dirty="0">
                <a:solidFill>
                  <a:srgbClr val="C00000"/>
                </a:solidFill>
                <a:sym typeface="Symbol" panose="05050102010706020507" pitchFamily="18" charset="2"/>
              </a:rPr>
              <a:t>-1</a:t>
            </a:r>
            <a:r>
              <a:rPr lang="zh-CN" altLang="en-US" sz="2400" dirty="0">
                <a:sym typeface="Symbol" panose="05050102010706020507" pitchFamily="18" charset="2"/>
              </a:rPr>
              <a:t>和</a:t>
            </a:r>
            <a:r>
              <a:rPr lang="zh-CN" altLang="en-US" sz="2400" dirty="0">
                <a:solidFill>
                  <a:srgbClr val="C00000"/>
                </a:solidFill>
                <a:sym typeface="Symbol" panose="05050102010706020507" pitchFamily="18" charset="2"/>
              </a:rPr>
              <a:t>丙酮酸激酶活性↑ </a:t>
            </a:r>
            <a:r>
              <a:rPr lang="zh-CN" altLang="en-US" sz="2400" dirty="0">
                <a:sym typeface="Symbol" panose="05050102010706020507" pitchFamily="18" charset="2"/>
              </a:rPr>
              <a:t>葡萄糖分解加速； </a:t>
            </a:r>
            <a:endParaRPr lang="en-US" altLang="zh-CN" sz="2400" dirty="0">
              <a:sym typeface="Symbol" panose="05050102010706020507" pitchFamily="18" charset="2"/>
            </a:endParaRPr>
          </a:p>
          <a:p>
            <a:pPr marL="342900" indent="-342900">
              <a:lnSpc>
                <a:spcPct val="120000"/>
              </a:lnSpc>
              <a:buFont typeface="Arial" panose="020B0604020202020204" pitchFamily="34" charset="0"/>
              <a:buChar char="•"/>
            </a:pPr>
            <a:r>
              <a:rPr lang="en-US" altLang="zh-CN" sz="2400" dirty="0">
                <a:sym typeface="Symbol" panose="05050102010706020507" pitchFamily="18" charset="2"/>
              </a:rPr>
              <a:t>ATP</a:t>
            </a:r>
            <a:r>
              <a:rPr lang="zh-CN" altLang="en-US" sz="2400" dirty="0">
                <a:sym typeface="Symbol" panose="05050102010706020507" pitchFamily="18" charset="2"/>
              </a:rPr>
              <a:t>丰富时则相反</a:t>
            </a:r>
            <a:endParaRPr lang="en-US" altLang="zh-CN" sz="2400" dirty="0">
              <a:sym typeface="Symbol" panose="05050102010706020507" pitchFamily="18" charset="2"/>
            </a:endParaRPr>
          </a:p>
          <a:p>
            <a:pPr>
              <a:lnSpc>
                <a:spcPct val="120000"/>
              </a:lnSpc>
            </a:pPr>
            <a:endParaRPr lang="en-US" altLang="zh-CN" sz="2800" dirty="0">
              <a:sym typeface="Symbol" panose="05050102010706020507" pitchFamily="18" charset="2"/>
            </a:endParaRPr>
          </a:p>
          <a:p>
            <a:pPr marL="457200" indent="-457200">
              <a:lnSpc>
                <a:spcPct val="120000"/>
              </a:lnSpc>
              <a:buClr>
                <a:srgbClr val="0000CC"/>
              </a:buClr>
              <a:buFont typeface="Wingdings" panose="05000000000000000000" pitchFamily="2" charset="2"/>
              <a:buChar char="Ø"/>
            </a:pPr>
            <a:r>
              <a:rPr lang="zh-CN" altLang="en-US" sz="2800" dirty="0">
                <a:solidFill>
                  <a:srgbClr val="0000CC"/>
                </a:solidFill>
                <a:latin typeface="微软雅黑" panose="020B0503020204020204" pitchFamily="34" charset="-122"/>
                <a:ea typeface="微软雅黑" panose="020B0503020204020204" pitchFamily="34" charset="-122"/>
                <a:sym typeface="Symbol" panose="05050102010706020507" pitchFamily="18" charset="2"/>
              </a:rPr>
              <a:t>肝脏： 适应生物合成需求</a:t>
            </a:r>
            <a:r>
              <a:rPr lang="zh-CN" altLang="en-US" sz="2800" dirty="0">
                <a:latin typeface="微软雅黑" panose="020B0503020204020204" pitchFamily="34" charset="-122"/>
                <a:ea typeface="微软雅黑" panose="020B0503020204020204" pitchFamily="34" charset="-122"/>
                <a:sym typeface="Symbol" panose="05050102010706020507" pitchFamily="18" charset="2"/>
              </a:rPr>
              <a:t>以及</a:t>
            </a:r>
            <a:r>
              <a:rPr lang="zh-CN" altLang="en-US" sz="2800" dirty="0">
                <a:solidFill>
                  <a:srgbClr val="0000CC"/>
                </a:solidFill>
                <a:latin typeface="微软雅黑" panose="020B0503020204020204" pitchFamily="34" charset="-122"/>
                <a:ea typeface="微软雅黑" panose="020B0503020204020204" pitchFamily="34" charset="-122"/>
                <a:sym typeface="Symbol" panose="05050102010706020507" pitchFamily="18" charset="2"/>
              </a:rPr>
              <a:t>维持血糖稳定</a:t>
            </a:r>
            <a:endParaRPr lang="en-US" altLang="zh-CN" sz="2800" dirty="0">
              <a:solidFill>
                <a:srgbClr val="0000CC"/>
              </a:solidFill>
              <a:latin typeface="微软雅黑" panose="020B0503020204020204" pitchFamily="34" charset="-122"/>
              <a:ea typeface="微软雅黑" panose="020B0503020204020204" pitchFamily="34" charset="-122"/>
              <a:sym typeface="Symbol" panose="05050102010706020507" pitchFamily="18" charset="2"/>
            </a:endParaRPr>
          </a:p>
          <a:p>
            <a:pPr marL="342900" indent="-342900">
              <a:lnSpc>
                <a:spcPct val="120000"/>
              </a:lnSpc>
              <a:buFont typeface="Arial" panose="020B0604020202020204" pitchFamily="34" charset="0"/>
              <a:buChar char="•"/>
            </a:pPr>
            <a:r>
              <a:rPr lang="zh-CN" altLang="en-US" sz="2400" dirty="0">
                <a:solidFill>
                  <a:srgbClr val="0000CC"/>
                </a:solidFill>
                <a:sym typeface="Symbol" panose="05050102010706020507" pitchFamily="18" charset="2"/>
              </a:rPr>
              <a:t>进食后</a:t>
            </a:r>
            <a:r>
              <a:rPr lang="zh-CN" altLang="en-US" sz="2400" dirty="0">
                <a:sym typeface="Symbol" panose="05050102010706020507" pitchFamily="18" charset="2"/>
              </a:rPr>
              <a:t>，胰高血糖素↓</a:t>
            </a:r>
            <a:r>
              <a:rPr lang="en-US" altLang="zh-CN" sz="2400" dirty="0">
                <a:sym typeface="Symbol" panose="05050102010706020507" pitchFamily="18" charset="2"/>
              </a:rPr>
              <a:t> </a:t>
            </a:r>
            <a:r>
              <a:rPr lang="zh-CN" altLang="en-US" sz="2400" dirty="0">
                <a:sym typeface="Symbol" panose="05050102010706020507" pitchFamily="18" charset="2"/>
              </a:rPr>
              <a:t>，</a:t>
            </a:r>
            <a:r>
              <a:rPr lang="zh-CN" altLang="en-US" sz="2400" dirty="0">
                <a:solidFill>
                  <a:srgbClr val="C00000"/>
                </a:solidFill>
                <a:sym typeface="Symbol" panose="05050102010706020507" pitchFamily="18" charset="2"/>
              </a:rPr>
              <a:t>胰岛素↑ </a:t>
            </a:r>
            <a:r>
              <a:rPr lang="zh-CN" altLang="en-US" sz="2400" dirty="0">
                <a:sym typeface="Symbol" panose="05050102010706020507" pitchFamily="18" charset="2"/>
              </a:rPr>
              <a:t></a:t>
            </a:r>
            <a:r>
              <a:rPr lang="zh-CN" altLang="en-US" sz="2400" dirty="0">
                <a:solidFill>
                  <a:srgbClr val="C00000"/>
                </a:solidFill>
                <a:sym typeface="Symbol" panose="05050102010706020507" pitchFamily="18" charset="2"/>
              </a:rPr>
              <a:t>果糖</a:t>
            </a:r>
            <a:r>
              <a:rPr lang="en-US" altLang="zh-CN" sz="2400" dirty="0">
                <a:solidFill>
                  <a:srgbClr val="C00000"/>
                </a:solidFill>
                <a:sym typeface="Symbol" panose="05050102010706020507" pitchFamily="18" charset="2"/>
              </a:rPr>
              <a:t>-2,6-</a:t>
            </a:r>
            <a:r>
              <a:rPr lang="zh-CN" altLang="en-US" sz="2400" dirty="0">
                <a:solidFill>
                  <a:srgbClr val="C00000"/>
                </a:solidFill>
                <a:sym typeface="Symbol" panose="05050102010706020507" pitchFamily="18" charset="2"/>
              </a:rPr>
              <a:t>二磷酸 ↑</a:t>
            </a:r>
            <a:endParaRPr lang="en-US" altLang="zh-CN" sz="2400" dirty="0">
              <a:solidFill>
                <a:srgbClr val="C00000"/>
              </a:solidFill>
              <a:sym typeface="Symbol" panose="05050102010706020507" pitchFamily="18" charset="2"/>
            </a:endParaRPr>
          </a:p>
          <a:p>
            <a:pPr>
              <a:lnSpc>
                <a:spcPct val="120000"/>
              </a:lnSpc>
            </a:pPr>
            <a:r>
              <a:rPr lang="en-US" altLang="zh-CN" sz="2400" dirty="0">
                <a:solidFill>
                  <a:srgbClr val="C00000"/>
                </a:solidFill>
                <a:sym typeface="Symbol" panose="05050102010706020507" pitchFamily="18" charset="2"/>
              </a:rPr>
              <a:t>       </a:t>
            </a:r>
            <a:r>
              <a:rPr lang="en-US" altLang="zh-CN" sz="2400" dirty="0">
                <a:solidFill>
                  <a:schemeClr val="tx1">
                    <a:lumMod val="95000"/>
                    <a:lumOff val="5000"/>
                  </a:schemeClr>
                </a:solidFill>
                <a:sym typeface="Symbol" panose="05050102010706020507" pitchFamily="18" charset="2"/>
              </a:rPr>
              <a:t>    </a:t>
            </a:r>
            <a:r>
              <a:rPr lang="zh-CN" altLang="en-US" sz="2400" dirty="0">
                <a:sym typeface="Symbol" panose="05050102010706020507" pitchFamily="18" charset="2"/>
              </a:rPr>
              <a:t>糖酵解</a:t>
            </a:r>
            <a:r>
              <a:rPr lang="zh-CN" altLang="en-US" sz="2400" dirty="0">
                <a:solidFill>
                  <a:schemeClr val="tx1">
                    <a:lumMod val="95000"/>
                    <a:lumOff val="5000"/>
                  </a:schemeClr>
                </a:solidFill>
                <a:sym typeface="Symbol" panose="05050102010706020507" pitchFamily="18" charset="2"/>
              </a:rPr>
              <a:t>↑  </a:t>
            </a:r>
            <a:r>
              <a:rPr lang="zh-CN" altLang="en-US" sz="2400" dirty="0">
                <a:sym typeface="Symbol" panose="05050102010706020507" pitchFamily="18" charset="2"/>
              </a:rPr>
              <a:t>糖原合成</a:t>
            </a:r>
            <a:r>
              <a:rPr lang="zh-CN" altLang="en-US" sz="2400" dirty="0">
                <a:solidFill>
                  <a:schemeClr val="tx1">
                    <a:lumMod val="95000"/>
                    <a:lumOff val="5000"/>
                  </a:schemeClr>
                </a:solidFill>
                <a:sym typeface="Symbol" panose="05050102010706020507" pitchFamily="18" charset="2"/>
              </a:rPr>
              <a:t>↑</a:t>
            </a:r>
            <a:r>
              <a:rPr lang="zh-CN" altLang="en-US" sz="2400" dirty="0">
                <a:sym typeface="Symbol" panose="05050102010706020507" pitchFamily="18" charset="2"/>
              </a:rPr>
              <a:t>  脂质合成 </a:t>
            </a:r>
            <a:r>
              <a:rPr lang="zh-CN" altLang="en-US" sz="2400" dirty="0">
                <a:solidFill>
                  <a:schemeClr val="tx1">
                    <a:lumMod val="95000"/>
                    <a:lumOff val="5000"/>
                  </a:schemeClr>
                </a:solidFill>
                <a:sym typeface="Symbol" panose="05050102010706020507" pitchFamily="18" charset="2"/>
              </a:rPr>
              <a:t>↑</a:t>
            </a:r>
            <a:endParaRPr lang="en-US" altLang="zh-CN" sz="2400" dirty="0">
              <a:solidFill>
                <a:schemeClr val="tx1">
                  <a:lumMod val="95000"/>
                  <a:lumOff val="5000"/>
                </a:schemeClr>
              </a:solidFill>
              <a:sym typeface="Symbol" panose="05050102010706020507" pitchFamily="18" charset="2"/>
            </a:endParaRPr>
          </a:p>
          <a:p>
            <a:pPr marL="342900" indent="-342900">
              <a:lnSpc>
                <a:spcPct val="120000"/>
              </a:lnSpc>
              <a:buFont typeface="Arial" panose="020B0604020202020204" pitchFamily="34" charset="0"/>
              <a:buChar char="•"/>
            </a:pPr>
            <a:r>
              <a:rPr lang="zh-CN" altLang="en-US" sz="2400" dirty="0">
                <a:solidFill>
                  <a:srgbClr val="0000CC"/>
                </a:solidFill>
                <a:sym typeface="Symbol" panose="05050102010706020507" pitchFamily="18" charset="2"/>
              </a:rPr>
              <a:t>饥饿时</a:t>
            </a:r>
            <a:r>
              <a:rPr lang="zh-CN" altLang="en-US" sz="2400" dirty="0">
                <a:sym typeface="Symbol" panose="05050102010706020507" pitchFamily="18" charset="2"/>
              </a:rPr>
              <a:t>，</a:t>
            </a:r>
            <a:r>
              <a:rPr lang="zh-CN" altLang="en-US" sz="2400" dirty="0">
                <a:solidFill>
                  <a:srgbClr val="C00000"/>
                </a:solidFill>
                <a:sym typeface="Symbol" panose="05050102010706020507" pitchFamily="18" charset="2"/>
              </a:rPr>
              <a:t>胰高血糖素↑</a:t>
            </a:r>
            <a:r>
              <a:rPr lang="en-US" altLang="zh-CN" sz="2400" dirty="0">
                <a:solidFill>
                  <a:srgbClr val="C00000"/>
                </a:solidFill>
                <a:sym typeface="Symbol" panose="05050102010706020507" pitchFamily="18" charset="2"/>
              </a:rPr>
              <a:t> </a:t>
            </a:r>
            <a:r>
              <a:rPr lang="zh-CN" altLang="en-US" sz="2400" dirty="0">
                <a:solidFill>
                  <a:srgbClr val="C00000"/>
                </a:solidFill>
                <a:sym typeface="Symbol" panose="05050102010706020507" pitchFamily="18" charset="2"/>
              </a:rPr>
              <a:t> 果糖</a:t>
            </a:r>
            <a:r>
              <a:rPr lang="en-US" altLang="zh-CN" sz="2400" dirty="0">
                <a:solidFill>
                  <a:srgbClr val="C00000"/>
                </a:solidFill>
                <a:sym typeface="Symbol" panose="05050102010706020507" pitchFamily="18" charset="2"/>
              </a:rPr>
              <a:t>-2,6-</a:t>
            </a:r>
            <a:r>
              <a:rPr lang="zh-CN" altLang="en-US" sz="2400" dirty="0">
                <a:solidFill>
                  <a:srgbClr val="C00000"/>
                </a:solidFill>
                <a:sym typeface="Symbol" panose="05050102010706020507" pitchFamily="18" charset="2"/>
              </a:rPr>
              <a:t>二磷酸合成 ↓ </a:t>
            </a:r>
            <a:r>
              <a:rPr lang="zh-CN" altLang="en-US" sz="2400" dirty="0">
                <a:sym typeface="Symbol" panose="05050102010706020507" pitchFamily="18" charset="2"/>
              </a:rPr>
              <a:t>，丙酮酸激酶活性 ↓        抑制糖酵解。 </a:t>
            </a:r>
            <a:endParaRPr lang="en-US" altLang="zh-CN" sz="2400" dirty="0">
              <a:sym typeface="Symbol" panose="05050102010706020507" pitchFamily="18" charset="2"/>
            </a:endParaRPr>
          </a:p>
          <a:p>
            <a:endParaRPr lang="zh-CN" altLang="en-US" sz="28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Text Box 3"/>
          <p:cNvSpPr txBox="1">
            <a:spLocks noChangeArrowheads="1"/>
          </p:cNvSpPr>
          <p:nvPr/>
        </p:nvSpPr>
        <p:spPr bwMode="auto">
          <a:xfrm>
            <a:off x="1991544" y="1547413"/>
            <a:ext cx="8280920" cy="4689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60000"/>
              </a:lnSpc>
              <a:spcBef>
                <a:spcPct val="0"/>
              </a:spcBef>
              <a:buClrTx/>
              <a:buSzTx/>
              <a:buFontTx/>
              <a:buAutoNum type="arabicPeriod"/>
            </a:pPr>
            <a:r>
              <a:rPr kumimoji="1" lang="zh-CN" altLang="en-US" sz="2800" b="0" dirty="0">
                <a:solidFill>
                  <a:srgbClr val="0000FF"/>
                </a:solidFill>
                <a:latin typeface="微软雅黑" panose="020B0503020204020204" pitchFamily="34" charset="-122"/>
                <a:ea typeface="微软雅黑" panose="020B0503020204020204" pitchFamily="34" charset="-122"/>
              </a:rPr>
              <a:t>不利用氧迅速供量</a:t>
            </a:r>
            <a:r>
              <a:rPr kumimoji="1" lang="zh-CN" altLang="en-US" sz="2800" b="0" dirty="0">
                <a:latin typeface="微软雅黑" panose="020B0503020204020204" pitchFamily="34" charset="-122"/>
                <a:ea typeface="微软雅黑" panose="020B0503020204020204" pitchFamily="34" charset="-122"/>
              </a:rPr>
              <a:t>（比有氧氧化供能快得多）</a:t>
            </a:r>
            <a:endParaRPr kumimoji="1" lang="zh-CN" altLang="en-US" sz="2800" b="0" dirty="0">
              <a:latin typeface="微软雅黑" panose="020B0503020204020204" pitchFamily="34" charset="-122"/>
              <a:ea typeface="微软雅黑" panose="020B0503020204020204" pitchFamily="34" charset="-122"/>
            </a:endParaRPr>
          </a:p>
          <a:p>
            <a:pPr eaLnBrk="1" hangingPunct="1">
              <a:lnSpc>
                <a:spcPct val="160000"/>
              </a:lnSpc>
              <a:spcBef>
                <a:spcPct val="0"/>
              </a:spcBef>
              <a:buClrTx/>
              <a:buSzTx/>
              <a:buFontTx/>
              <a:buAutoNum type="arabicPeriod"/>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缺氧时，肌组织通过无氧氧化获能</a:t>
            </a:r>
            <a:endPar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endParaRPr>
          </a:p>
          <a:p>
            <a:pPr eaLnBrk="1" hangingPunct="1">
              <a:lnSpc>
                <a:spcPct val="160000"/>
              </a:lnSpc>
              <a:spcBef>
                <a:spcPct val="0"/>
              </a:spcBef>
              <a:buClrTx/>
              <a:buSzTx/>
              <a:buFontTx/>
              <a:buAutoNum type="arabicPeriod"/>
            </a:pPr>
            <a:r>
              <a:rPr kumimoji="1" lang="zh-CN" altLang="en-US" sz="2800" b="0" dirty="0">
                <a:latin typeface="微软雅黑" panose="020B0503020204020204" pitchFamily="34" charset="-122"/>
                <a:ea typeface="微软雅黑" panose="020B0503020204020204" pitchFamily="34" charset="-122"/>
              </a:rPr>
              <a:t>糖无氧氧化</a:t>
            </a:r>
            <a:r>
              <a:rPr kumimoji="1" lang="zh-CN" altLang="en-US" sz="2800" b="0" dirty="0">
                <a:solidFill>
                  <a:srgbClr val="0000FF"/>
                </a:solidFill>
                <a:latin typeface="微软雅黑" panose="020B0503020204020204" pitchFamily="34" charset="-122"/>
                <a:ea typeface="微软雅黑" panose="020B0503020204020204" pitchFamily="34" charset="-122"/>
              </a:rPr>
              <a:t>对某些组织细胞很重要</a:t>
            </a:r>
            <a:endParaRPr kumimoji="1" lang="zh-CN" altLang="en-US" sz="2800" b="0" dirty="0">
              <a:solidFill>
                <a:srgbClr val="0000FF"/>
              </a:solidFill>
              <a:latin typeface="微软雅黑" panose="020B0503020204020204" pitchFamily="34" charset="-122"/>
              <a:ea typeface="微软雅黑" panose="020B0503020204020204" pitchFamily="34" charset="-122"/>
            </a:endParaRPr>
          </a:p>
          <a:p>
            <a:pPr lvl="1" eaLnBrk="1" hangingPunct="1">
              <a:lnSpc>
                <a:spcPct val="140000"/>
              </a:lnSpc>
              <a:spcBef>
                <a:spcPct val="0"/>
              </a:spcBef>
              <a:buClrTx/>
              <a:buSzTx/>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rPr>
              <a:t>成熟红细胞获取能量的唯一方式</a:t>
            </a:r>
            <a:endParaRPr kumimoji="1" lang="zh-CN" altLang="en-US" sz="2400" dirty="0">
              <a:latin typeface="微软雅黑" panose="020B0503020204020204" pitchFamily="34" charset="-122"/>
              <a:ea typeface="微软雅黑" panose="020B0503020204020204" pitchFamily="34" charset="-122"/>
            </a:endParaRPr>
          </a:p>
          <a:p>
            <a:pPr lvl="1" eaLnBrk="1" hangingPunct="1">
              <a:lnSpc>
                <a:spcPct val="140000"/>
              </a:lnSpc>
              <a:spcBef>
                <a:spcPct val="0"/>
              </a:spcBef>
              <a:buClrTx/>
              <a:buSzTx/>
              <a:buFont typeface="Arial" panose="020B0604020202020204" pitchFamily="34" charset="0"/>
              <a:buChar char="•"/>
            </a:pPr>
            <a:r>
              <a:rPr kumimoji="1" lang="zh-CN" altLang="en-US" sz="2400" b="0" dirty="0">
                <a:latin typeface="微软雅黑" panose="020B0503020204020204" pitchFamily="34" charset="-122"/>
                <a:ea typeface="微软雅黑" panose="020B0503020204020204" pitchFamily="34" charset="-122"/>
              </a:rPr>
              <a:t>视网膜、神经、肾髓质、胃肠道、皮肤等不缺氧时也常利用无氧氧化供能。</a:t>
            </a:r>
            <a:endParaRPr kumimoji="1" lang="en-US" altLang="zh-CN" sz="2400" b="0" dirty="0">
              <a:latin typeface="微软雅黑" panose="020B0503020204020204" pitchFamily="34" charset="-122"/>
              <a:ea typeface="微软雅黑" panose="020B0503020204020204" pitchFamily="34" charset="-122"/>
            </a:endParaRPr>
          </a:p>
          <a:p>
            <a:pPr lvl="1" eaLnBrk="1" hangingPunct="1">
              <a:lnSpc>
                <a:spcPct val="140000"/>
              </a:lnSpc>
              <a:spcBef>
                <a:spcPct val="0"/>
              </a:spcBef>
              <a:buClrTx/>
              <a:buSzTx/>
              <a:buFont typeface="Arial" panose="020B0604020202020204" pitchFamily="34" charset="0"/>
              <a:buChar char="•"/>
            </a:pPr>
            <a:r>
              <a:rPr kumimoji="1" lang="zh-CN" altLang="en-US" sz="2400" b="0" dirty="0">
                <a:latin typeface="微软雅黑" panose="020B0503020204020204" pitchFamily="34" charset="-122"/>
                <a:ea typeface="微软雅黑" panose="020B0503020204020204" pitchFamily="34" charset="-122"/>
              </a:rPr>
              <a:t>某些病理状况下偏好糖的无氧氧化：如感染性休克、肿瘤恶病质等。</a:t>
            </a:r>
            <a:endParaRPr kumimoji="1" lang="en-US" altLang="zh-CN" sz="2400" b="0" dirty="0">
              <a:latin typeface="微软雅黑" panose="020B0503020204020204" pitchFamily="34" charset="-122"/>
              <a:ea typeface="微软雅黑" panose="020B0503020204020204" pitchFamily="34" charset="-122"/>
            </a:endParaRPr>
          </a:p>
        </p:txBody>
      </p:sp>
      <p:sp>
        <p:nvSpPr>
          <p:cNvPr id="135171" name="Rectangle 6"/>
          <p:cNvSpPr>
            <a:spLocks noChangeArrowheads="1"/>
          </p:cNvSpPr>
          <p:nvPr/>
        </p:nvSpPr>
        <p:spPr bwMode="white">
          <a:xfrm>
            <a:off x="2173288" y="620714"/>
            <a:ext cx="741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
                <a:schemeClr val="tx1"/>
              </a:buClr>
              <a:buSzPct val="90000"/>
              <a:buFont typeface="Wingdings" panose="05000000000000000000" pitchFamily="2" charset="2"/>
              <a:buNone/>
            </a:pPr>
            <a:r>
              <a:rPr lang="zh-CN" altLang="en-US" sz="3600" dirty="0">
                <a:solidFill>
                  <a:srgbClr val="660033"/>
                </a:solidFill>
                <a:latin typeface="黑体" panose="02010609060101010101" pitchFamily="2" charset="-122"/>
                <a:ea typeface="黑体" panose="02010609060101010101" pitchFamily="2" charset="-122"/>
              </a:rPr>
              <a:t>三、糖无氧氧化的生理意义</a:t>
            </a:r>
            <a:endParaRPr lang="zh-CN" altLang="en-US" sz="3600" dirty="0">
              <a:solidFill>
                <a:srgbClr val="660033"/>
              </a:solidFill>
              <a:latin typeface="黑体" panose="02010609060101010101" pitchFamily="2" charset="-122"/>
              <a:ea typeface="黑体" panose="0201060906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4083">
                                            <p:txEl>
                                              <p:pRg st="1" end="1"/>
                                            </p:txEl>
                                          </p:spTgt>
                                        </p:tgtEl>
                                        <p:attrNameLst>
                                          <p:attrName>style.visibility</p:attrName>
                                        </p:attrNameLst>
                                      </p:cBhvr>
                                      <p:to>
                                        <p:strVal val="visible"/>
                                      </p:to>
                                    </p:set>
                                    <p:animEffect transition="in" filter="wipe(up)">
                                      <p:cBhvr>
                                        <p:cTn id="7" dur="1000"/>
                                        <p:tgtEl>
                                          <p:spTgt spid="1740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74083">
                                            <p:txEl>
                                              <p:pRg st="2" end="2"/>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74083">
                                            <p:txEl>
                                              <p:pRg st="3" end="3"/>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74083">
                                            <p:txEl>
                                              <p:pRg st="4" end="4"/>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74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2206625" y="688975"/>
            <a:ext cx="5113338" cy="579438"/>
          </a:xfrm>
        </p:spPr>
        <p:txBody>
          <a:bodyPr/>
          <a:lstStyle/>
          <a:p>
            <a:pPr algn="l" eaLnBrk="1" hangingPunct="1">
              <a:buClr>
                <a:srgbClr val="FF0000"/>
              </a:buClr>
              <a:buSzPct val="90000"/>
              <a:buFont typeface="Wingdings" panose="05000000000000000000" pitchFamily="2" charset="2"/>
              <a:buChar char="v"/>
            </a:pPr>
            <a:r>
              <a:rPr lang="zh-CN" altLang="en-US" sz="3600" b="1"/>
              <a:t> 糖的无氧氧化小结</a:t>
            </a:r>
            <a:endParaRPr lang="zh-CN" altLang="en-US" sz="3600" b="1"/>
          </a:p>
        </p:txBody>
      </p:sp>
      <p:sp>
        <p:nvSpPr>
          <p:cNvPr id="332803" name="Rectangle 3"/>
          <p:cNvSpPr>
            <a:spLocks noGrp="1" noChangeArrowheads="1"/>
          </p:cNvSpPr>
          <p:nvPr>
            <p:ph type="body" idx="1"/>
          </p:nvPr>
        </p:nvSpPr>
        <p:spPr>
          <a:xfrm>
            <a:off x="3432176" y="1557339"/>
            <a:ext cx="5256213" cy="4968875"/>
          </a:xfrm>
        </p:spPr>
        <p:txBody>
          <a:bodyPr/>
          <a:lstStyle/>
          <a:p>
            <a:pPr eaLnBrk="1" hangingPunct="1">
              <a:buClr>
                <a:srgbClr val="000066"/>
              </a:buClr>
              <a:buSzPct val="80000"/>
              <a:buFont typeface="Wingdings" panose="05000000000000000000" pitchFamily="2" charset="2"/>
              <a:buChar char="Ø"/>
            </a:pPr>
            <a:r>
              <a:rPr lang="zh-CN" altLang="en-US" sz="2800" b="0" dirty="0"/>
              <a:t>事件：糖无氧氧化</a:t>
            </a:r>
            <a:endParaRPr lang="en-US" altLang="zh-CN" sz="2800" b="0" dirty="0"/>
          </a:p>
          <a:p>
            <a:pPr eaLnBrk="1" hangingPunct="1">
              <a:buClr>
                <a:srgbClr val="000066"/>
              </a:buClr>
              <a:buSzPct val="80000"/>
              <a:buFont typeface="Wingdings" panose="05000000000000000000" pitchFamily="2" charset="2"/>
              <a:buChar char="Ø"/>
            </a:pPr>
            <a:r>
              <a:rPr lang="zh-CN" altLang="en-US" sz="2800" b="0" dirty="0"/>
              <a:t>地点：胞质</a:t>
            </a:r>
            <a:endParaRPr lang="zh-CN" altLang="en-US" sz="2800" b="0" dirty="0"/>
          </a:p>
          <a:p>
            <a:pPr eaLnBrk="1" hangingPunct="1">
              <a:buClr>
                <a:srgbClr val="000066"/>
              </a:buClr>
              <a:buSzPct val="80000"/>
              <a:buFont typeface="Wingdings" panose="05000000000000000000" pitchFamily="2" charset="2"/>
              <a:buChar char="Ø"/>
            </a:pPr>
            <a:r>
              <a:rPr lang="zh-CN" altLang="en-US" sz="2800" b="0" dirty="0"/>
              <a:t>条件：缺氧</a:t>
            </a:r>
            <a:endParaRPr lang="zh-CN" altLang="en-US" sz="2800" b="0" dirty="0"/>
          </a:p>
          <a:p>
            <a:pPr eaLnBrk="1" hangingPunct="1">
              <a:buClr>
                <a:srgbClr val="000066"/>
              </a:buClr>
              <a:buSzPct val="80000"/>
              <a:buFont typeface="Wingdings" panose="05000000000000000000" pitchFamily="2" charset="2"/>
              <a:buChar char="Ø"/>
            </a:pPr>
            <a:r>
              <a:rPr lang="zh-CN" altLang="en-US" sz="2800" b="0" dirty="0"/>
              <a:t>目的：产能</a:t>
            </a:r>
            <a:endParaRPr lang="zh-CN" altLang="en-US" sz="2800" b="0" dirty="0"/>
          </a:p>
          <a:p>
            <a:pPr eaLnBrk="1" hangingPunct="1">
              <a:buClr>
                <a:srgbClr val="000066"/>
              </a:buClr>
              <a:buSzPct val="80000"/>
              <a:buFont typeface="Wingdings" panose="05000000000000000000" pitchFamily="2" charset="2"/>
              <a:buChar char="Ø"/>
            </a:pPr>
            <a:r>
              <a:rPr lang="zh-CN" altLang="en-US" sz="2800" b="0" dirty="0"/>
              <a:t>领衔主演：葡萄糖（</a:t>
            </a:r>
            <a:r>
              <a:rPr lang="en-US" altLang="zh-CN" sz="2800" b="0" dirty="0"/>
              <a:t>G</a:t>
            </a:r>
            <a:r>
              <a:rPr lang="zh-CN" altLang="en-US" sz="2800" b="0" dirty="0"/>
              <a:t>）</a:t>
            </a:r>
            <a:endParaRPr lang="zh-CN" altLang="en-US" sz="2800" b="0" dirty="0"/>
          </a:p>
          <a:p>
            <a:pPr eaLnBrk="1" hangingPunct="1">
              <a:buClr>
                <a:srgbClr val="000066"/>
              </a:buClr>
              <a:buSzPct val="80000"/>
              <a:buFont typeface="Wingdings" panose="05000000000000000000" pitchFamily="2" charset="2"/>
              <a:buChar char="Ø"/>
            </a:pPr>
            <a:r>
              <a:rPr lang="zh-CN" altLang="en-US" sz="2800" b="0" dirty="0"/>
              <a:t>联合主演：己糖激酶</a:t>
            </a:r>
            <a:endParaRPr lang="zh-CN" altLang="en-US" sz="2800" b="0" dirty="0"/>
          </a:p>
          <a:p>
            <a:pPr eaLnBrk="1" hangingPunct="1">
              <a:buClr>
                <a:srgbClr val="000066"/>
              </a:buClr>
              <a:buSzPct val="80000"/>
              <a:buFont typeface="Wingdings" panose="05000000000000000000" pitchFamily="2" charset="2"/>
              <a:buNone/>
            </a:pPr>
            <a:r>
              <a:rPr lang="zh-CN" altLang="en-US" sz="2800" b="0" dirty="0"/>
              <a:t>                        磷酸果糖激酶</a:t>
            </a:r>
            <a:r>
              <a:rPr lang="en-US" altLang="zh-CN" sz="2800" b="0" dirty="0"/>
              <a:t>-1</a:t>
            </a:r>
            <a:endParaRPr lang="en-US" altLang="zh-CN" sz="2800" b="0" dirty="0"/>
          </a:p>
          <a:p>
            <a:pPr eaLnBrk="1" hangingPunct="1">
              <a:buClr>
                <a:srgbClr val="000066"/>
              </a:buClr>
              <a:buSzPct val="80000"/>
              <a:buFont typeface="Wingdings" panose="05000000000000000000" pitchFamily="2" charset="2"/>
              <a:buNone/>
            </a:pPr>
            <a:r>
              <a:rPr lang="en-US" altLang="zh-CN" sz="2800" b="0" dirty="0"/>
              <a:t>                        </a:t>
            </a:r>
            <a:r>
              <a:rPr lang="zh-CN" altLang="en-US" sz="2800" b="0" dirty="0"/>
              <a:t>丙酮酸激酶</a:t>
            </a:r>
            <a:endParaRPr lang="zh-CN" altLang="en-US" sz="2800" b="0" dirty="0"/>
          </a:p>
          <a:p>
            <a:pPr eaLnBrk="1" hangingPunct="1">
              <a:buClr>
                <a:srgbClr val="000066"/>
              </a:buClr>
              <a:buSzPct val="80000"/>
              <a:buFont typeface="Wingdings" panose="05000000000000000000" pitchFamily="2" charset="2"/>
              <a:buChar char="Ø"/>
            </a:pPr>
            <a:r>
              <a:rPr lang="zh-CN" altLang="en-US" sz="2800" b="0" dirty="0"/>
              <a:t>后事如何？</a:t>
            </a:r>
            <a:endParaRPr lang="zh-CN" altLang="en-US" sz="2800" b="0" dirty="0"/>
          </a:p>
        </p:txBody>
      </p:sp>
      <p:sp>
        <p:nvSpPr>
          <p:cNvPr id="332804" name="Rectangle 4"/>
          <p:cNvSpPr>
            <a:spLocks noChangeArrowheads="1"/>
          </p:cNvSpPr>
          <p:nvPr/>
        </p:nvSpPr>
        <p:spPr bwMode="auto">
          <a:xfrm>
            <a:off x="2999657" y="3697101"/>
            <a:ext cx="6696075" cy="1584325"/>
          </a:xfrm>
          <a:prstGeom prst="rect">
            <a:avLst/>
          </a:prstGeom>
          <a:solidFill>
            <a:srgbClr val="FFFF9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446405" indent="-446405">
              <a:spcBef>
                <a:spcPct val="20000"/>
              </a:spcBef>
              <a:buClr>
                <a:schemeClr val="hlink"/>
              </a:buClr>
              <a:buSzPct val="75000"/>
              <a:buFont typeface="Wingdings" panose="05000000000000000000" pitchFamily="2" charset="2"/>
              <a:buChar char="v"/>
              <a:tabLst>
                <a:tab pos="445770" algn="l"/>
              </a:tabLst>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tabLst>
                <a:tab pos="445770" algn="l"/>
              </a:tabLst>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tabLst>
                <a:tab pos="445770" algn="l"/>
              </a:tabLst>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tabLst>
                <a:tab pos="445770" algn="l"/>
              </a:tabLst>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tabLst>
                <a:tab pos="445770" algn="l"/>
              </a:tabLst>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tabLst>
                <a:tab pos="445770" algn="l"/>
              </a:tabLs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tabLst>
                <a:tab pos="445770" algn="l"/>
              </a:tabLs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tabLst>
                <a:tab pos="445770" algn="l"/>
              </a:tabLs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tabLst>
                <a:tab pos="445770" algn="l"/>
              </a:tabLst>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800" b="0" dirty="0"/>
              <a:t>产能的方式：</a:t>
            </a:r>
            <a:r>
              <a:rPr lang="zh-CN" altLang="en-US" sz="2800" b="0" u="sng" dirty="0">
                <a:solidFill>
                  <a:srgbClr val="FF0000"/>
                </a:solidFill>
              </a:rPr>
              <a:t>底物水平磷酸化</a:t>
            </a:r>
            <a:endParaRPr lang="zh-CN" altLang="en-US" sz="2800" b="0" u="sng" dirty="0">
              <a:solidFill>
                <a:srgbClr val="FF0000"/>
              </a:solidFill>
            </a:endParaRPr>
          </a:p>
          <a:p>
            <a:pPr eaLnBrk="1" hangingPunct="1">
              <a:buFont typeface="Wingdings" panose="05000000000000000000" pitchFamily="2" charset="2"/>
              <a:buNone/>
            </a:pPr>
            <a:r>
              <a:rPr lang="zh-CN" altLang="en-US" sz="2800" b="0" dirty="0"/>
              <a:t>产能的数量：</a:t>
            </a:r>
            <a:r>
              <a:rPr lang="zh-CN" altLang="en-US" sz="2800" b="0" dirty="0">
                <a:solidFill>
                  <a:srgbClr val="000066"/>
                </a:solidFill>
              </a:rPr>
              <a:t>从</a:t>
            </a:r>
            <a:r>
              <a:rPr lang="en-US" altLang="zh-CN" sz="2800" b="0" dirty="0">
                <a:solidFill>
                  <a:srgbClr val="000066"/>
                </a:solidFill>
              </a:rPr>
              <a:t>G</a:t>
            </a:r>
            <a:r>
              <a:rPr lang="zh-CN" altLang="en-US" sz="2800" b="0" dirty="0">
                <a:solidFill>
                  <a:srgbClr val="000066"/>
                </a:solidFill>
              </a:rPr>
              <a:t>开始     2×2 - 2= 2 </a:t>
            </a:r>
            <a:r>
              <a:rPr lang="en-US" altLang="zh-CN" sz="2800" b="0" dirty="0">
                <a:solidFill>
                  <a:srgbClr val="000066"/>
                </a:solidFill>
              </a:rPr>
              <a:t>ATP</a:t>
            </a:r>
            <a:endParaRPr lang="en-US" altLang="zh-CN" sz="2800" b="0" dirty="0">
              <a:solidFill>
                <a:srgbClr val="000066"/>
              </a:solidFill>
            </a:endParaRPr>
          </a:p>
          <a:p>
            <a:pPr eaLnBrk="1" hangingPunct="1">
              <a:buFont typeface="Wingdings" panose="05000000000000000000" pitchFamily="2" charset="2"/>
              <a:buNone/>
            </a:pPr>
            <a:r>
              <a:rPr lang="zh-CN" altLang="en-US" sz="2800" b="0" dirty="0">
                <a:solidFill>
                  <a:srgbClr val="000066"/>
                </a:solidFill>
              </a:rPr>
              <a:t>                        从</a:t>
            </a:r>
            <a:r>
              <a:rPr lang="en-US" altLang="zh-CN" sz="2800" b="0" dirty="0" err="1">
                <a:solidFill>
                  <a:srgbClr val="000066"/>
                </a:solidFill>
              </a:rPr>
              <a:t>Gn</a:t>
            </a:r>
            <a:r>
              <a:rPr lang="zh-CN" altLang="en-US" sz="2800" b="0" dirty="0">
                <a:solidFill>
                  <a:srgbClr val="000066"/>
                </a:solidFill>
              </a:rPr>
              <a:t>开始   2×2 - 1= 3 </a:t>
            </a:r>
            <a:r>
              <a:rPr lang="en-US" altLang="zh-CN" sz="2800" b="0" dirty="0">
                <a:solidFill>
                  <a:srgbClr val="000066"/>
                </a:solidFill>
              </a:rPr>
              <a:t>ATP</a:t>
            </a:r>
            <a:endParaRPr lang="zh-CN" altLang="en-US" sz="2800" b="0" dirty="0">
              <a:solidFill>
                <a:srgbClr val="000066"/>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32803">
                                            <p:txEl>
                                              <p:pRg st="0" end="0"/>
                                            </p:txEl>
                                          </p:spTgt>
                                        </p:tgtEl>
                                        <p:attrNameLst>
                                          <p:attrName>style.visibility</p:attrName>
                                        </p:attrNameLst>
                                      </p:cBhvr>
                                      <p:to>
                                        <p:strVal val="visible"/>
                                      </p:to>
                                    </p:set>
                                    <p:animEffect transition="in" filter="slide(fromBottom)">
                                      <p:cBhvr>
                                        <p:cTn id="7" dur="500"/>
                                        <p:tgtEl>
                                          <p:spTgt spid="3328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32803">
                                            <p:txEl>
                                              <p:pRg st="1" end="1"/>
                                            </p:txEl>
                                          </p:spTgt>
                                        </p:tgtEl>
                                        <p:attrNameLst>
                                          <p:attrName>style.visibility</p:attrName>
                                        </p:attrNameLst>
                                      </p:cBhvr>
                                      <p:to>
                                        <p:strVal val="visible"/>
                                      </p:to>
                                    </p:set>
                                    <p:animEffect transition="in" filter="slide(fromBottom)">
                                      <p:cBhvr>
                                        <p:cTn id="12" dur="500"/>
                                        <p:tgtEl>
                                          <p:spTgt spid="3328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32803">
                                            <p:txEl>
                                              <p:pRg st="2" end="2"/>
                                            </p:txEl>
                                          </p:spTgt>
                                        </p:tgtEl>
                                        <p:attrNameLst>
                                          <p:attrName>style.visibility</p:attrName>
                                        </p:attrNameLst>
                                      </p:cBhvr>
                                      <p:to>
                                        <p:strVal val="visible"/>
                                      </p:to>
                                    </p:set>
                                    <p:animEffect transition="in" filter="slide(fromBottom)">
                                      <p:cBhvr>
                                        <p:cTn id="17" dur="500"/>
                                        <p:tgtEl>
                                          <p:spTgt spid="3328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32803">
                                            <p:txEl>
                                              <p:pRg st="3" end="3"/>
                                            </p:txEl>
                                          </p:spTgt>
                                        </p:tgtEl>
                                        <p:attrNameLst>
                                          <p:attrName>style.visibility</p:attrName>
                                        </p:attrNameLst>
                                      </p:cBhvr>
                                      <p:to>
                                        <p:strVal val="visible"/>
                                      </p:to>
                                    </p:set>
                                    <p:animEffect transition="in" filter="slide(fromBottom)">
                                      <p:cBhvr>
                                        <p:cTn id="22" dur="500"/>
                                        <p:tgtEl>
                                          <p:spTgt spid="3328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32804"/>
                                        </p:tgtEl>
                                        <p:attrNameLst>
                                          <p:attrName>style.visibility</p:attrName>
                                        </p:attrNameLst>
                                      </p:cBhvr>
                                      <p:to>
                                        <p:strVal val="visible"/>
                                      </p:to>
                                    </p:set>
                                    <p:animEffect transition="in" filter="slide(fromBottom)">
                                      <p:cBhvr>
                                        <p:cTn id="27" dur="500"/>
                                        <p:tgtEl>
                                          <p:spTgt spid="332804"/>
                                        </p:tgtEl>
                                      </p:cBhvr>
                                    </p:animEffect>
                                  </p:childTnLst>
                                  <p:subTnLst>
                                    <p:set>
                                      <p:cBhvr override="childStyle">
                                        <p:cTn dur="1" fill="hold" display="0" masterRel="nextClick" afterEffect="1"/>
                                        <p:tgtEl>
                                          <p:spTgt spid="332804"/>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32803">
                                            <p:txEl>
                                              <p:pRg st="4" end="4"/>
                                            </p:txEl>
                                          </p:spTgt>
                                        </p:tgtEl>
                                        <p:attrNameLst>
                                          <p:attrName>style.visibility</p:attrName>
                                        </p:attrNameLst>
                                      </p:cBhvr>
                                      <p:to>
                                        <p:strVal val="visible"/>
                                      </p:to>
                                    </p:set>
                                    <p:animEffect transition="in" filter="slide(fromBottom)">
                                      <p:cBhvr>
                                        <p:cTn id="32" dur="500"/>
                                        <p:tgtEl>
                                          <p:spTgt spid="33280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32803">
                                            <p:txEl>
                                              <p:pRg st="5" end="5"/>
                                            </p:txEl>
                                          </p:spTgt>
                                        </p:tgtEl>
                                        <p:attrNameLst>
                                          <p:attrName>style.visibility</p:attrName>
                                        </p:attrNameLst>
                                      </p:cBhvr>
                                      <p:to>
                                        <p:strVal val="visible"/>
                                      </p:to>
                                    </p:set>
                                    <p:animEffect transition="in" filter="slide(fromBottom)">
                                      <p:cBhvr>
                                        <p:cTn id="37" dur="500"/>
                                        <p:tgtEl>
                                          <p:spTgt spid="332803">
                                            <p:txEl>
                                              <p:pRg st="5" end="5"/>
                                            </p:txEl>
                                          </p:spTgt>
                                        </p:tgtEl>
                                      </p:cBhvr>
                                    </p:animEffect>
                                  </p:childTnLst>
                                </p:cTn>
                              </p:par>
                            </p:childTnLst>
                          </p:cTn>
                        </p:par>
                        <p:par>
                          <p:cTn id="38" fill="hold">
                            <p:stCondLst>
                              <p:cond delay="500"/>
                            </p:stCondLst>
                            <p:childTnLst>
                              <p:par>
                                <p:cTn id="39" presetID="12" presetClass="entr" presetSubtype="4" fill="hold" grpId="0" nodeType="afterEffect">
                                  <p:stCondLst>
                                    <p:cond delay="0"/>
                                  </p:stCondLst>
                                  <p:childTnLst>
                                    <p:set>
                                      <p:cBhvr>
                                        <p:cTn id="40" dur="1" fill="hold">
                                          <p:stCondLst>
                                            <p:cond delay="0"/>
                                          </p:stCondLst>
                                        </p:cTn>
                                        <p:tgtEl>
                                          <p:spTgt spid="332803">
                                            <p:txEl>
                                              <p:pRg st="6" end="6"/>
                                            </p:txEl>
                                          </p:spTgt>
                                        </p:tgtEl>
                                        <p:attrNameLst>
                                          <p:attrName>style.visibility</p:attrName>
                                        </p:attrNameLst>
                                      </p:cBhvr>
                                      <p:to>
                                        <p:strVal val="visible"/>
                                      </p:to>
                                    </p:set>
                                    <p:animEffect transition="in" filter="slide(fromBottom)">
                                      <p:cBhvr>
                                        <p:cTn id="41" dur="500"/>
                                        <p:tgtEl>
                                          <p:spTgt spid="332803">
                                            <p:txEl>
                                              <p:pRg st="6" end="6"/>
                                            </p:txEl>
                                          </p:spTgt>
                                        </p:tgtEl>
                                      </p:cBhvr>
                                    </p:animEffect>
                                  </p:childTnLst>
                                </p:cTn>
                              </p:par>
                            </p:childTnLst>
                          </p:cTn>
                        </p:par>
                        <p:par>
                          <p:cTn id="42" fill="hold">
                            <p:stCondLst>
                              <p:cond delay="1000"/>
                            </p:stCondLst>
                            <p:childTnLst>
                              <p:par>
                                <p:cTn id="43" presetID="12" presetClass="entr" presetSubtype="4" fill="hold" grpId="0" nodeType="afterEffect">
                                  <p:stCondLst>
                                    <p:cond delay="0"/>
                                  </p:stCondLst>
                                  <p:childTnLst>
                                    <p:set>
                                      <p:cBhvr>
                                        <p:cTn id="44" dur="1" fill="hold">
                                          <p:stCondLst>
                                            <p:cond delay="0"/>
                                          </p:stCondLst>
                                        </p:cTn>
                                        <p:tgtEl>
                                          <p:spTgt spid="332803">
                                            <p:txEl>
                                              <p:pRg st="7" end="7"/>
                                            </p:txEl>
                                          </p:spTgt>
                                        </p:tgtEl>
                                        <p:attrNameLst>
                                          <p:attrName>style.visibility</p:attrName>
                                        </p:attrNameLst>
                                      </p:cBhvr>
                                      <p:to>
                                        <p:strVal val="visible"/>
                                      </p:to>
                                    </p:set>
                                    <p:animEffect transition="in" filter="slide(fromBottom)">
                                      <p:cBhvr>
                                        <p:cTn id="45" dur="500"/>
                                        <p:tgtEl>
                                          <p:spTgt spid="332803">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4" fill="hold" grpId="0" nodeType="clickEffect">
                                  <p:stCondLst>
                                    <p:cond delay="0"/>
                                  </p:stCondLst>
                                  <p:childTnLst>
                                    <p:set>
                                      <p:cBhvr>
                                        <p:cTn id="49" dur="1" fill="hold">
                                          <p:stCondLst>
                                            <p:cond delay="0"/>
                                          </p:stCondLst>
                                        </p:cTn>
                                        <p:tgtEl>
                                          <p:spTgt spid="332803">
                                            <p:txEl>
                                              <p:pRg st="8" end="8"/>
                                            </p:txEl>
                                          </p:spTgt>
                                        </p:tgtEl>
                                        <p:attrNameLst>
                                          <p:attrName>style.visibility</p:attrName>
                                        </p:attrNameLst>
                                      </p:cBhvr>
                                      <p:to>
                                        <p:strVal val="visible"/>
                                      </p:to>
                                    </p:set>
                                    <p:animEffect transition="in" filter="slide(fromBottom)">
                                      <p:cBhvr>
                                        <p:cTn id="50" dur="500"/>
                                        <p:tgtEl>
                                          <p:spTgt spid="3328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3" grpId="0" autoUpdateAnimBg="0" build="p"/>
      <p:bldP spid="332804"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a:xfrm>
            <a:off x="2331203" y="428819"/>
            <a:ext cx="7391400" cy="865188"/>
          </a:xfrm>
        </p:spPr>
        <p:txBody>
          <a:bodyPr/>
          <a:lstStyle/>
          <a:p>
            <a:pPr eaLnBrk="1" hangingPunct="1">
              <a:buClr>
                <a:schemeClr val="tx1"/>
              </a:buClr>
              <a:buSzPct val="90000"/>
              <a:buFont typeface="Wingdings" panose="05000000000000000000" pitchFamily="2" charset="2"/>
              <a:buNone/>
              <a:defRPr/>
            </a:pPr>
            <a:r>
              <a:rPr lang="zh-CN" altLang="en-US" sz="3600" b="1" kern="1200" dirty="0">
                <a:solidFill>
                  <a:srgbClr val="660033"/>
                </a:solidFill>
                <a:cs typeface="+mn-cs"/>
              </a:rPr>
              <a:t>终产物乳酸的去路</a:t>
            </a:r>
            <a:endParaRPr lang="zh-CN" altLang="en-US" sz="3600" b="1" kern="1200" dirty="0">
              <a:solidFill>
                <a:srgbClr val="660033"/>
              </a:solidFill>
              <a:cs typeface="+mn-cs"/>
            </a:endParaRPr>
          </a:p>
        </p:txBody>
      </p:sp>
      <p:sp>
        <p:nvSpPr>
          <p:cNvPr id="333826" name="Rectangle 2"/>
          <p:cNvSpPr>
            <a:spLocks noGrp="1" noChangeArrowheads="1"/>
          </p:cNvSpPr>
          <p:nvPr>
            <p:ph idx="1"/>
          </p:nvPr>
        </p:nvSpPr>
        <p:spPr>
          <a:xfrm>
            <a:off x="2409031" y="1563088"/>
            <a:ext cx="7373938" cy="1943100"/>
          </a:xfrm>
        </p:spPr>
        <p:txBody>
          <a:bodyPr/>
          <a:lstStyle/>
          <a:p>
            <a:pPr marL="514350" indent="-514350" eaLnBrk="1" hangingPunct="1">
              <a:lnSpc>
                <a:spcPct val="110000"/>
              </a:lnSpc>
              <a:buFont typeface="黑体" panose="02010609060101010101" pitchFamily="2" charset="-122"/>
              <a:buAutoNum type="arabicPeriod"/>
              <a:tabLst>
                <a:tab pos="445770" algn="l"/>
              </a:tabLst>
            </a:pPr>
            <a:r>
              <a:rPr lang="zh-CN" altLang="en-US" sz="2400" b="0" dirty="0">
                <a:latin typeface="微软雅黑" panose="020B0503020204020204" pitchFamily="34" charset="-122"/>
                <a:ea typeface="微软雅黑" panose="020B0503020204020204" pitchFamily="34" charset="-122"/>
              </a:rPr>
              <a:t>在骨骼肌、心肌等部位氧化生成</a:t>
            </a:r>
            <a:r>
              <a:rPr lang="en-US" altLang="zh-CN" sz="2400" b="0" dirty="0">
                <a:latin typeface="微软雅黑" panose="020B0503020204020204" pitchFamily="34" charset="-122"/>
                <a:ea typeface="微软雅黑" panose="020B0503020204020204" pitchFamily="34" charset="-122"/>
              </a:rPr>
              <a:t>CO</a:t>
            </a:r>
            <a:r>
              <a:rPr lang="en-US" altLang="zh-CN" sz="2400" b="0" baseline="-25000" dirty="0">
                <a:latin typeface="微软雅黑" panose="020B0503020204020204" pitchFamily="34" charset="-122"/>
                <a:ea typeface="微软雅黑" panose="020B0503020204020204" pitchFamily="34" charset="-122"/>
              </a:rPr>
              <a:t>2</a:t>
            </a:r>
            <a:r>
              <a:rPr lang="zh-CN" altLang="en-US" sz="2400" b="0" dirty="0">
                <a:latin typeface="微软雅黑" panose="020B0503020204020204" pitchFamily="34" charset="-122"/>
                <a:ea typeface="微软雅黑" panose="020B0503020204020204" pitchFamily="34" charset="-122"/>
              </a:rPr>
              <a:t>和</a:t>
            </a:r>
            <a:r>
              <a:rPr lang="en-US" altLang="zh-CN" sz="2400" b="0" dirty="0">
                <a:latin typeface="微软雅黑" panose="020B0503020204020204" pitchFamily="34" charset="-122"/>
                <a:ea typeface="微软雅黑" panose="020B0503020204020204" pitchFamily="34" charset="-122"/>
              </a:rPr>
              <a:t>H</a:t>
            </a:r>
            <a:r>
              <a:rPr lang="en-US" altLang="zh-CN" sz="2400" b="0" baseline="-25000" dirty="0">
                <a:latin typeface="微软雅黑" panose="020B0503020204020204" pitchFamily="34" charset="-122"/>
                <a:ea typeface="微软雅黑" panose="020B0503020204020204" pitchFamily="34" charset="-122"/>
              </a:rPr>
              <a:t>2</a:t>
            </a:r>
            <a:r>
              <a:rPr lang="en-US" altLang="zh-CN" sz="2400" b="0" dirty="0">
                <a:latin typeface="微软雅黑" panose="020B0503020204020204" pitchFamily="34" charset="-122"/>
                <a:ea typeface="微软雅黑" panose="020B0503020204020204" pitchFamily="34" charset="-122"/>
              </a:rPr>
              <a:t>O</a:t>
            </a:r>
            <a:endParaRPr lang="en-US" altLang="zh-CN" sz="2400" b="0" dirty="0">
              <a:latin typeface="微软雅黑" panose="020B0503020204020204" pitchFamily="34" charset="-122"/>
              <a:ea typeface="微软雅黑" panose="020B0503020204020204" pitchFamily="34" charset="-122"/>
            </a:endParaRPr>
          </a:p>
          <a:p>
            <a:pPr marL="514350" indent="-514350" eaLnBrk="1" hangingPunct="1">
              <a:lnSpc>
                <a:spcPct val="110000"/>
              </a:lnSpc>
              <a:buFont typeface="黑体" panose="02010609060101010101" pitchFamily="2" charset="-122"/>
              <a:buAutoNum type="arabicPeriod"/>
              <a:tabLst>
                <a:tab pos="445770" algn="l"/>
              </a:tabLst>
            </a:pPr>
            <a:r>
              <a:rPr lang="zh-CN" altLang="en-US" sz="2400" b="0" dirty="0">
                <a:latin typeface="微软雅黑" panose="020B0503020204020204" pitchFamily="34" charset="-122"/>
                <a:ea typeface="微软雅黑" panose="020B0503020204020204" pitchFamily="34" charset="-122"/>
              </a:rPr>
              <a:t>在肝脏经糖异生生成葡萄糖（乳酸循环）</a:t>
            </a:r>
            <a:endParaRPr lang="en-US" altLang="zh-CN" sz="2400" b="0" dirty="0">
              <a:latin typeface="微软雅黑" panose="020B0503020204020204" pitchFamily="34" charset="-122"/>
              <a:ea typeface="微软雅黑" panose="020B0503020204020204" pitchFamily="34" charset="-122"/>
            </a:endParaRPr>
          </a:p>
          <a:p>
            <a:pPr marL="514350" indent="-514350" eaLnBrk="1" hangingPunct="1">
              <a:lnSpc>
                <a:spcPct val="110000"/>
              </a:lnSpc>
              <a:buFont typeface="黑体" panose="02010609060101010101" pitchFamily="2" charset="-122"/>
              <a:buAutoNum type="arabicPeriod"/>
              <a:tabLst>
                <a:tab pos="445770" algn="l"/>
              </a:tabLst>
            </a:pPr>
            <a:r>
              <a:rPr lang="zh-CN" altLang="en-US" sz="2400" b="0" dirty="0">
                <a:latin typeface="微软雅黑" panose="020B0503020204020204" pitchFamily="34" charset="-122"/>
                <a:ea typeface="微软雅黑" panose="020B0503020204020204" pitchFamily="34" charset="-122"/>
              </a:rPr>
              <a:t>在肝脏转变为脂肪酸或丙氨酸</a:t>
            </a:r>
            <a:endParaRPr lang="zh-CN" altLang="en-US" sz="2400" b="0" dirty="0">
              <a:latin typeface="微软雅黑" panose="020B0503020204020204" pitchFamily="34" charset="-122"/>
              <a:ea typeface="微软雅黑" panose="020B0503020204020204" pitchFamily="34" charset="-122"/>
            </a:endParaRPr>
          </a:p>
          <a:p>
            <a:pPr marL="514350" indent="-514350" eaLnBrk="1" hangingPunct="1">
              <a:lnSpc>
                <a:spcPct val="110000"/>
              </a:lnSpc>
              <a:buFont typeface="黑体" panose="02010609060101010101" pitchFamily="2" charset="-122"/>
              <a:buAutoNum type="arabicPeriod"/>
              <a:tabLst>
                <a:tab pos="445770" algn="l"/>
              </a:tabLst>
            </a:pPr>
            <a:r>
              <a:rPr lang="zh-CN" altLang="en-US" sz="2400" b="0" dirty="0">
                <a:latin typeface="微软雅黑" panose="020B0503020204020204" pitchFamily="34" charset="-122"/>
                <a:ea typeface="微软雅黑" panose="020B0503020204020204" pitchFamily="34" charset="-122"/>
              </a:rPr>
              <a:t>少量随尿、汗排出</a:t>
            </a:r>
            <a:endParaRPr lang="en-US" altLang="zh-CN" sz="2400" b="0" dirty="0">
              <a:latin typeface="微软雅黑" panose="020B0503020204020204" pitchFamily="34" charset="-122"/>
              <a:ea typeface="微软雅黑" panose="020B0503020204020204" pitchFamily="34" charset="-122"/>
            </a:endParaRPr>
          </a:p>
        </p:txBody>
      </p:sp>
      <p:sp>
        <p:nvSpPr>
          <p:cNvPr id="4" name="矩形 3"/>
          <p:cNvSpPr>
            <a:spLocks noChangeArrowheads="1"/>
          </p:cNvSpPr>
          <p:nvPr/>
        </p:nvSpPr>
        <p:spPr bwMode="auto">
          <a:xfrm>
            <a:off x="2353654" y="3775269"/>
            <a:ext cx="8564809" cy="1384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20000"/>
              </a:lnSpc>
              <a:spcBef>
                <a:spcPct val="0"/>
              </a:spcBef>
              <a:buClrTx/>
              <a:buSzTx/>
              <a:buFontTx/>
              <a:buNone/>
            </a:pPr>
            <a:r>
              <a:rPr lang="zh-CN" altLang="en-US" sz="2400" b="0" dirty="0">
                <a:solidFill>
                  <a:srgbClr val="0000CC"/>
                </a:solidFill>
                <a:latin typeface="微软雅黑" panose="020B0503020204020204" pitchFamily="34" charset="-122"/>
                <a:ea typeface="微软雅黑" panose="020B0503020204020204" pitchFamily="34" charset="-122"/>
              </a:rPr>
              <a:t>安静时血乳酸水平：</a:t>
            </a:r>
            <a:r>
              <a:rPr lang="en-US" altLang="zh-CN" sz="2400" b="0" dirty="0">
                <a:solidFill>
                  <a:srgbClr val="0000CC"/>
                </a:solidFill>
                <a:latin typeface="微软雅黑" panose="020B0503020204020204" pitchFamily="34" charset="-122"/>
                <a:ea typeface="微软雅黑" panose="020B0503020204020204" pitchFamily="34" charset="-122"/>
              </a:rPr>
              <a:t>0.5</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1.7mmol/L(5~15mg/dl)</a:t>
            </a:r>
            <a:endParaRPr lang="en-US" altLang="zh-CN" sz="2400" b="0" dirty="0">
              <a:solidFill>
                <a:srgbClr val="0000CC"/>
              </a:solidFill>
              <a:latin typeface="微软雅黑" panose="020B0503020204020204" pitchFamily="34" charset="-122"/>
              <a:ea typeface="微软雅黑" panose="020B0503020204020204" pitchFamily="34" charset="-122"/>
            </a:endParaRPr>
          </a:p>
          <a:p>
            <a:pPr>
              <a:lnSpc>
                <a:spcPct val="120000"/>
              </a:lnSpc>
              <a:spcBef>
                <a:spcPct val="0"/>
              </a:spcBef>
              <a:buClrTx/>
              <a:buSzTx/>
              <a:buFontTx/>
              <a:buNone/>
            </a:pPr>
            <a:r>
              <a:rPr lang="zh-CN" altLang="en-US" sz="2400" b="0" dirty="0">
                <a:latin typeface="微软雅黑" panose="020B0503020204020204" pitchFamily="34" charset="-122"/>
                <a:ea typeface="微软雅黑" panose="020B0503020204020204" pitchFamily="34" charset="-122"/>
              </a:rPr>
              <a:t>剧烈运动后可   </a:t>
            </a:r>
            <a:r>
              <a:rPr lang="en-US" altLang="zh-CN" sz="2400" b="0" dirty="0">
                <a:latin typeface="微软雅黑" panose="020B0503020204020204" pitchFamily="34" charset="-122"/>
                <a:ea typeface="微软雅黑" panose="020B0503020204020204" pitchFamily="34" charset="-122"/>
              </a:rPr>
              <a:t>&gt;20mmol/L</a:t>
            </a:r>
            <a:endParaRPr lang="en-US" altLang="zh-CN" sz="2400" b="0" dirty="0">
              <a:latin typeface="微软雅黑" panose="020B0503020204020204" pitchFamily="34" charset="-122"/>
              <a:ea typeface="微软雅黑" panose="020B0503020204020204" pitchFamily="34" charset="-122"/>
            </a:endParaRPr>
          </a:p>
          <a:p>
            <a:pPr>
              <a:lnSpc>
                <a:spcPct val="120000"/>
              </a:lnSpc>
              <a:spcBef>
                <a:spcPct val="0"/>
              </a:spcBef>
              <a:buClrTx/>
              <a:buSzTx/>
              <a:buFontTx/>
              <a:buNone/>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无论何种运动强度，</a:t>
            </a:r>
            <a:r>
              <a:rPr lang="zh-CN" altLang="en-US" sz="2400" b="0" dirty="0">
                <a:solidFill>
                  <a:srgbClr val="C00000"/>
                </a:solidFill>
                <a:latin typeface="微软雅黑" panose="020B0503020204020204" pitchFamily="34" charset="-122"/>
                <a:ea typeface="微软雅黑" panose="020B0503020204020204" pitchFamily="34" charset="-122"/>
              </a:rPr>
              <a:t>运动结束后</a:t>
            </a:r>
            <a:r>
              <a:rPr lang="en-US" altLang="zh-CN" sz="2400" b="0" dirty="0">
                <a:solidFill>
                  <a:srgbClr val="C00000"/>
                </a:solidFill>
                <a:latin typeface="微软雅黑" panose="020B0503020204020204" pitchFamily="34" charset="-122"/>
                <a:ea typeface="微软雅黑" panose="020B0503020204020204" pitchFamily="34" charset="-122"/>
              </a:rPr>
              <a:t>1~2</a:t>
            </a:r>
            <a:r>
              <a:rPr lang="zh-CN" altLang="en-US" sz="2400" b="0" dirty="0">
                <a:solidFill>
                  <a:srgbClr val="C00000"/>
                </a:solidFill>
                <a:latin typeface="微软雅黑" panose="020B0503020204020204" pitchFamily="34" charset="-122"/>
                <a:ea typeface="微软雅黑" panose="020B0503020204020204" pitchFamily="34" charset="-122"/>
              </a:rPr>
              <a:t>小时，血乳酸恢复正常。</a:t>
            </a:r>
            <a:endParaRPr lang="en-US" altLang="zh-CN" sz="2400" b="0" dirty="0">
              <a:solidFill>
                <a:srgbClr val="C00000"/>
              </a:solidFill>
              <a:latin typeface="微软雅黑" panose="020B0503020204020204" pitchFamily="34" charset="-122"/>
              <a:ea typeface="微软雅黑" panose="020B0503020204020204" pitchFamily="34" charset="-122"/>
            </a:endParaRPr>
          </a:p>
        </p:txBody>
      </p:sp>
      <p:sp>
        <p:nvSpPr>
          <p:cNvPr id="139269" name="文本框 4"/>
          <p:cNvSpPr txBox="1">
            <a:spLocks noChangeArrowheads="1"/>
          </p:cNvSpPr>
          <p:nvPr/>
        </p:nvSpPr>
        <p:spPr bwMode="auto">
          <a:xfrm>
            <a:off x="2135560" y="5569938"/>
            <a:ext cx="90009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dirty="0">
                <a:latin typeface="Arial" panose="020B0604020202020204" pitchFamily="34" charset="0"/>
                <a:ea typeface="宋体" panose="02010600030101010101" pitchFamily="2" charset="-122"/>
              </a:rPr>
              <a:t>运动结束一天后出现的肌肉酸痛是乳酸堆积引起的吗？</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33826">
                                            <p:txEl>
                                              <p:pRg st="0" end="0"/>
                                            </p:txEl>
                                          </p:spTgt>
                                        </p:tgtEl>
                                        <p:attrNameLst>
                                          <p:attrName>style.visibility</p:attrName>
                                        </p:attrNameLst>
                                      </p:cBhvr>
                                      <p:to>
                                        <p:strVal val="visible"/>
                                      </p:to>
                                    </p:set>
                                    <p:animEffect transition="in" filter="wipe(left)">
                                      <p:cBhvr>
                                        <p:cTn id="7" dur="500"/>
                                        <p:tgtEl>
                                          <p:spTgt spid="33382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33826">
                                            <p:txEl>
                                              <p:pRg st="1" end="1"/>
                                            </p:txEl>
                                          </p:spTgt>
                                        </p:tgtEl>
                                        <p:attrNameLst>
                                          <p:attrName>style.visibility</p:attrName>
                                        </p:attrNameLst>
                                      </p:cBhvr>
                                      <p:to>
                                        <p:strVal val="visible"/>
                                      </p:to>
                                    </p:set>
                                    <p:animEffect transition="in" filter="wipe(left)">
                                      <p:cBhvr>
                                        <p:cTn id="11" dur="500"/>
                                        <p:tgtEl>
                                          <p:spTgt spid="33382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33826">
                                            <p:txEl>
                                              <p:pRg st="2" end="2"/>
                                            </p:txEl>
                                          </p:spTgt>
                                        </p:tgtEl>
                                        <p:attrNameLst>
                                          <p:attrName>style.visibility</p:attrName>
                                        </p:attrNameLst>
                                      </p:cBhvr>
                                      <p:to>
                                        <p:strVal val="visible"/>
                                      </p:to>
                                    </p:set>
                                    <p:animEffect transition="in" filter="wipe(left)">
                                      <p:cBhvr>
                                        <p:cTn id="15" dur="500"/>
                                        <p:tgtEl>
                                          <p:spTgt spid="33382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3826">
                                            <p:txEl>
                                              <p:pRg st="3" end="3"/>
                                            </p:txEl>
                                          </p:spTgt>
                                        </p:tgtEl>
                                        <p:attrNameLst>
                                          <p:attrName>style.visibility</p:attrName>
                                        </p:attrNameLst>
                                      </p:cBhvr>
                                      <p:to>
                                        <p:strVal val="visible"/>
                                      </p:to>
                                    </p:set>
                                    <p:animEffect transition="in" filter="wipe(left)">
                                      <p:cBhvr>
                                        <p:cTn id="19" dur="500"/>
                                        <p:tgtEl>
                                          <p:spTgt spid="333826">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9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26" grpId="0" advAuto="0" autoUpdateAnimBg="0" build="p"/>
      <p:bldP spid="4" grpId="0"/>
      <p:bldP spid="139269" grpId="0"/>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4146" name="内容占位符 2"/>
          <p:cNvSpPr>
            <a:spLocks noGrp="1"/>
          </p:cNvSpPr>
          <p:nvPr>
            <p:ph idx="4294967295"/>
          </p:nvPr>
        </p:nvSpPr>
        <p:spPr>
          <a:xfrm>
            <a:off x="1055440" y="1664804"/>
            <a:ext cx="10081120" cy="3528392"/>
          </a:xfrm>
        </p:spPr>
        <p:txBody>
          <a:bodyPr/>
          <a:lstStyle/>
          <a:p>
            <a:pPr>
              <a:lnSpc>
                <a:spcPct val="120000"/>
              </a:lnSpc>
              <a:spcBef>
                <a:spcPts val="600"/>
              </a:spcBef>
              <a:defRPr/>
            </a:pPr>
            <a:r>
              <a:rPr lang="zh-CN" altLang="en-US" sz="2400" b="0" dirty="0"/>
              <a:t>一般在锻炼后</a:t>
            </a:r>
            <a:r>
              <a:rPr lang="en-US" altLang="zh-CN" sz="2400" b="0" dirty="0"/>
              <a:t>24</a:t>
            </a:r>
            <a:r>
              <a:rPr lang="zh-CN" altLang="en-US" sz="2400" b="0" dirty="0"/>
              <a:t>小时后出现的肌肉酸痛在运动医学上称为</a:t>
            </a:r>
            <a:r>
              <a:rPr lang="en-US" altLang="zh-CN" sz="2400" b="0" dirty="0"/>
              <a:t>"</a:t>
            </a:r>
            <a:r>
              <a:rPr lang="zh-CN" altLang="en-US" sz="2400" b="0" dirty="0">
                <a:solidFill>
                  <a:srgbClr val="0000CC"/>
                </a:solidFill>
              </a:rPr>
              <a:t>延迟性肌肉酸痛</a:t>
            </a:r>
            <a:r>
              <a:rPr lang="en-US" altLang="zh-CN" sz="2400" b="0" dirty="0">
                <a:solidFill>
                  <a:srgbClr val="0000CC"/>
                </a:solidFill>
              </a:rPr>
              <a:t>”</a:t>
            </a:r>
            <a:r>
              <a:rPr lang="zh-CN" altLang="en-US" sz="2400" b="0" dirty="0">
                <a:solidFill>
                  <a:srgbClr val="0000CC"/>
                </a:solidFill>
              </a:rPr>
              <a:t>（</a:t>
            </a:r>
            <a:r>
              <a:rPr lang="en-US" altLang="zh-CN" sz="2400" b="0" dirty="0">
                <a:solidFill>
                  <a:srgbClr val="0000CC"/>
                </a:solidFill>
              </a:rPr>
              <a:t>DOMS</a:t>
            </a:r>
            <a:r>
              <a:rPr lang="zh-CN" altLang="en-US" sz="2400" b="0" dirty="0">
                <a:solidFill>
                  <a:srgbClr val="0000CC"/>
                </a:solidFill>
              </a:rPr>
              <a:t>，</a:t>
            </a:r>
            <a:r>
              <a:rPr lang="en-US" altLang="zh-CN" sz="2400" b="0" dirty="0"/>
              <a:t> </a:t>
            </a:r>
            <a:r>
              <a:rPr lang="en-US" altLang="zh-CN" sz="2400" b="0" dirty="0">
                <a:solidFill>
                  <a:schemeClr val="tx1">
                    <a:lumMod val="95000"/>
                    <a:lumOff val="5000"/>
                  </a:schemeClr>
                </a:solidFill>
              </a:rPr>
              <a:t>delayed onset muscle soreness </a:t>
            </a:r>
            <a:r>
              <a:rPr lang="zh-CN" altLang="en-US" sz="2400" b="0" dirty="0">
                <a:solidFill>
                  <a:schemeClr val="tx1">
                    <a:lumMod val="95000"/>
                    <a:lumOff val="5000"/>
                  </a:schemeClr>
                </a:solidFill>
              </a:rPr>
              <a:t>）</a:t>
            </a:r>
            <a:r>
              <a:rPr lang="zh-CN" altLang="en-US" sz="2400" b="0" dirty="0"/>
              <a:t>。锻炼后</a:t>
            </a:r>
            <a:r>
              <a:rPr lang="en-US" altLang="zh-CN" sz="2400" b="0" dirty="0"/>
              <a:t>24 – 72h</a:t>
            </a:r>
            <a:r>
              <a:rPr lang="zh-CN" altLang="en-US" sz="2400" b="0" dirty="0"/>
              <a:t>酸痛达到顶点，</a:t>
            </a:r>
            <a:r>
              <a:rPr lang="en-US" altLang="zh-CN" sz="2400" b="0" dirty="0"/>
              <a:t>5 - 7</a:t>
            </a:r>
            <a:r>
              <a:rPr lang="zh-CN" altLang="en-US" sz="2400" b="0" dirty="0"/>
              <a:t>天后疼痛基本消失。除酸痛外，还有肌肉僵硬，轻者仅有压疼，重者肌肉肿胀，妨碍活动。</a:t>
            </a:r>
            <a:endParaRPr lang="en-US" altLang="zh-CN" sz="2400" b="0" dirty="0">
              <a:solidFill>
                <a:srgbClr val="0000CC"/>
              </a:solidFill>
            </a:endParaRPr>
          </a:p>
          <a:p>
            <a:pPr>
              <a:lnSpc>
                <a:spcPct val="120000"/>
              </a:lnSpc>
              <a:spcBef>
                <a:spcPts val="600"/>
              </a:spcBef>
              <a:defRPr/>
            </a:pPr>
            <a:r>
              <a:rPr lang="zh-CN" altLang="en-US" sz="2400" b="0" dirty="0">
                <a:solidFill>
                  <a:srgbClr val="0000CC"/>
                </a:solidFill>
              </a:rPr>
              <a:t>延迟性肌肉酸痛</a:t>
            </a:r>
            <a:r>
              <a:rPr lang="zh-CN" altLang="en-US" sz="2400" b="0" dirty="0"/>
              <a:t>原因：肌肉纤维的微小撕裂、破损、局部炎症反应</a:t>
            </a:r>
            <a:r>
              <a:rPr lang="en-US" altLang="zh-CN" sz="2400" b="0" dirty="0"/>
              <a:t>…</a:t>
            </a:r>
            <a:endParaRPr lang="en-US" altLang="zh-CN" sz="2400" b="0" dirty="0"/>
          </a:p>
          <a:p>
            <a:pPr>
              <a:lnSpc>
                <a:spcPct val="120000"/>
              </a:lnSpc>
              <a:spcBef>
                <a:spcPts val="600"/>
              </a:spcBef>
              <a:defRPr/>
            </a:pPr>
            <a:r>
              <a:rPr lang="zh-CN" altLang="en-US" sz="2400" b="0" dirty="0"/>
              <a:t>临床实践中通常运用</a:t>
            </a:r>
            <a:r>
              <a:rPr lang="zh-CN" altLang="en-US" sz="2400" b="0" dirty="0">
                <a:solidFill>
                  <a:srgbClr val="FF0000"/>
                </a:solidFill>
              </a:rPr>
              <a:t>冰敷</a:t>
            </a:r>
            <a:r>
              <a:rPr lang="zh-CN" altLang="en-US" sz="2400" b="0" dirty="0"/>
              <a:t>来缓解</a:t>
            </a:r>
            <a:r>
              <a:rPr lang="zh-CN" altLang="en-US" sz="2400" b="0" dirty="0">
                <a:solidFill>
                  <a:srgbClr val="0000CC"/>
                </a:solidFill>
              </a:rPr>
              <a:t>损伤引起的疼痛，发炎及肿胀</a:t>
            </a:r>
            <a:r>
              <a:rPr lang="zh-CN" altLang="en-US" sz="2400" b="0" dirty="0"/>
              <a:t>。  许多医生也会建议用冰敷来治疗</a:t>
            </a:r>
            <a:r>
              <a:rPr lang="en-US" altLang="zh-CN" sz="2400" b="0" dirty="0"/>
              <a:t>DOMS</a:t>
            </a:r>
            <a:r>
              <a:rPr lang="zh-CN" altLang="en-US" sz="2400" b="0" dirty="0"/>
              <a:t>。</a:t>
            </a:r>
            <a:endParaRPr lang="zh-CN" altLang="en-US" sz="2400" b="0" dirty="0"/>
          </a:p>
        </p:txBody>
      </p:sp>
      <p:sp>
        <p:nvSpPr>
          <p:cNvPr id="141315" name="标题 1"/>
          <p:cNvSpPr>
            <a:spLocks noGrp="1" noChangeArrowheads="1"/>
          </p:cNvSpPr>
          <p:nvPr>
            <p:ph type="title" idx="4294967295"/>
          </p:nvPr>
        </p:nvSpPr>
        <p:spPr>
          <a:xfrm>
            <a:off x="2279650" y="620713"/>
            <a:ext cx="7391400" cy="563562"/>
          </a:xfrm>
        </p:spPr>
        <p:txBody>
          <a:bodyPr/>
          <a:lstStyle/>
          <a:p>
            <a:r>
              <a:rPr lang="zh-CN" altLang="en-US">
                <a:solidFill>
                  <a:srgbClr val="5D2785"/>
                </a:solidFill>
              </a:rPr>
              <a:t>延迟性肌肉酸痛非乳酸堆积所致</a:t>
            </a:r>
            <a:endParaRPr lang="zh-CN" altLang="en-US">
              <a:solidFill>
                <a:srgbClr val="5D2785"/>
              </a:solidFill>
            </a:endParaRPr>
          </a:p>
        </p:txBody>
      </p:sp>
      <p:sp>
        <p:nvSpPr>
          <p:cNvPr id="5" name="文本框 4"/>
          <p:cNvSpPr txBox="1"/>
          <p:nvPr/>
        </p:nvSpPr>
        <p:spPr>
          <a:xfrm>
            <a:off x="1415480" y="5196671"/>
            <a:ext cx="10297144" cy="954107"/>
          </a:xfrm>
          <a:prstGeom prst="rect">
            <a:avLst/>
          </a:prstGeom>
          <a:noFill/>
        </p:spPr>
        <p:txBody>
          <a:bodyPr wrap="square">
            <a:spAutoFit/>
          </a:bodyPr>
          <a:lstStyle/>
          <a:p>
            <a:r>
              <a:rPr lang="zh-CN" altLang="en-US" sz="2800" dirty="0">
                <a:latin typeface="+mj-ea"/>
                <a:ea typeface="+mj-ea"/>
              </a:rPr>
              <a:t>对</a:t>
            </a:r>
            <a:r>
              <a:rPr lang="en-US" altLang="zh-CN" sz="2800" dirty="0">
                <a:latin typeface="+mj-ea"/>
                <a:ea typeface="+mj-ea"/>
              </a:rPr>
              <a:t>DOMS</a:t>
            </a:r>
            <a:r>
              <a:rPr lang="zh-CN" altLang="en-US" sz="2800" dirty="0">
                <a:latin typeface="+mj-ea"/>
                <a:ea typeface="+mj-ea"/>
              </a:rPr>
              <a:t>或扭伤、摔伤之类，</a:t>
            </a:r>
            <a:r>
              <a:rPr lang="en-US" altLang="zh-CN" sz="2800" dirty="0">
                <a:solidFill>
                  <a:srgbClr val="C00000"/>
                </a:solidFill>
                <a:latin typeface="+mj-ea"/>
                <a:ea typeface="+mj-ea"/>
              </a:rPr>
              <a:t>48</a:t>
            </a:r>
            <a:r>
              <a:rPr lang="zh-CN" altLang="en-US" sz="2800" dirty="0">
                <a:solidFill>
                  <a:srgbClr val="C00000"/>
                </a:solidFill>
                <a:latin typeface="+mj-ea"/>
                <a:ea typeface="+mj-ea"/>
              </a:rPr>
              <a:t>小时甚至</a:t>
            </a:r>
            <a:r>
              <a:rPr lang="en-US" altLang="zh-CN" sz="2800" dirty="0">
                <a:solidFill>
                  <a:srgbClr val="C00000"/>
                </a:solidFill>
                <a:latin typeface="+mj-ea"/>
                <a:ea typeface="+mj-ea"/>
              </a:rPr>
              <a:t>72</a:t>
            </a:r>
            <a:r>
              <a:rPr lang="zh-CN" altLang="en-US" sz="2800" dirty="0">
                <a:solidFill>
                  <a:srgbClr val="C00000"/>
                </a:solidFill>
                <a:latin typeface="+mj-ea"/>
                <a:ea typeface="+mj-ea"/>
              </a:rPr>
              <a:t>小时内冰敷，勿热敷！</a:t>
            </a:r>
            <a:r>
              <a:rPr lang="en-US" altLang="zh-CN" sz="2800" dirty="0">
                <a:latin typeface="+mj-ea"/>
                <a:ea typeface="+mj-ea"/>
              </a:rPr>
              <a:t>72</a:t>
            </a:r>
            <a:r>
              <a:rPr lang="zh-CN" altLang="en-US" sz="2800" dirty="0">
                <a:latin typeface="+mj-ea"/>
                <a:ea typeface="+mj-ea"/>
              </a:rPr>
              <a:t>小时后或可热敷。 </a:t>
            </a:r>
            <a:endParaRPr lang="zh-CN" altLang="en-US" sz="2800" dirty="0">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4146">
                                            <p:txEl>
                                              <p:pRg st="1" end="1"/>
                                            </p:txEl>
                                          </p:spTgt>
                                        </p:tgtEl>
                                        <p:attrNameLst>
                                          <p:attrName>style.visibility</p:attrName>
                                        </p:attrNameLst>
                                      </p:cBhvr>
                                      <p:to>
                                        <p:strVal val="visible"/>
                                      </p:to>
                                    </p:set>
                                    <p:animEffect transition="in" filter="fade">
                                      <p:cBhvr>
                                        <p:cTn id="7" dur="500"/>
                                        <p:tgtEl>
                                          <p:spTgt spid="13414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4146">
                                            <p:txEl>
                                              <p:pRg st="0" end="0"/>
                                            </p:txEl>
                                          </p:spTgt>
                                        </p:tgtEl>
                                        <p:attrNameLst>
                                          <p:attrName>style.visibility</p:attrName>
                                        </p:attrNameLst>
                                      </p:cBhvr>
                                      <p:to>
                                        <p:strVal val="visible"/>
                                      </p:to>
                                    </p:set>
                                    <p:animEffect transition="in" filter="fade">
                                      <p:cBhvr>
                                        <p:cTn id="10" dur="500"/>
                                        <p:tgtEl>
                                          <p:spTgt spid="13414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4146">
                                            <p:txEl>
                                              <p:pRg st="2" end="2"/>
                                            </p:txEl>
                                          </p:spTgt>
                                        </p:tgtEl>
                                        <p:attrNameLst>
                                          <p:attrName>style.visibility</p:attrName>
                                        </p:attrNameLst>
                                      </p:cBhvr>
                                      <p:to>
                                        <p:strVal val="visible"/>
                                      </p:to>
                                    </p:set>
                                    <p:animEffect transition="in" filter="fade">
                                      <p:cBhvr>
                                        <p:cTn id="15" dur="500"/>
                                        <p:tgtEl>
                                          <p:spTgt spid="13414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bwMode="auto">
          <a:xfrm>
            <a:off x="2024063" y="285751"/>
            <a:ext cx="8229600" cy="785813"/>
          </a:xfrm>
        </p:spPr>
        <p:txBody>
          <a:bodyPr anchor="t"/>
          <a:lstStyle/>
          <a:p>
            <a:pPr eaLnBrk="1" hangingPunct="1"/>
            <a:r>
              <a:rPr lang="zh-CN" altLang="en-US" b="1">
                <a:solidFill>
                  <a:srgbClr val="7030A0"/>
                </a:solidFill>
              </a:rPr>
              <a:t>课堂练习</a:t>
            </a:r>
            <a:endParaRPr lang="zh-CN" altLang="en-US" b="1">
              <a:solidFill>
                <a:srgbClr val="7030A0"/>
              </a:solidFill>
            </a:endParaRPr>
          </a:p>
        </p:txBody>
      </p:sp>
      <p:sp>
        <p:nvSpPr>
          <p:cNvPr id="143363" name="Rectangle 3"/>
          <p:cNvSpPr>
            <a:spLocks noGrp="1" noChangeArrowheads="1"/>
          </p:cNvSpPr>
          <p:nvPr>
            <p:ph type="body" idx="1"/>
          </p:nvPr>
        </p:nvSpPr>
        <p:spPr>
          <a:xfrm>
            <a:off x="1838190" y="1541806"/>
            <a:ext cx="8712967" cy="890587"/>
          </a:xfrm>
        </p:spPr>
        <p:txBody>
          <a:bodyPr/>
          <a:lstStyle/>
          <a:p>
            <a:pPr eaLnBrk="1" hangingPunct="1"/>
            <a:r>
              <a:rPr lang="zh-CN" altLang="en-US" sz="2400" b="0" dirty="0">
                <a:latin typeface="微软雅黑" panose="020B0503020204020204" pitchFamily="34" charset="-122"/>
                <a:ea typeface="微软雅黑" panose="020B0503020204020204" pitchFamily="34" charset="-122"/>
              </a:rPr>
              <a:t>人血浆中的葡萄糖大约维持在</a:t>
            </a:r>
            <a:r>
              <a:rPr lang="en-US" altLang="zh-CN" sz="2400" b="0" dirty="0">
                <a:latin typeface="微软雅黑" panose="020B0503020204020204" pitchFamily="34" charset="-122"/>
                <a:ea typeface="微软雅黑" panose="020B0503020204020204" pitchFamily="34" charset="-122"/>
              </a:rPr>
              <a:t>5mM</a:t>
            </a:r>
            <a:r>
              <a:rPr lang="zh-CN" altLang="en-US" sz="2400" b="0" dirty="0">
                <a:latin typeface="微软雅黑" panose="020B0503020204020204" pitchFamily="34" charset="-122"/>
                <a:ea typeface="微软雅黑" panose="020B0503020204020204" pitchFamily="34" charset="-122"/>
              </a:rPr>
              <a:t>，而在肌肉细胞中的游离葡萄糖浓度要低得多，为什么？</a:t>
            </a:r>
            <a:endParaRPr lang="zh-CN" altLang="en-US" sz="2400" b="0" dirty="0">
              <a:solidFill>
                <a:schemeClr val="tx2"/>
              </a:solidFill>
              <a:latin typeface="微软雅黑" panose="020B0503020204020204" pitchFamily="34" charset="-122"/>
              <a:ea typeface="微软雅黑" panose="020B0503020204020204" pitchFamily="34" charset="-122"/>
            </a:endParaRPr>
          </a:p>
        </p:txBody>
      </p:sp>
      <p:sp>
        <p:nvSpPr>
          <p:cNvPr id="624644" name="Rectangle 4"/>
          <p:cNvSpPr>
            <a:spLocks noChangeArrowheads="1"/>
          </p:cNvSpPr>
          <p:nvPr/>
        </p:nvSpPr>
        <p:spPr bwMode="auto">
          <a:xfrm>
            <a:off x="1910012" y="5090562"/>
            <a:ext cx="85693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buClrTx/>
              <a:buSzPct val="85000"/>
              <a:buFontTx/>
              <a:buBlip>
                <a:blip r:embed="rId1"/>
              </a:buBlip>
            </a:pPr>
            <a:r>
              <a:rPr lang="zh-CN" altLang="en-US" sz="2400" b="0" dirty="0">
                <a:solidFill>
                  <a:schemeClr val="tx2"/>
                </a:solidFill>
                <a:latin typeface="微软雅黑" panose="020B0503020204020204" pitchFamily="34" charset="-122"/>
                <a:ea typeface="微软雅黑" panose="020B0503020204020204" pitchFamily="34" charset="-122"/>
              </a:rPr>
              <a:t>答：</a:t>
            </a:r>
            <a:r>
              <a:rPr lang="en-US" altLang="zh-CN" sz="2400" b="0" dirty="0">
                <a:solidFill>
                  <a:schemeClr val="tx2"/>
                </a:solidFill>
                <a:latin typeface="微软雅黑" panose="020B0503020204020204" pitchFamily="34" charset="-122"/>
                <a:ea typeface="微软雅黑" panose="020B0503020204020204" pitchFamily="34" charset="-122"/>
              </a:rPr>
              <a:t>pH7</a:t>
            </a:r>
            <a:r>
              <a:rPr lang="zh-CN" altLang="en-US" sz="2400" b="0" dirty="0">
                <a:solidFill>
                  <a:schemeClr val="tx2"/>
                </a:solidFill>
                <a:latin typeface="微软雅黑" panose="020B0503020204020204" pitchFamily="34" charset="-122"/>
                <a:ea typeface="微软雅黑" panose="020B0503020204020204" pitchFamily="34" charset="-122"/>
              </a:rPr>
              <a:t>时，葡萄糖</a:t>
            </a:r>
            <a:r>
              <a:rPr lang="en-US" altLang="zh-CN" sz="2400" b="0" dirty="0">
                <a:solidFill>
                  <a:schemeClr val="tx2"/>
                </a:solidFill>
                <a:latin typeface="微软雅黑" panose="020B0503020204020204" pitchFamily="34" charset="-122"/>
                <a:ea typeface="微软雅黑" panose="020B0503020204020204" pitchFamily="34" charset="-122"/>
              </a:rPr>
              <a:t>-6-</a:t>
            </a:r>
            <a:r>
              <a:rPr lang="zh-CN" altLang="en-US" sz="2400" b="0" dirty="0">
                <a:solidFill>
                  <a:schemeClr val="tx2"/>
                </a:solidFill>
                <a:latin typeface="微软雅黑" panose="020B0503020204020204" pitchFamily="34" charset="-122"/>
                <a:ea typeface="微软雅黑" panose="020B0503020204020204" pitchFamily="34" charset="-122"/>
              </a:rPr>
              <a:t>磷酸的磷酸基团解离，带负电荷，不能通过细胞膜，故不能从血流中进入细胞。 </a:t>
            </a:r>
            <a:endParaRPr lang="zh-CN" altLang="en-US" sz="2400" b="0" dirty="0">
              <a:solidFill>
                <a:schemeClr val="tx2"/>
              </a:solidFill>
              <a:latin typeface="微软雅黑" panose="020B0503020204020204" pitchFamily="34" charset="-122"/>
              <a:ea typeface="微软雅黑" panose="020B0503020204020204" pitchFamily="34" charset="-122"/>
            </a:endParaRPr>
          </a:p>
        </p:txBody>
      </p:sp>
      <p:sp>
        <p:nvSpPr>
          <p:cNvPr id="143365" name="矩形 1"/>
          <p:cNvSpPr>
            <a:spLocks noChangeArrowheads="1"/>
          </p:cNvSpPr>
          <p:nvPr/>
        </p:nvSpPr>
        <p:spPr bwMode="auto">
          <a:xfrm>
            <a:off x="2135560" y="3736245"/>
            <a:ext cx="83437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b="0" dirty="0">
                <a:latin typeface="微软雅黑" panose="020B0503020204020204" pitchFamily="34" charset="-122"/>
                <a:ea typeface="微软雅黑" panose="020B0503020204020204" pitchFamily="34" charset="-122"/>
              </a:rPr>
              <a:t>临床上常用静脉注射葡萄糖为补充病人能量，由于葡萄糖转换为葡萄糖</a:t>
            </a:r>
            <a:r>
              <a:rPr lang="en-US" altLang="zh-CN" sz="2400" b="0" dirty="0">
                <a:latin typeface="微软雅黑" panose="020B0503020204020204" pitchFamily="34" charset="-122"/>
                <a:ea typeface="微软雅黑" panose="020B0503020204020204" pitchFamily="34" charset="-122"/>
              </a:rPr>
              <a:t>-6-</a:t>
            </a:r>
            <a:r>
              <a:rPr lang="zh-CN" altLang="en-US" sz="2400" b="0" dirty="0">
                <a:latin typeface="微软雅黑" panose="020B0503020204020204" pitchFamily="34" charset="-122"/>
                <a:ea typeface="微软雅黑" panose="020B0503020204020204" pitchFamily="34" charset="-122"/>
              </a:rPr>
              <a:t>磷酸要消耗</a:t>
            </a:r>
            <a:r>
              <a:rPr lang="en-US" altLang="zh-CN" sz="2400" b="0" dirty="0">
                <a:latin typeface="微软雅黑" panose="020B0503020204020204" pitchFamily="34" charset="-122"/>
                <a:ea typeface="微软雅黑" panose="020B0503020204020204" pitchFamily="34" charset="-122"/>
              </a:rPr>
              <a:t>ATP</a:t>
            </a:r>
            <a:r>
              <a:rPr lang="zh-CN" altLang="en-US" sz="2400" b="0" dirty="0">
                <a:latin typeface="微软雅黑" panose="020B0503020204020204" pitchFamily="34" charset="-122"/>
                <a:ea typeface="微软雅黑" panose="020B0503020204020204" pitchFamily="34" charset="-122"/>
              </a:rPr>
              <a:t>，为什么临床上却不能直接静脉注射葡萄糖</a:t>
            </a:r>
            <a:r>
              <a:rPr lang="en-US" altLang="zh-CN" sz="2400" b="0" dirty="0">
                <a:latin typeface="微软雅黑" panose="020B0503020204020204" pitchFamily="34" charset="-122"/>
                <a:ea typeface="微软雅黑" panose="020B0503020204020204" pitchFamily="34" charset="-122"/>
              </a:rPr>
              <a:t>-6-</a:t>
            </a:r>
            <a:r>
              <a:rPr lang="zh-CN" altLang="en-US" sz="2400" b="0" dirty="0">
                <a:latin typeface="微软雅黑" panose="020B0503020204020204" pitchFamily="34" charset="-122"/>
                <a:ea typeface="微软雅黑" panose="020B0503020204020204" pitchFamily="34" charset="-122"/>
              </a:rPr>
              <a:t>磷酸呢？ </a:t>
            </a:r>
            <a:endParaRPr lang="zh-CN" altLang="en-US" sz="2400" b="0" dirty="0">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auto">
          <a:xfrm>
            <a:off x="1919537" y="2566256"/>
            <a:ext cx="8569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buClrTx/>
              <a:buSzPct val="85000"/>
              <a:buFontTx/>
              <a:buBlip>
                <a:blip r:embed="rId1"/>
              </a:buBlip>
            </a:pPr>
            <a:r>
              <a:rPr lang="zh-CN" altLang="en-US" sz="2400" b="0" dirty="0">
                <a:solidFill>
                  <a:schemeClr val="tx2"/>
                </a:solidFill>
                <a:latin typeface="微软雅黑" panose="020B0503020204020204" pitchFamily="34" charset="-122"/>
                <a:ea typeface="微软雅黑" panose="020B0503020204020204" pitchFamily="34" charset="-122"/>
              </a:rPr>
              <a:t>答：肌细胞中的己糖激酶对葡萄糖的</a:t>
            </a:r>
            <a:r>
              <a:rPr lang="en-US" altLang="zh-CN" sz="2400" b="0" dirty="0">
                <a:solidFill>
                  <a:schemeClr val="tx2"/>
                </a:solidFill>
                <a:latin typeface="微软雅黑" panose="020B0503020204020204" pitchFamily="34" charset="-122"/>
                <a:ea typeface="微软雅黑" panose="020B0503020204020204" pitchFamily="34" charset="-122"/>
              </a:rPr>
              <a:t>Km</a:t>
            </a:r>
            <a:r>
              <a:rPr lang="zh-CN" altLang="en-US" sz="2400" b="0" dirty="0">
                <a:solidFill>
                  <a:schemeClr val="tx2"/>
                </a:solidFill>
                <a:latin typeface="微软雅黑" panose="020B0503020204020204" pitchFamily="34" charset="-122"/>
                <a:ea typeface="微软雅黑" panose="020B0503020204020204" pitchFamily="34" charset="-122"/>
              </a:rPr>
              <a:t>较低，葡萄糖一进入细胞即被迅速磷酸化。    </a:t>
            </a:r>
            <a:endParaRPr lang="en-US" altLang="zh-CN" sz="2400" b="0" dirty="0">
              <a:solidFill>
                <a:schemeClr val="tx2"/>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464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5410" name="内容占位符 2"/>
          <p:cNvSpPr>
            <a:spLocks noGrp="1" noChangeArrowheads="1"/>
          </p:cNvSpPr>
          <p:nvPr>
            <p:ph idx="4294967295"/>
          </p:nvPr>
        </p:nvSpPr>
        <p:spPr>
          <a:xfrm>
            <a:off x="1844676" y="971551"/>
            <a:ext cx="8507413" cy="4856163"/>
          </a:xfrm>
        </p:spPr>
        <p:txBody>
          <a:bodyPr/>
          <a:lstStyle/>
          <a:p>
            <a:pPr marL="0" indent="0">
              <a:buNone/>
            </a:pPr>
            <a:r>
              <a:rPr lang="zh-CN" altLang="en-US" sz="2400" b="0" dirty="0">
                <a:latin typeface="微软雅黑" panose="020B0503020204020204" pitchFamily="34" charset="-122"/>
                <a:ea typeface="微软雅黑" panose="020B0503020204020204" pitchFamily="34" charset="-122"/>
              </a:rPr>
              <a:t> 磷酸果糖激酶</a:t>
            </a:r>
            <a:r>
              <a:rPr lang="en-US" altLang="zh-CN" sz="2400" b="0" dirty="0">
                <a:latin typeface="微软雅黑" panose="020B0503020204020204" pitchFamily="34" charset="-122"/>
                <a:ea typeface="微软雅黑" panose="020B0503020204020204" pitchFamily="34" charset="-122"/>
              </a:rPr>
              <a:t>-1</a:t>
            </a:r>
            <a:r>
              <a:rPr lang="zh-CN" altLang="en-US" sz="2400" b="0" dirty="0">
                <a:latin typeface="微软雅黑" panose="020B0503020204020204" pitchFamily="34" charset="-122"/>
                <a:ea typeface="微软雅黑" panose="020B0503020204020204" pitchFamily="34" charset="-122"/>
              </a:rPr>
              <a:t>的最强别构激活剂是</a:t>
            </a:r>
            <a:endParaRPr lang="zh-CN" altLang="en-US" sz="2400" b="0" dirty="0">
              <a:latin typeface="微软雅黑" panose="020B0503020204020204" pitchFamily="34" charset="-122"/>
              <a:ea typeface="微软雅黑" panose="020B0503020204020204" pitchFamily="34" charset="-122"/>
            </a:endParaRPr>
          </a:p>
          <a:p>
            <a:pPr marL="0" indent="0">
              <a:buNone/>
            </a:pPr>
            <a:r>
              <a:rPr lang="en-US" altLang="zh-CN" sz="2400" b="0" dirty="0">
                <a:latin typeface="微软雅黑" panose="020B0503020204020204" pitchFamily="34" charset="-122"/>
                <a:ea typeface="微软雅黑" panose="020B0503020204020204" pitchFamily="34" charset="-122"/>
              </a:rPr>
              <a:t>A.ADP                 B.AMP             C.2</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6—</a:t>
            </a:r>
            <a:r>
              <a:rPr lang="zh-CN" altLang="en-US" sz="2400" b="0" dirty="0">
                <a:latin typeface="微软雅黑" panose="020B0503020204020204" pitchFamily="34" charset="-122"/>
                <a:ea typeface="微软雅黑" panose="020B0503020204020204" pitchFamily="34" charset="-122"/>
              </a:rPr>
              <a:t>双磷酸果糖</a:t>
            </a:r>
            <a:endParaRPr lang="zh-CN" altLang="en-US" sz="2400" b="0" dirty="0">
              <a:latin typeface="微软雅黑" panose="020B0503020204020204" pitchFamily="34" charset="-122"/>
              <a:ea typeface="微软雅黑" panose="020B0503020204020204" pitchFamily="34" charset="-122"/>
            </a:endParaRPr>
          </a:p>
          <a:p>
            <a:pPr marL="0" indent="0">
              <a:buNone/>
            </a:pPr>
            <a:r>
              <a:rPr lang="en-US" altLang="zh-CN" sz="2400" b="0" dirty="0">
                <a:latin typeface="微软雅黑" panose="020B0503020204020204" pitchFamily="34" charset="-122"/>
                <a:ea typeface="微软雅黑" panose="020B0503020204020204" pitchFamily="34" charset="-122"/>
              </a:rPr>
              <a:t>D.ATP                 E.</a:t>
            </a:r>
            <a:r>
              <a:rPr lang="zh-CN" altLang="en-US" sz="2400" b="0" dirty="0">
                <a:latin typeface="微软雅黑" panose="020B0503020204020204" pitchFamily="34" charset="-122"/>
                <a:ea typeface="微软雅黑" panose="020B0503020204020204" pitchFamily="34" charset="-122"/>
              </a:rPr>
              <a:t>柠檬酸</a:t>
            </a:r>
            <a:endParaRPr lang="zh-CN" altLang="en-US" sz="2400" b="0" dirty="0">
              <a:latin typeface="微软雅黑" panose="020B0503020204020204" pitchFamily="34" charset="-122"/>
              <a:ea typeface="微软雅黑" panose="020B0503020204020204" pitchFamily="34" charset="-122"/>
            </a:endParaRPr>
          </a:p>
          <a:p>
            <a:pPr marL="0" indent="0">
              <a:buNone/>
            </a:pPr>
            <a:endParaRPr lang="en-US" altLang="zh-CN" sz="2400" b="0" dirty="0">
              <a:latin typeface="微软雅黑" panose="020B0503020204020204" pitchFamily="34" charset="-122"/>
              <a:ea typeface="微软雅黑" panose="020B0503020204020204" pitchFamily="34" charset="-122"/>
            </a:endParaRPr>
          </a:p>
          <a:p>
            <a:pPr marL="0" indent="0">
              <a:buNone/>
            </a:pPr>
            <a:r>
              <a:rPr lang="zh-CN" altLang="en-US" sz="2400" b="0" dirty="0">
                <a:latin typeface="微软雅黑" panose="020B0503020204020204" pitchFamily="34" charset="-122"/>
                <a:ea typeface="微软雅黑" panose="020B0503020204020204" pitchFamily="34" charset="-122"/>
              </a:rPr>
              <a:t>丙酮酸激酶的变构激活剂是下列哪种物质</a:t>
            </a:r>
            <a:endParaRPr lang="zh-CN" altLang="en-US" sz="2400" b="0" dirty="0">
              <a:latin typeface="微软雅黑" panose="020B0503020204020204" pitchFamily="34" charset="-122"/>
              <a:ea typeface="微软雅黑" panose="020B0503020204020204" pitchFamily="34" charset="-122"/>
            </a:endParaRPr>
          </a:p>
          <a:p>
            <a:pPr marL="0" indent="0">
              <a:buNone/>
            </a:pPr>
            <a:r>
              <a:rPr lang="en-US" altLang="zh-CN" sz="2400" b="0" dirty="0">
                <a:latin typeface="微软雅黑" panose="020B0503020204020204" pitchFamily="34" charset="-122"/>
                <a:ea typeface="微软雅黑" panose="020B0503020204020204" pitchFamily="34" charset="-122"/>
              </a:rPr>
              <a:t>A.1</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6—</a:t>
            </a:r>
            <a:r>
              <a:rPr lang="zh-CN" altLang="en-US" sz="2400" b="0" dirty="0">
                <a:latin typeface="微软雅黑" panose="020B0503020204020204" pitchFamily="34" charset="-122"/>
                <a:ea typeface="微软雅黑" panose="020B0503020204020204" pitchFamily="34" charset="-122"/>
              </a:rPr>
              <a:t>二磷酸果糖               </a:t>
            </a:r>
            <a:r>
              <a:rPr lang="en-US" altLang="zh-CN" sz="2400" b="0" dirty="0">
                <a:latin typeface="微软雅黑" panose="020B0503020204020204" pitchFamily="34" charset="-122"/>
                <a:ea typeface="微软雅黑" panose="020B0503020204020204" pitchFamily="34" charset="-122"/>
              </a:rPr>
              <a:t>B.</a:t>
            </a:r>
            <a:r>
              <a:rPr lang="zh-CN" altLang="en-US" sz="2400" b="0" dirty="0">
                <a:latin typeface="微软雅黑" panose="020B0503020204020204" pitchFamily="34" charset="-122"/>
                <a:ea typeface="微软雅黑" panose="020B0503020204020204" pitchFamily="34" charset="-122"/>
              </a:rPr>
              <a:t>柠檬酸</a:t>
            </a:r>
            <a:endParaRPr lang="zh-CN" altLang="en-US" sz="2400" b="0" dirty="0">
              <a:latin typeface="微软雅黑" panose="020B0503020204020204" pitchFamily="34" charset="-122"/>
              <a:ea typeface="微软雅黑" panose="020B0503020204020204" pitchFamily="34" charset="-122"/>
            </a:endParaRPr>
          </a:p>
          <a:p>
            <a:pPr marL="0" indent="0">
              <a:buNone/>
            </a:pPr>
            <a:r>
              <a:rPr lang="en-US" altLang="zh-CN" sz="2400" b="0" dirty="0">
                <a:latin typeface="微软雅黑" panose="020B0503020204020204" pitchFamily="34" charset="-122"/>
                <a:ea typeface="微软雅黑" panose="020B0503020204020204" pitchFamily="34" charset="-122"/>
              </a:rPr>
              <a:t>C.1</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3—</a:t>
            </a:r>
            <a:r>
              <a:rPr lang="zh-CN" altLang="en-US" sz="2400" b="0" dirty="0">
                <a:latin typeface="微软雅黑" panose="020B0503020204020204" pitchFamily="34" charset="-122"/>
                <a:ea typeface="微软雅黑" panose="020B0503020204020204" pitchFamily="34" charset="-122"/>
              </a:rPr>
              <a:t>二磷酸甘油酸            </a:t>
            </a:r>
            <a:r>
              <a:rPr lang="en-US" altLang="zh-CN" sz="2400" b="0" dirty="0">
                <a:latin typeface="微软雅黑" panose="020B0503020204020204" pitchFamily="34" charset="-122"/>
                <a:ea typeface="微软雅黑" panose="020B0503020204020204" pitchFamily="34" charset="-122"/>
              </a:rPr>
              <a:t>D.</a:t>
            </a:r>
            <a:r>
              <a:rPr lang="zh-CN" altLang="en-US" sz="2400" b="0" dirty="0">
                <a:latin typeface="微软雅黑" panose="020B0503020204020204" pitchFamily="34" charset="-122"/>
                <a:ea typeface="微软雅黑" panose="020B0503020204020204" pitchFamily="34" charset="-122"/>
              </a:rPr>
              <a:t>乙酰</a:t>
            </a:r>
            <a:r>
              <a:rPr lang="en-US" altLang="zh-CN" sz="2400" b="0" dirty="0">
                <a:latin typeface="微软雅黑" panose="020B0503020204020204" pitchFamily="34" charset="-122"/>
                <a:ea typeface="微软雅黑" panose="020B0503020204020204" pitchFamily="34" charset="-122"/>
              </a:rPr>
              <a:t>CoA           E.ATP</a:t>
            </a:r>
            <a:endParaRPr lang="en-US" altLang="zh-CN" sz="2400" b="0" dirty="0">
              <a:latin typeface="微软雅黑" panose="020B0503020204020204" pitchFamily="34" charset="-122"/>
              <a:ea typeface="微软雅黑" panose="020B0503020204020204" pitchFamily="34" charset="-122"/>
            </a:endParaRPr>
          </a:p>
          <a:p>
            <a:pPr marL="0" indent="0">
              <a:buNone/>
            </a:pPr>
            <a:endParaRPr lang="en-US" altLang="zh-CN" sz="2400" b="0" dirty="0">
              <a:latin typeface="微软雅黑" panose="020B0503020204020204" pitchFamily="34" charset="-122"/>
              <a:ea typeface="微软雅黑" panose="020B0503020204020204" pitchFamily="34" charset="-122"/>
            </a:endParaRPr>
          </a:p>
          <a:p>
            <a:pPr marL="0" indent="0">
              <a:buNone/>
            </a:pPr>
            <a:r>
              <a:rPr lang="zh-CN" altLang="en-US" sz="2400" b="0" dirty="0">
                <a:latin typeface="微软雅黑" panose="020B0503020204020204" pitchFamily="34" charset="-122"/>
                <a:ea typeface="微软雅黑" panose="020B0503020204020204" pitchFamily="34" charset="-122"/>
              </a:rPr>
              <a:t>糖无氧氧化的终产物是</a:t>
            </a:r>
            <a:endParaRPr lang="zh-CN" altLang="en-US" sz="2400" b="0" dirty="0">
              <a:latin typeface="微软雅黑" panose="020B0503020204020204" pitchFamily="34" charset="-122"/>
              <a:ea typeface="微软雅黑" panose="020B0503020204020204" pitchFamily="34" charset="-122"/>
            </a:endParaRPr>
          </a:p>
          <a:p>
            <a:pPr marL="0" indent="0">
              <a:buNone/>
            </a:pPr>
            <a:r>
              <a:rPr lang="en-US" altLang="zh-CN" sz="2400" b="0" dirty="0">
                <a:latin typeface="微软雅黑" panose="020B0503020204020204" pitchFamily="34" charset="-122"/>
                <a:ea typeface="微软雅黑" panose="020B0503020204020204" pitchFamily="34" charset="-122"/>
              </a:rPr>
              <a:t>A.CO</a:t>
            </a:r>
            <a:r>
              <a:rPr lang="en-US" altLang="zh-CN" sz="2400" b="0" baseline="-25000" dirty="0">
                <a:latin typeface="微软雅黑" panose="020B0503020204020204" pitchFamily="34" charset="-122"/>
                <a:ea typeface="微软雅黑" panose="020B0503020204020204" pitchFamily="34" charset="-122"/>
              </a:rPr>
              <a:t>2</a:t>
            </a:r>
            <a:r>
              <a:rPr lang="zh-CN" altLang="en-US" sz="2400" b="0" dirty="0">
                <a:latin typeface="微软雅黑" panose="020B0503020204020204" pitchFamily="34" charset="-122"/>
                <a:ea typeface="微软雅黑" panose="020B0503020204020204" pitchFamily="34" charset="-122"/>
              </a:rPr>
              <a:t>和</a:t>
            </a:r>
            <a:r>
              <a:rPr lang="en-US" altLang="zh-CN" sz="2400" b="0" dirty="0">
                <a:latin typeface="微软雅黑" panose="020B0503020204020204" pitchFamily="34" charset="-122"/>
                <a:ea typeface="微软雅黑" panose="020B0503020204020204" pitchFamily="34" charset="-122"/>
              </a:rPr>
              <a:t>H</a:t>
            </a:r>
            <a:r>
              <a:rPr lang="en-US" altLang="zh-CN" sz="2400" b="0" baseline="-25000" dirty="0">
                <a:latin typeface="微软雅黑" panose="020B0503020204020204" pitchFamily="34" charset="-122"/>
                <a:ea typeface="微软雅黑" panose="020B0503020204020204" pitchFamily="34" charset="-122"/>
              </a:rPr>
              <a:t>2</a:t>
            </a:r>
            <a:r>
              <a:rPr lang="en-US" altLang="zh-CN" sz="2400" b="0" dirty="0">
                <a:latin typeface="微软雅黑" panose="020B0503020204020204" pitchFamily="34" charset="-122"/>
                <a:ea typeface="微软雅黑" panose="020B0503020204020204" pitchFamily="34" charset="-122"/>
              </a:rPr>
              <a:t>O             B.</a:t>
            </a:r>
            <a:r>
              <a:rPr lang="zh-CN" altLang="en-US" sz="2400" b="0" dirty="0">
                <a:latin typeface="微软雅黑" panose="020B0503020204020204" pitchFamily="34" charset="-122"/>
                <a:ea typeface="微软雅黑" panose="020B0503020204020204" pitchFamily="34" charset="-122"/>
              </a:rPr>
              <a:t>丙酮酸              </a:t>
            </a:r>
            <a:r>
              <a:rPr lang="en-US" altLang="zh-CN" sz="2400" b="0" dirty="0">
                <a:latin typeface="微软雅黑" panose="020B0503020204020204" pitchFamily="34" charset="-122"/>
                <a:ea typeface="微软雅黑" panose="020B0503020204020204" pitchFamily="34" charset="-122"/>
              </a:rPr>
              <a:t>C.</a:t>
            </a:r>
            <a:r>
              <a:rPr lang="zh-CN" altLang="en-US" sz="2400" b="0" dirty="0">
                <a:latin typeface="微软雅黑" panose="020B0503020204020204" pitchFamily="34" charset="-122"/>
                <a:ea typeface="微软雅黑" panose="020B0503020204020204" pitchFamily="34" charset="-122"/>
              </a:rPr>
              <a:t>乙酰辅酶</a:t>
            </a:r>
            <a:r>
              <a:rPr lang="en-US" altLang="zh-CN" sz="2400" b="0" dirty="0">
                <a:latin typeface="微软雅黑" panose="020B0503020204020204" pitchFamily="34" charset="-122"/>
                <a:ea typeface="微软雅黑" panose="020B0503020204020204" pitchFamily="34" charset="-122"/>
              </a:rPr>
              <a:t>A</a:t>
            </a:r>
            <a:endParaRPr lang="en-US" altLang="zh-CN" sz="2400" b="0" dirty="0">
              <a:latin typeface="微软雅黑" panose="020B0503020204020204" pitchFamily="34" charset="-122"/>
              <a:ea typeface="微软雅黑" panose="020B0503020204020204" pitchFamily="34" charset="-122"/>
            </a:endParaRPr>
          </a:p>
          <a:p>
            <a:pPr marL="0" indent="0">
              <a:buNone/>
            </a:pPr>
            <a:r>
              <a:rPr lang="en-US" altLang="zh-CN" sz="2400" b="0" dirty="0">
                <a:latin typeface="微软雅黑" panose="020B0503020204020204" pitchFamily="34" charset="-122"/>
                <a:ea typeface="微软雅黑" panose="020B0503020204020204" pitchFamily="34" charset="-122"/>
              </a:rPr>
              <a:t>D.</a:t>
            </a:r>
            <a:r>
              <a:rPr lang="zh-CN" altLang="en-US" sz="2400" b="0" dirty="0">
                <a:latin typeface="微软雅黑" panose="020B0503020204020204" pitchFamily="34" charset="-122"/>
                <a:ea typeface="微软雅黑" panose="020B0503020204020204" pitchFamily="34" charset="-122"/>
              </a:rPr>
              <a:t>乳酸                      </a:t>
            </a:r>
            <a:r>
              <a:rPr lang="en-US" altLang="zh-CN" sz="2400" b="0" dirty="0">
                <a:latin typeface="微软雅黑" panose="020B0503020204020204" pitchFamily="34" charset="-122"/>
                <a:ea typeface="微软雅黑" panose="020B0503020204020204" pitchFamily="34" charset="-122"/>
              </a:rPr>
              <a:t>E.</a:t>
            </a:r>
            <a:r>
              <a:rPr lang="zh-CN" altLang="en-US" sz="2400" b="0" dirty="0">
                <a:latin typeface="微软雅黑" panose="020B0503020204020204" pitchFamily="34" charset="-122"/>
                <a:ea typeface="微软雅黑" panose="020B0503020204020204" pitchFamily="34" charset="-122"/>
              </a:rPr>
              <a:t>柠檬酸</a:t>
            </a:r>
            <a:endParaRPr lang="zh-CN" altLang="en-US" sz="2400" b="0" dirty="0">
              <a:latin typeface="微软雅黑" panose="020B0503020204020204" pitchFamily="34" charset="-122"/>
              <a:ea typeface="微软雅黑" panose="020B0503020204020204" pitchFamily="34" charset="-122"/>
            </a:endParaRPr>
          </a:p>
          <a:p>
            <a:pPr marL="0" indent="0">
              <a:buNone/>
            </a:pPr>
            <a:endParaRPr lang="en-US" altLang="zh-CN" sz="2400" b="0" dirty="0">
              <a:latin typeface="微软雅黑" panose="020B0503020204020204" pitchFamily="34" charset="-122"/>
              <a:ea typeface="微软雅黑" panose="020B0503020204020204" pitchFamily="34" charset="-122"/>
            </a:endParaRPr>
          </a:p>
          <a:p>
            <a:pPr marL="0" indent="0">
              <a:buNone/>
            </a:pPr>
            <a:endParaRPr lang="zh-CN" altLang="en-US" sz="2400" b="0" dirty="0">
              <a:latin typeface="微软雅黑" panose="020B0503020204020204" pitchFamily="34" charset="-122"/>
              <a:ea typeface="微软雅黑" panose="020B0503020204020204" pitchFamily="34" charset="-122"/>
            </a:endParaRPr>
          </a:p>
        </p:txBody>
      </p:sp>
      <p:sp>
        <p:nvSpPr>
          <p:cNvPr id="4" name="文本框 3"/>
          <p:cNvSpPr txBox="1">
            <a:spLocks noChangeArrowheads="1"/>
          </p:cNvSpPr>
          <p:nvPr/>
        </p:nvSpPr>
        <p:spPr bwMode="auto">
          <a:xfrm>
            <a:off x="8904289" y="2874964"/>
            <a:ext cx="1152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b="0">
                <a:solidFill>
                  <a:srgbClr val="FF0000"/>
                </a:solidFill>
                <a:latin typeface="微软雅黑" panose="020B0503020204020204" pitchFamily="34" charset="-122"/>
                <a:ea typeface="微软雅黑" panose="020B0503020204020204" pitchFamily="34" charset="-122"/>
              </a:rPr>
              <a:t>A</a:t>
            </a:r>
            <a:endParaRPr lang="zh-CN" altLang="en-US" sz="2800" b="0">
              <a:solidFill>
                <a:srgbClr val="FF0000"/>
              </a:solidFill>
              <a:latin typeface="微软雅黑" panose="020B0503020204020204" pitchFamily="34" charset="-122"/>
              <a:ea typeface="微软雅黑" panose="020B0503020204020204" pitchFamily="34" charset="-122"/>
            </a:endParaRPr>
          </a:p>
        </p:txBody>
      </p:sp>
      <p:sp>
        <p:nvSpPr>
          <p:cNvPr id="5" name="文本框 4"/>
          <p:cNvSpPr txBox="1">
            <a:spLocks noChangeArrowheads="1"/>
          </p:cNvSpPr>
          <p:nvPr/>
        </p:nvSpPr>
        <p:spPr bwMode="auto">
          <a:xfrm>
            <a:off x="8904289" y="989014"/>
            <a:ext cx="1152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b="0">
                <a:solidFill>
                  <a:srgbClr val="FF0000"/>
                </a:solidFill>
                <a:latin typeface="微软雅黑" panose="020B0503020204020204" pitchFamily="34" charset="-122"/>
                <a:ea typeface="微软雅黑" panose="020B0503020204020204" pitchFamily="34" charset="-122"/>
              </a:rPr>
              <a:t>C</a:t>
            </a:r>
            <a:endParaRPr lang="zh-CN" altLang="en-US" sz="2800" b="0">
              <a:solidFill>
                <a:srgbClr val="FF0000"/>
              </a:solidFill>
              <a:latin typeface="微软雅黑" panose="020B0503020204020204" pitchFamily="34" charset="-122"/>
              <a:ea typeface="微软雅黑" panose="020B0503020204020204" pitchFamily="34" charset="-122"/>
            </a:endParaRPr>
          </a:p>
        </p:txBody>
      </p:sp>
      <p:sp>
        <p:nvSpPr>
          <p:cNvPr id="6" name="文本框 5"/>
          <p:cNvSpPr txBox="1">
            <a:spLocks noChangeArrowheads="1"/>
          </p:cNvSpPr>
          <p:nvPr/>
        </p:nvSpPr>
        <p:spPr bwMode="auto">
          <a:xfrm>
            <a:off x="6099175" y="4437064"/>
            <a:ext cx="1150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b="0">
                <a:solidFill>
                  <a:srgbClr val="FF0000"/>
                </a:solidFill>
                <a:latin typeface="微软雅黑" panose="020B0503020204020204" pitchFamily="34" charset="-122"/>
                <a:ea typeface="微软雅黑" panose="020B0503020204020204" pitchFamily="34" charset="-122"/>
              </a:rPr>
              <a:t>D</a:t>
            </a:r>
            <a:endParaRPr lang="zh-CN" altLang="en-US" sz="2800" b="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49"/>
          <p:cNvSpPr txBox="1">
            <a:spLocks noChangeArrowheads="1"/>
          </p:cNvSpPr>
          <p:nvPr/>
        </p:nvSpPr>
        <p:spPr bwMode="auto">
          <a:xfrm>
            <a:off x="1587501" y="4092575"/>
            <a:ext cx="2563813" cy="400110"/>
          </a:xfrm>
          <a:prstGeom prst="rect">
            <a:avLst/>
          </a:prstGeom>
          <a:solidFill>
            <a:srgbClr val="FFFFBD"/>
          </a:solid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zh-CN" altLang="en-US" sz="2000" dirty="0">
                <a:highlight>
                  <a:srgbClr val="FFFFBD"/>
                </a:highlight>
                <a:latin typeface="+mj-lt"/>
                <a:ea typeface="宋体" panose="02010600030101010101" pitchFamily="2" charset="-122"/>
              </a:rPr>
              <a:t>果糖激酶（肝细胞）</a:t>
            </a:r>
            <a:endParaRPr lang="zh-CN" altLang="en-US" sz="2000" dirty="0">
              <a:highlight>
                <a:srgbClr val="FFFFBD"/>
              </a:highlight>
              <a:latin typeface="+mj-lt"/>
              <a:ea typeface="宋体" panose="02010600030101010101" pitchFamily="2" charset="-122"/>
            </a:endParaRPr>
          </a:p>
        </p:txBody>
      </p:sp>
      <p:grpSp>
        <p:nvGrpSpPr>
          <p:cNvPr id="2" name="Group 2"/>
          <p:cNvGrpSpPr/>
          <p:nvPr/>
        </p:nvGrpSpPr>
        <p:grpSpPr bwMode="auto">
          <a:xfrm>
            <a:off x="2355851" y="2835275"/>
            <a:ext cx="2568575" cy="1054100"/>
            <a:chOff x="851" y="2268"/>
            <a:chExt cx="1618" cy="664"/>
          </a:xfrm>
        </p:grpSpPr>
        <p:sp>
          <p:nvSpPr>
            <p:cNvPr id="111671" name="Rectangle 3"/>
            <p:cNvSpPr>
              <a:spLocks noChangeArrowheads="1"/>
            </p:cNvSpPr>
            <p:nvPr/>
          </p:nvSpPr>
          <p:spPr bwMode="auto">
            <a:xfrm>
              <a:off x="851" y="2605"/>
              <a:ext cx="566" cy="327"/>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dirty="0">
                  <a:solidFill>
                    <a:srgbClr val="0000CC"/>
                  </a:solidFill>
                  <a:latin typeface="+mj-lt"/>
                  <a:ea typeface="黑体" panose="02010609060101010101" pitchFamily="2" charset="-122"/>
                </a:rPr>
                <a:t>果糖</a:t>
              </a:r>
              <a:endParaRPr kumimoji="1" lang="zh-CN" altLang="en-US" sz="2800" b="0" dirty="0">
                <a:solidFill>
                  <a:srgbClr val="0000CC"/>
                </a:solidFill>
                <a:latin typeface="+mj-lt"/>
                <a:ea typeface="黑体" panose="02010609060101010101" pitchFamily="2" charset="-122"/>
              </a:endParaRPr>
            </a:p>
          </p:txBody>
        </p:sp>
        <p:sp>
          <p:nvSpPr>
            <p:cNvPr id="111672" name="Line 4"/>
            <p:cNvSpPr>
              <a:spLocks noChangeShapeType="1"/>
            </p:cNvSpPr>
            <p:nvPr/>
          </p:nvSpPr>
          <p:spPr bwMode="auto">
            <a:xfrm flipV="1">
              <a:off x="1383" y="2268"/>
              <a:ext cx="1086" cy="527"/>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sp>
          <p:nvSpPr>
            <p:cNvPr id="111673" name="Rectangle 5"/>
            <p:cNvSpPr>
              <a:spLocks noChangeArrowheads="1"/>
            </p:cNvSpPr>
            <p:nvPr/>
          </p:nvSpPr>
          <p:spPr bwMode="auto">
            <a:xfrm rot="-1606992">
              <a:off x="1567" y="2507"/>
              <a:ext cx="756" cy="2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000" b="0">
                  <a:solidFill>
                    <a:srgbClr val="FF0066"/>
                  </a:solidFill>
                  <a:latin typeface="+mj-lt"/>
                  <a:ea typeface="黑体" panose="02010609060101010101" pitchFamily="2" charset="-122"/>
                </a:rPr>
                <a:t>己糖激酶</a:t>
              </a:r>
              <a:endParaRPr kumimoji="1" lang="zh-CN" altLang="en-US" sz="2000" b="0">
                <a:solidFill>
                  <a:srgbClr val="FF0066"/>
                </a:solidFill>
                <a:latin typeface="+mj-lt"/>
                <a:ea typeface="黑体" panose="02010609060101010101" pitchFamily="2" charset="-122"/>
              </a:endParaRPr>
            </a:p>
          </p:txBody>
        </p:sp>
      </p:grpSp>
      <p:grpSp>
        <p:nvGrpSpPr>
          <p:cNvPr id="120835" name="Group 6"/>
          <p:cNvGrpSpPr/>
          <p:nvPr/>
        </p:nvGrpSpPr>
        <p:grpSpPr bwMode="auto">
          <a:xfrm>
            <a:off x="4640263" y="692151"/>
            <a:ext cx="1801812" cy="4727575"/>
            <a:chOff x="2290" y="1221"/>
            <a:chExt cx="1135" cy="2853"/>
          </a:xfrm>
        </p:grpSpPr>
        <p:sp>
          <p:nvSpPr>
            <p:cNvPr id="111650" name="Text Box 7"/>
            <p:cNvSpPr txBox="1">
              <a:spLocks noChangeArrowheads="1"/>
            </p:cNvSpPr>
            <p:nvPr/>
          </p:nvSpPr>
          <p:spPr bwMode="auto">
            <a:xfrm>
              <a:off x="2517" y="1221"/>
              <a:ext cx="908" cy="316"/>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2800" b="0" dirty="0">
                  <a:latin typeface="+mj-lt"/>
                  <a:ea typeface="宋体" panose="02010600030101010101" pitchFamily="2" charset="-122"/>
                </a:rPr>
                <a:t>Glucose</a:t>
              </a:r>
              <a:endParaRPr kumimoji="1" lang="en-US" altLang="zh-CN" sz="2800" b="0" dirty="0">
                <a:latin typeface="+mj-lt"/>
                <a:ea typeface="宋体" panose="02010600030101010101" pitchFamily="2" charset="-122"/>
              </a:endParaRPr>
            </a:p>
          </p:txBody>
        </p:sp>
        <p:sp>
          <p:nvSpPr>
            <p:cNvPr id="111651" name="Text Box 8"/>
            <p:cNvSpPr txBox="1">
              <a:spLocks noChangeArrowheads="1"/>
            </p:cNvSpPr>
            <p:nvPr/>
          </p:nvSpPr>
          <p:spPr bwMode="auto">
            <a:xfrm>
              <a:off x="2472" y="1810"/>
              <a:ext cx="682" cy="316"/>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2800" b="0">
                  <a:latin typeface="+mj-lt"/>
                  <a:ea typeface="宋体" panose="02010600030101010101" pitchFamily="2" charset="-122"/>
                </a:rPr>
                <a:t>G-6-P</a:t>
              </a:r>
              <a:endParaRPr kumimoji="1" lang="en-US" altLang="zh-CN" sz="2800" b="0">
                <a:latin typeface="+mj-lt"/>
                <a:ea typeface="宋体" panose="02010600030101010101" pitchFamily="2" charset="-122"/>
              </a:endParaRPr>
            </a:p>
          </p:txBody>
        </p:sp>
        <p:sp>
          <p:nvSpPr>
            <p:cNvPr id="111652" name="Text Box 9"/>
            <p:cNvSpPr txBox="1">
              <a:spLocks noChangeArrowheads="1"/>
            </p:cNvSpPr>
            <p:nvPr/>
          </p:nvSpPr>
          <p:spPr bwMode="auto">
            <a:xfrm>
              <a:off x="2517" y="2264"/>
              <a:ext cx="682" cy="316"/>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2800" b="0">
                  <a:latin typeface="+mj-lt"/>
                  <a:ea typeface="宋体" panose="02010600030101010101" pitchFamily="2" charset="-122"/>
                </a:rPr>
                <a:t>F-6-P</a:t>
              </a:r>
              <a:endParaRPr kumimoji="1" lang="en-US" altLang="zh-CN" sz="2800" b="0">
                <a:latin typeface="+mj-lt"/>
                <a:ea typeface="宋体" panose="02010600030101010101" pitchFamily="2" charset="-122"/>
              </a:endParaRPr>
            </a:p>
          </p:txBody>
        </p:sp>
        <p:sp>
          <p:nvSpPr>
            <p:cNvPr id="111653" name="Text Box 10"/>
            <p:cNvSpPr txBox="1">
              <a:spLocks noChangeArrowheads="1"/>
            </p:cNvSpPr>
            <p:nvPr/>
          </p:nvSpPr>
          <p:spPr bwMode="auto">
            <a:xfrm>
              <a:off x="2290" y="2808"/>
              <a:ext cx="1021" cy="316"/>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2800" b="0">
                  <a:latin typeface="+mj-lt"/>
                  <a:ea typeface="宋体" panose="02010600030101010101" pitchFamily="2" charset="-122"/>
                </a:rPr>
                <a:t>F-1,6-2P</a:t>
              </a:r>
              <a:endParaRPr kumimoji="1" lang="en-US" altLang="zh-CN" sz="2800" b="0">
                <a:latin typeface="+mj-lt"/>
                <a:ea typeface="宋体" panose="02010600030101010101" pitchFamily="2" charset="-122"/>
              </a:endParaRPr>
            </a:p>
          </p:txBody>
        </p:sp>
        <p:sp>
          <p:nvSpPr>
            <p:cNvPr id="111654" name="Line 11"/>
            <p:cNvSpPr>
              <a:spLocks noChangeShapeType="1"/>
            </p:cNvSpPr>
            <p:nvPr/>
          </p:nvSpPr>
          <p:spPr bwMode="auto">
            <a:xfrm flipH="1">
              <a:off x="2753" y="2080"/>
              <a:ext cx="0" cy="285"/>
            </a:xfrm>
            <a:prstGeom prst="line">
              <a:avLst/>
            </a:prstGeom>
            <a:noFill/>
            <a:ln w="19050">
              <a:solidFill>
                <a:schemeClr val="tx1"/>
              </a:solidFill>
              <a:round/>
              <a:headEnd type="triangle" w="med" len="med"/>
              <a:tailEnd type="triangle" w="med" len="med"/>
            </a:ln>
          </p:spPr>
          <p:txBody>
            <a:bodyPr wrap="none"/>
            <a:lstStyle/>
            <a:p>
              <a:pPr>
                <a:defRPr/>
              </a:pPr>
              <a:endParaRPr lang="zh-CN" altLang="en-US">
                <a:latin typeface="+mj-lt"/>
              </a:endParaRPr>
            </a:p>
          </p:txBody>
        </p:sp>
        <p:sp>
          <p:nvSpPr>
            <p:cNvPr id="111655" name="Text Box 12"/>
            <p:cNvSpPr txBox="1">
              <a:spLocks noChangeArrowheads="1"/>
            </p:cNvSpPr>
            <p:nvPr/>
          </p:nvSpPr>
          <p:spPr bwMode="auto">
            <a:xfrm>
              <a:off x="2880" y="1465"/>
              <a:ext cx="337" cy="2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1800">
                  <a:latin typeface="+mj-lt"/>
                  <a:ea typeface="宋体" panose="02010600030101010101" pitchFamily="2" charset="-122"/>
                </a:rPr>
                <a:t>ATP</a:t>
              </a:r>
              <a:endParaRPr kumimoji="1" lang="en-US" altLang="zh-CN" sz="1800">
                <a:latin typeface="+mj-lt"/>
                <a:ea typeface="宋体" panose="02010600030101010101" pitchFamily="2" charset="-122"/>
              </a:endParaRPr>
            </a:p>
          </p:txBody>
        </p:sp>
        <p:grpSp>
          <p:nvGrpSpPr>
            <p:cNvPr id="120872" name="Group 13"/>
            <p:cNvGrpSpPr/>
            <p:nvPr/>
          </p:nvGrpSpPr>
          <p:grpSpPr bwMode="auto">
            <a:xfrm>
              <a:off x="2744" y="1570"/>
              <a:ext cx="180" cy="272"/>
              <a:chOff x="480" y="336"/>
              <a:chExt cx="144" cy="240"/>
            </a:xfrm>
          </p:grpSpPr>
          <p:sp>
            <p:nvSpPr>
              <p:cNvPr id="111668" name="Line 14"/>
              <p:cNvSpPr>
                <a:spLocks noChangeShapeType="1"/>
              </p:cNvSpPr>
              <p:nvPr/>
            </p:nvSpPr>
            <p:spPr bwMode="auto">
              <a:xfrm>
                <a:off x="480" y="336"/>
                <a:ext cx="0" cy="240"/>
              </a:xfrm>
              <a:prstGeom prst="line">
                <a:avLst/>
              </a:prstGeom>
              <a:noFill/>
              <a:ln w="19050">
                <a:solidFill>
                  <a:schemeClr val="tx1"/>
                </a:solidFill>
                <a:round/>
                <a:tailEnd type="triangle" w="med" len="med"/>
              </a:ln>
            </p:spPr>
            <p:txBody>
              <a:bodyPr wrap="none"/>
              <a:lstStyle/>
              <a:p>
                <a:pPr>
                  <a:defRPr/>
                </a:pPr>
                <a:endParaRPr lang="zh-CN" altLang="en-US">
                  <a:latin typeface="+mj-lt"/>
                </a:endParaRPr>
              </a:p>
            </p:txBody>
          </p:sp>
          <p:sp>
            <p:nvSpPr>
              <p:cNvPr id="111669" name="Line 15"/>
              <p:cNvSpPr>
                <a:spLocks noChangeShapeType="1"/>
              </p:cNvSpPr>
              <p:nvPr/>
            </p:nvSpPr>
            <p:spPr bwMode="auto">
              <a:xfrm flipV="1">
                <a:off x="480" y="336"/>
                <a:ext cx="144" cy="96"/>
              </a:xfrm>
              <a:prstGeom prst="line">
                <a:avLst/>
              </a:prstGeom>
              <a:noFill/>
              <a:ln w="19050">
                <a:solidFill>
                  <a:schemeClr val="tx1"/>
                </a:solidFill>
                <a:round/>
              </a:ln>
            </p:spPr>
            <p:txBody>
              <a:bodyPr wrap="none"/>
              <a:lstStyle/>
              <a:p>
                <a:pPr>
                  <a:defRPr/>
                </a:pPr>
                <a:endParaRPr lang="zh-CN" altLang="en-US">
                  <a:latin typeface="+mj-lt"/>
                </a:endParaRPr>
              </a:p>
            </p:txBody>
          </p:sp>
          <p:sp>
            <p:nvSpPr>
              <p:cNvPr id="111670" name="Line 16"/>
              <p:cNvSpPr>
                <a:spLocks noChangeShapeType="1"/>
              </p:cNvSpPr>
              <p:nvPr/>
            </p:nvSpPr>
            <p:spPr bwMode="auto">
              <a:xfrm>
                <a:off x="480" y="432"/>
                <a:ext cx="144" cy="144"/>
              </a:xfrm>
              <a:prstGeom prst="line">
                <a:avLst/>
              </a:prstGeom>
              <a:noFill/>
              <a:ln w="19050">
                <a:solidFill>
                  <a:schemeClr val="tx1"/>
                </a:solidFill>
                <a:round/>
                <a:tailEnd type="arrow" w="med" len="med"/>
              </a:ln>
            </p:spPr>
            <p:txBody>
              <a:bodyPr wrap="none"/>
              <a:lstStyle/>
              <a:p>
                <a:pPr>
                  <a:defRPr/>
                </a:pPr>
                <a:endParaRPr lang="zh-CN" altLang="en-US">
                  <a:latin typeface="+mj-lt"/>
                </a:endParaRPr>
              </a:p>
            </p:txBody>
          </p:sp>
        </p:grpSp>
        <p:sp>
          <p:nvSpPr>
            <p:cNvPr id="111657" name="Text Box 17"/>
            <p:cNvSpPr txBox="1">
              <a:spLocks noChangeArrowheads="1"/>
            </p:cNvSpPr>
            <p:nvPr/>
          </p:nvSpPr>
          <p:spPr bwMode="auto">
            <a:xfrm>
              <a:off x="2880" y="1691"/>
              <a:ext cx="337" cy="2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1800">
                  <a:latin typeface="+mj-lt"/>
                  <a:ea typeface="宋体" panose="02010600030101010101" pitchFamily="2" charset="-122"/>
                </a:rPr>
                <a:t>ADP</a:t>
              </a:r>
              <a:endParaRPr kumimoji="1" lang="en-US" altLang="zh-CN" sz="1800">
                <a:latin typeface="+mj-lt"/>
                <a:ea typeface="宋体" panose="02010600030101010101" pitchFamily="2" charset="-122"/>
              </a:endParaRPr>
            </a:p>
          </p:txBody>
        </p:sp>
        <p:sp>
          <p:nvSpPr>
            <p:cNvPr id="111658" name="Text Box 18"/>
            <p:cNvSpPr txBox="1">
              <a:spLocks noChangeArrowheads="1"/>
            </p:cNvSpPr>
            <p:nvPr/>
          </p:nvSpPr>
          <p:spPr bwMode="auto">
            <a:xfrm>
              <a:off x="2969" y="2496"/>
              <a:ext cx="337" cy="2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1800">
                  <a:latin typeface="+mj-lt"/>
                  <a:ea typeface="宋体" panose="02010600030101010101" pitchFamily="2" charset="-122"/>
                </a:rPr>
                <a:t>ATP</a:t>
              </a:r>
              <a:endParaRPr kumimoji="1" lang="en-US" altLang="zh-CN" sz="1800">
                <a:latin typeface="+mj-lt"/>
                <a:ea typeface="宋体" panose="02010600030101010101" pitchFamily="2" charset="-122"/>
              </a:endParaRPr>
            </a:p>
          </p:txBody>
        </p:sp>
        <p:grpSp>
          <p:nvGrpSpPr>
            <p:cNvPr id="120875" name="Group 19"/>
            <p:cNvGrpSpPr/>
            <p:nvPr/>
          </p:nvGrpSpPr>
          <p:grpSpPr bwMode="auto">
            <a:xfrm>
              <a:off x="2744" y="2568"/>
              <a:ext cx="240" cy="288"/>
              <a:chOff x="432" y="1296"/>
              <a:chExt cx="144" cy="288"/>
            </a:xfrm>
          </p:grpSpPr>
          <p:sp>
            <p:nvSpPr>
              <p:cNvPr id="111665" name="Line 20"/>
              <p:cNvSpPr>
                <a:spLocks noChangeShapeType="1"/>
              </p:cNvSpPr>
              <p:nvPr/>
            </p:nvSpPr>
            <p:spPr bwMode="auto">
              <a:xfrm>
                <a:off x="432" y="1296"/>
                <a:ext cx="0" cy="288"/>
              </a:xfrm>
              <a:prstGeom prst="line">
                <a:avLst/>
              </a:prstGeom>
              <a:noFill/>
              <a:ln w="19050">
                <a:solidFill>
                  <a:schemeClr val="tx1"/>
                </a:solidFill>
                <a:round/>
                <a:tailEnd type="triangle" w="med" len="med"/>
              </a:ln>
            </p:spPr>
            <p:txBody>
              <a:bodyPr wrap="none"/>
              <a:lstStyle/>
              <a:p>
                <a:pPr>
                  <a:defRPr/>
                </a:pPr>
                <a:endParaRPr lang="zh-CN" altLang="en-US">
                  <a:latin typeface="+mj-lt"/>
                </a:endParaRPr>
              </a:p>
            </p:txBody>
          </p:sp>
          <p:sp>
            <p:nvSpPr>
              <p:cNvPr id="111666" name="Line 21"/>
              <p:cNvSpPr>
                <a:spLocks noChangeShapeType="1"/>
              </p:cNvSpPr>
              <p:nvPr/>
            </p:nvSpPr>
            <p:spPr bwMode="auto">
              <a:xfrm flipV="1">
                <a:off x="432" y="1344"/>
                <a:ext cx="144" cy="103"/>
              </a:xfrm>
              <a:prstGeom prst="line">
                <a:avLst/>
              </a:prstGeom>
              <a:noFill/>
              <a:ln w="19050">
                <a:solidFill>
                  <a:schemeClr val="tx1"/>
                </a:solidFill>
                <a:round/>
              </a:ln>
            </p:spPr>
            <p:txBody>
              <a:bodyPr wrap="none"/>
              <a:lstStyle/>
              <a:p>
                <a:pPr>
                  <a:defRPr/>
                </a:pPr>
                <a:endParaRPr lang="zh-CN" altLang="en-US">
                  <a:latin typeface="+mj-lt"/>
                </a:endParaRPr>
              </a:p>
            </p:txBody>
          </p:sp>
          <p:sp>
            <p:nvSpPr>
              <p:cNvPr id="111667" name="Line 22"/>
              <p:cNvSpPr>
                <a:spLocks noChangeShapeType="1"/>
              </p:cNvSpPr>
              <p:nvPr/>
            </p:nvSpPr>
            <p:spPr bwMode="auto">
              <a:xfrm>
                <a:off x="432" y="1444"/>
                <a:ext cx="144" cy="96"/>
              </a:xfrm>
              <a:prstGeom prst="line">
                <a:avLst/>
              </a:prstGeom>
              <a:noFill/>
              <a:ln w="19050">
                <a:solidFill>
                  <a:schemeClr val="tx1"/>
                </a:solidFill>
                <a:round/>
                <a:tailEnd type="arrow" w="med" len="med"/>
              </a:ln>
            </p:spPr>
            <p:txBody>
              <a:bodyPr wrap="none"/>
              <a:lstStyle/>
              <a:p>
                <a:pPr>
                  <a:defRPr/>
                </a:pPr>
                <a:endParaRPr lang="zh-CN" altLang="en-US">
                  <a:latin typeface="+mj-lt"/>
                </a:endParaRPr>
              </a:p>
            </p:txBody>
          </p:sp>
        </p:grpSp>
        <p:sp>
          <p:nvSpPr>
            <p:cNvPr id="111660" name="Text Box 23"/>
            <p:cNvSpPr txBox="1">
              <a:spLocks noChangeArrowheads="1"/>
            </p:cNvSpPr>
            <p:nvPr/>
          </p:nvSpPr>
          <p:spPr bwMode="auto">
            <a:xfrm>
              <a:off x="2969" y="2688"/>
              <a:ext cx="337" cy="2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n-US" altLang="zh-CN" sz="1800">
                  <a:latin typeface="+mj-lt"/>
                  <a:ea typeface="宋体" panose="02010600030101010101" pitchFamily="2" charset="-122"/>
                </a:rPr>
                <a:t>ADP</a:t>
              </a:r>
              <a:endParaRPr kumimoji="1" lang="en-US" altLang="zh-CN" sz="1800">
                <a:latin typeface="+mj-lt"/>
                <a:ea typeface="宋体" panose="02010600030101010101" pitchFamily="2" charset="-122"/>
              </a:endParaRPr>
            </a:p>
          </p:txBody>
        </p:sp>
        <p:sp>
          <p:nvSpPr>
            <p:cNvPr id="111661" name="Text Box 24"/>
            <p:cNvSpPr txBox="1">
              <a:spLocks noChangeArrowheads="1"/>
            </p:cNvSpPr>
            <p:nvPr/>
          </p:nvSpPr>
          <p:spPr bwMode="auto">
            <a:xfrm>
              <a:off x="2381" y="3760"/>
              <a:ext cx="791" cy="314"/>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a:latin typeface="+mj-lt"/>
                </a:rPr>
                <a:t>丙酮酸</a:t>
              </a:r>
              <a:endParaRPr kumimoji="1" lang="zh-CN" altLang="en-US" sz="2800">
                <a:latin typeface="+mj-lt"/>
              </a:endParaRPr>
            </a:p>
          </p:txBody>
        </p:sp>
        <p:sp>
          <p:nvSpPr>
            <p:cNvPr id="111662" name="Line 25"/>
            <p:cNvSpPr>
              <a:spLocks noChangeShapeType="1"/>
            </p:cNvSpPr>
            <p:nvPr/>
          </p:nvSpPr>
          <p:spPr bwMode="auto">
            <a:xfrm>
              <a:off x="2744" y="3067"/>
              <a:ext cx="0" cy="273"/>
            </a:xfrm>
            <a:prstGeom prst="line">
              <a:avLst/>
            </a:prstGeom>
            <a:noFill/>
            <a:ln w="19050">
              <a:solidFill>
                <a:schemeClr val="tx1"/>
              </a:solidFill>
              <a:round/>
              <a:tailEnd type="triangle" w="med" len="med"/>
            </a:ln>
          </p:spPr>
          <p:txBody>
            <a:bodyPr wrap="none"/>
            <a:lstStyle/>
            <a:p>
              <a:pPr>
                <a:defRPr/>
              </a:pPr>
              <a:endParaRPr lang="zh-CN" altLang="en-US">
                <a:latin typeface="+mj-lt"/>
              </a:endParaRPr>
            </a:p>
          </p:txBody>
        </p:sp>
        <p:sp>
          <p:nvSpPr>
            <p:cNvPr id="111663" name="Line 26"/>
            <p:cNvSpPr>
              <a:spLocks noChangeShapeType="1"/>
            </p:cNvSpPr>
            <p:nvPr/>
          </p:nvSpPr>
          <p:spPr bwMode="auto">
            <a:xfrm>
              <a:off x="2744" y="3294"/>
              <a:ext cx="0" cy="273"/>
            </a:xfrm>
            <a:prstGeom prst="line">
              <a:avLst/>
            </a:prstGeom>
            <a:noFill/>
            <a:ln w="19050">
              <a:solidFill>
                <a:schemeClr val="tx1"/>
              </a:solidFill>
              <a:round/>
              <a:tailEnd type="triangle" w="med" len="med"/>
            </a:ln>
          </p:spPr>
          <p:txBody>
            <a:bodyPr wrap="none"/>
            <a:lstStyle/>
            <a:p>
              <a:pPr>
                <a:defRPr/>
              </a:pPr>
              <a:endParaRPr lang="zh-CN" altLang="en-US">
                <a:latin typeface="+mj-lt"/>
              </a:endParaRPr>
            </a:p>
          </p:txBody>
        </p:sp>
        <p:sp>
          <p:nvSpPr>
            <p:cNvPr id="111664" name="Line 27"/>
            <p:cNvSpPr>
              <a:spLocks noChangeShapeType="1"/>
            </p:cNvSpPr>
            <p:nvPr/>
          </p:nvSpPr>
          <p:spPr bwMode="auto">
            <a:xfrm>
              <a:off x="2744" y="3566"/>
              <a:ext cx="0" cy="273"/>
            </a:xfrm>
            <a:prstGeom prst="line">
              <a:avLst/>
            </a:prstGeom>
            <a:noFill/>
            <a:ln w="19050">
              <a:solidFill>
                <a:schemeClr val="tx1"/>
              </a:solidFill>
              <a:round/>
              <a:tailEnd type="triangle" w="med" len="med"/>
            </a:ln>
          </p:spPr>
          <p:txBody>
            <a:bodyPr wrap="none"/>
            <a:lstStyle/>
            <a:p>
              <a:pPr>
                <a:defRPr/>
              </a:pPr>
              <a:endParaRPr lang="zh-CN" altLang="en-US">
                <a:latin typeface="+mj-lt"/>
              </a:endParaRPr>
            </a:p>
          </p:txBody>
        </p:sp>
      </p:grpSp>
      <p:grpSp>
        <p:nvGrpSpPr>
          <p:cNvPr id="6" name="Group 28"/>
          <p:cNvGrpSpPr/>
          <p:nvPr/>
        </p:nvGrpSpPr>
        <p:grpSpPr bwMode="auto">
          <a:xfrm>
            <a:off x="6083301" y="214313"/>
            <a:ext cx="3527425" cy="2574924"/>
            <a:chOff x="3036" y="633"/>
            <a:chExt cx="2222" cy="1622"/>
          </a:xfrm>
        </p:grpSpPr>
        <p:sp>
          <p:nvSpPr>
            <p:cNvPr id="111642" name="Rectangle 29"/>
            <p:cNvSpPr>
              <a:spLocks noChangeArrowheads="1"/>
            </p:cNvSpPr>
            <p:nvPr/>
          </p:nvSpPr>
          <p:spPr bwMode="auto">
            <a:xfrm>
              <a:off x="3919" y="633"/>
              <a:ext cx="791" cy="327"/>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dirty="0">
                  <a:solidFill>
                    <a:srgbClr val="0000CC"/>
                  </a:solidFill>
                  <a:latin typeface="+mj-lt"/>
                  <a:ea typeface="黑体" panose="02010609060101010101" pitchFamily="2" charset="-122"/>
                </a:rPr>
                <a:t>半乳糖</a:t>
              </a:r>
              <a:endParaRPr kumimoji="1" lang="zh-CN" altLang="en-US" sz="2800" dirty="0">
                <a:solidFill>
                  <a:srgbClr val="0000CC"/>
                </a:solidFill>
                <a:latin typeface="+mj-lt"/>
                <a:ea typeface="黑体" panose="02010609060101010101" pitchFamily="2" charset="-122"/>
              </a:endParaRPr>
            </a:p>
          </p:txBody>
        </p:sp>
        <p:sp>
          <p:nvSpPr>
            <p:cNvPr id="120859" name="Rectangle 30"/>
            <p:cNvSpPr>
              <a:spLocks noChangeArrowheads="1"/>
            </p:cNvSpPr>
            <p:nvPr/>
          </p:nvSpPr>
          <p:spPr bwMode="auto">
            <a:xfrm>
              <a:off x="3672" y="1155"/>
              <a:ext cx="14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a:solidFill>
                    <a:srgbClr val="000099"/>
                  </a:solidFill>
                  <a:latin typeface="宋体" panose="02010600030101010101" pitchFamily="2" charset="-122"/>
                  <a:ea typeface="宋体" panose="02010600030101010101" pitchFamily="2" charset="-122"/>
                </a:rPr>
                <a:t>1-磷酸半乳糖</a:t>
              </a:r>
              <a:endParaRPr kumimoji="1" lang="zh-CN" altLang="en-US" sz="2800">
                <a:solidFill>
                  <a:srgbClr val="000099"/>
                </a:solidFill>
                <a:latin typeface="宋体" panose="02010600030101010101" pitchFamily="2" charset="-122"/>
                <a:ea typeface="宋体" panose="02010600030101010101" pitchFamily="2" charset="-122"/>
              </a:endParaRPr>
            </a:p>
          </p:txBody>
        </p:sp>
        <p:sp>
          <p:nvSpPr>
            <p:cNvPr id="120860" name="Rectangle 31"/>
            <p:cNvSpPr>
              <a:spLocks noChangeArrowheads="1"/>
            </p:cNvSpPr>
            <p:nvPr/>
          </p:nvSpPr>
          <p:spPr bwMode="auto">
            <a:xfrm>
              <a:off x="3777" y="1925"/>
              <a:ext cx="14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dirty="0">
                  <a:solidFill>
                    <a:srgbClr val="000099"/>
                  </a:solidFill>
                  <a:latin typeface="宋体" panose="02010600030101010101" pitchFamily="2" charset="-122"/>
                  <a:ea typeface="宋体" panose="02010600030101010101" pitchFamily="2" charset="-122"/>
                </a:rPr>
                <a:t>1-磷酸葡萄糖</a:t>
              </a:r>
              <a:endParaRPr kumimoji="1" lang="zh-CN" altLang="en-US" sz="2800" dirty="0">
                <a:solidFill>
                  <a:srgbClr val="000099"/>
                </a:solidFill>
                <a:latin typeface="宋体" panose="02010600030101010101" pitchFamily="2" charset="-122"/>
                <a:ea typeface="宋体" panose="02010600030101010101" pitchFamily="2" charset="-122"/>
              </a:endParaRPr>
            </a:p>
          </p:txBody>
        </p:sp>
        <p:sp>
          <p:nvSpPr>
            <p:cNvPr id="111645" name="Line 33"/>
            <p:cNvSpPr>
              <a:spLocks noChangeShapeType="1"/>
            </p:cNvSpPr>
            <p:nvPr/>
          </p:nvSpPr>
          <p:spPr bwMode="auto">
            <a:xfrm>
              <a:off x="4223" y="935"/>
              <a:ext cx="0" cy="272"/>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sp>
          <p:nvSpPr>
            <p:cNvPr id="111646" name="Line 34"/>
            <p:cNvSpPr>
              <a:spLocks noChangeShapeType="1"/>
            </p:cNvSpPr>
            <p:nvPr/>
          </p:nvSpPr>
          <p:spPr bwMode="auto">
            <a:xfrm flipH="1" flipV="1">
              <a:off x="3036" y="1778"/>
              <a:ext cx="741" cy="185"/>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sp>
          <p:nvSpPr>
            <p:cNvPr id="111647" name="Line 35"/>
            <p:cNvSpPr>
              <a:spLocks noChangeShapeType="1"/>
            </p:cNvSpPr>
            <p:nvPr/>
          </p:nvSpPr>
          <p:spPr bwMode="auto">
            <a:xfrm>
              <a:off x="4223" y="1435"/>
              <a:ext cx="0" cy="216"/>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sp>
          <p:nvSpPr>
            <p:cNvPr id="106516" name="Rectangle 36"/>
            <p:cNvSpPr>
              <a:spLocks noChangeArrowheads="1"/>
            </p:cNvSpPr>
            <p:nvPr/>
          </p:nvSpPr>
          <p:spPr bwMode="auto">
            <a:xfrm>
              <a:off x="4288" y="935"/>
              <a:ext cx="916" cy="2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algn="ctr" eaLnBrk="1" hangingPunct="1">
                <a:spcBef>
                  <a:spcPct val="0"/>
                </a:spcBef>
                <a:buClrTx/>
                <a:buSzTx/>
                <a:buFontTx/>
                <a:buNone/>
                <a:defRPr/>
              </a:pPr>
              <a:r>
                <a:rPr kumimoji="1" lang="zh-CN" altLang="en-US" sz="2000" b="0" dirty="0">
                  <a:solidFill>
                    <a:schemeClr val="tx1">
                      <a:lumMod val="95000"/>
                      <a:lumOff val="5000"/>
                    </a:schemeClr>
                  </a:solidFill>
                  <a:latin typeface="+mj-lt"/>
                  <a:ea typeface="黑体" panose="02010609060101010101" pitchFamily="2" charset="-122"/>
                </a:rPr>
                <a:t>半乳糖激酶</a:t>
              </a:r>
              <a:endParaRPr kumimoji="1" lang="zh-CN" altLang="en-US" sz="2000" b="0" dirty="0">
                <a:solidFill>
                  <a:schemeClr val="tx1">
                    <a:lumMod val="95000"/>
                    <a:lumOff val="5000"/>
                  </a:schemeClr>
                </a:solidFill>
                <a:latin typeface="+mj-lt"/>
                <a:ea typeface="黑体" panose="02010609060101010101" pitchFamily="2" charset="-122"/>
              </a:endParaRPr>
            </a:p>
          </p:txBody>
        </p:sp>
        <p:sp>
          <p:nvSpPr>
            <p:cNvPr id="106517" name="Rectangle 37"/>
            <p:cNvSpPr>
              <a:spLocks noChangeArrowheads="1"/>
            </p:cNvSpPr>
            <p:nvPr/>
          </p:nvSpPr>
          <p:spPr bwMode="auto">
            <a:xfrm>
              <a:off x="3241" y="1629"/>
              <a:ext cx="596" cy="2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algn="ctr" eaLnBrk="1" hangingPunct="1">
                <a:spcBef>
                  <a:spcPct val="0"/>
                </a:spcBef>
                <a:buClrTx/>
                <a:buSzTx/>
                <a:buFontTx/>
                <a:buNone/>
                <a:defRPr/>
              </a:pPr>
              <a:r>
                <a:rPr kumimoji="1" lang="zh-CN" altLang="en-US" sz="2000" b="0" dirty="0">
                  <a:solidFill>
                    <a:schemeClr val="tx1">
                      <a:lumMod val="95000"/>
                      <a:lumOff val="5000"/>
                    </a:schemeClr>
                  </a:solidFill>
                  <a:latin typeface="+mj-lt"/>
                  <a:ea typeface="黑体" panose="02010609060101010101" pitchFamily="2" charset="-122"/>
                </a:rPr>
                <a:t>变位酶</a:t>
              </a:r>
              <a:endParaRPr kumimoji="1" lang="zh-CN" altLang="en-US" sz="2000" b="0" dirty="0">
                <a:solidFill>
                  <a:schemeClr val="tx1">
                    <a:lumMod val="95000"/>
                    <a:lumOff val="5000"/>
                  </a:schemeClr>
                </a:solidFill>
                <a:latin typeface="+mj-lt"/>
                <a:ea typeface="黑体" panose="02010609060101010101" pitchFamily="2" charset="-122"/>
              </a:endParaRPr>
            </a:p>
          </p:txBody>
        </p:sp>
        <p:sp>
          <p:nvSpPr>
            <p:cNvPr id="3" name="Line 33"/>
            <p:cNvSpPr>
              <a:spLocks noChangeShapeType="1"/>
            </p:cNvSpPr>
            <p:nvPr/>
          </p:nvSpPr>
          <p:spPr bwMode="auto">
            <a:xfrm>
              <a:off x="4219" y="1661"/>
              <a:ext cx="0" cy="272"/>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grpSp>
      <p:grpSp>
        <p:nvGrpSpPr>
          <p:cNvPr id="7" name="Group 38"/>
          <p:cNvGrpSpPr/>
          <p:nvPr/>
        </p:nvGrpSpPr>
        <p:grpSpPr bwMode="auto">
          <a:xfrm>
            <a:off x="1857376" y="981076"/>
            <a:ext cx="3122613" cy="1719263"/>
            <a:chOff x="541" y="1380"/>
            <a:chExt cx="1967" cy="1083"/>
          </a:xfrm>
        </p:grpSpPr>
        <p:sp>
          <p:nvSpPr>
            <p:cNvPr id="111636" name="Rectangle 39"/>
            <p:cNvSpPr>
              <a:spLocks noChangeArrowheads="1"/>
            </p:cNvSpPr>
            <p:nvPr/>
          </p:nvSpPr>
          <p:spPr bwMode="auto">
            <a:xfrm>
              <a:off x="790" y="1380"/>
              <a:ext cx="791" cy="327"/>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dirty="0">
                  <a:solidFill>
                    <a:srgbClr val="0000CC"/>
                  </a:solidFill>
                  <a:latin typeface="+mj-lt"/>
                  <a:ea typeface="黑体" panose="02010609060101010101" pitchFamily="2" charset="-122"/>
                </a:rPr>
                <a:t>甘露糖</a:t>
              </a:r>
              <a:endParaRPr kumimoji="1" lang="zh-CN" altLang="en-US" sz="2800" b="0" dirty="0">
                <a:solidFill>
                  <a:srgbClr val="0000CC"/>
                </a:solidFill>
                <a:latin typeface="+mj-lt"/>
                <a:ea typeface="黑体" panose="02010609060101010101" pitchFamily="2" charset="-122"/>
              </a:endParaRPr>
            </a:p>
          </p:txBody>
        </p:sp>
        <p:sp>
          <p:nvSpPr>
            <p:cNvPr id="111637" name="Rectangle 40"/>
            <p:cNvSpPr>
              <a:spLocks noChangeArrowheads="1"/>
            </p:cNvSpPr>
            <p:nvPr/>
          </p:nvSpPr>
          <p:spPr bwMode="auto">
            <a:xfrm>
              <a:off x="541" y="2008"/>
              <a:ext cx="1282"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400" b="0" dirty="0">
                  <a:solidFill>
                    <a:srgbClr val="000099"/>
                  </a:solidFill>
                  <a:latin typeface="+mj-lt"/>
                </a:rPr>
                <a:t>6-磷酸甘露糖</a:t>
              </a:r>
              <a:endParaRPr kumimoji="1" lang="zh-CN" altLang="en-US" sz="2400" b="0" dirty="0">
                <a:solidFill>
                  <a:srgbClr val="000099"/>
                </a:solidFill>
                <a:latin typeface="+mj-lt"/>
              </a:endParaRPr>
            </a:p>
          </p:txBody>
        </p:sp>
        <p:sp>
          <p:nvSpPr>
            <p:cNvPr id="111638" name="Line 41"/>
            <p:cNvSpPr>
              <a:spLocks noChangeShapeType="1"/>
            </p:cNvSpPr>
            <p:nvPr/>
          </p:nvSpPr>
          <p:spPr bwMode="auto">
            <a:xfrm>
              <a:off x="1156" y="1706"/>
              <a:ext cx="2" cy="364"/>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sp>
          <p:nvSpPr>
            <p:cNvPr id="111639" name="Line 42"/>
            <p:cNvSpPr>
              <a:spLocks noChangeShapeType="1"/>
            </p:cNvSpPr>
            <p:nvPr/>
          </p:nvSpPr>
          <p:spPr bwMode="auto">
            <a:xfrm>
              <a:off x="1922" y="2253"/>
              <a:ext cx="551" cy="210"/>
            </a:xfrm>
            <a:prstGeom prst="line">
              <a:avLst/>
            </a:prstGeom>
            <a:noFill/>
            <a:ln w="9525">
              <a:solidFill>
                <a:schemeClr val="tx1"/>
              </a:solidFill>
              <a:round/>
              <a:tailEnd type="triangle" w="med" len="med"/>
            </a:ln>
          </p:spPr>
          <p:txBody>
            <a:bodyPr wrap="none"/>
            <a:lstStyle/>
            <a:p>
              <a:pPr>
                <a:defRPr/>
              </a:pPr>
              <a:endParaRPr lang="zh-CN" altLang="en-US">
                <a:latin typeface="+mj-lt"/>
              </a:endParaRPr>
            </a:p>
          </p:txBody>
        </p:sp>
        <p:sp>
          <p:nvSpPr>
            <p:cNvPr id="111640" name="Rectangle 43"/>
            <p:cNvSpPr>
              <a:spLocks noChangeArrowheads="1"/>
            </p:cNvSpPr>
            <p:nvPr/>
          </p:nvSpPr>
          <p:spPr bwMode="auto">
            <a:xfrm>
              <a:off x="1113" y="1752"/>
              <a:ext cx="756" cy="2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000" b="0">
                  <a:solidFill>
                    <a:srgbClr val="FF0066"/>
                  </a:solidFill>
                  <a:latin typeface="+mj-lt"/>
                  <a:ea typeface="黑体" panose="02010609060101010101" pitchFamily="2" charset="-122"/>
                </a:rPr>
                <a:t>己糖激酶</a:t>
              </a:r>
              <a:endParaRPr kumimoji="1" lang="zh-CN" altLang="en-US" sz="2000" b="0">
                <a:solidFill>
                  <a:srgbClr val="FF0066"/>
                </a:solidFill>
                <a:latin typeface="+mj-lt"/>
                <a:ea typeface="黑体" panose="02010609060101010101" pitchFamily="2" charset="-122"/>
              </a:endParaRPr>
            </a:p>
          </p:txBody>
        </p:sp>
        <p:sp>
          <p:nvSpPr>
            <p:cNvPr id="106508" name="Rectangle 44"/>
            <p:cNvSpPr>
              <a:spLocks noChangeArrowheads="1"/>
            </p:cNvSpPr>
            <p:nvPr/>
          </p:nvSpPr>
          <p:spPr bwMode="auto">
            <a:xfrm rot="1336849">
              <a:off x="1912" y="2119"/>
              <a:ext cx="596" cy="2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algn="ctr" eaLnBrk="1" hangingPunct="1">
                <a:spcBef>
                  <a:spcPct val="0"/>
                </a:spcBef>
                <a:buClrTx/>
                <a:buSzTx/>
                <a:buFontTx/>
                <a:buNone/>
                <a:defRPr/>
              </a:pPr>
              <a:r>
                <a:rPr kumimoji="1" lang="zh-CN" altLang="en-US" sz="2000" b="0" dirty="0">
                  <a:solidFill>
                    <a:schemeClr val="tx1">
                      <a:lumMod val="95000"/>
                      <a:lumOff val="5000"/>
                    </a:schemeClr>
                  </a:solidFill>
                  <a:latin typeface="+mj-lt"/>
                  <a:ea typeface="黑体" panose="02010609060101010101" pitchFamily="2" charset="-122"/>
                </a:rPr>
                <a:t>变位酶</a:t>
              </a:r>
              <a:endParaRPr kumimoji="1" lang="zh-CN" altLang="en-US" sz="2000" b="0" dirty="0">
                <a:solidFill>
                  <a:schemeClr val="tx1">
                    <a:lumMod val="95000"/>
                    <a:lumOff val="5000"/>
                  </a:schemeClr>
                </a:solidFill>
                <a:latin typeface="+mj-lt"/>
                <a:ea typeface="黑体" panose="02010609060101010101" pitchFamily="2" charset="-122"/>
              </a:endParaRPr>
            </a:p>
          </p:txBody>
        </p:sp>
      </p:grpSp>
      <p:sp>
        <p:nvSpPr>
          <p:cNvPr id="106502" name="Rectangle 45"/>
          <p:cNvSpPr>
            <a:spLocks noChangeArrowheads="1"/>
          </p:cNvSpPr>
          <p:nvPr/>
        </p:nvSpPr>
        <p:spPr bwMode="auto">
          <a:xfrm>
            <a:off x="7015162" y="4658661"/>
            <a:ext cx="4471335" cy="1001813"/>
          </a:xfrm>
          <a:prstGeom prst="rect">
            <a:avLst/>
          </a:prstGeom>
          <a:solidFill>
            <a:srgbClr val="FFFFBD"/>
          </a:solidFill>
          <a:ln>
            <a:noFill/>
          </a:ln>
        </p:spPr>
        <p:txBody>
          <a:bodyPr wrap="square" anchor="ct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indent="0" eaLnBrk="1" hangingPunct="1">
              <a:lnSpc>
                <a:spcPct val="130000"/>
              </a:lnSpc>
              <a:spcBef>
                <a:spcPct val="0"/>
              </a:spcBef>
              <a:buClrTx/>
              <a:buSzTx/>
              <a:buNone/>
              <a:defRPr/>
            </a:pPr>
            <a:r>
              <a:rPr kumimoji="1" lang="zh-CN" altLang="en-US" sz="2400" b="0" dirty="0">
                <a:latin typeface="+mj-lt"/>
              </a:rPr>
              <a:t>四、其它己糖可转变成</a:t>
            </a:r>
            <a:r>
              <a:rPr kumimoji="1" lang="zh-CN" altLang="en-US" sz="2400" b="0" dirty="0">
                <a:solidFill>
                  <a:srgbClr val="FF0066"/>
                </a:solidFill>
                <a:latin typeface="+mj-lt"/>
              </a:rPr>
              <a:t>磷酸己糖</a:t>
            </a:r>
            <a:r>
              <a:rPr kumimoji="1" lang="zh-CN" altLang="en-US" sz="2400" b="0" dirty="0">
                <a:latin typeface="+mj-lt"/>
              </a:rPr>
              <a:t>进入糖酵解途径。 </a:t>
            </a:r>
            <a:endParaRPr kumimoji="1" lang="zh-CN" altLang="en-US" sz="2400" b="0" dirty="0">
              <a:latin typeface="+mj-lt"/>
            </a:endParaRPr>
          </a:p>
        </p:txBody>
      </p:sp>
      <p:cxnSp>
        <p:nvCxnSpPr>
          <p:cNvPr id="4" name="直接箭头连接符 3"/>
          <p:cNvCxnSpPr>
            <a:cxnSpLocks noChangeShapeType="1"/>
          </p:cNvCxnSpPr>
          <p:nvPr/>
        </p:nvCxnSpPr>
        <p:spPr bwMode="auto">
          <a:xfrm>
            <a:off x="2805113" y="3998913"/>
            <a:ext cx="0" cy="62230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5" name="文本框 4"/>
          <p:cNvSpPr txBox="1"/>
          <p:nvPr/>
        </p:nvSpPr>
        <p:spPr>
          <a:xfrm>
            <a:off x="1992313" y="4581526"/>
            <a:ext cx="2239962" cy="461963"/>
          </a:xfrm>
          <a:prstGeom prst="rect">
            <a:avLst/>
          </a:prstGeom>
          <a:noFill/>
        </p:spPr>
        <p:txBody>
          <a:bodyPr>
            <a:spAutoFit/>
          </a:bodyPr>
          <a:lstStyle/>
          <a:p>
            <a:pPr>
              <a:defRPr/>
            </a:pPr>
            <a:r>
              <a:rPr lang="zh-CN" altLang="en-US" sz="2400" dirty="0">
                <a:solidFill>
                  <a:schemeClr val="tx2">
                    <a:lumMod val="75000"/>
                  </a:schemeClr>
                </a:solidFill>
                <a:latin typeface="+mj-lt"/>
              </a:rPr>
              <a:t>果糖</a:t>
            </a:r>
            <a:r>
              <a:rPr lang="en-US" altLang="zh-CN" sz="2400" dirty="0">
                <a:solidFill>
                  <a:schemeClr val="tx2">
                    <a:lumMod val="75000"/>
                  </a:schemeClr>
                </a:solidFill>
                <a:latin typeface="+mj-lt"/>
              </a:rPr>
              <a:t>-1-</a:t>
            </a:r>
            <a:r>
              <a:rPr lang="zh-CN" altLang="en-US" sz="2400" dirty="0">
                <a:solidFill>
                  <a:schemeClr val="tx2">
                    <a:lumMod val="75000"/>
                  </a:schemeClr>
                </a:solidFill>
                <a:latin typeface="+mj-lt"/>
              </a:rPr>
              <a:t>磷酸</a:t>
            </a:r>
            <a:endParaRPr lang="zh-CN" altLang="en-US" sz="2400" dirty="0">
              <a:solidFill>
                <a:schemeClr val="tx2">
                  <a:lumMod val="75000"/>
                </a:schemeClr>
              </a:solidFill>
              <a:latin typeface="+mj-lt"/>
            </a:endParaRPr>
          </a:p>
        </p:txBody>
      </p:sp>
      <p:cxnSp>
        <p:nvCxnSpPr>
          <p:cNvPr id="9" name="直接箭头连接符 8"/>
          <p:cNvCxnSpPr>
            <a:cxnSpLocks noChangeShapeType="1"/>
          </p:cNvCxnSpPr>
          <p:nvPr/>
        </p:nvCxnSpPr>
        <p:spPr bwMode="auto">
          <a:xfrm flipH="1">
            <a:off x="2476500" y="5081588"/>
            <a:ext cx="357188" cy="49530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12" name="直接箭头连接符 11"/>
          <p:cNvCxnSpPr>
            <a:cxnSpLocks noChangeShapeType="1"/>
          </p:cNvCxnSpPr>
          <p:nvPr/>
        </p:nvCxnSpPr>
        <p:spPr bwMode="auto">
          <a:xfrm>
            <a:off x="2824164" y="5089526"/>
            <a:ext cx="541337" cy="487363"/>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3" name="文本框 12"/>
          <p:cNvSpPr txBox="1">
            <a:spLocks noChangeArrowheads="1"/>
          </p:cNvSpPr>
          <p:nvPr/>
        </p:nvSpPr>
        <p:spPr bwMode="auto">
          <a:xfrm>
            <a:off x="1524001" y="5605464"/>
            <a:ext cx="1547813" cy="338137"/>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zh-CN" altLang="en-US" sz="1600">
                <a:latin typeface="+mj-lt"/>
                <a:ea typeface="宋体" panose="02010600030101010101" pitchFamily="2" charset="-122"/>
              </a:rPr>
              <a:t>磷酸二羟丙酮</a:t>
            </a:r>
            <a:endParaRPr lang="zh-CN" altLang="en-US" sz="1600">
              <a:latin typeface="+mj-lt"/>
              <a:ea typeface="宋体" panose="02010600030101010101" pitchFamily="2" charset="-122"/>
            </a:endParaRPr>
          </a:p>
        </p:txBody>
      </p:sp>
      <p:sp>
        <p:nvSpPr>
          <p:cNvPr id="57" name="文本框 56"/>
          <p:cNvSpPr txBox="1">
            <a:spLocks noChangeArrowheads="1"/>
          </p:cNvSpPr>
          <p:nvPr/>
        </p:nvSpPr>
        <p:spPr bwMode="auto">
          <a:xfrm>
            <a:off x="3200400" y="5605464"/>
            <a:ext cx="1104900" cy="338137"/>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zh-CN" altLang="en-US" sz="1600">
                <a:latin typeface="+mj-lt"/>
                <a:ea typeface="宋体" panose="02010600030101010101" pitchFamily="2" charset="-122"/>
              </a:rPr>
              <a:t>甘油醛</a:t>
            </a:r>
            <a:endParaRPr lang="zh-CN" altLang="en-US" sz="1600">
              <a:latin typeface="+mj-lt"/>
              <a:ea typeface="宋体" panose="02010600030101010101" pitchFamily="2" charset="-122"/>
            </a:endParaRPr>
          </a:p>
        </p:txBody>
      </p:sp>
      <p:cxnSp>
        <p:nvCxnSpPr>
          <p:cNvPr id="15" name="直接箭头连接符 14"/>
          <p:cNvCxnSpPr>
            <a:cxnSpLocks noChangeShapeType="1"/>
          </p:cNvCxnSpPr>
          <p:nvPr/>
        </p:nvCxnSpPr>
        <p:spPr bwMode="auto">
          <a:xfrm>
            <a:off x="3508375" y="5943600"/>
            <a:ext cx="0" cy="35560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6" name="文本框 15"/>
          <p:cNvSpPr txBox="1">
            <a:spLocks noChangeArrowheads="1"/>
          </p:cNvSpPr>
          <p:nvPr/>
        </p:nvSpPr>
        <p:spPr bwMode="auto">
          <a:xfrm>
            <a:off x="2873375" y="6381750"/>
            <a:ext cx="1587500" cy="368300"/>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en-US" altLang="zh-CN" sz="1800">
                <a:latin typeface="+mj-lt"/>
                <a:ea typeface="宋体" panose="02010600030101010101" pitchFamily="2" charset="-122"/>
              </a:rPr>
              <a:t>3-</a:t>
            </a:r>
            <a:r>
              <a:rPr lang="zh-CN" altLang="en-US" sz="1800">
                <a:latin typeface="+mj-lt"/>
                <a:ea typeface="宋体" panose="02010600030101010101" pitchFamily="2" charset="-122"/>
              </a:rPr>
              <a:t>磷酸甘油醛</a:t>
            </a:r>
            <a:endParaRPr lang="zh-CN" altLang="en-US" sz="1800">
              <a:latin typeface="+mj-lt"/>
              <a:ea typeface="宋体" panose="02010600030101010101" pitchFamily="2" charset="-122"/>
            </a:endParaRPr>
          </a:p>
        </p:txBody>
      </p:sp>
      <p:sp>
        <p:nvSpPr>
          <p:cNvPr id="19" name="文本框 18"/>
          <p:cNvSpPr txBox="1">
            <a:spLocks noChangeArrowheads="1"/>
          </p:cNvSpPr>
          <p:nvPr/>
        </p:nvSpPr>
        <p:spPr bwMode="auto">
          <a:xfrm>
            <a:off x="2765425" y="5075239"/>
            <a:ext cx="2298700" cy="369887"/>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zh-CN" altLang="en-US" sz="1800" dirty="0">
                <a:solidFill>
                  <a:srgbClr val="FF0066"/>
                </a:solidFill>
                <a:latin typeface="+mj-lt"/>
                <a:ea typeface="宋体" panose="02010600030101010101" pitchFamily="2" charset="-122"/>
              </a:rPr>
              <a:t>果糖</a:t>
            </a:r>
            <a:r>
              <a:rPr lang="en-US" altLang="zh-CN" sz="1800" dirty="0">
                <a:solidFill>
                  <a:srgbClr val="FF0066"/>
                </a:solidFill>
                <a:latin typeface="+mj-lt"/>
                <a:ea typeface="宋体" panose="02010600030101010101" pitchFamily="2" charset="-122"/>
              </a:rPr>
              <a:t>-1-</a:t>
            </a:r>
            <a:r>
              <a:rPr lang="zh-CN" altLang="en-US" sz="1800" dirty="0">
                <a:solidFill>
                  <a:srgbClr val="FF0066"/>
                </a:solidFill>
                <a:latin typeface="+mj-lt"/>
                <a:ea typeface="宋体" panose="02010600030101010101" pitchFamily="2" charset="-122"/>
              </a:rPr>
              <a:t>磷酸醛缩酶</a:t>
            </a:r>
            <a:endParaRPr lang="zh-CN" altLang="en-US" sz="1800" dirty="0">
              <a:solidFill>
                <a:srgbClr val="FF0066"/>
              </a:solidFill>
              <a:latin typeface="+mj-lt"/>
              <a:ea typeface="宋体" panose="02010600030101010101" pitchFamily="2" charset="-122"/>
            </a:endParaRPr>
          </a:p>
        </p:txBody>
      </p:sp>
      <p:sp>
        <p:nvSpPr>
          <p:cNvPr id="20" name="文本框 19"/>
          <p:cNvSpPr txBox="1">
            <a:spLocks noChangeArrowheads="1"/>
          </p:cNvSpPr>
          <p:nvPr/>
        </p:nvSpPr>
        <p:spPr bwMode="auto">
          <a:xfrm>
            <a:off x="7983858" y="1486415"/>
            <a:ext cx="3656756" cy="400110"/>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zh-CN" altLang="en-US" sz="2000" dirty="0">
                <a:solidFill>
                  <a:srgbClr val="FF0066"/>
                </a:solidFill>
                <a:latin typeface="+mj-lt"/>
                <a:ea typeface="宋体" panose="02010600030101010101" pitchFamily="2" charset="-122"/>
              </a:rPr>
              <a:t>半乳糖</a:t>
            </a:r>
            <a:r>
              <a:rPr lang="en-US" altLang="zh-CN" sz="2000" dirty="0">
                <a:solidFill>
                  <a:srgbClr val="FF0066"/>
                </a:solidFill>
                <a:latin typeface="+mj-lt"/>
                <a:ea typeface="宋体" panose="02010600030101010101" pitchFamily="2" charset="-122"/>
              </a:rPr>
              <a:t>-1-</a:t>
            </a:r>
            <a:r>
              <a:rPr lang="zh-CN" altLang="en-US" sz="2000" dirty="0">
                <a:solidFill>
                  <a:srgbClr val="FF0066"/>
                </a:solidFill>
                <a:latin typeface="+mj-lt"/>
                <a:ea typeface="宋体" panose="02010600030101010101" pitchFamily="2" charset="-122"/>
              </a:rPr>
              <a:t>磷酸尿苷酰转移酶</a:t>
            </a:r>
            <a:endParaRPr lang="zh-CN" altLang="en-US" sz="2000" dirty="0">
              <a:solidFill>
                <a:srgbClr val="FF0066"/>
              </a:solidFill>
              <a:latin typeface="+mj-lt"/>
              <a:ea typeface="宋体" panose="02010600030101010101" pitchFamily="2" charset="-122"/>
            </a:endParaRPr>
          </a:p>
        </p:txBody>
      </p:sp>
      <p:sp>
        <p:nvSpPr>
          <p:cNvPr id="21" name="线形标注 1 20"/>
          <p:cNvSpPr/>
          <p:nvPr/>
        </p:nvSpPr>
        <p:spPr bwMode="auto">
          <a:xfrm>
            <a:off x="8204085" y="2846749"/>
            <a:ext cx="2351088" cy="1001813"/>
          </a:xfrm>
          <a:prstGeom prst="borderCallout1">
            <a:avLst>
              <a:gd name="adj1" fmla="val -1662"/>
              <a:gd name="adj2" fmla="val 80778"/>
              <a:gd name="adj3" fmla="val -82486"/>
              <a:gd name="adj4" fmla="val 68609"/>
            </a:avLst>
          </a:prstGeom>
          <a:noFill/>
          <a:ln w="9525" algn="ctr">
            <a:solidFill>
              <a:srgbClr val="00B0F0"/>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lang="zh-CN" altLang="en-US" sz="2400" dirty="0">
                <a:latin typeface="+mj-lt"/>
                <a:ea typeface="宋体" panose="02010600030101010101" pitchFamily="2" charset="-122"/>
              </a:rPr>
              <a:t>三种酶缺陷均可导致</a:t>
            </a:r>
            <a:r>
              <a:rPr lang="zh-CN" altLang="en-US" sz="2400" dirty="0">
                <a:solidFill>
                  <a:srgbClr val="FF0000"/>
                </a:solidFill>
                <a:latin typeface="+mj-lt"/>
                <a:ea typeface="宋体" panose="02010600030101010101" pitchFamily="2" charset="-122"/>
              </a:rPr>
              <a:t>半乳糖血症</a:t>
            </a:r>
            <a:endParaRPr lang="zh-CN" altLang="en-US" sz="2400" dirty="0">
              <a:solidFill>
                <a:srgbClr val="FF0000"/>
              </a:solidFill>
              <a:latin typeface="+mj-lt"/>
              <a:ea typeface="宋体" panose="02010600030101010101" pitchFamily="2" charset="-122"/>
            </a:endParaRPr>
          </a:p>
        </p:txBody>
      </p:sp>
      <p:sp>
        <p:nvSpPr>
          <p:cNvPr id="66" name="线形标注 1 65"/>
          <p:cNvSpPr/>
          <p:nvPr/>
        </p:nvSpPr>
        <p:spPr bwMode="auto">
          <a:xfrm>
            <a:off x="4810126" y="6054725"/>
            <a:ext cx="1673225" cy="750888"/>
          </a:xfrm>
          <a:prstGeom prst="borderCallout1">
            <a:avLst>
              <a:gd name="adj1" fmla="val 1921"/>
              <a:gd name="adj2" fmla="val 1148"/>
              <a:gd name="adj3" fmla="val -85148"/>
              <a:gd name="adj4" fmla="val -50769"/>
            </a:avLst>
          </a:prstGeom>
          <a:noFill/>
          <a:ln w="9525" algn="ctr">
            <a:solidFill>
              <a:srgbClr val="00B0F0"/>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lang="zh-CN" altLang="en-US" sz="2000">
                <a:latin typeface="+mj-lt"/>
                <a:ea typeface="宋体" panose="02010600030101010101" pitchFamily="2" charset="-122"/>
              </a:rPr>
              <a:t>酶缺陷导致</a:t>
            </a:r>
            <a:r>
              <a:rPr lang="zh-CN" altLang="en-US" sz="2000">
                <a:solidFill>
                  <a:srgbClr val="FF0000"/>
                </a:solidFill>
                <a:latin typeface="+mj-lt"/>
                <a:ea typeface="宋体" panose="02010600030101010101" pitchFamily="2" charset="-122"/>
              </a:rPr>
              <a:t>果糖不耐受</a:t>
            </a:r>
            <a:endParaRPr lang="zh-CN" altLang="en-US" sz="2000">
              <a:solidFill>
                <a:srgbClr val="FF0000"/>
              </a:solidFill>
              <a:latin typeface="+mj-lt"/>
              <a:ea typeface="宋体" panose="02010600030101010101" pitchFamily="2" charset="-122"/>
            </a:endParaRPr>
          </a:p>
        </p:txBody>
      </p:sp>
      <p:sp>
        <p:nvSpPr>
          <p:cNvPr id="8" name="文本框 7"/>
          <p:cNvSpPr txBox="1">
            <a:spLocks noChangeArrowheads="1"/>
          </p:cNvSpPr>
          <p:nvPr/>
        </p:nvSpPr>
        <p:spPr bwMode="auto">
          <a:xfrm>
            <a:off x="8001100" y="1910852"/>
            <a:ext cx="2127348" cy="369332"/>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lang="zh-CN" altLang="en-US" sz="1800" dirty="0">
                <a:solidFill>
                  <a:srgbClr val="FF0066"/>
                </a:solidFill>
                <a:latin typeface="+mj-lt"/>
                <a:ea typeface="宋体" panose="02010600030101010101" pitchFamily="2" charset="-122"/>
              </a:rPr>
              <a:t>差向异构酶</a:t>
            </a:r>
            <a:endParaRPr lang="zh-CN" altLang="en-US" sz="1800" dirty="0">
              <a:solidFill>
                <a:srgbClr val="FF0066"/>
              </a:solidFill>
              <a:latin typeface="+mj-lt"/>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trips(downRigh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3"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trips(upRigh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animEffect transition="in" filter="fade">
                                      <p:cBhvr>
                                        <p:cTn id="33" dur="500"/>
                                        <p:tgtEl>
                                          <p:spTgt spid="50"/>
                                        </p:tgtEl>
                                      </p:cBhvr>
                                    </p:animEffect>
                                  </p:childTnLst>
                                </p:cTn>
                              </p:par>
                              <p:par>
                                <p:cTn id="34" presetID="10"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7"/>
                                        </p:tgtEl>
                                        <p:attrNameLst>
                                          <p:attrName>style.visibility</p:attrName>
                                        </p:attrNameLst>
                                      </p:cBhvr>
                                      <p:to>
                                        <p:strVal val="visible"/>
                                      </p:to>
                                    </p:set>
                                    <p:animEffect transition="in" filter="fade">
                                      <p:cBhvr>
                                        <p:cTn id="45" dur="500"/>
                                        <p:tgtEl>
                                          <p:spTgt spid="57"/>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66"/>
                                        </p:tgtEl>
                                        <p:attrNameLst>
                                          <p:attrName>style.visibility</p:attrName>
                                        </p:attrNameLst>
                                      </p:cBhvr>
                                      <p:to>
                                        <p:strVal val="visible"/>
                                      </p:to>
                                    </p:set>
                                    <p:animEffect transition="in" filter="fade">
                                      <p:cBhvr>
                                        <p:cTn id="64"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 grpId="0"/>
      <p:bldP spid="13" grpId="0"/>
      <p:bldP spid="57" grpId="0"/>
      <p:bldP spid="16" grpId="0"/>
      <p:bldP spid="19" grpId="0"/>
      <p:bldP spid="20" grpId="0"/>
      <p:bldP spid="21" grpId="0" animBg="1"/>
      <p:bldP spid="66" grpId="0" animBg="1"/>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4294967295"/>
          </p:nvPr>
        </p:nvSpPr>
        <p:spPr>
          <a:xfrm>
            <a:off x="1199455" y="2184780"/>
            <a:ext cx="9865096" cy="4317235"/>
          </a:xfrm>
          <a:ln>
            <a:noFill/>
            <a:miter lim="800000"/>
          </a:ln>
        </p:spPr>
        <p:txBody>
          <a:bodyPr/>
          <a:lstStyle/>
          <a:p>
            <a:pPr>
              <a:lnSpc>
                <a:spcPct val="120000"/>
              </a:lnSpc>
              <a:defRPr/>
            </a:pPr>
            <a:r>
              <a:rPr lang="zh-CN" altLang="en-US" sz="2400" b="0" dirty="0">
                <a:solidFill>
                  <a:srgbClr val="CC0066"/>
                </a:solidFill>
                <a:latin typeface="微软雅黑" panose="020B0503020204020204" pitchFamily="34" charset="-122"/>
                <a:ea typeface="微软雅黑" panose="020B0503020204020204" pitchFamily="34" charset="-122"/>
              </a:rPr>
              <a:t>果糖不耐受</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Hereditary Fructose Intolerance, HFI)</a:t>
            </a:r>
            <a:r>
              <a:rPr lang="zh-CN" altLang="en-US" sz="2400" b="0" dirty="0">
                <a:latin typeface="微软雅黑" panose="020B0503020204020204" pitchFamily="34" charset="-122"/>
                <a:ea typeface="微软雅黑" panose="020B0503020204020204" pitchFamily="34" charset="-122"/>
              </a:rPr>
              <a:t>：　果糖</a:t>
            </a:r>
            <a:r>
              <a:rPr lang="zh-CN" altLang="en-US" sz="2400" b="0" dirty="0">
                <a:solidFill>
                  <a:srgbClr val="C00000"/>
                </a:solidFill>
                <a:latin typeface="微软雅黑" panose="020B0503020204020204" pitchFamily="34" charset="-122"/>
                <a:ea typeface="微软雅黑" panose="020B0503020204020204" pitchFamily="34" charset="-122"/>
              </a:rPr>
              <a:t>醛缩酶</a:t>
            </a:r>
            <a:r>
              <a:rPr lang="en-US" altLang="zh-CN" sz="2400" b="0" dirty="0">
                <a:solidFill>
                  <a:srgbClr val="C00000"/>
                </a:solidFill>
                <a:latin typeface="微软雅黑" panose="020B0503020204020204" pitchFamily="34" charset="-122"/>
                <a:ea typeface="微软雅黑" panose="020B0503020204020204" pitchFamily="34" charset="-122"/>
              </a:rPr>
              <a:t>B</a:t>
            </a:r>
            <a:r>
              <a:rPr lang="zh-CN" altLang="en-US" sz="2400" b="0" dirty="0">
                <a:solidFill>
                  <a:srgbClr val="C00000"/>
                </a:solidFill>
                <a:latin typeface="微软雅黑" panose="020B0503020204020204" pitchFamily="34" charset="-122"/>
                <a:ea typeface="微软雅黑" panose="020B0503020204020204" pitchFamily="34" charset="-122"/>
              </a:rPr>
              <a:t>缺乏</a:t>
            </a:r>
            <a:r>
              <a:rPr lang="zh-CN" altLang="en-US" sz="2400" b="0" dirty="0">
                <a:latin typeface="微软雅黑" panose="020B0503020204020204" pitchFamily="34" charset="-122"/>
                <a:ea typeface="微软雅黑" panose="020B0503020204020204" pitchFamily="34" charset="-122"/>
              </a:rPr>
              <a:t>导致</a:t>
            </a:r>
            <a:r>
              <a:rPr lang="zh-CN" altLang="en-US" sz="2400" b="0" dirty="0">
                <a:solidFill>
                  <a:srgbClr val="0000CC"/>
                </a:solidFill>
                <a:latin typeface="微软雅黑" panose="020B0503020204020204" pitchFamily="34" charset="-122"/>
                <a:ea typeface="微软雅黑" panose="020B0503020204020204" pitchFamily="34" charset="-122"/>
              </a:rPr>
              <a:t>果糖</a:t>
            </a:r>
            <a:r>
              <a:rPr lang="en-US" altLang="zh-CN" sz="2400" b="0" dirty="0">
                <a:solidFill>
                  <a:srgbClr val="0000CC"/>
                </a:solidFill>
                <a:latin typeface="微软雅黑" panose="020B0503020204020204" pitchFamily="34" charset="-122"/>
                <a:ea typeface="微软雅黑" panose="020B0503020204020204" pitchFamily="34" charset="-122"/>
              </a:rPr>
              <a:t>-1-</a:t>
            </a:r>
            <a:r>
              <a:rPr lang="zh-CN" altLang="en-US" sz="2400" b="0" dirty="0">
                <a:solidFill>
                  <a:srgbClr val="0000CC"/>
                </a:solidFill>
                <a:latin typeface="微软雅黑" panose="020B0503020204020204" pitchFamily="34" charset="-122"/>
                <a:ea typeface="微软雅黑" panose="020B0503020204020204" pitchFamily="34" charset="-122"/>
              </a:rPr>
              <a:t>磷酸堆积，别构抑制肝糖原磷酸化酶而阻止肝糖原分解。可出现严重低血糖</a:t>
            </a:r>
            <a:r>
              <a:rPr lang="zh-CN" altLang="en-US" sz="2200" b="0" dirty="0">
                <a:solidFill>
                  <a:srgbClr val="0000CC"/>
                </a:solidFill>
                <a:latin typeface="微软雅黑" panose="020B0503020204020204" pitchFamily="34" charset="-122"/>
                <a:ea typeface="微软雅黑" panose="020B0503020204020204" pitchFamily="34" charset="-122"/>
              </a:rPr>
              <a:t>。    </a:t>
            </a:r>
            <a:r>
              <a:rPr lang="zh-CN" altLang="en-US" sz="2200" b="0" dirty="0">
                <a:latin typeface="微软雅黑" panose="020B0503020204020204" pitchFamily="34" charset="-122"/>
                <a:ea typeface="微软雅黑" panose="020B0503020204020204" pitchFamily="34" charset="-122"/>
              </a:rPr>
              <a:t>患儿常在进食后出现呕吐，恶心，躁动，面色苍白，出汗，发抖，嗜睡等症状。</a:t>
            </a:r>
            <a:endParaRPr lang="en-US" altLang="zh-CN" sz="2200" b="0" dirty="0">
              <a:latin typeface="微软雅黑" panose="020B0503020204020204" pitchFamily="34" charset="-122"/>
              <a:ea typeface="微软雅黑" panose="020B0503020204020204" pitchFamily="34" charset="-122"/>
            </a:endParaRPr>
          </a:p>
          <a:p>
            <a:pPr>
              <a:lnSpc>
                <a:spcPct val="120000"/>
              </a:lnSpc>
              <a:defRPr/>
            </a:pPr>
            <a:r>
              <a:rPr lang="zh-CN" altLang="en-US" sz="2200" b="0" dirty="0">
                <a:latin typeface="微软雅黑" panose="020B0503020204020204" pitchFamily="34" charset="-122"/>
                <a:ea typeface="微软雅黑" panose="020B0503020204020204" pitchFamily="34" charset="-122"/>
              </a:rPr>
              <a:t>若早期诊断</a:t>
            </a:r>
            <a:r>
              <a:rPr lang="zh-CN" altLang="en-US" sz="2200" b="0" dirty="0">
                <a:solidFill>
                  <a:srgbClr val="0000FF"/>
                </a:solidFill>
                <a:latin typeface="微软雅黑" panose="020B0503020204020204" pitchFamily="34" charset="-122"/>
                <a:ea typeface="微软雅黑" panose="020B0503020204020204" pitchFamily="34" charset="-122"/>
              </a:rPr>
              <a:t>，避免果糖，蔗糖，山梨糖醇等摄入</a:t>
            </a:r>
            <a:r>
              <a:rPr lang="zh-CN" altLang="en-US" sz="2200" b="0" dirty="0">
                <a:latin typeface="微软雅黑" panose="020B0503020204020204" pitchFamily="34" charset="-122"/>
                <a:ea typeface="微软雅黑" panose="020B0503020204020204" pitchFamily="34" charset="-122"/>
              </a:rPr>
              <a:t>，可不发病</a:t>
            </a:r>
            <a:endParaRPr lang="en-US" altLang="zh-CN" sz="2200" b="0" dirty="0">
              <a:latin typeface="微软雅黑" panose="020B0503020204020204" pitchFamily="34" charset="-122"/>
              <a:ea typeface="微软雅黑" panose="020B0503020204020204" pitchFamily="34" charset="-122"/>
            </a:endParaRPr>
          </a:p>
          <a:p>
            <a:pPr>
              <a:lnSpc>
                <a:spcPct val="120000"/>
              </a:lnSpc>
              <a:defRPr/>
            </a:pPr>
            <a:r>
              <a:rPr lang="zh-CN" altLang="en-US" sz="2200" b="0" dirty="0">
                <a:solidFill>
                  <a:srgbClr val="FF0000"/>
                </a:solidFill>
                <a:latin typeface="微软雅黑" panose="020B0503020204020204" pitchFamily="34" charset="-122"/>
                <a:ea typeface="微软雅黑" panose="020B0503020204020204" pitchFamily="34" charset="-122"/>
              </a:rPr>
              <a:t>患者厌恶甜食</a:t>
            </a:r>
            <a:r>
              <a:rPr lang="en-US" altLang="zh-CN" sz="2200" b="0" dirty="0">
                <a:solidFill>
                  <a:srgbClr val="FF0000"/>
                </a:solidFill>
                <a:latin typeface="微软雅黑" panose="020B0503020204020204" pitchFamily="34" charset="-122"/>
                <a:ea typeface="微软雅黑" panose="020B0503020204020204" pitchFamily="34" charset="-122"/>
              </a:rPr>
              <a:t>, </a:t>
            </a:r>
            <a:r>
              <a:rPr lang="zh-CN" altLang="en-US" sz="2200" b="0" dirty="0">
                <a:solidFill>
                  <a:srgbClr val="FF0000"/>
                </a:solidFill>
                <a:latin typeface="微软雅黑" panose="020B0503020204020204" pitchFamily="34" charset="-122"/>
                <a:ea typeface="微软雅黑" panose="020B0503020204020204" pitchFamily="34" charset="-122"/>
              </a:rPr>
              <a:t>讨厌水果。</a:t>
            </a:r>
            <a:endParaRPr lang="en-US" altLang="zh-CN" sz="2200" b="0" dirty="0">
              <a:solidFill>
                <a:srgbClr val="FF0000"/>
              </a:solidFill>
              <a:latin typeface="微软雅黑" panose="020B0503020204020204" pitchFamily="34" charset="-122"/>
              <a:ea typeface="微软雅黑" panose="020B0503020204020204" pitchFamily="34" charset="-122"/>
            </a:endParaRPr>
          </a:p>
          <a:p>
            <a:pPr>
              <a:lnSpc>
                <a:spcPct val="120000"/>
              </a:lnSpc>
              <a:defRPr/>
            </a:pPr>
            <a:endParaRPr lang="en-US" altLang="zh-CN" sz="2000" b="0" dirty="0">
              <a:solidFill>
                <a:srgbClr val="FF0000"/>
              </a:solidFill>
              <a:latin typeface="微软雅黑" panose="020B0503020204020204" pitchFamily="34" charset="-122"/>
              <a:ea typeface="微软雅黑" panose="020B0503020204020204" pitchFamily="34" charset="-122"/>
            </a:endParaRPr>
          </a:p>
          <a:p>
            <a:pPr>
              <a:lnSpc>
                <a:spcPct val="120000"/>
              </a:lnSpc>
              <a:defRPr/>
            </a:pP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如果长期吃水果后肚子痛</a:t>
            </a:r>
            <a:r>
              <a:rPr lang="en-US" altLang="zh-CN" sz="2200" b="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拉肚子，则可能是</a:t>
            </a:r>
            <a:r>
              <a:rPr lang="zh-CN" altLang="en-US" sz="2200" b="0" dirty="0">
                <a:solidFill>
                  <a:srgbClr val="C00000"/>
                </a:solidFill>
                <a:latin typeface="微软雅黑" panose="020B0503020204020204" pitchFamily="34" charset="-122"/>
                <a:ea typeface="微软雅黑" panose="020B0503020204020204" pitchFamily="34" charset="-122"/>
              </a:rPr>
              <a:t>轻度果糖不耐受</a:t>
            </a:r>
            <a:r>
              <a:rPr lang="en-US" altLang="zh-CN" sz="2200" b="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200" b="0" dirty="0">
                <a:solidFill>
                  <a:srgbClr val="C00000"/>
                </a:solidFill>
                <a:latin typeface="微软雅黑" panose="020B0503020204020204" pitchFamily="34" charset="-122"/>
                <a:ea typeface="微软雅黑" panose="020B0503020204020204" pitchFamily="34" charset="-122"/>
              </a:rPr>
              <a:t>果糖吸收不良</a:t>
            </a: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，是由于小肠上皮细胞中</a:t>
            </a:r>
            <a:r>
              <a:rPr lang="zh-CN" altLang="en-US" sz="2200" dirty="0">
                <a:solidFill>
                  <a:schemeClr val="tx1">
                    <a:lumMod val="95000"/>
                    <a:lumOff val="5000"/>
                  </a:schemeClr>
                </a:solidFill>
                <a:latin typeface="微软雅黑" panose="020B0503020204020204" pitchFamily="34" charset="-122"/>
                <a:ea typeface="微软雅黑" panose="020B0503020204020204" pitchFamily="34" charset="-122"/>
              </a:rPr>
              <a:t>果糖载体不足所致</a:t>
            </a: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，并非果耐不耐受（</a:t>
            </a:r>
            <a:r>
              <a:rPr lang="en-US" altLang="zh-CN" sz="2200" b="0" dirty="0">
                <a:solidFill>
                  <a:schemeClr val="tx1">
                    <a:lumMod val="95000"/>
                    <a:lumOff val="5000"/>
                  </a:schemeClr>
                </a:solidFill>
                <a:latin typeface="微软雅黑" panose="020B0503020204020204" pitchFamily="34" charset="-122"/>
                <a:ea typeface="微软雅黑" panose="020B0503020204020204" pitchFamily="34" charset="-122"/>
              </a:rPr>
              <a:t>HFI</a:t>
            </a:r>
            <a:r>
              <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rPr>
              <a:t>）。 </a:t>
            </a:r>
            <a:endParaRPr lang="zh-CN" altLang="en-US" sz="2200" b="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defRPr/>
            </a:pPr>
            <a:endParaRPr lang="zh-CN" altLang="en-US" sz="2400" b="0" dirty="0">
              <a:solidFill>
                <a:srgbClr val="FF0000"/>
              </a:solidFill>
              <a:latin typeface="微软雅黑" panose="020B0503020204020204" pitchFamily="34" charset="-122"/>
              <a:ea typeface="微软雅黑" panose="020B0503020204020204" pitchFamily="34" charset="-122"/>
            </a:endParaRPr>
          </a:p>
        </p:txBody>
      </p:sp>
      <p:sp>
        <p:nvSpPr>
          <p:cNvPr id="4" name="内容占位符 2"/>
          <p:cNvSpPr txBox="1"/>
          <p:nvPr/>
        </p:nvSpPr>
        <p:spPr bwMode="auto">
          <a:xfrm>
            <a:off x="1559496" y="332656"/>
            <a:ext cx="9145015" cy="1872208"/>
          </a:xfrm>
          <a:prstGeom prst="rect">
            <a:avLst/>
          </a:prstGeom>
          <a:noFill/>
          <a:ln w="9525">
            <a:noFill/>
            <a:miter lim="800000"/>
          </a:ln>
        </p:spPr>
        <p:txBody>
          <a:bodyPr/>
          <a:lstStyle/>
          <a:p>
            <a:pPr marL="342900" indent="-342900">
              <a:lnSpc>
                <a:spcPct val="120000"/>
              </a:lnSpc>
              <a:spcBef>
                <a:spcPct val="20000"/>
              </a:spcBef>
              <a:buClr>
                <a:schemeClr val="hlink"/>
              </a:buClr>
              <a:buSzPct val="75000"/>
              <a:buFont typeface="Wingdings" panose="05000000000000000000" pitchFamily="2" charset="2"/>
              <a:buChar char="v"/>
              <a:defRPr/>
            </a:pPr>
            <a:r>
              <a:rPr lang="zh-CN" altLang="en-US" sz="2800" b="0" dirty="0">
                <a:solidFill>
                  <a:srgbClr val="C00000"/>
                </a:solidFill>
                <a:latin typeface="微软雅黑" panose="020B0503020204020204" pitchFamily="34" charset="-122"/>
                <a:ea typeface="微软雅黑" panose="020B0503020204020204" pitchFamily="34" charset="-122"/>
              </a:rPr>
              <a:t>过量进食果糖可能危害健康</a:t>
            </a:r>
            <a:endParaRPr lang="en-US" altLang="zh-CN" sz="2800" b="0" dirty="0">
              <a:solidFill>
                <a:srgbClr val="C00000"/>
              </a:solidFill>
              <a:latin typeface="微软雅黑" panose="020B0503020204020204" pitchFamily="34" charset="-122"/>
              <a:ea typeface="微软雅黑" panose="020B0503020204020204" pitchFamily="34" charset="-122"/>
            </a:endParaRPr>
          </a:p>
          <a:p>
            <a:pPr marL="800100" lvl="1" indent="-342900">
              <a:lnSpc>
                <a:spcPct val="120000"/>
              </a:lnSpc>
              <a:spcBef>
                <a:spcPct val="20000"/>
              </a:spcBef>
              <a:buClr>
                <a:schemeClr val="hlink"/>
              </a:buClr>
              <a:buSzPct val="75000"/>
              <a:buFont typeface="Wingdings" panose="05000000000000000000" pitchFamily="2" charset="2"/>
              <a:buChar char="l"/>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食用果糖过多时，易引起</a:t>
            </a:r>
            <a:r>
              <a:rPr lang="zh-CN" altLang="en-US" sz="2400" b="0" dirty="0">
                <a:solidFill>
                  <a:srgbClr val="0000CC"/>
                </a:solidFill>
                <a:latin typeface="微软雅黑" panose="020B0503020204020204" pitchFamily="34" charset="-122"/>
                <a:ea typeface="微软雅黑" panose="020B0503020204020204" pitchFamily="34" charset="-122"/>
              </a:rPr>
              <a:t>脂肪肝</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a:t>
            </a: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800100" lvl="1" indent="-342900">
              <a:lnSpc>
                <a:spcPct val="120000"/>
              </a:lnSpc>
              <a:spcBef>
                <a:spcPct val="20000"/>
              </a:spcBef>
              <a:buClr>
                <a:schemeClr val="hlink"/>
              </a:buClr>
              <a:buSzPct val="75000"/>
              <a:buFont typeface="Wingdings" panose="05000000000000000000" pitchFamily="2" charset="2"/>
              <a:buChar char="l"/>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肝内</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ATP </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和无机磷酸被过度利用而耗竭，损伤肝功能。</a:t>
            </a: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bwMode="auto">
          <a:xfrm>
            <a:off x="1199456" y="692696"/>
            <a:ext cx="10513168" cy="5814966"/>
          </a:xfrm>
          <a:prstGeom prst="rect">
            <a:avLst/>
          </a:prstGeom>
          <a:noFill/>
          <a:ln w="9525">
            <a:noFill/>
            <a:miter lim="800000"/>
          </a:ln>
        </p:spPr>
        <p:txBody>
          <a:bodyPr/>
          <a:lstStyle/>
          <a:p>
            <a:pPr marL="342900" indent="-342900">
              <a:lnSpc>
                <a:spcPct val="120000"/>
              </a:lnSpc>
              <a:spcBef>
                <a:spcPts val="1200"/>
              </a:spcBef>
              <a:buClr>
                <a:schemeClr val="hlink"/>
              </a:buClr>
              <a:buSzPct val="75000"/>
              <a:buFont typeface="Wingdings" panose="05000000000000000000" pitchFamily="2" charset="2"/>
              <a:buChar char="v"/>
              <a:defRPr/>
            </a:pPr>
            <a:r>
              <a:rPr lang="zh-CN" altLang="en-US" sz="2800" b="0" kern="0" dirty="0">
                <a:solidFill>
                  <a:srgbClr val="CC0066"/>
                </a:solidFill>
                <a:latin typeface="微软雅黑" panose="020B0503020204020204" pitchFamily="34" charset="-122"/>
                <a:ea typeface="微软雅黑" panose="020B0503020204020204" pitchFamily="34" charset="-122"/>
              </a:rPr>
              <a:t>半乳糖血症</a:t>
            </a:r>
            <a:r>
              <a:rPr lang="zh-CN" altLang="en-US" sz="2400" b="0" kern="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rPr>
              <a:t>g</a:t>
            </a:r>
            <a:r>
              <a:rPr lang="en-US" altLang="zh-CN" sz="2400" b="0" dirty="0">
                <a:latin typeface="微软雅黑" panose="020B0503020204020204" pitchFamily="34" charset="-122"/>
                <a:ea typeface="微软雅黑" panose="020B0503020204020204" pitchFamily="34" charset="-122"/>
              </a:rPr>
              <a:t>alactosemia</a:t>
            </a:r>
            <a:r>
              <a:rPr lang="zh-CN" altLang="en-US" sz="2400" b="0" dirty="0">
                <a:latin typeface="微软雅黑" panose="020B0503020204020204" pitchFamily="34" charset="-122"/>
                <a:ea typeface="微软雅黑" panose="020B0503020204020204" pitchFamily="34" charset="-122"/>
              </a:rPr>
              <a:t>）由缺乏半乳糖代谢酶类所致的遗传病 </a:t>
            </a:r>
            <a:r>
              <a:rPr lang="zh-CN" altLang="en-US" sz="2400" b="0" kern="0" dirty="0">
                <a:latin typeface="微软雅黑" panose="020B0503020204020204" pitchFamily="34" charset="-122"/>
                <a:ea typeface="微软雅黑" panose="020B0503020204020204" pitchFamily="34" charset="-122"/>
              </a:rPr>
              <a:t>：</a:t>
            </a:r>
            <a:endParaRPr lang="en-US" altLang="zh-CN" sz="2400" b="0" kern="0" dirty="0">
              <a:latin typeface="微软雅黑" panose="020B0503020204020204" pitchFamily="34" charset="-122"/>
              <a:ea typeface="微软雅黑" panose="020B0503020204020204" pitchFamily="34" charset="-122"/>
            </a:endParaRPr>
          </a:p>
          <a:p>
            <a:pPr>
              <a:lnSpc>
                <a:spcPct val="120000"/>
              </a:lnSpc>
              <a:spcBef>
                <a:spcPts val="1200"/>
              </a:spcBef>
              <a:buClr>
                <a:schemeClr val="hlink"/>
              </a:buClr>
              <a:buSzPct val="75000"/>
              <a:defRPr/>
            </a:pPr>
            <a:r>
              <a:rPr lang="zh-CN" altLang="en-US" sz="2400" b="0" kern="0" dirty="0">
                <a:latin typeface="微软雅黑" panose="020B0503020204020204" pitchFamily="34" charset="-122"/>
                <a:ea typeface="微软雅黑" panose="020B0503020204020204" pitchFamily="34" charset="-122"/>
              </a:rPr>
              <a:t>    新生儿每</a:t>
            </a:r>
            <a:r>
              <a:rPr lang="en-US" altLang="zh-CN" sz="2400" b="0" kern="0" dirty="0">
                <a:latin typeface="微软雅黑" panose="020B0503020204020204" pitchFamily="34" charset="-122"/>
                <a:ea typeface="微软雅黑" panose="020B0503020204020204" pitchFamily="34" charset="-122"/>
              </a:rPr>
              <a:t>55000</a:t>
            </a:r>
            <a:r>
              <a:rPr lang="zh-CN" altLang="en-US" sz="2400" b="0" kern="0" dirty="0">
                <a:latin typeface="微软雅黑" panose="020B0503020204020204" pitchFamily="34" charset="-122"/>
                <a:ea typeface="微软雅黑" panose="020B0503020204020204" pitchFamily="34" charset="-122"/>
              </a:rPr>
              <a:t>人中有一例。</a:t>
            </a:r>
            <a:endParaRPr lang="en-US" altLang="zh-CN" sz="2400" b="0" kern="0" dirty="0">
              <a:latin typeface="微软雅黑" panose="020B0503020204020204" pitchFamily="34" charset="-122"/>
              <a:ea typeface="微软雅黑" panose="020B0503020204020204" pitchFamily="34" charset="-122"/>
            </a:endParaRPr>
          </a:p>
          <a:p>
            <a:pPr marL="360045" indent="-457200">
              <a:lnSpc>
                <a:spcPct val="120000"/>
              </a:lnSpc>
              <a:spcBef>
                <a:spcPts val="1200"/>
              </a:spcBef>
              <a:buClr>
                <a:schemeClr val="hlink"/>
              </a:buClr>
              <a:buSzPct val="75000"/>
              <a:defRPr/>
            </a:pPr>
            <a:r>
              <a:rPr lang="zh-CN" altLang="en-US" sz="2400" b="0" kern="0" dirty="0">
                <a:latin typeface="微软雅黑" panose="020B0503020204020204" pitchFamily="34" charset="-122"/>
                <a:ea typeface="微软雅黑" panose="020B0503020204020204" pitchFamily="34" charset="-122"/>
              </a:rPr>
              <a:t>①</a:t>
            </a:r>
            <a:r>
              <a:rPr lang="zh-CN" altLang="en-US" sz="2400" b="0" kern="0" dirty="0">
                <a:solidFill>
                  <a:srgbClr val="0000CC"/>
                </a:solidFill>
                <a:latin typeface="微软雅黑" panose="020B0503020204020204" pitchFamily="34" charset="-122"/>
                <a:ea typeface="微软雅黑" panose="020B0503020204020204" pitchFamily="34" charset="-122"/>
              </a:rPr>
              <a:t>缺乏半乳糖激酶</a:t>
            </a:r>
            <a:r>
              <a:rPr lang="zh-CN" altLang="en-US" sz="2400" b="0" kern="0" dirty="0">
                <a:latin typeface="微软雅黑" panose="020B0503020204020204" pitchFamily="34" charset="-122"/>
                <a:ea typeface="微软雅黑" panose="020B0503020204020204" pitchFamily="34" charset="-122"/>
              </a:rPr>
              <a:t>，患者血和尿中会出现高浓度的半乳糖，进而产生有毒副产物</a:t>
            </a:r>
            <a:r>
              <a:rPr lang="zh-CN" altLang="en-US" sz="2400" kern="0" dirty="0">
                <a:latin typeface="微软雅黑" panose="020B0503020204020204" pitchFamily="34" charset="-122"/>
                <a:ea typeface="微软雅黑" panose="020B0503020204020204" pitchFamily="34" charset="-122"/>
              </a:rPr>
              <a:t>半乳糖醇沉积在晶状体中</a:t>
            </a:r>
            <a:r>
              <a:rPr lang="zh-CN" altLang="en-US" sz="2400" b="0" kern="0" dirty="0">
                <a:latin typeface="微软雅黑" panose="020B0503020204020204" pitchFamily="34" charset="-122"/>
                <a:ea typeface="微软雅黑" panose="020B0503020204020204" pitchFamily="34" charset="-122"/>
              </a:rPr>
              <a:t>，导致幼年发生</a:t>
            </a:r>
            <a:r>
              <a:rPr lang="zh-CN" altLang="en-US" sz="2400" kern="0" dirty="0">
                <a:latin typeface="微软雅黑" panose="020B0503020204020204" pitchFamily="34" charset="-122"/>
                <a:ea typeface="微软雅黑" panose="020B0503020204020204" pitchFamily="34" charset="-122"/>
              </a:rPr>
              <a:t>白内障</a:t>
            </a:r>
            <a:r>
              <a:rPr lang="zh-CN" altLang="en-US" sz="2400" b="0" kern="0" dirty="0">
                <a:latin typeface="微软雅黑" panose="020B0503020204020204" pitchFamily="34" charset="-122"/>
                <a:ea typeface="微软雅黑" panose="020B0503020204020204" pitchFamily="34" charset="-122"/>
              </a:rPr>
              <a:t>。</a:t>
            </a:r>
            <a:endParaRPr lang="en-US" altLang="zh-CN" sz="2400" b="0" kern="0" dirty="0">
              <a:latin typeface="微软雅黑" panose="020B0503020204020204" pitchFamily="34" charset="-122"/>
              <a:ea typeface="微软雅黑" panose="020B0503020204020204" pitchFamily="34" charset="-122"/>
            </a:endParaRPr>
          </a:p>
          <a:p>
            <a:pPr marL="360045" indent="-457200">
              <a:lnSpc>
                <a:spcPct val="120000"/>
              </a:lnSpc>
              <a:spcBef>
                <a:spcPts val="1200"/>
              </a:spcBef>
              <a:buClr>
                <a:schemeClr val="hlink"/>
              </a:buClr>
              <a:buSzPct val="75000"/>
              <a:defRPr/>
            </a:pPr>
            <a:r>
              <a:rPr lang="zh-CN" altLang="en-US" sz="2400" b="0" kern="0" dirty="0">
                <a:latin typeface="微软雅黑" panose="020B0503020204020204" pitchFamily="34" charset="-122"/>
                <a:ea typeface="微软雅黑" panose="020B0503020204020204" pitchFamily="34" charset="-122"/>
              </a:rPr>
              <a:t>②</a:t>
            </a:r>
            <a:r>
              <a:rPr lang="zh-CN" altLang="en-US" sz="2400" b="0" kern="0" dirty="0">
                <a:solidFill>
                  <a:srgbClr val="0000CC"/>
                </a:solidFill>
                <a:latin typeface="微软雅黑" panose="020B0503020204020204" pitchFamily="34" charset="-122"/>
                <a:ea typeface="微软雅黑" panose="020B0503020204020204" pitchFamily="34" charset="-122"/>
              </a:rPr>
              <a:t>缺乏半乳糖</a:t>
            </a:r>
            <a:r>
              <a:rPr lang="en-US" altLang="zh-CN" sz="2400" b="0" kern="0" dirty="0">
                <a:solidFill>
                  <a:srgbClr val="0000CC"/>
                </a:solidFill>
                <a:latin typeface="微软雅黑" panose="020B0503020204020204" pitchFamily="34" charset="-122"/>
                <a:ea typeface="微软雅黑" panose="020B0503020204020204" pitchFamily="34" charset="-122"/>
              </a:rPr>
              <a:t>-1- </a:t>
            </a:r>
            <a:r>
              <a:rPr lang="zh-CN" altLang="en-US" sz="2400" b="0" kern="0" dirty="0">
                <a:solidFill>
                  <a:srgbClr val="0000CC"/>
                </a:solidFill>
                <a:latin typeface="微软雅黑" panose="020B0503020204020204" pitchFamily="34" charset="-122"/>
                <a:ea typeface="微软雅黑" panose="020B0503020204020204" pitchFamily="34" charset="-122"/>
              </a:rPr>
              <a:t>磷酸尿苷酰转移酶</a:t>
            </a:r>
            <a:r>
              <a:rPr lang="zh-CN" altLang="en-US" sz="2400" b="0" kern="0" dirty="0">
                <a:latin typeface="微软雅黑" panose="020B0503020204020204" pitchFamily="34" charset="-122"/>
                <a:ea typeface="微软雅黑" panose="020B0503020204020204" pitchFamily="34" charset="-122"/>
              </a:rPr>
              <a:t>，后果较为严重，患者</a:t>
            </a:r>
            <a:r>
              <a:rPr lang="zh-CN" altLang="en-US" sz="2400" kern="0" dirty="0">
                <a:latin typeface="微软雅黑" panose="020B0503020204020204" pitchFamily="34" charset="-122"/>
                <a:ea typeface="微软雅黑" panose="020B0503020204020204" pitchFamily="34" charset="-122"/>
              </a:rPr>
              <a:t>生长发育迟缓、智力缺陷</a:t>
            </a:r>
            <a:r>
              <a:rPr lang="zh-CN" altLang="en-US" sz="2400" b="0" kern="0" dirty="0">
                <a:latin typeface="微软雅黑" panose="020B0503020204020204" pitchFamily="34" charset="-122"/>
                <a:ea typeface="微软雅黑" panose="020B0503020204020204" pitchFamily="34" charset="-122"/>
              </a:rPr>
              <a:t>等，甚至肝损伤</a:t>
            </a:r>
            <a:r>
              <a:rPr lang="zh-CN" altLang="en-US" sz="2400" kern="0" dirty="0">
                <a:latin typeface="微软雅黑" panose="020B0503020204020204" pitchFamily="34" charset="-122"/>
                <a:ea typeface="微软雅黑" panose="020B0503020204020204" pitchFamily="34" charset="-122"/>
              </a:rPr>
              <a:t>致死</a:t>
            </a:r>
            <a:r>
              <a:rPr lang="zh-CN" altLang="en-US" sz="2400" b="0" kern="0" dirty="0">
                <a:latin typeface="微软雅黑" panose="020B0503020204020204" pitchFamily="34" charset="-122"/>
                <a:ea typeface="微软雅黑" panose="020B0503020204020204" pitchFamily="34" charset="-122"/>
              </a:rPr>
              <a:t>。</a:t>
            </a:r>
            <a:endParaRPr lang="en-US" altLang="zh-CN" sz="2400" b="0" kern="0" dirty="0">
              <a:latin typeface="微软雅黑" panose="020B0503020204020204" pitchFamily="34" charset="-122"/>
              <a:ea typeface="微软雅黑" panose="020B0503020204020204" pitchFamily="34" charset="-122"/>
            </a:endParaRPr>
          </a:p>
          <a:p>
            <a:pPr marL="360045" indent="-457200">
              <a:lnSpc>
                <a:spcPct val="120000"/>
              </a:lnSpc>
              <a:spcBef>
                <a:spcPts val="1200"/>
              </a:spcBef>
              <a:buClr>
                <a:schemeClr val="hlink"/>
              </a:buClr>
              <a:buSzPct val="75000"/>
              <a:defRPr/>
            </a:pPr>
            <a:r>
              <a:rPr lang="zh-CN" altLang="en-US" sz="2400" b="0" kern="0" dirty="0">
                <a:latin typeface="微软雅黑" panose="020B0503020204020204" pitchFamily="34" charset="-122"/>
                <a:ea typeface="微软雅黑" panose="020B0503020204020204" pitchFamily="34" charset="-122"/>
              </a:rPr>
              <a:t>③缺乏</a:t>
            </a:r>
            <a:r>
              <a:rPr lang="zh-CN" altLang="en-US" sz="2400" b="0" kern="0" dirty="0">
                <a:solidFill>
                  <a:srgbClr val="0000CC"/>
                </a:solidFill>
                <a:latin typeface="微软雅黑" panose="020B0503020204020204" pitchFamily="34" charset="-122"/>
                <a:ea typeface="微软雅黑" panose="020B0503020204020204" pitchFamily="34" charset="-122"/>
              </a:rPr>
              <a:t>差向异构酶</a:t>
            </a:r>
            <a:r>
              <a:rPr lang="zh-CN" altLang="en-US" sz="2400" b="0" kern="0" dirty="0">
                <a:latin typeface="微软雅黑" panose="020B0503020204020204" pitchFamily="34" charset="-122"/>
                <a:ea typeface="微软雅黑" panose="020B0503020204020204" pitchFamily="34" charset="-122"/>
              </a:rPr>
              <a:t>，  有发育障碍等类似症状，但可通过限制半乳糖饮食而减轻损害。</a:t>
            </a:r>
            <a:endParaRPr lang="en-US" altLang="zh-CN" sz="2400" b="0" kern="0" dirty="0">
              <a:solidFill>
                <a:srgbClr val="C00000"/>
              </a:solidFill>
              <a:latin typeface="微软雅黑" panose="020B0503020204020204" pitchFamily="34" charset="-122"/>
              <a:ea typeface="微软雅黑" panose="020B0503020204020204" pitchFamily="34" charset="-122"/>
            </a:endParaRPr>
          </a:p>
          <a:p>
            <a:pPr marL="342900" indent="-342900">
              <a:lnSpc>
                <a:spcPct val="120000"/>
              </a:lnSpc>
              <a:spcBef>
                <a:spcPts val="1200"/>
              </a:spcBef>
              <a:buClr>
                <a:schemeClr val="hlink"/>
              </a:buClr>
              <a:buSzPct val="75000"/>
              <a:buFont typeface="Wingdings" panose="05000000000000000000" pitchFamily="2" charset="2"/>
              <a:buChar char="v"/>
              <a:defRPr/>
            </a:pPr>
            <a:r>
              <a:rPr lang="zh-CN" altLang="en-US" sz="2400" b="0" dirty="0">
                <a:solidFill>
                  <a:srgbClr val="0000CC"/>
                </a:solidFill>
                <a:latin typeface="微软雅黑" panose="020B0503020204020204" pitchFamily="34" charset="-122"/>
                <a:ea typeface="微软雅黑" panose="020B0503020204020204" pitchFamily="34" charset="-122"/>
              </a:rPr>
              <a:t>治疗</a:t>
            </a:r>
            <a:r>
              <a:rPr lang="zh-CN" altLang="en-US" sz="2400" b="0" dirty="0">
                <a:latin typeface="微软雅黑" panose="020B0503020204020204" pitchFamily="34" charset="-122"/>
                <a:ea typeface="微软雅黑" panose="020B0503020204020204" pitchFamily="34" charset="-122"/>
              </a:rPr>
              <a:t>：</a:t>
            </a:r>
            <a:r>
              <a:rPr lang="zh-CN" altLang="en-US" sz="2400" b="0" dirty="0">
                <a:solidFill>
                  <a:srgbClr val="0000CC"/>
                </a:solidFill>
                <a:latin typeface="微软雅黑" panose="020B0503020204020204" pitchFamily="34" charset="-122"/>
                <a:ea typeface="微软雅黑" panose="020B0503020204020204" pitchFamily="34" charset="-122"/>
              </a:rPr>
              <a:t>食用不含或少含半乳糖的食品（</a:t>
            </a:r>
            <a:r>
              <a:rPr lang="zh-CN" altLang="en-US" sz="2000" b="0" dirty="0">
                <a:solidFill>
                  <a:schemeClr val="tx1">
                    <a:lumMod val="95000"/>
                    <a:lumOff val="5000"/>
                  </a:schemeClr>
                </a:solidFill>
                <a:latin typeface="微软雅黑" panose="020B0503020204020204" pitchFamily="34" charset="-122"/>
                <a:ea typeface="微软雅黑" panose="020B0503020204020204" pitchFamily="34" charset="-122"/>
              </a:rPr>
              <a:t>人体可不摄入半乳糖，糖蛋白或糖脂中需要的半乳糖基可由葡萄糖转变而来）</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 </a:t>
            </a: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2900" indent="-342900">
              <a:lnSpc>
                <a:spcPct val="120000"/>
              </a:lnSpc>
              <a:spcBef>
                <a:spcPts val="1200"/>
              </a:spcBef>
              <a:buClr>
                <a:schemeClr val="hlink"/>
              </a:buClr>
              <a:buSzPct val="75000"/>
              <a:buFont typeface="Wingdings" panose="05000000000000000000" pitchFamily="2" charset="2"/>
              <a:buChar char="v"/>
              <a:defRPr/>
            </a:pP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8658" name="内容占位符 2"/>
          <p:cNvSpPr>
            <a:spLocks noGrp="1" noChangeArrowheads="1"/>
          </p:cNvSpPr>
          <p:nvPr>
            <p:ph idx="4294967295"/>
          </p:nvPr>
        </p:nvSpPr>
        <p:spPr>
          <a:xfrm>
            <a:off x="1415480" y="872716"/>
            <a:ext cx="9217024" cy="3240360"/>
          </a:xfrm>
        </p:spPr>
        <p:txBody>
          <a:bodyPr/>
          <a:lstStyle/>
          <a:p>
            <a:pPr marL="360045" indent="-323850">
              <a:lnSpc>
                <a:spcPct val="120000"/>
              </a:lnSpc>
              <a:spcBef>
                <a:spcPts val="600"/>
              </a:spcBef>
            </a:pPr>
            <a:r>
              <a:rPr lang="zh-CN" altLang="en-US" sz="2400" b="0" dirty="0">
                <a:latin typeface="Arial" panose="020B0604020202020204" pitchFamily="34" charset="0"/>
              </a:rPr>
              <a:t>病例</a:t>
            </a:r>
            <a:r>
              <a:rPr lang="en-US" altLang="zh-CN" sz="2400" b="0" dirty="0">
                <a:latin typeface="Arial" panose="020B0604020202020204" pitchFamily="34" charset="0"/>
              </a:rPr>
              <a:t>A</a:t>
            </a:r>
            <a:r>
              <a:rPr lang="zh-CN" altLang="en-US" sz="2400" b="0" dirty="0">
                <a:latin typeface="Arial" panose="020B0604020202020204" pitchFamily="34" charset="0"/>
              </a:rPr>
              <a:t>：患者在摄入牛奶后不久出现呕吐和腹泻。 进行乳糖耐量测试。 （患者摄入标准量的乳糖，每隔一段时间测量血浆中的葡萄糖和半乳糖浓度。在碳水化合物代谢正常的个体中，水平在约</a:t>
            </a:r>
            <a:r>
              <a:rPr lang="en-US" altLang="zh-CN" sz="2400" b="0" dirty="0">
                <a:latin typeface="Arial" panose="020B0604020202020204" pitchFamily="34" charset="0"/>
              </a:rPr>
              <a:t>1</a:t>
            </a:r>
            <a:r>
              <a:rPr lang="zh-CN" altLang="en-US" sz="2400" b="0" dirty="0">
                <a:latin typeface="Arial" panose="020B0604020202020204" pitchFamily="34" charset="0"/>
              </a:rPr>
              <a:t>小时内升至最高值，然后下降。） 患者的血糖且半乳糖浓度在测试期间不会增加。 为什么健康个体在测试过程中血糖和半乳糖先升高后降低？ 为什么它们在患者体内无法升高？</a:t>
            </a:r>
            <a:endParaRPr lang="en-US" altLang="zh-CN" sz="2400" b="0" dirty="0">
              <a:latin typeface="Arial" panose="020B0604020202020204" pitchFamily="34" charset="0"/>
            </a:endParaRPr>
          </a:p>
          <a:p>
            <a:pPr marL="0" indent="0">
              <a:lnSpc>
                <a:spcPct val="120000"/>
              </a:lnSpc>
              <a:spcBef>
                <a:spcPct val="0"/>
              </a:spcBef>
            </a:pPr>
            <a:endParaRPr lang="en-US" altLang="zh-CN" sz="2400" b="0" dirty="0">
              <a:latin typeface="Arial" panose="020B0604020202020204" pitchFamily="34" charset="0"/>
              <a:cs typeface="Arial" panose="020B0604020202020204" pitchFamily="34" charset="0"/>
            </a:endParaRPr>
          </a:p>
          <a:p>
            <a:pPr marL="0" indent="0">
              <a:lnSpc>
                <a:spcPct val="120000"/>
              </a:lnSpc>
              <a:spcBef>
                <a:spcPct val="0"/>
              </a:spcBef>
            </a:pPr>
            <a:endParaRPr lang="en-US" altLang="zh-CN" sz="2400" b="0" dirty="0">
              <a:latin typeface="Arial" panose="020B0604020202020204" pitchFamily="34" charset="0"/>
              <a:cs typeface="Arial" panose="020B0604020202020204" pitchFamily="34" charset="0"/>
            </a:endParaRPr>
          </a:p>
          <a:p>
            <a:pPr marL="0" indent="0">
              <a:lnSpc>
                <a:spcPct val="120000"/>
              </a:lnSpc>
              <a:spcBef>
                <a:spcPct val="0"/>
              </a:spcBef>
            </a:pPr>
            <a:endParaRPr lang="zh-CN" altLang="en-US" sz="2400" b="0" dirty="0">
              <a:latin typeface="Arial" panose="020B0604020202020204" pitchFamily="34" charset="0"/>
              <a:cs typeface="Arial" panose="020B0604020202020204" pitchFamily="34" charset="0"/>
            </a:endParaRPr>
          </a:p>
        </p:txBody>
      </p:sp>
      <p:sp>
        <p:nvSpPr>
          <p:cNvPr id="2" name="内容占位符 2"/>
          <p:cNvSpPr txBox="1">
            <a:spLocks noChangeArrowheads="1"/>
          </p:cNvSpPr>
          <p:nvPr/>
        </p:nvSpPr>
        <p:spPr bwMode="auto">
          <a:xfrm>
            <a:off x="1434287" y="4221088"/>
            <a:ext cx="9217024"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cs typeface="楷体_GB2312"/>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a:lnSpc>
                <a:spcPct val="120000"/>
              </a:lnSpc>
            </a:pPr>
            <a:r>
              <a:rPr lang="zh-CN" altLang="en-US" sz="2400" b="0" kern="0" dirty="0">
                <a:latin typeface="Arial" panose="020B0604020202020204" pitchFamily="34" charset="0"/>
              </a:rPr>
              <a:t>病例</a:t>
            </a:r>
            <a:r>
              <a:rPr lang="en-US" altLang="zh-CN" sz="2400" b="0" kern="0" dirty="0">
                <a:latin typeface="Arial" panose="020B0604020202020204" pitchFamily="34" charset="0"/>
              </a:rPr>
              <a:t>B </a:t>
            </a:r>
            <a:r>
              <a:rPr lang="zh-CN" altLang="en-US" sz="2400" b="0" kern="0" dirty="0">
                <a:latin typeface="Arial" panose="020B0604020202020204" pitchFamily="34" charset="0"/>
              </a:rPr>
              <a:t>患者摄入牛奶后出现呕吐、腹泻。 他的血液中葡萄糖浓度较低，但有远高于正常浓度的还原糖。 尿液半乳糖检测呈阳性。 为什么血液中还原糖浓度高？ 为什么尿液中会出现半乳糖？</a:t>
            </a:r>
            <a:endParaRPr lang="en-US" altLang="zh-CN" sz="2400" b="0" kern="0" dirty="0">
              <a:latin typeface="Arial" panose="020B0604020202020204" pitchFamily="34" charset="0"/>
            </a:endParaRPr>
          </a:p>
          <a:p>
            <a:pPr>
              <a:lnSpc>
                <a:spcPct val="120000"/>
              </a:lnSpc>
            </a:pPr>
            <a:endParaRPr lang="en-US" altLang="zh-CN" sz="2400" b="0" kern="0" dirty="0">
              <a:latin typeface="Arial" panose="020B0604020202020204" pitchFamily="34" charset="0"/>
            </a:endParaRPr>
          </a:p>
        </p:txBody>
      </p:sp>
    </p:spTree>
  </p:cSld>
  <p:clrMapOvr>
    <a:masterClrMapping/>
  </p:clrMapOvr>
  <p:transition spd="med">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1933575" y="2332038"/>
            <a:ext cx="8382000" cy="914400"/>
          </a:xfrm>
        </p:spPr>
        <p:txBody>
          <a:bodyPr/>
          <a:lstStyle/>
          <a:p>
            <a:pPr eaLnBrk="1" hangingPunct="1"/>
            <a:r>
              <a:rPr lang="zh-CN" altLang="en-US" sz="4800" b="1">
                <a:solidFill>
                  <a:srgbClr val="660033"/>
                </a:solidFill>
              </a:rPr>
              <a:t>第三节  糖的有氧氧化</a:t>
            </a:r>
            <a:endParaRPr lang="zh-CN" altLang="en-US" sz="4800" b="1">
              <a:solidFill>
                <a:srgbClr val="660033"/>
              </a:solidFill>
            </a:endParaRPr>
          </a:p>
        </p:txBody>
      </p:sp>
      <p:sp>
        <p:nvSpPr>
          <p:cNvPr id="147459" name="Text Box 3"/>
          <p:cNvSpPr txBox="1">
            <a:spLocks noChangeArrowheads="1"/>
          </p:cNvSpPr>
          <p:nvPr/>
        </p:nvSpPr>
        <p:spPr bwMode="auto">
          <a:xfrm>
            <a:off x="2971800" y="3500438"/>
            <a:ext cx="6796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3600">
                <a:latin typeface="Arial" panose="020B0604020202020204" pitchFamily="34" charset="0"/>
                <a:ea typeface="宋体" panose="02010600030101010101" pitchFamily="2" charset="-122"/>
              </a:rPr>
              <a:t>Aerobic Oxidation of Glucose</a:t>
            </a:r>
            <a:endParaRPr kumimoji="1" lang="zh-CN" altLang="en-US" sz="3600">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1919350" y="689573"/>
            <a:ext cx="8713154"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628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50000"/>
              </a:lnSpc>
              <a:spcBef>
                <a:spcPct val="0"/>
              </a:spcBef>
              <a:buClrTx/>
              <a:buSzTx/>
              <a:buFont typeface="Wingdings" panose="05000000000000000000" pitchFamily="2" charset="2"/>
              <a:buChar char="u"/>
            </a:pPr>
            <a:r>
              <a:rPr kumimoji="1" lang="zh-CN" altLang="en-US" sz="2800" b="0" dirty="0">
                <a:solidFill>
                  <a:srgbClr val="000099"/>
                </a:solidFill>
                <a:latin typeface="微软雅黑" panose="020B0503020204020204" pitchFamily="34" charset="-122"/>
                <a:ea typeface="微软雅黑" panose="020B0503020204020204" pitchFamily="34" charset="-122"/>
              </a:rPr>
              <a:t>糖的有氧氧化(</a:t>
            </a:r>
            <a:r>
              <a:rPr kumimoji="1" lang="en-US" altLang="zh-CN" sz="2800" b="0" dirty="0">
                <a:solidFill>
                  <a:srgbClr val="000099"/>
                </a:solidFill>
                <a:latin typeface="微软雅黑" panose="020B0503020204020204" pitchFamily="34" charset="-122"/>
                <a:ea typeface="微软雅黑" panose="020B0503020204020204" pitchFamily="34" charset="-122"/>
              </a:rPr>
              <a:t>aerobic oxidation)</a:t>
            </a:r>
            <a:r>
              <a:rPr kumimoji="1" lang="zh-CN" altLang="en-US" sz="2800" b="0" dirty="0">
                <a:latin typeface="微软雅黑" panose="020B0503020204020204" pitchFamily="34" charset="-122"/>
                <a:ea typeface="微软雅黑" panose="020B0503020204020204" pitchFamily="34" charset="-122"/>
              </a:rPr>
              <a:t>指在机体氧供充足时，葡萄糖彻底氧化成</a:t>
            </a:r>
            <a:r>
              <a:rPr kumimoji="1" lang="en-US" altLang="zh-CN" sz="2800" b="0" dirty="0">
                <a:solidFill>
                  <a:srgbClr val="FF0066"/>
                </a:solidFill>
                <a:latin typeface="微软雅黑" panose="020B0503020204020204" pitchFamily="34" charset="-122"/>
                <a:ea typeface="微软雅黑" panose="020B0503020204020204" pitchFamily="34" charset="-122"/>
              </a:rPr>
              <a:t>H</a:t>
            </a:r>
            <a:r>
              <a:rPr kumimoji="1" lang="en-US" altLang="zh-CN" sz="2800" b="0" baseline="-25000" dirty="0">
                <a:solidFill>
                  <a:srgbClr val="FF0066"/>
                </a:solidFill>
                <a:latin typeface="微软雅黑" panose="020B0503020204020204" pitchFamily="34" charset="-122"/>
                <a:ea typeface="微软雅黑" panose="020B0503020204020204" pitchFamily="34" charset="-122"/>
              </a:rPr>
              <a:t>2</a:t>
            </a:r>
            <a:r>
              <a:rPr kumimoji="1" lang="en-US" altLang="zh-CN" sz="2800" b="0" dirty="0">
                <a:solidFill>
                  <a:srgbClr val="FF0066"/>
                </a:solidFill>
                <a:latin typeface="微软雅黑" panose="020B0503020204020204" pitchFamily="34" charset="-122"/>
                <a:ea typeface="微软雅黑" panose="020B0503020204020204" pitchFamily="34" charset="-122"/>
              </a:rPr>
              <a:t>O</a:t>
            </a:r>
            <a:r>
              <a:rPr kumimoji="1" lang="zh-CN" altLang="en-US" sz="2800" b="0" dirty="0">
                <a:latin typeface="微软雅黑" panose="020B0503020204020204" pitchFamily="34" charset="-122"/>
                <a:ea typeface="微软雅黑" panose="020B0503020204020204" pitchFamily="34" charset="-122"/>
              </a:rPr>
              <a:t>和</a:t>
            </a:r>
            <a:r>
              <a:rPr kumimoji="1" lang="en-US" altLang="zh-CN" sz="2800" b="0" dirty="0">
                <a:solidFill>
                  <a:srgbClr val="FF0066"/>
                </a:solidFill>
                <a:latin typeface="微软雅黑" panose="020B0503020204020204" pitchFamily="34" charset="-122"/>
                <a:ea typeface="微软雅黑" panose="020B0503020204020204" pitchFamily="34" charset="-122"/>
              </a:rPr>
              <a:t>CO</a:t>
            </a:r>
            <a:r>
              <a:rPr kumimoji="1" lang="en-US" altLang="zh-CN" sz="2800" b="0" baseline="-25000" dirty="0">
                <a:solidFill>
                  <a:srgbClr val="FF0066"/>
                </a:solidFill>
                <a:latin typeface="微软雅黑" panose="020B0503020204020204" pitchFamily="34" charset="-122"/>
                <a:ea typeface="微软雅黑" panose="020B0503020204020204" pitchFamily="34" charset="-122"/>
              </a:rPr>
              <a:t>2</a:t>
            </a:r>
            <a:r>
              <a:rPr kumimoji="1" lang="en-US" altLang="zh-CN" sz="2800" b="0" dirty="0">
                <a:latin typeface="微软雅黑" panose="020B0503020204020204" pitchFamily="34" charset="-122"/>
                <a:ea typeface="微软雅黑" panose="020B0503020204020204" pitchFamily="34" charset="-122"/>
              </a:rPr>
              <a:t>，</a:t>
            </a:r>
            <a:r>
              <a:rPr kumimoji="1" lang="zh-CN" altLang="en-US" sz="2800" b="0" dirty="0">
                <a:latin typeface="微软雅黑" panose="020B0503020204020204" pitchFamily="34" charset="-122"/>
                <a:ea typeface="微软雅黑" panose="020B0503020204020204" pitchFamily="34" charset="-122"/>
              </a:rPr>
              <a:t>并释放出</a:t>
            </a:r>
            <a:r>
              <a:rPr kumimoji="1" lang="zh-CN" altLang="en-US" sz="2800" b="0" dirty="0">
                <a:solidFill>
                  <a:srgbClr val="FF0066"/>
                </a:solidFill>
                <a:latin typeface="微软雅黑" panose="020B0503020204020204" pitchFamily="34" charset="-122"/>
                <a:ea typeface="微软雅黑" panose="020B0503020204020204" pitchFamily="34" charset="-122"/>
              </a:rPr>
              <a:t>能量</a:t>
            </a:r>
            <a:r>
              <a:rPr kumimoji="1" lang="zh-CN" altLang="en-US" sz="2800" b="0" dirty="0">
                <a:latin typeface="微软雅黑" panose="020B0503020204020204" pitchFamily="34" charset="-122"/>
                <a:ea typeface="微软雅黑" panose="020B0503020204020204" pitchFamily="34" charset="-122"/>
              </a:rPr>
              <a:t>的过程。是</a:t>
            </a:r>
            <a:r>
              <a:rPr kumimoji="1" lang="zh-CN" altLang="en-US" sz="2800" b="0" dirty="0">
                <a:solidFill>
                  <a:srgbClr val="0000CC"/>
                </a:solidFill>
                <a:latin typeface="微软雅黑" panose="020B0503020204020204" pitchFamily="34" charset="-122"/>
                <a:ea typeface="微软雅黑" panose="020B0503020204020204" pitchFamily="34" charset="-122"/>
              </a:rPr>
              <a:t>机体主要供能方式</a:t>
            </a:r>
            <a:r>
              <a:rPr kumimoji="1" lang="zh-CN" altLang="en-US" sz="2800" b="0" dirty="0">
                <a:latin typeface="微软雅黑" panose="020B0503020204020204" pitchFamily="34" charset="-122"/>
                <a:ea typeface="微软雅黑" panose="020B0503020204020204" pitchFamily="34" charset="-122"/>
              </a:rPr>
              <a:t>。</a:t>
            </a:r>
            <a:endParaRPr kumimoji="1" lang="zh-CN" altLang="en-US" sz="2800" b="0" dirty="0">
              <a:latin typeface="微软雅黑" panose="020B0503020204020204" pitchFamily="34" charset="-122"/>
              <a:ea typeface="微软雅黑" panose="020B0503020204020204" pitchFamily="34" charset="-122"/>
            </a:endParaRPr>
          </a:p>
        </p:txBody>
      </p:sp>
      <p:sp>
        <p:nvSpPr>
          <p:cNvPr id="177155" name="Text Box 3"/>
          <p:cNvSpPr txBox="1">
            <a:spLocks noChangeArrowheads="1"/>
          </p:cNvSpPr>
          <p:nvPr/>
        </p:nvSpPr>
        <p:spPr bwMode="auto">
          <a:xfrm>
            <a:off x="2243139" y="2924175"/>
            <a:ext cx="4321175" cy="64135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b="0">
                <a:latin typeface="微软雅黑" panose="020B0503020204020204" pitchFamily="34" charset="-122"/>
                <a:ea typeface="微软雅黑" panose="020B0503020204020204" pitchFamily="34" charset="-122"/>
              </a:rPr>
              <a:t>* </a:t>
            </a:r>
            <a:r>
              <a:rPr kumimoji="1" lang="zh-CN" altLang="en-US" b="0">
                <a:latin typeface="微软雅黑" panose="020B0503020204020204" pitchFamily="34" charset="-122"/>
                <a:ea typeface="微软雅黑" panose="020B0503020204020204" pitchFamily="34" charset="-122"/>
              </a:rPr>
              <a:t>部位：胞质及线粒体</a:t>
            </a:r>
            <a:r>
              <a:rPr kumimoji="1" lang="zh-CN" altLang="en-US" sz="3600" b="0">
                <a:latin typeface="微软雅黑" panose="020B0503020204020204" pitchFamily="34" charset="-122"/>
                <a:ea typeface="微软雅黑" panose="020B0503020204020204" pitchFamily="34" charset="-122"/>
              </a:rPr>
              <a:t>     </a:t>
            </a:r>
            <a:endParaRPr kumimoji="1" lang="zh-CN" altLang="en-US" sz="3600" b="0">
              <a:latin typeface="微软雅黑" panose="020B0503020204020204" pitchFamily="34" charset="-122"/>
              <a:ea typeface="微软雅黑" panose="020B0503020204020204" pitchFamily="34" charset="-122"/>
            </a:endParaRPr>
          </a:p>
        </p:txBody>
      </p:sp>
      <p:sp>
        <p:nvSpPr>
          <p:cNvPr id="2" name="矩形 1"/>
          <p:cNvSpPr/>
          <p:nvPr/>
        </p:nvSpPr>
        <p:spPr>
          <a:xfrm>
            <a:off x="2424114" y="3879850"/>
            <a:ext cx="6911975" cy="2202206"/>
          </a:xfrm>
          <a:prstGeom prst="rect">
            <a:avLst/>
          </a:prstGeom>
        </p:spPr>
        <p:txBody>
          <a:bodyPr>
            <a:spAutoFit/>
          </a:bodyPr>
          <a:lstStyle/>
          <a:p>
            <a:pPr eaLnBrk="1" hangingPunct="1">
              <a:lnSpc>
                <a:spcPct val="130000"/>
              </a:lnSpc>
              <a:buClr>
                <a:schemeClr val="tx1"/>
              </a:buClr>
              <a:buFont typeface="Wingdings" panose="05000000000000000000" pitchFamily="2" charset="2"/>
              <a:buNone/>
              <a:defRPr/>
            </a:pPr>
            <a:r>
              <a:rPr lang="zh-CN" altLang="en-US" sz="2800" b="0" dirty="0">
                <a:solidFill>
                  <a:srgbClr val="660033"/>
                </a:solidFill>
                <a:latin typeface="微软雅黑" panose="020B0503020204020204" pitchFamily="34" charset="-122"/>
                <a:ea typeface="微软雅黑" panose="020B0503020204020204" pitchFamily="34" charset="-122"/>
              </a:rPr>
              <a:t>有氧氧化的反应过程</a:t>
            </a:r>
            <a:endParaRPr lang="zh-CN" altLang="en-US" sz="2800" b="0" dirty="0">
              <a:solidFill>
                <a:srgbClr val="660033"/>
              </a:solidFill>
              <a:latin typeface="微软雅黑" panose="020B0503020204020204" pitchFamily="34" charset="-122"/>
              <a:ea typeface="微软雅黑" panose="020B0503020204020204" pitchFamily="34" charset="-122"/>
            </a:endParaRPr>
          </a:p>
          <a:p>
            <a:pPr marL="457200" indent="-457200" algn="just" eaLnBrk="1" hangingPunct="1">
              <a:lnSpc>
                <a:spcPct val="130000"/>
              </a:lnSpc>
              <a:buClr>
                <a:schemeClr val="tx1"/>
              </a:buClr>
              <a:buFont typeface="+mj-lt"/>
              <a:buAutoNum type="arabicPeriod"/>
              <a:defRPr/>
            </a:pPr>
            <a:r>
              <a:rPr lang="zh-CN" altLang="en-US" sz="2600" dirty="0">
                <a:latin typeface="微软雅黑" panose="020B0503020204020204" pitchFamily="34" charset="-122"/>
                <a:ea typeface="微软雅黑" panose="020B0503020204020204" pitchFamily="34" charset="-122"/>
              </a:rPr>
              <a:t>糖酵解</a:t>
            </a:r>
            <a:r>
              <a:rPr lang="zh-CN" altLang="en-US" sz="2600" b="0" dirty="0">
                <a:latin typeface="微软雅黑" panose="020B0503020204020204" pitchFamily="34" charset="-122"/>
                <a:ea typeface="微软雅黑" panose="020B0503020204020204" pitchFamily="34" charset="-122"/>
              </a:rPr>
              <a:t>：　葡萄糖分解成丙酮酸（胞质）</a:t>
            </a:r>
            <a:endParaRPr lang="zh-CN" altLang="en-US" sz="2600" b="0" dirty="0">
              <a:latin typeface="微软雅黑" panose="020B0503020204020204" pitchFamily="34" charset="-122"/>
              <a:ea typeface="微软雅黑" panose="020B0503020204020204" pitchFamily="34" charset="-122"/>
            </a:endParaRPr>
          </a:p>
          <a:p>
            <a:pPr marL="457200" indent="-457200" algn="just" eaLnBrk="1" hangingPunct="1">
              <a:lnSpc>
                <a:spcPct val="140000"/>
              </a:lnSpc>
              <a:buClr>
                <a:schemeClr val="tx1"/>
              </a:buClr>
              <a:buFont typeface="+mj-lt"/>
              <a:buAutoNum type="arabicPeriod"/>
              <a:defRPr/>
            </a:pPr>
            <a:r>
              <a:rPr lang="zh-CN" altLang="en-US" sz="2600" dirty="0">
                <a:latin typeface="微软雅黑" panose="020B0503020204020204" pitchFamily="34" charset="-122"/>
                <a:ea typeface="微软雅黑" panose="020B0503020204020204" pitchFamily="34" charset="-122"/>
              </a:rPr>
              <a:t>丙酮酸氧化脱羧</a:t>
            </a:r>
            <a:r>
              <a:rPr lang="zh-CN" altLang="en-US" sz="2600" b="0" dirty="0">
                <a:latin typeface="微软雅黑" panose="020B0503020204020204" pitchFamily="34" charset="-122"/>
                <a:ea typeface="微软雅黑" panose="020B0503020204020204" pitchFamily="34" charset="-122"/>
              </a:rPr>
              <a:t>生成乙酰</a:t>
            </a:r>
            <a:r>
              <a:rPr lang="en-US" altLang="zh-CN" sz="2600" b="0" dirty="0">
                <a:latin typeface="微软雅黑" panose="020B0503020204020204" pitchFamily="34" charset="-122"/>
                <a:ea typeface="微软雅黑" panose="020B0503020204020204" pitchFamily="34" charset="-122"/>
              </a:rPr>
              <a:t>CoA</a:t>
            </a:r>
            <a:r>
              <a:rPr lang="zh-CN" altLang="en-US" sz="2600" b="0" dirty="0">
                <a:latin typeface="微软雅黑" panose="020B0503020204020204" pitchFamily="34" charset="-122"/>
                <a:ea typeface="微软雅黑" panose="020B0503020204020204" pitchFamily="34" charset="-122"/>
              </a:rPr>
              <a:t>（线粒体）</a:t>
            </a:r>
            <a:endParaRPr lang="en-US" altLang="zh-CN" sz="2600" b="0" dirty="0">
              <a:latin typeface="微软雅黑" panose="020B0503020204020204" pitchFamily="34" charset="-122"/>
              <a:ea typeface="微软雅黑" panose="020B0503020204020204" pitchFamily="34" charset="-122"/>
            </a:endParaRPr>
          </a:p>
          <a:p>
            <a:pPr marL="457200" indent="-457200" eaLnBrk="1" hangingPunct="1">
              <a:lnSpc>
                <a:spcPct val="130000"/>
              </a:lnSpc>
              <a:buClr>
                <a:schemeClr val="tx1"/>
              </a:buClr>
              <a:buFont typeface="+mj-lt"/>
              <a:buAutoNum type="arabicPeriod"/>
              <a:defRPr/>
            </a:pPr>
            <a:r>
              <a:rPr lang="zh-CN" altLang="en-US" sz="2600" dirty="0">
                <a:latin typeface="微软雅黑" panose="020B0503020204020204" pitchFamily="34" charset="-122"/>
                <a:ea typeface="微软雅黑" panose="020B0503020204020204" pitchFamily="34" charset="-122"/>
              </a:rPr>
              <a:t>三羧酸循环</a:t>
            </a:r>
            <a:r>
              <a:rPr lang="zh-CN" altLang="en-US" sz="2600" b="0" dirty="0">
                <a:latin typeface="微软雅黑" panose="020B0503020204020204" pitchFamily="34" charset="-122"/>
                <a:ea typeface="微软雅黑" panose="020B0503020204020204" pitchFamily="34" charset="-122"/>
              </a:rPr>
              <a:t>及</a:t>
            </a:r>
            <a:r>
              <a:rPr lang="zh-CN" altLang="en-US" sz="2600" dirty="0">
                <a:latin typeface="微软雅黑" panose="020B0503020204020204" pitchFamily="34" charset="-122"/>
                <a:ea typeface="微软雅黑" panose="020B0503020204020204" pitchFamily="34" charset="-122"/>
              </a:rPr>
              <a:t>氧化磷酸化</a:t>
            </a:r>
            <a:r>
              <a:rPr lang="zh-CN" altLang="en-US" sz="2600" b="0" dirty="0">
                <a:latin typeface="微软雅黑" panose="020B0503020204020204" pitchFamily="34" charset="-122"/>
                <a:ea typeface="微软雅黑" panose="020B0503020204020204" pitchFamily="34" charset="-122"/>
              </a:rPr>
              <a:t>（线粒体） </a:t>
            </a:r>
            <a:endParaRPr lang="zh-CN" altLang="en-US" sz="26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wheel(4)">
                                      <p:cBhvr>
                                        <p:cTn id="7" dur="500"/>
                                        <p:tgtEl>
                                          <p:spTgt spid="177154"/>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grpId="0" nodeType="clickEffect">
                                  <p:stCondLst>
                                    <p:cond delay="0"/>
                                  </p:stCondLst>
                                  <p:childTnLst>
                                    <p:set>
                                      <p:cBhvr>
                                        <p:cTn id="11" dur="1" fill="hold">
                                          <p:stCondLst>
                                            <p:cond delay="0"/>
                                          </p:stCondLst>
                                        </p:cTn>
                                        <p:tgtEl>
                                          <p:spTgt spid="177155"/>
                                        </p:tgtEl>
                                        <p:attrNameLst>
                                          <p:attrName>style.visibility</p:attrName>
                                        </p:attrNameLst>
                                      </p:cBhvr>
                                      <p:to>
                                        <p:strVal val="visible"/>
                                      </p:to>
                                    </p:set>
                                    <p:anim calcmode="lin" valueType="num">
                                      <p:cBhvr>
                                        <p:cTn id="12" dur="1000" fill="hold"/>
                                        <p:tgtEl>
                                          <p:spTgt spid="177155"/>
                                        </p:tgtEl>
                                        <p:attrNameLst>
                                          <p:attrName>ppt_w</p:attrName>
                                        </p:attrNameLst>
                                      </p:cBhvr>
                                      <p:tavLst>
                                        <p:tav tm="0">
                                          <p:val>
                                            <p:fltVal val="0"/>
                                          </p:val>
                                        </p:tav>
                                        <p:tav tm="100000">
                                          <p:val>
                                            <p:strVal val="#ppt_w"/>
                                          </p:val>
                                        </p:tav>
                                      </p:tavLst>
                                    </p:anim>
                                    <p:anim calcmode="lin" valueType="num">
                                      <p:cBhvr>
                                        <p:cTn id="13" dur="1000" fill="hold"/>
                                        <p:tgtEl>
                                          <p:spTgt spid="177155"/>
                                        </p:tgtEl>
                                        <p:attrNameLst>
                                          <p:attrName>ppt_h</p:attrName>
                                        </p:attrNameLst>
                                      </p:cBhvr>
                                      <p:tavLst>
                                        <p:tav tm="0">
                                          <p:val>
                                            <p:fltVal val="0"/>
                                          </p:val>
                                        </p:tav>
                                        <p:tav tm="100000">
                                          <p:val>
                                            <p:strVal val="#ppt_h"/>
                                          </p:val>
                                        </p:tav>
                                      </p:tavLst>
                                    </p:anim>
                                    <p:anim calcmode="lin" valueType="num">
                                      <p:cBhvr>
                                        <p:cTn id="14" dur="1000" fill="hold"/>
                                        <p:tgtEl>
                                          <p:spTgt spid="177155"/>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7715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utoUpdateAnimBg="0"/>
      <p:bldP spid="177155"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0530" name="Group 2"/>
          <p:cNvGrpSpPr/>
          <p:nvPr/>
        </p:nvGrpSpPr>
        <p:grpSpPr bwMode="auto">
          <a:xfrm>
            <a:off x="3216276" y="0"/>
            <a:ext cx="7451725" cy="6858000"/>
            <a:chOff x="1728" y="0"/>
            <a:chExt cx="4040" cy="4320"/>
          </a:xfrm>
        </p:grpSpPr>
        <p:pic>
          <p:nvPicPr>
            <p:cNvPr id="15055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32" y="0"/>
              <a:ext cx="2936" cy="4320"/>
            </a:xfrm>
            <a:prstGeom prst="rect">
              <a:avLst/>
            </a:prstGeom>
            <a:solidFill>
              <a:srgbClr val="65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150555" name="Picture 4"/>
            <p:cNvPicPr>
              <a:picLocks noChangeAspect="1" noChangeArrowheads="1"/>
            </p:cNvPicPr>
            <p:nvPr/>
          </p:nvPicPr>
          <p:blipFill>
            <a:blip r:embed="rId1">
              <a:extLst>
                <a:ext uri="{28A0092B-C50C-407E-A947-70E740481C1C}">
                  <a14:useLocalDpi xmlns:a14="http://schemas.microsoft.com/office/drawing/2010/main" val="0"/>
                </a:ext>
              </a:extLst>
            </a:blip>
            <a:srcRect l="62296"/>
            <a:stretch>
              <a:fillRect/>
            </a:stretch>
          </p:blipFill>
          <p:spPr bwMode="auto">
            <a:xfrm>
              <a:off x="1728" y="0"/>
              <a:ext cx="1107" cy="4320"/>
            </a:xfrm>
            <a:prstGeom prst="rect">
              <a:avLst/>
            </a:prstGeom>
            <a:solidFill>
              <a:srgbClr val="65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pic>
      </p:grpSp>
      <p:sp>
        <p:nvSpPr>
          <p:cNvPr id="150531" name="Text Box 8"/>
          <p:cNvSpPr txBox="1">
            <a:spLocks noChangeArrowheads="1"/>
          </p:cNvSpPr>
          <p:nvPr/>
        </p:nvSpPr>
        <p:spPr bwMode="auto">
          <a:xfrm>
            <a:off x="2135188" y="765175"/>
            <a:ext cx="1873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endParaRPr kumimoji="1" lang="zh-CN" altLang="en-US" sz="2400" b="0">
              <a:ea typeface="华文新魏" panose="02010800040101010101" pitchFamily="2" charset="-122"/>
            </a:endParaRPr>
          </a:p>
        </p:txBody>
      </p:sp>
      <p:sp>
        <p:nvSpPr>
          <p:cNvPr id="328714" name="Text Box 10"/>
          <p:cNvSpPr txBox="1">
            <a:spLocks noChangeArrowheads="1"/>
          </p:cNvSpPr>
          <p:nvPr/>
        </p:nvSpPr>
        <p:spPr bwMode="auto">
          <a:xfrm>
            <a:off x="8832850" y="3357563"/>
            <a:ext cx="1657350" cy="457200"/>
          </a:xfrm>
          <a:prstGeom prst="rect">
            <a:avLst/>
          </a:prstGeom>
          <a:gradFill rotWithShape="1">
            <a:gsLst>
              <a:gs pos="0">
                <a:srgbClr val="CDFFFF"/>
              </a:gs>
              <a:gs pos="100000">
                <a:srgbClr val="97FF97"/>
              </a:gs>
            </a:gsLst>
            <a:path path="shape">
              <a:fillToRect l="50000" t="50000" r="50000" b="50000"/>
            </a:path>
          </a:gradFill>
          <a:ln w="9525">
            <a:miter lim="800000"/>
          </a:ln>
          <a:scene3d>
            <a:camera prst="legacyPerspectiveTopRight"/>
            <a:lightRig rig="legacyFlat3" dir="b"/>
          </a:scene3d>
          <a:sp3d extrusionH="887400" prstMaterial="legacyMatte">
            <a:bevelT w="13500" h="13500" prst="angle"/>
            <a:bevelB w="13500" h="13500" prst="angle"/>
            <a:extrusionClr>
              <a:srgbClr val="97FF97"/>
            </a:extrusionClr>
            <a:contourClr>
              <a:srgbClr val="CDFFFF"/>
            </a:contourClr>
          </a:sp3d>
        </p:spPr>
        <p:txBody>
          <a:bodyPr>
            <a:spAutoFit/>
            <a:flatTx/>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u="sng">
                <a:ea typeface="华文新魏" panose="02010800040101010101" pitchFamily="2" charset="-122"/>
              </a:rPr>
              <a:t>一次脱氢</a:t>
            </a:r>
            <a:endParaRPr lang="zh-CN" altLang="en-US" sz="2400" u="sng">
              <a:ea typeface="华文新魏" panose="02010800040101010101" pitchFamily="2" charset="-122"/>
            </a:endParaRPr>
          </a:p>
        </p:txBody>
      </p:sp>
      <p:sp>
        <p:nvSpPr>
          <p:cNvPr id="328715" name="Text Box 11"/>
          <p:cNvSpPr txBox="1">
            <a:spLocks noChangeArrowheads="1"/>
          </p:cNvSpPr>
          <p:nvPr/>
        </p:nvSpPr>
        <p:spPr bwMode="auto">
          <a:xfrm>
            <a:off x="8723314" y="4724401"/>
            <a:ext cx="1836737" cy="1015663"/>
          </a:xfrm>
          <a:prstGeom prst="rect">
            <a:avLst/>
          </a:prstGeom>
          <a:gradFill rotWithShape="1">
            <a:gsLst>
              <a:gs pos="0">
                <a:srgbClr val="CDFFFF"/>
              </a:gs>
              <a:gs pos="100000">
                <a:srgbClr val="97FF97"/>
              </a:gs>
            </a:gsLst>
            <a:path path="shape">
              <a:fillToRect l="50000" t="50000" r="50000" b="50000"/>
            </a:path>
          </a:gradFill>
          <a:ln w="9525">
            <a:miter lim="800000"/>
          </a:ln>
          <a:scene3d>
            <a:camera prst="legacyPerspectiveTopRight"/>
            <a:lightRig rig="legacyFlat3" dir="b"/>
          </a:scene3d>
          <a:sp3d extrusionH="887400" prstMaterial="legacyMatte">
            <a:bevelT w="13500" h="13500" prst="angle"/>
            <a:bevelB w="13500" h="13500" prst="angle"/>
            <a:extrusionClr>
              <a:srgbClr val="97FF97"/>
            </a:extrusionClr>
            <a:contourClr>
              <a:srgbClr val="CDFFFF"/>
            </a:contourClr>
          </a:sp3d>
        </p:spPr>
        <p:txBody>
          <a:bodyPr>
            <a:spAutoFit/>
            <a:flatTx/>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u="sng">
                <a:ea typeface="华文新魏" panose="02010800040101010101" pitchFamily="2" charset="-122"/>
              </a:rPr>
              <a:t>二次底物</a:t>
            </a:r>
            <a:endParaRPr lang="zh-CN" altLang="en-US" sz="2400" u="sng">
              <a:ea typeface="华文新魏" panose="02010800040101010101" pitchFamily="2" charset="-122"/>
            </a:endParaRPr>
          </a:p>
          <a:p>
            <a:pPr eaLnBrk="1" hangingPunct="1">
              <a:spcBef>
                <a:spcPct val="50000"/>
              </a:spcBef>
              <a:buClrTx/>
              <a:buSzTx/>
              <a:buFontTx/>
              <a:buNone/>
            </a:pPr>
            <a:r>
              <a:rPr lang="zh-CN" altLang="en-US" sz="2400" u="sng">
                <a:ea typeface="华文新魏" panose="02010800040101010101" pitchFamily="2" charset="-122"/>
              </a:rPr>
              <a:t>水平磷酸化</a:t>
            </a:r>
            <a:endParaRPr lang="zh-CN" altLang="en-US" sz="2400" u="sng">
              <a:ea typeface="华文新魏" panose="02010800040101010101" pitchFamily="2" charset="-122"/>
            </a:endParaRPr>
          </a:p>
        </p:txBody>
      </p:sp>
      <p:sp>
        <p:nvSpPr>
          <p:cNvPr id="328716" name="Text Box 12"/>
          <p:cNvSpPr txBox="1">
            <a:spLocks noChangeArrowheads="1"/>
          </p:cNvSpPr>
          <p:nvPr/>
        </p:nvSpPr>
        <p:spPr bwMode="auto">
          <a:xfrm>
            <a:off x="2927350" y="188914"/>
            <a:ext cx="1657350" cy="466725"/>
          </a:xfrm>
          <a:prstGeom prst="rect">
            <a:avLst/>
          </a:prstGeom>
          <a:solidFill>
            <a:srgbClr val="FFCCFF"/>
          </a:solidFill>
          <a:ln w="9525">
            <a:solidFill>
              <a:srgbClr val="FFCCFF"/>
            </a:solidFill>
            <a:miter lim="800000"/>
          </a:ln>
          <a:effectLst>
            <a:outerShdw dist="35921" dir="2700000" algn="ctr" rotWithShape="0">
              <a:schemeClr val="bg2"/>
            </a:outerShdw>
          </a:effec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ea typeface="华文新魏" panose="02010800040101010101" pitchFamily="2" charset="-122"/>
              </a:rPr>
              <a:t>已糖激酶</a:t>
            </a:r>
            <a:endParaRPr kumimoji="1" lang="zh-CN" altLang="en-US" sz="2400">
              <a:ea typeface="华文新魏" panose="02010800040101010101" pitchFamily="2" charset="-122"/>
            </a:endParaRPr>
          </a:p>
        </p:txBody>
      </p:sp>
      <p:sp>
        <p:nvSpPr>
          <p:cNvPr id="328717" name="Text Box 13"/>
          <p:cNvSpPr txBox="1">
            <a:spLocks noChangeArrowheads="1"/>
          </p:cNvSpPr>
          <p:nvPr/>
        </p:nvSpPr>
        <p:spPr bwMode="auto">
          <a:xfrm>
            <a:off x="2963788" y="1331528"/>
            <a:ext cx="1584474" cy="831850"/>
          </a:xfrm>
          <a:prstGeom prst="rect">
            <a:avLst/>
          </a:prstGeom>
          <a:solidFill>
            <a:srgbClr val="FFCCFF"/>
          </a:solidFill>
          <a:ln w="9525" algn="ctr">
            <a:solidFill>
              <a:srgbClr val="FFE5FF"/>
            </a:solidFill>
            <a:miter lim="800000"/>
          </a:ln>
          <a:effectLst>
            <a:outerShdw dist="35921" dir="2700000" algn="ctr" rotWithShape="0">
              <a:schemeClr val="bg2"/>
            </a:outerShdw>
          </a:effec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dirty="0">
                <a:ea typeface="华文新魏" panose="02010800040101010101" pitchFamily="2" charset="-122"/>
              </a:rPr>
              <a:t>磷酸果糖</a:t>
            </a:r>
            <a:endParaRPr kumimoji="1" lang="zh-CN" altLang="en-US" sz="2400" dirty="0">
              <a:ea typeface="华文新魏" panose="02010800040101010101" pitchFamily="2" charset="-122"/>
            </a:endParaRPr>
          </a:p>
          <a:p>
            <a:pPr algn="ctr" eaLnBrk="1" hangingPunct="1">
              <a:spcBef>
                <a:spcPct val="0"/>
              </a:spcBef>
              <a:buClrTx/>
              <a:buSzTx/>
              <a:buFontTx/>
              <a:buNone/>
            </a:pPr>
            <a:r>
              <a:rPr kumimoji="1" lang="zh-CN" altLang="en-US" sz="2400" dirty="0">
                <a:ea typeface="华文新魏" panose="02010800040101010101" pitchFamily="2" charset="-122"/>
              </a:rPr>
              <a:t>激酶</a:t>
            </a:r>
            <a:r>
              <a:rPr kumimoji="1" lang="en-US" altLang="zh-CN" sz="2400" dirty="0">
                <a:ea typeface="华文新魏" panose="02010800040101010101" pitchFamily="2" charset="-122"/>
              </a:rPr>
              <a:t>-1</a:t>
            </a:r>
            <a:endParaRPr kumimoji="1" lang="en-US" altLang="zh-CN" sz="2400" dirty="0">
              <a:ea typeface="华文新魏" panose="02010800040101010101" pitchFamily="2" charset="-122"/>
            </a:endParaRPr>
          </a:p>
        </p:txBody>
      </p:sp>
      <p:sp>
        <p:nvSpPr>
          <p:cNvPr id="328718" name="Text Box 14"/>
          <p:cNvSpPr txBox="1">
            <a:spLocks noChangeArrowheads="1"/>
          </p:cNvSpPr>
          <p:nvPr/>
        </p:nvSpPr>
        <p:spPr bwMode="auto">
          <a:xfrm>
            <a:off x="2782889" y="6021389"/>
            <a:ext cx="1800225" cy="466725"/>
          </a:xfrm>
          <a:prstGeom prst="rect">
            <a:avLst/>
          </a:prstGeom>
          <a:solidFill>
            <a:srgbClr val="FFCCFF"/>
          </a:solidFill>
          <a:ln w="9525" algn="ctr">
            <a:solidFill>
              <a:srgbClr val="FFE5FF"/>
            </a:solidFill>
            <a:miter lim="800000"/>
          </a:ln>
          <a:effectLst>
            <a:outerShdw dist="35921" dir="2700000" algn="ctr" rotWithShape="0">
              <a:schemeClr val="bg2"/>
            </a:outerShdw>
          </a:effec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ea typeface="华文新魏" panose="02010800040101010101" pitchFamily="2" charset="-122"/>
              </a:rPr>
              <a:t>丙酮酸激酶</a:t>
            </a:r>
            <a:endParaRPr kumimoji="1" lang="zh-CN" altLang="en-US" sz="2400">
              <a:ea typeface="华文新魏" panose="02010800040101010101" pitchFamily="2" charset="-122"/>
            </a:endParaRPr>
          </a:p>
        </p:txBody>
      </p:sp>
      <p:sp>
        <p:nvSpPr>
          <p:cNvPr id="328719" name="Text Box 15"/>
          <p:cNvSpPr txBox="1">
            <a:spLocks noChangeArrowheads="1"/>
          </p:cNvSpPr>
          <p:nvPr/>
        </p:nvSpPr>
        <p:spPr bwMode="auto">
          <a:xfrm>
            <a:off x="8759826" y="549275"/>
            <a:ext cx="1800225" cy="457200"/>
          </a:xfrm>
          <a:prstGeom prst="rect">
            <a:avLst/>
          </a:prstGeom>
          <a:gradFill rotWithShape="1">
            <a:gsLst>
              <a:gs pos="0">
                <a:srgbClr val="CDFFFF"/>
              </a:gs>
              <a:gs pos="100000">
                <a:srgbClr val="97FF97"/>
              </a:gs>
            </a:gsLst>
            <a:path path="shape">
              <a:fillToRect l="50000" t="50000" r="50000" b="50000"/>
            </a:path>
          </a:gradFill>
          <a:ln w="9525">
            <a:miter lim="800000"/>
          </a:ln>
          <a:scene3d>
            <a:camera prst="legacyPerspectiveTopRight"/>
            <a:lightRig rig="legacyFlat3" dir="b"/>
          </a:scene3d>
          <a:sp3d extrusionH="887400" prstMaterial="legacyMatte">
            <a:bevelT w="13500" h="13500" prst="angle"/>
            <a:bevelB w="13500" h="13500" prst="angle"/>
            <a:extrusionClr>
              <a:srgbClr val="97FF97"/>
            </a:extrusionClr>
            <a:contourClr>
              <a:srgbClr val="CDFFFF"/>
            </a:contourClr>
          </a:sp3d>
        </p:spPr>
        <p:txBody>
          <a:bodyPr>
            <a:spAutoFit/>
            <a:flatTx/>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u="sng">
                <a:ea typeface="华文新魏" panose="02010800040101010101" pitchFamily="2" charset="-122"/>
              </a:rPr>
              <a:t>三个关键酶</a:t>
            </a:r>
            <a:endParaRPr lang="zh-CN" altLang="en-US" sz="2400" u="sng">
              <a:ea typeface="华文新魏" panose="02010800040101010101" pitchFamily="2" charset="-122"/>
            </a:endParaRPr>
          </a:p>
        </p:txBody>
      </p:sp>
      <p:sp>
        <p:nvSpPr>
          <p:cNvPr id="150539" name="Text Box 18"/>
          <p:cNvSpPr txBox="1">
            <a:spLocks noChangeArrowheads="1"/>
          </p:cNvSpPr>
          <p:nvPr/>
        </p:nvSpPr>
        <p:spPr bwMode="auto">
          <a:xfrm>
            <a:off x="4727575" y="2238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① </a:t>
            </a:r>
            <a:endParaRPr kumimoji="1" lang="zh-CN" altLang="en-US" sz="2000" b="0">
              <a:solidFill>
                <a:srgbClr val="0000FF"/>
              </a:solidFill>
              <a:ea typeface="华文新魏" panose="02010800040101010101" pitchFamily="2" charset="-122"/>
            </a:endParaRPr>
          </a:p>
        </p:txBody>
      </p:sp>
      <p:sp>
        <p:nvSpPr>
          <p:cNvPr id="150540" name="Text Box 19"/>
          <p:cNvSpPr txBox="1">
            <a:spLocks noChangeArrowheads="1"/>
          </p:cNvSpPr>
          <p:nvPr/>
        </p:nvSpPr>
        <p:spPr bwMode="auto">
          <a:xfrm>
            <a:off x="4727575" y="8715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②  </a:t>
            </a:r>
            <a:endParaRPr kumimoji="1" lang="zh-CN" altLang="en-US" sz="2000" b="0">
              <a:solidFill>
                <a:srgbClr val="0000FF"/>
              </a:solidFill>
              <a:ea typeface="华文新魏" panose="02010800040101010101" pitchFamily="2" charset="-122"/>
            </a:endParaRPr>
          </a:p>
        </p:txBody>
      </p:sp>
      <p:sp>
        <p:nvSpPr>
          <p:cNvPr id="150541" name="Text Box 20"/>
          <p:cNvSpPr txBox="1">
            <a:spLocks noChangeArrowheads="1"/>
          </p:cNvSpPr>
          <p:nvPr/>
        </p:nvSpPr>
        <p:spPr bwMode="auto">
          <a:xfrm>
            <a:off x="4727575" y="15192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③  </a:t>
            </a:r>
            <a:endParaRPr kumimoji="1" lang="zh-CN" altLang="en-US" sz="2000" b="0">
              <a:solidFill>
                <a:srgbClr val="0000FF"/>
              </a:solidFill>
              <a:ea typeface="华文新魏" panose="02010800040101010101" pitchFamily="2" charset="-122"/>
            </a:endParaRPr>
          </a:p>
        </p:txBody>
      </p:sp>
      <p:sp>
        <p:nvSpPr>
          <p:cNvPr id="150542" name="Text Box 21"/>
          <p:cNvSpPr txBox="1">
            <a:spLocks noChangeArrowheads="1"/>
          </p:cNvSpPr>
          <p:nvPr/>
        </p:nvSpPr>
        <p:spPr bwMode="auto">
          <a:xfrm>
            <a:off x="4727575" y="21685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④  </a:t>
            </a:r>
            <a:endParaRPr kumimoji="1" lang="zh-CN" altLang="en-US" sz="2000" b="0">
              <a:solidFill>
                <a:srgbClr val="0000FF"/>
              </a:solidFill>
              <a:ea typeface="华文新魏" panose="02010800040101010101" pitchFamily="2" charset="-122"/>
            </a:endParaRPr>
          </a:p>
        </p:txBody>
      </p:sp>
      <p:sp>
        <p:nvSpPr>
          <p:cNvPr id="150543" name="Text Box 22"/>
          <p:cNvSpPr txBox="1">
            <a:spLocks noChangeArrowheads="1"/>
          </p:cNvSpPr>
          <p:nvPr/>
        </p:nvSpPr>
        <p:spPr bwMode="auto">
          <a:xfrm>
            <a:off x="4727575" y="263683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⑤  </a:t>
            </a:r>
            <a:endParaRPr kumimoji="1" lang="zh-CN" altLang="en-US" sz="2000" b="0">
              <a:solidFill>
                <a:srgbClr val="0000FF"/>
              </a:solidFill>
              <a:ea typeface="华文新魏" panose="02010800040101010101" pitchFamily="2" charset="-122"/>
            </a:endParaRPr>
          </a:p>
        </p:txBody>
      </p:sp>
      <p:sp>
        <p:nvSpPr>
          <p:cNvPr id="150544" name="Text Box 23"/>
          <p:cNvSpPr txBox="1">
            <a:spLocks noChangeArrowheads="1"/>
          </p:cNvSpPr>
          <p:nvPr/>
        </p:nvSpPr>
        <p:spPr bwMode="auto">
          <a:xfrm>
            <a:off x="4729164" y="3357564"/>
            <a:ext cx="5032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⑥ </a:t>
            </a:r>
            <a:endParaRPr kumimoji="1" lang="zh-CN" altLang="en-US" sz="2000" b="0">
              <a:solidFill>
                <a:srgbClr val="0000FF"/>
              </a:solidFill>
              <a:ea typeface="华文新魏" panose="02010800040101010101" pitchFamily="2" charset="-122"/>
            </a:endParaRPr>
          </a:p>
        </p:txBody>
      </p:sp>
      <p:sp>
        <p:nvSpPr>
          <p:cNvPr id="150545" name="Text Box 24"/>
          <p:cNvSpPr txBox="1">
            <a:spLocks noChangeArrowheads="1"/>
          </p:cNvSpPr>
          <p:nvPr/>
        </p:nvSpPr>
        <p:spPr bwMode="auto">
          <a:xfrm>
            <a:off x="4727575" y="41497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⑦  </a:t>
            </a:r>
            <a:endParaRPr kumimoji="1" lang="zh-CN" altLang="en-US" sz="2000" b="0">
              <a:solidFill>
                <a:srgbClr val="0000FF"/>
              </a:solidFill>
              <a:ea typeface="华文新魏" panose="02010800040101010101" pitchFamily="2" charset="-122"/>
            </a:endParaRPr>
          </a:p>
        </p:txBody>
      </p:sp>
      <p:sp>
        <p:nvSpPr>
          <p:cNvPr id="150546" name="Text Box 25"/>
          <p:cNvSpPr txBox="1">
            <a:spLocks noChangeArrowheads="1"/>
          </p:cNvSpPr>
          <p:nvPr/>
        </p:nvSpPr>
        <p:spPr bwMode="auto">
          <a:xfrm>
            <a:off x="4727575" y="4797426"/>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⑧ </a:t>
            </a:r>
            <a:endParaRPr kumimoji="1" lang="zh-CN" altLang="en-US" sz="2000" b="0">
              <a:solidFill>
                <a:srgbClr val="0000FF"/>
              </a:solidFill>
              <a:ea typeface="华文新魏" panose="02010800040101010101" pitchFamily="2" charset="-122"/>
            </a:endParaRPr>
          </a:p>
        </p:txBody>
      </p:sp>
      <p:sp>
        <p:nvSpPr>
          <p:cNvPr id="150547" name="Text Box 26"/>
          <p:cNvSpPr txBox="1">
            <a:spLocks noChangeArrowheads="1"/>
          </p:cNvSpPr>
          <p:nvPr/>
        </p:nvSpPr>
        <p:spPr bwMode="auto">
          <a:xfrm>
            <a:off x="4727575" y="5373689"/>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⑨  </a:t>
            </a:r>
            <a:endParaRPr kumimoji="1" lang="zh-CN" altLang="en-US" sz="2000" b="0">
              <a:solidFill>
                <a:srgbClr val="0000FF"/>
              </a:solidFill>
              <a:ea typeface="华文新魏" panose="02010800040101010101" pitchFamily="2" charset="-122"/>
            </a:endParaRPr>
          </a:p>
        </p:txBody>
      </p:sp>
      <p:sp>
        <p:nvSpPr>
          <p:cNvPr id="150548" name="Text Box 27"/>
          <p:cNvSpPr txBox="1">
            <a:spLocks noChangeArrowheads="1"/>
          </p:cNvSpPr>
          <p:nvPr/>
        </p:nvSpPr>
        <p:spPr bwMode="auto">
          <a:xfrm>
            <a:off x="4727575" y="6056314"/>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000" b="0">
                <a:solidFill>
                  <a:srgbClr val="0000FF"/>
                </a:solidFill>
                <a:ea typeface="华文新魏" panose="02010800040101010101" pitchFamily="2" charset="-122"/>
              </a:rPr>
              <a:t>⑩ </a:t>
            </a:r>
            <a:endParaRPr kumimoji="1" lang="zh-CN" altLang="en-US" sz="2000" b="0">
              <a:solidFill>
                <a:srgbClr val="0000FF"/>
              </a:solidFill>
              <a:ea typeface="华文新魏" panose="02010800040101010101" pitchFamily="2" charset="-122"/>
            </a:endParaRPr>
          </a:p>
        </p:txBody>
      </p:sp>
      <p:sp>
        <p:nvSpPr>
          <p:cNvPr id="328733" name="Rectangle 29"/>
          <p:cNvSpPr>
            <a:spLocks noChangeArrowheads="1"/>
          </p:cNvSpPr>
          <p:nvPr/>
        </p:nvSpPr>
        <p:spPr bwMode="auto">
          <a:xfrm>
            <a:off x="5303838" y="3789363"/>
            <a:ext cx="2520950" cy="1079500"/>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4" name="Rectangle 30"/>
          <p:cNvSpPr>
            <a:spLocks noChangeArrowheads="1"/>
          </p:cNvSpPr>
          <p:nvPr/>
        </p:nvSpPr>
        <p:spPr bwMode="auto">
          <a:xfrm>
            <a:off x="5303838" y="5705476"/>
            <a:ext cx="2520950" cy="1152525"/>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5" name="Rectangle 31"/>
          <p:cNvSpPr>
            <a:spLocks noChangeArrowheads="1"/>
          </p:cNvSpPr>
          <p:nvPr/>
        </p:nvSpPr>
        <p:spPr bwMode="auto">
          <a:xfrm>
            <a:off x="5880101" y="-49213"/>
            <a:ext cx="1008063" cy="260351"/>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36" name="Rectangle 32"/>
          <p:cNvSpPr>
            <a:spLocks noChangeArrowheads="1"/>
          </p:cNvSpPr>
          <p:nvPr/>
        </p:nvSpPr>
        <p:spPr bwMode="auto">
          <a:xfrm>
            <a:off x="5735638" y="6524626"/>
            <a:ext cx="1223962" cy="333375"/>
          </a:xfrm>
          <a:prstGeom prst="rect">
            <a:avLst/>
          </a:prstGeom>
          <a:noFill/>
          <a:ln w="63500">
            <a:solidFill>
              <a:srgbClr val="FF00FF"/>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8747" name="Oval 43"/>
          <p:cNvSpPr>
            <a:spLocks noChangeArrowheads="1"/>
          </p:cNvSpPr>
          <p:nvPr/>
        </p:nvSpPr>
        <p:spPr bwMode="auto">
          <a:xfrm>
            <a:off x="4727575" y="2565401"/>
            <a:ext cx="3024188" cy="1584325"/>
          </a:xfrm>
          <a:prstGeom prst="ellipse">
            <a:avLst/>
          </a:prstGeom>
          <a:noFill/>
          <a:ln w="6350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2" name="文本框 1"/>
          <p:cNvSpPr txBox="1"/>
          <p:nvPr/>
        </p:nvSpPr>
        <p:spPr>
          <a:xfrm>
            <a:off x="1828882" y="2366962"/>
            <a:ext cx="765415" cy="1938992"/>
          </a:xfrm>
          <a:prstGeom prst="rect">
            <a:avLst/>
          </a:prstGeom>
          <a:solidFill>
            <a:srgbClr val="FFFFAF"/>
          </a:solidFill>
        </p:spPr>
        <p:txBody>
          <a:bodyPr wrap="square" rtlCol="0">
            <a:spAutoFit/>
          </a:bodyPr>
          <a:lstStyle/>
          <a:p>
            <a:r>
              <a:rPr lang="zh-CN" altLang="en-US" sz="4000" b="0" dirty="0">
                <a:solidFill>
                  <a:srgbClr val="660066"/>
                </a:solidFill>
                <a:latin typeface="微软雅黑" panose="020B0503020204020204" pitchFamily="34" charset="-122"/>
                <a:ea typeface="微软雅黑" panose="020B0503020204020204" pitchFamily="34" charset="-122"/>
              </a:rPr>
              <a:t>糖酵解</a:t>
            </a:r>
            <a:endParaRPr lang="zh-CN" altLang="en-US" sz="4000" b="0" dirty="0">
              <a:solidFill>
                <a:srgbClr val="660066"/>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87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87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grpId="0" nodeType="clickEffect">
                                  <p:stCondLst>
                                    <p:cond delay="0"/>
                                  </p:stCondLst>
                                  <p:childTnLst>
                                    <p:set>
                                      <p:cBhvr>
                                        <p:cTn id="14" dur="1" fill="hold">
                                          <p:stCondLst>
                                            <p:cond delay="0"/>
                                          </p:stCondLst>
                                        </p:cTn>
                                        <p:tgtEl>
                                          <p:spTgt spid="328714"/>
                                        </p:tgtEl>
                                        <p:attrNameLst>
                                          <p:attrName>style.visibility</p:attrName>
                                        </p:attrNameLst>
                                      </p:cBhvr>
                                      <p:to>
                                        <p:strVal val="visible"/>
                                      </p:to>
                                    </p:set>
                                    <p:animEffect transition="in" filter="blinds(vertical)">
                                      <p:cBhvr>
                                        <p:cTn id="15" dur="500"/>
                                        <p:tgtEl>
                                          <p:spTgt spid="32871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2874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328715"/>
                                        </p:tgtEl>
                                        <p:attrNameLst>
                                          <p:attrName>style.visibility</p:attrName>
                                        </p:attrNameLst>
                                      </p:cBhvr>
                                      <p:to>
                                        <p:strVal val="visible"/>
                                      </p:to>
                                    </p:set>
                                    <p:animEffect transition="in" filter="checkerboard(across)">
                                      <p:cBhvr>
                                        <p:cTn id="24" dur="500"/>
                                        <p:tgtEl>
                                          <p:spTgt spid="328715"/>
                                        </p:tgtEl>
                                      </p:cBhvr>
                                    </p:animEffect>
                                  </p:childTnLst>
                                </p:cTn>
                              </p:par>
                            </p:childTnLst>
                          </p:cTn>
                        </p:par>
                      </p:childTnLst>
                    </p:cTn>
                  </p:par>
                  <p:par>
                    <p:cTn id="25" fill="hold">
                      <p:stCondLst>
                        <p:cond delay="indefinite"/>
                      </p:stCondLst>
                      <p:childTnLst>
                        <p:par>
                          <p:cTn id="26" fill="hold">
                            <p:stCondLst>
                              <p:cond delay="0"/>
                            </p:stCondLst>
                            <p:childTnLst>
                              <p:par>
                                <p:cTn id="27" presetID="20" presetClass="entr" presetSubtype="0" fill="hold" grpId="0" nodeType="clickEffect">
                                  <p:stCondLst>
                                    <p:cond delay="0"/>
                                  </p:stCondLst>
                                  <p:childTnLst>
                                    <p:set>
                                      <p:cBhvr>
                                        <p:cTn id="28" dur="1" fill="hold">
                                          <p:stCondLst>
                                            <p:cond delay="0"/>
                                          </p:stCondLst>
                                        </p:cTn>
                                        <p:tgtEl>
                                          <p:spTgt spid="328733"/>
                                        </p:tgtEl>
                                        <p:attrNameLst>
                                          <p:attrName>style.visibility</p:attrName>
                                        </p:attrNameLst>
                                      </p:cBhvr>
                                      <p:to>
                                        <p:strVal val="visible"/>
                                      </p:to>
                                    </p:set>
                                    <p:animEffect transition="in" filter="wedge">
                                      <p:cBhvr>
                                        <p:cTn id="29" dur="2000"/>
                                        <p:tgtEl>
                                          <p:spTgt spid="328733"/>
                                        </p:tgtEl>
                                      </p:cBhvr>
                                    </p:animEffect>
                                  </p:childTnLst>
                                </p:cTn>
                              </p:par>
                            </p:childTnLst>
                          </p:cTn>
                        </p:par>
                        <p:par>
                          <p:cTn id="30" fill="hold">
                            <p:stCondLst>
                              <p:cond delay="2000"/>
                            </p:stCondLst>
                            <p:childTnLst>
                              <p:par>
                                <p:cTn id="31" presetID="20" presetClass="entr" presetSubtype="0" fill="hold" grpId="0" nodeType="afterEffect">
                                  <p:stCondLst>
                                    <p:cond delay="0"/>
                                  </p:stCondLst>
                                  <p:childTnLst>
                                    <p:set>
                                      <p:cBhvr>
                                        <p:cTn id="32" dur="1" fill="hold">
                                          <p:stCondLst>
                                            <p:cond delay="0"/>
                                          </p:stCondLst>
                                        </p:cTn>
                                        <p:tgtEl>
                                          <p:spTgt spid="328734"/>
                                        </p:tgtEl>
                                        <p:attrNameLst>
                                          <p:attrName>style.visibility</p:attrName>
                                        </p:attrNameLst>
                                      </p:cBhvr>
                                      <p:to>
                                        <p:strVal val="visible"/>
                                      </p:to>
                                    </p:set>
                                    <p:animEffect transition="in" filter="wedge">
                                      <p:cBhvr>
                                        <p:cTn id="33" dur="2000"/>
                                        <p:tgtEl>
                                          <p:spTgt spid="32873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28719"/>
                                        </p:tgtEl>
                                        <p:attrNameLst>
                                          <p:attrName>style.visibility</p:attrName>
                                        </p:attrNameLst>
                                      </p:cBhvr>
                                      <p:to>
                                        <p:strVal val="visible"/>
                                      </p:to>
                                    </p:set>
                                    <p:anim calcmode="lin" valueType="num">
                                      <p:cBhvr additive="base">
                                        <p:cTn id="38" dur="500" fill="hold"/>
                                        <p:tgtEl>
                                          <p:spTgt spid="328719"/>
                                        </p:tgtEl>
                                        <p:attrNameLst>
                                          <p:attrName>ppt_x</p:attrName>
                                        </p:attrNameLst>
                                      </p:cBhvr>
                                      <p:tavLst>
                                        <p:tav tm="0">
                                          <p:val>
                                            <p:strVal val="#ppt_x"/>
                                          </p:val>
                                        </p:tav>
                                        <p:tav tm="100000">
                                          <p:val>
                                            <p:strVal val="#ppt_x"/>
                                          </p:val>
                                        </p:tav>
                                      </p:tavLst>
                                    </p:anim>
                                    <p:anim calcmode="lin" valueType="num">
                                      <p:cBhvr additive="base">
                                        <p:cTn id="39" dur="500" fill="hold"/>
                                        <p:tgtEl>
                                          <p:spTgt spid="328719"/>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328716"/>
                                        </p:tgtEl>
                                        <p:attrNameLst>
                                          <p:attrName>style.visibility</p:attrName>
                                        </p:attrNameLst>
                                      </p:cBhvr>
                                      <p:to>
                                        <p:strVal val="visible"/>
                                      </p:to>
                                    </p:set>
                                    <p:anim calcmode="lin" valueType="num">
                                      <p:cBhvr additive="base">
                                        <p:cTn id="44" dur="500" fill="hold"/>
                                        <p:tgtEl>
                                          <p:spTgt spid="328716"/>
                                        </p:tgtEl>
                                        <p:attrNameLst>
                                          <p:attrName>ppt_x</p:attrName>
                                        </p:attrNameLst>
                                      </p:cBhvr>
                                      <p:tavLst>
                                        <p:tav tm="0">
                                          <p:val>
                                            <p:strVal val="0-#ppt_w/2"/>
                                          </p:val>
                                        </p:tav>
                                        <p:tav tm="100000">
                                          <p:val>
                                            <p:strVal val="#ppt_x"/>
                                          </p:val>
                                        </p:tav>
                                      </p:tavLst>
                                    </p:anim>
                                    <p:anim calcmode="lin" valueType="num">
                                      <p:cBhvr additive="base">
                                        <p:cTn id="45" dur="500" fill="hold"/>
                                        <p:tgtEl>
                                          <p:spTgt spid="328716"/>
                                        </p:tgtEl>
                                        <p:attrNameLst>
                                          <p:attrName>ppt_y</p:attrName>
                                        </p:attrNameLst>
                                      </p:cBhvr>
                                      <p:tavLst>
                                        <p:tav tm="0">
                                          <p:val>
                                            <p:strVal val="#ppt_y"/>
                                          </p:val>
                                        </p:tav>
                                        <p:tav tm="100000">
                                          <p:val>
                                            <p:strVal val="#ppt_y"/>
                                          </p:val>
                                        </p:tav>
                                      </p:tavLst>
                                    </p:anim>
                                  </p:childTnLst>
                                </p:cTn>
                              </p:par>
                            </p:childTnLst>
                          </p:cTn>
                        </p:par>
                        <p:par>
                          <p:cTn id="46" fill="hold">
                            <p:stCondLst>
                              <p:cond delay="500"/>
                            </p:stCondLst>
                            <p:childTnLst>
                              <p:par>
                                <p:cTn id="47" presetID="2" presetClass="entr" presetSubtype="2" fill="hold" grpId="0" nodeType="afterEffect">
                                  <p:stCondLst>
                                    <p:cond delay="0"/>
                                  </p:stCondLst>
                                  <p:childTnLst>
                                    <p:set>
                                      <p:cBhvr>
                                        <p:cTn id="48" dur="1" fill="hold">
                                          <p:stCondLst>
                                            <p:cond delay="0"/>
                                          </p:stCondLst>
                                        </p:cTn>
                                        <p:tgtEl>
                                          <p:spTgt spid="328717"/>
                                        </p:tgtEl>
                                        <p:attrNameLst>
                                          <p:attrName>style.visibility</p:attrName>
                                        </p:attrNameLst>
                                      </p:cBhvr>
                                      <p:to>
                                        <p:strVal val="visible"/>
                                      </p:to>
                                    </p:set>
                                    <p:anim calcmode="lin" valueType="num">
                                      <p:cBhvr additive="base">
                                        <p:cTn id="49" dur="500" fill="hold"/>
                                        <p:tgtEl>
                                          <p:spTgt spid="328717"/>
                                        </p:tgtEl>
                                        <p:attrNameLst>
                                          <p:attrName>ppt_x</p:attrName>
                                        </p:attrNameLst>
                                      </p:cBhvr>
                                      <p:tavLst>
                                        <p:tav tm="0">
                                          <p:val>
                                            <p:strVal val="1+#ppt_w/2"/>
                                          </p:val>
                                        </p:tav>
                                        <p:tav tm="100000">
                                          <p:val>
                                            <p:strVal val="#ppt_x"/>
                                          </p:val>
                                        </p:tav>
                                      </p:tavLst>
                                    </p:anim>
                                    <p:anim calcmode="lin" valueType="num">
                                      <p:cBhvr additive="base">
                                        <p:cTn id="50" dur="500" fill="hold"/>
                                        <p:tgtEl>
                                          <p:spTgt spid="328717"/>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ID="2" presetClass="entr" presetSubtype="1" fill="hold" grpId="0" nodeType="afterEffect">
                                  <p:stCondLst>
                                    <p:cond delay="0"/>
                                  </p:stCondLst>
                                  <p:childTnLst>
                                    <p:set>
                                      <p:cBhvr>
                                        <p:cTn id="53" dur="1" fill="hold">
                                          <p:stCondLst>
                                            <p:cond delay="0"/>
                                          </p:stCondLst>
                                        </p:cTn>
                                        <p:tgtEl>
                                          <p:spTgt spid="328718"/>
                                        </p:tgtEl>
                                        <p:attrNameLst>
                                          <p:attrName>style.visibility</p:attrName>
                                        </p:attrNameLst>
                                      </p:cBhvr>
                                      <p:to>
                                        <p:strVal val="visible"/>
                                      </p:to>
                                    </p:set>
                                    <p:anim calcmode="lin" valueType="num">
                                      <p:cBhvr additive="base">
                                        <p:cTn id="54" dur="500" fill="hold"/>
                                        <p:tgtEl>
                                          <p:spTgt spid="328718"/>
                                        </p:tgtEl>
                                        <p:attrNameLst>
                                          <p:attrName>ppt_x</p:attrName>
                                        </p:attrNameLst>
                                      </p:cBhvr>
                                      <p:tavLst>
                                        <p:tav tm="0">
                                          <p:val>
                                            <p:strVal val="#ppt_x"/>
                                          </p:val>
                                        </p:tav>
                                        <p:tav tm="100000">
                                          <p:val>
                                            <p:strVal val="#ppt_x"/>
                                          </p:val>
                                        </p:tav>
                                      </p:tavLst>
                                    </p:anim>
                                    <p:anim calcmode="lin" valueType="num">
                                      <p:cBhvr additive="base">
                                        <p:cTn id="55" dur="500" fill="hold"/>
                                        <p:tgtEl>
                                          <p:spTgt spid="3287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4" grpId="0" animBg="1"/>
      <p:bldP spid="328715" grpId="0" animBg="1"/>
      <p:bldP spid="328716" grpId="0" animBg="1"/>
      <p:bldP spid="328717" grpId="0" animBg="1"/>
      <p:bldP spid="328718" grpId="0" animBg="1"/>
      <p:bldP spid="328719" grpId="0" animBg="1"/>
      <p:bldP spid="328733" grpId="0" animBg="1"/>
      <p:bldP spid="328734" grpId="0" animBg="1"/>
      <p:bldP spid="328735" grpId="0" animBg="1"/>
      <p:bldP spid="328736" grpId="0" animBg="1"/>
      <p:bldP spid="32874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2027424" y="651554"/>
            <a:ext cx="8137152" cy="560923"/>
          </a:xfrm>
        </p:spPr>
        <p:txBody>
          <a:bodyPr/>
          <a:lstStyle/>
          <a:p>
            <a:pPr eaLnBrk="1" hangingPunct="1"/>
            <a:r>
              <a:rPr lang="zh-CN" altLang="en-US" sz="3200" b="1" dirty="0">
                <a:solidFill>
                  <a:srgbClr val="660033"/>
                </a:solidFill>
                <a:ea typeface="楷体_GB2312" pitchFamily="49" charset="-122"/>
              </a:rPr>
              <a:t>一、丙酮酸进入线粒体氧化脱羧生成乙酰</a:t>
            </a:r>
            <a:r>
              <a:rPr lang="en-US" altLang="zh-CN" sz="3200" b="1" dirty="0">
                <a:solidFill>
                  <a:srgbClr val="660033"/>
                </a:solidFill>
                <a:ea typeface="楷体_GB2312" pitchFamily="49" charset="-122"/>
              </a:rPr>
              <a:t>CoA</a:t>
            </a:r>
            <a:endParaRPr lang="zh-CN" altLang="en-US" sz="3200" b="1" dirty="0">
              <a:solidFill>
                <a:srgbClr val="660033"/>
              </a:solidFill>
              <a:ea typeface="楷体_GB2312" pitchFamily="49" charset="-122"/>
            </a:endParaRPr>
          </a:p>
        </p:txBody>
      </p:sp>
      <p:grpSp>
        <p:nvGrpSpPr>
          <p:cNvPr id="2" name="Group 3"/>
          <p:cNvGrpSpPr/>
          <p:nvPr/>
        </p:nvGrpSpPr>
        <p:grpSpPr bwMode="auto">
          <a:xfrm>
            <a:off x="2895600" y="3941415"/>
            <a:ext cx="7467600" cy="1647825"/>
            <a:chOff x="864" y="2553"/>
            <a:chExt cx="4704" cy="1038"/>
          </a:xfrm>
        </p:grpSpPr>
        <p:sp>
          <p:nvSpPr>
            <p:cNvPr id="151558" name="Text Box 4"/>
            <p:cNvSpPr txBox="1">
              <a:spLocks noChangeArrowheads="1"/>
            </p:cNvSpPr>
            <p:nvPr/>
          </p:nvSpPr>
          <p:spPr bwMode="auto">
            <a:xfrm>
              <a:off x="864" y="2697"/>
              <a:ext cx="11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b="0"/>
                <a:t>丙酮酸</a:t>
              </a:r>
              <a:endParaRPr kumimoji="1" lang="zh-CN" altLang="en-US" b="0"/>
            </a:p>
          </p:txBody>
        </p:sp>
        <p:sp>
          <p:nvSpPr>
            <p:cNvPr id="151559" name="Text Box 5"/>
            <p:cNvSpPr txBox="1">
              <a:spLocks noChangeArrowheads="1"/>
            </p:cNvSpPr>
            <p:nvPr/>
          </p:nvSpPr>
          <p:spPr bwMode="auto">
            <a:xfrm>
              <a:off x="4080" y="2697"/>
              <a:ext cx="1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b="0"/>
                <a:t>乙酰辅酶</a:t>
              </a:r>
              <a:r>
                <a:rPr kumimoji="1" lang="en-US" altLang="zh-CN" b="0"/>
                <a:t>A</a:t>
              </a:r>
              <a:endParaRPr kumimoji="1" lang="en-US" altLang="zh-CN" b="0"/>
            </a:p>
          </p:txBody>
        </p:sp>
        <p:sp>
          <p:nvSpPr>
            <p:cNvPr id="151560" name="Line 6"/>
            <p:cNvSpPr>
              <a:spLocks noChangeShapeType="1"/>
            </p:cNvSpPr>
            <p:nvPr/>
          </p:nvSpPr>
          <p:spPr bwMode="auto">
            <a:xfrm>
              <a:off x="1728" y="2889"/>
              <a:ext cx="241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51561" name="Text Box 7"/>
            <p:cNvSpPr txBox="1">
              <a:spLocks noChangeArrowheads="1"/>
            </p:cNvSpPr>
            <p:nvPr/>
          </p:nvSpPr>
          <p:spPr bwMode="auto">
            <a:xfrm>
              <a:off x="1872" y="2553"/>
              <a:ext cx="22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800" b="0" dirty="0">
                  <a:solidFill>
                    <a:srgbClr val="FF0000"/>
                  </a:solidFill>
                  <a:ea typeface="华文楷体" panose="02010600040101010101" pitchFamily="2" charset="-122"/>
                </a:rPr>
                <a:t>丙酮酸脱氢酶复合体</a:t>
              </a:r>
              <a:endParaRPr kumimoji="1" lang="en-US" altLang="zh-CN" sz="2800" b="0" dirty="0">
                <a:solidFill>
                  <a:srgbClr val="FF0000"/>
                </a:solidFill>
                <a:ea typeface="华文楷体" panose="02010600040101010101" pitchFamily="2" charset="-122"/>
              </a:endParaRPr>
            </a:p>
          </p:txBody>
        </p:sp>
        <p:sp>
          <p:nvSpPr>
            <p:cNvPr id="151562" name="Freeform 8"/>
            <p:cNvSpPr/>
            <p:nvPr/>
          </p:nvSpPr>
          <p:spPr bwMode="auto">
            <a:xfrm>
              <a:off x="2208" y="2889"/>
              <a:ext cx="1296" cy="327"/>
            </a:xfrm>
            <a:custGeom>
              <a:avLst/>
              <a:gdLst>
                <a:gd name="T0" fmla="*/ 0 w 1584"/>
                <a:gd name="T1" fmla="*/ 1 h 558"/>
                <a:gd name="T2" fmla="*/ 2 w 1584"/>
                <a:gd name="T3" fmla="*/ 0 h 558"/>
                <a:gd name="T4" fmla="*/ 2 w 1584"/>
                <a:gd name="T5" fmla="*/ 1 h 558"/>
                <a:gd name="T6" fmla="*/ 0 60000 65536"/>
                <a:gd name="T7" fmla="*/ 0 60000 65536"/>
                <a:gd name="T8" fmla="*/ 0 60000 65536"/>
                <a:gd name="T9" fmla="*/ 0 w 1584"/>
                <a:gd name="T10" fmla="*/ 0 h 558"/>
                <a:gd name="T11" fmla="*/ 1584 w 1584"/>
                <a:gd name="T12" fmla="*/ 558 h 558"/>
              </a:gdLst>
              <a:ahLst/>
              <a:cxnLst>
                <a:cxn ang="T6">
                  <a:pos x="T0" y="T1"/>
                </a:cxn>
                <a:cxn ang="T7">
                  <a:pos x="T2" y="T3"/>
                </a:cxn>
                <a:cxn ang="T8">
                  <a:pos x="T4" y="T5"/>
                </a:cxn>
              </a:cxnLst>
              <a:rect l="T9" t="T10" r="T11" b="T12"/>
              <a:pathLst>
                <a:path w="1584" h="558">
                  <a:moveTo>
                    <a:pt x="0" y="557"/>
                  </a:moveTo>
                  <a:lnTo>
                    <a:pt x="764" y="0"/>
                  </a:lnTo>
                  <a:lnTo>
                    <a:pt x="1584" y="558"/>
                  </a:lnTo>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51563" name="Text Box 9"/>
            <p:cNvSpPr txBox="1">
              <a:spLocks noChangeArrowheads="1"/>
            </p:cNvSpPr>
            <p:nvPr/>
          </p:nvSpPr>
          <p:spPr bwMode="auto">
            <a:xfrm>
              <a:off x="1056" y="3264"/>
              <a:ext cx="42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800" b="0">
                  <a:latin typeface="Arial" panose="020B0604020202020204" pitchFamily="34" charset="0"/>
                </a:rPr>
                <a:t>NAD</a:t>
              </a:r>
              <a:r>
                <a:rPr kumimoji="1" lang="en-US" altLang="zh-CN" sz="2800" b="0" baseline="30000">
                  <a:latin typeface="Arial" panose="020B0604020202020204" pitchFamily="34" charset="0"/>
                </a:rPr>
                <a:t>＋</a:t>
              </a:r>
              <a:r>
                <a:rPr kumimoji="1" lang="en-US" altLang="zh-CN" sz="2800" b="0">
                  <a:latin typeface="Arial" panose="020B0604020202020204" pitchFamily="34" charset="0"/>
                </a:rPr>
                <a:t>，</a:t>
              </a:r>
              <a:r>
                <a:rPr kumimoji="1" lang="en-US" altLang="zh-CN" sz="2800" b="0" baseline="30000">
                  <a:latin typeface="Arial" panose="020B0604020202020204" pitchFamily="34" charset="0"/>
                </a:rPr>
                <a:t> </a:t>
              </a:r>
              <a:r>
                <a:rPr kumimoji="1" lang="en-US" altLang="zh-CN" sz="2800" b="0">
                  <a:latin typeface="Arial" panose="020B0604020202020204" pitchFamily="34" charset="0"/>
                  <a:ea typeface="宋体" panose="02010600030101010101" pitchFamily="2" charset="-122"/>
                </a:rPr>
                <a:t>HSCoA 　</a:t>
              </a:r>
              <a:r>
                <a:rPr kumimoji="1" lang="en-US" altLang="zh-CN" sz="2800" b="0">
                  <a:solidFill>
                    <a:srgbClr val="FF0066"/>
                  </a:solidFill>
                  <a:latin typeface="Arial" panose="020B0604020202020204" pitchFamily="34" charset="0"/>
                  <a:ea typeface="宋体" panose="02010600030101010101" pitchFamily="2" charset="-122"/>
                </a:rPr>
                <a:t>NADH＋H</a:t>
              </a:r>
              <a:r>
                <a:rPr kumimoji="1" lang="en-US" altLang="zh-CN" sz="2800" b="0" baseline="30000">
                  <a:solidFill>
                    <a:srgbClr val="FF0066"/>
                  </a:solidFill>
                  <a:latin typeface="Arial" panose="020B0604020202020204" pitchFamily="34" charset="0"/>
                  <a:ea typeface="宋体" panose="02010600030101010101" pitchFamily="2" charset="-122"/>
                </a:rPr>
                <a:t>＋</a:t>
              </a:r>
              <a:r>
                <a:rPr kumimoji="1" lang="en-US" altLang="zh-CN" sz="2800" b="0">
                  <a:latin typeface="Arial" panose="020B0604020202020204" pitchFamily="34" charset="0"/>
                  <a:ea typeface="宋体" panose="02010600030101010101" pitchFamily="2" charset="-122"/>
                </a:rPr>
                <a:t>，CO</a:t>
              </a:r>
              <a:r>
                <a:rPr kumimoji="1" lang="en-US" altLang="zh-CN" sz="2800" b="0" baseline="-25000">
                  <a:latin typeface="Arial" panose="020B0604020202020204" pitchFamily="34" charset="0"/>
                  <a:ea typeface="宋体" panose="02010600030101010101" pitchFamily="2" charset="-122"/>
                </a:rPr>
                <a:t>2</a:t>
              </a:r>
              <a:r>
                <a:rPr kumimoji="1" lang="en-US" altLang="zh-CN" sz="2800" b="0">
                  <a:latin typeface="Arial" panose="020B0604020202020204" pitchFamily="34" charset="0"/>
                  <a:ea typeface="宋体" panose="02010600030101010101" pitchFamily="2" charset="-122"/>
                </a:rPr>
                <a:t>    </a:t>
              </a:r>
              <a:endParaRPr kumimoji="1" lang="en-US" altLang="zh-CN" sz="2800" b="0">
                <a:latin typeface="Arial" panose="020B0604020202020204" pitchFamily="34" charset="0"/>
                <a:ea typeface="宋体" panose="02010600030101010101" pitchFamily="2" charset="-122"/>
              </a:endParaRPr>
            </a:p>
          </p:txBody>
        </p:sp>
      </p:grpSp>
      <p:sp>
        <p:nvSpPr>
          <p:cNvPr id="180235" name="Text Box 11"/>
          <p:cNvSpPr txBox="1">
            <a:spLocks noChangeArrowheads="1"/>
          </p:cNvSpPr>
          <p:nvPr/>
        </p:nvSpPr>
        <p:spPr bwMode="auto">
          <a:xfrm>
            <a:off x="2295497" y="3322446"/>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000066"/>
                </a:solidFill>
              </a:rPr>
              <a:t>总反应式: </a:t>
            </a:r>
            <a:endParaRPr kumimoji="1" lang="zh-CN" altLang="en-US" sz="2800" b="0" dirty="0">
              <a:solidFill>
                <a:srgbClr val="000066"/>
              </a:solidFill>
            </a:endParaRPr>
          </a:p>
        </p:txBody>
      </p:sp>
      <p:sp>
        <p:nvSpPr>
          <p:cNvPr id="4" name="文本框 3"/>
          <p:cNvSpPr txBox="1"/>
          <p:nvPr/>
        </p:nvSpPr>
        <p:spPr>
          <a:xfrm>
            <a:off x="1847528" y="1594726"/>
            <a:ext cx="9145016" cy="1384353"/>
          </a:xfrm>
          <a:prstGeom prst="rect">
            <a:avLst/>
          </a:prstGeom>
          <a:noFill/>
        </p:spPr>
        <p:txBody>
          <a:bodyPr wrap="square">
            <a:spAutoFit/>
          </a:bodyPr>
          <a:lstStyle/>
          <a:p>
            <a:pPr marL="342900" indent="-342900">
              <a:lnSpc>
                <a:spcPct val="120000"/>
              </a:lnSpc>
              <a:buFont typeface="Arial" panose="020B0604020202020204" pitchFamily="34" charset="0"/>
              <a:buChar char="•"/>
            </a:pPr>
            <a:r>
              <a:rPr lang="zh-CN" altLang="en-US" sz="2400" b="0" dirty="0">
                <a:latin typeface="微软雅黑" panose="020B0503020204020204" pitchFamily="34" charset="-122"/>
                <a:ea typeface="微软雅黑" panose="020B0503020204020204" pitchFamily="34" charset="-122"/>
              </a:rPr>
              <a:t>进入线粒体的丙酮酸，由</a:t>
            </a:r>
            <a:r>
              <a:rPr lang="zh-CN" altLang="en-US" sz="2400" dirty="0">
                <a:latin typeface="微软雅黑" panose="020B0503020204020204" pitchFamily="34" charset="-122"/>
                <a:ea typeface="微软雅黑" panose="020B0503020204020204" pitchFamily="34" charset="-122"/>
              </a:rPr>
              <a:t>丙酮酸脱氢酶复合体</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pyruvate dehydrogenase complex</a:t>
            </a:r>
            <a:r>
              <a:rPr lang="zh-CN" altLang="en-US" sz="2400" b="0" dirty="0">
                <a:latin typeface="微软雅黑" panose="020B0503020204020204" pitchFamily="34" charset="-122"/>
                <a:ea typeface="微软雅黑" panose="020B0503020204020204" pitchFamily="34" charset="-122"/>
              </a:rPr>
              <a:t>）催化，经过</a:t>
            </a:r>
            <a:r>
              <a:rPr lang="en-US" altLang="zh-CN" sz="2400" b="0" dirty="0">
                <a:latin typeface="微软雅黑" panose="020B0503020204020204" pitchFamily="34" charset="-122"/>
                <a:ea typeface="微软雅黑" panose="020B0503020204020204" pitchFamily="34" charset="-122"/>
              </a:rPr>
              <a:t>5 </a:t>
            </a:r>
            <a:r>
              <a:rPr lang="zh-CN" altLang="en-US" sz="2400" b="0" dirty="0">
                <a:latin typeface="微软雅黑" panose="020B0503020204020204" pitchFamily="34" charset="-122"/>
                <a:ea typeface="微软雅黑" panose="020B0503020204020204" pitchFamily="34" charset="-122"/>
              </a:rPr>
              <a:t>步反应，氧化脱羧生成乙酰</a:t>
            </a:r>
            <a:r>
              <a:rPr lang="en-US" altLang="zh-CN" sz="2400" b="0" dirty="0">
                <a:latin typeface="微软雅黑" panose="020B0503020204020204" pitchFamily="34" charset="-122"/>
                <a:ea typeface="微软雅黑" panose="020B0503020204020204" pitchFamily="34" charset="-122"/>
              </a:rPr>
              <a:t>CoA</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acetyl CoA</a:t>
            </a:r>
            <a:r>
              <a:rPr lang="zh-CN" altLang="en-US" sz="2400" b="0" dirty="0">
                <a:latin typeface="微软雅黑" panose="020B0503020204020204" pitchFamily="34" charset="-122"/>
                <a:ea typeface="微软雅黑" panose="020B0503020204020204" pitchFamily="34" charset="-122"/>
              </a:rPr>
              <a:t>），此反应不可逆、为限速步骤。 </a:t>
            </a: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180235"/>
                                        </p:tgtEl>
                                        <p:attrNameLst>
                                          <p:attrName>style.visibility</p:attrName>
                                        </p:attrNameLst>
                                      </p:cBhvr>
                                      <p:to>
                                        <p:strVal val="visible"/>
                                      </p:to>
                                    </p:set>
                                    <p:anim calcmode="lin" valueType="num">
                                      <p:cBhvr>
                                        <p:cTn id="7" dur="500" fill="hold"/>
                                        <p:tgtEl>
                                          <p:spTgt spid="180235"/>
                                        </p:tgtEl>
                                        <p:attrNameLst>
                                          <p:attrName>ppt_w</p:attrName>
                                        </p:attrNameLst>
                                      </p:cBhvr>
                                      <p:tavLst>
                                        <p:tav tm="0">
                                          <p:val>
                                            <p:fltVal val="0"/>
                                          </p:val>
                                        </p:tav>
                                        <p:tav tm="100000">
                                          <p:val>
                                            <p:strVal val="#ppt_w"/>
                                          </p:val>
                                        </p:tav>
                                      </p:tavLst>
                                    </p:anim>
                                    <p:anim calcmode="lin" valueType="num">
                                      <p:cBhvr>
                                        <p:cTn id="8" dur="500" fill="hold"/>
                                        <p:tgtEl>
                                          <p:spTgt spid="180235"/>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5"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1706564" y="650875"/>
            <a:ext cx="5761037" cy="579438"/>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latin typeface="黑体" panose="02010609060101010101" pitchFamily="2" charset="-122"/>
                <a:ea typeface="黑体" panose="02010609060101010101" pitchFamily="2" charset="-122"/>
              </a:rPr>
              <a:t>丙酮酸脱氢酶复合体的组成</a:t>
            </a:r>
            <a:endParaRPr kumimoji="1" lang="zh-CN" altLang="en-US" dirty="0">
              <a:latin typeface="黑体" panose="02010609060101010101" pitchFamily="2" charset="-122"/>
              <a:ea typeface="黑体" panose="02010609060101010101" pitchFamily="2" charset="-122"/>
            </a:endParaRPr>
          </a:p>
        </p:txBody>
      </p:sp>
      <p:grpSp>
        <p:nvGrpSpPr>
          <p:cNvPr id="2" name="Group 3"/>
          <p:cNvGrpSpPr/>
          <p:nvPr/>
        </p:nvGrpSpPr>
        <p:grpSpPr bwMode="auto">
          <a:xfrm>
            <a:off x="6977064" y="373063"/>
            <a:ext cx="3240087" cy="1973262"/>
            <a:chOff x="3561" y="164"/>
            <a:chExt cx="2154" cy="1298"/>
          </a:xfrm>
        </p:grpSpPr>
        <p:pic>
          <p:nvPicPr>
            <p:cNvPr id="153610" name="Picture 4" descr="脱氢酶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61" y="164"/>
              <a:ext cx="2154" cy="1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11" name="Rectangle 5"/>
            <p:cNvSpPr>
              <a:spLocks noChangeArrowheads="1"/>
            </p:cNvSpPr>
            <p:nvPr/>
          </p:nvSpPr>
          <p:spPr bwMode="auto">
            <a:xfrm>
              <a:off x="4740" y="300"/>
              <a:ext cx="59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66"/>
                  </a:solidFill>
                  <a:latin typeface="Antique Olive"/>
                  <a:ea typeface="宋体" panose="02010600030101010101" pitchFamily="2" charset="-122"/>
                </a:rPr>
                <a:t>HSCoA</a:t>
              </a:r>
              <a:endParaRPr kumimoji="1" lang="en-US" altLang="zh-CN" sz="2000">
                <a:solidFill>
                  <a:srgbClr val="000066"/>
                </a:solidFill>
                <a:latin typeface="Antique Olive"/>
                <a:ea typeface="宋体" panose="02010600030101010101" pitchFamily="2" charset="-122"/>
              </a:endParaRPr>
            </a:p>
          </p:txBody>
        </p:sp>
        <p:sp>
          <p:nvSpPr>
            <p:cNvPr id="153612" name="Rectangle 6"/>
            <p:cNvSpPr>
              <a:spLocks noChangeArrowheads="1"/>
            </p:cNvSpPr>
            <p:nvPr/>
          </p:nvSpPr>
          <p:spPr bwMode="auto">
            <a:xfrm>
              <a:off x="5165" y="1071"/>
              <a:ext cx="502"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NAD</a:t>
              </a:r>
              <a:r>
                <a:rPr kumimoji="1" lang="en-US" altLang="zh-CN" sz="2000" baseline="30000">
                  <a:latin typeface="Antique Olive"/>
                  <a:ea typeface="宋体" panose="02010600030101010101" pitchFamily="2" charset="-122"/>
                </a:rPr>
                <a:t>+</a:t>
              </a:r>
              <a:endParaRPr kumimoji="1" lang="en-US" altLang="zh-CN" sz="2000" baseline="30000">
                <a:latin typeface="Antique Olive"/>
                <a:ea typeface="宋体" panose="02010600030101010101" pitchFamily="2" charset="-122"/>
              </a:endParaRPr>
            </a:p>
          </p:txBody>
        </p:sp>
      </p:grpSp>
      <p:sp>
        <p:nvSpPr>
          <p:cNvPr id="145420" name="Text Box 17"/>
          <p:cNvSpPr txBox="1">
            <a:spLocks noChangeArrowheads="1"/>
          </p:cNvSpPr>
          <p:nvPr/>
        </p:nvSpPr>
        <p:spPr bwMode="auto">
          <a:xfrm>
            <a:off x="5718175" y="4365625"/>
            <a:ext cx="4770438" cy="522288"/>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辅酶：硫辛酸， </a:t>
            </a:r>
            <a:r>
              <a:rPr kumimoji="1" lang="en-US" altLang="zh-CN" sz="2800" b="0" dirty="0" err="1">
                <a:solidFill>
                  <a:schemeClr val="tx1">
                    <a:lumMod val="95000"/>
                    <a:lumOff val="5000"/>
                  </a:schemeClr>
                </a:solidFill>
                <a:latin typeface="微软雅黑" panose="020B0503020204020204" pitchFamily="34" charset="-122"/>
                <a:ea typeface="微软雅黑" panose="020B0503020204020204" pitchFamily="34" charset="-122"/>
              </a:rPr>
              <a:t>HSCoA</a:t>
            </a:r>
            <a:endPar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1266" name="Text Box 18"/>
          <p:cNvSpPr txBox="1">
            <a:spLocks noChangeArrowheads="1"/>
          </p:cNvSpPr>
          <p:nvPr/>
        </p:nvSpPr>
        <p:spPr bwMode="auto">
          <a:xfrm>
            <a:off x="5762625" y="5715001"/>
            <a:ext cx="4235450" cy="523875"/>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辅酶：</a:t>
            </a:r>
            <a:r>
              <a:rPr kumimoji="1" lang="en-US" altLang="zh-CN" sz="2800" b="0" dirty="0">
                <a:solidFill>
                  <a:schemeClr val="tx1">
                    <a:lumMod val="95000"/>
                    <a:lumOff val="5000"/>
                  </a:schemeClr>
                </a:solidFill>
                <a:latin typeface="微软雅黑" panose="020B0503020204020204" pitchFamily="34" charset="-122"/>
                <a:ea typeface="微软雅黑" panose="020B0503020204020204" pitchFamily="34" charset="-122"/>
              </a:rPr>
              <a:t>FAD, NAD</a:t>
            </a:r>
            <a:r>
              <a:rPr kumimoji="1" lang="en-US" altLang="zh-CN" sz="2800" b="0" baseline="30000" dirty="0">
                <a:solidFill>
                  <a:schemeClr val="tx1">
                    <a:lumMod val="95000"/>
                    <a:lumOff val="5000"/>
                  </a:schemeClr>
                </a:solidFill>
                <a:latin typeface="微软雅黑" panose="020B0503020204020204" pitchFamily="34" charset="-122"/>
                <a:ea typeface="微软雅黑" panose="020B0503020204020204" pitchFamily="34" charset="-122"/>
              </a:rPr>
              <a:t>+</a:t>
            </a:r>
            <a:endParaRPr kumimoji="1"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1267" name="Text Box 19"/>
          <p:cNvSpPr txBox="1">
            <a:spLocks noChangeArrowheads="1"/>
          </p:cNvSpPr>
          <p:nvPr/>
        </p:nvSpPr>
        <p:spPr bwMode="auto">
          <a:xfrm>
            <a:off x="2292350" y="5037139"/>
            <a:ext cx="4770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latin typeface="微软雅黑" panose="020B0503020204020204" pitchFamily="34" charset="-122"/>
                <a:ea typeface="微软雅黑" panose="020B0503020204020204" pitchFamily="34" charset="-122"/>
              </a:rPr>
              <a:t>E</a:t>
            </a:r>
            <a:r>
              <a:rPr kumimoji="1" lang="en-US" altLang="zh-CN" sz="2800" b="0" baseline="-25000">
                <a:latin typeface="微软雅黑" panose="020B0503020204020204" pitchFamily="34" charset="-122"/>
                <a:ea typeface="微软雅黑" panose="020B0503020204020204" pitchFamily="34" charset="-122"/>
              </a:rPr>
              <a:t>3</a:t>
            </a:r>
            <a:r>
              <a:rPr kumimoji="1" lang="en-US" altLang="zh-CN" sz="2800" b="0">
                <a:latin typeface="微软雅黑" panose="020B0503020204020204" pitchFamily="34" charset="-122"/>
                <a:ea typeface="微软雅黑" panose="020B0503020204020204" pitchFamily="34" charset="-122"/>
              </a:rPr>
              <a:t>：</a:t>
            </a:r>
            <a:r>
              <a:rPr kumimoji="1" lang="zh-CN" altLang="en-US" sz="2800" b="0">
                <a:latin typeface="微软雅黑" panose="020B0503020204020204" pitchFamily="34" charset="-122"/>
                <a:ea typeface="微软雅黑" panose="020B0503020204020204" pitchFamily="34" charset="-122"/>
              </a:rPr>
              <a:t>二氢硫辛酰胺脱氢酶</a:t>
            </a:r>
            <a:endParaRPr kumimoji="1" lang="zh-CN" altLang="en-US" sz="2800" b="0">
              <a:latin typeface="微软雅黑" panose="020B0503020204020204" pitchFamily="34" charset="-122"/>
              <a:ea typeface="微软雅黑" panose="020B0503020204020204" pitchFamily="34" charset="-122"/>
            </a:endParaRPr>
          </a:p>
        </p:txBody>
      </p:sp>
      <p:sp>
        <p:nvSpPr>
          <p:cNvPr id="181268" name="Text Box 20"/>
          <p:cNvSpPr txBox="1">
            <a:spLocks noChangeArrowheads="1"/>
          </p:cNvSpPr>
          <p:nvPr/>
        </p:nvSpPr>
        <p:spPr bwMode="auto">
          <a:xfrm>
            <a:off x="2292351" y="3806825"/>
            <a:ext cx="59594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solidFill>
                  <a:srgbClr val="000066"/>
                </a:solidFill>
                <a:latin typeface="微软雅黑" panose="020B0503020204020204" pitchFamily="34" charset="-122"/>
                <a:ea typeface="微软雅黑" panose="020B0503020204020204" pitchFamily="34" charset="-122"/>
              </a:rPr>
              <a:t>E</a:t>
            </a:r>
            <a:r>
              <a:rPr kumimoji="1" lang="en-US" altLang="zh-CN" sz="2800" b="0" baseline="-25000">
                <a:solidFill>
                  <a:srgbClr val="000066"/>
                </a:solidFill>
                <a:latin typeface="微软雅黑" panose="020B0503020204020204" pitchFamily="34" charset="-122"/>
                <a:ea typeface="微软雅黑" panose="020B0503020204020204" pitchFamily="34" charset="-122"/>
              </a:rPr>
              <a:t>2</a:t>
            </a:r>
            <a:r>
              <a:rPr kumimoji="1" lang="en-US" altLang="zh-CN" sz="2800" b="0">
                <a:solidFill>
                  <a:srgbClr val="000066"/>
                </a:solidFill>
                <a:latin typeface="微软雅黑" panose="020B0503020204020204" pitchFamily="34" charset="-122"/>
                <a:ea typeface="微软雅黑" panose="020B0503020204020204" pitchFamily="34" charset="-122"/>
              </a:rPr>
              <a:t>：</a:t>
            </a:r>
            <a:r>
              <a:rPr kumimoji="1" lang="zh-CN" altLang="en-US" sz="2800" b="0">
                <a:solidFill>
                  <a:srgbClr val="000066"/>
                </a:solidFill>
                <a:latin typeface="微软雅黑" panose="020B0503020204020204" pitchFamily="34" charset="-122"/>
                <a:ea typeface="微软雅黑" panose="020B0503020204020204" pitchFamily="34" charset="-122"/>
              </a:rPr>
              <a:t>二氢硫辛酰胺转乙酰酶</a:t>
            </a:r>
            <a:endParaRPr kumimoji="1" lang="zh-CN" altLang="en-US" sz="2800" b="0">
              <a:solidFill>
                <a:srgbClr val="000066"/>
              </a:solidFill>
              <a:latin typeface="微软雅黑" panose="020B0503020204020204" pitchFamily="34" charset="-122"/>
              <a:ea typeface="微软雅黑" panose="020B0503020204020204" pitchFamily="34" charset="-122"/>
            </a:endParaRPr>
          </a:p>
        </p:txBody>
      </p:sp>
      <p:sp>
        <p:nvSpPr>
          <p:cNvPr id="181269" name="Text Box 21"/>
          <p:cNvSpPr txBox="1">
            <a:spLocks noChangeArrowheads="1"/>
          </p:cNvSpPr>
          <p:nvPr/>
        </p:nvSpPr>
        <p:spPr bwMode="auto">
          <a:xfrm>
            <a:off x="5788025" y="3052764"/>
            <a:ext cx="2808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solidFill>
                  <a:srgbClr val="C00000"/>
                </a:solidFill>
                <a:latin typeface="微软雅黑" panose="020B0503020204020204" pitchFamily="34" charset="-122"/>
                <a:ea typeface="微软雅黑" panose="020B0503020204020204" pitchFamily="34" charset="-122"/>
              </a:rPr>
              <a:t>辅酶：</a:t>
            </a:r>
            <a:r>
              <a:rPr kumimoji="1" lang="en-US" altLang="zh-CN" sz="2800" b="0">
                <a:solidFill>
                  <a:srgbClr val="C00000"/>
                </a:solidFill>
                <a:latin typeface="微软雅黑" panose="020B0503020204020204" pitchFamily="34" charset="-122"/>
                <a:ea typeface="微软雅黑" panose="020B0503020204020204" pitchFamily="34" charset="-122"/>
              </a:rPr>
              <a:t>TPP</a:t>
            </a:r>
            <a:endParaRPr kumimoji="1" lang="zh-CN" altLang="en-US" sz="2800" b="0">
              <a:solidFill>
                <a:srgbClr val="C00000"/>
              </a:solidFill>
              <a:latin typeface="微软雅黑" panose="020B0503020204020204" pitchFamily="34" charset="-122"/>
              <a:ea typeface="微软雅黑" panose="020B0503020204020204" pitchFamily="34" charset="-122"/>
            </a:endParaRPr>
          </a:p>
        </p:txBody>
      </p:sp>
      <p:sp>
        <p:nvSpPr>
          <p:cNvPr id="181270" name="Text Box 22"/>
          <p:cNvSpPr txBox="1">
            <a:spLocks noChangeArrowheads="1"/>
          </p:cNvSpPr>
          <p:nvPr/>
        </p:nvSpPr>
        <p:spPr bwMode="auto">
          <a:xfrm>
            <a:off x="2351088" y="2493964"/>
            <a:ext cx="4335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dirty="0">
                <a:solidFill>
                  <a:srgbClr val="000099"/>
                </a:solidFill>
                <a:latin typeface="微软雅黑" panose="020B0503020204020204" pitchFamily="34" charset="-122"/>
                <a:ea typeface="微软雅黑" panose="020B0503020204020204" pitchFamily="34" charset="-122"/>
              </a:rPr>
              <a:t>E</a:t>
            </a:r>
            <a:r>
              <a:rPr kumimoji="1" lang="en-US" altLang="zh-CN" sz="2800" b="0" baseline="-25000" dirty="0">
                <a:solidFill>
                  <a:srgbClr val="000099"/>
                </a:solidFill>
                <a:latin typeface="微软雅黑" panose="020B0503020204020204" pitchFamily="34" charset="-122"/>
                <a:ea typeface="微软雅黑" panose="020B0503020204020204" pitchFamily="34" charset="-122"/>
              </a:rPr>
              <a:t>1</a:t>
            </a:r>
            <a:r>
              <a:rPr kumimoji="1" lang="en-US" altLang="zh-CN" sz="2800" b="0" dirty="0">
                <a:solidFill>
                  <a:srgbClr val="000099"/>
                </a:solidFill>
                <a:latin typeface="微软雅黑" panose="020B0503020204020204" pitchFamily="34" charset="-122"/>
                <a:ea typeface="微软雅黑" panose="020B0503020204020204" pitchFamily="34" charset="-122"/>
              </a:rPr>
              <a:t>：</a:t>
            </a:r>
            <a:r>
              <a:rPr kumimoji="1" lang="zh-CN" altLang="en-US" sz="2800" b="0" dirty="0">
                <a:solidFill>
                  <a:srgbClr val="000099"/>
                </a:solidFill>
                <a:latin typeface="微软雅黑" panose="020B0503020204020204" pitchFamily="34" charset="-122"/>
                <a:ea typeface="微软雅黑" panose="020B0503020204020204" pitchFamily="34" charset="-122"/>
              </a:rPr>
              <a:t>丙酮酸脱氢酶</a:t>
            </a:r>
            <a:endParaRPr kumimoji="1" lang="zh-CN" altLang="en-US" sz="2800" b="0" dirty="0">
              <a:solidFill>
                <a:srgbClr val="000099"/>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81270"/>
                                        </p:tgtEl>
                                        <p:attrNameLst>
                                          <p:attrName>style.visibility</p:attrName>
                                        </p:attrNameLst>
                                      </p:cBhvr>
                                      <p:to>
                                        <p:strVal val="visible"/>
                                      </p:to>
                                    </p:set>
                                    <p:animEffect transition="in" filter="dissolve">
                                      <p:cBhvr>
                                        <p:cTn id="13" dur="500"/>
                                        <p:tgtEl>
                                          <p:spTgt spid="181270"/>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181269"/>
                                        </p:tgtEl>
                                        <p:attrNameLst>
                                          <p:attrName>style.visibility</p:attrName>
                                        </p:attrNameLst>
                                      </p:cBhvr>
                                      <p:to>
                                        <p:strVal val="visible"/>
                                      </p:to>
                                    </p:set>
                                    <p:animEffect transition="in" filter="dissolve">
                                      <p:cBhvr>
                                        <p:cTn id="17" dur="500"/>
                                        <p:tgtEl>
                                          <p:spTgt spid="18126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1268"/>
                                        </p:tgtEl>
                                        <p:attrNameLst>
                                          <p:attrName>style.visibility</p:attrName>
                                        </p:attrNameLst>
                                      </p:cBhvr>
                                      <p:to>
                                        <p:strVal val="visible"/>
                                      </p:to>
                                    </p:set>
                                    <p:animEffect transition="in" filter="dissolve">
                                      <p:cBhvr>
                                        <p:cTn id="22" dur="500"/>
                                        <p:tgtEl>
                                          <p:spTgt spid="181268"/>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14542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81267"/>
                                        </p:tgtEl>
                                        <p:attrNameLst>
                                          <p:attrName>style.visibility</p:attrName>
                                        </p:attrNameLst>
                                      </p:cBhvr>
                                      <p:to>
                                        <p:strVal val="visible"/>
                                      </p:to>
                                    </p:set>
                                    <p:animEffect transition="in" filter="dissolve">
                                      <p:cBhvr>
                                        <p:cTn id="30" dur="500"/>
                                        <p:tgtEl>
                                          <p:spTgt spid="181267"/>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181266"/>
                                        </p:tgtEl>
                                        <p:attrNameLst>
                                          <p:attrName>style.visibility</p:attrName>
                                        </p:attrNameLst>
                                      </p:cBhvr>
                                      <p:to>
                                        <p:strVal val="visible"/>
                                      </p:to>
                                    </p:set>
                                    <p:animEffect transition="in" filter="dissolve">
                                      <p:cBhvr>
                                        <p:cTn id="34" dur="500"/>
                                        <p:tgtEl>
                                          <p:spTgt spid="18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20" grpId="0"/>
      <p:bldP spid="181266" grpId="0" autoUpdateAnimBg="0"/>
      <p:bldP spid="181267" grpId="0" autoUpdateAnimBg="0"/>
      <p:bldP spid="181268" grpId="0" autoUpdateAnimBg="0"/>
      <p:bldP spid="181269" grpId="0" autoUpdateAnimBg="0"/>
      <p:bldP spid="181270"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769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1504" y="204787"/>
            <a:ext cx="7153275" cy="644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699" name="文本框 2"/>
          <p:cNvSpPr txBox="1">
            <a:spLocks noChangeArrowheads="1"/>
          </p:cNvSpPr>
          <p:nvPr/>
        </p:nvSpPr>
        <p:spPr bwMode="auto">
          <a:xfrm>
            <a:off x="5879976" y="3573463"/>
            <a:ext cx="5328592" cy="999313"/>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30000"/>
              </a:lnSpc>
              <a:spcBef>
                <a:spcPct val="0"/>
              </a:spcBef>
              <a:buClrTx/>
              <a:buSzTx/>
              <a:buFontTx/>
              <a:buNone/>
            </a:pPr>
            <a:r>
              <a:rPr lang="zh-CN" altLang="en-US" sz="2400" dirty="0">
                <a:latin typeface="Arial" panose="020B0604020202020204" pitchFamily="34" charset="0"/>
                <a:ea typeface="宋体" panose="02010600030101010101" pitchFamily="2" charset="-122"/>
              </a:rPr>
              <a:t>硫辛酸</a:t>
            </a:r>
            <a:r>
              <a:rPr lang="en-US" altLang="zh-CN" sz="2400" dirty="0">
                <a:latin typeface="Arial" panose="020B0604020202020204" pitchFamily="34" charset="0"/>
                <a:ea typeface="宋体" panose="02010600030101010101" pitchFamily="2" charset="-122"/>
              </a:rPr>
              <a:t>(lipoic acid)</a:t>
            </a:r>
            <a:r>
              <a:rPr lang="zh-CN" altLang="en-US" sz="2400" dirty="0">
                <a:latin typeface="Arial" panose="020B0604020202020204" pitchFamily="34" charset="0"/>
                <a:ea typeface="宋体" panose="02010600030101010101" pitchFamily="2" charset="-122"/>
              </a:rPr>
              <a:t>与</a:t>
            </a:r>
            <a:r>
              <a:rPr lang="en-US" altLang="zh-CN" sz="2400" dirty="0">
                <a:latin typeface="Arial" panose="020B0604020202020204" pitchFamily="34" charset="0"/>
                <a:ea typeface="宋体" panose="02010600030101010101" pitchFamily="2" charset="-122"/>
              </a:rPr>
              <a:t>E2</a:t>
            </a:r>
            <a:r>
              <a:rPr lang="zh-CN" altLang="en-US" sz="2400" dirty="0">
                <a:latin typeface="Arial" panose="020B0604020202020204" pitchFamily="34" charset="0"/>
                <a:ea typeface="宋体" panose="02010600030101010101" pitchFamily="2" charset="-122"/>
              </a:rPr>
              <a:t>的一个赖氨酸残基侧链共同形成“</a:t>
            </a:r>
            <a:r>
              <a:rPr lang="zh-CN" altLang="en-US" sz="2400" dirty="0">
                <a:solidFill>
                  <a:srgbClr val="0000CC"/>
                </a:solidFill>
                <a:latin typeface="Arial" panose="020B0604020202020204" pitchFamily="34" charset="0"/>
                <a:ea typeface="宋体" panose="02010600030101010101" pitchFamily="2" charset="-122"/>
              </a:rPr>
              <a:t>柔性长臂</a:t>
            </a:r>
            <a:r>
              <a:rPr lang="zh-CN" altLang="en-US" sz="2400" dirty="0">
                <a:latin typeface="Arial" panose="020B0604020202020204" pitchFamily="34" charset="0"/>
                <a:ea typeface="宋体" panose="02010600030101010101" pitchFamily="2" charset="-122"/>
              </a:rPr>
              <a:t>”</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7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183298" name="Picture 2" descr="脱氢4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87825" y="6451600"/>
            <a:ext cx="9207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299" name="Picture 3" descr="脱氢4"/>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a:xfrm>
            <a:off x="5053014" y="5414964"/>
            <a:ext cx="2808287" cy="1296987"/>
          </a:xfrm>
        </p:spPr>
      </p:pic>
      <p:pic>
        <p:nvPicPr>
          <p:cNvPr id="183300" name="Picture 4" descr="脱氢酶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6637339" y="476250"/>
            <a:ext cx="3779837" cy="1728788"/>
          </a:xfrm>
        </p:spPr>
      </p:pic>
      <p:pic>
        <p:nvPicPr>
          <p:cNvPr id="183301" name="Picture 5" descr="脱氢酶1"/>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244725" y="1341439"/>
            <a:ext cx="3240088" cy="1512887"/>
          </a:xfrm>
        </p:spPr>
      </p:pic>
      <p:pic>
        <p:nvPicPr>
          <p:cNvPr id="183302" name="Picture 6" descr="脱氢酶3"/>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781801" y="2709863"/>
            <a:ext cx="3635375" cy="1655762"/>
          </a:xfrm>
        </p:spPr>
      </p:pic>
      <p:pic>
        <p:nvPicPr>
          <p:cNvPr id="183303" name="Picture 7" descr="脱氢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93101" y="5876926"/>
            <a:ext cx="18446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04" name="Picture 8" descr="脱氢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76750" y="1"/>
            <a:ext cx="2160588"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9"/>
          <p:cNvGrpSpPr/>
          <p:nvPr/>
        </p:nvGrpSpPr>
        <p:grpSpPr bwMode="auto">
          <a:xfrm>
            <a:off x="1955801" y="4365626"/>
            <a:ext cx="3673475" cy="1319213"/>
            <a:chOff x="385" y="2750"/>
            <a:chExt cx="2314" cy="831"/>
          </a:xfrm>
        </p:grpSpPr>
        <p:pic>
          <p:nvPicPr>
            <p:cNvPr id="159772" name="Picture 10" descr="脱氢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 y="2750"/>
              <a:ext cx="1724" cy="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9773" name="Picture 11" descr="脱氢5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09" y="3067"/>
              <a:ext cx="590"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3308" name="Arc 12"/>
          <p:cNvSpPr/>
          <p:nvPr/>
        </p:nvSpPr>
        <p:spPr bwMode="auto">
          <a:xfrm>
            <a:off x="4116388" y="1341438"/>
            <a:ext cx="2749550" cy="2895600"/>
          </a:xfrm>
          <a:custGeom>
            <a:avLst/>
            <a:gdLst>
              <a:gd name="T0" fmla="*/ 0 w 20349"/>
              <a:gd name="T1" fmla="*/ 2147483646 h 21600"/>
              <a:gd name="T2" fmla="*/ 2147483646 w 20349"/>
              <a:gd name="T3" fmla="*/ 2147483646 h 21600"/>
              <a:gd name="T4" fmla="*/ 2147483646 w 20349"/>
              <a:gd name="T5" fmla="*/ 2147483646 h 21600"/>
              <a:gd name="T6" fmla="*/ 0 60000 65536"/>
              <a:gd name="T7" fmla="*/ 0 60000 65536"/>
              <a:gd name="T8" fmla="*/ 0 60000 65536"/>
              <a:gd name="T9" fmla="*/ 0 w 20349"/>
              <a:gd name="T10" fmla="*/ 0 h 21600"/>
              <a:gd name="T11" fmla="*/ 20349 w 20349"/>
              <a:gd name="T12" fmla="*/ 21600 h 21600"/>
            </a:gdLst>
            <a:ahLst/>
            <a:cxnLst>
              <a:cxn ang="T6">
                <a:pos x="T0" y="T1"/>
              </a:cxn>
              <a:cxn ang="T7">
                <a:pos x="T2" y="T3"/>
              </a:cxn>
              <a:cxn ang="T8">
                <a:pos x="T4" y="T5"/>
              </a:cxn>
            </a:cxnLst>
            <a:rect l="T9" t="T10" r="T11" b="T12"/>
            <a:pathLst>
              <a:path w="20349" h="21600" fill="none" extrusionOk="0">
                <a:moveTo>
                  <a:pt x="-1" y="7725"/>
                </a:moveTo>
                <a:cubicBezTo>
                  <a:pt x="4103" y="2828"/>
                  <a:pt x="10165" y="-1"/>
                  <a:pt x="16555" y="0"/>
                </a:cubicBezTo>
                <a:cubicBezTo>
                  <a:pt x="17827" y="0"/>
                  <a:pt x="19096" y="112"/>
                  <a:pt x="20349" y="335"/>
                </a:cubicBezTo>
              </a:path>
              <a:path w="20349" h="21600" stroke="0" extrusionOk="0">
                <a:moveTo>
                  <a:pt x="-1" y="7725"/>
                </a:moveTo>
                <a:cubicBezTo>
                  <a:pt x="4103" y="2828"/>
                  <a:pt x="10165" y="-1"/>
                  <a:pt x="16555" y="0"/>
                </a:cubicBezTo>
                <a:cubicBezTo>
                  <a:pt x="17827" y="0"/>
                  <a:pt x="19096" y="112"/>
                  <a:pt x="20349" y="335"/>
                </a:cubicBezTo>
                <a:lnTo>
                  <a:pt x="16555" y="21600"/>
                </a:lnTo>
                <a:lnTo>
                  <a:pt x="-1" y="7725"/>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09" name="Arc 13"/>
          <p:cNvSpPr/>
          <p:nvPr/>
        </p:nvSpPr>
        <p:spPr bwMode="auto">
          <a:xfrm>
            <a:off x="6203951" y="2133601"/>
            <a:ext cx="2936875" cy="1941513"/>
          </a:xfrm>
          <a:custGeom>
            <a:avLst/>
            <a:gdLst>
              <a:gd name="T0" fmla="*/ 2147483646 w 21398"/>
              <a:gd name="T1" fmla="*/ 0 h 15129"/>
              <a:gd name="T2" fmla="*/ 2147483646 w 21398"/>
              <a:gd name="T3" fmla="*/ 2147483646 h 15129"/>
              <a:gd name="T4" fmla="*/ 0 w 21398"/>
              <a:gd name="T5" fmla="*/ 2147483646 h 15129"/>
              <a:gd name="T6" fmla="*/ 0 60000 65536"/>
              <a:gd name="T7" fmla="*/ 0 60000 65536"/>
              <a:gd name="T8" fmla="*/ 0 60000 65536"/>
              <a:gd name="T9" fmla="*/ 0 w 21398"/>
              <a:gd name="T10" fmla="*/ 0 h 15129"/>
              <a:gd name="T11" fmla="*/ 21398 w 21398"/>
              <a:gd name="T12" fmla="*/ 15129 h 15129"/>
            </a:gdLst>
            <a:ahLst/>
            <a:cxnLst>
              <a:cxn ang="T6">
                <a:pos x="T0" y="T1"/>
              </a:cxn>
              <a:cxn ang="T7">
                <a:pos x="T2" y="T3"/>
              </a:cxn>
              <a:cxn ang="T8">
                <a:pos x="T4" y="T5"/>
              </a:cxn>
            </a:cxnLst>
            <a:rect l="T9" t="T10" r="T11" b="T12"/>
            <a:pathLst>
              <a:path w="21398" h="15129" fill="none" extrusionOk="0">
                <a:moveTo>
                  <a:pt x="15416" y="-1"/>
                </a:moveTo>
                <a:cubicBezTo>
                  <a:pt x="18667" y="3312"/>
                  <a:pt x="20765" y="7584"/>
                  <a:pt x="21398" y="12182"/>
                </a:cubicBezTo>
              </a:path>
              <a:path w="21398" h="15129" stroke="0" extrusionOk="0">
                <a:moveTo>
                  <a:pt x="15416" y="-1"/>
                </a:moveTo>
                <a:cubicBezTo>
                  <a:pt x="18667" y="3312"/>
                  <a:pt x="20765" y="7584"/>
                  <a:pt x="21398" y="12182"/>
                </a:cubicBezTo>
                <a:lnTo>
                  <a:pt x="0" y="15129"/>
                </a:lnTo>
                <a:lnTo>
                  <a:pt x="15416" y="-1"/>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0" name="Arc 14"/>
          <p:cNvSpPr/>
          <p:nvPr/>
        </p:nvSpPr>
        <p:spPr bwMode="auto">
          <a:xfrm>
            <a:off x="4030663" y="4076700"/>
            <a:ext cx="2398712" cy="2438400"/>
          </a:xfrm>
          <a:custGeom>
            <a:avLst/>
            <a:gdLst>
              <a:gd name="T0" fmla="*/ 2147483646 w 17640"/>
              <a:gd name="T1" fmla="*/ 2147483646 h 19025"/>
              <a:gd name="T2" fmla="*/ 0 w 17640"/>
              <a:gd name="T3" fmla="*/ 2147483646 h 19025"/>
              <a:gd name="T4" fmla="*/ 2147483646 w 17640"/>
              <a:gd name="T5" fmla="*/ 0 h 19025"/>
              <a:gd name="T6" fmla="*/ 0 60000 65536"/>
              <a:gd name="T7" fmla="*/ 0 60000 65536"/>
              <a:gd name="T8" fmla="*/ 0 60000 65536"/>
              <a:gd name="T9" fmla="*/ 0 w 17640"/>
              <a:gd name="T10" fmla="*/ 0 h 19025"/>
              <a:gd name="T11" fmla="*/ 17640 w 17640"/>
              <a:gd name="T12" fmla="*/ 19025 h 19025"/>
            </a:gdLst>
            <a:ahLst/>
            <a:cxnLst>
              <a:cxn ang="T6">
                <a:pos x="T0" y="T1"/>
              </a:cxn>
              <a:cxn ang="T7">
                <a:pos x="T2" y="T3"/>
              </a:cxn>
              <a:cxn ang="T8">
                <a:pos x="T4" y="T5"/>
              </a:cxn>
            </a:cxnLst>
            <a:rect l="T9" t="T10" r="T11" b="T12"/>
            <a:pathLst>
              <a:path w="17640" h="19025" fill="none" extrusionOk="0">
                <a:moveTo>
                  <a:pt x="7412" y="19024"/>
                </a:moveTo>
                <a:cubicBezTo>
                  <a:pt x="4467" y="17441"/>
                  <a:pt x="1929" y="15196"/>
                  <a:pt x="0" y="12465"/>
                </a:cubicBezTo>
              </a:path>
              <a:path w="17640" h="19025" stroke="0" extrusionOk="0">
                <a:moveTo>
                  <a:pt x="7412" y="19024"/>
                </a:moveTo>
                <a:cubicBezTo>
                  <a:pt x="4467" y="17441"/>
                  <a:pt x="1929" y="15196"/>
                  <a:pt x="0" y="12465"/>
                </a:cubicBezTo>
                <a:lnTo>
                  <a:pt x="17640" y="0"/>
                </a:lnTo>
                <a:lnTo>
                  <a:pt x="7412" y="19024"/>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1" name="Arc 15"/>
          <p:cNvSpPr/>
          <p:nvPr/>
        </p:nvSpPr>
        <p:spPr bwMode="auto">
          <a:xfrm>
            <a:off x="3468688" y="2867026"/>
            <a:ext cx="2997200" cy="2212975"/>
          </a:xfrm>
          <a:custGeom>
            <a:avLst/>
            <a:gdLst>
              <a:gd name="T0" fmla="*/ 2147483646 w 21600"/>
              <a:gd name="T1" fmla="*/ 2147483646 h 17245"/>
              <a:gd name="T2" fmla="*/ 2147483646 w 21600"/>
              <a:gd name="T3" fmla="*/ 0 h 17245"/>
              <a:gd name="T4" fmla="*/ 2147483646 w 21600"/>
              <a:gd name="T5" fmla="*/ 2147483646 h 17245"/>
              <a:gd name="T6" fmla="*/ 0 60000 65536"/>
              <a:gd name="T7" fmla="*/ 0 60000 65536"/>
              <a:gd name="T8" fmla="*/ 0 60000 65536"/>
              <a:gd name="T9" fmla="*/ 0 w 21600"/>
              <a:gd name="T10" fmla="*/ 0 h 17245"/>
              <a:gd name="T11" fmla="*/ 21600 w 21600"/>
              <a:gd name="T12" fmla="*/ 17245 h 17245"/>
            </a:gdLst>
            <a:ahLst/>
            <a:cxnLst>
              <a:cxn ang="T6">
                <a:pos x="T0" y="T1"/>
              </a:cxn>
              <a:cxn ang="T7">
                <a:pos x="T2" y="T3"/>
              </a:cxn>
              <a:cxn ang="T8">
                <a:pos x="T4" y="T5"/>
              </a:cxn>
            </a:cxnLst>
            <a:rect l="T9" t="T10" r="T11" b="T12"/>
            <a:pathLst>
              <a:path w="21600" h="17245" fill="none" extrusionOk="0">
                <a:moveTo>
                  <a:pt x="1420" y="17245"/>
                </a:moveTo>
                <a:cubicBezTo>
                  <a:pt x="481" y="14784"/>
                  <a:pt x="0" y="12173"/>
                  <a:pt x="0" y="9540"/>
                </a:cubicBezTo>
                <a:cubicBezTo>
                  <a:pt x="-1" y="6231"/>
                  <a:pt x="759" y="2967"/>
                  <a:pt x="2220" y="-1"/>
                </a:cubicBezTo>
              </a:path>
              <a:path w="21600" h="17245" stroke="0" extrusionOk="0">
                <a:moveTo>
                  <a:pt x="1420" y="17245"/>
                </a:moveTo>
                <a:cubicBezTo>
                  <a:pt x="481" y="14784"/>
                  <a:pt x="0" y="12173"/>
                  <a:pt x="0" y="9540"/>
                </a:cubicBezTo>
                <a:cubicBezTo>
                  <a:pt x="-1" y="6231"/>
                  <a:pt x="759" y="2967"/>
                  <a:pt x="2220" y="-1"/>
                </a:cubicBezTo>
                <a:lnTo>
                  <a:pt x="21600" y="9540"/>
                </a:lnTo>
                <a:lnTo>
                  <a:pt x="1420" y="17245"/>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2" name="Arc 16"/>
          <p:cNvSpPr/>
          <p:nvPr/>
        </p:nvSpPr>
        <p:spPr bwMode="auto">
          <a:xfrm>
            <a:off x="5303838" y="476250"/>
            <a:ext cx="635000" cy="903288"/>
          </a:xfrm>
          <a:custGeom>
            <a:avLst/>
            <a:gdLst>
              <a:gd name="T0" fmla="*/ 2147483646 w 20140"/>
              <a:gd name="T1" fmla="*/ 2147483646 h 21309"/>
              <a:gd name="T2" fmla="*/ 0 w 20140"/>
              <a:gd name="T3" fmla="*/ 2147483646 h 21309"/>
              <a:gd name="T4" fmla="*/ 2147483646 w 20140"/>
              <a:gd name="T5" fmla="*/ 0 h 21309"/>
              <a:gd name="T6" fmla="*/ 0 60000 65536"/>
              <a:gd name="T7" fmla="*/ 0 60000 65536"/>
              <a:gd name="T8" fmla="*/ 0 60000 65536"/>
              <a:gd name="T9" fmla="*/ 0 w 20140"/>
              <a:gd name="T10" fmla="*/ 0 h 21309"/>
              <a:gd name="T11" fmla="*/ 20140 w 20140"/>
              <a:gd name="T12" fmla="*/ 21309 h 21309"/>
            </a:gdLst>
            <a:ahLst/>
            <a:cxnLst>
              <a:cxn ang="T6">
                <a:pos x="T0" y="T1"/>
              </a:cxn>
              <a:cxn ang="T7">
                <a:pos x="T2" y="T3"/>
              </a:cxn>
              <a:cxn ang="T8">
                <a:pos x="T4" y="T5"/>
              </a:cxn>
            </a:cxnLst>
            <a:rect l="T9" t="T10" r="T11" b="T12"/>
            <a:pathLst>
              <a:path w="20140" h="21309" fill="none" extrusionOk="0">
                <a:moveTo>
                  <a:pt x="16605" y="21308"/>
                </a:moveTo>
                <a:cubicBezTo>
                  <a:pt x="9072" y="20059"/>
                  <a:pt x="2759" y="14925"/>
                  <a:pt x="-1" y="7806"/>
                </a:cubicBezTo>
              </a:path>
              <a:path w="20140" h="21309" stroke="0" extrusionOk="0">
                <a:moveTo>
                  <a:pt x="16605" y="21308"/>
                </a:moveTo>
                <a:cubicBezTo>
                  <a:pt x="9072" y="20059"/>
                  <a:pt x="2759" y="14925"/>
                  <a:pt x="-1" y="7806"/>
                </a:cubicBezTo>
                <a:lnTo>
                  <a:pt x="20140" y="0"/>
                </a:lnTo>
                <a:lnTo>
                  <a:pt x="16605" y="21308"/>
                </a:lnTo>
                <a:close/>
              </a:path>
            </a:pathLst>
          </a:cu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3" name="Arc 17"/>
          <p:cNvSpPr/>
          <p:nvPr/>
        </p:nvSpPr>
        <p:spPr bwMode="auto">
          <a:xfrm>
            <a:off x="5916613" y="1377950"/>
            <a:ext cx="544512" cy="515938"/>
          </a:xfrm>
          <a:custGeom>
            <a:avLst/>
            <a:gdLst>
              <a:gd name="T0" fmla="*/ 0 w 22665"/>
              <a:gd name="T1" fmla="*/ 2147483646 h 21600"/>
              <a:gd name="T2" fmla="*/ 2147483646 w 22665"/>
              <a:gd name="T3" fmla="*/ 2147483646 h 21600"/>
              <a:gd name="T4" fmla="*/ 2147483646 w 22665"/>
              <a:gd name="T5" fmla="*/ 2147483646 h 21600"/>
              <a:gd name="T6" fmla="*/ 0 60000 65536"/>
              <a:gd name="T7" fmla="*/ 0 60000 65536"/>
              <a:gd name="T8" fmla="*/ 0 60000 65536"/>
              <a:gd name="T9" fmla="*/ 0 w 22665"/>
              <a:gd name="T10" fmla="*/ 0 h 21600"/>
              <a:gd name="T11" fmla="*/ 22665 w 22665"/>
              <a:gd name="T12" fmla="*/ 21600 h 21600"/>
            </a:gdLst>
            <a:ahLst/>
            <a:cxnLst>
              <a:cxn ang="T6">
                <a:pos x="T0" y="T1"/>
              </a:cxn>
              <a:cxn ang="T7">
                <a:pos x="T2" y="T3"/>
              </a:cxn>
              <a:cxn ang="T8">
                <a:pos x="T4" y="T5"/>
              </a:cxn>
            </a:cxnLst>
            <a:rect l="T9" t="T10" r="T11" b="T12"/>
            <a:pathLst>
              <a:path w="22665" h="21600" fill="none" extrusionOk="0">
                <a:moveTo>
                  <a:pt x="0" y="26"/>
                </a:moveTo>
                <a:cubicBezTo>
                  <a:pt x="356" y="8"/>
                  <a:pt x="713" y="-1"/>
                  <a:pt x="1070" y="0"/>
                </a:cubicBezTo>
                <a:cubicBezTo>
                  <a:pt x="12810" y="0"/>
                  <a:pt x="22401" y="9378"/>
                  <a:pt x="22664" y="21116"/>
                </a:cubicBezTo>
              </a:path>
              <a:path w="22665" h="21600" stroke="0" extrusionOk="0">
                <a:moveTo>
                  <a:pt x="0" y="26"/>
                </a:moveTo>
                <a:cubicBezTo>
                  <a:pt x="356" y="8"/>
                  <a:pt x="713" y="-1"/>
                  <a:pt x="1070" y="0"/>
                </a:cubicBezTo>
                <a:cubicBezTo>
                  <a:pt x="12810" y="0"/>
                  <a:pt x="22401" y="9378"/>
                  <a:pt x="22664" y="21116"/>
                </a:cubicBezTo>
                <a:lnTo>
                  <a:pt x="1070" y="21600"/>
                </a:lnTo>
                <a:lnTo>
                  <a:pt x="0" y="26"/>
                </a:lnTo>
                <a:close/>
              </a:path>
            </a:pathLst>
          </a:custGeom>
          <a:noFill/>
          <a:ln w="190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4" name="Text Box 18"/>
          <p:cNvSpPr txBox="1">
            <a:spLocks noChangeArrowheads="1"/>
          </p:cNvSpPr>
          <p:nvPr/>
        </p:nvSpPr>
        <p:spPr bwMode="auto">
          <a:xfrm>
            <a:off x="6061075" y="1820863"/>
            <a:ext cx="7601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00"/>
                </a:solidFill>
                <a:latin typeface="Arial" panose="020B0604020202020204" pitchFamily="34" charset="0"/>
                <a:ea typeface="宋体" panose="02010600030101010101" pitchFamily="2" charset="-122"/>
              </a:rPr>
              <a:t>CO</a:t>
            </a:r>
            <a:r>
              <a:rPr kumimoji="1" lang="en-US" altLang="zh-CN" sz="2000" baseline="-25000">
                <a:solidFill>
                  <a:srgbClr val="000000"/>
                </a:solidFill>
                <a:latin typeface="Arial" panose="020B0604020202020204" pitchFamily="34" charset="0"/>
                <a:ea typeface="宋体" panose="02010600030101010101" pitchFamily="2" charset="-122"/>
              </a:rPr>
              <a:t>2  </a:t>
            </a:r>
            <a:endParaRPr kumimoji="1" lang="en-US" altLang="zh-CN" sz="2000" baseline="-25000">
              <a:solidFill>
                <a:srgbClr val="000000"/>
              </a:solidFill>
              <a:latin typeface="Arial" panose="020B0604020202020204" pitchFamily="34" charset="0"/>
              <a:ea typeface="宋体" panose="02010600030101010101" pitchFamily="2" charset="-122"/>
            </a:endParaRPr>
          </a:p>
        </p:txBody>
      </p:sp>
      <p:sp>
        <p:nvSpPr>
          <p:cNvPr id="183315" name="Arc 19"/>
          <p:cNvSpPr/>
          <p:nvPr/>
        </p:nvSpPr>
        <p:spPr bwMode="auto">
          <a:xfrm>
            <a:off x="8759825" y="4941889"/>
            <a:ext cx="681038" cy="1208087"/>
          </a:xfrm>
          <a:custGeom>
            <a:avLst/>
            <a:gdLst>
              <a:gd name="T0" fmla="*/ 2147483646 w 21600"/>
              <a:gd name="T1" fmla="*/ 2147483646 h 28534"/>
              <a:gd name="T2" fmla="*/ 2147483646 w 21600"/>
              <a:gd name="T3" fmla="*/ 0 h 28534"/>
              <a:gd name="T4" fmla="*/ 2147483646 w 21600"/>
              <a:gd name="T5" fmla="*/ 2147483646 h 28534"/>
              <a:gd name="T6" fmla="*/ 0 60000 65536"/>
              <a:gd name="T7" fmla="*/ 0 60000 65536"/>
              <a:gd name="T8" fmla="*/ 0 60000 65536"/>
              <a:gd name="T9" fmla="*/ 0 w 21600"/>
              <a:gd name="T10" fmla="*/ 0 h 28534"/>
              <a:gd name="T11" fmla="*/ 21600 w 21600"/>
              <a:gd name="T12" fmla="*/ 28534 h 28534"/>
            </a:gdLst>
            <a:ahLst/>
            <a:cxnLst>
              <a:cxn ang="T6">
                <a:pos x="T0" y="T1"/>
              </a:cxn>
              <a:cxn ang="T7">
                <a:pos x="T2" y="T3"/>
              </a:cxn>
              <a:cxn ang="T8">
                <a:pos x="T4" y="T5"/>
              </a:cxn>
            </a:cxnLst>
            <a:rect l="T9" t="T10" r="T11" b="T12"/>
            <a:pathLst>
              <a:path w="21600" h="28534" fill="none" extrusionOk="0">
                <a:moveTo>
                  <a:pt x="1318" y="28534"/>
                </a:moveTo>
                <a:cubicBezTo>
                  <a:pt x="446" y="26153"/>
                  <a:pt x="0" y="23637"/>
                  <a:pt x="0" y="21102"/>
                </a:cubicBezTo>
                <a:cubicBezTo>
                  <a:pt x="-1" y="10949"/>
                  <a:pt x="7070" y="2166"/>
                  <a:pt x="16989" y="-1"/>
                </a:cubicBezTo>
              </a:path>
              <a:path w="21600" h="28534" stroke="0" extrusionOk="0">
                <a:moveTo>
                  <a:pt x="1318" y="28534"/>
                </a:moveTo>
                <a:cubicBezTo>
                  <a:pt x="446" y="26153"/>
                  <a:pt x="0" y="23637"/>
                  <a:pt x="0" y="21102"/>
                </a:cubicBezTo>
                <a:cubicBezTo>
                  <a:pt x="-1" y="10949"/>
                  <a:pt x="7070" y="2166"/>
                  <a:pt x="16989" y="-1"/>
                </a:cubicBezTo>
                <a:lnTo>
                  <a:pt x="21600" y="21102"/>
                </a:lnTo>
                <a:lnTo>
                  <a:pt x="1318" y="28534"/>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6" name="Text Box 20"/>
          <p:cNvSpPr txBox="1">
            <a:spLocks noChangeArrowheads="1"/>
          </p:cNvSpPr>
          <p:nvPr/>
        </p:nvSpPr>
        <p:spPr bwMode="auto">
          <a:xfrm>
            <a:off x="9191625" y="4724401"/>
            <a:ext cx="10620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00"/>
                </a:solidFill>
                <a:latin typeface="Arial" panose="020B0604020202020204" pitchFamily="34" charset="0"/>
                <a:ea typeface="宋体" panose="02010600030101010101" pitchFamily="2" charset="-122"/>
              </a:rPr>
              <a:t>CoASH</a:t>
            </a:r>
            <a:endParaRPr kumimoji="1" lang="en-US" altLang="zh-CN" sz="2000">
              <a:solidFill>
                <a:srgbClr val="000000"/>
              </a:solidFill>
              <a:latin typeface="Arial" panose="020B0604020202020204" pitchFamily="34" charset="0"/>
              <a:ea typeface="宋体" panose="02010600030101010101" pitchFamily="2" charset="-122"/>
            </a:endParaRPr>
          </a:p>
        </p:txBody>
      </p:sp>
      <p:sp>
        <p:nvSpPr>
          <p:cNvPr id="183317" name="Arc 21"/>
          <p:cNvSpPr/>
          <p:nvPr/>
        </p:nvSpPr>
        <p:spPr bwMode="auto">
          <a:xfrm>
            <a:off x="3036888" y="3284539"/>
            <a:ext cx="431800" cy="1311275"/>
          </a:xfrm>
          <a:custGeom>
            <a:avLst/>
            <a:gdLst>
              <a:gd name="T0" fmla="*/ 2147483646 w 21600"/>
              <a:gd name="T1" fmla="*/ 0 h 42890"/>
              <a:gd name="T2" fmla="*/ 2147483646 w 21600"/>
              <a:gd name="T3" fmla="*/ 2147483646 h 42890"/>
              <a:gd name="T4" fmla="*/ 0 w 21600"/>
              <a:gd name="T5" fmla="*/ 2147483646 h 42890"/>
              <a:gd name="T6" fmla="*/ 0 60000 65536"/>
              <a:gd name="T7" fmla="*/ 0 60000 65536"/>
              <a:gd name="T8" fmla="*/ 0 60000 65536"/>
              <a:gd name="T9" fmla="*/ 0 w 21600"/>
              <a:gd name="T10" fmla="*/ 0 h 42890"/>
              <a:gd name="T11" fmla="*/ 21600 w 21600"/>
              <a:gd name="T12" fmla="*/ 42890 h 42890"/>
            </a:gdLst>
            <a:ahLst/>
            <a:cxnLst>
              <a:cxn ang="T6">
                <a:pos x="T0" y="T1"/>
              </a:cxn>
              <a:cxn ang="T7">
                <a:pos x="T2" y="T3"/>
              </a:cxn>
              <a:cxn ang="T8">
                <a:pos x="T4" y="T5"/>
              </a:cxn>
            </a:cxnLst>
            <a:rect l="T9" t="T10" r="T11" b="T12"/>
            <a:pathLst>
              <a:path w="21600" h="42890" fill="none" extrusionOk="0">
                <a:moveTo>
                  <a:pt x="3375" y="0"/>
                </a:moveTo>
                <a:cubicBezTo>
                  <a:pt x="13871" y="1661"/>
                  <a:pt x="21600" y="10708"/>
                  <a:pt x="21600" y="21335"/>
                </a:cubicBezTo>
                <a:cubicBezTo>
                  <a:pt x="21600" y="32725"/>
                  <a:pt x="12754" y="42158"/>
                  <a:pt x="1387" y="42890"/>
                </a:cubicBezTo>
              </a:path>
              <a:path w="21600" h="42890" stroke="0" extrusionOk="0">
                <a:moveTo>
                  <a:pt x="3375" y="0"/>
                </a:moveTo>
                <a:cubicBezTo>
                  <a:pt x="13871" y="1661"/>
                  <a:pt x="21600" y="10708"/>
                  <a:pt x="21600" y="21335"/>
                </a:cubicBezTo>
                <a:cubicBezTo>
                  <a:pt x="21600" y="32725"/>
                  <a:pt x="12754" y="42158"/>
                  <a:pt x="1387" y="42890"/>
                </a:cubicBezTo>
                <a:lnTo>
                  <a:pt x="0" y="21335"/>
                </a:lnTo>
                <a:lnTo>
                  <a:pt x="3375" y="0"/>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3318" name="Text Box 22"/>
          <p:cNvSpPr txBox="1">
            <a:spLocks noChangeArrowheads="1"/>
          </p:cNvSpPr>
          <p:nvPr/>
        </p:nvSpPr>
        <p:spPr bwMode="auto">
          <a:xfrm>
            <a:off x="2279651" y="4365625"/>
            <a:ext cx="8418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00"/>
                </a:solidFill>
                <a:latin typeface="Arial" panose="020B0604020202020204" pitchFamily="34" charset="0"/>
                <a:ea typeface="宋体" panose="02010600030101010101" pitchFamily="2" charset="-122"/>
              </a:rPr>
              <a:t>NAD</a:t>
            </a:r>
            <a:r>
              <a:rPr kumimoji="1" lang="en-US" altLang="zh-CN" sz="2000" baseline="30000">
                <a:solidFill>
                  <a:srgbClr val="000000"/>
                </a:solidFill>
                <a:latin typeface="Arial" panose="020B0604020202020204" pitchFamily="34" charset="0"/>
                <a:ea typeface="宋体" panose="02010600030101010101" pitchFamily="2" charset="-122"/>
              </a:rPr>
              <a:t>+</a:t>
            </a:r>
            <a:endParaRPr kumimoji="1" lang="en-US" altLang="zh-CN" sz="2000" baseline="30000">
              <a:solidFill>
                <a:srgbClr val="000000"/>
              </a:solidFill>
              <a:latin typeface="Arial" panose="020B0604020202020204" pitchFamily="34" charset="0"/>
              <a:ea typeface="宋体" panose="02010600030101010101" pitchFamily="2" charset="-122"/>
            </a:endParaRPr>
          </a:p>
        </p:txBody>
      </p:sp>
      <p:sp>
        <p:nvSpPr>
          <p:cNvPr id="183319" name="Text Box 23"/>
          <p:cNvSpPr txBox="1">
            <a:spLocks noChangeArrowheads="1"/>
          </p:cNvSpPr>
          <p:nvPr/>
        </p:nvSpPr>
        <p:spPr bwMode="auto">
          <a:xfrm>
            <a:off x="1774825" y="3068638"/>
            <a:ext cx="13628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000000"/>
                </a:solidFill>
                <a:latin typeface="Arial" panose="020B0604020202020204" pitchFamily="34" charset="0"/>
                <a:ea typeface="宋体" panose="02010600030101010101" pitchFamily="2" charset="-122"/>
              </a:rPr>
              <a:t>NADH+H</a:t>
            </a:r>
            <a:r>
              <a:rPr kumimoji="1" lang="en-US" altLang="zh-CN" sz="2000" baseline="30000">
                <a:solidFill>
                  <a:srgbClr val="000000"/>
                </a:solidFill>
                <a:latin typeface="Arial" panose="020B0604020202020204" pitchFamily="34" charset="0"/>
                <a:ea typeface="宋体" panose="02010600030101010101" pitchFamily="2" charset="-122"/>
              </a:rPr>
              <a:t>+</a:t>
            </a:r>
            <a:endParaRPr kumimoji="1" lang="en-US" altLang="zh-CN" sz="2000" baseline="30000">
              <a:solidFill>
                <a:srgbClr val="000000"/>
              </a:solidFill>
              <a:latin typeface="Arial" panose="020B0604020202020204" pitchFamily="34" charset="0"/>
              <a:ea typeface="宋体" panose="02010600030101010101" pitchFamily="2" charset="-122"/>
            </a:endParaRPr>
          </a:p>
        </p:txBody>
      </p:sp>
      <p:sp>
        <p:nvSpPr>
          <p:cNvPr id="183320" name="Text Box 24"/>
          <p:cNvSpPr txBox="1">
            <a:spLocks noChangeArrowheads="1"/>
          </p:cNvSpPr>
          <p:nvPr/>
        </p:nvSpPr>
        <p:spPr bwMode="auto">
          <a:xfrm>
            <a:off x="1812926" y="3573464"/>
            <a:ext cx="1762125" cy="648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68605" indent="-2686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kumimoji="1" lang="zh-CN" altLang="en-US" sz="2000">
                <a:latin typeface="Arial" panose="020B0604020202020204" pitchFamily="34" charset="0"/>
              </a:rPr>
              <a:t>5.</a:t>
            </a:r>
            <a:r>
              <a:rPr kumimoji="1" lang="zh-CN" altLang="en-US" sz="1800">
                <a:latin typeface="Arial" panose="020B0604020202020204" pitchFamily="34" charset="0"/>
              </a:rPr>
              <a:t> </a:t>
            </a:r>
            <a:r>
              <a:rPr kumimoji="1" lang="en-US" altLang="zh-CN" sz="2000">
                <a:latin typeface="Arial" panose="020B0604020202020204" pitchFamily="34" charset="0"/>
              </a:rPr>
              <a:t>NADH+H</a:t>
            </a:r>
            <a:r>
              <a:rPr kumimoji="1" lang="en-US" altLang="zh-CN" sz="2000" baseline="30000">
                <a:latin typeface="Arial" panose="020B0604020202020204" pitchFamily="34" charset="0"/>
              </a:rPr>
              <a:t>+</a:t>
            </a:r>
            <a:r>
              <a:rPr kumimoji="1" lang="zh-CN" altLang="en-US" sz="2000">
                <a:latin typeface="Arial" panose="020B0604020202020204" pitchFamily="34" charset="0"/>
                <a:ea typeface="华文楷体" panose="02010600040101010101" pitchFamily="2" charset="-122"/>
              </a:rPr>
              <a:t>的生成</a:t>
            </a:r>
            <a:endParaRPr kumimoji="1" lang="zh-CN" altLang="en-US" sz="2000" baseline="30000">
              <a:latin typeface="Arial" panose="020B0604020202020204" pitchFamily="34" charset="0"/>
              <a:ea typeface="华文楷体" panose="02010600040101010101" pitchFamily="2" charset="-122"/>
            </a:endParaRPr>
          </a:p>
        </p:txBody>
      </p:sp>
      <p:sp>
        <p:nvSpPr>
          <p:cNvPr id="183321" name="Rectangle 25">
            <a:hlinkClick r:id="rId10" action="ppaction://hlinksldjump"/>
          </p:cNvPr>
          <p:cNvSpPr>
            <a:spLocks noChangeArrowheads="1"/>
          </p:cNvSpPr>
          <p:nvPr/>
        </p:nvSpPr>
        <p:spPr bwMode="auto">
          <a:xfrm>
            <a:off x="1992314" y="836614"/>
            <a:ext cx="296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1. </a:t>
            </a:r>
            <a:r>
              <a:rPr kumimoji="1" lang="el-GR" altLang="zh-CN" sz="2000">
                <a:latin typeface="Arial" panose="020B0604020202020204" pitchFamily="34" charset="0"/>
                <a:ea typeface="宋体" panose="02010600030101010101" pitchFamily="2" charset="-122"/>
                <a:sym typeface="Symbol" panose="05050102010706020507" pitchFamily="18" charset="2"/>
              </a:rPr>
              <a:t></a:t>
            </a:r>
            <a:r>
              <a:rPr kumimoji="1" lang="zh-CN" altLang="en-US" sz="2000">
                <a:latin typeface="Arial" panose="020B0604020202020204" pitchFamily="34" charset="0"/>
                <a:ea typeface="宋体" panose="02010600030101010101" pitchFamily="2" charset="-122"/>
              </a:rPr>
              <a:t>-羟乙基-</a:t>
            </a:r>
            <a:r>
              <a:rPr kumimoji="1" lang="en-US" altLang="zh-CN" sz="2000">
                <a:latin typeface="Arial" panose="020B0604020202020204" pitchFamily="34" charset="0"/>
                <a:ea typeface="宋体" panose="02010600030101010101" pitchFamily="2" charset="-122"/>
              </a:rPr>
              <a:t>TPP</a:t>
            </a:r>
            <a:r>
              <a:rPr kumimoji="1" lang="zh-CN" altLang="en-US" sz="2000">
                <a:latin typeface="Arial" panose="020B0604020202020204" pitchFamily="34" charset="0"/>
                <a:ea typeface="宋体" panose="02010600030101010101" pitchFamily="2" charset="-122"/>
              </a:rPr>
              <a:t>的生成  </a:t>
            </a:r>
            <a:endParaRPr kumimoji="1" lang="zh-CN" altLang="el-GR" sz="2000">
              <a:latin typeface="Arial" panose="020B0604020202020204" pitchFamily="34" charset="0"/>
              <a:ea typeface="宋体" panose="02010600030101010101" pitchFamily="2" charset="-122"/>
            </a:endParaRPr>
          </a:p>
        </p:txBody>
      </p:sp>
      <p:sp>
        <p:nvSpPr>
          <p:cNvPr id="183322" name="Rectangle 26">
            <a:hlinkClick r:id="rId11" action="ppaction://hlinksldjump"/>
          </p:cNvPr>
          <p:cNvSpPr>
            <a:spLocks noChangeArrowheads="1"/>
          </p:cNvSpPr>
          <p:nvPr/>
        </p:nvSpPr>
        <p:spPr bwMode="auto">
          <a:xfrm>
            <a:off x="8688388" y="2276476"/>
            <a:ext cx="1816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a:spcBef>
                <a:spcPct val="20000"/>
              </a:spcBef>
              <a:buClr>
                <a:schemeClr val="hlink"/>
              </a:buClr>
              <a:buSzPct val="75000"/>
              <a:buFont typeface="Wingdings" panose="05000000000000000000" pitchFamily="2" charset="2"/>
              <a:buChar char="v"/>
              <a:tabLst>
                <a:tab pos="267970" algn="l"/>
              </a:tabLst>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tabLst>
                <a:tab pos="267970" algn="l"/>
              </a:tabLst>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tabLst>
                <a:tab pos="267970" algn="l"/>
              </a:tabLst>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tabLst>
                <a:tab pos="267970" algn="l"/>
              </a:tabLst>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tabLst>
                <a:tab pos="267970" algn="l"/>
              </a:tabLst>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tabLst>
                <a:tab pos="267970" algn="l"/>
              </a:tabLst>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tabLst>
                <a:tab pos="267970" algn="l"/>
              </a:tabLst>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tabLst>
                <a:tab pos="267970" algn="l"/>
              </a:tabLst>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tabLst>
                <a:tab pos="267970" algn="l"/>
              </a:tabLst>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2.乙酰硫辛酰胺的生成  </a:t>
            </a:r>
            <a:endParaRPr kumimoji="1" lang="zh-CN" altLang="en-US" sz="2000">
              <a:latin typeface="Arial" panose="020B0604020202020204" pitchFamily="34" charset="0"/>
              <a:ea typeface="华文楷体" panose="02010600040101010101" pitchFamily="2" charset="-122"/>
            </a:endParaRPr>
          </a:p>
        </p:txBody>
      </p:sp>
      <p:sp>
        <p:nvSpPr>
          <p:cNvPr id="183323" name="Rectangle 27">
            <a:hlinkClick r:id="rId12" action="ppaction://hlinksldjump"/>
          </p:cNvPr>
          <p:cNvSpPr>
            <a:spLocks noChangeArrowheads="1"/>
          </p:cNvSpPr>
          <p:nvPr/>
        </p:nvSpPr>
        <p:spPr bwMode="auto">
          <a:xfrm>
            <a:off x="8796339" y="5229225"/>
            <a:ext cx="15843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kumimoji="1" lang="zh-CN" altLang="en-US" sz="2000">
                <a:latin typeface="Arial" panose="020B0604020202020204" pitchFamily="34" charset="0"/>
                <a:ea typeface="华文楷体" panose="02010600040101010101" pitchFamily="2" charset="-122"/>
              </a:rPr>
              <a:t>3.乙酰</a:t>
            </a:r>
            <a:r>
              <a:rPr kumimoji="1" lang="en-US" altLang="zh-CN" sz="2000">
                <a:latin typeface="Arial" panose="020B0604020202020204" pitchFamily="34" charset="0"/>
                <a:ea typeface="华文楷体" panose="02010600040101010101" pitchFamily="2" charset="-122"/>
              </a:rPr>
              <a:t>CoA</a:t>
            </a:r>
            <a:r>
              <a:rPr kumimoji="1" lang="zh-CN" altLang="en-US" sz="2000">
                <a:latin typeface="Arial" panose="020B0604020202020204" pitchFamily="34" charset="0"/>
                <a:ea typeface="华文楷体" panose="02010600040101010101" pitchFamily="2" charset="-122"/>
              </a:rPr>
              <a:t>的生成</a:t>
            </a:r>
            <a:endParaRPr kumimoji="1" lang="zh-CN" altLang="en-US" sz="2000">
              <a:latin typeface="Arial" panose="020B0604020202020204" pitchFamily="34" charset="0"/>
              <a:ea typeface="华文楷体" panose="02010600040101010101" pitchFamily="2" charset="-122"/>
            </a:endParaRPr>
          </a:p>
        </p:txBody>
      </p:sp>
      <p:sp>
        <p:nvSpPr>
          <p:cNvPr id="183324" name="Rectangle 28">
            <a:hlinkClick r:id="rId13" action="ppaction://hlinksldjump"/>
          </p:cNvPr>
          <p:cNvSpPr>
            <a:spLocks noChangeArrowheads="1"/>
          </p:cNvSpPr>
          <p:nvPr/>
        </p:nvSpPr>
        <p:spPr bwMode="auto">
          <a:xfrm>
            <a:off x="2208214" y="5949951"/>
            <a:ext cx="23828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4. 硫辛酰胺的生成  </a:t>
            </a:r>
            <a:endParaRPr kumimoji="1" lang="zh-CN" altLang="en-US" sz="2000">
              <a:latin typeface="Arial" panose="020B0604020202020204" pitchFamily="34" charset="0"/>
              <a:ea typeface="华文楷体" panose="02010600040101010101" pitchFamily="2" charset="-122"/>
            </a:endParaRPr>
          </a:p>
        </p:txBody>
      </p:sp>
      <p:sp>
        <p:nvSpPr>
          <p:cNvPr id="183325" name="Arc 29"/>
          <p:cNvSpPr/>
          <p:nvPr/>
        </p:nvSpPr>
        <p:spPr bwMode="auto">
          <a:xfrm>
            <a:off x="6527800" y="4149726"/>
            <a:ext cx="2622550" cy="2447925"/>
          </a:xfrm>
          <a:custGeom>
            <a:avLst/>
            <a:gdLst>
              <a:gd name="T0" fmla="*/ 2147483646 w 21572"/>
              <a:gd name="T1" fmla="*/ 2147483646 h 21144"/>
              <a:gd name="T2" fmla="*/ 2147483646 w 21572"/>
              <a:gd name="T3" fmla="*/ 2147483646 h 21144"/>
              <a:gd name="T4" fmla="*/ 0 w 21572"/>
              <a:gd name="T5" fmla="*/ 0 h 21144"/>
              <a:gd name="T6" fmla="*/ 0 60000 65536"/>
              <a:gd name="T7" fmla="*/ 0 60000 65536"/>
              <a:gd name="T8" fmla="*/ 0 60000 65536"/>
              <a:gd name="T9" fmla="*/ 0 w 21572"/>
              <a:gd name="T10" fmla="*/ 0 h 21144"/>
              <a:gd name="T11" fmla="*/ 21572 w 21572"/>
              <a:gd name="T12" fmla="*/ 21144 h 21144"/>
            </a:gdLst>
            <a:ahLst/>
            <a:cxnLst>
              <a:cxn ang="T6">
                <a:pos x="T0" y="T1"/>
              </a:cxn>
              <a:cxn ang="T7">
                <a:pos x="T2" y="T3"/>
              </a:cxn>
              <a:cxn ang="T8">
                <a:pos x="T4" y="T5"/>
              </a:cxn>
            </a:cxnLst>
            <a:rect l="T9" t="T10" r="T11" b="T12"/>
            <a:pathLst>
              <a:path w="21572" h="21144" fill="none" extrusionOk="0">
                <a:moveTo>
                  <a:pt x="21571" y="1104"/>
                </a:moveTo>
                <a:cubicBezTo>
                  <a:pt x="21069" y="10906"/>
                  <a:pt x="14022" y="19137"/>
                  <a:pt x="4414" y="21143"/>
                </a:cubicBezTo>
              </a:path>
              <a:path w="21572" h="21144" stroke="0" extrusionOk="0">
                <a:moveTo>
                  <a:pt x="21571" y="1104"/>
                </a:moveTo>
                <a:cubicBezTo>
                  <a:pt x="21069" y="10906"/>
                  <a:pt x="14022" y="19137"/>
                  <a:pt x="4414" y="21143"/>
                </a:cubicBezTo>
                <a:lnTo>
                  <a:pt x="0" y="0"/>
                </a:lnTo>
                <a:lnTo>
                  <a:pt x="21571" y="1104"/>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83321"/>
                                        </p:tgtEl>
                                        <p:attrNameLst>
                                          <p:attrName>style.visibility</p:attrName>
                                        </p:attrNameLst>
                                      </p:cBhvr>
                                      <p:to>
                                        <p:strVal val="visible"/>
                                      </p:to>
                                    </p:set>
                                    <p:animEffect transition="in" filter="dissolve">
                                      <p:cBhvr>
                                        <p:cTn id="7" dur="500"/>
                                        <p:tgtEl>
                                          <p:spTgt spid="183321"/>
                                        </p:tgtEl>
                                      </p:cBhvr>
                                    </p:animEffect>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183304"/>
                                        </p:tgtEl>
                                        <p:attrNameLst>
                                          <p:attrName>style.visibility</p:attrName>
                                        </p:attrNameLst>
                                      </p:cBhvr>
                                      <p:to>
                                        <p:strVal val="visible"/>
                                      </p:to>
                                    </p:set>
                                    <p:anim calcmode="lin" valueType="num">
                                      <p:cBhvr additive="base">
                                        <p:cTn id="11" dur="500" fill="hold"/>
                                        <p:tgtEl>
                                          <p:spTgt spid="183304"/>
                                        </p:tgtEl>
                                        <p:attrNameLst>
                                          <p:attrName>ppt_x</p:attrName>
                                        </p:attrNameLst>
                                      </p:cBhvr>
                                      <p:tavLst>
                                        <p:tav tm="0">
                                          <p:val>
                                            <p:strVal val="#ppt_x"/>
                                          </p:val>
                                        </p:tav>
                                        <p:tav tm="100000">
                                          <p:val>
                                            <p:strVal val="#ppt_x"/>
                                          </p:val>
                                        </p:tav>
                                      </p:tavLst>
                                    </p:anim>
                                    <p:anim calcmode="lin" valueType="num">
                                      <p:cBhvr additive="base">
                                        <p:cTn id="12" dur="500" fill="hold"/>
                                        <p:tgtEl>
                                          <p:spTgt spid="183304"/>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4" presetClass="entr" presetSubtype="16" fill="hold" nodeType="afterEffect">
                                  <p:stCondLst>
                                    <p:cond delay="0"/>
                                  </p:stCondLst>
                                  <p:childTnLst>
                                    <p:set>
                                      <p:cBhvr>
                                        <p:cTn id="15" dur="1" fill="hold">
                                          <p:stCondLst>
                                            <p:cond delay="0"/>
                                          </p:stCondLst>
                                        </p:cTn>
                                        <p:tgtEl>
                                          <p:spTgt spid="183301"/>
                                        </p:tgtEl>
                                        <p:attrNameLst>
                                          <p:attrName>style.visibility</p:attrName>
                                        </p:attrNameLst>
                                      </p:cBhvr>
                                      <p:to>
                                        <p:strVal val="visible"/>
                                      </p:to>
                                    </p:set>
                                    <p:animEffect transition="in" filter="box(in)">
                                      <p:cBhvr>
                                        <p:cTn id="16" dur="500"/>
                                        <p:tgtEl>
                                          <p:spTgt spid="183301"/>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183308"/>
                                        </p:tgtEl>
                                        <p:attrNameLst>
                                          <p:attrName>style.visibility</p:attrName>
                                        </p:attrNameLst>
                                      </p:cBhvr>
                                      <p:to>
                                        <p:strVal val="visible"/>
                                      </p:to>
                                    </p:set>
                                    <p:animEffect transition="in" filter="wipe(left)">
                                      <p:cBhvr>
                                        <p:cTn id="20" dur="500"/>
                                        <p:tgtEl>
                                          <p:spTgt spid="183308"/>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183312"/>
                                        </p:tgtEl>
                                        <p:attrNameLst>
                                          <p:attrName>style.visibility</p:attrName>
                                        </p:attrNameLst>
                                      </p:cBhvr>
                                      <p:to>
                                        <p:strVal val="visible"/>
                                      </p:to>
                                    </p:set>
                                    <p:animEffect transition="in" filter="wipe(left)">
                                      <p:cBhvr>
                                        <p:cTn id="24" dur="500"/>
                                        <p:tgtEl>
                                          <p:spTgt spid="183312"/>
                                        </p:tgtEl>
                                      </p:cBhvr>
                                    </p:animEffect>
                                  </p:childTnLst>
                                </p:cTn>
                              </p:par>
                            </p:childTnLst>
                          </p:cTn>
                        </p:par>
                        <p:par>
                          <p:cTn id="25" fill="hold">
                            <p:stCondLst>
                              <p:cond delay="2500"/>
                            </p:stCondLst>
                            <p:childTnLst>
                              <p:par>
                                <p:cTn id="26" presetID="18" presetClass="entr" presetSubtype="6" fill="hold" nodeType="afterEffect">
                                  <p:stCondLst>
                                    <p:cond delay="0"/>
                                  </p:stCondLst>
                                  <p:childTnLst>
                                    <p:set>
                                      <p:cBhvr>
                                        <p:cTn id="27" dur="1" fill="hold">
                                          <p:stCondLst>
                                            <p:cond delay="0"/>
                                          </p:stCondLst>
                                        </p:cTn>
                                        <p:tgtEl>
                                          <p:spTgt spid="183300"/>
                                        </p:tgtEl>
                                        <p:attrNameLst>
                                          <p:attrName>style.visibility</p:attrName>
                                        </p:attrNameLst>
                                      </p:cBhvr>
                                      <p:to>
                                        <p:strVal val="visible"/>
                                      </p:to>
                                    </p:set>
                                    <p:animEffect transition="in" filter="strips(downRight)">
                                      <p:cBhvr>
                                        <p:cTn id="28" dur="500"/>
                                        <p:tgtEl>
                                          <p:spTgt spid="183300"/>
                                        </p:tgtEl>
                                      </p:cBhvr>
                                    </p:animEffect>
                                  </p:childTnLst>
                                </p:cTn>
                              </p:par>
                            </p:childTnLst>
                          </p:cTn>
                        </p:par>
                        <p:par>
                          <p:cTn id="29" fill="hold">
                            <p:stCondLst>
                              <p:cond delay="3000"/>
                            </p:stCondLst>
                            <p:childTnLst>
                              <p:par>
                                <p:cTn id="30" presetID="22" presetClass="entr" presetSubtype="8" fill="hold" nodeType="afterEffect">
                                  <p:stCondLst>
                                    <p:cond delay="0"/>
                                  </p:stCondLst>
                                  <p:childTnLst>
                                    <p:set>
                                      <p:cBhvr>
                                        <p:cTn id="31" dur="1" fill="hold">
                                          <p:stCondLst>
                                            <p:cond delay="0"/>
                                          </p:stCondLst>
                                        </p:cTn>
                                        <p:tgtEl>
                                          <p:spTgt spid="183313"/>
                                        </p:tgtEl>
                                        <p:attrNameLst>
                                          <p:attrName>style.visibility</p:attrName>
                                        </p:attrNameLst>
                                      </p:cBhvr>
                                      <p:to>
                                        <p:strVal val="visible"/>
                                      </p:to>
                                    </p:set>
                                    <p:animEffect transition="in" filter="wipe(left)">
                                      <p:cBhvr>
                                        <p:cTn id="32" dur="500"/>
                                        <p:tgtEl>
                                          <p:spTgt spid="183313"/>
                                        </p:tgtEl>
                                      </p:cBhvr>
                                    </p:animEffect>
                                  </p:childTnLst>
                                </p:cTn>
                              </p:par>
                            </p:childTnLst>
                          </p:cTn>
                        </p:par>
                        <p:par>
                          <p:cTn id="33" fill="hold">
                            <p:stCondLst>
                              <p:cond delay="3500"/>
                            </p:stCondLst>
                            <p:childTnLst>
                              <p:par>
                                <p:cTn id="34" presetID="17" presetClass="entr" presetSubtype="10" fill="hold" grpId="0" nodeType="afterEffect">
                                  <p:stCondLst>
                                    <p:cond delay="0"/>
                                  </p:stCondLst>
                                  <p:childTnLst>
                                    <p:set>
                                      <p:cBhvr>
                                        <p:cTn id="35" dur="1" fill="hold">
                                          <p:stCondLst>
                                            <p:cond delay="0"/>
                                          </p:stCondLst>
                                        </p:cTn>
                                        <p:tgtEl>
                                          <p:spTgt spid="183314"/>
                                        </p:tgtEl>
                                        <p:attrNameLst>
                                          <p:attrName>style.visibility</p:attrName>
                                        </p:attrNameLst>
                                      </p:cBhvr>
                                      <p:to>
                                        <p:strVal val="visible"/>
                                      </p:to>
                                    </p:set>
                                    <p:anim calcmode="lin" valueType="num">
                                      <p:cBhvr>
                                        <p:cTn id="36" dur="500" fill="hold"/>
                                        <p:tgtEl>
                                          <p:spTgt spid="183314"/>
                                        </p:tgtEl>
                                        <p:attrNameLst>
                                          <p:attrName>ppt_w</p:attrName>
                                        </p:attrNameLst>
                                      </p:cBhvr>
                                      <p:tavLst>
                                        <p:tav tm="0">
                                          <p:val>
                                            <p:fltVal val="0"/>
                                          </p:val>
                                        </p:tav>
                                        <p:tav tm="100000">
                                          <p:val>
                                            <p:strVal val="#ppt_w"/>
                                          </p:val>
                                        </p:tav>
                                      </p:tavLst>
                                    </p:anim>
                                    <p:anim calcmode="lin" valueType="num">
                                      <p:cBhvr>
                                        <p:cTn id="37" dur="500" fill="hold"/>
                                        <p:tgtEl>
                                          <p:spTgt spid="183314"/>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83322"/>
                                        </p:tgtEl>
                                        <p:attrNameLst>
                                          <p:attrName>style.visibility</p:attrName>
                                        </p:attrNameLst>
                                      </p:cBhvr>
                                      <p:to>
                                        <p:strVal val="visible"/>
                                      </p:to>
                                    </p:set>
                                    <p:animEffect transition="in" filter="dissolve">
                                      <p:cBhvr>
                                        <p:cTn id="42" dur="500"/>
                                        <p:tgtEl>
                                          <p:spTgt spid="183322"/>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183309"/>
                                        </p:tgtEl>
                                        <p:attrNameLst>
                                          <p:attrName>style.visibility</p:attrName>
                                        </p:attrNameLst>
                                      </p:cBhvr>
                                      <p:to>
                                        <p:strVal val="visible"/>
                                      </p:to>
                                    </p:set>
                                    <p:animEffect transition="in" filter="wipe(up)">
                                      <p:cBhvr>
                                        <p:cTn id="46" dur="500"/>
                                        <p:tgtEl>
                                          <p:spTgt spid="183309"/>
                                        </p:tgtEl>
                                      </p:cBhvr>
                                    </p:animEffect>
                                  </p:childTnLst>
                                </p:cTn>
                              </p:par>
                            </p:childTnLst>
                          </p:cTn>
                        </p:par>
                        <p:par>
                          <p:cTn id="47" fill="hold">
                            <p:stCondLst>
                              <p:cond delay="1000"/>
                            </p:stCondLst>
                            <p:childTnLst>
                              <p:par>
                                <p:cTn id="48" presetID="5" presetClass="entr" presetSubtype="5" fill="hold" nodeType="afterEffect">
                                  <p:stCondLst>
                                    <p:cond delay="0"/>
                                  </p:stCondLst>
                                  <p:childTnLst>
                                    <p:set>
                                      <p:cBhvr>
                                        <p:cTn id="49" dur="1" fill="hold">
                                          <p:stCondLst>
                                            <p:cond delay="0"/>
                                          </p:stCondLst>
                                        </p:cTn>
                                        <p:tgtEl>
                                          <p:spTgt spid="183302"/>
                                        </p:tgtEl>
                                        <p:attrNameLst>
                                          <p:attrName>style.visibility</p:attrName>
                                        </p:attrNameLst>
                                      </p:cBhvr>
                                      <p:to>
                                        <p:strVal val="visible"/>
                                      </p:to>
                                    </p:set>
                                    <p:animEffect transition="in" filter="checkerboard(down)">
                                      <p:cBhvr>
                                        <p:cTn id="50" dur="500"/>
                                        <p:tgtEl>
                                          <p:spTgt spid="18330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83323"/>
                                        </p:tgtEl>
                                        <p:attrNameLst>
                                          <p:attrName>style.visibility</p:attrName>
                                        </p:attrNameLst>
                                      </p:cBhvr>
                                      <p:to>
                                        <p:strVal val="visible"/>
                                      </p:to>
                                    </p:set>
                                    <p:animEffect transition="in" filter="dissolve">
                                      <p:cBhvr>
                                        <p:cTn id="55" dur="500"/>
                                        <p:tgtEl>
                                          <p:spTgt spid="183323"/>
                                        </p:tgtEl>
                                      </p:cBhvr>
                                    </p:animEffect>
                                  </p:childTnLst>
                                </p:cTn>
                              </p:par>
                            </p:childTnLst>
                          </p:cTn>
                        </p:par>
                        <p:par>
                          <p:cTn id="56" fill="hold">
                            <p:stCondLst>
                              <p:cond delay="500"/>
                            </p:stCondLst>
                            <p:childTnLst>
                              <p:par>
                                <p:cTn id="57" presetID="22" presetClass="entr" presetSubtype="1" fill="hold" nodeType="afterEffect">
                                  <p:stCondLst>
                                    <p:cond delay="0"/>
                                  </p:stCondLst>
                                  <p:childTnLst>
                                    <p:set>
                                      <p:cBhvr>
                                        <p:cTn id="58" dur="1" fill="hold">
                                          <p:stCondLst>
                                            <p:cond delay="0"/>
                                          </p:stCondLst>
                                        </p:cTn>
                                        <p:tgtEl>
                                          <p:spTgt spid="183325"/>
                                        </p:tgtEl>
                                        <p:attrNameLst>
                                          <p:attrName>style.visibility</p:attrName>
                                        </p:attrNameLst>
                                      </p:cBhvr>
                                      <p:to>
                                        <p:strVal val="visible"/>
                                      </p:to>
                                    </p:set>
                                    <p:animEffect transition="in" filter="wipe(up)">
                                      <p:cBhvr>
                                        <p:cTn id="59" dur="500"/>
                                        <p:tgtEl>
                                          <p:spTgt spid="183325"/>
                                        </p:tgtEl>
                                      </p:cBhvr>
                                    </p:animEffect>
                                  </p:childTnLst>
                                </p:cTn>
                              </p:par>
                            </p:childTnLst>
                          </p:cTn>
                        </p:par>
                        <p:par>
                          <p:cTn id="60" fill="hold">
                            <p:stCondLst>
                              <p:cond delay="1000"/>
                            </p:stCondLst>
                            <p:childTnLst>
                              <p:par>
                                <p:cTn id="61" presetID="12" presetClass="entr" presetSubtype="2" fill="hold" grpId="0" nodeType="afterEffect">
                                  <p:stCondLst>
                                    <p:cond delay="0"/>
                                  </p:stCondLst>
                                  <p:childTnLst>
                                    <p:set>
                                      <p:cBhvr>
                                        <p:cTn id="62" dur="1" fill="hold">
                                          <p:stCondLst>
                                            <p:cond delay="0"/>
                                          </p:stCondLst>
                                        </p:cTn>
                                        <p:tgtEl>
                                          <p:spTgt spid="183316"/>
                                        </p:tgtEl>
                                        <p:attrNameLst>
                                          <p:attrName>style.visibility</p:attrName>
                                        </p:attrNameLst>
                                      </p:cBhvr>
                                      <p:to>
                                        <p:strVal val="visible"/>
                                      </p:to>
                                    </p:set>
                                    <p:animEffect transition="in" filter="slide(fromRight)">
                                      <p:cBhvr>
                                        <p:cTn id="63" dur="500"/>
                                        <p:tgtEl>
                                          <p:spTgt spid="183316"/>
                                        </p:tgtEl>
                                      </p:cBhvr>
                                    </p:animEffect>
                                  </p:childTnLst>
                                </p:cTn>
                              </p:par>
                            </p:childTnLst>
                          </p:cTn>
                        </p:par>
                        <p:par>
                          <p:cTn id="64" fill="hold">
                            <p:stCondLst>
                              <p:cond delay="1500"/>
                            </p:stCondLst>
                            <p:childTnLst>
                              <p:par>
                                <p:cTn id="65" presetID="22" presetClass="entr" presetSubtype="1" fill="hold" nodeType="afterEffect">
                                  <p:stCondLst>
                                    <p:cond delay="0"/>
                                  </p:stCondLst>
                                  <p:childTnLst>
                                    <p:set>
                                      <p:cBhvr>
                                        <p:cTn id="66" dur="1" fill="hold">
                                          <p:stCondLst>
                                            <p:cond delay="0"/>
                                          </p:stCondLst>
                                        </p:cTn>
                                        <p:tgtEl>
                                          <p:spTgt spid="183315"/>
                                        </p:tgtEl>
                                        <p:attrNameLst>
                                          <p:attrName>style.visibility</p:attrName>
                                        </p:attrNameLst>
                                      </p:cBhvr>
                                      <p:to>
                                        <p:strVal val="visible"/>
                                      </p:to>
                                    </p:set>
                                    <p:animEffect transition="in" filter="wipe(up)">
                                      <p:cBhvr>
                                        <p:cTn id="67" dur="500"/>
                                        <p:tgtEl>
                                          <p:spTgt spid="183315"/>
                                        </p:tgtEl>
                                      </p:cBhvr>
                                    </p:animEffect>
                                  </p:childTnLst>
                                </p:cTn>
                              </p:par>
                            </p:childTnLst>
                          </p:cTn>
                        </p:par>
                        <p:par>
                          <p:cTn id="68" fill="hold">
                            <p:stCondLst>
                              <p:cond delay="2000"/>
                            </p:stCondLst>
                            <p:childTnLst>
                              <p:par>
                                <p:cTn id="69" presetID="9" presetClass="entr" presetSubtype="0" fill="hold" nodeType="afterEffect">
                                  <p:stCondLst>
                                    <p:cond delay="0"/>
                                  </p:stCondLst>
                                  <p:childTnLst>
                                    <p:set>
                                      <p:cBhvr>
                                        <p:cTn id="70" dur="1" fill="hold">
                                          <p:stCondLst>
                                            <p:cond delay="0"/>
                                          </p:stCondLst>
                                        </p:cTn>
                                        <p:tgtEl>
                                          <p:spTgt spid="183299"/>
                                        </p:tgtEl>
                                        <p:attrNameLst>
                                          <p:attrName>style.visibility</p:attrName>
                                        </p:attrNameLst>
                                      </p:cBhvr>
                                      <p:to>
                                        <p:strVal val="visible"/>
                                      </p:to>
                                    </p:set>
                                    <p:animEffect transition="in" filter="dissolve">
                                      <p:cBhvr>
                                        <p:cTn id="71" dur="500"/>
                                        <p:tgtEl>
                                          <p:spTgt spid="183299"/>
                                        </p:tgtEl>
                                      </p:cBhvr>
                                    </p:animEffect>
                                  </p:childTnLst>
                                </p:cTn>
                              </p:par>
                            </p:childTnLst>
                          </p:cTn>
                        </p:par>
                        <p:par>
                          <p:cTn id="72" fill="hold">
                            <p:stCondLst>
                              <p:cond delay="2500"/>
                            </p:stCondLst>
                            <p:childTnLst>
                              <p:par>
                                <p:cTn id="73" presetID="9" presetClass="entr" presetSubtype="0" fill="hold" nodeType="afterEffect">
                                  <p:stCondLst>
                                    <p:cond delay="0"/>
                                  </p:stCondLst>
                                  <p:childTnLst>
                                    <p:set>
                                      <p:cBhvr>
                                        <p:cTn id="74" dur="1" fill="hold">
                                          <p:stCondLst>
                                            <p:cond delay="0"/>
                                          </p:stCondLst>
                                        </p:cTn>
                                        <p:tgtEl>
                                          <p:spTgt spid="183298"/>
                                        </p:tgtEl>
                                        <p:attrNameLst>
                                          <p:attrName>style.visibility</p:attrName>
                                        </p:attrNameLst>
                                      </p:cBhvr>
                                      <p:to>
                                        <p:strVal val="visible"/>
                                      </p:to>
                                    </p:set>
                                    <p:animEffect transition="in" filter="dissolve">
                                      <p:cBhvr>
                                        <p:cTn id="75" dur="500"/>
                                        <p:tgtEl>
                                          <p:spTgt spid="183298"/>
                                        </p:tgtEl>
                                      </p:cBhvr>
                                    </p:animEffect>
                                  </p:childTnLst>
                                </p:cTn>
                              </p:par>
                            </p:childTnLst>
                          </p:cTn>
                        </p:par>
                        <p:par>
                          <p:cTn id="76" fill="hold">
                            <p:stCondLst>
                              <p:cond delay="3000"/>
                            </p:stCondLst>
                            <p:childTnLst>
                              <p:par>
                                <p:cTn id="77" presetID="17" presetClass="entr" presetSubtype="10" fill="hold" nodeType="afterEffect">
                                  <p:stCondLst>
                                    <p:cond delay="0"/>
                                  </p:stCondLst>
                                  <p:childTnLst>
                                    <p:set>
                                      <p:cBhvr>
                                        <p:cTn id="78" dur="1" fill="hold">
                                          <p:stCondLst>
                                            <p:cond delay="0"/>
                                          </p:stCondLst>
                                        </p:cTn>
                                        <p:tgtEl>
                                          <p:spTgt spid="183303"/>
                                        </p:tgtEl>
                                        <p:attrNameLst>
                                          <p:attrName>style.visibility</p:attrName>
                                        </p:attrNameLst>
                                      </p:cBhvr>
                                      <p:to>
                                        <p:strVal val="visible"/>
                                      </p:to>
                                    </p:set>
                                    <p:anim calcmode="lin" valueType="num">
                                      <p:cBhvr>
                                        <p:cTn id="79" dur="500" fill="hold"/>
                                        <p:tgtEl>
                                          <p:spTgt spid="183303"/>
                                        </p:tgtEl>
                                        <p:attrNameLst>
                                          <p:attrName>ppt_w</p:attrName>
                                        </p:attrNameLst>
                                      </p:cBhvr>
                                      <p:tavLst>
                                        <p:tav tm="0">
                                          <p:val>
                                            <p:fltVal val="0"/>
                                          </p:val>
                                        </p:tav>
                                        <p:tav tm="100000">
                                          <p:val>
                                            <p:strVal val="#ppt_w"/>
                                          </p:val>
                                        </p:tav>
                                      </p:tavLst>
                                    </p:anim>
                                    <p:anim calcmode="lin" valueType="num">
                                      <p:cBhvr>
                                        <p:cTn id="80" dur="500" fill="hold"/>
                                        <p:tgtEl>
                                          <p:spTgt spid="183303"/>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183324"/>
                                        </p:tgtEl>
                                        <p:attrNameLst>
                                          <p:attrName>style.visibility</p:attrName>
                                        </p:attrNameLst>
                                      </p:cBhvr>
                                      <p:to>
                                        <p:strVal val="visible"/>
                                      </p:to>
                                    </p:set>
                                    <p:animEffect transition="in" filter="dissolve">
                                      <p:cBhvr>
                                        <p:cTn id="85" dur="500"/>
                                        <p:tgtEl>
                                          <p:spTgt spid="183324"/>
                                        </p:tgtEl>
                                      </p:cBhvr>
                                    </p:animEffect>
                                  </p:childTnLst>
                                </p:cTn>
                              </p:par>
                            </p:childTnLst>
                          </p:cTn>
                        </p:par>
                        <p:par>
                          <p:cTn id="86" fill="hold">
                            <p:stCondLst>
                              <p:cond delay="500"/>
                            </p:stCondLst>
                            <p:childTnLst>
                              <p:par>
                                <p:cTn id="87" presetID="22" presetClass="entr" presetSubtype="4" fill="hold" nodeType="afterEffect">
                                  <p:stCondLst>
                                    <p:cond delay="0"/>
                                  </p:stCondLst>
                                  <p:childTnLst>
                                    <p:set>
                                      <p:cBhvr>
                                        <p:cTn id="88" dur="1" fill="hold">
                                          <p:stCondLst>
                                            <p:cond delay="0"/>
                                          </p:stCondLst>
                                        </p:cTn>
                                        <p:tgtEl>
                                          <p:spTgt spid="183310"/>
                                        </p:tgtEl>
                                        <p:attrNameLst>
                                          <p:attrName>style.visibility</p:attrName>
                                        </p:attrNameLst>
                                      </p:cBhvr>
                                      <p:to>
                                        <p:strVal val="visible"/>
                                      </p:to>
                                    </p:set>
                                    <p:animEffect transition="in" filter="wipe(down)">
                                      <p:cBhvr>
                                        <p:cTn id="89" dur="500"/>
                                        <p:tgtEl>
                                          <p:spTgt spid="183310"/>
                                        </p:tgtEl>
                                      </p:cBhvr>
                                    </p:animEffect>
                                  </p:childTnLst>
                                </p:cTn>
                              </p:par>
                            </p:childTnLst>
                          </p:cTn>
                        </p:par>
                        <p:par>
                          <p:cTn id="90" fill="hold">
                            <p:stCondLst>
                              <p:cond delay="1000"/>
                            </p:stCondLst>
                            <p:childTnLst>
                              <p:par>
                                <p:cTn id="91" presetID="12" presetClass="entr" presetSubtype="4" fill="hold" nodeType="afterEffect">
                                  <p:stCondLst>
                                    <p:cond delay="0"/>
                                  </p:stCondLst>
                                  <p:childTnLst>
                                    <p:set>
                                      <p:cBhvr>
                                        <p:cTn id="92" dur="1" fill="hold">
                                          <p:stCondLst>
                                            <p:cond delay="0"/>
                                          </p:stCondLst>
                                        </p:cTn>
                                        <p:tgtEl>
                                          <p:spTgt spid="2"/>
                                        </p:tgtEl>
                                        <p:attrNameLst>
                                          <p:attrName>style.visibility</p:attrName>
                                        </p:attrNameLst>
                                      </p:cBhvr>
                                      <p:to>
                                        <p:strVal val="visible"/>
                                      </p:to>
                                    </p:set>
                                    <p:animEffect transition="in" filter="slide(fromBottom)">
                                      <p:cBhvr>
                                        <p:cTn id="93" dur="500"/>
                                        <p:tgtEl>
                                          <p:spTgt spid="2"/>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183320"/>
                                        </p:tgtEl>
                                        <p:attrNameLst>
                                          <p:attrName>style.visibility</p:attrName>
                                        </p:attrNameLst>
                                      </p:cBhvr>
                                      <p:to>
                                        <p:strVal val="visible"/>
                                      </p:to>
                                    </p:set>
                                    <p:animEffect transition="in" filter="dissolve">
                                      <p:cBhvr>
                                        <p:cTn id="98" dur="500"/>
                                        <p:tgtEl>
                                          <p:spTgt spid="183320"/>
                                        </p:tgtEl>
                                      </p:cBhvr>
                                    </p:animEffect>
                                  </p:childTnLst>
                                </p:cTn>
                              </p:par>
                            </p:childTnLst>
                          </p:cTn>
                        </p:par>
                        <p:par>
                          <p:cTn id="99" fill="hold">
                            <p:stCondLst>
                              <p:cond delay="500"/>
                            </p:stCondLst>
                            <p:childTnLst>
                              <p:par>
                                <p:cTn id="100" presetID="22" presetClass="entr" presetSubtype="4" fill="hold" nodeType="afterEffect">
                                  <p:stCondLst>
                                    <p:cond delay="0"/>
                                  </p:stCondLst>
                                  <p:childTnLst>
                                    <p:set>
                                      <p:cBhvr>
                                        <p:cTn id="101" dur="1" fill="hold">
                                          <p:stCondLst>
                                            <p:cond delay="0"/>
                                          </p:stCondLst>
                                        </p:cTn>
                                        <p:tgtEl>
                                          <p:spTgt spid="183311"/>
                                        </p:tgtEl>
                                        <p:attrNameLst>
                                          <p:attrName>style.visibility</p:attrName>
                                        </p:attrNameLst>
                                      </p:cBhvr>
                                      <p:to>
                                        <p:strVal val="visible"/>
                                      </p:to>
                                    </p:set>
                                    <p:animEffect transition="in" filter="wipe(down)">
                                      <p:cBhvr>
                                        <p:cTn id="102" dur="500"/>
                                        <p:tgtEl>
                                          <p:spTgt spid="183311"/>
                                        </p:tgtEl>
                                      </p:cBhvr>
                                    </p:animEffect>
                                  </p:childTnLst>
                                </p:cTn>
                              </p:par>
                            </p:childTnLst>
                          </p:cTn>
                        </p:par>
                        <p:par>
                          <p:cTn id="103" fill="hold">
                            <p:stCondLst>
                              <p:cond delay="1000"/>
                            </p:stCondLst>
                            <p:childTnLst>
                              <p:par>
                                <p:cTn id="104" presetID="17" presetClass="entr" presetSubtype="8" fill="hold" grpId="0" nodeType="afterEffect">
                                  <p:stCondLst>
                                    <p:cond delay="0"/>
                                  </p:stCondLst>
                                  <p:childTnLst>
                                    <p:set>
                                      <p:cBhvr>
                                        <p:cTn id="105" dur="1" fill="hold">
                                          <p:stCondLst>
                                            <p:cond delay="0"/>
                                          </p:stCondLst>
                                        </p:cTn>
                                        <p:tgtEl>
                                          <p:spTgt spid="183318"/>
                                        </p:tgtEl>
                                        <p:attrNameLst>
                                          <p:attrName>style.visibility</p:attrName>
                                        </p:attrNameLst>
                                      </p:cBhvr>
                                      <p:to>
                                        <p:strVal val="visible"/>
                                      </p:to>
                                    </p:set>
                                    <p:anim calcmode="lin" valueType="num">
                                      <p:cBhvr>
                                        <p:cTn id="106" dur="500" fill="hold"/>
                                        <p:tgtEl>
                                          <p:spTgt spid="183318"/>
                                        </p:tgtEl>
                                        <p:attrNameLst>
                                          <p:attrName>ppt_x</p:attrName>
                                        </p:attrNameLst>
                                      </p:cBhvr>
                                      <p:tavLst>
                                        <p:tav tm="0">
                                          <p:val>
                                            <p:strVal val="#ppt_x-#ppt_w/2"/>
                                          </p:val>
                                        </p:tav>
                                        <p:tav tm="100000">
                                          <p:val>
                                            <p:strVal val="#ppt_x"/>
                                          </p:val>
                                        </p:tav>
                                      </p:tavLst>
                                    </p:anim>
                                    <p:anim calcmode="lin" valueType="num">
                                      <p:cBhvr>
                                        <p:cTn id="107" dur="500" fill="hold"/>
                                        <p:tgtEl>
                                          <p:spTgt spid="183318"/>
                                        </p:tgtEl>
                                        <p:attrNameLst>
                                          <p:attrName>ppt_y</p:attrName>
                                        </p:attrNameLst>
                                      </p:cBhvr>
                                      <p:tavLst>
                                        <p:tav tm="0">
                                          <p:val>
                                            <p:strVal val="#ppt_y"/>
                                          </p:val>
                                        </p:tav>
                                        <p:tav tm="100000">
                                          <p:val>
                                            <p:strVal val="#ppt_y"/>
                                          </p:val>
                                        </p:tav>
                                      </p:tavLst>
                                    </p:anim>
                                    <p:anim calcmode="lin" valueType="num">
                                      <p:cBhvr>
                                        <p:cTn id="108" dur="500" fill="hold"/>
                                        <p:tgtEl>
                                          <p:spTgt spid="183318"/>
                                        </p:tgtEl>
                                        <p:attrNameLst>
                                          <p:attrName>ppt_w</p:attrName>
                                        </p:attrNameLst>
                                      </p:cBhvr>
                                      <p:tavLst>
                                        <p:tav tm="0">
                                          <p:val>
                                            <p:fltVal val="0"/>
                                          </p:val>
                                        </p:tav>
                                        <p:tav tm="100000">
                                          <p:val>
                                            <p:strVal val="#ppt_w"/>
                                          </p:val>
                                        </p:tav>
                                      </p:tavLst>
                                    </p:anim>
                                    <p:anim calcmode="lin" valueType="num">
                                      <p:cBhvr>
                                        <p:cTn id="109" dur="500" fill="hold"/>
                                        <p:tgtEl>
                                          <p:spTgt spid="183318"/>
                                        </p:tgtEl>
                                        <p:attrNameLst>
                                          <p:attrName>ppt_h</p:attrName>
                                        </p:attrNameLst>
                                      </p:cBhvr>
                                      <p:tavLst>
                                        <p:tav tm="0">
                                          <p:val>
                                            <p:strVal val="#ppt_h"/>
                                          </p:val>
                                        </p:tav>
                                        <p:tav tm="100000">
                                          <p:val>
                                            <p:strVal val="#ppt_h"/>
                                          </p:val>
                                        </p:tav>
                                      </p:tavLst>
                                    </p:anim>
                                  </p:childTnLst>
                                </p:cTn>
                              </p:par>
                            </p:childTnLst>
                          </p:cTn>
                        </p:par>
                        <p:par>
                          <p:cTn id="110" fill="hold">
                            <p:stCondLst>
                              <p:cond delay="1500"/>
                            </p:stCondLst>
                            <p:childTnLst>
                              <p:par>
                                <p:cTn id="111" presetID="22" presetClass="entr" presetSubtype="4" fill="hold" nodeType="afterEffect">
                                  <p:stCondLst>
                                    <p:cond delay="0"/>
                                  </p:stCondLst>
                                  <p:childTnLst>
                                    <p:set>
                                      <p:cBhvr>
                                        <p:cTn id="112" dur="1" fill="hold">
                                          <p:stCondLst>
                                            <p:cond delay="0"/>
                                          </p:stCondLst>
                                        </p:cTn>
                                        <p:tgtEl>
                                          <p:spTgt spid="183317"/>
                                        </p:tgtEl>
                                        <p:attrNameLst>
                                          <p:attrName>style.visibility</p:attrName>
                                        </p:attrNameLst>
                                      </p:cBhvr>
                                      <p:to>
                                        <p:strVal val="visible"/>
                                      </p:to>
                                    </p:set>
                                    <p:animEffect transition="in" filter="wipe(down)">
                                      <p:cBhvr>
                                        <p:cTn id="113" dur="500"/>
                                        <p:tgtEl>
                                          <p:spTgt spid="183317"/>
                                        </p:tgtEl>
                                      </p:cBhvr>
                                    </p:animEffect>
                                  </p:childTnLst>
                                </p:cTn>
                              </p:par>
                            </p:childTnLst>
                          </p:cTn>
                        </p:par>
                        <p:par>
                          <p:cTn id="114" fill="hold">
                            <p:stCondLst>
                              <p:cond delay="2000"/>
                            </p:stCondLst>
                            <p:childTnLst>
                              <p:par>
                                <p:cTn id="115" presetID="1" presetClass="entr" presetSubtype="0" fill="hold" grpId="0" nodeType="afterEffect">
                                  <p:stCondLst>
                                    <p:cond delay="0"/>
                                  </p:stCondLst>
                                  <p:childTnLst>
                                    <p:set>
                                      <p:cBhvr>
                                        <p:cTn id="116" dur="1" fill="hold">
                                          <p:stCondLst>
                                            <p:cond delay="499"/>
                                          </p:stCondLst>
                                        </p:cTn>
                                        <p:tgtEl>
                                          <p:spTgt spid="183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14" grpId="0" autoUpdateAnimBg="0"/>
      <p:bldP spid="183316" grpId="0" autoUpdateAnimBg="0"/>
      <p:bldP spid="183318" grpId="0" autoUpdateAnimBg="0"/>
      <p:bldP spid="183319" grpId="0" autoUpdateAnimBg="0"/>
      <p:bldP spid="183320" grpId="0" autoUpdateAnimBg="0"/>
      <p:bldP spid="183321" grpId="0" autoUpdateAnimBg="0"/>
      <p:bldP spid="183322" grpId="0" autoUpdateAnimBg="0"/>
      <p:bldP spid="183323" grpId="0" autoUpdateAnimBg="0"/>
      <p:bldP spid="183324"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2847554" y="2636913"/>
            <a:ext cx="6200775" cy="1819275"/>
          </a:xfrm>
          <a:prstGeom prst="rect">
            <a:avLst/>
          </a:prstGeom>
        </p:spPr>
      </p:pic>
      <p:sp>
        <p:nvSpPr>
          <p:cNvPr id="3" name="内容占位符 2"/>
          <p:cNvSpPr>
            <a:spLocks noGrp="1"/>
          </p:cNvSpPr>
          <p:nvPr>
            <p:ph idx="4294967295"/>
          </p:nvPr>
        </p:nvSpPr>
        <p:spPr>
          <a:xfrm>
            <a:off x="1343472" y="620688"/>
            <a:ext cx="9865096" cy="5616624"/>
          </a:xfrm>
        </p:spPr>
        <p:txBody>
          <a:bodyPr/>
          <a:lstStyle/>
          <a:p>
            <a:r>
              <a:rPr lang="zh-CN" altLang="en-US" sz="2800" b="0" dirty="0">
                <a:solidFill>
                  <a:srgbClr val="0000CC"/>
                </a:solidFill>
                <a:latin typeface="+mj-ea"/>
                <a:ea typeface="+mj-ea"/>
              </a:rPr>
              <a:t>砒霜</a:t>
            </a:r>
            <a:r>
              <a:rPr lang="zh-CN" altLang="en-US" sz="2800" b="0" dirty="0">
                <a:latin typeface="+mj-ea"/>
                <a:ea typeface="+mj-ea"/>
              </a:rPr>
              <a:t>的主要成分是</a:t>
            </a:r>
            <a:r>
              <a:rPr lang="zh-CN" altLang="en-US" sz="2800" b="0" dirty="0">
                <a:solidFill>
                  <a:srgbClr val="0000CC"/>
                </a:solidFill>
                <a:latin typeface="+mj-ea"/>
                <a:ea typeface="+mj-ea"/>
              </a:rPr>
              <a:t>三氧化二砷</a:t>
            </a:r>
            <a:r>
              <a:rPr lang="zh-CN" altLang="en-US" sz="2400" b="0" dirty="0">
                <a:solidFill>
                  <a:srgbClr val="0000CC"/>
                </a:solidFill>
                <a:latin typeface="+mj-ea"/>
                <a:ea typeface="+mj-ea"/>
              </a:rPr>
              <a:t>（</a:t>
            </a:r>
            <a:r>
              <a:rPr lang="en-US" altLang="zh-CN" sz="2400" b="0" dirty="0">
                <a:solidFill>
                  <a:srgbClr val="0000CC"/>
                </a:solidFill>
                <a:latin typeface="+mj-ea"/>
                <a:ea typeface="+mj-ea"/>
              </a:rPr>
              <a:t>arsenic trioxide)</a:t>
            </a:r>
            <a:r>
              <a:rPr lang="zh-CN" altLang="en-US" sz="2800" b="0" dirty="0">
                <a:latin typeface="+mj-ea"/>
                <a:ea typeface="+mj-ea"/>
              </a:rPr>
              <a:t>或</a:t>
            </a:r>
            <a:r>
              <a:rPr lang="zh-CN" altLang="en-US" sz="2800" b="0" dirty="0">
                <a:solidFill>
                  <a:srgbClr val="0000CC"/>
                </a:solidFill>
                <a:latin typeface="+mj-ea"/>
                <a:ea typeface="+mj-ea"/>
              </a:rPr>
              <a:t>亚砷酸</a:t>
            </a:r>
            <a:r>
              <a:rPr lang="zh-CN" altLang="en-US" sz="2800" b="0" dirty="0">
                <a:latin typeface="+mj-ea"/>
                <a:ea typeface="+mj-ea"/>
              </a:rPr>
              <a:t>，可与酶的</a:t>
            </a:r>
            <a:r>
              <a:rPr lang="en-US" altLang="zh-CN" sz="2800" b="0" dirty="0">
                <a:latin typeface="+mj-ea"/>
                <a:ea typeface="+mj-ea"/>
              </a:rPr>
              <a:t>-SH</a:t>
            </a:r>
            <a:r>
              <a:rPr lang="zh-CN" altLang="en-US" sz="2800" b="0" dirty="0">
                <a:latin typeface="+mj-ea"/>
                <a:ea typeface="+mj-ea"/>
              </a:rPr>
              <a:t>结合。</a:t>
            </a:r>
            <a:endParaRPr lang="en-US" altLang="zh-CN" sz="2800" b="0" dirty="0">
              <a:latin typeface="+mj-ea"/>
              <a:ea typeface="+mj-ea"/>
            </a:endParaRPr>
          </a:p>
          <a:p>
            <a:r>
              <a:rPr lang="zh-CN" altLang="en-US" sz="2800" b="0" dirty="0">
                <a:solidFill>
                  <a:srgbClr val="0000CC"/>
                </a:solidFill>
                <a:latin typeface="+mj-ea"/>
                <a:ea typeface="+mj-ea"/>
              </a:rPr>
              <a:t>亚砷酸</a:t>
            </a:r>
            <a:r>
              <a:rPr lang="zh-CN" altLang="en-US" sz="2800" b="0" dirty="0">
                <a:solidFill>
                  <a:schemeClr val="tx1">
                    <a:lumMod val="95000"/>
                    <a:lumOff val="5000"/>
                  </a:schemeClr>
                </a:solidFill>
                <a:latin typeface="+mj-ea"/>
                <a:ea typeface="+mj-ea"/>
              </a:rPr>
              <a:t>与</a:t>
            </a:r>
            <a:r>
              <a:rPr lang="zh-CN" altLang="en-US" sz="2800" b="0" dirty="0">
                <a:solidFill>
                  <a:srgbClr val="0000CC"/>
                </a:solidFill>
                <a:latin typeface="+mj-ea"/>
                <a:ea typeface="+mj-ea"/>
              </a:rPr>
              <a:t>还原型的二氢硫辛酰胺</a:t>
            </a:r>
            <a:r>
              <a:rPr lang="zh-CN" altLang="en-US" sz="2800" b="0" dirty="0">
                <a:solidFill>
                  <a:schemeClr val="tx1">
                    <a:lumMod val="95000"/>
                    <a:lumOff val="5000"/>
                  </a:schemeClr>
                </a:solidFill>
                <a:latin typeface="+mj-ea"/>
                <a:ea typeface="+mj-ea"/>
              </a:rPr>
              <a:t>形成共价复合物，阻止氧化型的再生， </a:t>
            </a:r>
            <a:r>
              <a:rPr lang="zh-CN" altLang="en-US" sz="2800" b="0" dirty="0">
                <a:latin typeface="+mj-ea"/>
                <a:ea typeface="+mj-ea"/>
              </a:rPr>
              <a:t>使得丙酮酸脱氢酶复合体失活。  </a:t>
            </a:r>
            <a:endParaRPr lang="en-US" altLang="zh-CN" sz="2800" b="0" dirty="0">
              <a:latin typeface="+mj-ea"/>
              <a:ea typeface="+mj-ea"/>
            </a:endParaRPr>
          </a:p>
          <a:p>
            <a:endParaRPr lang="en-US" altLang="zh-CN" sz="2800" b="0" dirty="0">
              <a:latin typeface="+mj-ea"/>
              <a:ea typeface="+mj-ea"/>
            </a:endParaRPr>
          </a:p>
          <a:p>
            <a:endParaRPr lang="en-US" altLang="zh-CN" sz="2800" b="0" dirty="0">
              <a:latin typeface="+mj-ea"/>
              <a:ea typeface="+mj-ea"/>
            </a:endParaRPr>
          </a:p>
          <a:p>
            <a:pPr marL="0" indent="0">
              <a:buNone/>
            </a:pPr>
            <a:endParaRPr lang="en-US" altLang="zh-CN" sz="2800" b="0" dirty="0">
              <a:latin typeface="+mj-ea"/>
              <a:ea typeface="+mj-ea"/>
            </a:endParaRPr>
          </a:p>
          <a:p>
            <a:pPr marL="0" indent="0">
              <a:buNone/>
            </a:pPr>
            <a:endParaRPr lang="en-US" altLang="zh-CN" sz="2800" b="0" dirty="0">
              <a:latin typeface="+mj-ea"/>
              <a:ea typeface="+mj-ea"/>
            </a:endParaRPr>
          </a:p>
          <a:p>
            <a:r>
              <a:rPr lang="zh-CN" altLang="en-US" sz="2800" b="0" dirty="0">
                <a:latin typeface="+mj-ea"/>
                <a:ea typeface="+mj-ea"/>
              </a:rPr>
              <a:t>三羧酸循环中的</a:t>
            </a:r>
            <a:r>
              <a:rPr lang="el-GR" altLang="zh-CN" sz="2800" b="0" dirty="0">
                <a:solidFill>
                  <a:srgbClr val="0000CC"/>
                </a:solidFill>
                <a:latin typeface="+mj-ea"/>
                <a:ea typeface="+mj-ea"/>
              </a:rPr>
              <a:t>α</a:t>
            </a:r>
            <a:r>
              <a:rPr lang="en-US" altLang="zh-CN" sz="2800" b="0" dirty="0">
                <a:solidFill>
                  <a:srgbClr val="0000CC"/>
                </a:solidFill>
                <a:latin typeface="+mj-ea"/>
                <a:ea typeface="+mj-ea"/>
              </a:rPr>
              <a:t>-</a:t>
            </a:r>
            <a:r>
              <a:rPr lang="zh-CN" altLang="en-US" sz="2800" b="0" dirty="0">
                <a:solidFill>
                  <a:srgbClr val="0000CC"/>
                </a:solidFill>
                <a:latin typeface="+mj-ea"/>
                <a:ea typeface="+mj-ea"/>
              </a:rPr>
              <a:t>酮戊二酸脱氢酶复合体</a:t>
            </a:r>
            <a:r>
              <a:rPr lang="zh-CN" altLang="en-US" sz="2800" b="0" dirty="0">
                <a:latin typeface="+mj-ea"/>
                <a:ea typeface="+mj-ea"/>
              </a:rPr>
              <a:t>中也有二氢硫辛酰胺转酰基酶，故</a:t>
            </a:r>
            <a:r>
              <a:rPr lang="zh-CN" altLang="en-US" sz="2800" dirty="0">
                <a:solidFill>
                  <a:srgbClr val="C00000"/>
                </a:solidFill>
                <a:latin typeface="+mj-ea"/>
                <a:ea typeface="+mj-ea"/>
              </a:rPr>
              <a:t>砒霜也能抑制三羧酸循环，故毒性大</a:t>
            </a:r>
            <a:r>
              <a:rPr lang="zh-CN" altLang="en-US" sz="2800" b="0" dirty="0">
                <a:solidFill>
                  <a:srgbClr val="C00000"/>
                </a:solidFill>
                <a:latin typeface="+mj-ea"/>
                <a:ea typeface="+mj-ea"/>
              </a:rPr>
              <a:t>。</a:t>
            </a:r>
            <a:r>
              <a:rPr lang="zh-CN" altLang="en-US" sz="2800" b="0" dirty="0">
                <a:latin typeface="+mj-ea"/>
                <a:ea typeface="+mj-ea"/>
              </a:rPr>
              <a:t> </a:t>
            </a:r>
            <a:endParaRPr lang="zh-CN" altLang="en-US" sz="2800" b="0" dirty="0">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17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35139" y="1681163"/>
            <a:ext cx="8664575"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5"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40464" y="5441951"/>
            <a:ext cx="3240087"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p:cNvSpPr>
            <a:spLocks noGrp="1"/>
          </p:cNvSpPr>
          <p:nvPr>
            <p:ph type="title" idx="4294967295"/>
          </p:nvPr>
        </p:nvSpPr>
        <p:spPr>
          <a:xfrm>
            <a:off x="1847851" y="765176"/>
            <a:ext cx="8278813" cy="563563"/>
          </a:xfrm>
        </p:spPr>
        <p:txBody>
          <a:bodyPr/>
          <a:lstStyle/>
          <a:p>
            <a:pPr>
              <a:defRPr/>
            </a:pPr>
            <a:r>
              <a:rPr lang="zh-CN" altLang="en-US" sz="2800" dirty="0">
                <a:solidFill>
                  <a:srgbClr val="0000CC"/>
                </a:solidFill>
                <a:latin typeface="+mj-ea"/>
              </a:rPr>
              <a:t>乙酰</a:t>
            </a:r>
            <a:r>
              <a:rPr lang="en-US" altLang="zh-CN" sz="2800" dirty="0">
                <a:solidFill>
                  <a:srgbClr val="0000CC"/>
                </a:solidFill>
                <a:latin typeface="+mj-ea"/>
              </a:rPr>
              <a:t>CoA</a:t>
            </a:r>
            <a:r>
              <a:rPr lang="zh-CN" altLang="en-US" sz="2800" dirty="0">
                <a:latin typeface="+mj-ea"/>
              </a:rPr>
              <a:t>是糖、脂类、蛋白质代谢的共同中间产物</a:t>
            </a:r>
            <a:endParaRPr lang="zh-CN" altLang="en-US" sz="2800" dirty="0">
              <a:latin typeface="+mj-ea"/>
            </a:endParaRPr>
          </a:p>
        </p:txBody>
      </p:sp>
    </p:spTree>
  </p:cSld>
  <p:clrMapOvr>
    <a:masterClrMapping/>
  </p:clrMapOvr>
  <p:transition spd="med">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2279650" y="549275"/>
            <a:ext cx="7391400" cy="571500"/>
          </a:xfrm>
        </p:spPr>
        <p:txBody>
          <a:bodyPr/>
          <a:lstStyle/>
          <a:p>
            <a:pPr eaLnBrk="1" hangingPunct="1"/>
            <a:r>
              <a:rPr lang="zh-CN" altLang="en-US" sz="3600" b="1" dirty="0">
                <a:solidFill>
                  <a:srgbClr val="660033"/>
                </a:solidFill>
                <a:ea typeface="楷体_GB2312" pitchFamily="49" charset="-122"/>
              </a:rPr>
              <a:t>二、三羧酸循环将乙酰</a:t>
            </a:r>
            <a:r>
              <a:rPr lang="en-US" altLang="zh-CN" sz="3600" b="1" dirty="0">
                <a:solidFill>
                  <a:srgbClr val="660033"/>
                </a:solidFill>
                <a:ea typeface="楷体_GB2312" pitchFamily="49" charset="-122"/>
              </a:rPr>
              <a:t>CoA</a:t>
            </a:r>
            <a:r>
              <a:rPr lang="zh-CN" altLang="en-US" sz="3600" b="1" dirty="0">
                <a:solidFill>
                  <a:srgbClr val="660033"/>
                </a:solidFill>
                <a:ea typeface="楷体_GB2312" pitchFamily="49" charset="-122"/>
              </a:rPr>
              <a:t>彻底氧化</a:t>
            </a:r>
            <a:endParaRPr lang="zh-CN" altLang="en-US" sz="3600" b="1" dirty="0">
              <a:solidFill>
                <a:srgbClr val="660033"/>
              </a:solidFill>
              <a:ea typeface="楷体_GB2312" pitchFamily="49" charset="-122"/>
            </a:endParaRPr>
          </a:p>
        </p:txBody>
      </p:sp>
      <p:sp>
        <p:nvSpPr>
          <p:cNvPr id="158723" name="Rectangle 3"/>
          <p:cNvSpPr>
            <a:spLocks noChangeArrowheads="1"/>
          </p:cNvSpPr>
          <p:nvPr/>
        </p:nvSpPr>
        <p:spPr bwMode="auto">
          <a:xfrm>
            <a:off x="1487488" y="1772816"/>
            <a:ext cx="9217023" cy="3453831"/>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buFontTx/>
              <a:buNone/>
              <a:defRPr/>
            </a:pPr>
            <a:r>
              <a:rPr kumimoji="1" lang="zh-CN" altLang="en-US" b="0" dirty="0">
                <a:solidFill>
                  <a:srgbClr val="C00000"/>
                </a:solidFill>
                <a:latin typeface="+mj-ea"/>
                <a:ea typeface="+mj-ea"/>
              </a:rPr>
              <a:t>概念： </a:t>
            </a:r>
            <a:endParaRPr kumimoji="1" lang="en-US" altLang="zh-CN" b="0" dirty="0">
              <a:solidFill>
                <a:srgbClr val="C00000"/>
              </a:solidFill>
              <a:latin typeface="+mj-ea"/>
              <a:ea typeface="+mj-ea"/>
            </a:endParaRPr>
          </a:p>
          <a:p>
            <a:pPr eaLnBrk="1" hangingPunct="1">
              <a:lnSpc>
                <a:spcPct val="130000"/>
              </a:lnSpc>
              <a:spcBef>
                <a:spcPct val="0"/>
              </a:spcBef>
              <a:buClrTx/>
              <a:buSzTx/>
              <a:buFontTx/>
              <a:buNone/>
              <a:defRPr/>
            </a:pPr>
            <a:r>
              <a:rPr kumimoji="1" lang="en-US" altLang="zh-CN" sz="2800" b="0" dirty="0">
                <a:latin typeface="+mj-ea"/>
                <a:ea typeface="+mj-ea"/>
              </a:rPr>
              <a:t>    </a:t>
            </a:r>
            <a:r>
              <a:rPr kumimoji="1" lang="zh-CN" altLang="en-US" sz="2800" b="0" dirty="0">
                <a:latin typeface="+mj-ea"/>
                <a:ea typeface="+mj-ea"/>
              </a:rPr>
              <a:t>由乙酰</a:t>
            </a:r>
            <a:r>
              <a:rPr kumimoji="1" lang="en-US" altLang="zh-CN" sz="2800" b="0" dirty="0">
                <a:latin typeface="+mj-ea"/>
                <a:ea typeface="+mj-ea"/>
              </a:rPr>
              <a:t>CoA</a:t>
            </a:r>
            <a:r>
              <a:rPr kumimoji="1" lang="zh-CN" altLang="en-US" sz="2800" b="0" dirty="0">
                <a:latin typeface="+mj-ea"/>
                <a:ea typeface="+mj-ea"/>
              </a:rPr>
              <a:t>和草酰乙酸缩合生成</a:t>
            </a:r>
            <a:r>
              <a:rPr kumimoji="1" lang="zh-CN" altLang="en-US" sz="2800" b="0" dirty="0">
                <a:solidFill>
                  <a:srgbClr val="0000FF"/>
                </a:solidFill>
                <a:latin typeface="+mj-ea"/>
                <a:ea typeface="+mj-ea"/>
              </a:rPr>
              <a:t>含三个羧基的柠檬酸</a:t>
            </a:r>
            <a:r>
              <a:rPr kumimoji="1" lang="zh-CN" altLang="en-US" sz="2800" b="0" dirty="0">
                <a:latin typeface="+mj-ea"/>
                <a:ea typeface="+mj-ea"/>
              </a:rPr>
              <a:t>开始，通过八步反应</a:t>
            </a:r>
            <a:r>
              <a:rPr lang="zh-CN" altLang="en-US" sz="2800" b="0" dirty="0">
                <a:latin typeface="+mj-ea"/>
                <a:ea typeface="+mj-ea"/>
              </a:rPr>
              <a:t>，最终生成两分子</a:t>
            </a:r>
            <a:r>
              <a:rPr kumimoji="1" lang="en-US" altLang="zh-CN" sz="2800" b="0" dirty="0">
                <a:latin typeface="+mj-ea"/>
                <a:ea typeface="+mj-ea"/>
              </a:rPr>
              <a:t>CO</a:t>
            </a:r>
            <a:r>
              <a:rPr kumimoji="1" lang="en-US" altLang="zh-CN" sz="2800" b="0" baseline="-30000" dirty="0">
                <a:latin typeface="+mj-ea"/>
                <a:ea typeface="+mj-ea"/>
              </a:rPr>
              <a:t>2</a:t>
            </a:r>
            <a:r>
              <a:rPr lang="zh-CN" altLang="en-US" sz="2800" b="0" dirty="0">
                <a:latin typeface="+mj-ea"/>
                <a:ea typeface="+mj-ea"/>
              </a:rPr>
              <a:t>和四对氢（还原当量），并重新生成</a:t>
            </a:r>
            <a:r>
              <a:rPr lang="zh-CN" altLang="en-US" sz="2800" b="0" dirty="0">
                <a:solidFill>
                  <a:schemeClr val="tx1">
                    <a:lumMod val="95000"/>
                    <a:lumOff val="5000"/>
                  </a:schemeClr>
                </a:solidFill>
                <a:latin typeface="+mj-ea"/>
                <a:ea typeface="+mj-ea"/>
              </a:rPr>
              <a:t>草酰乙酸的</a:t>
            </a:r>
            <a:r>
              <a:rPr lang="zh-CN" altLang="en-US" sz="2800" b="0" dirty="0">
                <a:latin typeface="+mj-ea"/>
                <a:ea typeface="+mj-ea"/>
              </a:rPr>
              <a:t>循环反应过程</a:t>
            </a:r>
            <a:r>
              <a:rPr kumimoji="1" lang="zh-CN" altLang="en-US" sz="2800" b="0" dirty="0">
                <a:latin typeface="+mj-ea"/>
                <a:ea typeface="+mj-ea"/>
              </a:rPr>
              <a:t>。称之为</a:t>
            </a:r>
            <a:r>
              <a:rPr kumimoji="1" lang="zh-CN" altLang="en-US" sz="2800" b="0" dirty="0">
                <a:solidFill>
                  <a:srgbClr val="FF0000"/>
                </a:solidFill>
                <a:latin typeface="+mj-ea"/>
                <a:ea typeface="+mj-ea"/>
              </a:rPr>
              <a:t>三羧酸循环</a:t>
            </a:r>
            <a:r>
              <a:rPr kumimoji="1" lang="zh-CN" altLang="en-US" sz="2800" b="0" dirty="0">
                <a:solidFill>
                  <a:srgbClr val="000099"/>
                </a:solidFill>
                <a:latin typeface="+mj-ea"/>
                <a:ea typeface="+mj-ea"/>
              </a:rPr>
              <a:t>(</a:t>
            </a:r>
            <a:r>
              <a:rPr kumimoji="1" lang="en-US" altLang="zh-CN" sz="2800" b="0" dirty="0">
                <a:solidFill>
                  <a:srgbClr val="C00000"/>
                </a:solidFill>
                <a:latin typeface="+mn-lt"/>
                <a:ea typeface="+mj-ea"/>
              </a:rPr>
              <a:t>t</a:t>
            </a:r>
            <a:r>
              <a:rPr kumimoji="1" lang="en-US" altLang="zh-CN" sz="2800" b="0" dirty="0">
                <a:solidFill>
                  <a:srgbClr val="000099"/>
                </a:solidFill>
                <a:latin typeface="+mn-lt"/>
                <a:ea typeface="+mj-ea"/>
              </a:rPr>
              <a:t>ri</a:t>
            </a:r>
            <a:r>
              <a:rPr kumimoji="1" lang="en-US" altLang="zh-CN" sz="2800" b="0" dirty="0">
                <a:solidFill>
                  <a:srgbClr val="C00000"/>
                </a:solidFill>
                <a:latin typeface="+mn-lt"/>
                <a:ea typeface="+mj-ea"/>
              </a:rPr>
              <a:t>c</a:t>
            </a:r>
            <a:r>
              <a:rPr kumimoji="1" lang="en-US" altLang="zh-CN" sz="2800" b="0" dirty="0">
                <a:solidFill>
                  <a:srgbClr val="000099"/>
                </a:solidFill>
                <a:latin typeface="+mn-lt"/>
                <a:ea typeface="+mj-ea"/>
              </a:rPr>
              <a:t>arboxylic </a:t>
            </a:r>
            <a:r>
              <a:rPr kumimoji="1" lang="en-US" altLang="zh-CN" sz="2800" b="0" dirty="0">
                <a:solidFill>
                  <a:srgbClr val="C00000"/>
                </a:solidFill>
                <a:latin typeface="+mn-lt"/>
                <a:ea typeface="+mj-ea"/>
              </a:rPr>
              <a:t>a</a:t>
            </a:r>
            <a:r>
              <a:rPr kumimoji="1" lang="en-US" altLang="zh-CN" sz="2800" b="0" dirty="0">
                <a:solidFill>
                  <a:srgbClr val="000099"/>
                </a:solidFill>
                <a:latin typeface="+mn-lt"/>
                <a:ea typeface="+mj-ea"/>
              </a:rPr>
              <a:t>cid cycle</a:t>
            </a:r>
            <a:r>
              <a:rPr kumimoji="1" lang="zh-CN" altLang="en-US" sz="2800" b="0" dirty="0">
                <a:solidFill>
                  <a:srgbClr val="000099"/>
                </a:solidFill>
                <a:latin typeface="+mn-lt"/>
                <a:ea typeface="+mj-ea"/>
              </a:rPr>
              <a:t>，</a:t>
            </a:r>
            <a:r>
              <a:rPr kumimoji="1" lang="en-US" altLang="zh-CN" sz="2800" b="0" dirty="0">
                <a:solidFill>
                  <a:srgbClr val="FF0000"/>
                </a:solidFill>
                <a:latin typeface="+mj-ea"/>
                <a:ea typeface="+mj-ea"/>
              </a:rPr>
              <a:t>TCA cycle</a:t>
            </a:r>
            <a:r>
              <a:rPr kumimoji="1" lang="en-US" altLang="zh-CN" sz="2800" b="0" dirty="0">
                <a:solidFill>
                  <a:srgbClr val="000099"/>
                </a:solidFill>
                <a:latin typeface="+mj-ea"/>
                <a:ea typeface="+mj-ea"/>
              </a:rPr>
              <a:t>)</a:t>
            </a:r>
            <a:r>
              <a:rPr kumimoji="1" lang="zh-CN" altLang="en-US" sz="2800" b="0" dirty="0">
                <a:latin typeface="+mj-ea"/>
                <a:ea typeface="+mj-ea"/>
              </a:rPr>
              <a:t>或</a:t>
            </a:r>
            <a:r>
              <a:rPr kumimoji="1" lang="zh-CN" altLang="en-US" sz="2800" b="0" dirty="0">
                <a:solidFill>
                  <a:srgbClr val="000099"/>
                </a:solidFill>
                <a:latin typeface="+mj-ea"/>
                <a:ea typeface="+mj-ea"/>
              </a:rPr>
              <a:t>柠檬酸循环（</a:t>
            </a:r>
            <a:r>
              <a:rPr kumimoji="1" lang="en-US" altLang="zh-CN" sz="2800" b="0" dirty="0">
                <a:solidFill>
                  <a:srgbClr val="000099"/>
                </a:solidFill>
                <a:latin typeface="+mj-ea"/>
                <a:ea typeface="+mj-ea"/>
              </a:rPr>
              <a:t>citrate cycle)</a:t>
            </a:r>
            <a:r>
              <a:rPr kumimoji="1" lang="zh-CN" altLang="en-US" sz="2800" b="0" dirty="0">
                <a:solidFill>
                  <a:srgbClr val="000099"/>
                </a:solidFill>
                <a:latin typeface="+mj-ea"/>
                <a:ea typeface="+mj-ea"/>
              </a:rPr>
              <a:t>，</a:t>
            </a:r>
            <a:r>
              <a:rPr kumimoji="1" lang="zh-CN" altLang="en-US" sz="2800" b="0" dirty="0">
                <a:latin typeface="+mj-ea"/>
                <a:ea typeface="+mj-ea"/>
              </a:rPr>
              <a:t>又称为</a:t>
            </a:r>
            <a:r>
              <a:rPr kumimoji="1" lang="en-US" altLang="zh-CN" sz="2800" b="0" dirty="0">
                <a:solidFill>
                  <a:srgbClr val="0000CC"/>
                </a:solidFill>
                <a:latin typeface="+mj-ea"/>
                <a:ea typeface="+mj-ea"/>
              </a:rPr>
              <a:t>Krebs</a:t>
            </a:r>
            <a:r>
              <a:rPr kumimoji="1" lang="zh-CN" altLang="en-US" sz="2800" b="0" dirty="0">
                <a:solidFill>
                  <a:srgbClr val="0000CC"/>
                </a:solidFill>
                <a:latin typeface="+mj-ea"/>
                <a:ea typeface="+mj-ea"/>
              </a:rPr>
              <a:t>循环</a:t>
            </a:r>
            <a:r>
              <a:rPr kumimoji="1" lang="zh-CN" altLang="en-US" sz="2800" b="0" dirty="0">
                <a:latin typeface="+mj-ea"/>
                <a:ea typeface="+mj-ea"/>
              </a:rPr>
              <a:t>。 </a:t>
            </a:r>
            <a:endParaRPr kumimoji="1" lang="zh-CN" altLang="en-US" sz="2800" b="0" dirty="0">
              <a:latin typeface="+mj-ea"/>
              <a:ea typeface="+mj-ea"/>
            </a:endParaRPr>
          </a:p>
        </p:txBody>
      </p:sp>
    </p:spTree>
  </p:cSld>
  <p:clrMapOvr>
    <a:masterClrMapping/>
  </p:clrMapOvr>
  <p:transition spd="med">
    <p:zoom/>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703512" y="938887"/>
            <a:ext cx="2088232" cy="3179952"/>
          </a:xfrm>
          <a:prstGeom prst="rect">
            <a:avLst/>
          </a:prstGeom>
        </p:spPr>
      </p:pic>
      <p:sp>
        <p:nvSpPr>
          <p:cNvPr id="5" name="文本框 4"/>
          <p:cNvSpPr txBox="1"/>
          <p:nvPr/>
        </p:nvSpPr>
        <p:spPr>
          <a:xfrm>
            <a:off x="1703513" y="4451304"/>
            <a:ext cx="2376263" cy="1477328"/>
          </a:xfrm>
          <a:prstGeom prst="rect">
            <a:avLst/>
          </a:prstGeom>
          <a:noFill/>
        </p:spPr>
        <p:txBody>
          <a:bodyPr wrap="square" rtlCol="0">
            <a:spAutoFit/>
          </a:bodyPr>
          <a:lstStyle/>
          <a:p>
            <a:r>
              <a:rPr lang="en-US" altLang="zh-CN" b="1" i="0" dirty="0">
                <a:solidFill>
                  <a:srgbClr val="000000"/>
                </a:solidFill>
                <a:effectLst/>
                <a:latin typeface="Arial" panose="020B0604020202020204" pitchFamily="34" charset="0"/>
              </a:rPr>
              <a:t>Hans Adolf Krebs</a:t>
            </a:r>
            <a:endParaRPr lang="en-US" altLang="zh-CN" dirty="0"/>
          </a:p>
          <a:p>
            <a:r>
              <a:rPr lang="en-US" altLang="zh-CN" dirty="0"/>
              <a:t>1900~1981</a:t>
            </a:r>
            <a:endParaRPr lang="en-US" altLang="zh-CN" dirty="0"/>
          </a:p>
          <a:p>
            <a:r>
              <a:rPr lang="en-US" altLang="zh-CN" dirty="0"/>
              <a:t>German-born British biochemist </a:t>
            </a:r>
            <a:endParaRPr lang="en-US" altLang="zh-CN" dirty="0"/>
          </a:p>
          <a:p>
            <a:endParaRPr lang="zh-CN" altLang="en-US" dirty="0"/>
          </a:p>
        </p:txBody>
      </p:sp>
      <p:sp>
        <p:nvSpPr>
          <p:cNvPr id="7" name="文本框 6"/>
          <p:cNvSpPr txBox="1"/>
          <p:nvPr/>
        </p:nvSpPr>
        <p:spPr>
          <a:xfrm>
            <a:off x="4439816" y="836713"/>
            <a:ext cx="6984776" cy="461665"/>
          </a:xfrm>
          <a:prstGeom prst="rect">
            <a:avLst/>
          </a:prstGeom>
          <a:noFill/>
        </p:spPr>
        <p:txBody>
          <a:bodyPr wrap="square">
            <a:spAutoFit/>
          </a:bodyPr>
          <a:lstStyle/>
          <a:p>
            <a:r>
              <a:rPr lang="en-US" altLang="zh-CN" sz="2400" dirty="0">
                <a:solidFill>
                  <a:srgbClr val="0000CC"/>
                </a:solidFill>
              </a:rPr>
              <a:t>Nobel Prize in Physiology or Medicine (1953)</a:t>
            </a:r>
            <a:endParaRPr lang="zh-CN" altLang="en-US" sz="2400" dirty="0">
              <a:solidFill>
                <a:srgbClr val="0000CC"/>
              </a:solidFill>
            </a:endParaRPr>
          </a:p>
        </p:txBody>
      </p:sp>
      <p:sp>
        <p:nvSpPr>
          <p:cNvPr id="10" name="文本框 9"/>
          <p:cNvSpPr txBox="1"/>
          <p:nvPr/>
        </p:nvSpPr>
        <p:spPr>
          <a:xfrm>
            <a:off x="4460092" y="1670709"/>
            <a:ext cx="6207908" cy="1754326"/>
          </a:xfrm>
          <a:prstGeom prst="rect">
            <a:avLst/>
          </a:prstGeom>
          <a:noFill/>
        </p:spPr>
        <p:txBody>
          <a:bodyPr wrap="square">
            <a:spAutoFit/>
          </a:bodyPr>
          <a:lstStyle/>
          <a:p>
            <a:r>
              <a:rPr lang="en-US" altLang="zh-CN" sz="2400" dirty="0"/>
              <a:t>Known for</a:t>
            </a:r>
            <a:r>
              <a:rPr lang="zh-CN" altLang="en-US" sz="2400" dirty="0"/>
              <a:t>：</a:t>
            </a:r>
            <a:endParaRPr lang="en-US" altLang="zh-CN" sz="2400" dirty="0"/>
          </a:p>
          <a:p>
            <a:pPr marL="285750" indent="-285750">
              <a:buFont typeface="Arial" panose="020B0604020202020204" pitchFamily="34" charset="0"/>
              <a:buChar char="•"/>
            </a:pPr>
            <a:r>
              <a:rPr lang="en-US" altLang="zh-CN" sz="2400" dirty="0"/>
              <a:t>Citric acid cycle</a:t>
            </a:r>
            <a:endParaRPr lang="en-US" altLang="zh-CN" sz="2400" dirty="0"/>
          </a:p>
          <a:p>
            <a:pPr marL="285750" indent="-285750">
              <a:buFont typeface="Arial" panose="020B0604020202020204" pitchFamily="34" charset="0"/>
              <a:buChar char="•"/>
            </a:pPr>
            <a:r>
              <a:rPr lang="en-US" altLang="zh-CN" sz="2400" dirty="0"/>
              <a:t>Urea cycle</a:t>
            </a:r>
            <a:endParaRPr lang="en-US" altLang="zh-CN" sz="2400" dirty="0"/>
          </a:p>
          <a:p>
            <a:pPr marL="285750" indent="-285750">
              <a:buFont typeface="Arial" panose="020B0604020202020204" pitchFamily="34" charset="0"/>
              <a:buChar char="•"/>
            </a:pPr>
            <a:r>
              <a:rPr lang="en-US" altLang="zh-CN" dirty="0"/>
              <a:t>Glyoxylate cycle</a:t>
            </a:r>
            <a:r>
              <a:rPr lang="zh-CN" altLang="en-US" dirty="0"/>
              <a:t>（乙醛酸循环，植物）</a:t>
            </a:r>
            <a:endParaRPr lang="en-US" altLang="zh-CN" dirty="0"/>
          </a:p>
          <a:p>
            <a:pPr marL="285750" indent="-285750">
              <a:buFont typeface="Arial" panose="020B0604020202020204" pitchFamily="34" charset="0"/>
              <a:buChar char="•"/>
            </a:pPr>
            <a:r>
              <a:rPr lang="en-US" altLang="zh-CN" dirty="0"/>
              <a:t>Krebs–</a:t>
            </a:r>
            <a:r>
              <a:rPr lang="en-US" altLang="zh-CN" dirty="0" err="1"/>
              <a:t>Henseleit</a:t>
            </a:r>
            <a:r>
              <a:rPr lang="en-US" altLang="zh-CN" dirty="0"/>
              <a:t> solution</a:t>
            </a:r>
            <a:r>
              <a:rPr lang="zh-CN" altLang="en-US" dirty="0"/>
              <a:t>（克</a:t>
            </a:r>
            <a:r>
              <a:rPr lang="en-US" altLang="zh-CN" dirty="0"/>
              <a:t>-</a:t>
            </a:r>
            <a:r>
              <a:rPr lang="zh-CN" altLang="en-US" dirty="0"/>
              <a:t>亨氏</a:t>
            </a:r>
            <a:r>
              <a:rPr lang="zh-CN" altLang="en-US" b="0" i="0" dirty="0">
                <a:solidFill>
                  <a:srgbClr val="111111"/>
                </a:solidFill>
                <a:effectLst/>
                <a:latin typeface="微软雅黑" panose="020B0503020204020204" pitchFamily="34" charset="-122"/>
                <a:ea typeface="微软雅黑" panose="020B0503020204020204" pitchFamily="34" charset="-122"/>
              </a:rPr>
              <a:t>平衡盐溶液）</a:t>
            </a:r>
            <a:endParaRPr lang="zh-CN" altLang="en-US" b="0" dirty="0"/>
          </a:p>
        </p:txBody>
      </p:sp>
      <p:pic>
        <p:nvPicPr>
          <p:cNvPr id="11" name="图片 10"/>
          <p:cNvPicPr>
            <a:picLocks noChangeAspect="1"/>
          </p:cNvPicPr>
          <p:nvPr/>
        </p:nvPicPr>
        <p:blipFill>
          <a:blip r:embed="rId2"/>
          <a:stretch>
            <a:fillRect/>
          </a:stretch>
        </p:blipFill>
        <p:spPr>
          <a:xfrm>
            <a:off x="5178150" y="3573016"/>
            <a:ext cx="3960440" cy="3032212"/>
          </a:xfrm>
          <a:prstGeom prst="rect">
            <a:avLst/>
          </a:prstGeom>
        </p:spPr>
      </p:pic>
      <p:sp>
        <p:nvSpPr>
          <p:cNvPr id="13" name="文本框 12"/>
          <p:cNvSpPr txBox="1"/>
          <p:nvPr/>
        </p:nvSpPr>
        <p:spPr>
          <a:xfrm>
            <a:off x="8850558" y="3857102"/>
            <a:ext cx="2699792" cy="594202"/>
          </a:xfrm>
          <a:prstGeom prst="rect">
            <a:avLst/>
          </a:prstGeom>
          <a:noFill/>
        </p:spPr>
        <p:txBody>
          <a:bodyPr wrap="square" rtlCol="0">
            <a:spAutoFit/>
          </a:bodyPr>
          <a:lstStyle/>
          <a:p>
            <a:pPr>
              <a:lnSpc>
                <a:spcPct val="130000"/>
              </a:lnSpc>
            </a:pPr>
            <a:r>
              <a:rPr lang="en-US" altLang="zh-CN" sz="2800" dirty="0">
                <a:solidFill>
                  <a:srgbClr val="0000CC"/>
                </a:solidFill>
                <a:ea typeface="微软雅黑" panose="020B0503020204020204" pitchFamily="34" charset="-122"/>
              </a:rPr>
              <a:t>Krebs bicycle</a:t>
            </a:r>
            <a:endParaRPr lang="zh-CN" altLang="en-US" sz="2800" dirty="0">
              <a:solidFill>
                <a:srgbClr val="0000CC"/>
              </a:solidFill>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Group 2"/>
          <p:cNvGrpSpPr/>
          <p:nvPr/>
        </p:nvGrpSpPr>
        <p:grpSpPr bwMode="auto">
          <a:xfrm>
            <a:off x="5232401" y="260351"/>
            <a:ext cx="1452563" cy="1655763"/>
            <a:chOff x="2290" y="164"/>
            <a:chExt cx="1134" cy="1406"/>
          </a:xfrm>
        </p:grpSpPr>
        <p:pic>
          <p:nvPicPr>
            <p:cNvPr id="164964" name="Picture 3" descr="tac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90" y="181"/>
              <a:ext cx="1134" cy="1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65" name="Rectangle 4"/>
            <p:cNvSpPr>
              <a:spLocks noChangeArrowheads="1"/>
            </p:cNvSpPr>
            <p:nvPr/>
          </p:nvSpPr>
          <p:spPr bwMode="auto">
            <a:xfrm>
              <a:off x="2608" y="164"/>
              <a:ext cx="590" cy="454"/>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grpSp>
        <p:nvGrpSpPr>
          <p:cNvPr id="3" name="Group 5"/>
          <p:cNvGrpSpPr/>
          <p:nvPr/>
        </p:nvGrpSpPr>
        <p:grpSpPr bwMode="auto">
          <a:xfrm>
            <a:off x="4224338" y="5084764"/>
            <a:ext cx="850900" cy="1368425"/>
            <a:chOff x="1882" y="2931"/>
            <a:chExt cx="664" cy="1175"/>
          </a:xfrm>
        </p:grpSpPr>
        <p:pic>
          <p:nvPicPr>
            <p:cNvPr id="164962" name="Picture 6" descr="tac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 y="2931"/>
              <a:ext cx="664" cy="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63" name="Rectangle 7"/>
            <p:cNvSpPr>
              <a:spLocks noChangeArrowheads="1"/>
            </p:cNvSpPr>
            <p:nvPr/>
          </p:nvSpPr>
          <p:spPr bwMode="auto">
            <a:xfrm>
              <a:off x="1973" y="3475"/>
              <a:ext cx="453" cy="454"/>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grpSp>
        <p:nvGrpSpPr>
          <p:cNvPr id="4" name="Group 8"/>
          <p:cNvGrpSpPr/>
          <p:nvPr/>
        </p:nvGrpSpPr>
        <p:grpSpPr bwMode="auto">
          <a:xfrm>
            <a:off x="6240463" y="4581525"/>
            <a:ext cx="1282700" cy="1944688"/>
            <a:chOff x="2880" y="2659"/>
            <a:chExt cx="998" cy="1661"/>
          </a:xfrm>
        </p:grpSpPr>
        <p:pic>
          <p:nvPicPr>
            <p:cNvPr id="164960" name="Picture 9" descr="tac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0" y="2659"/>
              <a:ext cx="998" cy="1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61" name="Rectangle 10"/>
            <p:cNvSpPr>
              <a:spLocks noChangeArrowheads="1"/>
            </p:cNvSpPr>
            <p:nvPr/>
          </p:nvSpPr>
          <p:spPr bwMode="auto">
            <a:xfrm>
              <a:off x="2880" y="3521"/>
              <a:ext cx="544" cy="453"/>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grpSp>
        <p:nvGrpSpPr>
          <p:cNvPr id="5" name="Group 11"/>
          <p:cNvGrpSpPr/>
          <p:nvPr/>
        </p:nvGrpSpPr>
        <p:grpSpPr bwMode="auto">
          <a:xfrm>
            <a:off x="9285288" y="1484314"/>
            <a:ext cx="1238250" cy="1584325"/>
            <a:chOff x="4658" y="1525"/>
            <a:chExt cx="1055" cy="1381"/>
          </a:xfrm>
        </p:grpSpPr>
        <p:pic>
          <p:nvPicPr>
            <p:cNvPr id="164958" name="Picture 12" descr="tac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8" y="1525"/>
              <a:ext cx="1055" cy="1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59" name="Rectangle 13"/>
            <p:cNvSpPr>
              <a:spLocks noChangeArrowheads="1"/>
            </p:cNvSpPr>
            <p:nvPr/>
          </p:nvSpPr>
          <p:spPr bwMode="auto">
            <a:xfrm>
              <a:off x="4921" y="1525"/>
              <a:ext cx="590" cy="408"/>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grpSp>
        <p:nvGrpSpPr>
          <p:cNvPr id="6" name="Group 14"/>
          <p:cNvGrpSpPr/>
          <p:nvPr/>
        </p:nvGrpSpPr>
        <p:grpSpPr bwMode="auto">
          <a:xfrm>
            <a:off x="8472488" y="4292601"/>
            <a:ext cx="817562" cy="1800225"/>
            <a:chOff x="3923" y="2251"/>
            <a:chExt cx="681" cy="1641"/>
          </a:xfrm>
        </p:grpSpPr>
        <p:pic>
          <p:nvPicPr>
            <p:cNvPr id="164956" name="Picture 15" descr="tac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 y="2296"/>
              <a:ext cx="681" cy="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57" name="Rectangle 16"/>
            <p:cNvSpPr>
              <a:spLocks noChangeArrowheads="1"/>
            </p:cNvSpPr>
            <p:nvPr/>
          </p:nvSpPr>
          <p:spPr bwMode="auto">
            <a:xfrm>
              <a:off x="3969" y="2251"/>
              <a:ext cx="590" cy="453"/>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grpSp>
        <p:nvGrpSpPr>
          <p:cNvPr id="7" name="Group 17"/>
          <p:cNvGrpSpPr/>
          <p:nvPr/>
        </p:nvGrpSpPr>
        <p:grpSpPr bwMode="auto">
          <a:xfrm>
            <a:off x="7608888" y="476251"/>
            <a:ext cx="1117600" cy="1439863"/>
            <a:chOff x="3833" y="527"/>
            <a:chExt cx="861" cy="1236"/>
          </a:xfrm>
        </p:grpSpPr>
        <p:pic>
          <p:nvPicPr>
            <p:cNvPr id="164954" name="Picture 18" descr="tac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3" y="527"/>
              <a:ext cx="861" cy="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955" name="Rectangle 19"/>
            <p:cNvSpPr>
              <a:spLocks noChangeArrowheads="1"/>
            </p:cNvSpPr>
            <p:nvPr/>
          </p:nvSpPr>
          <p:spPr bwMode="auto">
            <a:xfrm>
              <a:off x="3878" y="527"/>
              <a:ext cx="590" cy="408"/>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pic>
        <p:nvPicPr>
          <p:cNvPr id="187412" name="Picture 20" descr="tac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6989" y="4581525"/>
            <a:ext cx="86677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13" name="Picture 21" descr="tac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4825" y="2492375"/>
            <a:ext cx="112553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14" name="Picture 22" descr="tac1"/>
          <p:cNvPicPr>
            <a:picLocks noGrp="1" noChangeAspect="1" noChangeArrowheads="1"/>
          </p:cNvPicPr>
          <p:nvPr>
            <p:ph/>
          </p:nvPr>
        </p:nvPicPr>
        <p:blipFill>
          <a:blip r:embed="rId9">
            <a:extLst>
              <a:ext uri="{28A0092B-C50C-407E-A947-70E740481C1C}">
                <a14:useLocalDpi xmlns:a14="http://schemas.microsoft.com/office/drawing/2010/main" val="0"/>
              </a:ext>
            </a:extLst>
          </a:blip>
          <a:srcRect/>
          <a:stretch>
            <a:fillRect/>
          </a:stretch>
        </p:blipFill>
        <p:spPr>
          <a:xfrm>
            <a:off x="2436466" y="188640"/>
            <a:ext cx="1211263" cy="1409700"/>
          </a:xfrm>
        </p:spPr>
      </p:pic>
      <p:sp>
        <p:nvSpPr>
          <p:cNvPr id="187415" name="Arc 23"/>
          <p:cNvSpPr/>
          <p:nvPr/>
        </p:nvSpPr>
        <p:spPr bwMode="auto">
          <a:xfrm>
            <a:off x="3935413" y="0"/>
            <a:ext cx="385762" cy="909638"/>
          </a:xfrm>
          <a:custGeom>
            <a:avLst/>
            <a:gdLst>
              <a:gd name="T0" fmla="*/ 2147483646 w 12997"/>
              <a:gd name="T1" fmla="*/ 2147483646 h 21473"/>
              <a:gd name="T2" fmla="*/ 0 w 12997"/>
              <a:gd name="T3" fmla="*/ 2147483646 h 21473"/>
              <a:gd name="T4" fmla="*/ 2147483646 w 12997"/>
              <a:gd name="T5" fmla="*/ 0 h 21473"/>
              <a:gd name="T6" fmla="*/ 0 60000 65536"/>
              <a:gd name="T7" fmla="*/ 0 60000 65536"/>
              <a:gd name="T8" fmla="*/ 0 60000 65536"/>
              <a:gd name="T9" fmla="*/ 0 w 12997"/>
              <a:gd name="T10" fmla="*/ 0 h 21473"/>
              <a:gd name="T11" fmla="*/ 12997 w 12997"/>
              <a:gd name="T12" fmla="*/ 21473 h 21473"/>
            </a:gdLst>
            <a:ahLst/>
            <a:cxnLst>
              <a:cxn ang="T6">
                <a:pos x="T0" y="T1"/>
              </a:cxn>
              <a:cxn ang="T7">
                <a:pos x="T2" y="T3"/>
              </a:cxn>
              <a:cxn ang="T8">
                <a:pos x="T4" y="T5"/>
              </a:cxn>
            </a:cxnLst>
            <a:rect l="T9" t="T10" r="T11" b="T12"/>
            <a:pathLst>
              <a:path w="12997" h="21473" fill="none" extrusionOk="0">
                <a:moveTo>
                  <a:pt x="10656" y="21472"/>
                </a:moveTo>
                <a:cubicBezTo>
                  <a:pt x="6788" y="21051"/>
                  <a:pt x="3107" y="19592"/>
                  <a:pt x="-1" y="17252"/>
                </a:cubicBezTo>
              </a:path>
              <a:path w="12997" h="21473" stroke="0" extrusionOk="0">
                <a:moveTo>
                  <a:pt x="10656" y="21472"/>
                </a:moveTo>
                <a:cubicBezTo>
                  <a:pt x="6788" y="21051"/>
                  <a:pt x="3107" y="19592"/>
                  <a:pt x="-1" y="17252"/>
                </a:cubicBezTo>
                <a:lnTo>
                  <a:pt x="12997" y="0"/>
                </a:lnTo>
                <a:lnTo>
                  <a:pt x="10656" y="21472"/>
                </a:lnTo>
                <a:close/>
              </a:path>
            </a:pathLst>
          </a:custGeom>
          <a:noFill/>
          <a:ln w="19050">
            <a:solidFill>
              <a:schemeClr val="bg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 name="Group 24"/>
          <p:cNvGrpSpPr/>
          <p:nvPr/>
        </p:nvGrpSpPr>
        <p:grpSpPr bwMode="auto">
          <a:xfrm>
            <a:off x="4224341" y="908050"/>
            <a:ext cx="823913" cy="914400"/>
            <a:chOff x="1973" y="843"/>
            <a:chExt cx="519" cy="576"/>
          </a:xfrm>
        </p:grpSpPr>
        <p:sp>
          <p:nvSpPr>
            <p:cNvPr id="164952" name="Arc 25"/>
            <p:cNvSpPr/>
            <p:nvPr/>
          </p:nvSpPr>
          <p:spPr bwMode="auto">
            <a:xfrm>
              <a:off x="1973" y="843"/>
              <a:ext cx="400" cy="576"/>
            </a:xfrm>
            <a:custGeom>
              <a:avLst/>
              <a:gdLst>
                <a:gd name="T0" fmla="*/ 0 w 15011"/>
                <a:gd name="T1" fmla="*/ 0 h 21600"/>
                <a:gd name="T2" fmla="*/ 0 w 15011"/>
                <a:gd name="T3" fmla="*/ 0 h 21600"/>
                <a:gd name="T4" fmla="*/ 0 w 15011"/>
                <a:gd name="T5" fmla="*/ 0 h 21600"/>
                <a:gd name="T6" fmla="*/ 0 60000 65536"/>
                <a:gd name="T7" fmla="*/ 0 60000 65536"/>
                <a:gd name="T8" fmla="*/ 0 60000 65536"/>
                <a:gd name="T9" fmla="*/ 0 w 15011"/>
                <a:gd name="T10" fmla="*/ 0 h 21600"/>
                <a:gd name="T11" fmla="*/ 15011 w 15011"/>
                <a:gd name="T12" fmla="*/ 21600 h 21600"/>
              </a:gdLst>
              <a:ahLst/>
              <a:cxnLst>
                <a:cxn ang="T6">
                  <a:pos x="T0" y="T1"/>
                </a:cxn>
                <a:cxn ang="T7">
                  <a:pos x="T2" y="T3"/>
                </a:cxn>
                <a:cxn ang="T8">
                  <a:pos x="T4" y="T5"/>
                </a:cxn>
              </a:cxnLst>
              <a:rect l="T9" t="T10" r="T11" b="T12"/>
              <a:pathLst>
                <a:path w="15011" h="21600" fill="none" extrusionOk="0">
                  <a:moveTo>
                    <a:pt x="0" y="1"/>
                  </a:moveTo>
                  <a:cubicBezTo>
                    <a:pt x="77" y="0"/>
                    <a:pt x="155" y="-1"/>
                    <a:pt x="233" y="0"/>
                  </a:cubicBezTo>
                  <a:cubicBezTo>
                    <a:pt x="5723" y="0"/>
                    <a:pt x="11007" y="2090"/>
                    <a:pt x="15011" y="5846"/>
                  </a:cubicBezTo>
                </a:path>
                <a:path w="15011" h="21600" stroke="0" extrusionOk="0">
                  <a:moveTo>
                    <a:pt x="0" y="1"/>
                  </a:moveTo>
                  <a:cubicBezTo>
                    <a:pt x="77" y="0"/>
                    <a:pt x="155" y="-1"/>
                    <a:pt x="233" y="0"/>
                  </a:cubicBezTo>
                  <a:cubicBezTo>
                    <a:pt x="5723" y="0"/>
                    <a:pt x="11007" y="2090"/>
                    <a:pt x="15011" y="5846"/>
                  </a:cubicBezTo>
                  <a:lnTo>
                    <a:pt x="233" y="21600"/>
                  </a:lnTo>
                  <a:lnTo>
                    <a:pt x="0" y="1"/>
                  </a:lnTo>
                  <a:close/>
                </a:path>
              </a:pathLst>
            </a:custGeom>
            <a:noFill/>
            <a:ln w="190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953" name="Text Box 26"/>
            <p:cNvSpPr txBox="1">
              <a:spLocks noChangeArrowheads="1"/>
            </p:cNvSpPr>
            <p:nvPr/>
          </p:nvSpPr>
          <p:spPr bwMode="auto">
            <a:xfrm>
              <a:off x="1973" y="996"/>
              <a:ext cx="5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latin typeface="Antique Olive"/>
                  <a:ea typeface="宋体" panose="02010600030101010101" pitchFamily="2" charset="-122"/>
                </a:rPr>
                <a:t>CoASH</a:t>
              </a:r>
              <a:endParaRPr kumimoji="1" lang="en-US" altLang="zh-CN" sz="1800">
                <a:latin typeface="Antique Olive"/>
                <a:ea typeface="宋体" panose="02010600030101010101" pitchFamily="2" charset="-122"/>
              </a:endParaRPr>
            </a:p>
          </p:txBody>
        </p:sp>
      </p:grpSp>
      <p:sp>
        <p:nvSpPr>
          <p:cNvPr id="187419" name="Arc 27"/>
          <p:cNvSpPr/>
          <p:nvPr/>
        </p:nvSpPr>
        <p:spPr bwMode="auto">
          <a:xfrm>
            <a:off x="5105400" y="5334001"/>
            <a:ext cx="649288" cy="619125"/>
          </a:xfrm>
          <a:custGeom>
            <a:avLst/>
            <a:gdLst>
              <a:gd name="T0" fmla="*/ 2147483646 w 41786"/>
              <a:gd name="T1" fmla="*/ 0 h 23420"/>
              <a:gd name="T2" fmla="*/ 0 w 41786"/>
              <a:gd name="T3" fmla="*/ 2147483646 h 23420"/>
              <a:gd name="T4" fmla="*/ 2147483646 w 41786"/>
              <a:gd name="T5" fmla="*/ 2147483646 h 23420"/>
              <a:gd name="T6" fmla="*/ 0 60000 65536"/>
              <a:gd name="T7" fmla="*/ 0 60000 65536"/>
              <a:gd name="T8" fmla="*/ 0 60000 65536"/>
              <a:gd name="T9" fmla="*/ 0 w 41786"/>
              <a:gd name="T10" fmla="*/ 0 h 23420"/>
              <a:gd name="T11" fmla="*/ 41786 w 41786"/>
              <a:gd name="T12" fmla="*/ 23420 h 23420"/>
            </a:gdLst>
            <a:ahLst/>
            <a:cxnLst>
              <a:cxn ang="T6">
                <a:pos x="T0" y="T1"/>
              </a:cxn>
              <a:cxn ang="T7">
                <a:pos x="T2" y="T3"/>
              </a:cxn>
              <a:cxn ang="T8">
                <a:pos x="T4" y="T5"/>
              </a:cxn>
            </a:cxnLst>
            <a:rect l="T9" t="T10" r="T11" b="T12"/>
            <a:pathLst>
              <a:path w="41786" h="23420" fill="none" extrusionOk="0">
                <a:moveTo>
                  <a:pt x="41709" y="-1"/>
                </a:moveTo>
                <a:cubicBezTo>
                  <a:pt x="41760" y="605"/>
                  <a:pt x="41786" y="1212"/>
                  <a:pt x="41786" y="1820"/>
                </a:cubicBezTo>
                <a:cubicBezTo>
                  <a:pt x="41786" y="13749"/>
                  <a:pt x="32115" y="23420"/>
                  <a:pt x="20186" y="23420"/>
                </a:cubicBezTo>
                <a:cubicBezTo>
                  <a:pt x="11221" y="23420"/>
                  <a:pt x="3189" y="17883"/>
                  <a:pt x="-1" y="9506"/>
                </a:cubicBezTo>
              </a:path>
              <a:path w="41786" h="23420" stroke="0" extrusionOk="0">
                <a:moveTo>
                  <a:pt x="41709" y="-1"/>
                </a:moveTo>
                <a:cubicBezTo>
                  <a:pt x="41760" y="605"/>
                  <a:pt x="41786" y="1212"/>
                  <a:pt x="41786" y="1820"/>
                </a:cubicBezTo>
                <a:cubicBezTo>
                  <a:pt x="41786" y="13749"/>
                  <a:pt x="32115" y="23420"/>
                  <a:pt x="20186" y="23420"/>
                </a:cubicBezTo>
                <a:cubicBezTo>
                  <a:pt x="11221" y="23420"/>
                  <a:pt x="3189" y="17883"/>
                  <a:pt x="-1" y="9506"/>
                </a:cubicBezTo>
                <a:lnTo>
                  <a:pt x="20186" y="1820"/>
                </a:lnTo>
                <a:lnTo>
                  <a:pt x="41709" y="-1"/>
                </a:lnTo>
                <a:close/>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20" name="Text Box 28"/>
          <p:cNvSpPr txBox="1">
            <a:spLocks noChangeArrowheads="1"/>
          </p:cNvSpPr>
          <p:nvPr/>
        </p:nvSpPr>
        <p:spPr bwMode="auto">
          <a:xfrm>
            <a:off x="6672264" y="5300663"/>
            <a:ext cx="11063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99"/>
                </a:solidFill>
                <a:latin typeface="Antique Olive"/>
                <a:ea typeface="宋体" panose="02010600030101010101" pitchFamily="2" charset="-122"/>
              </a:rPr>
              <a:t>NADH+H</a:t>
            </a:r>
            <a:r>
              <a:rPr kumimoji="1" lang="en-US" altLang="zh-CN" sz="1800" baseline="30000">
                <a:solidFill>
                  <a:srgbClr val="000099"/>
                </a:solidFill>
                <a:latin typeface="Antique Olive"/>
                <a:ea typeface="宋体" panose="02010600030101010101" pitchFamily="2" charset="-122"/>
              </a:rPr>
              <a:t>+</a:t>
            </a:r>
            <a:endParaRPr kumimoji="1" lang="en-US" altLang="zh-CN" sz="1800" baseline="30000">
              <a:solidFill>
                <a:srgbClr val="000099"/>
              </a:solidFill>
              <a:latin typeface="Antique Olive"/>
              <a:ea typeface="宋体" panose="02010600030101010101" pitchFamily="2" charset="-122"/>
            </a:endParaRPr>
          </a:p>
        </p:txBody>
      </p:sp>
      <p:sp>
        <p:nvSpPr>
          <p:cNvPr id="187421" name="Text Box 29"/>
          <p:cNvSpPr txBox="1">
            <a:spLocks noChangeArrowheads="1"/>
          </p:cNvSpPr>
          <p:nvPr/>
        </p:nvSpPr>
        <p:spPr bwMode="auto">
          <a:xfrm>
            <a:off x="7608888" y="4581525"/>
            <a:ext cx="699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99"/>
                </a:solidFill>
                <a:latin typeface="Antique Olive"/>
                <a:ea typeface="宋体" panose="02010600030101010101" pitchFamily="2" charset="-122"/>
              </a:rPr>
              <a:t>NAD</a:t>
            </a:r>
            <a:r>
              <a:rPr kumimoji="1" lang="en-US" altLang="zh-CN" sz="1800" baseline="30000">
                <a:solidFill>
                  <a:srgbClr val="000099"/>
                </a:solidFill>
                <a:latin typeface="Antique Olive"/>
                <a:ea typeface="宋体" panose="02010600030101010101" pitchFamily="2" charset="-122"/>
              </a:rPr>
              <a:t>+</a:t>
            </a:r>
            <a:endParaRPr kumimoji="1" lang="en-US" altLang="zh-CN" sz="1800" baseline="30000">
              <a:solidFill>
                <a:srgbClr val="000099"/>
              </a:solidFill>
              <a:latin typeface="Antique Olive"/>
              <a:ea typeface="宋体" panose="02010600030101010101" pitchFamily="2" charset="-122"/>
            </a:endParaRPr>
          </a:p>
        </p:txBody>
      </p:sp>
      <p:sp>
        <p:nvSpPr>
          <p:cNvPr id="187422" name="Arc 30"/>
          <p:cNvSpPr/>
          <p:nvPr/>
        </p:nvSpPr>
        <p:spPr bwMode="auto">
          <a:xfrm>
            <a:off x="2176464" y="1720850"/>
            <a:ext cx="477837" cy="636588"/>
          </a:xfrm>
          <a:custGeom>
            <a:avLst/>
            <a:gdLst>
              <a:gd name="T0" fmla="*/ 2147483646 w 21600"/>
              <a:gd name="T1" fmla="*/ 0 h 42042"/>
              <a:gd name="T2" fmla="*/ 2147483646 w 21600"/>
              <a:gd name="T3" fmla="*/ 2147483646 h 42042"/>
              <a:gd name="T4" fmla="*/ 0 w 21600"/>
              <a:gd name="T5" fmla="*/ 2147483646 h 42042"/>
              <a:gd name="T6" fmla="*/ 0 60000 65536"/>
              <a:gd name="T7" fmla="*/ 0 60000 65536"/>
              <a:gd name="T8" fmla="*/ 0 60000 65536"/>
              <a:gd name="T9" fmla="*/ 0 w 21600"/>
              <a:gd name="T10" fmla="*/ 0 h 42042"/>
              <a:gd name="T11" fmla="*/ 21600 w 21600"/>
              <a:gd name="T12" fmla="*/ 42042 h 42042"/>
            </a:gdLst>
            <a:ahLst/>
            <a:cxnLst>
              <a:cxn ang="T6">
                <a:pos x="T0" y="T1"/>
              </a:cxn>
              <a:cxn ang="T7">
                <a:pos x="T2" y="T3"/>
              </a:cxn>
              <a:cxn ang="T8">
                <a:pos x="T4" y="T5"/>
              </a:cxn>
            </a:cxnLst>
            <a:rect l="T9" t="T10" r="T11" b="T12"/>
            <a:pathLst>
              <a:path w="21600" h="42042" fill="none" extrusionOk="0">
                <a:moveTo>
                  <a:pt x="5586" y="0"/>
                </a:moveTo>
                <a:cubicBezTo>
                  <a:pt x="15031" y="2529"/>
                  <a:pt x="21600" y="11087"/>
                  <a:pt x="21600" y="20865"/>
                </a:cubicBezTo>
                <a:cubicBezTo>
                  <a:pt x="21600" y="31154"/>
                  <a:pt x="14341" y="40015"/>
                  <a:pt x="4253" y="42041"/>
                </a:cubicBezTo>
              </a:path>
              <a:path w="21600" h="42042" stroke="0" extrusionOk="0">
                <a:moveTo>
                  <a:pt x="5586" y="0"/>
                </a:moveTo>
                <a:cubicBezTo>
                  <a:pt x="15031" y="2529"/>
                  <a:pt x="21600" y="11087"/>
                  <a:pt x="21600" y="20865"/>
                </a:cubicBezTo>
                <a:cubicBezTo>
                  <a:pt x="21600" y="31154"/>
                  <a:pt x="14341" y="40015"/>
                  <a:pt x="4253" y="42041"/>
                </a:cubicBezTo>
                <a:lnTo>
                  <a:pt x="0" y="20865"/>
                </a:lnTo>
                <a:lnTo>
                  <a:pt x="5586" y="0"/>
                </a:lnTo>
                <a:close/>
              </a:path>
            </a:pathLst>
          </a:custGeom>
          <a:noFill/>
          <a:ln w="28575">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9" name="Group 31"/>
          <p:cNvGrpSpPr/>
          <p:nvPr/>
        </p:nvGrpSpPr>
        <p:grpSpPr bwMode="auto">
          <a:xfrm>
            <a:off x="7248526" y="5805488"/>
            <a:ext cx="1058863" cy="571500"/>
            <a:chOff x="3379" y="3549"/>
            <a:chExt cx="667" cy="360"/>
          </a:xfrm>
        </p:grpSpPr>
        <p:sp>
          <p:nvSpPr>
            <p:cNvPr id="187424" name="Text Box 32"/>
            <p:cNvSpPr txBox="1">
              <a:spLocks noChangeArrowheads="1"/>
            </p:cNvSpPr>
            <p:nvPr/>
          </p:nvSpPr>
          <p:spPr bwMode="auto">
            <a:xfrm>
              <a:off x="3379" y="3657"/>
              <a:ext cx="365" cy="252"/>
            </a:xfrm>
            <a:prstGeom prst="rect">
              <a:avLst/>
            </a:prstGeom>
            <a:noFill/>
            <a:ln w="9525">
              <a:noFill/>
              <a:miter lim="800000"/>
            </a:ln>
            <a:effectLst/>
          </p:spPr>
          <p:txBody>
            <a:bodyPr wrap="none">
              <a:spAutoFit/>
            </a:bodyPr>
            <a:lstStyle/>
            <a:p>
              <a:pPr eaLnBrk="1" hangingPunct="1">
                <a:defRPr/>
              </a:pPr>
              <a:r>
                <a:rPr kumimoji="1" lang="en-US" altLang="zh-CN" sz="2000">
                  <a:solidFill>
                    <a:srgbClr val="FF0D6F"/>
                  </a:solidFill>
                  <a:effectLst>
                    <a:outerShdw blurRad="38100" dist="38100" dir="2700000" algn="tl">
                      <a:srgbClr val="C0C0C0"/>
                    </a:outerShdw>
                  </a:effectLst>
                  <a:latin typeface="Antique Olive" pitchFamily="34" charset="0"/>
                </a:rPr>
                <a:t>CO</a:t>
              </a:r>
              <a:r>
                <a:rPr kumimoji="1" lang="en-US" altLang="zh-CN" sz="2000" baseline="-25000">
                  <a:solidFill>
                    <a:srgbClr val="FF0D6F"/>
                  </a:solidFill>
                  <a:effectLst>
                    <a:outerShdw blurRad="38100" dist="38100" dir="2700000" algn="tl">
                      <a:srgbClr val="C0C0C0"/>
                    </a:outerShdw>
                  </a:effectLst>
                  <a:latin typeface="Antique Olive" pitchFamily="34" charset="0"/>
                </a:rPr>
                <a:t>2</a:t>
              </a:r>
              <a:endParaRPr kumimoji="1" lang="en-US" altLang="zh-CN" sz="2000" baseline="-25000">
                <a:solidFill>
                  <a:srgbClr val="FF0D6F"/>
                </a:solidFill>
                <a:effectLst>
                  <a:outerShdw blurRad="38100" dist="38100" dir="2700000" algn="tl">
                    <a:srgbClr val="C0C0C0"/>
                  </a:outerShdw>
                </a:effectLst>
                <a:latin typeface="Antique Olive" pitchFamily="34" charset="0"/>
              </a:endParaRPr>
            </a:p>
          </p:txBody>
        </p:sp>
        <p:sp>
          <p:nvSpPr>
            <p:cNvPr id="164951" name="Arc 33"/>
            <p:cNvSpPr/>
            <p:nvPr/>
          </p:nvSpPr>
          <p:spPr bwMode="auto">
            <a:xfrm>
              <a:off x="3488" y="3549"/>
              <a:ext cx="558" cy="292"/>
            </a:xfrm>
            <a:custGeom>
              <a:avLst/>
              <a:gdLst>
                <a:gd name="T0" fmla="*/ 0 w 20915"/>
                <a:gd name="T1" fmla="*/ 0 h 10944"/>
                <a:gd name="T2" fmla="*/ 0 w 20915"/>
                <a:gd name="T3" fmla="*/ 0 h 10944"/>
                <a:gd name="T4" fmla="*/ 0 w 20915"/>
                <a:gd name="T5" fmla="*/ 0 h 10944"/>
                <a:gd name="T6" fmla="*/ 0 60000 65536"/>
                <a:gd name="T7" fmla="*/ 0 60000 65536"/>
                <a:gd name="T8" fmla="*/ 0 60000 65536"/>
                <a:gd name="T9" fmla="*/ 0 w 20915"/>
                <a:gd name="T10" fmla="*/ 0 h 10944"/>
                <a:gd name="T11" fmla="*/ 20915 w 20915"/>
                <a:gd name="T12" fmla="*/ 10944 h 10944"/>
              </a:gdLst>
              <a:ahLst/>
              <a:cxnLst>
                <a:cxn ang="T6">
                  <a:pos x="T0" y="T1"/>
                </a:cxn>
                <a:cxn ang="T7">
                  <a:pos x="T2" y="T3"/>
                </a:cxn>
                <a:cxn ang="T8">
                  <a:pos x="T4" y="T5"/>
                </a:cxn>
              </a:cxnLst>
              <a:rect l="T9" t="T10" r="T11" b="T12"/>
              <a:pathLst>
                <a:path w="20915" h="10944" fill="none" extrusionOk="0">
                  <a:moveTo>
                    <a:pt x="-1" y="5547"/>
                  </a:moveTo>
                  <a:cubicBezTo>
                    <a:pt x="502" y="3600"/>
                    <a:pt x="1273" y="1733"/>
                    <a:pt x="2292" y="-1"/>
                  </a:cubicBezTo>
                </a:path>
                <a:path w="20915" h="10944" stroke="0" extrusionOk="0">
                  <a:moveTo>
                    <a:pt x="-1" y="5547"/>
                  </a:moveTo>
                  <a:cubicBezTo>
                    <a:pt x="502" y="3600"/>
                    <a:pt x="1273" y="1733"/>
                    <a:pt x="2292" y="-1"/>
                  </a:cubicBezTo>
                  <a:lnTo>
                    <a:pt x="20915" y="10944"/>
                  </a:lnTo>
                  <a:lnTo>
                    <a:pt x="-1" y="5547"/>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87426" name="Text Box 34"/>
          <p:cNvSpPr txBox="1">
            <a:spLocks noChangeArrowheads="1"/>
          </p:cNvSpPr>
          <p:nvPr/>
        </p:nvSpPr>
        <p:spPr bwMode="auto">
          <a:xfrm>
            <a:off x="8839201" y="3200401"/>
            <a:ext cx="8731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99"/>
                </a:solidFill>
                <a:latin typeface="Antique Olive"/>
                <a:ea typeface="宋体" panose="02010600030101010101" pitchFamily="2" charset="-122"/>
              </a:rPr>
              <a:t>NAD</a:t>
            </a:r>
            <a:r>
              <a:rPr kumimoji="1" lang="en-US" altLang="zh-CN" sz="1800" baseline="30000">
                <a:solidFill>
                  <a:srgbClr val="000099"/>
                </a:solidFill>
                <a:latin typeface="Antique Olive"/>
                <a:ea typeface="宋体" panose="02010600030101010101" pitchFamily="2" charset="-122"/>
              </a:rPr>
              <a:t>+</a:t>
            </a:r>
            <a:endParaRPr kumimoji="1" lang="en-US" altLang="zh-CN" sz="1800" baseline="30000">
              <a:solidFill>
                <a:srgbClr val="000099"/>
              </a:solidFill>
              <a:latin typeface="Antique Olive"/>
              <a:ea typeface="宋体" panose="02010600030101010101" pitchFamily="2" charset="-122"/>
            </a:endParaRPr>
          </a:p>
        </p:txBody>
      </p:sp>
      <p:sp>
        <p:nvSpPr>
          <p:cNvPr id="187427" name="Text Box 35"/>
          <p:cNvSpPr txBox="1">
            <a:spLocks noChangeArrowheads="1"/>
          </p:cNvSpPr>
          <p:nvPr/>
        </p:nvSpPr>
        <p:spPr bwMode="auto">
          <a:xfrm>
            <a:off x="8382001" y="3810000"/>
            <a:ext cx="11063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99"/>
                </a:solidFill>
                <a:latin typeface="Antique Olive"/>
                <a:ea typeface="宋体" panose="02010600030101010101" pitchFamily="2" charset="-122"/>
              </a:rPr>
              <a:t>NADH+H</a:t>
            </a:r>
            <a:r>
              <a:rPr kumimoji="1" lang="en-US" altLang="zh-CN" sz="1800" baseline="30000">
                <a:solidFill>
                  <a:srgbClr val="000099"/>
                </a:solidFill>
                <a:latin typeface="Antique Olive"/>
                <a:ea typeface="宋体" panose="02010600030101010101" pitchFamily="2" charset="-122"/>
              </a:rPr>
              <a:t>+</a:t>
            </a:r>
            <a:endParaRPr kumimoji="1" lang="en-US" altLang="zh-CN" sz="1800" baseline="30000">
              <a:solidFill>
                <a:srgbClr val="000099"/>
              </a:solidFill>
              <a:latin typeface="Antique Olive"/>
              <a:ea typeface="宋体" panose="02010600030101010101" pitchFamily="2" charset="-122"/>
            </a:endParaRPr>
          </a:p>
        </p:txBody>
      </p:sp>
      <p:grpSp>
        <p:nvGrpSpPr>
          <p:cNvPr id="10" name="Group 36"/>
          <p:cNvGrpSpPr/>
          <p:nvPr/>
        </p:nvGrpSpPr>
        <p:grpSpPr bwMode="auto">
          <a:xfrm>
            <a:off x="9296400" y="4497388"/>
            <a:ext cx="1162050" cy="779462"/>
            <a:chOff x="4896" y="2833"/>
            <a:chExt cx="732" cy="491"/>
          </a:xfrm>
        </p:grpSpPr>
        <p:sp>
          <p:nvSpPr>
            <p:cNvPr id="187429" name="Text Box 37"/>
            <p:cNvSpPr txBox="1">
              <a:spLocks noChangeArrowheads="1"/>
            </p:cNvSpPr>
            <p:nvPr/>
          </p:nvSpPr>
          <p:spPr bwMode="auto">
            <a:xfrm>
              <a:off x="4896" y="3072"/>
              <a:ext cx="639" cy="252"/>
            </a:xfrm>
            <a:prstGeom prst="rect">
              <a:avLst/>
            </a:prstGeom>
            <a:noFill/>
            <a:ln w="9525">
              <a:noFill/>
              <a:miter lim="800000"/>
            </a:ln>
            <a:effectLst/>
          </p:spPr>
          <p:txBody>
            <a:bodyPr>
              <a:spAutoFit/>
            </a:bodyPr>
            <a:lstStyle/>
            <a:p>
              <a:pPr eaLnBrk="1" hangingPunct="1">
                <a:defRPr/>
              </a:pPr>
              <a:r>
                <a:rPr kumimoji="1" lang="en-US" altLang="zh-CN" sz="2000" dirty="0">
                  <a:solidFill>
                    <a:srgbClr val="FF0D6F"/>
                  </a:solidFill>
                  <a:effectLst>
                    <a:outerShdw blurRad="38100" dist="38100" dir="2700000" algn="tl">
                      <a:srgbClr val="C0C0C0"/>
                    </a:outerShdw>
                  </a:effectLst>
                  <a:latin typeface="Antique Olive" pitchFamily="34" charset="0"/>
                </a:rPr>
                <a:t>CO</a:t>
              </a:r>
              <a:r>
                <a:rPr kumimoji="1" lang="en-US" altLang="zh-CN" sz="2000" baseline="-25000" dirty="0">
                  <a:solidFill>
                    <a:srgbClr val="FF0D6F"/>
                  </a:solidFill>
                  <a:effectLst>
                    <a:outerShdw blurRad="38100" dist="38100" dir="2700000" algn="tl">
                      <a:srgbClr val="C0C0C0"/>
                    </a:outerShdw>
                  </a:effectLst>
                  <a:latin typeface="Antique Olive" pitchFamily="34" charset="0"/>
                </a:rPr>
                <a:t>2</a:t>
              </a:r>
              <a:endParaRPr kumimoji="1" lang="en-US" altLang="zh-CN" sz="2000" baseline="-25000" dirty="0">
                <a:solidFill>
                  <a:srgbClr val="FF0D6F"/>
                </a:solidFill>
                <a:effectLst>
                  <a:outerShdw blurRad="38100" dist="38100" dir="2700000" algn="tl">
                    <a:srgbClr val="C0C0C0"/>
                  </a:outerShdw>
                </a:effectLst>
                <a:latin typeface="Antique Olive" pitchFamily="34" charset="0"/>
              </a:endParaRPr>
            </a:p>
          </p:txBody>
        </p:sp>
        <p:sp>
          <p:nvSpPr>
            <p:cNvPr id="164949" name="Arc 38"/>
            <p:cNvSpPr/>
            <p:nvPr/>
          </p:nvSpPr>
          <p:spPr bwMode="auto">
            <a:xfrm>
              <a:off x="5041" y="2833"/>
              <a:ext cx="587" cy="277"/>
            </a:xfrm>
            <a:custGeom>
              <a:avLst/>
              <a:gdLst>
                <a:gd name="T0" fmla="*/ 0 w 21591"/>
                <a:gd name="T1" fmla="*/ 0 h 7522"/>
                <a:gd name="T2" fmla="*/ 0 w 21591"/>
                <a:gd name="T3" fmla="*/ 0 h 7522"/>
                <a:gd name="T4" fmla="*/ 0 w 21591"/>
                <a:gd name="T5" fmla="*/ 0 h 7522"/>
                <a:gd name="T6" fmla="*/ 0 60000 65536"/>
                <a:gd name="T7" fmla="*/ 0 60000 65536"/>
                <a:gd name="T8" fmla="*/ 0 60000 65536"/>
                <a:gd name="T9" fmla="*/ 0 w 21591"/>
                <a:gd name="T10" fmla="*/ 0 h 7522"/>
                <a:gd name="T11" fmla="*/ 21591 w 21591"/>
                <a:gd name="T12" fmla="*/ 7522 h 7522"/>
              </a:gdLst>
              <a:ahLst/>
              <a:cxnLst>
                <a:cxn ang="T6">
                  <a:pos x="T0" y="T1"/>
                </a:cxn>
                <a:cxn ang="T7">
                  <a:pos x="T2" y="T3"/>
                </a:cxn>
                <a:cxn ang="T8">
                  <a:pos x="T4" y="T5"/>
                </a:cxn>
              </a:cxnLst>
              <a:rect l="T9" t="T10" r="T11" b="T12"/>
              <a:pathLst>
                <a:path w="21591" h="7522" fill="none" extrusionOk="0">
                  <a:moveTo>
                    <a:pt x="-1" y="6905"/>
                  </a:moveTo>
                  <a:cubicBezTo>
                    <a:pt x="67" y="4546"/>
                    <a:pt x="520" y="2213"/>
                    <a:pt x="1343" y="0"/>
                  </a:cubicBezTo>
                </a:path>
                <a:path w="21591" h="7522" stroke="0" extrusionOk="0">
                  <a:moveTo>
                    <a:pt x="-1" y="6905"/>
                  </a:moveTo>
                  <a:cubicBezTo>
                    <a:pt x="67" y="4546"/>
                    <a:pt x="520" y="2213"/>
                    <a:pt x="1343" y="0"/>
                  </a:cubicBezTo>
                  <a:lnTo>
                    <a:pt x="21591" y="7522"/>
                  </a:lnTo>
                  <a:lnTo>
                    <a:pt x="-1" y="6905"/>
                  </a:lnTo>
                  <a:close/>
                </a:path>
              </a:pathLst>
            </a:custGeom>
            <a:noFill/>
            <a:ln w="28575">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87431" name="Text Box 39"/>
          <p:cNvSpPr txBox="1">
            <a:spLocks noChangeArrowheads="1"/>
          </p:cNvSpPr>
          <p:nvPr/>
        </p:nvSpPr>
        <p:spPr bwMode="auto">
          <a:xfrm>
            <a:off x="4724400" y="5334001"/>
            <a:ext cx="692150" cy="366713"/>
          </a:xfrm>
          <a:prstGeom prst="rect">
            <a:avLst/>
          </a:prstGeom>
          <a:noFill/>
          <a:ln w="9525">
            <a:noFill/>
            <a:miter lim="800000"/>
          </a:ln>
          <a:effectLst/>
        </p:spPr>
        <p:txBody>
          <a:bodyPr>
            <a:spAutoFit/>
          </a:bodyPr>
          <a:lstStyle/>
          <a:p>
            <a:pPr eaLnBrk="1" hangingPunct="1">
              <a:defRPr/>
            </a:pPr>
            <a:r>
              <a:rPr kumimoji="1" lang="en-US" altLang="zh-CN">
                <a:solidFill>
                  <a:srgbClr val="FF0066"/>
                </a:solidFill>
                <a:effectLst>
                  <a:outerShdw blurRad="38100" dist="38100" dir="2700000" algn="tl">
                    <a:srgbClr val="C0C0C0"/>
                  </a:outerShdw>
                </a:effectLst>
                <a:latin typeface="Antique Olive" pitchFamily="34" charset="0"/>
              </a:rPr>
              <a:t>GTP</a:t>
            </a:r>
            <a:endParaRPr kumimoji="1" lang="en-US" altLang="zh-CN">
              <a:solidFill>
                <a:srgbClr val="FF0066"/>
              </a:solidFill>
              <a:effectLst>
                <a:outerShdw blurRad="38100" dist="38100" dir="2700000" algn="tl">
                  <a:srgbClr val="C0C0C0"/>
                </a:outerShdw>
              </a:effectLst>
              <a:latin typeface="Antique Olive" pitchFamily="34" charset="0"/>
            </a:endParaRPr>
          </a:p>
        </p:txBody>
      </p:sp>
      <p:sp>
        <p:nvSpPr>
          <p:cNvPr id="187432" name="Text Box 40"/>
          <p:cNvSpPr txBox="1">
            <a:spLocks noChangeArrowheads="1"/>
          </p:cNvSpPr>
          <p:nvPr/>
        </p:nvSpPr>
        <p:spPr bwMode="auto">
          <a:xfrm>
            <a:off x="5105400" y="5029201"/>
            <a:ext cx="896399" cy="369332"/>
          </a:xfrm>
          <a:prstGeom prst="rect">
            <a:avLst/>
          </a:prstGeom>
          <a:noFill/>
          <a:ln w="9525">
            <a:noFill/>
            <a:miter lim="800000"/>
          </a:ln>
          <a:effectLst/>
        </p:spPr>
        <p:txBody>
          <a:bodyPr wrap="none">
            <a:spAutoFit/>
          </a:bodyPr>
          <a:lstStyle/>
          <a:p>
            <a:pPr eaLnBrk="1" hangingPunct="1">
              <a:defRPr/>
            </a:pPr>
            <a:r>
              <a:rPr kumimoji="1" lang="en-US" altLang="zh-CN">
                <a:effectLst>
                  <a:outerShdw blurRad="38100" dist="38100" dir="2700000" algn="tl">
                    <a:srgbClr val="C0C0C0"/>
                  </a:outerShdw>
                </a:effectLst>
                <a:latin typeface="Antique Olive" pitchFamily="34" charset="0"/>
              </a:rPr>
              <a:t>GDP+Pi</a:t>
            </a:r>
            <a:endParaRPr kumimoji="1" lang="en-US" altLang="zh-CN">
              <a:effectLst>
                <a:outerShdw blurRad="38100" dist="38100" dir="2700000" algn="tl">
                  <a:srgbClr val="C0C0C0"/>
                </a:outerShdw>
              </a:effectLst>
              <a:latin typeface="Antique Olive" pitchFamily="34" charset="0"/>
            </a:endParaRPr>
          </a:p>
        </p:txBody>
      </p:sp>
      <p:sp>
        <p:nvSpPr>
          <p:cNvPr id="187433" name="Text Box 41"/>
          <p:cNvSpPr txBox="1">
            <a:spLocks noChangeArrowheads="1"/>
          </p:cNvSpPr>
          <p:nvPr/>
        </p:nvSpPr>
        <p:spPr bwMode="auto">
          <a:xfrm>
            <a:off x="3792538" y="4941888"/>
            <a:ext cx="5627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99"/>
                </a:solidFill>
                <a:latin typeface="Antique Olive"/>
                <a:ea typeface="宋体" panose="02010600030101010101" pitchFamily="2" charset="-122"/>
              </a:rPr>
              <a:t>FAD</a:t>
            </a:r>
            <a:endParaRPr kumimoji="1" lang="en-US" altLang="zh-CN" sz="1800">
              <a:solidFill>
                <a:srgbClr val="000099"/>
              </a:solidFill>
              <a:latin typeface="Antique Olive"/>
              <a:ea typeface="宋体" panose="02010600030101010101" pitchFamily="2" charset="-122"/>
            </a:endParaRPr>
          </a:p>
        </p:txBody>
      </p:sp>
      <p:sp>
        <p:nvSpPr>
          <p:cNvPr id="187434" name="Arc 42"/>
          <p:cNvSpPr/>
          <p:nvPr/>
        </p:nvSpPr>
        <p:spPr bwMode="auto">
          <a:xfrm>
            <a:off x="3565525" y="4581526"/>
            <a:ext cx="515938" cy="912813"/>
          </a:xfrm>
          <a:custGeom>
            <a:avLst/>
            <a:gdLst>
              <a:gd name="T0" fmla="*/ 2147483646 w 34295"/>
              <a:gd name="T1" fmla="*/ 2147483646 h 21600"/>
              <a:gd name="T2" fmla="*/ 0 w 34295"/>
              <a:gd name="T3" fmla="*/ 2147483646 h 21600"/>
              <a:gd name="T4" fmla="*/ 2147483646 w 34295"/>
              <a:gd name="T5" fmla="*/ 0 h 21600"/>
              <a:gd name="T6" fmla="*/ 0 60000 65536"/>
              <a:gd name="T7" fmla="*/ 0 60000 65536"/>
              <a:gd name="T8" fmla="*/ 0 60000 65536"/>
              <a:gd name="T9" fmla="*/ 0 w 34295"/>
              <a:gd name="T10" fmla="*/ 0 h 21600"/>
              <a:gd name="T11" fmla="*/ 34295 w 34295"/>
              <a:gd name="T12" fmla="*/ 21600 h 21600"/>
            </a:gdLst>
            <a:ahLst/>
            <a:cxnLst>
              <a:cxn ang="T6">
                <a:pos x="T0" y="T1"/>
              </a:cxn>
              <a:cxn ang="T7">
                <a:pos x="T2" y="T3"/>
              </a:cxn>
              <a:cxn ang="T8">
                <a:pos x="T4" y="T5"/>
              </a:cxn>
            </a:cxnLst>
            <a:rect l="T9" t="T10" r="T11" b="T12"/>
            <a:pathLst>
              <a:path w="34295" h="21600" fill="none" extrusionOk="0">
                <a:moveTo>
                  <a:pt x="34294" y="16997"/>
                </a:moveTo>
                <a:cubicBezTo>
                  <a:pt x="30492" y="19979"/>
                  <a:pt x="25799" y="21599"/>
                  <a:pt x="20967" y="21600"/>
                </a:cubicBezTo>
                <a:cubicBezTo>
                  <a:pt x="11036" y="21600"/>
                  <a:pt x="2385" y="14828"/>
                  <a:pt x="-1" y="5189"/>
                </a:cubicBezTo>
              </a:path>
              <a:path w="34295" h="21600" stroke="0" extrusionOk="0">
                <a:moveTo>
                  <a:pt x="34294" y="16997"/>
                </a:moveTo>
                <a:cubicBezTo>
                  <a:pt x="30492" y="19979"/>
                  <a:pt x="25799" y="21599"/>
                  <a:pt x="20967" y="21600"/>
                </a:cubicBezTo>
                <a:cubicBezTo>
                  <a:pt x="11036" y="21600"/>
                  <a:pt x="2385" y="14828"/>
                  <a:pt x="-1" y="5189"/>
                </a:cubicBezTo>
                <a:lnTo>
                  <a:pt x="20967" y="0"/>
                </a:lnTo>
                <a:lnTo>
                  <a:pt x="34294" y="16997"/>
                </a:lnTo>
                <a:close/>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35" name="Text Box 43"/>
          <p:cNvSpPr txBox="1">
            <a:spLocks noChangeArrowheads="1"/>
          </p:cNvSpPr>
          <p:nvPr/>
        </p:nvSpPr>
        <p:spPr bwMode="auto">
          <a:xfrm>
            <a:off x="3287714" y="4508500"/>
            <a:ext cx="7871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FF3F8D"/>
                </a:solidFill>
                <a:latin typeface="Antique Olive"/>
                <a:ea typeface="宋体" panose="02010600030101010101" pitchFamily="2" charset="-122"/>
              </a:rPr>
              <a:t>FADH</a:t>
            </a:r>
            <a:r>
              <a:rPr kumimoji="1" lang="en-US" altLang="zh-CN" sz="1800" baseline="-25000">
                <a:solidFill>
                  <a:srgbClr val="FF3F8D"/>
                </a:solidFill>
                <a:latin typeface="Antique Olive"/>
                <a:ea typeface="宋体" panose="02010600030101010101" pitchFamily="2" charset="-122"/>
              </a:rPr>
              <a:t>2</a:t>
            </a:r>
            <a:endParaRPr kumimoji="1" lang="en-US" altLang="zh-CN" sz="1800" baseline="-25000">
              <a:solidFill>
                <a:srgbClr val="FF3F8D"/>
              </a:solidFill>
              <a:latin typeface="Antique Olive"/>
              <a:ea typeface="宋体" panose="02010600030101010101" pitchFamily="2" charset="-122"/>
            </a:endParaRPr>
          </a:p>
        </p:txBody>
      </p:sp>
      <p:sp>
        <p:nvSpPr>
          <p:cNvPr id="187436" name="Text Box 44"/>
          <p:cNvSpPr txBox="1">
            <a:spLocks noChangeArrowheads="1"/>
          </p:cNvSpPr>
          <p:nvPr/>
        </p:nvSpPr>
        <p:spPr bwMode="auto">
          <a:xfrm>
            <a:off x="1486075" y="1412776"/>
            <a:ext cx="11063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dirty="0">
                <a:solidFill>
                  <a:srgbClr val="000099"/>
                </a:solidFill>
                <a:latin typeface="Antique Olive"/>
                <a:ea typeface="宋体" panose="02010600030101010101" pitchFamily="2" charset="-122"/>
              </a:rPr>
              <a:t>NADH+H</a:t>
            </a:r>
            <a:r>
              <a:rPr kumimoji="1" lang="en-US" altLang="zh-CN" sz="1800" baseline="30000" dirty="0">
                <a:solidFill>
                  <a:srgbClr val="000099"/>
                </a:solidFill>
                <a:latin typeface="Antique Olive"/>
                <a:ea typeface="宋体" panose="02010600030101010101" pitchFamily="2" charset="-122"/>
              </a:rPr>
              <a:t>+</a:t>
            </a:r>
            <a:endParaRPr kumimoji="1" lang="en-US" altLang="zh-CN" sz="1800" baseline="30000" dirty="0">
              <a:solidFill>
                <a:srgbClr val="000099"/>
              </a:solidFill>
              <a:latin typeface="Antique Olive"/>
              <a:ea typeface="宋体" panose="02010600030101010101" pitchFamily="2" charset="-122"/>
            </a:endParaRPr>
          </a:p>
        </p:txBody>
      </p:sp>
      <p:sp>
        <p:nvSpPr>
          <p:cNvPr id="187437" name="Text Box 45"/>
          <p:cNvSpPr txBox="1">
            <a:spLocks noChangeArrowheads="1"/>
          </p:cNvSpPr>
          <p:nvPr/>
        </p:nvSpPr>
        <p:spPr bwMode="auto">
          <a:xfrm>
            <a:off x="1585913" y="2185988"/>
            <a:ext cx="69923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99"/>
                </a:solidFill>
                <a:latin typeface="Antique Olive"/>
                <a:ea typeface="宋体" panose="02010600030101010101" pitchFamily="2" charset="-122"/>
              </a:rPr>
              <a:t>NAD</a:t>
            </a:r>
            <a:r>
              <a:rPr kumimoji="1" lang="en-US" altLang="zh-CN" sz="1800" baseline="30000">
                <a:solidFill>
                  <a:srgbClr val="000099"/>
                </a:solidFill>
                <a:latin typeface="Antique Olive"/>
                <a:ea typeface="宋体" panose="02010600030101010101" pitchFamily="2" charset="-122"/>
              </a:rPr>
              <a:t>+</a:t>
            </a:r>
            <a:endParaRPr kumimoji="1" lang="en-US" altLang="zh-CN" sz="1800" baseline="30000">
              <a:solidFill>
                <a:srgbClr val="000099"/>
              </a:solidFill>
              <a:latin typeface="Antique Olive"/>
              <a:ea typeface="宋体" panose="02010600030101010101" pitchFamily="2" charset="-122"/>
            </a:endParaRPr>
          </a:p>
        </p:txBody>
      </p:sp>
      <p:sp>
        <p:nvSpPr>
          <p:cNvPr id="187438" name="Arc 46"/>
          <p:cNvSpPr/>
          <p:nvPr/>
        </p:nvSpPr>
        <p:spPr bwMode="auto">
          <a:xfrm>
            <a:off x="7239000" y="4911726"/>
            <a:ext cx="965200" cy="847725"/>
          </a:xfrm>
          <a:custGeom>
            <a:avLst/>
            <a:gdLst>
              <a:gd name="T0" fmla="*/ 2147483646 w 36776"/>
              <a:gd name="T1" fmla="*/ 0 h 32220"/>
              <a:gd name="T2" fmla="*/ 0 w 36776"/>
              <a:gd name="T3" fmla="*/ 2147483646 h 32220"/>
              <a:gd name="T4" fmla="*/ 2147483646 w 36776"/>
              <a:gd name="T5" fmla="*/ 2147483646 h 32220"/>
              <a:gd name="T6" fmla="*/ 0 60000 65536"/>
              <a:gd name="T7" fmla="*/ 0 60000 65536"/>
              <a:gd name="T8" fmla="*/ 0 60000 65536"/>
              <a:gd name="T9" fmla="*/ 0 w 36776"/>
              <a:gd name="T10" fmla="*/ 0 h 32220"/>
              <a:gd name="T11" fmla="*/ 36776 w 36776"/>
              <a:gd name="T12" fmla="*/ 32220 h 32220"/>
            </a:gdLst>
            <a:ahLst/>
            <a:cxnLst>
              <a:cxn ang="T6">
                <a:pos x="T0" y="T1"/>
              </a:cxn>
              <a:cxn ang="T7">
                <a:pos x="T2" y="T3"/>
              </a:cxn>
              <a:cxn ang="T8">
                <a:pos x="T4" y="T5"/>
              </a:cxn>
            </a:cxnLst>
            <a:rect l="T9" t="T10" r="T11" b="T12"/>
            <a:pathLst>
              <a:path w="36776" h="32220" fill="none" extrusionOk="0">
                <a:moveTo>
                  <a:pt x="33984" y="0"/>
                </a:moveTo>
                <a:cubicBezTo>
                  <a:pt x="35814" y="3240"/>
                  <a:pt x="36776" y="6898"/>
                  <a:pt x="36776" y="10620"/>
                </a:cubicBezTo>
                <a:cubicBezTo>
                  <a:pt x="36776" y="22549"/>
                  <a:pt x="27105" y="32220"/>
                  <a:pt x="15176" y="32220"/>
                </a:cubicBezTo>
                <a:cubicBezTo>
                  <a:pt x="9494" y="32220"/>
                  <a:pt x="4042" y="29981"/>
                  <a:pt x="-1" y="25990"/>
                </a:cubicBezTo>
              </a:path>
              <a:path w="36776" h="32220" stroke="0" extrusionOk="0">
                <a:moveTo>
                  <a:pt x="33984" y="0"/>
                </a:moveTo>
                <a:cubicBezTo>
                  <a:pt x="35814" y="3240"/>
                  <a:pt x="36776" y="6898"/>
                  <a:pt x="36776" y="10620"/>
                </a:cubicBezTo>
                <a:cubicBezTo>
                  <a:pt x="36776" y="22549"/>
                  <a:pt x="27105" y="32220"/>
                  <a:pt x="15176" y="32220"/>
                </a:cubicBezTo>
                <a:cubicBezTo>
                  <a:pt x="9494" y="32220"/>
                  <a:pt x="4042" y="29981"/>
                  <a:pt x="-1" y="25990"/>
                </a:cubicBezTo>
                <a:lnTo>
                  <a:pt x="15176" y="10620"/>
                </a:lnTo>
                <a:lnTo>
                  <a:pt x="33984" y="0"/>
                </a:lnTo>
                <a:close/>
              </a:path>
            </a:pathLst>
          </a:custGeom>
          <a:noFill/>
          <a:ln w="190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1" name="Group 47"/>
          <p:cNvGrpSpPr/>
          <p:nvPr/>
        </p:nvGrpSpPr>
        <p:grpSpPr bwMode="auto">
          <a:xfrm>
            <a:off x="1524001" y="4076701"/>
            <a:ext cx="925513" cy="754063"/>
            <a:chOff x="340" y="2795"/>
            <a:chExt cx="583" cy="475"/>
          </a:xfrm>
        </p:grpSpPr>
        <p:sp>
          <p:nvSpPr>
            <p:cNvPr id="164946" name="Text Box 48"/>
            <p:cNvSpPr txBox="1">
              <a:spLocks noChangeArrowheads="1"/>
            </p:cNvSpPr>
            <p:nvPr/>
          </p:nvSpPr>
          <p:spPr bwMode="auto">
            <a:xfrm>
              <a:off x="567" y="3037"/>
              <a:ext cx="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00"/>
                  </a:solidFill>
                  <a:latin typeface="Antique Olive"/>
                  <a:ea typeface="宋体" panose="02010600030101010101" pitchFamily="2" charset="-122"/>
                </a:rPr>
                <a:t>H</a:t>
              </a:r>
              <a:r>
                <a:rPr kumimoji="1" lang="en-US" altLang="zh-CN" sz="1800" baseline="-25000">
                  <a:solidFill>
                    <a:srgbClr val="000000"/>
                  </a:solidFill>
                  <a:latin typeface="Antique Olive"/>
                  <a:ea typeface="宋体" panose="02010600030101010101" pitchFamily="2" charset="-122"/>
                </a:rPr>
                <a:t>2</a:t>
              </a:r>
              <a:r>
                <a:rPr kumimoji="1" lang="en-US" altLang="zh-CN" sz="1800">
                  <a:solidFill>
                    <a:srgbClr val="000000"/>
                  </a:solidFill>
                  <a:latin typeface="Antique Olive"/>
                  <a:ea typeface="宋体" panose="02010600030101010101" pitchFamily="2" charset="-122"/>
                </a:rPr>
                <a:t>O</a:t>
              </a:r>
              <a:endParaRPr kumimoji="1" lang="en-US" altLang="zh-CN" sz="1800">
                <a:solidFill>
                  <a:srgbClr val="000000"/>
                </a:solidFill>
                <a:latin typeface="Antique Olive"/>
                <a:ea typeface="宋体" panose="02010600030101010101" pitchFamily="2" charset="-122"/>
              </a:endParaRPr>
            </a:p>
          </p:txBody>
        </p:sp>
        <p:sp>
          <p:nvSpPr>
            <p:cNvPr id="164947" name="Arc 49"/>
            <p:cNvSpPr/>
            <p:nvPr/>
          </p:nvSpPr>
          <p:spPr bwMode="auto">
            <a:xfrm>
              <a:off x="340" y="2795"/>
              <a:ext cx="578" cy="259"/>
            </a:xfrm>
            <a:custGeom>
              <a:avLst/>
              <a:gdLst>
                <a:gd name="T0" fmla="*/ 0 w 21600"/>
                <a:gd name="T1" fmla="*/ 0 h 9689"/>
                <a:gd name="T2" fmla="*/ 0 w 21600"/>
                <a:gd name="T3" fmla="*/ 0 h 9689"/>
                <a:gd name="T4" fmla="*/ 0 w 21600"/>
                <a:gd name="T5" fmla="*/ 0 h 9689"/>
                <a:gd name="T6" fmla="*/ 0 60000 65536"/>
                <a:gd name="T7" fmla="*/ 0 60000 65536"/>
                <a:gd name="T8" fmla="*/ 0 60000 65536"/>
                <a:gd name="T9" fmla="*/ 0 w 21600"/>
                <a:gd name="T10" fmla="*/ 0 h 9689"/>
                <a:gd name="T11" fmla="*/ 21600 w 21600"/>
                <a:gd name="T12" fmla="*/ 9689 h 9689"/>
              </a:gdLst>
              <a:ahLst/>
              <a:cxnLst>
                <a:cxn ang="T6">
                  <a:pos x="T0" y="T1"/>
                </a:cxn>
                <a:cxn ang="T7">
                  <a:pos x="T2" y="T3"/>
                </a:cxn>
                <a:cxn ang="T8">
                  <a:pos x="T4" y="T5"/>
                </a:cxn>
              </a:cxnLst>
              <a:rect l="T9" t="T10" r="T11" b="T12"/>
              <a:pathLst>
                <a:path w="21600" h="9689" fill="none" extrusionOk="0">
                  <a:moveTo>
                    <a:pt x="21596" y="0"/>
                  </a:moveTo>
                  <a:cubicBezTo>
                    <a:pt x="21598" y="129"/>
                    <a:pt x="21600" y="259"/>
                    <a:pt x="21600" y="389"/>
                  </a:cubicBezTo>
                  <a:cubicBezTo>
                    <a:pt x="21600" y="3607"/>
                    <a:pt x="20880" y="6784"/>
                    <a:pt x="19495" y="9689"/>
                  </a:cubicBezTo>
                </a:path>
                <a:path w="21600" h="9689" stroke="0" extrusionOk="0">
                  <a:moveTo>
                    <a:pt x="21596" y="0"/>
                  </a:moveTo>
                  <a:cubicBezTo>
                    <a:pt x="21598" y="129"/>
                    <a:pt x="21600" y="259"/>
                    <a:pt x="21600" y="389"/>
                  </a:cubicBezTo>
                  <a:cubicBezTo>
                    <a:pt x="21600" y="3607"/>
                    <a:pt x="20880" y="6784"/>
                    <a:pt x="19495" y="9689"/>
                  </a:cubicBezTo>
                  <a:lnTo>
                    <a:pt x="0" y="389"/>
                  </a:lnTo>
                  <a:lnTo>
                    <a:pt x="21596" y="0"/>
                  </a:lnTo>
                  <a:close/>
                </a:path>
              </a:pathLst>
            </a:custGeom>
            <a:noFill/>
            <a:ln w="28575">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2" name="Group 50"/>
          <p:cNvGrpSpPr/>
          <p:nvPr/>
        </p:nvGrpSpPr>
        <p:grpSpPr bwMode="auto">
          <a:xfrm>
            <a:off x="8975725" y="692151"/>
            <a:ext cx="1131888" cy="1008063"/>
            <a:chOff x="4694" y="890"/>
            <a:chExt cx="713" cy="635"/>
          </a:xfrm>
        </p:grpSpPr>
        <p:sp>
          <p:nvSpPr>
            <p:cNvPr id="164944" name="Text Box 51"/>
            <p:cNvSpPr txBox="1">
              <a:spLocks noChangeArrowheads="1"/>
            </p:cNvSpPr>
            <p:nvPr/>
          </p:nvSpPr>
          <p:spPr bwMode="auto">
            <a:xfrm>
              <a:off x="4694" y="890"/>
              <a:ext cx="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00"/>
                  </a:solidFill>
                  <a:latin typeface="Antique Olive"/>
                  <a:ea typeface="宋体" panose="02010600030101010101" pitchFamily="2" charset="-122"/>
                </a:rPr>
                <a:t>H</a:t>
              </a:r>
              <a:r>
                <a:rPr kumimoji="1" lang="en-US" altLang="zh-CN" sz="1800" baseline="-25000">
                  <a:solidFill>
                    <a:srgbClr val="000000"/>
                  </a:solidFill>
                  <a:latin typeface="Antique Olive"/>
                  <a:ea typeface="宋体" panose="02010600030101010101" pitchFamily="2" charset="-122"/>
                </a:rPr>
                <a:t>2</a:t>
              </a:r>
              <a:r>
                <a:rPr kumimoji="1" lang="en-US" altLang="zh-CN" sz="1800">
                  <a:solidFill>
                    <a:srgbClr val="000000"/>
                  </a:solidFill>
                  <a:latin typeface="Antique Olive"/>
                  <a:ea typeface="宋体" panose="02010600030101010101" pitchFamily="2" charset="-122"/>
                </a:rPr>
                <a:t>O</a:t>
              </a:r>
              <a:endParaRPr kumimoji="1" lang="en-US" altLang="zh-CN" sz="2400" b="0">
                <a:ea typeface="宋体" panose="02010600030101010101" pitchFamily="2" charset="-122"/>
              </a:endParaRPr>
            </a:p>
          </p:txBody>
        </p:sp>
        <p:sp>
          <p:nvSpPr>
            <p:cNvPr id="164945" name="Arc 52"/>
            <p:cNvSpPr/>
            <p:nvPr/>
          </p:nvSpPr>
          <p:spPr bwMode="auto">
            <a:xfrm>
              <a:off x="4830" y="1125"/>
              <a:ext cx="577" cy="400"/>
            </a:xfrm>
            <a:custGeom>
              <a:avLst/>
              <a:gdLst>
                <a:gd name="T0" fmla="*/ 0 w 21600"/>
                <a:gd name="T1" fmla="*/ 0 h 14951"/>
                <a:gd name="T2" fmla="*/ 0 w 21600"/>
                <a:gd name="T3" fmla="*/ 0 h 14951"/>
                <a:gd name="T4" fmla="*/ 0 w 21600"/>
                <a:gd name="T5" fmla="*/ 0 h 14951"/>
                <a:gd name="T6" fmla="*/ 0 60000 65536"/>
                <a:gd name="T7" fmla="*/ 0 60000 65536"/>
                <a:gd name="T8" fmla="*/ 0 60000 65536"/>
                <a:gd name="T9" fmla="*/ 0 w 21600"/>
                <a:gd name="T10" fmla="*/ 0 h 14951"/>
                <a:gd name="T11" fmla="*/ 21600 w 21600"/>
                <a:gd name="T12" fmla="*/ 14951 h 14951"/>
              </a:gdLst>
              <a:ahLst/>
              <a:cxnLst>
                <a:cxn ang="T6">
                  <a:pos x="T0" y="T1"/>
                </a:cxn>
                <a:cxn ang="T7">
                  <a:pos x="T2" y="T3"/>
                </a:cxn>
                <a:cxn ang="T8">
                  <a:pos x="T4" y="T5"/>
                </a:cxn>
              </a:cxnLst>
              <a:rect l="T9" t="T10" r="T11" b="T12"/>
              <a:pathLst>
                <a:path w="21600" h="14951" fill="none" extrusionOk="0">
                  <a:moveTo>
                    <a:pt x="2530" y="14950"/>
                  </a:moveTo>
                  <a:cubicBezTo>
                    <a:pt x="868" y="11827"/>
                    <a:pt x="0" y="8344"/>
                    <a:pt x="0" y="4807"/>
                  </a:cubicBezTo>
                  <a:cubicBezTo>
                    <a:pt x="-1" y="3189"/>
                    <a:pt x="181" y="1576"/>
                    <a:pt x="541" y="-1"/>
                  </a:cubicBezTo>
                </a:path>
                <a:path w="21600" h="14951" stroke="0" extrusionOk="0">
                  <a:moveTo>
                    <a:pt x="2530" y="14950"/>
                  </a:moveTo>
                  <a:cubicBezTo>
                    <a:pt x="868" y="11827"/>
                    <a:pt x="0" y="8344"/>
                    <a:pt x="0" y="4807"/>
                  </a:cubicBezTo>
                  <a:cubicBezTo>
                    <a:pt x="-1" y="3189"/>
                    <a:pt x="181" y="1576"/>
                    <a:pt x="541" y="-1"/>
                  </a:cubicBezTo>
                  <a:lnTo>
                    <a:pt x="21600" y="4807"/>
                  </a:lnTo>
                  <a:lnTo>
                    <a:pt x="2530" y="14950"/>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3" name="Group 53"/>
          <p:cNvGrpSpPr/>
          <p:nvPr/>
        </p:nvGrpSpPr>
        <p:grpSpPr bwMode="auto">
          <a:xfrm>
            <a:off x="6562723" y="-458788"/>
            <a:ext cx="1035050" cy="915988"/>
            <a:chOff x="3174" y="-289"/>
            <a:chExt cx="652" cy="577"/>
          </a:xfrm>
        </p:grpSpPr>
        <p:sp>
          <p:nvSpPr>
            <p:cNvPr id="164942" name="Text Box 54"/>
            <p:cNvSpPr txBox="1">
              <a:spLocks noChangeArrowheads="1"/>
            </p:cNvSpPr>
            <p:nvPr/>
          </p:nvSpPr>
          <p:spPr bwMode="auto">
            <a:xfrm>
              <a:off x="3470" y="0"/>
              <a:ext cx="3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000000"/>
                  </a:solidFill>
                  <a:latin typeface="Antique Olive"/>
                  <a:ea typeface="宋体" panose="02010600030101010101" pitchFamily="2" charset="-122"/>
                </a:rPr>
                <a:t>H</a:t>
              </a:r>
              <a:r>
                <a:rPr kumimoji="1" lang="en-US" altLang="zh-CN" sz="1800" baseline="-25000">
                  <a:solidFill>
                    <a:srgbClr val="000000"/>
                  </a:solidFill>
                  <a:latin typeface="Antique Olive"/>
                  <a:ea typeface="宋体" panose="02010600030101010101" pitchFamily="2" charset="-122"/>
                </a:rPr>
                <a:t>2</a:t>
              </a:r>
              <a:r>
                <a:rPr kumimoji="1" lang="en-US" altLang="zh-CN" sz="1800">
                  <a:solidFill>
                    <a:srgbClr val="000000"/>
                  </a:solidFill>
                  <a:latin typeface="Antique Olive"/>
                  <a:ea typeface="宋体" panose="02010600030101010101" pitchFamily="2" charset="-122"/>
                </a:rPr>
                <a:t>O</a:t>
              </a:r>
              <a:endParaRPr kumimoji="1" lang="en-US" altLang="zh-CN" sz="2400" b="0">
                <a:ea typeface="宋体" panose="02010600030101010101" pitchFamily="2" charset="-122"/>
              </a:endParaRPr>
            </a:p>
          </p:txBody>
        </p:sp>
        <p:sp>
          <p:nvSpPr>
            <p:cNvPr id="164943" name="Arc 55"/>
            <p:cNvSpPr/>
            <p:nvPr/>
          </p:nvSpPr>
          <p:spPr bwMode="auto">
            <a:xfrm>
              <a:off x="3174" y="-289"/>
              <a:ext cx="387" cy="577"/>
            </a:xfrm>
            <a:custGeom>
              <a:avLst/>
              <a:gdLst>
                <a:gd name="T0" fmla="*/ 0 w 13463"/>
                <a:gd name="T1" fmla="*/ 0 h 21600"/>
                <a:gd name="T2" fmla="*/ 0 w 13463"/>
                <a:gd name="T3" fmla="*/ 0 h 21600"/>
                <a:gd name="T4" fmla="*/ 0 w 13463"/>
                <a:gd name="T5" fmla="*/ 0 h 21600"/>
                <a:gd name="T6" fmla="*/ 0 60000 65536"/>
                <a:gd name="T7" fmla="*/ 0 60000 65536"/>
                <a:gd name="T8" fmla="*/ 0 60000 65536"/>
                <a:gd name="T9" fmla="*/ 0 w 13463"/>
                <a:gd name="T10" fmla="*/ 0 h 21600"/>
                <a:gd name="T11" fmla="*/ 13463 w 13463"/>
                <a:gd name="T12" fmla="*/ 21600 h 21600"/>
              </a:gdLst>
              <a:ahLst/>
              <a:cxnLst>
                <a:cxn ang="T6">
                  <a:pos x="T0" y="T1"/>
                </a:cxn>
                <a:cxn ang="T7">
                  <a:pos x="T2" y="T3"/>
                </a:cxn>
                <a:cxn ang="T8">
                  <a:pos x="T4" y="T5"/>
                </a:cxn>
              </a:cxnLst>
              <a:rect l="T9" t="T10" r="T11" b="T12"/>
              <a:pathLst>
                <a:path w="13463" h="21600" fill="none" extrusionOk="0">
                  <a:moveTo>
                    <a:pt x="13462" y="17534"/>
                  </a:moveTo>
                  <a:cubicBezTo>
                    <a:pt x="9788" y="20178"/>
                    <a:pt x="5376" y="21599"/>
                    <a:pt x="850" y="21600"/>
                  </a:cubicBezTo>
                  <a:cubicBezTo>
                    <a:pt x="566" y="21600"/>
                    <a:pt x="283" y="21594"/>
                    <a:pt x="-1" y="21583"/>
                  </a:cubicBezTo>
                </a:path>
                <a:path w="13463" h="21600" stroke="0" extrusionOk="0">
                  <a:moveTo>
                    <a:pt x="13462" y="17534"/>
                  </a:moveTo>
                  <a:cubicBezTo>
                    <a:pt x="9788" y="20178"/>
                    <a:pt x="5376" y="21599"/>
                    <a:pt x="850" y="21600"/>
                  </a:cubicBezTo>
                  <a:cubicBezTo>
                    <a:pt x="566" y="21600"/>
                    <a:pt x="283" y="21594"/>
                    <a:pt x="-1" y="21583"/>
                  </a:cubicBezTo>
                  <a:lnTo>
                    <a:pt x="850" y="0"/>
                  </a:lnTo>
                  <a:lnTo>
                    <a:pt x="13462" y="17534"/>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14" name="Group 56"/>
          <p:cNvGrpSpPr/>
          <p:nvPr/>
        </p:nvGrpSpPr>
        <p:grpSpPr bwMode="auto">
          <a:xfrm>
            <a:off x="7248528" y="5791200"/>
            <a:ext cx="1401763" cy="846138"/>
            <a:chOff x="3606" y="3648"/>
            <a:chExt cx="883" cy="533"/>
          </a:xfrm>
        </p:grpSpPr>
        <p:sp>
          <p:nvSpPr>
            <p:cNvPr id="164940" name="Arc 57"/>
            <p:cNvSpPr/>
            <p:nvPr/>
          </p:nvSpPr>
          <p:spPr bwMode="auto">
            <a:xfrm>
              <a:off x="3606" y="3648"/>
              <a:ext cx="542" cy="496"/>
            </a:xfrm>
            <a:custGeom>
              <a:avLst/>
              <a:gdLst>
                <a:gd name="T0" fmla="*/ 0 w 20302"/>
                <a:gd name="T1" fmla="*/ 0 h 18571"/>
                <a:gd name="T2" fmla="*/ 0 w 20302"/>
                <a:gd name="T3" fmla="*/ 0 h 18571"/>
                <a:gd name="T4" fmla="*/ 0 w 20302"/>
                <a:gd name="T5" fmla="*/ 0 h 18571"/>
                <a:gd name="T6" fmla="*/ 0 60000 65536"/>
                <a:gd name="T7" fmla="*/ 0 60000 65536"/>
                <a:gd name="T8" fmla="*/ 0 60000 65536"/>
                <a:gd name="T9" fmla="*/ 0 w 20302"/>
                <a:gd name="T10" fmla="*/ 0 h 18571"/>
                <a:gd name="T11" fmla="*/ 20302 w 20302"/>
                <a:gd name="T12" fmla="*/ 18571 h 18571"/>
              </a:gdLst>
              <a:ahLst/>
              <a:cxnLst>
                <a:cxn ang="T6">
                  <a:pos x="T0" y="T1"/>
                </a:cxn>
                <a:cxn ang="T7">
                  <a:pos x="T2" y="T3"/>
                </a:cxn>
                <a:cxn ang="T8">
                  <a:pos x="T4" y="T5"/>
                </a:cxn>
              </a:cxnLst>
              <a:rect l="T9" t="T10" r="T11" b="T12"/>
              <a:pathLst>
                <a:path w="20302" h="18571" fill="none" extrusionOk="0">
                  <a:moveTo>
                    <a:pt x="11030" y="0"/>
                  </a:moveTo>
                  <a:cubicBezTo>
                    <a:pt x="15321" y="2548"/>
                    <a:pt x="18597" y="6505"/>
                    <a:pt x="20301" y="11196"/>
                  </a:cubicBezTo>
                </a:path>
                <a:path w="20302" h="18571" stroke="0" extrusionOk="0">
                  <a:moveTo>
                    <a:pt x="11030" y="0"/>
                  </a:moveTo>
                  <a:cubicBezTo>
                    <a:pt x="15321" y="2548"/>
                    <a:pt x="18597" y="6505"/>
                    <a:pt x="20301" y="11196"/>
                  </a:cubicBezTo>
                  <a:lnTo>
                    <a:pt x="0" y="18571"/>
                  </a:lnTo>
                  <a:lnTo>
                    <a:pt x="11030" y="0"/>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941" name="Text Box 58"/>
            <p:cNvSpPr txBox="1">
              <a:spLocks noChangeArrowheads="1"/>
            </p:cNvSpPr>
            <p:nvPr/>
          </p:nvSpPr>
          <p:spPr bwMode="auto">
            <a:xfrm>
              <a:off x="3923" y="3929"/>
              <a:ext cx="56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CoASH</a:t>
              </a:r>
              <a:endParaRPr kumimoji="1" lang="en-US" altLang="zh-CN" sz="2800" b="0">
                <a:ea typeface="宋体" panose="02010600030101010101" pitchFamily="2" charset="-122"/>
              </a:endParaRPr>
            </a:p>
          </p:txBody>
        </p:sp>
      </p:grpSp>
      <p:grpSp>
        <p:nvGrpSpPr>
          <p:cNvPr id="15" name="Group 59"/>
          <p:cNvGrpSpPr/>
          <p:nvPr/>
        </p:nvGrpSpPr>
        <p:grpSpPr bwMode="auto">
          <a:xfrm>
            <a:off x="5016499" y="6021388"/>
            <a:ext cx="898525" cy="608012"/>
            <a:chOff x="2200" y="3793"/>
            <a:chExt cx="566" cy="383"/>
          </a:xfrm>
        </p:grpSpPr>
        <p:sp>
          <p:nvSpPr>
            <p:cNvPr id="164938" name="Line 60"/>
            <p:cNvSpPr>
              <a:spLocks noChangeShapeType="1"/>
            </p:cNvSpPr>
            <p:nvPr/>
          </p:nvSpPr>
          <p:spPr bwMode="auto">
            <a:xfrm flipH="1">
              <a:off x="2517" y="3793"/>
              <a:ext cx="91" cy="18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64939" name="Text Box 61"/>
            <p:cNvSpPr txBox="1">
              <a:spLocks noChangeArrowheads="1"/>
            </p:cNvSpPr>
            <p:nvPr/>
          </p:nvSpPr>
          <p:spPr bwMode="auto">
            <a:xfrm>
              <a:off x="2200" y="3924"/>
              <a:ext cx="56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CoASH</a:t>
              </a:r>
              <a:endParaRPr kumimoji="1" lang="en-US" altLang="zh-CN" sz="2800" b="0">
                <a:ea typeface="宋体" panose="02010600030101010101" pitchFamily="2" charset="-122"/>
              </a:endParaRPr>
            </a:p>
          </p:txBody>
        </p:sp>
      </p:grpSp>
      <p:sp>
        <p:nvSpPr>
          <p:cNvPr id="187454" name="Text Box 62"/>
          <p:cNvSpPr txBox="1">
            <a:spLocks noChangeArrowheads="1"/>
          </p:cNvSpPr>
          <p:nvPr/>
        </p:nvSpPr>
        <p:spPr bwMode="auto">
          <a:xfrm>
            <a:off x="2590800" y="1981200"/>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宋体" panose="02010600030101010101" pitchFamily="2" charset="-122"/>
                <a:ea typeface="宋体" panose="02010600030101010101" pitchFamily="2" charset="-122"/>
              </a:rPr>
              <a:t>⑧</a:t>
            </a:r>
            <a:endParaRPr kumimoji="1" lang="zh-CN" altLang="en-US" sz="2000">
              <a:latin typeface="宋体" panose="02010600030101010101" pitchFamily="2" charset="-122"/>
              <a:ea typeface="宋体" panose="02010600030101010101" pitchFamily="2" charset="-122"/>
              <a:cs typeface="Times New Roman" panose="02020603050405020304" pitchFamily="18" charset="0"/>
            </a:endParaRPr>
          </a:p>
        </p:txBody>
      </p:sp>
      <p:sp>
        <p:nvSpPr>
          <p:cNvPr id="187455" name="Rectangle 63"/>
          <p:cNvSpPr>
            <a:spLocks noChangeArrowheads="1"/>
          </p:cNvSpPr>
          <p:nvPr/>
        </p:nvSpPr>
        <p:spPr bwMode="auto">
          <a:xfrm>
            <a:off x="4583113" y="620713"/>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ea typeface="宋体" panose="02010600030101010101" pitchFamily="2" charset="-122"/>
              </a:rPr>
              <a:t>①</a:t>
            </a:r>
            <a:endParaRPr kumimoji="1" lang="zh-CN" altLang="en-US" sz="2000">
              <a:solidFill>
                <a:srgbClr val="FF0000"/>
              </a:solidFill>
              <a:ea typeface="宋体" panose="02010600030101010101" pitchFamily="2" charset="-122"/>
            </a:endParaRPr>
          </a:p>
        </p:txBody>
      </p:sp>
      <p:sp>
        <p:nvSpPr>
          <p:cNvPr id="187456" name="Rectangle 64"/>
          <p:cNvSpPr>
            <a:spLocks noChangeArrowheads="1"/>
          </p:cNvSpPr>
          <p:nvPr/>
        </p:nvSpPr>
        <p:spPr bwMode="auto">
          <a:xfrm>
            <a:off x="6888163" y="476250"/>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②</a:t>
            </a:r>
            <a:endParaRPr kumimoji="1" lang="zh-CN" altLang="en-US" sz="2000">
              <a:ea typeface="宋体" panose="02010600030101010101" pitchFamily="2" charset="-122"/>
            </a:endParaRPr>
          </a:p>
        </p:txBody>
      </p:sp>
      <p:sp>
        <p:nvSpPr>
          <p:cNvPr id="187457" name="Rectangle 65"/>
          <p:cNvSpPr>
            <a:spLocks noChangeArrowheads="1"/>
          </p:cNvSpPr>
          <p:nvPr/>
        </p:nvSpPr>
        <p:spPr bwMode="auto">
          <a:xfrm>
            <a:off x="9296401" y="4038601"/>
            <a:ext cx="57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ea typeface="宋体" panose="02010600030101010101" pitchFamily="2" charset="-122"/>
              </a:rPr>
              <a:t>③</a:t>
            </a:r>
            <a:endParaRPr kumimoji="1" lang="zh-CN" altLang="en-US" sz="2000">
              <a:solidFill>
                <a:srgbClr val="FF0000"/>
              </a:solidFill>
              <a:ea typeface="宋体" panose="02010600030101010101" pitchFamily="2" charset="-122"/>
            </a:endParaRPr>
          </a:p>
        </p:txBody>
      </p:sp>
      <p:sp>
        <p:nvSpPr>
          <p:cNvPr id="187458" name="Rectangle 66"/>
          <p:cNvSpPr>
            <a:spLocks noChangeArrowheads="1"/>
          </p:cNvSpPr>
          <p:nvPr/>
        </p:nvSpPr>
        <p:spPr bwMode="auto">
          <a:xfrm>
            <a:off x="8112126" y="5157789"/>
            <a:ext cx="415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ea typeface="宋体" panose="02010600030101010101" pitchFamily="2" charset="-122"/>
              </a:rPr>
              <a:t>④</a:t>
            </a:r>
            <a:endParaRPr kumimoji="1" lang="zh-CN" altLang="en-US" sz="2000">
              <a:solidFill>
                <a:srgbClr val="FF0000"/>
              </a:solidFill>
              <a:ea typeface="宋体" panose="02010600030101010101" pitchFamily="2" charset="-122"/>
            </a:endParaRPr>
          </a:p>
        </p:txBody>
      </p:sp>
      <p:sp>
        <p:nvSpPr>
          <p:cNvPr id="187459" name="Rectangle 67"/>
          <p:cNvSpPr>
            <a:spLocks noChangeArrowheads="1"/>
          </p:cNvSpPr>
          <p:nvPr/>
        </p:nvSpPr>
        <p:spPr bwMode="auto">
          <a:xfrm>
            <a:off x="5232400" y="5589588"/>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⑤</a:t>
            </a:r>
            <a:endParaRPr kumimoji="1" lang="zh-CN" altLang="en-US" sz="2000">
              <a:ea typeface="宋体" panose="02010600030101010101" pitchFamily="2" charset="-122"/>
            </a:endParaRPr>
          </a:p>
        </p:txBody>
      </p:sp>
      <p:sp>
        <p:nvSpPr>
          <p:cNvPr id="187460" name="Rectangle 68"/>
          <p:cNvSpPr>
            <a:spLocks noChangeArrowheads="1"/>
          </p:cNvSpPr>
          <p:nvPr/>
        </p:nvSpPr>
        <p:spPr bwMode="auto">
          <a:xfrm>
            <a:off x="3216275" y="4868863"/>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⑥</a:t>
            </a:r>
            <a:endParaRPr kumimoji="1" lang="zh-CN" altLang="en-US" sz="2000">
              <a:ea typeface="宋体" panose="02010600030101010101" pitchFamily="2" charset="-122"/>
            </a:endParaRPr>
          </a:p>
        </p:txBody>
      </p:sp>
      <p:sp>
        <p:nvSpPr>
          <p:cNvPr id="187461" name="Rectangle 69"/>
          <p:cNvSpPr>
            <a:spLocks noChangeArrowheads="1"/>
          </p:cNvSpPr>
          <p:nvPr/>
        </p:nvSpPr>
        <p:spPr bwMode="auto">
          <a:xfrm>
            <a:off x="2495550" y="4005264"/>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⑦</a:t>
            </a:r>
            <a:endParaRPr kumimoji="1" lang="zh-CN" altLang="en-US" sz="2000">
              <a:ea typeface="宋体" panose="02010600030101010101" pitchFamily="2" charset="-122"/>
            </a:endParaRPr>
          </a:p>
        </p:txBody>
      </p:sp>
      <p:sp>
        <p:nvSpPr>
          <p:cNvPr id="187462" name="Rectangle 70"/>
          <p:cNvSpPr>
            <a:spLocks noChangeArrowheads="1"/>
          </p:cNvSpPr>
          <p:nvPr/>
        </p:nvSpPr>
        <p:spPr bwMode="auto">
          <a:xfrm>
            <a:off x="8686800" y="1371601"/>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②</a:t>
            </a:r>
            <a:endParaRPr kumimoji="1" lang="zh-CN" altLang="en-US" sz="2000">
              <a:ea typeface="宋体" panose="02010600030101010101" pitchFamily="2" charset="-122"/>
            </a:endParaRPr>
          </a:p>
        </p:txBody>
      </p:sp>
      <p:pic>
        <p:nvPicPr>
          <p:cNvPr id="164907" name="Picture 71" descr="tac11"/>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4538" y="76200"/>
            <a:ext cx="1439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72"/>
          <p:cNvGrpSpPr/>
          <p:nvPr/>
        </p:nvGrpSpPr>
        <p:grpSpPr bwMode="auto">
          <a:xfrm>
            <a:off x="4656140" y="1"/>
            <a:ext cx="565150" cy="620713"/>
            <a:chOff x="1882" y="436"/>
            <a:chExt cx="356" cy="363"/>
          </a:xfrm>
        </p:grpSpPr>
        <p:sp>
          <p:nvSpPr>
            <p:cNvPr id="164936" name="Text Box 73"/>
            <p:cNvSpPr txBox="1">
              <a:spLocks noChangeArrowheads="1"/>
            </p:cNvSpPr>
            <p:nvPr/>
          </p:nvSpPr>
          <p:spPr bwMode="auto">
            <a:xfrm>
              <a:off x="1882" y="436"/>
              <a:ext cx="35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dirty="0">
                  <a:solidFill>
                    <a:srgbClr val="000000"/>
                  </a:solidFill>
                  <a:latin typeface="Antique Olive"/>
                  <a:ea typeface="宋体" panose="02010600030101010101" pitchFamily="2" charset="-122"/>
                </a:rPr>
                <a:t>H</a:t>
              </a:r>
              <a:r>
                <a:rPr kumimoji="1" lang="en-US" altLang="zh-CN" sz="1800" baseline="-25000" dirty="0">
                  <a:solidFill>
                    <a:srgbClr val="000000"/>
                  </a:solidFill>
                  <a:latin typeface="Antique Olive"/>
                  <a:ea typeface="宋体" panose="02010600030101010101" pitchFamily="2" charset="-122"/>
                </a:rPr>
                <a:t>2</a:t>
              </a:r>
              <a:r>
                <a:rPr kumimoji="1" lang="en-US" altLang="zh-CN" sz="1800" dirty="0">
                  <a:solidFill>
                    <a:srgbClr val="000000"/>
                  </a:solidFill>
                  <a:latin typeface="Antique Olive"/>
                  <a:ea typeface="宋体" panose="02010600030101010101" pitchFamily="2" charset="-122"/>
                </a:rPr>
                <a:t>O</a:t>
              </a:r>
              <a:endParaRPr kumimoji="1" lang="en-US" altLang="zh-CN" sz="2800" b="0" dirty="0">
                <a:ea typeface="宋体" panose="02010600030101010101" pitchFamily="2" charset="-122"/>
              </a:endParaRPr>
            </a:p>
          </p:txBody>
        </p:sp>
        <p:sp>
          <p:nvSpPr>
            <p:cNvPr id="164937" name="Line 74"/>
            <p:cNvSpPr>
              <a:spLocks noChangeShapeType="1"/>
            </p:cNvSpPr>
            <p:nvPr/>
          </p:nvSpPr>
          <p:spPr bwMode="auto">
            <a:xfrm>
              <a:off x="2018" y="663"/>
              <a:ext cx="136" cy="13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87467" name="Arc 75"/>
          <p:cNvSpPr/>
          <p:nvPr/>
        </p:nvSpPr>
        <p:spPr bwMode="auto">
          <a:xfrm>
            <a:off x="3421064" y="533401"/>
            <a:ext cx="2835275" cy="2767013"/>
          </a:xfrm>
          <a:custGeom>
            <a:avLst/>
            <a:gdLst>
              <a:gd name="T0" fmla="*/ 0 w 15603"/>
              <a:gd name="T1" fmla="*/ 2147483646 h 21288"/>
              <a:gd name="T2" fmla="*/ 2147483646 w 15603"/>
              <a:gd name="T3" fmla="*/ 0 h 21288"/>
              <a:gd name="T4" fmla="*/ 2147483646 w 15603"/>
              <a:gd name="T5" fmla="*/ 2147483646 h 21288"/>
              <a:gd name="T6" fmla="*/ 0 60000 65536"/>
              <a:gd name="T7" fmla="*/ 0 60000 65536"/>
              <a:gd name="T8" fmla="*/ 0 60000 65536"/>
              <a:gd name="T9" fmla="*/ 0 w 15603"/>
              <a:gd name="T10" fmla="*/ 0 h 21288"/>
              <a:gd name="T11" fmla="*/ 15603 w 15603"/>
              <a:gd name="T12" fmla="*/ 21288 h 21288"/>
            </a:gdLst>
            <a:ahLst/>
            <a:cxnLst>
              <a:cxn ang="T6">
                <a:pos x="T0" y="T1"/>
              </a:cxn>
              <a:cxn ang="T7">
                <a:pos x="T2" y="T3"/>
              </a:cxn>
              <a:cxn ang="T8">
                <a:pos x="T4" y="T5"/>
              </a:cxn>
            </a:cxnLst>
            <a:rect l="T9" t="T10" r="T11" b="T12"/>
            <a:pathLst>
              <a:path w="15603" h="21288" fill="none" extrusionOk="0">
                <a:moveTo>
                  <a:pt x="0" y="6351"/>
                </a:moveTo>
                <a:cubicBezTo>
                  <a:pt x="3198" y="3009"/>
                  <a:pt x="7385" y="783"/>
                  <a:pt x="11944" y="0"/>
                </a:cubicBezTo>
              </a:path>
              <a:path w="15603" h="21288" stroke="0" extrusionOk="0">
                <a:moveTo>
                  <a:pt x="0" y="6351"/>
                </a:moveTo>
                <a:cubicBezTo>
                  <a:pt x="3198" y="3009"/>
                  <a:pt x="7385" y="783"/>
                  <a:pt x="11944" y="0"/>
                </a:cubicBezTo>
                <a:lnTo>
                  <a:pt x="15603" y="21288"/>
                </a:lnTo>
                <a:lnTo>
                  <a:pt x="0" y="6351"/>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68" name="Arc 76"/>
          <p:cNvSpPr/>
          <p:nvPr/>
        </p:nvSpPr>
        <p:spPr bwMode="auto">
          <a:xfrm>
            <a:off x="6167438" y="476250"/>
            <a:ext cx="1308100" cy="2801938"/>
          </a:xfrm>
          <a:custGeom>
            <a:avLst/>
            <a:gdLst>
              <a:gd name="T0" fmla="*/ 2147483646 w 7199"/>
              <a:gd name="T1" fmla="*/ 0 h 21549"/>
              <a:gd name="T2" fmla="*/ 2147483646 w 7199"/>
              <a:gd name="T3" fmla="*/ 2147483646 h 21549"/>
              <a:gd name="T4" fmla="*/ 0 w 7199"/>
              <a:gd name="T5" fmla="*/ 2147483646 h 21549"/>
              <a:gd name="T6" fmla="*/ 0 60000 65536"/>
              <a:gd name="T7" fmla="*/ 0 60000 65536"/>
              <a:gd name="T8" fmla="*/ 0 60000 65536"/>
              <a:gd name="T9" fmla="*/ 0 w 7199"/>
              <a:gd name="T10" fmla="*/ 0 h 21549"/>
              <a:gd name="T11" fmla="*/ 7199 w 7199"/>
              <a:gd name="T12" fmla="*/ 21549 h 21549"/>
            </a:gdLst>
            <a:ahLst/>
            <a:cxnLst>
              <a:cxn ang="T6">
                <a:pos x="T0" y="T1"/>
              </a:cxn>
              <a:cxn ang="T7">
                <a:pos x="T2" y="T3"/>
              </a:cxn>
              <a:cxn ang="T8">
                <a:pos x="T4" y="T5"/>
              </a:cxn>
            </a:cxnLst>
            <a:rect l="T9" t="T10" r="T11" b="T12"/>
            <a:pathLst>
              <a:path w="7199" h="21549" fill="none" extrusionOk="0">
                <a:moveTo>
                  <a:pt x="1484" y="0"/>
                </a:moveTo>
                <a:cubicBezTo>
                  <a:pt x="3434" y="134"/>
                  <a:pt x="5356" y="532"/>
                  <a:pt x="7199" y="1183"/>
                </a:cubicBezTo>
              </a:path>
              <a:path w="7199" h="21549" stroke="0" extrusionOk="0">
                <a:moveTo>
                  <a:pt x="1484" y="0"/>
                </a:moveTo>
                <a:cubicBezTo>
                  <a:pt x="3434" y="134"/>
                  <a:pt x="5356" y="532"/>
                  <a:pt x="7199" y="1183"/>
                </a:cubicBezTo>
                <a:lnTo>
                  <a:pt x="0" y="21549"/>
                </a:lnTo>
                <a:lnTo>
                  <a:pt x="1484" y="0"/>
                </a:lnTo>
                <a:close/>
              </a:path>
            </a:pathLst>
          </a:custGeom>
          <a:noFill/>
          <a:ln w="381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69" name="Arc 77"/>
          <p:cNvSpPr/>
          <p:nvPr/>
        </p:nvSpPr>
        <p:spPr bwMode="auto">
          <a:xfrm>
            <a:off x="6096001" y="1152525"/>
            <a:ext cx="3368675" cy="2166938"/>
          </a:xfrm>
          <a:custGeom>
            <a:avLst/>
            <a:gdLst>
              <a:gd name="T0" fmla="*/ 2147483646 w 18535"/>
              <a:gd name="T1" fmla="*/ 0 h 16669"/>
              <a:gd name="T2" fmla="*/ 2147483646 w 18535"/>
              <a:gd name="T3" fmla="*/ 2147483646 h 16669"/>
              <a:gd name="T4" fmla="*/ 0 w 18535"/>
              <a:gd name="T5" fmla="*/ 2147483646 h 16669"/>
              <a:gd name="T6" fmla="*/ 0 60000 65536"/>
              <a:gd name="T7" fmla="*/ 0 60000 65536"/>
              <a:gd name="T8" fmla="*/ 0 60000 65536"/>
              <a:gd name="T9" fmla="*/ 0 w 18535"/>
              <a:gd name="T10" fmla="*/ 0 h 16669"/>
              <a:gd name="T11" fmla="*/ 18535 w 18535"/>
              <a:gd name="T12" fmla="*/ 16669 h 16669"/>
            </a:gdLst>
            <a:ahLst/>
            <a:cxnLst>
              <a:cxn ang="T6">
                <a:pos x="T0" y="T1"/>
              </a:cxn>
              <a:cxn ang="T7">
                <a:pos x="T2" y="T3"/>
              </a:cxn>
              <a:cxn ang="T8">
                <a:pos x="T4" y="T5"/>
              </a:cxn>
            </a:cxnLst>
            <a:rect l="T9" t="T10" r="T11" b="T12"/>
            <a:pathLst>
              <a:path w="18535" h="16669" fill="none" extrusionOk="0">
                <a:moveTo>
                  <a:pt x="13736" y="0"/>
                </a:moveTo>
                <a:cubicBezTo>
                  <a:pt x="15643" y="1571"/>
                  <a:pt x="17266" y="3457"/>
                  <a:pt x="18535" y="5577"/>
                </a:cubicBezTo>
              </a:path>
              <a:path w="18535" h="16669" stroke="0" extrusionOk="0">
                <a:moveTo>
                  <a:pt x="13736" y="0"/>
                </a:moveTo>
                <a:cubicBezTo>
                  <a:pt x="15643" y="1571"/>
                  <a:pt x="17266" y="3457"/>
                  <a:pt x="18535" y="5577"/>
                </a:cubicBezTo>
                <a:lnTo>
                  <a:pt x="0" y="16669"/>
                </a:lnTo>
                <a:lnTo>
                  <a:pt x="13736" y="0"/>
                </a:lnTo>
                <a:close/>
              </a:path>
            </a:pathLst>
          </a:custGeom>
          <a:noFill/>
          <a:ln w="381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0" name="Arc 78"/>
          <p:cNvSpPr/>
          <p:nvPr/>
        </p:nvSpPr>
        <p:spPr bwMode="auto">
          <a:xfrm>
            <a:off x="6167439" y="3213100"/>
            <a:ext cx="3851275" cy="1765300"/>
          </a:xfrm>
          <a:custGeom>
            <a:avLst/>
            <a:gdLst>
              <a:gd name="T0" fmla="*/ 2147483646 w 21600"/>
              <a:gd name="T1" fmla="*/ 2147483646 h 13840"/>
              <a:gd name="T2" fmla="*/ 2147483646 w 21600"/>
              <a:gd name="T3" fmla="*/ 2147483646 h 13840"/>
              <a:gd name="T4" fmla="*/ 0 w 21600"/>
              <a:gd name="T5" fmla="*/ 0 h 13840"/>
              <a:gd name="T6" fmla="*/ 0 60000 65536"/>
              <a:gd name="T7" fmla="*/ 0 60000 65536"/>
              <a:gd name="T8" fmla="*/ 0 60000 65536"/>
              <a:gd name="T9" fmla="*/ 0 w 21600"/>
              <a:gd name="T10" fmla="*/ 0 h 13840"/>
              <a:gd name="T11" fmla="*/ 21600 w 21600"/>
              <a:gd name="T12" fmla="*/ 13840 h 13840"/>
            </a:gdLst>
            <a:ahLst/>
            <a:cxnLst>
              <a:cxn ang="T6">
                <a:pos x="T0" y="T1"/>
              </a:cxn>
              <a:cxn ang="T7">
                <a:pos x="T2" y="T3"/>
              </a:cxn>
              <a:cxn ang="T8">
                <a:pos x="T4" y="T5"/>
              </a:cxn>
            </a:cxnLst>
            <a:rect l="T9" t="T10" r="T11" b="T12"/>
            <a:pathLst>
              <a:path w="21600" h="13840" fill="none" extrusionOk="0">
                <a:moveTo>
                  <a:pt x="21599" y="36"/>
                </a:moveTo>
                <a:cubicBezTo>
                  <a:pt x="21591" y="5082"/>
                  <a:pt x="19816" y="9966"/>
                  <a:pt x="16583" y="13840"/>
                </a:cubicBezTo>
              </a:path>
              <a:path w="21600" h="13840" stroke="0" extrusionOk="0">
                <a:moveTo>
                  <a:pt x="21599" y="36"/>
                </a:moveTo>
                <a:cubicBezTo>
                  <a:pt x="21591" y="5082"/>
                  <a:pt x="19816" y="9966"/>
                  <a:pt x="16583" y="13840"/>
                </a:cubicBezTo>
                <a:lnTo>
                  <a:pt x="0" y="0"/>
                </a:lnTo>
                <a:lnTo>
                  <a:pt x="21599" y="36"/>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1" name="Arc 79"/>
          <p:cNvSpPr/>
          <p:nvPr/>
        </p:nvSpPr>
        <p:spPr bwMode="auto">
          <a:xfrm>
            <a:off x="6096000" y="3276601"/>
            <a:ext cx="2438400" cy="2682875"/>
          </a:xfrm>
          <a:custGeom>
            <a:avLst/>
            <a:gdLst>
              <a:gd name="T0" fmla="*/ 2147483646 w 13678"/>
              <a:gd name="T1" fmla="*/ 2147483646 h 21009"/>
              <a:gd name="T2" fmla="*/ 2147483646 w 13678"/>
              <a:gd name="T3" fmla="*/ 2147483646 h 21009"/>
              <a:gd name="T4" fmla="*/ 0 w 13678"/>
              <a:gd name="T5" fmla="*/ 0 h 21009"/>
              <a:gd name="T6" fmla="*/ 0 60000 65536"/>
              <a:gd name="T7" fmla="*/ 0 60000 65536"/>
              <a:gd name="T8" fmla="*/ 0 60000 65536"/>
              <a:gd name="T9" fmla="*/ 0 w 13678"/>
              <a:gd name="T10" fmla="*/ 0 h 21009"/>
              <a:gd name="T11" fmla="*/ 13678 w 13678"/>
              <a:gd name="T12" fmla="*/ 21009 h 21009"/>
            </a:gdLst>
            <a:ahLst/>
            <a:cxnLst>
              <a:cxn ang="T6">
                <a:pos x="T0" y="T1"/>
              </a:cxn>
              <a:cxn ang="T7">
                <a:pos x="T2" y="T3"/>
              </a:cxn>
              <a:cxn ang="T8">
                <a:pos x="T4" y="T5"/>
              </a:cxn>
            </a:cxnLst>
            <a:rect l="T9" t="T10" r="T11" b="T12"/>
            <a:pathLst>
              <a:path w="13678" h="21009" fill="none" extrusionOk="0">
                <a:moveTo>
                  <a:pt x="13678" y="16717"/>
                </a:moveTo>
                <a:cubicBezTo>
                  <a:pt x="11152" y="18783"/>
                  <a:pt x="8191" y="20250"/>
                  <a:pt x="5018" y="21009"/>
                </a:cubicBezTo>
              </a:path>
              <a:path w="13678" h="21009" stroke="0" extrusionOk="0">
                <a:moveTo>
                  <a:pt x="13678" y="16717"/>
                </a:moveTo>
                <a:cubicBezTo>
                  <a:pt x="11152" y="18783"/>
                  <a:pt x="8191" y="20250"/>
                  <a:pt x="5018" y="21009"/>
                </a:cubicBezTo>
                <a:lnTo>
                  <a:pt x="0" y="0"/>
                </a:lnTo>
                <a:lnTo>
                  <a:pt x="13678" y="16717"/>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2" name="Arc 80"/>
          <p:cNvSpPr/>
          <p:nvPr/>
        </p:nvSpPr>
        <p:spPr bwMode="auto">
          <a:xfrm>
            <a:off x="5062539" y="3265489"/>
            <a:ext cx="1069975" cy="2757487"/>
          </a:xfrm>
          <a:custGeom>
            <a:avLst/>
            <a:gdLst>
              <a:gd name="T0" fmla="*/ 2147483646 w 5995"/>
              <a:gd name="T1" fmla="*/ 2147483646 h 21598"/>
              <a:gd name="T2" fmla="*/ 0 w 5995"/>
              <a:gd name="T3" fmla="*/ 2147483646 h 21598"/>
              <a:gd name="T4" fmla="*/ 2147483646 w 5995"/>
              <a:gd name="T5" fmla="*/ 0 h 21598"/>
              <a:gd name="T6" fmla="*/ 0 60000 65536"/>
              <a:gd name="T7" fmla="*/ 0 60000 65536"/>
              <a:gd name="T8" fmla="*/ 0 60000 65536"/>
              <a:gd name="T9" fmla="*/ 0 w 5995"/>
              <a:gd name="T10" fmla="*/ 0 h 21598"/>
              <a:gd name="T11" fmla="*/ 5995 w 5995"/>
              <a:gd name="T12" fmla="*/ 21598 h 21598"/>
            </a:gdLst>
            <a:ahLst/>
            <a:cxnLst>
              <a:cxn ang="T6">
                <a:pos x="T0" y="T1"/>
              </a:cxn>
              <a:cxn ang="T7">
                <a:pos x="T2" y="T3"/>
              </a:cxn>
              <a:cxn ang="T8">
                <a:pos x="T4" y="T5"/>
              </a:cxn>
            </a:cxnLst>
            <a:rect l="T9" t="T10" r="T11" b="T12"/>
            <a:pathLst>
              <a:path w="5995" h="21598" fill="none" extrusionOk="0">
                <a:moveTo>
                  <a:pt x="5676" y="21597"/>
                </a:moveTo>
                <a:cubicBezTo>
                  <a:pt x="3754" y="21569"/>
                  <a:pt x="1845" y="21284"/>
                  <a:pt x="-1" y="20751"/>
                </a:cubicBezTo>
              </a:path>
              <a:path w="5995" h="21598" stroke="0" extrusionOk="0">
                <a:moveTo>
                  <a:pt x="5676" y="21597"/>
                </a:moveTo>
                <a:cubicBezTo>
                  <a:pt x="3754" y="21569"/>
                  <a:pt x="1845" y="21284"/>
                  <a:pt x="-1" y="20751"/>
                </a:cubicBezTo>
                <a:lnTo>
                  <a:pt x="5995" y="0"/>
                </a:lnTo>
                <a:lnTo>
                  <a:pt x="5676" y="21597"/>
                </a:lnTo>
                <a:close/>
              </a:path>
            </a:pathLst>
          </a:custGeom>
          <a:noFill/>
          <a:ln w="381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3" name="Arc 81"/>
          <p:cNvSpPr/>
          <p:nvPr/>
        </p:nvSpPr>
        <p:spPr bwMode="auto">
          <a:xfrm>
            <a:off x="2497139" y="1849438"/>
            <a:ext cx="3665537" cy="1433512"/>
          </a:xfrm>
          <a:custGeom>
            <a:avLst/>
            <a:gdLst>
              <a:gd name="T0" fmla="*/ 0 w 20550"/>
              <a:gd name="T1" fmla="*/ 2147483646 h 11239"/>
              <a:gd name="T2" fmla="*/ 2147483646 w 20550"/>
              <a:gd name="T3" fmla="*/ 0 h 11239"/>
              <a:gd name="T4" fmla="*/ 2147483646 w 20550"/>
              <a:gd name="T5" fmla="*/ 2147483646 h 11239"/>
              <a:gd name="T6" fmla="*/ 0 60000 65536"/>
              <a:gd name="T7" fmla="*/ 0 60000 65536"/>
              <a:gd name="T8" fmla="*/ 0 60000 65536"/>
              <a:gd name="T9" fmla="*/ 0 w 20550"/>
              <a:gd name="T10" fmla="*/ 0 h 11239"/>
              <a:gd name="T11" fmla="*/ 20550 w 20550"/>
              <a:gd name="T12" fmla="*/ 11239 h 11239"/>
            </a:gdLst>
            <a:ahLst/>
            <a:cxnLst>
              <a:cxn ang="T6">
                <a:pos x="T0" y="T1"/>
              </a:cxn>
              <a:cxn ang="T7">
                <a:pos x="T2" y="T3"/>
              </a:cxn>
              <a:cxn ang="T8">
                <a:pos x="T4" y="T5"/>
              </a:cxn>
            </a:cxnLst>
            <a:rect l="T9" t="T10" r="T11" b="T12"/>
            <a:pathLst>
              <a:path w="20550" h="11239" fill="none" extrusionOk="0">
                <a:moveTo>
                  <a:pt x="0" y="4586"/>
                </a:moveTo>
                <a:cubicBezTo>
                  <a:pt x="519" y="2980"/>
                  <a:pt x="1226" y="1441"/>
                  <a:pt x="2104" y="0"/>
                </a:cubicBezTo>
              </a:path>
              <a:path w="20550" h="11239" stroke="0" extrusionOk="0">
                <a:moveTo>
                  <a:pt x="0" y="4586"/>
                </a:moveTo>
                <a:cubicBezTo>
                  <a:pt x="519" y="2980"/>
                  <a:pt x="1226" y="1441"/>
                  <a:pt x="2104" y="0"/>
                </a:cubicBezTo>
                <a:lnTo>
                  <a:pt x="20550" y="11239"/>
                </a:lnTo>
                <a:lnTo>
                  <a:pt x="0" y="4586"/>
                </a:lnTo>
                <a:close/>
              </a:path>
            </a:pathLst>
          </a:custGeom>
          <a:noFill/>
          <a:ln w="381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4" name="Arc 82"/>
          <p:cNvSpPr/>
          <p:nvPr/>
        </p:nvSpPr>
        <p:spPr bwMode="auto">
          <a:xfrm>
            <a:off x="2370138" y="3267076"/>
            <a:ext cx="3763962" cy="1260475"/>
          </a:xfrm>
          <a:custGeom>
            <a:avLst/>
            <a:gdLst>
              <a:gd name="T0" fmla="*/ 2147483646 w 21104"/>
              <a:gd name="T1" fmla="*/ 2147483646 h 9884"/>
              <a:gd name="T2" fmla="*/ 0 w 21104"/>
              <a:gd name="T3" fmla="*/ 2147483646 h 9884"/>
              <a:gd name="T4" fmla="*/ 2147483646 w 21104"/>
              <a:gd name="T5" fmla="*/ 0 h 9884"/>
              <a:gd name="T6" fmla="*/ 0 60000 65536"/>
              <a:gd name="T7" fmla="*/ 0 60000 65536"/>
              <a:gd name="T8" fmla="*/ 0 60000 65536"/>
              <a:gd name="T9" fmla="*/ 0 w 21104"/>
              <a:gd name="T10" fmla="*/ 0 h 9884"/>
              <a:gd name="T11" fmla="*/ 21104 w 21104"/>
              <a:gd name="T12" fmla="*/ 9884 h 9884"/>
            </a:gdLst>
            <a:ahLst/>
            <a:cxnLst>
              <a:cxn ang="T6">
                <a:pos x="T0" y="T1"/>
              </a:cxn>
              <a:cxn ang="T7">
                <a:pos x="T2" y="T3"/>
              </a:cxn>
              <a:cxn ang="T8">
                <a:pos x="T4" y="T5"/>
              </a:cxn>
            </a:cxnLst>
            <a:rect l="T9" t="T10" r="T11" b="T12"/>
            <a:pathLst>
              <a:path w="21104" h="9884" fill="none" extrusionOk="0">
                <a:moveTo>
                  <a:pt x="1898" y="9883"/>
                </a:moveTo>
                <a:cubicBezTo>
                  <a:pt x="1038" y="8213"/>
                  <a:pt x="400" y="6438"/>
                  <a:pt x="0" y="4602"/>
                </a:cubicBezTo>
              </a:path>
              <a:path w="21104" h="9884" stroke="0" extrusionOk="0">
                <a:moveTo>
                  <a:pt x="1898" y="9883"/>
                </a:moveTo>
                <a:cubicBezTo>
                  <a:pt x="1038" y="8213"/>
                  <a:pt x="400" y="6438"/>
                  <a:pt x="0" y="4602"/>
                </a:cubicBezTo>
                <a:lnTo>
                  <a:pt x="21104" y="0"/>
                </a:lnTo>
                <a:lnTo>
                  <a:pt x="1898" y="9883"/>
                </a:lnTo>
                <a:close/>
              </a:path>
            </a:pathLst>
          </a:custGeom>
          <a:noFill/>
          <a:ln w="381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5" name="Arc 83"/>
          <p:cNvSpPr/>
          <p:nvPr/>
        </p:nvSpPr>
        <p:spPr bwMode="auto">
          <a:xfrm>
            <a:off x="3089276" y="3267076"/>
            <a:ext cx="3046413" cy="2392363"/>
          </a:xfrm>
          <a:custGeom>
            <a:avLst/>
            <a:gdLst>
              <a:gd name="T0" fmla="*/ 2147483646 w 17082"/>
              <a:gd name="T1" fmla="*/ 2147483646 h 18748"/>
              <a:gd name="T2" fmla="*/ 0 w 17082"/>
              <a:gd name="T3" fmla="*/ 2147483646 h 18748"/>
              <a:gd name="T4" fmla="*/ 2147483646 w 17082"/>
              <a:gd name="T5" fmla="*/ 0 h 18748"/>
              <a:gd name="T6" fmla="*/ 0 60000 65536"/>
              <a:gd name="T7" fmla="*/ 0 60000 65536"/>
              <a:gd name="T8" fmla="*/ 0 60000 65536"/>
              <a:gd name="T9" fmla="*/ 0 w 17082"/>
              <a:gd name="T10" fmla="*/ 0 h 18748"/>
              <a:gd name="T11" fmla="*/ 17082 w 17082"/>
              <a:gd name="T12" fmla="*/ 18748 h 18748"/>
            </a:gdLst>
            <a:ahLst/>
            <a:cxnLst>
              <a:cxn ang="T6">
                <a:pos x="T0" y="T1"/>
              </a:cxn>
              <a:cxn ang="T7">
                <a:pos x="T2" y="T3"/>
              </a:cxn>
              <a:cxn ang="T8">
                <a:pos x="T4" y="T5"/>
              </a:cxn>
            </a:cxnLst>
            <a:rect l="T9" t="T10" r="T11" b="T12"/>
            <a:pathLst>
              <a:path w="17082" h="18748" fill="none" extrusionOk="0">
                <a:moveTo>
                  <a:pt x="6354" y="18748"/>
                </a:moveTo>
                <a:cubicBezTo>
                  <a:pt x="3894" y="17340"/>
                  <a:pt x="1735" y="15461"/>
                  <a:pt x="0" y="13219"/>
                </a:cubicBezTo>
              </a:path>
              <a:path w="17082" h="18748" stroke="0" extrusionOk="0">
                <a:moveTo>
                  <a:pt x="6354" y="18748"/>
                </a:moveTo>
                <a:cubicBezTo>
                  <a:pt x="3894" y="17340"/>
                  <a:pt x="1735" y="15461"/>
                  <a:pt x="0" y="13219"/>
                </a:cubicBezTo>
                <a:lnTo>
                  <a:pt x="17082" y="0"/>
                </a:lnTo>
                <a:lnTo>
                  <a:pt x="6354" y="18748"/>
                </a:lnTo>
                <a:close/>
              </a:path>
            </a:pathLst>
          </a:custGeom>
          <a:noFill/>
          <a:ln w="38100">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6" name="Arc 84"/>
          <p:cNvSpPr/>
          <p:nvPr/>
        </p:nvSpPr>
        <p:spPr bwMode="auto">
          <a:xfrm>
            <a:off x="9564689" y="3352800"/>
            <a:ext cx="388937" cy="609600"/>
          </a:xfrm>
          <a:custGeom>
            <a:avLst/>
            <a:gdLst>
              <a:gd name="T0" fmla="*/ 2147483646 w 27573"/>
              <a:gd name="T1" fmla="*/ 0 h 43200"/>
              <a:gd name="T2" fmla="*/ 0 w 27573"/>
              <a:gd name="T3" fmla="*/ 2147483646 h 43200"/>
              <a:gd name="T4" fmla="*/ 2147483646 w 27573"/>
              <a:gd name="T5" fmla="*/ 2147483646 h 43200"/>
              <a:gd name="T6" fmla="*/ 0 60000 65536"/>
              <a:gd name="T7" fmla="*/ 0 60000 65536"/>
              <a:gd name="T8" fmla="*/ 0 60000 65536"/>
              <a:gd name="T9" fmla="*/ 0 w 27573"/>
              <a:gd name="T10" fmla="*/ 0 h 43200"/>
              <a:gd name="T11" fmla="*/ 27573 w 27573"/>
              <a:gd name="T12" fmla="*/ 43200 h 43200"/>
            </a:gdLst>
            <a:ahLst/>
            <a:cxnLst>
              <a:cxn ang="T6">
                <a:pos x="T0" y="T1"/>
              </a:cxn>
              <a:cxn ang="T7">
                <a:pos x="T2" y="T3"/>
              </a:cxn>
              <a:cxn ang="T8">
                <a:pos x="T4" y="T5"/>
              </a:cxn>
            </a:cxnLst>
            <a:rect l="T9" t="T10" r="T11" b="T12"/>
            <a:pathLst>
              <a:path w="27573" h="43200" fill="none" extrusionOk="0">
                <a:moveTo>
                  <a:pt x="5941" y="0"/>
                </a:moveTo>
                <a:cubicBezTo>
                  <a:pt x="5951" y="0"/>
                  <a:pt x="5962" y="-1"/>
                  <a:pt x="5973" y="0"/>
                </a:cubicBezTo>
                <a:cubicBezTo>
                  <a:pt x="17902" y="0"/>
                  <a:pt x="27573" y="9670"/>
                  <a:pt x="27573" y="21600"/>
                </a:cubicBezTo>
                <a:cubicBezTo>
                  <a:pt x="27573" y="33529"/>
                  <a:pt x="17902" y="43200"/>
                  <a:pt x="5973" y="43200"/>
                </a:cubicBezTo>
                <a:cubicBezTo>
                  <a:pt x="3952" y="43200"/>
                  <a:pt x="1941" y="42916"/>
                  <a:pt x="0" y="42357"/>
                </a:cubicBezTo>
              </a:path>
              <a:path w="27573" h="43200" stroke="0" extrusionOk="0">
                <a:moveTo>
                  <a:pt x="5941" y="0"/>
                </a:moveTo>
                <a:cubicBezTo>
                  <a:pt x="5951" y="0"/>
                  <a:pt x="5962" y="-1"/>
                  <a:pt x="5973" y="0"/>
                </a:cubicBezTo>
                <a:cubicBezTo>
                  <a:pt x="17902" y="0"/>
                  <a:pt x="27573" y="9670"/>
                  <a:pt x="27573" y="21600"/>
                </a:cubicBezTo>
                <a:cubicBezTo>
                  <a:pt x="27573" y="33529"/>
                  <a:pt x="17902" y="43200"/>
                  <a:pt x="5973" y="43200"/>
                </a:cubicBezTo>
                <a:cubicBezTo>
                  <a:pt x="3952" y="43200"/>
                  <a:pt x="1941" y="42916"/>
                  <a:pt x="0" y="42357"/>
                </a:cubicBezTo>
                <a:lnTo>
                  <a:pt x="5973" y="21600"/>
                </a:lnTo>
                <a:lnTo>
                  <a:pt x="5941" y="0"/>
                </a:lnTo>
                <a:close/>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7477" name="Rectangle 85">
            <a:hlinkClick r:id="" action="ppaction://hlinkshowjump?jump=nextslide"/>
          </p:cNvPr>
          <p:cNvSpPr>
            <a:spLocks noChangeArrowheads="1"/>
          </p:cNvSpPr>
          <p:nvPr/>
        </p:nvSpPr>
        <p:spPr bwMode="auto">
          <a:xfrm>
            <a:off x="4440239" y="1844676"/>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ea typeface="宋体" panose="02010600030101010101" pitchFamily="2" charset="-122"/>
              </a:rPr>
              <a:t>①柠檬酸合酶</a:t>
            </a:r>
            <a:endParaRPr kumimoji="1" lang="zh-CN" altLang="en-US" sz="2000">
              <a:solidFill>
                <a:srgbClr val="FF0000"/>
              </a:solidFill>
              <a:ea typeface="宋体" panose="02010600030101010101" pitchFamily="2" charset="-122"/>
            </a:endParaRPr>
          </a:p>
        </p:txBody>
      </p:sp>
      <p:sp>
        <p:nvSpPr>
          <p:cNvPr id="187478" name="Rectangle 86">
            <a:hlinkClick r:id="rId11" action="ppaction://hlinksldjump"/>
          </p:cNvPr>
          <p:cNvSpPr>
            <a:spLocks noChangeArrowheads="1"/>
          </p:cNvSpPr>
          <p:nvPr/>
        </p:nvSpPr>
        <p:spPr bwMode="auto">
          <a:xfrm>
            <a:off x="4440239" y="2205039"/>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②顺乌头酸梅</a:t>
            </a:r>
            <a:endParaRPr kumimoji="1" lang="zh-CN" altLang="en-US" sz="2000">
              <a:ea typeface="宋体" panose="02010600030101010101" pitchFamily="2" charset="-122"/>
            </a:endParaRPr>
          </a:p>
        </p:txBody>
      </p:sp>
      <p:sp>
        <p:nvSpPr>
          <p:cNvPr id="187479" name="Rectangle 87">
            <a:hlinkClick r:id="rId12" action="ppaction://hlinksldjump"/>
          </p:cNvPr>
          <p:cNvSpPr>
            <a:spLocks noChangeArrowheads="1"/>
          </p:cNvSpPr>
          <p:nvPr/>
        </p:nvSpPr>
        <p:spPr bwMode="auto">
          <a:xfrm>
            <a:off x="4440238" y="2563814"/>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ea typeface="宋体" panose="02010600030101010101" pitchFamily="2" charset="-122"/>
              </a:rPr>
              <a:t>③异柠檬酸脱氢酶</a:t>
            </a:r>
            <a:endParaRPr kumimoji="1" lang="zh-CN" altLang="en-US" sz="2000">
              <a:solidFill>
                <a:srgbClr val="FF0000"/>
              </a:solidFill>
              <a:ea typeface="宋体" panose="02010600030101010101" pitchFamily="2" charset="-122"/>
            </a:endParaRPr>
          </a:p>
        </p:txBody>
      </p:sp>
      <p:sp>
        <p:nvSpPr>
          <p:cNvPr id="187480" name="Rectangle 88">
            <a:hlinkClick r:id="rId13" action="ppaction://hlinksldjump"/>
          </p:cNvPr>
          <p:cNvSpPr>
            <a:spLocks noChangeArrowheads="1"/>
          </p:cNvSpPr>
          <p:nvPr/>
        </p:nvSpPr>
        <p:spPr bwMode="auto">
          <a:xfrm>
            <a:off x="4440239" y="2924176"/>
            <a:ext cx="3527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ea typeface="宋体" panose="02010600030101010101" pitchFamily="2" charset="-122"/>
              </a:rPr>
              <a:t>④</a:t>
            </a:r>
            <a:r>
              <a:rPr kumimoji="1" lang="el-GR" altLang="zh-CN" sz="2000">
                <a:solidFill>
                  <a:srgbClr val="FF0000"/>
                </a:solidFill>
                <a:ea typeface="宋体" panose="02010600030101010101" pitchFamily="2" charset="-122"/>
                <a:cs typeface="Times New Roman" panose="02020603050405020304" pitchFamily="18" charset="0"/>
              </a:rPr>
              <a:t>α</a:t>
            </a:r>
            <a:r>
              <a:rPr kumimoji="1" lang="en-US" altLang="zh-CN" sz="2000">
                <a:solidFill>
                  <a:srgbClr val="FF0000"/>
                </a:solidFill>
                <a:ea typeface="宋体" panose="02010600030101010101" pitchFamily="2" charset="-122"/>
                <a:cs typeface="Times New Roman" panose="02020603050405020304" pitchFamily="18" charset="0"/>
              </a:rPr>
              <a:t>-</a:t>
            </a:r>
            <a:r>
              <a:rPr kumimoji="1" lang="zh-CN" altLang="en-US" sz="2000">
                <a:solidFill>
                  <a:srgbClr val="FF0000"/>
                </a:solidFill>
                <a:ea typeface="宋体" panose="02010600030101010101" pitchFamily="2" charset="-122"/>
                <a:cs typeface="Times New Roman" panose="02020603050405020304" pitchFamily="18" charset="0"/>
              </a:rPr>
              <a:t>酮戊二酸脱氢酶复合体</a:t>
            </a:r>
            <a:endParaRPr kumimoji="1" lang="zh-CN" altLang="el-GR" sz="2000">
              <a:solidFill>
                <a:srgbClr val="FF0000"/>
              </a:solidFill>
              <a:ea typeface="宋体" panose="02010600030101010101" pitchFamily="2" charset="-122"/>
              <a:cs typeface="Times New Roman" panose="02020603050405020304" pitchFamily="18" charset="0"/>
            </a:endParaRPr>
          </a:p>
        </p:txBody>
      </p:sp>
      <p:sp>
        <p:nvSpPr>
          <p:cNvPr id="187481" name="Rectangle 89">
            <a:hlinkClick r:id="rId14" action="ppaction://hlinksldjump"/>
          </p:cNvPr>
          <p:cNvSpPr>
            <a:spLocks noChangeArrowheads="1"/>
          </p:cNvSpPr>
          <p:nvPr/>
        </p:nvSpPr>
        <p:spPr bwMode="auto">
          <a:xfrm>
            <a:off x="4419601" y="3284539"/>
            <a:ext cx="2468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⑤琥珀酰</a:t>
            </a:r>
            <a:r>
              <a:rPr kumimoji="1" lang="en-US" altLang="zh-CN" sz="2000">
                <a:ea typeface="宋体" panose="02010600030101010101" pitchFamily="2" charset="-122"/>
              </a:rPr>
              <a:t>CoA</a:t>
            </a:r>
            <a:r>
              <a:rPr kumimoji="1" lang="zh-CN" altLang="en-US" sz="2000">
                <a:ea typeface="宋体" panose="02010600030101010101" pitchFamily="2" charset="-122"/>
              </a:rPr>
              <a:t>合成酶</a:t>
            </a:r>
            <a:endParaRPr kumimoji="1" lang="zh-CN" altLang="en-US" sz="2000">
              <a:ea typeface="宋体" panose="02010600030101010101" pitchFamily="2" charset="-122"/>
            </a:endParaRPr>
          </a:p>
        </p:txBody>
      </p:sp>
      <p:sp>
        <p:nvSpPr>
          <p:cNvPr id="187482" name="Rectangle 90">
            <a:hlinkClick r:id="rId15" action="ppaction://hlinksldjump"/>
          </p:cNvPr>
          <p:cNvSpPr>
            <a:spLocks noChangeArrowheads="1"/>
          </p:cNvSpPr>
          <p:nvPr/>
        </p:nvSpPr>
        <p:spPr bwMode="auto">
          <a:xfrm>
            <a:off x="4440238" y="3644901"/>
            <a:ext cx="1973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⑥琥珀酸脱氢酶</a:t>
            </a:r>
            <a:endParaRPr kumimoji="1" lang="zh-CN" altLang="en-US" sz="2000">
              <a:ea typeface="宋体" panose="02010600030101010101" pitchFamily="2" charset="-122"/>
            </a:endParaRPr>
          </a:p>
        </p:txBody>
      </p:sp>
      <p:sp>
        <p:nvSpPr>
          <p:cNvPr id="187483" name="Rectangle 91">
            <a:hlinkClick r:id="rId16" action="ppaction://hlinksldjump"/>
          </p:cNvPr>
          <p:cNvSpPr>
            <a:spLocks noChangeArrowheads="1"/>
          </p:cNvSpPr>
          <p:nvPr/>
        </p:nvSpPr>
        <p:spPr bwMode="auto">
          <a:xfrm>
            <a:off x="4440238" y="4005264"/>
            <a:ext cx="2305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宋体" panose="02010600030101010101" pitchFamily="2" charset="-122"/>
              </a:rPr>
              <a:t>⑦延胡索酸酶</a:t>
            </a:r>
            <a:endParaRPr kumimoji="1" lang="zh-CN" altLang="en-US" sz="2000">
              <a:ea typeface="宋体" panose="02010600030101010101" pitchFamily="2" charset="-122"/>
            </a:endParaRPr>
          </a:p>
        </p:txBody>
      </p:sp>
      <p:sp>
        <p:nvSpPr>
          <p:cNvPr id="187484" name="Text Box 92">
            <a:hlinkClick r:id="rId17" action="ppaction://hlinksldjump"/>
          </p:cNvPr>
          <p:cNvSpPr txBox="1">
            <a:spLocks noChangeArrowheads="1"/>
          </p:cNvSpPr>
          <p:nvPr/>
        </p:nvSpPr>
        <p:spPr bwMode="auto">
          <a:xfrm>
            <a:off x="4440238" y="4365626"/>
            <a:ext cx="1973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宋体" panose="02010600030101010101" pitchFamily="2" charset="-122"/>
                <a:ea typeface="宋体" panose="02010600030101010101" pitchFamily="2" charset="-122"/>
              </a:rPr>
              <a:t>⑧苹果酸脱氢酶</a:t>
            </a:r>
            <a:endParaRPr kumimoji="1" lang="zh-CN" altLang="en-US" sz="2000">
              <a:latin typeface="宋体" panose="02010600030101010101" pitchFamily="2" charset="-122"/>
              <a:ea typeface="宋体" panose="02010600030101010101" pitchFamily="2" charset="-122"/>
              <a:cs typeface="Times New Roman" panose="02020603050405020304" pitchFamily="18" charset="0"/>
            </a:endParaRPr>
          </a:p>
        </p:txBody>
      </p:sp>
      <p:grpSp>
        <p:nvGrpSpPr>
          <p:cNvPr id="17" name="Group 93"/>
          <p:cNvGrpSpPr/>
          <p:nvPr/>
        </p:nvGrpSpPr>
        <p:grpSpPr bwMode="auto">
          <a:xfrm>
            <a:off x="1524000" y="3284538"/>
            <a:ext cx="2906840" cy="1750832"/>
            <a:chOff x="159" y="423"/>
            <a:chExt cx="2056" cy="1169"/>
          </a:xfrm>
        </p:grpSpPr>
        <p:sp>
          <p:nvSpPr>
            <p:cNvPr id="164928" name="Text Box 94"/>
            <p:cNvSpPr txBox="1">
              <a:spLocks noChangeArrowheads="1"/>
            </p:cNvSpPr>
            <p:nvPr/>
          </p:nvSpPr>
          <p:spPr bwMode="auto">
            <a:xfrm>
              <a:off x="203" y="423"/>
              <a:ext cx="486"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solidFill>
                    <a:srgbClr val="FF0D6F"/>
                  </a:solidFill>
                  <a:latin typeface="Antique Olive"/>
                  <a:ea typeface="宋体" panose="02010600030101010101" pitchFamily="2" charset="-122"/>
                </a:rPr>
                <a:t>GTP</a:t>
              </a:r>
              <a:endParaRPr kumimoji="1" lang="en-US" altLang="zh-CN" sz="2400" b="0">
                <a:solidFill>
                  <a:srgbClr val="FF0D6F"/>
                </a:solidFill>
                <a:latin typeface="Antique Olive"/>
                <a:ea typeface="宋体" panose="02010600030101010101" pitchFamily="2" charset="-122"/>
              </a:endParaRPr>
            </a:p>
          </p:txBody>
        </p:sp>
        <p:sp>
          <p:nvSpPr>
            <p:cNvPr id="164929" name="Text Box 95"/>
            <p:cNvSpPr txBox="1">
              <a:spLocks noChangeArrowheads="1"/>
            </p:cNvSpPr>
            <p:nvPr/>
          </p:nvSpPr>
          <p:spPr bwMode="auto">
            <a:xfrm>
              <a:off x="1701" y="435"/>
              <a:ext cx="514"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latin typeface="Antique Olive"/>
                  <a:ea typeface="宋体" panose="02010600030101010101" pitchFamily="2" charset="-122"/>
                </a:rPr>
                <a:t>GDP</a:t>
              </a:r>
              <a:endParaRPr kumimoji="1" lang="en-US" altLang="zh-CN" sz="2400" b="0">
                <a:latin typeface="Antique Olive"/>
                <a:ea typeface="宋体" panose="02010600030101010101" pitchFamily="2" charset="-122"/>
              </a:endParaRPr>
            </a:p>
          </p:txBody>
        </p:sp>
        <p:sp>
          <p:nvSpPr>
            <p:cNvPr id="164930" name="Text Box 96"/>
            <p:cNvSpPr txBox="1">
              <a:spLocks noChangeArrowheads="1"/>
            </p:cNvSpPr>
            <p:nvPr/>
          </p:nvSpPr>
          <p:spPr bwMode="auto">
            <a:xfrm>
              <a:off x="1701" y="1284"/>
              <a:ext cx="45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solidFill>
                    <a:srgbClr val="FF0D6F"/>
                  </a:solidFill>
                  <a:latin typeface="Antique Olive"/>
                  <a:ea typeface="宋体" panose="02010600030101010101" pitchFamily="2" charset="-122"/>
                </a:rPr>
                <a:t>ATP</a:t>
              </a:r>
              <a:endParaRPr kumimoji="1" lang="en-US" altLang="zh-CN" sz="2400" b="0">
                <a:solidFill>
                  <a:srgbClr val="FF0D6F"/>
                </a:solidFill>
                <a:latin typeface="Antique Olive"/>
                <a:ea typeface="宋体" panose="02010600030101010101" pitchFamily="2" charset="-122"/>
              </a:endParaRPr>
            </a:p>
          </p:txBody>
        </p:sp>
        <p:sp>
          <p:nvSpPr>
            <p:cNvPr id="164931" name="Text Box 97"/>
            <p:cNvSpPr txBox="1">
              <a:spLocks noChangeArrowheads="1"/>
            </p:cNvSpPr>
            <p:nvPr/>
          </p:nvSpPr>
          <p:spPr bwMode="auto">
            <a:xfrm>
              <a:off x="159" y="1284"/>
              <a:ext cx="503"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latin typeface="Antique Olive"/>
                  <a:ea typeface="宋体" panose="02010600030101010101" pitchFamily="2" charset="-122"/>
                </a:rPr>
                <a:t>ADP</a:t>
              </a:r>
              <a:endParaRPr kumimoji="1" lang="en-US" altLang="zh-CN" sz="2400" b="0">
                <a:latin typeface="Antique Olive"/>
                <a:ea typeface="宋体" panose="02010600030101010101" pitchFamily="2" charset="-122"/>
              </a:endParaRPr>
            </a:p>
          </p:txBody>
        </p:sp>
        <p:grpSp>
          <p:nvGrpSpPr>
            <p:cNvPr id="164932" name="Group 98"/>
            <p:cNvGrpSpPr/>
            <p:nvPr/>
          </p:nvGrpSpPr>
          <p:grpSpPr bwMode="auto">
            <a:xfrm>
              <a:off x="431" y="663"/>
              <a:ext cx="1542" cy="636"/>
              <a:chOff x="431" y="663"/>
              <a:chExt cx="1542" cy="636"/>
            </a:xfrm>
          </p:grpSpPr>
          <p:sp>
            <p:nvSpPr>
              <p:cNvPr id="164934" name="Arc 99"/>
              <p:cNvSpPr/>
              <p:nvPr/>
            </p:nvSpPr>
            <p:spPr bwMode="auto">
              <a:xfrm>
                <a:off x="431" y="981"/>
                <a:ext cx="1542" cy="318"/>
              </a:xfrm>
              <a:custGeom>
                <a:avLst/>
                <a:gdLst>
                  <a:gd name="T0" fmla="*/ 0 w 43181"/>
                  <a:gd name="T1" fmla="*/ 0 h 21600"/>
                  <a:gd name="T2" fmla="*/ 0 w 43181"/>
                  <a:gd name="T3" fmla="*/ 0 h 21600"/>
                  <a:gd name="T4" fmla="*/ 0 w 43181"/>
                  <a:gd name="T5" fmla="*/ 0 h 21600"/>
                  <a:gd name="T6" fmla="*/ 0 60000 65536"/>
                  <a:gd name="T7" fmla="*/ 0 60000 65536"/>
                  <a:gd name="T8" fmla="*/ 0 60000 65536"/>
                  <a:gd name="T9" fmla="*/ 0 w 43181"/>
                  <a:gd name="T10" fmla="*/ 0 h 21600"/>
                  <a:gd name="T11" fmla="*/ 43181 w 43181"/>
                  <a:gd name="T12" fmla="*/ 21600 h 21600"/>
                </a:gdLst>
                <a:ahLst/>
                <a:cxnLst>
                  <a:cxn ang="T6">
                    <a:pos x="T0" y="T1"/>
                  </a:cxn>
                  <a:cxn ang="T7">
                    <a:pos x="T2" y="T3"/>
                  </a:cxn>
                  <a:cxn ang="T8">
                    <a:pos x="T4" y="T5"/>
                  </a:cxn>
                </a:cxnLst>
                <a:rect l="T9" t="T10" r="T11" b="T12"/>
                <a:pathLst>
                  <a:path w="43181" h="21600" fill="none" extrusionOk="0">
                    <a:moveTo>
                      <a:pt x="-1" y="20695"/>
                    </a:moveTo>
                    <a:cubicBezTo>
                      <a:pt x="484" y="9128"/>
                      <a:pt x="10003" y="-1"/>
                      <a:pt x="21581" y="0"/>
                    </a:cubicBezTo>
                    <a:cubicBezTo>
                      <a:pt x="33510" y="0"/>
                      <a:pt x="43181" y="9670"/>
                      <a:pt x="43181" y="21600"/>
                    </a:cubicBezTo>
                  </a:path>
                  <a:path w="43181" h="21600" stroke="0" extrusionOk="0">
                    <a:moveTo>
                      <a:pt x="-1" y="20695"/>
                    </a:moveTo>
                    <a:cubicBezTo>
                      <a:pt x="484" y="9128"/>
                      <a:pt x="10003" y="-1"/>
                      <a:pt x="21581" y="0"/>
                    </a:cubicBezTo>
                    <a:cubicBezTo>
                      <a:pt x="33510" y="0"/>
                      <a:pt x="43181" y="9670"/>
                      <a:pt x="43181" y="21600"/>
                    </a:cubicBezTo>
                    <a:lnTo>
                      <a:pt x="21581" y="21600"/>
                    </a:lnTo>
                    <a:lnTo>
                      <a:pt x="-1" y="20695"/>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4935" name="Arc 100"/>
              <p:cNvSpPr/>
              <p:nvPr/>
            </p:nvSpPr>
            <p:spPr bwMode="auto">
              <a:xfrm flipV="1">
                <a:off x="431" y="663"/>
                <a:ext cx="1542" cy="318"/>
              </a:xfrm>
              <a:custGeom>
                <a:avLst/>
                <a:gdLst>
                  <a:gd name="T0" fmla="*/ 0 w 43181"/>
                  <a:gd name="T1" fmla="*/ 0 h 21600"/>
                  <a:gd name="T2" fmla="*/ 0 w 43181"/>
                  <a:gd name="T3" fmla="*/ 0 h 21600"/>
                  <a:gd name="T4" fmla="*/ 0 w 43181"/>
                  <a:gd name="T5" fmla="*/ 0 h 21600"/>
                  <a:gd name="T6" fmla="*/ 0 60000 65536"/>
                  <a:gd name="T7" fmla="*/ 0 60000 65536"/>
                  <a:gd name="T8" fmla="*/ 0 60000 65536"/>
                  <a:gd name="T9" fmla="*/ 0 w 43181"/>
                  <a:gd name="T10" fmla="*/ 0 h 21600"/>
                  <a:gd name="T11" fmla="*/ 43181 w 43181"/>
                  <a:gd name="T12" fmla="*/ 21600 h 21600"/>
                </a:gdLst>
                <a:ahLst/>
                <a:cxnLst>
                  <a:cxn ang="T6">
                    <a:pos x="T0" y="T1"/>
                  </a:cxn>
                  <a:cxn ang="T7">
                    <a:pos x="T2" y="T3"/>
                  </a:cxn>
                  <a:cxn ang="T8">
                    <a:pos x="T4" y="T5"/>
                  </a:cxn>
                </a:cxnLst>
                <a:rect l="T9" t="T10" r="T11" b="T12"/>
                <a:pathLst>
                  <a:path w="43181" h="21600" fill="none" extrusionOk="0">
                    <a:moveTo>
                      <a:pt x="-1" y="20695"/>
                    </a:moveTo>
                    <a:cubicBezTo>
                      <a:pt x="484" y="9128"/>
                      <a:pt x="10003" y="-1"/>
                      <a:pt x="21581" y="0"/>
                    </a:cubicBezTo>
                    <a:cubicBezTo>
                      <a:pt x="33510" y="0"/>
                      <a:pt x="43181" y="9670"/>
                      <a:pt x="43181" y="21600"/>
                    </a:cubicBezTo>
                  </a:path>
                  <a:path w="43181" h="21600" stroke="0" extrusionOk="0">
                    <a:moveTo>
                      <a:pt x="-1" y="20695"/>
                    </a:moveTo>
                    <a:cubicBezTo>
                      <a:pt x="484" y="9128"/>
                      <a:pt x="10003" y="-1"/>
                      <a:pt x="21581" y="0"/>
                    </a:cubicBezTo>
                    <a:cubicBezTo>
                      <a:pt x="33510" y="0"/>
                      <a:pt x="43181" y="9670"/>
                      <a:pt x="43181" y="21600"/>
                    </a:cubicBezTo>
                    <a:lnTo>
                      <a:pt x="21581" y="21600"/>
                    </a:lnTo>
                    <a:lnTo>
                      <a:pt x="-1" y="20695"/>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64933" name="Text Box 101"/>
            <p:cNvSpPr txBox="1">
              <a:spLocks noChangeArrowheads="1"/>
            </p:cNvSpPr>
            <p:nvPr/>
          </p:nvSpPr>
          <p:spPr bwMode="auto">
            <a:xfrm>
              <a:off x="566" y="618"/>
              <a:ext cx="13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ea typeface="华文中宋" panose="02010600040101010101" pitchFamily="2" charset="-122"/>
                </a:rPr>
                <a:t>核苷二磷酸激酶</a:t>
              </a:r>
              <a:endParaRPr kumimoji="1" lang="zh-CN" altLang="en-US" sz="2000">
                <a:ea typeface="华文中宋" panose="0201060004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87414"/>
                                        </p:tgtEl>
                                        <p:attrNameLst>
                                          <p:attrName>style.visibility</p:attrName>
                                        </p:attrNameLst>
                                      </p:cBhvr>
                                      <p:to>
                                        <p:strVal val="visible"/>
                                      </p:to>
                                    </p:set>
                                    <p:anim calcmode="lin" valueType="num">
                                      <p:cBhvr additive="base">
                                        <p:cTn id="7" dur="500" fill="hold"/>
                                        <p:tgtEl>
                                          <p:spTgt spid="187414"/>
                                        </p:tgtEl>
                                        <p:attrNameLst>
                                          <p:attrName>ppt_x</p:attrName>
                                        </p:attrNameLst>
                                      </p:cBhvr>
                                      <p:tavLst>
                                        <p:tav tm="0">
                                          <p:val>
                                            <p:strVal val="0-#ppt_w/2"/>
                                          </p:val>
                                        </p:tav>
                                        <p:tav tm="100000">
                                          <p:val>
                                            <p:strVal val="#ppt_x"/>
                                          </p:val>
                                        </p:tav>
                                      </p:tavLst>
                                    </p:anim>
                                    <p:anim calcmode="lin" valueType="num">
                                      <p:cBhvr additive="base">
                                        <p:cTn id="8" dur="500" fill="hold"/>
                                        <p:tgtEl>
                                          <p:spTgt spid="1874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up)">
                                      <p:cBhvr>
                                        <p:cTn id="12" dur="500"/>
                                        <p:tgtEl>
                                          <p:spTgt spid="1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87467"/>
                                        </p:tgtEl>
                                        <p:attrNameLst>
                                          <p:attrName>style.visibility</p:attrName>
                                        </p:attrNameLst>
                                      </p:cBhvr>
                                      <p:to>
                                        <p:strVal val="visible"/>
                                      </p:to>
                                    </p:set>
                                    <p:animEffect transition="in" filter="wipe(left)">
                                      <p:cBhvr>
                                        <p:cTn id="16" dur="500"/>
                                        <p:tgtEl>
                                          <p:spTgt spid="187467"/>
                                        </p:tgtEl>
                                      </p:cBhvr>
                                    </p:animEffect>
                                  </p:childTnLst>
                                </p:cTn>
                              </p:par>
                            </p:childTnLst>
                          </p:cTn>
                        </p:par>
                        <p:par>
                          <p:cTn id="17" fill="hold">
                            <p:stCondLst>
                              <p:cond delay="1500"/>
                            </p:stCondLst>
                            <p:childTnLst>
                              <p:par>
                                <p:cTn id="18" presetID="22" presetClass="entr" presetSubtype="1" fill="hold" nodeType="afterEffect">
                                  <p:stCondLst>
                                    <p:cond delay="0"/>
                                  </p:stCondLst>
                                  <p:childTnLst>
                                    <p:set>
                                      <p:cBhvr>
                                        <p:cTn id="19" dur="1" fill="hold">
                                          <p:stCondLst>
                                            <p:cond delay="0"/>
                                          </p:stCondLst>
                                        </p:cTn>
                                        <p:tgtEl>
                                          <p:spTgt spid="187415"/>
                                        </p:tgtEl>
                                        <p:attrNameLst>
                                          <p:attrName>style.visibility</p:attrName>
                                        </p:attrNameLst>
                                      </p:cBhvr>
                                      <p:to>
                                        <p:strVal val="visible"/>
                                      </p:to>
                                    </p:set>
                                    <p:animEffect transition="in" filter="wipe(up)">
                                      <p:cBhvr>
                                        <p:cTn id="20" dur="500"/>
                                        <p:tgtEl>
                                          <p:spTgt spid="187415"/>
                                        </p:tgtEl>
                                      </p:cBhvr>
                                    </p:animEffect>
                                  </p:childTnLst>
                                </p:cTn>
                              </p:par>
                            </p:childTnLst>
                          </p:cTn>
                        </p:par>
                        <p:par>
                          <p:cTn id="21" fill="hold">
                            <p:stCondLst>
                              <p:cond delay="2000"/>
                            </p:stCondLst>
                            <p:childTnLst>
                              <p:par>
                                <p:cTn id="22" presetID="9" presetClass="entr" presetSubtype="0"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dissolve">
                                      <p:cBhvr>
                                        <p:cTn id="24" dur="500"/>
                                        <p:tgtEl>
                                          <p:spTgt spid="2"/>
                                        </p:tgtEl>
                                      </p:cBhvr>
                                    </p:animEffect>
                                  </p:childTnLst>
                                </p:cTn>
                              </p:par>
                            </p:childTnLst>
                          </p:cTn>
                        </p:par>
                        <p:par>
                          <p:cTn id="25" fill="hold">
                            <p:stCondLst>
                              <p:cond delay="2500"/>
                            </p:stCondLst>
                            <p:childTnLst>
                              <p:par>
                                <p:cTn id="26" presetID="22" presetClass="entr" presetSubtype="1"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500"/>
                                        <p:tgtEl>
                                          <p:spTgt spid="8"/>
                                        </p:tgtEl>
                                      </p:cBhvr>
                                    </p:animEffect>
                                  </p:childTnLst>
                                </p:cTn>
                              </p:par>
                            </p:childTnLst>
                          </p:cTn>
                        </p:par>
                        <p:par>
                          <p:cTn id="29" fill="hold">
                            <p:stCondLst>
                              <p:cond delay="3000"/>
                            </p:stCondLst>
                            <p:childTnLst>
                              <p:par>
                                <p:cTn id="30" presetID="9" presetClass="entr" presetSubtype="0" fill="hold" grpId="0" nodeType="afterEffect">
                                  <p:stCondLst>
                                    <p:cond delay="0"/>
                                  </p:stCondLst>
                                  <p:childTnLst>
                                    <p:set>
                                      <p:cBhvr>
                                        <p:cTn id="31" dur="1" fill="hold">
                                          <p:stCondLst>
                                            <p:cond delay="0"/>
                                          </p:stCondLst>
                                        </p:cTn>
                                        <p:tgtEl>
                                          <p:spTgt spid="187455"/>
                                        </p:tgtEl>
                                        <p:attrNameLst>
                                          <p:attrName>style.visibility</p:attrName>
                                        </p:attrNameLst>
                                      </p:cBhvr>
                                      <p:to>
                                        <p:strVal val="visible"/>
                                      </p:to>
                                    </p:set>
                                    <p:animEffect transition="in" filter="dissolve">
                                      <p:cBhvr>
                                        <p:cTn id="32" dur="500"/>
                                        <p:tgtEl>
                                          <p:spTgt spid="187455"/>
                                        </p:tgtEl>
                                      </p:cBhvr>
                                    </p:animEffect>
                                  </p:childTnLst>
                                </p:cTn>
                              </p:par>
                            </p:childTnLst>
                          </p:cTn>
                        </p:par>
                        <p:par>
                          <p:cTn id="33" fill="hold">
                            <p:stCondLst>
                              <p:cond delay="3500"/>
                            </p:stCondLst>
                            <p:childTnLst>
                              <p:par>
                                <p:cTn id="34" presetID="9" presetClass="entr" presetSubtype="0" fill="hold" grpId="0" nodeType="afterEffect">
                                  <p:stCondLst>
                                    <p:cond delay="0"/>
                                  </p:stCondLst>
                                  <p:childTnLst>
                                    <p:set>
                                      <p:cBhvr>
                                        <p:cTn id="35" dur="1" fill="hold">
                                          <p:stCondLst>
                                            <p:cond delay="0"/>
                                          </p:stCondLst>
                                        </p:cTn>
                                        <p:tgtEl>
                                          <p:spTgt spid="187477"/>
                                        </p:tgtEl>
                                        <p:attrNameLst>
                                          <p:attrName>style.visibility</p:attrName>
                                        </p:attrNameLst>
                                      </p:cBhvr>
                                      <p:to>
                                        <p:strVal val="visible"/>
                                      </p:to>
                                    </p:set>
                                    <p:animEffect transition="in" filter="dissolve">
                                      <p:cBhvr>
                                        <p:cTn id="36" dur="500"/>
                                        <p:tgtEl>
                                          <p:spTgt spid="18747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87468"/>
                                        </p:tgtEl>
                                        <p:attrNameLst>
                                          <p:attrName>style.visibility</p:attrName>
                                        </p:attrNameLst>
                                      </p:cBhvr>
                                      <p:to>
                                        <p:strVal val="visible"/>
                                      </p:to>
                                    </p:set>
                                    <p:animEffect transition="in" filter="wipe(left)">
                                      <p:cBhvr>
                                        <p:cTn id="41" dur="500"/>
                                        <p:tgtEl>
                                          <p:spTgt spid="187468"/>
                                        </p:tgtEl>
                                      </p:cBhvr>
                                    </p:animEffect>
                                  </p:childTnLst>
                                </p:cTn>
                              </p:par>
                            </p:childTnLst>
                          </p:cTn>
                        </p:par>
                        <p:par>
                          <p:cTn id="42" fill="hold">
                            <p:stCondLst>
                              <p:cond delay="500"/>
                            </p:stCondLst>
                            <p:childTnLst>
                              <p:par>
                                <p:cTn id="43" presetID="1" presetClass="entr" presetSubtype="0" fill="hold" nodeType="afterEffect">
                                  <p:stCondLst>
                                    <p:cond delay="0"/>
                                  </p:stCondLst>
                                  <p:childTnLst>
                                    <p:set>
                                      <p:cBhvr>
                                        <p:cTn id="44" dur="1" fill="hold">
                                          <p:stCondLst>
                                            <p:cond delay="499"/>
                                          </p:stCondLst>
                                        </p:cTn>
                                        <p:tgtEl>
                                          <p:spTgt spid="7"/>
                                        </p:tgtEl>
                                        <p:attrNameLst>
                                          <p:attrName>style.visibility</p:attrName>
                                        </p:attrNameLst>
                                      </p:cBhvr>
                                      <p:to>
                                        <p:strVal val="visible"/>
                                      </p:to>
                                    </p:set>
                                  </p:childTnLst>
                                </p:cTn>
                              </p:par>
                            </p:childTnLst>
                          </p:cTn>
                        </p:par>
                        <p:par>
                          <p:cTn id="45" fill="hold">
                            <p:stCondLst>
                              <p:cond delay="1000"/>
                            </p:stCondLst>
                            <p:childTnLst>
                              <p:par>
                                <p:cTn id="46" presetID="22" presetClass="entr" presetSubtype="4"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500"/>
                                        <p:tgtEl>
                                          <p:spTgt spid="13"/>
                                        </p:tgtEl>
                                      </p:cBhvr>
                                    </p:animEffect>
                                  </p:childTnLst>
                                </p:cTn>
                              </p:par>
                            </p:childTnLst>
                          </p:cTn>
                        </p:par>
                        <p:par>
                          <p:cTn id="49" fill="hold">
                            <p:stCondLst>
                              <p:cond delay="1500"/>
                            </p:stCondLst>
                            <p:childTnLst>
                              <p:par>
                                <p:cTn id="50" presetID="22" presetClass="entr" presetSubtype="1" fill="hold" nodeType="afterEffect">
                                  <p:stCondLst>
                                    <p:cond delay="0"/>
                                  </p:stCondLst>
                                  <p:childTnLst>
                                    <p:set>
                                      <p:cBhvr>
                                        <p:cTn id="51" dur="1" fill="hold">
                                          <p:stCondLst>
                                            <p:cond delay="0"/>
                                          </p:stCondLst>
                                        </p:cTn>
                                        <p:tgtEl>
                                          <p:spTgt spid="187469"/>
                                        </p:tgtEl>
                                        <p:attrNameLst>
                                          <p:attrName>style.visibility</p:attrName>
                                        </p:attrNameLst>
                                      </p:cBhvr>
                                      <p:to>
                                        <p:strVal val="visible"/>
                                      </p:to>
                                    </p:set>
                                    <p:animEffect transition="in" filter="wipe(up)">
                                      <p:cBhvr>
                                        <p:cTn id="52" dur="500"/>
                                        <p:tgtEl>
                                          <p:spTgt spid="187469"/>
                                        </p:tgtEl>
                                      </p:cBhvr>
                                    </p:animEffect>
                                  </p:childTnLst>
                                </p:cTn>
                              </p:par>
                            </p:childTnLst>
                          </p:cTn>
                        </p:par>
                        <p:par>
                          <p:cTn id="53" fill="hold">
                            <p:stCondLst>
                              <p:cond delay="2000"/>
                            </p:stCondLst>
                            <p:childTnLst>
                              <p:par>
                                <p:cTn id="54" presetID="5" presetClass="entr" presetSubtype="5" fill="hold" nodeType="after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checkerboard(down)">
                                      <p:cBhvr>
                                        <p:cTn id="56" dur="500"/>
                                        <p:tgtEl>
                                          <p:spTgt spid="5"/>
                                        </p:tgtEl>
                                      </p:cBhvr>
                                    </p:animEffect>
                                  </p:childTnLst>
                                </p:cTn>
                              </p:par>
                            </p:childTnLst>
                          </p:cTn>
                        </p:par>
                        <p:par>
                          <p:cTn id="57" fill="hold">
                            <p:stCondLst>
                              <p:cond delay="2500"/>
                            </p:stCondLst>
                            <p:childTnLst>
                              <p:par>
                                <p:cTn id="58" presetID="22" presetClass="entr" presetSubtype="1" fill="hold" nodeType="after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up)">
                                      <p:cBhvr>
                                        <p:cTn id="60" dur="500"/>
                                        <p:tgtEl>
                                          <p:spTgt spid="12"/>
                                        </p:tgtEl>
                                      </p:cBhvr>
                                    </p:animEffect>
                                  </p:childTnLst>
                                </p:cTn>
                              </p:par>
                            </p:childTnLst>
                          </p:cTn>
                        </p:par>
                        <p:par>
                          <p:cTn id="61" fill="hold">
                            <p:stCondLst>
                              <p:cond delay="3000"/>
                            </p:stCondLst>
                            <p:childTnLst>
                              <p:par>
                                <p:cTn id="62" presetID="9" presetClass="entr" presetSubtype="0" fill="hold" grpId="0" nodeType="afterEffect">
                                  <p:stCondLst>
                                    <p:cond delay="0"/>
                                  </p:stCondLst>
                                  <p:childTnLst>
                                    <p:set>
                                      <p:cBhvr>
                                        <p:cTn id="63" dur="1" fill="hold">
                                          <p:stCondLst>
                                            <p:cond delay="0"/>
                                          </p:stCondLst>
                                        </p:cTn>
                                        <p:tgtEl>
                                          <p:spTgt spid="187456"/>
                                        </p:tgtEl>
                                        <p:attrNameLst>
                                          <p:attrName>style.visibility</p:attrName>
                                        </p:attrNameLst>
                                      </p:cBhvr>
                                      <p:to>
                                        <p:strVal val="visible"/>
                                      </p:to>
                                    </p:set>
                                    <p:animEffect transition="in" filter="dissolve">
                                      <p:cBhvr>
                                        <p:cTn id="64" dur="500"/>
                                        <p:tgtEl>
                                          <p:spTgt spid="187456"/>
                                        </p:tgtEl>
                                      </p:cBhvr>
                                    </p:animEffect>
                                  </p:childTnLst>
                                </p:cTn>
                              </p:par>
                            </p:childTnLst>
                          </p:cTn>
                        </p:par>
                        <p:par>
                          <p:cTn id="65" fill="hold">
                            <p:stCondLst>
                              <p:cond delay="3500"/>
                            </p:stCondLst>
                            <p:childTnLst>
                              <p:par>
                                <p:cTn id="66" presetID="9" presetClass="entr" presetSubtype="0" fill="hold" grpId="0" nodeType="afterEffect">
                                  <p:stCondLst>
                                    <p:cond delay="0"/>
                                  </p:stCondLst>
                                  <p:childTnLst>
                                    <p:set>
                                      <p:cBhvr>
                                        <p:cTn id="67" dur="1" fill="hold">
                                          <p:stCondLst>
                                            <p:cond delay="0"/>
                                          </p:stCondLst>
                                        </p:cTn>
                                        <p:tgtEl>
                                          <p:spTgt spid="187462"/>
                                        </p:tgtEl>
                                        <p:attrNameLst>
                                          <p:attrName>style.visibility</p:attrName>
                                        </p:attrNameLst>
                                      </p:cBhvr>
                                      <p:to>
                                        <p:strVal val="visible"/>
                                      </p:to>
                                    </p:set>
                                    <p:animEffect transition="in" filter="dissolve">
                                      <p:cBhvr>
                                        <p:cTn id="68" dur="500"/>
                                        <p:tgtEl>
                                          <p:spTgt spid="187462"/>
                                        </p:tgtEl>
                                      </p:cBhvr>
                                    </p:animEffect>
                                  </p:childTnLst>
                                </p:cTn>
                              </p:par>
                            </p:childTnLst>
                          </p:cTn>
                        </p:par>
                        <p:par>
                          <p:cTn id="69" fill="hold">
                            <p:stCondLst>
                              <p:cond delay="4000"/>
                            </p:stCondLst>
                            <p:childTnLst>
                              <p:par>
                                <p:cTn id="70" presetID="9" presetClass="entr" presetSubtype="0" fill="hold" grpId="0" nodeType="afterEffect">
                                  <p:stCondLst>
                                    <p:cond delay="0"/>
                                  </p:stCondLst>
                                  <p:childTnLst>
                                    <p:set>
                                      <p:cBhvr>
                                        <p:cTn id="71" dur="1" fill="hold">
                                          <p:stCondLst>
                                            <p:cond delay="0"/>
                                          </p:stCondLst>
                                        </p:cTn>
                                        <p:tgtEl>
                                          <p:spTgt spid="187478"/>
                                        </p:tgtEl>
                                        <p:attrNameLst>
                                          <p:attrName>style.visibility</p:attrName>
                                        </p:attrNameLst>
                                      </p:cBhvr>
                                      <p:to>
                                        <p:strVal val="visible"/>
                                      </p:to>
                                    </p:set>
                                    <p:animEffect transition="in" filter="dissolve">
                                      <p:cBhvr>
                                        <p:cTn id="72" dur="500"/>
                                        <p:tgtEl>
                                          <p:spTgt spid="18747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187470"/>
                                        </p:tgtEl>
                                        <p:attrNameLst>
                                          <p:attrName>style.visibility</p:attrName>
                                        </p:attrNameLst>
                                      </p:cBhvr>
                                      <p:to>
                                        <p:strVal val="visible"/>
                                      </p:to>
                                    </p:set>
                                    <p:animEffect transition="in" filter="wipe(up)">
                                      <p:cBhvr>
                                        <p:cTn id="77" dur="500"/>
                                        <p:tgtEl>
                                          <p:spTgt spid="187470"/>
                                        </p:tgtEl>
                                      </p:cBhvr>
                                    </p:animEffect>
                                  </p:childTnLst>
                                </p:cTn>
                              </p:par>
                            </p:childTnLst>
                          </p:cTn>
                        </p:par>
                        <p:par>
                          <p:cTn id="78" fill="hold">
                            <p:stCondLst>
                              <p:cond delay="500"/>
                            </p:stCondLst>
                            <p:childTnLst>
                              <p:par>
                                <p:cTn id="79" presetID="17" presetClass="entr" presetSubtype="1" fill="hold" nodeType="afterEffect">
                                  <p:stCondLst>
                                    <p:cond delay="0"/>
                                  </p:stCondLst>
                                  <p:childTnLst>
                                    <p:set>
                                      <p:cBhvr>
                                        <p:cTn id="80" dur="1" fill="hold">
                                          <p:stCondLst>
                                            <p:cond delay="0"/>
                                          </p:stCondLst>
                                        </p:cTn>
                                        <p:tgtEl>
                                          <p:spTgt spid="6"/>
                                        </p:tgtEl>
                                        <p:attrNameLst>
                                          <p:attrName>style.visibility</p:attrName>
                                        </p:attrNameLst>
                                      </p:cBhvr>
                                      <p:to>
                                        <p:strVal val="visible"/>
                                      </p:to>
                                    </p:set>
                                    <p:anim calcmode="lin" valueType="num">
                                      <p:cBhvr>
                                        <p:cTn id="81" dur="500" fill="hold"/>
                                        <p:tgtEl>
                                          <p:spTgt spid="6"/>
                                        </p:tgtEl>
                                        <p:attrNameLst>
                                          <p:attrName>ppt_x</p:attrName>
                                        </p:attrNameLst>
                                      </p:cBhvr>
                                      <p:tavLst>
                                        <p:tav tm="0">
                                          <p:val>
                                            <p:strVal val="#ppt_x"/>
                                          </p:val>
                                        </p:tav>
                                        <p:tav tm="100000">
                                          <p:val>
                                            <p:strVal val="#ppt_x"/>
                                          </p:val>
                                        </p:tav>
                                      </p:tavLst>
                                    </p:anim>
                                    <p:anim calcmode="lin" valueType="num">
                                      <p:cBhvr>
                                        <p:cTn id="82" dur="500" fill="hold"/>
                                        <p:tgtEl>
                                          <p:spTgt spid="6"/>
                                        </p:tgtEl>
                                        <p:attrNameLst>
                                          <p:attrName>ppt_y</p:attrName>
                                        </p:attrNameLst>
                                      </p:cBhvr>
                                      <p:tavLst>
                                        <p:tav tm="0">
                                          <p:val>
                                            <p:strVal val="#ppt_y-#ppt_h/2"/>
                                          </p:val>
                                        </p:tav>
                                        <p:tav tm="100000">
                                          <p:val>
                                            <p:strVal val="#ppt_y"/>
                                          </p:val>
                                        </p:tav>
                                      </p:tavLst>
                                    </p:anim>
                                    <p:anim calcmode="lin" valueType="num">
                                      <p:cBhvr>
                                        <p:cTn id="83" dur="500" fill="hold"/>
                                        <p:tgtEl>
                                          <p:spTgt spid="6"/>
                                        </p:tgtEl>
                                        <p:attrNameLst>
                                          <p:attrName>ppt_w</p:attrName>
                                        </p:attrNameLst>
                                      </p:cBhvr>
                                      <p:tavLst>
                                        <p:tav tm="0">
                                          <p:val>
                                            <p:strVal val="#ppt_w"/>
                                          </p:val>
                                        </p:tav>
                                        <p:tav tm="100000">
                                          <p:val>
                                            <p:strVal val="#ppt_w"/>
                                          </p:val>
                                        </p:tav>
                                      </p:tavLst>
                                    </p:anim>
                                    <p:anim calcmode="lin" valueType="num">
                                      <p:cBhvr>
                                        <p:cTn id="84" dur="500" fill="hold"/>
                                        <p:tgtEl>
                                          <p:spTgt spid="6"/>
                                        </p:tgtEl>
                                        <p:attrNameLst>
                                          <p:attrName>ppt_h</p:attrName>
                                        </p:attrNameLst>
                                      </p:cBhvr>
                                      <p:tavLst>
                                        <p:tav tm="0">
                                          <p:val>
                                            <p:fltVal val="0"/>
                                          </p:val>
                                        </p:tav>
                                        <p:tav tm="100000">
                                          <p:val>
                                            <p:strVal val="#ppt_h"/>
                                          </p:val>
                                        </p:tav>
                                      </p:tavLst>
                                    </p:anim>
                                  </p:childTnLst>
                                </p:cTn>
                              </p:par>
                            </p:childTnLst>
                          </p:cTn>
                        </p:par>
                        <p:par>
                          <p:cTn id="85" fill="hold">
                            <p:stCondLst>
                              <p:cond delay="1000"/>
                            </p:stCondLst>
                            <p:childTnLst>
                              <p:par>
                                <p:cTn id="86" presetID="1" presetClass="entr" presetSubtype="0" fill="hold" grpId="0" nodeType="afterEffect">
                                  <p:stCondLst>
                                    <p:cond delay="0"/>
                                  </p:stCondLst>
                                  <p:childTnLst>
                                    <p:set>
                                      <p:cBhvr>
                                        <p:cTn id="87" dur="1" fill="hold">
                                          <p:stCondLst>
                                            <p:cond delay="499"/>
                                          </p:stCondLst>
                                        </p:cTn>
                                        <p:tgtEl>
                                          <p:spTgt spid="187426"/>
                                        </p:tgtEl>
                                        <p:attrNameLst>
                                          <p:attrName>style.visibility</p:attrName>
                                        </p:attrNameLst>
                                      </p:cBhvr>
                                      <p:to>
                                        <p:strVal val="visible"/>
                                      </p:to>
                                    </p:se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187476"/>
                                        </p:tgtEl>
                                        <p:attrNameLst>
                                          <p:attrName>style.visibility</p:attrName>
                                        </p:attrNameLst>
                                      </p:cBhvr>
                                      <p:to>
                                        <p:strVal val="visible"/>
                                      </p:to>
                                    </p:set>
                                    <p:animEffect transition="in" filter="wipe(up)">
                                      <p:cBhvr>
                                        <p:cTn id="91" dur="500"/>
                                        <p:tgtEl>
                                          <p:spTgt spid="187476"/>
                                        </p:tgtEl>
                                      </p:cBhvr>
                                    </p:animEffect>
                                  </p:childTnLst>
                                </p:cTn>
                              </p:par>
                            </p:childTnLst>
                          </p:cTn>
                        </p:par>
                        <p:par>
                          <p:cTn id="92" fill="hold">
                            <p:stCondLst>
                              <p:cond delay="2000"/>
                            </p:stCondLst>
                            <p:childTnLst>
                              <p:par>
                                <p:cTn id="93" presetID="17" presetClass="entr" presetSubtype="10" fill="hold" grpId="0" nodeType="afterEffect">
                                  <p:stCondLst>
                                    <p:cond delay="0"/>
                                  </p:stCondLst>
                                  <p:childTnLst>
                                    <p:set>
                                      <p:cBhvr>
                                        <p:cTn id="94" dur="1" fill="hold">
                                          <p:stCondLst>
                                            <p:cond delay="0"/>
                                          </p:stCondLst>
                                        </p:cTn>
                                        <p:tgtEl>
                                          <p:spTgt spid="187427"/>
                                        </p:tgtEl>
                                        <p:attrNameLst>
                                          <p:attrName>style.visibility</p:attrName>
                                        </p:attrNameLst>
                                      </p:cBhvr>
                                      <p:to>
                                        <p:strVal val="visible"/>
                                      </p:to>
                                    </p:set>
                                    <p:anim calcmode="lin" valueType="num">
                                      <p:cBhvr>
                                        <p:cTn id="95" dur="500" fill="hold"/>
                                        <p:tgtEl>
                                          <p:spTgt spid="187427"/>
                                        </p:tgtEl>
                                        <p:attrNameLst>
                                          <p:attrName>ppt_w</p:attrName>
                                        </p:attrNameLst>
                                      </p:cBhvr>
                                      <p:tavLst>
                                        <p:tav tm="0">
                                          <p:val>
                                            <p:fltVal val="0"/>
                                          </p:val>
                                        </p:tav>
                                        <p:tav tm="100000">
                                          <p:val>
                                            <p:strVal val="#ppt_w"/>
                                          </p:val>
                                        </p:tav>
                                      </p:tavLst>
                                    </p:anim>
                                    <p:anim calcmode="lin" valueType="num">
                                      <p:cBhvr>
                                        <p:cTn id="96" dur="500" fill="hold"/>
                                        <p:tgtEl>
                                          <p:spTgt spid="187427"/>
                                        </p:tgtEl>
                                        <p:attrNameLst>
                                          <p:attrName>ppt_h</p:attrName>
                                        </p:attrNameLst>
                                      </p:cBhvr>
                                      <p:tavLst>
                                        <p:tav tm="0">
                                          <p:val>
                                            <p:strVal val="#ppt_h"/>
                                          </p:val>
                                        </p:tav>
                                        <p:tav tm="100000">
                                          <p:val>
                                            <p:strVal val="#ppt_h"/>
                                          </p:val>
                                        </p:tav>
                                      </p:tavLst>
                                    </p:anim>
                                  </p:childTnLst>
                                </p:cTn>
                              </p:par>
                            </p:childTnLst>
                          </p:cTn>
                        </p:par>
                        <p:par>
                          <p:cTn id="97" fill="hold">
                            <p:stCondLst>
                              <p:cond delay="2500"/>
                            </p:stCondLst>
                            <p:childTnLst>
                              <p:par>
                                <p:cTn id="98" presetID="22" presetClass="entr" presetSubtype="1" fill="hold" nodeType="afterEffect">
                                  <p:stCondLst>
                                    <p:cond delay="0"/>
                                  </p:stCondLst>
                                  <p:childTnLst>
                                    <p:set>
                                      <p:cBhvr>
                                        <p:cTn id="99" dur="1" fill="hold">
                                          <p:stCondLst>
                                            <p:cond delay="0"/>
                                          </p:stCondLst>
                                        </p:cTn>
                                        <p:tgtEl>
                                          <p:spTgt spid="10"/>
                                        </p:tgtEl>
                                        <p:attrNameLst>
                                          <p:attrName>style.visibility</p:attrName>
                                        </p:attrNameLst>
                                      </p:cBhvr>
                                      <p:to>
                                        <p:strVal val="visible"/>
                                      </p:to>
                                    </p:set>
                                    <p:animEffect transition="in" filter="wipe(up)">
                                      <p:cBhvr>
                                        <p:cTn id="100" dur="500"/>
                                        <p:tgtEl>
                                          <p:spTgt spid="10"/>
                                        </p:tgtEl>
                                      </p:cBhvr>
                                    </p:animEffect>
                                  </p:childTnLst>
                                </p:cTn>
                              </p:par>
                            </p:childTnLst>
                          </p:cTn>
                        </p:par>
                        <p:par>
                          <p:cTn id="101" fill="hold">
                            <p:stCondLst>
                              <p:cond delay="3000"/>
                            </p:stCondLst>
                            <p:childTnLst>
                              <p:par>
                                <p:cTn id="102" presetID="9" presetClass="entr" presetSubtype="0" fill="hold" grpId="0" nodeType="afterEffect">
                                  <p:stCondLst>
                                    <p:cond delay="0"/>
                                  </p:stCondLst>
                                  <p:childTnLst>
                                    <p:set>
                                      <p:cBhvr>
                                        <p:cTn id="103" dur="1" fill="hold">
                                          <p:stCondLst>
                                            <p:cond delay="0"/>
                                          </p:stCondLst>
                                        </p:cTn>
                                        <p:tgtEl>
                                          <p:spTgt spid="187457"/>
                                        </p:tgtEl>
                                        <p:attrNameLst>
                                          <p:attrName>style.visibility</p:attrName>
                                        </p:attrNameLst>
                                      </p:cBhvr>
                                      <p:to>
                                        <p:strVal val="visible"/>
                                      </p:to>
                                    </p:set>
                                    <p:animEffect transition="in" filter="dissolve">
                                      <p:cBhvr>
                                        <p:cTn id="104" dur="500"/>
                                        <p:tgtEl>
                                          <p:spTgt spid="187457"/>
                                        </p:tgtEl>
                                      </p:cBhvr>
                                    </p:animEffect>
                                  </p:childTnLst>
                                </p:cTn>
                              </p:par>
                            </p:childTnLst>
                          </p:cTn>
                        </p:par>
                        <p:par>
                          <p:cTn id="105" fill="hold">
                            <p:stCondLst>
                              <p:cond delay="3500"/>
                            </p:stCondLst>
                            <p:childTnLst>
                              <p:par>
                                <p:cTn id="106" presetID="9" presetClass="entr" presetSubtype="0" fill="hold" grpId="0" nodeType="afterEffect">
                                  <p:stCondLst>
                                    <p:cond delay="0"/>
                                  </p:stCondLst>
                                  <p:childTnLst>
                                    <p:set>
                                      <p:cBhvr>
                                        <p:cTn id="107" dur="1" fill="hold">
                                          <p:stCondLst>
                                            <p:cond delay="0"/>
                                          </p:stCondLst>
                                        </p:cTn>
                                        <p:tgtEl>
                                          <p:spTgt spid="187479"/>
                                        </p:tgtEl>
                                        <p:attrNameLst>
                                          <p:attrName>style.visibility</p:attrName>
                                        </p:attrNameLst>
                                      </p:cBhvr>
                                      <p:to>
                                        <p:strVal val="visible"/>
                                      </p:to>
                                    </p:set>
                                    <p:animEffect transition="in" filter="dissolve">
                                      <p:cBhvr>
                                        <p:cTn id="108" dur="500"/>
                                        <p:tgtEl>
                                          <p:spTgt spid="18747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2" fill="hold" nodeType="clickEffect">
                                  <p:stCondLst>
                                    <p:cond delay="0"/>
                                  </p:stCondLst>
                                  <p:childTnLst>
                                    <p:set>
                                      <p:cBhvr>
                                        <p:cTn id="112" dur="1" fill="hold">
                                          <p:stCondLst>
                                            <p:cond delay="0"/>
                                          </p:stCondLst>
                                        </p:cTn>
                                        <p:tgtEl>
                                          <p:spTgt spid="187471"/>
                                        </p:tgtEl>
                                        <p:attrNameLst>
                                          <p:attrName>style.visibility</p:attrName>
                                        </p:attrNameLst>
                                      </p:cBhvr>
                                      <p:to>
                                        <p:strVal val="visible"/>
                                      </p:to>
                                    </p:set>
                                    <p:animEffect transition="in" filter="wipe(right)">
                                      <p:cBhvr>
                                        <p:cTn id="113" dur="500"/>
                                        <p:tgtEl>
                                          <p:spTgt spid="187471"/>
                                        </p:tgtEl>
                                      </p:cBhvr>
                                    </p:animEffect>
                                  </p:childTnLst>
                                </p:cTn>
                              </p:par>
                            </p:childTnLst>
                          </p:cTn>
                        </p:par>
                        <p:par>
                          <p:cTn id="114" fill="hold">
                            <p:stCondLst>
                              <p:cond delay="500"/>
                            </p:stCondLst>
                            <p:childTnLst>
                              <p:par>
                                <p:cTn id="115" presetID="22" presetClass="entr" presetSubtype="4" fill="hold" nodeType="afterEffect">
                                  <p:stCondLst>
                                    <p:cond delay="0"/>
                                  </p:stCondLst>
                                  <p:childTnLst>
                                    <p:set>
                                      <p:cBhvr>
                                        <p:cTn id="116" dur="1" fill="hold">
                                          <p:stCondLst>
                                            <p:cond delay="0"/>
                                          </p:stCondLst>
                                        </p:cTn>
                                        <p:tgtEl>
                                          <p:spTgt spid="14"/>
                                        </p:tgtEl>
                                        <p:attrNameLst>
                                          <p:attrName>style.visibility</p:attrName>
                                        </p:attrNameLst>
                                      </p:cBhvr>
                                      <p:to>
                                        <p:strVal val="visible"/>
                                      </p:to>
                                    </p:set>
                                    <p:animEffect transition="in" filter="wipe(down)">
                                      <p:cBhvr>
                                        <p:cTn id="117" dur="500"/>
                                        <p:tgtEl>
                                          <p:spTgt spid="14"/>
                                        </p:tgtEl>
                                      </p:cBhvr>
                                    </p:animEffect>
                                  </p:childTnLst>
                                </p:cTn>
                              </p:par>
                            </p:childTnLst>
                          </p:cTn>
                        </p:par>
                        <p:par>
                          <p:cTn id="118" fill="hold">
                            <p:stCondLst>
                              <p:cond delay="1000"/>
                            </p:stCondLst>
                            <p:childTnLst>
                              <p:par>
                                <p:cTn id="119" presetID="20" presetClass="entr" presetSubtype="0" fill="hold" nodeType="afterEffect">
                                  <p:stCondLst>
                                    <p:cond delay="0"/>
                                  </p:stCondLst>
                                  <p:childTnLst>
                                    <p:set>
                                      <p:cBhvr>
                                        <p:cTn id="120" dur="1" fill="hold">
                                          <p:stCondLst>
                                            <p:cond delay="0"/>
                                          </p:stCondLst>
                                        </p:cTn>
                                        <p:tgtEl>
                                          <p:spTgt spid="4"/>
                                        </p:tgtEl>
                                        <p:attrNameLst>
                                          <p:attrName>style.visibility</p:attrName>
                                        </p:attrNameLst>
                                      </p:cBhvr>
                                      <p:to>
                                        <p:strVal val="visible"/>
                                      </p:to>
                                    </p:set>
                                    <p:animEffect transition="in" filter="wedge">
                                      <p:cBhvr>
                                        <p:cTn id="121" dur="500"/>
                                        <p:tgtEl>
                                          <p:spTgt spid="4"/>
                                        </p:tgtEl>
                                      </p:cBhvr>
                                    </p:animEffect>
                                  </p:childTnLst>
                                </p:cTn>
                              </p:par>
                            </p:childTnLst>
                          </p:cTn>
                        </p:par>
                        <p:par>
                          <p:cTn id="122" fill="hold">
                            <p:stCondLst>
                              <p:cond delay="1500"/>
                            </p:stCondLst>
                            <p:childTnLst>
                              <p:par>
                                <p:cTn id="123" presetID="4" presetClass="entr" presetSubtype="16" fill="hold" grpId="0" nodeType="afterEffect">
                                  <p:stCondLst>
                                    <p:cond delay="0"/>
                                  </p:stCondLst>
                                  <p:childTnLst>
                                    <p:set>
                                      <p:cBhvr>
                                        <p:cTn id="124" dur="1" fill="hold">
                                          <p:stCondLst>
                                            <p:cond delay="0"/>
                                          </p:stCondLst>
                                        </p:cTn>
                                        <p:tgtEl>
                                          <p:spTgt spid="187421"/>
                                        </p:tgtEl>
                                        <p:attrNameLst>
                                          <p:attrName>style.visibility</p:attrName>
                                        </p:attrNameLst>
                                      </p:cBhvr>
                                      <p:to>
                                        <p:strVal val="visible"/>
                                      </p:to>
                                    </p:set>
                                    <p:animEffect transition="in" filter="box(in)">
                                      <p:cBhvr>
                                        <p:cTn id="125" dur="500"/>
                                        <p:tgtEl>
                                          <p:spTgt spid="187421"/>
                                        </p:tgtEl>
                                      </p:cBhvr>
                                    </p:animEffect>
                                  </p:childTnLst>
                                </p:cTn>
                              </p:par>
                            </p:childTnLst>
                          </p:cTn>
                        </p:par>
                        <p:par>
                          <p:cTn id="126" fill="hold">
                            <p:stCondLst>
                              <p:cond delay="2000"/>
                            </p:stCondLst>
                            <p:childTnLst>
                              <p:par>
                                <p:cTn id="127" presetID="22" presetClass="entr" presetSubtype="2" fill="hold" nodeType="afterEffect">
                                  <p:stCondLst>
                                    <p:cond delay="0"/>
                                  </p:stCondLst>
                                  <p:childTnLst>
                                    <p:set>
                                      <p:cBhvr>
                                        <p:cTn id="128" dur="1" fill="hold">
                                          <p:stCondLst>
                                            <p:cond delay="0"/>
                                          </p:stCondLst>
                                        </p:cTn>
                                        <p:tgtEl>
                                          <p:spTgt spid="187438"/>
                                        </p:tgtEl>
                                        <p:attrNameLst>
                                          <p:attrName>style.visibility</p:attrName>
                                        </p:attrNameLst>
                                      </p:cBhvr>
                                      <p:to>
                                        <p:strVal val="visible"/>
                                      </p:to>
                                    </p:set>
                                    <p:animEffect transition="in" filter="wipe(right)">
                                      <p:cBhvr>
                                        <p:cTn id="129" dur="500"/>
                                        <p:tgtEl>
                                          <p:spTgt spid="187438"/>
                                        </p:tgtEl>
                                      </p:cBhvr>
                                    </p:animEffect>
                                  </p:childTnLst>
                                </p:cTn>
                              </p:par>
                            </p:childTnLst>
                          </p:cTn>
                        </p:par>
                        <p:par>
                          <p:cTn id="130" fill="hold">
                            <p:stCondLst>
                              <p:cond delay="2500"/>
                            </p:stCondLst>
                            <p:childTnLst>
                              <p:par>
                                <p:cTn id="131" presetID="9" presetClass="entr" presetSubtype="0" fill="hold" grpId="0" nodeType="afterEffect">
                                  <p:stCondLst>
                                    <p:cond delay="0"/>
                                  </p:stCondLst>
                                  <p:childTnLst>
                                    <p:set>
                                      <p:cBhvr>
                                        <p:cTn id="132" dur="1" fill="hold">
                                          <p:stCondLst>
                                            <p:cond delay="0"/>
                                          </p:stCondLst>
                                        </p:cTn>
                                        <p:tgtEl>
                                          <p:spTgt spid="187420"/>
                                        </p:tgtEl>
                                        <p:attrNameLst>
                                          <p:attrName>style.visibility</p:attrName>
                                        </p:attrNameLst>
                                      </p:cBhvr>
                                      <p:to>
                                        <p:strVal val="visible"/>
                                      </p:to>
                                    </p:set>
                                    <p:animEffect transition="in" filter="dissolve">
                                      <p:cBhvr>
                                        <p:cTn id="133" dur="500"/>
                                        <p:tgtEl>
                                          <p:spTgt spid="187420"/>
                                        </p:tgtEl>
                                      </p:cBhvr>
                                    </p:animEffect>
                                  </p:childTnLst>
                                </p:cTn>
                              </p:par>
                            </p:childTnLst>
                          </p:cTn>
                        </p:par>
                        <p:par>
                          <p:cTn id="134" fill="hold">
                            <p:stCondLst>
                              <p:cond delay="3000"/>
                            </p:stCondLst>
                            <p:childTnLst>
                              <p:par>
                                <p:cTn id="135" presetID="22" presetClass="entr" presetSubtype="1" fill="hold" nodeType="afterEffect">
                                  <p:stCondLst>
                                    <p:cond delay="0"/>
                                  </p:stCondLst>
                                  <p:childTnLst>
                                    <p:set>
                                      <p:cBhvr>
                                        <p:cTn id="136" dur="1" fill="hold">
                                          <p:stCondLst>
                                            <p:cond delay="0"/>
                                          </p:stCondLst>
                                        </p:cTn>
                                        <p:tgtEl>
                                          <p:spTgt spid="9"/>
                                        </p:tgtEl>
                                        <p:attrNameLst>
                                          <p:attrName>style.visibility</p:attrName>
                                        </p:attrNameLst>
                                      </p:cBhvr>
                                      <p:to>
                                        <p:strVal val="visible"/>
                                      </p:to>
                                    </p:set>
                                    <p:animEffect transition="in" filter="wipe(up)">
                                      <p:cBhvr>
                                        <p:cTn id="137" dur="500"/>
                                        <p:tgtEl>
                                          <p:spTgt spid="9"/>
                                        </p:tgtEl>
                                      </p:cBhvr>
                                    </p:animEffect>
                                  </p:childTnLst>
                                </p:cTn>
                              </p:par>
                            </p:childTnLst>
                          </p:cTn>
                        </p:par>
                        <p:par>
                          <p:cTn id="138" fill="hold">
                            <p:stCondLst>
                              <p:cond delay="3500"/>
                            </p:stCondLst>
                            <p:childTnLst>
                              <p:par>
                                <p:cTn id="139" presetID="9" presetClass="entr" presetSubtype="0" fill="hold" grpId="0" nodeType="afterEffect">
                                  <p:stCondLst>
                                    <p:cond delay="0"/>
                                  </p:stCondLst>
                                  <p:childTnLst>
                                    <p:set>
                                      <p:cBhvr>
                                        <p:cTn id="140" dur="1" fill="hold">
                                          <p:stCondLst>
                                            <p:cond delay="0"/>
                                          </p:stCondLst>
                                        </p:cTn>
                                        <p:tgtEl>
                                          <p:spTgt spid="187458"/>
                                        </p:tgtEl>
                                        <p:attrNameLst>
                                          <p:attrName>style.visibility</p:attrName>
                                        </p:attrNameLst>
                                      </p:cBhvr>
                                      <p:to>
                                        <p:strVal val="visible"/>
                                      </p:to>
                                    </p:set>
                                    <p:animEffect transition="in" filter="dissolve">
                                      <p:cBhvr>
                                        <p:cTn id="141" dur="500"/>
                                        <p:tgtEl>
                                          <p:spTgt spid="187458"/>
                                        </p:tgtEl>
                                      </p:cBhvr>
                                    </p:animEffect>
                                  </p:childTnLst>
                                </p:cTn>
                              </p:par>
                            </p:childTnLst>
                          </p:cTn>
                        </p:par>
                        <p:par>
                          <p:cTn id="142" fill="hold">
                            <p:stCondLst>
                              <p:cond delay="4000"/>
                            </p:stCondLst>
                            <p:childTnLst>
                              <p:par>
                                <p:cTn id="143" presetID="9" presetClass="entr" presetSubtype="0" fill="hold" grpId="0" nodeType="afterEffect">
                                  <p:stCondLst>
                                    <p:cond delay="0"/>
                                  </p:stCondLst>
                                  <p:childTnLst>
                                    <p:set>
                                      <p:cBhvr>
                                        <p:cTn id="144" dur="1" fill="hold">
                                          <p:stCondLst>
                                            <p:cond delay="0"/>
                                          </p:stCondLst>
                                        </p:cTn>
                                        <p:tgtEl>
                                          <p:spTgt spid="187480"/>
                                        </p:tgtEl>
                                        <p:attrNameLst>
                                          <p:attrName>style.visibility</p:attrName>
                                        </p:attrNameLst>
                                      </p:cBhvr>
                                      <p:to>
                                        <p:strVal val="visible"/>
                                      </p:to>
                                    </p:set>
                                    <p:animEffect transition="in" filter="dissolve">
                                      <p:cBhvr>
                                        <p:cTn id="145" dur="500"/>
                                        <p:tgtEl>
                                          <p:spTgt spid="187480"/>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2" fill="hold" nodeType="clickEffect">
                                  <p:stCondLst>
                                    <p:cond delay="0"/>
                                  </p:stCondLst>
                                  <p:childTnLst>
                                    <p:set>
                                      <p:cBhvr>
                                        <p:cTn id="149" dur="1" fill="hold">
                                          <p:stCondLst>
                                            <p:cond delay="0"/>
                                          </p:stCondLst>
                                        </p:cTn>
                                        <p:tgtEl>
                                          <p:spTgt spid="187472"/>
                                        </p:tgtEl>
                                        <p:attrNameLst>
                                          <p:attrName>style.visibility</p:attrName>
                                        </p:attrNameLst>
                                      </p:cBhvr>
                                      <p:to>
                                        <p:strVal val="visible"/>
                                      </p:to>
                                    </p:set>
                                    <p:animEffect transition="in" filter="wipe(right)">
                                      <p:cBhvr>
                                        <p:cTn id="150" dur="500"/>
                                        <p:tgtEl>
                                          <p:spTgt spid="187472"/>
                                        </p:tgtEl>
                                      </p:cBhvr>
                                    </p:animEffect>
                                  </p:childTnLst>
                                </p:cTn>
                              </p:par>
                            </p:childTnLst>
                          </p:cTn>
                        </p:par>
                        <p:par>
                          <p:cTn id="151" fill="hold">
                            <p:stCondLst>
                              <p:cond delay="500"/>
                            </p:stCondLst>
                            <p:childTnLst>
                              <p:par>
                                <p:cTn id="152" presetID="14" presetClass="entr" presetSubtype="5" fill="hold" nodeType="afterEffect">
                                  <p:stCondLst>
                                    <p:cond delay="0"/>
                                  </p:stCondLst>
                                  <p:childTnLst>
                                    <p:set>
                                      <p:cBhvr>
                                        <p:cTn id="153" dur="1" fill="hold">
                                          <p:stCondLst>
                                            <p:cond delay="0"/>
                                          </p:stCondLst>
                                        </p:cTn>
                                        <p:tgtEl>
                                          <p:spTgt spid="3"/>
                                        </p:tgtEl>
                                        <p:attrNameLst>
                                          <p:attrName>style.visibility</p:attrName>
                                        </p:attrNameLst>
                                      </p:cBhvr>
                                      <p:to>
                                        <p:strVal val="visible"/>
                                      </p:to>
                                    </p:set>
                                    <p:animEffect transition="in" filter="randombar(vertical)">
                                      <p:cBhvr>
                                        <p:cTn id="154" dur="500"/>
                                        <p:tgtEl>
                                          <p:spTgt spid="3"/>
                                        </p:tgtEl>
                                      </p:cBhvr>
                                    </p:animEffect>
                                  </p:childTnLst>
                                </p:cTn>
                              </p:par>
                            </p:childTnLst>
                          </p:cTn>
                        </p:par>
                        <p:par>
                          <p:cTn id="155" fill="hold">
                            <p:stCondLst>
                              <p:cond delay="1000"/>
                            </p:stCondLst>
                            <p:childTnLst>
                              <p:par>
                                <p:cTn id="156" presetID="1" presetClass="entr" presetSubtype="0" fill="hold" grpId="0" nodeType="afterEffect">
                                  <p:stCondLst>
                                    <p:cond delay="0"/>
                                  </p:stCondLst>
                                  <p:childTnLst>
                                    <p:set>
                                      <p:cBhvr>
                                        <p:cTn id="157" dur="1" fill="hold">
                                          <p:stCondLst>
                                            <p:cond delay="499"/>
                                          </p:stCondLst>
                                        </p:cTn>
                                        <p:tgtEl>
                                          <p:spTgt spid="187432"/>
                                        </p:tgtEl>
                                        <p:attrNameLst>
                                          <p:attrName>style.visibility</p:attrName>
                                        </p:attrNameLst>
                                      </p:cBhvr>
                                      <p:to>
                                        <p:strVal val="visible"/>
                                      </p:to>
                                    </p:set>
                                  </p:childTnLst>
                                </p:cTn>
                              </p:par>
                            </p:childTnLst>
                          </p:cTn>
                        </p:par>
                        <p:par>
                          <p:cTn id="158" fill="hold">
                            <p:stCondLst>
                              <p:cond delay="1500"/>
                            </p:stCondLst>
                            <p:childTnLst>
                              <p:par>
                                <p:cTn id="159" presetID="22" presetClass="entr" presetSubtype="2" fill="hold" nodeType="afterEffect">
                                  <p:stCondLst>
                                    <p:cond delay="0"/>
                                  </p:stCondLst>
                                  <p:childTnLst>
                                    <p:set>
                                      <p:cBhvr>
                                        <p:cTn id="160" dur="1" fill="hold">
                                          <p:stCondLst>
                                            <p:cond delay="0"/>
                                          </p:stCondLst>
                                        </p:cTn>
                                        <p:tgtEl>
                                          <p:spTgt spid="187419"/>
                                        </p:tgtEl>
                                        <p:attrNameLst>
                                          <p:attrName>style.visibility</p:attrName>
                                        </p:attrNameLst>
                                      </p:cBhvr>
                                      <p:to>
                                        <p:strVal val="visible"/>
                                      </p:to>
                                    </p:set>
                                    <p:animEffect transition="in" filter="wipe(right)">
                                      <p:cBhvr>
                                        <p:cTn id="161" dur="500"/>
                                        <p:tgtEl>
                                          <p:spTgt spid="187419"/>
                                        </p:tgtEl>
                                      </p:cBhvr>
                                    </p:animEffect>
                                  </p:childTnLst>
                                </p:cTn>
                              </p:par>
                            </p:childTnLst>
                          </p:cTn>
                        </p:par>
                        <p:par>
                          <p:cTn id="162" fill="hold">
                            <p:stCondLst>
                              <p:cond delay="2000"/>
                            </p:stCondLst>
                            <p:childTnLst>
                              <p:par>
                                <p:cTn id="163" presetID="1" presetClass="entr" presetSubtype="0" fill="hold" grpId="0" nodeType="afterEffect">
                                  <p:stCondLst>
                                    <p:cond delay="0"/>
                                  </p:stCondLst>
                                  <p:childTnLst>
                                    <p:set>
                                      <p:cBhvr>
                                        <p:cTn id="164" dur="1" fill="hold">
                                          <p:stCondLst>
                                            <p:cond delay="499"/>
                                          </p:stCondLst>
                                        </p:cTn>
                                        <p:tgtEl>
                                          <p:spTgt spid="187431"/>
                                        </p:tgtEl>
                                        <p:attrNameLst>
                                          <p:attrName>style.visibility</p:attrName>
                                        </p:attrNameLst>
                                      </p:cBhvr>
                                      <p:to>
                                        <p:strVal val="visible"/>
                                      </p:to>
                                    </p:set>
                                  </p:childTnLst>
                                </p:cTn>
                              </p:par>
                            </p:childTnLst>
                          </p:cTn>
                        </p:par>
                        <p:par>
                          <p:cTn id="165" fill="hold">
                            <p:stCondLst>
                              <p:cond delay="2500"/>
                            </p:stCondLst>
                            <p:childTnLst>
                              <p:par>
                                <p:cTn id="166" presetID="22" presetClass="entr" presetSubtype="1" fill="hold" nodeType="afterEffect">
                                  <p:stCondLst>
                                    <p:cond delay="0"/>
                                  </p:stCondLst>
                                  <p:childTnLst>
                                    <p:set>
                                      <p:cBhvr>
                                        <p:cTn id="167" dur="1" fill="hold">
                                          <p:stCondLst>
                                            <p:cond delay="0"/>
                                          </p:stCondLst>
                                        </p:cTn>
                                        <p:tgtEl>
                                          <p:spTgt spid="15"/>
                                        </p:tgtEl>
                                        <p:attrNameLst>
                                          <p:attrName>style.visibility</p:attrName>
                                        </p:attrNameLst>
                                      </p:cBhvr>
                                      <p:to>
                                        <p:strVal val="visible"/>
                                      </p:to>
                                    </p:set>
                                    <p:animEffect transition="in" filter="wipe(up)">
                                      <p:cBhvr>
                                        <p:cTn id="168" dur="500"/>
                                        <p:tgtEl>
                                          <p:spTgt spid="15"/>
                                        </p:tgtEl>
                                      </p:cBhvr>
                                    </p:animEffect>
                                  </p:childTnLst>
                                </p:cTn>
                              </p:par>
                            </p:childTnLst>
                          </p:cTn>
                        </p:par>
                        <p:par>
                          <p:cTn id="169" fill="hold">
                            <p:stCondLst>
                              <p:cond delay="3000"/>
                            </p:stCondLst>
                            <p:childTnLst>
                              <p:par>
                                <p:cTn id="170" presetID="9" presetClass="entr" presetSubtype="0" fill="hold" grpId="0" nodeType="afterEffect">
                                  <p:stCondLst>
                                    <p:cond delay="0"/>
                                  </p:stCondLst>
                                  <p:childTnLst>
                                    <p:set>
                                      <p:cBhvr>
                                        <p:cTn id="171" dur="1" fill="hold">
                                          <p:stCondLst>
                                            <p:cond delay="0"/>
                                          </p:stCondLst>
                                        </p:cTn>
                                        <p:tgtEl>
                                          <p:spTgt spid="187459"/>
                                        </p:tgtEl>
                                        <p:attrNameLst>
                                          <p:attrName>style.visibility</p:attrName>
                                        </p:attrNameLst>
                                      </p:cBhvr>
                                      <p:to>
                                        <p:strVal val="visible"/>
                                      </p:to>
                                    </p:set>
                                    <p:animEffect transition="in" filter="dissolve">
                                      <p:cBhvr>
                                        <p:cTn id="172" dur="500"/>
                                        <p:tgtEl>
                                          <p:spTgt spid="187459"/>
                                        </p:tgtEl>
                                      </p:cBhvr>
                                    </p:animEffect>
                                  </p:childTnLst>
                                </p:cTn>
                              </p:par>
                            </p:childTnLst>
                          </p:cTn>
                        </p:par>
                        <p:par>
                          <p:cTn id="173" fill="hold">
                            <p:stCondLst>
                              <p:cond delay="3500"/>
                            </p:stCondLst>
                            <p:childTnLst>
                              <p:par>
                                <p:cTn id="174" presetID="9" presetClass="entr" presetSubtype="0" fill="hold" grpId="0" nodeType="afterEffect">
                                  <p:stCondLst>
                                    <p:cond delay="0"/>
                                  </p:stCondLst>
                                  <p:childTnLst>
                                    <p:set>
                                      <p:cBhvr>
                                        <p:cTn id="175" dur="1" fill="hold">
                                          <p:stCondLst>
                                            <p:cond delay="0"/>
                                          </p:stCondLst>
                                        </p:cTn>
                                        <p:tgtEl>
                                          <p:spTgt spid="187481"/>
                                        </p:tgtEl>
                                        <p:attrNameLst>
                                          <p:attrName>style.visibility</p:attrName>
                                        </p:attrNameLst>
                                      </p:cBhvr>
                                      <p:to>
                                        <p:strVal val="visible"/>
                                      </p:to>
                                    </p:set>
                                    <p:animEffect transition="in" filter="dissolve">
                                      <p:cBhvr>
                                        <p:cTn id="176" dur="500"/>
                                        <p:tgtEl>
                                          <p:spTgt spid="187481"/>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nodeType="clickEffect">
                                  <p:stCondLst>
                                    <p:cond delay="0"/>
                                  </p:stCondLst>
                                  <p:childTnLst>
                                    <p:set>
                                      <p:cBhvr>
                                        <p:cTn id="180" dur="1" fill="hold">
                                          <p:stCondLst>
                                            <p:cond delay="0"/>
                                          </p:stCondLst>
                                        </p:cTn>
                                        <p:tgtEl>
                                          <p:spTgt spid="17"/>
                                        </p:tgtEl>
                                        <p:attrNameLst>
                                          <p:attrName>style.visibility</p:attrName>
                                        </p:attrNameLst>
                                      </p:cBhvr>
                                      <p:to>
                                        <p:strVal val="visible"/>
                                      </p:to>
                                    </p:set>
                                    <p:animEffect transition="in" filter="wipe(left)">
                                      <p:cBhvr>
                                        <p:cTn id="181"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82" fill="hold">
                      <p:stCondLst>
                        <p:cond delay="indefinite"/>
                      </p:stCondLst>
                      <p:childTnLst>
                        <p:par>
                          <p:cTn id="183" fill="hold">
                            <p:stCondLst>
                              <p:cond delay="0"/>
                            </p:stCondLst>
                            <p:childTnLst>
                              <p:par>
                                <p:cTn id="184" presetID="22" presetClass="entr" presetSubtype="4" fill="hold" nodeType="clickEffect">
                                  <p:stCondLst>
                                    <p:cond delay="0"/>
                                  </p:stCondLst>
                                  <p:childTnLst>
                                    <p:set>
                                      <p:cBhvr>
                                        <p:cTn id="185" dur="1" fill="hold">
                                          <p:stCondLst>
                                            <p:cond delay="0"/>
                                          </p:stCondLst>
                                        </p:cTn>
                                        <p:tgtEl>
                                          <p:spTgt spid="187475"/>
                                        </p:tgtEl>
                                        <p:attrNameLst>
                                          <p:attrName>style.visibility</p:attrName>
                                        </p:attrNameLst>
                                      </p:cBhvr>
                                      <p:to>
                                        <p:strVal val="visible"/>
                                      </p:to>
                                    </p:set>
                                    <p:animEffect transition="in" filter="wipe(down)">
                                      <p:cBhvr>
                                        <p:cTn id="186" dur="500"/>
                                        <p:tgtEl>
                                          <p:spTgt spid="187475"/>
                                        </p:tgtEl>
                                      </p:cBhvr>
                                    </p:animEffect>
                                  </p:childTnLst>
                                </p:cTn>
                              </p:par>
                            </p:childTnLst>
                          </p:cTn>
                        </p:par>
                        <p:par>
                          <p:cTn id="187" fill="hold">
                            <p:stCondLst>
                              <p:cond delay="500"/>
                            </p:stCondLst>
                            <p:childTnLst>
                              <p:par>
                                <p:cTn id="188" presetID="12" presetClass="entr" presetSubtype="4" fill="hold" nodeType="afterEffect">
                                  <p:stCondLst>
                                    <p:cond delay="0"/>
                                  </p:stCondLst>
                                  <p:childTnLst>
                                    <p:set>
                                      <p:cBhvr>
                                        <p:cTn id="189" dur="1" fill="hold">
                                          <p:stCondLst>
                                            <p:cond delay="0"/>
                                          </p:stCondLst>
                                        </p:cTn>
                                        <p:tgtEl>
                                          <p:spTgt spid="187412"/>
                                        </p:tgtEl>
                                        <p:attrNameLst>
                                          <p:attrName>style.visibility</p:attrName>
                                        </p:attrNameLst>
                                      </p:cBhvr>
                                      <p:to>
                                        <p:strVal val="visible"/>
                                      </p:to>
                                    </p:set>
                                    <p:animEffect transition="in" filter="slide(fromBottom)">
                                      <p:cBhvr>
                                        <p:cTn id="190" dur="500"/>
                                        <p:tgtEl>
                                          <p:spTgt spid="187412"/>
                                        </p:tgtEl>
                                      </p:cBhvr>
                                    </p:animEffect>
                                  </p:childTnLst>
                                </p:cTn>
                              </p:par>
                            </p:childTnLst>
                          </p:cTn>
                        </p:par>
                        <p:par>
                          <p:cTn id="191" fill="hold">
                            <p:stCondLst>
                              <p:cond delay="1000"/>
                            </p:stCondLst>
                            <p:childTnLst>
                              <p:par>
                                <p:cTn id="192" presetID="5" presetClass="entr" presetSubtype="10" fill="hold" grpId="0" nodeType="afterEffect">
                                  <p:stCondLst>
                                    <p:cond delay="0"/>
                                  </p:stCondLst>
                                  <p:childTnLst>
                                    <p:set>
                                      <p:cBhvr>
                                        <p:cTn id="193" dur="1" fill="hold">
                                          <p:stCondLst>
                                            <p:cond delay="0"/>
                                          </p:stCondLst>
                                        </p:cTn>
                                        <p:tgtEl>
                                          <p:spTgt spid="187433"/>
                                        </p:tgtEl>
                                        <p:attrNameLst>
                                          <p:attrName>style.visibility</p:attrName>
                                        </p:attrNameLst>
                                      </p:cBhvr>
                                      <p:to>
                                        <p:strVal val="visible"/>
                                      </p:to>
                                    </p:set>
                                    <p:animEffect transition="in" filter="checkerboard(across)">
                                      <p:cBhvr>
                                        <p:cTn id="194" dur="500"/>
                                        <p:tgtEl>
                                          <p:spTgt spid="187433"/>
                                        </p:tgtEl>
                                      </p:cBhvr>
                                    </p:animEffect>
                                  </p:childTnLst>
                                </p:cTn>
                              </p:par>
                            </p:childTnLst>
                          </p:cTn>
                        </p:par>
                        <p:par>
                          <p:cTn id="195" fill="hold">
                            <p:stCondLst>
                              <p:cond delay="1500"/>
                            </p:stCondLst>
                            <p:childTnLst>
                              <p:par>
                                <p:cTn id="196" presetID="22" presetClass="entr" presetSubtype="2" fill="hold" nodeType="afterEffect">
                                  <p:stCondLst>
                                    <p:cond delay="0"/>
                                  </p:stCondLst>
                                  <p:childTnLst>
                                    <p:set>
                                      <p:cBhvr>
                                        <p:cTn id="197" dur="1" fill="hold">
                                          <p:stCondLst>
                                            <p:cond delay="0"/>
                                          </p:stCondLst>
                                        </p:cTn>
                                        <p:tgtEl>
                                          <p:spTgt spid="187434"/>
                                        </p:tgtEl>
                                        <p:attrNameLst>
                                          <p:attrName>style.visibility</p:attrName>
                                        </p:attrNameLst>
                                      </p:cBhvr>
                                      <p:to>
                                        <p:strVal val="visible"/>
                                      </p:to>
                                    </p:set>
                                    <p:animEffect transition="in" filter="wipe(right)">
                                      <p:cBhvr>
                                        <p:cTn id="198" dur="500"/>
                                        <p:tgtEl>
                                          <p:spTgt spid="187434"/>
                                        </p:tgtEl>
                                      </p:cBhvr>
                                    </p:animEffect>
                                  </p:childTnLst>
                                </p:cTn>
                              </p:par>
                            </p:childTnLst>
                          </p:cTn>
                        </p:par>
                        <p:par>
                          <p:cTn id="199" fill="hold">
                            <p:stCondLst>
                              <p:cond delay="2000"/>
                            </p:stCondLst>
                            <p:childTnLst>
                              <p:par>
                                <p:cTn id="200" presetID="9" presetClass="entr" presetSubtype="0" fill="hold" grpId="0" nodeType="afterEffect">
                                  <p:stCondLst>
                                    <p:cond delay="0"/>
                                  </p:stCondLst>
                                  <p:childTnLst>
                                    <p:set>
                                      <p:cBhvr>
                                        <p:cTn id="201" dur="1" fill="hold">
                                          <p:stCondLst>
                                            <p:cond delay="0"/>
                                          </p:stCondLst>
                                        </p:cTn>
                                        <p:tgtEl>
                                          <p:spTgt spid="187435"/>
                                        </p:tgtEl>
                                        <p:attrNameLst>
                                          <p:attrName>style.visibility</p:attrName>
                                        </p:attrNameLst>
                                      </p:cBhvr>
                                      <p:to>
                                        <p:strVal val="visible"/>
                                      </p:to>
                                    </p:set>
                                    <p:animEffect transition="in" filter="dissolve">
                                      <p:cBhvr>
                                        <p:cTn id="202" dur="500"/>
                                        <p:tgtEl>
                                          <p:spTgt spid="187435"/>
                                        </p:tgtEl>
                                      </p:cBhvr>
                                    </p:animEffect>
                                  </p:childTnLst>
                                </p:cTn>
                              </p:par>
                            </p:childTnLst>
                          </p:cTn>
                        </p:par>
                        <p:par>
                          <p:cTn id="203" fill="hold">
                            <p:stCondLst>
                              <p:cond delay="2500"/>
                            </p:stCondLst>
                            <p:childTnLst>
                              <p:par>
                                <p:cTn id="204" presetID="9" presetClass="entr" presetSubtype="0" fill="hold" grpId="0" nodeType="afterEffect">
                                  <p:stCondLst>
                                    <p:cond delay="0"/>
                                  </p:stCondLst>
                                  <p:childTnLst>
                                    <p:set>
                                      <p:cBhvr>
                                        <p:cTn id="205" dur="1" fill="hold">
                                          <p:stCondLst>
                                            <p:cond delay="0"/>
                                          </p:stCondLst>
                                        </p:cTn>
                                        <p:tgtEl>
                                          <p:spTgt spid="187460"/>
                                        </p:tgtEl>
                                        <p:attrNameLst>
                                          <p:attrName>style.visibility</p:attrName>
                                        </p:attrNameLst>
                                      </p:cBhvr>
                                      <p:to>
                                        <p:strVal val="visible"/>
                                      </p:to>
                                    </p:set>
                                    <p:animEffect transition="in" filter="dissolve">
                                      <p:cBhvr>
                                        <p:cTn id="206" dur="500"/>
                                        <p:tgtEl>
                                          <p:spTgt spid="187460"/>
                                        </p:tgtEl>
                                      </p:cBhvr>
                                    </p:animEffect>
                                  </p:childTnLst>
                                </p:cTn>
                              </p:par>
                            </p:childTnLst>
                          </p:cTn>
                        </p:par>
                        <p:par>
                          <p:cTn id="207" fill="hold">
                            <p:stCondLst>
                              <p:cond delay="3000"/>
                            </p:stCondLst>
                            <p:childTnLst>
                              <p:par>
                                <p:cTn id="208" presetID="9" presetClass="entr" presetSubtype="0" fill="hold" grpId="0" nodeType="afterEffect">
                                  <p:stCondLst>
                                    <p:cond delay="0"/>
                                  </p:stCondLst>
                                  <p:childTnLst>
                                    <p:set>
                                      <p:cBhvr>
                                        <p:cTn id="209" dur="1" fill="hold">
                                          <p:stCondLst>
                                            <p:cond delay="0"/>
                                          </p:stCondLst>
                                        </p:cTn>
                                        <p:tgtEl>
                                          <p:spTgt spid="187482"/>
                                        </p:tgtEl>
                                        <p:attrNameLst>
                                          <p:attrName>style.visibility</p:attrName>
                                        </p:attrNameLst>
                                      </p:cBhvr>
                                      <p:to>
                                        <p:strVal val="visible"/>
                                      </p:to>
                                    </p:set>
                                    <p:animEffect transition="in" filter="dissolve">
                                      <p:cBhvr>
                                        <p:cTn id="210" dur="500"/>
                                        <p:tgtEl>
                                          <p:spTgt spid="187482"/>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4" fill="hold" nodeType="clickEffect">
                                  <p:stCondLst>
                                    <p:cond delay="0"/>
                                  </p:stCondLst>
                                  <p:childTnLst>
                                    <p:set>
                                      <p:cBhvr>
                                        <p:cTn id="214" dur="1" fill="hold">
                                          <p:stCondLst>
                                            <p:cond delay="0"/>
                                          </p:stCondLst>
                                        </p:cTn>
                                        <p:tgtEl>
                                          <p:spTgt spid="187474"/>
                                        </p:tgtEl>
                                        <p:attrNameLst>
                                          <p:attrName>style.visibility</p:attrName>
                                        </p:attrNameLst>
                                      </p:cBhvr>
                                      <p:to>
                                        <p:strVal val="visible"/>
                                      </p:to>
                                    </p:set>
                                    <p:animEffect transition="in" filter="wipe(down)">
                                      <p:cBhvr>
                                        <p:cTn id="215" dur="500"/>
                                        <p:tgtEl>
                                          <p:spTgt spid="187474"/>
                                        </p:tgtEl>
                                      </p:cBhvr>
                                    </p:animEffect>
                                  </p:childTnLst>
                                </p:cTn>
                              </p:par>
                            </p:childTnLst>
                          </p:cTn>
                        </p:par>
                        <p:par>
                          <p:cTn id="216" fill="hold">
                            <p:stCondLst>
                              <p:cond delay="500"/>
                            </p:stCondLst>
                            <p:childTnLst>
                              <p:par>
                                <p:cTn id="217" presetID="1" presetClass="entr" presetSubtype="0" fill="hold" nodeType="afterEffect">
                                  <p:stCondLst>
                                    <p:cond delay="0"/>
                                  </p:stCondLst>
                                  <p:childTnLst>
                                    <p:set>
                                      <p:cBhvr>
                                        <p:cTn id="218" dur="1" fill="hold">
                                          <p:stCondLst>
                                            <p:cond delay="499"/>
                                          </p:stCondLst>
                                        </p:cTn>
                                        <p:tgtEl>
                                          <p:spTgt spid="187413"/>
                                        </p:tgtEl>
                                        <p:attrNameLst>
                                          <p:attrName>style.visibility</p:attrName>
                                        </p:attrNameLst>
                                      </p:cBhvr>
                                      <p:to>
                                        <p:strVal val="visible"/>
                                      </p:to>
                                    </p:set>
                                  </p:childTnLst>
                                </p:cTn>
                              </p:par>
                            </p:childTnLst>
                          </p:cTn>
                        </p:par>
                        <p:par>
                          <p:cTn id="219" fill="hold">
                            <p:stCondLst>
                              <p:cond delay="1000"/>
                            </p:stCondLst>
                            <p:childTnLst>
                              <p:par>
                                <p:cTn id="220" presetID="22" presetClass="entr" presetSubtype="4" fill="hold" nodeType="afterEffect">
                                  <p:stCondLst>
                                    <p:cond delay="0"/>
                                  </p:stCondLst>
                                  <p:childTnLst>
                                    <p:set>
                                      <p:cBhvr>
                                        <p:cTn id="221" dur="1" fill="hold">
                                          <p:stCondLst>
                                            <p:cond delay="0"/>
                                          </p:stCondLst>
                                        </p:cTn>
                                        <p:tgtEl>
                                          <p:spTgt spid="11"/>
                                        </p:tgtEl>
                                        <p:attrNameLst>
                                          <p:attrName>style.visibility</p:attrName>
                                        </p:attrNameLst>
                                      </p:cBhvr>
                                      <p:to>
                                        <p:strVal val="visible"/>
                                      </p:to>
                                    </p:set>
                                    <p:animEffect transition="in" filter="wipe(down)">
                                      <p:cBhvr>
                                        <p:cTn id="222" dur="500"/>
                                        <p:tgtEl>
                                          <p:spTgt spid="11"/>
                                        </p:tgtEl>
                                      </p:cBhvr>
                                    </p:animEffect>
                                  </p:childTnLst>
                                </p:cTn>
                              </p:par>
                            </p:childTnLst>
                          </p:cTn>
                        </p:par>
                        <p:par>
                          <p:cTn id="223" fill="hold">
                            <p:stCondLst>
                              <p:cond delay="1500"/>
                            </p:stCondLst>
                            <p:childTnLst>
                              <p:par>
                                <p:cTn id="224" presetID="9" presetClass="entr" presetSubtype="0" fill="hold" grpId="0" nodeType="afterEffect">
                                  <p:stCondLst>
                                    <p:cond delay="0"/>
                                  </p:stCondLst>
                                  <p:childTnLst>
                                    <p:set>
                                      <p:cBhvr>
                                        <p:cTn id="225" dur="1" fill="hold">
                                          <p:stCondLst>
                                            <p:cond delay="0"/>
                                          </p:stCondLst>
                                        </p:cTn>
                                        <p:tgtEl>
                                          <p:spTgt spid="187461"/>
                                        </p:tgtEl>
                                        <p:attrNameLst>
                                          <p:attrName>style.visibility</p:attrName>
                                        </p:attrNameLst>
                                      </p:cBhvr>
                                      <p:to>
                                        <p:strVal val="visible"/>
                                      </p:to>
                                    </p:set>
                                    <p:animEffect transition="in" filter="dissolve">
                                      <p:cBhvr>
                                        <p:cTn id="226" dur="500"/>
                                        <p:tgtEl>
                                          <p:spTgt spid="187461"/>
                                        </p:tgtEl>
                                      </p:cBhvr>
                                    </p:animEffect>
                                  </p:childTnLst>
                                </p:cTn>
                              </p:par>
                            </p:childTnLst>
                          </p:cTn>
                        </p:par>
                        <p:par>
                          <p:cTn id="227" fill="hold">
                            <p:stCondLst>
                              <p:cond delay="2000"/>
                            </p:stCondLst>
                            <p:childTnLst>
                              <p:par>
                                <p:cTn id="228" presetID="9" presetClass="entr" presetSubtype="0" fill="hold" grpId="0" nodeType="afterEffect">
                                  <p:stCondLst>
                                    <p:cond delay="0"/>
                                  </p:stCondLst>
                                  <p:childTnLst>
                                    <p:set>
                                      <p:cBhvr>
                                        <p:cTn id="229" dur="1" fill="hold">
                                          <p:stCondLst>
                                            <p:cond delay="0"/>
                                          </p:stCondLst>
                                        </p:cTn>
                                        <p:tgtEl>
                                          <p:spTgt spid="187483"/>
                                        </p:tgtEl>
                                        <p:attrNameLst>
                                          <p:attrName>style.visibility</p:attrName>
                                        </p:attrNameLst>
                                      </p:cBhvr>
                                      <p:to>
                                        <p:strVal val="visible"/>
                                      </p:to>
                                    </p:set>
                                    <p:animEffect transition="in" filter="dissolve">
                                      <p:cBhvr>
                                        <p:cTn id="230" dur="500"/>
                                        <p:tgtEl>
                                          <p:spTgt spid="187483"/>
                                        </p:tgtEl>
                                      </p:cBhvr>
                                    </p:animEffect>
                                  </p:childTnLst>
                                </p:cTn>
                              </p:par>
                            </p:childTnLst>
                          </p:cTn>
                        </p:par>
                      </p:childTnLst>
                    </p:cTn>
                  </p:par>
                  <p:par>
                    <p:cTn id="231" fill="hold">
                      <p:stCondLst>
                        <p:cond delay="indefinite"/>
                      </p:stCondLst>
                      <p:childTnLst>
                        <p:par>
                          <p:cTn id="232" fill="hold">
                            <p:stCondLst>
                              <p:cond delay="0"/>
                            </p:stCondLst>
                            <p:childTnLst>
                              <p:par>
                                <p:cTn id="233" presetID="22" presetClass="entr" presetSubtype="4" fill="hold" nodeType="clickEffect">
                                  <p:stCondLst>
                                    <p:cond delay="0"/>
                                  </p:stCondLst>
                                  <p:childTnLst>
                                    <p:set>
                                      <p:cBhvr>
                                        <p:cTn id="234" dur="1" fill="hold">
                                          <p:stCondLst>
                                            <p:cond delay="0"/>
                                          </p:stCondLst>
                                        </p:cTn>
                                        <p:tgtEl>
                                          <p:spTgt spid="187473"/>
                                        </p:tgtEl>
                                        <p:attrNameLst>
                                          <p:attrName>style.visibility</p:attrName>
                                        </p:attrNameLst>
                                      </p:cBhvr>
                                      <p:to>
                                        <p:strVal val="visible"/>
                                      </p:to>
                                    </p:set>
                                    <p:animEffect transition="in" filter="wipe(down)">
                                      <p:cBhvr>
                                        <p:cTn id="235" dur="500"/>
                                        <p:tgtEl>
                                          <p:spTgt spid="187473"/>
                                        </p:tgtEl>
                                      </p:cBhvr>
                                    </p:animEffect>
                                  </p:childTnLst>
                                </p:cTn>
                              </p:par>
                            </p:childTnLst>
                          </p:cTn>
                        </p:par>
                        <p:par>
                          <p:cTn id="236" fill="hold">
                            <p:stCondLst>
                              <p:cond delay="500"/>
                            </p:stCondLst>
                            <p:childTnLst>
                              <p:par>
                                <p:cTn id="237" presetID="17" presetClass="entr" presetSubtype="10" fill="hold" grpId="0" nodeType="afterEffect">
                                  <p:stCondLst>
                                    <p:cond delay="0"/>
                                  </p:stCondLst>
                                  <p:childTnLst>
                                    <p:set>
                                      <p:cBhvr>
                                        <p:cTn id="238" dur="1" fill="hold">
                                          <p:stCondLst>
                                            <p:cond delay="0"/>
                                          </p:stCondLst>
                                        </p:cTn>
                                        <p:tgtEl>
                                          <p:spTgt spid="187437"/>
                                        </p:tgtEl>
                                        <p:attrNameLst>
                                          <p:attrName>style.visibility</p:attrName>
                                        </p:attrNameLst>
                                      </p:cBhvr>
                                      <p:to>
                                        <p:strVal val="visible"/>
                                      </p:to>
                                    </p:set>
                                    <p:anim calcmode="lin" valueType="num">
                                      <p:cBhvr>
                                        <p:cTn id="239" dur="500" fill="hold"/>
                                        <p:tgtEl>
                                          <p:spTgt spid="187437"/>
                                        </p:tgtEl>
                                        <p:attrNameLst>
                                          <p:attrName>ppt_w</p:attrName>
                                        </p:attrNameLst>
                                      </p:cBhvr>
                                      <p:tavLst>
                                        <p:tav tm="0">
                                          <p:val>
                                            <p:fltVal val="0"/>
                                          </p:val>
                                        </p:tav>
                                        <p:tav tm="100000">
                                          <p:val>
                                            <p:strVal val="#ppt_w"/>
                                          </p:val>
                                        </p:tav>
                                      </p:tavLst>
                                    </p:anim>
                                    <p:anim calcmode="lin" valueType="num">
                                      <p:cBhvr>
                                        <p:cTn id="240" dur="500" fill="hold"/>
                                        <p:tgtEl>
                                          <p:spTgt spid="187437"/>
                                        </p:tgtEl>
                                        <p:attrNameLst>
                                          <p:attrName>ppt_h</p:attrName>
                                        </p:attrNameLst>
                                      </p:cBhvr>
                                      <p:tavLst>
                                        <p:tav tm="0">
                                          <p:val>
                                            <p:strVal val="#ppt_h"/>
                                          </p:val>
                                        </p:tav>
                                        <p:tav tm="100000">
                                          <p:val>
                                            <p:strVal val="#ppt_h"/>
                                          </p:val>
                                        </p:tav>
                                      </p:tavLst>
                                    </p:anim>
                                  </p:childTnLst>
                                </p:cTn>
                              </p:par>
                            </p:childTnLst>
                          </p:cTn>
                        </p:par>
                        <p:par>
                          <p:cTn id="241" fill="hold">
                            <p:stCondLst>
                              <p:cond delay="1000"/>
                            </p:stCondLst>
                            <p:childTnLst>
                              <p:par>
                                <p:cTn id="242" presetID="22" presetClass="entr" presetSubtype="4" fill="hold" nodeType="afterEffect">
                                  <p:stCondLst>
                                    <p:cond delay="0"/>
                                  </p:stCondLst>
                                  <p:childTnLst>
                                    <p:set>
                                      <p:cBhvr>
                                        <p:cTn id="243" dur="1" fill="hold">
                                          <p:stCondLst>
                                            <p:cond delay="0"/>
                                          </p:stCondLst>
                                        </p:cTn>
                                        <p:tgtEl>
                                          <p:spTgt spid="187422"/>
                                        </p:tgtEl>
                                        <p:attrNameLst>
                                          <p:attrName>style.visibility</p:attrName>
                                        </p:attrNameLst>
                                      </p:cBhvr>
                                      <p:to>
                                        <p:strVal val="visible"/>
                                      </p:to>
                                    </p:set>
                                    <p:animEffect transition="in" filter="wipe(down)">
                                      <p:cBhvr>
                                        <p:cTn id="244" dur="500"/>
                                        <p:tgtEl>
                                          <p:spTgt spid="187422"/>
                                        </p:tgtEl>
                                      </p:cBhvr>
                                    </p:animEffect>
                                  </p:childTnLst>
                                </p:cTn>
                              </p:par>
                            </p:childTnLst>
                          </p:cTn>
                        </p:par>
                        <p:par>
                          <p:cTn id="245" fill="hold">
                            <p:stCondLst>
                              <p:cond delay="1500"/>
                            </p:stCondLst>
                            <p:childTnLst>
                              <p:par>
                                <p:cTn id="246" presetID="14" presetClass="entr" presetSubtype="5" fill="hold" grpId="0" nodeType="afterEffect">
                                  <p:stCondLst>
                                    <p:cond delay="0"/>
                                  </p:stCondLst>
                                  <p:childTnLst>
                                    <p:set>
                                      <p:cBhvr>
                                        <p:cTn id="247" dur="1" fill="hold">
                                          <p:stCondLst>
                                            <p:cond delay="0"/>
                                          </p:stCondLst>
                                        </p:cTn>
                                        <p:tgtEl>
                                          <p:spTgt spid="187436"/>
                                        </p:tgtEl>
                                        <p:attrNameLst>
                                          <p:attrName>style.visibility</p:attrName>
                                        </p:attrNameLst>
                                      </p:cBhvr>
                                      <p:to>
                                        <p:strVal val="visible"/>
                                      </p:to>
                                    </p:set>
                                    <p:animEffect transition="in" filter="randombar(vertical)">
                                      <p:cBhvr>
                                        <p:cTn id="248" dur="500"/>
                                        <p:tgtEl>
                                          <p:spTgt spid="187436"/>
                                        </p:tgtEl>
                                      </p:cBhvr>
                                    </p:animEffect>
                                  </p:childTnLst>
                                </p:cTn>
                              </p:par>
                            </p:childTnLst>
                          </p:cTn>
                        </p:par>
                        <p:par>
                          <p:cTn id="249" fill="hold">
                            <p:stCondLst>
                              <p:cond delay="2000"/>
                            </p:stCondLst>
                            <p:childTnLst>
                              <p:par>
                                <p:cTn id="250" presetID="9" presetClass="entr" presetSubtype="0" fill="hold" grpId="0" nodeType="afterEffect">
                                  <p:stCondLst>
                                    <p:cond delay="0"/>
                                  </p:stCondLst>
                                  <p:childTnLst>
                                    <p:set>
                                      <p:cBhvr>
                                        <p:cTn id="251" dur="1" fill="hold">
                                          <p:stCondLst>
                                            <p:cond delay="0"/>
                                          </p:stCondLst>
                                        </p:cTn>
                                        <p:tgtEl>
                                          <p:spTgt spid="187454"/>
                                        </p:tgtEl>
                                        <p:attrNameLst>
                                          <p:attrName>style.visibility</p:attrName>
                                        </p:attrNameLst>
                                      </p:cBhvr>
                                      <p:to>
                                        <p:strVal val="visible"/>
                                      </p:to>
                                    </p:set>
                                    <p:animEffect transition="in" filter="dissolve">
                                      <p:cBhvr>
                                        <p:cTn id="252" dur="500"/>
                                        <p:tgtEl>
                                          <p:spTgt spid="187454"/>
                                        </p:tgtEl>
                                      </p:cBhvr>
                                    </p:animEffect>
                                  </p:childTnLst>
                                </p:cTn>
                              </p:par>
                            </p:childTnLst>
                          </p:cTn>
                        </p:par>
                        <p:par>
                          <p:cTn id="253" fill="hold">
                            <p:stCondLst>
                              <p:cond delay="2500"/>
                            </p:stCondLst>
                            <p:childTnLst>
                              <p:par>
                                <p:cTn id="254" presetID="9" presetClass="entr" presetSubtype="0" fill="hold" grpId="0" nodeType="afterEffect">
                                  <p:stCondLst>
                                    <p:cond delay="0"/>
                                  </p:stCondLst>
                                  <p:childTnLst>
                                    <p:set>
                                      <p:cBhvr>
                                        <p:cTn id="255" dur="1" fill="hold">
                                          <p:stCondLst>
                                            <p:cond delay="0"/>
                                          </p:stCondLst>
                                        </p:cTn>
                                        <p:tgtEl>
                                          <p:spTgt spid="187484"/>
                                        </p:tgtEl>
                                        <p:attrNameLst>
                                          <p:attrName>style.visibility</p:attrName>
                                        </p:attrNameLst>
                                      </p:cBhvr>
                                      <p:to>
                                        <p:strVal val="visible"/>
                                      </p:to>
                                    </p:set>
                                    <p:animEffect transition="in" filter="dissolve">
                                      <p:cBhvr>
                                        <p:cTn id="256" dur="500"/>
                                        <p:tgtEl>
                                          <p:spTgt spid="187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20" grpId="0" autoUpdateAnimBg="0"/>
      <p:bldP spid="187421" grpId="0" autoUpdateAnimBg="0"/>
      <p:bldP spid="187426" grpId="0" autoUpdateAnimBg="0"/>
      <p:bldP spid="187427" grpId="0" autoUpdateAnimBg="0"/>
      <p:bldP spid="187431" grpId="0" autoUpdateAnimBg="0"/>
      <p:bldP spid="187432" grpId="0" autoUpdateAnimBg="0"/>
      <p:bldP spid="187433" grpId="0" autoUpdateAnimBg="0"/>
      <p:bldP spid="187435" grpId="0" autoUpdateAnimBg="0"/>
      <p:bldP spid="187436" grpId="0" autoUpdateAnimBg="0"/>
      <p:bldP spid="187437" grpId="0" autoUpdateAnimBg="0"/>
      <p:bldP spid="187454" grpId="0" autoUpdateAnimBg="0"/>
      <p:bldP spid="187455" grpId="0" autoUpdateAnimBg="0"/>
      <p:bldP spid="187456" grpId="0" autoUpdateAnimBg="0"/>
      <p:bldP spid="187457" grpId="0" autoUpdateAnimBg="0"/>
      <p:bldP spid="187458" grpId="0" autoUpdateAnimBg="0"/>
      <p:bldP spid="187459" grpId="0" autoUpdateAnimBg="0"/>
      <p:bldP spid="187460" grpId="0" autoUpdateAnimBg="0"/>
      <p:bldP spid="187461" grpId="0" autoUpdateAnimBg="0"/>
      <p:bldP spid="187462" grpId="0" autoUpdateAnimBg="0"/>
      <p:bldP spid="187477" grpId="0" autoUpdateAnimBg="0"/>
      <p:bldP spid="187478" grpId="0" autoUpdateAnimBg="0"/>
      <p:bldP spid="187479" grpId="0" autoUpdateAnimBg="0"/>
      <p:bldP spid="187480" grpId="0" autoUpdateAnimBg="0"/>
      <p:bldP spid="187481" grpId="0" autoUpdateAnimBg="0"/>
      <p:bldP spid="187482" grpId="0" autoUpdateAnimBg="0"/>
      <p:bldP spid="187483" grpId="0" autoUpdateAnimBg="0"/>
      <p:bldP spid="187484"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bwMode="auto">
          <a:xfrm>
            <a:off x="1703389" y="1143000"/>
            <a:ext cx="4105275" cy="641350"/>
          </a:xfrm>
        </p:spPr>
        <p:txBody>
          <a:bodyPr>
            <a:spAutoFit/>
          </a:bodyPr>
          <a:lstStyle/>
          <a:p>
            <a:pPr algn="l" eaLnBrk="1" hangingPunct="1"/>
            <a:r>
              <a:rPr lang="zh-CN" altLang="en-US" sz="3600"/>
              <a:t>总反应方程式</a:t>
            </a:r>
            <a:endParaRPr lang="zh-CN" altLang="en-US" sz="3600"/>
          </a:p>
        </p:txBody>
      </p:sp>
      <p:sp>
        <p:nvSpPr>
          <p:cNvPr id="188419" name="Rectangle 3"/>
          <p:cNvSpPr>
            <a:spLocks noGrp="1" noChangeArrowheads="1"/>
          </p:cNvSpPr>
          <p:nvPr>
            <p:ph type="body" idx="1"/>
          </p:nvPr>
        </p:nvSpPr>
        <p:spPr>
          <a:xfrm>
            <a:off x="1828801" y="2278064"/>
            <a:ext cx="8588375" cy="1366837"/>
          </a:xfrm>
        </p:spPr>
        <p:txBody>
          <a:bodyPr/>
          <a:lstStyle/>
          <a:p>
            <a:pPr eaLnBrk="1" hangingPunct="1">
              <a:buFont typeface="Wingdings" panose="05000000000000000000" pitchFamily="2" charset="2"/>
              <a:buNone/>
            </a:pPr>
            <a:r>
              <a:rPr lang="zh-CN" altLang="en-US" b="0" dirty="0"/>
              <a:t>乙酰</a:t>
            </a:r>
            <a:r>
              <a:rPr lang="en-US" altLang="zh-CN" sz="2800" dirty="0"/>
              <a:t>CoA + 3NAD</a:t>
            </a:r>
            <a:r>
              <a:rPr lang="en-US" altLang="zh-CN" sz="2800" baseline="30000" dirty="0"/>
              <a:t>+</a:t>
            </a:r>
            <a:r>
              <a:rPr lang="en-US" altLang="zh-CN" sz="2800" dirty="0"/>
              <a:t> + FAD + GDP + Pi + 2H</a:t>
            </a:r>
            <a:r>
              <a:rPr lang="en-US" altLang="zh-CN" sz="2800" baseline="-25000" dirty="0"/>
              <a:t>2</a:t>
            </a:r>
            <a:r>
              <a:rPr lang="en-US" altLang="zh-CN" sz="2800" dirty="0"/>
              <a:t>O</a:t>
            </a:r>
            <a:r>
              <a:rPr lang="en-US" altLang="zh-CN" sz="2000" dirty="0"/>
              <a:t> </a:t>
            </a:r>
            <a:endParaRPr lang="en-US" altLang="zh-CN" sz="2800" dirty="0">
              <a:solidFill>
                <a:srgbClr val="FF6600"/>
              </a:solidFill>
            </a:endParaRPr>
          </a:p>
        </p:txBody>
      </p:sp>
      <p:sp>
        <p:nvSpPr>
          <p:cNvPr id="188420" name="Text Box 4"/>
          <p:cNvSpPr txBox="1">
            <a:spLocks noChangeArrowheads="1"/>
          </p:cNvSpPr>
          <p:nvPr/>
        </p:nvSpPr>
        <p:spPr bwMode="auto">
          <a:xfrm>
            <a:off x="2655888" y="3302001"/>
            <a:ext cx="8012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dirty="0">
                <a:solidFill>
                  <a:srgbClr val="000099"/>
                </a:solidFill>
                <a:latin typeface="Arial" panose="020B0604020202020204" pitchFamily="34" charset="0"/>
              </a:rPr>
              <a:t>2CO</a:t>
            </a:r>
            <a:r>
              <a:rPr kumimoji="1" lang="en-US" altLang="zh-CN" sz="2800" baseline="-25000" dirty="0">
                <a:solidFill>
                  <a:srgbClr val="000099"/>
                </a:solidFill>
                <a:latin typeface="Arial" panose="020B0604020202020204" pitchFamily="34" charset="0"/>
              </a:rPr>
              <a:t>2</a:t>
            </a:r>
            <a:r>
              <a:rPr kumimoji="1" lang="en-US" altLang="zh-CN" sz="2800" dirty="0">
                <a:solidFill>
                  <a:srgbClr val="000099"/>
                </a:solidFill>
                <a:latin typeface="Arial" panose="020B0604020202020204" pitchFamily="34" charset="0"/>
              </a:rPr>
              <a:t> + </a:t>
            </a:r>
            <a:r>
              <a:rPr kumimoji="1" lang="en-US" altLang="zh-CN" sz="2800" u="sng" dirty="0">
                <a:solidFill>
                  <a:srgbClr val="000099"/>
                </a:solidFill>
                <a:latin typeface="Arial" panose="020B0604020202020204" pitchFamily="34" charset="0"/>
              </a:rPr>
              <a:t>3NADH + 3H</a:t>
            </a:r>
            <a:r>
              <a:rPr kumimoji="1" lang="en-US" altLang="zh-CN" sz="2800" u="sng" baseline="30000" dirty="0">
                <a:solidFill>
                  <a:srgbClr val="000099"/>
                </a:solidFill>
                <a:latin typeface="Arial" panose="020B0604020202020204" pitchFamily="34" charset="0"/>
              </a:rPr>
              <a:t>+</a:t>
            </a:r>
            <a:r>
              <a:rPr kumimoji="1" lang="en-US" altLang="zh-CN" sz="2800" dirty="0">
                <a:solidFill>
                  <a:srgbClr val="000099"/>
                </a:solidFill>
                <a:latin typeface="Arial" panose="020B0604020202020204" pitchFamily="34" charset="0"/>
              </a:rPr>
              <a:t> + </a:t>
            </a:r>
            <a:r>
              <a:rPr kumimoji="1" lang="en-US" altLang="zh-CN" sz="2800" u="sng" dirty="0">
                <a:solidFill>
                  <a:srgbClr val="000099"/>
                </a:solidFill>
                <a:latin typeface="Arial" panose="020B0604020202020204" pitchFamily="34" charset="0"/>
              </a:rPr>
              <a:t>FADH</a:t>
            </a:r>
            <a:r>
              <a:rPr kumimoji="1" lang="en-US" altLang="zh-CN" sz="2800" baseline="-25000" dirty="0">
                <a:solidFill>
                  <a:srgbClr val="000099"/>
                </a:solidFill>
                <a:latin typeface="Arial" panose="020B0604020202020204" pitchFamily="34" charset="0"/>
              </a:rPr>
              <a:t>2 </a:t>
            </a:r>
            <a:r>
              <a:rPr kumimoji="1" lang="en-US" altLang="zh-CN" sz="2800" dirty="0">
                <a:solidFill>
                  <a:srgbClr val="000099"/>
                </a:solidFill>
                <a:latin typeface="Arial" panose="020B0604020202020204" pitchFamily="34" charset="0"/>
              </a:rPr>
              <a:t>+ </a:t>
            </a:r>
            <a:r>
              <a:rPr kumimoji="1" lang="en-US" altLang="zh-CN" sz="2800" u="sng" dirty="0">
                <a:solidFill>
                  <a:srgbClr val="000099"/>
                </a:solidFill>
                <a:latin typeface="Arial" panose="020B0604020202020204" pitchFamily="34" charset="0"/>
              </a:rPr>
              <a:t>GTP </a:t>
            </a:r>
            <a:r>
              <a:rPr kumimoji="1" lang="en-US" altLang="zh-CN" sz="2800" dirty="0">
                <a:solidFill>
                  <a:srgbClr val="000099"/>
                </a:solidFill>
                <a:latin typeface="Arial" panose="020B0604020202020204" pitchFamily="34" charset="0"/>
              </a:rPr>
              <a:t>+</a:t>
            </a:r>
            <a:r>
              <a:rPr kumimoji="1" lang="en-US" altLang="zh-CN" sz="2800" dirty="0" err="1">
                <a:solidFill>
                  <a:srgbClr val="000099"/>
                </a:solidFill>
                <a:latin typeface="Arial" panose="020B0604020202020204" pitchFamily="34" charset="0"/>
              </a:rPr>
              <a:t>HSCoA</a:t>
            </a:r>
            <a:endParaRPr kumimoji="1" lang="zh-CN" altLang="en-US" sz="2800" dirty="0">
              <a:solidFill>
                <a:srgbClr val="000099"/>
              </a:solidFill>
              <a:latin typeface="Arial" panose="020B0604020202020204" pitchFamily="34" charset="0"/>
            </a:endParaRPr>
          </a:p>
        </p:txBody>
      </p:sp>
      <p:grpSp>
        <p:nvGrpSpPr>
          <p:cNvPr id="2" name="Group 5"/>
          <p:cNvGrpSpPr/>
          <p:nvPr/>
        </p:nvGrpSpPr>
        <p:grpSpPr bwMode="auto">
          <a:xfrm>
            <a:off x="3863975" y="4365625"/>
            <a:ext cx="4103688" cy="1079500"/>
            <a:chOff x="1202" y="2695"/>
            <a:chExt cx="2585" cy="680"/>
          </a:xfrm>
        </p:grpSpPr>
        <p:sp>
          <p:nvSpPr>
            <p:cNvPr id="166919" name="Line 6"/>
            <p:cNvSpPr>
              <a:spLocks noChangeShapeType="1"/>
            </p:cNvSpPr>
            <p:nvPr/>
          </p:nvSpPr>
          <p:spPr bwMode="auto">
            <a:xfrm>
              <a:off x="1872" y="3203"/>
              <a:ext cx="1002" cy="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920" name="Freeform 7"/>
            <p:cNvSpPr/>
            <p:nvPr/>
          </p:nvSpPr>
          <p:spPr bwMode="auto">
            <a:xfrm>
              <a:off x="1927" y="2976"/>
              <a:ext cx="813" cy="235"/>
            </a:xfrm>
            <a:custGeom>
              <a:avLst/>
              <a:gdLst>
                <a:gd name="T0" fmla="*/ 0 w 545"/>
                <a:gd name="T1" fmla="*/ 0 h 235"/>
                <a:gd name="T2" fmla="*/ 2147483646 w 545"/>
                <a:gd name="T3" fmla="*/ 227 h 235"/>
                <a:gd name="T4" fmla="*/ 2147483646 w 545"/>
                <a:gd name="T5" fmla="*/ 45 h 235"/>
                <a:gd name="T6" fmla="*/ 0 60000 65536"/>
                <a:gd name="T7" fmla="*/ 0 60000 65536"/>
                <a:gd name="T8" fmla="*/ 0 60000 65536"/>
                <a:gd name="T9" fmla="*/ 0 w 545"/>
                <a:gd name="T10" fmla="*/ 0 h 235"/>
                <a:gd name="T11" fmla="*/ 545 w 545"/>
                <a:gd name="T12" fmla="*/ 235 h 235"/>
              </a:gdLst>
              <a:ahLst/>
              <a:cxnLst>
                <a:cxn ang="T6">
                  <a:pos x="T0" y="T1"/>
                </a:cxn>
                <a:cxn ang="T7">
                  <a:pos x="T2" y="T3"/>
                </a:cxn>
                <a:cxn ang="T8">
                  <a:pos x="T4" y="T5"/>
                </a:cxn>
              </a:cxnLst>
              <a:rect l="T9" t="T10" r="T11" b="T12"/>
              <a:pathLst>
                <a:path w="545" h="235">
                  <a:moveTo>
                    <a:pt x="0" y="0"/>
                  </a:moveTo>
                  <a:cubicBezTo>
                    <a:pt x="91" y="109"/>
                    <a:pt x="182" y="219"/>
                    <a:pt x="273" y="227"/>
                  </a:cubicBezTo>
                  <a:cubicBezTo>
                    <a:pt x="364" y="235"/>
                    <a:pt x="500" y="75"/>
                    <a:pt x="545" y="45"/>
                  </a:cubicBezTo>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66921" name="Text Box 8"/>
            <p:cNvSpPr txBox="1">
              <a:spLocks noChangeArrowheads="1"/>
            </p:cNvSpPr>
            <p:nvPr/>
          </p:nvSpPr>
          <p:spPr bwMode="auto">
            <a:xfrm>
              <a:off x="1202" y="3048"/>
              <a:ext cx="8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solidFill>
                    <a:srgbClr val="FF3F8D"/>
                  </a:solidFill>
                  <a:latin typeface="Arial" panose="020B0604020202020204" pitchFamily="34" charset="0"/>
                </a:rPr>
                <a:t>GTP</a:t>
              </a:r>
              <a:endParaRPr kumimoji="1" lang="en-US" altLang="zh-CN" sz="2800">
                <a:solidFill>
                  <a:srgbClr val="FF3F8D"/>
                </a:solidFill>
                <a:latin typeface="Arial" panose="020B0604020202020204" pitchFamily="34" charset="0"/>
              </a:endParaRPr>
            </a:p>
          </p:txBody>
        </p:sp>
        <p:sp>
          <p:nvSpPr>
            <p:cNvPr id="166922" name="Text Box 9"/>
            <p:cNvSpPr txBox="1">
              <a:spLocks noChangeArrowheads="1"/>
            </p:cNvSpPr>
            <p:nvPr/>
          </p:nvSpPr>
          <p:spPr bwMode="auto">
            <a:xfrm>
              <a:off x="2907" y="3022"/>
              <a:ext cx="8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latin typeface="Arial" panose="020B0604020202020204" pitchFamily="34" charset="0"/>
                </a:rPr>
                <a:t>GDP</a:t>
              </a:r>
              <a:endParaRPr kumimoji="1" lang="en-US" altLang="zh-CN" sz="2800">
                <a:latin typeface="Arial" panose="020B0604020202020204" pitchFamily="34" charset="0"/>
              </a:endParaRPr>
            </a:p>
          </p:txBody>
        </p:sp>
        <p:sp>
          <p:nvSpPr>
            <p:cNvPr id="166923" name="Text Box 10"/>
            <p:cNvSpPr txBox="1">
              <a:spLocks noChangeArrowheads="1"/>
            </p:cNvSpPr>
            <p:nvPr/>
          </p:nvSpPr>
          <p:spPr bwMode="auto">
            <a:xfrm>
              <a:off x="2517" y="2695"/>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solidFill>
                    <a:srgbClr val="FF3F8D"/>
                  </a:solidFill>
                  <a:latin typeface="Arial" panose="020B0604020202020204" pitchFamily="34" charset="0"/>
                </a:rPr>
                <a:t>ATP</a:t>
              </a:r>
              <a:endParaRPr kumimoji="1" lang="en-US" altLang="zh-CN" sz="2800">
                <a:solidFill>
                  <a:srgbClr val="FF3F8D"/>
                </a:solidFill>
                <a:latin typeface="Arial" panose="020B0604020202020204" pitchFamily="34" charset="0"/>
              </a:endParaRPr>
            </a:p>
          </p:txBody>
        </p:sp>
        <p:sp>
          <p:nvSpPr>
            <p:cNvPr id="166924" name="Text Box 11"/>
            <p:cNvSpPr txBox="1">
              <a:spLocks noChangeArrowheads="1"/>
            </p:cNvSpPr>
            <p:nvPr/>
          </p:nvSpPr>
          <p:spPr bwMode="auto">
            <a:xfrm>
              <a:off x="1655" y="2695"/>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latin typeface="Arial" panose="020B0604020202020204" pitchFamily="34" charset="0"/>
                </a:rPr>
                <a:t>ADP</a:t>
              </a:r>
              <a:endParaRPr kumimoji="1" lang="en-US" altLang="zh-CN" sz="2800">
                <a:latin typeface="Arial" panose="020B0604020202020204" pitchFamily="34" charset="0"/>
              </a:endParaRPr>
            </a:p>
          </p:txBody>
        </p:sp>
      </p:grpSp>
      <p:sp>
        <p:nvSpPr>
          <p:cNvPr id="188428" name="AutoShape 12"/>
          <p:cNvSpPr>
            <a:spLocks noChangeArrowheads="1"/>
          </p:cNvSpPr>
          <p:nvPr/>
        </p:nvSpPr>
        <p:spPr bwMode="auto">
          <a:xfrm>
            <a:off x="9409113" y="2454275"/>
            <a:ext cx="1008062" cy="254000"/>
          </a:xfrm>
          <a:prstGeom prst="rightArrow">
            <a:avLst>
              <a:gd name="adj1" fmla="val 43648"/>
              <a:gd name="adj2" fmla="val 175617"/>
            </a:avLst>
          </a:prstGeom>
          <a:solidFill>
            <a:srgbClr val="FFC000"/>
          </a:solidFill>
          <a:ln w="9525">
            <a:solidFill>
              <a:srgbClr val="C00000"/>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 name="文本框 2"/>
          <p:cNvSpPr txBox="1"/>
          <p:nvPr/>
        </p:nvSpPr>
        <p:spPr>
          <a:xfrm>
            <a:off x="6326587" y="2749320"/>
            <a:ext cx="942577" cy="461665"/>
          </a:xfrm>
          <a:prstGeom prst="rect">
            <a:avLst/>
          </a:prstGeom>
          <a:noFill/>
        </p:spPr>
        <p:txBody>
          <a:bodyPr wrap="square" rtlCol="0">
            <a:spAutoFit/>
          </a:bodyPr>
          <a:lstStyle/>
          <a:p>
            <a:r>
              <a:rPr lang="en-US" altLang="zh-CN" sz="2400" dirty="0"/>
              <a:t>ADP</a:t>
            </a:r>
            <a:endParaRPr lang="zh-CN" altLang="en-US" sz="2400" dirty="0"/>
          </a:p>
        </p:txBody>
      </p:sp>
      <p:sp>
        <p:nvSpPr>
          <p:cNvPr id="14" name="文本框 13"/>
          <p:cNvSpPr txBox="1"/>
          <p:nvPr/>
        </p:nvSpPr>
        <p:spPr>
          <a:xfrm>
            <a:off x="8033744" y="3769876"/>
            <a:ext cx="942577" cy="523220"/>
          </a:xfrm>
          <a:prstGeom prst="rect">
            <a:avLst/>
          </a:prstGeom>
          <a:noFill/>
        </p:spPr>
        <p:txBody>
          <a:bodyPr wrap="square" rtlCol="0">
            <a:spAutoFit/>
          </a:bodyPr>
          <a:lstStyle/>
          <a:p>
            <a:r>
              <a:rPr kumimoji="1" lang="en-US" altLang="zh-CN" sz="2800" dirty="0">
                <a:solidFill>
                  <a:srgbClr val="000099"/>
                </a:solidFill>
                <a:ea typeface="楷体_GB2312" pitchFamily="49" charset="-122"/>
              </a:rPr>
              <a:t>ATP</a:t>
            </a:r>
            <a:endParaRPr kumimoji="1" lang="zh-CN" altLang="en-US" sz="2800" dirty="0">
              <a:solidFill>
                <a:srgbClr val="000099"/>
              </a:solidFill>
              <a:ea typeface="楷体_GB2312" pitchFamily="49"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wipe(left)">
                                      <p:cBhvr>
                                        <p:cTn id="7" dur="1000"/>
                                        <p:tgtEl>
                                          <p:spTgt spid="188419">
                                            <p:txEl>
                                              <p:pRg st="0" end="0"/>
                                            </p:txEl>
                                          </p:spTgt>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188428"/>
                                        </p:tgtEl>
                                        <p:attrNameLst>
                                          <p:attrName>style.visibility</p:attrName>
                                        </p:attrNameLst>
                                      </p:cBhvr>
                                      <p:to>
                                        <p:strVal val="visible"/>
                                      </p:to>
                                    </p:set>
                                    <p:animEffect transition="in" filter="wipe(left)">
                                      <p:cBhvr>
                                        <p:cTn id="14" dur="500"/>
                                        <p:tgtEl>
                                          <p:spTgt spid="188428"/>
                                        </p:tgtEl>
                                      </p:cBhvr>
                                    </p:animEffect>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188420"/>
                                        </p:tgtEl>
                                        <p:attrNameLst>
                                          <p:attrName>style.visibility</p:attrName>
                                        </p:attrNameLst>
                                      </p:cBhvr>
                                      <p:to>
                                        <p:strVal val="visible"/>
                                      </p:to>
                                    </p:set>
                                    <p:animEffect transition="in" filter="wipe(left)">
                                      <p:cBhvr>
                                        <p:cTn id="18" dur="1000"/>
                                        <p:tgtEl>
                                          <p:spTgt spid="188420"/>
                                        </p:tgtEl>
                                      </p:cBhvr>
                                    </p:animEffec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P spid="188420" grpId="0"/>
      <p:bldP spid="188428" grpId="0" animBg="1"/>
      <p:bldP spid="3" grpId="0"/>
      <p:bldP spid="1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3" name="Text Box 3"/>
          <p:cNvSpPr txBox="1">
            <a:spLocks noChangeArrowheads="1"/>
          </p:cNvSpPr>
          <p:nvPr/>
        </p:nvSpPr>
        <p:spPr bwMode="auto">
          <a:xfrm>
            <a:off x="2424113" y="1638301"/>
            <a:ext cx="8007350" cy="4056063"/>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lvl="1" eaLnBrk="1" hangingPunct="1">
              <a:lnSpc>
                <a:spcPct val="120000"/>
              </a:lnSpc>
              <a:buClr>
                <a:srgbClr val="FF0000"/>
              </a:buClr>
              <a:buSzTx/>
              <a:buFont typeface="Wingdings" panose="05000000000000000000" pitchFamily="2" charset="2"/>
              <a:buChar char="ü"/>
              <a:defRPr/>
            </a:pPr>
            <a:r>
              <a:rPr kumimoji="1" lang="zh-CN" altLang="en-US" b="0" dirty="0">
                <a:latin typeface="+mj-ea"/>
                <a:ea typeface="+mj-ea"/>
              </a:rPr>
              <a:t> 一次底物水平磷酸化（</a:t>
            </a:r>
            <a:r>
              <a:rPr kumimoji="1" lang="en-US" altLang="zh-CN" b="0" dirty="0">
                <a:solidFill>
                  <a:srgbClr val="FF0000"/>
                </a:solidFill>
                <a:latin typeface="+mj-ea"/>
                <a:ea typeface="+mj-ea"/>
              </a:rPr>
              <a:t>1</a:t>
            </a:r>
            <a:r>
              <a:rPr kumimoji="1" lang="zh-CN" altLang="en-US" b="0" dirty="0">
                <a:solidFill>
                  <a:srgbClr val="FF0000"/>
                </a:solidFill>
                <a:latin typeface="+mj-ea"/>
                <a:ea typeface="+mj-ea"/>
              </a:rPr>
              <a:t>分子</a:t>
            </a:r>
            <a:r>
              <a:rPr kumimoji="1" lang="en-US" altLang="zh-CN" b="0" dirty="0">
                <a:solidFill>
                  <a:srgbClr val="FF0000"/>
                </a:solidFill>
                <a:latin typeface="+mj-ea"/>
                <a:ea typeface="+mj-ea"/>
              </a:rPr>
              <a:t>GTP</a:t>
            </a:r>
            <a:r>
              <a:rPr kumimoji="1" lang="en-US" altLang="zh-CN" b="0" dirty="0">
                <a:latin typeface="+mj-ea"/>
                <a:ea typeface="+mj-ea"/>
              </a:rPr>
              <a:t>）</a:t>
            </a:r>
            <a:endParaRPr kumimoji="1" lang="en-US" altLang="zh-CN" b="0" dirty="0">
              <a:latin typeface="+mj-ea"/>
              <a:ea typeface="+mj-ea"/>
            </a:endParaRPr>
          </a:p>
          <a:p>
            <a:pPr lvl="1" eaLnBrk="1" hangingPunct="1">
              <a:lnSpc>
                <a:spcPct val="120000"/>
              </a:lnSpc>
              <a:buClr>
                <a:srgbClr val="FF0000"/>
              </a:buClr>
              <a:buSzTx/>
              <a:buFont typeface="Wingdings" panose="05000000000000000000" pitchFamily="2" charset="2"/>
              <a:buChar char="ü"/>
              <a:defRPr/>
            </a:pPr>
            <a:r>
              <a:rPr kumimoji="1" lang="zh-CN" altLang="en-US" b="0" dirty="0">
                <a:latin typeface="+mj-ea"/>
                <a:ea typeface="+mj-ea"/>
              </a:rPr>
              <a:t> 二次脱羧（</a:t>
            </a:r>
            <a:r>
              <a:rPr kumimoji="1" lang="en-US" altLang="zh-CN" b="0" dirty="0">
                <a:solidFill>
                  <a:srgbClr val="FF0066"/>
                </a:solidFill>
                <a:latin typeface="+mj-ea"/>
                <a:ea typeface="+mj-ea"/>
              </a:rPr>
              <a:t>2</a:t>
            </a:r>
            <a:r>
              <a:rPr kumimoji="1" lang="zh-CN" altLang="en-US" b="0" dirty="0">
                <a:solidFill>
                  <a:srgbClr val="FF0066"/>
                </a:solidFill>
                <a:latin typeface="+mj-ea"/>
                <a:ea typeface="+mj-ea"/>
              </a:rPr>
              <a:t>分子</a:t>
            </a:r>
            <a:r>
              <a:rPr kumimoji="1" lang="en-US" altLang="zh-CN" b="0" dirty="0">
                <a:solidFill>
                  <a:srgbClr val="FF0066"/>
                </a:solidFill>
                <a:latin typeface="+mj-ea"/>
                <a:ea typeface="+mj-ea"/>
              </a:rPr>
              <a:t>CO</a:t>
            </a:r>
            <a:r>
              <a:rPr kumimoji="1" lang="en-US" altLang="zh-CN" b="0" baseline="-25000" dirty="0">
                <a:solidFill>
                  <a:srgbClr val="FF0066"/>
                </a:solidFill>
                <a:latin typeface="+mj-ea"/>
                <a:ea typeface="+mj-ea"/>
              </a:rPr>
              <a:t>2</a:t>
            </a:r>
            <a:r>
              <a:rPr kumimoji="1" lang="en-US" altLang="zh-CN" b="0" dirty="0">
                <a:latin typeface="+mj-ea"/>
                <a:ea typeface="+mj-ea"/>
              </a:rPr>
              <a:t>）</a:t>
            </a:r>
            <a:endParaRPr kumimoji="1" lang="en-US" altLang="zh-CN" b="0" dirty="0">
              <a:latin typeface="+mj-ea"/>
              <a:ea typeface="+mj-ea"/>
            </a:endParaRPr>
          </a:p>
          <a:p>
            <a:pPr lvl="1" eaLnBrk="1" hangingPunct="1">
              <a:lnSpc>
                <a:spcPct val="120000"/>
              </a:lnSpc>
              <a:buClr>
                <a:srgbClr val="FF0000"/>
              </a:buClr>
              <a:buSzTx/>
              <a:buFont typeface="Wingdings" panose="05000000000000000000" pitchFamily="2" charset="2"/>
              <a:buChar char="ü"/>
              <a:defRPr/>
            </a:pPr>
            <a:r>
              <a:rPr kumimoji="1" lang="zh-CN" altLang="en-US" b="0" dirty="0">
                <a:latin typeface="+mj-ea"/>
                <a:ea typeface="+mj-ea"/>
              </a:rPr>
              <a:t> 三次不可逆反应</a:t>
            </a:r>
            <a:endParaRPr kumimoji="1" lang="zh-CN" altLang="en-US" b="0" dirty="0">
              <a:latin typeface="+mj-ea"/>
              <a:ea typeface="+mj-ea"/>
            </a:endParaRPr>
          </a:p>
          <a:p>
            <a:pPr lvl="1" eaLnBrk="1" hangingPunct="1">
              <a:lnSpc>
                <a:spcPct val="120000"/>
              </a:lnSpc>
              <a:buClr>
                <a:srgbClr val="FF0000"/>
              </a:buClr>
              <a:buSzTx/>
              <a:buFont typeface="Wingdings" panose="05000000000000000000" pitchFamily="2" charset="2"/>
              <a:buNone/>
              <a:defRPr/>
            </a:pPr>
            <a:r>
              <a:rPr kumimoji="1" lang="zh-CN" altLang="en-US" b="0" dirty="0">
                <a:latin typeface="+mj-ea"/>
                <a:ea typeface="+mj-ea"/>
              </a:rPr>
              <a:t>     关键酶有： </a:t>
            </a:r>
            <a:r>
              <a:rPr kumimoji="1" lang="zh-CN" altLang="en-US" b="0" dirty="0">
                <a:solidFill>
                  <a:srgbClr val="FF0000"/>
                </a:solidFill>
                <a:latin typeface="+mj-ea"/>
                <a:ea typeface="+mj-ea"/>
              </a:rPr>
              <a:t>柠檬酸合酶</a:t>
            </a:r>
            <a:endParaRPr kumimoji="1" lang="zh-CN" altLang="en-US" b="0" dirty="0">
              <a:solidFill>
                <a:srgbClr val="FF0000"/>
              </a:solidFill>
              <a:latin typeface="+mj-ea"/>
              <a:ea typeface="+mj-ea"/>
            </a:endParaRPr>
          </a:p>
          <a:p>
            <a:pPr eaLnBrk="1" hangingPunct="1">
              <a:lnSpc>
                <a:spcPct val="120000"/>
              </a:lnSpc>
              <a:spcBef>
                <a:spcPct val="0"/>
              </a:spcBef>
              <a:buClr>
                <a:srgbClr val="FF0000"/>
              </a:buClr>
              <a:buSzTx/>
              <a:buFont typeface="Wingdings" panose="05000000000000000000" pitchFamily="2" charset="2"/>
              <a:buNone/>
              <a:defRPr/>
            </a:pPr>
            <a:r>
              <a:rPr kumimoji="1" lang="zh-CN" altLang="en-US" sz="2800" b="0" dirty="0">
                <a:solidFill>
                  <a:srgbClr val="FF0000"/>
                </a:solidFill>
                <a:latin typeface="+mj-ea"/>
                <a:ea typeface="+mj-ea"/>
              </a:rPr>
              <a:t>                  异柠檬酸脱氢酶</a:t>
            </a:r>
            <a:endParaRPr kumimoji="1" lang="zh-CN" altLang="en-US" sz="2800" b="0" dirty="0">
              <a:solidFill>
                <a:srgbClr val="FF0000"/>
              </a:solidFill>
              <a:latin typeface="+mj-ea"/>
              <a:ea typeface="+mj-ea"/>
            </a:endParaRPr>
          </a:p>
          <a:p>
            <a:pPr eaLnBrk="1" hangingPunct="1">
              <a:lnSpc>
                <a:spcPct val="120000"/>
              </a:lnSpc>
              <a:spcBef>
                <a:spcPct val="0"/>
              </a:spcBef>
              <a:buClr>
                <a:srgbClr val="FF0000"/>
              </a:buClr>
              <a:buSzTx/>
              <a:buFont typeface="Wingdings" panose="05000000000000000000" pitchFamily="2" charset="2"/>
              <a:buNone/>
              <a:defRPr/>
            </a:pPr>
            <a:r>
              <a:rPr kumimoji="1" lang="en-US" altLang="zh-CN" sz="2800" b="0" dirty="0">
                <a:solidFill>
                  <a:srgbClr val="FF0000"/>
                </a:solidFill>
                <a:latin typeface="+mj-ea"/>
                <a:ea typeface="+mj-ea"/>
              </a:rPr>
              <a:t>                  α-</a:t>
            </a:r>
            <a:r>
              <a:rPr kumimoji="1" lang="zh-CN" altLang="en-US" sz="2800" b="0" dirty="0">
                <a:solidFill>
                  <a:srgbClr val="FF0000"/>
                </a:solidFill>
                <a:latin typeface="+mj-ea"/>
                <a:ea typeface="+mj-ea"/>
              </a:rPr>
              <a:t>酮戊二酸脱氢酶复合体</a:t>
            </a:r>
            <a:r>
              <a:rPr kumimoji="1" lang="zh-CN" altLang="en-US" sz="2800" b="0" dirty="0">
                <a:solidFill>
                  <a:schemeClr val="tx2"/>
                </a:solidFill>
                <a:latin typeface="+mj-ea"/>
                <a:ea typeface="+mj-ea"/>
              </a:rPr>
              <a:t>                </a:t>
            </a:r>
            <a:endParaRPr kumimoji="1" lang="zh-CN" altLang="en-US" sz="2800" b="0" dirty="0">
              <a:solidFill>
                <a:srgbClr val="FFCC99"/>
              </a:solidFill>
              <a:latin typeface="+mj-ea"/>
              <a:ea typeface="+mj-ea"/>
            </a:endParaRPr>
          </a:p>
          <a:p>
            <a:pPr lvl="1" eaLnBrk="1" hangingPunct="1">
              <a:lnSpc>
                <a:spcPct val="120000"/>
              </a:lnSpc>
              <a:buClr>
                <a:srgbClr val="FF0000"/>
              </a:buClr>
              <a:buSzTx/>
              <a:buFont typeface="Wingdings" panose="05000000000000000000" pitchFamily="2" charset="2"/>
              <a:buChar char="ü"/>
              <a:defRPr/>
            </a:pPr>
            <a:r>
              <a:rPr kumimoji="1" lang="zh-CN" altLang="en-US" b="0" dirty="0">
                <a:latin typeface="+mj-ea"/>
                <a:ea typeface="+mj-ea"/>
              </a:rPr>
              <a:t> 四次脱氢 </a:t>
            </a:r>
            <a:r>
              <a:rPr kumimoji="1" lang="en-US" altLang="zh-CN" b="0" dirty="0">
                <a:latin typeface="+mj-ea"/>
                <a:ea typeface="+mj-ea"/>
              </a:rPr>
              <a:t>(</a:t>
            </a:r>
            <a:r>
              <a:rPr kumimoji="1" lang="en-US" altLang="zh-CN" b="0" dirty="0">
                <a:solidFill>
                  <a:srgbClr val="FF0D6F"/>
                </a:solidFill>
                <a:latin typeface="+mj-ea"/>
                <a:ea typeface="+mj-ea"/>
              </a:rPr>
              <a:t>1</a:t>
            </a:r>
            <a:r>
              <a:rPr kumimoji="1" lang="zh-CN" altLang="en-US" b="0" dirty="0">
                <a:solidFill>
                  <a:srgbClr val="FF0D6F"/>
                </a:solidFill>
                <a:latin typeface="+mj-ea"/>
                <a:ea typeface="+mj-ea"/>
              </a:rPr>
              <a:t>分子</a:t>
            </a:r>
            <a:r>
              <a:rPr kumimoji="1" lang="en-US" altLang="zh-CN" b="0" dirty="0">
                <a:solidFill>
                  <a:srgbClr val="FF0D6F"/>
                </a:solidFill>
                <a:latin typeface="+mj-ea"/>
                <a:ea typeface="+mj-ea"/>
              </a:rPr>
              <a:t>FADH</a:t>
            </a:r>
            <a:r>
              <a:rPr kumimoji="1" lang="en-US" altLang="zh-CN" b="0" baseline="-25000" dirty="0">
                <a:solidFill>
                  <a:srgbClr val="FF0D6F"/>
                </a:solidFill>
                <a:latin typeface="+mj-ea"/>
                <a:ea typeface="+mj-ea"/>
              </a:rPr>
              <a:t>2</a:t>
            </a:r>
            <a:r>
              <a:rPr kumimoji="1" lang="en-US" altLang="zh-CN" b="0" dirty="0">
                <a:solidFill>
                  <a:srgbClr val="FF0D6F"/>
                </a:solidFill>
                <a:latin typeface="+mj-ea"/>
                <a:ea typeface="+mj-ea"/>
              </a:rPr>
              <a:t>，3</a:t>
            </a:r>
            <a:r>
              <a:rPr kumimoji="1" lang="zh-CN" altLang="en-US" b="0" dirty="0">
                <a:solidFill>
                  <a:srgbClr val="FF0D6F"/>
                </a:solidFill>
                <a:latin typeface="+mj-ea"/>
                <a:ea typeface="+mj-ea"/>
              </a:rPr>
              <a:t>分子</a:t>
            </a:r>
            <a:r>
              <a:rPr kumimoji="1" lang="en-US" altLang="zh-CN" b="0" dirty="0">
                <a:solidFill>
                  <a:srgbClr val="FF0D6F"/>
                </a:solidFill>
                <a:latin typeface="+mj-ea"/>
                <a:ea typeface="+mj-ea"/>
              </a:rPr>
              <a:t>NADH+H</a:t>
            </a:r>
            <a:r>
              <a:rPr kumimoji="1" lang="en-US" altLang="zh-CN" b="0" baseline="30000" dirty="0">
                <a:solidFill>
                  <a:srgbClr val="FF0D6F"/>
                </a:solidFill>
                <a:latin typeface="+mj-ea"/>
                <a:ea typeface="+mj-ea"/>
              </a:rPr>
              <a:t>+</a:t>
            </a:r>
            <a:r>
              <a:rPr kumimoji="1" lang="zh-CN" altLang="en-US" b="0" dirty="0">
                <a:latin typeface="+mj-ea"/>
                <a:ea typeface="+mj-ea"/>
              </a:rPr>
              <a:t> </a:t>
            </a:r>
            <a:r>
              <a:rPr kumimoji="1" lang="en-US" altLang="zh-CN" b="0" dirty="0">
                <a:latin typeface="+mj-ea"/>
                <a:ea typeface="+mj-ea"/>
              </a:rPr>
              <a:t>)</a:t>
            </a:r>
            <a:endParaRPr kumimoji="1" lang="en-US" altLang="zh-CN" b="0" dirty="0">
              <a:latin typeface="+mj-ea"/>
              <a:ea typeface="+mj-ea"/>
            </a:endParaRPr>
          </a:p>
        </p:txBody>
      </p:sp>
      <p:sp>
        <p:nvSpPr>
          <p:cNvPr id="165891" name="Rectangle 4"/>
          <p:cNvSpPr>
            <a:spLocks noChangeArrowheads="1"/>
          </p:cNvSpPr>
          <p:nvPr/>
        </p:nvSpPr>
        <p:spPr bwMode="auto">
          <a:xfrm>
            <a:off x="2674939" y="952500"/>
            <a:ext cx="1620957" cy="627864"/>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buFont typeface="Wingdings" panose="05000000000000000000" pitchFamily="2" charset="2"/>
              <a:buNone/>
              <a:defRPr/>
            </a:pPr>
            <a:r>
              <a:rPr lang="en-US" altLang="zh-CN" b="0" dirty="0">
                <a:solidFill>
                  <a:srgbClr val="660033"/>
                </a:solidFill>
                <a:latin typeface="+mj-ea"/>
              </a:rPr>
              <a:t>① </a:t>
            </a:r>
            <a:r>
              <a:rPr lang="zh-CN" altLang="en-US" b="0" dirty="0">
                <a:solidFill>
                  <a:srgbClr val="660033"/>
                </a:solidFill>
                <a:latin typeface="+mj-ea"/>
                <a:ea typeface="+mj-ea"/>
              </a:rPr>
              <a:t>要点</a:t>
            </a:r>
            <a:endParaRPr lang="zh-CN" altLang="en-US" b="0" dirty="0">
              <a:solidFill>
                <a:srgbClr val="660033"/>
              </a:solidFill>
              <a:latin typeface="+mj-ea"/>
              <a:ea typeface="+mj-ea"/>
            </a:endParaRPr>
          </a:p>
        </p:txBody>
      </p:sp>
      <p:sp>
        <p:nvSpPr>
          <p:cNvPr id="60419" name="Rectangle 3"/>
          <p:cNvSpPr>
            <a:spLocks noChangeArrowheads="1"/>
          </p:cNvSpPr>
          <p:nvPr/>
        </p:nvSpPr>
        <p:spPr bwMode="auto">
          <a:xfrm>
            <a:off x="2633425" y="5776914"/>
            <a:ext cx="48653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lang="zh-CN" altLang="en-US" b="0" dirty="0">
                <a:solidFill>
                  <a:srgbClr val="660033"/>
                </a:solidFill>
                <a:latin typeface="微软雅黑" panose="020B0503020204020204" pitchFamily="34" charset="-122"/>
                <a:ea typeface="微软雅黑" panose="020B0503020204020204" pitchFamily="34" charset="-122"/>
              </a:rPr>
              <a:t>② </a:t>
            </a:r>
            <a:r>
              <a:rPr lang="en-US" altLang="zh-CN" sz="2800" b="0" dirty="0">
                <a:solidFill>
                  <a:srgbClr val="660033"/>
                </a:solidFill>
                <a:latin typeface="微软雅黑" panose="020B0503020204020204" pitchFamily="34" charset="-122"/>
                <a:ea typeface="微软雅黑" panose="020B0503020204020204" pitchFamily="34" charset="-122"/>
              </a:rPr>
              <a:t>TCA cycle</a:t>
            </a:r>
            <a:r>
              <a:rPr lang="zh-CN" altLang="en-US" sz="2800" b="0" dirty="0">
                <a:solidFill>
                  <a:srgbClr val="660033"/>
                </a:solidFill>
                <a:latin typeface="微软雅黑" panose="020B0503020204020204" pitchFamily="34" charset="-122"/>
                <a:ea typeface="微软雅黑" panose="020B0503020204020204" pitchFamily="34" charset="-122"/>
              </a:rPr>
              <a:t>的部位：</a:t>
            </a:r>
            <a:r>
              <a:rPr lang="zh-CN" altLang="en-US" sz="2800" b="0" dirty="0">
                <a:latin typeface="微软雅黑" panose="020B0503020204020204" pitchFamily="34" charset="-122"/>
                <a:ea typeface="微软雅黑" panose="020B0503020204020204" pitchFamily="34" charset="-122"/>
              </a:rPr>
              <a:t>线粒体</a:t>
            </a:r>
            <a:endParaRPr kumimoji="1" lang="zh-CN" altLang="en-US" sz="2800" b="0" dirty="0">
              <a:solidFill>
                <a:srgbClr val="660033"/>
              </a:solidFill>
              <a:latin typeface="微软雅黑" panose="020B0503020204020204" pitchFamily="34" charset="-122"/>
              <a:ea typeface="微软雅黑" panose="020B0503020204020204" pitchFamily="34" charset="-122"/>
            </a:endParaRPr>
          </a:p>
        </p:txBody>
      </p:sp>
      <p:sp>
        <p:nvSpPr>
          <p:cNvPr id="5" name="Rectangle 2"/>
          <p:cNvSpPr txBox="1">
            <a:spLocks noChangeArrowheads="1"/>
          </p:cNvSpPr>
          <p:nvPr/>
        </p:nvSpPr>
        <p:spPr bwMode="auto">
          <a:xfrm>
            <a:off x="2927351" y="180976"/>
            <a:ext cx="6264275" cy="461963"/>
          </a:xfrm>
          <a:prstGeom prst="rect">
            <a:avLst/>
          </a:prstGeom>
          <a:noFill/>
          <a:ln>
            <a:noFill/>
          </a:ln>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eaLnBrk="1" hangingPunct="1">
              <a:defRPr/>
            </a:pPr>
            <a:r>
              <a:rPr lang="zh-CN" altLang="en-US" b="0" kern="0" dirty="0">
                <a:solidFill>
                  <a:srgbClr val="660033"/>
                </a:solidFill>
                <a:latin typeface="+mj-ea"/>
              </a:rPr>
              <a:t>三羧酸循环小结</a:t>
            </a:r>
            <a:r>
              <a:rPr lang="zh-CN" altLang="en-US" b="0" kern="0" dirty="0">
                <a:solidFill>
                  <a:srgbClr val="7030A0"/>
                </a:solidFill>
                <a:latin typeface="+mj-ea"/>
              </a:rPr>
              <a:t>  </a:t>
            </a:r>
            <a:endParaRPr lang="zh-CN" altLang="en-US" b="0" kern="0" dirty="0">
              <a:solidFill>
                <a:srgbClr val="7030A0"/>
              </a:solidFill>
              <a:latin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dissolve">
                                      <p:cBhvr>
                                        <p:cTn id="7" dur="500"/>
                                        <p:tgtEl>
                                          <p:spTgt spid="194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563">
                                            <p:txEl>
                                              <p:pRg st="1" end="1"/>
                                            </p:txEl>
                                          </p:spTgt>
                                        </p:tgtEl>
                                        <p:attrNameLst>
                                          <p:attrName>style.visibility</p:attrName>
                                        </p:attrNameLst>
                                      </p:cBhvr>
                                      <p:to>
                                        <p:strVal val="visible"/>
                                      </p:to>
                                    </p:set>
                                    <p:animEffect transition="in" filter="dissolve">
                                      <p:cBhvr>
                                        <p:cTn id="12" dur="500"/>
                                        <p:tgtEl>
                                          <p:spTgt spid="194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4563">
                                            <p:txEl>
                                              <p:pRg st="2" end="2"/>
                                            </p:txEl>
                                          </p:spTgt>
                                        </p:tgtEl>
                                        <p:attrNameLst>
                                          <p:attrName>style.visibility</p:attrName>
                                        </p:attrNameLst>
                                      </p:cBhvr>
                                      <p:to>
                                        <p:strVal val="visible"/>
                                      </p:to>
                                    </p:set>
                                    <p:animEffect transition="in" filter="dissolve">
                                      <p:cBhvr>
                                        <p:cTn id="17" dur="500"/>
                                        <p:tgtEl>
                                          <p:spTgt spid="194563">
                                            <p:txEl>
                                              <p:pRg st="2" end="2"/>
                                            </p:txEl>
                                          </p:spTgt>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94563">
                                            <p:txEl>
                                              <p:pRg st="3" end="3"/>
                                            </p:txEl>
                                          </p:spTgt>
                                        </p:tgtEl>
                                        <p:attrNameLst>
                                          <p:attrName>style.visibility</p:attrName>
                                        </p:attrNameLst>
                                      </p:cBhvr>
                                      <p:to>
                                        <p:strVal val="visible"/>
                                      </p:to>
                                    </p:set>
                                    <p:animEffect transition="in" filter="dissolve">
                                      <p:cBhvr>
                                        <p:cTn id="20" dur="500"/>
                                        <p:tgtEl>
                                          <p:spTgt spid="194563">
                                            <p:txEl>
                                              <p:pRg st="3" end="3"/>
                                            </p:txEl>
                                          </p:spTgt>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94563">
                                            <p:txEl>
                                              <p:pRg st="4" end="4"/>
                                            </p:txEl>
                                          </p:spTgt>
                                        </p:tgtEl>
                                        <p:attrNameLst>
                                          <p:attrName>style.visibility</p:attrName>
                                        </p:attrNameLst>
                                      </p:cBhvr>
                                      <p:to>
                                        <p:strVal val="visible"/>
                                      </p:to>
                                    </p:set>
                                    <p:animEffect transition="in" filter="dissolve">
                                      <p:cBhvr>
                                        <p:cTn id="24" dur="500"/>
                                        <p:tgtEl>
                                          <p:spTgt spid="194563">
                                            <p:txEl>
                                              <p:pRg st="4" end="4"/>
                                            </p:txEl>
                                          </p:spTgt>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194563">
                                            <p:txEl>
                                              <p:pRg st="5" end="5"/>
                                            </p:txEl>
                                          </p:spTgt>
                                        </p:tgtEl>
                                        <p:attrNameLst>
                                          <p:attrName>style.visibility</p:attrName>
                                        </p:attrNameLst>
                                      </p:cBhvr>
                                      <p:to>
                                        <p:strVal val="visible"/>
                                      </p:to>
                                    </p:set>
                                    <p:animEffect transition="in" filter="dissolve">
                                      <p:cBhvr>
                                        <p:cTn id="28" dur="500"/>
                                        <p:tgtEl>
                                          <p:spTgt spid="19456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194563">
                                            <p:txEl>
                                              <p:pRg st="6" end="6"/>
                                            </p:txEl>
                                          </p:spTgt>
                                        </p:tgtEl>
                                        <p:attrNameLst>
                                          <p:attrName>style.visibility</p:attrName>
                                        </p:attrNameLst>
                                      </p:cBhvr>
                                      <p:to>
                                        <p:strVal val="visible"/>
                                      </p:to>
                                    </p:set>
                                    <p:animEffect transition="in" filter="dissolve">
                                      <p:cBhvr>
                                        <p:cTn id="33" dur="500"/>
                                        <p:tgtEl>
                                          <p:spTgt spid="19456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0419"/>
                                        </p:tgtEl>
                                        <p:attrNameLst>
                                          <p:attrName>style.visibility</p:attrName>
                                        </p:attrNameLst>
                                      </p:cBhvr>
                                      <p:to>
                                        <p:strVal val="visible"/>
                                      </p:to>
                                    </p:set>
                                    <p:animEffect transition="in" filter="blinds(horizontal)">
                                      <p:cBhvr>
                                        <p:cTn id="38" dur="500"/>
                                        <p:tgtEl>
                                          <p:spTgt spid="6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autoUpdateAnimBg="0" build="p"/>
      <p:bldP spid="6041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160589" y="620713"/>
            <a:ext cx="8505825" cy="2735262"/>
          </a:xfrm>
        </p:spPr>
        <p:txBody>
          <a:bodyPr/>
          <a:lstStyle/>
          <a:p>
            <a:pPr>
              <a:defRPr/>
            </a:pPr>
            <a:r>
              <a:rPr lang="zh-CN" altLang="en-US" b="0" dirty="0"/>
              <a:t>打油诗一首 </a:t>
            </a:r>
            <a:r>
              <a:rPr lang="en-US" altLang="zh-CN" b="0" dirty="0"/>
              <a:t>《</a:t>
            </a:r>
            <a:r>
              <a:rPr lang="zh-CN" altLang="en-US" b="0" dirty="0"/>
              <a:t>七言绝句之</a:t>
            </a:r>
            <a:r>
              <a:rPr lang="en-US" altLang="zh-CN" b="0" dirty="0"/>
              <a:t>TCA</a:t>
            </a:r>
            <a:r>
              <a:rPr lang="zh-CN" altLang="en-US" b="0" dirty="0"/>
              <a:t>循环</a:t>
            </a:r>
            <a:r>
              <a:rPr lang="en-US" altLang="zh-CN" b="0" dirty="0"/>
              <a:t>》</a:t>
            </a:r>
            <a:endParaRPr lang="en-US" altLang="zh-CN" b="0" dirty="0"/>
          </a:p>
          <a:p>
            <a:pPr>
              <a:defRPr/>
            </a:pPr>
            <a:endParaRPr lang="en-US" altLang="zh-CN" b="0" dirty="0"/>
          </a:p>
          <a:p>
            <a:pPr marL="716280" indent="0">
              <a:lnSpc>
                <a:spcPct val="130000"/>
              </a:lnSpc>
              <a:buNone/>
              <a:defRPr/>
            </a:pPr>
            <a:r>
              <a:rPr lang="zh-CN" altLang="en-US" b="0" dirty="0">
                <a:solidFill>
                  <a:srgbClr val="0000CC"/>
                </a:solidFill>
              </a:rPr>
              <a:t>草酰乙酰生柠檬</a:t>
            </a:r>
            <a:r>
              <a:rPr lang="en-US" altLang="zh-CN" b="0" dirty="0">
                <a:solidFill>
                  <a:srgbClr val="0000CC"/>
                </a:solidFill>
              </a:rPr>
              <a:t>, </a:t>
            </a:r>
            <a:r>
              <a:rPr lang="zh-CN" altLang="en-US" b="0" dirty="0">
                <a:solidFill>
                  <a:srgbClr val="0000CC"/>
                </a:solidFill>
              </a:rPr>
              <a:t>顺乌异柠 </a:t>
            </a:r>
            <a:r>
              <a:rPr lang="en-US" altLang="zh-CN" b="0" dirty="0">
                <a:solidFill>
                  <a:srgbClr val="0000CC"/>
                </a:solidFill>
              </a:rPr>
              <a:t>α </a:t>
            </a:r>
            <a:r>
              <a:rPr lang="zh-CN" altLang="en-US" b="0" dirty="0">
                <a:solidFill>
                  <a:srgbClr val="0000CC"/>
                </a:solidFill>
              </a:rPr>
              <a:t>酮</a:t>
            </a:r>
            <a:r>
              <a:rPr lang="en-US" altLang="zh-CN" b="0" dirty="0">
                <a:solidFill>
                  <a:srgbClr val="0000CC"/>
                </a:solidFill>
              </a:rPr>
              <a:t>, </a:t>
            </a:r>
            <a:endParaRPr lang="en-US" altLang="zh-CN" b="0" dirty="0">
              <a:solidFill>
                <a:srgbClr val="0000CC"/>
              </a:solidFill>
            </a:endParaRPr>
          </a:p>
          <a:p>
            <a:pPr marL="716280" indent="0">
              <a:lnSpc>
                <a:spcPct val="130000"/>
              </a:lnSpc>
              <a:buNone/>
              <a:defRPr/>
            </a:pPr>
            <a:r>
              <a:rPr lang="zh-CN" altLang="en-US" b="0" dirty="0">
                <a:solidFill>
                  <a:srgbClr val="0000CC"/>
                </a:solidFill>
              </a:rPr>
              <a:t>琥酰琥珀延胡索</a:t>
            </a:r>
            <a:r>
              <a:rPr lang="en-US" altLang="zh-CN" b="0" dirty="0">
                <a:solidFill>
                  <a:srgbClr val="0000CC"/>
                </a:solidFill>
              </a:rPr>
              <a:t>, </a:t>
            </a:r>
            <a:r>
              <a:rPr lang="zh-CN" altLang="en-US" b="0" dirty="0">
                <a:solidFill>
                  <a:srgbClr val="0000CC"/>
                </a:solidFill>
              </a:rPr>
              <a:t>苹果落回草丛中</a:t>
            </a:r>
            <a:r>
              <a:rPr lang="en-US" altLang="zh-CN" b="0" dirty="0">
                <a:solidFill>
                  <a:srgbClr val="0000CC"/>
                </a:solidFill>
              </a:rPr>
              <a:t>.</a:t>
            </a:r>
            <a:endParaRPr lang="zh-CN" altLang="en-US" b="0" dirty="0">
              <a:solidFill>
                <a:srgbClr val="0000CC"/>
              </a:solidFill>
            </a:endParaRPr>
          </a:p>
        </p:txBody>
      </p:sp>
      <p:sp>
        <p:nvSpPr>
          <p:cNvPr id="4" name="文本框 3"/>
          <p:cNvSpPr txBox="1">
            <a:spLocks noChangeArrowheads="1"/>
          </p:cNvSpPr>
          <p:nvPr/>
        </p:nvSpPr>
        <p:spPr bwMode="auto">
          <a:xfrm>
            <a:off x="1919288" y="3600450"/>
            <a:ext cx="8640762" cy="2138406"/>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901700">
              <a:lnSpc>
                <a:spcPct val="130000"/>
              </a:lnSpc>
              <a:spcBef>
                <a:spcPct val="0"/>
              </a:spcBef>
              <a:buClrTx/>
              <a:buSzTx/>
              <a:buNone/>
              <a:defRPr/>
            </a:pPr>
            <a:r>
              <a:rPr lang="zh-CN" altLang="en-US" b="0" dirty="0">
                <a:solidFill>
                  <a:srgbClr val="0000CC"/>
                </a:solidFill>
                <a:latin typeface="微软雅黑" panose="020B0503020204020204" pitchFamily="34" charset="-122"/>
                <a:ea typeface="微软雅黑" panose="020B0503020204020204" pitchFamily="34" charset="-122"/>
              </a:rPr>
              <a:t>“草柠异酮琥琥延苹”</a:t>
            </a:r>
            <a:endParaRPr lang="en-US" altLang="zh-CN" b="0" dirty="0">
              <a:solidFill>
                <a:srgbClr val="0000CC"/>
              </a:solidFill>
              <a:latin typeface="微软雅黑" panose="020B0503020204020204" pitchFamily="34" charset="-122"/>
              <a:ea typeface="微软雅黑" panose="020B0503020204020204" pitchFamily="34" charset="-122"/>
            </a:endParaRPr>
          </a:p>
          <a:p>
            <a:pPr marL="901700">
              <a:spcBef>
                <a:spcPct val="0"/>
              </a:spcBef>
              <a:buClrTx/>
              <a:buSzTx/>
              <a:buNone/>
              <a:defRPr/>
            </a:pPr>
            <a:endParaRPr lang="zh-CN" altLang="en-US" b="0" dirty="0">
              <a:solidFill>
                <a:srgbClr val="0000CC"/>
              </a:solidFill>
              <a:latin typeface="微软雅黑" panose="020B0503020204020204" pitchFamily="34" charset="-122"/>
              <a:ea typeface="微软雅黑" panose="020B0503020204020204" pitchFamily="34" charset="-122"/>
            </a:endParaRPr>
          </a:p>
          <a:p>
            <a:pPr>
              <a:lnSpc>
                <a:spcPct val="130000"/>
              </a:lnSpc>
              <a:spcBef>
                <a:spcPct val="0"/>
              </a:spcBef>
              <a:buClrTx/>
              <a:buSzTx/>
              <a:buFontTx/>
              <a:buNone/>
              <a:defRPr/>
            </a:pPr>
            <a:r>
              <a:rPr lang="zh-CN" altLang="en-US" sz="2400" b="0" dirty="0">
                <a:latin typeface="微软雅黑" panose="020B0503020204020204" pitchFamily="34" charset="-122"/>
                <a:ea typeface="微软雅黑" panose="020B0503020204020204" pitchFamily="34" charset="-122"/>
              </a:rPr>
              <a:t>     草酰乙酸、柠檬酸、异柠檬酸、 </a:t>
            </a:r>
            <a:r>
              <a:rPr lang="el-GR" altLang="zh-CN" sz="2400" b="0" dirty="0">
                <a:latin typeface="微软雅黑" panose="020B0503020204020204" pitchFamily="34" charset="-122"/>
                <a:ea typeface="微软雅黑" panose="020B0503020204020204" pitchFamily="34" charset="-122"/>
              </a:rPr>
              <a:t>α</a:t>
            </a:r>
            <a:r>
              <a:rPr lang="zh-CN" altLang="en-US" sz="2400" b="0" dirty="0">
                <a:latin typeface="微软雅黑" panose="020B0503020204020204" pitchFamily="34" charset="-122"/>
                <a:ea typeface="微软雅黑" panose="020B0503020204020204" pitchFamily="34" charset="-122"/>
              </a:rPr>
              <a:t>酮戊二酸 ←前四个字</a:t>
            </a:r>
            <a:endParaRPr lang="zh-CN" altLang="en-US" sz="2400" b="0" dirty="0">
              <a:latin typeface="微软雅黑" panose="020B0503020204020204" pitchFamily="34" charset="-122"/>
              <a:ea typeface="微软雅黑" panose="020B0503020204020204" pitchFamily="34" charset="-122"/>
            </a:endParaRPr>
          </a:p>
          <a:p>
            <a:pPr>
              <a:lnSpc>
                <a:spcPct val="130000"/>
              </a:lnSpc>
              <a:spcBef>
                <a:spcPct val="0"/>
              </a:spcBef>
              <a:buClrTx/>
              <a:buSzTx/>
              <a:buFontTx/>
              <a:buNone/>
              <a:defRPr/>
            </a:pPr>
            <a:r>
              <a:rPr lang="zh-CN" altLang="en-US" sz="2400" b="0" dirty="0">
                <a:latin typeface="微软雅黑" panose="020B0503020204020204" pitchFamily="34" charset="-122"/>
                <a:ea typeface="微软雅黑" panose="020B0503020204020204" pitchFamily="34" charset="-122"/>
              </a:rPr>
              <a:t>     琥珀酰</a:t>
            </a:r>
            <a:r>
              <a:rPr lang="en-US" altLang="zh-CN" sz="2400" b="0" dirty="0">
                <a:latin typeface="微软雅黑" panose="020B0503020204020204" pitchFamily="34" charset="-122"/>
                <a:ea typeface="微软雅黑" panose="020B0503020204020204" pitchFamily="34" charset="-122"/>
              </a:rPr>
              <a:t>CoA</a:t>
            </a:r>
            <a:r>
              <a:rPr lang="zh-CN" altLang="en-US" sz="2400" b="0" dirty="0">
                <a:latin typeface="微软雅黑" panose="020B0503020204020204" pitchFamily="34" charset="-122"/>
                <a:ea typeface="微软雅黑" panose="020B0503020204020204" pitchFamily="34" charset="-122"/>
              </a:rPr>
              <a:t>、琥珀酸、 延胡索酸、 苹果酸</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后四个字</a:t>
            </a:r>
            <a:r>
              <a:rPr lang="en-US" altLang="zh-CN" sz="2400" b="0" dirty="0">
                <a:latin typeface="微软雅黑" panose="020B0503020204020204" pitchFamily="34" charset="-122"/>
                <a:ea typeface="微软雅黑" panose="020B0503020204020204" pitchFamily="34" charset="-122"/>
              </a:rPr>
              <a:t>)</a:t>
            </a: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body" idx="4294967295"/>
          </p:nvPr>
        </p:nvSpPr>
        <p:spPr>
          <a:xfrm>
            <a:off x="1642194" y="771513"/>
            <a:ext cx="8682136" cy="2376488"/>
          </a:xfrm>
        </p:spPr>
        <p:txBody>
          <a:bodyPr/>
          <a:lstStyle/>
          <a:p>
            <a:pPr eaLnBrk="1" hangingPunct="1">
              <a:lnSpc>
                <a:spcPct val="120000"/>
              </a:lnSpc>
              <a:buFontTx/>
              <a:buNone/>
              <a:defRPr/>
            </a:pPr>
            <a:r>
              <a:rPr lang="en-US" altLang="zh-CN" b="0" dirty="0">
                <a:solidFill>
                  <a:srgbClr val="660033"/>
                </a:solidFill>
                <a:latin typeface="+mj-ea"/>
                <a:ea typeface="+mj-ea"/>
              </a:rPr>
              <a:t>③ </a:t>
            </a:r>
            <a:r>
              <a:rPr lang="zh-CN" altLang="en-US" b="0" dirty="0">
                <a:solidFill>
                  <a:srgbClr val="660033"/>
                </a:solidFill>
                <a:latin typeface="+mj-ea"/>
                <a:ea typeface="+mj-ea"/>
              </a:rPr>
              <a:t>三羧酸循环的中间产物</a:t>
            </a:r>
            <a:endParaRPr lang="zh-CN" altLang="en-US" b="0" dirty="0">
              <a:solidFill>
                <a:srgbClr val="660033"/>
              </a:solidFill>
              <a:latin typeface="+mj-ea"/>
              <a:ea typeface="+mj-ea"/>
            </a:endParaRPr>
          </a:p>
          <a:p>
            <a:pPr marL="592455" indent="-457200" eaLnBrk="1" hangingPunct="1">
              <a:lnSpc>
                <a:spcPct val="120000"/>
              </a:lnSpc>
              <a:buClr>
                <a:schemeClr val="tx1"/>
              </a:buClr>
              <a:buFont typeface="Wingdings" panose="05000000000000000000" pitchFamily="2" charset="2"/>
              <a:buChar char="u"/>
              <a:defRPr/>
            </a:pPr>
            <a:r>
              <a:rPr lang="zh-CN" altLang="en-US" sz="2800" b="0" dirty="0">
                <a:latin typeface="+mj-ea"/>
                <a:ea typeface="+mj-ea"/>
              </a:rPr>
              <a:t>起</a:t>
            </a:r>
            <a:r>
              <a:rPr lang="zh-CN" altLang="en-US" sz="2800" b="0" dirty="0">
                <a:solidFill>
                  <a:srgbClr val="FF0000"/>
                </a:solidFill>
                <a:latin typeface="+mj-ea"/>
                <a:ea typeface="+mj-ea"/>
              </a:rPr>
              <a:t>类似催化剂</a:t>
            </a:r>
            <a:r>
              <a:rPr lang="zh-CN" altLang="en-US" sz="2800" b="0" dirty="0">
                <a:latin typeface="+mj-ea"/>
                <a:ea typeface="+mj-ea"/>
              </a:rPr>
              <a:t>的作用，其浓度直接影响三羧酸循环的效率。任何一种中间产物浓度降低时，都会促使</a:t>
            </a:r>
            <a:r>
              <a:rPr lang="zh-CN" altLang="en-US" sz="2800" b="0" dirty="0">
                <a:solidFill>
                  <a:srgbClr val="0000CC"/>
                </a:solidFill>
                <a:latin typeface="+mj-ea"/>
                <a:ea typeface="+mj-ea"/>
              </a:rPr>
              <a:t>丙酮酸羧化生成草酰乙酸</a:t>
            </a:r>
            <a:r>
              <a:rPr lang="zh-CN" altLang="en-US" sz="2800" b="0" dirty="0">
                <a:latin typeface="+mj-ea"/>
                <a:ea typeface="+mj-ea"/>
              </a:rPr>
              <a:t>。</a:t>
            </a:r>
            <a:endParaRPr lang="en-US" altLang="zh-CN" sz="2800" b="0" dirty="0">
              <a:latin typeface="+mj-ea"/>
              <a:ea typeface="+mj-ea"/>
            </a:endParaRPr>
          </a:p>
        </p:txBody>
      </p:sp>
      <p:sp>
        <p:nvSpPr>
          <p:cNvPr id="61443" name="Rectangle 3"/>
          <p:cNvSpPr>
            <a:spLocks noChangeArrowheads="1"/>
          </p:cNvSpPr>
          <p:nvPr/>
        </p:nvSpPr>
        <p:spPr bwMode="auto">
          <a:xfrm>
            <a:off x="1755701" y="1158500"/>
            <a:ext cx="8012113" cy="609600"/>
          </a:xfrm>
          <a:prstGeom prst="rect">
            <a:avLst/>
          </a:prstGeom>
          <a:noFill/>
          <a:ln w="9525">
            <a:noFill/>
            <a:miter lim="800000"/>
          </a:ln>
          <a:effectLst/>
        </p:spPr>
        <p:txBody>
          <a:bodyPr/>
          <a:lstStyle/>
          <a:p>
            <a:pPr marL="342900" indent="-342900" eaLnBrk="1" hangingPunct="1">
              <a:lnSpc>
                <a:spcPct val="120000"/>
              </a:lnSpc>
              <a:spcBef>
                <a:spcPct val="20000"/>
              </a:spcBef>
              <a:buSzPct val="85000"/>
              <a:buBlip>
                <a:blip r:embed="rId1"/>
              </a:buBlip>
              <a:defRPr/>
            </a:pPr>
            <a:endParaRPr kumimoji="1" lang="zh-CN" altLang="zh-CN" sz="3600" b="0">
              <a:solidFill>
                <a:schemeClr val="hlink"/>
              </a:solidFill>
              <a:effectLst>
                <a:outerShdw blurRad="38100" dist="38100" dir="2700000" algn="tl">
                  <a:srgbClr val="000000"/>
                </a:outerShdw>
              </a:effectLst>
              <a:latin typeface="+mj-ea"/>
              <a:ea typeface="+mj-ea"/>
            </a:endParaRPr>
          </a:p>
        </p:txBody>
      </p:sp>
      <p:sp>
        <p:nvSpPr>
          <p:cNvPr id="3" name="矩形 2"/>
          <p:cNvSpPr/>
          <p:nvPr/>
        </p:nvSpPr>
        <p:spPr>
          <a:xfrm>
            <a:off x="1631505" y="3392559"/>
            <a:ext cx="8928992" cy="2916761"/>
          </a:xfrm>
          <a:prstGeom prst="rect">
            <a:avLst/>
          </a:prstGeom>
        </p:spPr>
        <p:txBody>
          <a:bodyPr wrap="square">
            <a:spAutoFit/>
          </a:bodyPr>
          <a:lstStyle/>
          <a:p>
            <a:pPr marL="592455" indent="-457200" eaLnBrk="1" hangingPunct="1">
              <a:lnSpc>
                <a:spcPct val="120000"/>
              </a:lnSpc>
              <a:spcBef>
                <a:spcPts val="1200"/>
              </a:spcBef>
              <a:buFont typeface="Wingdings" panose="05000000000000000000" pitchFamily="2" charset="2"/>
              <a:buChar char="u"/>
              <a:defRPr/>
            </a:pPr>
            <a:r>
              <a:rPr lang="zh-CN" altLang="en-US" sz="2800" b="0" dirty="0">
                <a:latin typeface="+mj-ea"/>
                <a:ea typeface="+mj-ea"/>
              </a:rPr>
              <a:t>中间产物不能直接在三羧酸循环中被氧化为</a:t>
            </a:r>
            <a:r>
              <a:rPr lang="en-US" altLang="zh-CN" sz="2800" b="0" dirty="0">
                <a:latin typeface="+mj-ea"/>
                <a:ea typeface="+mj-ea"/>
              </a:rPr>
              <a:t>CO</a:t>
            </a:r>
            <a:r>
              <a:rPr lang="en-US" altLang="zh-CN" sz="2800" b="0" baseline="-25000" dirty="0">
                <a:latin typeface="+mj-ea"/>
                <a:ea typeface="+mj-ea"/>
              </a:rPr>
              <a:t>2</a:t>
            </a:r>
            <a:r>
              <a:rPr lang="zh-CN" altLang="en-US" sz="2800" b="0" dirty="0">
                <a:latin typeface="+mj-ea"/>
                <a:ea typeface="+mj-ea"/>
              </a:rPr>
              <a:t>及</a:t>
            </a:r>
            <a:r>
              <a:rPr lang="en-US" altLang="zh-CN" sz="2800" b="0" dirty="0">
                <a:latin typeface="+mj-ea"/>
                <a:ea typeface="+mj-ea"/>
              </a:rPr>
              <a:t>H</a:t>
            </a:r>
            <a:r>
              <a:rPr lang="en-US" altLang="zh-CN" sz="2800" b="0" baseline="-25000" dirty="0">
                <a:latin typeface="+mj-ea"/>
                <a:ea typeface="+mj-ea"/>
              </a:rPr>
              <a:t>2</a:t>
            </a:r>
            <a:r>
              <a:rPr lang="en-US" altLang="zh-CN" sz="2800" b="0" dirty="0">
                <a:latin typeface="+mj-ea"/>
                <a:ea typeface="+mj-ea"/>
              </a:rPr>
              <a:t>O</a:t>
            </a:r>
            <a:r>
              <a:rPr lang="zh-CN" altLang="en-US" sz="2800" b="0" dirty="0">
                <a:latin typeface="+mj-ea"/>
                <a:ea typeface="+mj-ea"/>
              </a:rPr>
              <a:t>（</a:t>
            </a:r>
            <a:r>
              <a:rPr lang="zh-CN" altLang="en-US" sz="2800" b="0" dirty="0">
                <a:solidFill>
                  <a:srgbClr val="0000CC"/>
                </a:solidFill>
                <a:latin typeface="+mj-ea"/>
                <a:ea typeface="+mj-ea"/>
              </a:rPr>
              <a:t>乙酰</a:t>
            </a:r>
            <a:r>
              <a:rPr lang="en-US" altLang="zh-CN" sz="2800" b="0" dirty="0">
                <a:solidFill>
                  <a:srgbClr val="0000CC"/>
                </a:solidFill>
                <a:latin typeface="+mj-ea"/>
                <a:ea typeface="+mj-ea"/>
              </a:rPr>
              <a:t>CoA</a:t>
            </a:r>
            <a:r>
              <a:rPr lang="zh-CN" altLang="en-US" sz="2800" b="0" dirty="0">
                <a:solidFill>
                  <a:srgbClr val="0000CC"/>
                </a:solidFill>
                <a:latin typeface="+mj-ea"/>
                <a:ea typeface="+mj-ea"/>
              </a:rPr>
              <a:t>不是循环的中间产物</a:t>
            </a:r>
            <a:r>
              <a:rPr lang="zh-CN" altLang="en-US" sz="2800" b="0" dirty="0">
                <a:latin typeface="+mj-ea"/>
                <a:ea typeface="+mj-ea"/>
              </a:rPr>
              <a:t>）。</a:t>
            </a:r>
            <a:endParaRPr lang="en-US" altLang="zh-CN" sz="2800" b="0" dirty="0">
              <a:latin typeface="+mj-ea"/>
              <a:ea typeface="+mj-ea"/>
            </a:endParaRPr>
          </a:p>
          <a:p>
            <a:pPr marL="592455" indent="-457200" eaLnBrk="1" hangingPunct="1">
              <a:lnSpc>
                <a:spcPct val="120000"/>
              </a:lnSpc>
              <a:spcBef>
                <a:spcPts val="1200"/>
              </a:spcBef>
              <a:buFont typeface="Wingdings" panose="05000000000000000000" pitchFamily="2" charset="2"/>
              <a:buChar char="u"/>
              <a:defRPr/>
            </a:pPr>
            <a:r>
              <a:rPr lang="zh-CN" altLang="en-US" sz="2800" b="0" dirty="0">
                <a:latin typeface="+mj-ea"/>
                <a:ea typeface="+mj-ea"/>
              </a:rPr>
              <a:t>三羧酸循环的中间产物如需彻底氧化，</a:t>
            </a:r>
            <a:r>
              <a:rPr lang="zh-CN" altLang="en-US" sz="2800" b="0" dirty="0">
                <a:solidFill>
                  <a:srgbClr val="0000CC"/>
                </a:solidFill>
                <a:latin typeface="+mj-ea"/>
                <a:ea typeface="+mj-ea"/>
              </a:rPr>
              <a:t>需要先变为乙酰</a:t>
            </a:r>
            <a:r>
              <a:rPr lang="en-US" altLang="zh-CN" sz="2800" b="0" dirty="0">
                <a:solidFill>
                  <a:srgbClr val="0000CC"/>
                </a:solidFill>
                <a:latin typeface="+mj-ea"/>
                <a:ea typeface="+mj-ea"/>
              </a:rPr>
              <a:t>CoA</a:t>
            </a:r>
            <a:r>
              <a:rPr lang="zh-CN" altLang="en-US" sz="2800" b="0" dirty="0">
                <a:latin typeface="+mj-ea"/>
                <a:ea typeface="+mj-ea"/>
              </a:rPr>
              <a:t>，再进入</a:t>
            </a:r>
            <a:r>
              <a:rPr lang="en-US" altLang="zh-CN" sz="2800" b="0" dirty="0">
                <a:latin typeface="+mj-ea"/>
                <a:ea typeface="+mj-ea"/>
              </a:rPr>
              <a:t>TCA cycle </a:t>
            </a:r>
            <a:r>
              <a:rPr lang="zh-CN" altLang="en-US" sz="2800" b="0" dirty="0">
                <a:latin typeface="+mj-ea"/>
                <a:ea typeface="+mj-ea"/>
              </a:rPr>
              <a:t>被氧化。</a:t>
            </a:r>
            <a:endParaRPr lang="zh-CN" altLang="en-US" sz="2800" b="0" dirty="0">
              <a:latin typeface="+mj-ea"/>
              <a:ea typeface="+mj-ea"/>
            </a:endParaRPr>
          </a:p>
          <a:p>
            <a:pPr marL="592455" indent="-457200" eaLnBrk="1" hangingPunct="1">
              <a:lnSpc>
                <a:spcPct val="120000"/>
              </a:lnSpc>
              <a:spcBef>
                <a:spcPts val="1200"/>
              </a:spcBef>
              <a:buFont typeface="Wingdings" panose="05000000000000000000" pitchFamily="2" charset="2"/>
              <a:buChar char="u"/>
              <a:defRPr/>
            </a:pPr>
            <a:endParaRPr lang="zh-CN" altLang="en-US" sz="2800" b="0" dirty="0">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1442">
                                            <p:txEl>
                                              <p:pRg st="0" end="0"/>
                                            </p:txEl>
                                          </p:spTgt>
                                        </p:tgtEl>
                                        <p:attrNameLst>
                                          <p:attrName>style.visibility</p:attrName>
                                        </p:attrNameLst>
                                      </p:cBhvr>
                                      <p:to>
                                        <p:strVal val="visible"/>
                                      </p:to>
                                    </p:set>
                                    <p:animEffect transition="in" filter="randombar(horizontal)">
                                      <p:cBhvr>
                                        <p:cTn id="7" dur="500"/>
                                        <p:tgtEl>
                                          <p:spTgt spid="61442">
                                            <p:txEl>
                                              <p:pRg st="0" end="0"/>
                                            </p:txEl>
                                          </p:spTgt>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1442">
                                            <p:txEl>
                                              <p:pRg st="1" end="1"/>
                                            </p:txEl>
                                          </p:spTgt>
                                        </p:tgtEl>
                                        <p:attrNameLst>
                                          <p:attrName>style.visibility</p:attrName>
                                        </p:attrNameLst>
                                      </p:cBhvr>
                                      <p:to>
                                        <p:strVal val="visible"/>
                                      </p:to>
                                    </p:set>
                                    <p:animEffect transition="in" filter="randombar(horizontal)">
                                      <p:cBhvr>
                                        <p:cTn id="11" dur="500"/>
                                        <p:tgtEl>
                                          <p:spTgt spid="61442">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dvAuto="0" autoUpdateAnimBg="0" build="p"/>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0"/>
          <p:cNvGrpSpPr/>
          <p:nvPr/>
        </p:nvGrpSpPr>
        <p:grpSpPr bwMode="auto">
          <a:xfrm>
            <a:off x="2751138" y="3738538"/>
            <a:ext cx="6438901" cy="1490662"/>
            <a:chOff x="795" y="2099"/>
            <a:chExt cx="4056" cy="939"/>
          </a:xfrm>
        </p:grpSpPr>
        <p:sp>
          <p:nvSpPr>
            <p:cNvPr id="186381" name="Text Box 11"/>
            <p:cNvSpPr txBox="1">
              <a:spLocks noChangeArrowheads="1"/>
            </p:cNvSpPr>
            <p:nvPr/>
          </p:nvSpPr>
          <p:spPr bwMode="auto">
            <a:xfrm>
              <a:off x="795" y="2496"/>
              <a:ext cx="9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000099"/>
                  </a:solidFill>
                  <a:latin typeface="微软雅黑" panose="020B0503020204020204" pitchFamily="34" charset="-122"/>
                  <a:ea typeface="微软雅黑" panose="020B0503020204020204" pitchFamily="34" charset="-122"/>
                  <a:cs typeface="Arial" panose="020B0604020202020204" pitchFamily="34" charset="0"/>
                </a:rPr>
                <a:t>苹果酸  </a:t>
              </a:r>
              <a:endParaRPr kumimoji="1" lang="zh-CN" altLang="en-US" sz="2800" b="0" dirty="0">
                <a:solidFill>
                  <a:srgbClr val="000099"/>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6382" name="Text Box 12"/>
            <p:cNvSpPr txBox="1">
              <a:spLocks noChangeArrowheads="1"/>
            </p:cNvSpPr>
            <p:nvPr/>
          </p:nvSpPr>
          <p:spPr bwMode="auto">
            <a:xfrm>
              <a:off x="2200" y="2711"/>
              <a:ext cx="11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latin typeface="Arial" panose="020B0604020202020204" pitchFamily="34" charset="0"/>
                  <a:ea typeface="华文楷体" panose="02010600040101010101" pitchFamily="2" charset="-122"/>
                </a:rPr>
                <a:t>苹果酸酶  </a:t>
              </a:r>
              <a:endParaRPr kumimoji="1" lang="zh-CN" altLang="en-US" sz="2800" dirty="0">
                <a:latin typeface="Arial" panose="020B0604020202020204" pitchFamily="34" charset="0"/>
                <a:ea typeface="华文楷体" panose="02010600040101010101" pitchFamily="2" charset="-122"/>
              </a:endParaRPr>
            </a:p>
          </p:txBody>
        </p:sp>
        <p:sp>
          <p:nvSpPr>
            <p:cNvPr id="186383" name="Rectangle 13"/>
            <p:cNvSpPr>
              <a:spLocks noChangeArrowheads="1"/>
            </p:cNvSpPr>
            <p:nvPr/>
          </p:nvSpPr>
          <p:spPr bwMode="auto">
            <a:xfrm>
              <a:off x="3988" y="2512"/>
              <a:ext cx="8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chemeClr val="tx2"/>
                  </a:solidFill>
                  <a:latin typeface="微软雅黑" panose="020B0503020204020204" pitchFamily="34" charset="-122"/>
                  <a:ea typeface="微软雅黑" panose="020B0503020204020204" pitchFamily="34" charset="-122"/>
                </a:rPr>
                <a:t>丙酮酸 </a:t>
              </a:r>
              <a:endParaRPr kumimoji="1" lang="zh-CN" altLang="en-US" sz="2800" b="0" dirty="0">
                <a:solidFill>
                  <a:schemeClr val="tx2"/>
                </a:solidFill>
                <a:latin typeface="微软雅黑" panose="020B0503020204020204" pitchFamily="34" charset="-122"/>
                <a:ea typeface="微软雅黑" panose="020B0503020204020204" pitchFamily="34" charset="-122"/>
              </a:endParaRPr>
            </a:p>
          </p:txBody>
        </p:sp>
        <p:sp>
          <p:nvSpPr>
            <p:cNvPr id="186385" name="Line 15"/>
            <p:cNvSpPr>
              <a:spLocks noChangeShapeType="1"/>
            </p:cNvSpPr>
            <p:nvPr/>
          </p:nvSpPr>
          <p:spPr bwMode="auto">
            <a:xfrm flipV="1">
              <a:off x="3152" y="2387"/>
              <a:ext cx="408" cy="27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sz="2800"/>
            </a:p>
          </p:txBody>
        </p:sp>
        <p:sp>
          <p:nvSpPr>
            <p:cNvPr id="186386" name="Text Box 16"/>
            <p:cNvSpPr txBox="1">
              <a:spLocks noChangeArrowheads="1"/>
            </p:cNvSpPr>
            <p:nvPr/>
          </p:nvSpPr>
          <p:spPr bwMode="auto">
            <a:xfrm>
              <a:off x="3296" y="2101"/>
              <a:ext cx="74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dirty="0">
                  <a:solidFill>
                    <a:srgbClr val="5D2785"/>
                  </a:solidFill>
                  <a:latin typeface="Arial" panose="020B0604020202020204" pitchFamily="34" charset="0"/>
                  <a:ea typeface="华文楷体" panose="02010600040101010101" pitchFamily="2" charset="-122"/>
                </a:rPr>
                <a:t>  CO</a:t>
              </a:r>
              <a:r>
                <a:rPr kumimoji="1" lang="en-US" altLang="zh-CN" sz="2800" baseline="-25000" dirty="0">
                  <a:solidFill>
                    <a:srgbClr val="5D2785"/>
                  </a:solidFill>
                  <a:latin typeface="Arial" panose="020B0604020202020204" pitchFamily="34" charset="0"/>
                  <a:ea typeface="华文楷体" panose="02010600040101010101" pitchFamily="2" charset="-122"/>
                </a:rPr>
                <a:t>2  </a:t>
              </a:r>
              <a:endParaRPr kumimoji="1" lang="en-US" altLang="zh-CN" sz="2800" baseline="-25000" dirty="0">
                <a:solidFill>
                  <a:srgbClr val="5D2785"/>
                </a:solidFill>
                <a:latin typeface="Arial" panose="020B0604020202020204" pitchFamily="34" charset="0"/>
                <a:ea typeface="华文楷体" panose="02010600040101010101" pitchFamily="2" charset="-122"/>
              </a:endParaRPr>
            </a:p>
          </p:txBody>
        </p:sp>
        <p:sp>
          <p:nvSpPr>
            <p:cNvPr id="186387" name="Arc 17"/>
            <p:cNvSpPr/>
            <p:nvPr/>
          </p:nvSpPr>
          <p:spPr bwMode="auto">
            <a:xfrm>
              <a:off x="1882" y="2099"/>
              <a:ext cx="1034" cy="576"/>
            </a:xfrm>
            <a:custGeom>
              <a:avLst/>
              <a:gdLst>
                <a:gd name="T0" fmla="*/ 0 w 38783"/>
                <a:gd name="T1" fmla="*/ 0 h 21600"/>
                <a:gd name="T2" fmla="*/ 0 w 38783"/>
                <a:gd name="T3" fmla="*/ 0 h 21600"/>
                <a:gd name="T4" fmla="*/ 0 w 38783"/>
                <a:gd name="T5" fmla="*/ 0 h 21600"/>
                <a:gd name="T6" fmla="*/ 0 60000 65536"/>
                <a:gd name="T7" fmla="*/ 0 60000 65536"/>
                <a:gd name="T8" fmla="*/ 0 60000 65536"/>
                <a:gd name="T9" fmla="*/ 0 w 38783"/>
                <a:gd name="T10" fmla="*/ 0 h 21600"/>
                <a:gd name="T11" fmla="*/ 38783 w 38783"/>
                <a:gd name="T12" fmla="*/ 21600 h 21600"/>
              </a:gdLst>
              <a:ahLst/>
              <a:cxnLst>
                <a:cxn ang="T6">
                  <a:pos x="T0" y="T1"/>
                </a:cxn>
                <a:cxn ang="T7">
                  <a:pos x="T2" y="T3"/>
                </a:cxn>
                <a:cxn ang="T8">
                  <a:pos x="T4" y="T5"/>
                </a:cxn>
              </a:cxnLst>
              <a:rect l="T9" t="T10" r="T11" b="T12"/>
              <a:pathLst>
                <a:path w="38783" h="21600" fill="none" extrusionOk="0">
                  <a:moveTo>
                    <a:pt x="38782" y="9361"/>
                  </a:moveTo>
                  <a:cubicBezTo>
                    <a:pt x="35184" y="16842"/>
                    <a:pt x="27618" y="21599"/>
                    <a:pt x="19317" y="21600"/>
                  </a:cubicBezTo>
                  <a:cubicBezTo>
                    <a:pt x="11137" y="21600"/>
                    <a:pt x="3660" y="16980"/>
                    <a:pt x="0" y="9665"/>
                  </a:cubicBezTo>
                </a:path>
                <a:path w="38783" h="21600" stroke="0" extrusionOk="0">
                  <a:moveTo>
                    <a:pt x="38782" y="9361"/>
                  </a:moveTo>
                  <a:cubicBezTo>
                    <a:pt x="35184" y="16842"/>
                    <a:pt x="27618" y="21599"/>
                    <a:pt x="19317" y="21600"/>
                  </a:cubicBezTo>
                  <a:cubicBezTo>
                    <a:pt x="11137" y="21600"/>
                    <a:pt x="3660" y="16980"/>
                    <a:pt x="0" y="9665"/>
                  </a:cubicBezTo>
                  <a:lnTo>
                    <a:pt x="19317" y="0"/>
                  </a:lnTo>
                  <a:lnTo>
                    <a:pt x="38782" y="9361"/>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800"/>
            </a:p>
          </p:txBody>
        </p:sp>
        <p:sp>
          <p:nvSpPr>
            <p:cNvPr id="186388" name="Text Box 18"/>
            <p:cNvSpPr txBox="1">
              <a:spLocks noChangeArrowheads="1"/>
            </p:cNvSpPr>
            <p:nvPr/>
          </p:nvSpPr>
          <p:spPr bwMode="auto">
            <a:xfrm>
              <a:off x="1474" y="2100"/>
              <a:ext cx="77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5D2785"/>
                  </a:solidFill>
                  <a:latin typeface="Arial" panose="020B0604020202020204" pitchFamily="34" charset="0"/>
                  <a:ea typeface="华文楷体" panose="02010600040101010101" pitchFamily="2" charset="-122"/>
                </a:rPr>
                <a:t>NAD</a:t>
              </a:r>
              <a:r>
                <a:rPr kumimoji="1" lang="en-US" altLang="zh-CN" sz="2800" baseline="30000">
                  <a:solidFill>
                    <a:srgbClr val="5D2785"/>
                  </a:solidFill>
                  <a:latin typeface="Arial" panose="020B0604020202020204" pitchFamily="34" charset="0"/>
                  <a:ea typeface="华文楷体" panose="02010600040101010101" pitchFamily="2" charset="-122"/>
                </a:rPr>
                <a:t>+  </a:t>
              </a:r>
              <a:endParaRPr kumimoji="1" lang="en-US" altLang="zh-CN" sz="2800" baseline="30000">
                <a:solidFill>
                  <a:srgbClr val="5D2785"/>
                </a:solidFill>
                <a:latin typeface="Arial" panose="020B0604020202020204" pitchFamily="34" charset="0"/>
                <a:ea typeface="华文楷体" panose="02010600040101010101" pitchFamily="2" charset="-122"/>
              </a:endParaRPr>
            </a:p>
          </p:txBody>
        </p:sp>
        <p:sp>
          <p:nvSpPr>
            <p:cNvPr id="186389" name="Text Box 19"/>
            <p:cNvSpPr txBox="1">
              <a:spLocks noChangeArrowheads="1"/>
            </p:cNvSpPr>
            <p:nvPr/>
          </p:nvSpPr>
          <p:spPr bwMode="auto">
            <a:xfrm>
              <a:off x="2200" y="2100"/>
              <a:ext cx="146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dirty="0">
                  <a:solidFill>
                    <a:srgbClr val="5D2785"/>
                  </a:solidFill>
                  <a:latin typeface="Arial" panose="020B0604020202020204" pitchFamily="34" charset="0"/>
                  <a:ea typeface="华文楷体" panose="02010600040101010101" pitchFamily="2" charset="-122"/>
                </a:rPr>
                <a:t> NADH + H</a:t>
              </a:r>
              <a:r>
                <a:rPr kumimoji="1" lang="en-US" altLang="zh-CN" sz="2800" baseline="30000" dirty="0">
                  <a:solidFill>
                    <a:srgbClr val="5D2785"/>
                  </a:solidFill>
                  <a:latin typeface="Arial" panose="020B0604020202020204" pitchFamily="34" charset="0"/>
                  <a:ea typeface="华文楷体" panose="02010600040101010101" pitchFamily="2" charset="-122"/>
                </a:rPr>
                <a:t>+   </a:t>
              </a:r>
              <a:endParaRPr kumimoji="1" lang="en-US" altLang="zh-CN" sz="2800" baseline="30000" dirty="0">
                <a:solidFill>
                  <a:srgbClr val="5D2785"/>
                </a:solidFill>
                <a:latin typeface="Arial" panose="020B0604020202020204" pitchFamily="34" charset="0"/>
                <a:ea typeface="华文楷体" panose="02010600040101010101" pitchFamily="2" charset="-122"/>
              </a:endParaRPr>
            </a:p>
          </p:txBody>
        </p:sp>
      </p:grpSp>
      <p:grpSp>
        <p:nvGrpSpPr>
          <p:cNvPr id="20" name="组合 19"/>
          <p:cNvGrpSpPr/>
          <p:nvPr/>
        </p:nvGrpSpPr>
        <p:grpSpPr bwMode="auto">
          <a:xfrm>
            <a:off x="1631504" y="2187157"/>
            <a:ext cx="8858697" cy="1081132"/>
            <a:chOff x="1078706" y="5703638"/>
            <a:chExt cx="7993063" cy="1081551"/>
          </a:xfrm>
        </p:grpSpPr>
        <p:sp>
          <p:nvSpPr>
            <p:cNvPr id="186372" name="文本框 3"/>
            <p:cNvSpPr txBox="1">
              <a:spLocks noChangeArrowheads="1"/>
            </p:cNvSpPr>
            <p:nvPr/>
          </p:nvSpPr>
          <p:spPr bwMode="auto">
            <a:xfrm>
              <a:off x="1078706" y="5703638"/>
              <a:ext cx="7993063" cy="954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b="0" dirty="0">
                  <a:solidFill>
                    <a:srgbClr val="000099"/>
                  </a:solidFill>
                  <a:latin typeface="Arial" panose="020B0604020202020204" pitchFamily="34" charset="0"/>
                </a:rPr>
                <a:t>草酰乙酸                磷酸烯醇式丙酮酸               丙酮酸</a:t>
              </a:r>
              <a:endParaRPr lang="zh-CN" altLang="en-US" sz="2800" b="0" dirty="0">
                <a:solidFill>
                  <a:srgbClr val="000099"/>
                </a:solidFill>
                <a:latin typeface="Arial" panose="020B0604020202020204" pitchFamily="34" charset="0"/>
              </a:endParaRPr>
            </a:p>
          </p:txBody>
        </p:sp>
        <p:sp>
          <p:nvSpPr>
            <p:cNvPr id="186373" name="文本框 6"/>
            <p:cNvSpPr txBox="1">
              <a:spLocks noChangeArrowheads="1"/>
            </p:cNvSpPr>
            <p:nvPr/>
          </p:nvSpPr>
          <p:spPr bwMode="auto">
            <a:xfrm>
              <a:off x="2225675" y="6261766"/>
              <a:ext cx="1052514" cy="523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latin typeface="Arial" panose="020B0604020202020204" pitchFamily="34" charset="0"/>
                </a:rPr>
                <a:t>GTP</a:t>
              </a:r>
              <a:endParaRPr lang="zh-CN" altLang="en-US" sz="2800">
                <a:latin typeface="Arial" panose="020B0604020202020204" pitchFamily="34" charset="0"/>
              </a:endParaRPr>
            </a:p>
          </p:txBody>
        </p:sp>
        <p:sp>
          <p:nvSpPr>
            <p:cNvPr id="186374" name="文本框 33"/>
            <p:cNvSpPr txBox="1">
              <a:spLocks noChangeArrowheads="1"/>
            </p:cNvSpPr>
            <p:nvPr/>
          </p:nvSpPr>
          <p:spPr bwMode="auto">
            <a:xfrm>
              <a:off x="3344068" y="6237312"/>
              <a:ext cx="1052514" cy="523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latin typeface="Arial" panose="020B0604020202020204" pitchFamily="34" charset="0"/>
                </a:rPr>
                <a:t>GDP</a:t>
              </a:r>
              <a:endParaRPr lang="zh-CN" altLang="en-US" sz="2800">
                <a:latin typeface="Arial" panose="020B0604020202020204" pitchFamily="34" charset="0"/>
              </a:endParaRPr>
            </a:p>
          </p:txBody>
        </p:sp>
        <p:sp>
          <p:nvSpPr>
            <p:cNvPr id="186375" name="文本框 34"/>
            <p:cNvSpPr txBox="1">
              <a:spLocks noChangeArrowheads="1"/>
            </p:cNvSpPr>
            <p:nvPr/>
          </p:nvSpPr>
          <p:spPr bwMode="auto">
            <a:xfrm>
              <a:off x="5877323" y="6237312"/>
              <a:ext cx="1052514" cy="523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latin typeface="Arial" panose="020B0604020202020204" pitchFamily="34" charset="0"/>
                </a:rPr>
                <a:t>ADP</a:t>
              </a:r>
              <a:endParaRPr lang="zh-CN" altLang="en-US" sz="2800">
                <a:latin typeface="Arial" panose="020B0604020202020204" pitchFamily="34" charset="0"/>
              </a:endParaRPr>
            </a:p>
          </p:txBody>
        </p:sp>
        <p:sp>
          <p:nvSpPr>
            <p:cNvPr id="186376" name="文本框 35"/>
            <p:cNvSpPr txBox="1">
              <a:spLocks noChangeArrowheads="1"/>
            </p:cNvSpPr>
            <p:nvPr/>
          </p:nvSpPr>
          <p:spPr bwMode="auto">
            <a:xfrm>
              <a:off x="7077868" y="6261766"/>
              <a:ext cx="1052514" cy="523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latin typeface="Arial" panose="020B0604020202020204" pitchFamily="34" charset="0"/>
                </a:rPr>
                <a:t>ATP</a:t>
              </a:r>
              <a:endParaRPr lang="zh-CN" altLang="en-US" sz="2800">
                <a:latin typeface="Arial" panose="020B0604020202020204" pitchFamily="34" charset="0"/>
              </a:endParaRPr>
            </a:p>
          </p:txBody>
        </p:sp>
        <p:cxnSp>
          <p:nvCxnSpPr>
            <p:cNvPr id="186377" name="直接箭头连接符 10"/>
            <p:cNvCxnSpPr>
              <a:cxnSpLocks noChangeShapeType="1"/>
            </p:cNvCxnSpPr>
            <p:nvPr/>
          </p:nvCxnSpPr>
          <p:spPr bwMode="auto">
            <a:xfrm>
              <a:off x="2559050" y="5949280"/>
              <a:ext cx="881063" cy="0"/>
            </a:xfrm>
            <a:prstGeom prst="straightConnector1">
              <a:avLst/>
            </a:prstGeom>
            <a:noFill/>
            <a:ln w="5715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186378" name="直接箭头连接符 40"/>
            <p:cNvCxnSpPr/>
            <p:nvPr/>
          </p:nvCxnSpPr>
          <p:spPr bwMode="auto">
            <a:xfrm>
              <a:off x="6455967" y="5949280"/>
              <a:ext cx="947737" cy="0"/>
            </a:xfrm>
            <a:prstGeom prst="straightConnector1">
              <a:avLst/>
            </a:prstGeom>
            <a:noFill/>
            <a:ln w="57150"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86379" name="箭头: 上弧形 11"/>
            <p:cNvSpPr>
              <a:spLocks noChangeArrowheads="1"/>
            </p:cNvSpPr>
            <p:nvPr/>
          </p:nvSpPr>
          <p:spPr bwMode="auto">
            <a:xfrm>
              <a:off x="2476798" y="5949280"/>
              <a:ext cx="1087090" cy="335584"/>
            </a:xfrm>
            <a:prstGeom prst="curvedDownArrow">
              <a:avLst>
                <a:gd name="adj1" fmla="val 24985"/>
                <a:gd name="adj2" fmla="val 50001"/>
                <a:gd name="adj3" fmla="val 25000"/>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800">
                <a:latin typeface="Arial" panose="020B0604020202020204" pitchFamily="34" charset="0"/>
              </a:endParaRPr>
            </a:p>
          </p:txBody>
        </p:sp>
        <p:sp>
          <p:nvSpPr>
            <p:cNvPr id="186380" name="箭头: 上弧形 42"/>
            <p:cNvSpPr>
              <a:spLocks noChangeArrowheads="1"/>
            </p:cNvSpPr>
            <p:nvPr/>
          </p:nvSpPr>
          <p:spPr bwMode="auto">
            <a:xfrm>
              <a:off x="6403579" y="5979128"/>
              <a:ext cx="1087090" cy="335584"/>
            </a:xfrm>
            <a:prstGeom prst="curvedDownArrow">
              <a:avLst>
                <a:gd name="adj1" fmla="val 24985"/>
                <a:gd name="adj2" fmla="val 50001"/>
                <a:gd name="adj3" fmla="val 25000"/>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2800">
                <a:latin typeface="Arial" panose="020B0604020202020204" pitchFamily="34" charset="0"/>
              </a:endParaRPr>
            </a:p>
          </p:txBody>
        </p:sp>
      </p:grpSp>
      <p:sp>
        <p:nvSpPr>
          <p:cNvPr id="23" name="文本框 22"/>
          <p:cNvSpPr txBox="1"/>
          <p:nvPr/>
        </p:nvSpPr>
        <p:spPr>
          <a:xfrm>
            <a:off x="2351585" y="767363"/>
            <a:ext cx="7773915" cy="553998"/>
          </a:xfrm>
          <a:prstGeom prst="rect">
            <a:avLst/>
          </a:prstGeom>
          <a:noFill/>
        </p:spPr>
        <p:txBody>
          <a:bodyPr wrap="square">
            <a:spAutoFit/>
          </a:bodyPr>
          <a:lstStyle/>
          <a:p>
            <a:r>
              <a:rPr lang="zh-CN" altLang="en-US" sz="3000" dirty="0">
                <a:solidFill>
                  <a:srgbClr val="660066"/>
                </a:solidFill>
                <a:latin typeface="微软雅黑" panose="020B0503020204020204" pitchFamily="34" charset="-122"/>
                <a:ea typeface="微软雅黑" panose="020B0503020204020204" pitchFamily="34" charset="-122"/>
              </a:rPr>
              <a:t>三羧酸循环的中间产物如何转变为乙酰</a:t>
            </a:r>
            <a:r>
              <a:rPr lang="en-US" altLang="zh-CN" sz="3000" dirty="0">
                <a:solidFill>
                  <a:srgbClr val="660066"/>
                </a:solidFill>
                <a:latin typeface="微软雅黑" panose="020B0503020204020204" pitchFamily="34" charset="-122"/>
                <a:ea typeface="微软雅黑" panose="020B0503020204020204" pitchFamily="34" charset="-122"/>
              </a:rPr>
              <a:t>CoA ?</a:t>
            </a:r>
            <a:endParaRPr lang="zh-CN" altLang="en-US" sz="3000" dirty="0">
              <a:solidFill>
                <a:srgbClr val="660066"/>
              </a:solidFill>
              <a:latin typeface="微软雅黑" panose="020B0503020204020204" pitchFamily="34" charset="-122"/>
              <a:ea typeface="微软雅黑" panose="020B0503020204020204" pitchFamily="34" charset="-122"/>
            </a:endParaRPr>
          </a:p>
        </p:txBody>
      </p:sp>
      <p:cxnSp>
        <p:nvCxnSpPr>
          <p:cNvPr id="5" name="直接箭头连接符 4"/>
          <p:cNvCxnSpPr/>
          <p:nvPr/>
        </p:nvCxnSpPr>
        <p:spPr bwMode="auto">
          <a:xfrm>
            <a:off x="4367808" y="4653136"/>
            <a:ext cx="3096344" cy="0"/>
          </a:xfrm>
          <a:prstGeom prst="straightConnector1">
            <a:avLst/>
          </a:prstGeom>
          <a:solidFill>
            <a:schemeClr val="accent1"/>
          </a:solidFill>
          <a:ln w="38100" cap="flat" cmpd="sng" algn="ctr">
            <a:solidFill>
              <a:schemeClr val="tx1"/>
            </a:solidFill>
            <a:prstDash val="solid"/>
            <a:round/>
            <a:headEnd type="triangle"/>
            <a:tailEnd type="triangle"/>
          </a:ln>
          <a:effectLst/>
        </p:spPr>
      </p:cxn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sp>
        <p:nvSpPr>
          <p:cNvPr id="61443" name="Rectangle 3"/>
          <p:cNvSpPr>
            <a:spLocks noChangeArrowheads="1"/>
          </p:cNvSpPr>
          <p:nvPr/>
        </p:nvSpPr>
        <p:spPr bwMode="auto">
          <a:xfrm>
            <a:off x="1847851" y="427038"/>
            <a:ext cx="8012113" cy="1058862"/>
          </a:xfrm>
          <a:prstGeom prst="rect">
            <a:avLst/>
          </a:prstGeom>
          <a:noFill/>
          <a:ln w="9525">
            <a:noFill/>
            <a:miter lim="800000"/>
          </a:ln>
          <a:effectLst/>
        </p:spPr>
        <p:txBody>
          <a:bodyPr/>
          <a:lstStyle/>
          <a:p>
            <a:pPr marL="342900" indent="-342900" eaLnBrk="1" hangingPunct="1">
              <a:lnSpc>
                <a:spcPct val="90000"/>
              </a:lnSpc>
              <a:spcBef>
                <a:spcPct val="20000"/>
              </a:spcBef>
              <a:buSzPct val="85000"/>
              <a:buBlip>
                <a:blip r:embed="rId1"/>
              </a:buBlip>
              <a:defRPr/>
            </a:pPr>
            <a:endParaRPr kumimoji="1" lang="zh-CN" altLang="zh-CN" sz="3600" b="0">
              <a:solidFill>
                <a:schemeClr val="hlink"/>
              </a:solidFill>
              <a:effectLst>
                <a:outerShdw blurRad="38100" dist="38100" dir="2700000" algn="tl">
                  <a:srgbClr val="000000"/>
                </a:outerShdw>
              </a:effectLst>
              <a:latin typeface="+mj-ea"/>
              <a:ea typeface="+mj-ea"/>
            </a:endParaRPr>
          </a:p>
        </p:txBody>
      </p:sp>
      <p:sp>
        <p:nvSpPr>
          <p:cNvPr id="2" name="矩形 1"/>
          <p:cNvSpPr/>
          <p:nvPr/>
        </p:nvSpPr>
        <p:spPr>
          <a:xfrm>
            <a:off x="1343472" y="1987386"/>
            <a:ext cx="9380437" cy="2659767"/>
          </a:xfrm>
          <a:prstGeom prst="rect">
            <a:avLst/>
          </a:prstGeom>
        </p:spPr>
        <p:txBody>
          <a:bodyPr wrap="square">
            <a:spAutoFit/>
          </a:bodyPr>
          <a:lstStyle/>
          <a:p>
            <a:pPr marL="592455" indent="-457200" eaLnBrk="1" hangingPunct="1">
              <a:lnSpc>
                <a:spcPct val="110000"/>
              </a:lnSpc>
              <a:buFont typeface="Wingdings" panose="05000000000000000000" pitchFamily="2" charset="2"/>
              <a:buChar char="u"/>
              <a:defRPr/>
            </a:pPr>
            <a:endParaRPr lang="en-US" altLang="zh-CN" sz="2400" b="0" dirty="0">
              <a:latin typeface="+mj-ea"/>
              <a:ea typeface="+mj-ea"/>
            </a:endParaRPr>
          </a:p>
          <a:p>
            <a:pPr marL="592455" indent="-457200" eaLnBrk="1" hangingPunct="1">
              <a:lnSpc>
                <a:spcPct val="130000"/>
              </a:lnSpc>
              <a:buFont typeface="Wingdings" panose="05000000000000000000" pitchFamily="2" charset="2"/>
              <a:buChar char="u"/>
              <a:defRPr/>
            </a:pPr>
            <a:r>
              <a:rPr lang="zh-CN" altLang="en-US" sz="2800" b="0" dirty="0">
                <a:latin typeface="+mj-ea"/>
                <a:ea typeface="+mj-ea"/>
              </a:rPr>
              <a:t>教材</a:t>
            </a:r>
            <a:r>
              <a:rPr lang="en-US" altLang="zh-CN" sz="2800" b="0" dirty="0">
                <a:latin typeface="+mj-ea"/>
                <a:ea typeface="+mj-ea"/>
              </a:rPr>
              <a:t>page 117 “</a:t>
            </a:r>
            <a:r>
              <a:rPr lang="zh-CN" altLang="en-US" sz="2800" b="0" dirty="0">
                <a:latin typeface="+mj-ea"/>
                <a:ea typeface="+mj-ea"/>
              </a:rPr>
              <a:t>这些中间产物不能通过三羧酸循环直接从乙酰</a:t>
            </a:r>
            <a:r>
              <a:rPr lang="en-US" altLang="zh-CN" sz="2800" b="0" dirty="0">
                <a:latin typeface="+mj-ea"/>
                <a:ea typeface="+mj-ea"/>
              </a:rPr>
              <a:t>CoA </a:t>
            </a:r>
            <a:r>
              <a:rPr lang="zh-CN" altLang="en-US" sz="2800" b="0" dirty="0">
                <a:latin typeface="+mj-ea"/>
                <a:ea typeface="+mj-ea"/>
              </a:rPr>
              <a:t>合成” 的意思是：</a:t>
            </a:r>
            <a:r>
              <a:rPr lang="zh-CN" altLang="en-US" sz="2800" b="0" dirty="0">
                <a:solidFill>
                  <a:srgbClr val="0000CC"/>
                </a:solidFill>
                <a:latin typeface="+mj-ea"/>
                <a:ea typeface="+mj-ea"/>
              </a:rPr>
              <a:t>不可能</a:t>
            </a:r>
            <a:r>
              <a:rPr lang="zh-CN" altLang="en-US" sz="2800" dirty="0">
                <a:solidFill>
                  <a:srgbClr val="0000CC"/>
                </a:solidFill>
                <a:latin typeface="+mj-ea"/>
                <a:ea typeface="+mj-ea"/>
              </a:rPr>
              <a:t>只</a:t>
            </a:r>
            <a:r>
              <a:rPr lang="zh-CN" altLang="en-US" sz="2800" b="0" dirty="0">
                <a:solidFill>
                  <a:srgbClr val="0000CC"/>
                </a:solidFill>
                <a:latin typeface="+mj-ea"/>
                <a:ea typeface="+mj-ea"/>
              </a:rPr>
              <a:t>利用乙酰</a:t>
            </a:r>
            <a:r>
              <a:rPr lang="en-US" altLang="zh-CN" sz="2800" b="0" dirty="0">
                <a:solidFill>
                  <a:srgbClr val="0000CC"/>
                </a:solidFill>
                <a:latin typeface="+mj-ea"/>
                <a:ea typeface="+mj-ea"/>
              </a:rPr>
              <a:t>CoA</a:t>
            </a:r>
            <a:r>
              <a:rPr lang="zh-CN" altLang="en-US" sz="2800" b="0" dirty="0">
                <a:solidFill>
                  <a:srgbClr val="0000CC"/>
                </a:solidFill>
                <a:latin typeface="+mj-ea"/>
                <a:ea typeface="+mj-ea"/>
              </a:rPr>
              <a:t>生成三羧酸循环任何中间产物</a:t>
            </a:r>
            <a:r>
              <a:rPr lang="zh-CN" altLang="en-US" sz="2800" b="0" dirty="0">
                <a:latin typeface="+mj-ea"/>
                <a:ea typeface="+mj-ea"/>
              </a:rPr>
              <a:t>。但是，只要有足够草酰乙酸（乙酰</a:t>
            </a:r>
            <a:r>
              <a:rPr lang="en-US" altLang="zh-CN" sz="2800" b="0" dirty="0">
                <a:latin typeface="+mj-ea"/>
                <a:ea typeface="+mj-ea"/>
              </a:rPr>
              <a:t>CoA</a:t>
            </a:r>
            <a:r>
              <a:rPr lang="zh-CN" altLang="en-US" sz="2800" b="0" dirty="0">
                <a:latin typeface="+mj-ea"/>
                <a:ea typeface="+mj-ea"/>
              </a:rPr>
              <a:t>总是够的），就可以生成其它中间产物。</a:t>
            </a:r>
            <a:endParaRPr lang="zh-CN" altLang="en-US" sz="2800" b="0" dirty="0">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body" idx="4294967295"/>
          </p:nvPr>
        </p:nvSpPr>
        <p:spPr>
          <a:xfrm>
            <a:off x="2070101" y="585788"/>
            <a:ext cx="8239125" cy="741362"/>
          </a:xfrm>
        </p:spPr>
        <p:txBody>
          <a:bodyPr/>
          <a:lstStyle/>
          <a:p>
            <a:pPr eaLnBrk="1" hangingPunct="1">
              <a:buFontTx/>
              <a:buNone/>
              <a:defRPr/>
            </a:pPr>
            <a:r>
              <a:rPr lang="en-US" altLang="zh-CN" b="0" dirty="0">
                <a:solidFill>
                  <a:srgbClr val="660033"/>
                </a:solidFill>
                <a:latin typeface="+mj-ea"/>
                <a:ea typeface="+mj-ea"/>
              </a:rPr>
              <a:t>③</a:t>
            </a:r>
            <a:r>
              <a:rPr lang="zh-CN" altLang="en-US" b="0" dirty="0">
                <a:solidFill>
                  <a:srgbClr val="660033"/>
                </a:solidFill>
                <a:latin typeface="+mj-ea"/>
                <a:ea typeface="+mj-ea"/>
              </a:rPr>
              <a:t>三羧酸循环的中间产物</a:t>
            </a:r>
            <a:endParaRPr lang="zh-CN" altLang="en-US" b="0" dirty="0">
              <a:solidFill>
                <a:srgbClr val="660033"/>
              </a:solidFill>
              <a:latin typeface="+mj-ea"/>
              <a:ea typeface="+mj-ea"/>
            </a:endParaRPr>
          </a:p>
        </p:txBody>
      </p:sp>
      <p:sp>
        <p:nvSpPr>
          <p:cNvPr id="61443" name="Rectangle 3"/>
          <p:cNvSpPr>
            <a:spLocks noChangeArrowheads="1"/>
          </p:cNvSpPr>
          <p:nvPr/>
        </p:nvSpPr>
        <p:spPr bwMode="auto">
          <a:xfrm>
            <a:off x="1847851" y="427038"/>
            <a:ext cx="8012113" cy="1058862"/>
          </a:xfrm>
          <a:prstGeom prst="rect">
            <a:avLst/>
          </a:prstGeom>
          <a:noFill/>
          <a:ln w="9525">
            <a:noFill/>
            <a:miter lim="800000"/>
          </a:ln>
          <a:effectLst/>
        </p:spPr>
        <p:txBody>
          <a:bodyPr/>
          <a:lstStyle/>
          <a:p>
            <a:pPr marL="342900" indent="-342900" eaLnBrk="1" hangingPunct="1">
              <a:lnSpc>
                <a:spcPct val="90000"/>
              </a:lnSpc>
              <a:spcBef>
                <a:spcPct val="20000"/>
              </a:spcBef>
              <a:buSzPct val="85000"/>
              <a:buBlip>
                <a:blip r:embed="rId1"/>
              </a:buBlip>
              <a:defRPr/>
            </a:pPr>
            <a:endParaRPr kumimoji="1" lang="zh-CN" altLang="zh-CN" sz="3600" b="0">
              <a:solidFill>
                <a:schemeClr val="hlink"/>
              </a:solidFill>
              <a:effectLst>
                <a:outerShdw blurRad="38100" dist="38100" dir="2700000" algn="tl">
                  <a:srgbClr val="000000"/>
                </a:outerShdw>
              </a:effectLst>
              <a:latin typeface="+mj-ea"/>
              <a:ea typeface="+mj-ea"/>
            </a:endParaRPr>
          </a:p>
        </p:txBody>
      </p:sp>
      <p:sp>
        <p:nvSpPr>
          <p:cNvPr id="2" name="矩形 1"/>
          <p:cNvSpPr/>
          <p:nvPr/>
        </p:nvSpPr>
        <p:spPr>
          <a:xfrm>
            <a:off x="1271464" y="1453354"/>
            <a:ext cx="9376915" cy="2404313"/>
          </a:xfrm>
          <a:prstGeom prst="rect">
            <a:avLst/>
          </a:prstGeom>
        </p:spPr>
        <p:txBody>
          <a:bodyPr wrap="square">
            <a:spAutoFit/>
          </a:bodyPr>
          <a:lstStyle/>
          <a:p>
            <a:pPr marL="592455" indent="-457200" eaLnBrk="1" hangingPunct="1">
              <a:lnSpc>
                <a:spcPct val="110000"/>
              </a:lnSpc>
              <a:buFont typeface="Wingdings" panose="05000000000000000000" pitchFamily="2" charset="2"/>
              <a:buChar char="u"/>
              <a:defRPr/>
            </a:pPr>
            <a:r>
              <a:rPr lang="zh-CN" altLang="en-US" sz="2800" b="0" dirty="0">
                <a:latin typeface="+mj-ea"/>
                <a:ea typeface="+mj-ea"/>
              </a:rPr>
              <a:t>三羧酸循环</a:t>
            </a:r>
            <a:r>
              <a:rPr lang="zh-CN" altLang="en-US" sz="2800" b="0" dirty="0">
                <a:solidFill>
                  <a:srgbClr val="0000CC"/>
                </a:solidFill>
                <a:latin typeface="+mj-ea"/>
                <a:ea typeface="+mj-ea"/>
              </a:rPr>
              <a:t>不是孤立的</a:t>
            </a:r>
            <a:r>
              <a:rPr lang="zh-CN" altLang="en-US" sz="2800" b="0" dirty="0">
                <a:latin typeface="+mj-ea"/>
                <a:ea typeface="+mj-ea"/>
              </a:rPr>
              <a:t>，各中间产物可以转入其它代谢路径或出线粒体，从这个意义上，可以利用</a:t>
            </a:r>
            <a:r>
              <a:rPr lang="en-US" altLang="zh-CN" sz="2800" b="0" dirty="0">
                <a:latin typeface="+mj-ea"/>
                <a:ea typeface="+mj-ea"/>
              </a:rPr>
              <a:t>TCA cycle</a:t>
            </a:r>
            <a:r>
              <a:rPr lang="zh-CN" altLang="en-US" sz="2800" b="0" dirty="0">
                <a:latin typeface="+mj-ea"/>
                <a:ea typeface="+mj-ea"/>
              </a:rPr>
              <a:t>合成某些中间产物。</a:t>
            </a:r>
            <a:endParaRPr lang="en-US" altLang="zh-CN" sz="2800" b="0" dirty="0">
              <a:latin typeface="+mj-ea"/>
              <a:ea typeface="+mj-ea"/>
            </a:endParaRPr>
          </a:p>
          <a:p>
            <a:pPr marL="592455" indent="-457200" eaLnBrk="1" hangingPunct="1">
              <a:lnSpc>
                <a:spcPct val="110000"/>
              </a:lnSpc>
              <a:buFont typeface="Wingdings" panose="05000000000000000000" pitchFamily="2" charset="2"/>
              <a:buChar char="u"/>
              <a:defRPr/>
            </a:pPr>
            <a:r>
              <a:rPr lang="zh-CN" altLang="en-US" sz="2800" b="0" dirty="0">
                <a:latin typeface="+mj-ea"/>
                <a:ea typeface="+mj-ea"/>
              </a:rPr>
              <a:t>这些中间代谢物和其它物质互相转变，</a:t>
            </a:r>
            <a:r>
              <a:rPr lang="zh-CN" altLang="en-US" sz="2800" b="0" dirty="0">
                <a:solidFill>
                  <a:srgbClr val="0000FF"/>
                </a:solidFill>
                <a:latin typeface="+mj-ea"/>
                <a:ea typeface="+mj-ea"/>
              </a:rPr>
              <a:t>沟通了糖、脂类、蛋白质的代谢</a:t>
            </a:r>
            <a:r>
              <a:rPr lang="zh-CN" altLang="en-US" sz="2800" b="0" dirty="0">
                <a:latin typeface="+mj-ea"/>
                <a:ea typeface="+mj-ea"/>
              </a:rPr>
              <a:t>。 </a:t>
            </a:r>
            <a:endParaRPr lang="zh-CN" altLang="en-US" sz="2800" b="0" dirty="0">
              <a:latin typeface="+mj-ea"/>
              <a:ea typeface="+mj-ea"/>
            </a:endParaRPr>
          </a:p>
        </p:txBody>
      </p:sp>
      <p:sp>
        <p:nvSpPr>
          <p:cNvPr id="62467" name="Text Box 3"/>
          <p:cNvSpPr txBox="1">
            <a:spLocks noChangeArrowheads="1"/>
          </p:cNvSpPr>
          <p:nvPr/>
        </p:nvSpPr>
        <p:spPr bwMode="auto">
          <a:xfrm>
            <a:off x="2855640" y="4000526"/>
            <a:ext cx="1447800" cy="523875"/>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a:latin typeface="+mj-ea"/>
                <a:ea typeface="+mj-ea"/>
              </a:rPr>
              <a:t>例如： </a:t>
            </a:r>
            <a:endParaRPr kumimoji="1" lang="zh-CN" altLang="en-US" sz="2800" b="0">
              <a:latin typeface="+mj-ea"/>
              <a:ea typeface="+mj-ea"/>
            </a:endParaRPr>
          </a:p>
        </p:txBody>
      </p:sp>
      <p:grpSp>
        <p:nvGrpSpPr>
          <p:cNvPr id="3" name="Group 4"/>
          <p:cNvGrpSpPr/>
          <p:nvPr/>
        </p:nvGrpSpPr>
        <p:grpSpPr bwMode="auto">
          <a:xfrm>
            <a:off x="4074840" y="4000526"/>
            <a:ext cx="4400550" cy="523875"/>
            <a:chOff x="1610" y="2681"/>
            <a:chExt cx="2772" cy="330"/>
          </a:xfrm>
        </p:grpSpPr>
        <p:sp>
          <p:nvSpPr>
            <p:cNvPr id="171027" name="Rectangle 5"/>
            <p:cNvSpPr>
              <a:spLocks noChangeArrowheads="1"/>
            </p:cNvSpPr>
            <p:nvPr/>
          </p:nvSpPr>
          <p:spPr bwMode="auto">
            <a:xfrm>
              <a:off x="1610" y="2681"/>
              <a:ext cx="1139"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rgbClr val="5D2785"/>
                  </a:solidFill>
                  <a:latin typeface="+mj-ea"/>
                  <a:ea typeface="+mj-ea"/>
                </a:rPr>
                <a:t>草酰乙酸 </a:t>
              </a:r>
              <a:endParaRPr kumimoji="1" lang="zh-CN" altLang="en-US" sz="2800" b="0" dirty="0">
                <a:solidFill>
                  <a:srgbClr val="5D2785"/>
                </a:solidFill>
                <a:latin typeface="+mj-ea"/>
                <a:ea typeface="+mj-ea"/>
              </a:endParaRPr>
            </a:p>
          </p:txBody>
        </p:sp>
        <p:sp>
          <p:nvSpPr>
            <p:cNvPr id="171028" name="Text Box 6"/>
            <p:cNvSpPr txBox="1">
              <a:spLocks noChangeArrowheads="1"/>
            </p:cNvSpPr>
            <p:nvPr/>
          </p:nvSpPr>
          <p:spPr bwMode="auto">
            <a:xfrm>
              <a:off x="3243" y="2681"/>
              <a:ext cx="1139"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chemeClr val="tx2"/>
                  </a:solidFill>
                  <a:latin typeface="+mj-ea"/>
                  <a:ea typeface="+mj-ea"/>
                </a:rPr>
                <a:t>天冬氨酸 </a:t>
              </a:r>
              <a:endParaRPr kumimoji="1" lang="zh-CN" altLang="en-US" sz="2800" b="0" dirty="0">
                <a:solidFill>
                  <a:schemeClr val="tx2"/>
                </a:solidFill>
                <a:latin typeface="+mj-ea"/>
                <a:ea typeface="+mj-ea"/>
              </a:endParaRPr>
            </a:p>
          </p:txBody>
        </p:sp>
        <p:sp>
          <p:nvSpPr>
            <p:cNvPr id="171029" name="Line 7"/>
            <p:cNvSpPr>
              <a:spLocks noChangeShapeType="1"/>
            </p:cNvSpPr>
            <p:nvPr/>
          </p:nvSpPr>
          <p:spPr bwMode="auto">
            <a:xfrm>
              <a:off x="2608" y="2795"/>
              <a:ext cx="680" cy="0"/>
            </a:xfrm>
            <a:prstGeom prst="line">
              <a:avLst/>
            </a:prstGeom>
            <a:noFill/>
            <a:ln w="38100">
              <a:solidFill>
                <a:schemeClr val="tx1"/>
              </a:solidFill>
              <a:round/>
              <a:tailEnd type="triangle" w="med" len="med"/>
            </a:ln>
          </p:spPr>
          <p:txBody>
            <a:bodyPr wrap="none"/>
            <a:lstStyle/>
            <a:p>
              <a:pPr>
                <a:defRPr/>
              </a:pPr>
              <a:endParaRPr lang="zh-CN" altLang="en-US" b="0">
                <a:latin typeface="+mj-ea"/>
                <a:ea typeface="+mj-ea"/>
              </a:endParaRPr>
            </a:p>
          </p:txBody>
        </p:sp>
        <p:sp>
          <p:nvSpPr>
            <p:cNvPr id="171030" name="Line 8"/>
            <p:cNvSpPr>
              <a:spLocks noChangeShapeType="1"/>
            </p:cNvSpPr>
            <p:nvPr/>
          </p:nvSpPr>
          <p:spPr bwMode="auto">
            <a:xfrm flipH="1">
              <a:off x="2562" y="2886"/>
              <a:ext cx="681" cy="0"/>
            </a:xfrm>
            <a:prstGeom prst="line">
              <a:avLst/>
            </a:prstGeom>
            <a:noFill/>
            <a:ln w="38100">
              <a:solidFill>
                <a:schemeClr val="tx1"/>
              </a:solidFill>
              <a:round/>
              <a:tailEnd type="triangle" w="med" len="med"/>
            </a:ln>
          </p:spPr>
          <p:txBody>
            <a:bodyPr wrap="none"/>
            <a:lstStyle/>
            <a:p>
              <a:pPr>
                <a:defRPr/>
              </a:pPr>
              <a:endParaRPr lang="zh-CN" altLang="en-US" b="0">
                <a:latin typeface="+mj-ea"/>
                <a:ea typeface="+mj-ea"/>
              </a:endParaRPr>
            </a:p>
          </p:txBody>
        </p:sp>
      </p:grpSp>
      <p:grpSp>
        <p:nvGrpSpPr>
          <p:cNvPr id="4" name="Group 9"/>
          <p:cNvGrpSpPr/>
          <p:nvPr/>
        </p:nvGrpSpPr>
        <p:grpSpPr bwMode="auto">
          <a:xfrm>
            <a:off x="4001815" y="4589488"/>
            <a:ext cx="4616450" cy="544513"/>
            <a:chOff x="1383" y="3031"/>
            <a:chExt cx="2908" cy="343"/>
          </a:xfrm>
        </p:grpSpPr>
        <p:sp>
          <p:nvSpPr>
            <p:cNvPr id="171023" name="Rectangle 10"/>
            <p:cNvSpPr>
              <a:spLocks noChangeArrowheads="1"/>
            </p:cNvSpPr>
            <p:nvPr/>
          </p:nvSpPr>
          <p:spPr bwMode="auto">
            <a:xfrm>
              <a:off x="1383" y="3031"/>
              <a:ext cx="1481"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el-GR" altLang="zh-CN" sz="2800" b="0" dirty="0">
                  <a:solidFill>
                    <a:srgbClr val="5D2785"/>
                  </a:solidFill>
                  <a:latin typeface="+mj-ea"/>
                  <a:ea typeface="+mj-ea"/>
                </a:rPr>
                <a:t>α-</a:t>
              </a:r>
              <a:r>
                <a:rPr kumimoji="1" lang="zh-CN" altLang="el-GR" sz="2800" b="0" dirty="0">
                  <a:solidFill>
                    <a:srgbClr val="5D2785"/>
                  </a:solidFill>
                  <a:latin typeface="+mj-ea"/>
                  <a:ea typeface="+mj-ea"/>
                </a:rPr>
                <a:t>酮戊二酸</a:t>
              </a:r>
              <a:r>
                <a:rPr kumimoji="1" lang="zh-CN" altLang="en-US" sz="2800" b="0" dirty="0">
                  <a:solidFill>
                    <a:srgbClr val="5D2785"/>
                  </a:solidFill>
                  <a:latin typeface="+mj-ea"/>
                  <a:ea typeface="+mj-ea"/>
                </a:rPr>
                <a:t> </a:t>
              </a:r>
              <a:endParaRPr kumimoji="1" lang="zh-CN" altLang="en-US" sz="2800" b="0" dirty="0">
                <a:solidFill>
                  <a:srgbClr val="5D2785"/>
                </a:solidFill>
                <a:latin typeface="+mj-ea"/>
                <a:ea typeface="+mj-ea"/>
              </a:endParaRPr>
            </a:p>
          </p:txBody>
        </p:sp>
        <p:sp>
          <p:nvSpPr>
            <p:cNvPr id="171024" name="Text Box 11"/>
            <p:cNvSpPr txBox="1">
              <a:spLocks noChangeArrowheads="1"/>
            </p:cNvSpPr>
            <p:nvPr/>
          </p:nvSpPr>
          <p:spPr bwMode="auto">
            <a:xfrm>
              <a:off x="3379" y="3044"/>
              <a:ext cx="912"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a:solidFill>
                    <a:schemeClr val="tx2"/>
                  </a:solidFill>
                  <a:latin typeface="+mj-ea"/>
                  <a:ea typeface="+mj-ea"/>
                </a:rPr>
                <a:t>谷氨酸 </a:t>
              </a:r>
              <a:endParaRPr kumimoji="1" lang="zh-CN" altLang="en-US" sz="2800" b="0">
                <a:solidFill>
                  <a:schemeClr val="tx2"/>
                </a:solidFill>
                <a:latin typeface="+mj-ea"/>
                <a:ea typeface="+mj-ea"/>
              </a:endParaRPr>
            </a:p>
          </p:txBody>
        </p:sp>
        <p:sp>
          <p:nvSpPr>
            <p:cNvPr id="171025" name="Line 12"/>
            <p:cNvSpPr>
              <a:spLocks noChangeShapeType="1"/>
            </p:cNvSpPr>
            <p:nvPr/>
          </p:nvSpPr>
          <p:spPr bwMode="auto">
            <a:xfrm>
              <a:off x="2699" y="3158"/>
              <a:ext cx="680" cy="0"/>
            </a:xfrm>
            <a:prstGeom prst="line">
              <a:avLst/>
            </a:prstGeom>
            <a:noFill/>
            <a:ln w="38100">
              <a:solidFill>
                <a:schemeClr val="tx1"/>
              </a:solidFill>
              <a:round/>
              <a:tailEnd type="triangle" w="med" len="med"/>
            </a:ln>
          </p:spPr>
          <p:txBody>
            <a:bodyPr wrap="none"/>
            <a:lstStyle/>
            <a:p>
              <a:pPr>
                <a:defRPr/>
              </a:pPr>
              <a:endParaRPr lang="zh-CN" altLang="en-US" b="0">
                <a:latin typeface="+mj-ea"/>
                <a:ea typeface="+mj-ea"/>
              </a:endParaRPr>
            </a:p>
          </p:txBody>
        </p:sp>
        <p:sp>
          <p:nvSpPr>
            <p:cNvPr id="171026" name="Line 13"/>
            <p:cNvSpPr>
              <a:spLocks noChangeShapeType="1"/>
            </p:cNvSpPr>
            <p:nvPr/>
          </p:nvSpPr>
          <p:spPr bwMode="auto">
            <a:xfrm flipH="1">
              <a:off x="2699" y="3249"/>
              <a:ext cx="680" cy="0"/>
            </a:xfrm>
            <a:prstGeom prst="line">
              <a:avLst/>
            </a:prstGeom>
            <a:noFill/>
            <a:ln w="38100">
              <a:solidFill>
                <a:schemeClr val="tx1"/>
              </a:solidFill>
              <a:round/>
              <a:tailEnd type="triangle" w="med" len="med"/>
            </a:ln>
          </p:spPr>
          <p:txBody>
            <a:bodyPr wrap="none"/>
            <a:lstStyle/>
            <a:p>
              <a:pPr>
                <a:defRPr/>
              </a:pPr>
              <a:endParaRPr lang="zh-CN" altLang="en-US" b="0">
                <a:latin typeface="+mj-ea"/>
                <a:ea typeface="+mj-ea"/>
              </a:endParaRPr>
            </a:p>
          </p:txBody>
        </p:sp>
      </p:grpSp>
      <p:grpSp>
        <p:nvGrpSpPr>
          <p:cNvPr id="5" name="Group 14"/>
          <p:cNvGrpSpPr/>
          <p:nvPr/>
        </p:nvGrpSpPr>
        <p:grpSpPr bwMode="auto">
          <a:xfrm>
            <a:off x="4151040" y="5143526"/>
            <a:ext cx="4184650" cy="523875"/>
            <a:chOff x="1655" y="3407"/>
            <a:chExt cx="2636" cy="330"/>
          </a:xfrm>
        </p:grpSpPr>
        <p:sp>
          <p:nvSpPr>
            <p:cNvPr id="171020" name="Text Box 15"/>
            <p:cNvSpPr txBox="1">
              <a:spLocks noChangeArrowheads="1"/>
            </p:cNvSpPr>
            <p:nvPr/>
          </p:nvSpPr>
          <p:spPr bwMode="auto">
            <a:xfrm>
              <a:off x="1655" y="3407"/>
              <a:ext cx="912"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rgbClr val="5D2785"/>
                  </a:solidFill>
                  <a:latin typeface="+mj-ea"/>
                  <a:ea typeface="+mj-ea"/>
                </a:rPr>
                <a:t>柠檬酸 </a:t>
              </a:r>
              <a:endParaRPr kumimoji="1" lang="zh-CN" altLang="en-US" sz="2800" b="0" dirty="0">
                <a:solidFill>
                  <a:srgbClr val="5D2785"/>
                </a:solidFill>
                <a:latin typeface="+mj-ea"/>
                <a:ea typeface="+mj-ea"/>
              </a:endParaRPr>
            </a:p>
          </p:txBody>
        </p:sp>
        <p:sp>
          <p:nvSpPr>
            <p:cNvPr id="171021" name="Text Box 16"/>
            <p:cNvSpPr txBox="1">
              <a:spLocks noChangeArrowheads="1"/>
            </p:cNvSpPr>
            <p:nvPr/>
          </p:nvSpPr>
          <p:spPr bwMode="auto">
            <a:xfrm>
              <a:off x="3379" y="3407"/>
              <a:ext cx="912"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chemeClr val="tx2"/>
                  </a:solidFill>
                  <a:latin typeface="+mj-ea"/>
                  <a:ea typeface="+mj-ea"/>
                </a:rPr>
                <a:t>脂肪酸 </a:t>
              </a:r>
              <a:endParaRPr kumimoji="1" lang="zh-CN" altLang="en-US" sz="2800" b="0" dirty="0">
                <a:solidFill>
                  <a:schemeClr val="tx2"/>
                </a:solidFill>
                <a:latin typeface="+mj-ea"/>
                <a:ea typeface="+mj-ea"/>
              </a:endParaRPr>
            </a:p>
          </p:txBody>
        </p:sp>
        <p:sp>
          <p:nvSpPr>
            <p:cNvPr id="171022" name="Line 17"/>
            <p:cNvSpPr>
              <a:spLocks noChangeShapeType="1"/>
            </p:cNvSpPr>
            <p:nvPr/>
          </p:nvSpPr>
          <p:spPr bwMode="auto">
            <a:xfrm>
              <a:off x="2472" y="3566"/>
              <a:ext cx="953" cy="0"/>
            </a:xfrm>
            <a:prstGeom prst="line">
              <a:avLst/>
            </a:prstGeom>
            <a:noFill/>
            <a:ln w="57150" cap="rnd">
              <a:solidFill>
                <a:schemeClr val="tx1"/>
              </a:solidFill>
              <a:prstDash val="sysDot"/>
              <a:round/>
              <a:tailEnd type="triangle" w="med" len="med"/>
            </a:ln>
          </p:spPr>
          <p:txBody>
            <a:bodyPr wrap="none"/>
            <a:lstStyle/>
            <a:p>
              <a:pPr>
                <a:defRPr/>
              </a:pPr>
              <a:endParaRPr lang="zh-CN" altLang="en-US" b="0">
                <a:latin typeface="+mj-ea"/>
                <a:ea typeface="+mj-ea"/>
              </a:endParaRPr>
            </a:p>
          </p:txBody>
        </p:sp>
      </p:grpSp>
      <p:grpSp>
        <p:nvGrpSpPr>
          <p:cNvPr id="6" name="Group 18"/>
          <p:cNvGrpSpPr/>
          <p:nvPr/>
        </p:nvGrpSpPr>
        <p:grpSpPr bwMode="auto">
          <a:xfrm>
            <a:off x="4151040" y="5711850"/>
            <a:ext cx="3967162" cy="525462"/>
            <a:chOff x="1643" y="3782"/>
            <a:chExt cx="2499" cy="331"/>
          </a:xfrm>
        </p:grpSpPr>
        <p:sp>
          <p:nvSpPr>
            <p:cNvPr id="171017" name="Text Box 19"/>
            <p:cNvSpPr txBox="1">
              <a:spLocks noChangeArrowheads="1"/>
            </p:cNvSpPr>
            <p:nvPr/>
          </p:nvSpPr>
          <p:spPr bwMode="auto">
            <a:xfrm>
              <a:off x="1643" y="3783"/>
              <a:ext cx="1377"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rgbClr val="5D2785"/>
                  </a:solidFill>
                  <a:latin typeface="+mj-ea"/>
                  <a:ea typeface="+mj-ea"/>
                </a:rPr>
                <a:t>琥珀酰</a:t>
              </a:r>
              <a:r>
                <a:rPr kumimoji="1" lang="en-US" altLang="zh-CN" sz="2800" b="0" dirty="0">
                  <a:solidFill>
                    <a:srgbClr val="5D2785"/>
                  </a:solidFill>
                  <a:latin typeface="+mj-ea"/>
                  <a:ea typeface="+mj-ea"/>
                </a:rPr>
                <a:t>CoA  </a:t>
              </a:r>
              <a:endParaRPr kumimoji="1" lang="en-US" altLang="zh-CN" sz="2800" b="0" dirty="0">
                <a:solidFill>
                  <a:srgbClr val="5D2785"/>
                </a:solidFill>
                <a:latin typeface="+mj-ea"/>
                <a:ea typeface="+mj-ea"/>
              </a:endParaRPr>
            </a:p>
          </p:txBody>
        </p:sp>
        <p:sp>
          <p:nvSpPr>
            <p:cNvPr id="171018" name="Text Box 20"/>
            <p:cNvSpPr txBox="1">
              <a:spLocks noChangeArrowheads="1"/>
            </p:cNvSpPr>
            <p:nvPr/>
          </p:nvSpPr>
          <p:spPr bwMode="auto">
            <a:xfrm>
              <a:off x="3457" y="3782"/>
              <a:ext cx="685" cy="33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sz="2800" b="0" dirty="0">
                  <a:solidFill>
                    <a:schemeClr val="tx2"/>
                  </a:solidFill>
                  <a:latin typeface="+mj-ea"/>
                  <a:ea typeface="+mj-ea"/>
                </a:rPr>
                <a:t>卟啉 </a:t>
              </a:r>
              <a:endParaRPr kumimoji="1" lang="zh-CN" altLang="en-US" sz="2800" b="0" dirty="0">
                <a:solidFill>
                  <a:schemeClr val="tx2"/>
                </a:solidFill>
                <a:latin typeface="+mj-ea"/>
                <a:ea typeface="+mj-ea"/>
              </a:endParaRPr>
            </a:p>
          </p:txBody>
        </p:sp>
        <p:sp>
          <p:nvSpPr>
            <p:cNvPr id="171019" name="Line 21"/>
            <p:cNvSpPr>
              <a:spLocks noChangeShapeType="1"/>
            </p:cNvSpPr>
            <p:nvPr/>
          </p:nvSpPr>
          <p:spPr bwMode="auto">
            <a:xfrm>
              <a:off x="2880" y="3929"/>
              <a:ext cx="636" cy="0"/>
            </a:xfrm>
            <a:prstGeom prst="line">
              <a:avLst/>
            </a:prstGeom>
            <a:noFill/>
            <a:ln w="57150" cap="rnd">
              <a:solidFill>
                <a:schemeClr val="tx1"/>
              </a:solidFill>
              <a:prstDash val="sysDot"/>
              <a:round/>
              <a:tailEnd type="triangle" w="med" len="med"/>
            </a:ln>
          </p:spPr>
          <p:txBody>
            <a:bodyPr wrap="none"/>
            <a:lstStyle/>
            <a:p>
              <a:pPr>
                <a:defRPr/>
              </a:pPr>
              <a:endParaRPr lang="zh-CN" altLang="en-US" b="0">
                <a:latin typeface="+mj-ea"/>
                <a:ea typeface="+mj-ea"/>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467"/>
                                        </p:tgtEl>
                                        <p:attrNameLst>
                                          <p:attrName>style.visibility</p:attrName>
                                        </p:attrNameLst>
                                      </p:cBhvr>
                                      <p:to>
                                        <p:strVal val="visible"/>
                                      </p:to>
                                    </p:set>
                                    <p:animEffect transition="in" filter="fade">
                                      <p:cBhvr>
                                        <p:cTn id="7" dur="500"/>
                                        <p:tgtEl>
                                          <p:spTgt spid="6246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Rectangle 2"/>
          <p:cNvSpPr>
            <a:spLocks noGrp="1" noChangeArrowheads="1"/>
          </p:cNvSpPr>
          <p:nvPr>
            <p:ph type="body" idx="4294967295"/>
          </p:nvPr>
        </p:nvSpPr>
        <p:spPr>
          <a:xfrm>
            <a:off x="1919289" y="552893"/>
            <a:ext cx="8569325" cy="3524179"/>
          </a:xfrm>
          <a:noFill/>
        </p:spPr>
        <p:txBody>
          <a:bodyPr/>
          <a:lstStyle/>
          <a:p>
            <a:pPr marL="360045"/>
            <a:r>
              <a:rPr lang="zh-CN" altLang="en-US" sz="2400" b="0" dirty="0"/>
              <a:t>利用分离出的线粒体可以研究细胞呼吸，可测定各种不同状况下氧的消耗，如果将 </a:t>
            </a:r>
            <a:r>
              <a:rPr lang="en-US" altLang="zh-CN" sz="2400" b="0" dirty="0"/>
              <a:t>0.01M</a:t>
            </a:r>
            <a:r>
              <a:rPr lang="zh-CN" altLang="en-US" sz="2400" b="0" dirty="0"/>
              <a:t>的丙二酸钠添加正在进行细胞呼吸的线粒体（以丙酮酸为燃料来源）中，呼吸作用很快就会停止，并造成代谢中间产物的堆积。</a:t>
            </a:r>
            <a:br>
              <a:rPr lang="zh-CN" altLang="en-US" sz="2400" b="0" dirty="0"/>
            </a:br>
            <a:r>
              <a:rPr lang="zh-CN" altLang="en-US" sz="2400" b="0" dirty="0"/>
              <a:t>（</a:t>
            </a:r>
            <a:r>
              <a:rPr lang="en-US" altLang="zh-CN" sz="2400" b="0" dirty="0"/>
              <a:t>a</a:t>
            </a:r>
            <a:r>
              <a:rPr lang="zh-CN" altLang="en-US" sz="2400" b="0" dirty="0"/>
              <a:t>）堆积的中间代谢物是什么？</a:t>
            </a:r>
            <a:br>
              <a:rPr lang="zh-CN" altLang="en-US" sz="2400" b="0" dirty="0"/>
            </a:br>
            <a:r>
              <a:rPr lang="zh-CN" altLang="en-US" sz="2400" b="0" dirty="0"/>
              <a:t>（</a:t>
            </a:r>
            <a:r>
              <a:rPr lang="en-US" altLang="zh-CN" sz="2400" b="0" dirty="0"/>
              <a:t>b</a:t>
            </a:r>
            <a:r>
              <a:rPr lang="zh-CN" altLang="en-US" sz="2400" b="0" dirty="0"/>
              <a:t>）解释为什么会堆积？</a:t>
            </a:r>
            <a:br>
              <a:rPr lang="zh-CN" altLang="en-US" sz="2400" b="0" dirty="0"/>
            </a:br>
            <a:r>
              <a:rPr lang="zh-CN" altLang="en-US" sz="2400" b="0" dirty="0"/>
              <a:t>（</a:t>
            </a:r>
            <a:r>
              <a:rPr lang="en-US" altLang="zh-CN" sz="2400" b="0" dirty="0"/>
              <a:t>c</a:t>
            </a:r>
            <a:r>
              <a:rPr lang="zh-CN" altLang="en-US" sz="2400" b="0" dirty="0"/>
              <a:t>）解释氧消耗为什么会停止？</a:t>
            </a:r>
            <a:br>
              <a:rPr lang="zh-CN" altLang="en-US" sz="2400" b="0" dirty="0"/>
            </a:br>
            <a:r>
              <a:rPr lang="zh-CN" altLang="en-US" sz="2400" b="0" dirty="0"/>
              <a:t>（</a:t>
            </a:r>
            <a:r>
              <a:rPr lang="en-US" altLang="zh-CN" sz="2400" b="0" dirty="0"/>
              <a:t>d</a:t>
            </a:r>
            <a:r>
              <a:rPr lang="zh-CN" altLang="en-US" sz="2400" b="0" dirty="0"/>
              <a:t>）除了除去丙二酸解除抑制以外，还有什么方法可以克服丙二酸的抑制？</a:t>
            </a:r>
            <a:endParaRPr lang="zh-CN" altLang="en-US" sz="2400" b="0" dirty="0"/>
          </a:p>
        </p:txBody>
      </p:sp>
      <p:sp>
        <p:nvSpPr>
          <p:cNvPr id="780291" name="Rectangle 3"/>
          <p:cNvSpPr>
            <a:spLocks noChangeArrowheads="1"/>
          </p:cNvSpPr>
          <p:nvPr/>
        </p:nvSpPr>
        <p:spPr bwMode="auto">
          <a:xfrm>
            <a:off x="1919289" y="4365626"/>
            <a:ext cx="856932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buClrTx/>
              <a:buSzPct val="85000"/>
              <a:buFontTx/>
              <a:buBlip>
                <a:blip r:embed="rId1"/>
              </a:buBlip>
            </a:pPr>
            <a:r>
              <a:rPr lang="zh-CN" altLang="en-US" sz="2800">
                <a:solidFill>
                  <a:schemeClr val="tx2"/>
                </a:solidFill>
                <a:latin typeface="Arial" panose="020B0604020202020204" pitchFamily="34" charset="0"/>
                <a:ea typeface="宋体" panose="02010600030101010101" pitchFamily="2" charset="-122"/>
              </a:rPr>
              <a:t>答（</a:t>
            </a:r>
            <a:r>
              <a:rPr lang="en-US" altLang="zh-CN" sz="2800">
                <a:solidFill>
                  <a:schemeClr val="tx2"/>
                </a:solidFill>
                <a:latin typeface="Arial" panose="020B0604020202020204" pitchFamily="34" charset="0"/>
                <a:ea typeface="宋体" panose="02010600030101010101" pitchFamily="2" charset="-122"/>
              </a:rPr>
              <a:t>a</a:t>
            </a:r>
            <a:r>
              <a:rPr lang="zh-CN" altLang="en-US" sz="2800">
                <a:solidFill>
                  <a:schemeClr val="tx2"/>
                </a:solidFill>
                <a:latin typeface="Arial" panose="020B0604020202020204" pitchFamily="34" charset="0"/>
                <a:ea typeface="宋体" panose="02010600030101010101" pitchFamily="2" charset="-122"/>
              </a:rPr>
              <a:t>）琥珀酸 </a:t>
            </a:r>
            <a:endParaRPr lang="zh-CN" altLang="en-US" sz="2800">
              <a:solidFill>
                <a:schemeClr val="tx2"/>
              </a:solidFill>
              <a:latin typeface="Arial" panose="020B0604020202020204" pitchFamily="34" charset="0"/>
              <a:ea typeface="宋体" panose="02010600030101010101" pitchFamily="2" charset="-122"/>
            </a:endParaRPr>
          </a:p>
          <a:p>
            <a:pPr eaLnBrk="1" hangingPunct="1">
              <a:lnSpc>
                <a:spcPct val="80000"/>
              </a:lnSpc>
              <a:buClrTx/>
              <a:buSzPct val="85000"/>
              <a:buFontTx/>
              <a:buNone/>
            </a:pPr>
            <a:r>
              <a:rPr lang="zh-CN" altLang="en-US" sz="2800">
                <a:solidFill>
                  <a:schemeClr val="tx2"/>
                </a:solidFill>
                <a:latin typeface="Arial" panose="020B0604020202020204" pitchFamily="34" charset="0"/>
                <a:ea typeface="宋体" panose="02010600030101010101" pitchFamily="2" charset="-122"/>
              </a:rPr>
              <a:t>       （</a:t>
            </a:r>
            <a:r>
              <a:rPr lang="en-US" altLang="zh-CN" sz="2800">
                <a:solidFill>
                  <a:schemeClr val="tx2"/>
                </a:solidFill>
                <a:latin typeface="Arial" panose="020B0604020202020204" pitchFamily="34" charset="0"/>
                <a:ea typeface="宋体" panose="02010600030101010101" pitchFamily="2" charset="-122"/>
              </a:rPr>
              <a:t>b</a:t>
            </a:r>
            <a:r>
              <a:rPr lang="zh-CN" altLang="en-US" sz="2800">
                <a:solidFill>
                  <a:schemeClr val="tx2"/>
                </a:solidFill>
                <a:latin typeface="Arial" panose="020B0604020202020204" pitchFamily="34" charset="0"/>
                <a:ea typeface="宋体" panose="02010600030101010101" pitchFamily="2" charset="-122"/>
              </a:rPr>
              <a:t>）丙二酸是琥珀酸脱氢酶的竞争性抑制剂</a:t>
            </a:r>
            <a:endParaRPr lang="zh-CN" altLang="en-US" sz="2800">
              <a:solidFill>
                <a:schemeClr val="tx2"/>
              </a:solidFill>
              <a:latin typeface="Arial" panose="020B0604020202020204" pitchFamily="34" charset="0"/>
              <a:ea typeface="宋体" panose="02010600030101010101" pitchFamily="2" charset="-122"/>
            </a:endParaRPr>
          </a:p>
          <a:p>
            <a:pPr eaLnBrk="1" hangingPunct="1">
              <a:lnSpc>
                <a:spcPct val="80000"/>
              </a:lnSpc>
              <a:buClrTx/>
              <a:buSzPct val="85000"/>
              <a:buFontTx/>
              <a:buNone/>
            </a:pPr>
            <a:r>
              <a:rPr lang="zh-CN" altLang="en-US" sz="2800">
                <a:solidFill>
                  <a:schemeClr val="tx2"/>
                </a:solidFill>
                <a:latin typeface="Arial" panose="020B0604020202020204" pitchFamily="34" charset="0"/>
                <a:ea typeface="宋体" panose="02010600030101010101" pitchFamily="2" charset="-122"/>
              </a:rPr>
              <a:t>       （</a:t>
            </a:r>
            <a:r>
              <a:rPr lang="en-US" altLang="zh-CN" sz="2800">
                <a:solidFill>
                  <a:schemeClr val="tx2"/>
                </a:solidFill>
                <a:latin typeface="Arial" panose="020B0604020202020204" pitchFamily="34" charset="0"/>
                <a:ea typeface="宋体" panose="02010600030101010101" pitchFamily="2" charset="-122"/>
              </a:rPr>
              <a:t>c</a:t>
            </a:r>
            <a:r>
              <a:rPr lang="zh-CN" altLang="en-US" sz="2800">
                <a:solidFill>
                  <a:schemeClr val="tx2"/>
                </a:solidFill>
                <a:latin typeface="Arial" panose="020B0604020202020204" pitchFamily="34" charset="0"/>
                <a:ea typeface="宋体" panose="02010600030101010101" pitchFamily="2" charset="-122"/>
              </a:rPr>
              <a:t>）阻断柠檬酸循环就阻断了</a:t>
            </a:r>
            <a:r>
              <a:rPr lang="en-US" altLang="zh-CN" sz="2800">
                <a:solidFill>
                  <a:schemeClr val="tx2"/>
                </a:solidFill>
                <a:latin typeface="Arial" panose="020B0604020202020204" pitchFamily="34" charset="0"/>
                <a:ea typeface="宋体" panose="02010600030101010101" pitchFamily="2" charset="-122"/>
              </a:rPr>
              <a:t>NADH</a:t>
            </a:r>
            <a:r>
              <a:rPr lang="zh-CN" altLang="en-US" sz="2800">
                <a:solidFill>
                  <a:schemeClr val="tx2"/>
                </a:solidFill>
                <a:latin typeface="Arial" panose="020B0604020202020204" pitchFamily="34" charset="0"/>
                <a:ea typeface="宋体" panose="02010600030101010101" pitchFamily="2" charset="-122"/>
              </a:rPr>
              <a:t>的合成</a:t>
            </a:r>
            <a:r>
              <a:rPr lang="en-US" altLang="zh-CN" sz="2800">
                <a:solidFill>
                  <a:schemeClr val="tx2"/>
                </a:solidFill>
                <a:latin typeface="Arial" panose="020B0604020202020204" pitchFamily="34" charset="0"/>
                <a:ea typeface="宋体" panose="02010600030101010101" pitchFamily="2" charset="-122"/>
              </a:rPr>
              <a:t>,</a:t>
            </a:r>
            <a:r>
              <a:rPr lang="zh-CN" altLang="en-US" sz="2800">
                <a:solidFill>
                  <a:schemeClr val="tx2"/>
                </a:solidFill>
                <a:latin typeface="Arial" panose="020B0604020202020204" pitchFamily="34" charset="0"/>
                <a:ea typeface="宋体" panose="02010600030101010101" pitchFamily="2" charset="-122"/>
              </a:rPr>
              <a:t>从</a:t>
            </a:r>
            <a:endParaRPr lang="zh-CN" altLang="en-US" sz="2800">
              <a:solidFill>
                <a:schemeClr val="tx2"/>
              </a:solidFill>
              <a:latin typeface="Arial" panose="020B0604020202020204" pitchFamily="34" charset="0"/>
              <a:ea typeface="宋体" panose="02010600030101010101" pitchFamily="2" charset="-122"/>
            </a:endParaRPr>
          </a:p>
          <a:p>
            <a:pPr eaLnBrk="1" hangingPunct="1">
              <a:lnSpc>
                <a:spcPct val="80000"/>
              </a:lnSpc>
              <a:buClrTx/>
              <a:buSzPct val="85000"/>
              <a:buFontTx/>
              <a:buNone/>
            </a:pPr>
            <a:r>
              <a:rPr lang="zh-CN" altLang="en-US" sz="2800">
                <a:solidFill>
                  <a:schemeClr val="tx2"/>
                </a:solidFill>
                <a:latin typeface="Arial" panose="020B0604020202020204" pitchFamily="34" charset="0"/>
                <a:ea typeface="宋体" panose="02010600030101010101" pitchFamily="2" charset="-122"/>
              </a:rPr>
              <a:t>                而阻断了电子传递和呼吸。</a:t>
            </a:r>
            <a:endParaRPr lang="zh-CN" altLang="en-US" sz="2800">
              <a:solidFill>
                <a:schemeClr val="tx2"/>
              </a:solidFill>
              <a:latin typeface="Arial" panose="020B0604020202020204" pitchFamily="34" charset="0"/>
              <a:ea typeface="宋体" panose="02010600030101010101" pitchFamily="2" charset="-122"/>
            </a:endParaRPr>
          </a:p>
          <a:p>
            <a:pPr eaLnBrk="1" hangingPunct="1">
              <a:lnSpc>
                <a:spcPct val="80000"/>
              </a:lnSpc>
              <a:buClrTx/>
              <a:buSzPct val="85000"/>
              <a:buFontTx/>
              <a:buNone/>
            </a:pPr>
            <a:r>
              <a:rPr lang="zh-CN" altLang="en-US" sz="2800">
                <a:solidFill>
                  <a:schemeClr val="tx2"/>
                </a:solidFill>
                <a:latin typeface="Arial" panose="020B0604020202020204" pitchFamily="34" charset="0"/>
                <a:ea typeface="宋体" panose="02010600030101010101" pitchFamily="2" charset="-122"/>
              </a:rPr>
              <a:t>       （</a:t>
            </a:r>
            <a:r>
              <a:rPr lang="en-US" altLang="zh-CN" sz="2800">
                <a:solidFill>
                  <a:schemeClr val="tx2"/>
                </a:solidFill>
                <a:latin typeface="Arial" panose="020B0604020202020204" pitchFamily="34" charset="0"/>
                <a:ea typeface="宋体" panose="02010600030101010101" pitchFamily="2" charset="-122"/>
              </a:rPr>
              <a:t>d</a:t>
            </a:r>
            <a:r>
              <a:rPr lang="zh-CN" altLang="en-US" sz="2800">
                <a:solidFill>
                  <a:schemeClr val="tx2"/>
                </a:solidFill>
                <a:latin typeface="Arial" panose="020B0604020202020204" pitchFamily="34" charset="0"/>
                <a:ea typeface="宋体" panose="02010600030101010101" pitchFamily="2" charset="-122"/>
              </a:rPr>
              <a:t>）琥珀酸浓度大大过量。</a:t>
            </a:r>
            <a:r>
              <a:rPr lang="zh-CN" altLang="en-US" sz="2800">
                <a:latin typeface="Arial" panose="020B0604020202020204" pitchFamily="34" charset="0"/>
                <a:ea typeface="宋体" panose="02010600030101010101" pitchFamily="2" charset="-122"/>
              </a:rPr>
              <a:t> </a:t>
            </a:r>
            <a:endParaRPr lang="zh-CN" altLang="en-US" sz="2800">
              <a:latin typeface="Arial" panose="020B0604020202020204" pitchFamily="34" charset="0"/>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0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80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0291">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780291">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80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1250" name="Rectangle 2"/>
          <p:cNvSpPr>
            <a:spLocks noGrp="1" noChangeArrowheads="1"/>
          </p:cNvSpPr>
          <p:nvPr>
            <p:ph type="body" idx="1"/>
          </p:nvPr>
        </p:nvSpPr>
        <p:spPr>
          <a:xfrm>
            <a:off x="1847528" y="1685269"/>
            <a:ext cx="8856984" cy="1657350"/>
          </a:xfrm>
          <a:noFill/>
        </p:spPr>
        <p:txBody>
          <a:bodyPr/>
          <a:lstStyle/>
          <a:p>
            <a:pPr>
              <a:lnSpc>
                <a:spcPct val="150000"/>
              </a:lnSpc>
            </a:pPr>
            <a:r>
              <a:rPr lang="zh-CN" altLang="en-US" sz="2800" b="0" dirty="0"/>
              <a:t>尽管</a:t>
            </a:r>
            <a:r>
              <a:rPr lang="en-US" altLang="zh-CN" sz="2800" b="0" dirty="0"/>
              <a:t>O</a:t>
            </a:r>
            <a:r>
              <a:rPr lang="en-US" altLang="zh-CN" sz="2800" b="0" baseline="-25000" dirty="0"/>
              <a:t>2</a:t>
            </a:r>
            <a:r>
              <a:rPr lang="zh-CN" altLang="en-US" sz="2800" b="0" dirty="0"/>
              <a:t>没有直接参与柠檬酸循环，但没有</a:t>
            </a:r>
            <a:r>
              <a:rPr lang="en-US" altLang="zh-CN" sz="2800" b="0" dirty="0"/>
              <a:t>O</a:t>
            </a:r>
            <a:r>
              <a:rPr lang="en-US" altLang="zh-CN" sz="2800" b="0" baseline="-25000" dirty="0"/>
              <a:t>2</a:t>
            </a:r>
            <a:r>
              <a:rPr lang="zh-CN" altLang="en-US" sz="2800" b="0" dirty="0"/>
              <a:t>的存在，柠檬酸循环就不能进行，为什么？</a:t>
            </a:r>
            <a:endParaRPr lang="zh-CN" altLang="en-US" sz="2800" b="0" dirty="0"/>
          </a:p>
        </p:txBody>
      </p:sp>
      <p:sp>
        <p:nvSpPr>
          <p:cNvPr id="779268" name="Rectangle 4"/>
          <p:cNvSpPr>
            <a:spLocks noChangeArrowheads="1"/>
          </p:cNvSpPr>
          <p:nvPr/>
        </p:nvSpPr>
        <p:spPr bwMode="auto">
          <a:xfrm>
            <a:off x="1847528" y="3515382"/>
            <a:ext cx="8723312" cy="1425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buClrTx/>
              <a:buSzPct val="85000"/>
              <a:buFontTx/>
              <a:buBlip>
                <a:blip r:embed="rId1"/>
              </a:buBlip>
            </a:pPr>
            <a:r>
              <a:rPr lang="zh-CN" altLang="en-US" sz="2800" dirty="0">
                <a:solidFill>
                  <a:schemeClr val="tx2"/>
                </a:solidFill>
                <a:latin typeface="Arial" panose="020B0604020202020204" pitchFamily="34" charset="0"/>
                <a:ea typeface="宋体" panose="02010600030101010101" pitchFamily="2" charset="-122"/>
              </a:rPr>
              <a:t>答：氧不足，</a:t>
            </a:r>
            <a:r>
              <a:rPr lang="en-US" altLang="zh-CN" sz="2800" dirty="0">
                <a:solidFill>
                  <a:schemeClr val="tx2"/>
                </a:solidFill>
                <a:latin typeface="Arial" panose="020B0604020202020204" pitchFamily="34" charset="0"/>
                <a:ea typeface="宋体" panose="02010600030101010101" pitchFamily="2" charset="-122"/>
              </a:rPr>
              <a:t>NADH</a:t>
            </a:r>
            <a:r>
              <a:rPr lang="zh-CN" altLang="en-US" sz="2800" dirty="0">
                <a:solidFill>
                  <a:schemeClr val="tx2"/>
                </a:solidFill>
                <a:latin typeface="Arial" panose="020B0604020202020204" pitchFamily="34" charset="0"/>
                <a:ea typeface="宋体" panose="02010600030101010101" pitchFamily="2" charset="-122"/>
              </a:rPr>
              <a:t>的氢给不出去，致使作为受氢体的</a:t>
            </a:r>
            <a:r>
              <a:rPr lang="en-US" altLang="zh-CN" sz="2800" dirty="0">
                <a:solidFill>
                  <a:schemeClr val="tx2"/>
                </a:solidFill>
                <a:latin typeface="Arial" panose="020B0604020202020204" pitchFamily="34" charset="0"/>
                <a:ea typeface="宋体" panose="02010600030101010101" pitchFamily="2" charset="-122"/>
              </a:rPr>
              <a:t>NAD</a:t>
            </a:r>
            <a:r>
              <a:rPr lang="zh-CN" altLang="en-US" sz="2800" baseline="30000" dirty="0">
                <a:solidFill>
                  <a:schemeClr val="tx2"/>
                </a:solidFill>
                <a:latin typeface="Arial" panose="020B0604020202020204" pitchFamily="34" charset="0"/>
                <a:ea typeface="宋体" panose="02010600030101010101" pitchFamily="2" charset="-122"/>
              </a:rPr>
              <a:t>＋</a:t>
            </a:r>
            <a:r>
              <a:rPr lang="zh-CN" altLang="en-US" sz="2800" dirty="0">
                <a:solidFill>
                  <a:schemeClr val="tx2"/>
                </a:solidFill>
                <a:latin typeface="Arial" panose="020B0604020202020204" pitchFamily="34" charset="0"/>
                <a:ea typeface="宋体" panose="02010600030101010101" pitchFamily="2" charset="-122"/>
              </a:rPr>
              <a:t>不足，三羧酸循环中的脱氢反应无法进行。</a:t>
            </a:r>
            <a:endParaRPr lang="zh-CN" altLang="en-US" sz="2800" dirty="0">
              <a:latin typeface="Arial" panose="020B0604020202020204" pitchFamily="34" charset="0"/>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926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idx="4294967295"/>
          </p:nvPr>
        </p:nvSpPr>
        <p:spPr bwMode="auto">
          <a:xfrm>
            <a:off x="1978025" y="1012825"/>
            <a:ext cx="8648700" cy="1195388"/>
          </a:xfrm>
        </p:spPr>
        <p:txBody>
          <a:bodyPr anchor="t"/>
          <a:lstStyle/>
          <a:p>
            <a:pPr algn="l" eaLnBrk="1" hangingPunct="1">
              <a:lnSpc>
                <a:spcPct val="120000"/>
              </a:lnSpc>
              <a:defRPr/>
            </a:pPr>
            <a:r>
              <a:rPr lang="zh-CN" altLang="en-US" sz="2800" dirty="0">
                <a:solidFill>
                  <a:schemeClr val="tx1">
                    <a:lumMod val="95000"/>
                    <a:lumOff val="5000"/>
                  </a:schemeClr>
                </a:solidFill>
                <a:latin typeface="+mj-ea"/>
              </a:rPr>
              <a:t>为保证三羧酸循环的正常运转，失去的中间产物必须及时补充，其中</a:t>
            </a:r>
            <a:r>
              <a:rPr lang="zh-CN" altLang="en-US" sz="2800" dirty="0">
                <a:solidFill>
                  <a:srgbClr val="FF0000"/>
                </a:solidFill>
                <a:latin typeface="+mj-ea"/>
              </a:rPr>
              <a:t>最重要的是草酰乙酸的添补！ </a:t>
            </a:r>
            <a:endParaRPr lang="zh-CN" altLang="en-US" sz="2800" dirty="0">
              <a:solidFill>
                <a:srgbClr val="FF0000"/>
              </a:solidFill>
              <a:latin typeface="+mj-ea"/>
            </a:endParaRPr>
          </a:p>
        </p:txBody>
      </p:sp>
      <p:sp>
        <p:nvSpPr>
          <p:cNvPr id="182275" name="Text Box 3"/>
          <p:cNvSpPr txBox="1">
            <a:spLocks noChangeArrowheads="1"/>
          </p:cNvSpPr>
          <p:nvPr/>
        </p:nvSpPr>
        <p:spPr bwMode="auto">
          <a:xfrm>
            <a:off x="5720140" y="2781300"/>
            <a:ext cx="677108" cy="2376488"/>
          </a:xfrm>
          <a:prstGeom prst="rect">
            <a:avLst/>
          </a:prstGeom>
          <a:noFill/>
          <a:ln w="19050">
            <a:solidFill>
              <a:srgbClr val="CC0066"/>
            </a:solidFill>
            <a:miter lim="800000"/>
          </a:ln>
          <a:extLst>
            <a:ext uri="{909E8E84-426E-40DD-AFC4-6F175D3DCCD1}">
              <a14:hiddenFill xmlns:a14="http://schemas.microsoft.com/office/drawing/2010/main">
                <a:solidFill>
                  <a:srgbClr val="FFFFFF"/>
                </a:solidFill>
              </a14:hiddenFill>
            </a:ext>
          </a:extLst>
        </p:spPr>
        <p:txBody>
          <a:bodyPr vert="eaVert"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a:solidFill>
                  <a:srgbClr val="5D2785"/>
                </a:solidFill>
                <a:latin typeface="华文楷体" panose="02010600040101010101" pitchFamily="2" charset="-122"/>
                <a:ea typeface="华文楷体" panose="02010600040101010101" pitchFamily="2" charset="-122"/>
              </a:rPr>
              <a:t>草酰乙酸  </a:t>
            </a:r>
            <a:endParaRPr kumimoji="1" lang="zh-CN" altLang="en-US">
              <a:solidFill>
                <a:srgbClr val="5D2785"/>
              </a:solidFill>
              <a:latin typeface="华文楷体" panose="02010600040101010101" pitchFamily="2" charset="-122"/>
              <a:ea typeface="华文楷体" panose="02010600040101010101" pitchFamily="2" charset="-122"/>
            </a:endParaRPr>
          </a:p>
        </p:txBody>
      </p:sp>
      <p:grpSp>
        <p:nvGrpSpPr>
          <p:cNvPr id="2" name="Group 4"/>
          <p:cNvGrpSpPr/>
          <p:nvPr/>
        </p:nvGrpSpPr>
        <p:grpSpPr bwMode="auto">
          <a:xfrm>
            <a:off x="1847528" y="4170363"/>
            <a:ext cx="3630613" cy="1206500"/>
            <a:chOff x="384" y="1750"/>
            <a:chExt cx="2287" cy="760"/>
          </a:xfrm>
        </p:grpSpPr>
        <p:grpSp>
          <p:nvGrpSpPr>
            <p:cNvPr id="182300" name="Group 5"/>
            <p:cNvGrpSpPr/>
            <p:nvPr/>
          </p:nvGrpSpPr>
          <p:grpSpPr bwMode="auto">
            <a:xfrm>
              <a:off x="384" y="1750"/>
              <a:ext cx="2287" cy="550"/>
              <a:chOff x="384" y="1750"/>
              <a:chExt cx="2287" cy="550"/>
            </a:xfrm>
          </p:grpSpPr>
          <p:sp>
            <p:nvSpPr>
              <p:cNvPr id="182303" name="Text Box 6"/>
              <p:cNvSpPr txBox="1">
                <a:spLocks noChangeArrowheads="1"/>
              </p:cNvSpPr>
              <p:nvPr/>
            </p:nvSpPr>
            <p:spPr bwMode="auto">
              <a:xfrm>
                <a:off x="384" y="1932"/>
                <a:ext cx="108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dirty="0">
                    <a:solidFill>
                      <a:schemeClr val="tx2"/>
                    </a:solidFill>
                    <a:latin typeface="华文楷体" panose="02010600040101010101" pitchFamily="2" charset="-122"/>
                    <a:ea typeface="华文楷体" panose="02010600040101010101" pitchFamily="2" charset="-122"/>
                  </a:rPr>
                  <a:t> </a:t>
                </a:r>
                <a:r>
                  <a:rPr kumimoji="1" lang="zh-CN" altLang="en-US" dirty="0">
                    <a:solidFill>
                      <a:schemeClr val="tx2"/>
                    </a:solidFill>
                    <a:latin typeface="华文楷体" panose="02010600040101010101" pitchFamily="2" charset="-122"/>
                    <a:ea typeface="华文楷体" panose="02010600040101010101" pitchFamily="2" charset="-122"/>
                  </a:rPr>
                  <a:t>柠檬酸  </a:t>
                </a:r>
                <a:endParaRPr kumimoji="1" lang="zh-CN" altLang="en-US" dirty="0">
                  <a:solidFill>
                    <a:schemeClr val="tx2"/>
                  </a:solidFill>
                  <a:latin typeface="华文楷体" panose="02010600040101010101" pitchFamily="2" charset="-122"/>
                  <a:ea typeface="华文楷体" panose="02010600040101010101" pitchFamily="2" charset="-122"/>
                </a:endParaRPr>
              </a:p>
            </p:txBody>
          </p:sp>
          <p:sp>
            <p:nvSpPr>
              <p:cNvPr id="182304" name="Line 7"/>
              <p:cNvSpPr>
                <a:spLocks noChangeShapeType="1"/>
              </p:cNvSpPr>
              <p:nvPr/>
            </p:nvSpPr>
            <p:spPr bwMode="auto">
              <a:xfrm rot="1092839" flipV="1">
                <a:off x="1488" y="1920"/>
                <a:ext cx="1103" cy="359"/>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2305" name="Text Box 8"/>
              <p:cNvSpPr txBox="1">
                <a:spLocks noChangeArrowheads="1"/>
              </p:cNvSpPr>
              <p:nvPr/>
            </p:nvSpPr>
            <p:spPr bwMode="auto">
              <a:xfrm>
                <a:off x="1429" y="1750"/>
                <a:ext cx="124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200" dirty="0"/>
                  <a:t>柠檬酸裂解酶 </a:t>
                </a:r>
                <a:endParaRPr kumimoji="1" lang="zh-CN" altLang="en-US" sz="2200" dirty="0"/>
              </a:p>
            </p:txBody>
          </p:sp>
        </p:grpSp>
        <p:sp>
          <p:nvSpPr>
            <p:cNvPr id="182301" name="Line 9"/>
            <p:cNvSpPr>
              <a:spLocks noChangeShapeType="1"/>
            </p:cNvSpPr>
            <p:nvPr/>
          </p:nvSpPr>
          <p:spPr bwMode="auto">
            <a:xfrm>
              <a:off x="1927" y="2115"/>
              <a:ext cx="227" cy="181"/>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2302" name="Text Box 10"/>
            <p:cNvSpPr txBox="1">
              <a:spLocks noChangeArrowheads="1"/>
            </p:cNvSpPr>
            <p:nvPr/>
          </p:nvSpPr>
          <p:spPr bwMode="auto">
            <a:xfrm>
              <a:off x="1746" y="2258"/>
              <a:ext cx="78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ntique Olive"/>
                  <a:ea typeface="华文楷体" panose="02010600040101010101" pitchFamily="2" charset="-122"/>
                </a:rPr>
                <a:t>乙酰</a:t>
              </a:r>
              <a:r>
                <a:rPr kumimoji="1" lang="en-US" altLang="zh-CN" sz="2000">
                  <a:latin typeface="Antique Olive"/>
                  <a:ea typeface="宋体" panose="02010600030101010101" pitchFamily="2" charset="-122"/>
                </a:rPr>
                <a:t>CoA  </a:t>
              </a:r>
              <a:endParaRPr kumimoji="1" lang="en-US" altLang="zh-CN" sz="2000">
                <a:latin typeface="Antique Olive"/>
                <a:ea typeface="宋体" panose="02010600030101010101" pitchFamily="2" charset="-122"/>
              </a:endParaRPr>
            </a:p>
          </p:txBody>
        </p:sp>
      </p:grpSp>
      <p:grpSp>
        <p:nvGrpSpPr>
          <p:cNvPr id="4" name="Group 11"/>
          <p:cNvGrpSpPr/>
          <p:nvPr/>
        </p:nvGrpSpPr>
        <p:grpSpPr bwMode="auto">
          <a:xfrm>
            <a:off x="1847528" y="2700334"/>
            <a:ext cx="3630613" cy="1036636"/>
            <a:chOff x="336" y="2614"/>
            <a:chExt cx="2287" cy="653"/>
          </a:xfrm>
        </p:grpSpPr>
        <p:grpSp>
          <p:nvGrpSpPr>
            <p:cNvPr id="182294" name="Group 12"/>
            <p:cNvGrpSpPr/>
            <p:nvPr/>
          </p:nvGrpSpPr>
          <p:grpSpPr bwMode="auto">
            <a:xfrm>
              <a:off x="336" y="2784"/>
              <a:ext cx="2287" cy="483"/>
              <a:chOff x="336" y="2784"/>
              <a:chExt cx="2287" cy="483"/>
            </a:xfrm>
          </p:grpSpPr>
          <p:sp>
            <p:nvSpPr>
              <p:cNvPr id="182297" name="Text Box 13"/>
              <p:cNvSpPr txBox="1">
                <a:spLocks noChangeArrowheads="1"/>
              </p:cNvSpPr>
              <p:nvPr/>
            </p:nvSpPr>
            <p:spPr bwMode="auto">
              <a:xfrm>
                <a:off x="336" y="2796"/>
                <a:ext cx="108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solidFill>
                      <a:srgbClr val="C00000"/>
                    </a:solidFill>
                    <a:latin typeface="华文楷体" panose="02010600040101010101" pitchFamily="2" charset="-122"/>
                    <a:ea typeface="华文楷体" panose="02010600040101010101" pitchFamily="2" charset="-122"/>
                  </a:rPr>
                  <a:t> </a:t>
                </a:r>
                <a:r>
                  <a:rPr kumimoji="1" lang="zh-CN" altLang="en-US">
                    <a:solidFill>
                      <a:srgbClr val="C00000"/>
                    </a:solidFill>
                    <a:latin typeface="华文楷体" panose="02010600040101010101" pitchFamily="2" charset="-122"/>
                    <a:ea typeface="华文楷体" panose="02010600040101010101" pitchFamily="2" charset="-122"/>
                  </a:rPr>
                  <a:t>丙酮酸  </a:t>
                </a:r>
                <a:endParaRPr kumimoji="1" lang="zh-CN" altLang="en-US">
                  <a:solidFill>
                    <a:srgbClr val="C00000"/>
                  </a:solidFill>
                  <a:latin typeface="华文楷体" panose="02010600040101010101" pitchFamily="2" charset="-122"/>
                  <a:ea typeface="华文楷体" panose="02010600040101010101" pitchFamily="2" charset="-122"/>
                </a:endParaRPr>
              </a:p>
            </p:txBody>
          </p:sp>
          <p:sp>
            <p:nvSpPr>
              <p:cNvPr id="182298" name="Line 14"/>
              <p:cNvSpPr>
                <a:spLocks noChangeShapeType="1"/>
              </p:cNvSpPr>
              <p:nvPr/>
            </p:nvSpPr>
            <p:spPr bwMode="auto">
              <a:xfrm rot="1092839" flipV="1">
                <a:off x="1440" y="2784"/>
                <a:ext cx="1103" cy="359"/>
              </a:xfrm>
              <a:prstGeom prst="line">
                <a:avLst/>
              </a:prstGeom>
              <a:noFill/>
              <a:ln w="762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2299" name="Text Box 15"/>
              <p:cNvSpPr txBox="1">
                <a:spLocks noChangeArrowheads="1"/>
              </p:cNvSpPr>
              <p:nvPr/>
            </p:nvSpPr>
            <p:spPr bwMode="auto">
              <a:xfrm>
                <a:off x="1325" y="2996"/>
                <a:ext cx="129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200" dirty="0"/>
                  <a:t>丙酮酸羧化酶 </a:t>
                </a:r>
                <a:endParaRPr kumimoji="1" lang="zh-CN" altLang="en-US" sz="2200" dirty="0"/>
              </a:p>
            </p:txBody>
          </p:sp>
        </p:grpSp>
        <p:sp>
          <p:nvSpPr>
            <p:cNvPr id="182295" name="Line 16"/>
            <p:cNvSpPr>
              <a:spLocks noChangeShapeType="1"/>
            </p:cNvSpPr>
            <p:nvPr/>
          </p:nvSpPr>
          <p:spPr bwMode="auto">
            <a:xfrm>
              <a:off x="2106" y="2801"/>
              <a:ext cx="194" cy="13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2296" name="Text Box 17"/>
            <p:cNvSpPr txBox="1">
              <a:spLocks noChangeArrowheads="1"/>
            </p:cNvSpPr>
            <p:nvPr/>
          </p:nvSpPr>
          <p:spPr bwMode="auto">
            <a:xfrm>
              <a:off x="1791" y="2614"/>
              <a:ext cx="43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CO</a:t>
              </a:r>
              <a:r>
                <a:rPr kumimoji="1" lang="en-US" altLang="zh-CN" sz="2000" baseline="-25000">
                  <a:latin typeface="Antique Olive"/>
                  <a:ea typeface="宋体" panose="02010600030101010101" pitchFamily="2" charset="-122"/>
                </a:rPr>
                <a:t>2   </a:t>
              </a:r>
              <a:endParaRPr kumimoji="1" lang="en-US" altLang="zh-CN" sz="2000" baseline="-25000">
                <a:latin typeface="Antique Olive"/>
                <a:ea typeface="宋体" panose="02010600030101010101" pitchFamily="2" charset="-122"/>
              </a:endParaRPr>
            </a:p>
          </p:txBody>
        </p:sp>
      </p:grpSp>
      <p:grpSp>
        <p:nvGrpSpPr>
          <p:cNvPr id="6" name="Group 18"/>
          <p:cNvGrpSpPr/>
          <p:nvPr/>
        </p:nvGrpSpPr>
        <p:grpSpPr bwMode="auto">
          <a:xfrm>
            <a:off x="6515099" y="4216403"/>
            <a:ext cx="3695700" cy="1200150"/>
            <a:chOff x="3061" y="1792"/>
            <a:chExt cx="2328" cy="756"/>
          </a:xfrm>
        </p:grpSpPr>
        <p:grpSp>
          <p:nvGrpSpPr>
            <p:cNvPr id="182287" name="Group 19"/>
            <p:cNvGrpSpPr/>
            <p:nvPr/>
          </p:nvGrpSpPr>
          <p:grpSpPr bwMode="auto">
            <a:xfrm>
              <a:off x="3146" y="1792"/>
              <a:ext cx="2243" cy="527"/>
              <a:chOff x="3146" y="1792"/>
              <a:chExt cx="2243" cy="527"/>
            </a:xfrm>
          </p:grpSpPr>
          <p:sp>
            <p:nvSpPr>
              <p:cNvPr id="182291" name="Text Box 20"/>
              <p:cNvSpPr txBox="1">
                <a:spLocks noChangeArrowheads="1"/>
              </p:cNvSpPr>
              <p:nvPr/>
            </p:nvSpPr>
            <p:spPr bwMode="auto">
              <a:xfrm>
                <a:off x="4368" y="1916"/>
                <a:ext cx="102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solidFill>
                      <a:schemeClr val="tx2"/>
                    </a:solidFill>
                    <a:latin typeface="华文楷体" panose="02010600040101010101" pitchFamily="2" charset="-122"/>
                    <a:ea typeface="华文楷体" panose="02010600040101010101" pitchFamily="2" charset="-122"/>
                  </a:rPr>
                  <a:t>苹果酸  </a:t>
                </a:r>
                <a:endParaRPr kumimoji="1" lang="zh-CN" altLang="en-US" dirty="0">
                  <a:solidFill>
                    <a:schemeClr val="tx2"/>
                  </a:solidFill>
                  <a:latin typeface="华文楷体" panose="02010600040101010101" pitchFamily="2" charset="-122"/>
                  <a:ea typeface="华文楷体" panose="02010600040101010101" pitchFamily="2" charset="-122"/>
                </a:endParaRPr>
              </a:p>
            </p:txBody>
          </p:sp>
          <p:sp>
            <p:nvSpPr>
              <p:cNvPr id="182292" name="Line 21"/>
              <p:cNvSpPr>
                <a:spLocks noChangeShapeType="1"/>
              </p:cNvSpPr>
              <p:nvPr/>
            </p:nvSpPr>
            <p:spPr bwMode="auto">
              <a:xfrm rot="9514723">
                <a:off x="3168" y="1887"/>
                <a:ext cx="1104" cy="43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2293" name="Text Box 22"/>
              <p:cNvSpPr txBox="1">
                <a:spLocks noChangeArrowheads="1"/>
              </p:cNvSpPr>
              <p:nvPr/>
            </p:nvSpPr>
            <p:spPr bwMode="auto">
              <a:xfrm>
                <a:off x="3146" y="1792"/>
                <a:ext cx="118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200" dirty="0"/>
                  <a:t>苹果酸脱氢酶  </a:t>
                </a:r>
                <a:endParaRPr kumimoji="1" lang="zh-CN" altLang="en-US" sz="2200" dirty="0"/>
              </a:p>
            </p:txBody>
          </p:sp>
        </p:grpSp>
        <p:sp>
          <p:nvSpPr>
            <p:cNvPr id="182288" name="Text Box 23"/>
            <p:cNvSpPr txBox="1">
              <a:spLocks noChangeArrowheads="1"/>
            </p:cNvSpPr>
            <p:nvPr/>
          </p:nvSpPr>
          <p:spPr bwMode="auto">
            <a:xfrm>
              <a:off x="3061" y="2296"/>
              <a:ext cx="7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NADH+H</a:t>
              </a:r>
              <a:r>
                <a:rPr kumimoji="1" lang="en-US" altLang="zh-CN" sz="2000" baseline="30000">
                  <a:latin typeface="Antique Olive"/>
                  <a:ea typeface="宋体" panose="02010600030101010101" pitchFamily="2" charset="-122"/>
                </a:rPr>
                <a:t>+ </a:t>
              </a:r>
              <a:endParaRPr kumimoji="1" lang="en-US" altLang="zh-CN" sz="2000" baseline="30000">
                <a:latin typeface="Antique Olive"/>
                <a:ea typeface="宋体" panose="02010600030101010101" pitchFamily="2" charset="-122"/>
              </a:endParaRPr>
            </a:p>
          </p:txBody>
        </p:sp>
        <p:sp>
          <p:nvSpPr>
            <p:cNvPr id="182289" name="Text Box 24"/>
            <p:cNvSpPr txBox="1">
              <a:spLocks noChangeArrowheads="1"/>
            </p:cNvSpPr>
            <p:nvPr/>
          </p:nvSpPr>
          <p:spPr bwMode="auto">
            <a:xfrm>
              <a:off x="4105" y="2296"/>
              <a:ext cx="5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NAD</a:t>
              </a:r>
              <a:r>
                <a:rPr kumimoji="1" lang="en-US" altLang="zh-CN" sz="2000" baseline="30000">
                  <a:latin typeface="Antique Olive"/>
                  <a:ea typeface="宋体" panose="02010600030101010101" pitchFamily="2" charset="-122"/>
                </a:rPr>
                <a:t>+ </a:t>
              </a:r>
              <a:endParaRPr kumimoji="1" lang="en-US" altLang="zh-CN" sz="2000" baseline="30000">
                <a:latin typeface="Antique Olive"/>
                <a:ea typeface="宋体" panose="02010600030101010101" pitchFamily="2" charset="-122"/>
              </a:endParaRPr>
            </a:p>
          </p:txBody>
        </p:sp>
        <p:sp>
          <p:nvSpPr>
            <p:cNvPr id="182290" name="Arc 25"/>
            <p:cNvSpPr/>
            <p:nvPr/>
          </p:nvSpPr>
          <p:spPr bwMode="auto">
            <a:xfrm>
              <a:off x="3560" y="2115"/>
              <a:ext cx="744" cy="227"/>
            </a:xfrm>
            <a:custGeom>
              <a:avLst/>
              <a:gdLst>
                <a:gd name="T0" fmla="*/ 0 w 43200"/>
                <a:gd name="T1" fmla="*/ 0 h 22168"/>
                <a:gd name="T2" fmla="*/ 0 w 43200"/>
                <a:gd name="T3" fmla="*/ 0 h 22168"/>
                <a:gd name="T4" fmla="*/ 0 w 43200"/>
                <a:gd name="T5" fmla="*/ 0 h 22168"/>
                <a:gd name="T6" fmla="*/ 0 60000 65536"/>
                <a:gd name="T7" fmla="*/ 0 60000 65536"/>
                <a:gd name="T8" fmla="*/ 0 60000 65536"/>
                <a:gd name="T9" fmla="*/ 0 w 43200"/>
                <a:gd name="T10" fmla="*/ 0 h 22168"/>
                <a:gd name="T11" fmla="*/ 43200 w 43200"/>
                <a:gd name="T12" fmla="*/ 22168 h 22168"/>
              </a:gdLst>
              <a:ahLst/>
              <a:cxnLst>
                <a:cxn ang="T6">
                  <a:pos x="T0" y="T1"/>
                </a:cxn>
                <a:cxn ang="T7">
                  <a:pos x="T2" y="T3"/>
                </a:cxn>
                <a:cxn ang="T8">
                  <a:pos x="T4" y="T5"/>
                </a:cxn>
              </a:cxnLst>
              <a:rect l="T9" t="T10" r="T11" b="T12"/>
              <a:pathLst>
                <a:path w="43200" h="22168" fill="none" extrusionOk="0">
                  <a:moveTo>
                    <a:pt x="7" y="22167"/>
                  </a:moveTo>
                  <a:cubicBezTo>
                    <a:pt x="2" y="21978"/>
                    <a:pt x="0" y="21789"/>
                    <a:pt x="0" y="21600"/>
                  </a:cubicBezTo>
                  <a:cubicBezTo>
                    <a:pt x="0" y="9670"/>
                    <a:pt x="9670" y="0"/>
                    <a:pt x="21600" y="0"/>
                  </a:cubicBezTo>
                  <a:cubicBezTo>
                    <a:pt x="33529" y="-1"/>
                    <a:pt x="43199" y="9670"/>
                    <a:pt x="43200" y="21599"/>
                  </a:cubicBezTo>
                </a:path>
                <a:path w="43200" h="22168" stroke="0" extrusionOk="0">
                  <a:moveTo>
                    <a:pt x="7" y="22167"/>
                  </a:moveTo>
                  <a:cubicBezTo>
                    <a:pt x="2" y="21978"/>
                    <a:pt x="0" y="21789"/>
                    <a:pt x="0" y="21600"/>
                  </a:cubicBezTo>
                  <a:cubicBezTo>
                    <a:pt x="0" y="9670"/>
                    <a:pt x="9670" y="0"/>
                    <a:pt x="21600" y="0"/>
                  </a:cubicBezTo>
                  <a:cubicBezTo>
                    <a:pt x="33529" y="-1"/>
                    <a:pt x="43199" y="9670"/>
                    <a:pt x="43200" y="21599"/>
                  </a:cubicBezTo>
                  <a:lnTo>
                    <a:pt x="21600" y="21600"/>
                  </a:lnTo>
                  <a:lnTo>
                    <a:pt x="7" y="22167"/>
                  </a:lnTo>
                  <a:close/>
                </a:path>
              </a:pathLst>
            </a:custGeom>
            <a:noFill/>
            <a:ln w="9525">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8" name="Group 26"/>
          <p:cNvGrpSpPr/>
          <p:nvPr/>
        </p:nvGrpSpPr>
        <p:grpSpPr bwMode="auto">
          <a:xfrm>
            <a:off x="6573839" y="2565401"/>
            <a:ext cx="3937000" cy="1231900"/>
            <a:chOff x="3168" y="2532"/>
            <a:chExt cx="2480" cy="776"/>
          </a:xfrm>
        </p:grpSpPr>
        <p:grpSp>
          <p:nvGrpSpPr>
            <p:cNvPr id="182280" name="Group 27"/>
            <p:cNvGrpSpPr/>
            <p:nvPr/>
          </p:nvGrpSpPr>
          <p:grpSpPr bwMode="auto">
            <a:xfrm>
              <a:off x="3168" y="2751"/>
              <a:ext cx="2480" cy="557"/>
              <a:chOff x="3168" y="2751"/>
              <a:chExt cx="2480" cy="557"/>
            </a:xfrm>
          </p:grpSpPr>
          <p:sp>
            <p:nvSpPr>
              <p:cNvPr id="182284" name="Text Box 28"/>
              <p:cNvSpPr txBox="1">
                <a:spLocks noChangeArrowheads="1"/>
              </p:cNvSpPr>
              <p:nvPr/>
            </p:nvSpPr>
            <p:spPr bwMode="auto">
              <a:xfrm>
                <a:off x="4368" y="2780"/>
                <a:ext cx="128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solidFill>
                      <a:schemeClr val="tx2"/>
                    </a:solidFill>
                    <a:latin typeface="华文楷体" panose="02010600040101010101" pitchFamily="2" charset="-122"/>
                    <a:ea typeface="华文楷体" panose="02010600040101010101" pitchFamily="2" charset="-122"/>
                  </a:rPr>
                  <a:t>天冬氨酸  </a:t>
                </a:r>
                <a:endParaRPr kumimoji="1" lang="zh-CN" altLang="en-US">
                  <a:solidFill>
                    <a:schemeClr val="tx2"/>
                  </a:solidFill>
                  <a:latin typeface="华文楷体" panose="02010600040101010101" pitchFamily="2" charset="-122"/>
                  <a:ea typeface="华文楷体" panose="02010600040101010101" pitchFamily="2" charset="-122"/>
                </a:endParaRPr>
              </a:p>
            </p:txBody>
          </p:sp>
          <p:sp>
            <p:nvSpPr>
              <p:cNvPr id="182285" name="Line 29"/>
              <p:cNvSpPr>
                <a:spLocks noChangeShapeType="1"/>
              </p:cNvSpPr>
              <p:nvPr/>
            </p:nvSpPr>
            <p:spPr bwMode="auto">
              <a:xfrm rot="9514723">
                <a:off x="3168" y="2751"/>
                <a:ext cx="1104" cy="43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2286" name="Text Box 30"/>
              <p:cNvSpPr txBox="1">
                <a:spLocks noChangeArrowheads="1"/>
              </p:cNvSpPr>
              <p:nvPr/>
            </p:nvSpPr>
            <p:spPr bwMode="auto">
              <a:xfrm>
                <a:off x="3216" y="3037"/>
                <a:ext cx="118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200" dirty="0"/>
                  <a:t>谷草转氨酶    </a:t>
                </a:r>
                <a:endParaRPr kumimoji="1" lang="zh-CN" altLang="en-US" sz="2200" dirty="0"/>
              </a:p>
            </p:txBody>
          </p:sp>
        </p:grpSp>
        <p:sp>
          <p:nvSpPr>
            <p:cNvPr id="182281" name="Arc 31"/>
            <p:cNvSpPr/>
            <p:nvPr/>
          </p:nvSpPr>
          <p:spPr bwMode="auto">
            <a:xfrm rot="10800000">
              <a:off x="3547" y="2780"/>
              <a:ext cx="766" cy="160"/>
            </a:xfrm>
            <a:custGeom>
              <a:avLst/>
              <a:gdLst>
                <a:gd name="T0" fmla="*/ 0 w 43200"/>
                <a:gd name="T1" fmla="*/ 0 h 22168"/>
                <a:gd name="T2" fmla="*/ 0 w 43200"/>
                <a:gd name="T3" fmla="*/ 0 h 22168"/>
                <a:gd name="T4" fmla="*/ 0 w 43200"/>
                <a:gd name="T5" fmla="*/ 0 h 22168"/>
                <a:gd name="T6" fmla="*/ 0 60000 65536"/>
                <a:gd name="T7" fmla="*/ 0 60000 65536"/>
                <a:gd name="T8" fmla="*/ 0 60000 65536"/>
                <a:gd name="T9" fmla="*/ 0 w 43200"/>
                <a:gd name="T10" fmla="*/ 0 h 22168"/>
                <a:gd name="T11" fmla="*/ 43200 w 43200"/>
                <a:gd name="T12" fmla="*/ 22168 h 22168"/>
              </a:gdLst>
              <a:ahLst/>
              <a:cxnLst>
                <a:cxn ang="T6">
                  <a:pos x="T0" y="T1"/>
                </a:cxn>
                <a:cxn ang="T7">
                  <a:pos x="T2" y="T3"/>
                </a:cxn>
                <a:cxn ang="T8">
                  <a:pos x="T4" y="T5"/>
                </a:cxn>
              </a:cxnLst>
              <a:rect l="T9" t="T10" r="T11" b="T12"/>
              <a:pathLst>
                <a:path w="43200" h="22168" fill="none" extrusionOk="0">
                  <a:moveTo>
                    <a:pt x="7" y="22167"/>
                  </a:moveTo>
                  <a:cubicBezTo>
                    <a:pt x="2" y="21978"/>
                    <a:pt x="0" y="21789"/>
                    <a:pt x="0" y="21600"/>
                  </a:cubicBezTo>
                  <a:cubicBezTo>
                    <a:pt x="0" y="9670"/>
                    <a:pt x="9670" y="0"/>
                    <a:pt x="21600" y="0"/>
                  </a:cubicBezTo>
                  <a:cubicBezTo>
                    <a:pt x="33529" y="-1"/>
                    <a:pt x="43199" y="9670"/>
                    <a:pt x="43200" y="21599"/>
                  </a:cubicBezTo>
                </a:path>
                <a:path w="43200" h="22168" stroke="0" extrusionOk="0">
                  <a:moveTo>
                    <a:pt x="7" y="22167"/>
                  </a:moveTo>
                  <a:cubicBezTo>
                    <a:pt x="2" y="21978"/>
                    <a:pt x="0" y="21789"/>
                    <a:pt x="0" y="21600"/>
                  </a:cubicBezTo>
                  <a:cubicBezTo>
                    <a:pt x="0" y="9670"/>
                    <a:pt x="9670" y="0"/>
                    <a:pt x="21600" y="0"/>
                  </a:cubicBezTo>
                  <a:cubicBezTo>
                    <a:pt x="33529" y="-1"/>
                    <a:pt x="43199" y="9670"/>
                    <a:pt x="43200" y="21599"/>
                  </a:cubicBezTo>
                  <a:lnTo>
                    <a:pt x="21600" y="21600"/>
                  </a:lnTo>
                  <a:lnTo>
                    <a:pt x="7" y="22167"/>
                  </a:lnTo>
                  <a:close/>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2282" name="Rectangle 32"/>
            <p:cNvSpPr>
              <a:spLocks noChangeArrowheads="1"/>
            </p:cNvSpPr>
            <p:nvPr/>
          </p:nvSpPr>
          <p:spPr bwMode="auto">
            <a:xfrm>
              <a:off x="3923" y="2532"/>
              <a:ext cx="9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l-GR" altLang="zh-CN" sz="2000">
                  <a:latin typeface="华文楷体" panose="02010600040101010101" pitchFamily="2" charset="-122"/>
                  <a:ea typeface="华文楷体" panose="02010600040101010101" pitchFamily="2" charset="-122"/>
                </a:rPr>
                <a:t>α-</a:t>
              </a:r>
              <a:r>
                <a:rPr kumimoji="1" lang="zh-CN" altLang="el-GR" sz="2000">
                  <a:latin typeface="华文楷体" panose="02010600040101010101" pitchFamily="2" charset="-122"/>
                  <a:ea typeface="华文楷体" panose="02010600040101010101" pitchFamily="2" charset="-122"/>
                </a:rPr>
                <a:t>酮戊二酸</a:t>
              </a:r>
              <a:r>
                <a:rPr kumimoji="1" lang="zh-CN" altLang="en-US" sz="2000">
                  <a:latin typeface="华文楷体" panose="02010600040101010101" pitchFamily="2" charset="-122"/>
                  <a:ea typeface="华文楷体" panose="02010600040101010101" pitchFamily="2" charset="-122"/>
                </a:rPr>
                <a:t>  </a:t>
              </a:r>
              <a:endParaRPr kumimoji="1" lang="zh-CN" altLang="en-US" sz="2000">
                <a:latin typeface="华文楷体" panose="02010600040101010101" pitchFamily="2" charset="-122"/>
                <a:ea typeface="华文楷体" panose="02010600040101010101" pitchFamily="2" charset="-122"/>
              </a:endParaRPr>
            </a:p>
          </p:txBody>
        </p:sp>
        <p:sp>
          <p:nvSpPr>
            <p:cNvPr id="182283" name="Rectangle 33"/>
            <p:cNvSpPr>
              <a:spLocks noChangeArrowheads="1"/>
            </p:cNvSpPr>
            <p:nvPr/>
          </p:nvSpPr>
          <p:spPr bwMode="auto">
            <a:xfrm>
              <a:off x="3198" y="2541"/>
              <a:ext cx="6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华文楷体" panose="02010600040101010101" pitchFamily="2" charset="-122"/>
                  <a:ea typeface="华文楷体" panose="02010600040101010101" pitchFamily="2" charset="-122"/>
                </a:rPr>
                <a:t>谷氨酸  </a:t>
              </a:r>
              <a:endParaRPr kumimoji="1" lang="zh-CN" altLang="en-US" sz="2000">
                <a:latin typeface="华文楷体" panose="02010600040101010101" pitchFamily="2" charset="-122"/>
                <a:ea typeface="华文楷体" panose="0201060004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Righ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ppt_w/2"/>
                                          </p:val>
                                        </p:tav>
                                        <p:tav tm="100000">
                                          <p:val>
                                            <p:strVal val="#ppt_x"/>
                                          </p:val>
                                        </p:tav>
                                      </p:tavLst>
                                    </p:anim>
                                    <p:anim calcmode="lin" valueType="num">
                                      <p:cBhvr>
                                        <p:cTn id="18" dur="500" fill="hold"/>
                                        <p:tgtEl>
                                          <p:spTgt spid="2"/>
                                        </p:tgtEl>
                                        <p:attrNameLst>
                                          <p:attrName>ppt_y</p:attrName>
                                        </p:attrNameLst>
                                      </p:cBhvr>
                                      <p:tavLst>
                                        <p:tav tm="0">
                                          <p:val>
                                            <p:strVal val="#ppt_y"/>
                                          </p:val>
                                        </p:tav>
                                        <p:tav tm="100000">
                                          <p:val>
                                            <p:strVal val="#ppt_y"/>
                                          </p:val>
                                        </p:tav>
                                      </p:tavLst>
                                    </p:anim>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2"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ppt_x</p:attrName>
                                        </p:attrNameLst>
                                      </p:cBhvr>
                                      <p:tavLst>
                                        <p:tav tm="0">
                                          <p:val>
                                            <p:strVal val="#ppt_x+#ppt_w/2"/>
                                          </p:val>
                                        </p:tav>
                                        <p:tav tm="100000">
                                          <p:val>
                                            <p:strVal val="#ppt_x"/>
                                          </p:val>
                                        </p:tav>
                                      </p:tavLst>
                                    </p:anim>
                                    <p:anim calcmode="lin" valueType="num">
                                      <p:cBhvr>
                                        <p:cTn id="26" dur="500" fill="hold"/>
                                        <p:tgtEl>
                                          <p:spTgt spid="6"/>
                                        </p:tgtEl>
                                        <p:attrNameLst>
                                          <p:attrName>ppt_y</p:attrName>
                                        </p:attrNameLst>
                                      </p:cBhvr>
                                      <p:tavLst>
                                        <p:tav tm="0">
                                          <p:val>
                                            <p:strVal val="#ppt_y"/>
                                          </p:val>
                                        </p:tav>
                                        <p:tav tm="100000">
                                          <p:val>
                                            <p:strVal val="#ppt_y"/>
                                          </p:val>
                                        </p:tav>
                                      </p:tavLst>
                                    </p:anim>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432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1825" y="441326"/>
            <a:ext cx="838835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264" y="3609975"/>
            <a:ext cx="697547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bwMode="auto">
          <a:xfrm>
            <a:off x="2351089" y="339725"/>
            <a:ext cx="7705725" cy="1066800"/>
          </a:xfrm>
        </p:spPr>
        <p:txBody>
          <a:bodyPr anchor="t"/>
          <a:lstStyle/>
          <a:p>
            <a:pPr algn="l" eaLnBrk="1" hangingPunct="1">
              <a:defRPr/>
            </a:pPr>
            <a:r>
              <a:rPr lang="en-US" altLang="zh-CN" sz="3600" dirty="0">
                <a:solidFill>
                  <a:srgbClr val="5D2785"/>
                </a:solidFill>
                <a:latin typeface="+mj-ea"/>
              </a:rPr>
              <a:t>* </a:t>
            </a:r>
            <a:r>
              <a:rPr lang="zh-CN" altLang="en-US" sz="3600" dirty="0">
                <a:solidFill>
                  <a:srgbClr val="5D2785"/>
                </a:solidFill>
                <a:latin typeface="+mj-ea"/>
              </a:rPr>
              <a:t>乙酰</a:t>
            </a:r>
            <a:r>
              <a:rPr lang="en-US" altLang="zh-CN" sz="3600" dirty="0">
                <a:solidFill>
                  <a:srgbClr val="5D2785"/>
                </a:solidFill>
                <a:latin typeface="+mj-ea"/>
              </a:rPr>
              <a:t>CoA</a:t>
            </a:r>
            <a:r>
              <a:rPr lang="zh-CN" altLang="en-US" sz="3600" dirty="0">
                <a:solidFill>
                  <a:srgbClr val="5D2785"/>
                </a:solidFill>
                <a:latin typeface="+mj-ea"/>
              </a:rPr>
              <a:t>的来源</a:t>
            </a:r>
            <a:endParaRPr lang="zh-CN" altLang="en-US" sz="3600" dirty="0">
              <a:solidFill>
                <a:srgbClr val="5D2785"/>
              </a:solidFill>
              <a:latin typeface="+mj-ea"/>
            </a:endParaRPr>
          </a:p>
        </p:txBody>
      </p:sp>
      <p:sp>
        <p:nvSpPr>
          <p:cNvPr id="35" name="Rectangle 34"/>
          <p:cNvSpPr>
            <a:spLocks noChangeArrowheads="1"/>
          </p:cNvSpPr>
          <p:nvPr/>
        </p:nvSpPr>
        <p:spPr bwMode="auto">
          <a:xfrm>
            <a:off x="3238500" y="2047876"/>
            <a:ext cx="1428750" cy="523875"/>
          </a:xfrm>
          <a:prstGeom prst="rect">
            <a:avLst/>
          </a:prstGeom>
          <a:solidFill>
            <a:srgbClr val="BDFFB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华文楷体" panose="02010600040101010101" pitchFamily="2" charset="-122"/>
                <a:ea typeface="华文楷体" panose="02010600040101010101" pitchFamily="2" charset="-122"/>
              </a:rPr>
              <a:t>葡萄糖</a:t>
            </a:r>
            <a:endParaRPr kumimoji="1" lang="zh-CN" altLang="en-US" sz="2800">
              <a:latin typeface="华文楷体" panose="02010600040101010101" pitchFamily="2" charset="-122"/>
              <a:ea typeface="华文楷体" panose="02010600040101010101" pitchFamily="2" charset="-122"/>
            </a:endParaRPr>
          </a:p>
        </p:txBody>
      </p:sp>
      <p:sp>
        <p:nvSpPr>
          <p:cNvPr id="190468" name="Rectangle 34"/>
          <p:cNvSpPr>
            <a:spLocks noChangeArrowheads="1"/>
          </p:cNvSpPr>
          <p:nvPr/>
        </p:nvSpPr>
        <p:spPr bwMode="auto">
          <a:xfrm>
            <a:off x="6881813" y="3357563"/>
            <a:ext cx="2286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solidFill>
                  <a:srgbClr val="5D2785"/>
                </a:solidFill>
                <a:latin typeface="华文楷体" panose="02010600040101010101" pitchFamily="2" charset="-122"/>
                <a:ea typeface="华文楷体" panose="02010600040101010101" pitchFamily="2" charset="-122"/>
              </a:rPr>
              <a:t>乙酰</a:t>
            </a:r>
            <a:r>
              <a:rPr kumimoji="1" lang="en-US" altLang="zh-CN">
                <a:solidFill>
                  <a:srgbClr val="5D2785"/>
                </a:solidFill>
                <a:latin typeface="华文楷体" panose="02010600040101010101" pitchFamily="2" charset="-122"/>
                <a:ea typeface="华文楷体" panose="02010600040101010101" pitchFamily="2" charset="-122"/>
              </a:rPr>
              <a:t>CoA</a:t>
            </a:r>
            <a:endParaRPr kumimoji="1" lang="zh-CN" altLang="en-US">
              <a:solidFill>
                <a:srgbClr val="5D2785"/>
              </a:solidFill>
              <a:latin typeface="华文楷体" panose="02010600040101010101" pitchFamily="2" charset="-122"/>
              <a:ea typeface="华文楷体" panose="02010600040101010101" pitchFamily="2" charset="-122"/>
            </a:endParaRPr>
          </a:p>
        </p:txBody>
      </p:sp>
      <p:sp>
        <p:nvSpPr>
          <p:cNvPr id="37" name="Rectangle 34"/>
          <p:cNvSpPr>
            <a:spLocks noChangeArrowheads="1"/>
          </p:cNvSpPr>
          <p:nvPr/>
        </p:nvSpPr>
        <p:spPr bwMode="auto">
          <a:xfrm>
            <a:off x="7096125" y="2071689"/>
            <a:ext cx="1428750" cy="523875"/>
          </a:xfrm>
          <a:prstGeom prst="rect">
            <a:avLst/>
          </a:prstGeom>
          <a:solidFill>
            <a:srgbClr val="BDFFB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华文楷体" panose="02010600040101010101" pitchFamily="2" charset="-122"/>
                <a:ea typeface="华文楷体" panose="02010600040101010101" pitchFamily="2" charset="-122"/>
              </a:rPr>
              <a:t>丙酮酸</a:t>
            </a:r>
            <a:endParaRPr kumimoji="1" lang="zh-CN" altLang="en-US" sz="2800">
              <a:latin typeface="华文楷体" panose="02010600040101010101" pitchFamily="2" charset="-122"/>
              <a:ea typeface="华文楷体" panose="02010600040101010101" pitchFamily="2" charset="-122"/>
            </a:endParaRPr>
          </a:p>
        </p:txBody>
      </p:sp>
      <p:sp>
        <p:nvSpPr>
          <p:cNvPr id="38" name="Rectangle 34"/>
          <p:cNvSpPr>
            <a:spLocks noChangeArrowheads="1"/>
          </p:cNvSpPr>
          <p:nvPr/>
        </p:nvSpPr>
        <p:spPr bwMode="auto">
          <a:xfrm>
            <a:off x="3238500" y="3500439"/>
            <a:ext cx="1428750" cy="523875"/>
          </a:xfrm>
          <a:prstGeom prst="rect">
            <a:avLst/>
          </a:prstGeom>
          <a:solidFill>
            <a:srgbClr val="BDFFB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华文楷体" panose="02010600040101010101" pitchFamily="2" charset="-122"/>
                <a:ea typeface="华文楷体" panose="02010600040101010101" pitchFamily="2" charset="-122"/>
              </a:rPr>
              <a:t>氨基酸</a:t>
            </a:r>
            <a:endParaRPr kumimoji="1" lang="zh-CN" altLang="en-US" sz="2800">
              <a:latin typeface="华文楷体" panose="02010600040101010101" pitchFamily="2" charset="-122"/>
              <a:ea typeface="华文楷体" panose="02010600040101010101" pitchFamily="2" charset="-122"/>
            </a:endParaRPr>
          </a:p>
        </p:txBody>
      </p:sp>
      <p:sp>
        <p:nvSpPr>
          <p:cNvPr id="39" name="Rectangle 34"/>
          <p:cNvSpPr>
            <a:spLocks noChangeArrowheads="1"/>
          </p:cNvSpPr>
          <p:nvPr/>
        </p:nvSpPr>
        <p:spPr bwMode="auto">
          <a:xfrm>
            <a:off x="5095875" y="1643064"/>
            <a:ext cx="1428750" cy="523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华文楷体" panose="02010600040101010101" pitchFamily="2" charset="-122"/>
                <a:ea typeface="华文楷体" panose="02010600040101010101" pitchFamily="2" charset="-122"/>
              </a:rPr>
              <a:t>糖酵解</a:t>
            </a:r>
            <a:endParaRPr kumimoji="1" lang="zh-CN" altLang="en-US" sz="2800">
              <a:latin typeface="华文楷体" panose="02010600040101010101" pitchFamily="2" charset="-122"/>
              <a:ea typeface="华文楷体" panose="02010600040101010101" pitchFamily="2" charset="-122"/>
            </a:endParaRPr>
          </a:p>
        </p:txBody>
      </p:sp>
      <p:sp>
        <p:nvSpPr>
          <p:cNvPr id="40" name="Rectangle 34"/>
          <p:cNvSpPr>
            <a:spLocks noChangeArrowheads="1"/>
          </p:cNvSpPr>
          <p:nvPr/>
        </p:nvSpPr>
        <p:spPr bwMode="auto">
          <a:xfrm>
            <a:off x="3309938" y="4786314"/>
            <a:ext cx="1428750" cy="523875"/>
          </a:xfrm>
          <a:prstGeom prst="rect">
            <a:avLst/>
          </a:prstGeom>
          <a:solidFill>
            <a:srgbClr val="BDFFB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华文楷体" panose="02010600040101010101" pitchFamily="2" charset="-122"/>
                <a:ea typeface="华文楷体" panose="02010600040101010101" pitchFamily="2" charset="-122"/>
              </a:rPr>
              <a:t>脂肪酸</a:t>
            </a:r>
            <a:endParaRPr kumimoji="1" lang="zh-CN" altLang="en-US" sz="2800">
              <a:latin typeface="华文楷体" panose="02010600040101010101" pitchFamily="2" charset="-122"/>
              <a:ea typeface="华文楷体" panose="02010600040101010101" pitchFamily="2" charset="-122"/>
            </a:endParaRPr>
          </a:p>
        </p:txBody>
      </p:sp>
      <p:sp>
        <p:nvSpPr>
          <p:cNvPr id="41" name="Rectangle 34"/>
          <p:cNvSpPr>
            <a:spLocks noChangeArrowheads="1"/>
          </p:cNvSpPr>
          <p:nvPr/>
        </p:nvSpPr>
        <p:spPr bwMode="auto">
          <a:xfrm>
            <a:off x="5595939" y="4572001"/>
            <a:ext cx="1214437" cy="523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l-GR" altLang="zh-CN" sz="2800">
                <a:latin typeface="华文楷体" panose="02010600040101010101" pitchFamily="2" charset="-122"/>
                <a:ea typeface="华文楷体" panose="02010600040101010101" pitchFamily="2" charset="-122"/>
              </a:rPr>
              <a:t>β</a:t>
            </a:r>
            <a:r>
              <a:rPr kumimoji="1" lang="zh-CN" altLang="en-US" sz="2800">
                <a:latin typeface="华文楷体" panose="02010600040101010101" pitchFamily="2" charset="-122"/>
                <a:ea typeface="华文楷体" panose="02010600040101010101" pitchFamily="2" charset="-122"/>
              </a:rPr>
              <a:t>氧化</a:t>
            </a:r>
            <a:endParaRPr kumimoji="1" lang="zh-CN" altLang="en-US" sz="2800">
              <a:latin typeface="华文楷体" panose="02010600040101010101" pitchFamily="2" charset="-122"/>
              <a:ea typeface="华文楷体" panose="02010600040101010101" pitchFamily="2" charset="-122"/>
            </a:endParaRPr>
          </a:p>
        </p:txBody>
      </p:sp>
      <p:cxnSp>
        <p:nvCxnSpPr>
          <p:cNvPr id="43" name="直接箭头连接符 42"/>
          <p:cNvCxnSpPr>
            <a:cxnSpLocks noChangeShapeType="1"/>
          </p:cNvCxnSpPr>
          <p:nvPr/>
        </p:nvCxnSpPr>
        <p:spPr bwMode="auto">
          <a:xfrm rot="5400000">
            <a:off x="7418388" y="3035301"/>
            <a:ext cx="642938" cy="1587"/>
          </a:xfrm>
          <a:prstGeom prst="straightConnector1">
            <a:avLst/>
          </a:prstGeom>
          <a:noFill/>
          <a:ln w="57150"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4" name="直接箭头连接符 43"/>
          <p:cNvCxnSpPr>
            <a:cxnSpLocks noChangeShapeType="1"/>
          </p:cNvCxnSpPr>
          <p:nvPr/>
        </p:nvCxnSpPr>
        <p:spPr bwMode="auto">
          <a:xfrm>
            <a:off x="4738688" y="2286000"/>
            <a:ext cx="2214562" cy="1588"/>
          </a:xfrm>
          <a:prstGeom prst="straightConnector1">
            <a:avLst/>
          </a:prstGeom>
          <a:noFill/>
          <a:ln w="57150"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7" name="直接箭头连接符 46"/>
          <p:cNvCxnSpPr>
            <a:cxnSpLocks noChangeShapeType="1"/>
          </p:cNvCxnSpPr>
          <p:nvPr/>
        </p:nvCxnSpPr>
        <p:spPr bwMode="auto">
          <a:xfrm>
            <a:off x="4810126" y="3714750"/>
            <a:ext cx="1857375" cy="1588"/>
          </a:xfrm>
          <a:prstGeom prst="straightConnector1">
            <a:avLst/>
          </a:prstGeom>
          <a:noFill/>
          <a:ln w="57150"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49" name="直接箭头连接符 48"/>
          <p:cNvCxnSpPr>
            <a:cxnSpLocks noChangeShapeType="1"/>
          </p:cNvCxnSpPr>
          <p:nvPr/>
        </p:nvCxnSpPr>
        <p:spPr bwMode="auto">
          <a:xfrm flipV="1">
            <a:off x="4738689" y="2571751"/>
            <a:ext cx="2428875" cy="1071563"/>
          </a:xfrm>
          <a:prstGeom prst="straightConnector1">
            <a:avLst/>
          </a:prstGeom>
          <a:noFill/>
          <a:ln w="57150"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52" name="直接箭头连接符 51"/>
          <p:cNvCxnSpPr>
            <a:cxnSpLocks noChangeShapeType="1"/>
          </p:cNvCxnSpPr>
          <p:nvPr/>
        </p:nvCxnSpPr>
        <p:spPr bwMode="auto">
          <a:xfrm flipV="1">
            <a:off x="4738689" y="3929063"/>
            <a:ext cx="2428875" cy="1071562"/>
          </a:xfrm>
          <a:prstGeom prst="straightConnector1">
            <a:avLst/>
          </a:prstGeom>
          <a:noFill/>
          <a:ln w="57150" algn="ctr">
            <a:solidFill>
              <a:schemeClr val="tx1"/>
            </a:solidFill>
            <a:round/>
            <a:tailEnd type="arrow" w="med" len="med"/>
          </a:ln>
          <a:extLst>
            <a:ext uri="{909E8E84-426E-40DD-AFC4-6F175D3DCCD1}">
              <a14:hiddenFill xmlns:a14="http://schemas.microsoft.com/office/drawing/2010/main">
                <a:noFill/>
              </a14:hiddenFill>
            </a:ext>
          </a:extLst>
        </p:spPr>
      </p:cxnSp>
      <p:sp>
        <p:nvSpPr>
          <p:cNvPr id="16" name="文本框 15"/>
          <p:cNvSpPr txBox="1">
            <a:spLocks noChangeArrowheads="1"/>
          </p:cNvSpPr>
          <p:nvPr/>
        </p:nvSpPr>
        <p:spPr bwMode="auto">
          <a:xfrm>
            <a:off x="3840163" y="5843682"/>
            <a:ext cx="56546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2800" dirty="0">
                <a:solidFill>
                  <a:srgbClr val="FF0000"/>
                </a:solidFill>
              </a:rPr>
              <a:t>乙酰</a:t>
            </a:r>
            <a:r>
              <a:rPr lang="en-US" altLang="zh-CN" sz="2800" dirty="0">
                <a:solidFill>
                  <a:srgbClr val="FF0000"/>
                </a:solidFill>
              </a:rPr>
              <a:t>CoA</a:t>
            </a:r>
            <a:r>
              <a:rPr lang="zh-CN" altLang="en-US" sz="2800" dirty="0">
                <a:solidFill>
                  <a:srgbClr val="FF0000"/>
                </a:solidFill>
              </a:rPr>
              <a:t>不能转变为丙酮酸</a:t>
            </a:r>
            <a:endParaRPr lang="zh-CN" altLang="en-US" sz="2800" dirty="0">
              <a:solidFill>
                <a:srgbClr val="FF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par>
                                <p:cTn id="8" presetID="3" presetClass="entr" presetSubtype="1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blinds(horizontal)">
                                      <p:cBhvr>
                                        <p:cTn id="10" dur="5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0-#ppt_w/2"/>
                                          </p:val>
                                        </p:tav>
                                        <p:tav tm="100000">
                                          <p:val>
                                            <p:strVal val="#ppt_x"/>
                                          </p:val>
                                        </p:tav>
                                      </p:tavLst>
                                    </p:anim>
                                    <p:anim calcmode="lin" valueType="num">
                                      <p:cBhvr additive="base">
                                        <p:cTn id="16" dur="500" fill="hold"/>
                                        <p:tgtEl>
                                          <p:spTgt spid="35"/>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 calcmode="lin" valueType="num">
                                      <p:cBhvr additive="base">
                                        <p:cTn id="19" dur="500" fill="hold"/>
                                        <p:tgtEl>
                                          <p:spTgt spid="39"/>
                                        </p:tgtEl>
                                        <p:attrNameLst>
                                          <p:attrName>ppt_x</p:attrName>
                                        </p:attrNameLst>
                                      </p:cBhvr>
                                      <p:tavLst>
                                        <p:tav tm="0">
                                          <p:val>
                                            <p:strVal val="0-#ppt_w/2"/>
                                          </p:val>
                                        </p:tav>
                                        <p:tav tm="100000">
                                          <p:val>
                                            <p:strVal val="#ppt_x"/>
                                          </p:val>
                                        </p:tav>
                                      </p:tavLst>
                                    </p:anim>
                                    <p:anim calcmode="lin" valueType="num">
                                      <p:cBhvr additive="base">
                                        <p:cTn id="20" dur="500" fill="hold"/>
                                        <p:tgtEl>
                                          <p:spTgt spid="39"/>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 calcmode="lin" valueType="num">
                                      <p:cBhvr additive="base">
                                        <p:cTn id="23" dur="500" fill="hold"/>
                                        <p:tgtEl>
                                          <p:spTgt spid="44"/>
                                        </p:tgtEl>
                                        <p:attrNameLst>
                                          <p:attrName>ppt_x</p:attrName>
                                        </p:attrNameLst>
                                      </p:cBhvr>
                                      <p:tavLst>
                                        <p:tav tm="0">
                                          <p:val>
                                            <p:strVal val="0-#ppt_w/2"/>
                                          </p:val>
                                        </p:tav>
                                        <p:tav tm="100000">
                                          <p:val>
                                            <p:strVal val="#ppt_x"/>
                                          </p:val>
                                        </p:tav>
                                      </p:tavLst>
                                    </p:anim>
                                    <p:anim calcmode="lin" valueType="num">
                                      <p:cBhvr additive="base">
                                        <p:cTn id="24"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blinds(horizontal)">
                                      <p:cBhvr>
                                        <p:cTn id="29" dur="500"/>
                                        <p:tgtEl>
                                          <p:spTgt spid="38"/>
                                        </p:tgtEl>
                                      </p:cBhvr>
                                    </p:animEffect>
                                  </p:childTnLst>
                                </p:cTn>
                              </p:par>
                              <p:par>
                                <p:cTn id="30" presetID="3" presetClass="entr" presetSubtype="10" fill="hold" nodeType="with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blinds(horizontal)">
                                      <p:cBhvr>
                                        <p:cTn id="32" dur="500"/>
                                        <p:tgtEl>
                                          <p:spTgt spid="49"/>
                                        </p:tgtEl>
                                      </p:cBhvr>
                                    </p:animEffect>
                                  </p:childTnLst>
                                </p:cTn>
                              </p:par>
                              <p:par>
                                <p:cTn id="33" presetID="3" presetClass="entr" presetSubtype="10" fill="hold" nodeType="with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blinds(horizontal)">
                                      <p:cBhvr>
                                        <p:cTn id="35" dur="500"/>
                                        <p:tgtEl>
                                          <p:spTgt spid="4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blinds(horizontal)">
                                      <p:cBhvr>
                                        <p:cTn id="40" dur="500"/>
                                        <p:tgtEl>
                                          <p:spTgt spid="5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blinds(horizontal)">
                                      <p:cBhvr>
                                        <p:cTn id="43" dur="500"/>
                                        <p:tgtEl>
                                          <p:spTgt spid="40"/>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blinds(horizontal)">
                                      <p:cBhvr>
                                        <p:cTn id="46" dur="500"/>
                                        <p:tgtEl>
                                          <p:spTgt spid="41"/>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P spid="38" grpId="0" animBg="1"/>
      <p:bldP spid="39" grpId="0" animBg="1"/>
      <p:bldP spid="40" grpId="0" animBg="1"/>
      <p:bldP spid="41" grpId="0" animBg="1"/>
      <p:bldP spid="16" grpId="0"/>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6613" name="标题 1"/>
          <p:cNvSpPr>
            <a:spLocks noGrp="1" noChangeArrowheads="1"/>
          </p:cNvSpPr>
          <p:nvPr>
            <p:ph type="title" idx="4294967295"/>
          </p:nvPr>
        </p:nvSpPr>
        <p:spPr>
          <a:xfrm>
            <a:off x="2063750" y="476251"/>
            <a:ext cx="8229600" cy="563563"/>
          </a:xfrm>
        </p:spPr>
        <p:txBody>
          <a:bodyPr/>
          <a:lstStyle/>
          <a:p>
            <a:pPr>
              <a:defRPr/>
            </a:pPr>
            <a:r>
              <a:rPr lang="zh-CN" altLang="en-US" sz="3200" kern="1200" dirty="0">
                <a:solidFill>
                  <a:srgbClr val="0000CC"/>
                </a:solidFill>
                <a:latin typeface="+mj-ea"/>
                <a:cs typeface="+mn-cs"/>
              </a:rPr>
              <a:t>膳食中三大营养素含量对三羧酸循环的影响</a:t>
            </a:r>
            <a:endParaRPr lang="zh-CN" altLang="en-US" sz="3200" kern="1200" dirty="0">
              <a:solidFill>
                <a:srgbClr val="0000CC"/>
              </a:solidFill>
              <a:latin typeface="+mj-ea"/>
              <a:cs typeface="+mn-cs"/>
            </a:endParaRPr>
          </a:p>
        </p:txBody>
      </p:sp>
      <p:graphicFrame>
        <p:nvGraphicFramePr>
          <p:cNvPr id="3" name="表格 2"/>
          <p:cNvGraphicFramePr>
            <a:graphicFrameLocks noGrp="1"/>
          </p:cNvGraphicFramePr>
          <p:nvPr/>
        </p:nvGraphicFramePr>
        <p:xfrm>
          <a:off x="695400" y="1268760"/>
          <a:ext cx="10801200" cy="5002212"/>
        </p:xfrm>
        <a:graphic>
          <a:graphicData uri="http://schemas.openxmlformats.org/drawingml/2006/table">
            <a:tbl>
              <a:tblPr firstRow="1" bandRow="1">
                <a:tableStyleId>{22838BEF-8BB2-4498-84A7-C5851F593DF1}</a:tableStyleId>
              </a:tblPr>
              <a:tblGrid>
                <a:gridCol w="2879971"/>
                <a:gridCol w="2282499"/>
                <a:gridCol w="2826194"/>
                <a:gridCol w="2812536"/>
              </a:tblGrid>
              <a:tr h="551882">
                <a:tc>
                  <a:txBody>
                    <a:bodyPr/>
                    <a:lstStyle/>
                    <a:p>
                      <a:endParaRPr lang="zh-CN" altLang="en-US" sz="2400" dirty="0">
                        <a:solidFill>
                          <a:srgbClr val="660066"/>
                        </a:solidFill>
                        <a:latin typeface="微软雅黑" panose="020B0503020204020204" pitchFamily="34" charset="-122"/>
                        <a:ea typeface="微软雅黑" panose="020B0503020204020204" pitchFamily="34" charset="-122"/>
                      </a:endParaRPr>
                    </a:p>
                  </a:txBody>
                  <a:tcPr marL="91430" marR="91430" marT="45723" marB="45723"/>
                </a:tc>
                <a:tc>
                  <a:txBody>
                    <a:bodyPr/>
                    <a:lstStyle/>
                    <a:p>
                      <a:pPr algn="ctr"/>
                      <a:r>
                        <a:rPr lang="en-US" altLang="zh-CN" sz="2400" dirty="0">
                          <a:solidFill>
                            <a:srgbClr val="660066"/>
                          </a:solidFill>
                          <a:latin typeface="微软雅黑" panose="020B0503020204020204" pitchFamily="34" charset="-122"/>
                          <a:ea typeface="微软雅黑" panose="020B0503020204020204" pitchFamily="34" charset="-122"/>
                        </a:rPr>
                        <a:t>TCA cycle</a:t>
                      </a:r>
                      <a:endParaRPr lang="zh-CN" altLang="en-US" sz="2400" dirty="0">
                        <a:solidFill>
                          <a:srgbClr val="660066"/>
                        </a:solidFill>
                        <a:latin typeface="微软雅黑" panose="020B0503020204020204" pitchFamily="34" charset="-122"/>
                        <a:ea typeface="微软雅黑" panose="020B0503020204020204" pitchFamily="34" charset="-122"/>
                      </a:endParaRPr>
                    </a:p>
                  </a:txBody>
                  <a:tcPr marL="91430" marR="91430" marT="45723" marB="45723"/>
                </a:tc>
                <a:tc>
                  <a:txBody>
                    <a:bodyPr/>
                    <a:lstStyle/>
                    <a:p>
                      <a:pPr algn="ctr"/>
                      <a:r>
                        <a:rPr lang="zh-CN" altLang="en-US" sz="2400" dirty="0">
                          <a:solidFill>
                            <a:srgbClr val="660066"/>
                          </a:solidFill>
                          <a:latin typeface="微软雅黑" panose="020B0503020204020204" pitchFamily="34" charset="-122"/>
                          <a:ea typeface="微软雅黑" panose="020B0503020204020204" pitchFamily="34" charset="-122"/>
                        </a:rPr>
                        <a:t>原 因</a:t>
                      </a:r>
                      <a:endParaRPr lang="zh-CN" altLang="en-US" sz="2400" dirty="0">
                        <a:solidFill>
                          <a:srgbClr val="660066"/>
                        </a:solidFill>
                        <a:latin typeface="微软雅黑" panose="020B0503020204020204" pitchFamily="34" charset="-122"/>
                        <a:ea typeface="微软雅黑" panose="020B0503020204020204" pitchFamily="34" charset="-122"/>
                      </a:endParaRPr>
                    </a:p>
                  </a:txBody>
                  <a:tcPr marL="91430" marR="91430" marT="45723" marB="45723"/>
                </a:tc>
                <a:tc>
                  <a:txBody>
                    <a:bodyPr/>
                    <a:lstStyle/>
                    <a:p>
                      <a:pPr algn="ctr"/>
                      <a:r>
                        <a:rPr lang="zh-CN" altLang="en-US" sz="2400" dirty="0">
                          <a:solidFill>
                            <a:srgbClr val="660066"/>
                          </a:solidFill>
                          <a:latin typeface="微软雅黑" panose="020B0503020204020204" pitchFamily="34" charset="-122"/>
                          <a:ea typeface="微软雅黑" panose="020B0503020204020204" pitchFamily="34" charset="-122"/>
                        </a:rPr>
                        <a:t>后 果</a:t>
                      </a:r>
                      <a:endParaRPr lang="zh-CN" altLang="en-US" sz="2400" dirty="0">
                        <a:solidFill>
                          <a:srgbClr val="660066"/>
                        </a:solidFill>
                        <a:latin typeface="微软雅黑" panose="020B0503020204020204" pitchFamily="34" charset="-122"/>
                        <a:ea typeface="微软雅黑" panose="020B0503020204020204" pitchFamily="34" charset="-122"/>
                      </a:endParaRPr>
                    </a:p>
                  </a:txBody>
                  <a:tcPr marL="91430" marR="91430" marT="45723" marB="45723"/>
                </a:tc>
              </a:tr>
              <a:tr h="1188787">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400" b="1"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总热量足够</a:t>
                      </a:r>
                      <a:r>
                        <a:rPr kumimoji="1" lang="zh-CN" altLang="en-US" sz="2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a:t>
                      </a:r>
                      <a:r>
                        <a:rPr kumimoji="1" lang="zh-CN" altLang="en-US" sz="2400" b="0" kern="1200" dirty="0">
                          <a:solidFill>
                            <a:srgbClr val="660066"/>
                          </a:solidFill>
                          <a:latin typeface="微软雅黑" panose="020B0503020204020204" pitchFamily="34" charset="-122"/>
                          <a:ea typeface="微软雅黑" panose="020B0503020204020204" pitchFamily="34" charset="-122"/>
                          <a:cs typeface="+mn-cs"/>
                        </a:rPr>
                        <a:t>糖</a:t>
                      </a:r>
                      <a:r>
                        <a:rPr kumimoji="1" lang="en-US" altLang="zh-CN" sz="2400" b="0" kern="1200" dirty="0">
                          <a:solidFill>
                            <a:srgbClr val="660066"/>
                          </a:solidFill>
                          <a:latin typeface="微软雅黑" panose="020B0503020204020204" pitchFamily="34" charset="-122"/>
                          <a:ea typeface="微软雅黑" panose="020B0503020204020204" pitchFamily="34" charset="-122"/>
                          <a:cs typeface="+mn-cs"/>
                        </a:rPr>
                        <a:t>+</a:t>
                      </a:r>
                      <a:r>
                        <a:rPr kumimoji="1" lang="zh-CN" altLang="en-US" sz="2400" b="0" kern="1200" dirty="0">
                          <a:solidFill>
                            <a:srgbClr val="660066"/>
                          </a:solidFill>
                          <a:latin typeface="微软雅黑" panose="020B0503020204020204" pitchFamily="34" charset="-122"/>
                          <a:ea typeface="微软雅黑" panose="020B0503020204020204" pitchFamily="34" charset="-122"/>
                          <a:cs typeface="+mn-cs"/>
                        </a:rPr>
                        <a:t>蛋白质总量合适</a:t>
                      </a:r>
                      <a:endParaRPr lang="zh-CN" altLang="en-US" sz="2400" dirty="0">
                        <a:solidFill>
                          <a:srgbClr val="660066"/>
                        </a:solidFill>
                        <a:latin typeface="微软雅黑" panose="020B0503020204020204" pitchFamily="34" charset="-122"/>
                        <a:ea typeface="微软雅黑" panose="020B0503020204020204" pitchFamily="34" charset="-122"/>
                      </a:endParaRPr>
                    </a:p>
                  </a:txBody>
                  <a:tcPr marL="91430" marR="91430" marT="45723" marB="45723" anchor="ctr"/>
                </a:tc>
                <a:tc>
                  <a:txBody>
                    <a:bodyPr/>
                    <a:lstStyle/>
                    <a:p>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正常</a:t>
                      </a:r>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c>
                  <a:txBody>
                    <a:bodyPr/>
                    <a:lstStyle/>
                    <a:p>
                      <a:r>
                        <a:rPr kumimoji="1" lang="zh-CN" altLang="en-US" sz="2400" b="0" kern="1200" dirty="0">
                          <a:solidFill>
                            <a:schemeClr val="dk1"/>
                          </a:solidFill>
                          <a:latin typeface="微软雅黑" panose="020B0503020204020204" pitchFamily="34" charset="-122"/>
                          <a:ea typeface="微软雅黑" panose="020B0503020204020204" pitchFamily="34" charset="-122"/>
                          <a:cs typeface="+mn-cs"/>
                        </a:rPr>
                        <a:t>足够的草酰乙酸、乙酰</a:t>
                      </a:r>
                      <a:r>
                        <a:rPr kumimoji="1" lang="en-US" altLang="zh-CN" sz="2400" b="0" kern="1200" dirty="0">
                          <a:solidFill>
                            <a:schemeClr val="dk1"/>
                          </a:solidFill>
                          <a:latin typeface="微软雅黑" panose="020B0503020204020204" pitchFamily="34" charset="-122"/>
                          <a:ea typeface="微软雅黑" panose="020B0503020204020204" pitchFamily="34" charset="-122"/>
                          <a:cs typeface="+mn-cs"/>
                        </a:rPr>
                        <a:t>CoA</a:t>
                      </a:r>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c>
                  <a:txBody>
                    <a:bodyPr/>
                    <a:lstStyle/>
                    <a:p>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r>
              <a:tr h="1554567">
                <a:tc>
                  <a:txBody>
                    <a:bodyPr/>
                    <a:lstStyle/>
                    <a:p>
                      <a:r>
                        <a:rPr kumimoji="1" lang="zh-CN" altLang="en-US" sz="2400" b="1"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总热量够</a:t>
                      </a:r>
                      <a:r>
                        <a:rPr kumimoji="1" lang="zh-CN" altLang="en-US" sz="2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而</a:t>
                      </a:r>
                      <a:r>
                        <a:rPr kumimoji="1" lang="zh-CN" altLang="en-US" sz="2400" b="0" kern="1200" dirty="0">
                          <a:solidFill>
                            <a:srgbClr val="660066"/>
                          </a:solidFill>
                          <a:latin typeface="微软雅黑" panose="020B0503020204020204" pitchFamily="34" charset="-122"/>
                          <a:ea typeface="微软雅黑" panose="020B0503020204020204" pitchFamily="34" charset="-122"/>
                          <a:cs typeface="+mn-cs"/>
                        </a:rPr>
                        <a:t>脂类偏多</a:t>
                      </a:r>
                      <a:r>
                        <a:rPr kumimoji="1" lang="zh-CN" altLang="en-US" sz="2400" b="0"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（糖及蛋白不足）</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91430" marR="91430" marT="45723" marB="45723" anchor="ctr"/>
                </a:tc>
                <a:tc>
                  <a:txBody>
                    <a:bodyPr/>
                    <a:lstStyle/>
                    <a:p>
                      <a:r>
                        <a:rPr lang="en-US" altLang="zh-CN" sz="2800" baseline="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txBody>
                  <a:tcPr marL="91430" marR="91430" marT="45723" marB="45723" anchor="ctr"/>
                </a:tc>
                <a:tc>
                  <a:txBody>
                    <a:bodyPr/>
                    <a:lstStyle/>
                    <a:p>
                      <a:endParaRPr kumimoji="1" lang="en-US" altLang="zh-CN" sz="2400" b="0" kern="1200" dirty="0">
                        <a:solidFill>
                          <a:schemeClr val="dk1"/>
                        </a:solidFill>
                        <a:latin typeface="微软雅黑" panose="020B0503020204020204" pitchFamily="34" charset="-122"/>
                        <a:ea typeface="微软雅黑" panose="020B0503020204020204" pitchFamily="34" charset="-122"/>
                        <a:cs typeface="+mn-cs"/>
                      </a:endParaRPr>
                    </a:p>
                    <a:p>
                      <a:r>
                        <a:rPr kumimoji="1" lang="zh-CN" altLang="en-US" sz="2400" b="0" kern="1200" dirty="0">
                          <a:solidFill>
                            <a:srgbClr val="0000CC"/>
                          </a:solidFill>
                          <a:latin typeface="微软雅黑" panose="020B0503020204020204" pitchFamily="34" charset="-122"/>
                          <a:ea typeface="微软雅黑" panose="020B0503020204020204" pitchFamily="34" charset="-122"/>
                          <a:cs typeface="+mn-cs"/>
                        </a:rPr>
                        <a:t>草酰乙酸不足</a:t>
                      </a:r>
                      <a:endParaRPr kumimoji="1" lang="en-US" altLang="zh-CN" sz="2400" b="0" kern="1200" dirty="0">
                        <a:solidFill>
                          <a:srgbClr val="0000CC"/>
                        </a:solidFill>
                        <a:latin typeface="微软雅黑" panose="020B0503020204020204" pitchFamily="34" charset="-122"/>
                        <a:ea typeface="微软雅黑" panose="020B0503020204020204" pitchFamily="34" charset="-122"/>
                        <a:cs typeface="+mn-cs"/>
                      </a:endParaRPr>
                    </a:p>
                  </a:txBody>
                  <a:tcPr marL="91430" marR="91430" marT="45723" marB="45723" anchor="ctr"/>
                </a:tc>
                <a:tc>
                  <a:txBody>
                    <a:bodyPr/>
                    <a:lstStyle/>
                    <a:p>
                      <a:r>
                        <a:rPr lang="zh-CN" altLang="en-US" sz="2400" dirty="0">
                          <a:latin typeface="微软雅黑" panose="020B0503020204020204" pitchFamily="34" charset="-122"/>
                          <a:ea typeface="微软雅黑" panose="020B0503020204020204" pitchFamily="34" charset="-122"/>
                        </a:rPr>
                        <a:t>相对多的乙酰</a:t>
                      </a:r>
                      <a:r>
                        <a:rPr lang="en-US" altLang="zh-CN" sz="2400" dirty="0">
                          <a:latin typeface="微软雅黑" panose="020B0503020204020204" pitchFamily="34" charset="-122"/>
                          <a:ea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rPr>
                        <a:t>在肝线粒体内</a:t>
                      </a:r>
                      <a:r>
                        <a:rPr lang="zh-CN" altLang="en-US" sz="2400" dirty="0">
                          <a:solidFill>
                            <a:srgbClr val="0000CC"/>
                          </a:solidFill>
                          <a:latin typeface="微软雅黑" panose="020B0503020204020204" pitchFamily="34" charset="-122"/>
                          <a:ea typeface="微软雅黑" panose="020B0503020204020204" pitchFamily="34" charset="-122"/>
                        </a:rPr>
                        <a:t>生成酮体</a:t>
                      </a:r>
                      <a:endParaRPr lang="zh-CN" altLang="en-US" sz="2400" dirty="0">
                        <a:solidFill>
                          <a:srgbClr val="0000CC"/>
                        </a:solidFill>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r>
              <a:tr h="823006">
                <a:tc>
                  <a:txBody>
                    <a:bodyPr/>
                    <a:lstStyle/>
                    <a:p>
                      <a:r>
                        <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rPr>
                        <a:t>总热量够</a:t>
                      </a: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，仅糖供不足</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91430" marR="91430" marT="45723" marB="45723" anchor="ctr"/>
                </a:tc>
                <a:tc>
                  <a:txBody>
                    <a:bodyPr/>
                    <a:lstStyle/>
                    <a:p>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可正常</a:t>
                      </a:r>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c gridSpan="2">
                  <a:txBody>
                    <a:bodyPr/>
                    <a:lstStyle/>
                    <a:p>
                      <a:r>
                        <a:rPr lang="zh-CN" altLang="en-US" sz="2400" dirty="0">
                          <a:latin typeface="微软雅黑" panose="020B0503020204020204" pitchFamily="34" charset="-122"/>
                          <a:ea typeface="微软雅黑" panose="020B0503020204020204" pitchFamily="34" charset="-122"/>
                        </a:rPr>
                        <a:t>蛋白质分解产生</a:t>
                      </a:r>
                      <a:r>
                        <a:rPr lang="el-GR" altLang="zh-CN" sz="2400" dirty="0">
                          <a:latin typeface="微软雅黑" panose="020B0503020204020204" pitchFamily="34" charset="-122"/>
                          <a:ea typeface="微软雅黑" panose="020B0503020204020204" pitchFamily="34" charset="-122"/>
                        </a:rPr>
                        <a:t>α</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酮戊二酸、苹果酸、草酰乙酸等</a:t>
                      </a:r>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c hMerge="1">
                  <a:tcPr/>
                </a:tc>
              </a:tr>
              <a:tr h="883970">
                <a:tc>
                  <a:txBody>
                    <a:bodyPr/>
                    <a:lstStyle/>
                    <a:p>
                      <a:r>
                        <a:rPr kumimoji="1" lang="zh-CN" altLang="en-US" sz="2400" b="1" kern="1200" dirty="0">
                          <a:solidFill>
                            <a:schemeClr val="tx1">
                              <a:lumMod val="95000"/>
                              <a:lumOff val="5000"/>
                            </a:schemeClr>
                          </a:solidFill>
                          <a:latin typeface="微软雅黑" panose="020B0503020204020204" pitchFamily="34" charset="-122"/>
                          <a:ea typeface="微软雅黑" panose="020B0503020204020204" pitchFamily="34" charset="-122"/>
                          <a:cs typeface="+mn-cs"/>
                        </a:rPr>
                        <a:t>总热量不足</a:t>
                      </a:r>
                      <a:endParaRPr lang="zh-CN" altLang="en-US" sz="2400" b="1" dirty="0">
                        <a:solidFill>
                          <a:schemeClr val="tx1">
                            <a:lumMod val="95000"/>
                            <a:lumOff val="5000"/>
                          </a:schemeClr>
                        </a:solidFill>
                        <a:latin typeface="微软雅黑" panose="020B0503020204020204" pitchFamily="34" charset="-122"/>
                        <a:ea typeface="微软雅黑" panose="020B0503020204020204" pitchFamily="34" charset="-122"/>
                      </a:endParaRPr>
                    </a:p>
                  </a:txBody>
                  <a:tcPr marL="91430" marR="91430" marT="45723" marB="457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dirty="0">
                          <a:latin typeface="微软雅黑" panose="020B0503020204020204" pitchFamily="34" charset="-122"/>
                          <a:ea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c gridSpan="2">
                  <a:txBody>
                    <a:bodyPr/>
                    <a:lstStyle/>
                    <a:p>
                      <a:r>
                        <a:rPr lang="zh-CN" altLang="en-US" sz="2400" dirty="0">
                          <a:latin typeface="微软雅黑" panose="020B0503020204020204" pitchFamily="34" charset="-122"/>
                          <a:ea typeface="微软雅黑" panose="020B0503020204020204" pitchFamily="34" charset="-122"/>
                        </a:rPr>
                        <a:t>诸多代谢反应尤其合成代谢受抑制</a:t>
                      </a:r>
                      <a:endParaRPr lang="zh-CN" altLang="en-US" sz="2400" dirty="0">
                        <a:latin typeface="微软雅黑" panose="020B0503020204020204" pitchFamily="34" charset="-122"/>
                        <a:ea typeface="微软雅黑" panose="020B0503020204020204" pitchFamily="34" charset="-122"/>
                      </a:endParaRPr>
                    </a:p>
                  </a:txBody>
                  <a:tcPr marL="91430" marR="91430" marT="45723" marB="45723" anchor="ctr"/>
                </a:tc>
                <a:tc hMerge="1">
                  <a:tcPr/>
                </a:tc>
              </a:tr>
            </a:tbl>
          </a:graphicData>
        </a:graphic>
      </p:graphicFrame>
    </p:spTree>
  </p:cSld>
  <p:clrMapOvr>
    <a:masterClrMapping/>
  </p:clrMapOvr>
  <p:transition spd="med">
    <p:zoom/>
  </p:transition>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2438400" y="642938"/>
            <a:ext cx="7391400" cy="500062"/>
          </a:xfrm>
        </p:spPr>
        <p:txBody>
          <a:bodyPr/>
          <a:lstStyle/>
          <a:p>
            <a:pPr eaLnBrk="1" hangingPunct="1"/>
            <a:r>
              <a:rPr lang="zh-CN" altLang="en-US" sz="3600" b="1" dirty="0">
                <a:solidFill>
                  <a:srgbClr val="FF0000"/>
                </a:solidFill>
              </a:rPr>
              <a:t>三羧酸循环的生理意义</a:t>
            </a:r>
            <a:endParaRPr lang="zh-CN" altLang="en-US" sz="3600" b="1" dirty="0">
              <a:solidFill>
                <a:srgbClr val="FF0000"/>
              </a:solidFill>
            </a:endParaRPr>
          </a:p>
        </p:txBody>
      </p:sp>
      <p:sp>
        <p:nvSpPr>
          <p:cNvPr id="195587" name="Rectangle 3"/>
          <p:cNvSpPr>
            <a:spLocks noGrp="1" noChangeArrowheads="1"/>
          </p:cNvSpPr>
          <p:nvPr>
            <p:ph type="body" idx="1"/>
          </p:nvPr>
        </p:nvSpPr>
        <p:spPr>
          <a:xfrm>
            <a:off x="2279576" y="1640673"/>
            <a:ext cx="8554143" cy="4586262"/>
          </a:xfrm>
        </p:spPr>
        <p:txBody>
          <a:bodyPr/>
          <a:lstStyle/>
          <a:p>
            <a:pPr eaLnBrk="1" hangingPunct="1">
              <a:lnSpc>
                <a:spcPct val="140000"/>
              </a:lnSpc>
              <a:spcBef>
                <a:spcPts val="0"/>
              </a:spcBef>
              <a:buClr>
                <a:schemeClr val="tx1"/>
              </a:buClr>
              <a:buSzPct val="95000"/>
            </a:pPr>
            <a:r>
              <a:rPr lang="zh-CN" altLang="en-US" sz="2800" b="0" dirty="0"/>
              <a:t>三羧酸循环是</a:t>
            </a:r>
            <a:r>
              <a:rPr lang="zh-CN" altLang="en-US" sz="2800" b="0" dirty="0">
                <a:solidFill>
                  <a:srgbClr val="0000CC"/>
                </a:solidFill>
              </a:rPr>
              <a:t>两用代谢途径（</a:t>
            </a:r>
            <a:r>
              <a:rPr lang="en-US" altLang="zh-CN" sz="2800" b="0" dirty="0">
                <a:solidFill>
                  <a:srgbClr val="0000CC"/>
                </a:solidFill>
              </a:rPr>
              <a:t>amphibolic pathway</a:t>
            </a:r>
            <a:r>
              <a:rPr lang="zh-CN" altLang="en-US" sz="2800" b="0" dirty="0">
                <a:solidFill>
                  <a:srgbClr val="0000CC"/>
                </a:solidFill>
              </a:rPr>
              <a:t>）</a:t>
            </a:r>
            <a:r>
              <a:rPr lang="zh-CN" altLang="en-US" sz="2800" b="0" dirty="0"/>
              <a:t>，既与分解有关，也与合成有关。</a:t>
            </a:r>
            <a:endParaRPr lang="en-US" altLang="zh-CN" sz="2800" b="0" dirty="0"/>
          </a:p>
          <a:p>
            <a:pPr marL="609600" indent="-609600" eaLnBrk="1" hangingPunct="1">
              <a:lnSpc>
                <a:spcPct val="140000"/>
              </a:lnSpc>
              <a:spcBef>
                <a:spcPts val="0"/>
              </a:spcBef>
              <a:buClr>
                <a:schemeClr val="tx1"/>
              </a:buClr>
              <a:buSzPct val="95000"/>
              <a:buFont typeface="Wingdings" panose="05000000000000000000" pitchFamily="2" charset="2"/>
              <a:buAutoNum type="arabicPeriod"/>
            </a:pPr>
            <a:r>
              <a:rPr lang="zh-CN" altLang="en-US" sz="2800" b="0" dirty="0"/>
              <a:t>是三大营养物质氧化分解产能的共同通路；</a:t>
            </a:r>
            <a:endParaRPr lang="en-US" altLang="zh-CN" sz="2800" b="0" dirty="0"/>
          </a:p>
          <a:p>
            <a:pPr marL="0" indent="0" eaLnBrk="1" hangingPunct="1">
              <a:lnSpc>
                <a:spcPct val="140000"/>
              </a:lnSpc>
              <a:spcBef>
                <a:spcPts val="0"/>
              </a:spcBef>
              <a:buClr>
                <a:schemeClr val="tx1"/>
              </a:buClr>
              <a:buSzPct val="95000"/>
              <a:buNone/>
            </a:pPr>
            <a:r>
              <a:rPr lang="zh-CN" altLang="en-US" sz="2800" b="0" dirty="0"/>
              <a:t>       </a:t>
            </a:r>
            <a:r>
              <a:rPr lang="zh-CN" altLang="en-US" sz="2400" b="0" dirty="0"/>
              <a:t>循环本身并不能直接大量产能</a:t>
            </a:r>
            <a:endParaRPr lang="en-US" altLang="zh-CN" sz="2400" b="0" dirty="0"/>
          </a:p>
          <a:p>
            <a:pPr marL="609600" indent="-609600" eaLnBrk="1" hangingPunct="1">
              <a:lnSpc>
                <a:spcPct val="150000"/>
              </a:lnSpc>
              <a:spcBef>
                <a:spcPts val="0"/>
              </a:spcBef>
              <a:buClr>
                <a:schemeClr val="tx1"/>
              </a:buClr>
              <a:buSzPct val="95000"/>
              <a:buFont typeface="+mj-lt"/>
              <a:buAutoNum type="arabicPeriod" startAt="2"/>
            </a:pPr>
            <a:r>
              <a:rPr lang="zh-CN" altLang="en-US" sz="2800" b="0" dirty="0"/>
              <a:t>是三大营养物质代谢联系的枢纽；</a:t>
            </a:r>
            <a:endParaRPr lang="en-US" altLang="zh-CN" sz="2800" b="0" dirty="0"/>
          </a:p>
          <a:p>
            <a:pPr marL="609600" indent="-609600" eaLnBrk="1" hangingPunct="1">
              <a:lnSpc>
                <a:spcPct val="140000"/>
              </a:lnSpc>
              <a:spcBef>
                <a:spcPts val="0"/>
              </a:spcBef>
              <a:buClr>
                <a:schemeClr val="tx1"/>
              </a:buClr>
              <a:buSzPct val="95000"/>
              <a:buFont typeface="Wingdings" panose="05000000000000000000" pitchFamily="2" charset="2"/>
              <a:buAutoNum type="arabicPeriod" startAt="2"/>
            </a:pPr>
            <a:r>
              <a:rPr lang="zh-CN" altLang="en-US" sz="2800" b="0" dirty="0"/>
              <a:t>为其它物质代谢提供小分子前体；</a:t>
            </a:r>
            <a:endParaRPr lang="zh-CN" altLang="en-US" sz="2800" b="0" dirty="0"/>
          </a:p>
          <a:p>
            <a:pPr marL="609600" indent="-609600" eaLnBrk="1" hangingPunct="1">
              <a:lnSpc>
                <a:spcPct val="150000"/>
              </a:lnSpc>
              <a:spcBef>
                <a:spcPts val="0"/>
              </a:spcBef>
              <a:buClr>
                <a:schemeClr val="tx1"/>
              </a:buClr>
              <a:buSzPct val="95000"/>
              <a:buFont typeface="Wingdings" panose="05000000000000000000" pitchFamily="2" charset="2"/>
              <a:buAutoNum type="arabicPeriod" startAt="2"/>
            </a:pPr>
            <a:r>
              <a:rPr lang="zh-CN" altLang="en-US" sz="2800" b="0" dirty="0"/>
              <a:t>为呼吸链提供</a:t>
            </a:r>
            <a:r>
              <a:rPr lang="en-US" altLang="zh-CN" sz="2800" b="0" dirty="0"/>
              <a:t>H</a:t>
            </a:r>
            <a:r>
              <a:rPr lang="en-US" altLang="zh-CN" sz="2800" b="0" baseline="30000" dirty="0"/>
              <a:t>+ </a:t>
            </a:r>
            <a:r>
              <a:rPr lang="en-US" altLang="zh-CN" sz="2800" b="0" dirty="0"/>
              <a:t>+ e</a:t>
            </a:r>
            <a:endParaRPr lang="en-US" altLang="zh-CN" sz="28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55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855641" y="1407322"/>
            <a:ext cx="6985824" cy="5305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32" name="文本框 1"/>
          <p:cNvSpPr txBox="1">
            <a:spLocks noChangeArrowheads="1"/>
          </p:cNvSpPr>
          <p:nvPr/>
        </p:nvSpPr>
        <p:spPr bwMode="auto">
          <a:xfrm>
            <a:off x="6428930" y="6256294"/>
            <a:ext cx="863893" cy="30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350" dirty="0">
                <a:latin typeface="Arial" panose="020B0604020202020204" pitchFamily="34" charset="0"/>
                <a:ea typeface="宋体" panose="02010600030101010101" pitchFamily="2" charset="-122"/>
              </a:rPr>
              <a:t>血红素</a:t>
            </a:r>
            <a:endParaRPr lang="zh-CN" altLang="en-US" sz="1350" dirty="0">
              <a:latin typeface="Arial" panose="020B0604020202020204" pitchFamily="34" charset="0"/>
              <a:ea typeface="宋体" panose="02010600030101010101" pitchFamily="2" charset="-122"/>
            </a:endParaRPr>
          </a:p>
        </p:txBody>
      </p:sp>
      <p:sp>
        <p:nvSpPr>
          <p:cNvPr id="201733" name="文本框 4"/>
          <p:cNvSpPr txBox="1">
            <a:spLocks noChangeArrowheads="1"/>
          </p:cNvSpPr>
          <p:nvPr/>
        </p:nvSpPr>
        <p:spPr bwMode="auto">
          <a:xfrm>
            <a:off x="9573833" y="3864042"/>
            <a:ext cx="12434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谷氨酸</a:t>
            </a:r>
            <a:endParaRPr lang="zh-CN" altLang="en-US" sz="1800" dirty="0">
              <a:latin typeface="Arial" panose="020B0604020202020204" pitchFamily="34" charset="0"/>
              <a:ea typeface="宋体" panose="02010600030101010101" pitchFamily="2" charset="-122"/>
            </a:endParaRPr>
          </a:p>
        </p:txBody>
      </p:sp>
      <p:sp>
        <p:nvSpPr>
          <p:cNvPr id="201734" name="文本框 5"/>
          <p:cNvSpPr txBox="1">
            <a:spLocks noChangeArrowheads="1"/>
          </p:cNvSpPr>
          <p:nvPr/>
        </p:nvSpPr>
        <p:spPr bwMode="auto">
          <a:xfrm>
            <a:off x="8904413" y="4731633"/>
            <a:ext cx="8638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嘌呤</a:t>
            </a:r>
            <a:endParaRPr lang="zh-CN" altLang="en-US" sz="1800" dirty="0">
              <a:latin typeface="Arial" panose="020B0604020202020204" pitchFamily="34" charset="0"/>
              <a:ea typeface="宋体" panose="02010600030101010101" pitchFamily="2" charset="-122"/>
            </a:endParaRPr>
          </a:p>
        </p:txBody>
      </p:sp>
      <p:sp>
        <p:nvSpPr>
          <p:cNvPr id="201735" name="文本框 6"/>
          <p:cNvSpPr txBox="1">
            <a:spLocks noChangeArrowheads="1"/>
          </p:cNvSpPr>
          <p:nvPr/>
        </p:nvSpPr>
        <p:spPr bwMode="auto">
          <a:xfrm>
            <a:off x="4299153" y="4922910"/>
            <a:ext cx="8638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嘧啶</a:t>
            </a:r>
            <a:endParaRPr lang="zh-CN" altLang="en-US" sz="1800" dirty="0">
              <a:latin typeface="Arial" panose="020B0604020202020204" pitchFamily="34" charset="0"/>
              <a:ea typeface="宋体" panose="02010600030101010101" pitchFamily="2" charset="-122"/>
            </a:endParaRPr>
          </a:p>
        </p:txBody>
      </p:sp>
      <p:sp>
        <p:nvSpPr>
          <p:cNvPr id="201736" name="文本框 7"/>
          <p:cNvSpPr txBox="1">
            <a:spLocks noChangeArrowheads="1"/>
          </p:cNvSpPr>
          <p:nvPr/>
        </p:nvSpPr>
        <p:spPr bwMode="auto">
          <a:xfrm>
            <a:off x="6755951" y="1772690"/>
            <a:ext cx="12434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丙酮酸</a:t>
            </a:r>
            <a:endParaRPr lang="zh-CN" altLang="en-US" sz="1800" dirty="0">
              <a:latin typeface="Arial" panose="020B0604020202020204" pitchFamily="34" charset="0"/>
              <a:ea typeface="宋体" panose="02010600030101010101" pitchFamily="2" charset="-122"/>
            </a:endParaRPr>
          </a:p>
        </p:txBody>
      </p:sp>
      <p:sp>
        <p:nvSpPr>
          <p:cNvPr id="201737" name="文本框 8"/>
          <p:cNvSpPr txBox="1">
            <a:spLocks noChangeArrowheads="1"/>
          </p:cNvSpPr>
          <p:nvPr/>
        </p:nvSpPr>
        <p:spPr bwMode="auto">
          <a:xfrm>
            <a:off x="8281067" y="1434606"/>
            <a:ext cx="13046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脂肪酸</a:t>
            </a:r>
            <a:endParaRPr lang="en-US" altLang="zh-CN" sz="1800" dirty="0">
              <a:latin typeface="Arial" panose="020B0604020202020204" pitchFamily="34" charset="0"/>
              <a:ea typeface="宋体" panose="02010600030101010101" pitchFamily="2" charset="-122"/>
            </a:endParaRPr>
          </a:p>
          <a:p>
            <a:pPr>
              <a:spcBef>
                <a:spcPct val="0"/>
              </a:spcBef>
              <a:buClrTx/>
              <a:buSzTx/>
              <a:buFontTx/>
              <a:buNone/>
            </a:pPr>
            <a:r>
              <a:rPr lang="zh-CN" altLang="en-US" sz="1800" dirty="0">
                <a:latin typeface="Arial" panose="020B0604020202020204" pitchFamily="34" charset="0"/>
                <a:ea typeface="宋体" panose="02010600030101010101" pitchFamily="2" charset="-122"/>
              </a:rPr>
              <a:t>胆固醇</a:t>
            </a:r>
            <a:endParaRPr lang="zh-CN" altLang="en-US" sz="1800" dirty="0">
              <a:latin typeface="Arial" panose="020B0604020202020204" pitchFamily="34" charset="0"/>
              <a:ea typeface="宋体" panose="02010600030101010101" pitchFamily="2" charset="-122"/>
            </a:endParaRPr>
          </a:p>
        </p:txBody>
      </p:sp>
      <p:sp>
        <p:nvSpPr>
          <p:cNvPr id="201738" name="文本框 9"/>
          <p:cNvSpPr txBox="1">
            <a:spLocks noChangeArrowheads="1"/>
          </p:cNvSpPr>
          <p:nvPr/>
        </p:nvSpPr>
        <p:spPr bwMode="auto">
          <a:xfrm>
            <a:off x="5510708" y="3615269"/>
            <a:ext cx="13501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苹果酸</a:t>
            </a:r>
            <a:endParaRPr lang="zh-CN" altLang="en-US" sz="1800" dirty="0">
              <a:latin typeface="Arial" panose="020B0604020202020204" pitchFamily="34" charset="0"/>
              <a:ea typeface="宋体" panose="02010600030101010101" pitchFamily="2" charset="-122"/>
            </a:endParaRPr>
          </a:p>
        </p:txBody>
      </p:sp>
      <p:sp>
        <p:nvSpPr>
          <p:cNvPr id="201739" name="文本框 10"/>
          <p:cNvSpPr txBox="1">
            <a:spLocks noChangeArrowheads="1"/>
          </p:cNvSpPr>
          <p:nvPr/>
        </p:nvSpPr>
        <p:spPr bwMode="auto">
          <a:xfrm>
            <a:off x="5592870" y="3165116"/>
            <a:ext cx="1110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solidFill>
                  <a:srgbClr val="C00000"/>
                </a:solidFill>
                <a:latin typeface="Arial" panose="020B0604020202020204" pitchFamily="34" charset="0"/>
                <a:ea typeface="宋体" panose="02010600030101010101" pitchFamily="2" charset="-122"/>
              </a:rPr>
              <a:t>草酰乙酸</a:t>
            </a:r>
            <a:endParaRPr lang="zh-CN" altLang="en-US" sz="1800" dirty="0">
              <a:solidFill>
                <a:srgbClr val="C00000"/>
              </a:solidFill>
              <a:latin typeface="Arial" panose="020B0604020202020204" pitchFamily="34" charset="0"/>
              <a:ea typeface="宋体" panose="02010600030101010101" pitchFamily="2" charset="-122"/>
            </a:endParaRPr>
          </a:p>
        </p:txBody>
      </p:sp>
      <p:sp>
        <p:nvSpPr>
          <p:cNvPr id="201740" name="文本框 11"/>
          <p:cNvSpPr txBox="1">
            <a:spLocks noChangeArrowheads="1"/>
          </p:cNvSpPr>
          <p:nvPr/>
        </p:nvSpPr>
        <p:spPr bwMode="auto">
          <a:xfrm>
            <a:off x="2423592" y="3165116"/>
            <a:ext cx="21085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磷酸烯醇式丙酮酸</a:t>
            </a:r>
            <a:endParaRPr lang="zh-CN" altLang="en-US" sz="1800" dirty="0">
              <a:latin typeface="Arial" panose="020B0604020202020204" pitchFamily="34" charset="0"/>
              <a:ea typeface="宋体" panose="02010600030101010101" pitchFamily="2" charset="-122"/>
            </a:endParaRPr>
          </a:p>
        </p:txBody>
      </p:sp>
      <p:sp>
        <p:nvSpPr>
          <p:cNvPr id="201741" name="文本框 12"/>
          <p:cNvSpPr txBox="1">
            <a:spLocks noChangeArrowheads="1"/>
          </p:cNvSpPr>
          <p:nvPr/>
        </p:nvSpPr>
        <p:spPr bwMode="auto">
          <a:xfrm>
            <a:off x="4063387" y="3679376"/>
            <a:ext cx="11101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天冬氨酸</a:t>
            </a:r>
            <a:endParaRPr lang="zh-CN" altLang="en-US" sz="1800" dirty="0">
              <a:latin typeface="Arial" panose="020B0604020202020204" pitchFamily="34" charset="0"/>
              <a:ea typeface="宋体" panose="02010600030101010101" pitchFamily="2" charset="-122"/>
            </a:endParaRPr>
          </a:p>
        </p:txBody>
      </p:sp>
      <p:sp>
        <p:nvSpPr>
          <p:cNvPr id="201742" name="文本框 13"/>
          <p:cNvSpPr txBox="1">
            <a:spLocks noChangeArrowheads="1"/>
          </p:cNvSpPr>
          <p:nvPr/>
        </p:nvSpPr>
        <p:spPr bwMode="auto">
          <a:xfrm>
            <a:off x="7226081" y="4060010"/>
            <a:ext cx="17265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l-GR" altLang="zh-CN" sz="1800" dirty="0">
                <a:latin typeface="Arial" panose="020B0604020202020204" pitchFamily="34" charset="0"/>
                <a:ea typeface="宋体" panose="02010600030101010101" pitchFamily="2" charset="-122"/>
              </a:rPr>
              <a:t>α</a:t>
            </a:r>
            <a:r>
              <a:rPr lang="en-US" altLang="zh-CN" sz="1800" dirty="0">
                <a:latin typeface="Arial" panose="020B0604020202020204" pitchFamily="34" charset="0"/>
                <a:ea typeface="宋体" panose="02010600030101010101" pitchFamily="2" charset="-122"/>
              </a:rPr>
              <a:t>-</a:t>
            </a:r>
            <a:r>
              <a:rPr lang="zh-CN" altLang="en-US" sz="1800" dirty="0">
                <a:latin typeface="Arial" panose="020B0604020202020204" pitchFamily="34" charset="0"/>
                <a:ea typeface="宋体" panose="02010600030101010101" pitchFamily="2" charset="-122"/>
              </a:rPr>
              <a:t>酮戊二酸</a:t>
            </a:r>
            <a:endParaRPr lang="zh-CN" altLang="en-US" sz="1800" dirty="0">
              <a:latin typeface="Arial" panose="020B0604020202020204" pitchFamily="34" charset="0"/>
              <a:ea typeface="宋体" panose="02010600030101010101" pitchFamily="2" charset="-122"/>
            </a:endParaRPr>
          </a:p>
        </p:txBody>
      </p:sp>
      <p:sp>
        <p:nvSpPr>
          <p:cNvPr id="201743" name="文本框 14"/>
          <p:cNvSpPr txBox="1">
            <a:spLocks noChangeArrowheads="1"/>
          </p:cNvSpPr>
          <p:nvPr/>
        </p:nvSpPr>
        <p:spPr bwMode="auto">
          <a:xfrm>
            <a:off x="6841152" y="4916299"/>
            <a:ext cx="20922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琥珀酰</a:t>
            </a:r>
            <a:r>
              <a:rPr lang="en-US" altLang="zh-CN" sz="1800" dirty="0">
                <a:latin typeface="Arial" panose="020B0604020202020204" pitchFamily="34" charset="0"/>
                <a:ea typeface="宋体" panose="02010600030101010101" pitchFamily="2" charset="-122"/>
              </a:rPr>
              <a:t>CoA</a:t>
            </a:r>
            <a:endParaRPr lang="zh-CN" altLang="en-US" sz="1800" dirty="0">
              <a:latin typeface="Arial" panose="020B0604020202020204" pitchFamily="34" charset="0"/>
              <a:ea typeface="宋体" panose="02010600030101010101" pitchFamily="2" charset="-122"/>
            </a:endParaRPr>
          </a:p>
        </p:txBody>
      </p:sp>
      <p:sp>
        <p:nvSpPr>
          <p:cNvPr id="201744" name="文本框 15"/>
          <p:cNvSpPr txBox="1">
            <a:spLocks noChangeArrowheads="1"/>
          </p:cNvSpPr>
          <p:nvPr/>
        </p:nvSpPr>
        <p:spPr bwMode="auto">
          <a:xfrm>
            <a:off x="7058201" y="3180605"/>
            <a:ext cx="9412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1800" dirty="0">
                <a:latin typeface="Arial" panose="020B0604020202020204" pitchFamily="34" charset="0"/>
                <a:ea typeface="宋体" panose="02010600030101010101" pitchFamily="2" charset="-122"/>
              </a:rPr>
              <a:t>柠檬酸</a:t>
            </a:r>
            <a:endParaRPr lang="zh-CN" altLang="en-US" sz="1800" dirty="0">
              <a:latin typeface="Arial" panose="020B0604020202020204" pitchFamily="34" charset="0"/>
              <a:ea typeface="宋体" panose="02010600030101010101" pitchFamily="2" charset="-122"/>
            </a:endParaRPr>
          </a:p>
        </p:txBody>
      </p:sp>
      <p:pic>
        <p:nvPicPr>
          <p:cNvPr id="5" name="图片 4"/>
          <p:cNvPicPr>
            <a:picLocks noChangeAspect="1"/>
          </p:cNvPicPr>
          <p:nvPr/>
        </p:nvPicPr>
        <p:blipFill>
          <a:blip r:embed="rId2"/>
          <a:stretch>
            <a:fillRect/>
          </a:stretch>
        </p:blipFill>
        <p:spPr>
          <a:xfrm>
            <a:off x="2207568" y="233314"/>
            <a:ext cx="8358340" cy="859611"/>
          </a:xfrm>
          <a:prstGeom prst="rect">
            <a:avLst/>
          </a:prstGeom>
        </p:spPr>
      </p:pic>
    </p:spTree>
  </p:cSld>
  <p:clrMapOvr>
    <a:masterClrMapping/>
  </p:clrMapOvr>
  <p:transition spd="med">
    <p:zoom/>
  </p:transition>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968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47900" y="0"/>
            <a:ext cx="7696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556592" y="3861048"/>
            <a:ext cx="1471836" cy="369332"/>
          </a:xfrm>
          <a:prstGeom prst="rect">
            <a:avLst/>
          </a:prstGeom>
          <a:noFill/>
          <a:ln>
            <a:solidFill>
              <a:srgbClr val="0000CC"/>
            </a:solidFill>
          </a:ln>
        </p:spPr>
        <p:txBody>
          <a:bodyPr wrap="square" rtlCol="0">
            <a:spAutoFit/>
          </a:bodyPr>
          <a:lstStyle/>
          <a:p>
            <a:r>
              <a:rPr lang="zh-CN" altLang="en-US" dirty="0"/>
              <a:t>脂酸的</a:t>
            </a:r>
            <a:r>
              <a:rPr lang="zh-CN" altLang="en-US" dirty="0">
                <a:sym typeface="Symbol" panose="05050102010706020507" pitchFamily="18" charset="2"/>
              </a:rPr>
              <a:t>氧化</a:t>
            </a:r>
            <a:endParaRPr lang="zh-CN" altLang="en-US" dirty="0"/>
          </a:p>
        </p:txBody>
      </p:sp>
      <p:cxnSp>
        <p:nvCxnSpPr>
          <p:cNvPr id="4" name="直接箭头连接符 3"/>
          <p:cNvCxnSpPr/>
          <p:nvPr/>
        </p:nvCxnSpPr>
        <p:spPr bwMode="auto">
          <a:xfrm flipV="1">
            <a:off x="2423592" y="3284984"/>
            <a:ext cx="288032" cy="576064"/>
          </a:xfrm>
          <a:prstGeom prst="straightConnector1">
            <a:avLst/>
          </a:prstGeom>
          <a:solidFill>
            <a:schemeClr val="accent1"/>
          </a:solidFill>
          <a:ln w="28575" cap="flat" cmpd="sng" algn="ctr">
            <a:solidFill>
              <a:srgbClr val="0000CC"/>
            </a:solidFill>
            <a:prstDash val="solid"/>
            <a:round/>
            <a:headEnd type="none" w="med" len="med"/>
            <a:tailEnd type="triangle"/>
          </a:ln>
          <a:effectLst/>
        </p:spPr>
      </p:cxnSp>
    </p:spTree>
  </p:cSld>
  <p:clrMapOvr>
    <a:masterClrMapping/>
  </p:clrMapOvr>
  <p:transition spd="med">
    <p:zoom/>
  </p:transition>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1714698" y="620713"/>
            <a:ext cx="8413750" cy="463550"/>
          </a:xfrm>
        </p:spPr>
        <p:txBody>
          <a:bodyPr/>
          <a:lstStyle/>
          <a:p>
            <a:pPr eaLnBrk="1" hangingPunct="1"/>
            <a:r>
              <a:rPr lang="zh-CN" altLang="en-US" sz="3600" b="1" dirty="0">
                <a:solidFill>
                  <a:srgbClr val="660033"/>
                </a:solidFill>
                <a:ea typeface="楷体_GB2312" pitchFamily="49" charset="-122"/>
              </a:rPr>
              <a:t>三、有氧氧化是糖分解供能的主要方式</a:t>
            </a:r>
            <a:endParaRPr lang="zh-CN" altLang="en-US" sz="3600" b="1" dirty="0">
              <a:solidFill>
                <a:srgbClr val="660033"/>
              </a:solidFill>
              <a:ea typeface="楷体_GB2312" pitchFamily="49" charset="-122"/>
            </a:endParaRPr>
          </a:p>
        </p:txBody>
      </p:sp>
      <p:sp>
        <p:nvSpPr>
          <p:cNvPr id="200707" name="Rectangle 3"/>
          <p:cNvSpPr>
            <a:spLocks noGrp="1" noChangeArrowheads="1"/>
          </p:cNvSpPr>
          <p:nvPr>
            <p:ph type="body" idx="1"/>
          </p:nvPr>
        </p:nvSpPr>
        <p:spPr>
          <a:xfrm>
            <a:off x="1900238" y="1682751"/>
            <a:ext cx="8413750" cy="1204913"/>
          </a:xfrm>
        </p:spPr>
        <p:txBody>
          <a:bodyPr/>
          <a:lstStyle/>
          <a:p>
            <a:pPr eaLnBrk="1" hangingPunct="1">
              <a:lnSpc>
                <a:spcPct val="120000"/>
              </a:lnSpc>
            </a:pPr>
            <a:r>
              <a:rPr lang="zh-CN" altLang="en-US" sz="2800" b="0" dirty="0"/>
              <a:t>糖是三大营养物质中被优先利用的能源，有氧氧化是其主要供能方式。</a:t>
            </a:r>
            <a:endParaRPr lang="zh-CN" altLang="en-US" sz="2800" b="0" dirty="0"/>
          </a:p>
        </p:txBody>
      </p:sp>
      <p:grpSp>
        <p:nvGrpSpPr>
          <p:cNvPr id="6" name="Group 3"/>
          <p:cNvGrpSpPr/>
          <p:nvPr/>
        </p:nvGrpSpPr>
        <p:grpSpPr bwMode="auto">
          <a:xfrm>
            <a:off x="2757488" y="3501008"/>
            <a:ext cx="6934200" cy="838200"/>
            <a:chOff x="1111" y="2503"/>
            <a:chExt cx="4368" cy="528"/>
          </a:xfrm>
        </p:grpSpPr>
        <p:sp>
          <p:nvSpPr>
            <p:cNvPr id="201738" name="Text Box 4"/>
            <p:cNvSpPr txBox="1">
              <a:spLocks noChangeArrowheads="1"/>
            </p:cNvSpPr>
            <p:nvPr/>
          </p:nvSpPr>
          <p:spPr bwMode="auto">
            <a:xfrm>
              <a:off x="1111" y="2704"/>
              <a:ext cx="12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FF0066"/>
                  </a:solidFill>
                  <a:latin typeface="Arial" panose="020B0604020202020204" pitchFamily="34" charset="0"/>
                  <a:ea typeface="宋体" panose="02010600030101010101" pitchFamily="2" charset="-122"/>
                </a:rPr>
                <a:t>NADH+H</a:t>
              </a:r>
              <a:r>
                <a:rPr kumimoji="1" lang="en-US" altLang="zh-CN" sz="2800" baseline="30000">
                  <a:solidFill>
                    <a:srgbClr val="FF0066"/>
                  </a:solidFill>
                  <a:latin typeface="Arial" panose="020B0604020202020204" pitchFamily="34" charset="0"/>
                  <a:ea typeface="宋体" panose="02010600030101010101" pitchFamily="2" charset="-122"/>
                </a:rPr>
                <a:t>+</a:t>
              </a:r>
              <a:r>
                <a:rPr kumimoji="1" lang="en-US" altLang="zh-CN" sz="2800" baseline="30000">
                  <a:solidFill>
                    <a:srgbClr val="F4FA84"/>
                  </a:solidFill>
                  <a:latin typeface="Arial" panose="020B0604020202020204" pitchFamily="34" charset="0"/>
                  <a:ea typeface="宋体" panose="02010600030101010101" pitchFamily="2" charset="-122"/>
                </a:rPr>
                <a:t>   </a:t>
              </a:r>
              <a:endParaRPr kumimoji="1" lang="en-US" altLang="zh-CN" sz="2800" baseline="30000">
                <a:solidFill>
                  <a:srgbClr val="F4FA84"/>
                </a:solidFill>
                <a:latin typeface="Arial" panose="020B0604020202020204" pitchFamily="34" charset="0"/>
                <a:ea typeface="宋体" panose="02010600030101010101" pitchFamily="2" charset="-122"/>
              </a:endParaRPr>
            </a:p>
          </p:txBody>
        </p:sp>
        <p:sp>
          <p:nvSpPr>
            <p:cNvPr id="201739" name="Line 5"/>
            <p:cNvSpPr>
              <a:spLocks noChangeShapeType="1"/>
            </p:cNvSpPr>
            <p:nvPr/>
          </p:nvSpPr>
          <p:spPr bwMode="auto">
            <a:xfrm>
              <a:off x="2245" y="2886"/>
              <a:ext cx="1588" cy="0"/>
            </a:xfrm>
            <a:prstGeom prst="line">
              <a:avLst/>
            </a:prstGeom>
            <a:noFill/>
            <a:ln w="38100">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1740" name="Text Box 6"/>
            <p:cNvSpPr txBox="1">
              <a:spLocks noChangeArrowheads="1"/>
            </p:cNvSpPr>
            <p:nvPr/>
          </p:nvSpPr>
          <p:spPr bwMode="auto">
            <a:xfrm>
              <a:off x="3833" y="2703"/>
              <a:ext cx="16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chemeClr val="tx2"/>
                  </a:solidFill>
                  <a:latin typeface="Arial" panose="020B0604020202020204" pitchFamily="34" charset="0"/>
                  <a:ea typeface="宋体" panose="02010600030101010101" pitchFamily="2" charset="-122"/>
                </a:rPr>
                <a:t>H</a:t>
              </a:r>
              <a:r>
                <a:rPr kumimoji="1" lang="en-US" altLang="zh-CN" sz="2800" baseline="-25000">
                  <a:solidFill>
                    <a:schemeClr val="tx2"/>
                  </a:solidFill>
                  <a:latin typeface="Arial" panose="020B0604020202020204" pitchFamily="34" charset="0"/>
                  <a:ea typeface="宋体" panose="02010600030101010101" pitchFamily="2" charset="-122"/>
                </a:rPr>
                <a:t>2</a:t>
              </a:r>
              <a:r>
                <a:rPr kumimoji="1" lang="en-US" altLang="zh-CN" sz="2800">
                  <a:solidFill>
                    <a:schemeClr val="tx2"/>
                  </a:solidFill>
                  <a:latin typeface="Arial" panose="020B0604020202020204" pitchFamily="34" charset="0"/>
                  <a:ea typeface="宋体" panose="02010600030101010101" pitchFamily="2" charset="-122"/>
                </a:rPr>
                <a:t>O</a:t>
              </a:r>
              <a:r>
                <a:rPr kumimoji="1" lang="en-US" altLang="zh-CN" sz="2800">
                  <a:latin typeface="Arial" panose="020B0604020202020204" pitchFamily="34" charset="0"/>
                  <a:ea typeface="宋体" panose="02010600030101010101" pitchFamily="2" charset="-122"/>
                </a:rPr>
                <a:t>、</a:t>
              </a:r>
              <a:r>
                <a:rPr kumimoji="1" lang="en-US" altLang="zh-CN" sz="2800">
                  <a:solidFill>
                    <a:srgbClr val="FF0000"/>
                  </a:solidFill>
                  <a:latin typeface="Arial" panose="020B0604020202020204" pitchFamily="34" charset="0"/>
                  <a:ea typeface="宋体" panose="02010600030101010101" pitchFamily="2" charset="-122"/>
                </a:rPr>
                <a:t>2.5</a:t>
              </a:r>
              <a:r>
                <a:rPr kumimoji="1" lang="en-US" altLang="zh-CN" sz="2800">
                  <a:solidFill>
                    <a:schemeClr val="tx2"/>
                  </a:solidFill>
                  <a:latin typeface="Arial" panose="020B0604020202020204" pitchFamily="34" charset="0"/>
                  <a:ea typeface="宋体" panose="02010600030101010101" pitchFamily="2" charset="-122"/>
                </a:rPr>
                <a:t>ATP</a:t>
              </a:r>
              <a:r>
                <a:rPr kumimoji="1" lang="en-US" altLang="zh-CN" sz="2800">
                  <a:solidFill>
                    <a:schemeClr val="hlink"/>
                  </a:solidFill>
                  <a:latin typeface="Arial" panose="020B0604020202020204" pitchFamily="34" charset="0"/>
                  <a:ea typeface="宋体" panose="02010600030101010101" pitchFamily="2" charset="-122"/>
                </a:rPr>
                <a:t>  </a:t>
              </a:r>
              <a:endParaRPr kumimoji="1" lang="en-US" altLang="zh-CN" sz="2800">
                <a:solidFill>
                  <a:schemeClr val="hlink"/>
                </a:solidFill>
                <a:latin typeface="Arial" panose="020B0604020202020204" pitchFamily="34" charset="0"/>
                <a:ea typeface="宋体" panose="02010600030101010101" pitchFamily="2" charset="-122"/>
              </a:endParaRPr>
            </a:p>
          </p:txBody>
        </p:sp>
        <p:sp>
          <p:nvSpPr>
            <p:cNvPr id="201741" name="Text Box 7"/>
            <p:cNvSpPr txBox="1">
              <a:spLocks noChangeArrowheads="1"/>
            </p:cNvSpPr>
            <p:nvPr/>
          </p:nvSpPr>
          <p:spPr bwMode="auto">
            <a:xfrm>
              <a:off x="2595" y="2503"/>
              <a:ext cx="6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宋体" panose="02010600030101010101" pitchFamily="2" charset="-122"/>
                </a:rPr>
                <a:t>[</a:t>
              </a:r>
              <a:r>
                <a:rPr kumimoji="1" lang="en-US" altLang="zh-CN" sz="2800">
                  <a:latin typeface="Arial" panose="020B0604020202020204" pitchFamily="34" charset="0"/>
                  <a:ea typeface="宋体" panose="02010600030101010101" pitchFamily="2" charset="-122"/>
                </a:rPr>
                <a:t>O]   </a:t>
              </a:r>
              <a:endParaRPr kumimoji="1" lang="en-US" altLang="zh-CN" sz="2800">
                <a:latin typeface="Arial" panose="020B0604020202020204" pitchFamily="34" charset="0"/>
                <a:ea typeface="宋体" panose="02010600030101010101" pitchFamily="2" charset="-122"/>
              </a:endParaRPr>
            </a:p>
          </p:txBody>
        </p:sp>
      </p:grpSp>
      <p:grpSp>
        <p:nvGrpSpPr>
          <p:cNvPr id="11" name="Group 8"/>
          <p:cNvGrpSpPr/>
          <p:nvPr/>
        </p:nvGrpSpPr>
        <p:grpSpPr bwMode="auto">
          <a:xfrm>
            <a:off x="2773363" y="4675758"/>
            <a:ext cx="6934200" cy="781050"/>
            <a:chOff x="1111" y="3174"/>
            <a:chExt cx="4368" cy="492"/>
          </a:xfrm>
        </p:grpSpPr>
        <p:sp>
          <p:nvSpPr>
            <p:cNvPr id="201734" name="Text Box 9"/>
            <p:cNvSpPr txBox="1">
              <a:spLocks noChangeArrowheads="1"/>
            </p:cNvSpPr>
            <p:nvPr/>
          </p:nvSpPr>
          <p:spPr bwMode="auto">
            <a:xfrm>
              <a:off x="3833" y="3338"/>
              <a:ext cx="164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chemeClr val="tx2"/>
                  </a:solidFill>
                  <a:latin typeface="Arial" panose="020B0604020202020204" pitchFamily="34" charset="0"/>
                  <a:ea typeface="宋体" panose="02010600030101010101" pitchFamily="2" charset="-122"/>
                </a:rPr>
                <a:t>H</a:t>
              </a:r>
              <a:r>
                <a:rPr kumimoji="1" lang="en-US" altLang="zh-CN" sz="2800" baseline="-25000">
                  <a:solidFill>
                    <a:schemeClr val="tx2"/>
                  </a:solidFill>
                  <a:latin typeface="Arial" panose="020B0604020202020204" pitchFamily="34" charset="0"/>
                  <a:ea typeface="宋体" panose="02010600030101010101" pitchFamily="2" charset="-122"/>
                </a:rPr>
                <a:t>2</a:t>
              </a:r>
              <a:r>
                <a:rPr kumimoji="1" lang="en-US" altLang="zh-CN" sz="2800">
                  <a:solidFill>
                    <a:schemeClr val="tx2"/>
                  </a:solidFill>
                  <a:latin typeface="Arial" panose="020B0604020202020204" pitchFamily="34" charset="0"/>
                  <a:ea typeface="宋体" panose="02010600030101010101" pitchFamily="2" charset="-122"/>
                </a:rPr>
                <a:t>O</a:t>
              </a:r>
              <a:r>
                <a:rPr kumimoji="1" lang="en-US" altLang="zh-CN" sz="2800">
                  <a:latin typeface="Arial" panose="020B0604020202020204" pitchFamily="34" charset="0"/>
                  <a:ea typeface="宋体" panose="02010600030101010101" pitchFamily="2" charset="-122"/>
                </a:rPr>
                <a:t>、</a:t>
              </a:r>
              <a:r>
                <a:rPr kumimoji="1" lang="en-US" altLang="zh-CN" sz="2800">
                  <a:solidFill>
                    <a:srgbClr val="FF0000"/>
                  </a:solidFill>
                  <a:latin typeface="Arial" panose="020B0604020202020204" pitchFamily="34" charset="0"/>
                  <a:ea typeface="宋体" panose="02010600030101010101" pitchFamily="2" charset="-122"/>
                </a:rPr>
                <a:t>1.5</a:t>
              </a:r>
              <a:r>
                <a:rPr kumimoji="1" lang="en-US" altLang="zh-CN" sz="2800">
                  <a:solidFill>
                    <a:schemeClr val="tx2"/>
                  </a:solidFill>
                  <a:latin typeface="Arial" panose="020B0604020202020204" pitchFamily="34" charset="0"/>
                  <a:ea typeface="宋体" panose="02010600030101010101" pitchFamily="2" charset="-122"/>
                </a:rPr>
                <a:t>ATP</a:t>
              </a:r>
              <a:r>
                <a:rPr kumimoji="1" lang="en-US" altLang="zh-CN" sz="2800">
                  <a:solidFill>
                    <a:schemeClr val="accent1"/>
                  </a:solidFill>
                  <a:latin typeface="Arial" panose="020B0604020202020204" pitchFamily="34" charset="0"/>
                  <a:ea typeface="宋体" panose="02010600030101010101" pitchFamily="2" charset="-122"/>
                </a:rPr>
                <a:t>  </a:t>
              </a:r>
              <a:endParaRPr kumimoji="1" lang="en-US" altLang="zh-CN" sz="2800">
                <a:solidFill>
                  <a:schemeClr val="accent1"/>
                </a:solidFill>
                <a:latin typeface="Arial" panose="020B0604020202020204" pitchFamily="34" charset="0"/>
                <a:ea typeface="宋体" panose="02010600030101010101" pitchFamily="2" charset="-122"/>
              </a:endParaRPr>
            </a:p>
          </p:txBody>
        </p:sp>
        <p:sp>
          <p:nvSpPr>
            <p:cNvPr id="201735" name="Line 10"/>
            <p:cNvSpPr>
              <a:spLocks noChangeShapeType="1"/>
            </p:cNvSpPr>
            <p:nvPr/>
          </p:nvSpPr>
          <p:spPr bwMode="auto">
            <a:xfrm>
              <a:off x="1973" y="3521"/>
              <a:ext cx="1860" cy="0"/>
            </a:xfrm>
            <a:prstGeom prst="line">
              <a:avLst/>
            </a:prstGeom>
            <a:noFill/>
            <a:ln w="38100">
              <a:solidFill>
                <a:schemeClr val="tx1"/>
              </a:solidFill>
              <a:prstDash val="dash"/>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1736" name="Text Box 11"/>
            <p:cNvSpPr txBox="1">
              <a:spLocks noChangeArrowheads="1"/>
            </p:cNvSpPr>
            <p:nvPr/>
          </p:nvSpPr>
          <p:spPr bwMode="auto">
            <a:xfrm>
              <a:off x="1111" y="3339"/>
              <a:ext cx="9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FF0066"/>
                  </a:solidFill>
                  <a:latin typeface="Arial" panose="020B0604020202020204" pitchFamily="34" charset="0"/>
                  <a:ea typeface="宋体" panose="02010600030101010101" pitchFamily="2" charset="-122"/>
                </a:rPr>
                <a:t>FADH</a:t>
              </a:r>
              <a:r>
                <a:rPr kumimoji="1" lang="en-US" altLang="zh-CN" sz="2800" baseline="-25000">
                  <a:solidFill>
                    <a:srgbClr val="FF0066"/>
                  </a:solidFill>
                  <a:latin typeface="Arial" panose="020B0604020202020204" pitchFamily="34" charset="0"/>
                  <a:ea typeface="宋体" panose="02010600030101010101" pitchFamily="2" charset="-122"/>
                </a:rPr>
                <a:t>2 </a:t>
              </a:r>
              <a:r>
                <a:rPr kumimoji="1" lang="en-US" altLang="zh-CN" sz="2800" baseline="-25000">
                  <a:solidFill>
                    <a:srgbClr val="F4FA84"/>
                  </a:solidFill>
                  <a:latin typeface="Arial" panose="020B0604020202020204" pitchFamily="34" charset="0"/>
                  <a:ea typeface="宋体" panose="02010600030101010101" pitchFamily="2" charset="-122"/>
                </a:rPr>
                <a:t>  </a:t>
              </a:r>
              <a:endParaRPr kumimoji="1" lang="en-US" altLang="zh-CN" sz="2800" baseline="-25000">
                <a:solidFill>
                  <a:srgbClr val="F4FA84"/>
                </a:solidFill>
                <a:latin typeface="Arial" panose="020B0604020202020204" pitchFamily="34" charset="0"/>
                <a:ea typeface="宋体" panose="02010600030101010101" pitchFamily="2" charset="-122"/>
              </a:endParaRPr>
            </a:p>
          </p:txBody>
        </p:sp>
        <p:sp>
          <p:nvSpPr>
            <p:cNvPr id="201737" name="Text Box 12"/>
            <p:cNvSpPr txBox="1">
              <a:spLocks noChangeArrowheads="1"/>
            </p:cNvSpPr>
            <p:nvPr/>
          </p:nvSpPr>
          <p:spPr bwMode="auto">
            <a:xfrm>
              <a:off x="2608" y="3174"/>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宋体" panose="02010600030101010101" pitchFamily="2" charset="-122"/>
                </a:rPr>
                <a:t>[</a:t>
              </a:r>
              <a:r>
                <a:rPr kumimoji="1" lang="en-US" altLang="zh-CN" sz="2800">
                  <a:latin typeface="Arial" panose="020B0604020202020204" pitchFamily="34" charset="0"/>
                  <a:ea typeface="宋体" panose="02010600030101010101" pitchFamily="2" charset="-122"/>
                </a:rPr>
                <a:t>O]  </a:t>
              </a:r>
              <a:endParaRPr kumimoji="1" lang="en-US" altLang="zh-CN" sz="2800">
                <a:latin typeface="Arial" panose="020B0604020202020204" pitchFamily="34" charset="0"/>
                <a:ea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box(out)">
                                      <p:cBhvr>
                                        <p:cTn id="7" dur="500"/>
                                        <p:tgtEl>
                                          <p:spTgt spid="2007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advAuto="0" autoUpdateAnimBg="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idx="4294967295"/>
          </p:nvPr>
        </p:nvSpPr>
        <p:spPr bwMode="auto">
          <a:xfrm>
            <a:off x="2209800" y="263526"/>
            <a:ext cx="7391400" cy="646113"/>
          </a:xfrm>
        </p:spPr>
        <p:txBody>
          <a:bodyPr anchor="t"/>
          <a:lstStyle/>
          <a:p>
            <a:pPr marL="342900" indent="-342900" eaLnBrk="1" hangingPunct="1">
              <a:spcBef>
                <a:spcPct val="20000"/>
              </a:spcBef>
              <a:buClr>
                <a:schemeClr val="hlink"/>
              </a:buClr>
              <a:buSzPct val="75000"/>
            </a:pPr>
            <a:r>
              <a:rPr lang="zh-CN" altLang="en-US" sz="3600" b="1">
                <a:solidFill>
                  <a:srgbClr val="7030A0"/>
                </a:solidFill>
                <a:ea typeface="楷体_GB2312" pitchFamily="49" charset="-122"/>
              </a:rPr>
              <a:t>有氧氧化生成的</a:t>
            </a:r>
            <a:r>
              <a:rPr lang="en-US" altLang="zh-CN" sz="3600" b="1">
                <a:solidFill>
                  <a:srgbClr val="7030A0"/>
                </a:solidFill>
                <a:ea typeface="楷体_GB2312" pitchFamily="49" charset="-122"/>
              </a:rPr>
              <a:t>ATP</a:t>
            </a:r>
            <a:endParaRPr lang="en-US" altLang="zh-CN" sz="3600" b="1">
              <a:solidFill>
                <a:srgbClr val="7030A0"/>
              </a:solidFill>
              <a:ea typeface="楷体_GB2312" pitchFamily="49" charset="-122"/>
            </a:endParaRPr>
          </a:p>
        </p:txBody>
      </p:sp>
      <p:sp>
        <p:nvSpPr>
          <p:cNvPr id="226307" name="Rectangle 3"/>
          <p:cNvSpPr>
            <a:spLocks noChangeArrowheads="1"/>
          </p:cNvSpPr>
          <p:nvPr/>
        </p:nvSpPr>
        <p:spPr bwMode="auto">
          <a:xfrm>
            <a:off x="1676400" y="5992813"/>
            <a:ext cx="7010400" cy="455612"/>
          </a:xfrm>
          <a:prstGeom prst="rect">
            <a:avLst/>
          </a:prstGeom>
          <a:noFill/>
          <a:ln w="12700">
            <a:noFill/>
            <a:miter lim="800000"/>
            <a:headEnd type="none" w="sm" len="sm"/>
            <a:tailEnd type="none" w="sm" len="sm"/>
          </a:ln>
          <a:effectLst/>
        </p:spPr>
        <p:txBody>
          <a:bodyPr/>
          <a:lstStyle/>
          <a:p>
            <a:pPr algn="ctr" eaLnBrk="1" hangingPunct="1">
              <a:spcBef>
                <a:spcPct val="20000"/>
              </a:spcBef>
              <a:buClr>
                <a:schemeClr val="hlink"/>
              </a:buClr>
              <a:buSzPct val="75000"/>
              <a:buFont typeface="Wingdings" panose="05000000000000000000" pitchFamily="2" charset="2"/>
              <a:buNone/>
              <a:defRPr/>
            </a:pPr>
            <a:r>
              <a:rPr lang="zh-CN" altLang="en-US" sz="2400" i="1">
                <a:effectLst>
                  <a:outerShdw blurRad="38100" dist="38100" dir="2700000" algn="tl">
                    <a:srgbClr val="C0C0C0"/>
                  </a:outerShdw>
                </a:effectLst>
                <a:latin typeface="楷体_GB2312" pitchFamily="49" charset="-122"/>
                <a:ea typeface="楷体_GB2312" pitchFamily="49" charset="-122"/>
              </a:rPr>
              <a:t>合               计</a:t>
            </a:r>
            <a:endParaRPr lang="zh-CN" altLang="en-US" sz="2400" i="1">
              <a:effectLst>
                <a:outerShdw blurRad="38100" dist="38100" dir="2700000" algn="tl">
                  <a:srgbClr val="C0C0C0"/>
                </a:outerShdw>
              </a:effectLst>
              <a:latin typeface="楷体_GB2312" pitchFamily="49" charset="-122"/>
              <a:ea typeface="楷体_GB2312" pitchFamily="49" charset="-122"/>
            </a:endParaRPr>
          </a:p>
        </p:txBody>
      </p:sp>
      <p:sp>
        <p:nvSpPr>
          <p:cNvPr id="203780" name="Rectangle 4"/>
          <p:cNvSpPr>
            <a:spLocks noChangeArrowheads="1"/>
          </p:cNvSpPr>
          <p:nvPr/>
        </p:nvSpPr>
        <p:spPr bwMode="auto">
          <a:xfrm>
            <a:off x="1676400" y="3960813"/>
            <a:ext cx="12954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t>第三阶段</a:t>
            </a:r>
            <a:endParaRPr lang="zh-CN" altLang="en-US" sz="2000"/>
          </a:p>
        </p:txBody>
      </p:sp>
      <p:sp>
        <p:nvSpPr>
          <p:cNvPr id="203781" name="Rectangle 5"/>
          <p:cNvSpPr>
            <a:spLocks noChangeArrowheads="1"/>
          </p:cNvSpPr>
          <p:nvPr/>
        </p:nvSpPr>
        <p:spPr bwMode="auto">
          <a:xfrm>
            <a:off x="1676400" y="3565525"/>
            <a:ext cx="12954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t>第二阶段</a:t>
            </a:r>
            <a:endParaRPr lang="zh-CN" altLang="en-US" sz="2000"/>
          </a:p>
        </p:txBody>
      </p:sp>
      <p:sp>
        <p:nvSpPr>
          <p:cNvPr id="203782" name="Rectangle 6"/>
          <p:cNvSpPr>
            <a:spLocks noChangeArrowheads="1"/>
          </p:cNvSpPr>
          <p:nvPr/>
        </p:nvSpPr>
        <p:spPr bwMode="auto">
          <a:xfrm>
            <a:off x="1676400" y="3170239"/>
            <a:ext cx="1295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endParaRPr lang="zh-CN" altLang="en-US" sz="2000"/>
          </a:p>
        </p:txBody>
      </p:sp>
      <p:sp>
        <p:nvSpPr>
          <p:cNvPr id="203783" name="Rectangle 7"/>
          <p:cNvSpPr>
            <a:spLocks noChangeArrowheads="1"/>
          </p:cNvSpPr>
          <p:nvPr/>
        </p:nvSpPr>
        <p:spPr bwMode="auto">
          <a:xfrm>
            <a:off x="1676400" y="1589089"/>
            <a:ext cx="12954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t>第一阶段</a:t>
            </a:r>
            <a:endParaRPr lang="zh-CN" altLang="en-US" sz="2000"/>
          </a:p>
        </p:txBody>
      </p:sp>
      <p:sp>
        <p:nvSpPr>
          <p:cNvPr id="203784" name="Rectangle 8"/>
          <p:cNvSpPr>
            <a:spLocks noChangeArrowheads="1"/>
          </p:cNvSpPr>
          <p:nvPr/>
        </p:nvSpPr>
        <p:spPr bwMode="auto">
          <a:xfrm>
            <a:off x="1703388" y="1098551"/>
            <a:ext cx="12954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endParaRPr lang="zh-CN" altLang="en-US" sz="2400">
              <a:latin typeface="隶书" panose="02010509060101010101" pitchFamily="49" charset="-122"/>
              <a:ea typeface="隶书" panose="02010509060101010101" pitchFamily="49" charset="-122"/>
            </a:endParaRPr>
          </a:p>
        </p:txBody>
      </p:sp>
      <p:sp>
        <p:nvSpPr>
          <p:cNvPr id="226313" name="Rectangle 9"/>
          <p:cNvSpPr>
            <a:spLocks noChangeArrowheads="1"/>
          </p:cNvSpPr>
          <p:nvPr/>
        </p:nvSpPr>
        <p:spPr bwMode="auto">
          <a:xfrm>
            <a:off x="8686800" y="5992813"/>
            <a:ext cx="1828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400" i="1" dirty="0">
                <a:solidFill>
                  <a:srgbClr val="FF0066"/>
                </a:solidFill>
              </a:rPr>
              <a:t>30</a:t>
            </a:r>
            <a:r>
              <a:rPr lang="zh-CN" altLang="en-US" sz="2400" i="1" dirty="0">
                <a:solidFill>
                  <a:srgbClr val="FF0066"/>
                </a:solidFill>
              </a:rPr>
              <a:t>或</a:t>
            </a:r>
            <a:r>
              <a:rPr lang="en-US" altLang="zh-CN" sz="2400" i="1" dirty="0">
                <a:solidFill>
                  <a:srgbClr val="FF0066"/>
                </a:solidFill>
              </a:rPr>
              <a:t>32</a:t>
            </a:r>
            <a:endParaRPr lang="en-US" altLang="zh-CN" sz="2400" i="1" dirty="0">
              <a:solidFill>
                <a:srgbClr val="FF0066"/>
              </a:solidFill>
            </a:endParaRPr>
          </a:p>
        </p:txBody>
      </p:sp>
      <p:sp>
        <p:nvSpPr>
          <p:cNvPr id="203786" name="Rectangle 10"/>
          <p:cNvSpPr>
            <a:spLocks noChangeArrowheads="1"/>
          </p:cNvSpPr>
          <p:nvPr/>
        </p:nvSpPr>
        <p:spPr bwMode="auto">
          <a:xfrm>
            <a:off x="7535864" y="4806950"/>
            <a:ext cx="115093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endParaRPr lang="zh-CN" altLang="en-US" sz="2000"/>
          </a:p>
        </p:txBody>
      </p:sp>
      <p:sp>
        <p:nvSpPr>
          <p:cNvPr id="203787" name="Rectangle 11"/>
          <p:cNvSpPr>
            <a:spLocks noChangeArrowheads="1"/>
          </p:cNvSpPr>
          <p:nvPr/>
        </p:nvSpPr>
        <p:spPr bwMode="auto">
          <a:xfrm>
            <a:off x="7620000" y="3170239"/>
            <a:ext cx="10668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endParaRPr lang="zh-CN" altLang="en-US" sz="2000"/>
          </a:p>
        </p:txBody>
      </p:sp>
      <p:sp>
        <p:nvSpPr>
          <p:cNvPr id="203788" name="Rectangle 12"/>
          <p:cNvSpPr>
            <a:spLocks noChangeArrowheads="1"/>
          </p:cNvSpPr>
          <p:nvPr/>
        </p:nvSpPr>
        <p:spPr bwMode="auto">
          <a:xfrm>
            <a:off x="7620000" y="2774950"/>
            <a:ext cx="10668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endParaRPr lang="zh-CN" altLang="en-US" sz="2000"/>
          </a:p>
        </p:txBody>
      </p:sp>
      <p:sp>
        <p:nvSpPr>
          <p:cNvPr id="203789" name="Rectangle 13"/>
          <p:cNvSpPr>
            <a:spLocks noChangeArrowheads="1"/>
          </p:cNvSpPr>
          <p:nvPr/>
        </p:nvSpPr>
        <p:spPr bwMode="auto">
          <a:xfrm>
            <a:off x="7620000" y="1984375"/>
            <a:ext cx="10668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endParaRPr lang="zh-CN" altLang="en-US" sz="2000"/>
          </a:p>
        </p:txBody>
      </p:sp>
      <p:sp>
        <p:nvSpPr>
          <p:cNvPr id="203790" name="Rectangle 14"/>
          <p:cNvSpPr>
            <a:spLocks noChangeArrowheads="1"/>
          </p:cNvSpPr>
          <p:nvPr/>
        </p:nvSpPr>
        <p:spPr bwMode="auto">
          <a:xfrm>
            <a:off x="7620000" y="1589089"/>
            <a:ext cx="10668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endParaRPr lang="zh-CN" altLang="en-US" sz="2000"/>
          </a:p>
        </p:txBody>
      </p:sp>
      <p:sp>
        <p:nvSpPr>
          <p:cNvPr id="203791" name="Rectangle 15"/>
          <p:cNvSpPr>
            <a:spLocks noChangeArrowheads="1"/>
          </p:cNvSpPr>
          <p:nvPr/>
        </p:nvSpPr>
        <p:spPr bwMode="auto">
          <a:xfrm>
            <a:off x="8839200" y="1052514"/>
            <a:ext cx="1828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800">
                <a:latin typeface="华文新魏" panose="02010800040101010101" pitchFamily="2" charset="-122"/>
                <a:ea typeface="华文新魏" panose="02010800040101010101" pitchFamily="2" charset="-122"/>
              </a:rPr>
              <a:t>ATP</a:t>
            </a:r>
            <a:r>
              <a:rPr lang="zh-CN" altLang="en-US" sz="2800">
                <a:latin typeface="华文新魏" panose="02010800040101010101" pitchFamily="2" charset="-122"/>
                <a:ea typeface="华文新魏" panose="02010800040101010101" pitchFamily="2" charset="-122"/>
              </a:rPr>
              <a:t>产生</a:t>
            </a:r>
            <a:endParaRPr lang="zh-CN" altLang="en-US" sz="2800">
              <a:latin typeface="华文新魏" panose="02010800040101010101" pitchFamily="2" charset="-122"/>
              <a:ea typeface="华文新魏" panose="02010800040101010101" pitchFamily="2" charset="-122"/>
            </a:endParaRPr>
          </a:p>
        </p:txBody>
      </p:sp>
      <p:sp>
        <p:nvSpPr>
          <p:cNvPr id="203792" name="Rectangle 16"/>
          <p:cNvSpPr>
            <a:spLocks noChangeArrowheads="1"/>
          </p:cNvSpPr>
          <p:nvPr/>
        </p:nvSpPr>
        <p:spPr bwMode="auto">
          <a:xfrm>
            <a:off x="7620000" y="1071564"/>
            <a:ext cx="1066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a:latin typeface="华文新魏" panose="02010800040101010101" pitchFamily="2" charset="-122"/>
                <a:ea typeface="华文新魏" panose="02010800040101010101" pitchFamily="2" charset="-122"/>
              </a:rPr>
              <a:t>辅酶</a:t>
            </a:r>
            <a:endParaRPr lang="zh-CN" altLang="en-US" sz="2800">
              <a:latin typeface="华文新魏" panose="02010800040101010101" pitchFamily="2" charset="-122"/>
              <a:ea typeface="华文新魏" panose="02010800040101010101" pitchFamily="2" charset="-122"/>
            </a:endParaRPr>
          </a:p>
        </p:txBody>
      </p:sp>
      <p:sp>
        <p:nvSpPr>
          <p:cNvPr id="203793" name="Rectangle 17"/>
          <p:cNvSpPr>
            <a:spLocks noChangeArrowheads="1"/>
          </p:cNvSpPr>
          <p:nvPr/>
        </p:nvSpPr>
        <p:spPr bwMode="auto">
          <a:xfrm>
            <a:off x="2971800" y="1071564"/>
            <a:ext cx="4648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a:latin typeface="华文新魏" panose="02010800040101010101" pitchFamily="2" charset="-122"/>
                <a:ea typeface="华文新魏" panose="02010800040101010101" pitchFamily="2" charset="-122"/>
              </a:rPr>
              <a:t>反       应</a:t>
            </a:r>
            <a:r>
              <a:rPr lang="zh-CN" altLang="en-US" sz="2400">
                <a:latin typeface="楷体_GB2312" pitchFamily="49" charset="-122"/>
                <a:ea typeface="华文新魏" panose="02010800040101010101" pitchFamily="2" charset="-122"/>
              </a:rPr>
              <a:t> </a:t>
            </a:r>
            <a:endParaRPr lang="zh-CN" altLang="en-US" sz="2400">
              <a:latin typeface="楷体_GB2312" pitchFamily="49" charset="-122"/>
              <a:ea typeface="华文新魏" panose="02010800040101010101" pitchFamily="2" charset="-122"/>
            </a:endParaRPr>
          </a:p>
        </p:txBody>
      </p:sp>
      <p:sp>
        <p:nvSpPr>
          <p:cNvPr id="203794" name="Line 18"/>
          <p:cNvSpPr>
            <a:spLocks noChangeShapeType="1"/>
          </p:cNvSpPr>
          <p:nvPr/>
        </p:nvSpPr>
        <p:spPr bwMode="auto">
          <a:xfrm>
            <a:off x="1676400" y="1071563"/>
            <a:ext cx="8839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19"/>
          <p:cNvGrpSpPr/>
          <p:nvPr/>
        </p:nvGrpSpPr>
        <p:grpSpPr bwMode="auto">
          <a:xfrm>
            <a:off x="2971800" y="1589089"/>
            <a:ext cx="7543800" cy="395287"/>
            <a:chOff x="912" y="1154"/>
            <a:chExt cx="4752" cy="249"/>
          </a:xfrm>
        </p:grpSpPr>
        <p:sp>
          <p:nvSpPr>
            <p:cNvPr id="203849" name="Rectangle 20"/>
            <p:cNvSpPr>
              <a:spLocks noChangeArrowheads="1"/>
            </p:cNvSpPr>
            <p:nvPr/>
          </p:nvSpPr>
          <p:spPr bwMode="auto">
            <a:xfrm>
              <a:off x="4512" y="1154"/>
              <a:ext cx="115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t>-1</a:t>
              </a:r>
              <a:endParaRPr lang="en-US" altLang="zh-CN" sz="2000"/>
            </a:p>
          </p:txBody>
        </p:sp>
        <p:sp>
          <p:nvSpPr>
            <p:cNvPr id="203850" name="Rectangle 21"/>
            <p:cNvSpPr>
              <a:spLocks noChangeArrowheads="1"/>
            </p:cNvSpPr>
            <p:nvPr/>
          </p:nvSpPr>
          <p:spPr bwMode="auto">
            <a:xfrm>
              <a:off x="912" y="1154"/>
              <a:ext cx="29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t>葡萄糖        </a:t>
              </a:r>
              <a:r>
                <a:rPr lang="en-US" altLang="zh-CN" sz="2000"/>
                <a:t>6-</a:t>
              </a:r>
              <a:r>
                <a:rPr lang="zh-CN" altLang="en-US" sz="2000"/>
                <a:t>磷酸葡萄糖</a:t>
              </a:r>
              <a:endParaRPr lang="zh-CN" altLang="en-US" sz="2000"/>
            </a:p>
          </p:txBody>
        </p:sp>
        <p:sp>
          <p:nvSpPr>
            <p:cNvPr id="203851" name="Line 22"/>
            <p:cNvSpPr>
              <a:spLocks noChangeShapeType="1"/>
            </p:cNvSpPr>
            <p:nvPr/>
          </p:nvSpPr>
          <p:spPr bwMode="auto">
            <a:xfrm>
              <a:off x="1488" y="1284"/>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23"/>
          <p:cNvGrpSpPr/>
          <p:nvPr/>
        </p:nvGrpSpPr>
        <p:grpSpPr bwMode="auto">
          <a:xfrm>
            <a:off x="2971800" y="5597525"/>
            <a:ext cx="7543800" cy="395288"/>
            <a:chOff x="912" y="3679"/>
            <a:chExt cx="4752" cy="249"/>
          </a:xfrm>
        </p:grpSpPr>
        <p:sp>
          <p:nvSpPr>
            <p:cNvPr id="203845" name="Rectangle 24"/>
            <p:cNvSpPr>
              <a:spLocks noChangeArrowheads="1"/>
            </p:cNvSpPr>
            <p:nvPr/>
          </p:nvSpPr>
          <p:spPr bwMode="auto">
            <a:xfrm>
              <a:off x="4512" y="3679"/>
              <a:ext cx="115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rgbClr val="FF0066"/>
                  </a:solidFill>
                </a:rPr>
                <a:t>2.5×2</a:t>
              </a:r>
              <a:endParaRPr lang="en-US" altLang="zh-CN" sz="2000">
                <a:solidFill>
                  <a:srgbClr val="FF0066"/>
                </a:solidFill>
              </a:endParaRPr>
            </a:p>
          </p:txBody>
        </p:sp>
        <p:sp>
          <p:nvSpPr>
            <p:cNvPr id="203846" name="Rectangle 25"/>
            <p:cNvSpPr>
              <a:spLocks noChangeArrowheads="1"/>
            </p:cNvSpPr>
            <p:nvPr/>
          </p:nvSpPr>
          <p:spPr bwMode="auto">
            <a:xfrm>
              <a:off x="3840" y="3679"/>
              <a:ext cx="67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solidFill>
                    <a:schemeClr val="tx2"/>
                  </a:solidFill>
                </a:rPr>
                <a:t> </a:t>
              </a:r>
              <a:r>
                <a:rPr lang="en-US" altLang="zh-CN" sz="2000">
                  <a:solidFill>
                    <a:schemeClr val="tx2"/>
                  </a:solidFill>
                </a:rPr>
                <a:t>NAD</a:t>
              </a:r>
              <a:r>
                <a:rPr lang="en-US" altLang="zh-CN" sz="2000" baseline="30000">
                  <a:solidFill>
                    <a:schemeClr val="tx2"/>
                  </a:solidFill>
                </a:rPr>
                <a:t>+</a:t>
              </a:r>
              <a:endParaRPr lang="en-US" altLang="zh-CN" sz="2000" baseline="30000">
                <a:solidFill>
                  <a:schemeClr val="tx2"/>
                </a:solidFill>
              </a:endParaRPr>
            </a:p>
          </p:txBody>
        </p:sp>
        <p:sp>
          <p:nvSpPr>
            <p:cNvPr id="203847" name="Rectangle 26"/>
            <p:cNvSpPr>
              <a:spLocks noChangeArrowheads="1"/>
            </p:cNvSpPr>
            <p:nvPr/>
          </p:nvSpPr>
          <p:spPr bwMode="auto">
            <a:xfrm>
              <a:off x="912" y="3679"/>
              <a:ext cx="29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solidFill>
                    <a:schemeClr val="tx2"/>
                  </a:solidFill>
                </a:rPr>
                <a:t>苹果酸         草酰乙酸</a:t>
              </a:r>
              <a:endParaRPr lang="zh-CN" altLang="en-US" sz="2000">
                <a:solidFill>
                  <a:schemeClr val="tx2"/>
                </a:solidFill>
              </a:endParaRPr>
            </a:p>
          </p:txBody>
        </p:sp>
        <p:sp>
          <p:nvSpPr>
            <p:cNvPr id="203848" name="Line 27"/>
            <p:cNvSpPr>
              <a:spLocks noChangeShapeType="1"/>
            </p:cNvSpPr>
            <p:nvPr/>
          </p:nvSpPr>
          <p:spPr bwMode="auto">
            <a:xfrm>
              <a:off x="1512" y="3792"/>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28"/>
          <p:cNvGrpSpPr/>
          <p:nvPr/>
        </p:nvGrpSpPr>
        <p:grpSpPr bwMode="auto">
          <a:xfrm>
            <a:off x="2971800" y="5202239"/>
            <a:ext cx="7543800" cy="395287"/>
            <a:chOff x="912" y="3430"/>
            <a:chExt cx="4752" cy="249"/>
          </a:xfrm>
        </p:grpSpPr>
        <p:sp>
          <p:nvSpPr>
            <p:cNvPr id="203841" name="Rectangle 29"/>
            <p:cNvSpPr>
              <a:spLocks noChangeArrowheads="1"/>
            </p:cNvSpPr>
            <p:nvPr/>
          </p:nvSpPr>
          <p:spPr bwMode="auto">
            <a:xfrm>
              <a:off x="4512" y="3430"/>
              <a:ext cx="1152" cy="249"/>
            </a:xfrm>
            <a:prstGeom prst="rect">
              <a:avLst/>
            </a:prstGeom>
            <a:solidFill>
              <a:srgbClr val="FFFF99"/>
            </a:solidFill>
            <a:ln w="12700">
              <a:solidFill>
                <a:srgbClr val="006699"/>
              </a:solidFill>
              <a:miter lim="800000"/>
              <a:headEnd type="none" w="sm" len="sm"/>
              <a:tailEnd type="none" w="sm" len="sm"/>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rgbClr val="FF0066"/>
                  </a:solidFill>
                </a:rPr>
                <a:t>1.5×2</a:t>
              </a:r>
              <a:endParaRPr lang="en-US" altLang="zh-CN" sz="2000">
                <a:solidFill>
                  <a:srgbClr val="FF0066"/>
                </a:solidFill>
              </a:endParaRPr>
            </a:p>
          </p:txBody>
        </p:sp>
        <p:sp>
          <p:nvSpPr>
            <p:cNvPr id="203842" name="Rectangle 30"/>
            <p:cNvSpPr>
              <a:spLocks noChangeArrowheads="1"/>
            </p:cNvSpPr>
            <p:nvPr/>
          </p:nvSpPr>
          <p:spPr bwMode="auto">
            <a:xfrm>
              <a:off x="3840" y="3430"/>
              <a:ext cx="672" cy="249"/>
            </a:xfrm>
            <a:prstGeom prst="rect">
              <a:avLst/>
            </a:prstGeom>
            <a:solidFill>
              <a:srgbClr val="FFFF99"/>
            </a:solidFill>
            <a:ln w="12700">
              <a:solidFill>
                <a:srgbClr val="006699"/>
              </a:solidFill>
              <a:miter lim="800000"/>
              <a:headEnd type="none" w="sm" len="sm"/>
              <a:tailEnd type="none" w="sm" len="sm"/>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rgbClr val="000099"/>
                  </a:solidFill>
                </a:rPr>
                <a:t>FAD</a:t>
              </a:r>
              <a:endParaRPr lang="en-US" altLang="zh-CN" sz="2000">
                <a:solidFill>
                  <a:srgbClr val="000099"/>
                </a:solidFill>
              </a:endParaRPr>
            </a:p>
          </p:txBody>
        </p:sp>
        <p:sp>
          <p:nvSpPr>
            <p:cNvPr id="203843" name="Rectangle 31"/>
            <p:cNvSpPr>
              <a:spLocks noChangeArrowheads="1"/>
            </p:cNvSpPr>
            <p:nvPr/>
          </p:nvSpPr>
          <p:spPr bwMode="auto">
            <a:xfrm>
              <a:off x="912" y="3430"/>
              <a:ext cx="2928" cy="249"/>
            </a:xfrm>
            <a:prstGeom prst="rect">
              <a:avLst/>
            </a:prstGeom>
            <a:solidFill>
              <a:srgbClr val="FFFF99"/>
            </a:solidFill>
            <a:ln w="12700">
              <a:solidFill>
                <a:srgbClr val="006699"/>
              </a:solidFill>
              <a:miter lim="800000"/>
              <a:headEnd type="none" w="sm" len="sm"/>
              <a:tailEnd type="none" w="sm" len="sm"/>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t>琥珀酸         延胡索酸</a:t>
              </a:r>
              <a:endParaRPr lang="zh-CN" altLang="en-US" sz="2000"/>
            </a:p>
          </p:txBody>
        </p:sp>
        <p:sp>
          <p:nvSpPr>
            <p:cNvPr id="203844" name="Line 32"/>
            <p:cNvSpPr>
              <a:spLocks noChangeShapeType="1"/>
            </p:cNvSpPr>
            <p:nvPr/>
          </p:nvSpPr>
          <p:spPr bwMode="auto">
            <a:xfrm>
              <a:off x="1512" y="3552"/>
              <a:ext cx="28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5" name="Group 33"/>
          <p:cNvGrpSpPr/>
          <p:nvPr/>
        </p:nvGrpSpPr>
        <p:grpSpPr bwMode="auto">
          <a:xfrm>
            <a:off x="2971800" y="4806950"/>
            <a:ext cx="7543800" cy="395288"/>
            <a:chOff x="912" y="3181"/>
            <a:chExt cx="4752" cy="249"/>
          </a:xfrm>
        </p:grpSpPr>
        <p:sp>
          <p:nvSpPr>
            <p:cNvPr id="203838" name="Rectangle 34"/>
            <p:cNvSpPr>
              <a:spLocks noChangeArrowheads="1"/>
            </p:cNvSpPr>
            <p:nvPr/>
          </p:nvSpPr>
          <p:spPr bwMode="auto">
            <a:xfrm>
              <a:off x="3833" y="3181"/>
              <a:ext cx="1831" cy="24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solidFill>
                    <a:srgbClr val="0000FF"/>
                  </a:solidFill>
                </a:rPr>
                <a:t>              </a:t>
              </a:r>
              <a:r>
                <a:rPr lang="en-US" altLang="zh-CN" sz="2000">
                  <a:solidFill>
                    <a:srgbClr val="FF0066"/>
                  </a:solidFill>
                </a:rPr>
                <a:t>1×2</a:t>
              </a:r>
              <a:endParaRPr lang="en-US" altLang="zh-CN" sz="2000">
                <a:solidFill>
                  <a:srgbClr val="FF0066"/>
                </a:solidFill>
              </a:endParaRPr>
            </a:p>
          </p:txBody>
        </p:sp>
        <p:sp>
          <p:nvSpPr>
            <p:cNvPr id="203839" name="Rectangle 35"/>
            <p:cNvSpPr>
              <a:spLocks noChangeArrowheads="1"/>
            </p:cNvSpPr>
            <p:nvPr/>
          </p:nvSpPr>
          <p:spPr bwMode="auto">
            <a:xfrm>
              <a:off x="912" y="3181"/>
              <a:ext cx="2928" cy="24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solidFill>
                    <a:srgbClr val="FF0066"/>
                  </a:solidFill>
                  <a:latin typeface="宋体" panose="02010600030101010101" pitchFamily="2" charset="-122"/>
                </a:rPr>
                <a:t>琥珀酰辅酶</a:t>
              </a:r>
              <a:r>
                <a:rPr lang="en-US" altLang="zh-CN" sz="2000">
                  <a:solidFill>
                    <a:srgbClr val="FF0066"/>
                  </a:solidFill>
                  <a:latin typeface="宋体" panose="02010600030101010101" pitchFamily="2" charset="-122"/>
                </a:rPr>
                <a:t>A         </a:t>
              </a:r>
              <a:r>
                <a:rPr lang="zh-CN" altLang="en-US" sz="2000">
                  <a:solidFill>
                    <a:srgbClr val="FF0066"/>
                  </a:solidFill>
                  <a:latin typeface="宋体" panose="02010600030101010101" pitchFamily="2" charset="-122"/>
                </a:rPr>
                <a:t>琥珀酸</a:t>
              </a:r>
              <a:endParaRPr lang="zh-CN" altLang="en-US" sz="2000">
                <a:solidFill>
                  <a:srgbClr val="FF0066"/>
                </a:solidFill>
                <a:latin typeface="宋体" panose="02010600030101010101" pitchFamily="2" charset="-122"/>
              </a:endParaRPr>
            </a:p>
          </p:txBody>
        </p:sp>
        <p:sp>
          <p:nvSpPr>
            <p:cNvPr id="203840" name="Line 36"/>
            <p:cNvSpPr>
              <a:spLocks noChangeShapeType="1"/>
            </p:cNvSpPr>
            <p:nvPr/>
          </p:nvSpPr>
          <p:spPr bwMode="auto">
            <a:xfrm>
              <a:off x="2138" y="3339"/>
              <a:ext cx="28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37"/>
          <p:cNvGrpSpPr/>
          <p:nvPr/>
        </p:nvGrpSpPr>
        <p:grpSpPr bwMode="auto">
          <a:xfrm>
            <a:off x="2971800" y="4411664"/>
            <a:ext cx="7543800" cy="395287"/>
            <a:chOff x="912" y="2932"/>
            <a:chExt cx="4752" cy="249"/>
          </a:xfrm>
        </p:grpSpPr>
        <p:sp>
          <p:nvSpPr>
            <p:cNvPr id="203834" name="Rectangle 38"/>
            <p:cNvSpPr>
              <a:spLocks noChangeArrowheads="1"/>
            </p:cNvSpPr>
            <p:nvPr/>
          </p:nvSpPr>
          <p:spPr bwMode="auto">
            <a:xfrm>
              <a:off x="4512" y="2932"/>
              <a:ext cx="115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rgbClr val="FF0066"/>
                  </a:solidFill>
                </a:rPr>
                <a:t>2.5×2</a:t>
              </a:r>
              <a:endParaRPr lang="en-US" altLang="zh-CN" sz="2000">
                <a:solidFill>
                  <a:srgbClr val="FF0066"/>
                </a:solidFill>
              </a:endParaRPr>
            </a:p>
          </p:txBody>
        </p:sp>
        <p:sp>
          <p:nvSpPr>
            <p:cNvPr id="203835" name="Rectangle 39"/>
            <p:cNvSpPr>
              <a:spLocks noChangeArrowheads="1"/>
            </p:cNvSpPr>
            <p:nvPr/>
          </p:nvSpPr>
          <p:spPr bwMode="auto">
            <a:xfrm>
              <a:off x="3840" y="2932"/>
              <a:ext cx="67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chemeClr val="tx2"/>
                  </a:solidFill>
                </a:rPr>
                <a:t>NAD</a:t>
              </a:r>
              <a:r>
                <a:rPr lang="en-US" altLang="zh-CN" sz="2000" baseline="30000">
                  <a:solidFill>
                    <a:schemeClr val="tx2"/>
                  </a:solidFill>
                </a:rPr>
                <a:t>+</a:t>
              </a:r>
              <a:endParaRPr lang="en-US" altLang="zh-CN" sz="2000" baseline="30000">
                <a:solidFill>
                  <a:schemeClr val="tx2"/>
                </a:solidFill>
              </a:endParaRPr>
            </a:p>
          </p:txBody>
        </p:sp>
        <p:sp>
          <p:nvSpPr>
            <p:cNvPr id="203836" name="Rectangle 40"/>
            <p:cNvSpPr>
              <a:spLocks noChangeArrowheads="1"/>
            </p:cNvSpPr>
            <p:nvPr/>
          </p:nvSpPr>
          <p:spPr bwMode="auto">
            <a:xfrm>
              <a:off x="912" y="2932"/>
              <a:ext cx="29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en-US" altLang="zh-CN" sz="2000">
                  <a:solidFill>
                    <a:schemeClr val="tx2"/>
                  </a:solidFill>
                  <a:latin typeface="Symbol" panose="05050102010706020507" pitchFamily="18" charset="2"/>
                </a:rPr>
                <a:t>a</a:t>
              </a:r>
              <a:r>
                <a:rPr lang="en-US" altLang="zh-CN" sz="2000">
                  <a:solidFill>
                    <a:schemeClr val="tx2"/>
                  </a:solidFill>
                </a:rPr>
                <a:t>-</a:t>
              </a:r>
              <a:r>
                <a:rPr lang="zh-CN" altLang="en-US" sz="2000">
                  <a:solidFill>
                    <a:schemeClr val="tx2"/>
                  </a:solidFill>
                </a:rPr>
                <a:t>酮戊二酸         琥珀酰辅酶</a:t>
              </a:r>
              <a:r>
                <a:rPr lang="en-US" altLang="zh-CN" sz="2000">
                  <a:solidFill>
                    <a:schemeClr val="tx2"/>
                  </a:solidFill>
                </a:rPr>
                <a:t>A</a:t>
              </a:r>
              <a:endParaRPr lang="en-US" altLang="zh-CN" sz="2000">
                <a:solidFill>
                  <a:schemeClr val="tx2"/>
                </a:solidFill>
              </a:endParaRPr>
            </a:p>
          </p:txBody>
        </p:sp>
        <p:sp>
          <p:nvSpPr>
            <p:cNvPr id="203837" name="Line 41"/>
            <p:cNvSpPr>
              <a:spLocks noChangeShapeType="1"/>
            </p:cNvSpPr>
            <p:nvPr/>
          </p:nvSpPr>
          <p:spPr bwMode="auto">
            <a:xfrm>
              <a:off x="1812" y="3060"/>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Group 42"/>
          <p:cNvGrpSpPr/>
          <p:nvPr/>
        </p:nvGrpSpPr>
        <p:grpSpPr bwMode="auto">
          <a:xfrm>
            <a:off x="2971800" y="3960813"/>
            <a:ext cx="7543800" cy="450850"/>
            <a:chOff x="912" y="2648"/>
            <a:chExt cx="4752" cy="284"/>
          </a:xfrm>
        </p:grpSpPr>
        <p:sp>
          <p:nvSpPr>
            <p:cNvPr id="203830" name="Rectangle 43"/>
            <p:cNvSpPr>
              <a:spLocks noChangeArrowheads="1"/>
            </p:cNvSpPr>
            <p:nvPr/>
          </p:nvSpPr>
          <p:spPr bwMode="auto">
            <a:xfrm>
              <a:off x="4512" y="2648"/>
              <a:ext cx="1152"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rgbClr val="FF0066"/>
                  </a:solidFill>
                </a:rPr>
                <a:t>2.5×2</a:t>
              </a:r>
              <a:endParaRPr lang="en-US" altLang="zh-CN" sz="2000">
                <a:solidFill>
                  <a:srgbClr val="FF0066"/>
                </a:solidFill>
              </a:endParaRPr>
            </a:p>
          </p:txBody>
        </p:sp>
        <p:sp>
          <p:nvSpPr>
            <p:cNvPr id="203831" name="Rectangle 44"/>
            <p:cNvSpPr>
              <a:spLocks noChangeArrowheads="1"/>
            </p:cNvSpPr>
            <p:nvPr/>
          </p:nvSpPr>
          <p:spPr bwMode="auto">
            <a:xfrm>
              <a:off x="3840" y="2648"/>
              <a:ext cx="672"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chemeClr val="tx2"/>
                  </a:solidFill>
                </a:rPr>
                <a:t>NAD</a:t>
              </a:r>
              <a:r>
                <a:rPr lang="en-US" altLang="zh-CN" sz="2000" baseline="30000">
                  <a:solidFill>
                    <a:schemeClr val="tx2"/>
                  </a:solidFill>
                </a:rPr>
                <a:t>+</a:t>
              </a:r>
              <a:endParaRPr lang="en-US" altLang="zh-CN" sz="2000" baseline="30000">
                <a:solidFill>
                  <a:schemeClr val="tx2"/>
                </a:solidFill>
              </a:endParaRPr>
            </a:p>
          </p:txBody>
        </p:sp>
        <p:sp>
          <p:nvSpPr>
            <p:cNvPr id="203832" name="Rectangle 45"/>
            <p:cNvSpPr>
              <a:spLocks noChangeArrowheads="1"/>
            </p:cNvSpPr>
            <p:nvPr/>
          </p:nvSpPr>
          <p:spPr bwMode="auto">
            <a:xfrm>
              <a:off x="912" y="2648"/>
              <a:ext cx="292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solidFill>
                    <a:schemeClr val="tx2"/>
                  </a:solidFill>
                </a:rPr>
                <a:t>异柠檬酸         </a:t>
              </a:r>
              <a:r>
                <a:rPr lang="en-US" altLang="zh-CN" sz="2000">
                  <a:solidFill>
                    <a:schemeClr val="tx2"/>
                  </a:solidFill>
                  <a:latin typeface="Symbol" panose="05050102010706020507" pitchFamily="18" charset="2"/>
                </a:rPr>
                <a:t>a-</a:t>
              </a:r>
              <a:r>
                <a:rPr lang="zh-CN" altLang="en-US" sz="2000">
                  <a:solidFill>
                    <a:schemeClr val="tx2"/>
                  </a:solidFill>
                  <a:latin typeface="Symbol" panose="05050102010706020507" pitchFamily="18" charset="2"/>
                </a:rPr>
                <a:t>酮戊二酸</a:t>
              </a:r>
              <a:endParaRPr lang="zh-CN" altLang="en-US" sz="2000">
                <a:solidFill>
                  <a:schemeClr val="tx2"/>
                </a:solidFill>
                <a:latin typeface="Symbol" panose="05050102010706020507" pitchFamily="18" charset="2"/>
              </a:endParaRPr>
            </a:p>
          </p:txBody>
        </p:sp>
        <p:sp>
          <p:nvSpPr>
            <p:cNvPr id="203833" name="Line 46"/>
            <p:cNvSpPr>
              <a:spLocks noChangeShapeType="1"/>
            </p:cNvSpPr>
            <p:nvPr/>
          </p:nvSpPr>
          <p:spPr bwMode="auto">
            <a:xfrm>
              <a:off x="1656" y="2784"/>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47"/>
          <p:cNvGrpSpPr/>
          <p:nvPr/>
        </p:nvGrpSpPr>
        <p:grpSpPr bwMode="auto">
          <a:xfrm>
            <a:off x="2971800" y="3565525"/>
            <a:ext cx="7543800" cy="395288"/>
            <a:chOff x="912" y="2399"/>
            <a:chExt cx="4752" cy="249"/>
          </a:xfrm>
        </p:grpSpPr>
        <p:sp>
          <p:nvSpPr>
            <p:cNvPr id="203826" name="Rectangle 48"/>
            <p:cNvSpPr>
              <a:spLocks noChangeArrowheads="1"/>
            </p:cNvSpPr>
            <p:nvPr/>
          </p:nvSpPr>
          <p:spPr bwMode="auto">
            <a:xfrm>
              <a:off x="4512" y="2399"/>
              <a:ext cx="115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rgbClr val="FF0066"/>
                  </a:solidFill>
                </a:rPr>
                <a:t>2.5×2</a:t>
              </a:r>
              <a:endParaRPr lang="en-US" altLang="zh-CN" sz="2000">
                <a:solidFill>
                  <a:srgbClr val="FF0066"/>
                </a:solidFill>
              </a:endParaRPr>
            </a:p>
          </p:txBody>
        </p:sp>
        <p:sp>
          <p:nvSpPr>
            <p:cNvPr id="203827" name="Rectangle 49"/>
            <p:cNvSpPr>
              <a:spLocks noChangeArrowheads="1"/>
            </p:cNvSpPr>
            <p:nvPr/>
          </p:nvSpPr>
          <p:spPr bwMode="auto">
            <a:xfrm>
              <a:off x="3840" y="2399"/>
              <a:ext cx="67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chemeClr val="tx2"/>
                  </a:solidFill>
                </a:rPr>
                <a:t>NAD</a:t>
              </a:r>
              <a:r>
                <a:rPr lang="en-US" altLang="zh-CN" sz="2000" baseline="30000">
                  <a:solidFill>
                    <a:schemeClr val="tx2"/>
                  </a:solidFill>
                </a:rPr>
                <a:t>+</a:t>
              </a:r>
              <a:endParaRPr lang="en-US" altLang="zh-CN" sz="2000" baseline="30000">
                <a:solidFill>
                  <a:schemeClr val="tx2"/>
                </a:solidFill>
              </a:endParaRPr>
            </a:p>
          </p:txBody>
        </p:sp>
        <p:sp>
          <p:nvSpPr>
            <p:cNvPr id="203828" name="Rectangle 50"/>
            <p:cNvSpPr>
              <a:spLocks noChangeArrowheads="1"/>
            </p:cNvSpPr>
            <p:nvPr/>
          </p:nvSpPr>
          <p:spPr bwMode="auto">
            <a:xfrm>
              <a:off x="912" y="2399"/>
              <a:ext cx="29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solidFill>
                    <a:schemeClr val="tx2"/>
                  </a:solidFill>
                </a:rPr>
                <a:t>丙酮酸         乙酰辅酶</a:t>
              </a:r>
              <a:r>
                <a:rPr lang="en-US" altLang="zh-CN" sz="2000">
                  <a:solidFill>
                    <a:schemeClr val="tx2"/>
                  </a:solidFill>
                </a:rPr>
                <a:t>A</a:t>
              </a:r>
              <a:endParaRPr lang="en-US" altLang="zh-CN" sz="2000">
                <a:solidFill>
                  <a:schemeClr val="tx2"/>
                </a:solidFill>
              </a:endParaRPr>
            </a:p>
          </p:txBody>
        </p:sp>
        <p:sp>
          <p:nvSpPr>
            <p:cNvPr id="203829" name="Line 51"/>
            <p:cNvSpPr>
              <a:spLocks noChangeShapeType="1"/>
            </p:cNvSpPr>
            <p:nvPr/>
          </p:nvSpPr>
          <p:spPr bwMode="auto">
            <a:xfrm>
              <a:off x="1512" y="2532"/>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 name="Group 52"/>
          <p:cNvGrpSpPr/>
          <p:nvPr/>
        </p:nvGrpSpPr>
        <p:grpSpPr bwMode="auto">
          <a:xfrm>
            <a:off x="2971800" y="3170239"/>
            <a:ext cx="7543800" cy="395287"/>
            <a:chOff x="912" y="2150"/>
            <a:chExt cx="4752" cy="249"/>
          </a:xfrm>
        </p:grpSpPr>
        <p:sp>
          <p:nvSpPr>
            <p:cNvPr id="203823" name="Rectangle 53"/>
            <p:cNvSpPr>
              <a:spLocks noChangeArrowheads="1"/>
            </p:cNvSpPr>
            <p:nvPr/>
          </p:nvSpPr>
          <p:spPr bwMode="auto">
            <a:xfrm>
              <a:off x="3787" y="2150"/>
              <a:ext cx="1877" cy="24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solidFill>
                    <a:srgbClr val="FF0066"/>
                  </a:solidFill>
                </a:rPr>
                <a:t>               </a:t>
              </a:r>
              <a:r>
                <a:rPr lang="en-US" altLang="zh-CN" sz="2000">
                  <a:solidFill>
                    <a:srgbClr val="FF0066"/>
                  </a:solidFill>
                </a:rPr>
                <a:t>1×2</a:t>
              </a:r>
              <a:endParaRPr lang="en-US" altLang="zh-CN" sz="2000">
                <a:solidFill>
                  <a:srgbClr val="FF0066"/>
                </a:solidFill>
              </a:endParaRPr>
            </a:p>
          </p:txBody>
        </p:sp>
        <p:sp>
          <p:nvSpPr>
            <p:cNvPr id="203824" name="Rectangle 54"/>
            <p:cNvSpPr>
              <a:spLocks noChangeArrowheads="1"/>
            </p:cNvSpPr>
            <p:nvPr/>
          </p:nvSpPr>
          <p:spPr bwMode="auto">
            <a:xfrm>
              <a:off x="912" y="2150"/>
              <a:ext cx="2928" cy="24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sz="2000">
                  <a:solidFill>
                    <a:srgbClr val="FF0066"/>
                  </a:solidFill>
                </a:rPr>
                <a:t>磷酸烯醇式丙酮酸         丙酮酸</a:t>
              </a:r>
              <a:endParaRPr lang="zh-CN" altLang="en-US" sz="2000">
                <a:solidFill>
                  <a:srgbClr val="FF0066"/>
                </a:solidFill>
              </a:endParaRPr>
            </a:p>
          </p:txBody>
        </p:sp>
        <p:sp>
          <p:nvSpPr>
            <p:cNvPr id="203825" name="Line 55"/>
            <p:cNvSpPr>
              <a:spLocks noChangeShapeType="1"/>
            </p:cNvSpPr>
            <p:nvPr/>
          </p:nvSpPr>
          <p:spPr bwMode="auto">
            <a:xfrm>
              <a:off x="2268" y="2280"/>
              <a:ext cx="28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0" name="Group 56"/>
          <p:cNvGrpSpPr/>
          <p:nvPr/>
        </p:nvGrpSpPr>
        <p:grpSpPr bwMode="auto">
          <a:xfrm>
            <a:off x="2971800" y="2774950"/>
            <a:ext cx="7543800" cy="395288"/>
            <a:chOff x="912" y="1901"/>
            <a:chExt cx="4752" cy="249"/>
          </a:xfrm>
        </p:grpSpPr>
        <p:sp>
          <p:nvSpPr>
            <p:cNvPr id="203819" name="Rectangle 57"/>
            <p:cNvSpPr>
              <a:spLocks noChangeArrowheads="1"/>
            </p:cNvSpPr>
            <p:nvPr/>
          </p:nvSpPr>
          <p:spPr bwMode="auto">
            <a:xfrm>
              <a:off x="3833" y="1901"/>
              <a:ext cx="1831" cy="24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000">
                  <a:solidFill>
                    <a:srgbClr val="FF0066"/>
                  </a:solidFill>
                </a:rPr>
                <a:t>              </a:t>
              </a:r>
              <a:r>
                <a:rPr lang="en-US" altLang="zh-CN" sz="2000">
                  <a:solidFill>
                    <a:srgbClr val="FF0066"/>
                  </a:solidFill>
                </a:rPr>
                <a:t>1×2</a:t>
              </a:r>
              <a:endParaRPr lang="en-US" altLang="zh-CN" sz="2000">
                <a:solidFill>
                  <a:srgbClr val="FF0066"/>
                </a:solidFill>
              </a:endParaRPr>
            </a:p>
          </p:txBody>
        </p:sp>
        <p:grpSp>
          <p:nvGrpSpPr>
            <p:cNvPr id="203820" name="Group 58"/>
            <p:cNvGrpSpPr/>
            <p:nvPr/>
          </p:nvGrpSpPr>
          <p:grpSpPr bwMode="auto">
            <a:xfrm>
              <a:off x="912" y="1901"/>
              <a:ext cx="2928" cy="249"/>
              <a:chOff x="912" y="1901"/>
              <a:chExt cx="2928" cy="249"/>
            </a:xfrm>
          </p:grpSpPr>
          <p:sp>
            <p:nvSpPr>
              <p:cNvPr id="203821" name="Rectangle 59"/>
              <p:cNvSpPr>
                <a:spLocks noChangeArrowheads="1"/>
              </p:cNvSpPr>
              <p:nvPr/>
            </p:nvSpPr>
            <p:spPr bwMode="auto">
              <a:xfrm>
                <a:off x="912" y="1901"/>
                <a:ext cx="2928" cy="249"/>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en-US" altLang="zh-CN" sz="2000">
                    <a:solidFill>
                      <a:srgbClr val="FF0066"/>
                    </a:solidFill>
                  </a:rPr>
                  <a:t>1,3-</a:t>
                </a:r>
                <a:r>
                  <a:rPr lang="zh-CN" altLang="en-US" sz="2000">
                    <a:solidFill>
                      <a:srgbClr val="FF0066"/>
                    </a:solidFill>
                  </a:rPr>
                  <a:t>二磷酸甘油酸          </a:t>
                </a:r>
                <a:r>
                  <a:rPr lang="en-US" altLang="zh-CN" sz="2000">
                    <a:solidFill>
                      <a:srgbClr val="FF0066"/>
                    </a:solidFill>
                  </a:rPr>
                  <a:t>3-</a:t>
                </a:r>
                <a:r>
                  <a:rPr lang="zh-CN" altLang="en-US" sz="2000">
                    <a:solidFill>
                      <a:srgbClr val="FF0066"/>
                    </a:solidFill>
                  </a:rPr>
                  <a:t>磷酸甘油酸</a:t>
                </a:r>
                <a:endParaRPr lang="zh-CN" altLang="en-US" sz="2000">
                  <a:solidFill>
                    <a:srgbClr val="FF0066"/>
                  </a:solidFill>
                </a:endParaRPr>
              </a:p>
            </p:txBody>
          </p:sp>
          <p:sp>
            <p:nvSpPr>
              <p:cNvPr id="203822" name="Line 60"/>
              <p:cNvSpPr>
                <a:spLocks noChangeShapeType="1"/>
              </p:cNvSpPr>
              <p:nvPr/>
            </p:nvSpPr>
            <p:spPr bwMode="auto">
              <a:xfrm>
                <a:off x="2268" y="2028"/>
                <a:ext cx="28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2" name="Group 61"/>
          <p:cNvGrpSpPr/>
          <p:nvPr/>
        </p:nvGrpSpPr>
        <p:grpSpPr bwMode="auto">
          <a:xfrm>
            <a:off x="3000376" y="2276476"/>
            <a:ext cx="7515225" cy="549275"/>
            <a:chOff x="930" y="1587"/>
            <a:chExt cx="4734" cy="346"/>
          </a:xfrm>
        </p:grpSpPr>
        <p:sp>
          <p:nvSpPr>
            <p:cNvPr id="203814" name="Rectangle 62"/>
            <p:cNvSpPr>
              <a:spLocks noChangeArrowheads="1"/>
            </p:cNvSpPr>
            <p:nvPr/>
          </p:nvSpPr>
          <p:spPr bwMode="auto">
            <a:xfrm>
              <a:off x="4512" y="1587"/>
              <a:ext cx="115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dirty="0">
                  <a:solidFill>
                    <a:srgbClr val="FF0066"/>
                  </a:solidFill>
                </a:rPr>
                <a:t>2.5/1.5×2</a:t>
              </a:r>
              <a:endParaRPr lang="en-US" altLang="zh-CN" sz="2000" dirty="0">
                <a:solidFill>
                  <a:srgbClr val="FF0066"/>
                </a:solidFill>
              </a:endParaRPr>
            </a:p>
          </p:txBody>
        </p:sp>
        <p:sp>
          <p:nvSpPr>
            <p:cNvPr id="203815" name="Rectangle 63"/>
            <p:cNvSpPr>
              <a:spLocks noChangeArrowheads="1"/>
            </p:cNvSpPr>
            <p:nvPr/>
          </p:nvSpPr>
          <p:spPr bwMode="auto">
            <a:xfrm>
              <a:off x="3833" y="1661"/>
              <a:ext cx="67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solidFill>
                    <a:schemeClr val="tx2"/>
                  </a:solidFill>
                </a:rPr>
                <a:t>NAD</a:t>
              </a:r>
              <a:r>
                <a:rPr lang="en-US" altLang="zh-CN" sz="2000" baseline="30000">
                  <a:solidFill>
                    <a:schemeClr val="tx2"/>
                  </a:solidFill>
                </a:rPr>
                <a:t>+</a:t>
              </a:r>
              <a:endParaRPr lang="en-US" altLang="zh-CN" sz="2000" baseline="30000">
                <a:solidFill>
                  <a:schemeClr val="tx2"/>
                </a:solidFill>
              </a:endParaRPr>
            </a:p>
          </p:txBody>
        </p:sp>
        <p:grpSp>
          <p:nvGrpSpPr>
            <p:cNvPr id="203816" name="Group 64"/>
            <p:cNvGrpSpPr/>
            <p:nvPr/>
          </p:nvGrpSpPr>
          <p:grpSpPr bwMode="auto">
            <a:xfrm>
              <a:off x="930" y="1661"/>
              <a:ext cx="2903" cy="249"/>
              <a:chOff x="930" y="1661"/>
              <a:chExt cx="2928" cy="249"/>
            </a:xfrm>
          </p:grpSpPr>
          <p:sp>
            <p:nvSpPr>
              <p:cNvPr id="203817" name="Rectangle 65"/>
              <p:cNvSpPr>
                <a:spLocks noChangeArrowheads="1"/>
              </p:cNvSpPr>
              <p:nvPr/>
            </p:nvSpPr>
            <p:spPr bwMode="auto">
              <a:xfrm>
                <a:off x="930" y="1661"/>
                <a:ext cx="29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en-US" altLang="zh-CN" sz="2000">
                    <a:solidFill>
                      <a:schemeClr val="tx2"/>
                    </a:solidFill>
                  </a:rPr>
                  <a:t>3-</a:t>
                </a:r>
                <a:r>
                  <a:rPr lang="zh-CN" altLang="en-US" sz="2000">
                    <a:solidFill>
                      <a:schemeClr val="tx2"/>
                    </a:solidFill>
                  </a:rPr>
                  <a:t>磷酸甘油醛         </a:t>
                </a:r>
                <a:r>
                  <a:rPr lang="en-US" altLang="zh-CN" sz="2000">
                    <a:solidFill>
                      <a:schemeClr val="tx2"/>
                    </a:solidFill>
                  </a:rPr>
                  <a:t>1,3-</a:t>
                </a:r>
                <a:r>
                  <a:rPr lang="zh-CN" altLang="en-US" sz="2000">
                    <a:solidFill>
                      <a:schemeClr val="tx2"/>
                    </a:solidFill>
                  </a:rPr>
                  <a:t>二磷酸甘油酸</a:t>
                </a:r>
                <a:endParaRPr lang="zh-CN" altLang="en-US" sz="2000">
                  <a:solidFill>
                    <a:schemeClr val="tx2"/>
                  </a:solidFill>
                </a:endParaRPr>
              </a:p>
            </p:txBody>
          </p:sp>
          <p:sp>
            <p:nvSpPr>
              <p:cNvPr id="203818" name="Line 66"/>
              <p:cNvSpPr>
                <a:spLocks noChangeShapeType="1"/>
              </p:cNvSpPr>
              <p:nvPr/>
            </p:nvSpPr>
            <p:spPr bwMode="auto">
              <a:xfrm>
                <a:off x="2010" y="1776"/>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4" name="Group 67"/>
          <p:cNvGrpSpPr/>
          <p:nvPr/>
        </p:nvGrpSpPr>
        <p:grpSpPr bwMode="auto">
          <a:xfrm>
            <a:off x="2927350" y="1984375"/>
            <a:ext cx="7543800" cy="395288"/>
            <a:chOff x="912" y="1403"/>
            <a:chExt cx="4752" cy="249"/>
          </a:xfrm>
        </p:grpSpPr>
        <p:sp>
          <p:nvSpPr>
            <p:cNvPr id="203811" name="Rectangle 68"/>
            <p:cNvSpPr>
              <a:spLocks noChangeArrowheads="1"/>
            </p:cNvSpPr>
            <p:nvPr/>
          </p:nvSpPr>
          <p:spPr bwMode="auto">
            <a:xfrm>
              <a:off x="4512" y="1403"/>
              <a:ext cx="115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000"/>
                <a:t>  -1</a:t>
              </a:r>
              <a:endParaRPr lang="en-US" altLang="zh-CN" sz="2000"/>
            </a:p>
          </p:txBody>
        </p:sp>
        <p:sp>
          <p:nvSpPr>
            <p:cNvPr id="203812" name="Rectangle 69"/>
            <p:cNvSpPr>
              <a:spLocks noChangeArrowheads="1"/>
            </p:cNvSpPr>
            <p:nvPr/>
          </p:nvSpPr>
          <p:spPr bwMode="auto">
            <a:xfrm>
              <a:off x="912" y="1403"/>
              <a:ext cx="29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en-US" altLang="zh-CN" sz="2000"/>
                <a:t> 6-</a:t>
              </a:r>
              <a:r>
                <a:rPr lang="zh-CN" altLang="en-US" sz="2000"/>
                <a:t>磷酸果糖            </a:t>
              </a:r>
              <a:r>
                <a:rPr lang="en-US" altLang="zh-CN" sz="2000"/>
                <a:t>1,6-</a:t>
              </a:r>
              <a:r>
                <a:rPr lang="zh-CN" altLang="en-US" sz="2000"/>
                <a:t>二磷酸果糖</a:t>
              </a:r>
              <a:endParaRPr lang="zh-CN" altLang="en-US" sz="2000"/>
            </a:p>
          </p:txBody>
        </p:sp>
        <p:sp>
          <p:nvSpPr>
            <p:cNvPr id="203813" name="Line 70"/>
            <p:cNvSpPr>
              <a:spLocks noChangeShapeType="1"/>
            </p:cNvSpPr>
            <p:nvPr/>
          </p:nvSpPr>
          <p:spPr bwMode="auto">
            <a:xfrm>
              <a:off x="1992" y="1524"/>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03806" name="Line 71"/>
          <p:cNvSpPr>
            <a:spLocks noChangeShapeType="1"/>
          </p:cNvSpPr>
          <p:nvPr/>
        </p:nvSpPr>
        <p:spPr bwMode="auto">
          <a:xfrm>
            <a:off x="1703388" y="1601788"/>
            <a:ext cx="8839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07" name="Line 72"/>
          <p:cNvSpPr>
            <a:spLocks noChangeShapeType="1"/>
          </p:cNvSpPr>
          <p:nvPr/>
        </p:nvSpPr>
        <p:spPr bwMode="auto">
          <a:xfrm>
            <a:off x="1703388" y="6426200"/>
            <a:ext cx="8839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08" name="Line 73"/>
          <p:cNvSpPr>
            <a:spLocks noChangeShapeType="1"/>
          </p:cNvSpPr>
          <p:nvPr/>
        </p:nvSpPr>
        <p:spPr bwMode="auto">
          <a:xfrm>
            <a:off x="1828800" y="3546475"/>
            <a:ext cx="8839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09" name="Line 74"/>
          <p:cNvSpPr>
            <a:spLocks noChangeShapeType="1"/>
          </p:cNvSpPr>
          <p:nvPr/>
        </p:nvSpPr>
        <p:spPr bwMode="auto">
          <a:xfrm>
            <a:off x="1828800" y="3978275"/>
            <a:ext cx="8839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03810" name="Line 75"/>
          <p:cNvSpPr>
            <a:spLocks noChangeShapeType="1"/>
          </p:cNvSpPr>
          <p:nvPr/>
        </p:nvSpPr>
        <p:spPr bwMode="auto">
          <a:xfrm>
            <a:off x="1703388" y="5994400"/>
            <a:ext cx="8839200"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630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63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p:bldP spid="226313" grpId="0"/>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7874" name="Picture 6"/>
          <p:cNvPicPr>
            <a:picLocks noChangeAspect="1" noChangeArrowheads="1"/>
          </p:cNvPicPr>
          <p:nvPr/>
        </p:nvPicPr>
        <p:blipFill>
          <a:blip r:embed="rId1">
            <a:extLst>
              <a:ext uri="{28A0092B-C50C-407E-A947-70E740481C1C}">
                <a14:useLocalDpi xmlns:a14="http://schemas.microsoft.com/office/drawing/2010/main" val="0"/>
              </a:ext>
            </a:extLst>
          </a:blip>
          <a:srcRect l="16251" t="11980" r="24400" b="33675"/>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4727848" y="3167390"/>
            <a:ext cx="2376264" cy="523220"/>
          </a:xfrm>
          <a:prstGeom prst="rect">
            <a:avLst/>
          </a:prstGeom>
          <a:solidFill>
            <a:schemeClr val="bg1"/>
          </a:solidFill>
        </p:spPr>
        <p:txBody>
          <a:bodyPr wrap="square" rtlCol="0">
            <a:spAutoFit/>
          </a:bodyPr>
          <a:lstStyle/>
          <a:p>
            <a:r>
              <a:rPr lang="en-US" altLang="zh-CN" sz="2800" dirty="0">
                <a:solidFill>
                  <a:srgbClr val="0000FF"/>
                </a:solidFill>
              </a:rPr>
              <a:t>TCA cycle </a:t>
            </a:r>
            <a:endParaRPr lang="zh-CN" altLang="en-US" sz="2800" dirty="0">
              <a:solidFill>
                <a:srgbClr val="0000FF"/>
              </a:solidFill>
            </a:endParaRPr>
          </a:p>
        </p:txBody>
      </p:sp>
    </p:spTree>
  </p:cSld>
  <p:clrMapOvr>
    <a:masterClrMapping/>
  </p:clrMapOvr>
  <p:transition spd="med">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10"/>
          <p:cNvGrpSpPr/>
          <p:nvPr/>
        </p:nvGrpSpPr>
        <p:grpSpPr bwMode="auto">
          <a:xfrm>
            <a:off x="3449638" y="4695826"/>
            <a:ext cx="5886450" cy="1254125"/>
            <a:chOff x="975" y="2248"/>
            <a:chExt cx="3708" cy="790"/>
          </a:xfrm>
        </p:grpSpPr>
        <p:sp>
          <p:nvSpPr>
            <p:cNvPr id="209946" name="Text Box 11"/>
            <p:cNvSpPr txBox="1">
              <a:spLocks noChangeArrowheads="1"/>
            </p:cNvSpPr>
            <p:nvPr/>
          </p:nvSpPr>
          <p:spPr bwMode="auto">
            <a:xfrm>
              <a:off x="975" y="2485"/>
              <a:ext cx="9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rgbClr val="000099"/>
                  </a:solidFill>
                  <a:latin typeface="Arial" panose="020B0604020202020204" pitchFamily="34" charset="0"/>
                  <a:ea typeface="华文楷体" panose="02010600040101010101" pitchFamily="2" charset="-122"/>
                </a:rPr>
                <a:t>苹果酸  </a:t>
              </a:r>
              <a:endParaRPr kumimoji="1" lang="zh-CN" altLang="en-US" sz="2800">
                <a:solidFill>
                  <a:srgbClr val="000099"/>
                </a:solidFill>
                <a:latin typeface="Arial" panose="020B0604020202020204" pitchFamily="34" charset="0"/>
                <a:ea typeface="华文楷体" panose="02010600040101010101" pitchFamily="2" charset="-122"/>
              </a:endParaRPr>
            </a:p>
          </p:txBody>
        </p:sp>
        <p:sp>
          <p:nvSpPr>
            <p:cNvPr id="209947" name="Text Box 12"/>
            <p:cNvSpPr txBox="1">
              <a:spLocks noChangeArrowheads="1"/>
            </p:cNvSpPr>
            <p:nvPr/>
          </p:nvSpPr>
          <p:spPr bwMode="auto">
            <a:xfrm>
              <a:off x="2200" y="2711"/>
              <a:ext cx="11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苹果酸酶  </a:t>
              </a:r>
              <a:endParaRPr kumimoji="1" lang="zh-CN" altLang="en-US" sz="2800">
                <a:latin typeface="Arial" panose="020B0604020202020204" pitchFamily="34" charset="0"/>
                <a:ea typeface="华文楷体" panose="02010600040101010101" pitchFamily="2" charset="-122"/>
              </a:endParaRPr>
            </a:p>
          </p:txBody>
        </p:sp>
        <p:sp>
          <p:nvSpPr>
            <p:cNvPr id="209948" name="Rectangle 13"/>
            <p:cNvSpPr>
              <a:spLocks noChangeArrowheads="1"/>
            </p:cNvSpPr>
            <p:nvPr/>
          </p:nvSpPr>
          <p:spPr bwMode="auto">
            <a:xfrm>
              <a:off x="3833" y="2485"/>
              <a:ext cx="8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chemeClr val="tx2"/>
                  </a:solidFill>
                  <a:latin typeface="Arial" panose="020B0604020202020204" pitchFamily="34" charset="0"/>
                  <a:ea typeface="华文楷体" panose="02010600040101010101" pitchFamily="2" charset="-122"/>
                </a:rPr>
                <a:t>丙酮酸 </a:t>
              </a:r>
              <a:endParaRPr kumimoji="1" lang="zh-CN" altLang="en-US" sz="2800">
                <a:solidFill>
                  <a:schemeClr val="tx2"/>
                </a:solidFill>
                <a:latin typeface="Arial" panose="020B0604020202020204" pitchFamily="34" charset="0"/>
                <a:ea typeface="华文楷体" panose="02010600040101010101" pitchFamily="2" charset="-122"/>
              </a:endParaRPr>
            </a:p>
          </p:txBody>
        </p:sp>
        <p:sp>
          <p:nvSpPr>
            <p:cNvPr id="209949" name="Line 14"/>
            <p:cNvSpPr>
              <a:spLocks noChangeShapeType="1"/>
            </p:cNvSpPr>
            <p:nvPr/>
          </p:nvSpPr>
          <p:spPr bwMode="auto">
            <a:xfrm>
              <a:off x="1746" y="2659"/>
              <a:ext cx="2087"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9950" name="Line 15"/>
            <p:cNvSpPr>
              <a:spLocks noChangeShapeType="1"/>
            </p:cNvSpPr>
            <p:nvPr/>
          </p:nvSpPr>
          <p:spPr bwMode="auto">
            <a:xfrm flipV="1">
              <a:off x="3152" y="2481"/>
              <a:ext cx="267" cy="178"/>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09951" name="Text Box 16"/>
            <p:cNvSpPr txBox="1">
              <a:spLocks noChangeArrowheads="1"/>
            </p:cNvSpPr>
            <p:nvPr/>
          </p:nvSpPr>
          <p:spPr bwMode="auto">
            <a:xfrm>
              <a:off x="3296" y="2254"/>
              <a:ext cx="52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5D2785"/>
                  </a:solidFill>
                  <a:latin typeface="Arial" panose="020B0604020202020204" pitchFamily="34" charset="0"/>
                  <a:ea typeface="华文楷体" panose="02010600040101010101" pitchFamily="2" charset="-122"/>
                </a:rPr>
                <a:t>  CO</a:t>
              </a:r>
              <a:r>
                <a:rPr kumimoji="1" lang="en-US" altLang="zh-CN" sz="1800" baseline="-25000">
                  <a:solidFill>
                    <a:srgbClr val="5D2785"/>
                  </a:solidFill>
                  <a:latin typeface="Arial" panose="020B0604020202020204" pitchFamily="34" charset="0"/>
                  <a:ea typeface="华文楷体" panose="02010600040101010101" pitchFamily="2" charset="-122"/>
                </a:rPr>
                <a:t>2  </a:t>
              </a:r>
              <a:endParaRPr kumimoji="1" lang="en-US" altLang="zh-CN" sz="1800" baseline="-25000">
                <a:solidFill>
                  <a:srgbClr val="5D2785"/>
                </a:solidFill>
                <a:latin typeface="Arial" panose="020B0604020202020204" pitchFamily="34" charset="0"/>
                <a:ea typeface="华文楷体" panose="02010600040101010101" pitchFamily="2" charset="-122"/>
              </a:endParaRPr>
            </a:p>
          </p:txBody>
        </p:sp>
        <p:sp>
          <p:nvSpPr>
            <p:cNvPr id="209952" name="Arc 17"/>
            <p:cNvSpPr/>
            <p:nvPr/>
          </p:nvSpPr>
          <p:spPr bwMode="auto">
            <a:xfrm>
              <a:off x="1882" y="2342"/>
              <a:ext cx="912" cy="303"/>
            </a:xfrm>
            <a:custGeom>
              <a:avLst/>
              <a:gdLst>
                <a:gd name="T0" fmla="*/ 0 w 38783"/>
                <a:gd name="T1" fmla="*/ 0 h 21600"/>
                <a:gd name="T2" fmla="*/ 0 w 38783"/>
                <a:gd name="T3" fmla="*/ 0 h 21600"/>
                <a:gd name="T4" fmla="*/ 0 w 38783"/>
                <a:gd name="T5" fmla="*/ 0 h 21600"/>
                <a:gd name="T6" fmla="*/ 0 60000 65536"/>
                <a:gd name="T7" fmla="*/ 0 60000 65536"/>
                <a:gd name="T8" fmla="*/ 0 60000 65536"/>
                <a:gd name="T9" fmla="*/ 0 w 38783"/>
                <a:gd name="T10" fmla="*/ 0 h 21600"/>
                <a:gd name="T11" fmla="*/ 38783 w 38783"/>
                <a:gd name="T12" fmla="*/ 21600 h 21600"/>
              </a:gdLst>
              <a:ahLst/>
              <a:cxnLst>
                <a:cxn ang="T6">
                  <a:pos x="T0" y="T1"/>
                </a:cxn>
                <a:cxn ang="T7">
                  <a:pos x="T2" y="T3"/>
                </a:cxn>
                <a:cxn ang="T8">
                  <a:pos x="T4" y="T5"/>
                </a:cxn>
              </a:cxnLst>
              <a:rect l="T9" t="T10" r="T11" b="T12"/>
              <a:pathLst>
                <a:path w="38783" h="21600" fill="none" extrusionOk="0">
                  <a:moveTo>
                    <a:pt x="38782" y="9361"/>
                  </a:moveTo>
                  <a:cubicBezTo>
                    <a:pt x="35184" y="16842"/>
                    <a:pt x="27618" y="21599"/>
                    <a:pt x="19317" y="21600"/>
                  </a:cubicBezTo>
                  <a:cubicBezTo>
                    <a:pt x="11137" y="21600"/>
                    <a:pt x="3660" y="16980"/>
                    <a:pt x="0" y="9665"/>
                  </a:cubicBezTo>
                </a:path>
                <a:path w="38783" h="21600" stroke="0" extrusionOk="0">
                  <a:moveTo>
                    <a:pt x="38782" y="9361"/>
                  </a:moveTo>
                  <a:cubicBezTo>
                    <a:pt x="35184" y="16842"/>
                    <a:pt x="27618" y="21599"/>
                    <a:pt x="19317" y="21600"/>
                  </a:cubicBezTo>
                  <a:cubicBezTo>
                    <a:pt x="11137" y="21600"/>
                    <a:pt x="3660" y="16980"/>
                    <a:pt x="0" y="9665"/>
                  </a:cubicBezTo>
                  <a:lnTo>
                    <a:pt x="19317" y="0"/>
                  </a:lnTo>
                  <a:lnTo>
                    <a:pt x="38782" y="9361"/>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9953" name="Text Box 18"/>
            <p:cNvSpPr txBox="1">
              <a:spLocks noChangeArrowheads="1"/>
            </p:cNvSpPr>
            <p:nvPr/>
          </p:nvSpPr>
          <p:spPr bwMode="auto">
            <a:xfrm>
              <a:off x="1567" y="2248"/>
              <a:ext cx="54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5D2785"/>
                  </a:solidFill>
                  <a:latin typeface="Arial" panose="020B0604020202020204" pitchFamily="34" charset="0"/>
                  <a:ea typeface="华文楷体" panose="02010600040101010101" pitchFamily="2" charset="-122"/>
                </a:rPr>
                <a:t>NAD</a:t>
              </a:r>
              <a:r>
                <a:rPr kumimoji="1" lang="en-US" altLang="zh-CN" sz="1800" baseline="30000">
                  <a:solidFill>
                    <a:srgbClr val="5D2785"/>
                  </a:solidFill>
                  <a:latin typeface="Arial" panose="020B0604020202020204" pitchFamily="34" charset="0"/>
                  <a:ea typeface="华文楷体" panose="02010600040101010101" pitchFamily="2" charset="-122"/>
                </a:rPr>
                <a:t>+  </a:t>
              </a:r>
              <a:endParaRPr kumimoji="1" lang="en-US" altLang="zh-CN" sz="1800" baseline="30000">
                <a:solidFill>
                  <a:srgbClr val="5D2785"/>
                </a:solidFill>
                <a:latin typeface="Arial" panose="020B0604020202020204" pitchFamily="34" charset="0"/>
                <a:ea typeface="华文楷体" panose="02010600040101010101" pitchFamily="2" charset="-122"/>
              </a:endParaRPr>
            </a:p>
          </p:txBody>
        </p:sp>
        <p:sp>
          <p:nvSpPr>
            <p:cNvPr id="209954" name="Text Box 19"/>
            <p:cNvSpPr txBox="1">
              <a:spLocks noChangeArrowheads="1"/>
            </p:cNvSpPr>
            <p:nvPr/>
          </p:nvSpPr>
          <p:spPr bwMode="auto">
            <a:xfrm>
              <a:off x="2393" y="2248"/>
              <a:ext cx="9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solidFill>
                    <a:srgbClr val="5D2785"/>
                  </a:solidFill>
                  <a:latin typeface="Arial" panose="020B0604020202020204" pitchFamily="34" charset="0"/>
                  <a:ea typeface="华文楷体" panose="02010600040101010101" pitchFamily="2" charset="-122"/>
                </a:rPr>
                <a:t> NADH + H</a:t>
              </a:r>
              <a:r>
                <a:rPr kumimoji="1" lang="en-US" altLang="zh-CN" sz="1800" baseline="30000">
                  <a:solidFill>
                    <a:srgbClr val="5D2785"/>
                  </a:solidFill>
                  <a:latin typeface="Arial" panose="020B0604020202020204" pitchFamily="34" charset="0"/>
                  <a:ea typeface="华文楷体" panose="02010600040101010101" pitchFamily="2" charset="-122"/>
                </a:rPr>
                <a:t>+   </a:t>
              </a:r>
              <a:endParaRPr kumimoji="1" lang="en-US" altLang="zh-CN" sz="1800" baseline="30000">
                <a:solidFill>
                  <a:srgbClr val="5D2785"/>
                </a:solidFill>
                <a:latin typeface="Arial" panose="020B0604020202020204" pitchFamily="34" charset="0"/>
                <a:ea typeface="华文楷体" panose="02010600040101010101" pitchFamily="2" charset="-122"/>
              </a:endParaRPr>
            </a:p>
          </p:txBody>
        </p:sp>
      </p:grpSp>
      <p:grpSp>
        <p:nvGrpSpPr>
          <p:cNvPr id="20" name="Group 18"/>
          <p:cNvGrpSpPr/>
          <p:nvPr/>
        </p:nvGrpSpPr>
        <p:grpSpPr bwMode="auto">
          <a:xfrm>
            <a:off x="3378200" y="3182939"/>
            <a:ext cx="5691188" cy="1309687"/>
            <a:chOff x="1869" y="1723"/>
            <a:chExt cx="3585" cy="825"/>
          </a:xfrm>
        </p:grpSpPr>
        <p:grpSp>
          <p:nvGrpSpPr>
            <p:cNvPr id="209940" name="Group 19"/>
            <p:cNvGrpSpPr/>
            <p:nvPr/>
          </p:nvGrpSpPr>
          <p:grpSpPr bwMode="auto">
            <a:xfrm>
              <a:off x="1869" y="1723"/>
              <a:ext cx="3585" cy="580"/>
              <a:chOff x="1869" y="1723"/>
              <a:chExt cx="3585" cy="580"/>
            </a:xfrm>
          </p:grpSpPr>
          <p:sp>
            <p:nvSpPr>
              <p:cNvPr id="25" name="Text Box 20"/>
              <p:cNvSpPr txBox="1">
                <a:spLocks noChangeArrowheads="1"/>
              </p:cNvSpPr>
              <p:nvPr/>
            </p:nvSpPr>
            <p:spPr bwMode="auto">
              <a:xfrm>
                <a:off x="4433" y="1935"/>
                <a:ext cx="1021" cy="368"/>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dirty="0">
                    <a:solidFill>
                      <a:schemeClr val="tx2">
                        <a:lumMod val="75000"/>
                      </a:schemeClr>
                    </a:solidFill>
                    <a:latin typeface="华文楷体" panose="02010600040101010101" pitchFamily="2" charset="-122"/>
                    <a:ea typeface="华文楷体" panose="02010600040101010101" pitchFamily="2" charset="-122"/>
                  </a:rPr>
                  <a:t>苹果酸  </a:t>
                </a:r>
                <a:endParaRPr kumimoji="1" lang="zh-CN" altLang="en-US" dirty="0">
                  <a:solidFill>
                    <a:schemeClr val="tx2">
                      <a:lumMod val="75000"/>
                    </a:schemeClr>
                  </a:solidFill>
                  <a:latin typeface="华文楷体" panose="02010600040101010101" pitchFamily="2" charset="-122"/>
                  <a:ea typeface="华文楷体" panose="02010600040101010101" pitchFamily="2" charset="-122"/>
                </a:endParaRPr>
              </a:p>
            </p:txBody>
          </p:sp>
          <p:sp>
            <p:nvSpPr>
              <p:cNvPr id="209944" name="Text Box 22"/>
              <p:cNvSpPr txBox="1">
                <a:spLocks noChangeArrowheads="1"/>
              </p:cNvSpPr>
              <p:nvPr/>
            </p:nvSpPr>
            <p:spPr bwMode="auto">
              <a:xfrm>
                <a:off x="3098" y="1723"/>
                <a:ext cx="128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t>苹果酸脱氢酶  </a:t>
                </a:r>
                <a:endParaRPr kumimoji="1" lang="zh-CN" altLang="en-US" sz="2400" b="0"/>
              </a:p>
            </p:txBody>
          </p:sp>
          <p:sp>
            <p:nvSpPr>
              <p:cNvPr id="28" name="Text Box 20"/>
              <p:cNvSpPr txBox="1">
                <a:spLocks noChangeArrowheads="1"/>
              </p:cNvSpPr>
              <p:nvPr/>
            </p:nvSpPr>
            <p:spPr bwMode="auto">
              <a:xfrm>
                <a:off x="1869" y="1916"/>
                <a:ext cx="1280" cy="368"/>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dirty="0">
                    <a:solidFill>
                      <a:schemeClr val="tx2">
                        <a:lumMod val="75000"/>
                      </a:schemeClr>
                    </a:solidFill>
                    <a:latin typeface="华文楷体" panose="02010600040101010101" pitchFamily="2" charset="-122"/>
                    <a:ea typeface="华文楷体" panose="02010600040101010101" pitchFamily="2" charset="-122"/>
                  </a:rPr>
                  <a:t>草酰乙酸  </a:t>
                </a:r>
                <a:endParaRPr kumimoji="1" lang="zh-CN" altLang="en-US" dirty="0">
                  <a:solidFill>
                    <a:schemeClr val="tx2">
                      <a:lumMod val="75000"/>
                    </a:schemeClr>
                  </a:solidFill>
                  <a:latin typeface="华文楷体" panose="02010600040101010101" pitchFamily="2" charset="-122"/>
                  <a:ea typeface="华文楷体" panose="02010600040101010101" pitchFamily="2" charset="-122"/>
                </a:endParaRPr>
              </a:p>
            </p:txBody>
          </p:sp>
        </p:grpSp>
        <p:sp>
          <p:nvSpPr>
            <p:cNvPr id="209941" name="Text Box 23"/>
            <p:cNvSpPr txBox="1">
              <a:spLocks noChangeArrowheads="1"/>
            </p:cNvSpPr>
            <p:nvPr/>
          </p:nvSpPr>
          <p:spPr bwMode="auto">
            <a:xfrm>
              <a:off x="3061" y="2296"/>
              <a:ext cx="78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NADH+H</a:t>
              </a:r>
              <a:r>
                <a:rPr kumimoji="1" lang="en-US" altLang="zh-CN" sz="2000" baseline="30000">
                  <a:latin typeface="Antique Olive"/>
                  <a:ea typeface="宋体" panose="02010600030101010101" pitchFamily="2" charset="-122"/>
                </a:rPr>
                <a:t>+ </a:t>
              </a:r>
              <a:endParaRPr kumimoji="1" lang="en-US" altLang="zh-CN" sz="2000" baseline="30000">
                <a:latin typeface="Antique Olive"/>
                <a:ea typeface="宋体" panose="02010600030101010101" pitchFamily="2" charset="-122"/>
              </a:endParaRPr>
            </a:p>
          </p:txBody>
        </p:sp>
        <p:sp>
          <p:nvSpPr>
            <p:cNvPr id="209942" name="Text Box 24"/>
            <p:cNvSpPr txBox="1">
              <a:spLocks noChangeArrowheads="1"/>
            </p:cNvSpPr>
            <p:nvPr/>
          </p:nvSpPr>
          <p:spPr bwMode="auto">
            <a:xfrm>
              <a:off x="4105" y="2296"/>
              <a:ext cx="5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NAD</a:t>
              </a:r>
              <a:r>
                <a:rPr kumimoji="1" lang="en-US" altLang="zh-CN" sz="2000" baseline="30000">
                  <a:latin typeface="Antique Olive"/>
                  <a:ea typeface="宋体" panose="02010600030101010101" pitchFamily="2" charset="-122"/>
                </a:rPr>
                <a:t>+ </a:t>
              </a:r>
              <a:endParaRPr kumimoji="1" lang="en-US" altLang="zh-CN" sz="2000" baseline="30000">
                <a:latin typeface="Antique Olive"/>
                <a:ea typeface="宋体" panose="02010600030101010101" pitchFamily="2" charset="-122"/>
              </a:endParaRPr>
            </a:p>
          </p:txBody>
        </p:sp>
      </p:grpSp>
      <p:cxnSp>
        <p:nvCxnSpPr>
          <p:cNvPr id="5" name="直接箭头连接符 4"/>
          <p:cNvCxnSpPr>
            <a:cxnSpLocks noChangeShapeType="1"/>
            <a:stCxn id="28" idx="3"/>
          </p:cNvCxnSpPr>
          <p:nvPr/>
        </p:nvCxnSpPr>
        <p:spPr bwMode="auto">
          <a:xfrm>
            <a:off x="5410200" y="3781426"/>
            <a:ext cx="1809750" cy="30163"/>
          </a:xfrm>
          <a:prstGeom prst="straightConnector1">
            <a:avLst/>
          </a:prstGeom>
          <a:noFill/>
          <a:ln w="38100"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183319" name="箭头: 上弧形 183318"/>
          <p:cNvSpPr>
            <a:spLocks noChangeArrowheads="1"/>
          </p:cNvSpPr>
          <p:nvPr/>
        </p:nvSpPr>
        <p:spPr bwMode="auto">
          <a:xfrm>
            <a:off x="5681664" y="3803650"/>
            <a:ext cx="1368425" cy="336550"/>
          </a:xfrm>
          <a:prstGeom prst="curvedDownArrow">
            <a:avLst>
              <a:gd name="adj1" fmla="val 24942"/>
              <a:gd name="adj2" fmla="val 49865"/>
              <a:gd name="adj3" fmla="val 25000"/>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a typeface="宋体" panose="02010600030101010101" pitchFamily="2" charset="-122"/>
            </a:endParaRPr>
          </a:p>
        </p:txBody>
      </p:sp>
      <p:sp>
        <p:nvSpPr>
          <p:cNvPr id="209926" name="文本框 183319"/>
          <p:cNvSpPr txBox="1">
            <a:spLocks noChangeArrowheads="1"/>
          </p:cNvSpPr>
          <p:nvPr/>
        </p:nvSpPr>
        <p:spPr bwMode="auto">
          <a:xfrm>
            <a:off x="2378076" y="357188"/>
            <a:ext cx="7993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dirty="0">
                <a:solidFill>
                  <a:srgbClr val="660066"/>
                </a:solidFill>
                <a:latin typeface="Arial" panose="020B0604020202020204" pitchFamily="34" charset="0"/>
                <a:ea typeface="宋体" panose="02010600030101010101" pitchFamily="2" charset="-122"/>
              </a:rPr>
              <a:t>一分子草酰乙酸彻底氧化生成多少</a:t>
            </a:r>
            <a:r>
              <a:rPr lang="en-US" altLang="zh-CN" dirty="0">
                <a:solidFill>
                  <a:srgbClr val="660066"/>
                </a:solidFill>
                <a:latin typeface="Arial" panose="020B0604020202020204" pitchFamily="34" charset="0"/>
                <a:ea typeface="宋体" panose="02010600030101010101" pitchFamily="2" charset="-122"/>
              </a:rPr>
              <a:t>ATP</a:t>
            </a:r>
            <a:r>
              <a:rPr lang="zh-CN" altLang="en-US" dirty="0">
                <a:solidFill>
                  <a:srgbClr val="660066"/>
                </a:solidFill>
                <a:latin typeface="Arial" panose="020B0604020202020204" pitchFamily="34" charset="0"/>
                <a:ea typeface="宋体" panose="02010600030101010101" pitchFamily="2" charset="-122"/>
              </a:rPr>
              <a:t>　？</a:t>
            </a:r>
            <a:endParaRPr lang="zh-CN" altLang="en-US" dirty="0">
              <a:solidFill>
                <a:srgbClr val="660066"/>
              </a:solidFill>
              <a:latin typeface="Arial" panose="020B0604020202020204" pitchFamily="34" charset="0"/>
              <a:ea typeface="宋体" panose="02010600030101010101" pitchFamily="2" charset="-122"/>
            </a:endParaRPr>
          </a:p>
        </p:txBody>
      </p:sp>
      <p:cxnSp>
        <p:nvCxnSpPr>
          <p:cNvPr id="209927" name="直接箭头连接符 8"/>
          <p:cNvCxnSpPr>
            <a:cxnSpLocks noChangeShapeType="1"/>
          </p:cNvCxnSpPr>
          <p:nvPr/>
        </p:nvCxnSpPr>
        <p:spPr bwMode="auto">
          <a:xfrm flipH="1" flipV="1">
            <a:off x="-3060700" y="-1827213"/>
            <a:ext cx="2447925" cy="2663826"/>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5" name="文本框 14"/>
          <p:cNvSpPr txBox="1"/>
          <p:nvPr/>
        </p:nvSpPr>
        <p:spPr>
          <a:xfrm>
            <a:off x="2081214" y="3568701"/>
            <a:ext cx="1209675" cy="523875"/>
          </a:xfrm>
          <a:prstGeom prst="rect">
            <a:avLst/>
          </a:prstGeom>
          <a:noFill/>
        </p:spPr>
        <p:txBody>
          <a:bodyPr>
            <a:spAutoFit/>
          </a:bodyPr>
          <a:lstStyle/>
          <a:p>
            <a:pPr>
              <a:defRPr/>
            </a:pPr>
            <a:r>
              <a:rPr lang="zh-CN" altLang="en-US" sz="2800" dirty="0">
                <a:solidFill>
                  <a:schemeClr val="tx1">
                    <a:lumMod val="95000"/>
                    <a:lumOff val="5000"/>
                  </a:schemeClr>
                </a:solidFill>
              </a:rPr>
              <a:t>途径</a:t>
            </a:r>
            <a:r>
              <a:rPr lang="en-US" altLang="zh-CN" sz="2800" dirty="0">
                <a:solidFill>
                  <a:schemeClr val="tx1">
                    <a:lumMod val="95000"/>
                    <a:lumOff val="5000"/>
                  </a:schemeClr>
                </a:solidFill>
              </a:rPr>
              <a:t>2</a:t>
            </a:r>
            <a:endParaRPr lang="zh-CN" altLang="en-US" sz="2800" dirty="0">
              <a:solidFill>
                <a:schemeClr val="tx1">
                  <a:lumMod val="95000"/>
                  <a:lumOff val="5000"/>
                </a:schemeClr>
              </a:solidFill>
            </a:endParaRPr>
          </a:p>
        </p:txBody>
      </p:sp>
      <p:grpSp>
        <p:nvGrpSpPr>
          <p:cNvPr id="44" name="组合 43"/>
          <p:cNvGrpSpPr/>
          <p:nvPr/>
        </p:nvGrpSpPr>
        <p:grpSpPr bwMode="auto">
          <a:xfrm>
            <a:off x="2601913" y="1638300"/>
            <a:ext cx="7994650" cy="927100"/>
            <a:chOff x="1078706" y="5703638"/>
            <a:chExt cx="7993063" cy="927460"/>
          </a:xfrm>
        </p:grpSpPr>
        <p:sp>
          <p:nvSpPr>
            <p:cNvPr id="209931" name="文本框 3"/>
            <p:cNvSpPr txBox="1">
              <a:spLocks noChangeArrowheads="1"/>
            </p:cNvSpPr>
            <p:nvPr/>
          </p:nvSpPr>
          <p:spPr bwMode="auto">
            <a:xfrm>
              <a:off x="1078706" y="5703638"/>
              <a:ext cx="79930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b="0">
                  <a:solidFill>
                    <a:srgbClr val="000099"/>
                  </a:solidFill>
                  <a:latin typeface="Arial" panose="020B0604020202020204" pitchFamily="34" charset="0"/>
                </a:rPr>
                <a:t>草酰乙酸                磷酸烯醇式丙酮酸               丙酮酸</a:t>
              </a:r>
              <a:endParaRPr lang="zh-CN" altLang="en-US" sz="2400" b="0">
                <a:solidFill>
                  <a:srgbClr val="000099"/>
                </a:solidFill>
                <a:latin typeface="Arial" panose="020B0604020202020204" pitchFamily="34" charset="0"/>
              </a:endParaRPr>
            </a:p>
          </p:txBody>
        </p:sp>
        <p:sp>
          <p:nvSpPr>
            <p:cNvPr id="209932" name="文本框 6"/>
            <p:cNvSpPr txBox="1">
              <a:spLocks noChangeArrowheads="1"/>
            </p:cNvSpPr>
            <p:nvPr/>
          </p:nvSpPr>
          <p:spPr bwMode="auto">
            <a:xfrm>
              <a:off x="2225675" y="6261766"/>
              <a:ext cx="1052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latin typeface="Arial" panose="020B0604020202020204" pitchFamily="34" charset="0"/>
                </a:rPr>
                <a:t>GTP</a:t>
              </a:r>
              <a:endParaRPr lang="zh-CN" altLang="en-US" sz="1800">
                <a:latin typeface="Arial" panose="020B0604020202020204" pitchFamily="34" charset="0"/>
              </a:endParaRPr>
            </a:p>
          </p:txBody>
        </p:sp>
        <p:sp>
          <p:nvSpPr>
            <p:cNvPr id="209933" name="文本框 33"/>
            <p:cNvSpPr txBox="1">
              <a:spLocks noChangeArrowheads="1"/>
            </p:cNvSpPr>
            <p:nvPr/>
          </p:nvSpPr>
          <p:spPr bwMode="auto">
            <a:xfrm>
              <a:off x="3344068" y="6237312"/>
              <a:ext cx="1052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latin typeface="Arial" panose="020B0604020202020204" pitchFamily="34" charset="0"/>
                </a:rPr>
                <a:t>GDP</a:t>
              </a:r>
              <a:endParaRPr lang="zh-CN" altLang="en-US" sz="1800">
                <a:latin typeface="Arial" panose="020B0604020202020204" pitchFamily="34" charset="0"/>
              </a:endParaRPr>
            </a:p>
          </p:txBody>
        </p:sp>
        <p:sp>
          <p:nvSpPr>
            <p:cNvPr id="209934" name="文本框 34"/>
            <p:cNvSpPr txBox="1">
              <a:spLocks noChangeArrowheads="1"/>
            </p:cNvSpPr>
            <p:nvPr/>
          </p:nvSpPr>
          <p:spPr bwMode="auto">
            <a:xfrm>
              <a:off x="5877323" y="6237312"/>
              <a:ext cx="1052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latin typeface="Arial" panose="020B0604020202020204" pitchFamily="34" charset="0"/>
                </a:rPr>
                <a:t>ADP</a:t>
              </a:r>
              <a:endParaRPr lang="zh-CN" altLang="en-US" sz="1800">
                <a:latin typeface="Arial" panose="020B0604020202020204" pitchFamily="34" charset="0"/>
              </a:endParaRPr>
            </a:p>
          </p:txBody>
        </p:sp>
        <p:sp>
          <p:nvSpPr>
            <p:cNvPr id="209935" name="文本框 35"/>
            <p:cNvSpPr txBox="1">
              <a:spLocks noChangeArrowheads="1"/>
            </p:cNvSpPr>
            <p:nvPr/>
          </p:nvSpPr>
          <p:spPr bwMode="auto">
            <a:xfrm>
              <a:off x="7077868" y="6261766"/>
              <a:ext cx="10525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1800">
                  <a:latin typeface="Arial" panose="020B0604020202020204" pitchFamily="34" charset="0"/>
                </a:rPr>
                <a:t>ATP</a:t>
              </a:r>
              <a:endParaRPr lang="zh-CN" altLang="en-US" sz="1800">
                <a:latin typeface="Arial" panose="020B0604020202020204" pitchFamily="34" charset="0"/>
              </a:endParaRPr>
            </a:p>
          </p:txBody>
        </p:sp>
        <p:cxnSp>
          <p:nvCxnSpPr>
            <p:cNvPr id="209936" name="直接箭头连接符 10"/>
            <p:cNvCxnSpPr>
              <a:cxnSpLocks noChangeShapeType="1"/>
            </p:cNvCxnSpPr>
            <p:nvPr/>
          </p:nvCxnSpPr>
          <p:spPr bwMode="auto">
            <a:xfrm>
              <a:off x="2559050" y="5949280"/>
              <a:ext cx="881063" cy="0"/>
            </a:xfrm>
            <a:prstGeom prst="straightConnector1">
              <a:avLst/>
            </a:prstGeom>
            <a:noFill/>
            <a:ln w="5715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209937" name="直接箭头连接符 40"/>
            <p:cNvCxnSpPr/>
            <p:nvPr/>
          </p:nvCxnSpPr>
          <p:spPr bwMode="auto">
            <a:xfrm>
              <a:off x="6291263" y="5949280"/>
              <a:ext cx="947737" cy="0"/>
            </a:xfrm>
            <a:prstGeom prst="straightConnector1">
              <a:avLst/>
            </a:prstGeom>
            <a:noFill/>
            <a:ln w="57150" algn="ctr">
              <a:solidFill>
                <a:schemeClr val="tx1"/>
              </a:solidFill>
              <a:round/>
              <a:tailEnd type="triangle" w="med" len="med"/>
            </a:ln>
            <a:extLst>
              <a:ext uri="{909E8E84-426E-40DD-AFC4-6F175D3DCCD1}">
                <a14:hiddenFill xmlns:a14="http://schemas.microsoft.com/office/drawing/2010/main">
                  <a:noFill/>
                </a14:hiddenFill>
              </a:ext>
            </a:extLst>
          </p:spPr>
        </p:cxnSp>
        <p:sp>
          <p:nvSpPr>
            <p:cNvPr id="209938" name="箭头: 上弧形 11"/>
            <p:cNvSpPr>
              <a:spLocks noChangeArrowheads="1"/>
            </p:cNvSpPr>
            <p:nvPr/>
          </p:nvSpPr>
          <p:spPr bwMode="auto">
            <a:xfrm>
              <a:off x="2476798" y="5949280"/>
              <a:ext cx="1087090" cy="335584"/>
            </a:xfrm>
            <a:prstGeom prst="curvedDownArrow">
              <a:avLst>
                <a:gd name="adj1" fmla="val 24985"/>
                <a:gd name="adj2" fmla="val 50001"/>
                <a:gd name="adj3" fmla="val 25000"/>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209939" name="箭头: 上弧形 42"/>
            <p:cNvSpPr>
              <a:spLocks noChangeArrowheads="1"/>
            </p:cNvSpPr>
            <p:nvPr/>
          </p:nvSpPr>
          <p:spPr bwMode="auto">
            <a:xfrm>
              <a:off x="6188249" y="5937730"/>
              <a:ext cx="1087090" cy="335584"/>
            </a:xfrm>
            <a:prstGeom prst="curvedDownArrow">
              <a:avLst>
                <a:gd name="adj1" fmla="val 24985"/>
                <a:gd name="adj2" fmla="val 50001"/>
                <a:gd name="adj3" fmla="val 25000"/>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sp>
        <p:nvSpPr>
          <p:cNvPr id="56" name="文本框 55"/>
          <p:cNvSpPr txBox="1"/>
          <p:nvPr/>
        </p:nvSpPr>
        <p:spPr>
          <a:xfrm>
            <a:off x="1500187" y="1604964"/>
            <a:ext cx="1208088" cy="522287"/>
          </a:xfrm>
          <a:prstGeom prst="rect">
            <a:avLst/>
          </a:prstGeom>
          <a:noFill/>
        </p:spPr>
        <p:txBody>
          <a:bodyPr>
            <a:spAutoFit/>
          </a:bodyPr>
          <a:lstStyle/>
          <a:p>
            <a:pPr>
              <a:defRPr/>
            </a:pPr>
            <a:r>
              <a:rPr lang="zh-CN" altLang="en-US" sz="2800" dirty="0">
                <a:solidFill>
                  <a:schemeClr val="tx1">
                    <a:lumMod val="95000"/>
                    <a:lumOff val="5000"/>
                  </a:schemeClr>
                </a:solidFill>
              </a:rPr>
              <a:t>途径</a:t>
            </a:r>
            <a:r>
              <a:rPr lang="en-US" altLang="zh-CN" sz="2800" dirty="0">
                <a:solidFill>
                  <a:schemeClr val="tx1">
                    <a:lumMod val="95000"/>
                    <a:lumOff val="5000"/>
                  </a:schemeClr>
                </a:solidFill>
              </a:rPr>
              <a:t>1</a:t>
            </a:r>
            <a:endParaRPr lang="zh-CN" altLang="en-US" sz="2800" dirty="0">
              <a:solidFill>
                <a:schemeClr val="tx1">
                  <a:lumMod val="95000"/>
                  <a:lumOff val="5000"/>
                </a:schemeClr>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44"/>
                                        </p:tgtEl>
                                        <p:attrNameLst>
                                          <p:attrName>style.visibility</p:attrName>
                                        </p:attrNameLst>
                                      </p:cBhvr>
                                      <p:to>
                                        <p:strVal val="visible"/>
                                      </p:to>
                                    </p:set>
                                    <p:animEffect transition="in" filter="wipe(left)">
                                      <p:cBhvr>
                                        <p:cTn id="9" dur="500"/>
                                        <p:tgtEl>
                                          <p:spTgt spid="4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33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19" grpId="0" animBg="1"/>
      <p:bldP spid="15" grpId="0"/>
      <p:bldP spid="56" grpId="0"/>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28354" name="Picture 2" descr="See the source image"/>
          <p:cNvPicPr>
            <a:picLocks noChangeAspect="1" noChangeArrowheads="1"/>
          </p:cNvPicPr>
          <p:nvPr/>
        </p:nvPicPr>
        <p:blipFill>
          <a:blip r:embed="rId1">
            <a:extLst>
              <a:ext uri="{28A0092B-C50C-407E-A947-70E740481C1C}">
                <a14:useLocalDpi xmlns:a14="http://schemas.microsoft.com/office/drawing/2010/main" val="0"/>
              </a:ext>
            </a:extLst>
          </a:blip>
          <a:srcRect l="2597" t="6685" b="7677"/>
          <a:stretch>
            <a:fillRect/>
          </a:stretch>
        </p:blipFill>
        <p:spPr bwMode="auto">
          <a:xfrm>
            <a:off x="1882775" y="930276"/>
            <a:ext cx="8605838"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a:spLocks noChangeArrowheads="1"/>
          </p:cNvSpPr>
          <p:nvPr/>
        </p:nvSpPr>
        <p:spPr bwMode="auto">
          <a:xfrm>
            <a:off x="1882776" y="4110039"/>
            <a:ext cx="8785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latin typeface="Arial" panose="020B0604020202020204" pitchFamily="34" charset="0"/>
              </a:rPr>
              <a:t>α-ketoglutarate                   oxaloacetate(</a:t>
            </a:r>
            <a:r>
              <a:rPr lang="zh-CN" altLang="en-US" sz="2800">
                <a:latin typeface="Arial" panose="020B0604020202020204" pitchFamily="34" charset="0"/>
              </a:rPr>
              <a:t>草酰乙酸）</a:t>
            </a:r>
            <a:endParaRPr lang="zh-CN" altLang="en-US" sz="2800">
              <a:latin typeface="Arial" panose="020B0604020202020204" pitchFamily="34" charset="0"/>
            </a:endParaRPr>
          </a:p>
        </p:txBody>
      </p:sp>
      <p:sp>
        <p:nvSpPr>
          <p:cNvPr id="5" name="箭头: 右 4"/>
          <p:cNvSpPr>
            <a:spLocks noChangeArrowheads="1"/>
          </p:cNvSpPr>
          <p:nvPr/>
        </p:nvSpPr>
        <p:spPr bwMode="auto">
          <a:xfrm flipV="1">
            <a:off x="4727576" y="4325938"/>
            <a:ext cx="1584325" cy="215900"/>
          </a:xfrm>
          <a:prstGeom prst="rightArrow">
            <a:avLst>
              <a:gd name="adj1" fmla="val 50000"/>
              <a:gd name="adj2" fmla="val 49975"/>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6" name="文本框 5"/>
          <p:cNvSpPr txBox="1">
            <a:spLocks noChangeArrowheads="1"/>
          </p:cNvSpPr>
          <p:nvPr/>
        </p:nvSpPr>
        <p:spPr bwMode="auto">
          <a:xfrm>
            <a:off x="4583113" y="3821113"/>
            <a:ext cx="18399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400">
                <a:solidFill>
                  <a:srgbClr val="0033CC"/>
                </a:solidFill>
                <a:latin typeface="Arial" panose="020B0604020202020204" pitchFamily="34" charset="0"/>
              </a:rPr>
              <a:t>TCA cycle</a:t>
            </a:r>
            <a:endParaRPr lang="zh-CN" altLang="en-US" sz="2400">
              <a:solidFill>
                <a:srgbClr val="0033CC"/>
              </a:solidFill>
              <a:latin typeface="Arial" panose="020B0604020202020204" pitchFamily="34" charset="0"/>
            </a:endParaRPr>
          </a:p>
        </p:txBody>
      </p:sp>
      <p:sp>
        <p:nvSpPr>
          <p:cNvPr id="7" name="文本框 6"/>
          <p:cNvSpPr txBox="1">
            <a:spLocks noChangeArrowheads="1"/>
          </p:cNvSpPr>
          <p:nvPr/>
        </p:nvSpPr>
        <p:spPr bwMode="auto">
          <a:xfrm>
            <a:off x="7680326" y="5199063"/>
            <a:ext cx="3128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400">
                <a:latin typeface="Arial" panose="020B0604020202020204" pitchFamily="34" charset="0"/>
              </a:rPr>
              <a:t>Pyruvate(</a:t>
            </a:r>
            <a:r>
              <a:rPr lang="zh-CN" altLang="en-US" sz="2400">
                <a:latin typeface="Arial" panose="020B0604020202020204" pitchFamily="34" charset="0"/>
              </a:rPr>
              <a:t>丙酮酸</a:t>
            </a:r>
            <a:r>
              <a:rPr lang="en-US" altLang="zh-CN" sz="2400">
                <a:latin typeface="Arial" panose="020B0604020202020204" pitchFamily="34" charset="0"/>
              </a:rPr>
              <a:t>)</a:t>
            </a:r>
            <a:endParaRPr lang="zh-CN" altLang="en-US" sz="2400">
              <a:latin typeface="Arial" panose="020B0604020202020204" pitchFamily="34" charset="0"/>
            </a:endParaRPr>
          </a:p>
        </p:txBody>
      </p:sp>
      <p:sp>
        <p:nvSpPr>
          <p:cNvPr id="9" name="文本框 8"/>
          <p:cNvSpPr txBox="1">
            <a:spLocks noChangeArrowheads="1"/>
          </p:cNvSpPr>
          <p:nvPr/>
        </p:nvSpPr>
        <p:spPr bwMode="auto">
          <a:xfrm>
            <a:off x="4859339" y="5189538"/>
            <a:ext cx="2212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400">
                <a:solidFill>
                  <a:srgbClr val="C00000"/>
                </a:solidFill>
                <a:latin typeface="Arial" panose="020B0604020202020204" pitchFamily="34" charset="0"/>
              </a:rPr>
              <a:t>Acetyl-CoA</a:t>
            </a:r>
            <a:endParaRPr lang="zh-CN" altLang="en-US" sz="2400">
              <a:solidFill>
                <a:srgbClr val="C00000"/>
              </a:solidFill>
              <a:latin typeface="Arial" panose="020B0604020202020204" pitchFamily="34" charset="0"/>
            </a:endParaRPr>
          </a:p>
        </p:txBody>
      </p:sp>
      <p:sp>
        <p:nvSpPr>
          <p:cNvPr id="10" name="文本框 9"/>
          <p:cNvSpPr txBox="1">
            <a:spLocks noChangeArrowheads="1"/>
          </p:cNvSpPr>
          <p:nvPr/>
        </p:nvSpPr>
        <p:spPr bwMode="auto">
          <a:xfrm>
            <a:off x="2279651" y="5145089"/>
            <a:ext cx="18399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400">
                <a:solidFill>
                  <a:srgbClr val="0033CC"/>
                </a:solidFill>
                <a:latin typeface="Arial" panose="020B0604020202020204" pitchFamily="34" charset="0"/>
              </a:rPr>
              <a:t>TCA cycle</a:t>
            </a:r>
            <a:endParaRPr lang="zh-CN" altLang="en-US" sz="2400">
              <a:solidFill>
                <a:srgbClr val="0033CC"/>
              </a:solidFill>
              <a:latin typeface="Arial" panose="020B0604020202020204" pitchFamily="34" charset="0"/>
            </a:endParaRPr>
          </a:p>
        </p:txBody>
      </p:sp>
      <p:sp>
        <p:nvSpPr>
          <p:cNvPr id="8" name="箭头: 下 7"/>
          <p:cNvSpPr/>
          <p:nvPr/>
        </p:nvSpPr>
        <p:spPr bwMode="auto">
          <a:xfrm flipH="1">
            <a:off x="8589964" y="4727576"/>
            <a:ext cx="242887" cy="461963"/>
          </a:xfrm>
          <a:prstGeom prst="downArrow">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a:latin typeface="Arial" panose="020B0604020202020204" pitchFamily="34" charset="0"/>
              <a:ea typeface="楷体_GB2312"/>
              <a:cs typeface="楷体_GB2312"/>
            </a:endParaRPr>
          </a:p>
        </p:txBody>
      </p:sp>
      <p:sp>
        <p:nvSpPr>
          <p:cNvPr id="11" name="箭头: 左 10"/>
          <p:cNvSpPr/>
          <p:nvPr/>
        </p:nvSpPr>
        <p:spPr bwMode="auto">
          <a:xfrm>
            <a:off x="6743701" y="5334000"/>
            <a:ext cx="720725" cy="230188"/>
          </a:xfrm>
          <a:prstGeom prst="leftArrow">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a:latin typeface="Arial" panose="020B0604020202020204" pitchFamily="34" charset="0"/>
              <a:ea typeface="楷体_GB2312"/>
              <a:cs typeface="楷体_GB2312"/>
            </a:endParaRPr>
          </a:p>
        </p:txBody>
      </p:sp>
      <p:sp>
        <p:nvSpPr>
          <p:cNvPr id="13" name="箭头: 左 12"/>
          <p:cNvSpPr/>
          <p:nvPr/>
        </p:nvSpPr>
        <p:spPr bwMode="auto">
          <a:xfrm>
            <a:off x="4008439" y="5280025"/>
            <a:ext cx="719137" cy="230188"/>
          </a:xfrm>
          <a:prstGeom prst="leftArrow">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eaLnBrk="1" hangingPunct="1">
              <a:defRPr/>
            </a:pPr>
            <a:endParaRPr lang="zh-CN" altLang="en-US">
              <a:latin typeface="Arial" panose="020B0604020202020204" pitchFamily="34" charset="0"/>
              <a:ea typeface="楷体_GB2312"/>
              <a:cs typeface="楷体_GB2312"/>
            </a:endParaRPr>
          </a:p>
        </p:txBody>
      </p:sp>
      <p:sp>
        <p:nvSpPr>
          <p:cNvPr id="12" name="文本框 11"/>
          <p:cNvSpPr txBox="1">
            <a:spLocks noChangeArrowheads="1"/>
          </p:cNvSpPr>
          <p:nvPr/>
        </p:nvSpPr>
        <p:spPr bwMode="auto">
          <a:xfrm>
            <a:off x="4973639" y="2632076"/>
            <a:ext cx="19827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a:latin typeface="Arial" panose="020B0604020202020204" pitchFamily="34" charset="0"/>
              </a:rPr>
              <a:t>线粒体内</a:t>
            </a:r>
            <a:endParaRPr lang="zh-CN" altLang="en-US" sz="240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9" grpId="0"/>
      <p:bldP spid="10" grpId="0"/>
      <p:bldP spid="8" grpId="0" animBg="1"/>
      <p:bldP spid="11" grpId="0" animBg="1"/>
      <p:bldP spid="13" grpId="0" animBg="1"/>
      <p:bldP spid="1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Text Box 2"/>
          <p:cNvSpPr txBox="1">
            <a:spLocks noChangeArrowheads="1"/>
          </p:cNvSpPr>
          <p:nvPr/>
        </p:nvSpPr>
        <p:spPr bwMode="auto">
          <a:xfrm>
            <a:off x="2208213" y="468313"/>
            <a:ext cx="8280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lang="zh-CN" altLang="en-US" sz="3600" dirty="0">
                <a:solidFill>
                  <a:srgbClr val="660033"/>
                </a:solidFill>
                <a:latin typeface="黑体" panose="02010609060101010101" pitchFamily="2" charset="-122"/>
              </a:rPr>
              <a:t>四、糖的有氧氧化主要受能量供需调节</a:t>
            </a:r>
            <a:endParaRPr lang="zh-CN" altLang="en-US" sz="3600" dirty="0">
              <a:solidFill>
                <a:srgbClr val="660033"/>
              </a:solidFill>
              <a:latin typeface="黑体" panose="02010609060101010101" pitchFamily="2" charset="-122"/>
            </a:endParaRPr>
          </a:p>
        </p:txBody>
      </p:sp>
      <p:sp>
        <p:nvSpPr>
          <p:cNvPr id="201731" name="Text Box 3"/>
          <p:cNvSpPr txBox="1">
            <a:spLocks noChangeArrowheads="1"/>
          </p:cNvSpPr>
          <p:nvPr/>
        </p:nvSpPr>
        <p:spPr bwMode="auto">
          <a:xfrm>
            <a:off x="1992313" y="2565400"/>
            <a:ext cx="76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solidFill>
                  <a:srgbClr val="FF0000"/>
                </a:solidFill>
              </a:rPr>
              <a:t>关键酶 </a:t>
            </a:r>
            <a:endParaRPr kumimoji="1" lang="zh-CN" altLang="en-US" b="0"/>
          </a:p>
        </p:txBody>
      </p:sp>
      <p:sp>
        <p:nvSpPr>
          <p:cNvPr id="201732" name="AutoShape 4"/>
          <p:cNvSpPr/>
          <p:nvPr/>
        </p:nvSpPr>
        <p:spPr bwMode="auto">
          <a:xfrm>
            <a:off x="2667001" y="2205038"/>
            <a:ext cx="269875" cy="2286000"/>
          </a:xfrm>
          <a:prstGeom prst="leftBrace">
            <a:avLst>
              <a:gd name="adj1" fmla="val 70588"/>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201733" name="Text Box 5"/>
          <p:cNvSpPr txBox="1">
            <a:spLocks noChangeArrowheads="1"/>
          </p:cNvSpPr>
          <p:nvPr/>
        </p:nvSpPr>
        <p:spPr bwMode="auto">
          <a:xfrm>
            <a:off x="3000376" y="1822451"/>
            <a:ext cx="3941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t>①</a:t>
            </a:r>
            <a:r>
              <a:rPr kumimoji="1" lang="zh-CN" altLang="en-US" sz="2400" b="0"/>
              <a:t> </a:t>
            </a:r>
            <a:r>
              <a:rPr kumimoji="1" lang="zh-CN" altLang="en-US" sz="2800" b="0"/>
              <a:t>糖酵解：     </a:t>
            </a:r>
            <a:r>
              <a:rPr kumimoji="1" lang="zh-CN" altLang="en-US" sz="2800" b="0">
                <a:solidFill>
                  <a:schemeClr val="tx2"/>
                </a:solidFill>
              </a:rPr>
              <a:t>己糖激酶</a:t>
            </a:r>
            <a:endParaRPr kumimoji="1" lang="zh-CN" altLang="en-US" b="0"/>
          </a:p>
        </p:txBody>
      </p:sp>
      <p:sp>
        <p:nvSpPr>
          <p:cNvPr id="201734" name="Text Box 6"/>
          <p:cNvSpPr txBox="1">
            <a:spLocks noChangeArrowheads="1"/>
          </p:cNvSpPr>
          <p:nvPr/>
        </p:nvSpPr>
        <p:spPr bwMode="auto">
          <a:xfrm>
            <a:off x="3000376" y="3514726"/>
            <a:ext cx="7235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t>② 丙酮酸的氧化脱羧：</a:t>
            </a:r>
            <a:r>
              <a:rPr kumimoji="1" lang="zh-CN" altLang="en-US" sz="2800" b="0">
                <a:solidFill>
                  <a:schemeClr val="tx2"/>
                </a:solidFill>
              </a:rPr>
              <a:t>丙酮酸脱氢酶复合体</a:t>
            </a:r>
            <a:endParaRPr kumimoji="1" lang="zh-CN" altLang="en-US" b="0"/>
          </a:p>
        </p:txBody>
      </p:sp>
      <p:sp>
        <p:nvSpPr>
          <p:cNvPr id="201735" name="Text Box 7"/>
          <p:cNvSpPr txBox="1">
            <a:spLocks noChangeArrowheads="1"/>
          </p:cNvSpPr>
          <p:nvPr/>
        </p:nvSpPr>
        <p:spPr bwMode="auto">
          <a:xfrm>
            <a:off x="3000375" y="4365626"/>
            <a:ext cx="698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t>③</a:t>
            </a:r>
            <a:r>
              <a:rPr kumimoji="1" lang="zh-CN" altLang="en-US" sz="2400" b="0"/>
              <a:t> </a:t>
            </a:r>
            <a:r>
              <a:rPr kumimoji="1" lang="zh-CN" altLang="en-US" sz="2800" b="0"/>
              <a:t>三羧酸循环：</a:t>
            </a:r>
            <a:r>
              <a:rPr kumimoji="1" lang="zh-CN" altLang="en-US" sz="2800" b="0">
                <a:solidFill>
                  <a:schemeClr val="tx2"/>
                </a:solidFill>
              </a:rPr>
              <a:t>柠檬酸合酶</a:t>
            </a:r>
            <a:endParaRPr kumimoji="1" lang="zh-CN" altLang="en-US" b="0"/>
          </a:p>
        </p:txBody>
      </p:sp>
      <p:sp>
        <p:nvSpPr>
          <p:cNvPr id="201736" name="Text Box 8"/>
          <p:cNvSpPr txBox="1">
            <a:spLocks noChangeArrowheads="1"/>
          </p:cNvSpPr>
          <p:nvPr/>
        </p:nvSpPr>
        <p:spPr bwMode="auto">
          <a:xfrm>
            <a:off x="5216526" y="2235201"/>
            <a:ext cx="324167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buFontTx/>
              <a:buNone/>
            </a:pPr>
            <a:r>
              <a:rPr kumimoji="1" lang="zh-CN" altLang="en-US" sz="2800" b="0">
                <a:solidFill>
                  <a:schemeClr val="tx2"/>
                </a:solidFill>
              </a:rPr>
              <a:t>丙酮酸激酶</a:t>
            </a:r>
            <a:endParaRPr kumimoji="1" lang="zh-CN" altLang="en-US" sz="2800" b="0">
              <a:solidFill>
                <a:schemeClr val="tx2"/>
              </a:solidFill>
            </a:endParaRPr>
          </a:p>
          <a:p>
            <a:pPr eaLnBrk="1" hangingPunct="1">
              <a:lnSpc>
                <a:spcPct val="130000"/>
              </a:lnSpc>
              <a:spcBef>
                <a:spcPct val="0"/>
              </a:spcBef>
              <a:buClrTx/>
              <a:buSzTx/>
              <a:buFontTx/>
              <a:buNone/>
            </a:pPr>
            <a:r>
              <a:rPr kumimoji="1" lang="zh-CN" altLang="en-US" sz="2800" b="0">
                <a:solidFill>
                  <a:schemeClr val="tx2"/>
                </a:solidFill>
              </a:rPr>
              <a:t> </a:t>
            </a:r>
            <a:r>
              <a:rPr kumimoji="1" lang="en-US" altLang="zh-CN" sz="2800" b="0">
                <a:solidFill>
                  <a:schemeClr val="tx2"/>
                </a:solidFill>
              </a:rPr>
              <a:t>6-</a:t>
            </a:r>
            <a:r>
              <a:rPr kumimoji="1" lang="zh-CN" altLang="en-US" sz="2800" b="0">
                <a:solidFill>
                  <a:schemeClr val="tx2"/>
                </a:solidFill>
              </a:rPr>
              <a:t>磷酸果糖激酶</a:t>
            </a:r>
            <a:r>
              <a:rPr kumimoji="1" lang="en-US" altLang="zh-CN" sz="2800" b="0">
                <a:solidFill>
                  <a:schemeClr val="tx2"/>
                </a:solidFill>
              </a:rPr>
              <a:t>-1</a:t>
            </a:r>
            <a:endParaRPr kumimoji="1" lang="en-US" altLang="zh-CN" b="0"/>
          </a:p>
        </p:txBody>
      </p:sp>
      <p:sp>
        <p:nvSpPr>
          <p:cNvPr id="201737" name="Text Box 9"/>
          <p:cNvSpPr txBox="1">
            <a:spLocks noChangeArrowheads="1"/>
          </p:cNvSpPr>
          <p:nvPr/>
        </p:nvSpPr>
        <p:spPr bwMode="auto">
          <a:xfrm>
            <a:off x="5534026" y="4826000"/>
            <a:ext cx="482441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Tx/>
              <a:buNone/>
            </a:pPr>
            <a:r>
              <a:rPr kumimoji="1" lang="zh-CN" altLang="en-US" sz="2800" b="0">
                <a:solidFill>
                  <a:schemeClr val="tx2"/>
                </a:solidFill>
              </a:rPr>
              <a:t>异柠檬酸脱氢酶</a:t>
            </a:r>
            <a:endParaRPr kumimoji="1" lang="zh-CN" altLang="en-US" sz="2800" b="0">
              <a:solidFill>
                <a:schemeClr val="tx2"/>
              </a:solidFill>
            </a:endParaRPr>
          </a:p>
          <a:p>
            <a:pPr eaLnBrk="1" hangingPunct="1">
              <a:lnSpc>
                <a:spcPct val="120000"/>
              </a:lnSpc>
              <a:spcBef>
                <a:spcPct val="0"/>
              </a:spcBef>
              <a:buClrTx/>
              <a:buSzTx/>
              <a:buFontTx/>
              <a:buNone/>
            </a:pPr>
            <a:r>
              <a:rPr kumimoji="1" lang="en-US" altLang="zh-CN" sz="2800" b="0">
                <a:solidFill>
                  <a:schemeClr val="tx2"/>
                </a:solidFill>
              </a:rPr>
              <a:t>α-</a:t>
            </a:r>
            <a:r>
              <a:rPr kumimoji="1" lang="zh-CN" altLang="en-US" sz="2800" b="0">
                <a:solidFill>
                  <a:schemeClr val="tx2"/>
                </a:solidFill>
              </a:rPr>
              <a:t>酮戊二酸脱氢酶复合体</a:t>
            </a:r>
            <a:endParaRPr kumimoji="1" lang="zh-CN" altLang="en-US" b="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01731"/>
                                        </p:tgtEl>
                                        <p:attrNameLst>
                                          <p:attrName>style.visibility</p:attrName>
                                        </p:attrNameLst>
                                      </p:cBhvr>
                                      <p:to>
                                        <p:strVal val="visible"/>
                                      </p:to>
                                    </p:set>
                                    <p:animEffect transition="in" filter="wipe(up)">
                                      <p:cBhvr>
                                        <p:cTn id="7" dur="1000"/>
                                        <p:tgtEl>
                                          <p:spTgt spid="201731"/>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01732"/>
                                        </p:tgtEl>
                                        <p:attrNameLst>
                                          <p:attrName>style.visibility</p:attrName>
                                        </p:attrNameLst>
                                      </p:cBhvr>
                                      <p:to>
                                        <p:strVal val="visible"/>
                                      </p:to>
                                    </p:set>
                                    <p:animEffect transition="in" filter="wipe(up)">
                                      <p:cBhvr>
                                        <p:cTn id="11" dur="1000"/>
                                        <p:tgtEl>
                                          <p:spTgt spid="20173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1733"/>
                                        </p:tgtEl>
                                        <p:attrNameLst>
                                          <p:attrName>style.visibility</p:attrName>
                                        </p:attrNameLst>
                                      </p:cBhvr>
                                      <p:to>
                                        <p:strVal val="visible"/>
                                      </p:to>
                                    </p:set>
                                    <p:animEffect transition="in" filter="dissolve">
                                      <p:cBhvr>
                                        <p:cTn id="16" dur="1000"/>
                                        <p:tgtEl>
                                          <p:spTgt spid="201733"/>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201736">
                                            <p:txEl>
                                              <p:pRg st="0" end="0"/>
                                            </p:txEl>
                                          </p:spTgt>
                                        </p:tgtEl>
                                        <p:attrNameLst>
                                          <p:attrName>style.visibility</p:attrName>
                                        </p:attrNameLst>
                                      </p:cBhvr>
                                      <p:to>
                                        <p:strVal val="visible"/>
                                      </p:to>
                                    </p:set>
                                    <p:animEffect transition="in" filter="dissolve">
                                      <p:cBhvr>
                                        <p:cTn id="20" dur="1000"/>
                                        <p:tgtEl>
                                          <p:spTgt spid="201736">
                                            <p:txEl>
                                              <p:pRg st="0" end="0"/>
                                            </p:txEl>
                                          </p:spTgt>
                                        </p:tgtEl>
                                      </p:cBhvr>
                                    </p:animEffect>
                                  </p:childTnLst>
                                </p:cTn>
                              </p:par>
                            </p:childTnLst>
                          </p:cTn>
                        </p:par>
                        <p:par>
                          <p:cTn id="21" fill="hold">
                            <p:stCondLst>
                              <p:cond delay="2000"/>
                            </p:stCondLst>
                            <p:childTnLst>
                              <p:par>
                                <p:cTn id="22" presetID="9" presetClass="entr" presetSubtype="0" fill="hold" grpId="0" nodeType="afterEffect">
                                  <p:stCondLst>
                                    <p:cond delay="0"/>
                                  </p:stCondLst>
                                  <p:childTnLst>
                                    <p:set>
                                      <p:cBhvr>
                                        <p:cTn id="23" dur="1" fill="hold">
                                          <p:stCondLst>
                                            <p:cond delay="0"/>
                                          </p:stCondLst>
                                        </p:cTn>
                                        <p:tgtEl>
                                          <p:spTgt spid="201736">
                                            <p:txEl>
                                              <p:pRg st="1" end="1"/>
                                            </p:txEl>
                                          </p:spTgt>
                                        </p:tgtEl>
                                        <p:attrNameLst>
                                          <p:attrName>style.visibility</p:attrName>
                                        </p:attrNameLst>
                                      </p:cBhvr>
                                      <p:to>
                                        <p:strVal val="visible"/>
                                      </p:to>
                                    </p:set>
                                    <p:animEffect transition="in" filter="dissolve">
                                      <p:cBhvr>
                                        <p:cTn id="24" dur="1000"/>
                                        <p:tgtEl>
                                          <p:spTgt spid="20173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1734"/>
                                        </p:tgtEl>
                                        <p:attrNameLst>
                                          <p:attrName>style.visibility</p:attrName>
                                        </p:attrNameLst>
                                      </p:cBhvr>
                                      <p:to>
                                        <p:strVal val="visible"/>
                                      </p:to>
                                    </p:set>
                                    <p:animEffect transition="in" filter="dissolve">
                                      <p:cBhvr>
                                        <p:cTn id="29" dur="1000"/>
                                        <p:tgtEl>
                                          <p:spTgt spid="20173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01735"/>
                                        </p:tgtEl>
                                        <p:attrNameLst>
                                          <p:attrName>style.visibility</p:attrName>
                                        </p:attrNameLst>
                                      </p:cBhvr>
                                      <p:to>
                                        <p:strVal val="visible"/>
                                      </p:to>
                                    </p:set>
                                    <p:animEffect transition="in" filter="dissolve">
                                      <p:cBhvr>
                                        <p:cTn id="34" dur="1000"/>
                                        <p:tgtEl>
                                          <p:spTgt spid="201735"/>
                                        </p:tgtEl>
                                      </p:cBhvr>
                                    </p:animEffect>
                                  </p:childTnLst>
                                </p:cTn>
                              </p:par>
                            </p:childTnLst>
                          </p:cTn>
                        </p:par>
                        <p:par>
                          <p:cTn id="35" fill="hold">
                            <p:stCondLst>
                              <p:cond delay="1000"/>
                            </p:stCondLst>
                            <p:childTnLst>
                              <p:par>
                                <p:cTn id="36" presetID="9" presetClass="entr" presetSubtype="0" fill="hold" grpId="0" nodeType="afterEffect">
                                  <p:stCondLst>
                                    <p:cond delay="0"/>
                                  </p:stCondLst>
                                  <p:childTnLst>
                                    <p:set>
                                      <p:cBhvr>
                                        <p:cTn id="37" dur="1" fill="hold">
                                          <p:stCondLst>
                                            <p:cond delay="0"/>
                                          </p:stCondLst>
                                        </p:cTn>
                                        <p:tgtEl>
                                          <p:spTgt spid="201737">
                                            <p:txEl>
                                              <p:pRg st="0" end="0"/>
                                            </p:txEl>
                                          </p:spTgt>
                                        </p:tgtEl>
                                        <p:attrNameLst>
                                          <p:attrName>style.visibility</p:attrName>
                                        </p:attrNameLst>
                                      </p:cBhvr>
                                      <p:to>
                                        <p:strVal val="visible"/>
                                      </p:to>
                                    </p:set>
                                    <p:animEffect transition="in" filter="dissolve">
                                      <p:cBhvr>
                                        <p:cTn id="38" dur="1000"/>
                                        <p:tgtEl>
                                          <p:spTgt spid="201737">
                                            <p:txEl>
                                              <p:pRg st="0" end="0"/>
                                            </p:txEl>
                                          </p:spTgt>
                                        </p:tgtEl>
                                      </p:cBhvr>
                                    </p:animEffect>
                                  </p:childTnLst>
                                </p:cTn>
                              </p:par>
                            </p:childTnLst>
                          </p:cTn>
                        </p:par>
                        <p:par>
                          <p:cTn id="39" fill="hold">
                            <p:stCondLst>
                              <p:cond delay="2000"/>
                            </p:stCondLst>
                            <p:childTnLst>
                              <p:par>
                                <p:cTn id="40" presetID="9" presetClass="entr" presetSubtype="0" fill="hold" grpId="0" nodeType="afterEffect">
                                  <p:stCondLst>
                                    <p:cond delay="0"/>
                                  </p:stCondLst>
                                  <p:childTnLst>
                                    <p:set>
                                      <p:cBhvr>
                                        <p:cTn id="41" dur="1" fill="hold">
                                          <p:stCondLst>
                                            <p:cond delay="0"/>
                                          </p:stCondLst>
                                        </p:cTn>
                                        <p:tgtEl>
                                          <p:spTgt spid="201737">
                                            <p:txEl>
                                              <p:pRg st="1" end="1"/>
                                            </p:txEl>
                                          </p:spTgt>
                                        </p:tgtEl>
                                        <p:attrNameLst>
                                          <p:attrName>style.visibility</p:attrName>
                                        </p:attrNameLst>
                                      </p:cBhvr>
                                      <p:to>
                                        <p:strVal val="visible"/>
                                      </p:to>
                                    </p:set>
                                    <p:animEffect transition="in" filter="dissolve">
                                      <p:cBhvr>
                                        <p:cTn id="42" dur="1000"/>
                                        <p:tgtEl>
                                          <p:spTgt spid="2017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p:bldP spid="201732" grpId="0" animBg="1"/>
      <p:bldP spid="201733" grpId="0"/>
      <p:bldP spid="201734" grpId="0"/>
      <p:bldP spid="201735" grpId="0"/>
      <p:bldP spid="201736" grpId="0" build="p"/>
      <p:bldP spid="201737"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2" descr="丙酮酸脱氢酶复合体调节"/>
          <p:cNvPicPr>
            <a:picLocks noChangeAspect="1" noChangeArrowheads="1"/>
          </p:cNvPicPr>
          <p:nvPr/>
        </p:nvPicPr>
        <p:blipFill>
          <a:blip r:embed="rId1">
            <a:extLst>
              <a:ext uri="{28A0092B-C50C-407E-A947-70E740481C1C}">
                <a14:useLocalDpi xmlns:a14="http://schemas.microsoft.com/office/drawing/2010/main" val="0"/>
              </a:ext>
            </a:extLst>
          </a:blip>
          <a:srcRect b="5788"/>
          <a:stretch>
            <a:fillRect/>
          </a:stretch>
        </p:blipFill>
        <p:spPr bwMode="auto">
          <a:xfrm>
            <a:off x="3179763" y="1216025"/>
            <a:ext cx="748665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2351584" y="210152"/>
            <a:ext cx="8592889" cy="6477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algn="l" eaLnBrk="1" hangingPunct="1">
              <a:defRPr/>
            </a:pPr>
            <a:r>
              <a:rPr lang="en-US" altLang="zh-CN" sz="2800" b="0" kern="0" dirty="0">
                <a:solidFill>
                  <a:srgbClr val="660033"/>
                </a:solidFill>
                <a:latin typeface="+mj-ea"/>
              </a:rPr>
              <a:t>1.</a:t>
            </a:r>
            <a:r>
              <a:rPr lang="zh-CN" altLang="en-US" sz="2800" b="0" kern="0" dirty="0">
                <a:solidFill>
                  <a:srgbClr val="660033"/>
                </a:solidFill>
                <a:latin typeface="+mj-ea"/>
              </a:rPr>
              <a:t>丙酮酸脱氢酶复合体调节乙酰</a:t>
            </a:r>
            <a:r>
              <a:rPr lang="en-US" altLang="zh-CN" sz="2800" b="0" kern="0" dirty="0">
                <a:solidFill>
                  <a:srgbClr val="660033"/>
                </a:solidFill>
                <a:latin typeface="+mj-ea"/>
              </a:rPr>
              <a:t>CoA</a:t>
            </a:r>
            <a:r>
              <a:rPr lang="zh-CN" altLang="en-US" sz="2800" b="0" kern="0" dirty="0">
                <a:solidFill>
                  <a:srgbClr val="660033"/>
                </a:solidFill>
                <a:latin typeface="+mj-ea"/>
              </a:rPr>
              <a:t>生成的速率</a:t>
            </a:r>
            <a:endParaRPr lang="zh-CN" altLang="en-US" sz="2800" b="0" kern="0" dirty="0">
              <a:solidFill>
                <a:srgbClr val="660033"/>
              </a:solidFill>
              <a:latin typeface="+mj-ea"/>
            </a:endParaRPr>
          </a:p>
        </p:txBody>
      </p:sp>
      <p:sp>
        <p:nvSpPr>
          <p:cNvPr id="218116" name="文本框 1"/>
          <p:cNvSpPr txBox="1">
            <a:spLocks noChangeArrowheads="1"/>
          </p:cNvSpPr>
          <p:nvPr/>
        </p:nvSpPr>
        <p:spPr bwMode="auto">
          <a:xfrm>
            <a:off x="839416" y="1193143"/>
            <a:ext cx="41767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dirty="0">
                <a:solidFill>
                  <a:srgbClr val="0000CC"/>
                </a:solidFill>
                <a:latin typeface="Arial" panose="020B0604020202020204" pitchFamily="34" charset="0"/>
                <a:ea typeface="宋体" panose="02010600030101010101" pitchFamily="2" charset="-122"/>
              </a:rPr>
              <a:t>别构调节 </a:t>
            </a:r>
            <a:r>
              <a:rPr lang="en-US" altLang="zh-CN" sz="2800" dirty="0">
                <a:solidFill>
                  <a:srgbClr val="0000CC"/>
                </a:solidFill>
                <a:latin typeface="Arial" panose="020B0604020202020204" pitchFamily="34" charset="0"/>
                <a:ea typeface="宋体" panose="02010600030101010101" pitchFamily="2" charset="-122"/>
              </a:rPr>
              <a:t>+ </a:t>
            </a:r>
            <a:r>
              <a:rPr lang="zh-CN" altLang="en-US" sz="2800" dirty="0">
                <a:solidFill>
                  <a:srgbClr val="0000CC"/>
                </a:solidFill>
                <a:latin typeface="Arial" panose="020B0604020202020204" pitchFamily="34" charset="0"/>
                <a:ea typeface="宋体" panose="02010600030101010101" pitchFamily="2" charset="-122"/>
              </a:rPr>
              <a:t>共价修饰调节</a:t>
            </a:r>
            <a:endParaRPr lang="zh-CN" altLang="en-US" sz="2800" dirty="0">
              <a:solidFill>
                <a:srgbClr val="0000CC"/>
              </a:solidFill>
              <a:latin typeface="Arial" panose="020B0604020202020204" pitchFamily="34" charset="0"/>
              <a:ea typeface="宋体" panose="02010600030101010101" pitchFamily="2" charset="-122"/>
            </a:endParaRPr>
          </a:p>
        </p:txBody>
      </p:sp>
      <p:sp>
        <p:nvSpPr>
          <p:cNvPr id="6" name="Text Box 4"/>
          <p:cNvSpPr txBox="1">
            <a:spLocks noChangeArrowheads="1"/>
          </p:cNvSpPr>
          <p:nvPr/>
        </p:nvSpPr>
        <p:spPr bwMode="auto">
          <a:xfrm>
            <a:off x="1763714" y="5949950"/>
            <a:ext cx="4619625" cy="795338"/>
          </a:xfrm>
          <a:prstGeom prst="rect">
            <a:avLst/>
          </a:prstGeom>
          <a:solidFill>
            <a:srgbClr val="FFFFB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ClrTx/>
              <a:buSzTx/>
              <a:buFontTx/>
              <a:buNone/>
            </a:pPr>
            <a:r>
              <a:rPr kumimoji="1" lang="zh-CN" altLang="en-US" sz="2000" b="0"/>
              <a:t> * </a:t>
            </a:r>
            <a:r>
              <a:rPr kumimoji="1" lang="zh-CN" altLang="en-US" sz="2000" b="0">
                <a:solidFill>
                  <a:srgbClr val="000099"/>
                </a:solidFill>
              </a:rPr>
              <a:t>乙酰</a:t>
            </a:r>
            <a:r>
              <a:rPr kumimoji="1" lang="en-US" altLang="zh-CN" sz="2000" b="0">
                <a:solidFill>
                  <a:srgbClr val="000099"/>
                </a:solidFill>
              </a:rPr>
              <a:t>CoA/HSCoA</a:t>
            </a:r>
            <a:r>
              <a:rPr kumimoji="1" lang="en-US" altLang="zh-CN" sz="2000" b="0">
                <a:solidFill>
                  <a:srgbClr val="000099"/>
                </a:solidFill>
                <a:sym typeface="Symbol" panose="05050102010706020507" pitchFamily="18" charset="2"/>
              </a:rPr>
              <a:t></a:t>
            </a:r>
            <a:r>
              <a:rPr kumimoji="1" lang="zh-CN" altLang="en-US" sz="2000" b="0"/>
              <a:t>或 </a:t>
            </a:r>
            <a:r>
              <a:rPr kumimoji="1" lang="en-US" altLang="zh-CN" sz="2000" b="0">
                <a:solidFill>
                  <a:srgbClr val="000099"/>
                </a:solidFill>
              </a:rPr>
              <a:t>NADH/NAD</a:t>
            </a:r>
            <a:r>
              <a:rPr kumimoji="1" lang="en-US" altLang="zh-CN" sz="2000" b="0" baseline="30000">
                <a:solidFill>
                  <a:srgbClr val="000099"/>
                </a:solidFill>
              </a:rPr>
              <a:t>+</a:t>
            </a:r>
            <a:r>
              <a:rPr kumimoji="1" lang="en-US" altLang="zh-CN" sz="2000" b="0">
                <a:solidFill>
                  <a:srgbClr val="000099"/>
                </a:solidFill>
                <a:sym typeface="Symbol" panose="05050102010706020507" pitchFamily="18" charset="2"/>
              </a:rPr>
              <a:t></a:t>
            </a:r>
            <a:r>
              <a:rPr kumimoji="1" lang="zh-CN" altLang="en-US" sz="2000" b="0"/>
              <a:t>时，其活性会受到抑制。</a:t>
            </a:r>
            <a:endParaRPr kumimoji="1" lang="zh-CN" altLang="en-US" sz="2000" b="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0162" name="Group 2"/>
          <p:cNvGrpSpPr/>
          <p:nvPr/>
        </p:nvGrpSpPr>
        <p:grpSpPr bwMode="auto">
          <a:xfrm>
            <a:off x="4691310" y="384175"/>
            <a:ext cx="5656263" cy="6070600"/>
            <a:chOff x="1972" y="287"/>
            <a:chExt cx="3563" cy="3824"/>
          </a:xfrm>
        </p:grpSpPr>
        <p:sp>
          <p:nvSpPr>
            <p:cNvPr id="220195" name="Text Box 3"/>
            <p:cNvSpPr txBox="1">
              <a:spLocks noChangeArrowheads="1"/>
            </p:cNvSpPr>
            <p:nvPr/>
          </p:nvSpPr>
          <p:spPr bwMode="auto">
            <a:xfrm>
              <a:off x="2971" y="287"/>
              <a:ext cx="9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黑体" panose="02010609060101010101" pitchFamily="2" charset="-122"/>
                  <a:ea typeface="黑体" panose="02010609060101010101" pitchFamily="2" charset="-122"/>
                </a:rPr>
                <a:t>乙酰</a:t>
              </a:r>
              <a:r>
                <a:rPr kumimoji="1" lang="en-US" altLang="zh-CN" sz="2400">
                  <a:latin typeface="Antique Olive"/>
                  <a:ea typeface="黑体" panose="02010609060101010101" pitchFamily="2" charset="-122"/>
                </a:rPr>
                <a:t>CoA  </a:t>
              </a:r>
              <a:endParaRPr kumimoji="1" lang="en-US" altLang="zh-CN" sz="2400">
                <a:latin typeface="Antique Olive"/>
                <a:ea typeface="黑体" panose="02010609060101010101" pitchFamily="2" charset="-122"/>
              </a:endParaRPr>
            </a:p>
          </p:txBody>
        </p:sp>
        <p:sp>
          <p:nvSpPr>
            <p:cNvPr id="220196" name="Text Box 4"/>
            <p:cNvSpPr txBox="1">
              <a:spLocks noChangeArrowheads="1"/>
            </p:cNvSpPr>
            <p:nvPr/>
          </p:nvSpPr>
          <p:spPr bwMode="auto">
            <a:xfrm>
              <a:off x="4150" y="1240"/>
              <a:ext cx="8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黑体" panose="02010609060101010101" pitchFamily="2" charset="-122"/>
                  <a:ea typeface="黑体" panose="02010609060101010101" pitchFamily="2" charset="-122"/>
                </a:rPr>
                <a:t>柠檬酸  </a:t>
              </a:r>
              <a:endParaRPr kumimoji="1" lang="zh-CN" altLang="en-US" sz="2400">
                <a:latin typeface="黑体" panose="02010609060101010101" pitchFamily="2" charset="-122"/>
                <a:ea typeface="黑体" panose="02010609060101010101" pitchFamily="2" charset="-122"/>
              </a:endParaRPr>
            </a:p>
          </p:txBody>
        </p:sp>
        <p:sp>
          <p:nvSpPr>
            <p:cNvPr id="220197" name="Text Box 5"/>
            <p:cNvSpPr txBox="1">
              <a:spLocks noChangeArrowheads="1"/>
            </p:cNvSpPr>
            <p:nvPr/>
          </p:nvSpPr>
          <p:spPr bwMode="auto">
            <a:xfrm>
              <a:off x="2200" y="1286"/>
              <a:ext cx="1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黑体" panose="02010609060101010101" pitchFamily="2" charset="-122"/>
                  <a:ea typeface="黑体" panose="02010609060101010101" pitchFamily="2" charset="-122"/>
                </a:rPr>
                <a:t>草酰乙酸  </a:t>
              </a:r>
              <a:endParaRPr kumimoji="1" lang="zh-CN" altLang="en-US" sz="2400">
                <a:latin typeface="黑体" panose="02010609060101010101" pitchFamily="2" charset="-122"/>
                <a:ea typeface="黑体" panose="02010609060101010101" pitchFamily="2" charset="-122"/>
              </a:endParaRPr>
            </a:p>
          </p:txBody>
        </p:sp>
        <p:sp>
          <p:nvSpPr>
            <p:cNvPr id="220198" name="Text Box 6"/>
            <p:cNvSpPr txBox="1">
              <a:spLocks noChangeArrowheads="1"/>
            </p:cNvSpPr>
            <p:nvPr/>
          </p:nvSpPr>
          <p:spPr bwMode="auto">
            <a:xfrm>
              <a:off x="2971" y="3385"/>
              <a:ext cx="11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黑体" panose="02010609060101010101" pitchFamily="2" charset="-122"/>
                  <a:ea typeface="黑体" panose="02010609060101010101" pitchFamily="2" charset="-122"/>
                </a:rPr>
                <a:t>琥珀酰</a:t>
              </a:r>
              <a:r>
                <a:rPr kumimoji="1" lang="en-US" altLang="zh-CN" sz="2400">
                  <a:latin typeface="Antique Olive"/>
                  <a:ea typeface="黑体" panose="02010609060101010101" pitchFamily="2" charset="-122"/>
                </a:rPr>
                <a:t>CoA   </a:t>
              </a:r>
              <a:endParaRPr kumimoji="1" lang="en-US" altLang="zh-CN" sz="2400">
                <a:latin typeface="Antique Olive"/>
                <a:ea typeface="黑体" panose="02010609060101010101" pitchFamily="2" charset="-122"/>
              </a:endParaRPr>
            </a:p>
          </p:txBody>
        </p:sp>
        <p:sp>
          <p:nvSpPr>
            <p:cNvPr id="220199" name="Text Box 7"/>
            <p:cNvSpPr txBox="1">
              <a:spLocks noChangeArrowheads="1"/>
            </p:cNvSpPr>
            <p:nvPr/>
          </p:nvSpPr>
          <p:spPr bwMode="auto">
            <a:xfrm>
              <a:off x="4150" y="2828"/>
              <a:ext cx="13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l-GR" altLang="zh-CN" sz="2400">
                  <a:latin typeface="黑体" panose="02010609060101010101" pitchFamily="2" charset="-122"/>
                  <a:ea typeface="黑体" panose="02010609060101010101" pitchFamily="2" charset="-122"/>
                </a:rPr>
                <a:t>α</a:t>
              </a:r>
              <a:r>
                <a:rPr kumimoji="1" lang="en-US" altLang="zh-CN" sz="2400">
                  <a:latin typeface="黑体" panose="02010609060101010101" pitchFamily="2" charset="-122"/>
                  <a:ea typeface="黑体" panose="02010609060101010101" pitchFamily="2" charset="-122"/>
                </a:rPr>
                <a:t>-</a:t>
              </a:r>
              <a:r>
                <a:rPr kumimoji="1" lang="zh-CN" altLang="en-US" sz="2400">
                  <a:latin typeface="黑体" panose="02010609060101010101" pitchFamily="2" charset="-122"/>
                  <a:ea typeface="黑体" panose="02010609060101010101" pitchFamily="2" charset="-122"/>
                </a:rPr>
                <a:t>酮戊二酸  </a:t>
              </a:r>
              <a:endParaRPr kumimoji="1" lang="zh-CN" altLang="el-GR" sz="2400">
                <a:latin typeface="黑体" panose="02010609060101010101" pitchFamily="2" charset="-122"/>
                <a:ea typeface="黑体" panose="02010609060101010101" pitchFamily="2" charset="-122"/>
              </a:endParaRPr>
            </a:p>
          </p:txBody>
        </p:sp>
        <p:sp>
          <p:nvSpPr>
            <p:cNvPr id="220200" name="Text Box 8"/>
            <p:cNvSpPr txBox="1">
              <a:spLocks noChangeArrowheads="1"/>
            </p:cNvSpPr>
            <p:nvPr/>
          </p:nvSpPr>
          <p:spPr bwMode="auto">
            <a:xfrm>
              <a:off x="4286" y="1830"/>
              <a:ext cx="1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黑体" panose="02010609060101010101" pitchFamily="2" charset="-122"/>
                  <a:ea typeface="黑体" panose="02010609060101010101" pitchFamily="2" charset="-122"/>
                </a:rPr>
                <a:t>异柠檬酸  </a:t>
              </a:r>
              <a:endParaRPr kumimoji="1" lang="zh-CN" altLang="en-US" sz="2400">
                <a:latin typeface="黑体" panose="02010609060101010101" pitchFamily="2" charset="-122"/>
                <a:ea typeface="黑体" panose="02010609060101010101" pitchFamily="2" charset="-122"/>
              </a:endParaRPr>
            </a:p>
          </p:txBody>
        </p:sp>
        <p:sp>
          <p:nvSpPr>
            <p:cNvPr id="220201" name="Text Box 9"/>
            <p:cNvSpPr txBox="1">
              <a:spLocks noChangeArrowheads="1"/>
            </p:cNvSpPr>
            <p:nvPr/>
          </p:nvSpPr>
          <p:spPr bwMode="auto">
            <a:xfrm>
              <a:off x="1972" y="2102"/>
              <a:ext cx="8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黑体" panose="02010609060101010101" pitchFamily="2" charset="-122"/>
                  <a:ea typeface="黑体" panose="02010609060101010101" pitchFamily="2" charset="-122"/>
                </a:rPr>
                <a:t>苹果酸  </a:t>
              </a:r>
              <a:endParaRPr kumimoji="1" lang="zh-CN" altLang="en-US" sz="2400">
                <a:latin typeface="黑体" panose="02010609060101010101" pitchFamily="2" charset="-122"/>
                <a:ea typeface="黑体" panose="02010609060101010101" pitchFamily="2" charset="-122"/>
              </a:endParaRPr>
            </a:p>
          </p:txBody>
        </p:sp>
        <p:sp>
          <p:nvSpPr>
            <p:cNvPr id="220202" name="Arc 10"/>
            <p:cNvSpPr/>
            <p:nvPr/>
          </p:nvSpPr>
          <p:spPr bwMode="auto">
            <a:xfrm>
              <a:off x="2884" y="1071"/>
              <a:ext cx="1382" cy="1263"/>
            </a:xfrm>
            <a:custGeom>
              <a:avLst/>
              <a:gdLst>
                <a:gd name="T0" fmla="*/ 0 w 23640"/>
                <a:gd name="T1" fmla="*/ 0 h 21600"/>
                <a:gd name="T2" fmla="*/ 0 w 23640"/>
                <a:gd name="T3" fmla="*/ 0 h 21600"/>
                <a:gd name="T4" fmla="*/ 0 w 23640"/>
                <a:gd name="T5" fmla="*/ 0 h 21600"/>
                <a:gd name="T6" fmla="*/ 0 60000 65536"/>
                <a:gd name="T7" fmla="*/ 0 60000 65536"/>
                <a:gd name="T8" fmla="*/ 0 60000 65536"/>
                <a:gd name="T9" fmla="*/ 0 w 23640"/>
                <a:gd name="T10" fmla="*/ 0 h 21600"/>
                <a:gd name="T11" fmla="*/ 23640 w 23640"/>
                <a:gd name="T12" fmla="*/ 21600 h 21600"/>
              </a:gdLst>
              <a:ahLst/>
              <a:cxnLst>
                <a:cxn ang="T6">
                  <a:pos x="T0" y="T1"/>
                </a:cxn>
                <a:cxn ang="T7">
                  <a:pos x="T2" y="T3"/>
                </a:cxn>
                <a:cxn ang="T8">
                  <a:pos x="T4" y="T5"/>
                </a:cxn>
              </a:cxnLst>
              <a:rect l="T9" t="T10" r="T11" b="T12"/>
              <a:pathLst>
                <a:path w="23640" h="21600" fill="none" extrusionOk="0">
                  <a:moveTo>
                    <a:pt x="-1" y="3793"/>
                  </a:moveTo>
                  <a:cubicBezTo>
                    <a:pt x="3598" y="1322"/>
                    <a:pt x="7861" y="-1"/>
                    <a:pt x="12227" y="0"/>
                  </a:cubicBezTo>
                  <a:cubicBezTo>
                    <a:pt x="16261" y="0"/>
                    <a:pt x="20215" y="1129"/>
                    <a:pt x="23640" y="3261"/>
                  </a:cubicBezTo>
                </a:path>
                <a:path w="23640" h="21600" stroke="0" extrusionOk="0">
                  <a:moveTo>
                    <a:pt x="-1" y="3793"/>
                  </a:moveTo>
                  <a:cubicBezTo>
                    <a:pt x="3598" y="1322"/>
                    <a:pt x="7861" y="-1"/>
                    <a:pt x="12227" y="0"/>
                  </a:cubicBezTo>
                  <a:cubicBezTo>
                    <a:pt x="16261" y="0"/>
                    <a:pt x="20215" y="1129"/>
                    <a:pt x="23640" y="3261"/>
                  </a:cubicBezTo>
                  <a:lnTo>
                    <a:pt x="12227" y="21600"/>
                  </a:lnTo>
                  <a:lnTo>
                    <a:pt x="-1" y="3793"/>
                  </a:lnTo>
                  <a:close/>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3" name="Arc 11"/>
            <p:cNvSpPr/>
            <p:nvPr/>
          </p:nvSpPr>
          <p:spPr bwMode="auto">
            <a:xfrm>
              <a:off x="3606" y="1525"/>
              <a:ext cx="1159" cy="814"/>
            </a:xfrm>
            <a:custGeom>
              <a:avLst/>
              <a:gdLst>
                <a:gd name="T0" fmla="*/ 0 w 19829"/>
                <a:gd name="T1" fmla="*/ 0 h 13930"/>
                <a:gd name="T2" fmla="*/ 0 w 19829"/>
                <a:gd name="T3" fmla="*/ 0 h 13930"/>
                <a:gd name="T4" fmla="*/ 0 w 19829"/>
                <a:gd name="T5" fmla="*/ 0 h 13930"/>
                <a:gd name="T6" fmla="*/ 0 60000 65536"/>
                <a:gd name="T7" fmla="*/ 0 60000 65536"/>
                <a:gd name="T8" fmla="*/ 0 60000 65536"/>
                <a:gd name="T9" fmla="*/ 0 w 19829"/>
                <a:gd name="T10" fmla="*/ 0 h 13930"/>
                <a:gd name="T11" fmla="*/ 19829 w 19829"/>
                <a:gd name="T12" fmla="*/ 13930 h 13930"/>
              </a:gdLst>
              <a:ahLst/>
              <a:cxnLst>
                <a:cxn ang="T6">
                  <a:pos x="T0" y="T1"/>
                </a:cxn>
                <a:cxn ang="T7">
                  <a:pos x="T2" y="T3"/>
                </a:cxn>
                <a:cxn ang="T8">
                  <a:pos x="T4" y="T5"/>
                </a:cxn>
              </a:cxnLst>
              <a:rect l="T9" t="T10" r="T11" b="T12"/>
              <a:pathLst>
                <a:path w="19829" h="13930" fill="none" extrusionOk="0">
                  <a:moveTo>
                    <a:pt x="16508" y="-1"/>
                  </a:moveTo>
                  <a:cubicBezTo>
                    <a:pt x="17871" y="1615"/>
                    <a:pt x="18990" y="3423"/>
                    <a:pt x="19828" y="5364"/>
                  </a:cubicBezTo>
                </a:path>
                <a:path w="19829" h="13930" stroke="0" extrusionOk="0">
                  <a:moveTo>
                    <a:pt x="16508" y="-1"/>
                  </a:moveTo>
                  <a:cubicBezTo>
                    <a:pt x="17871" y="1615"/>
                    <a:pt x="18990" y="3423"/>
                    <a:pt x="19828" y="5364"/>
                  </a:cubicBezTo>
                  <a:lnTo>
                    <a:pt x="0" y="13930"/>
                  </a:lnTo>
                  <a:lnTo>
                    <a:pt x="16508" y="-1"/>
                  </a:lnTo>
                  <a:close/>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4" name="Arc 12"/>
            <p:cNvSpPr/>
            <p:nvPr/>
          </p:nvSpPr>
          <p:spPr bwMode="auto">
            <a:xfrm>
              <a:off x="3598" y="2164"/>
              <a:ext cx="1263" cy="666"/>
            </a:xfrm>
            <a:custGeom>
              <a:avLst/>
              <a:gdLst>
                <a:gd name="T0" fmla="*/ 0 w 21600"/>
                <a:gd name="T1" fmla="*/ 0 h 11407"/>
                <a:gd name="T2" fmla="*/ 0 w 21600"/>
                <a:gd name="T3" fmla="*/ 0 h 11407"/>
                <a:gd name="T4" fmla="*/ 0 w 21600"/>
                <a:gd name="T5" fmla="*/ 0 h 11407"/>
                <a:gd name="T6" fmla="*/ 0 60000 65536"/>
                <a:gd name="T7" fmla="*/ 0 60000 65536"/>
                <a:gd name="T8" fmla="*/ 0 60000 65536"/>
                <a:gd name="T9" fmla="*/ 0 w 21600"/>
                <a:gd name="T10" fmla="*/ 0 h 11407"/>
                <a:gd name="T11" fmla="*/ 21600 w 21600"/>
                <a:gd name="T12" fmla="*/ 11407 h 11407"/>
              </a:gdLst>
              <a:ahLst/>
              <a:cxnLst>
                <a:cxn ang="T6">
                  <a:pos x="T0" y="T1"/>
                </a:cxn>
                <a:cxn ang="T7">
                  <a:pos x="T2" y="T3"/>
                </a:cxn>
                <a:cxn ang="T8">
                  <a:pos x="T4" y="T5"/>
                </a:cxn>
              </a:cxnLst>
              <a:rect l="T9" t="T10" r="T11" b="T12"/>
              <a:pathLst>
                <a:path w="21600" h="11407" fill="none" extrusionOk="0">
                  <a:moveTo>
                    <a:pt x="21398" y="0"/>
                  </a:moveTo>
                  <a:cubicBezTo>
                    <a:pt x="21532" y="974"/>
                    <a:pt x="21600" y="1957"/>
                    <a:pt x="21600" y="2942"/>
                  </a:cubicBezTo>
                  <a:cubicBezTo>
                    <a:pt x="21600" y="5851"/>
                    <a:pt x="21012" y="8730"/>
                    <a:pt x="19872" y="11407"/>
                  </a:cubicBezTo>
                </a:path>
                <a:path w="21600" h="11407" stroke="0" extrusionOk="0">
                  <a:moveTo>
                    <a:pt x="21398" y="0"/>
                  </a:moveTo>
                  <a:cubicBezTo>
                    <a:pt x="21532" y="974"/>
                    <a:pt x="21600" y="1957"/>
                    <a:pt x="21600" y="2942"/>
                  </a:cubicBezTo>
                  <a:cubicBezTo>
                    <a:pt x="21600" y="5851"/>
                    <a:pt x="21012" y="8730"/>
                    <a:pt x="19872" y="11407"/>
                  </a:cubicBezTo>
                  <a:lnTo>
                    <a:pt x="0" y="2942"/>
                  </a:lnTo>
                  <a:lnTo>
                    <a:pt x="21398" y="0"/>
                  </a:lnTo>
                  <a:close/>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5" name="Arc 13"/>
            <p:cNvSpPr/>
            <p:nvPr/>
          </p:nvSpPr>
          <p:spPr bwMode="auto">
            <a:xfrm>
              <a:off x="3599" y="2335"/>
              <a:ext cx="1010" cy="1160"/>
            </a:xfrm>
            <a:custGeom>
              <a:avLst/>
              <a:gdLst>
                <a:gd name="T0" fmla="*/ 0 w 17280"/>
                <a:gd name="T1" fmla="*/ 0 h 19839"/>
                <a:gd name="T2" fmla="*/ 0 w 17280"/>
                <a:gd name="T3" fmla="*/ 0 h 19839"/>
                <a:gd name="T4" fmla="*/ 0 w 17280"/>
                <a:gd name="T5" fmla="*/ 0 h 19839"/>
                <a:gd name="T6" fmla="*/ 0 60000 65536"/>
                <a:gd name="T7" fmla="*/ 0 60000 65536"/>
                <a:gd name="T8" fmla="*/ 0 60000 65536"/>
                <a:gd name="T9" fmla="*/ 0 w 17280"/>
                <a:gd name="T10" fmla="*/ 0 h 19839"/>
                <a:gd name="T11" fmla="*/ 17280 w 17280"/>
                <a:gd name="T12" fmla="*/ 19839 h 19839"/>
              </a:gdLst>
              <a:ahLst/>
              <a:cxnLst>
                <a:cxn ang="T6">
                  <a:pos x="T0" y="T1"/>
                </a:cxn>
                <a:cxn ang="T7">
                  <a:pos x="T2" y="T3"/>
                </a:cxn>
                <a:cxn ang="T8">
                  <a:pos x="T4" y="T5"/>
                </a:cxn>
              </a:cxnLst>
              <a:rect l="T9" t="T10" r="T11" b="T12"/>
              <a:pathLst>
                <a:path w="17280" h="19839" fill="none" extrusionOk="0">
                  <a:moveTo>
                    <a:pt x="17280" y="12959"/>
                  </a:moveTo>
                  <a:cubicBezTo>
                    <a:pt x="15017" y="15976"/>
                    <a:pt x="12004" y="18348"/>
                    <a:pt x="8541" y="19839"/>
                  </a:cubicBezTo>
                </a:path>
                <a:path w="17280" h="19839" stroke="0" extrusionOk="0">
                  <a:moveTo>
                    <a:pt x="17280" y="12959"/>
                  </a:moveTo>
                  <a:cubicBezTo>
                    <a:pt x="15017" y="15976"/>
                    <a:pt x="12004" y="18348"/>
                    <a:pt x="8541" y="19839"/>
                  </a:cubicBezTo>
                  <a:lnTo>
                    <a:pt x="0" y="0"/>
                  </a:lnTo>
                  <a:lnTo>
                    <a:pt x="17280" y="12959"/>
                  </a:lnTo>
                  <a:close/>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6" name="Arc 14"/>
            <p:cNvSpPr/>
            <p:nvPr/>
          </p:nvSpPr>
          <p:spPr bwMode="auto">
            <a:xfrm>
              <a:off x="2686" y="2334"/>
              <a:ext cx="912" cy="1114"/>
            </a:xfrm>
            <a:custGeom>
              <a:avLst/>
              <a:gdLst>
                <a:gd name="T0" fmla="*/ 0 w 15601"/>
                <a:gd name="T1" fmla="*/ 0 h 19047"/>
                <a:gd name="T2" fmla="*/ 0 w 15601"/>
                <a:gd name="T3" fmla="*/ 0 h 19047"/>
                <a:gd name="T4" fmla="*/ 0 w 15601"/>
                <a:gd name="T5" fmla="*/ 0 h 19047"/>
                <a:gd name="T6" fmla="*/ 0 60000 65536"/>
                <a:gd name="T7" fmla="*/ 0 60000 65536"/>
                <a:gd name="T8" fmla="*/ 0 60000 65536"/>
                <a:gd name="T9" fmla="*/ 0 w 15601"/>
                <a:gd name="T10" fmla="*/ 0 h 19047"/>
                <a:gd name="T11" fmla="*/ 15601 w 15601"/>
                <a:gd name="T12" fmla="*/ 19047 h 19047"/>
              </a:gdLst>
              <a:ahLst/>
              <a:cxnLst>
                <a:cxn ang="T6">
                  <a:pos x="T0" y="T1"/>
                </a:cxn>
                <a:cxn ang="T7">
                  <a:pos x="T2" y="T3"/>
                </a:cxn>
                <a:cxn ang="T8">
                  <a:pos x="T4" y="T5"/>
                </a:cxn>
              </a:cxnLst>
              <a:rect l="T9" t="T10" r="T11" b="T12"/>
              <a:pathLst>
                <a:path w="15601" h="19047" fill="none" extrusionOk="0">
                  <a:moveTo>
                    <a:pt x="5414" y="19046"/>
                  </a:moveTo>
                  <a:cubicBezTo>
                    <a:pt x="3403" y="17971"/>
                    <a:pt x="1576" y="16585"/>
                    <a:pt x="0" y="14938"/>
                  </a:cubicBezTo>
                </a:path>
                <a:path w="15601" h="19047" stroke="0" extrusionOk="0">
                  <a:moveTo>
                    <a:pt x="5414" y="19046"/>
                  </a:moveTo>
                  <a:cubicBezTo>
                    <a:pt x="3403" y="17971"/>
                    <a:pt x="1576" y="16585"/>
                    <a:pt x="0" y="14938"/>
                  </a:cubicBezTo>
                  <a:lnTo>
                    <a:pt x="15601" y="0"/>
                  </a:lnTo>
                  <a:lnTo>
                    <a:pt x="5414" y="19046"/>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7" name="Arc 15"/>
            <p:cNvSpPr/>
            <p:nvPr/>
          </p:nvSpPr>
          <p:spPr bwMode="auto">
            <a:xfrm>
              <a:off x="2335" y="2334"/>
              <a:ext cx="1263" cy="517"/>
            </a:xfrm>
            <a:custGeom>
              <a:avLst/>
              <a:gdLst>
                <a:gd name="T0" fmla="*/ 0 w 21600"/>
                <a:gd name="T1" fmla="*/ 0 h 8846"/>
                <a:gd name="T2" fmla="*/ 0 w 21600"/>
                <a:gd name="T3" fmla="*/ 0 h 8846"/>
                <a:gd name="T4" fmla="*/ 0 w 21600"/>
                <a:gd name="T5" fmla="*/ 0 h 8846"/>
                <a:gd name="T6" fmla="*/ 0 60000 65536"/>
                <a:gd name="T7" fmla="*/ 0 60000 65536"/>
                <a:gd name="T8" fmla="*/ 0 60000 65536"/>
                <a:gd name="T9" fmla="*/ 0 w 21600"/>
                <a:gd name="T10" fmla="*/ 0 h 8846"/>
                <a:gd name="T11" fmla="*/ 21600 w 21600"/>
                <a:gd name="T12" fmla="*/ 8846 h 8846"/>
              </a:gdLst>
              <a:ahLst/>
              <a:cxnLst>
                <a:cxn ang="T6">
                  <a:pos x="T0" y="T1"/>
                </a:cxn>
                <a:cxn ang="T7">
                  <a:pos x="T2" y="T3"/>
                </a:cxn>
                <a:cxn ang="T8">
                  <a:pos x="T4" y="T5"/>
                </a:cxn>
              </a:cxnLst>
              <a:rect l="T9" t="T10" r="T11" b="T12"/>
              <a:pathLst>
                <a:path w="21600" h="8846" fill="none" extrusionOk="0">
                  <a:moveTo>
                    <a:pt x="1894" y="8846"/>
                  </a:moveTo>
                  <a:cubicBezTo>
                    <a:pt x="650" y="6074"/>
                    <a:pt x="4" y="3071"/>
                    <a:pt x="0" y="33"/>
                  </a:cubicBezTo>
                </a:path>
                <a:path w="21600" h="8846" stroke="0" extrusionOk="0">
                  <a:moveTo>
                    <a:pt x="1894" y="8846"/>
                  </a:moveTo>
                  <a:cubicBezTo>
                    <a:pt x="650" y="6074"/>
                    <a:pt x="4" y="3071"/>
                    <a:pt x="0" y="33"/>
                  </a:cubicBezTo>
                  <a:lnTo>
                    <a:pt x="21600" y="0"/>
                  </a:lnTo>
                  <a:lnTo>
                    <a:pt x="1894" y="8846"/>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8" name="Arc 16"/>
            <p:cNvSpPr/>
            <p:nvPr/>
          </p:nvSpPr>
          <p:spPr bwMode="auto">
            <a:xfrm>
              <a:off x="2353" y="1559"/>
              <a:ext cx="1245" cy="775"/>
            </a:xfrm>
            <a:custGeom>
              <a:avLst/>
              <a:gdLst>
                <a:gd name="T0" fmla="*/ 0 w 21298"/>
                <a:gd name="T1" fmla="*/ 0 h 13250"/>
                <a:gd name="T2" fmla="*/ 0 w 21298"/>
                <a:gd name="T3" fmla="*/ 0 h 13250"/>
                <a:gd name="T4" fmla="*/ 0 w 21298"/>
                <a:gd name="T5" fmla="*/ 0 h 13250"/>
                <a:gd name="T6" fmla="*/ 0 60000 65536"/>
                <a:gd name="T7" fmla="*/ 0 60000 65536"/>
                <a:gd name="T8" fmla="*/ 0 60000 65536"/>
                <a:gd name="T9" fmla="*/ 0 w 21298"/>
                <a:gd name="T10" fmla="*/ 0 h 13250"/>
                <a:gd name="T11" fmla="*/ 21298 w 21298"/>
                <a:gd name="T12" fmla="*/ 13250 h 13250"/>
              </a:gdLst>
              <a:ahLst/>
              <a:cxnLst>
                <a:cxn ang="T6">
                  <a:pos x="T0" y="T1"/>
                </a:cxn>
                <a:cxn ang="T7">
                  <a:pos x="T2" y="T3"/>
                </a:cxn>
                <a:cxn ang="T8">
                  <a:pos x="T4" y="T5"/>
                </a:cxn>
              </a:cxnLst>
              <a:rect l="T9" t="T10" r="T11" b="T12"/>
              <a:pathLst>
                <a:path w="21298" h="13250" fill="none" extrusionOk="0">
                  <a:moveTo>
                    <a:pt x="-1" y="9650"/>
                  </a:moveTo>
                  <a:cubicBezTo>
                    <a:pt x="594" y="6133"/>
                    <a:pt x="2050" y="2817"/>
                    <a:pt x="4239" y="0"/>
                  </a:cubicBezTo>
                </a:path>
                <a:path w="21298" h="13250" stroke="0" extrusionOk="0">
                  <a:moveTo>
                    <a:pt x="-1" y="9650"/>
                  </a:moveTo>
                  <a:cubicBezTo>
                    <a:pt x="594" y="6133"/>
                    <a:pt x="2050" y="2817"/>
                    <a:pt x="4239" y="0"/>
                  </a:cubicBezTo>
                  <a:lnTo>
                    <a:pt x="21298" y="13250"/>
                  </a:lnTo>
                  <a:lnTo>
                    <a:pt x="-1" y="9650"/>
                  </a:lnTo>
                  <a:close/>
                </a:path>
              </a:pathLst>
            </a:custGeom>
            <a:noFill/>
            <a:ln w="571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09" name="Arc 17"/>
            <p:cNvSpPr/>
            <p:nvPr/>
          </p:nvSpPr>
          <p:spPr bwMode="auto">
            <a:xfrm>
              <a:off x="2436" y="2334"/>
              <a:ext cx="1163" cy="892"/>
            </a:xfrm>
            <a:custGeom>
              <a:avLst/>
              <a:gdLst>
                <a:gd name="T0" fmla="*/ 0 w 19888"/>
                <a:gd name="T1" fmla="*/ 0 h 15248"/>
                <a:gd name="T2" fmla="*/ 0 w 19888"/>
                <a:gd name="T3" fmla="*/ 0 h 15248"/>
                <a:gd name="T4" fmla="*/ 0 w 19888"/>
                <a:gd name="T5" fmla="*/ 0 h 15248"/>
                <a:gd name="T6" fmla="*/ 0 60000 65536"/>
                <a:gd name="T7" fmla="*/ 0 60000 65536"/>
                <a:gd name="T8" fmla="*/ 0 60000 65536"/>
                <a:gd name="T9" fmla="*/ 0 w 19888"/>
                <a:gd name="T10" fmla="*/ 0 h 15248"/>
                <a:gd name="T11" fmla="*/ 19888 w 19888"/>
                <a:gd name="T12" fmla="*/ 15248 h 15248"/>
              </a:gdLst>
              <a:ahLst/>
              <a:cxnLst>
                <a:cxn ang="T6">
                  <a:pos x="T0" y="T1"/>
                </a:cxn>
                <a:cxn ang="T7">
                  <a:pos x="T2" y="T3"/>
                </a:cxn>
                <a:cxn ang="T8">
                  <a:pos x="T4" y="T5"/>
                </a:cxn>
              </a:cxnLst>
              <a:rect l="T9" t="T10" r="T11" b="T12"/>
              <a:pathLst>
                <a:path w="19888" h="15248" fill="none" extrusionOk="0">
                  <a:moveTo>
                    <a:pt x="4589" y="15247"/>
                  </a:moveTo>
                  <a:cubicBezTo>
                    <a:pt x="2636" y="13289"/>
                    <a:pt x="1079" y="10974"/>
                    <a:pt x="0" y="8427"/>
                  </a:cubicBezTo>
                </a:path>
                <a:path w="19888" h="15248" stroke="0" extrusionOk="0">
                  <a:moveTo>
                    <a:pt x="4589" y="15247"/>
                  </a:moveTo>
                  <a:cubicBezTo>
                    <a:pt x="2636" y="13289"/>
                    <a:pt x="1079" y="10974"/>
                    <a:pt x="0" y="8427"/>
                  </a:cubicBezTo>
                  <a:lnTo>
                    <a:pt x="19888" y="0"/>
                  </a:lnTo>
                  <a:lnTo>
                    <a:pt x="4589" y="15247"/>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10" name="Arc 18"/>
            <p:cNvSpPr/>
            <p:nvPr/>
          </p:nvSpPr>
          <p:spPr bwMode="auto">
            <a:xfrm>
              <a:off x="2562" y="2704"/>
              <a:ext cx="453" cy="335"/>
            </a:xfrm>
            <a:custGeom>
              <a:avLst/>
              <a:gdLst>
                <a:gd name="T0" fmla="*/ 0 w 21600"/>
                <a:gd name="T1" fmla="*/ 0 h 15990"/>
                <a:gd name="T2" fmla="*/ 0 w 21600"/>
                <a:gd name="T3" fmla="*/ 0 h 15990"/>
                <a:gd name="T4" fmla="*/ 0 w 21600"/>
                <a:gd name="T5" fmla="*/ 0 h 15990"/>
                <a:gd name="T6" fmla="*/ 0 60000 65536"/>
                <a:gd name="T7" fmla="*/ 0 60000 65536"/>
                <a:gd name="T8" fmla="*/ 0 60000 65536"/>
                <a:gd name="T9" fmla="*/ 0 w 21600"/>
                <a:gd name="T10" fmla="*/ 0 h 15990"/>
                <a:gd name="T11" fmla="*/ 21600 w 21600"/>
                <a:gd name="T12" fmla="*/ 15990 h 15990"/>
              </a:gdLst>
              <a:ahLst/>
              <a:cxnLst>
                <a:cxn ang="T6">
                  <a:pos x="T0" y="T1"/>
                </a:cxn>
                <a:cxn ang="T7">
                  <a:pos x="T2" y="T3"/>
                </a:cxn>
                <a:cxn ang="T8">
                  <a:pos x="T4" y="T5"/>
                </a:cxn>
              </a:cxnLst>
              <a:rect l="T9" t="T10" r="T11" b="T12"/>
              <a:pathLst>
                <a:path w="21600" h="15990" fill="none" extrusionOk="0">
                  <a:moveTo>
                    <a:pt x="3" y="15990"/>
                  </a:moveTo>
                  <a:cubicBezTo>
                    <a:pt x="1" y="15853"/>
                    <a:pt x="0" y="15716"/>
                    <a:pt x="0" y="15579"/>
                  </a:cubicBezTo>
                  <a:cubicBezTo>
                    <a:pt x="-1" y="9698"/>
                    <a:pt x="2397" y="4072"/>
                    <a:pt x="6638" y="-1"/>
                  </a:cubicBezTo>
                </a:path>
                <a:path w="21600" h="15990" stroke="0" extrusionOk="0">
                  <a:moveTo>
                    <a:pt x="3" y="15990"/>
                  </a:moveTo>
                  <a:cubicBezTo>
                    <a:pt x="1" y="15853"/>
                    <a:pt x="0" y="15716"/>
                    <a:pt x="0" y="15579"/>
                  </a:cubicBezTo>
                  <a:cubicBezTo>
                    <a:pt x="-1" y="9698"/>
                    <a:pt x="2397" y="4072"/>
                    <a:pt x="6638" y="-1"/>
                  </a:cubicBezTo>
                  <a:lnTo>
                    <a:pt x="21600" y="15579"/>
                  </a:lnTo>
                  <a:lnTo>
                    <a:pt x="3" y="15990"/>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11" name="Arc 19"/>
            <p:cNvSpPr/>
            <p:nvPr/>
          </p:nvSpPr>
          <p:spPr bwMode="auto">
            <a:xfrm>
              <a:off x="2381" y="1707"/>
              <a:ext cx="1223" cy="509"/>
            </a:xfrm>
            <a:custGeom>
              <a:avLst/>
              <a:gdLst>
                <a:gd name="T0" fmla="*/ 0 w 40960"/>
                <a:gd name="T1" fmla="*/ 0 h 21600"/>
                <a:gd name="T2" fmla="*/ 0 w 40960"/>
                <a:gd name="T3" fmla="*/ 0 h 21600"/>
                <a:gd name="T4" fmla="*/ 0 w 40960"/>
                <a:gd name="T5" fmla="*/ 0 h 21600"/>
                <a:gd name="T6" fmla="*/ 0 60000 65536"/>
                <a:gd name="T7" fmla="*/ 0 60000 65536"/>
                <a:gd name="T8" fmla="*/ 0 60000 65536"/>
                <a:gd name="T9" fmla="*/ 0 w 40960"/>
                <a:gd name="T10" fmla="*/ 0 h 21600"/>
                <a:gd name="T11" fmla="*/ 40960 w 40960"/>
                <a:gd name="T12" fmla="*/ 21600 h 21600"/>
              </a:gdLst>
              <a:ahLst/>
              <a:cxnLst>
                <a:cxn ang="T6">
                  <a:pos x="T0" y="T1"/>
                </a:cxn>
                <a:cxn ang="T7">
                  <a:pos x="T2" y="T3"/>
                </a:cxn>
                <a:cxn ang="T8">
                  <a:pos x="T4" y="T5"/>
                </a:cxn>
              </a:cxnLst>
              <a:rect l="T9" t="T10" r="T11" b="T12"/>
              <a:pathLst>
                <a:path w="40960" h="21600" fill="none" extrusionOk="0">
                  <a:moveTo>
                    <a:pt x="-1" y="12170"/>
                  </a:moveTo>
                  <a:cubicBezTo>
                    <a:pt x="3611" y="4726"/>
                    <a:pt x="11158" y="-1"/>
                    <a:pt x="19433" y="0"/>
                  </a:cubicBezTo>
                  <a:cubicBezTo>
                    <a:pt x="30673" y="0"/>
                    <a:pt x="40035" y="8620"/>
                    <a:pt x="40959" y="19823"/>
                  </a:cubicBezTo>
                </a:path>
                <a:path w="40960" h="21600" stroke="0" extrusionOk="0">
                  <a:moveTo>
                    <a:pt x="-1" y="12170"/>
                  </a:moveTo>
                  <a:cubicBezTo>
                    <a:pt x="3611" y="4726"/>
                    <a:pt x="11158" y="-1"/>
                    <a:pt x="19433" y="0"/>
                  </a:cubicBezTo>
                  <a:cubicBezTo>
                    <a:pt x="30673" y="0"/>
                    <a:pt x="40035" y="8620"/>
                    <a:pt x="40959" y="19823"/>
                  </a:cubicBezTo>
                  <a:lnTo>
                    <a:pt x="19433" y="21600"/>
                  </a:lnTo>
                  <a:lnTo>
                    <a:pt x="-1" y="12170"/>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12" name="Arc 20"/>
            <p:cNvSpPr/>
            <p:nvPr/>
          </p:nvSpPr>
          <p:spPr bwMode="auto">
            <a:xfrm>
              <a:off x="3697" y="1752"/>
              <a:ext cx="1120" cy="1068"/>
            </a:xfrm>
            <a:custGeom>
              <a:avLst/>
              <a:gdLst>
                <a:gd name="T0" fmla="*/ 0 w 28676"/>
                <a:gd name="T1" fmla="*/ 0 h 21600"/>
                <a:gd name="T2" fmla="*/ 0 w 28676"/>
                <a:gd name="T3" fmla="*/ 0 h 21600"/>
                <a:gd name="T4" fmla="*/ 0 w 28676"/>
                <a:gd name="T5" fmla="*/ 0 h 21600"/>
                <a:gd name="T6" fmla="*/ 0 60000 65536"/>
                <a:gd name="T7" fmla="*/ 0 60000 65536"/>
                <a:gd name="T8" fmla="*/ 0 60000 65536"/>
                <a:gd name="T9" fmla="*/ 0 w 28676"/>
                <a:gd name="T10" fmla="*/ 0 h 21600"/>
                <a:gd name="T11" fmla="*/ 28676 w 28676"/>
                <a:gd name="T12" fmla="*/ 21600 h 21600"/>
              </a:gdLst>
              <a:ahLst/>
              <a:cxnLst>
                <a:cxn ang="T6">
                  <a:pos x="T0" y="T1"/>
                </a:cxn>
                <a:cxn ang="T7">
                  <a:pos x="T2" y="T3"/>
                </a:cxn>
                <a:cxn ang="T8">
                  <a:pos x="T4" y="T5"/>
                </a:cxn>
              </a:cxnLst>
              <a:rect l="T9" t="T10" r="T11" b="T12"/>
              <a:pathLst>
                <a:path w="28676" h="21600" fill="none" extrusionOk="0">
                  <a:moveTo>
                    <a:pt x="28675" y="17191"/>
                  </a:moveTo>
                  <a:cubicBezTo>
                    <a:pt x="24916" y="20051"/>
                    <a:pt x="20322" y="21599"/>
                    <a:pt x="15599" y="21600"/>
                  </a:cubicBezTo>
                  <a:cubicBezTo>
                    <a:pt x="9708" y="21600"/>
                    <a:pt x="4074" y="19194"/>
                    <a:pt x="0" y="14940"/>
                  </a:cubicBezTo>
                </a:path>
                <a:path w="28676" h="21600" stroke="0" extrusionOk="0">
                  <a:moveTo>
                    <a:pt x="28675" y="17191"/>
                  </a:moveTo>
                  <a:cubicBezTo>
                    <a:pt x="24916" y="20051"/>
                    <a:pt x="20322" y="21599"/>
                    <a:pt x="15599" y="21600"/>
                  </a:cubicBezTo>
                  <a:cubicBezTo>
                    <a:pt x="9708" y="21600"/>
                    <a:pt x="4074" y="19194"/>
                    <a:pt x="0" y="14940"/>
                  </a:cubicBezTo>
                  <a:lnTo>
                    <a:pt x="15599" y="0"/>
                  </a:lnTo>
                  <a:lnTo>
                    <a:pt x="28675" y="17191"/>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13" name="Line 21"/>
            <p:cNvSpPr>
              <a:spLocks noChangeShapeType="1"/>
            </p:cNvSpPr>
            <p:nvPr/>
          </p:nvSpPr>
          <p:spPr bwMode="auto">
            <a:xfrm>
              <a:off x="3470" y="572"/>
              <a:ext cx="0" cy="499"/>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0214" name="Arc 22"/>
            <p:cNvSpPr/>
            <p:nvPr/>
          </p:nvSpPr>
          <p:spPr bwMode="auto">
            <a:xfrm>
              <a:off x="3560" y="2478"/>
              <a:ext cx="763" cy="898"/>
            </a:xfrm>
            <a:custGeom>
              <a:avLst/>
              <a:gdLst>
                <a:gd name="T0" fmla="*/ 0 w 23852"/>
                <a:gd name="T1" fmla="*/ 0 h 27553"/>
                <a:gd name="T2" fmla="*/ 0 w 23852"/>
                <a:gd name="T3" fmla="*/ 0 h 27553"/>
                <a:gd name="T4" fmla="*/ 0 w 23852"/>
                <a:gd name="T5" fmla="*/ 0 h 27553"/>
                <a:gd name="T6" fmla="*/ 0 60000 65536"/>
                <a:gd name="T7" fmla="*/ 0 60000 65536"/>
                <a:gd name="T8" fmla="*/ 0 60000 65536"/>
                <a:gd name="T9" fmla="*/ 0 w 23852"/>
                <a:gd name="T10" fmla="*/ 0 h 27553"/>
                <a:gd name="T11" fmla="*/ 23852 w 23852"/>
                <a:gd name="T12" fmla="*/ 27553 h 27553"/>
              </a:gdLst>
              <a:ahLst/>
              <a:cxnLst>
                <a:cxn ang="T6">
                  <a:pos x="T0" y="T1"/>
                </a:cxn>
                <a:cxn ang="T7">
                  <a:pos x="T2" y="T3"/>
                </a:cxn>
                <a:cxn ang="T8">
                  <a:pos x="T4" y="T5"/>
                </a:cxn>
              </a:cxnLst>
              <a:rect l="T9" t="T10" r="T11" b="T12"/>
              <a:pathLst>
                <a:path w="23852" h="27553" fill="none" extrusionOk="0">
                  <a:moveTo>
                    <a:pt x="23852" y="27435"/>
                  </a:moveTo>
                  <a:cubicBezTo>
                    <a:pt x="23103" y="27513"/>
                    <a:pt x="22352" y="27552"/>
                    <a:pt x="21600" y="27553"/>
                  </a:cubicBezTo>
                  <a:cubicBezTo>
                    <a:pt x="9670" y="27553"/>
                    <a:pt x="0" y="17882"/>
                    <a:pt x="0" y="5953"/>
                  </a:cubicBezTo>
                  <a:cubicBezTo>
                    <a:pt x="-1" y="3939"/>
                    <a:pt x="281" y="1935"/>
                    <a:pt x="836" y="0"/>
                  </a:cubicBezTo>
                </a:path>
                <a:path w="23852" h="27553" stroke="0" extrusionOk="0">
                  <a:moveTo>
                    <a:pt x="23852" y="27435"/>
                  </a:moveTo>
                  <a:cubicBezTo>
                    <a:pt x="23103" y="27513"/>
                    <a:pt x="22352" y="27552"/>
                    <a:pt x="21600" y="27553"/>
                  </a:cubicBezTo>
                  <a:cubicBezTo>
                    <a:pt x="9670" y="27553"/>
                    <a:pt x="0" y="17882"/>
                    <a:pt x="0" y="5953"/>
                  </a:cubicBezTo>
                  <a:cubicBezTo>
                    <a:pt x="-1" y="3939"/>
                    <a:pt x="281" y="1935"/>
                    <a:pt x="836" y="0"/>
                  </a:cubicBezTo>
                  <a:lnTo>
                    <a:pt x="21600" y="5953"/>
                  </a:lnTo>
                  <a:lnTo>
                    <a:pt x="23852" y="27435"/>
                  </a:lnTo>
                  <a:close/>
                </a:path>
              </a:pathLst>
            </a:custGeom>
            <a:noFill/>
            <a:ln w="3810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0215" name="Line 23"/>
            <p:cNvSpPr>
              <a:spLocks noChangeShapeType="1"/>
            </p:cNvSpPr>
            <p:nvPr/>
          </p:nvSpPr>
          <p:spPr bwMode="auto">
            <a:xfrm>
              <a:off x="2835" y="3339"/>
              <a:ext cx="0" cy="36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0216" name="Line 24"/>
            <p:cNvSpPr>
              <a:spLocks noChangeShapeType="1"/>
            </p:cNvSpPr>
            <p:nvPr/>
          </p:nvSpPr>
          <p:spPr bwMode="auto">
            <a:xfrm>
              <a:off x="3061" y="3884"/>
              <a:ext cx="409"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0217" name="Line 25"/>
            <p:cNvSpPr>
              <a:spLocks noChangeShapeType="1"/>
            </p:cNvSpPr>
            <p:nvPr/>
          </p:nvSpPr>
          <p:spPr bwMode="auto">
            <a:xfrm flipH="1">
              <a:off x="3061" y="3974"/>
              <a:ext cx="409"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20218" name="Oval 26"/>
            <p:cNvSpPr>
              <a:spLocks noChangeArrowheads="1"/>
            </p:cNvSpPr>
            <p:nvPr/>
          </p:nvSpPr>
          <p:spPr bwMode="auto">
            <a:xfrm>
              <a:off x="3288" y="2205"/>
              <a:ext cx="635" cy="227"/>
            </a:xfrm>
            <a:prstGeom prst="ellipse">
              <a:avLst/>
            </a:prstGeom>
            <a:solidFill>
              <a:srgbClr val="FFE7E7"/>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000">
                  <a:latin typeface="Antique Olive"/>
                  <a:ea typeface="宋体" panose="02010600030101010101" pitchFamily="2" charset="-122"/>
                </a:rPr>
                <a:t>NADH </a:t>
              </a:r>
              <a:endParaRPr kumimoji="1" lang="en-US" altLang="zh-CN" sz="2000">
                <a:latin typeface="Antique Olive"/>
                <a:ea typeface="宋体" panose="02010600030101010101" pitchFamily="2" charset="-122"/>
              </a:endParaRPr>
            </a:p>
          </p:txBody>
        </p:sp>
        <p:sp>
          <p:nvSpPr>
            <p:cNvPr id="220219" name="Oval 27"/>
            <p:cNvSpPr>
              <a:spLocks noChangeArrowheads="1"/>
            </p:cNvSpPr>
            <p:nvPr/>
          </p:nvSpPr>
          <p:spPr bwMode="auto">
            <a:xfrm>
              <a:off x="2472" y="2478"/>
              <a:ext cx="681" cy="213"/>
            </a:xfrm>
            <a:prstGeom prst="ellipse">
              <a:avLst/>
            </a:prstGeom>
            <a:solidFill>
              <a:srgbClr val="FFE7E7"/>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000">
                  <a:latin typeface="Antique Olive"/>
                  <a:ea typeface="宋体" panose="02010600030101010101" pitchFamily="2" charset="-122"/>
                </a:rPr>
                <a:t>FADH</a:t>
              </a:r>
              <a:r>
                <a:rPr kumimoji="1" lang="en-US" altLang="zh-CN" sz="2000" baseline="-25000">
                  <a:latin typeface="Antique Olive"/>
                  <a:ea typeface="宋体" panose="02010600030101010101" pitchFamily="2" charset="-122"/>
                </a:rPr>
                <a:t>2 </a:t>
              </a:r>
              <a:endParaRPr kumimoji="1" lang="en-US" altLang="zh-CN" sz="2800" b="0">
                <a:latin typeface="Antique Olive"/>
                <a:ea typeface="宋体" panose="02010600030101010101" pitchFamily="2" charset="-122"/>
              </a:endParaRPr>
            </a:p>
          </p:txBody>
        </p:sp>
        <p:sp>
          <p:nvSpPr>
            <p:cNvPr id="220220" name="Oval 28"/>
            <p:cNvSpPr>
              <a:spLocks noChangeArrowheads="1"/>
            </p:cNvSpPr>
            <p:nvPr/>
          </p:nvSpPr>
          <p:spPr bwMode="auto">
            <a:xfrm>
              <a:off x="2562" y="3747"/>
              <a:ext cx="409" cy="318"/>
            </a:xfrm>
            <a:prstGeom prst="ellipse">
              <a:avLst/>
            </a:prstGeom>
            <a:solidFill>
              <a:srgbClr val="FFE7E7"/>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000">
                  <a:latin typeface="Antique Olive"/>
                  <a:ea typeface="宋体" panose="02010600030101010101" pitchFamily="2" charset="-122"/>
                </a:rPr>
                <a:t>GTP </a:t>
              </a:r>
              <a:endParaRPr kumimoji="1" lang="en-US" altLang="zh-CN" sz="2000">
                <a:latin typeface="Antique Olive"/>
                <a:ea typeface="宋体" panose="02010600030101010101" pitchFamily="2" charset="-122"/>
              </a:endParaRPr>
            </a:p>
          </p:txBody>
        </p:sp>
        <p:sp>
          <p:nvSpPr>
            <p:cNvPr id="220221" name="Oval 29"/>
            <p:cNvSpPr>
              <a:spLocks noChangeArrowheads="1"/>
            </p:cNvSpPr>
            <p:nvPr/>
          </p:nvSpPr>
          <p:spPr bwMode="auto">
            <a:xfrm>
              <a:off x="3515" y="3793"/>
              <a:ext cx="318" cy="318"/>
            </a:xfrm>
            <a:prstGeom prst="ellipse">
              <a:avLst/>
            </a:prstGeom>
            <a:solidFill>
              <a:srgbClr val="FFE7E7"/>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ntique Olive"/>
                  <a:ea typeface="宋体" panose="02010600030101010101" pitchFamily="2" charset="-122"/>
                </a:rPr>
                <a:t> </a:t>
              </a:r>
              <a:r>
                <a:rPr kumimoji="1" lang="en-US" altLang="zh-CN" sz="2000">
                  <a:latin typeface="Antique Olive"/>
                  <a:ea typeface="宋体" panose="02010600030101010101" pitchFamily="2" charset="-122"/>
                </a:rPr>
                <a:t>ATP </a:t>
              </a:r>
              <a:endParaRPr kumimoji="1" lang="en-US" altLang="zh-CN" sz="2000">
                <a:latin typeface="Antique Olive"/>
                <a:ea typeface="宋体" panose="02010600030101010101" pitchFamily="2" charset="-122"/>
              </a:endParaRPr>
            </a:p>
          </p:txBody>
        </p:sp>
      </p:grpSp>
      <p:sp>
        <p:nvSpPr>
          <p:cNvPr id="204830" name="Rectangle 30"/>
          <p:cNvSpPr>
            <a:spLocks noChangeArrowheads="1"/>
          </p:cNvSpPr>
          <p:nvPr/>
        </p:nvSpPr>
        <p:spPr bwMode="auto">
          <a:xfrm>
            <a:off x="8077448" y="3429000"/>
            <a:ext cx="1366837" cy="65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dirty="0">
                <a:solidFill>
                  <a:srgbClr val="FF0000"/>
                </a:solidFill>
                <a:latin typeface="Antique Olive"/>
              </a:rPr>
              <a:t>异柠檬酸</a:t>
            </a:r>
            <a:endParaRPr kumimoji="1" lang="zh-CN" altLang="en-US" sz="2000" dirty="0">
              <a:solidFill>
                <a:srgbClr val="FF0000"/>
              </a:solidFill>
              <a:latin typeface="Antique Olive"/>
            </a:endParaRPr>
          </a:p>
          <a:p>
            <a:pPr eaLnBrk="1" hangingPunct="1">
              <a:lnSpc>
                <a:spcPct val="80000"/>
              </a:lnSpc>
              <a:spcBef>
                <a:spcPct val="0"/>
              </a:spcBef>
              <a:buClrTx/>
              <a:buSzTx/>
              <a:buFontTx/>
              <a:buNone/>
            </a:pPr>
            <a:r>
              <a:rPr kumimoji="1" lang="zh-CN" altLang="en-US" sz="2000" dirty="0">
                <a:solidFill>
                  <a:srgbClr val="FF0000"/>
                </a:solidFill>
                <a:latin typeface="Antique Olive"/>
              </a:rPr>
              <a:t>   脱氢酶</a:t>
            </a:r>
            <a:endParaRPr kumimoji="1" lang="zh-CN" altLang="en-US" sz="2000" dirty="0">
              <a:solidFill>
                <a:srgbClr val="FF0000"/>
              </a:solidFill>
              <a:latin typeface="Antique Olive"/>
            </a:endParaRPr>
          </a:p>
        </p:txBody>
      </p:sp>
      <p:sp>
        <p:nvSpPr>
          <p:cNvPr id="204831" name="Rectangle 31"/>
          <p:cNvSpPr>
            <a:spLocks noChangeArrowheads="1"/>
          </p:cNvSpPr>
          <p:nvPr/>
        </p:nvSpPr>
        <p:spPr bwMode="auto">
          <a:xfrm>
            <a:off x="6493123" y="1714501"/>
            <a:ext cx="160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latin typeface="Antique Olive"/>
              </a:rPr>
              <a:t>柠檬酸合酶  </a:t>
            </a:r>
            <a:endParaRPr kumimoji="1" lang="zh-CN" altLang="en-US" sz="2000">
              <a:solidFill>
                <a:srgbClr val="FF0000"/>
              </a:solidFill>
              <a:latin typeface="Antique Olive"/>
            </a:endParaRPr>
          </a:p>
        </p:txBody>
      </p:sp>
      <p:sp>
        <p:nvSpPr>
          <p:cNvPr id="204832" name="Rectangle 32"/>
          <p:cNvSpPr>
            <a:spLocks noChangeArrowheads="1"/>
          </p:cNvSpPr>
          <p:nvPr/>
        </p:nvSpPr>
        <p:spPr bwMode="auto">
          <a:xfrm>
            <a:off x="6780460" y="4725989"/>
            <a:ext cx="2016125" cy="622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latin typeface="楷体_GB2312" pitchFamily="49" charset="-122"/>
              </a:rPr>
              <a:t>   </a:t>
            </a:r>
            <a:r>
              <a:rPr kumimoji="1" lang="en-US" altLang="zh-CN" sz="2000">
                <a:solidFill>
                  <a:srgbClr val="FF0000"/>
                </a:solidFill>
                <a:latin typeface="楷体_GB2312" pitchFamily="49" charset="-122"/>
              </a:rPr>
              <a:t>α-</a:t>
            </a:r>
            <a:r>
              <a:rPr kumimoji="1" lang="zh-CN" altLang="en-US" sz="2000">
                <a:solidFill>
                  <a:srgbClr val="FF0000"/>
                </a:solidFill>
                <a:latin typeface="楷体_GB2312" pitchFamily="49" charset="-122"/>
              </a:rPr>
              <a:t>酮戊二酸</a:t>
            </a:r>
            <a:endParaRPr kumimoji="1" lang="zh-CN" altLang="en-US" sz="2000">
              <a:solidFill>
                <a:srgbClr val="FF0000"/>
              </a:solidFill>
              <a:latin typeface="楷体_GB2312" pitchFamily="49" charset="-122"/>
            </a:endParaRPr>
          </a:p>
          <a:p>
            <a:pPr eaLnBrk="1" hangingPunct="1">
              <a:lnSpc>
                <a:spcPct val="70000"/>
              </a:lnSpc>
              <a:spcBef>
                <a:spcPct val="0"/>
              </a:spcBef>
              <a:buClrTx/>
              <a:buSzTx/>
              <a:buFontTx/>
              <a:buNone/>
            </a:pPr>
            <a:r>
              <a:rPr kumimoji="1" lang="zh-CN" altLang="en-US" sz="2000">
                <a:solidFill>
                  <a:srgbClr val="FF0000"/>
                </a:solidFill>
                <a:latin typeface="楷体_GB2312" pitchFamily="49" charset="-122"/>
              </a:rPr>
              <a:t>脱氢酶复合体 </a:t>
            </a:r>
            <a:endParaRPr kumimoji="1" lang="zh-CN" altLang="en-US" sz="2000">
              <a:solidFill>
                <a:srgbClr val="FF0000"/>
              </a:solidFill>
              <a:latin typeface="楷体_GB2312" pitchFamily="49" charset="-122"/>
            </a:endParaRPr>
          </a:p>
        </p:txBody>
      </p:sp>
      <p:grpSp>
        <p:nvGrpSpPr>
          <p:cNvPr id="3" name="Group 33"/>
          <p:cNvGrpSpPr/>
          <p:nvPr/>
        </p:nvGrpSpPr>
        <p:grpSpPr bwMode="auto">
          <a:xfrm>
            <a:off x="9372851" y="3429000"/>
            <a:ext cx="914400" cy="400050"/>
            <a:chOff x="4649" y="2160"/>
            <a:chExt cx="576" cy="252"/>
          </a:xfrm>
        </p:grpSpPr>
        <p:sp>
          <p:nvSpPr>
            <p:cNvPr id="220193" name="Oval 34"/>
            <p:cNvSpPr>
              <a:spLocks noChangeArrowheads="1"/>
            </p:cNvSpPr>
            <p:nvPr/>
          </p:nvSpPr>
          <p:spPr bwMode="auto">
            <a:xfrm>
              <a:off x="4649" y="2205"/>
              <a:ext cx="181" cy="181"/>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80000"/>
                </a:lnSpc>
                <a:spcBef>
                  <a:spcPct val="0"/>
                </a:spcBef>
                <a:buClrTx/>
                <a:buSzTx/>
                <a:buFontTx/>
                <a:buNone/>
              </a:pPr>
              <a:r>
                <a:rPr kumimoji="1" lang="zh-CN" altLang="en-US" sz="2800">
                  <a:latin typeface="Arial" panose="020B0604020202020204" pitchFamily="34" charset="0"/>
                  <a:ea typeface="宋体" panose="02010600030101010101" pitchFamily="2" charset="-122"/>
                </a:rPr>
                <a:t>–</a:t>
              </a:r>
              <a:endParaRPr kumimoji="1" lang="zh-CN" altLang="en-US" sz="2800">
                <a:latin typeface="Arial" panose="020B0604020202020204" pitchFamily="34" charset="0"/>
                <a:ea typeface="宋体" panose="02010600030101010101" pitchFamily="2" charset="-122"/>
              </a:endParaRPr>
            </a:p>
          </p:txBody>
        </p:sp>
        <p:sp>
          <p:nvSpPr>
            <p:cNvPr id="220194" name="Text Box 35"/>
            <p:cNvSpPr txBox="1">
              <a:spLocks noChangeArrowheads="1"/>
            </p:cNvSpPr>
            <p:nvPr/>
          </p:nvSpPr>
          <p:spPr bwMode="auto">
            <a:xfrm>
              <a:off x="4785" y="2160"/>
              <a:ext cx="4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ATP </a:t>
              </a:r>
              <a:r>
                <a:rPr kumimoji="1" lang="en-US" altLang="zh-CN" sz="2000">
                  <a:solidFill>
                    <a:srgbClr val="33CC33"/>
                  </a:solidFill>
                  <a:latin typeface="Antique Olive"/>
                  <a:ea typeface="宋体" panose="02010600030101010101" pitchFamily="2" charset="-122"/>
                </a:rPr>
                <a:t> </a:t>
              </a:r>
              <a:endParaRPr kumimoji="1" lang="en-US" altLang="zh-CN" sz="2000">
                <a:solidFill>
                  <a:srgbClr val="33CC33"/>
                </a:solidFill>
                <a:latin typeface="Antique Olive"/>
                <a:ea typeface="宋体" panose="02010600030101010101" pitchFamily="2" charset="-122"/>
              </a:endParaRPr>
            </a:p>
          </p:txBody>
        </p:sp>
      </p:grpSp>
      <p:grpSp>
        <p:nvGrpSpPr>
          <p:cNvPr id="4" name="Group 36"/>
          <p:cNvGrpSpPr/>
          <p:nvPr/>
        </p:nvGrpSpPr>
        <p:grpSpPr bwMode="auto">
          <a:xfrm>
            <a:off x="7151934" y="1225550"/>
            <a:ext cx="1017588" cy="400050"/>
            <a:chOff x="3250" y="772"/>
            <a:chExt cx="641" cy="252"/>
          </a:xfrm>
        </p:grpSpPr>
        <p:sp>
          <p:nvSpPr>
            <p:cNvPr id="220191" name="Oval 37"/>
            <p:cNvSpPr>
              <a:spLocks noChangeArrowheads="1"/>
            </p:cNvSpPr>
            <p:nvPr/>
          </p:nvSpPr>
          <p:spPr bwMode="auto">
            <a:xfrm>
              <a:off x="3250" y="799"/>
              <a:ext cx="182" cy="182"/>
            </a:xfrm>
            <a:prstGeom prst="ellipse">
              <a:avLst/>
            </a:prstGeom>
            <a:solidFill>
              <a:srgbClr val="FF66FF"/>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ntique Olive"/>
                  <a:ea typeface="宋体" panose="02010600030101010101" pitchFamily="2" charset="-122"/>
                </a:rPr>
                <a:t>＋</a:t>
              </a:r>
              <a:endParaRPr kumimoji="1" lang="zh-CN" altLang="en-US" sz="2400">
                <a:latin typeface="Antique Olive"/>
                <a:ea typeface="宋体" panose="02010600030101010101" pitchFamily="2" charset="-122"/>
              </a:endParaRPr>
            </a:p>
          </p:txBody>
        </p:sp>
        <p:sp>
          <p:nvSpPr>
            <p:cNvPr id="220192" name="Text Box 38"/>
            <p:cNvSpPr txBox="1">
              <a:spLocks noChangeArrowheads="1"/>
            </p:cNvSpPr>
            <p:nvPr/>
          </p:nvSpPr>
          <p:spPr bwMode="auto">
            <a:xfrm>
              <a:off x="3416" y="772"/>
              <a:ext cx="4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ADP</a:t>
              </a:r>
              <a:r>
                <a:rPr kumimoji="1" lang="en-US" altLang="zh-CN" sz="2000">
                  <a:solidFill>
                    <a:srgbClr val="33CC33"/>
                  </a:solidFill>
                  <a:latin typeface="Antique Olive"/>
                  <a:ea typeface="宋体" panose="02010600030101010101" pitchFamily="2" charset="-122"/>
                </a:rPr>
                <a:t>  </a:t>
              </a:r>
              <a:endParaRPr kumimoji="1" lang="en-US" altLang="zh-CN" sz="2000">
                <a:solidFill>
                  <a:srgbClr val="33CC33"/>
                </a:solidFill>
                <a:latin typeface="Antique Olive"/>
                <a:ea typeface="宋体" panose="02010600030101010101" pitchFamily="2" charset="-122"/>
              </a:endParaRPr>
            </a:p>
          </p:txBody>
        </p:sp>
      </p:grpSp>
      <p:grpSp>
        <p:nvGrpSpPr>
          <p:cNvPr id="5" name="Group 39"/>
          <p:cNvGrpSpPr/>
          <p:nvPr/>
        </p:nvGrpSpPr>
        <p:grpSpPr bwMode="auto">
          <a:xfrm>
            <a:off x="7140824" y="836613"/>
            <a:ext cx="914400" cy="400050"/>
            <a:chOff x="3243" y="527"/>
            <a:chExt cx="576" cy="252"/>
          </a:xfrm>
        </p:grpSpPr>
        <p:sp>
          <p:nvSpPr>
            <p:cNvPr id="220189" name="Text Box 40"/>
            <p:cNvSpPr txBox="1">
              <a:spLocks noChangeArrowheads="1"/>
            </p:cNvSpPr>
            <p:nvPr/>
          </p:nvSpPr>
          <p:spPr bwMode="auto">
            <a:xfrm>
              <a:off x="3379" y="527"/>
              <a:ext cx="44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ATP </a:t>
              </a:r>
              <a:r>
                <a:rPr kumimoji="1" lang="en-US" altLang="zh-CN" sz="2000">
                  <a:solidFill>
                    <a:srgbClr val="33CC33"/>
                  </a:solidFill>
                  <a:latin typeface="Antique Olive"/>
                  <a:ea typeface="宋体" panose="02010600030101010101" pitchFamily="2" charset="-122"/>
                </a:rPr>
                <a:t> </a:t>
              </a:r>
              <a:endParaRPr kumimoji="1" lang="en-US" altLang="zh-CN" sz="2000">
                <a:solidFill>
                  <a:srgbClr val="33CC33"/>
                </a:solidFill>
                <a:latin typeface="Antique Olive"/>
                <a:ea typeface="宋体" panose="02010600030101010101" pitchFamily="2" charset="-122"/>
              </a:endParaRPr>
            </a:p>
          </p:txBody>
        </p:sp>
        <p:sp>
          <p:nvSpPr>
            <p:cNvPr id="220190" name="Oval 41"/>
            <p:cNvSpPr>
              <a:spLocks noChangeArrowheads="1"/>
            </p:cNvSpPr>
            <p:nvPr/>
          </p:nvSpPr>
          <p:spPr bwMode="auto">
            <a:xfrm>
              <a:off x="3243" y="573"/>
              <a:ext cx="181" cy="181"/>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70000"/>
                </a:lnSpc>
                <a:spcBef>
                  <a:spcPct val="0"/>
                </a:spcBef>
                <a:buClrTx/>
                <a:buSzTx/>
                <a:buFontTx/>
                <a:buNone/>
              </a:pPr>
              <a:r>
                <a:rPr kumimoji="1" lang="zh-CN" altLang="en-US" sz="2800">
                  <a:latin typeface="Arial" panose="020B0604020202020204" pitchFamily="34" charset="0"/>
                  <a:ea typeface="宋体" panose="02010600030101010101" pitchFamily="2" charset="-122"/>
                </a:rPr>
                <a:t>–</a:t>
              </a:r>
              <a:endParaRPr kumimoji="1" lang="zh-CN" altLang="en-US" sz="2800">
                <a:latin typeface="Arial" panose="020B0604020202020204" pitchFamily="34" charset="0"/>
                <a:ea typeface="宋体" panose="02010600030101010101" pitchFamily="2" charset="-122"/>
              </a:endParaRPr>
            </a:p>
          </p:txBody>
        </p:sp>
      </p:grpSp>
      <p:sp>
        <p:nvSpPr>
          <p:cNvPr id="204842" name="Text Box 42"/>
          <p:cNvSpPr txBox="1">
            <a:spLocks noChangeArrowheads="1"/>
          </p:cNvSpPr>
          <p:nvPr/>
        </p:nvSpPr>
        <p:spPr bwMode="auto">
          <a:xfrm>
            <a:off x="7932984" y="798514"/>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latin typeface="黑体" panose="02010609060101010101" pitchFamily="2" charset="-122"/>
                <a:ea typeface="黑体" panose="02010609060101010101" pitchFamily="2" charset="-122"/>
              </a:rPr>
              <a:t>柠檬酸 </a:t>
            </a:r>
            <a:endParaRPr kumimoji="1" lang="zh-CN" altLang="en-US" sz="2000" b="0">
              <a:latin typeface="黑体" panose="02010609060101010101" pitchFamily="2" charset="-122"/>
              <a:ea typeface="黑体" panose="02010609060101010101" pitchFamily="2" charset="-122"/>
            </a:endParaRPr>
          </a:p>
        </p:txBody>
      </p:sp>
      <p:grpSp>
        <p:nvGrpSpPr>
          <p:cNvPr id="6" name="Group 43"/>
          <p:cNvGrpSpPr/>
          <p:nvPr/>
        </p:nvGrpSpPr>
        <p:grpSpPr bwMode="auto">
          <a:xfrm>
            <a:off x="8796585" y="836613"/>
            <a:ext cx="2284413" cy="400050"/>
            <a:chOff x="4286" y="527"/>
            <a:chExt cx="1439" cy="252"/>
          </a:xfrm>
        </p:grpSpPr>
        <p:sp>
          <p:nvSpPr>
            <p:cNvPr id="220187" name="Text Box 44"/>
            <p:cNvSpPr txBox="1">
              <a:spLocks noChangeArrowheads="1"/>
            </p:cNvSpPr>
            <p:nvPr/>
          </p:nvSpPr>
          <p:spPr bwMode="auto">
            <a:xfrm>
              <a:off x="4787" y="527"/>
              <a:ext cx="9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latin typeface="黑体" panose="02010609060101010101" pitchFamily="2" charset="-122"/>
                  <a:ea typeface="黑体" panose="02010609060101010101" pitchFamily="2" charset="-122"/>
                </a:rPr>
                <a:t>琥珀酰</a:t>
              </a:r>
              <a:r>
                <a:rPr kumimoji="1" lang="en-US" altLang="zh-CN" sz="2000" b="0">
                  <a:latin typeface="Antique Olive"/>
                  <a:ea typeface="黑体" panose="02010609060101010101" pitchFamily="2" charset="-122"/>
                </a:rPr>
                <a:t>CoA  </a:t>
              </a:r>
              <a:endParaRPr kumimoji="1" lang="en-US" altLang="zh-CN" sz="2000" b="0">
                <a:latin typeface="Antique Olive"/>
                <a:ea typeface="黑体" panose="02010609060101010101" pitchFamily="2" charset="-122"/>
              </a:endParaRPr>
            </a:p>
          </p:txBody>
        </p:sp>
        <p:sp>
          <p:nvSpPr>
            <p:cNvPr id="220188" name="Text Box 45"/>
            <p:cNvSpPr txBox="1">
              <a:spLocks noChangeArrowheads="1"/>
            </p:cNvSpPr>
            <p:nvPr/>
          </p:nvSpPr>
          <p:spPr bwMode="auto">
            <a:xfrm>
              <a:off x="4286" y="527"/>
              <a:ext cx="58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b="0">
                  <a:latin typeface="Antique Olive"/>
                  <a:ea typeface="宋体" panose="02010600030101010101" pitchFamily="2" charset="-122"/>
                </a:rPr>
                <a:t>NADH  </a:t>
              </a:r>
              <a:endParaRPr kumimoji="1" lang="en-US" altLang="zh-CN" sz="2800" b="0">
                <a:latin typeface="Antique Olive"/>
                <a:ea typeface="宋体" panose="02010600030101010101" pitchFamily="2" charset="-122"/>
              </a:endParaRPr>
            </a:p>
          </p:txBody>
        </p:sp>
      </p:grpSp>
      <p:grpSp>
        <p:nvGrpSpPr>
          <p:cNvPr id="7" name="Group 46"/>
          <p:cNvGrpSpPr/>
          <p:nvPr/>
        </p:nvGrpSpPr>
        <p:grpSpPr bwMode="auto">
          <a:xfrm>
            <a:off x="8148885" y="5445125"/>
            <a:ext cx="2987675" cy="400050"/>
            <a:chOff x="3969" y="3385"/>
            <a:chExt cx="1723" cy="252"/>
          </a:xfrm>
        </p:grpSpPr>
        <p:sp>
          <p:nvSpPr>
            <p:cNvPr id="220184" name="Oval 47"/>
            <p:cNvSpPr>
              <a:spLocks noChangeArrowheads="1"/>
            </p:cNvSpPr>
            <p:nvPr/>
          </p:nvSpPr>
          <p:spPr bwMode="auto">
            <a:xfrm>
              <a:off x="3969" y="3385"/>
              <a:ext cx="181" cy="181"/>
            </a:xfrm>
            <a:prstGeom prst="ellipse">
              <a:avLst/>
            </a:prstGeom>
            <a:solidFill>
              <a:schemeClr val="accent1"/>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70000"/>
                </a:lnSpc>
                <a:spcBef>
                  <a:spcPct val="0"/>
                </a:spcBef>
                <a:buClrTx/>
                <a:buSzTx/>
                <a:buFontTx/>
                <a:buNone/>
              </a:pPr>
              <a:r>
                <a:rPr kumimoji="1" lang="zh-CN" altLang="en-US" sz="2800">
                  <a:latin typeface="Arial" panose="020B0604020202020204" pitchFamily="34" charset="0"/>
                  <a:ea typeface="宋体" panose="02010600030101010101" pitchFamily="2" charset="-122"/>
                </a:rPr>
                <a:t>–</a:t>
              </a:r>
              <a:endParaRPr kumimoji="1" lang="zh-CN" altLang="en-US" sz="2800">
                <a:latin typeface="Arial" panose="020B0604020202020204" pitchFamily="34" charset="0"/>
                <a:ea typeface="宋体" panose="02010600030101010101" pitchFamily="2" charset="-122"/>
              </a:endParaRPr>
            </a:p>
          </p:txBody>
        </p:sp>
        <p:sp>
          <p:nvSpPr>
            <p:cNvPr id="220185" name="Text Box 48"/>
            <p:cNvSpPr txBox="1">
              <a:spLocks noChangeArrowheads="1"/>
            </p:cNvSpPr>
            <p:nvPr/>
          </p:nvSpPr>
          <p:spPr bwMode="auto">
            <a:xfrm>
              <a:off x="4150" y="3385"/>
              <a:ext cx="86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黑体" panose="02010609060101010101" pitchFamily="2" charset="-122"/>
                  <a:ea typeface="黑体" panose="02010609060101010101" pitchFamily="2" charset="-122"/>
                </a:rPr>
                <a:t>琥珀酰</a:t>
              </a:r>
              <a:r>
                <a:rPr kumimoji="1" lang="en-US" altLang="zh-CN" sz="2000">
                  <a:latin typeface="Antique Olive"/>
                  <a:ea typeface="黑体" panose="02010609060101010101" pitchFamily="2" charset="-122"/>
                </a:rPr>
                <a:t>CoA</a:t>
              </a:r>
              <a:r>
                <a:rPr kumimoji="1" lang="en-US" altLang="zh-CN" sz="2000">
                  <a:solidFill>
                    <a:srgbClr val="FFFF99"/>
                  </a:solidFill>
                  <a:latin typeface="Antique Olive"/>
                  <a:ea typeface="黑体" panose="02010609060101010101" pitchFamily="2" charset="-122"/>
                </a:rPr>
                <a:t>  </a:t>
              </a:r>
              <a:endParaRPr kumimoji="1" lang="en-US" altLang="zh-CN" sz="2000">
                <a:solidFill>
                  <a:srgbClr val="FFFF99"/>
                </a:solidFill>
                <a:latin typeface="Antique Olive"/>
                <a:ea typeface="黑体" panose="02010609060101010101" pitchFamily="2" charset="-122"/>
              </a:endParaRPr>
            </a:p>
          </p:txBody>
        </p:sp>
        <p:sp>
          <p:nvSpPr>
            <p:cNvPr id="220186" name="Text Box 49"/>
            <p:cNvSpPr txBox="1">
              <a:spLocks noChangeArrowheads="1"/>
            </p:cNvSpPr>
            <p:nvPr/>
          </p:nvSpPr>
          <p:spPr bwMode="auto">
            <a:xfrm>
              <a:off x="5112" y="3385"/>
              <a:ext cx="5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NADH  </a:t>
              </a:r>
              <a:endParaRPr kumimoji="1" lang="en-US" altLang="zh-CN" sz="2800" b="0">
                <a:latin typeface="Antique Olive"/>
                <a:ea typeface="宋体" panose="02010600030101010101" pitchFamily="2" charset="-122"/>
              </a:endParaRPr>
            </a:p>
          </p:txBody>
        </p:sp>
      </p:grpSp>
      <p:grpSp>
        <p:nvGrpSpPr>
          <p:cNvPr id="8" name="Group 50"/>
          <p:cNvGrpSpPr/>
          <p:nvPr/>
        </p:nvGrpSpPr>
        <p:grpSpPr bwMode="auto">
          <a:xfrm>
            <a:off x="8653714" y="5056188"/>
            <a:ext cx="944563" cy="400050"/>
            <a:chOff x="4196" y="3185"/>
            <a:chExt cx="595" cy="252"/>
          </a:xfrm>
        </p:grpSpPr>
        <p:sp>
          <p:nvSpPr>
            <p:cNvPr id="220182" name="Oval 51"/>
            <p:cNvSpPr>
              <a:spLocks noChangeArrowheads="1"/>
            </p:cNvSpPr>
            <p:nvPr/>
          </p:nvSpPr>
          <p:spPr bwMode="auto">
            <a:xfrm>
              <a:off x="4196" y="3204"/>
              <a:ext cx="182" cy="182"/>
            </a:xfrm>
            <a:prstGeom prst="ellipse">
              <a:avLst/>
            </a:prstGeom>
            <a:solidFill>
              <a:srgbClr val="FF66FF"/>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ntique Olive"/>
                  <a:ea typeface="宋体" panose="02010600030101010101" pitchFamily="2" charset="-122"/>
                </a:rPr>
                <a:t>＋</a:t>
              </a:r>
              <a:endParaRPr kumimoji="1" lang="zh-CN" altLang="en-US" sz="2400">
                <a:latin typeface="Antique Olive"/>
                <a:ea typeface="宋体" panose="02010600030101010101" pitchFamily="2" charset="-122"/>
              </a:endParaRPr>
            </a:p>
          </p:txBody>
        </p:sp>
        <p:sp>
          <p:nvSpPr>
            <p:cNvPr id="220183" name="Text Box 52"/>
            <p:cNvSpPr txBox="1">
              <a:spLocks noChangeArrowheads="1"/>
            </p:cNvSpPr>
            <p:nvPr/>
          </p:nvSpPr>
          <p:spPr bwMode="auto">
            <a:xfrm>
              <a:off x="4377" y="3185"/>
              <a:ext cx="4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Ca</a:t>
              </a:r>
              <a:r>
                <a:rPr kumimoji="1" lang="en-US" altLang="zh-CN" sz="2000" baseline="30000">
                  <a:latin typeface="Antique Olive"/>
                  <a:ea typeface="宋体" panose="02010600030101010101" pitchFamily="2" charset="-122"/>
                </a:rPr>
                <a:t>2+ </a:t>
              </a:r>
              <a:endParaRPr kumimoji="1" lang="en-US" altLang="zh-CN" sz="2000" baseline="30000">
                <a:latin typeface="Antique Olive"/>
                <a:ea typeface="宋体" panose="02010600030101010101" pitchFamily="2" charset="-122"/>
              </a:endParaRPr>
            </a:p>
          </p:txBody>
        </p:sp>
      </p:grpSp>
      <p:sp>
        <p:nvSpPr>
          <p:cNvPr id="204853" name="Text Box 53"/>
          <p:cNvSpPr txBox="1">
            <a:spLocks noChangeArrowheads="1"/>
          </p:cNvSpPr>
          <p:nvPr/>
        </p:nvSpPr>
        <p:spPr bwMode="auto">
          <a:xfrm>
            <a:off x="10236447" y="3933825"/>
            <a:ext cx="6960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Ca</a:t>
            </a:r>
            <a:r>
              <a:rPr kumimoji="1" lang="en-US" altLang="zh-CN" sz="2000" baseline="30000">
                <a:latin typeface="Antique Olive"/>
                <a:ea typeface="宋体" panose="02010600030101010101" pitchFamily="2" charset="-122"/>
              </a:rPr>
              <a:t>2+</a:t>
            </a:r>
            <a:r>
              <a:rPr kumimoji="1" lang="en-US" altLang="zh-CN" sz="2000" baseline="30000">
                <a:solidFill>
                  <a:schemeClr val="hlink"/>
                </a:solidFill>
                <a:latin typeface="Antique Olive"/>
                <a:ea typeface="宋体" panose="02010600030101010101" pitchFamily="2" charset="-122"/>
              </a:rPr>
              <a:t>  </a:t>
            </a:r>
            <a:endParaRPr kumimoji="1" lang="en-US" altLang="zh-CN" sz="2000" baseline="30000">
              <a:solidFill>
                <a:schemeClr val="hlink"/>
              </a:solidFill>
              <a:latin typeface="Antique Olive"/>
              <a:ea typeface="宋体" panose="02010600030101010101" pitchFamily="2" charset="-122"/>
            </a:endParaRPr>
          </a:p>
        </p:txBody>
      </p:sp>
      <p:sp>
        <p:nvSpPr>
          <p:cNvPr id="204854" name="Text Box 54"/>
          <p:cNvSpPr txBox="1">
            <a:spLocks noChangeArrowheads="1"/>
          </p:cNvSpPr>
          <p:nvPr/>
        </p:nvSpPr>
        <p:spPr bwMode="auto">
          <a:xfrm>
            <a:off x="1343473" y="1531938"/>
            <a:ext cx="3529013" cy="457200"/>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latin typeface="+mn-lt"/>
                <a:ea typeface="+mj-ea"/>
              </a:rPr>
              <a:t>① </a:t>
            </a:r>
            <a:r>
              <a:rPr kumimoji="1" lang="en-US" altLang="zh-CN" sz="2400" b="0">
                <a:latin typeface="+mn-lt"/>
                <a:ea typeface="+mj-ea"/>
              </a:rPr>
              <a:t>ATP、ADP</a:t>
            </a:r>
            <a:r>
              <a:rPr kumimoji="1" lang="zh-CN" altLang="en-US" sz="2400" b="0">
                <a:latin typeface="+mn-lt"/>
                <a:ea typeface="+mj-ea"/>
              </a:rPr>
              <a:t>的影响</a:t>
            </a:r>
            <a:endParaRPr kumimoji="1" lang="zh-CN" altLang="en-US" sz="2400" b="0">
              <a:latin typeface="+mn-lt"/>
              <a:ea typeface="+mj-ea"/>
            </a:endParaRPr>
          </a:p>
        </p:txBody>
      </p:sp>
      <p:sp>
        <p:nvSpPr>
          <p:cNvPr id="204855" name="Text Box 55"/>
          <p:cNvSpPr txBox="1">
            <a:spLocks noChangeArrowheads="1"/>
          </p:cNvSpPr>
          <p:nvPr/>
        </p:nvSpPr>
        <p:spPr bwMode="auto">
          <a:xfrm>
            <a:off x="1343472" y="2501900"/>
            <a:ext cx="3168650" cy="457200"/>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latin typeface="+mn-lt"/>
                <a:ea typeface="+mj-ea"/>
              </a:rPr>
              <a:t>② 产物堆积引起抑制</a:t>
            </a:r>
            <a:endParaRPr kumimoji="1" lang="zh-CN" altLang="en-US" sz="2400" b="0">
              <a:latin typeface="+mn-lt"/>
              <a:ea typeface="+mj-ea"/>
            </a:endParaRPr>
          </a:p>
        </p:txBody>
      </p:sp>
      <p:sp>
        <p:nvSpPr>
          <p:cNvPr id="204856" name="Text Box 56"/>
          <p:cNvSpPr txBox="1">
            <a:spLocks noChangeArrowheads="1"/>
          </p:cNvSpPr>
          <p:nvPr/>
        </p:nvSpPr>
        <p:spPr bwMode="auto">
          <a:xfrm>
            <a:off x="1343472" y="3789363"/>
            <a:ext cx="2973388" cy="1200150"/>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algn="just" eaLnBrk="1" hangingPunct="1">
              <a:spcBef>
                <a:spcPct val="0"/>
              </a:spcBef>
              <a:buClrTx/>
              <a:buSzTx/>
              <a:buFontTx/>
              <a:buNone/>
              <a:defRPr/>
            </a:pPr>
            <a:r>
              <a:rPr kumimoji="1" lang="zh-CN" altLang="en-US" sz="2400" b="0" dirty="0">
                <a:latin typeface="+mn-lt"/>
                <a:ea typeface="+mj-ea"/>
              </a:rPr>
              <a:t>③ 循环中后续反应中间产物别位反馈抑制前面反应中的酶</a:t>
            </a:r>
            <a:endParaRPr kumimoji="1" lang="zh-CN" altLang="en-US" sz="2400" b="0" dirty="0">
              <a:latin typeface="+mn-lt"/>
              <a:ea typeface="+mj-ea"/>
            </a:endParaRPr>
          </a:p>
        </p:txBody>
      </p:sp>
      <p:sp>
        <p:nvSpPr>
          <p:cNvPr id="204857" name="Text Box 57"/>
          <p:cNvSpPr txBox="1">
            <a:spLocks noChangeArrowheads="1"/>
          </p:cNvSpPr>
          <p:nvPr/>
        </p:nvSpPr>
        <p:spPr bwMode="auto">
          <a:xfrm>
            <a:off x="1343473" y="5373688"/>
            <a:ext cx="2900363" cy="830262"/>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latin typeface="+mn-lt"/>
                <a:ea typeface="+mj-ea"/>
              </a:rPr>
              <a:t>④ 其他，如</a:t>
            </a:r>
            <a:r>
              <a:rPr kumimoji="1" lang="en-US" altLang="zh-CN" sz="2400" b="0">
                <a:latin typeface="+mn-lt"/>
                <a:ea typeface="+mj-ea"/>
              </a:rPr>
              <a:t>Ca</a:t>
            </a:r>
            <a:r>
              <a:rPr kumimoji="1" lang="en-US" altLang="zh-CN" sz="2400" b="0" baseline="30000">
                <a:latin typeface="+mn-lt"/>
                <a:ea typeface="+mj-ea"/>
              </a:rPr>
              <a:t>2+</a:t>
            </a:r>
            <a:r>
              <a:rPr kumimoji="1" lang="zh-CN" altLang="en-US" sz="2400" b="0">
                <a:latin typeface="+mn-lt"/>
                <a:ea typeface="+mj-ea"/>
              </a:rPr>
              <a:t>可激活许多酶</a:t>
            </a:r>
            <a:endParaRPr kumimoji="1" lang="zh-CN" altLang="en-US" sz="2400" b="0">
              <a:latin typeface="+mn-lt"/>
              <a:ea typeface="+mj-ea"/>
            </a:endParaRPr>
          </a:p>
        </p:txBody>
      </p:sp>
      <p:sp>
        <p:nvSpPr>
          <p:cNvPr id="220178" name="Text Box 58"/>
          <p:cNvSpPr txBox="1">
            <a:spLocks noChangeArrowheads="1"/>
          </p:cNvSpPr>
          <p:nvPr/>
        </p:nvSpPr>
        <p:spPr bwMode="auto">
          <a:xfrm>
            <a:off x="1703389" y="476250"/>
            <a:ext cx="46434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solidFill>
                  <a:srgbClr val="660033"/>
                </a:solidFill>
              </a:rPr>
              <a:t>2. 三羧酸循环的调节</a:t>
            </a:r>
            <a:endParaRPr kumimoji="1" lang="zh-CN" altLang="en-US">
              <a:solidFill>
                <a:srgbClr val="660033"/>
              </a:solidFill>
            </a:endParaRPr>
          </a:p>
        </p:txBody>
      </p:sp>
      <p:grpSp>
        <p:nvGrpSpPr>
          <p:cNvPr id="9" name="Group 59"/>
          <p:cNvGrpSpPr/>
          <p:nvPr/>
        </p:nvGrpSpPr>
        <p:grpSpPr bwMode="auto">
          <a:xfrm>
            <a:off x="9383959" y="3946525"/>
            <a:ext cx="1017588" cy="400050"/>
            <a:chOff x="3250" y="772"/>
            <a:chExt cx="641" cy="252"/>
          </a:xfrm>
        </p:grpSpPr>
        <p:sp>
          <p:nvSpPr>
            <p:cNvPr id="220180" name="Oval 60"/>
            <p:cNvSpPr>
              <a:spLocks noChangeArrowheads="1"/>
            </p:cNvSpPr>
            <p:nvPr/>
          </p:nvSpPr>
          <p:spPr bwMode="auto">
            <a:xfrm>
              <a:off x="3250" y="799"/>
              <a:ext cx="182" cy="182"/>
            </a:xfrm>
            <a:prstGeom prst="ellipse">
              <a:avLst/>
            </a:prstGeom>
            <a:solidFill>
              <a:srgbClr val="FF66FF"/>
            </a:solidFill>
            <a:ln w="9525">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ntique Olive"/>
                  <a:ea typeface="宋体" panose="02010600030101010101" pitchFamily="2" charset="-122"/>
                </a:rPr>
                <a:t>＋</a:t>
              </a:r>
              <a:endParaRPr kumimoji="1" lang="zh-CN" altLang="en-US" sz="2400">
                <a:latin typeface="Antique Olive"/>
                <a:ea typeface="宋体" panose="02010600030101010101" pitchFamily="2" charset="-122"/>
              </a:endParaRPr>
            </a:p>
          </p:txBody>
        </p:sp>
        <p:sp>
          <p:nvSpPr>
            <p:cNvPr id="220181" name="Text Box 61"/>
            <p:cNvSpPr txBox="1">
              <a:spLocks noChangeArrowheads="1"/>
            </p:cNvSpPr>
            <p:nvPr/>
          </p:nvSpPr>
          <p:spPr bwMode="auto">
            <a:xfrm>
              <a:off x="3416" y="772"/>
              <a:ext cx="4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ntique Olive"/>
                  <a:ea typeface="宋体" panose="02010600030101010101" pitchFamily="2" charset="-122"/>
                </a:rPr>
                <a:t>ADP</a:t>
              </a:r>
              <a:r>
                <a:rPr kumimoji="1" lang="en-US" altLang="zh-CN" sz="2000">
                  <a:solidFill>
                    <a:srgbClr val="33CC33"/>
                  </a:solidFill>
                  <a:latin typeface="Antique Olive"/>
                  <a:ea typeface="宋体" panose="02010600030101010101" pitchFamily="2" charset="-122"/>
                </a:rPr>
                <a:t>  </a:t>
              </a:r>
              <a:endParaRPr kumimoji="1" lang="en-US" altLang="zh-CN" sz="2000">
                <a:solidFill>
                  <a:srgbClr val="33CC33"/>
                </a:solidFill>
                <a:latin typeface="Antique Olive"/>
                <a:ea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31"/>
                                        </p:tgtEl>
                                        <p:attrNameLst>
                                          <p:attrName>style.visibility</p:attrName>
                                        </p:attrNameLst>
                                      </p:cBhvr>
                                      <p:to>
                                        <p:strVal val="visible"/>
                                      </p:to>
                                    </p:set>
                                    <p:animEffect transition="in" filter="fade">
                                      <p:cBhvr>
                                        <p:cTn id="7" dur="500"/>
                                        <p:tgtEl>
                                          <p:spTgt spid="2048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04830"/>
                                        </p:tgtEl>
                                        <p:attrNameLst>
                                          <p:attrName>style.visibility</p:attrName>
                                        </p:attrNameLst>
                                      </p:cBhvr>
                                      <p:to>
                                        <p:strVal val="visible"/>
                                      </p:to>
                                    </p:set>
                                    <p:animEffect transition="in" filter="fade">
                                      <p:cBhvr>
                                        <p:cTn id="11" dur="500"/>
                                        <p:tgtEl>
                                          <p:spTgt spid="204830"/>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04832"/>
                                        </p:tgtEl>
                                        <p:attrNameLst>
                                          <p:attrName>style.visibility</p:attrName>
                                        </p:attrNameLst>
                                      </p:cBhvr>
                                      <p:to>
                                        <p:strVal val="visible"/>
                                      </p:to>
                                    </p:set>
                                    <p:animEffect transition="in" filter="fade">
                                      <p:cBhvr>
                                        <p:cTn id="15" dur="500"/>
                                        <p:tgtEl>
                                          <p:spTgt spid="2048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4854"/>
                                        </p:tgtEl>
                                        <p:attrNameLst>
                                          <p:attrName>style.visibility</p:attrName>
                                        </p:attrNameLst>
                                      </p:cBhvr>
                                      <p:to>
                                        <p:strVal val="visible"/>
                                      </p:to>
                                    </p:set>
                                    <p:animEffect transition="in" filter="fade">
                                      <p:cBhvr>
                                        <p:cTn id="20" dur="500"/>
                                        <p:tgtEl>
                                          <p:spTgt spid="204854"/>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par>
                          <p:cTn id="29" fill="hold">
                            <p:stCondLst>
                              <p:cond delay="1500"/>
                            </p:stCondLst>
                            <p:childTnLst>
                              <p:par>
                                <p:cTn id="30" presetID="10"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par>
                          <p:cTn id="33" fill="hold">
                            <p:stCondLst>
                              <p:cond delay="2000"/>
                            </p:stCondLst>
                            <p:childTnLst>
                              <p:par>
                                <p:cTn id="34" presetID="10" presetClass="entr" presetSubtype="0"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204855"/>
                                        </p:tgtEl>
                                        <p:attrNameLst>
                                          <p:attrName>style.visibility</p:attrName>
                                        </p:attrNameLst>
                                      </p:cBhvr>
                                      <p:to>
                                        <p:strVal val="visible"/>
                                      </p:to>
                                    </p:set>
                                    <p:animEffect transition="in" filter="checkerboard(across)">
                                      <p:cBhvr>
                                        <p:cTn id="41" dur="500"/>
                                        <p:tgtEl>
                                          <p:spTgt spid="204855"/>
                                        </p:tgtEl>
                                      </p:cBhvr>
                                    </p:animEffect>
                                  </p:childTnLst>
                                </p:cTn>
                              </p:par>
                            </p:childTnLst>
                          </p:cTn>
                        </p:par>
                        <p:par>
                          <p:cTn id="42" fill="hold">
                            <p:stCondLst>
                              <p:cond delay="500"/>
                            </p:stCondLst>
                            <p:childTnLst>
                              <p:par>
                                <p:cTn id="43" presetID="2" presetClass="entr" presetSubtype="4" fill="hold" nodeType="after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childTnLst>
                          </p:cTn>
                        </p:par>
                        <p:par>
                          <p:cTn id="47" fill="hold">
                            <p:stCondLst>
                              <p:cond delay="1000"/>
                            </p:stCondLst>
                            <p:childTnLst>
                              <p:par>
                                <p:cTn id="48" presetID="2" presetClass="entr" presetSubtype="1" fill="hold" grpId="0" nodeType="afterEffect">
                                  <p:stCondLst>
                                    <p:cond delay="0"/>
                                  </p:stCondLst>
                                  <p:childTnLst>
                                    <p:set>
                                      <p:cBhvr>
                                        <p:cTn id="49" dur="1" fill="hold">
                                          <p:stCondLst>
                                            <p:cond delay="0"/>
                                          </p:stCondLst>
                                        </p:cTn>
                                        <p:tgtEl>
                                          <p:spTgt spid="204842"/>
                                        </p:tgtEl>
                                        <p:attrNameLst>
                                          <p:attrName>style.visibility</p:attrName>
                                        </p:attrNameLst>
                                      </p:cBhvr>
                                      <p:to>
                                        <p:strVal val="visible"/>
                                      </p:to>
                                    </p:set>
                                    <p:anim calcmode="lin" valueType="num">
                                      <p:cBhvr additive="base">
                                        <p:cTn id="50" dur="500" fill="hold"/>
                                        <p:tgtEl>
                                          <p:spTgt spid="204842"/>
                                        </p:tgtEl>
                                        <p:attrNameLst>
                                          <p:attrName>ppt_x</p:attrName>
                                        </p:attrNameLst>
                                      </p:cBhvr>
                                      <p:tavLst>
                                        <p:tav tm="0">
                                          <p:val>
                                            <p:strVal val="#ppt_x"/>
                                          </p:val>
                                        </p:tav>
                                        <p:tav tm="100000">
                                          <p:val>
                                            <p:strVal val="#ppt_x"/>
                                          </p:val>
                                        </p:tav>
                                      </p:tavLst>
                                    </p:anim>
                                    <p:anim calcmode="lin" valueType="num">
                                      <p:cBhvr additive="base">
                                        <p:cTn id="51" dur="500" fill="hold"/>
                                        <p:tgtEl>
                                          <p:spTgt spid="204842"/>
                                        </p:tgtEl>
                                        <p:attrNameLst>
                                          <p:attrName>ppt_y</p:attrName>
                                        </p:attrNameLst>
                                      </p:cBhvr>
                                      <p:tavLst>
                                        <p:tav tm="0">
                                          <p:val>
                                            <p:strVal val="0-#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grpId="0" nodeType="clickEffect">
                                  <p:stCondLst>
                                    <p:cond delay="0"/>
                                  </p:stCondLst>
                                  <p:childTnLst>
                                    <p:set>
                                      <p:cBhvr>
                                        <p:cTn id="55" dur="1" fill="hold">
                                          <p:stCondLst>
                                            <p:cond delay="0"/>
                                          </p:stCondLst>
                                        </p:cTn>
                                        <p:tgtEl>
                                          <p:spTgt spid="204856"/>
                                        </p:tgtEl>
                                        <p:attrNameLst>
                                          <p:attrName>style.visibility</p:attrName>
                                        </p:attrNameLst>
                                      </p:cBhvr>
                                      <p:to>
                                        <p:strVal val="visible"/>
                                      </p:to>
                                    </p:set>
                                    <p:anim calcmode="lin" valueType="num">
                                      <p:cBhvr>
                                        <p:cTn id="56" dur="500" fill="hold"/>
                                        <p:tgtEl>
                                          <p:spTgt spid="204856"/>
                                        </p:tgtEl>
                                        <p:attrNameLst>
                                          <p:attrName>ppt_w</p:attrName>
                                        </p:attrNameLst>
                                      </p:cBhvr>
                                      <p:tavLst>
                                        <p:tav tm="0">
                                          <p:val>
                                            <p:fltVal val="0"/>
                                          </p:val>
                                        </p:tav>
                                        <p:tav tm="100000">
                                          <p:val>
                                            <p:strVal val="#ppt_w"/>
                                          </p:val>
                                        </p:tav>
                                      </p:tavLst>
                                    </p:anim>
                                    <p:anim calcmode="lin" valueType="num">
                                      <p:cBhvr>
                                        <p:cTn id="57" dur="500" fill="hold"/>
                                        <p:tgtEl>
                                          <p:spTgt spid="204856"/>
                                        </p:tgtEl>
                                        <p:attrNameLst>
                                          <p:attrName>ppt_h</p:attrName>
                                        </p:attrNameLst>
                                      </p:cBhvr>
                                      <p:tavLst>
                                        <p:tav tm="0">
                                          <p:val>
                                            <p:strVal val="#ppt_h"/>
                                          </p:val>
                                        </p:tav>
                                        <p:tav tm="100000">
                                          <p:val>
                                            <p:strVal val="#ppt_h"/>
                                          </p:val>
                                        </p:tav>
                                      </p:tavLst>
                                    </p:anim>
                                  </p:childTnLst>
                                </p:cTn>
                              </p:par>
                            </p:childTnLst>
                          </p:cTn>
                        </p:par>
                        <p:par>
                          <p:cTn id="58" fill="hold">
                            <p:stCondLst>
                              <p:cond delay="500"/>
                            </p:stCondLst>
                            <p:childTnLst>
                              <p:par>
                                <p:cTn id="59" presetID="2" presetClass="entr" presetSubtype="12" fill="hold" nodeType="after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0-#ppt_w/2"/>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4" presetClass="entr" presetSubtype="5" fill="hold" grpId="0" nodeType="clickEffect">
                                  <p:stCondLst>
                                    <p:cond delay="0"/>
                                  </p:stCondLst>
                                  <p:childTnLst>
                                    <p:set>
                                      <p:cBhvr>
                                        <p:cTn id="66" dur="1" fill="hold">
                                          <p:stCondLst>
                                            <p:cond delay="0"/>
                                          </p:stCondLst>
                                        </p:cTn>
                                        <p:tgtEl>
                                          <p:spTgt spid="204857"/>
                                        </p:tgtEl>
                                        <p:attrNameLst>
                                          <p:attrName>style.visibility</p:attrName>
                                        </p:attrNameLst>
                                      </p:cBhvr>
                                      <p:to>
                                        <p:strVal val="visible"/>
                                      </p:to>
                                    </p:set>
                                    <p:animEffect transition="in" filter="randombar(vertical)">
                                      <p:cBhvr>
                                        <p:cTn id="67" dur="500"/>
                                        <p:tgtEl>
                                          <p:spTgt spid="204857"/>
                                        </p:tgtEl>
                                      </p:cBhvr>
                                    </p:animEffect>
                                  </p:childTnLst>
                                </p:cTn>
                              </p:par>
                            </p:childTnLst>
                          </p:cTn>
                        </p:par>
                        <p:par>
                          <p:cTn id="68" fill="hold">
                            <p:stCondLst>
                              <p:cond delay="500"/>
                            </p:stCondLst>
                            <p:childTnLst>
                              <p:par>
                                <p:cTn id="69" presetID="2" presetClass="entr" presetSubtype="12" fill="hold" grpId="0" nodeType="afterEffect">
                                  <p:stCondLst>
                                    <p:cond delay="0"/>
                                  </p:stCondLst>
                                  <p:childTnLst>
                                    <p:set>
                                      <p:cBhvr>
                                        <p:cTn id="70" dur="1" fill="hold">
                                          <p:stCondLst>
                                            <p:cond delay="0"/>
                                          </p:stCondLst>
                                        </p:cTn>
                                        <p:tgtEl>
                                          <p:spTgt spid="204853"/>
                                        </p:tgtEl>
                                        <p:attrNameLst>
                                          <p:attrName>style.visibility</p:attrName>
                                        </p:attrNameLst>
                                      </p:cBhvr>
                                      <p:to>
                                        <p:strVal val="visible"/>
                                      </p:to>
                                    </p:set>
                                    <p:anim calcmode="lin" valueType="num">
                                      <p:cBhvr additive="base">
                                        <p:cTn id="71" dur="500" fill="hold"/>
                                        <p:tgtEl>
                                          <p:spTgt spid="204853"/>
                                        </p:tgtEl>
                                        <p:attrNameLst>
                                          <p:attrName>ppt_x</p:attrName>
                                        </p:attrNameLst>
                                      </p:cBhvr>
                                      <p:tavLst>
                                        <p:tav tm="0">
                                          <p:val>
                                            <p:strVal val="0-#ppt_w/2"/>
                                          </p:val>
                                        </p:tav>
                                        <p:tav tm="100000">
                                          <p:val>
                                            <p:strVal val="#ppt_x"/>
                                          </p:val>
                                        </p:tav>
                                      </p:tavLst>
                                    </p:anim>
                                    <p:anim calcmode="lin" valueType="num">
                                      <p:cBhvr additive="base">
                                        <p:cTn id="72" dur="500" fill="hold"/>
                                        <p:tgtEl>
                                          <p:spTgt spid="204853"/>
                                        </p:tgtEl>
                                        <p:attrNameLst>
                                          <p:attrName>ppt_y</p:attrName>
                                        </p:attrNameLst>
                                      </p:cBhvr>
                                      <p:tavLst>
                                        <p:tav tm="0">
                                          <p:val>
                                            <p:strVal val="1+#ppt_h/2"/>
                                          </p:val>
                                        </p:tav>
                                        <p:tav tm="100000">
                                          <p:val>
                                            <p:strVal val="#ppt_y"/>
                                          </p:val>
                                        </p:tav>
                                      </p:tavLst>
                                    </p:anim>
                                  </p:childTnLst>
                                </p:cTn>
                              </p:par>
                            </p:childTnLst>
                          </p:cTn>
                        </p:par>
                        <p:par>
                          <p:cTn id="73" fill="hold">
                            <p:stCondLst>
                              <p:cond delay="1000"/>
                            </p:stCondLst>
                            <p:childTnLst>
                              <p:par>
                                <p:cTn id="74" presetID="2" presetClass="entr" presetSubtype="12" fill="hold" nodeType="afterEffect">
                                  <p:stCondLst>
                                    <p:cond delay="0"/>
                                  </p:stCondLst>
                                  <p:childTnLst>
                                    <p:set>
                                      <p:cBhvr>
                                        <p:cTn id="75" dur="1" fill="hold">
                                          <p:stCondLst>
                                            <p:cond delay="0"/>
                                          </p:stCondLst>
                                        </p:cTn>
                                        <p:tgtEl>
                                          <p:spTgt spid="8"/>
                                        </p:tgtEl>
                                        <p:attrNameLst>
                                          <p:attrName>style.visibility</p:attrName>
                                        </p:attrNameLst>
                                      </p:cBhvr>
                                      <p:to>
                                        <p:strVal val="visible"/>
                                      </p:to>
                                    </p:set>
                                    <p:anim calcmode="lin" valueType="num">
                                      <p:cBhvr additive="base">
                                        <p:cTn id="76" dur="500" fill="hold"/>
                                        <p:tgtEl>
                                          <p:spTgt spid="8"/>
                                        </p:tgtEl>
                                        <p:attrNameLst>
                                          <p:attrName>ppt_x</p:attrName>
                                        </p:attrNameLst>
                                      </p:cBhvr>
                                      <p:tavLst>
                                        <p:tav tm="0">
                                          <p:val>
                                            <p:strVal val="0-#ppt_w/2"/>
                                          </p:val>
                                        </p:tav>
                                        <p:tav tm="100000">
                                          <p:val>
                                            <p:strVal val="#ppt_x"/>
                                          </p:val>
                                        </p:tav>
                                      </p:tavLst>
                                    </p:anim>
                                    <p:anim calcmode="lin" valueType="num">
                                      <p:cBhvr additive="base">
                                        <p:cTn id="7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0" grpId="0" autoUpdateAnimBg="0"/>
      <p:bldP spid="204831" grpId="0" autoUpdateAnimBg="0"/>
      <p:bldP spid="204832" grpId="0" autoUpdateAnimBg="0"/>
      <p:bldP spid="204842" grpId="0" autoUpdateAnimBg="0"/>
      <p:bldP spid="204853" grpId="0" autoUpdateAnimBg="0"/>
      <p:bldP spid="204854" grpId="0" autoUpdateAnimBg="0"/>
      <p:bldP spid="204855" grpId="0" autoUpdateAnimBg="0"/>
      <p:bldP spid="204856" grpId="0" autoUpdateAnimBg="0"/>
      <p:bldP spid="204857"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2279651" y="549275"/>
            <a:ext cx="7102475" cy="446088"/>
          </a:xfrm>
        </p:spPr>
        <p:txBody>
          <a:bodyPr/>
          <a:lstStyle/>
          <a:p>
            <a:pPr eaLnBrk="1" hangingPunct="1"/>
            <a:r>
              <a:rPr lang="en-US" altLang="zh-CN" sz="3600" b="1">
                <a:solidFill>
                  <a:srgbClr val="660033"/>
                </a:solidFill>
                <a:ea typeface="楷体_GB2312" pitchFamily="49" charset="-122"/>
              </a:rPr>
              <a:t>3.</a:t>
            </a:r>
            <a:r>
              <a:rPr lang="zh-CN" altLang="en-US" sz="3600" b="1">
                <a:solidFill>
                  <a:srgbClr val="660033"/>
                </a:solidFill>
                <a:ea typeface="楷体_GB2312" pitchFamily="49" charset="-122"/>
              </a:rPr>
              <a:t>糖的有氧氧化各阶段相互协调</a:t>
            </a:r>
            <a:endParaRPr lang="zh-CN" altLang="en-US" sz="3600" b="1">
              <a:solidFill>
                <a:srgbClr val="660033"/>
              </a:solidFill>
              <a:ea typeface="楷体_GB2312" pitchFamily="49" charset="-122"/>
            </a:endParaRPr>
          </a:p>
        </p:txBody>
      </p:sp>
      <p:sp>
        <p:nvSpPr>
          <p:cNvPr id="205827" name="Rectangle 3"/>
          <p:cNvSpPr>
            <a:spLocks noGrp="1" noChangeArrowheads="1"/>
          </p:cNvSpPr>
          <p:nvPr>
            <p:ph type="body" idx="1"/>
          </p:nvPr>
        </p:nvSpPr>
        <p:spPr>
          <a:xfrm>
            <a:off x="2135188" y="1557339"/>
            <a:ext cx="8064500" cy="4537075"/>
          </a:xfrm>
        </p:spPr>
        <p:txBody>
          <a:bodyPr/>
          <a:lstStyle/>
          <a:p>
            <a:pPr marL="450850" indent="-450850" eaLnBrk="1" hangingPunct="1">
              <a:lnSpc>
                <a:spcPct val="120000"/>
              </a:lnSpc>
              <a:buClr>
                <a:schemeClr val="tx1"/>
              </a:buClr>
              <a:buFont typeface="Wingdings" panose="05000000000000000000" pitchFamily="2" charset="2"/>
              <a:buChar char="Ø"/>
              <a:defRPr/>
            </a:pPr>
            <a:r>
              <a:rPr lang="zh-CN" altLang="en-US" sz="2800" b="0" dirty="0"/>
              <a:t>通过</a:t>
            </a:r>
            <a:r>
              <a:rPr lang="zh-CN" altLang="en-US" sz="2800" b="0" dirty="0">
                <a:solidFill>
                  <a:srgbClr val="0000CC"/>
                </a:solidFill>
              </a:rPr>
              <a:t>共同的代谢物别构调节各阶段的关键酶</a:t>
            </a:r>
            <a:endParaRPr lang="zh-CN" altLang="en-US" sz="2800" b="0" dirty="0">
              <a:solidFill>
                <a:srgbClr val="0000CC"/>
              </a:solidFill>
            </a:endParaRPr>
          </a:p>
          <a:p>
            <a:pPr marL="1000125" lvl="1" eaLnBrk="1" hangingPunct="1">
              <a:lnSpc>
                <a:spcPct val="120000"/>
              </a:lnSpc>
              <a:buClr>
                <a:schemeClr val="tx1"/>
              </a:buClr>
              <a:buFont typeface="Wingdings" panose="05000000000000000000" pitchFamily="2" charset="2"/>
              <a:buChar char="Ø"/>
              <a:defRPr/>
            </a:pPr>
            <a:r>
              <a:rPr lang="zh-CN" altLang="en-US" sz="2400" b="0" dirty="0"/>
              <a:t>柠檬酸别构剂</a:t>
            </a:r>
            <a:endParaRPr lang="en-US" altLang="zh-CN" sz="2400" b="0" dirty="0"/>
          </a:p>
          <a:p>
            <a:pPr marL="1000125" lvl="1" eaLnBrk="1" hangingPunct="1">
              <a:lnSpc>
                <a:spcPct val="120000"/>
              </a:lnSpc>
              <a:buClr>
                <a:schemeClr val="tx1"/>
              </a:buClr>
              <a:buFont typeface="Wingdings" panose="05000000000000000000" pitchFamily="2" charset="2"/>
              <a:buChar char="Ø"/>
              <a:defRPr/>
            </a:pPr>
            <a:r>
              <a:rPr lang="en-US" altLang="zh-CN" sz="2400" b="0" dirty="0"/>
              <a:t>NADH</a:t>
            </a:r>
            <a:r>
              <a:rPr lang="zh-CN" altLang="en-US" sz="2400" b="0" dirty="0"/>
              <a:t>别构剂</a:t>
            </a:r>
            <a:endParaRPr lang="en-US" altLang="zh-CN" sz="2400" b="0" dirty="0"/>
          </a:p>
          <a:p>
            <a:pPr marL="1000125" lvl="1" eaLnBrk="1" hangingPunct="1">
              <a:lnSpc>
                <a:spcPct val="120000"/>
              </a:lnSpc>
              <a:buClr>
                <a:schemeClr val="tx1"/>
              </a:buClr>
              <a:buFont typeface="Wingdings" panose="05000000000000000000" pitchFamily="2" charset="2"/>
              <a:buChar char="Ø"/>
              <a:defRPr/>
            </a:pPr>
            <a:r>
              <a:rPr lang="zh-CN" altLang="en-US" sz="2400" b="0" dirty="0"/>
              <a:t>下游氧化磷酸化若受阻，</a:t>
            </a:r>
            <a:r>
              <a:rPr lang="en-US" altLang="zh-CN" sz="2400" b="0" dirty="0"/>
              <a:t>NADH</a:t>
            </a:r>
            <a:r>
              <a:rPr lang="zh-CN" altLang="en-US" sz="2400" b="0" dirty="0"/>
              <a:t>的累积会抑制上游丙酮酸的氧化分解</a:t>
            </a:r>
            <a:endParaRPr lang="en-US" altLang="zh-CN" sz="2400" b="0" dirty="0"/>
          </a:p>
          <a:p>
            <a:pPr marL="1000125" lvl="1" eaLnBrk="1" hangingPunct="1">
              <a:lnSpc>
                <a:spcPct val="120000"/>
              </a:lnSpc>
              <a:buClr>
                <a:schemeClr val="tx1"/>
              </a:buClr>
              <a:buFont typeface="Wingdings" panose="05000000000000000000" pitchFamily="2" charset="2"/>
              <a:buChar char="Ø"/>
              <a:defRPr/>
            </a:pPr>
            <a:endParaRPr lang="en-US" altLang="zh-CN" sz="2400" b="0" dirty="0"/>
          </a:p>
          <a:p>
            <a:pPr marL="450850" indent="-450850" eaLnBrk="1" hangingPunct="1">
              <a:lnSpc>
                <a:spcPct val="120000"/>
              </a:lnSpc>
              <a:buClr>
                <a:schemeClr val="tx1"/>
              </a:buClr>
              <a:buFont typeface="Wingdings" panose="05000000000000000000" pitchFamily="2" charset="2"/>
              <a:buChar char="Ø"/>
              <a:defRPr/>
            </a:pPr>
            <a:r>
              <a:rPr lang="zh-CN" altLang="en-US" sz="2800" b="0" dirty="0">
                <a:solidFill>
                  <a:srgbClr val="0000CC"/>
                </a:solidFill>
              </a:rPr>
              <a:t>能量状态</a:t>
            </a:r>
            <a:r>
              <a:rPr lang="zh-CN" altLang="en-US" sz="2800" b="0" dirty="0"/>
              <a:t>协同调节各阶段关键酶</a:t>
            </a:r>
            <a:endParaRPr lang="en-US" altLang="zh-CN" sz="2800" b="0" dirty="0"/>
          </a:p>
          <a:p>
            <a:pPr marL="850900" lvl="1" indent="-450850" eaLnBrk="1" hangingPunct="1">
              <a:lnSpc>
                <a:spcPct val="120000"/>
              </a:lnSpc>
              <a:buClr>
                <a:schemeClr val="tx1"/>
              </a:buClr>
              <a:buFont typeface="Wingdings" panose="05000000000000000000" pitchFamily="2" charset="2"/>
              <a:buChar char="Ø"/>
              <a:defRPr/>
            </a:pPr>
            <a:r>
              <a:rPr lang="en-US" altLang="zh-CN" sz="2400" b="0" dirty="0"/>
              <a:t>ATP/ADP</a:t>
            </a:r>
            <a:r>
              <a:rPr lang="zh-CN" altLang="en-US" sz="2400" b="0" dirty="0"/>
              <a:t>、</a:t>
            </a:r>
            <a:r>
              <a:rPr lang="en-US" altLang="zh-CN" sz="2400" b="0" dirty="0"/>
              <a:t>ATP/AMP</a:t>
            </a:r>
            <a:r>
              <a:rPr lang="zh-CN" altLang="en-US" sz="2400" b="0" dirty="0"/>
              <a:t>比值影响多个关键酶活性</a:t>
            </a:r>
            <a:endParaRPr lang="en-US" altLang="zh-CN" sz="2400" b="0" dirty="0"/>
          </a:p>
          <a:p>
            <a:pPr marL="850900" lvl="1" indent="-450850" eaLnBrk="1" hangingPunct="1">
              <a:lnSpc>
                <a:spcPct val="120000"/>
              </a:lnSpc>
              <a:buClr>
                <a:schemeClr val="tx1"/>
              </a:buClr>
              <a:buFont typeface="Wingdings" panose="05000000000000000000" pitchFamily="2" charset="2"/>
              <a:buChar char="Ø"/>
              <a:defRPr/>
            </a:pPr>
            <a:endParaRPr lang="en-US" altLang="zh-CN" sz="2400" b="0" dirty="0"/>
          </a:p>
          <a:p>
            <a:pPr marL="1000125" lvl="1" eaLnBrk="1" hangingPunct="1">
              <a:lnSpc>
                <a:spcPct val="120000"/>
              </a:lnSpc>
              <a:buClr>
                <a:schemeClr val="tx1"/>
              </a:buClr>
              <a:buFont typeface="Wingdings" panose="05000000000000000000" pitchFamily="2" charset="2"/>
              <a:buChar char="Ø"/>
              <a:defRPr/>
            </a:pPr>
            <a:endParaRPr lang="en-US" altLang="zh-CN"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27">
                                            <p:txEl>
                                              <p:pRg st="0" end="0"/>
                                            </p:txEl>
                                          </p:spTgt>
                                        </p:tgtEl>
                                        <p:attrNameLst>
                                          <p:attrName>style.visibility</p:attrName>
                                        </p:attrNameLst>
                                      </p:cBhvr>
                                      <p:to>
                                        <p:strVal val="visible"/>
                                      </p:to>
                                    </p:set>
                                    <p:animEffect transition="in" filter="wipe(left)">
                                      <p:cBhvr>
                                        <p:cTn id="7" dur="500"/>
                                        <p:tgtEl>
                                          <p:spTgt spid="205827">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5827">
                                            <p:txEl>
                                              <p:pRg st="1" end="1"/>
                                            </p:txEl>
                                          </p:spTgt>
                                        </p:tgtEl>
                                        <p:attrNameLst>
                                          <p:attrName>style.visibility</p:attrName>
                                        </p:attrNameLst>
                                      </p:cBhvr>
                                      <p:to>
                                        <p:strVal val="visible"/>
                                      </p:to>
                                    </p:set>
                                    <p:animEffect transition="in" filter="wipe(left)">
                                      <p:cBhvr>
                                        <p:cTn id="10" dur="500"/>
                                        <p:tgtEl>
                                          <p:spTgt spid="205827">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05827">
                                            <p:txEl>
                                              <p:pRg st="2" end="2"/>
                                            </p:txEl>
                                          </p:spTgt>
                                        </p:tgtEl>
                                        <p:attrNameLst>
                                          <p:attrName>style.visibility</p:attrName>
                                        </p:attrNameLst>
                                      </p:cBhvr>
                                      <p:to>
                                        <p:strVal val="visible"/>
                                      </p:to>
                                    </p:set>
                                    <p:animEffect transition="in" filter="wipe(left)">
                                      <p:cBhvr>
                                        <p:cTn id="13" dur="500"/>
                                        <p:tgtEl>
                                          <p:spTgt spid="205827">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05827">
                                            <p:txEl>
                                              <p:pRg st="3" end="3"/>
                                            </p:txEl>
                                          </p:spTgt>
                                        </p:tgtEl>
                                        <p:attrNameLst>
                                          <p:attrName>style.visibility</p:attrName>
                                        </p:attrNameLst>
                                      </p:cBhvr>
                                      <p:to>
                                        <p:strVal val="visible"/>
                                      </p:to>
                                    </p:set>
                                    <p:animEffect transition="in" filter="wipe(left)">
                                      <p:cBhvr>
                                        <p:cTn id="16" dur="500"/>
                                        <p:tgtEl>
                                          <p:spTgt spid="20582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5827">
                                            <p:txEl>
                                              <p:pRg st="5" end="5"/>
                                            </p:txEl>
                                          </p:spTgt>
                                        </p:tgtEl>
                                        <p:attrNameLst>
                                          <p:attrName>style.visibility</p:attrName>
                                        </p:attrNameLst>
                                      </p:cBhvr>
                                      <p:to>
                                        <p:strVal val="visible"/>
                                      </p:to>
                                    </p:set>
                                    <p:animEffect transition="in" filter="wipe(left)">
                                      <p:cBhvr>
                                        <p:cTn id="21" dur="500"/>
                                        <p:tgtEl>
                                          <p:spTgt spid="205827">
                                            <p:txEl>
                                              <p:pRg st="5" end="5"/>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205827">
                                            <p:txEl>
                                              <p:pRg st="6" end="6"/>
                                            </p:txEl>
                                          </p:spTgt>
                                        </p:tgtEl>
                                        <p:attrNameLst>
                                          <p:attrName>style.visibility</p:attrName>
                                        </p:attrNameLst>
                                      </p:cBhvr>
                                      <p:to>
                                        <p:strVal val="visible"/>
                                      </p:to>
                                    </p:set>
                                    <p:animEffect transition="in" filter="wipe(left)">
                                      <p:cBhvr>
                                        <p:cTn id="24" dur="500"/>
                                        <p:tgtEl>
                                          <p:spTgt spid="2058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7" grpId="0" autoUpdateAnimBg="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41488" y="619478"/>
            <a:ext cx="8686801" cy="557213"/>
          </a:xfrm>
        </p:spPr>
        <p:txBody>
          <a:bodyPr/>
          <a:lstStyle/>
          <a:p>
            <a:pPr eaLnBrk="1" hangingPunct="1">
              <a:defRPr/>
            </a:pPr>
            <a:r>
              <a:rPr lang="zh-CN" altLang="en-US" sz="3600" b="1" kern="1200" dirty="0">
                <a:solidFill>
                  <a:srgbClr val="660033"/>
                </a:solidFill>
                <a:ea typeface="楷体_GB2312"/>
                <a:cs typeface="楷体_GB2312"/>
              </a:rPr>
              <a:t>五、糖氧化产能方式有组织偏好性</a:t>
            </a:r>
            <a:endParaRPr lang="zh-CN" altLang="en-US" sz="3600" b="1" kern="1200" dirty="0">
              <a:solidFill>
                <a:srgbClr val="660033"/>
              </a:solidFill>
              <a:ea typeface="楷体_GB2312"/>
              <a:cs typeface="楷体_GB2312"/>
            </a:endParaRPr>
          </a:p>
        </p:txBody>
      </p:sp>
      <p:sp>
        <p:nvSpPr>
          <p:cNvPr id="223235" name="内容占位符 2"/>
          <p:cNvSpPr>
            <a:spLocks noGrp="1" noChangeArrowheads="1"/>
          </p:cNvSpPr>
          <p:nvPr>
            <p:ph idx="1"/>
          </p:nvPr>
        </p:nvSpPr>
        <p:spPr>
          <a:xfrm>
            <a:off x="1199456" y="1989139"/>
            <a:ext cx="9361040" cy="3671887"/>
          </a:xfrm>
        </p:spPr>
        <p:txBody>
          <a:bodyPr/>
          <a:lstStyle/>
          <a:p>
            <a:pPr>
              <a:lnSpc>
                <a:spcPct val="120000"/>
              </a:lnSpc>
            </a:pPr>
            <a:r>
              <a:rPr lang="zh-CN" altLang="en-US" sz="2600" b="0" dirty="0">
                <a:latin typeface="微软雅黑" panose="020B0503020204020204" pitchFamily="34" charset="-122"/>
                <a:ea typeface="微软雅黑" panose="020B0503020204020204" pitchFamily="34" charset="-122"/>
              </a:rPr>
              <a:t>对于有线粒体的细胞，经由有氧氧化还是无氧氧化分解葡萄糖，主要</a:t>
            </a:r>
            <a:r>
              <a:rPr lang="zh-CN" altLang="en-US" sz="2600" b="0" dirty="0">
                <a:solidFill>
                  <a:srgbClr val="0000CC"/>
                </a:solidFill>
                <a:latin typeface="微软雅黑" panose="020B0503020204020204" pitchFamily="34" charset="-122"/>
                <a:ea typeface="微软雅黑" panose="020B0503020204020204" pitchFamily="34" charset="-122"/>
              </a:rPr>
              <a:t>与不同组织的代谢特点相适应</a:t>
            </a:r>
            <a:r>
              <a:rPr lang="zh-CN" altLang="en-US" sz="2600" b="0" dirty="0">
                <a:latin typeface="微软雅黑" panose="020B0503020204020204" pitchFamily="34" charset="-122"/>
                <a:ea typeface="微软雅黑" panose="020B0503020204020204" pitchFamily="34" charset="-122"/>
              </a:rPr>
              <a:t>。</a:t>
            </a:r>
            <a:endParaRPr lang="en-US" altLang="zh-CN" sz="2600" b="0" dirty="0">
              <a:latin typeface="微软雅黑" panose="020B0503020204020204" pitchFamily="34" charset="-122"/>
              <a:ea typeface="微软雅黑" panose="020B0503020204020204" pitchFamily="34" charset="-122"/>
            </a:endParaRPr>
          </a:p>
          <a:p>
            <a:endParaRPr lang="en-US" altLang="zh-CN" sz="2600" b="0" dirty="0">
              <a:latin typeface="微软雅黑" panose="020B0503020204020204" pitchFamily="34" charset="-122"/>
              <a:ea typeface="微软雅黑" panose="020B0503020204020204" pitchFamily="34" charset="-122"/>
            </a:endParaRPr>
          </a:p>
          <a:p>
            <a:pPr marL="406400" indent="-514350">
              <a:lnSpc>
                <a:spcPct val="120000"/>
              </a:lnSpc>
              <a:buAutoNum type="arabicPeriod"/>
            </a:pPr>
            <a:r>
              <a:rPr lang="zh-CN" altLang="en-US" sz="2600" b="0" dirty="0">
                <a:latin typeface="微软雅黑" panose="020B0503020204020204" pitchFamily="34" charset="-122"/>
                <a:ea typeface="微软雅黑" panose="020B0503020204020204" pitchFamily="34" charset="-122"/>
              </a:rPr>
              <a:t>肌组织通过</a:t>
            </a:r>
            <a:r>
              <a:rPr lang="zh-CN" altLang="en-US" sz="2600" b="0" dirty="0">
                <a:solidFill>
                  <a:srgbClr val="0000CC"/>
                </a:solidFill>
                <a:latin typeface="微软雅黑" panose="020B0503020204020204" pitchFamily="34" charset="-122"/>
                <a:ea typeface="微软雅黑" panose="020B0503020204020204" pitchFamily="34" charset="-122"/>
              </a:rPr>
              <a:t>巴斯德效应（</a:t>
            </a:r>
            <a:r>
              <a:rPr lang="en-US" altLang="zh-CN" sz="2600" b="0" dirty="0">
                <a:solidFill>
                  <a:srgbClr val="0000CC"/>
                </a:solidFill>
                <a:latin typeface="微软雅黑" panose="020B0503020204020204" pitchFamily="34" charset="-122"/>
                <a:ea typeface="微软雅黑" panose="020B0503020204020204" pitchFamily="34" charset="-122"/>
              </a:rPr>
              <a:t>Pasteur effect</a:t>
            </a:r>
            <a:r>
              <a:rPr lang="zh-CN" altLang="en-US" sz="2600" b="0" dirty="0">
                <a:solidFill>
                  <a:srgbClr val="0000CC"/>
                </a:solidFill>
                <a:latin typeface="微软雅黑" panose="020B0503020204020204" pitchFamily="34" charset="-122"/>
                <a:ea typeface="微软雅黑" panose="020B0503020204020204" pitchFamily="34" charset="-122"/>
              </a:rPr>
              <a:t>）</a:t>
            </a:r>
            <a:r>
              <a:rPr lang="zh-CN" altLang="en-US" sz="2600" b="0" dirty="0">
                <a:latin typeface="微软雅黑" panose="020B0503020204020204" pitchFamily="34" charset="-122"/>
                <a:ea typeface="微软雅黑" panose="020B0503020204020204" pitchFamily="34" charset="-122"/>
              </a:rPr>
              <a:t>有氧氧化葡萄糖</a:t>
            </a:r>
            <a:endParaRPr lang="en-US" altLang="zh-CN" sz="2600" b="0" dirty="0">
              <a:latin typeface="微软雅黑" panose="020B0503020204020204" pitchFamily="34" charset="-122"/>
              <a:ea typeface="微软雅黑" panose="020B0503020204020204" pitchFamily="34" charset="-122"/>
            </a:endParaRPr>
          </a:p>
          <a:p>
            <a:pPr marL="406400" indent="-514350">
              <a:lnSpc>
                <a:spcPct val="120000"/>
              </a:lnSpc>
              <a:buAutoNum type="arabicPeriod"/>
            </a:pPr>
            <a:endParaRPr lang="en-US" altLang="zh-CN" sz="2600" b="0" dirty="0">
              <a:latin typeface="微软雅黑" panose="020B0503020204020204" pitchFamily="34" charset="-122"/>
              <a:ea typeface="微软雅黑" panose="020B0503020204020204" pitchFamily="34" charset="-122"/>
            </a:endParaRPr>
          </a:p>
          <a:p>
            <a:pPr marL="360045" indent="-467995">
              <a:lnSpc>
                <a:spcPct val="120000"/>
              </a:lnSpc>
              <a:buNone/>
            </a:pPr>
            <a:r>
              <a:rPr lang="en-US" altLang="zh-CN" sz="2600" b="0" dirty="0">
                <a:latin typeface="微软雅黑" panose="020B0503020204020204" pitchFamily="34" charset="-122"/>
                <a:ea typeface="微软雅黑" panose="020B0503020204020204" pitchFamily="34" charset="-122"/>
              </a:rPr>
              <a:t>2. </a:t>
            </a:r>
            <a:r>
              <a:rPr lang="zh-CN" altLang="en-US" sz="2600" b="0" dirty="0">
                <a:latin typeface="微软雅黑" panose="020B0503020204020204" pitchFamily="34" charset="-122"/>
                <a:ea typeface="微软雅黑" panose="020B0503020204020204" pitchFamily="34" charset="-122"/>
              </a:rPr>
              <a:t>增殖活跃的组织通过</a:t>
            </a:r>
            <a:r>
              <a:rPr lang="zh-CN" altLang="en-US" sz="2600" b="0" dirty="0">
                <a:solidFill>
                  <a:srgbClr val="0000CC"/>
                </a:solidFill>
                <a:latin typeface="微软雅黑" panose="020B0503020204020204" pitchFamily="34" charset="-122"/>
                <a:ea typeface="微软雅黑" panose="020B0503020204020204" pitchFamily="34" charset="-122"/>
              </a:rPr>
              <a:t>瓦尔堡效应（</a:t>
            </a:r>
            <a:r>
              <a:rPr lang="en-US" altLang="zh-CN" sz="2600" b="0" dirty="0">
                <a:solidFill>
                  <a:srgbClr val="0000CC"/>
                </a:solidFill>
                <a:latin typeface="微软雅黑" panose="020B0503020204020204" pitchFamily="34" charset="-122"/>
                <a:ea typeface="微软雅黑" panose="020B0503020204020204" pitchFamily="34" charset="-122"/>
              </a:rPr>
              <a:t>Warburg</a:t>
            </a:r>
            <a:r>
              <a:rPr lang="zh-CN" altLang="en-US" sz="2600" b="0" dirty="0">
                <a:solidFill>
                  <a:srgbClr val="0000CC"/>
                </a:solidFill>
                <a:latin typeface="微软雅黑" panose="020B0503020204020204" pitchFamily="34" charset="-122"/>
                <a:ea typeface="微软雅黑" panose="020B0503020204020204" pitchFamily="34" charset="-122"/>
              </a:rPr>
              <a:t> </a:t>
            </a:r>
            <a:r>
              <a:rPr lang="en-US" altLang="zh-CN" sz="2600" b="0" dirty="0">
                <a:solidFill>
                  <a:srgbClr val="0000CC"/>
                </a:solidFill>
                <a:latin typeface="微软雅黑" panose="020B0503020204020204" pitchFamily="34" charset="-122"/>
                <a:ea typeface="微软雅黑" panose="020B0503020204020204" pitchFamily="34" charset="-122"/>
              </a:rPr>
              <a:t>effect)</a:t>
            </a:r>
            <a:r>
              <a:rPr lang="zh-CN" altLang="en-US" sz="2600" b="0" dirty="0">
                <a:latin typeface="微软雅黑" panose="020B0503020204020204" pitchFamily="34" charset="-122"/>
                <a:ea typeface="微软雅黑" panose="020B0503020204020204" pitchFamily="34" charset="-122"/>
              </a:rPr>
              <a:t>无氧氧化葡萄糖</a:t>
            </a:r>
            <a:endParaRPr lang="zh-CN" altLang="en-US" sz="2600" b="0" dirty="0">
              <a:latin typeface="微软雅黑" panose="020B0503020204020204" pitchFamily="34" charset="-122"/>
              <a:ea typeface="微软雅黑" panose="020B0503020204020204" pitchFamily="34" charset="-122"/>
            </a:endParaRPr>
          </a:p>
          <a:p>
            <a:endParaRPr lang="en-US" altLang="zh-CN" sz="2600" b="0" dirty="0">
              <a:latin typeface="微软雅黑" panose="020B0503020204020204" pitchFamily="34" charset="-122"/>
              <a:ea typeface="微软雅黑" panose="020B0503020204020204" pitchFamily="34" charset="-122"/>
            </a:endParaRPr>
          </a:p>
          <a:p>
            <a:endParaRPr lang="en-US" altLang="zh-CN" sz="2600" b="0" dirty="0">
              <a:latin typeface="微软雅黑" panose="020B0503020204020204" pitchFamily="34" charset="-122"/>
              <a:ea typeface="微软雅黑" panose="020B0503020204020204" pitchFamily="34" charset="-122"/>
            </a:endParaRPr>
          </a:p>
          <a:p>
            <a:endParaRPr lang="en-US" altLang="zh-CN" sz="2600" b="0" dirty="0">
              <a:latin typeface="微软雅黑" panose="020B0503020204020204" pitchFamily="34" charset="-122"/>
              <a:ea typeface="微软雅黑" panose="020B0503020204020204" pitchFamily="34" charset="-122"/>
            </a:endParaRPr>
          </a:p>
          <a:p>
            <a:endParaRPr lang="zh-CN" altLang="en-US" sz="26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2495550" y="314325"/>
            <a:ext cx="7391400" cy="655638"/>
          </a:xfrm>
        </p:spPr>
        <p:txBody>
          <a:bodyPr/>
          <a:lstStyle/>
          <a:p>
            <a:pPr eaLnBrk="1" hangingPunct="1">
              <a:buClr>
                <a:srgbClr val="FF0000"/>
              </a:buClr>
              <a:buSzPct val="75000"/>
            </a:pPr>
            <a:r>
              <a:rPr lang="zh-CN" altLang="en-US" sz="3600" b="1">
                <a:solidFill>
                  <a:srgbClr val="660066"/>
                </a:solidFill>
              </a:rPr>
              <a:t>巴斯德效应（</a:t>
            </a:r>
            <a:r>
              <a:rPr lang="en-US" altLang="zh-CN" sz="3600" b="1">
                <a:solidFill>
                  <a:srgbClr val="660066"/>
                </a:solidFill>
              </a:rPr>
              <a:t>Pasteur Effect)</a:t>
            </a:r>
            <a:endParaRPr lang="zh-CN" altLang="en-US" sz="3600" b="1">
              <a:solidFill>
                <a:srgbClr val="660066"/>
              </a:solidFill>
            </a:endParaRPr>
          </a:p>
        </p:txBody>
      </p:sp>
      <p:sp>
        <p:nvSpPr>
          <p:cNvPr id="224259" name="Text Box 3"/>
          <p:cNvSpPr txBox="1">
            <a:spLocks noChangeArrowheads="1"/>
          </p:cNvSpPr>
          <p:nvPr/>
        </p:nvSpPr>
        <p:spPr bwMode="auto">
          <a:xfrm>
            <a:off x="1991544" y="1523472"/>
            <a:ext cx="8928992" cy="1642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ClrTx/>
              <a:buSzTx/>
              <a:buFontTx/>
              <a:buNone/>
            </a:pPr>
            <a:r>
              <a:rPr kumimoji="1" lang="zh-CN" altLang="en-US" sz="2800" b="0" dirty="0">
                <a:solidFill>
                  <a:srgbClr val="0000CC"/>
                </a:solidFill>
                <a:latin typeface="微软雅黑" panose="020B0503020204020204" pitchFamily="34" charset="-122"/>
                <a:ea typeface="微软雅黑" panose="020B0503020204020204" pitchFamily="34" charset="-122"/>
              </a:rPr>
              <a:t>定义： </a:t>
            </a:r>
            <a:r>
              <a:rPr kumimoji="1" lang="zh-CN" altLang="en-US" sz="2800" b="0" dirty="0">
                <a:solidFill>
                  <a:srgbClr val="0000FF"/>
                </a:solidFill>
                <a:latin typeface="微软雅黑" panose="020B0503020204020204" pitchFamily="34" charset="-122"/>
                <a:ea typeface="微软雅黑" panose="020B0503020204020204" pitchFamily="34" charset="-122"/>
              </a:rPr>
              <a:t>糖的有氧氧化抑制无氧氧化的现象</a:t>
            </a:r>
            <a:r>
              <a:rPr kumimoji="1" lang="zh-CN" altLang="en-US" sz="2800" b="0" dirty="0">
                <a:latin typeface="微软雅黑" panose="020B0503020204020204" pitchFamily="34" charset="-122"/>
                <a:ea typeface="微软雅黑" panose="020B0503020204020204" pitchFamily="34" charset="-122"/>
              </a:rPr>
              <a:t>。</a:t>
            </a:r>
            <a:endParaRPr kumimoji="1" lang="en-US" altLang="zh-CN" sz="2800" b="0" dirty="0">
              <a:latin typeface="微软雅黑" panose="020B0503020204020204" pitchFamily="34" charset="-122"/>
              <a:ea typeface="微软雅黑" panose="020B0503020204020204" pitchFamily="34" charset="-122"/>
            </a:endParaRPr>
          </a:p>
          <a:p>
            <a:pPr eaLnBrk="1" hangingPunct="1">
              <a:lnSpc>
                <a:spcPct val="120000"/>
              </a:lnSpc>
              <a:spcBef>
                <a:spcPct val="50000"/>
              </a:spcBef>
              <a:buClrTx/>
              <a:buSzTx/>
              <a:buFontTx/>
              <a:buNone/>
            </a:pPr>
            <a:r>
              <a:rPr kumimoji="1" lang="zh-CN" altLang="en-US" sz="2400" b="0" dirty="0">
                <a:latin typeface="微软雅黑" panose="020B0503020204020204" pitchFamily="34" charset="-122"/>
                <a:ea typeface="微软雅黑" panose="020B0503020204020204" pitchFamily="34" charset="-122"/>
              </a:rPr>
              <a:t>另一种描述： 相比起足氧的情况，酵母在缺氧的情况下消耗更多葡萄糖的现象。</a:t>
            </a:r>
            <a:endParaRPr kumimoji="1" lang="zh-CN" altLang="en-US" sz="2400" b="0" dirty="0">
              <a:solidFill>
                <a:srgbClr val="660033"/>
              </a:solidFill>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1942778" y="3429000"/>
            <a:ext cx="8833742" cy="2566988"/>
            <a:chOff x="476" y="1850"/>
            <a:chExt cx="4717" cy="1617"/>
          </a:xfrm>
        </p:grpSpPr>
        <p:sp>
          <p:nvSpPr>
            <p:cNvPr id="224261" name="Text Box 5"/>
            <p:cNvSpPr txBox="1">
              <a:spLocks noChangeArrowheads="1"/>
            </p:cNvSpPr>
            <p:nvPr/>
          </p:nvSpPr>
          <p:spPr bwMode="auto">
            <a:xfrm>
              <a:off x="476" y="1850"/>
              <a:ext cx="78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chemeClr val="tx2"/>
                  </a:solidFill>
                </a:rPr>
                <a:t>* 机制</a:t>
              </a:r>
              <a:r>
                <a:rPr kumimoji="1" lang="zh-CN" altLang="en-US" sz="2800" b="0">
                  <a:solidFill>
                    <a:schemeClr val="accent1"/>
                  </a:solidFill>
                </a:rPr>
                <a:t>  </a:t>
              </a:r>
              <a:endParaRPr kumimoji="1" lang="zh-CN" altLang="en-US" sz="2800" b="0">
                <a:solidFill>
                  <a:schemeClr val="accent1"/>
                </a:solidFill>
              </a:endParaRPr>
            </a:p>
          </p:txBody>
        </p:sp>
        <p:sp>
          <p:nvSpPr>
            <p:cNvPr id="224262" name="Rectangle 6"/>
            <p:cNvSpPr>
              <a:spLocks noChangeArrowheads="1"/>
            </p:cNvSpPr>
            <p:nvPr/>
          </p:nvSpPr>
          <p:spPr bwMode="auto">
            <a:xfrm>
              <a:off x="521" y="2251"/>
              <a:ext cx="4672" cy="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720090" indent="-717550" eaLnBrk="1" hangingPunct="1">
                <a:lnSpc>
                  <a:spcPct val="110000"/>
                </a:lnSpc>
                <a:spcBef>
                  <a:spcPts val="0"/>
                </a:spcBef>
                <a:buClrTx/>
                <a:buSzTx/>
                <a:buFont typeface="Wingdings" panose="05000000000000000000" pitchFamily="2" charset="2"/>
                <a:buChar char="u"/>
              </a:pPr>
              <a:r>
                <a:rPr kumimoji="1" lang="zh-CN" altLang="en-US" sz="2400" b="0" dirty="0">
                  <a:solidFill>
                    <a:srgbClr val="0000CC"/>
                  </a:solidFill>
                </a:rPr>
                <a:t>有氧时</a:t>
              </a:r>
              <a:r>
                <a:rPr kumimoji="1" lang="zh-CN" altLang="en-US" sz="2400" b="0" dirty="0"/>
                <a:t>，</a:t>
              </a:r>
              <a:r>
                <a:rPr kumimoji="1" lang="en-US" altLang="zh-CN" sz="2400" b="0" dirty="0">
                  <a:solidFill>
                    <a:srgbClr val="0000CC"/>
                  </a:solidFill>
                </a:rPr>
                <a:t>NADH+H</a:t>
              </a:r>
              <a:r>
                <a:rPr kumimoji="1" lang="en-US" altLang="zh-CN" sz="2400" b="0" baseline="30000" dirty="0">
                  <a:solidFill>
                    <a:srgbClr val="0000CC"/>
                  </a:solidFill>
                </a:rPr>
                <a:t>+</a:t>
              </a:r>
              <a:r>
                <a:rPr kumimoji="1" lang="zh-CN" altLang="en-US" sz="2400" b="0" dirty="0"/>
                <a:t>进入线粒体内氧化，丙酮酸进入线粒体进一步氧化</a:t>
              </a:r>
              <a:r>
                <a:rPr kumimoji="1" lang="en-US" altLang="zh-CN" sz="2400" b="0" dirty="0"/>
                <a:t>, </a:t>
              </a:r>
              <a:r>
                <a:rPr kumimoji="1" lang="zh-CN" altLang="en-US" sz="2400" b="0" dirty="0"/>
                <a:t>不生成乳酸; </a:t>
              </a:r>
              <a:endParaRPr kumimoji="1" lang="zh-CN" altLang="en-US" sz="2400" b="0" dirty="0"/>
            </a:p>
          </p:txBody>
        </p:sp>
        <p:sp>
          <p:nvSpPr>
            <p:cNvPr id="224263" name="Rectangle 7"/>
            <p:cNvSpPr>
              <a:spLocks noChangeArrowheads="1"/>
            </p:cNvSpPr>
            <p:nvPr/>
          </p:nvSpPr>
          <p:spPr bwMode="auto">
            <a:xfrm>
              <a:off x="521" y="2874"/>
              <a:ext cx="4672" cy="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720090" indent="-717550" eaLnBrk="1" hangingPunct="1">
                <a:lnSpc>
                  <a:spcPct val="120000"/>
                </a:lnSpc>
                <a:spcBef>
                  <a:spcPct val="50000"/>
                </a:spcBef>
                <a:buClrTx/>
                <a:buSzTx/>
                <a:buFont typeface="Wingdings" panose="05000000000000000000" pitchFamily="2" charset="2"/>
                <a:buChar char="u"/>
              </a:pPr>
              <a:r>
                <a:rPr kumimoji="1" lang="zh-CN" altLang="en-US" sz="2400" b="0" dirty="0">
                  <a:solidFill>
                    <a:srgbClr val="0000CC"/>
                  </a:solidFill>
                </a:rPr>
                <a:t>缺氧时，</a:t>
              </a:r>
              <a:r>
                <a:rPr kumimoji="1" lang="en-US" altLang="zh-CN" sz="2400" b="0" dirty="0">
                  <a:solidFill>
                    <a:srgbClr val="0000CC"/>
                  </a:solidFill>
                </a:rPr>
                <a:t>NADH+H</a:t>
              </a:r>
              <a:r>
                <a:rPr kumimoji="1" lang="en-US" altLang="zh-CN" sz="2400" b="0" baseline="30000" dirty="0">
                  <a:solidFill>
                    <a:srgbClr val="0000CC"/>
                  </a:solidFill>
                </a:rPr>
                <a:t>+</a:t>
              </a:r>
              <a:r>
                <a:rPr kumimoji="1" lang="zh-CN" altLang="en-US" sz="2400" b="0" dirty="0"/>
                <a:t>在胞质浓度升高， 丙酮酸作为氢接受体生成乳酸；为产生足够的</a:t>
              </a:r>
              <a:r>
                <a:rPr kumimoji="1" lang="en-US" altLang="zh-CN" sz="2400" b="0" dirty="0"/>
                <a:t>ATP,  </a:t>
              </a:r>
              <a:r>
                <a:rPr kumimoji="1" lang="zh-CN" altLang="en-US" sz="2400" b="0" dirty="0"/>
                <a:t>糖酵解加强。</a:t>
              </a:r>
              <a:endParaRPr kumimoji="1" lang="zh-CN" altLang="en-US" sz="2400" b="0" dirty="0"/>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标题 1"/>
          <p:cNvSpPr>
            <a:spLocks noGrp="1" noChangeArrowheads="1"/>
          </p:cNvSpPr>
          <p:nvPr>
            <p:ph type="title"/>
          </p:nvPr>
        </p:nvSpPr>
        <p:spPr>
          <a:xfrm>
            <a:off x="2400300" y="417513"/>
            <a:ext cx="7391400" cy="563562"/>
          </a:xfrm>
        </p:spPr>
        <p:txBody>
          <a:bodyPr/>
          <a:lstStyle/>
          <a:p>
            <a:pPr eaLnBrk="1" hangingPunct="1">
              <a:buClr>
                <a:srgbClr val="FF0000"/>
              </a:buClr>
              <a:buSzPct val="75000"/>
            </a:pPr>
            <a:r>
              <a:rPr lang="zh-CN" altLang="en-US" sz="3600" b="1" dirty="0">
                <a:solidFill>
                  <a:srgbClr val="660066"/>
                </a:solidFill>
              </a:rPr>
              <a:t>瓦尔堡效应（</a:t>
            </a:r>
            <a:r>
              <a:rPr lang="en-US" altLang="zh-CN" sz="3600" b="1" dirty="0">
                <a:solidFill>
                  <a:srgbClr val="660066"/>
                </a:solidFill>
              </a:rPr>
              <a:t>Warburg</a:t>
            </a:r>
            <a:r>
              <a:rPr lang="zh-CN" altLang="en-US" sz="3600" b="1" dirty="0">
                <a:solidFill>
                  <a:srgbClr val="660066"/>
                </a:solidFill>
              </a:rPr>
              <a:t> </a:t>
            </a:r>
            <a:r>
              <a:rPr lang="en-US" altLang="zh-CN" sz="3600" b="1" dirty="0">
                <a:solidFill>
                  <a:srgbClr val="660066"/>
                </a:solidFill>
              </a:rPr>
              <a:t>Effect)</a:t>
            </a:r>
            <a:endParaRPr lang="zh-CN" altLang="en-US" sz="3600" b="1" dirty="0">
              <a:solidFill>
                <a:srgbClr val="660066"/>
              </a:solidFill>
            </a:endParaRPr>
          </a:p>
        </p:txBody>
      </p:sp>
      <p:sp>
        <p:nvSpPr>
          <p:cNvPr id="210947" name="内容占位符 2"/>
          <p:cNvSpPr>
            <a:spLocks noGrp="1" noChangeArrowheads="1"/>
          </p:cNvSpPr>
          <p:nvPr>
            <p:ph idx="1"/>
          </p:nvPr>
        </p:nvSpPr>
        <p:spPr>
          <a:xfrm>
            <a:off x="1559496" y="1772816"/>
            <a:ext cx="9649072" cy="4032919"/>
          </a:xfrm>
        </p:spPr>
        <p:txBody>
          <a:bodyPr/>
          <a:lstStyle/>
          <a:p>
            <a:pPr marL="0" indent="0">
              <a:lnSpc>
                <a:spcPct val="120000"/>
              </a:lnSpc>
              <a:spcBef>
                <a:spcPts val="0"/>
              </a:spcBef>
              <a:buNone/>
              <a:defRPr/>
            </a:pPr>
            <a:r>
              <a:rPr lang="zh-CN" altLang="en-US" sz="2800" b="0" dirty="0">
                <a:solidFill>
                  <a:srgbClr val="0000CC"/>
                </a:solidFill>
                <a:latin typeface="微软雅黑" panose="020B0503020204020204" pitchFamily="34" charset="-122"/>
                <a:ea typeface="微软雅黑" panose="020B0503020204020204" pitchFamily="34" charset="-122"/>
              </a:rPr>
              <a:t>定义： </a:t>
            </a:r>
            <a:r>
              <a:rPr lang="zh-CN" altLang="en-US" sz="2800" b="0" dirty="0">
                <a:solidFill>
                  <a:schemeClr val="tx1">
                    <a:lumMod val="95000"/>
                    <a:lumOff val="5000"/>
                  </a:schemeClr>
                </a:solidFill>
                <a:latin typeface="微软雅黑" panose="020B0503020204020204" pitchFamily="34" charset="-122"/>
                <a:ea typeface="微软雅黑" panose="020B0503020204020204" pitchFamily="34" charset="-122"/>
              </a:rPr>
              <a:t>某些细胞，</a:t>
            </a:r>
            <a:r>
              <a:rPr lang="zh-CN" altLang="en-US" sz="2800" b="0" dirty="0">
                <a:latin typeface="微软雅黑" panose="020B0503020204020204" pitchFamily="34" charset="-122"/>
                <a:ea typeface="微软雅黑" panose="020B0503020204020204" pitchFamily="34" charset="-122"/>
              </a:rPr>
              <a:t>即使有氧，也呈现很强的糖无氧氧化作用</a:t>
            </a:r>
            <a:r>
              <a:rPr lang="en-US" altLang="zh-CN" sz="2800" b="0" dirty="0">
                <a:latin typeface="微软雅黑" panose="020B0503020204020204" pitchFamily="34" charset="-122"/>
                <a:ea typeface="微软雅黑" panose="020B0503020204020204" pitchFamily="34" charset="-122"/>
              </a:rPr>
              <a:t>, </a:t>
            </a:r>
            <a:r>
              <a:rPr lang="zh-CN" altLang="en-US" sz="2800" b="0" dirty="0">
                <a:latin typeface="微软雅黑" panose="020B0503020204020204" pitchFamily="34" charset="-122"/>
                <a:ea typeface="微软雅黑" panose="020B0503020204020204" pitchFamily="34" charset="-122"/>
              </a:rPr>
              <a:t>产生乳酸，也称</a:t>
            </a:r>
            <a:r>
              <a:rPr lang="zh-CN" altLang="en-US" sz="2800" b="0" dirty="0">
                <a:solidFill>
                  <a:srgbClr val="660066"/>
                </a:solidFill>
                <a:latin typeface="微软雅黑" panose="020B0503020204020204" pitchFamily="34" charset="-122"/>
                <a:ea typeface="微软雅黑" panose="020B0503020204020204" pitchFamily="34" charset="-122"/>
              </a:rPr>
              <a:t>反巴斯德效应</a:t>
            </a:r>
            <a:r>
              <a:rPr lang="zh-CN" altLang="en-US" sz="2800" b="0" dirty="0">
                <a:latin typeface="微软雅黑" panose="020B0503020204020204" pitchFamily="34" charset="-122"/>
                <a:ea typeface="微软雅黑" panose="020B0503020204020204" pitchFamily="34" charset="-122"/>
              </a:rPr>
              <a:t>。 </a:t>
            </a:r>
            <a:endParaRPr lang="en-US" altLang="zh-CN" sz="2800" b="0" dirty="0">
              <a:latin typeface="微软雅黑" panose="020B0503020204020204" pitchFamily="34" charset="-122"/>
              <a:ea typeface="微软雅黑" panose="020B0503020204020204" pitchFamily="34" charset="-122"/>
            </a:endParaRPr>
          </a:p>
          <a:p>
            <a:pPr marL="0" indent="0">
              <a:lnSpc>
                <a:spcPct val="120000"/>
              </a:lnSpc>
              <a:spcBef>
                <a:spcPts val="0"/>
              </a:spcBef>
              <a:buNone/>
              <a:defRPr/>
            </a:pPr>
            <a:endParaRPr lang="en-US" altLang="zh-CN" sz="2800" b="0" dirty="0">
              <a:latin typeface="微软雅黑" panose="020B0503020204020204" pitchFamily="34" charset="-122"/>
              <a:ea typeface="微软雅黑" panose="020B0503020204020204" pitchFamily="34" charset="-122"/>
            </a:endParaRPr>
          </a:p>
          <a:p>
            <a:pPr>
              <a:lnSpc>
                <a:spcPct val="120000"/>
              </a:lnSpc>
              <a:spcBef>
                <a:spcPts val="0"/>
              </a:spcBef>
              <a:defRPr/>
            </a:pPr>
            <a:r>
              <a:rPr lang="zh-CN" altLang="en-US" sz="2800" b="0" dirty="0">
                <a:latin typeface="微软雅黑" panose="020B0503020204020204" pitchFamily="34" charset="-122"/>
                <a:ea typeface="微软雅黑" panose="020B0503020204020204" pitchFamily="34" charset="-122"/>
              </a:rPr>
              <a:t>较普遍地存在于增殖活跃的组织如</a:t>
            </a:r>
            <a:r>
              <a:rPr lang="zh-CN" altLang="en-US" sz="2800" b="0" dirty="0">
                <a:solidFill>
                  <a:srgbClr val="0000CC"/>
                </a:solidFill>
                <a:latin typeface="微软雅黑" panose="020B0503020204020204" pitchFamily="34" charset="-122"/>
                <a:ea typeface="微软雅黑" panose="020B0503020204020204" pitchFamily="34" charset="-122"/>
              </a:rPr>
              <a:t>癌细胞</a:t>
            </a:r>
            <a:r>
              <a:rPr lang="zh-CN" altLang="en-US" sz="2800" b="0" dirty="0">
                <a:latin typeface="微软雅黑" panose="020B0503020204020204" pitchFamily="34" charset="-122"/>
                <a:ea typeface="微软雅黑" panose="020B0503020204020204" pitchFamily="34" charset="-122"/>
              </a:rPr>
              <a:t>中，也存在于一些正常组织细胞如视网膜、肾髓质、粒细胞等。 </a:t>
            </a:r>
            <a:endParaRPr lang="en-US" altLang="zh-CN" sz="2800" b="0" dirty="0">
              <a:latin typeface="微软雅黑" panose="020B0503020204020204" pitchFamily="34" charset="-122"/>
              <a:ea typeface="微软雅黑" panose="020B0503020204020204" pitchFamily="34" charset="-122"/>
            </a:endParaRPr>
          </a:p>
          <a:p>
            <a:pPr>
              <a:lnSpc>
                <a:spcPct val="120000"/>
              </a:lnSpc>
              <a:spcBef>
                <a:spcPts val="0"/>
              </a:spcBef>
              <a:defRPr/>
            </a:pPr>
            <a:endParaRPr lang="en-US" altLang="zh-CN" sz="2800" b="0" dirty="0">
              <a:latin typeface="微软雅黑" panose="020B0503020204020204" pitchFamily="34" charset="-122"/>
              <a:ea typeface="微软雅黑" panose="020B0503020204020204" pitchFamily="34" charset="-122"/>
            </a:endParaRPr>
          </a:p>
          <a:p>
            <a:pPr>
              <a:lnSpc>
                <a:spcPct val="120000"/>
              </a:lnSpc>
              <a:spcBef>
                <a:spcPts val="0"/>
              </a:spcBef>
              <a:defRPr/>
            </a:pPr>
            <a:r>
              <a:rPr lang="zh-CN" altLang="en-US" sz="2800" b="0" dirty="0">
                <a:solidFill>
                  <a:srgbClr val="0000CC"/>
                </a:solidFill>
                <a:latin typeface="微软雅黑" panose="020B0503020204020204" pitchFamily="34" charset="-122"/>
                <a:ea typeface="微软雅黑" panose="020B0503020204020204" pitchFamily="34" charset="-122"/>
              </a:rPr>
              <a:t>该效应有利于利用</a:t>
            </a:r>
            <a:r>
              <a:rPr lang="zh-CN" altLang="en-US" sz="2800" b="0" dirty="0">
                <a:solidFill>
                  <a:srgbClr val="C00000"/>
                </a:solidFill>
                <a:latin typeface="微软雅黑" panose="020B0503020204020204" pitchFamily="34" charset="-122"/>
                <a:ea typeface="微软雅黑" panose="020B0503020204020204" pitchFamily="34" charset="-122"/>
              </a:rPr>
              <a:t>糖酵解产生碳源</a:t>
            </a:r>
            <a:r>
              <a:rPr lang="zh-CN" altLang="en-US" sz="2800" b="0" dirty="0">
                <a:latin typeface="微软雅黑" panose="020B0503020204020204" pitchFamily="34" charset="-122"/>
                <a:ea typeface="微软雅黑" panose="020B0503020204020204" pitchFamily="34" charset="-122"/>
              </a:rPr>
              <a:t>，进而合成其它物质，比如氨基酸。</a:t>
            </a:r>
            <a:r>
              <a:rPr lang="zh-CN" altLang="en-US" sz="2800" b="0" dirty="0">
                <a:solidFill>
                  <a:srgbClr val="0000CC"/>
                </a:solidFill>
                <a:latin typeface="微软雅黑" panose="020B0503020204020204" pitchFamily="34" charset="-122"/>
                <a:ea typeface="微软雅黑" panose="020B0503020204020204" pitchFamily="34" charset="-122"/>
              </a:rPr>
              <a:t>避免糖的彻底氧化分解</a:t>
            </a:r>
            <a:r>
              <a:rPr lang="zh-CN" altLang="en-US" sz="2800" b="0" dirty="0">
                <a:latin typeface="微软雅黑" panose="020B0503020204020204" pitchFamily="34" charset="-122"/>
                <a:ea typeface="微软雅黑" panose="020B0503020204020204" pitchFamily="34" charset="-122"/>
              </a:rPr>
              <a:t>。</a:t>
            </a:r>
            <a:endParaRPr lang="zh-CN" altLang="en-US" sz="28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0947">
                                            <p:txEl>
                                              <p:pRg st="2" end="2"/>
                                            </p:txEl>
                                          </p:spTgt>
                                        </p:tgtEl>
                                        <p:attrNameLst>
                                          <p:attrName>style.visibility</p:attrName>
                                        </p:attrNameLst>
                                      </p:cBhvr>
                                      <p:to>
                                        <p:strVal val="visible"/>
                                      </p:to>
                                    </p:set>
                                    <p:animEffect transition="in" filter="fade">
                                      <p:cBhvr>
                                        <p:cTn id="7" dur="500"/>
                                        <p:tgtEl>
                                          <p:spTgt spid="21094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0947">
                                            <p:txEl>
                                              <p:pRg st="4" end="4"/>
                                            </p:txEl>
                                          </p:spTgt>
                                        </p:tgtEl>
                                        <p:attrNameLst>
                                          <p:attrName>style.visibility</p:attrName>
                                        </p:attrNameLst>
                                      </p:cBhvr>
                                      <p:to>
                                        <p:strVal val="visible"/>
                                      </p:to>
                                    </p:set>
                                    <p:animEffect transition="in" filter="fade">
                                      <p:cBhvr>
                                        <p:cTn id="12" dur="500"/>
                                        <p:tgtEl>
                                          <p:spTgt spid="2109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711625" y="0"/>
            <a:ext cx="7164371" cy="6858000"/>
          </a:xfrm>
          <a:prstGeom prst="rect">
            <a:avLst/>
          </a:prstGeom>
        </p:spPr>
      </p:pic>
      <p:sp>
        <p:nvSpPr>
          <p:cNvPr id="4" name="文本框 3"/>
          <p:cNvSpPr txBox="1"/>
          <p:nvPr/>
        </p:nvSpPr>
        <p:spPr>
          <a:xfrm>
            <a:off x="1787851" y="548680"/>
            <a:ext cx="553998" cy="6093296"/>
          </a:xfrm>
          <a:prstGeom prst="rect">
            <a:avLst/>
          </a:prstGeom>
          <a:noFill/>
        </p:spPr>
        <p:txBody>
          <a:bodyPr vert="eaVert" wrap="square" rtlCol="0">
            <a:spAutoFit/>
          </a:bodyPr>
          <a:lstStyle/>
          <a:p>
            <a:r>
              <a:rPr lang="zh-CN" altLang="en-US" sz="2400" dirty="0">
                <a:solidFill>
                  <a:srgbClr val="0000CC"/>
                </a:solidFill>
              </a:rPr>
              <a:t>瓦尔堡效应在临床检测</a:t>
            </a:r>
            <a:r>
              <a:rPr lang="en-US" altLang="zh-CN" sz="2400" dirty="0">
                <a:solidFill>
                  <a:srgbClr val="0000CC"/>
                </a:solidFill>
              </a:rPr>
              <a:t>PET/CT</a:t>
            </a:r>
            <a:r>
              <a:rPr lang="zh-CN" altLang="en-US" sz="2400" dirty="0">
                <a:solidFill>
                  <a:srgbClr val="0000CC"/>
                </a:solidFill>
              </a:rPr>
              <a:t>技术中的应用</a:t>
            </a:r>
            <a:endParaRPr lang="zh-CN" altLang="en-US" sz="2400" dirty="0">
              <a:solidFill>
                <a:srgbClr val="0000CC"/>
              </a:solidFill>
            </a:endParaRPr>
          </a:p>
        </p:txBody>
      </p:sp>
    </p:spTree>
  </p:cSld>
  <p:clrMapOvr>
    <a:masterClrMapping/>
  </p:clrMapOvr>
  <p:transition spd="med">
    <p:zo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idx="4294967295"/>
          </p:nvPr>
        </p:nvSpPr>
        <p:spPr>
          <a:xfrm>
            <a:off x="2400300" y="538163"/>
            <a:ext cx="7391400" cy="576262"/>
          </a:xfrm>
        </p:spPr>
        <p:txBody>
          <a:bodyPr/>
          <a:lstStyle/>
          <a:p>
            <a:pPr eaLnBrk="1" hangingPunct="1"/>
            <a:r>
              <a:rPr lang="zh-CN" altLang="en-US" sz="3600">
                <a:solidFill>
                  <a:srgbClr val="7030A0"/>
                </a:solidFill>
              </a:rPr>
              <a:t>糖的有氧氧化与糖无氧氧化的区别</a:t>
            </a:r>
            <a:endParaRPr lang="zh-CN" altLang="en-US" sz="3600">
              <a:solidFill>
                <a:srgbClr val="7030A0"/>
              </a:solidFill>
            </a:endParaRPr>
          </a:p>
        </p:txBody>
      </p:sp>
      <p:sp>
        <p:nvSpPr>
          <p:cNvPr id="228355" name="Rectangle 3"/>
          <p:cNvSpPr>
            <a:spLocks noChangeArrowheads="1"/>
          </p:cNvSpPr>
          <p:nvPr/>
        </p:nvSpPr>
        <p:spPr bwMode="auto">
          <a:xfrm>
            <a:off x="6477000" y="6107114"/>
            <a:ext cx="4191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solidFill>
                  <a:srgbClr val="0000CC"/>
                </a:solidFill>
                <a:latin typeface="微软雅黑" panose="020B0503020204020204" pitchFamily="34" charset="-122"/>
                <a:ea typeface="微软雅黑" panose="020B0503020204020204" pitchFamily="34" charset="-122"/>
              </a:rPr>
              <a:t>机体产能的主要方式</a:t>
            </a:r>
            <a:endParaRPr lang="zh-CN" altLang="en-US" sz="2400" b="0">
              <a:solidFill>
                <a:srgbClr val="0000CC"/>
              </a:solidFill>
              <a:latin typeface="微软雅黑" panose="020B0503020204020204" pitchFamily="34" charset="-122"/>
              <a:ea typeface="微软雅黑" panose="020B0503020204020204" pitchFamily="34" charset="-122"/>
            </a:endParaRPr>
          </a:p>
        </p:txBody>
      </p:sp>
      <p:sp>
        <p:nvSpPr>
          <p:cNvPr id="228356" name="Rectangle 4"/>
          <p:cNvSpPr>
            <a:spLocks noChangeArrowheads="1"/>
          </p:cNvSpPr>
          <p:nvPr/>
        </p:nvSpPr>
        <p:spPr bwMode="auto">
          <a:xfrm>
            <a:off x="1524000" y="6107114"/>
            <a:ext cx="167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生理意义</a:t>
            </a:r>
            <a:endParaRPr lang="zh-CN" altLang="en-US" sz="2800" b="0">
              <a:solidFill>
                <a:srgbClr val="660033"/>
              </a:solidFill>
              <a:latin typeface="微软雅黑" panose="020B0503020204020204" pitchFamily="34" charset="-122"/>
              <a:ea typeface="微软雅黑" panose="020B0503020204020204" pitchFamily="34" charset="-122"/>
            </a:endParaRPr>
          </a:p>
        </p:txBody>
      </p:sp>
      <p:sp>
        <p:nvSpPr>
          <p:cNvPr id="228357" name="Rectangle 5"/>
          <p:cNvSpPr>
            <a:spLocks noChangeArrowheads="1"/>
          </p:cNvSpPr>
          <p:nvPr/>
        </p:nvSpPr>
        <p:spPr bwMode="auto">
          <a:xfrm>
            <a:off x="6513513" y="4560889"/>
            <a:ext cx="4191000" cy="155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糖酵解三个关键酶</a:t>
            </a:r>
            <a:endParaRPr lang="en-US" altLang="zh-CN" sz="2400" b="0">
              <a:latin typeface="微软雅黑" panose="020B0503020204020204" pitchFamily="34" charset="-122"/>
              <a:ea typeface="微软雅黑" panose="020B0503020204020204" pitchFamily="34" charset="-122"/>
            </a:endParaRPr>
          </a:p>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丙酮酸脱氢酶复合体，</a:t>
            </a:r>
            <a:endParaRPr lang="en-US" altLang="zh-CN" sz="2400" b="0">
              <a:latin typeface="微软雅黑" panose="020B0503020204020204" pitchFamily="34" charset="-122"/>
              <a:ea typeface="微软雅黑" panose="020B0503020204020204" pitchFamily="34" charset="-122"/>
            </a:endParaRPr>
          </a:p>
          <a:p>
            <a:pPr algn="ctr" eaLnBrk="1" hangingPunct="1">
              <a:lnSpc>
                <a:spcPct val="90000"/>
              </a:lnSpc>
              <a:spcBef>
                <a:spcPct val="0"/>
              </a:spcBef>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柠檬酸合酶，异柠檬酸脱氢酶，</a:t>
            </a:r>
            <a:endParaRPr lang="en-US" altLang="zh-CN" sz="2400" b="0">
              <a:latin typeface="微软雅黑" panose="020B0503020204020204" pitchFamily="34" charset="-122"/>
              <a:ea typeface="微软雅黑" panose="020B0503020204020204" pitchFamily="34" charset="-122"/>
            </a:endParaRPr>
          </a:p>
          <a:p>
            <a:pPr algn="ctr" eaLnBrk="1" hangingPunct="1">
              <a:buFont typeface="Wingdings" panose="05000000000000000000" pitchFamily="2" charset="2"/>
              <a:buNone/>
            </a:pPr>
            <a:r>
              <a:rPr lang="en-US" altLang="zh-CN" sz="2400" b="0">
                <a:latin typeface="微软雅黑" panose="020B0503020204020204" pitchFamily="34" charset="-122"/>
                <a:ea typeface="微软雅黑" panose="020B0503020204020204" pitchFamily="34" charset="-122"/>
              </a:rPr>
              <a:t>α-</a:t>
            </a:r>
            <a:r>
              <a:rPr lang="zh-CN" altLang="en-US" sz="2400" b="0">
                <a:latin typeface="微软雅黑" panose="020B0503020204020204" pitchFamily="34" charset="-122"/>
                <a:ea typeface="微软雅黑" panose="020B0503020204020204" pitchFamily="34" charset="-122"/>
              </a:rPr>
              <a:t>酮戊二酸脱氢酶复合体</a:t>
            </a:r>
            <a:endParaRPr lang="zh-CN" altLang="en-US" sz="2400" b="0">
              <a:latin typeface="微软雅黑" panose="020B0503020204020204" pitchFamily="34" charset="-122"/>
              <a:ea typeface="微软雅黑" panose="020B0503020204020204" pitchFamily="34" charset="-122"/>
            </a:endParaRPr>
          </a:p>
        </p:txBody>
      </p:sp>
      <p:sp>
        <p:nvSpPr>
          <p:cNvPr id="228358" name="Rectangle 6"/>
          <p:cNvSpPr>
            <a:spLocks noChangeArrowheads="1"/>
          </p:cNvSpPr>
          <p:nvPr/>
        </p:nvSpPr>
        <p:spPr bwMode="auto">
          <a:xfrm>
            <a:off x="1524000" y="4556125"/>
            <a:ext cx="1676400"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关键酶</a:t>
            </a:r>
            <a:endParaRPr lang="zh-CN" altLang="en-US" sz="2800" b="0">
              <a:solidFill>
                <a:srgbClr val="660033"/>
              </a:solidFill>
              <a:latin typeface="微软雅黑" panose="020B0503020204020204" pitchFamily="34" charset="-122"/>
              <a:ea typeface="微软雅黑" panose="020B0503020204020204" pitchFamily="34" charset="-122"/>
            </a:endParaRPr>
          </a:p>
        </p:txBody>
      </p:sp>
      <p:sp>
        <p:nvSpPr>
          <p:cNvPr id="228359" name="Rectangle 7"/>
          <p:cNvSpPr>
            <a:spLocks noChangeArrowheads="1"/>
          </p:cNvSpPr>
          <p:nvPr/>
        </p:nvSpPr>
        <p:spPr bwMode="auto">
          <a:xfrm>
            <a:off x="6477000" y="3735389"/>
            <a:ext cx="419100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en-US" altLang="zh-CN" sz="2400" b="0">
                <a:latin typeface="微软雅黑" panose="020B0503020204020204" pitchFamily="34" charset="-122"/>
                <a:ea typeface="微软雅黑" panose="020B0503020204020204" pitchFamily="34" charset="-122"/>
              </a:rPr>
              <a:t>1mol</a:t>
            </a:r>
            <a:r>
              <a:rPr lang="zh-CN" altLang="en-US" sz="2400" b="0">
                <a:latin typeface="微软雅黑" panose="020B0503020204020204" pitchFamily="34" charset="-122"/>
                <a:ea typeface="微软雅黑" panose="020B0503020204020204" pitchFamily="34" charset="-122"/>
              </a:rPr>
              <a:t>葡萄糖净生成</a:t>
            </a:r>
            <a:endParaRPr lang="zh-CN" altLang="en-US" sz="2400" b="0">
              <a:latin typeface="微软雅黑" panose="020B0503020204020204" pitchFamily="34" charset="-122"/>
              <a:ea typeface="微软雅黑" panose="020B0503020204020204" pitchFamily="34" charset="-122"/>
            </a:endParaRPr>
          </a:p>
          <a:p>
            <a:pPr algn="ctr" eaLnBrk="1" hangingPunct="1">
              <a:buFont typeface="Wingdings" panose="05000000000000000000" pitchFamily="2" charset="2"/>
              <a:buNone/>
            </a:pPr>
            <a:r>
              <a:rPr lang="zh-CN" altLang="en-US" sz="2400" b="0">
                <a:solidFill>
                  <a:srgbClr val="0000CC"/>
                </a:solidFill>
                <a:latin typeface="微软雅黑" panose="020B0503020204020204" pitchFamily="34" charset="-122"/>
                <a:ea typeface="微软雅黑" panose="020B0503020204020204" pitchFamily="34" charset="-122"/>
              </a:rPr>
              <a:t>3</a:t>
            </a:r>
            <a:r>
              <a:rPr lang="en-US" altLang="zh-CN" sz="2400" b="0">
                <a:solidFill>
                  <a:srgbClr val="0000CC"/>
                </a:solidFill>
                <a:latin typeface="微软雅黑" panose="020B0503020204020204" pitchFamily="34" charset="-122"/>
                <a:ea typeface="微软雅黑" panose="020B0503020204020204" pitchFamily="34" charset="-122"/>
              </a:rPr>
              <a:t>0</a:t>
            </a:r>
            <a:r>
              <a:rPr lang="zh-CN" altLang="en-US" sz="2400" b="0">
                <a:solidFill>
                  <a:srgbClr val="0000CC"/>
                </a:solidFill>
                <a:latin typeface="微软雅黑" panose="020B0503020204020204" pitchFamily="34" charset="-122"/>
                <a:ea typeface="微软雅黑" panose="020B0503020204020204" pitchFamily="34" charset="-122"/>
              </a:rPr>
              <a:t>～3</a:t>
            </a:r>
            <a:r>
              <a:rPr lang="en-US" altLang="zh-CN" sz="2400" b="0">
                <a:solidFill>
                  <a:srgbClr val="0000CC"/>
                </a:solidFill>
                <a:latin typeface="微软雅黑" panose="020B0503020204020204" pitchFamily="34" charset="-122"/>
                <a:ea typeface="微软雅黑" panose="020B0503020204020204" pitchFamily="34" charset="-122"/>
              </a:rPr>
              <a:t>2molATP</a:t>
            </a:r>
            <a:endParaRPr lang="zh-CN" altLang="en-US" sz="2400" b="0">
              <a:solidFill>
                <a:srgbClr val="0000CC"/>
              </a:solidFill>
              <a:latin typeface="微软雅黑" panose="020B0503020204020204" pitchFamily="34" charset="-122"/>
              <a:ea typeface="微软雅黑" panose="020B0503020204020204" pitchFamily="34" charset="-122"/>
            </a:endParaRPr>
          </a:p>
        </p:txBody>
      </p:sp>
      <p:sp>
        <p:nvSpPr>
          <p:cNvPr id="228360" name="Rectangle 8"/>
          <p:cNvSpPr>
            <a:spLocks noChangeArrowheads="1"/>
          </p:cNvSpPr>
          <p:nvPr/>
        </p:nvSpPr>
        <p:spPr bwMode="auto">
          <a:xfrm>
            <a:off x="1524000" y="3735389"/>
            <a:ext cx="167640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贮能</a:t>
            </a:r>
            <a:endParaRPr lang="zh-CN" altLang="en-US" sz="2800" b="0">
              <a:solidFill>
                <a:srgbClr val="660033"/>
              </a:solidFill>
              <a:latin typeface="微软雅黑" panose="020B0503020204020204" pitchFamily="34" charset="-122"/>
              <a:ea typeface="微软雅黑" panose="020B0503020204020204" pitchFamily="34" charset="-122"/>
            </a:endParaRPr>
          </a:p>
        </p:txBody>
      </p:sp>
      <p:sp>
        <p:nvSpPr>
          <p:cNvPr id="228361" name="Rectangle 9"/>
          <p:cNvSpPr>
            <a:spLocks noChangeArrowheads="1"/>
          </p:cNvSpPr>
          <p:nvPr/>
        </p:nvSpPr>
        <p:spPr bwMode="auto">
          <a:xfrm>
            <a:off x="6477000" y="3154364"/>
            <a:ext cx="4191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糖原、葡萄糖→</a:t>
            </a:r>
            <a:r>
              <a:rPr lang="en-US" altLang="zh-CN" sz="2400" b="0">
                <a:solidFill>
                  <a:srgbClr val="0000CC"/>
                </a:solidFill>
                <a:latin typeface="微软雅黑" panose="020B0503020204020204" pitchFamily="34" charset="-122"/>
                <a:ea typeface="微软雅黑" panose="020B0503020204020204" pitchFamily="34" charset="-122"/>
              </a:rPr>
              <a:t>H</a:t>
            </a:r>
            <a:r>
              <a:rPr lang="en-US" altLang="zh-CN" sz="2400" b="0" baseline="-25000">
                <a:solidFill>
                  <a:srgbClr val="0000CC"/>
                </a:solidFill>
                <a:latin typeface="微软雅黑" panose="020B0503020204020204" pitchFamily="34" charset="-122"/>
                <a:ea typeface="微软雅黑" panose="020B0503020204020204" pitchFamily="34" charset="-122"/>
              </a:rPr>
              <a:t>2</a:t>
            </a:r>
            <a:r>
              <a:rPr lang="en-US" altLang="zh-CN" sz="2400" b="0">
                <a:solidFill>
                  <a:srgbClr val="0000CC"/>
                </a:solidFill>
                <a:latin typeface="微软雅黑" panose="020B0503020204020204" pitchFamily="34" charset="-122"/>
                <a:ea typeface="微软雅黑" panose="020B0503020204020204" pitchFamily="34" charset="-122"/>
              </a:rPr>
              <a:t>O+CO</a:t>
            </a:r>
            <a:r>
              <a:rPr lang="en-US" altLang="zh-CN" sz="2400" b="0" baseline="-25000">
                <a:solidFill>
                  <a:srgbClr val="0000CC"/>
                </a:solidFill>
                <a:latin typeface="微软雅黑" panose="020B0503020204020204" pitchFamily="34" charset="-122"/>
                <a:ea typeface="微软雅黑" panose="020B0503020204020204" pitchFamily="34" charset="-122"/>
              </a:rPr>
              <a:t>2</a:t>
            </a:r>
            <a:endParaRPr lang="zh-CN" altLang="en-US" sz="2400" b="0" baseline="-25000">
              <a:solidFill>
                <a:srgbClr val="0000CC"/>
              </a:solidFill>
              <a:latin typeface="微软雅黑" panose="020B0503020204020204" pitchFamily="34" charset="-122"/>
              <a:ea typeface="微软雅黑" panose="020B0503020204020204" pitchFamily="34" charset="-122"/>
            </a:endParaRPr>
          </a:p>
        </p:txBody>
      </p:sp>
      <p:sp>
        <p:nvSpPr>
          <p:cNvPr id="228362" name="Rectangle 10"/>
          <p:cNvSpPr>
            <a:spLocks noChangeArrowheads="1"/>
          </p:cNvSpPr>
          <p:nvPr/>
        </p:nvSpPr>
        <p:spPr bwMode="auto">
          <a:xfrm>
            <a:off x="1524000" y="3154364"/>
            <a:ext cx="167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底物产物</a:t>
            </a:r>
            <a:endParaRPr lang="zh-CN" altLang="en-US" sz="2800" b="0">
              <a:solidFill>
                <a:srgbClr val="660033"/>
              </a:solidFill>
              <a:latin typeface="微软雅黑" panose="020B0503020204020204" pitchFamily="34" charset="-122"/>
              <a:ea typeface="微软雅黑" panose="020B0503020204020204" pitchFamily="34" charset="-122"/>
            </a:endParaRPr>
          </a:p>
        </p:txBody>
      </p:sp>
      <p:sp>
        <p:nvSpPr>
          <p:cNvPr id="228363" name="Rectangle 11"/>
          <p:cNvSpPr>
            <a:spLocks noChangeArrowheads="1"/>
          </p:cNvSpPr>
          <p:nvPr/>
        </p:nvSpPr>
        <p:spPr bwMode="auto">
          <a:xfrm>
            <a:off x="6477000" y="2573339"/>
            <a:ext cx="4191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有氧</a:t>
            </a:r>
            <a:endParaRPr lang="zh-CN" altLang="en-US" sz="2400" b="0">
              <a:latin typeface="微软雅黑" panose="020B0503020204020204" pitchFamily="34" charset="-122"/>
              <a:ea typeface="微软雅黑" panose="020B0503020204020204" pitchFamily="34" charset="-122"/>
            </a:endParaRPr>
          </a:p>
        </p:txBody>
      </p:sp>
      <p:sp>
        <p:nvSpPr>
          <p:cNvPr id="228364" name="Rectangle 12"/>
          <p:cNvSpPr>
            <a:spLocks noChangeArrowheads="1"/>
          </p:cNvSpPr>
          <p:nvPr/>
        </p:nvSpPr>
        <p:spPr bwMode="auto">
          <a:xfrm>
            <a:off x="1524000" y="2573339"/>
            <a:ext cx="167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需氧条件</a:t>
            </a:r>
            <a:endParaRPr lang="zh-CN" altLang="en-US" sz="2800" b="0">
              <a:solidFill>
                <a:srgbClr val="660033"/>
              </a:solidFill>
              <a:latin typeface="微软雅黑" panose="020B0503020204020204" pitchFamily="34" charset="-122"/>
              <a:ea typeface="微软雅黑" panose="020B0503020204020204" pitchFamily="34" charset="-122"/>
            </a:endParaRPr>
          </a:p>
        </p:txBody>
      </p:sp>
      <p:sp>
        <p:nvSpPr>
          <p:cNvPr id="228365" name="Rectangle 13"/>
          <p:cNvSpPr>
            <a:spLocks noChangeArrowheads="1"/>
          </p:cNvSpPr>
          <p:nvPr/>
        </p:nvSpPr>
        <p:spPr bwMode="auto">
          <a:xfrm>
            <a:off x="6477000" y="1993900"/>
            <a:ext cx="419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胞质，线粒体</a:t>
            </a:r>
            <a:endParaRPr lang="zh-CN" altLang="en-US" sz="2400" b="0">
              <a:latin typeface="微软雅黑" panose="020B0503020204020204" pitchFamily="34" charset="-122"/>
              <a:ea typeface="微软雅黑" panose="020B0503020204020204" pitchFamily="34" charset="-122"/>
            </a:endParaRPr>
          </a:p>
        </p:txBody>
      </p:sp>
      <p:sp>
        <p:nvSpPr>
          <p:cNvPr id="228366" name="Rectangle 14"/>
          <p:cNvSpPr>
            <a:spLocks noChangeArrowheads="1"/>
          </p:cNvSpPr>
          <p:nvPr/>
        </p:nvSpPr>
        <p:spPr bwMode="auto">
          <a:xfrm>
            <a:off x="1524000" y="1993900"/>
            <a:ext cx="1676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反应部位</a:t>
            </a:r>
            <a:endParaRPr lang="zh-CN" altLang="en-US" sz="2800" b="0">
              <a:solidFill>
                <a:srgbClr val="660033"/>
              </a:solidFill>
              <a:latin typeface="微软雅黑" panose="020B0503020204020204" pitchFamily="34" charset="-122"/>
              <a:ea typeface="微软雅黑" panose="020B0503020204020204" pitchFamily="34" charset="-122"/>
            </a:endParaRPr>
          </a:p>
        </p:txBody>
      </p:sp>
      <p:sp>
        <p:nvSpPr>
          <p:cNvPr id="228367" name="Rectangle 15"/>
          <p:cNvSpPr>
            <a:spLocks noChangeArrowheads="1"/>
          </p:cNvSpPr>
          <p:nvPr/>
        </p:nvSpPr>
        <p:spPr bwMode="auto">
          <a:xfrm>
            <a:off x="6477000" y="1412876"/>
            <a:ext cx="4191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有氧氧化</a:t>
            </a:r>
            <a:endParaRPr lang="zh-CN" altLang="en-US" sz="2800" b="0">
              <a:solidFill>
                <a:srgbClr val="660033"/>
              </a:solidFill>
              <a:latin typeface="微软雅黑" panose="020B0503020204020204" pitchFamily="34" charset="-122"/>
              <a:ea typeface="微软雅黑" panose="020B0503020204020204" pitchFamily="34" charset="-122"/>
            </a:endParaRPr>
          </a:p>
        </p:txBody>
      </p:sp>
      <p:grpSp>
        <p:nvGrpSpPr>
          <p:cNvPr id="228368" name="Group 16"/>
          <p:cNvGrpSpPr/>
          <p:nvPr/>
        </p:nvGrpSpPr>
        <p:grpSpPr bwMode="auto">
          <a:xfrm>
            <a:off x="3124201" y="1412876"/>
            <a:ext cx="3301165" cy="5275263"/>
            <a:chOff x="929" y="997"/>
            <a:chExt cx="2429" cy="3323"/>
          </a:xfrm>
        </p:grpSpPr>
        <p:sp>
          <p:nvSpPr>
            <p:cNvPr id="228374" name="Rectangle 17"/>
            <p:cNvSpPr>
              <a:spLocks noChangeArrowheads="1"/>
            </p:cNvSpPr>
            <p:nvPr/>
          </p:nvSpPr>
          <p:spPr bwMode="auto">
            <a:xfrm>
              <a:off x="929" y="3954"/>
              <a:ext cx="23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solidFill>
                    <a:srgbClr val="0000CC"/>
                  </a:solidFill>
                  <a:latin typeface="微软雅黑" panose="020B0503020204020204" pitchFamily="34" charset="-122"/>
                  <a:ea typeface="微软雅黑" panose="020B0503020204020204" pitchFamily="34" charset="-122"/>
                </a:rPr>
                <a:t>迅速供能</a:t>
              </a:r>
              <a:endParaRPr lang="zh-CN" altLang="en-US" sz="2400" b="0">
                <a:solidFill>
                  <a:srgbClr val="0000CC"/>
                </a:solidFill>
                <a:latin typeface="微软雅黑" panose="020B0503020204020204" pitchFamily="34" charset="-122"/>
                <a:ea typeface="微软雅黑" panose="020B0503020204020204" pitchFamily="34" charset="-122"/>
              </a:endParaRPr>
            </a:p>
          </p:txBody>
        </p:sp>
        <p:sp>
          <p:nvSpPr>
            <p:cNvPr id="228375" name="Rectangle 18"/>
            <p:cNvSpPr>
              <a:spLocks noChangeArrowheads="1"/>
            </p:cNvSpPr>
            <p:nvPr/>
          </p:nvSpPr>
          <p:spPr bwMode="auto">
            <a:xfrm>
              <a:off x="929" y="2977"/>
              <a:ext cx="2335" cy="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磷酸果糖激-1,</a:t>
              </a:r>
              <a:endParaRPr lang="zh-CN" altLang="en-US" sz="2400" b="0" dirty="0">
                <a:latin typeface="微软雅黑" panose="020B0503020204020204" pitchFamily="34" charset="-122"/>
                <a:ea typeface="微软雅黑" panose="020B0503020204020204" pitchFamily="34" charset="-122"/>
              </a:endParaRPr>
            </a:p>
            <a:p>
              <a:pPr algn="ctr" eaLnBrk="1" hangingPunct="1">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己糖激酶,</a:t>
              </a:r>
              <a:endParaRPr lang="en-US" altLang="zh-CN" sz="2400" b="0" dirty="0">
                <a:latin typeface="微软雅黑" panose="020B0503020204020204" pitchFamily="34" charset="-122"/>
                <a:ea typeface="微软雅黑" panose="020B0503020204020204" pitchFamily="34" charset="-122"/>
              </a:endParaRPr>
            </a:p>
            <a:p>
              <a:pPr algn="ctr" eaLnBrk="1" hangingPunct="1">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丙酮酸激酶</a:t>
              </a:r>
              <a:endParaRPr lang="zh-CN" altLang="en-US" sz="2400" b="0" dirty="0">
                <a:latin typeface="微软雅黑" panose="020B0503020204020204" pitchFamily="34" charset="-122"/>
                <a:ea typeface="微软雅黑" panose="020B0503020204020204" pitchFamily="34" charset="-122"/>
              </a:endParaRPr>
            </a:p>
          </p:txBody>
        </p:sp>
        <p:sp>
          <p:nvSpPr>
            <p:cNvPr id="228376" name="Rectangle 19"/>
            <p:cNvSpPr>
              <a:spLocks noChangeArrowheads="1"/>
            </p:cNvSpPr>
            <p:nvPr/>
          </p:nvSpPr>
          <p:spPr bwMode="auto">
            <a:xfrm>
              <a:off x="929" y="2460"/>
              <a:ext cx="2335"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1</a:t>
              </a:r>
              <a:r>
                <a:rPr lang="en-US" altLang="zh-CN" sz="2400" b="0">
                  <a:latin typeface="微软雅黑" panose="020B0503020204020204" pitchFamily="34" charset="-122"/>
                  <a:ea typeface="微软雅黑" panose="020B0503020204020204" pitchFamily="34" charset="-122"/>
                </a:rPr>
                <a:t>mol</a:t>
              </a:r>
              <a:r>
                <a:rPr lang="zh-CN" altLang="en-US" sz="2400" b="0">
                  <a:latin typeface="微软雅黑" panose="020B0503020204020204" pitchFamily="34" charset="-122"/>
                  <a:ea typeface="微软雅黑" panose="020B0503020204020204" pitchFamily="34" charset="-122"/>
                </a:rPr>
                <a:t>葡萄糖净生成</a:t>
              </a:r>
              <a:r>
                <a:rPr lang="zh-CN" altLang="en-US" sz="2400" b="0">
                  <a:solidFill>
                    <a:srgbClr val="0000CC"/>
                  </a:solidFill>
                  <a:latin typeface="微软雅黑" panose="020B0503020204020204" pitchFamily="34" charset="-122"/>
                  <a:ea typeface="微软雅黑" panose="020B0503020204020204" pitchFamily="34" charset="-122"/>
                </a:rPr>
                <a:t>2</a:t>
              </a:r>
              <a:r>
                <a:rPr lang="en-US" altLang="zh-CN" sz="2400" b="0">
                  <a:solidFill>
                    <a:srgbClr val="0000CC"/>
                  </a:solidFill>
                  <a:latin typeface="微软雅黑" panose="020B0503020204020204" pitchFamily="34" charset="-122"/>
                  <a:ea typeface="微软雅黑" panose="020B0503020204020204" pitchFamily="34" charset="-122"/>
                </a:rPr>
                <a:t>molATP</a:t>
              </a:r>
              <a:endParaRPr lang="zh-CN" altLang="en-US" sz="2400" b="0">
                <a:solidFill>
                  <a:srgbClr val="0000CC"/>
                </a:solidFill>
                <a:latin typeface="微软雅黑" panose="020B0503020204020204" pitchFamily="34" charset="-122"/>
                <a:ea typeface="微软雅黑" panose="020B0503020204020204" pitchFamily="34" charset="-122"/>
              </a:endParaRPr>
            </a:p>
          </p:txBody>
        </p:sp>
        <p:sp>
          <p:nvSpPr>
            <p:cNvPr id="228377" name="Rectangle 20"/>
            <p:cNvSpPr>
              <a:spLocks noChangeArrowheads="1"/>
            </p:cNvSpPr>
            <p:nvPr/>
          </p:nvSpPr>
          <p:spPr bwMode="auto">
            <a:xfrm>
              <a:off x="1023" y="2085"/>
              <a:ext cx="23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糖原、葡萄糖→</a:t>
              </a:r>
              <a:r>
                <a:rPr lang="zh-CN" altLang="en-US" sz="2400" b="0" dirty="0">
                  <a:solidFill>
                    <a:srgbClr val="0000CC"/>
                  </a:solidFill>
                  <a:latin typeface="微软雅黑" panose="020B0503020204020204" pitchFamily="34" charset="-122"/>
                  <a:ea typeface="微软雅黑" panose="020B0503020204020204" pitchFamily="34" charset="-122"/>
                </a:rPr>
                <a:t>乳酸</a:t>
              </a:r>
              <a:endParaRPr lang="zh-CN" altLang="en-US" sz="2400" b="0" dirty="0">
                <a:solidFill>
                  <a:srgbClr val="0000CC"/>
                </a:solidFill>
                <a:latin typeface="微软雅黑" panose="020B0503020204020204" pitchFamily="34" charset="-122"/>
                <a:ea typeface="微软雅黑" panose="020B0503020204020204" pitchFamily="34" charset="-122"/>
              </a:endParaRPr>
            </a:p>
          </p:txBody>
        </p:sp>
        <p:sp>
          <p:nvSpPr>
            <p:cNvPr id="228378" name="Rectangle 21"/>
            <p:cNvSpPr>
              <a:spLocks noChangeArrowheads="1"/>
            </p:cNvSpPr>
            <p:nvPr/>
          </p:nvSpPr>
          <p:spPr bwMode="auto">
            <a:xfrm>
              <a:off x="929" y="1728"/>
              <a:ext cx="23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a:latin typeface="微软雅黑" panose="020B0503020204020204" pitchFamily="34" charset="-122"/>
                  <a:ea typeface="微软雅黑" panose="020B0503020204020204" pitchFamily="34" charset="-122"/>
                </a:rPr>
                <a:t>无氧或缺氧</a:t>
              </a:r>
              <a:endParaRPr lang="zh-CN" altLang="en-US" sz="2400" b="0">
                <a:latin typeface="微软雅黑" panose="020B0503020204020204" pitchFamily="34" charset="-122"/>
                <a:ea typeface="微软雅黑" panose="020B0503020204020204" pitchFamily="34" charset="-122"/>
              </a:endParaRPr>
            </a:p>
          </p:txBody>
        </p:sp>
        <p:sp>
          <p:nvSpPr>
            <p:cNvPr id="228379" name="Rectangle 22"/>
            <p:cNvSpPr>
              <a:spLocks noChangeArrowheads="1"/>
            </p:cNvSpPr>
            <p:nvPr/>
          </p:nvSpPr>
          <p:spPr bwMode="auto">
            <a:xfrm>
              <a:off x="929" y="1363"/>
              <a:ext cx="233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400" b="0" dirty="0">
                  <a:latin typeface="微软雅黑" panose="020B0503020204020204" pitchFamily="34" charset="-122"/>
                  <a:ea typeface="微软雅黑" panose="020B0503020204020204" pitchFamily="34" charset="-122"/>
                </a:rPr>
                <a:t>胞质</a:t>
              </a:r>
              <a:endParaRPr lang="zh-CN" altLang="en-US" sz="2400" b="0" dirty="0">
                <a:latin typeface="微软雅黑" panose="020B0503020204020204" pitchFamily="34" charset="-122"/>
                <a:ea typeface="微软雅黑" panose="020B0503020204020204" pitchFamily="34" charset="-122"/>
              </a:endParaRPr>
            </a:p>
          </p:txBody>
        </p:sp>
        <p:sp>
          <p:nvSpPr>
            <p:cNvPr id="228380" name="Rectangle 23"/>
            <p:cNvSpPr>
              <a:spLocks noChangeArrowheads="1"/>
            </p:cNvSpPr>
            <p:nvPr/>
          </p:nvSpPr>
          <p:spPr bwMode="auto">
            <a:xfrm>
              <a:off x="929" y="997"/>
              <a:ext cx="233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2800" b="0">
                  <a:solidFill>
                    <a:srgbClr val="660033"/>
                  </a:solidFill>
                  <a:latin typeface="微软雅黑" panose="020B0503020204020204" pitchFamily="34" charset="-122"/>
                  <a:ea typeface="微软雅黑" panose="020B0503020204020204" pitchFamily="34" charset="-122"/>
                </a:rPr>
                <a:t>无氧氧化</a:t>
              </a:r>
              <a:endParaRPr lang="zh-CN" altLang="en-US" sz="2800" b="0">
                <a:solidFill>
                  <a:srgbClr val="660033"/>
                </a:solidFill>
                <a:latin typeface="微软雅黑" panose="020B0503020204020204" pitchFamily="34" charset="-122"/>
                <a:ea typeface="微软雅黑" panose="020B0503020204020204" pitchFamily="34" charset="-122"/>
              </a:endParaRPr>
            </a:p>
          </p:txBody>
        </p:sp>
      </p:grpSp>
      <p:sp>
        <p:nvSpPr>
          <p:cNvPr id="228369" name="Rectangle 24"/>
          <p:cNvSpPr>
            <a:spLocks noChangeArrowheads="1"/>
          </p:cNvSpPr>
          <p:nvPr/>
        </p:nvSpPr>
        <p:spPr bwMode="auto">
          <a:xfrm>
            <a:off x="1524000" y="1412876"/>
            <a:ext cx="167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endParaRPr lang="zh-CN" altLang="en-US" sz="2800" b="0">
              <a:latin typeface="微软雅黑" panose="020B0503020204020204" pitchFamily="34" charset="-122"/>
              <a:ea typeface="微软雅黑" panose="020B0503020204020204" pitchFamily="34" charset="-122"/>
            </a:endParaRPr>
          </a:p>
        </p:txBody>
      </p:sp>
      <p:sp>
        <p:nvSpPr>
          <p:cNvPr id="228370" name="Line 25"/>
          <p:cNvSpPr>
            <a:spLocks noChangeShapeType="1"/>
          </p:cNvSpPr>
          <p:nvPr/>
        </p:nvSpPr>
        <p:spPr bwMode="auto">
          <a:xfrm>
            <a:off x="1524000" y="1412875"/>
            <a:ext cx="16764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8371" name="Line 26"/>
          <p:cNvSpPr>
            <a:spLocks noChangeShapeType="1"/>
          </p:cNvSpPr>
          <p:nvPr/>
        </p:nvSpPr>
        <p:spPr bwMode="auto">
          <a:xfrm>
            <a:off x="1524000" y="1993900"/>
            <a:ext cx="91440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8372" name="Line 27"/>
          <p:cNvSpPr>
            <a:spLocks noChangeShapeType="1"/>
          </p:cNvSpPr>
          <p:nvPr/>
        </p:nvSpPr>
        <p:spPr bwMode="auto">
          <a:xfrm>
            <a:off x="1524000" y="6688138"/>
            <a:ext cx="91440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28373" name="Line 28"/>
          <p:cNvSpPr>
            <a:spLocks noChangeShapeType="1"/>
          </p:cNvSpPr>
          <p:nvPr/>
        </p:nvSpPr>
        <p:spPr bwMode="auto">
          <a:xfrm>
            <a:off x="2770188" y="1412875"/>
            <a:ext cx="7897812" cy="1588"/>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zo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a:xfrm>
            <a:off x="1933575" y="2332038"/>
            <a:ext cx="8382000" cy="914400"/>
          </a:xfrm>
        </p:spPr>
        <p:txBody>
          <a:bodyPr/>
          <a:lstStyle/>
          <a:p>
            <a:pPr eaLnBrk="1" hangingPunct="1"/>
            <a:r>
              <a:rPr lang="zh-CN" altLang="en-US" sz="4800" b="1" dirty="0">
                <a:solidFill>
                  <a:srgbClr val="660033"/>
                </a:solidFill>
              </a:rPr>
              <a:t>第四节  戊糖磷酸途径</a:t>
            </a:r>
            <a:endParaRPr lang="zh-CN" altLang="en-US" sz="4800" b="1" dirty="0">
              <a:solidFill>
                <a:srgbClr val="660033"/>
              </a:solidFill>
            </a:endParaRPr>
          </a:p>
        </p:txBody>
      </p:sp>
      <p:sp>
        <p:nvSpPr>
          <p:cNvPr id="232451" name="Text Box 3"/>
          <p:cNvSpPr txBox="1">
            <a:spLocks noChangeArrowheads="1"/>
          </p:cNvSpPr>
          <p:nvPr/>
        </p:nvSpPr>
        <p:spPr bwMode="auto">
          <a:xfrm>
            <a:off x="2726531" y="3501008"/>
            <a:ext cx="6796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3600" dirty="0">
                <a:solidFill>
                  <a:srgbClr val="660066"/>
                </a:solidFill>
                <a:latin typeface="Arial" panose="020B0604020202020204" pitchFamily="34" charset="0"/>
                <a:ea typeface="宋体" panose="02010600030101010101" pitchFamily="2" charset="-122"/>
              </a:rPr>
              <a:t>Pentose Phosphate Pathway</a:t>
            </a:r>
            <a:endParaRPr kumimoji="1" lang="zh-CN" altLang="en-US" sz="3600" dirty="0">
              <a:solidFill>
                <a:srgbClr val="660066"/>
              </a:solidFill>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ChangeArrowheads="1"/>
          </p:cNvSpPr>
          <p:nvPr/>
        </p:nvSpPr>
        <p:spPr bwMode="auto">
          <a:xfrm>
            <a:off x="2711451" y="5589588"/>
            <a:ext cx="3889375" cy="576262"/>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None/>
            </a:pPr>
            <a:r>
              <a:rPr lang="zh-CN" altLang="en-US" b="0"/>
              <a:t>* 细胞定位：胞    质</a:t>
            </a:r>
            <a:endParaRPr lang="zh-CN" altLang="en-US" b="0"/>
          </a:p>
        </p:txBody>
      </p:sp>
      <p:sp>
        <p:nvSpPr>
          <p:cNvPr id="230403" name="Text Box 3"/>
          <p:cNvSpPr txBox="1">
            <a:spLocks noChangeArrowheads="1"/>
          </p:cNvSpPr>
          <p:nvPr/>
        </p:nvSpPr>
        <p:spPr bwMode="auto">
          <a:xfrm>
            <a:off x="2727325" y="2514600"/>
            <a:ext cx="7200900"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 typeface="Wingdings" panose="05000000000000000000" pitchFamily="2" charset="2"/>
              <a:buChar char="Ø"/>
            </a:pPr>
            <a:r>
              <a:rPr kumimoji="1" lang="zh-CN" altLang="en-US" sz="2800" b="0" dirty="0"/>
              <a:t> 第一阶段：</a:t>
            </a:r>
            <a:r>
              <a:rPr kumimoji="1" lang="zh-CN" altLang="en-US" sz="2800" b="0" dirty="0">
                <a:solidFill>
                  <a:srgbClr val="0000CC"/>
                </a:solidFill>
              </a:rPr>
              <a:t>氧化反应</a:t>
            </a:r>
            <a:endParaRPr kumimoji="1" lang="zh-CN" altLang="en-US" sz="2800" b="0" dirty="0">
              <a:solidFill>
                <a:srgbClr val="0000CC"/>
              </a:solidFill>
            </a:endParaRPr>
          </a:p>
          <a:p>
            <a:pPr eaLnBrk="1" hangingPunct="1">
              <a:lnSpc>
                <a:spcPct val="120000"/>
              </a:lnSpc>
              <a:spcBef>
                <a:spcPct val="0"/>
              </a:spcBef>
              <a:buClrTx/>
              <a:buSzTx/>
              <a:buFontTx/>
              <a:buNone/>
            </a:pPr>
            <a:r>
              <a:rPr kumimoji="1" lang="zh-CN" altLang="en-US" sz="2800" b="0" dirty="0"/>
              <a:t>       生成</a:t>
            </a:r>
            <a:r>
              <a:rPr kumimoji="1" lang="zh-CN" altLang="en-US" sz="2800" b="0" dirty="0">
                <a:solidFill>
                  <a:srgbClr val="FF0000"/>
                </a:solidFill>
              </a:rPr>
              <a:t>磷酸戊糖，</a:t>
            </a:r>
            <a:r>
              <a:rPr kumimoji="1" lang="en-US" altLang="zh-CN" sz="2800" b="0" dirty="0">
                <a:solidFill>
                  <a:srgbClr val="FF0000"/>
                </a:solidFill>
              </a:rPr>
              <a:t>NADPH+H</a:t>
            </a:r>
            <a:r>
              <a:rPr kumimoji="1" lang="en-US" altLang="zh-CN" sz="2800" b="0" baseline="30000" dirty="0">
                <a:solidFill>
                  <a:srgbClr val="FF0000"/>
                </a:solidFill>
              </a:rPr>
              <a:t>+ </a:t>
            </a:r>
            <a:r>
              <a:rPr kumimoji="1" lang="zh-CN" altLang="en-US" sz="2800" b="0" dirty="0">
                <a:solidFill>
                  <a:srgbClr val="FF0000"/>
                </a:solidFill>
              </a:rPr>
              <a:t>及 </a:t>
            </a:r>
            <a:r>
              <a:rPr kumimoji="1" lang="en-US" altLang="zh-CN" sz="2800" b="0" dirty="0">
                <a:solidFill>
                  <a:srgbClr val="FF0000"/>
                </a:solidFill>
              </a:rPr>
              <a:t>CO</a:t>
            </a:r>
            <a:r>
              <a:rPr kumimoji="1" lang="en-US" altLang="zh-CN" sz="2800" b="0" baseline="-25000" dirty="0">
                <a:solidFill>
                  <a:srgbClr val="FF0000"/>
                </a:solidFill>
              </a:rPr>
              <a:t>2</a:t>
            </a:r>
            <a:endParaRPr kumimoji="1" lang="en-US" altLang="zh-CN" sz="2800" b="0" baseline="-25000" dirty="0">
              <a:solidFill>
                <a:srgbClr val="FF0000"/>
              </a:solidFill>
            </a:endParaRPr>
          </a:p>
        </p:txBody>
      </p:sp>
      <p:sp>
        <p:nvSpPr>
          <p:cNvPr id="236548" name="Rectangle 4"/>
          <p:cNvSpPr>
            <a:spLocks noChangeArrowheads="1"/>
          </p:cNvSpPr>
          <p:nvPr/>
        </p:nvSpPr>
        <p:spPr bwMode="auto">
          <a:xfrm>
            <a:off x="2046289" y="615951"/>
            <a:ext cx="74818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3600" dirty="0">
                <a:solidFill>
                  <a:srgbClr val="660033"/>
                </a:solidFill>
              </a:rPr>
              <a:t>一、戊糖磷酸途径的反应过程</a:t>
            </a:r>
            <a:endParaRPr kumimoji="1" lang="zh-CN" altLang="en-US" sz="3600" dirty="0">
              <a:solidFill>
                <a:srgbClr val="660033"/>
              </a:solidFill>
            </a:endParaRPr>
          </a:p>
        </p:txBody>
      </p:sp>
      <p:sp>
        <p:nvSpPr>
          <p:cNvPr id="230405" name="Rectangle 5"/>
          <p:cNvSpPr>
            <a:spLocks noChangeArrowheads="1"/>
          </p:cNvSpPr>
          <p:nvPr/>
        </p:nvSpPr>
        <p:spPr bwMode="auto">
          <a:xfrm>
            <a:off x="2438401" y="1844675"/>
            <a:ext cx="5078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t>* 反应过程可分为二个阶段 </a:t>
            </a:r>
            <a:endParaRPr kumimoji="1" lang="zh-CN" altLang="en-US" b="0"/>
          </a:p>
        </p:txBody>
      </p:sp>
      <p:sp>
        <p:nvSpPr>
          <p:cNvPr id="230406" name="Rectangle 6"/>
          <p:cNvSpPr>
            <a:spLocks noChangeArrowheads="1"/>
          </p:cNvSpPr>
          <p:nvPr/>
        </p:nvSpPr>
        <p:spPr bwMode="auto">
          <a:xfrm>
            <a:off x="2727326" y="3808020"/>
            <a:ext cx="6119813" cy="1400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50000"/>
              </a:lnSpc>
              <a:spcBef>
                <a:spcPct val="0"/>
              </a:spcBef>
              <a:buClrTx/>
              <a:buSzTx/>
              <a:buFont typeface="Wingdings" panose="05000000000000000000" pitchFamily="2" charset="2"/>
              <a:buChar char="Ø"/>
            </a:pPr>
            <a:r>
              <a:rPr kumimoji="1" lang="zh-CN" altLang="en-US" b="0" dirty="0"/>
              <a:t> 第二阶段则是</a:t>
            </a:r>
            <a:r>
              <a:rPr kumimoji="1" lang="zh-CN" altLang="en-US" b="0" dirty="0">
                <a:solidFill>
                  <a:srgbClr val="0000CC"/>
                </a:solidFill>
              </a:rPr>
              <a:t>非氧化反应</a:t>
            </a:r>
            <a:endParaRPr kumimoji="1" lang="zh-CN" altLang="en-US" b="0" dirty="0">
              <a:solidFill>
                <a:srgbClr val="0000CC"/>
              </a:solidFill>
            </a:endParaRPr>
          </a:p>
          <a:p>
            <a:pPr eaLnBrk="1" hangingPunct="1">
              <a:lnSpc>
                <a:spcPct val="150000"/>
              </a:lnSpc>
              <a:spcBef>
                <a:spcPct val="0"/>
              </a:spcBef>
              <a:buClrTx/>
              <a:buSzTx/>
              <a:buFontTx/>
              <a:buNone/>
            </a:pPr>
            <a:r>
              <a:rPr kumimoji="1" lang="zh-CN" altLang="en-US" sz="2800" b="0" dirty="0"/>
              <a:t>        包括一系列基团转移。 </a:t>
            </a:r>
            <a:endParaRPr kumimoji="1" lang="zh-CN" altLang="en-US" sz="28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0405"/>
                                        </p:tgtEl>
                                        <p:attrNameLst>
                                          <p:attrName>style.visibility</p:attrName>
                                        </p:attrNameLst>
                                      </p:cBhvr>
                                      <p:to>
                                        <p:strVal val="visible"/>
                                      </p:to>
                                    </p:set>
                                    <p:animEffect transition="in" filter="dissolve">
                                      <p:cBhvr>
                                        <p:cTn id="7" dur="500"/>
                                        <p:tgtEl>
                                          <p:spTgt spid="230405"/>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230403"/>
                                        </p:tgtEl>
                                        <p:attrNameLst>
                                          <p:attrName>style.visibility</p:attrName>
                                        </p:attrNameLst>
                                      </p:cBhvr>
                                      <p:to>
                                        <p:strVal val="visible"/>
                                      </p:to>
                                    </p:set>
                                    <p:animEffect transition="in" filter="checkerboard(across)">
                                      <p:cBhvr>
                                        <p:cTn id="11" dur="500"/>
                                        <p:tgtEl>
                                          <p:spTgt spid="230403"/>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230406"/>
                                        </p:tgtEl>
                                        <p:attrNameLst>
                                          <p:attrName>style.visibility</p:attrName>
                                        </p:attrNameLst>
                                      </p:cBhvr>
                                      <p:to>
                                        <p:strVal val="visible"/>
                                      </p:to>
                                    </p:set>
                                    <p:animEffect transition="in" filter="checkerboard(across)">
                                      <p:cBhvr>
                                        <p:cTn id="16" dur="500"/>
                                        <p:tgtEl>
                                          <p:spTgt spid="23040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30402"/>
                                        </p:tgtEl>
                                        <p:attrNameLst>
                                          <p:attrName>style.visibility</p:attrName>
                                        </p:attrNameLst>
                                      </p:cBhvr>
                                      <p:to>
                                        <p:strVal val="visible"/>
                                      </p:to>
                                    </p:set>
                                    <p:animEffect transition="in" filter="dissolve">
                                      <p:cBhvr>
                                        <p:cTn id="21" dur="500"/>
                                        <p:tgtEl>
                                          <p:spTgt spid="230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animBg="1" autoUpdateAnimBg="0"/>
      <p:bldP spid="230403" grpId="0" autoUpdateAnimBg="0"/>
      <p:bldP spid="230405" grpId="0" autoUpdateAnimBg="0"/>
      <p:bldP spid="230406"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2" name="Group 2"/>
          <p:cNvGrpSpPr/>
          <p:nvPr/>
        </p:nvGrpSpPr>
        <p:grpSpPr bwMode="auto">
          <a:xfrm>
            <a:off x="8183563" y="1289050"/>
            <a:ext cx="2476500" cy="2787650"/>
            <a:chOff x="4195" y="663"/>
            <a:chExt cx="1560" cy="1756"/>
          </a:xfrm>
        </p:grpSpPr>
        <p:graphicFrame>
          <p:nvGraphicFramePr>
            <p:cNvPr id="237616" name="Object 3"/>
            <p:cNvGraphicFramePr>
              <a:graphicFrameLocks noChangeAspect="1"/>
            </p:cNvGraphicFramePr>
            <p:nvPr/>
          </p:nvGraphicFramePr>
          <p:xfrm>
            <a:off x="4286" y="663"/>
            <a:ext cx="1140" cy="1542"/>
          </p:xfrm>
          <a:graphic>
            <a:graphicData uri="http://schemas.openxmlformats.org/presentationml/2006/ole">
              <mc:AlternateContent xmlns:mc="http://schemas.openxmlformats.org/markup-compatibility/2006">
                <mc:Choice xmlns:v="urn:schemas-microsoft-com:vml" Requires="v">
                  <p:oleObj spid="_x0000_s3" name="Document" r:id="rId1" imgW="2162175" imgH="2924175" progId="">
                    <p:embed/>
                  </p:oleObj>
                </mc:Choice>
                <mc:Fallback>
                  <p:oleObj name="Document" r:id="rId1" imgW="2162175" imgH="2924175"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 y="663"/>
                          <a:ext cx="1140" cy="1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7617" name="Text Box 4"/>
            <p:cNvSpPr txBox="1">
              <a:spLocks noChangeArrowheads="1"/>
            </p:cNvSpPr>
            <p:nvPr/>
          </p:nvSpPr>
          <p:spPr bwMode="auto">
            <a:xfrm>
              <a:off x="4195" y="2131"/>
              <a:ext cx="15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6-磷酸葡萄糖酸</a:t>
              </a:r>
              <a:r>
                <a:rPr kumimoji="1" lang="zh-CN" altLang="en-US" sz="2000" dirty="0">
                  <a:latin typeface="Arial" panose="020B0604020202020204" pitchFamily="34" charset="0"/>
                  <a:ea typeface="华文楷体" panose="02010600040101010101" pitchFamily="2" charset="-122"/>
                </a:rPr>
                <a:t>   </a:t>
              </a:r>
              <a:endParaRPr kumimoji="1" lang="zh-CN" altLang="en-US" sz="2000" dirty="0">
                <a:latin typeface="Arial" panose="020B0604020202020204" pitchFamily="34" charset="0"/>
                <a:ea typeface="华文楷体" panose="02010600040101010101" pitchFamily="2" charset="-122"/>
              </a:endParaRPr>
            </a:p>
          </p:txBody>
        </p:sp>
      </p:grpSp>
      <p:grpSp>
        <p:nvGrpSpPr>
          <p:cNvPr id="4" name="Group 5"/>
          <p:cNvGrpSpPr/>
          <p:nvPr/>
        </p:nvGrpSpPr>
        <p:grpSpPr bwMode="auto">
          <a:xfrm>
            <a:off x="4945066" y="4314826"/>
            <a:ext cx="1936751" cy="2287588"/>
            <a:chOff x="2155" y="2568"/>
            <a:chExt cx="1220" cy="1441"/>
          </a:xfrm>
        </p:grpSpPr>
        <p:graphicFrame>
          <p:nvGraphicFramePr>
            <p:cNvPr id="237614" name="Object 6"/>
            <p:cNvGraphicFramePr>
              <a:graphicFrameLocks noChangeAspect="1"/>
            </p:cNvGraphicFramePr>
            <p:nvPr/>
          </p:nvGraphicFramePr>
          <p:xfrm>
            <a:off x="2155" y="2568"/>
            <a:ext cx="979" cy="1225"/>
          </p:xfrm>
          <a:graphic>
            <a:graphicData uri="http://schemas.openxmlformats.org/presentationml/2006/ole">
              <mc:AlternateContent xmlns:mc="http://schemas.openxmlformats.org/markup-compatibility/2006">
                <mc:Choice xmlns:v="urn:schemas-microsoft-com:vml" Requires="v">
                  <p:oleObj spid="_x0000_s5" name="Document" r:id="rId3" imgW="1933575" imgH="2419350" progId="">
                    <p:embed/>
                  </p:oleObj>
                </mc:Choice>
                <mc:Fallback>
                  <p:oleObj name="Document" r:id="rId3" imgW="1933575" imgH="2419350"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5" y="2568"/>
                          <a:ext cx="979" cy="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7615" name="Text Box 7"/>
            <p:cNvSpPr txBox="1">
              <a:spLocks noChangeArrowheads="1"/>
            </p:cNvSpPr>
            <p:nvPr/>
          </p:nvSpPr>
          <p:spPr bwMode="auto">
            <a:xfrm>
              <a:off x="2155" y="3718"/>
              <a:ext cx="122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核酮糖</a:t>
              </a:r>
              <a:r>
                <a:rPr kumimoji="1" lang="en-US" altLang="zh-CN" sz="2400" dirty="0">
                  <a:solidFill>
                    <a:srgbClr val="FFFF00"/>
                  </a:solidFill>
                  <a:ea typeface="华文楷体" panose="02010600040101010101" pitchFamily="2" charset="-122"/>
                </a:rPr>
                <a:t>-</a:t>
              </a:r>
              <a:r>
                <a:rPr kumimoji="1" lang="zh-CN" altLang="en-US" sz="2000" dirty="0">
                  <a:solidFill>
                    <a:srgbClr val="FFFF00"/>
                  </a:solidFill>
                  <a:ea typeface="华文楷体" panose="02010600040101010101" pitchFamily="2" charset="-122"/>
                </a:rPr>
                <a:t>5-磷酸</a:t>
              </a:r>
              <a:endParaRPr kumimoji="1" lang="zh-CN" altLang="en-US" sz="2000" dirty="0">
                <a:latin typeface="Arial" panose="020B0604020202020204" pitchFamily="34" charset="0"/>
                <a:ea typeface="华文楷体" panose="02010600040101010101" pitchFamily="2" charset="-122"/>
              </a:endParaRPr>
            </a:p>
          </p:txBody>
        </p:sp>
      </p:grpSp>
      <p:grpSp>
        <p:nvGrpSpPr>
          <p:cNvPr id="6" name="Group 8"/>
          <p:cNvGrpSpPr/>
          <p:nvPr/>
        </p:nvGrpSpPr>
        <p:grpSpPr bwMode="auto">
          <a:xfrm>
            <a:off x="3719513" y="1795464"/>
            <a:ext cx="1771649" cy="1476375"/>
            <a:chOff x="1383" y="981"/>
            <a:chExt cx="1116" cy="930"/>
          </a:xfrm>
        </p:grpSpPr>
        <p:sp>
          <p:nvSpPr>
            <p:cNvPr id="237607" name="Text Box 9"/>
            <p:cNvSpPr txBox="1">
              <a:spLocks noChangeArrowheads="1"/>
            </p:cNvSpPr>
            <p:nvPr/>
          </p:nvSpPr>
          <p:spPr bwMode="auto">
            <a:xfrm>
              <a:off x="1383" y="1505"/>
              <a:ext cx="111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ea typeface="华文楷体" panose="02010600040101010101" pitchFamily="2" charset="-122"/>
                </a:rPr>
                <a:t>  </a:t>
              </a:r>
              <a:r>
                <a:rPr kumimoji="1" lang="en-US" altLang="zh-CN" sz="2000">
                  <a:solidFill>
                    <a:srgbClr val="FFFF00"/>
                  </a:solidFill>
                  <a:latin typeface="Arial" panose="020B0604020202020204" pitchFamily="34" charset="0"/>
                  <a:ea typeface="华文楷体" panose="02010600040101010101" pitchFamily="2" charset="-122"/>
                </a:rPr>
                <a:t>NADPH+H</a:t>
              </a:r>
              <a:r>
                <a:rPr kumimoji="1" lang="en-US" altLang="zh-CN" sz="2000" baseline="30000">
                  <a:solidFill>
                    <a:srgbClr val="FFFF00"/>
                  </a:solidFill>
                  <a:latin typeface="Arial" panose="020B0604020202020204" pitchFamily="34" charset="0"/>
                  <a:ea typeface="华文楷体" panose="02010600040101010101" pitchFamily="2" charset="-122"/>
                </a:rPr>
                <a:t>+  </a:t>
              </a:r>
              <a:endParaRPr kumimoji="1" lang="en-US" altLang="zh-CN" sz="2000" baseline="30000">
                <a:solidFill>
                  <a:srgbClr val="FFFF00"/>
                </a:solidFill>
                <a:latin typeface="Arial" panose="020B0604020202020204" pitchFamily="34" charset="0"/>
                <a:ea typeface="华文楷体" panose="02010600040101010101" pitchFamily="2" charset="-122"/>
              </a:endParaRPr>
            </a:p>
          </p:txBody>
        </p:sp>
        <p:grpSp>
          <p:nvGrpSpPr>
            <p:cNvPr id="237608" name="Group 10"/>
            <p:cNvGrpSpPr/>
            <p:nvPr/>
          </p:nvGrpSpPr>
          <p:grpSpPr bwMode="auto">
            <a:xfrm>
              <a:off x="1534" y="981"/>
              <a:ext cx="739" cy="930"/>
              <a:chOff x="1534" y="981"/>
              <a:chExt cx="739" cy="930"/>
            </a:xfrm>
          </p:grpSpPr>
          <p:sp>
            <p:nvSpPr>
              <p:cNvPr id="237609" name="Line 11"/>
              <p:cNvSpPr>
                <a:spLocks noChangeShapeType="1"/>
              </p:cNvSpPr>
              <p:nvPr/>
            </p:nvSpPr>
            <p:spPr bwMode="auto">
              <a:xfrm>
                <a:off x="1534" y="1387"/>
                <a:ext cx="705" cy="0"/>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10" name="Line 12"/>
              <p:cNvSpPr>
                <a:spLocks noChangeShapeType="1"/>
              </p:cNvSpPr>
              <p:nvPr/>
            </p:nvSpPr>
            <p:spPr bwMode="auto">
              <a:xfrm>
                <a:off x="1736" y="1209"/>
                <a:ext cx="302" cy="178"/>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11" name="Text Box 13"/>
              <p:cNvSpPr txBox="1">
                <a:spLocks noChangeArrowheads="1"/>
              </p:cNvSpPr>
              <p:nvPr/>
            </p:nvSpPr>
            <p:spPr bwMode="auto">
              <a:xfrm>
                <a:off x="1574" y="981"/>
                <a:ext cx="6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chemeClr val="bg1"/>
                    </a:solidFill>
                    <a:latin typeface="Arial" panose="020B0604020202020204" pitchFamily="34" charset="0"/>
                    <a:ea typeface="华文楷体" panose="02010600040101010101" pitchFamily="2" charset="-122"/>
                  </a:rPr>
                  <a:t>NADP</a:t>
                </a:r>
                <a:r>
                  <a:rPr kumimoji="1" lang="en-US" altLang="zh-CN" sz="2000" baseline="30000">
                    <a:solidFill>
                      <a:schemeClr val="bg1"/>
                    </a:solidFill>
                    <a:latin typeface="Arial" panose="020B0604020202020204" pitchFamily="34" charset="0"/>
                    <a:ea typeface="华文楷体" panose="02010600040101010101" pitchFamily="2" charset="-122"/>
                  </a:rPr>
                  <a:t>+</a:t>
                </a:r>
                <a:r>
                  <a:rPr kumimoji="1" lang="en-US" altLang="zh-CN" sz="2000" baseline="30000">
                    <a:latin typeface="Arial" panose="020B0604020202020204" pitchFamily="34" charset="0"/>
                    <a:ea typeface="华文楷体" panose="02010600040101010101" pitchFamily="2" charset="-122"/>
                  </a:rPr>
                  <a:t>  </a:t>
                </a:r>
                <a:endParaRPr kumimoji="1" lang="en-US" altLang="zh-CN" sz="2000" baseline="30000">
                  <a:latin typeface="Arial" panose="020B0604020202020204" pitchFamily="34" charset="0"/>
                  <a:ea typeface="华文楷体" panose="02010600040101010101" pitchFamily="2" charset="-122"/>
                </a:endParaRPr>
              </a:p>
            </p:txBody>
          </p:sp>
          <p:sp>
            <p:nvSpPr>
              <p:cNvPr id="237612" name="Line 14"/>
              <p:cNvSpPr>
                <a:spLocks noChangeShapeType="1"/>
              </p:cNvSpPr>
              <p:nvPr/>
            </p:nvSpPr>
            <p:spPr bwMode="auto">
              <a:xfrm>
                <a:off x="1786" y="1387"/>
                <a:ext cx="252" cy="179"/>
              </a:xfrm>
              <a:prstGeom prst="line">
                <a:avLst/>
              </a:prstGeom>
              <a:noFill/>
              <a:ln w="19050">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13" name="Text Box 15"/>
              <p:cNvSpPr txBox="1">
                <a:spLocks noChangeArrowheads="1"/>
              </p:cNvSpPr>
              <p:nvPr/>
            </p:nvSpPr>
            <p:spPr bwMode="auto">
              <a:xfrm>
                <a:off x="1837" y="1661"/>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chemeClr val="tx2"/>
                    </a:solidFill>
                    <a:latin typeface="Arial" panose="020B0604020202020204" pitchFamily="34" charset="0"/>
                    <a:ea typeface="华文楷体" panose="02010600040101010101" pitchFamily="2" charset="-122"/>
                  </a:rPr>
                  <a:t>⑴  </a:t>
                </a:r>
                <a:endParaRPr kumimoji="1" lang="zh-CN" altLang="en-US" sz="2000">
                  <a:solidFill>
                    <a:schemeClr val="tx2"/>
                  </a:solidFill>
                  <a:latin typeface="Arial" panose="020B0604020202020204" pitchFamily="34" charset="0"/>
                  <a:ea typeface="华文楷体" panose="02010600040101010101" pitchFamily="2" charset="-122"/>
                </a:endParaRPr>
              </a:p>
            </p:txBody>
          </p:sp>
        </p:grpSp>
      </p:grpSp>
      <p:grpSp>
        <p:nvGrpSpPr>
          <p:cNvPr id="7" name="Group 16"/>
          <p:cNvGrpSpPr/>
          <p:nvPr/>
        </p:nvGrpSpPr>
        <p:grpSpPr bwMode="auto">
          <a:xfrm>
            <a:off x="7104063" y="1795464"/>
            <a:ext cx="1211262" cy="644525"/>
            <a:chOff x="3515" y="981"/>
            <a:chExt cx="763" cy="406"/>
          </a:xfrm>
        </p:grpSpPr>
        <p:sp>
          <p:nvSpPr>
            <p:cNvPr id="237604" name="Line 17"/>
            <p:cNvSpPr>
              <a:spLocks noChangeShapeType="1"/>
            </p:cNvSpPr>
            <p:nvPr/>
          </p:nvSpPr>
          <p:spPr bwMode="auto">
            <a:xfrm>
              <a:off x="3606" y="1387"/>
              <a:ext cx="672" cy="0"/>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05" name="Line 18"/>
            <p:cNvSpPr>
              <a:spLocks noChangeShapeType="1"/>
            </p:cNvSpPr>
            <p:nvPr/>
          </p:nvSpPr>
          <p:spPr bwMode="auto">
            <a:xfrm>
              <a:off x="3787" y="1207"/>
              <a:ext cx="203" cy="180"/>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06" name="Text Box 19"/>
            <p:cNvSpPr txBox="1">
              <a:spLocks noChangeArrowheads="1"/>
            </p:cNvSpPr>
            <p:nvPr/>
          </p:nvSpPr>
          <p:spPr bwMode="auto">
            <a:xfrm>
              <a:off x="3515" y="981"/>
              <a:ext cx="5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chemeClr val="bg1"/>
                  </a:solidFill>
                  <a:latin typeface="Arial" panose="020B0604020202020204" pitchFamily="34" charset="0"/>
                  <a:ea typeface="华文楷体" panose="02010600040101010101" pitchFamily="2" charset="-122"/>
                </a:rPr>
                <a:t>H</a:t>
              </a:r>
              <a:r>
                <a:rPr kumimoji="1" lang="en-US" altLang="zh-CN" sz="2000" baseline="-25000">
                  <a:solidFill>
                    <a:schemeClr val="bg1"/>
                  </a:solidFill>
                  <a:latin typeface="Arial" panose="020B0604020202020204" pitchFamily="34" charset="0"/>
                  <a:ea typeface="华文楷体" panose="02010600040101010101" pitchFamily="2" charset="-122"/>
                </a:rPr>
                <a:t>2</a:t>
              </a:r>
              <a:r>
                <a:rPr kumimoji="1" lang="en-US" altLang="zh-CN" sz="2000">
                  <a:solidFill>
                    <a:schemeClr val="bg1"/>
                  </a:solidFill>
                  <a:latin typeface="Arial" panose="020B0604020202020204" pitchFamily="34" charset="0"/>
                  <a:ea typeface="华文楷体" panose="02010600040101010101" pitchFamily="2" charset="-122"/>
                </a:rPr>
                <a:t>O</a:t>
              </a:r>
              <a:r>
                <a:rPr kumimoji="1" lang="en-US" altLang="zh-CN" sz="2000">
                  <a:solidFill>
                    <a:schemeClr val="hlink"/>
                  </a:solidFill>
                  <a:latin typeface="Arial" panose="020B0604020202020204" pitchFamily="34" charset="0"/>
                  <a:ea typeface="华文楷体" panose="02010600040101010101" pitchFamily="2" charset="-122"/>
                </a:rPr>
                <a:t>  </a:t>
              </a:r>
              <a:endParaRPr kumimoji="1" lang="en-US" altLang="zh-CN" sz="2000">
                <a:solidFill>
                  <a:schemeClr val="hlink"/>
                </a:solidFill>
                <a:latin typeface="Arial" panose="020B0604020202020204" pitchFamily="34" charset="0"/>
                <a:ea typeface="华文楷体" panose="02010600040101010101" pitchFamily="2" charset="-122"/>
              </a:endParaRPr>
            </a:p>
          </p:txBody>
        </p:sp>
      </p:grpSp>
      <p:grpSp>
        <p:nvGrpSpPr>
          <p:cNvPr id="8" name="Group 20"/>
          <p:cNvGrpSpPr/>
          <p:nvPr/>
        </p:nvGrpSpPr>
        <p:grpSpPr bwMode="auto">
          <a:xfrm>
            <a:off x="2495550" y="4818063"/>
            <a:ext cx="2376488" cy="1408112"/>
            <a:chOff x="385" y="3067"/>
            <a:chExt cx="1497" cy="887"/>
          </a:xfrm>
        </p:grpSpPr>
        <p:sp>
          <p:nvSpPr>
            <p:cNvPr id="237597" name="Line 21"/>
            <p:cNvSpPr>
              <a:spLocks noChangeShapeType="1"/>
            </p:cNvSpPr>
            <p:nvPr/>
          </p:nvSpPr>
          <p:spPr bwMode="auto">
            <a:xfrm>
              <a:off x="529" y="3451"/>
              <a:ext cx="1296" cy="0"/>
            </a:xfrm>
            <a:prstGeom prst="line">
              <a:avLst/>
            </a:prstGeom>
            <a:noFill/>
            <a:ln w="38100">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598" name="Line 22"/>
            <p:cNvSpPr>
              <a:spLocks noChangeShapeType="1"/>
            </p:cNvSpPr>
            <p:nvPr/>
          </p:nvSpPr>
          <p:spPr bwMode="auto">
            <a:xfrm>
              <a:off x="577" y="3307"/>
              <a:ext cx="336" cy="144"/>
            </a:xfrm>
            <a:prstGeom prst="line">
              <a:avLst/>
            </a:prstGeom>
            <a:noFill/>
            <a:ln w="19050">
              <a:solidFill>
                <a:schemeClr val="bg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599" name="Text Box 23"/>
            <p:cNvSpPr txBox="1">
              <a:spLocks noChangeArrowheads="1"/>
            </p:cNvSpPr>
            <p:nvPr/>
          </p:nvSpPr>
          <p:spPr bwMode="auto">
            <a:xfrm>
              <a:off x="385" y="3067"/>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chemeClr val="bg1"/>
                  </a:solidFill>
                  <a:latin typeface="Arial" panose="020B0604020202020204" pitchFamily="34" charset="0"/>
                  <a:ea typeface="华文楷体" panose="02010600040101010101" pitchFamily="2" charset="-122"/>
                </a:rPr>
                <a:t>NADP</a:t>
              </a:r>
              <a:r>
                <a:rPr kumimoji="1" lang="en-US" altLang="zh-CN" sz="2000" baseline="30000">
                  <a:solidFill>
                    <a:schemeClr val="bg1"/>
                  </a:solidFill>
                  <a:latin typeface="Arial" panose="020B0604020202020204" pitchFamily="34" charset="0"/>
                  <a:ea typeface="华文楷体" panose="02010600040101010101" pitchFamily="2" charset="-122"/>
                </a:rPr>
                <a:t>+</a:t>
              </a:r>
              <a:r>
                <a:rPr kumimoji="1" lang="en-US" altLang="zh-CN" sz="2000" baseline="30000">
                  <a:latin typeface="Arial" panose="020B0604020202020204" pitchFamily="34" charset="0"/>
                  <a:ea typeface="华文楷体" panose="02010600040101010101" pitchFamily="2" charset="-122"/>
                </a:rPr>
                <a:t>              </a:t>
              </a:r>
              <a:r>
                <a:rPr kumimoji="1" lang="en-US" altLang="zh-CN" sz="2000" baseline="30000">
                  <a:solidFill>
                    <a:schemeClr val="hlink"/>
                  </a:solidFill>
                  <a:latin typeface="Arial" panose="020B0604020202020204" pitchFamily="34" charset="0"/>
                  <a:ea typeface="华文楷体" panose="02010600040101010101" pitchFamily="2" charset="-122"/>
                </a:rPr>
                <a:t> </a:t>
              </a:r>
              <a:r>
                <a:rPr kumimoji="1" lang="en-US" altLang="zh-CN" sz="2000">
                  <a:solidFill>
                    <a:srgbClr val="FFFF00"/>
                  </a:solidFill>
                  <a:latin typeface="Antique Olive"/>
                  <a:ea typeface="宋体" panose="02010600030101010101" pitchFamily="2" charset="-122"/>
                </a:rPr>
                <a:t>CO</a:t>
              </a:r>
              <a:r>
                <a:rPr kumimoji="1" lang="en-US" altLang="zh-CN" sz="2000" baseline="-25000">
                  <a:solidFill>
                    <a:srgbClr val="FFFF00"/>
                  </a:solidFill>
                  <a:latin typeface="Antique Olive"/>
                  <a:ea typeface="宋体" panose="02010600030101010101" pitchFamily="2" charset="-122"/>
                </a:rPr>
                <a:t>2</a:t>
              </a:r>
              <a:r>
                <a:rPr kumimoji="1" lang="en-US" altLang="zh-CN" sz="2000">
                  <a:solidFill>
                    <a:srgbClr val="FFFF00"/>
                  </a:solidFill>
                  <a:latin typeface="Antique Olive"/>
                  <a:ea typeface="宋体" panose="02010600030101010101" pitchFamily="2" charset="-122"/>
                </a:rPr>
                <a:t> </a:t>
              </a:r>
              <a:r>
                <a:rPr kumimoji="1" lang="en-US" altLang="zh-CN" sz="2400">
                  <a:solidFill>
                    <a:srgbClr val="FFFF00"/>
                  </a:solidFill>
                  <a:latin typeface="Antique Olive"/>
                  <a:ea typeface="宋体" panose="02010600030101010101" pitchFamily="2" charset="-122"/>
                </a:rPr>
                <a:t> </a:t>
              </a:r>
              <a:endParaRPr kumimoji="1" lang="en-US" altLang="zh-CN" sz="2000" baseline="30000">
                <a:solidFill>
                  <a:srgbClr val="FFFF00"/>
                </a:solidFill>
                <a:latin typeface="Arial" panose="020B0604020202020204" pitchFamily="34" charset="0"/>
                <a:ea typeface="华文楷体" panose="02010600040101010101" pitchFamily="2" charset="-122"/>
              </a:endParaRPr>
            </a:p>
          </p:txBody>
        </p:sp>
        <p:sp>
          <p:nvSpPr>
            <p:cNvPr id="237600" name="Line 24"/>
            <p:cNvSpPr>
              <a:spLocks noChangeShapeType="1"/>
            </p:cNvSpPr>
            <p:nvPr/>
          </p:nvSpPr>
          <p:spPr bwMode="auto">
            <a:xfrm>
              <a:off x="769" y="3451"/>
              <a:ext cx="288" cy="144"/>
            </a:xfrm>
            <a:prstGeom prst="line">
              <a:avLst/>
            </a:prstGeom>
            <a:noFill/>
            <a:ln w="19050">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01" name="Text Box 25"/>
            <p:cNvSpPr txBox="1">
              <a:spLocks noChangeArrowheads="1"/>
            </p:cNvSpPr>
            <p:nvPr/>
          </p:nvSpPr>
          <p:spPr bwMode="auto">
            <a:xfrm>
              <a:off x="529" y="3545"/>
              <a:ext cx="12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ea typeface="华文楷体" panose="02010600040101010101" pitchFamily="2" charset="-122"/>
                </a:rPr>
                <a:t>    </a:t>
              </a:r>
              <a:r>
                <a:rPr kumimoji="1" lang="en-US" altLang="zh-CN" sz="2000">
                  <a:solidFill>
                    <a:srgbClr val="FFFF00"/>
                  </a:solidFill>
                  <a:latin typeface="Arial" panose="020B0604020202020204" pitchFamily="34" charset="0"/>
                  <a:ea typeface="华文楷体" panose="02010600040101010101" pitchFamily="2" charset="-122"/>
                </a:rPr>
                <a:t>NADPH+H</a:t>
              </a:r>
              <a:r>
                <a:rPr kumimoji="1" lang="en-US" altLang="zh-CN" sz="2000" baseline="30000">
                  <a:solidFill>
                    <a:srgbClr val="FFFF00"/>
                  </a:solidFill>
                  <a:latin typeface="Arial" panose="020B0604020202020204" pitchFamily="34" charset="0"/>
                  <a:ea typeface="华文楷体" panose="02010600040101010101" pitchFamily="2" charset="-122"/>
                </a:rPr>
                <a:t>+   </a:t>
              </a:r>
              <a:endParaRPr kumimoji="1" lang="en-US" altLang="zh-CN" sz="2000" baseline="30000">
                <a:solidFill>
                  <a:srgbClr val="FFFF00"/>
                </a:solidFill>
                <a:latin typeface="Arial" panose="020B0604020202020204" pitchFamily="34" charset="0"/>
                <a:ea typeface="华文楷体" panose="02010600040101010101" pitchFamily="2" charset="-122"/>
              </a:endParaRPr>
            </a:p>
          </p:txBody>
        </p:sp>
        <p:sp>
          <p:nvSpPr>
            <p:cNvPr id="237602" name="Line 26"/>
            <p:cNvSpPr>
              <a:spLocks noChangeShapeType="1"/>
            </p:cNvSpPr>
            <p:nvPr/>
          </p:nvSpPr>
          <p:spPr bwMode="auto">
            <a:xfrm flipV="1">
              <a:off x="1297" y="3307"/>
              <a:ext cx="240" cy="144"/>
            </a:xfrm>
            <a:prstGeom prst="line">
              <a:avLst/>
            </a:prstGeom>
            <a:noFill/>
            <a:ln w="19050">
              <a:solidFill>
                <a:schemeClr val="bg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7603" name="Text Box 27"/>
            <p:cNvSpPr txBox="1">
              <a:spLocks noChangeArrowheads="1"/>
            </p:cNvSpPr>
            <p:nvPr/>
          </p:nvSpPr>
          <p:spPr bwMode="auto">
            <a:xfrm>
              <a:off x="1020" y="3704"/>
              <a:ext cx="2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chemeClr val="tx2"/>
                  </a:solidFill>
                  <a:latin typeface="华文楷体" panose="02010600040101010101" pitchFamily="2" charset="-122"/>
                  <a:ea typeface="华文楷体" panose="02010600040101010101" pitchFamily="2" charset="-122"/>
                </a:rPr>
                <a:t>⑵</a:t>
              </a:r>
              <a:endParaRPr kumimoji="1" lang="zh-CN" altLang="en-US" sz="2000">
                <a:solidFill>
                  <a:schemeClr val="tx2"/>
                </a:solidFill>
                <a:latin typeface="华文楷体" panose="02010600040101010101" pitchFamily="2" charset="-122"/>
                <a:ea typeface="华文楷体" panose="02010600040101010101" pitchFamily="2" charset="-122"/>
              </a:endParaRPr>
            </a:p>
          </p:txBody>
        </p:sp>
      </p:grpSp>
      <p:sp>
        <p:nvSpPr>
          <p:cNvPr id="231452" name="Line 28"/>
          <p:cNvSpPr>
            <a:spLocks noChangeShapeType="1"/>
          </p:cNvSpPr>
          <p:nvPr/>
        </p:nvSpPr>
        <p:spPr bwMode="auto">
          <a:xfrm>
            <a:off x="6311900" y="5394325"/>
            <a:ext cx="1600200" cy="0"/>
          </a:xfrm>
          <a:prstGeom prst="line">
            <a:avLst/>
          </a:prstGeom>
          <a:noFill/>
          <a:ln w="381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1453" name="Rectangle 29"/>
          <p:cNvSpPr>
            <a:spLocks noChangeArrowheads="1"/>
          </p:cNvSpPr>
          <p:nvPr/>
        </p:nvSpPr>
        <p:spPr bwMode="auto">
          <a:xfrm>
            <a:off x="3503613" y="1435101"/>
            <a:ext cx="2532062"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rgbClr val="FF0000"/>
                </a:solidFill>
                <a:latin typeface="黑体" panose="02010609060101010101" pitchFamily="2" charset="-122"/>
                <a:ea typeface="黑体" panose="02010609060101010101" pitchFamily="2" charset="-122"/>
              </a:rPr>
              <a:t>6-磷酸葡萄糖脱氢酶</a:t>
            </a:r>
            <a:r>
              <a:rPr kumimoji="1" lang="zh-CN" altLang="en-US" sz="2000">
                <a:solidFill>
                  <a:schemeClr val="accent1"/>
                </a:solidFill>
                <a:latin typeface="Arial" panose="020B0604020202020204" pitchFamily="34" charset="0"/>
                <a:ea typeface="华文楷体" panose="02010600040101010101" pitchFamily="2" charset="-122"/>
              </a:rPr>
              <a:t>         </a:t>
            </a:r>
            <a:endParaRPr kumimoji="1" lang="zh-CN" altLang="en-US" sz="2000">
              <a:solidFill>
                <a:schemeClr val="accent1"/>
              </a:solidFill>
              <a:latin typeface="Arial" panose="020B0604020202020204" pitchFamily="34" charset="0"/>
              <a:ea typeface="华文楷体" panose="02010600040101010101" pitchFamily="2" charset="-122"/>
            </a:endParaRPr>
          </a:p>
        </p:txBody>
      </p:sp>
      <p:sp>
        <p:nvSpPr>
          <p:cNvPr id="231454" name="Rectangle 30"/>
          <p:cNvSpPr>
            <a:spLocks noChangeArrowheads="1"/>
          </p:cNvSpPr>
          <p:nvPr/>
        </p:nvSpPr>
        <p:spPr bwMode="auto">
          <a:xfrm>
            <a:off x="2279650" y="4459289"/>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b="0">
                <a:solidFill>
                  <a:schemeClr val="bg1"/>
                </a:solidFill>
                <a:latin typeface="黑体" panose="02010609060101010101" pitchFamily="2" charset="-122"/>
                <a:ea typeface="黑体" panose="02010609060101010101" pitchFamily="2" charset="-122"/>
              </a:rPr>
              <a:t>6-磷酸葡萄糖酸脱氢酶</a:t>
            </a:r>
            <a:r>
              <a:rPr kumimoji="1" lang="zh-CN" altLang="en-US" sz="2000">
                <a:latin typeface="Arial" panose="020B0604020202020204" pitchFamily="34" charset="0"/>
                <a:ea typeface="华文楷体" panose="02010600040101010101" pitchFamily="2" charset="-122"/>
              </a:rPr>
              <a:t>   </a:t>
            </a:r>
            <a:r>
              <a:rPr kumimoji="1" lang="zh-CN" altLang="en-US" sz="2000">
                <a:solidFill>
                  <a:srgbClr val="33CC33"/>
                </a:solidFill>
                <a:latin typeface="Arial" panose="020B0604020202020204" pitchFamily="34" charset="0"/>
                <a:ea typeface="华文楷体" panose="02010600040101010101" pitchFamily="2" charset="-122"/>
              </a:rPr>
              <a:t>   </a:t>
            </a:r>
            <a:endParaRPr kumimoji="1" lang="zh-CN" altLang="en-US" sz="2000">
              <a:solidFill>
                <a:srgbClr val="33CC33"/>
              </a:solidFill>
              <a:latin typeface="Arial" panose="020B0604020202020204" pitchFamily="34" charset="0"/>
              <a:ea typeface="华文楷体" panose="02010600040101010101" pitchFamily="2" charset="-122"/>
            </a:endParaRPr>
          </a:p>
        </p:txBody>
      </p:sp>
      <p:grpSp>
        <p:nvGrpSpPr>
          <p:cNvPr id="9" name="Group 31"/>
          <p:cNvGrpSpPr/>
          <p:nvPr/>
        </p:nvGrpSpPr>
        <p:grpSpPr bwMode="auto">
          <a:xfrm>
            <a:off x="8313739" y="1290638"/>
            <a:ext cx="1258887" cy="1168400"/>
            <a:chOff x="4277" y="663"/>
            <a:chExt cx="793" cy="736"/>
          </a:xfrm>
        </p:grpSpPr>
        <p:sp>
          <p:nvSpPr>
            <p:cNvPr id="231456" name="Rectangle 32"/>
            <p:cNvSpPr>
              <a:spLocks noChangeArrowheads="1"/>
            </p:cNvSpPr>
            <p:nvPr/>
          </p:nvSpPr>
          <p:spPr bwMode="auto">
            <a:xfrm>
              <a:off x="4277" y="1187"/>
              <a:ext cx="208" cy="212"/>
            </a:xfrm>
            <a:prstGeom prst="rect">
              <a:avLst/>
            </a:prstGeom>
            <a:noFill/>
            <a:ln w="9525">
              <a:noFill/>
              <a:miter lim="800000"/>
            </a:ln>
            <a:effec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sz="1600">
                  <a:solidFill>
                    <a:srgbClr val="FFFF00"/>
                  </a:solidFill>
                  <a:effectLst>
                    <a:outerShdw blurRad="38100" dist="38100" dir="2700000" algn="tl">
                      <a:srgbClr val="000000"/>
                    </a:outerShdw>
                  </a:effectLst>
                  <a:ea typeface="华文楷体" panose="02010600040101010101" pitchFamily="2" charset="-122"/>
                </a:rPr>
                <a:t>H</a:t>
              </a:r>
              <a:endParaRPr kumimoji="1" lang="en-US" altLang="zh-CN" sz="1600">
                <a:solidFill>
                  <a:srgbClr val="FFFF00"/>
                </a:solidFill>
                <a:effectLst>
                  <a:outerShdw blurRad="38100" dist="38100" dir="2700000" algn="tl">
                    <a:srgbClr val="000000"/>
                  </a:outerShdw>
                </a:effectLst>
                <a:ea typeface="华文楷体" panose="02010600040101010101" pitchFamily="2" charset="-122"/>
              </a:endParaRPr>
            </a:p>
          </p:txBody>
        </p:sp>
        <p:sp>
          <p:nvSpPr>
            <p:cNvPr id="231457" name="Rectangle 33"/>
            <p:cNvSpPr>
              <a:spLocks noChangeArrowheads="1"/>
            </p:cNvSpPr>
            <p:nvPr/>
          </p:nvSpPr>
          <p:spPr bwMode="auto">
            <a:xfrm>
              <a:off x="4629" y="663"/>
              <a:ext cx="308" cy="212"/>
            </a:xfrm>
            <a:prstGeom prst="rect">
              <a:avLst/>
            </a:prstGeom>
            <a:noFill/>
            <a:ln w="9525">
              <a:noFill/>
              <a:miter lim="800000"/>
            </a:ln>
            <a:effectLst/>
          </p:spPr>
          <p:txBody>
            <a:bodyPr wrap="none">
              <a:spAutoFit/>
            </a:bodyPr>
            <a:lstStyle/>
            <a:p>
              <a:pPr eaLnBrk="1" hangingPunct="1">
                <a:defRPr/>
              </a:pPr>
              <a:r>
                <a:rPr kumimoji="1" lang="en-US" altLang="zh-CN" sz="1600">
                  <a:solidFill>
                    <a:srgbClr val="FFFF00"/>
                  </a:solidFill>
                  <a:effectLst>
                    <a:outerShdw blurRad="38100" dist="38100" dir="2700000" algn="tl">
                      <a:srgbClr val="000000"/>
                    </a:outerShdw>
                  </a:effectLst>
                  <a:latin typeface="Arial" panose="020B0604020202020204" pitchFamily="34" charset="0"/>
                  <a:ea typeface="华文楷体" panose="02010600040101010101" pitchFamily="2" charset="-122"/>
                </a:rPr>
                <a:t>CO</a:t>
              </a:r>
              <a:endParaRPr kumimoji="1" lang="en-US" altLang="zh-CN" sz="1600">
                <a:solidFill>
                  <a:srgbClr val="FFFF00"/>
                </a:solidFill>
                <a:effectLst>
                  <a:outerShdw blurRad="38100" dist="38100" dir="2700000" algn="tl">
                    <a:srgbClr val="000000"/>
                  </a:outerShdw>
                </a:effectLst>
                <a:latin typeface="Arial" panose="020B0604020202020204" pitchFamily="34" charset="0"/>
                <a:ea typeface="华文楷体" panose="02010600040101010101" pitchFamily="2" charset="-122"/>
              </a:endParaRPr>
            </a:p>
          </p:txBody>
        </p:sp>
        <p:sp>
          <p:nvSpPr>
            <p:cNvPr id="231458" name="Rectangle 34"/>
            <p:cNvSpPr>
              <a:spLocks noChangeArrowheads="1"/>
            </p:cNvSpPr>
            <p:nvPr/>
          </p:nvSpPr>
          <p:spPr bwMode="auto">
            <a:xfrm>
              <a:off x="4862" y="1187"/>
              <a:ext cx="208" cy="212"/>
            </a:xfrm>
            <a:prstGeom prst="rect">
              <a:avLst/>
            </a:prstGeom>
            <a:noFill/>
            <a:ln w="9525">
              <a:noFill/>
              <a:miter lim="800000"/>
            </a:ln>
            <a:effectLst/>
          </p:spPr>
          <p:txBody>
            <a:bodyPr wrap="non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r>
                <a:rPr kumimoji="1" lang="en-US" altLang="zh-CN" sz="1600">
                  <a:solidFill>
                    <a:srgbClr val="FFFF00"/>
                  </a:solidFill>
                  <a:effectLst>
                    <a:outerShdw blurRad="38100" dist="38100" dir="2700000" algn="tl">
                      <a:srgbClr val="000000"/>
                    </a:outerShdw>
                  </a:effectLst>
                  <a:ea typeface="华文楷体" panose="02010600040101010101" pitchFamily="2" charset="-122"/>
                </a:rPr>
                <a:t>H</a:t>
              </a:r>
              <a:endParaRPr kumimoji="1" lang="en-US" altLang="zh-CN" sz="1600">
                <a:solidFill>
                  <a:srgbClr val="FFFF00"/>
                </a:solidFill>
                <a:effectLst>
                  <a:outerShdw blurRad="38100" dist="38100" dir="2700000" algn="tl">
                    <a:srgbClr val="000000"/>
                  </a:outerShdw>
                </a:effectLst>
                <a:ea typeface="华文楷体" panose="02010600040101010101" pitchFamily="2" charset="-122"/>
              </a:endParaRPr>
            </a:p>
          </p:txBody>
        </p:sp>
      </p:grpSp>
      <p:grpSp>
        <p:nvGrpSpPr>
          <p:cNvPr id="10" name="Group 35"/>
          <p:cNvGrpSpPr/>
          <p:nvPr/>
        </p:nvGrpSpPr>
        <p:grpSpPr bwMode="auto">
          <a:xfrm>
            <a:off x="5276851" y="4303714"/>
            <a:ext cx="923925" cy="739775"/>
            <a:chOff x="2273" y="2652"/>
            <a:chExt cx="582" cy="466"/>
          </a:xfrm>
        </p:grpSpPr>
        <p:sp>
          <p:nvSpPr>
            <p:cNvPr id="237591" name="Rectangle 36"/>
            <p:cNvSpPr>
              <a:spLocks noChangeArrowheads="1"/>
            </p:cNvSpPr>
            <p:nvPr/>
          </p:nvSpPr>
          <p:spPr bwMode="auto">
            <a:xfrm>
              <a:off x="2278" y="2652"/>
              <a:ext cx="57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85DA30"/>
                  </a:solidFill>
                  <a:latin typeface="Arial" panose="020B0604020202020204" pitchFamily="34" charset="0"/>
                  <a:ea typeface="华文楷体" panose="02010600040101010101" pitchFamily="2" charset="-122"/>
                </a:rPr>
                <a:t>CH</a:t>
              </a:r>
              <a:r>
                <a:rPr kumimoji="1" lang="en-US" altLang="zh-CN" sz="1600" baseline="-25000">
                  <a:solidFill>
                    <a:srgbClr val="85DA30"/>
                  </a:solidFill>
                  <a:latin typeface="Arial" panose="020B0604020202020204" pitchFamily="34" charset="0"/>
                  <a:ea typeface="华文楷体" panose="02010600040101010101" pitchFamily="2" charset="-122"/>
                </a:rPr>
                <a:t>2</a:t>
              </a:r>
              <a:r>
                <a:rPr kumimoji="1" lang="en-US" altLang="zh-CN" sz="1600">
                  <a:solidFill>
                    <a:srgbClr val="85DA30"/>
                  </a:solidFill>
                  <a:latin typeface="Arial" panose="020B0604020202020204" pitchFamily="34" charset="0"/>
                  <a:ea typeface="华文楷体" panose="02010600040101010101" pitchFamily="2" charset="-122"/>
                </a:rPr>
                <a:t>OH </a:t>
              </a:r>
              <a:endParaRPr kumimoji="1" lang="en-US" altLang="zh-CN" sz="1600">
                <a:solidFill>
                  <a:srgbClr val="85DA30"/>
                </a:solidFill>
                <a:latin typeface="Arial" panose="020B0604020202020204" pitchFamily="34" charset="0"/>
                <a:ea typeface="华文楷体" panose="02010600040101010101" pitchFamily="2" charset="-122"/>
              </a:endParaRPr>
            </a:p>
          </p:txBody>
        </p:sp>
        <p:sp>
          <p:nvSpPr>
            <p:cNvPr id="237592" name="Rectangle 37"/>
            <p:cNvSpPr>
              <a:spLocks noChangeArrowheads="1"/>
            </p:cNvSpPr>
            <p:nvPr/>
          </p:nvSpPr>
          <p:spPr bwMode="auto">
            <a:xfrm>
              <a:off x="2273" y="2906"/>
              <a:ext cx="23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85DA30"/>
                  </a:solidFill>
                  <a:latin typeface="Arial" panose="020B0604020202020204" pitchFamily="34" charset="0"/>
                  <a:ea typeface="华文楷体" panose="02010600040101010101" pitchFamily="2" charset="-122"/>
                </a:rPr>
                <a:t>C</a:t>
              </a:r>
              <a:endParaRPr kumimoji="1" lang="en-US" altLang="zh-CN" sz="1600">
                <a:solidFill>
                  <a:srgbClr val="85DA30"/>
                </a:solidFill>
                <a:latin typeface="Arial" panose="020B0604020202020204" pitchFamily="34" charset="0"/>
                <a:ea typeface="华文楷体" panose="02010600040101010101" pitchFamily="2" charset="-122"/>
              </a:endParaRPr>
            </a:p>
          </p:txBody>
        </p:sp>
        <p:sp>
          <p:nvSpPr>
            <p:cNvPr id="237593" name="Rectangle 38"/>
            <p:cNvSpPr>
              <a:spLocks noChangeArrowheads="1"/>
            </p:cNvSpPr>
            <p:nvPr/>
          </p:nvSpPr>
          <p:spPr bwMode="auto">
            <a:xfrm>
              <a:off x="2441" y="2906"/>
              <a:ext cx="2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85DA30"/>
                  </a:solidFill>
                  <a:latin typeface="Arial" panose="020B0604020202020204" pitchFamily="34" charset="0"/>
                  <a:ea typeface="华文楷体" panose="02010600040101010101" pitchFamily="2" charset="-122"/>
                </a:rPr>
                <a:t>O </a:t>
              </a:r>
              <a:endParaRPr kumimoji="1" lang="en-US" altLang="zh-CN" sz="1600">
                <a:solidFill>
                  <a:srgbClr val="85DA30"/>
                </a:solidFill>
                <a:latin typeface="Arial" panose="020B0604020202020204" pitchFamily="34" charset="0"/>
                <a:ea typeface="华文楷体" panose="02010600040101010101" pitchFamily="2" charset="-122"/>
              </a:endParaRPr>
            </a:p>
          </p:txBody>
        </p:sp>
      </p:grpSp>
      <p:grpSp>
        <p:nvGrpSpPr>
          <p:cNvPr id="11" name="Group 39"/>
          <p:cNvGrpSpPr/>
          <p:nvPr/>
        </p:nvGrpSpPr>
        <p:grpSpPr bwMode="auto">
          <a:xfrm>
            <a:off x="1992314" y="1363663"/>
            <a:ext cx="2220913" cy="2719388"/>
            <a:chOff x="295" y="709"/>
            <a:chExt cx="1399" cy="1713"/>
          </a:xfrm>
        </p:grpSpPr>
        <p:sp>
          <p:nvSpPr>
            <p:cNvPr id="237589" name="Text Box 40"/>
            <p:cNvSpPr txBox="1">
              <a:spLocks noChangeArrowheads="1"/>
            </p:cNvSpPr>
            <p:nvPr/>
          </p:nvSpPr>
          <p:spPr bwMode="auto">
            <a:xfrm>
              <a:off x="385" y="2131"/>
              <a:ext cx="130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葡萄糖</a:t>
              </a:r>
              <a:r>
                <a:rPr kumimoji="1" lang="en-US" altLang="zh-CN" sz="2400" dirty="0">
                  <a:solidFill>
                    <a:srgbClr val="FFFF00"/>
                  </a:solidFill>
                  <a:ea typeface="华文楷体" panose="02010600040101010101" pitchFamily="2" charset="-122"/>
                </a:rPr>
                <a:t>-</a:t>
              </a:r>
              <a:r>
                <a:rPr kumimoji="1" lang="zh-CN" altLang="en-US" sz="2000" dirty="0">
                  <a:latin typeface="Arial" panose="020B0604020202020204" pitchFamily="34" charset="0"/>
                  <a:ea typeface="华文楷体" panose="02010600040101010101" pitchFamily="2" charset="-122"/>
                </a:rPr>
                <a:t> </a:t>
              </a:r>
              <a:r>
                <a:rPr kumimoji="1" lang="zh-CN" altLang="en-US" sz="2000" dirty="0">
                  <a:solidFill>
                    <a:srgbClr val="FFFF00"/>
                  </a:solidFill>
                  <a:ea typeface="华文楷体" panose="02010600040101010101" pitchFamily="2" charset="-122"/>
                </a:rPr>
                <a:t>6-磷酸</a:t>
              </a:r>
              <a:endParaRPr kumimoji="1" lang="zh-CN" altLang="en-US" sz="2000" dirty="0">
                <a:latin typeface="Arial" panose="020B0604020202020204" pitchFamily="34" charset="0"/>
                <a:ea typeface="华文楷体" panose="02010600040101010101" pitchFamily="2" charset="-122"/>
              </a:endParaRPr>
            </a:p>
          </p:txBody>
        </p:sp>
        <p:graphicFrame>
          <p:nvGraphicFramePr>
            <p:cNvPr id="237590" name="Object 41"/>
            <p:cNvGraphicFramePr>
              <a:graphicFrameLocks noChangeAspect="1"/>
            </p:cNvGraphicFramePr>
            <p:nvPr/>
          </p:nvGraphicFramePr>
          <p:xfrm>
            <a:off x="295" y="709"/>
            <a:ext cx="1063" cy="1497"/>
          </p:xfrm>
          <a:graphic>
            <a:graphicData uri="http://schemas.openxmlformats.org/presentationml/2006/ole">
              <mc:AlternateContent xmlns:mc="http://schemas.openxmlformats.org/markup-compatibility/2006">
                <mc:Choice xmlns:v="urn:schemas-microsoft-com:vml" Requires="v">
                  <p:oleObj spid="_x0000_s12" name="Document" r:id="rId5" imgW="2162175" imgH="3048000" progId="">
                    <p:embed/>
                  </p:oleObj>
                </mc:Choice>
                <mc:Fallback>
                  <p:oleObj name="Document" r:id="rId5" imgW="2162175" imgH="3048000" progId="">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 y="709"/>
                          <a:ext cx="1063" cy="1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3" name="Group 42"/>
          <p:cNvGrpSpPr/>
          <p:nvPr/>
        </p:nvGrpSpPr>
        <p:grpSpPr bwMode="auto">
          <a:xfrm>
            <a:off x="5087938" y="1363664"/>
            <a:ext cx="3086100" cy="2714625"/>
            <a:chOff x="2245" y="709"/>
            <a:chExt cx="1944" cy="1710"/>
          </a:xfrm>
        </p:grpSpPr>
        <p:sp>
          <p:nvSpPr>
            <p:cNvPr id="237587" name="Text Box 43"/>
            <p:cNvSpPr txBox="1">
              <a:spLocks noChangeArrowheads="1"/>
            </p:cNvSpPr>
            <p:nvPr/>
          </p:nvSpPr>
          <p:spPr bwMode="auto">
            <a:xfrm>
              <a:off x="2245" y="2131"/>
              <a:ext cx="19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FF00"/>
                  </a:solidFill>
                  <a:ea typeface="华文楷体" panose="02010600040101010101" pitchFamily="2" charset="-122"/>
                </a:rPr>
                <a:t>6-磷酸葡萄糖酸内酯</a:t>
              </a:r>
              <a:r>
                <a:rPr kumimoji="1" lang="zh-CN" altLang="en-US" sz="2000" dirty="0">
                  <a:latin typeface="Arial" panose="020B0604020202020204" pitchFamily="34" charset="0"/>
                  <a:ea typeface="华文楷体" panose="02010600040101010101" pitchFamily="2" charset="-122"/>
                </a:rPr>
                <a:t>   </a:t>
              </a:r>
              <a:endParaRPr kumimoji="1" lang="zh-CN" altLang="en-US" sz="2000" dirty="0">
                <a:latin typeface="Arial" panose="020B0604020202020204" pitchFamily="34" charset="0"/>
                <a:ea typeface="华文楷体" panose="02010600040101010101" pitchFamily="2" charset="-122"/>
              </a:endParaRPr>
            </a:p>
          </p:txBody>
        </p:sp>
        <p:graphicFrame>
          <p:nvGraphicFramePr>
            <p:cNvPr id="237588" name="Object 44"/>
            <p:cNvGraphicFramePr>
              <a:graphicFrameLocks noChangeAspect="1"/>
            </p:cNvGraphicFramePr>
            <p:nvPr/>
          </p:nvGraphicFramePr>
          <p:xfrm>
            <a:off x="2517" y="709"/>
            <a:ext cx="1062" cy="1497"/>
          </p:xfrm>
          <a:graphic>
            <a:graphicData uri="http://schemas.openxmlformats.org/presentationml/2006/ole">
              <mc:AlternateContent xmlns:mc="http://schemas.openxmlformats.org/markup-compatibility/2006">
                <mc:Choice xmlns:v="urn:schemas-microsoft-com:vml" Requires="v">
                  <p:oleObj spid="_x0000_s14" name="Document" r:id="rId7" imgW="2162175" imgH="3048000" progId="">
                    <p:embed/>
                  </p:oleObj>
                </mc:Choice>
                <mc:Fallback>
                  <p:oleObj name="Document" r:id="rId7" imgW="2162175" imgH="3048000" progId="">
                    <p:embed/>
                    <p:pic>
                      <p:nvPicPr>
                        <p:cNvPr id="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7" y="709"/>
                          <a:ext cx="1062" cy="1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37582" name="Rectangle 45"/>
          <p:cNvSpPr>
            <a:spLocks noChangeArrowheads="1"/>
          </p:cNvSpPr>
          <p:nvPr/>
        </p:nvSpPr>
        <p:spPr bwMode="auto">
          <a:xfrm>
            <a:off x="2365376" y="385655"/>
            <a:ext cx="59811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dirty="0">
                <a:solidFill>
                  <a:srgbClr val="660033"/>
                </a:solidFill>
              </a:rPr>
              <a:t>1. 戊糖磷酸和</a:t>
            </a:r>
            <a:r>
              <a:rPr kumimoji="1" lang="en-US" altLang="zh-CN" sz="3600" dirty="0">
                <a:solidFill>
                  <a:srgbClr val="660033"/>
                </a:solidFill>
              </a:rPr>
              <a:t>NADPH</a:t>
            </a:r>
            <a:r>
              <a:rPr kumimoji="1" lang="zh-CN" altLang="en-US" sz="3600" dirty="0">
                <a:solidFill>
                  <a:srgbClr val="660033"/>
                </a:solidFill>
              </a:rPr>
              <a:t>的生成</a:t>
            </a:r>
            <a:endParaRPr kumimoji="1" lang="zh-CN" altLang="en-US" sz="3600" dirty="0">
              <a:solidFill>
                <a:srgbClr val="660033"/>
              </a:solidFill>
            </a:endParaRPr>
          </a:p>
        </p:txBody>
      </p:sp>
      <p:grpSp>
        <p:nvGrpSpPr>
          <p:cNvPr id="15" name="Group 46"/>
          <p:cNvGrpSpPr/>
          <p:nvPr/>
        </p:nvGrpSpPr>
        <p:grpSpPr bwMode="auto">
          <a:xfrm>
            <a:off x="8040688" y="4279901"/>
            <a:ext cx="2106612" cy="2282825"/>
            <a:chOff x="4105" y="2614"/>
            <a:chExt cx="1327" cy="1438"/>
          </a:xfrm>
        </p:grpSpPr>
        <p:sp>
          <p:nvSpPr>
            <p:cNvPr id="237585" name="Text Box 47"/>
            <p:cNvSpPr txBox="1">
              <a:spLocks noChangeArrowheads="1"/>
            </p:cNvSpPr>
            <p:nvPr/>
          </p:nvSpPr>
          <p:spPr bwMode="auto">
            <a:xfrm>
              <a:off x="4168" y="3764"/>
              <a:ext cx="1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chemeClr val="tx2"/>
                  </a:solidFill>
                  <a:ea typeface="华文楷体" panose="02010600040101010101" pitchFamily="2" charset="-122"/>
                </a:rPr>
                <a:t>5-磷酸核糖</a:t>
              </a:r>
              <a:r>
                <a:rPr kumimoji="1" lang="zh-CN" altLang="en-US" sz="2000">
                  <a:solidFill>
                    <a:schemeClr val="tx2"/>
                  </a:solidFill>
                  <a:latin typeface="Arial" panose="020B0604020202020204" pitchFamily="34" charset="0"/>
                  <a:ea typeface="华文楷体" panose="02010600040101010101" pitchFamily="2" charset="-122"/>
                </a:rPr>
                <a:t>     </a:t>
              </a:r>
              <a:endParaRPr kumimoji="1" lang="zh-CN" altLang="en-US" sz="2000" b="0">
                <a:solidFill>
                  <a:schemeClr val="tx2"/>
                </a:solidFill>
                <a:latin typeface="Antique Olive"/>
                <a:ea typeface="宋体" panose="02010600030101010101" pitchFamily="2" charset="-122"/>
              </a:endParaRPr>
            </a:p>
          </p:txBody>
        </p:sp>
        <p:pic>
          <p:nvPicPr>
            <p:cNvPr id="237586" name="Picture 48" descr="5-磷酸核糖"/>
            <p:cNvPicPr>
              <a:picLocks noChangeAspect="1" noChangeArrowheads="1"/>
            </p:cNvPicPr>
            <p:nvPr/>
          </p:nvPicPr>
          <p:blipFill>
            <a:blip r:embed="rId9">
              <a:clrChange>
                <a:clrFrom>
                  <a:srgbClr val="020266"/>
                </a:clrFrom>
                <a:clrTo>
                  <a:srgbClr val="020266">
                    <a:alpha val="0"/>
                  </a:srgbClr>
                </a:clrTo>
              </a:clrChange>
              <a:extLst>
                <a:ext uri="{28A0092B-C50C-407E-A947-70E740481C1C}">
                  <a14:useLocalDpi xmlns:a14="http://schemas.microsoft.com/office/drawing/2010/main" val="0"/>
                </a:ext>
              </a:extLst>
            </a:blip>
            <a:srcRect/>
            <a:stretch>
              <a:fillRect/>
            </a:stretch>
          </p:blipFill>
          <p:spPr bwMode="auto">
            <a:xfrm>
              <a:off x="4105" y="2614"/>
              <a:ext cx="1094" cy="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文本框 15"/>
          <p:cNvSpPr txBox="1">
            <a:spLocks noChangeArrowheads="1"/>
          </p:cNvSpPr>
          <p:nvPr/>
        </p:nvSpPr>
        <p:spPr bwMode="auto">
          <a:xfrm>
            <a:off x="8140701" y="6259514"/>
            <a:ext cx="19970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dirty="0">
                <a:solidFill>
                  <a:srgbClr val="FFFF00"/>
                </a:solidFill>
                <a:latin typeface="华文楷体" panose="02010600040101010101" pitchFamily="2" charset="-122"/>
                <a:ea typeface="华文楷体" panose="02010600040101010101" pitchFamily="2" charset="-122"/>
              </a:rPr>
              <a:t>核糖</a:t>
            </a:r>
            <a:r>
              <a:rPr lang="en-US" altLang="zh-CN" sz="2400" dirty="0">
                <a:solidFill>
                  <a:srgbClr val="FFFF00"/>
                </a:solidFill>
                <a:latin typeface="华文楷体" panose="02010600040101010101" pitchFamily="2" charset="-122"/>
                <a:ea typeface="华文楷体" panose="02010600040101010101" pitchFamily="2" charset="-122"/>
              </a:rPr>
              <a:t>-5-</a:t>
            </a:r>
            <a:r>
              <a:rPr lang="zh-CN" altLang="en-US" sz="2400" dirty="0">
                <a:solidFill>
                  <a:srgbClr val="FFFF00"/>
                </a:solidFill>
                <a:latin typeface="华文楷体" panose="02010600040101010101" pitchFamily="2" charset="-122"/>
                <a:ea typeface="华文楷体" panose="02010600040101010101" pitchFamily="2" charset="-122"/>
              </a:rPr>
              <a:t>磷酸</a:t>
            </a:r>
            <a:endParaRPr lang="zh-CN" altLang="en-US" sz="2400" dirty="0">
              <a:solidFill>
                <a:srgbClr val="FFFF00"/>
              </a:solidFill>
              <a:latin typeface="华文楷体" panose="02010600040101010101" pitchFamily="2" charset="-122"/>
              <a:ea typeface="华文楷体" panose="02010600040101010101" pitchFamily="2" charset="-122"/>
            </a:endParaRPr>
          </a:p>
        </p:txBody>
      </p:sp>
      <p:sp>
        <p:nvSpPr>
          <p:cNvPr id="17" name="文本框 16"/>
          <p:cNvSpPr txBox="1"/>
          <p:nvPr/>
        </p:nvSpPr>
        <p:spPr>
          <a:xfrm>
            <a:off x="6711951" y="4824413"/>
            <a:ext cx="1314033" cy="400110"/>
          </a:xfrm>
          <a:prstGeom prst="rect">
            <a:avLst/>
          </a:prstGeom>
          <a:noFill/>
        </p:spPr>
        <p:txBody>
          <a:bodyPr wrap="square">
            <a:spAutoFit/>
          </a:bodyPr>
          <a:lstStyle/>
          <a:p>
            <a:r>
              <a:rPr lang="zh-CN" altLang="en-US" sz="2000" dirty="0">
                <a:solidFill>
                  <a:schemeClr val="bg1"/>
                </a:solidFill>
              </a:rPr>
              <a:t>异构酶</a:t>
            </a:r>
            <a:endParaRPr lang="zh-CN" altLang="en-US" sz="2000" dirty="0">
              <a:solidFill>
                <a:schemeClr val="bg1"/>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500"/>
                                        <p:tgtEl>
                                          <p:spTgt spid="1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231453"/>
                                        </p:tgtEl>
                                        <p:attrNameLst>
                                          <p:attrName>style.visibility</p:attrName>
                                        </p:attrNameLst>
                                      </p:cBhvr>
                                      <p:to>
                                        <p:strVal val="visible"/>
                                      </p:to>
                                    </p:set>
                                  </p:childTnLst>
                                </p:cTn>
                              </p:par>
                            </p:childTnLst>
                          </p:cTn>
                        </p:par>
                        <p:par>
                          <p:cTn id="11" fill="hold">
                            <p:stCondLst>
                              <p:cond delay="1000"/>
                            </p:stCondLst>
                            <p:childTnLst>
                              <p:par>
                                <p:cTn id="12" presetID="5"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checkerboard(across)">
                                      <p:cBhvr>
                                        <p:cTn id="14" dur="500"/>
                                        <p:tgtEl>
                                          <p:spTgt spid="4"/>
                                        </p:tgtEl>
                                      </p:cBhvr>
                                    </p:animEffect>
                                  </p:childTnLst>
                                </p:cTn>
                              </p:par>
                            </p:childTnLst>
                          </p:cTn>
                        </p:par>
                        <p:par>
                          <p:cTn id="15" fill="hold">
                            <p:stCondLst>
                              <p:cond delay="1500"/>
                            </p:stCondLst>
                            <p:childTnLst>
                              <p:par>
                                <p:cTn id="16" presetID="14" presetClass="entr" presetSubtype="5"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vertic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par>
                          <p:cTn id="24" fill="hold">
                            <p:stCondLst>
                              <p:cond delay="500"/>
                            </p:stCondLst>
                            <p:childTnLst>
                              <p:par>
                                <p:cTn id="25" presetID="3" presetClass="entr" presetSubtype="5"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vertic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231454"/>
                                        </p:tgtEl>
                                        <p:attrNameLst>
                                          <p:attrName>style.visibility</p:attrName>
                                        </p:attrNameLst>
                                      </p:cBhvr>
                                      <p:to>
                                        <p:strVal val="visible"/>
                                      </p:to>
                                    </p:set>
                                    <p:animEffect transition="in" filter="box(out)">
                                      <p:cBhvr>
                                        <p:cTn id="32" dur="500"/>
                                        <p:tgtEl>
                                          <p:spTgt spid="231454"/>
                                        </p:tgtEl>
                                      </p:cBhvr>
                                    </p:animEffect>
                                  </p:childTnLst>
                                </p:cTn>
                              </p:par>
                            </p:childTnLst>
                          </p:cTn>
                        </p:par>
                        <p:par>
                          <p:cTn id="33" fill="hold">
                            <p:stCondLst>
                              <p:cond delay="500"/>
                            </p:stCondLst>
                            <p:childTnLst>
                              <p:par>
                                <p:cTn id="34" presetID="1" presetClass="entr" presetSubtype="0" fill="hold" nodeType="afterEffect">
                                  <p:stCondLst>
                                    <p:cond delay="0"/>
                                  </p:stCondLst>
                                  <p:childTnLst>
                                    <p:set>
                                      <p:cBhvr>
                                        <p:cTn id="35" dur="1" fill="hold">
                                          <p:stCondLst>
                                            <p:cond delay="499"/>
                                          </p:stCondLst>
                                        </p:cTn>
                                        <p:tgtEl>
                                          <p:spTgt spid="8"/>
                                        </p:tgtEl>
                                        <p:attrNameLst>
                                          <p:attrName>style.visibility</p:attrName>
                                        </p:attrNameLst>
                                      </p:cBhvr>
                                      <p:to>
                                        <p:strVal val="visible"/>
                                      </p:to>
                                    </p:set>
                                  </p:childTnLst>
                                </p:cTn>
                              </p:par>
                            </p:childTnLst>
                          </p:cTn>
                        </p:par>
                        <p:par>
                          <p:cTn id="36" fill="hold">
                            <p:stCondLst>
                              <p:cond delay="1000"/>
                            </p:stCondLst>
                            <p:childTnLst>
                              <p:par>
                                <p:cTn id="37" presetID="17" presetClass="entr" presetSubtype="8"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ppt_x</p:attrName>
                                        </p:attrNameLst>
                                      </p:cBhvr>
                                      <p:tavLst>
                                        <p:tav tm="0">
                                          <p:val>
                                            <p:strVal val="#ppt_x-#ppt_w/2"/>
                                          </p:val>
                                        </p:tav>
                                        <p:tav tm="100000">
                                          <p:val>
                                            <p:strVal val="#ppt_x"/>
                                          </p:val>
                                        </p:tav>
                                      </p:tavLst>
                                    </p:anim>
                                    <p:anim calcmode="lin" valueType="num">
                                      <p:cBhvr>
                                        <p:cTn id="40" dur="500" fill="hold"/>
                                        <p:tgtEl>
                                          <p:spTgt spid="7"/>
                                        </p:tgtEl>
                                        <p:attrNameLst>
                                          <p:attrName>ppt_y</p:attrName>
                                        </p:attrNameLst>
                                      </p:cBhvr>
                                      <p:tavLst>
                                        <p:tav tm="0">
                                          <p:val>
                                            <p:strVal val="#ppt_y"/>
                                          </p:val>
                                        </p:tav>
                                        <p:tav tm="100000">
                                          <p:val>
                                            <p:strVal val="#ppt_y"/>
                                          </p:val>
                                        </p:tav>
                                      </p:tavLst>
                                    </p:anim>
                                    <p:anim calcmode="lin" valueType="num">
                                      <p:cBhvr>
                                        <p:cTn id="41" dur="500" fill="hold"/>
                                        <p:tgtEl>
                                          <p:spTgt spid="7"/>
                                        </p:tgtEl>
                                        <p:attrNameLst>
                                          <p:attrName>ppt_w</p:attrName>
                                        </p:attrNameLst>
                                      </p:cBhvr>
                                      <p:tavLst>
                                        <p:tav tm="0">
                                          <p:val>
                                            <p:fltVal val="0"/>
                                          </p:val>
                                        </p:tav>
                                        <p:tav tm="100000">
                                          <p:val>
                                            <p:strVal val="#ppt_w"/>
                                          </p:val>
                                        </p:tav>
                                      </p:tavLst>
                                    </p:anim>
                                    <p:anim calcmode="lin" valueType="num">
                                      <p:cBhvr>
                                        <p:cTn id="42"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500"/>
                                        <p:tgtEl>
                                          <p:spTgt spid="9"/>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231452"/>
                                        </p:tgtEl>
                                        <p:attrNameLst>
                                          <p:attrName>style.visibility</p:attrName>
                                        </p:attrNameLst>
                                      </p:cBhvr>
                                      <p:to>
                                        <p:strVal val="visible"/>
                                      </p:to>
                                    </p:set>
                                    <p:animEffect transition="in" filter="wipe(left)">
                                      <p:cBhvr>
                                        <p:cTn id="51" dur="500"/>
                                        <p:tgtEl>
                                          <p:spTgt spid="2314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53" grpId="0" animBg="1" autoUpdateAnimBg="0"/>
      <p:bldP spid="231454"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2"/>
          <p:cNvSpPr txBox="1">
            <a:spLocks noChangeArrowheads="1"/>
          </p:cNvSpPr>
          <p:nvPr/>
        </p:nvSpPr>
        <p:spPr bwMode="auto">
          <a:xfrm>
            <a:off x="4578350" y="1274763"/>
            <a:ext cx="3867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0000CC"/>
                </a:solidFill>
                <a:latin typeface="Arial" panose="020B0604020202020204" pitchFamily="34" charset="0"/>
              </a:rPr>
              <a:t>5-磷酸核酮糖(</a:t>
            </a:r>
            <a:r>
              <a:rPr kumimoji="1" lang="en-US" altLang="zh-CN" sz="2800" b="0">
                <a:solidFill>
                  <a:srgbClr val="0000CC"/>
                </a:solidFill>
                <a:latin typeface="Arial" panose="020B0604020202020204" pitchFamily="34" charset="0"/>
              </a:rPr>
              <a:t>C</a:t>
            </a:r>
            <a:r>
              <a:rPr kumimoji="1" lang="en-US" altLang="zh-CN" sz="2800" b="0" baseline="-25000">
                <a:solidFill>
                  <a:srgbClr val="0000CC"/>
                </a:solidFill>
                <a:latin typeface="Arial" panose="020B0604020202020204" pitchFamily="34" charset="0"/>
              </a:rPr>
              <a:t>5</a:t>
            </a:r>
            <a:r>
              <a:rPr kumimoji="1" lang="en-US" altLang="zh-CN" sz="2800" b="0">
                <a:solidFill>
                  <a:srgbClr val="0000CC"/>
                </a:solidFill>
                <a:latin typeface="Arial" panose="020B0604020202020204" pitchFamily="34" charset="0"/>
              </a:rPr>
              <a:t>) ×3   </a:t>
            </a:r>
            <a:endParaRPr kumimoji="1" lang="en-US" altLang="zh-CN" sz="2000" b="0">
              <a:solidFill>
                <a:srgbClr val="0000CC"/>
              </a:solidFill>
              <a:latin typeface="Arial" panose="020B0604020202020204" pitchFamily="34" charset="0"/>
            </a:endParaRPr>
          </a:p>
        </p:txBody>
      </p:sp>
      <p:grpSp>
        <p:nvGrpSpPr>
          <p:cNvPr id="2" name="Group 3"/>
          <p:cNvGrpSpPr/>
          <p:nvPr/>
        </p:nvGrpSpPr>
        <p:grpSpPr bwMode="auto">
          <a:xfrm>
            <a:off x="4724400" y="1793875"/>
            <a:ext cx="2127250" cy="1435100"/>
            <a:chOff x="2016" y="1072"/>
            <a:chExt cx="1340" cy="904"/>
          </a:xfrm>
        </p:grpSpPr>
        <p:sp>
          <p:nvSpPr>
            <p:cNvPr id="250906" name="Text Box 4"/>
            <p:cNvSpPr txBox="1">
              <a:spLocks noChangeArrowheads="1"/>
            </p:cNvSpPr>
            <p:nvPr/>
          </p:nvSpPr>
          <p:spPr bwMode="auto">
            <a:xfrm>
              <a:off x="2016" y="1380"/>
              <a:ext cx="1340" cy="596"/>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5-磷酸核糖  </a:t>
              </a:r>
              <a:endParaRPr kumimoji="1" lang="zh-CN" altLang="en-US" sz="2800" b="0">
                <a:solidFill>
                  <a:schemeClr val="tx1">
                    <a:lumMod val="95000"/>
                    <a:lumOff val="5000"/>
                  </a:schemeClr>
                </a:solidFill>
                <a:latin typeface="Arial" panose="020B0604020202020204" pitchFamily="34" charset="0"/>
              </a:endParaRPr>
            </a:p>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      </a:t>
              </a:r>
              <a:r>
                <a:rPr kumimoji="1" lang="en-US" altLang="zh-CN" sz="2800" b="0">
                  <a:solidFill>
                    <a:schemeClr val="tx1">
                      <a:lumMod val="95000"/>
                      <a:lumOff val="5000"/>
                    </a:schemeClr>
                  </a:solidFill>
                  <a:latin typeface="Arial" panose="020B0604020202020204" pitchFamily="34" charset="0"/>
                </a:rPr>
                <a:t>C</a:t>
              </a:r>
              <a:r>
                <a:rPr kumimoji="1" lang="en-US" altLang="zh-CN" sz="2800" b="0" baseline="-25000">
                  <a:solidFill>
                    <a:schemeClr val="tx1">
                      <a:lumMod val="95000"/>
                      <a:lumOff val="5000"/>
                    </a:schemeClr>
                  </a:solidFill>
                  <a:latin typeface="Arial" panose="020B0604020202020204" pitchFamily="34" charset="0"/>
                </a:rPr>
                <a:t>5</a:t>
              </a:r>
              <a:endParaRPr kumimoji="1" lang="en-US" altLang="zh-CN" sz="2000" b="0">
                <a:solidFill>
                  <a:schemeClr val="tx1">
                    <a:lumMod val="95000"/>
                    <a:lumOff val="5000"/>
                  </a:schemeClr>
                </a:solidFill>
                <a:latin typeface="Arial" panose="020B0604020202020204" pitchFamily="34" charset="0"/>
              </a:endParaRPr>
            </a:p>
          </p:txBody>
        </p:sp>
        <p:sp>
          <p:nvSpPr>
            <p:cNvPr id="250907" name="Line 5"/>
            <p:cNvSpPr>
              <a:spLocks noChangeShapeType="1"/>
            </p:cNvSpPr>
            <p:nvPr/>
          </p:nvSpPr>
          <p:spPr bwMode="auto">
            <a:xfrm>
              <a:off x="2653" y="1072"/>
              <a:ext cx="0" cy="338"/>
            </a:xfrm>
            <a:prstGeom prst="line">
              <a:avLst/>
            </a:prstGeom>
            <a:noFill/>
            <a:ln w="38100">
              <a:solidFill>
                <a:schemeClr val="tx1"/>
              </a:solidFill>
              <a:round/>
              <a:tailEnd type="triangle" w="med" len="med"/>
            </a:ln>
          </p:spPr>
          <p:txBody>
            <a:bodyPr wrap="none"/>
            <a:lstStyle/>
            <a:p>
              <a:pPr>
                <a:defRPr/>
              </a:pPr>
              <a:endParaRPr lang="zh-CN" altLang="en-US">
                <a:solidFill>
                  <a:schemeClr val="tx1">
                    <a:lumMod val="95000"/>
                    <a:lumOff val="5000"/>
                  </a:schemeClr>
                </a:solidFill>
              </a:endParaRPr>
            </a:p>
          </p:txBody>
        </p:sp>
      </p:grpSp>
      <p:grpSp>
        <p:nvGrpSpPr>
          <p:cNvPr id="3" name="Group 6"/>
          <p:cNvGrpSpPr/>
          <p:nvPr/>
        </p:nvGrpSpPr>
        <p:grpSpPr bwMode="auto">
          <a:xfrm>
            <a:off x="2297114" y="1865314"/>
            <a:ext cx="2509837" cy="1508125"/>
            <a:chOff x="487" y="1117"/>
            <a:chExt cx="1581" cy="950"/>
          </a:xfrm>
        </p:grpSpPr>
        <p:sp>
          <p:nvSpPr>
            <p:cNvPr id="250904" name="Line 7"/>
            <p:cNvSpPr>
              <a:spLocks noChangeShapeType="1"/>
            </p:cNvSpPr>
            <p:nvPr/>
          </p:nvSpPr>
          <p:spPr bwMode="auto">
            <a:xfrm flipH="1">
              <a:off x="1560" y="1117"/>
              <a:ext cx="508" cy="236"/>
            </a:xfrm>
            <a:prstGeom prst="line">
              <a:avLst/>
            </a:prstGeom>
            <a:noFill/>
            <a:ln w="38100">
              <a:solidFill>
                <a:schemeClr val="tx1"/>
              </a:solidFill>
              <a:round/>
              <a:tailEnd type="triangle" w="med" len="med"/>
            </a:ln>
          </p:spPr>
          <p:txBody>
            <a:bodyPr wrap="none"/>
            <a:lstStyle/>
            <a:p>
              <a:pPr>
                <a:defRPr/>
              </a:pPr>
              <a:endParaRPr lang="zh-CN" altLang="en-US">
                <a:solidFill>
                  <a:schemeClr val="tx1">
                    <a:lumMod val="95000"/>
                    <a:lumOff val="5000"/>
                  </a:schemeClr>
                </a:solidFill>
              </a:endParaRPr>
            </a:p>
          </p:txBody>
        </p:sp>
        <p:sp>
          <p:nvSpPr>
            <p:cNvPr id="250905" name="Text Box 8"/>
            <p:cNvSpPr txBox="1">
              <a:spLocks noChangeArrowheads="1"/>
            </p:cNvSpPr>
            <p:nvPr/>
          </p:nvSpPr>
          <p:spPr bwMode="auto">
            <a:xfrm>
              <a:off x="487" y="1471"/>
              <a:ext cx="1468" cy="596"/>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5-磷酸木酮糖 </a:t>
              </a:r>
              <a:endParaRPr kumimoji="1" lang="zh-CN" altLang="en-US" sz="2800" b="0">
                <a:solidFill>
                  <a:schemeClr val="tx1">
                    <a:lumMod val="95000"/>
                    <a:lumOff val="5000"/>
                  </a:schemeClr>
                </a:solidFill>
                <a:latin typeface="Arial" panose="020B0604020202020204" pitchFamily="34" charset="0"/>
              </a:endParaRPr>
            </a:p>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       </a:t>
              </a:r>
              <a:r>
                <a:rPr kumimoji="1" lang="en-US" altLang="zh-CN" sz="2800" b="0">
                  <a:solidFill>
                    <a:schemeClr val="tx1">
                      <a:lumMod val="95000"/>
                      <a:lumOff val="5000"/>
                    </a:schemeClr>
                  </a:solidFill>
                  <a:latin typeface="Arial" panose="020B0604020202020204" pitchFamily="34" charset="0"/>
                </a:rPr>
                <a:t>C</a:t>
              </a:r>
              <a:r>
                <a:rPr kumimoji="1" lang="en-US" altLang="zh-CN" sz="2800" b="0" baseline="-25000">
                  <a:solidFill>
                    <a:schemeClr val="tx1">
                      <a:lumMod val="95000"/>
                      <a:lumOff val="5000"/>
                    </a:schemeClr>
                  </a:solidFill>
                  <a:latin typeface="Arial" panose="020B0604020202020204" pitchFamily="34" charset="0"/>
                </a:rPr>
                <a:t>5</a:t>
              </a:r>
              <a:endParaRPr kumimoji="1" lang="en-US" altLang="zh-CN" sz="2000" b="0">
                <a:solidFill>
                  <a:schemeClr val="tx1">
                    <a:lumMod val="95000"/>
                    <a:lumOff val="5000"/>
                  </a:schemeClr>
                </a:solidFill>
                <a:latin typeface="Arial" panose="020B0604020202020204" pitchFamily="34" charset="0"/>
              </a:endParaRPr>
            </a:p>
          </p:txBody>
        </p:sp>
      </p:grpSp>
      <p:grpSp>
        <p:nvGrpSpPr>
          <p:cNvPr id="4" name="Group 9"/>
          <p:cNvGrpSpPr/>
          <p:nvPr/>
        </p:nvGrpSpPr>
        <p:grpSpPr bwMode="auto">
          <a:xfrm>
            <a:off x="6958014" y="1865314"/>
            <a:ext cx="3017837" cy="1362075"/>
            <a:chOff x="3423" y="1117"/>
            <a:chExt cx="1901" cy="858"/>
          </a:xfrm>
        </p:grpSpPr>
        <p:sp>
          <p:nvSpPr>
            <p:cNvPr id="250902" name="Line 10"/>
            <p:cNvSpPr>
              <a:spLocks noChangeShapeType="1"/>
            </p:cNvSpPr>
            <p:nvPr/>
          </p:nvSpPr>
          <p:spPr bwMode="auto">
            <a:xfrm>
              <a:off x="3423" y="1117"/>
              <a:ext cx="564" cy="236"/>
            </a:xfrm>
            <a:prstGeom prst="line">
              <a:avLst/>
            </a:prstGeom>
            <a:noFill/>
            <a:ln w="38100">
              <a:solidFill>
                <a:schemeClr val="tx1"/>
              </a:solidFill>
              <a:round/>
              <a:tailEnd type="triangle" w="med" len="med"/>
            </a:ln>
          </p:spPr>
          <p:txBody>
            <a:bodyPr wrap="none"/>
            <a:lstStyle/>
            <a:p>
              <a:pPr>
                <a:defRPr/>
              </a:pPr>
              <a:endParaRPr lang="zh-CN" altLang="en-US">
                <a:solidFill>
                  <a:schemeClr val="tx1">
                    <a:lumMod val="95000"/>
                    <a:lumOff val="5000"/>
                  </a:schemeClr>
                </a:solidFill>
              </a:endParaRPr>
            </a:p>
          </p:txBody>
        </p:sp>
        <p:sp>
          <p:nvSpPr>
            <p:cNvPr id="250903" name="Text Box 11"/>
            <p:cNvSpPr txBox="1">
              <a:spLocks noChangeArrowheads="1"/>
            </p:cNvSpPr>
            <p:nvPr/>
          </p:nvSpPr>
          <p:spPr bwMode="auto">
            <a:xfrm>
              <a:off x="3759" y="1379"/>
              <a:ext cx="1565" cy="596"/>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5-磷酸木酮糖  </a:t>
              </a:r>
              <a:endParaRPr kumimoji="1" lang="zh-CN" altLang="en-US" sz="2800" b="0">
                <a:solidFill>
                  <a:schemeClr val="tx1">
                    <a:lumMod val="95000"/>
                    <a:lumOff val="5000"/>
                  </a:schemeClr>
                </a:solidFill>
                <a:latin typeface="Arial" panose="020B0604020202020204" pitchFamily="34" charset="0"/>
              </a:endParaRPr>
            </a:p>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      </a:t>
              </a:r>
              <a:r>
                <a:rPr kumimoji="1" lang="en-US" altLang="zh-CN" sz="2800" b="0">
                  <a:solidFill>
                    <a:schemeClr val="tx1">
                      <a:lumMod val="95000"/>
                      <a:lumOff val="5000"/>
                    </a:schemeClr>
                  </a:solidFill>
                  <a:latin typeface="Arial" panose="020B0604020202020204" pitchFamily="34" charset="0"/>
                </a:rPr>
                <a:t>C</a:t>
              </a:r>
              <a:r>
                <a:rPr kumimoji="1" lang="en-US" altLang="zh-CN" sz="2800" b="0" baseline="-25000">
                  <a:solidFill>
                    <a:schemeClr val="tx1">
                      <a:lumMod val="95000"/>
                      <a:lumOff val="5000"/>
                    </a:schemeClr>
                  </a:solidFill>
                  <a:latin typeface="Arial" panose="020B0604020202020204" pitchFamily="34" charset="0"/>
                </a:rPr>
                <a:t>5</a:t>
              </a:r>
              <a:endParaRPr kumimoji="1" lang="en-US" altLang="zh-CN" sz="2000" b="0">
                <a:solidFill>
                  <a:schemeClr val="tx1">
                    <a:lumMod val="95000"/>
                    <a:lumOff val="5000"/>
                  </a:schemeClr>
                </a:solidFill>
                <a:latin typeface="Arial" panose="020B0604020202020204" pitchFamily="34" charset="0"/>
              </a:endParaRPr>
            </a:p>
          </p:txBody>
        </p:sp>
      </p:grpSp>
      <p:sp>
        <p:nvSpPr>
          <p:cNvPr id="234508" name="Text Box 12"/>
          <p:cNvSpPr txBox="1">
            <a:spLocks noChangeArrowheads="1"/>
          </p:cNvSpPr>
          <p:nvPr/>
        </p:nvSpPr>
        <p:spPr bwMode="auto">
          <a:xfrm>
            <a:off x="4624389" y="3251200"/>
            <a:ext cx="2287587" cy="9461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dirty="0">
                <a:solidFill>
                  <a:schemeClr val="tx1">
                    <a:lumMod val="95000"/>
                    <a:lumOff val="5000"/>
                  </a:schemeClr>
                </a:solidFill>
                <a:latin typeface="Arial" panose="020B0604020202020204" pitchFamily="34" charset="0"/>
              </a:rPr>
              <a:t>7-磷酸景天糖</a:t>
            </a:r>
            <a:endParaRPr kumimoji="1" lang="zh-CN" altLang="en-US" sz="2800" b="0" dirty="0">
              <a:solidFill>
                <a:schemeClr val="tx1">
                  <a:lumMod val="95000"/>
                  <a:lumOff val="5000"/>
                </a:schemeClr>
              </a:solidFill>
              <a:latin typeface="Arial" panose="020B0604020202020204" pitchFamily="34" charset="0"/>
            </a:endParaRPr>
          </a:p>
          <a:p>
            <a:pPr algn="ctr" eaLnBrk="1" hangingPunct="1">
              <a:spcBef>
                <a:spcPct val="0"/>
              </a:spcBef>
              <a:buClrTx/>
              <a:buSzTx/>
              <a:buFontTx/>
              <a:buNone/>
              <a:defRPr/>
            </a:pPr>
            <a:r>
              <a:rPr kumimoji="1" lang="zh-CN" altLang="en-US" sz="2800" b="0" dirty="0">
                <a:solidFill>
                  <a:schemeClr val="tx1">
                    <a:lumMod val="95000"/>
                    <a:lumOff val="5000"/>
                  </a:schemeClr>
                </a:solidFill>
                <a:latin typeface="Arial" panose="020B0604020202020204" pitchFamily="34" charset="0"/>
              </a:rPr>
              <a:t>        </a:t>
            </a:r>
            <a:r>
              <a:rPr kumimoji="1" lang="en-US" altLang="zh-CN" sz="2800" b="0" dirty="0">
                <a:solidFill>
                  <a:schemeClr val="tx1">
                    <a:lumMod val="95000"/>
                    <a:lumOff val="5000"/>
                  </a:schemeClr>
                </a:solidFill>
                <a:latin typeface="Arial" panose="020B0604020202020204" pitchFamily="34" charset="0"/>
              </a:rPr>
              <a:t>C</a:t>
            </a:r>
            <a:r>
              <a:rPr kumimoji="1" lang="en-US" altLang="zh-CN" sz="2800" b="0" baseline="-25000" dirty="0">
                <a:solidFill>
                  <a:schemeClr val="tx1">
                    <a:lumMod val="95000"/>
                    <a:lumOff val="5000"/>
                  </a:schemeClr>
                </a:solidFill>
                <a:latin typeface="Arial" panose="020B0604020202020204" pitchFamily="34" charset="0"/>
              </a:rPr>
              <a:t>7</a:t>
            </a:r>
            <a:endParaRPr kumimoji="1" lang="en-US" altLang="zh-CN" sz="2000" b="0" dirty="0">
              <a:solidFill>
                <a:schemeClr val="tx1">
                  <a:lumMod val="95000"/>
                  <a:lumOff val="5000"/>
                </a:schemeClr>
              </a:solidFill>
              <a:latin typeface="Arial" panose="020B0604020202020204" pitchFamily="34" charset="0"/>
            </a:endParaRPr>
          </a:p>
        </p:txBody>
      </p:sp>
      <p:sp>
        <p:nvSpPr>
          <p:cNvPr id="234509" name="Text Box 13"/>
          <p:cNvSpPr txBox="1">
            <a:spLocks noChangeArrowheads="1"/>
          </p:cNvSpPr>
          <p:nvPr/>
        </p:nvSpPr>
        <p:spPr bwMode="auto">
          <a:xfrm>
            <a:off x="7494589" y="3309938"/>
            <a:ext cx="2484437" cy="9461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3-磷酸甘油醛  </a:t>
            </a:r>
            <a:endParaRPr kumimoji="1" lang="zh-CN" altLang="en-US" sz="2800" b="0">
              <a:solidFill>
                <a:schemeClr val="tx1">
                  <a:lumMod val="95000"/>
                  <a:lumOff val="5000"/>
                </a:schemeClr>
              </a:solidFill>
              <a:latin typeface="Arial" panose="020B0604020202020204" pitchFamily="34" charset="0"/>
            </a:endParaRPr>
          </a:p>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      </a:t>
            </a:r>
            <a:r>
              <a:rPr kumimoji="1" lang="en-US" altLang="zh-CN" sz="2800" b="0">
                <a:solidFill>
                  <a:schemeClr val="tx1">
                    <a:lumMod val="95000"/>
                    <a:lumOff val="5000"/>
                  </a:schemeClr>
                </a:solidFill>
                <a:latin typeface="Arial" panose="020B0604020202020204" pitchFamily="34" charset="0"/>
              </a:rPr>
              <a:t>C</a:t>
            </a:r>
            <a:r>
              <a:rPr kumimoji="1" lang="en-US" altLang="zh-CN" sz="2800" b="0" baseline="-25000">
                <a:solidFill>
                  <a:schemeClr val="tx1">
                    <a:lumMod val="95000"/>
                    <a:lumOff val="5000"/>
                  </a:schemeClr>
                </a:solidFill>
                <a:latin typeface="Arial" panose="020B0604020202020204" pitchFamily="34" charset="0"/>
              </a:rPr>
              <a:t>3</a:t>
            </a:r>
            <a:endParaRPr kumimoji="1" lang="en-US" altLang="zh-CN" sz="2000" b="0">
              <a:solidFill>
                <a:schemeClr val="tx1">
                  <a:lumMod val="95000"/>
                  <a:lumOff val="5000"/>
                </a:schemeClr>
              </a:solidFill>
              <a:latin typeface="Arial" panose="020B0604020202020204" pitchFamily="34" charset="0"/>
            </a:endParaRPr>
          </a:p>
        </p:txBody>
      </p:sp>
      <p:sp>
        <p:nvSpPr>
          <p:cNvPr id="234510" name="Text Box 14"/>
          <p:cNvSpPr txBox="1">
            <a:spLocks noChangeArrowheads="1"/>
          </p:cNvSpPr>
          <p:nvPr/>
        </p:nvSpPr>
        <p:spPr bwMode="auto">
          <a:xfrm>
            <a:off x="4622801" y="4246563"/>
            <a:ext cx="2386013" cy="9461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4-磷酸赤藓糖 </a:t>
            </a:r>
            <a:endParaRPr kumimoji="1" lang="zh-CN" altLang="en-US" sz="2800" b="0">
              <a:solidFill>
                <a:schemeClr val="tx1">
                  <a:lumMod val="95000"/>
                  <a:lumOff val="5000"/>
                </a:schemeClr>
              </a:solidFill>
              <a:latin typeface="Arial" panose="020B0604020202020204" pitchFamily="34" charset="0"/>
            </a:endParaRPr>
          </a:p>
          <a:p>
            <a:pPr algn="ctr" eaLnBrk="1" hangingPunct="1">
              <a:spcBef>
                <a:spcPct val="0"/>
              </a:spcBef>
              <a:buClrTx/>
              <a:buSzTx/>
              <a:buFontTx/>
              <a:buNone/>
              <a:defRPr/>
            </a:pPr>
            <a:r>
              <a:rPr kumimoji="1" lang="zh-CN" altLang="en-US" sz="2800" b="0">
                <a:solidFill>
                  <a:schemeClr val="tx1">
                    <a:lumMod val="95000"/>
                    <a:lumOff val="5000"/>
                  </a:schemeClr>
                </a:solidFill>
                <a:latin typeface="Arial" panose="020B0604020202020204" pitchFamily="34" charset="0"/>
              </a:rPr>
              <a:t>        </a:t>
            </a:r>
            <a:r>
              <a:rPr kumimoji="1" lang="en-US" altLang="zh-CN" sz="2800" b="0">
                <a:solidFill>
                  <a:schemeClr val="tx1">
                    <a:lumMod val="95000"/>
                    <a:lumOff val="5000"/>
                  </a:schemeClr>
                </a:solidFill>
                <a:latin typeface="Arial" panose="020B0604020202020204" pitchFamily="34" charset="0"/>
              </a:rPr>
              <a:t>C</a:t>
            </a:r>
            <a:r>
              <a:rPr kumimoji="1" lang="en-US" altLang="zh-CN" sz="2800" b="0" baseline="-25000">
                <a:solidFill>
                  <a:schemeClr val="tx1">
                    <a:lumMod val="95000"/>
                    <a:lumOff val="5000"/>
                  </a:schemeClr>
                </a:solidFill>
                <a:latin typeface="Arial" panose="020B0604020202020204" pitchFamily="34" charset="0"/>
              </a:rPr>
              <a:t>4</a:t>
            </a:r>
            <a:endParaRPr kumimoji="1" lang="en-US" altLang="zh-CN" sz="2000" b="0">
              <a:solidFill>
                <a:schemeClr val="tx1">
                  <a:lumMod val="95000"/>
                  <a:lumOff val="5000"/>
                </a:schemeClr>
              </a:solidFill>
              <a:latin typeface="Arial" panose="020B0604020202020204" pitchFamily="34" charset="0"/>
            </a:endParaRPr>
          </a:p>
        </p:txBody>
      </p:sp>
      <p:sp>
        <p:nvSpPr>
          <p:cNvPr id="234511" name="Text Box 15"/>
          <p:cNvSpPr txBox="1">
            <a:spLocks noChangeArrowheads="1"/>
          </p:cNvSpPr>
          <p:nvPr/>
        </p:nvSpPr>
        <p:spPr bwMode="auto">
          <a:xfrm>
            <a:off x="7404100" y="4246563"/>
            <a:ext cx="2127250" cy="9461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dirty="0">
                <a:solidFill>
                  <a:srgbClr val="0000CC"/>
                </a:solidFill>
                <a:latin typeface="Arial" panose="020B0604020202020204" pitchFamily="34" charset="0"/>
              </a:rPr>
              <a:t>6-磷酸果糖  </a:t>
            </a:r>
            <a:endParaRPr kumimoji="1" lang="zh-CN" altLang="en-US" sz="2800" b="0" dirty="0">
              <a:solidFill>
                <a:srgbClr val="0000CC"/>
              </a:solidFill>
              <a:latin typeface="Arial" panose="020B0604020202020204" pitchFamily="34" charset="0"/>
            </a:endParaRPr>
          </a:p>
          <a:p>
            <a:pPr algn="ctr" eaLnBrk="1" hangingPunct="1">
              <a:spcBef>
                <a:spcPct val="0"/>
              </a:spcBef>
              <a:buClrTx/>
              <a:buSzTx/>
              <a:buFontTx/>
              <a:buNone/>
              <a:defRPr/>
            </a:pPr>
            <a:r>
              <a:rPr kumimoji="1" lang="zh-CN" altLang="en-US" sz="2800" b="0" dirty="0">
                <a:solidFill>
                  <a:schemeClr val="tx1">
                    <a:lumMod val="95000"/>
                    <a:lumOff val="5000"/>
                  </a:schemeClr>
                </a:solidFill>
                <a:latin typeface="Arial" panose="020B0604020202020204" pitchFamily="34" charset="0"/>
              </a:rPr>
              <a:t>       </a:t>
            </a:r>
            <a:r>
              <a:rPr kumimoji="1" lang="en-US" altLang="zh-CN" sz="2800" b="0" dirty="0">
                <a:solidFill>
                  <a:schemeClr val="tx1">
                    <a:lumMod val="95000"/>
                    <a:lumOff val="5000"/>
                  </a:schemeClr>
                </a:solidFill>
                <a:latin typeface="Arial" panose="020B0604020202020204" pitchFamily="34" charset="0"/>
              </a:rPr>
              <a:t>C</a:t>
            </a:r>
            <a:r>
              <a:rPr kumimoji="1" lang="en-US" altLang="zh-CN" sz="2800" b="0" baseline="-25000" dirty="0">
                <a:solidFill>
                  <a:schemeClr val="tx1">
                    <a:lumMod val="95000"/>
                    <a:lumOff val="5000"/>
                  </a:schemeClr>
                </a:solidFill>
                <a:latin typeface="Arial" panose="020B0604020202020204" pitchFamily="34" charset="0"/>
              </a:rPr>
              <a:t>6</a:t>
            </a:r>
            <a:endParaRPr kumimoji="1" lang="en-US" altLang="zh-CN" sz="2000" b="0" dirty="0">
              <a:solidFill>
                <a:schemeClr val="tx1">
                  <a:lumMod val="95000"/>
                  <a:lumOff val="5000"/>
                </a:schemeClr>
              </a:solidFill>
              <a:latin typeface="Arial" panose="020B0604020202020204" pitchFamily="34" charset="0"/>
            </a:endParaRPr>
          </a:p>
        </p:txBody>
      </p:sp>
      <p:sp>
        <p:nvSpPr>
          <p:cNvPr id="234512" name="Text Box 16"/>
          <p:cNvSpPr txBox="1">
            <a:spLocks noChangeArrowheads="1"/>
          </p:cNvSpPr>
          <p:nvPr/>
        </p:nvSpPr>
        <p:spPr bwMode="auto">
          <a:xfrm>
            <a:off x="4532314" y="5186363"/>
            <a:ext cx="2028825" cy="946150"/>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dirty="0">
                <a:solidFill>
                  <a:srgbClr val="0000CC"/>
                </a:solidFill>
                <a:latin typeface="Arial" panose="020B0604020202020204" pitchFamily="34" charset="0"/>
              </a:rPr>
              <a:t>6-磷酸果糖 </a:t>
            </a:r>
            <a:endParaRPr kumimoji="1" lang="zh-CN" altLang="en-US" sz="2800" b="0" dirty="0">
              <a:solidFill>
                <a:srgbClr val="0000CC"/>
              </a:solidFill>
              <a:latin typeface="Arial" panose="020B0604020202020204" pitchFamily="34" charset="0"/>
            </a:endParaRPr>
          </a:p>
          <a:p>
            <a:pPr algn="ctr" eaLnBrk="1" hangingPunct="1">
              <a:spcBef>
                <a:spcPct val="0"/>
              </a:spcBef>
              <a:buClrTx/>
              <a:buSzTx/>
              <a:buFontTx/>
              <a:buNone/>
              <a:defRPr/>
            </a:pPr>
            <a:r>
              <a:rPr kumimoji="1" lang="zh-CN" altLang="en-US" sz="2800" b="0" dirty="0">
                <a:solidFill>
                  <a:schemeClr val="tx1">
                    <a:lumMod val="95000"/>
                    <a:lumOff val="5000"/>
                  </a:schemeClr>
                </a:solidFill>
                <a:latin typeface="Arial" panose="020B0604020202020204" pitchFamily="34" charset="0"/>
              </a:rPr>
              <a:t>         </a:t>
            </a:r>
            <a:r>
              <a:rPr kumimoji="1" lang="en-US" altLang="zh-CN" sz="2800" b="0" dirty="0">
                <a:solidFill>
                  <a:schemeClr val="tx1">
                    <a:lumMod val="95000"/>
                    <a:lumOff val="5000"/>
                  </a:schemeClr>
                </a:solidFill>
                <a:latin typeface="Arial" panose="020B0604020202020204" pitchFamily="34" charset="0"/>
              </a:rPr>
              <a:t>C</a:t>
            </a:r>
            <a:r>
              <a:rPr kumimoji="1" lang="en-US" altLang="zh-CN" sz="2800" b="0" baseline="-25000" dirty="0">
                <a:solidFill>
                  <a:schemeClr val="tx1">
                    <a:lumMod val="95000"/>
                    <a:lumOff val="5000"/>
                  </a:schemeClr>
                </a:solidFill>
                <a:latin typeface="Arial" panose="020B0604020202020204" pitchFamily="34" charset="0"/>
              </a:rPr>
              <a:t>6</a:t>
            </a:r>
            <a:endParaRPr kumimoji="1" lang="en-US" altLang="zh-CN" sz="2000" b="0" dirty="0">
              <a:solidFill>
                <a:schemeClr val="tx1">
                  <a:lumMod val="95000"/>
                  <a:lumOff val="5000"/>
                </a:schemeClr>
              </a:solidFill>
              <a:latin typeface="Arial" panose="020B0604020202020204" pitchFamily="34" charset="0"/>
            </a:endParaRPr>
          </a:p>
        </p:txBody>
      </p:sp>
      <p:sp>
        <p:nvSpPr>
          <p:cNvPr id="234513" name="Text Box 17"/>
          <p:cNvSpPr txBox="1">
            <a:spLocks noChangeArrowheads="1"/>
          </p:cNvSpPr>
          <p:nvPr/>
        </p:nvSpPr>
        <p:spPr bwMode="auto">
          <a:xfrm>
            <a:off x="2208213" y="4864100"/>
            <a:ext cx="1433512" cy="1373188"/>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defRPr/>
            </a:pPr>
            <a:r>
              <a:rPr kumimoji="1" lang="zh-CN" altLang="en-US" sz="2800" b="0" dirty="0">
                <a:solidFill>
                  <a:srgbClr val="0000CC"/>
                </a:solidFill>
                <a:latin typeface="Arial" panose="020B0604020202020204" pitchFamily="34" charset="0"/>
              </a:rPr>
              <a:t>3-磷酸甘油醛</a:t>
            </a:r>
            <a:endParaRPr kumimoji="1" lang="zh-CN" altLang="en-US" sz="2800" b="0" dirty="0">
              <a:solidFill>
                <a:srgbClr val="0000CC"/>
              </a:solidFill>
              <a:latin typeface="Arial" panose="020B0604020202020204" pitchFamily="34" charset="0"/>
            </a:endParaRPr>
          </a:p>
          <a:p>
            <a:pPr algn="ctr" eaLnBrk="1" hangingPunct="1">
              <a:spcBef>
                <a:spcPct val="0"/>
              </a:spcBef>
              <a:buClrTx/>
              <a:buSzTx/>
              <a:buFontTx/>
              <a:buNone/>
              <a:defRPr/>
            </a:pPr>
            <a:r>
              <a:rPr kumimoji="1" lang="zh-CN" altLang="en-US" sz="2800" b="0" dirty="0">
                <a:solidFill>
                  <a:schemeClr val="tx1">
                    <a:lumMod val="95000"/>
                    <a:lumOff val="5000"/>
                  </a:schemeClr>
                </a:solidFill>
                <a:latin typeface="Arial" panose="020B0604020202020204" pitchFamily="34" charset="0"/>
              </a:rPr>
              <a:t>    </a:t>
            </a:r>
            <a:r>
              <a:rPr kumimoji="1" lang="en-US" altLang="zh-CN" sz="2800" b="0" dirty="0">
                <a:solidFill>
                  <a:schemeClr val="tx1">
                    <a:lumMod val="95000"/>
                    <a:lumOff val="5000"/>
                  </a:schemeClr>
                </a:solidFill>
                <a:latin typeface="Arial" panose="020B0604020202020204" pitchFamily="34" charset="0"/>
              </a:rPr>
              <a:t>C</a:t>
            </a:r>
            <a:r>
              <a:rPr kumimoji="1" lang="en-US" altLang="zh-CN" sz="2800" b="0" baseline="-25000" dirty="0">
                <a:solidFill>
                  <a:schemeClr val="tx1">
                    <a:lumMod val="95000"/>
                    <a:lumOff val="5000"/>
                  </a:schemeClr>
                </a:solidFill>
                <a:latin typeface="Arial" panose="020B0604020202020204" pitchFamily="34" charset="0"/>
              </a:rPr>
              <a:t>3</a:t>
            </a:r>
            <a:endParaRPr kumimoji="1" lang="en-US" altLang="zh-CN" sz="2000" b="0" dirty="0">
              <a:solidFill>
                <a:schemeClr val="tx1">
                  <a:lumMod val="95000"/>
                  <a:lumOff val="5000"/>
                </a:schemeClr>
              </a:solidFill>
              <a:latin typeface="Arial" panose="020B0604020202020204" pitchFamily="34" charset="0"/>
            </a:endParaRPr>
          </a:p>
        </p:txBody>
      </p:sp>
      <p:grpSp>
        <p:nvGrpSpPr>
          <p:cNvPr id="5" name="Group 18"/>
          <p:cNvGrpSpPr/>
          <p:nvPr/>
        </p:nvGrpSpPr>
        <p:grpSpPr bwMode="auto">
          <a:xfrm>
            <a:off x="3462339" y="3084514"/>
            <a:ext cx="1165225" cy="2447925"/>
            <a:chOff x="1221" y="1885"/>
            <a:chExt cx="734" cy="1542"/>
          </a:xfrm>
        </p:grpSpPr>
        <p:cxnSp>
          <p:nvCxnSpPr>
            <p:cNvPr id="239636" name="AutoShape 19"/>
            <p:cNvCxnSpPr>
              <a:cxnSpLocks noChangeShapeType="1"/>
            </p:cNvCxnSpPr>
            <p:nvPr/>
          </p:nvCxnSpPr>
          <p:spPr bwMode="auto">
            <a:xfrm rot="10800000" flipV="1">
              <a:off x="1899" y="2754"/>
              <a:ext cx="56" cy="664"/>
            </a:xfrm>
            <a:prstGeom prst="curvedConnector3">
              <a:avLst>
                <a:gd name="adj1" fmla="val 50208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39637" name="AutoShape 20"/>
            <p:cNvCxnSpPr>
              <a:cxnSpLocks noChangeShapeType="1"/>
            </p:cNvCxnSpPr>
            <p:nvPr/>
          </p:nvCxnSpPr>
          <p:spPr bwMode="auto">
            <a:xfrm flipH="1">
              <a:off x="1221" y="1885"/>
              <a:ext cx="347" cy="1542"/>
            </a:xfrm>
            <a:prstGeom prst="curvedConnector3">
              <a:avLst>
                <a:gd name="adj1" fmla="val -4915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grpSp>
      <p:grpSp>
        <p:nvGrpSpPr>
          <p:cNvPr id="6" name="Group 21"/>
          <p:cNvGrpSpPr/>
          <p:nvPr/>
        </p:nvGrpSpPr>
        <p:grpSpPr bwMode="auto">
          <a:xfrm>
            <a:off x="6865938" y="2617789"/>
            <a:ext cx="628650" cy="968375"/>
            <a:chOff x="3365" y="1591"/>
            <a:chExt cx="396" cy="610"/>
          </a:xfrm>
        </p:grpSpPr>
        <p:cxnSp>
          <p:nvCxnSpPr>
            <p:cNvPr id="239634" name="AutoShape 22"/>
            <p:cNvCxnSpPr>
              <a:cxnSpLocks noChangeShapeType="1"/>
            </p:cNvCxnSpPr>
            <p:nvPr/>
          </p:nvCxnSpPr>
          <p:spPr bwMode="auto">
            <a:xfrm rot="10800000" flipV="1">
              <a:off x="3705" y="1648"/>
              <a:ext cx="56" cy="553"/>
            </a:xfrm>
            <a:prstGeom prst="curvedConnector3">
              <a:avLst>
                <a:gd name="adj1" fmla="val 32708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250899" name="Freeform 23"/>
            <p:cNvSpPr/>
            <p:nvPr/>
          </p:nvSpPr>
          <p:spPr bwMode="auto">
            <a:xfrm rot="-847271">
              <a:off x="3365" y="1591"/>
              <a:ext cx="227" cy="592"/>
            </a:xfrm>
            <a:custGeom>
              <a:avLst/>
              <a:gdLst>
                <a:gd name="T0" fmla="*/ 2147483646 w 160"/>
                <a:gd name="T1" fmla="*/ 0 h 528"/>
                <a:gd name="T2" fmla="*/ 2147483646 w 160"/>
                <a:gd name="T3" fmla="*/ 3834384 h 528"/>
                <a:gd name="T4" fmla="*/ 0 w 160"/>
                <a:gd name="T5" fmla="*/ 7019576 h 528"/>
                <a:gd name="T6" fmla="*/ 0 60000 65536"/>
                <a:gd name="T7" fmla="*/ 0 60000 65536"/>
                <a:gd name="T8" fmla="*/ 0 60000 65536"/>
                <a:gd name="T9" fmla="*/ 0 w 160"/>
                <a:gd name="T10" fmla="*/ 0 h 528"/>
                <a:gd name="T11" fmla="*/ 160 w 160"/>
                <a:gd name="T12" fmla="*/ 528 h 528"/>
              </a:gdLst>
              <a:ahLst/>
              <a:cxnLst>
                <a:cxn ang="T6">
                  <a:pos x="T0" y="T1"/>
                </a:cxn>
                <a:cxn ang="T7">
                  <a:pos x="T2" y="T3"/>
                </a:cxn>
                <a:cxn ang="T8">
                  <a:pos x="T4" y="T5"/>
                </a:cxn>
              </a:cxnLst>
              <a:rect l="T9" t="T10" r="T11" b="T12"/>
              <a:pathLst>
                <a:path w="160" h="528">
                  <a:moveTo>
                    <a:pt x="96" y="0"/>
                  </a:moveTo>
                  <a:cubicBezTo>
                    <a:pt x="128" y="100"/>
                    <a:pt x="160" y="200"/>
                    <a:pt x="144" y="288"/>
                  </a:cubicBezTo>
                  <a:cubicBezTo>
                    <a:pt x="128" y="376"/>
                    <a:pt x="24" y="488"/>
                    <a:pt x="0" y="528"/>
                  </a:cubicBezTo>
                </a:path>
              </a:pathLst>
            </a:custGeom>
            <a:noFill/>
            <a:ln w="19050">
              <a:solidFill>
                <a:schemeClr val="tx1"/>
              </a:solidFill>
              <a:round/>
              <a:headEnd type="triangle" w="med" len="med"/>
              <a:tailEnd type="triangle" w="med" len="med"/>
            </a:ln>
          </p:spPr>
          <p:txBody>
            <a:bodyPr wrap="none"/>
            <a:lstStyle/>
            <a:p>
              <a:pPr>
                <a:defRPr/>
              </a:pPr>
              <a:endParaRPr lang="zh-CN" altLang="en-US">
                <a:solidFill>
                  <a:schemeClr val="tx1">
                    <a:lumMod val="95000"/>
                    <a:lumOff val="5000"/>
                  </a:schemeClr>
                </a:solidFill>
              </a:endParaRPr>
            </a:p>
          </p:txBody>
        </p:sp>
      </p:grpSp>
      <p:grpSp>
        <p:nvGrpSpPr>
          <p:cNvPr id="7" name="Group 24"/>
          <p:cNvGrpSpPr/>
          <p:nvPr/>
        </p:nvGrpSpPr>
        <p:grpSpPr bwMode="auto">
          <a:xfrm>
            <a:off x="6778626" y="3656014"/>
            <a:ext cx="715963" cy="960437"/>
            <a:chOff x="3310" y="2245"/>
            <a:chExt cx="451" cy="605"/>
          </a:xfrm>
        </p:grpSpPr>
        <p:cxnSp>
          <p:nvCxnSpPr>
            <p:cNvPr id="239632" name="AutoShape 25"/>
            <p:cNvCxnSpPr>
              <a:cxnSpLocks noChangeShapeType="1"/>
            </p:cNvCxnSpPr>
            <p:nvPr/>
          </p:nvCxnSpPr>
          <p:spPr bwMode="auto">
            <a:xfrm rot="10800000" flipV="1">
              <a:off x="3705" y="2298"/>
              <a:ext cx="56" cy="552"/>
            </a:xfrm>
            <a:prstGeom prst="curvedConnector3">
              <a:avLst>
                <a:gd name="adj1" fmla="val 30208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250897" name="Freeform 26"/>
            <p:cNvSpPr/>
            <p:nvPr/>
          </p:nvSpPr>
          <p:spPr bwMode="auto">
            <a:xfrm rot="-847271">
              <a:off x="3310" y="2245"/>
              <a:ext cx="283" cy="590"/>
            </a:xfrm>
            <a:custGeom>
              <a:avLst/>
              <a:gdLst>
                <a:gd name="T0" fmla="*/ 2147483646 w 160"/>
                <a:gd name="T1" fmla="*/ 0 h 528"/>
                <a:gd name="T2" fmla="*/ 2147483646 w 160"/>
                <a:gd name="T3" fmla="*/ 2895718 h 528"/>
                <a:gd name="T4" fmla="*/ 0 w 160"/>
                <a:gd name="T5" fmla="*/ 5301765 h 528"/>
                <a:gd name="T6" fmla="*/ 0 60000 65536"/>
                <a:gd name="T7" fmla="*/ 0 60000 65536"/>
                <a:gd name="T8" fmla="*/ 0 60000 65536"/>
                <a:gd name="T9" fmla="*/ 0 w 160"/>
                <a:gd name="T10" fmla="*/ 0 h 528"/>
                <a:gd name="T11" fmla="*/ 160 w 160"/>
                <a:gd name="T12" fmla="*/ 528 h 528"/>
              </a:gdLst>
              <a:ahLst/>
              <a:cxnLst>
                <a:cxn ang="T6">
                  <a:pos x="T0" y="T1"/>
                </a:cxn>
                <a:cxn ang="T7">
                  <a:pos x="T2" y="T3"/>
                </a:cxn>
                <a:cxn ang="T8">
                  <a:pos x="T4" y="T5"/>
                </a:cxn>
              </a:cxnLst>
              <a:rect l="T9" t="T10" r="T11" b="T12"/>
              <a:pathLst>
                <a:path w="160" h="528">
                  <a:moveTo>
                    <a:pt x="96" y="0"/>
                  </a:moveTo>
                  <a:cubicBezTo>
                    <a:pt x="128" y="100"/>
                    <a:pt x="160" y="200"/>
                    <a:pt x="144" y="288"/>
                  </a:cubicBezTo>
                  <a:cubicBezTo>
                    <a:pt x="128" y="376"/>
                    <a:pt x="24" y="488"/>
                    <a:pt x="0" y="528"/>
                  </a:cubicBezTo>
                </a:path>
              </a:pathLst>
            </a:custGeom>
            <a:noFill/>
            <a:ln w="19050">
              <a:solidFill>
                <a:schemeClr val="tx1"/>
              </a:solidFill>
              <a:round/>
              <a:headEnd type="triangle" w="med" len="med"/>
              <a:tailEnd type="triangle" w="med" len="med"/>
            </a:ln>
          </p:spPr>
          <p:txBody>
            <a:bodyPr wrap="none"/>
            <a:lstStyle/>
            <a:p>
              <a:pPr>
                <a:defRPr/>
              </a:pPr>
              <a:endParaRPr lang="zh-CN" altLang="en-US">
                <a:solidFill>
                  <a:schemeClr val="tx1">
                    <a:lumMod val="95000"/>
                    <a:lumOff val="5000"/>
                  </a:schemeClr>
                </a:solidFill>
              </a:endParaRPr>
            </a:p>
          </p:txBody>
        </p:sp>
      </p:grpSp>
      <p:sp>
        <p:nvSpPr>
          <p:cNvPr id="239631" name="Rectangle 4"/>
          <p:cNvSpPr>
            <a:spLocks noChangeArrowheads="1"/>
          </p:cNvSpPr>
          <p:nvPr/>
        </p:nvSpPr>
        <p:spPr bwMode="auto">
          <a:xfrm>
            <a:off x="1871664" y="427038"/>
            <a:ext cx="35401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3600" dirty="0">
                <a:solidFill>
                  <a:srgbClr val="660033"/>
                </a:solidFill>
              </a:rPr>
              <a:t>2. </a:t>
            </a:r>
            <a:r>
              <a:rPr kumimoji="1" lang="zh-CN" altLang="en-US" sz="3600" dirty="0">
                <a:solidFill>
                  <a:srgbClr val="660033"/>
                </a:solidFill>
              </a:rPr>
              <a:t>基团转移反应 </a:t>
            </a:r>
            <a:endParaRPr kumimoji="1" lang="zh-CN" altLang="en-US" sz="3600" dirty="0">
              <a:solidFill>
                <a:srgbClr val="660033"/>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500"/>
                                        <p:tgtEl>
                                          <p:spTgt spid="6"/>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234508"/>
                                        </p:tgtEl>
                                        <p:attrNameLst>
                                          <p:attrName>style.visibility</p:attrName>
                                        </p:attrNameLst>
                                      </p:cBhvr>
                                      <p:to>
                                        <p:strVal val="visible"/>
                                      </p:to>
                                    </p:set>
                                    <p:animEffect transition="in" filter="dissolve">
                                      <p:cBhvr>
                                        <p:cTn id="24" dur="500"/>
                                        <p:tgtEl>
                                          <p:spTgt spid="234508"/>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234509"/>
                                        </p:tgtEl>
                                        <p:attrNameLst>
                                          <p:attrName>style.visibility</p:attrName>
                                        </p:attrNameLst>
                                      </p:cBhvr>
                                      <p:to>
                                        <p:strVal val="visible"/>
                                      </p:to>
                                    </p:set>
                                    <p:animEffect transition="in" filter="dissolve">
                                      <p:cBhvr>
                                        <p:cTn id="28" dur="500"/>
                                        <p:tgtEl>
                                          <p:spTgt spid="23450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up)">
                                      <p:cBhvr>
                                        <p:cTn id="33" dur="500"/>
                                        <p:tgtEl>
                                          <p:spTgt spid="7"/>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234510"/>
                                        </p:tgtEl>
                                        <p:attrNameLst>
                                          <p:attrName>style.visibility</p:attrName>
                                        </p:attrNameLst>
                                      </p:cBhvr>
                                      <p:to>
                                        <p:strVal val="visible"/>
                                      </p:to>
                                    </p:set>
                                    <p:animEffect transition="in" filter="dissolve">
                                      <p:cBhvr>
                                        <p:cTn id="37" dur="500"/>
                                        <p:tgtEl>
                                          <p:spTgt spid="234510"/>
                                        </p:tgtEl>
                                      </p:cBhvr>
                                    </p:animEffect>
                                  </p:childTnLst>
                                </p:cTn>
                              </p:par>
                            </p:childTnLst>
                          </p:cTn>
                        </p:par>
                        <p:par>
                          <p:cTn id="38" fill="hold">
                            <p:stCondLst>
                              <p:cond delay="1000"/>
                            </p:stCondLst>
                            <p:childTnLst>
                              <p:par>
                                <p:cTn id="39" presetID="9" presetClass="entr" presetSubtype="0" fill="hold" grpId="0" nodeType="afterEffect">
                                  <p:stCondLst>
                                    <p:cond delay="0"/>
                                  </p:stCondLst>
                                  <p:childTnLst>
                                    <p:set>
                                      <p:cBhvr>
                                        <p:cTn id="40" dur="1" fill="hold">
                                          <p:stCondLst>
                                            <p:cond delay="0"/>
                                          </p:stCondLst>
                                        </p:cTn>
                                        <p:tgtEl>
                                          <p:spTgt spid="234511"/>
                                        </p:tgtEl>
                                        <p:attrNameLst>
                                          <p:attrName>style.visibility</p:attrName>
                                        </p:attrNameLst>
                                      </p:cBhvr>
                                      <p:to>
                                        <p:strVal val="visible"/>
                                      </p:to>
                                    </p:set>
                                    <p:animEffect transition="in" filter="dissolve">
                                      <p:cBhvr>
                                        <p:cTn id="41" dur="500"/>
                                        <p:tgtEl>
                                          <p:spTgt spid="2345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up)">
                                      <p:cBhvr>
                                        <p:cTn id="46" dur="500"/>
                                        <p:tgtEl>
                                          <p:spTgt spid="5"/>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234512"/>
                                        </p:tgtEl>
                                        <p:attrNameLst>
                                          <p:attrName>style.visibility</p:attrName>
                                        </p:attrNameLst>
                                      </p:cBhvr>
                                      <p:to>
                                        <p:strVal val="visible"/>
                                      </p:to>
                                    </p:set>
                                    <p:animEffect transition="in" filter="dissolve">
                                      <p:cBhvr>
                                        <p:cTn id="50" dur="500"/>
                                        <p:tgtEl>
                                          <p:spTgt spid="234512"/>
                                        </p:tgtEl>
                                      </p:cBhvr>
                                    </p:animEffect>
                                  </p:childTnLst>
                                </p:cTn>
                              </p:par>
                            </p:childTnLst>
                          </p:cTn>
                        </p:par>
                        <p:par>
                          <p:cTn id="51" fill="hold">
                            <p:stCondLst>
                              <p:cond delay="1000"/>
                            </p:stCondLst>
                            <p:childTnLst>
                              <p:par>
                                <p:cTn id="52" presetID="9" presetClass="entr" presetSubtype="0" fill="hold" grpId="0" nodeType="afterEffect">
                                  <p:stCondLst>
                                    <p:cond delay="0"/>
                                  </p:stCondLst>
                                  <p:childTnLst>
                                    <p:set>
                                      <p:cBhvr>
                                        <p:cTn id="53" dur="1" fill="hold">
                                          <p:stCondLst>
                                            <p:cond delay="0"/>
                                          </p:stCondLst>
                                        </p:cTn>
                                        <p:tgtEl>
                                          <p:spTgt spid="234513"/>
                                        </p:tgtEl>
                                        <p:attrNameLst>
                                          <p:attrName>style.visibility</p:attrName>
                                        </p:attrNameLst>
                                      </p:cBhvr>
                                      <p:to>
                                        <p:strVal val="visible"/>
                                      </p:to>
                                    </p:set>
                                    <p:animEffect transition="in" filter="dissolve">
                                      <p:cBhvr>
                                        <p:cTn id="54" dur="500"/>
                                        <p:tgtEl>
                                          <p:spTgt spid="2345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8" grpId="0" autoUpdateAnimBg="0"/>
      <p:bldP spid="234509" grpId="0" autoUpdateAnimBg="0"/>
      <p:bldP spid="234510" grpId="0" autoUpdateAnimBg="0"/>
      <p:bldP spid="234511" grpId="0" autoUpdateAnimBg="0"/>
      <p:bldP spid="234512" grpId="0" autoUpdateAnimBg="0"/>
      <p:bldP spid="234513"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1666" name="Text Box 2"/>
          <p:cNvSpPr txBox="1">
            <a:spLocks noChangeArrowheads="1"/>
          </p:cNvSpPr>
          <p:nvPr/>
        </p:nvSpPr>
        <p:spPr bwMode="auto">
          <a:xfrm>
            <a:off x="2044224" y="412751"/>
            <a:ext cx="738664" cy="29448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dirty="0">
                <a:solidFill>
                  <a:srgbClr val="7030A0"/>
                </a:solidFill>
                <a:ea typeface="黑体" panose="02010609060101010101" pitchFamily="2" charset="-122"/>
              </a:rPr>
              <a:t>戊糖磷酸途径</a:t>
            </a:r>
            <a:endParaRPr kumimoji="1" lang="zh-CN" altLang="en-US" sz="3600" dirty="0">
              <a:solidFill>
                <a:srgbClr val="7030A0"/>
              </a:solidFill>
              <a:ea typeface="黑体" panose="02010609060101010101" pitchFamily="2" charset="-122"/>
            </a:endParaRPr>
          </a:p>
        </p:txBody>
      </p:sp>
      <p:sp>
        <p:nvSpPr>
          <p:cNvPr id="235523" name="Rectangle 3"/>
          <p:cNvSpPr>
            <a:spLocks noChangeArrowheads="1"/>
          </p:cNvSpPr>
          <p:nvPr/>
        </p:nvSpPr>
        <p:spPr bwMode="auto">
          <a:xfrm>
            <a:off x="8686800" y="1447801"/>
            <a:ext cx="1905000" cy="58896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latin typeface="楷体_GB2312" pitchFamily="49" charset="-122"/>
              </a:rPr>
              <a:t>第一阶段   </a:t>
            </a:r>
            <a:endParaRPr kumimoji="1" lang="zh-CN" altLang="en-US">
              <a:latin typeface="楷体_GB2312" pitchFamily="49" charset="-122"/>
            </a:endParaRPr>
          </a:p>
        </p:txBody>
      </p:sp>
      <p:sp>
        <p:nvSpPr>
          <p:cNvPr id="235524" name="Rectangle 4"/>
          <p:cNvSpPr>
            <a:spLocks noChangeArrowheads="1"/>
          </p:cNvSpPr>
          <p:nvPr/>
        </p:nvSpPr>
        <p:spPr bwMode="auto">
          <a:xfrm>
            <a:off x="9409113" y="4076700"/>
            <a:ext cx="609600" cy="20510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a:latin typeface="楷体_GB2312" pitchFamily="49" charset="-122"/>
              </a:rPr>
              <a:t>第二阶段   </a:t>
            </a:r>
            <a:endParaRPr kumimoji="1" lang="zh-CN" altLang="en-US">
              <a:latin typeface="楷体_GB2312" pitchFamily="49" charset="-122"/>
            </a:endParaRPr>
          </a:p>
        </p:txBody>
      </p:sp>
      <p:sp>
        <p:nvSpPr>
          <p:cNvPr id="235526" name="Line 6"/>
          <p:cNvSpPr>
            <a:spLocks noChangeShapeType="1"/>
          </p:cNvSpPr>
          <p:nvPr/>
        </p:nvSpPr>
        <p:spPr bwMode="auto">
          <a:xfrm flipH="1">
            <a:off x="3494088" y="3357563"/>
            <a:ext cx="709612" cy="304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5527" name="Line 7"/>
          <p:cNvSpPr>
            <a:spLocks noChangeShapeType="1"/>
          </p:cNvSpPr>
          <p:nvPr/>
        </p:nvSpPr>
        <p:spPr bwMode="auto">
          <a:xfrm>
            <a:off x="6094413" y="3357563"/>
            <a:ext cx="787400" cy="3048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5528" name="Text Box 8"/>
          <p:cNvSpPr txBox="1">
            <a:spLocks noChangeArrowheads="1"/>
          </p:cNvSpPr>
          <p:nvPr/>
        </p:nvSpPr>
        <p:spPr bwMode="auto">
          <a:xfrm>
            <a:off x="1998664" y="3736976"/>
            <a:ext cx="20478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5-磷酸木酮糖</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5</a:t>
            </a:r>
            <a:endParaRPr kumimoji="1" lang="en-US" altLang="zh-CN" sz="2000" b="0">
              <a:solidFill>
                <a:srgbClr val="000099"/>
              </a:solidFill>
              <a:latin typeface="Arial" panose="020B0604020202020204" pitchFamily="34" charset="0"/>
            </a:endParaRPr>
          </a:p>
        </p:txBody>
      </p:sp>
      <p:sp>
        <p:nvSpPr>
          <p:cNvPr id="235529" name="Text Box 9"/>
          <p:cNvSpPr txBox="1">
            <a:spLocks noChangeArrowheads="1"/>
          </p:cNvSpPr>
          <p:nvPr/>
        </p:nvSpPr>
        <p:spPr bwMode="auto">
          <a:xfrm>
            <a:off x="6556083" y="3736976"/>
            <a:ext cx="19976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5-磷酸木酮糖</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5</a:t>
            </a:r>
            <a:endParaRPr kumimoji="1" lang="en-US" altLang="zh-CN" sz="2000" b="0">
              <a:solidFill>
                <a:srgbClr val="000099"/>
              </a:solidFill>
              <a:latin typeface="Arial" panose="020B0604020202020204" pitchFamily="34" charset="0"/>
            </a:endParaRPr>
          </a:p>
        </p:txBody>
      </p:sp>
      <p:grpSp>
        <p:nvGrpSpPr>
          <p:cNvPr id="2" name="Group 48"/>
          <p:cNvGrpSpPr/>
          <p:nvPr/>
        </p:nvGrpSpPr>
        <p:grpSpPr bwMode="auto">
          <a:xfrm>
            <a:off x="1919288" y="3860801"/>
            <a:ext cx="6632574" cy="3027363"/>
            <a:chOff x="249" y="2500"/>
            <a:chExt cx="4178" cy="1907"/>
          </a:xfrm>
        </p:grpSpPr>
        <p:sp>
          <p:nvSpPr>
            <p:cNvPr id="241697" name="Text Box 10"/>
            <p:cNvSpPr txBox="1">
              <a:spLocks noChangeArrowheads="1"/>
            </p:cNvSpPr>
            <p:nvPr/>
          </p:nvSpPr>
          <p:spPr bwMode="auto">
            <a:xfrm>
              <a:off x="1582" y="2851"/>
              <a:ext cx="125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7-磷酸景天糖</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7</a:t>
              </a:r>
              <a:endParaRPr kumimoji="1" lang="en-US" altLang="zh-CN" sz="2000" b="0">
                <a:solidFill>
                  <a:srgbClr val="000099"/>
                </a:solidFill>
                <a:latin typeface="Arial" panose="020B0604020202020204" pitchFamily="34" charset="0"/>
              </a:endParaRPr>
            </a:p>
          </p:txBody>
        </p:sp>
        <p:sp>
          <p:nvSpPr>
            <p:cNvPr id="241698" name="Text Box 11"/>
            <p:cNvSpPr txBox="1">
              <a:spLocks noChangeArrowheads="1"/>
            </p:cNvSpPr>
            <p:nvPr/>
          </p:nvSpPr>
          <p:spPr bwMode="auto">
            <a:xfrm>
              <a:off x="3169" y="2882"/>
              <a:ext cx="125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3-磷酸甘油醛</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3</a:t>
              </a:r>
              <a:endParaRPr kumimoji="1" lang="en-US" altLang="zh-CN" sz="2000" b="0">
                <a:solidFill>
                  <a:srgbClr val="000099"/>
                </a:solidFill>
                <a:latin typeface="Arial" panose="020B0604020202020204" pitchFamily="34" charset="0"/>
              </a:endParaRPr>
            </a:p>
          </p:txBody>
        </p:sp>
        <p:sp>
          <p:nvSpPr>
            <p:cNvPr id="241699" name="Text Box 12"/>
            <p:cNvSpPr txBox="1">
              <a:spLocks noChangeArrowheads="1"/>
            </p:cNvSpPr>
            <p:nvPr/>
          </p:nvSpPr>
          <p:spPr bwMode="auto">
            <a:xfrm>
              <a:off x="1581" y="3362"/>
              <a:ext cx="125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4-磷酸赤藓糖</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4</a:t>
              </a:r>
              <a:endParaRPr kumimoji="1" lang="en-US" altLang="zh-CN" sz="2000" b="0">
                <a:solidFill>
                  <a:srgbClr val="000099"/>
                </a:solidFill>
                <a:latin typeface="Arial" panose="020B0604020202020204" pitchFamily="34" charset="0"/>
              </a:endParaRPr>
            </a:p>
          </p:txBody>
        </p:sp>
        <p:sp>
          <p:nvSpPr>
            <p:cNvPr id="241700" name="Text Box 13"/>
            <p:cNvSpPr txBox="1">
              <a:spLocks noChangeArrowheads="1"/>
            </p:cNvSpPr>
            <p:nvPr/>
          </p:nvSpPr>
          <p:spPr bwMode="auto">
            <a:xfrm>
              <a:off x="3121" y="3362"/>
              <a:ext cx="106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6-磷酸果糖</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6</a:t>
              </a:r>
              <a:endParaRPr kumimoji="1" lang="en-US" altLang="zh-CN" sz="2000" b="0">
                <a:solidFill>
                  <a:srgbClr val="000099"/>
                </a:solidFill>
                <a:latin typeface="Arial" panose="020B0604020202020204" pitchFamily="34" charset="0"/>
              </a:endParaRPr>
            </a:p>
          </p:txBody>
        </p:sp>
        <p:sp>
          <p:nvSpPr>
            <p:cNvPr id="241701" name="Text Box 14"/>
            <p:cNvSpPr txBox="1">
              <a:spLocks noChangeArrowheads="1"/>
            </p:cNvSpPr>
            <p:nvPr/>
          </p:nvSpPr>
          <p:spPr bwMode="auto">
            <a:xfrm>
              <a:off x="1532" y="3842"/>
              <a:ext cx="106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6-磷酸果糖</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6</a:t>
              </a:r>
              <a:endParaRPr kumimoji="1" lang="en-US" altLang="zh-CN" sz="2000" b="0">
                <a:solidFill>
                  <a:srgbClr val="000099"/>
                </a:solidFill>
                <a:latin typeface="Arial" panose="020B0604020202020204" pitchFamily="34" charset="0"/>
              </a:endParaRPr>
            </a:p>
          </p:txBody>
        </p:sp>
        <p:sp>
          <p:nvSpPr>
            <p:cNvPr id="241702" name="Text Box 15"/>
            <p:cNvSpPr txBox="1">
              <a:spLocks noChangeArrowheads="1"/>
            </p:cNvSpPr>
            <p:nvPr/>
          </p:nvSpPr>
          <p:spPr bwMode="auto">
            <a:xfrm>
              <a:off x="249" y="3651"/>
              <a:ext cx="794"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000099"/>
                  </a:solidFill>
                  <a:latin typeface="Arial" panose="020B0604020202020204" pitchFamily="34" charset="0"/>
                </a:rPr>
                <a:t>3-磷酸甘油醛</a:t>
              </a:r>
              <a:endParaRPr kumimoji="1" lang="zh-CN" altLang="en-US" sz="2400">
                <a:solidFill>
                  <a:srgbClr val="000099"/>
                </a:solidFill>
                <a:latin typeface="Arial" panose="020B0604020202020204" pitchFamily="34" charset="0"/>
              </a:endParaRPr>
            </a:p>
            <a:p>
              <a:pPr algn="ctr" eaLnBrk="1" hangingPunct="1">
                <a:spcBef>
                  <a:spcPct val="0"/>
                </a:spcBef>
                <a:buClrTx/>
                <a:buSzTx/>
                <a:buFontTx/>
                <a:buNone/>
              </a:pPr>
              <a:r>
                <a:rPr kumimoji="1" lang="zh-CN" altLang="en-US" sz="2400">
                  <a:solidFill>
                    <a:srgbClr val="000099"/>
                  </a:solidFill>
                  <a:latin typeface="Arial" panose="020B0604020202020204" pitchFamily="34" charset="0"/>
                </a:rPr>
                <a:t>    </a:t>
              </a:r>
              <a:r>
                <a:rPr kumimoji="1" lang="en-US" altLang="zh-CN" sz="2400">
                  <a:solidFill>
                    <a:srgbClr val="000099"/>
                  </a:solidFill>
                  <a:latin typeface="Arial" panose="020B0604020202020204" pitchFamily="34" charset="0"/>
                </a:rPr>
                <a:t>C</a:t>
              </a:r>
              <a:r>
                <a:rPr kumimoji="1" lang="en-US" altLang="zh-CN" sz="2400" baseline="-25000">
                  <a:solidFill>
                    <a:srgbClr val="000099"/>
                  </a:solidFill>
                  <a:latin typeface="Arial" panose="020B0604020202020204" pitchFamily="34" charset="0"/>
                </a:rPr>
                <a:t>3</a:t>
              </a:r>
              <a:endParaRPr kumimoji="1" lang="en-US" altLang="zh-CN" sz="2000" b="0">
                <a:solidFill>
                  <a:srgbClr val="000099"/>
                </a:solidFill>
                <a:latin typeface="Arial" panose="020B0604020202020204" pitchFamily="34" charset="0"/>
              </a:endParaRPr>
            </a:p>
          </p:txBody>
        </p:sp>
        <p:cxnSp>
          <p:nvCxnSpPr>
            <p:cNvPr id="241703" name="AutoShape 16"/>
            <p:cNvCxnSpPr>
              <a:cxnSpLocks noChangeShapeType="1"/>
            </p:cNvCxnSpPr>
            <p:nvPr/>
          </p:nvCxnSpPr>
          <p:spPr bwMode="auto">
            <a:xfrm rot="10800000" flipV="1">
              <a:off x="1539" y="3446"/>
              <a:ext cx="50" cy="540"/>
            </a:xfrm>
            <a:prstGeom prst="curvedConnector3">
              <a:avLst>
                <a:gd name="adj1" fmla="val 50208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41704" name="AutoShape 17"/>
            <p:cNvCxnSpPr>
              <a:cxnSpLocks noChangeShapeType="1"/>
            </p:cNvCxnSpPr>
            <p:nvPr/>
          </p:nvCxnSpPr>
          <p:spPr bwMode="auto">
            <a:xfrm flipH="1">
              <a:off x="944" y="2739"/>
              <a:ext cx="305" cy="1254"/>
            </a:xfrm>
            <a:prstGeom prst="curvedConnector3">
              <a:avLst>
                <a:gd name="adj1" fmla="val -4915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41705" name="AutoShape 18"/>
            <p:cNvCxnSpPr>
              <a:cxnSpLocks noChangeShapeType="1"/>
            </p:cNvCxnSpPr>
            <p:nvPr/>
          </p:nvCxnSpPr>
          <p:spPr bwMode="auto">
            <a:xfrm rot="10800000" flipV="1">
              <a:off x="3127" y="3075"/>
              <a:ext cx="49" cy="449"/>
            </a:xfrm>
            <a:prstGeom prst="curvedConnector3">
              <a:avLst>
                <a:gd name="adj1" fmla="val 30208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241706" name="AutoShape 19"/>
            <p:cNvCxnSpPr>
              <a:cxnSpLocks noChangeShapeType="1"/>
            </p:cNvCxnSpPr>
            <p:nvPr/>
          </p:nvCxnSpPr>
          <p:spPr bwMode="auto">
            <a:xfrm rot="10800000" flipV="1">
              <a:off x="3127" y="2547"/>
              <a:ext cx="49" cy="449"/>
            </a:xfrm>
            <a:prstGeom prst="curvedConnector3">
              <a:avLst>
                <a:gd name="adj1" fmla="val 327083"/>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241707" name="Freeform 20"/>
            <p:cNvSpPr/>
            <p:nvPr/>
          </p:nvSpPr>
          <p:spPr bwMode="auto">
            <a:xfrm rot="-847271">
              <a:off x="2828" y="2500"/>
              <a:ext cx="199" cy="482"/>
            </a:xfrm>
            <a:custGeom>
              <a:avLst/>
              <a:gdLst>
                <a:gd name="T0" fmla="*/ 2147483646 w 160"/>
                <a:gd name="T1" fmla="*/ 0 h 528"/>
                <a:gd name="T2" fmla="*/ 2147483646 w 160"/>
                <a:gd name="T3" fmla="*/ 5 h 528"/>
                <a:gd name="T4" fmla="*/ 0 w 160"/>
                <a:gd name="T5" fmla="*/ 5 h 528"/>
                <a:gd name="T6" fmla="*/ 0 60000 65536"/>
                <a:gd name="T7" fmla="*/ 0 60000 65536"/>
                <a:gd name="T8" fmla="*/ 0 60000 65536"/>
                <a:gd name="T9" fmla="*/ 0 w 160"/>
                <a:gd name="T10" fmla="*/ 0 h 528"/>
                <a:gd name="T11" fmla="*/ 160 w 160"/>
                <a:gd name="T12" fmla="*/ 528 h 528"/>
              </a:gdLst>
              <a:ahLst/>
              <a:cxnLst>
                <a:cxn ang="T6">
                  <a:pos x="T0" y="T1"/>
                </a:cxn>
                <a:cxn ang="T7">
                  <a:pos x="T2" y="T3"/>
                </a:cxn>
                <a:cxn ang="T8">
                  <a:pos x="T4" y="T5"/>
                </a:cxn>
              </a:cxnLst>
              <a:rect l="T9" t="T10" r="T11" b="T12"/>
              <a:pathLst>
                <a:path w="160" h="528">
                  <a:moveTo>
                    <a:pt x="96" y="0"/>
                  </a:moveTo>
                  <a:cubicBezTo>
                    <a:pt x="128" y="100"/>
                    <a:pt x="160" y="200"/>
                    <a:pt x="144" y="288"/>
                  </a:cubicBezTo>
                  <a:cubicBezTo>
                    <a:pt x="128" y="376"/>
                    <a:pt x="24" y="488"/>
                    <a:pt x="0" y="528"/>
                  </a:cubicBezTo>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41708" name="Freeform 21"/>
            <p:cNvSpPr/>
            <p:nvPr/>
          </p:nvSpPr>
          <p:spPr bwMode="auto">
            <a:xfrm rot="-847271">
              <a:off x="2779" y="3032"/>
              <a:ext cx="250" cy="480"/>
            </a:xfrm>
            <a:custGeom>
              <a:avLst/>
              <a:gdLst>
                <a:gd name="T0" fmla="*/ 2147483646 w 160"/>
                <a:gd name="T1" fmla="*/ 0 h 528"/>
                <a:gd name="T2" fmla="*/ 2147483646 w 160"/>
                <a:gd name="T3" fmla="*/ 5 h 528"/>
                <a:gd name="T4" fmla="*/ 0 w 160"/>
                <a:gd name="T5" fmla="*/ 5 h 528"/>
                <a:gd name="T6" fmla="*/ 0 60000 65536"/>
                <a:gd name="T7" fmla="*/ 0 60000 65536"/>
                <a:gd name="T8" fmla="*/ 0 60000 65536"/>
                <a:gd name="T9" fmla="*/ 0 w 160"/>
                <a:gd name="T10" fmla="*/ 0 h 528"/>
                <a:gd name="T11" fmla="*/ 160 w 160"/>
                <a:gd name="T12" fmla="*/ 528 h 528"/>
              </a:gdLst>
              <a:ahLst/>
              <a:cxnLst>
                <a:cxn ang="T6">
                  <a:pos x="T0" y="T1"/>
                </a:cxn>
                <a:cxn ang="T7">
                  <a:pos x="T2" y="T3"/>
                </a:cxn>
                <a:cxn ang="T8">
                  <a:pos x="T4" y="T5"/>
                </a:cxn>
              </a:cxnLst>
              <a:rect l="T9" t="T10" r="T11" b="T12"/>
              <a:pathLst>
                <a:path w="160" h="528">
                  <a:moveTo>
                    <a:pt x="96" y="0"/>
                  </a:moveTo>
                  <a:cubicBezTo>
                    <a:pt x="128" y="100"/>
                    <a:pt x="160" y="200"/>
                    <a:pt x="144" y="288"/>
                  </a:cubicBezTo>
                  <a:cubicBezTo>
                    <a:pt x="128" y="376"/>
                    <a:pt x="24" y="488"/>
                    <a:pt x="0" y="528"/>
                  </a:cubicBezTo>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235550" name="Text Box 30"/>
          <p:cNvSpPr txBox="1">
            <a:spLocks noChangeArrowheads="1"/>
          </p:cNvSpPr>
          <p:nvPr/>
        </p:nvSpPr>
        <p:spPr bwMode="auto">
          <a:xfrm>
            <a:off x="4199339" y="3722689"/>
            <a:ext cx="168988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rPr>
              <a:t>5-磷酸核糖</a:t>
            </a:r>
            <a:endParaRPr kumimoji="1" lang="zh-CN" altLang="en-US" sz="2400">
              <a:solidFill>
                <a:schemeClr val="tx2"/>
              </a:solidFill>
              <a:latin typeface="Arial" panose="020B0604020202020204" pitchFamily="34" charset="0"/>
            </a:endParaRPr>
          </a:p>
          <a:p>
            <a:pPr algn="ctr" eaLnBrk="1" hangingPunct="1">
              <a:spcBef>
                <a:spcPct val="0"/>
              </a:spcBef>
              <a:buClrTx/>
              <a:buSzTx/>
              <a:buFontTx/>
              <a:buNone/>
            </a:pPr>
            <a:r>
              <a:rPr kumimoji="1" lang="zh-CN" altLang="en-US" sz="2400">
                <a:latin typeface="Arial" panose="020B0604020202020204" pitchFamily="34" charset="0"/>
              </a:rPr>
              <a:t>      </a:t>
            </a:r>
            <a:r>
              <a:rPr kumimoji="1" lang="en-US" altLang="zh-CN" sz="2400">
                <a:latin typeface="Arial" panose="020B0604020202020204" pitchFamily="34" charset="0"/>
              </a:rPr>
              <a:t>C</a:t>
            </a:r>
            <a:r>
              <a:rPr kumimoji="1" lang="en-US" altLang="zh-CN" sz="2400" baseline="-25000">
                <a:latin typeface="Arial" panose="020B0604020202020204" pitchFamily="34" charset="0"/>
              </a:rPr>
              <a:t>5</a:t>
            </a:r>
            <a:endParaRPr kumimoji="1" lang="en-US" altLang="zh-CN" sz="2000" b="0">
              <a:solidFill>
                <a:schemeClr val="tx2"/>
              </a:solidFill>
              <a:latin typeface="Arial" panose="020B0604020202020204" pitchFamily="34" charset="0"/>
            </a:endParaRPr>
          </a:p>
        </p:txBody>
      </p:sp>
      <p:sp>
        <p:nvSpPr>
          <p:cNvPr id="235563" name="Line 43"/>
          <p:cNvSpPr>
            <a:spLocks noChangeShapeType="1"/>
          </p:cNvSpPr>
          <p:nvPr/>
        </p:nvSpPr>
        <p:spPr bwMode="auto">
          <a:xfrm>
            <a:off x="4892675" y="3343275"/>
            <a:ext cx="0" cy="3810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 name="Group 47"/>
          <p:cNvGrpSpPr/>
          <p:nvPr/>
        </p:nvGrpSpPr>
        <p:grpSpPr bwMode="auto">
          <a:xfrm>
            <a:off x="3206751" y="-11113"/>
            <a:ext cx="5211763" cy="3352801"/>
            <a:chOff x="1060" y="-7"/>
            <a:chExt cx="3283" cy="2112"/>
          </a:xfrm>
        </p:grpSpPr>
        <p:sp>
          <p:nvSpPr>
            <p:cNvPr id="241677" name="Text Box 24"/>
            <p:cNvSpPr txBox="1">
              <a:spLocks noChangeArrowheads="1"/>
            </p:cNvSpPr>
            <p:nvPr/>
          </p:nvSpPr>
          <p:spPr bwMode="auto">
            <a:xfrm>
              <a:off x="1591" y="-7"/>
              <a:ext cx="19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rPr>
                <a:t>6-磷酸葡萄糖(</a:t>
              </a:r>
              <a:r>
                <a:rPr kumimoji="1" lang="en-US" altLang="zh-CN" sz="2400">
                  <a:latin typeface="Arial" panose="020B0604020202020204" pitchFamily="34" charset="0"/>
                </a:rPr>
                <a:t>C</a:t>
              </a:r>
              <a:r>
                <a:rPr kumimoji="1" lang="en-US" altLang="zh-CN" sz="2400" baseline="-25000">
                  <a:latin typeface="Arial" panose="020B0604020202020204" pitchFamily="34" charset="0"/>
                </a:rPr>
                <a:t>6</a:t>
              </a:r>
              <a:r>
                <a:rPr kumimoji="1" lang="en-US" altLang="zh-CN" sz="2400">
                  <a:solidFill>
                    <a:schemeClr val="tx2"/>
                  </a:solidFill>
                  <a:latin typeface="Arial" panose="020B0604020202020204" pitchFamily="34" charset="0"/>
                </a:rPr>
                <a:t>)</a:t>
              </a:r>
              <a:r>
                <a:rPr kumimoji="1" lang="en-US" altLang="zh-CN" sz="2400">
                  <a:latin typeface="Arial" panose="020B0604020202020204" pitchFamily="34" charset="0"/>
                </a:rPr>
                <a:t>×3  </a:t>
              </a:r>
              <a:endParaRPr kumimoji="1" lang="en-US" altLang="zh-CN" sz="2000" b="0">
                <a:solidFill>
                  <a:schemeClr val="tx2"/>
                </a:solidFill>
                <a:latin typeface="Arial" panose="020B0604020202020204" pitchFamily="34" charset="0"/>
              </a:endParaRPr>
            </a:p>
          </p:txBody>
        </p:sp>
        <p:sp>
          <p:nvSpPr>
            <p:cNvPr id="241678" name="Text Box 26"/>
            <p:cNvSpPr txBox="1">
              <a:spLocks noChangeArrowheads="1"/>
            </p:cNvSpPr>
            <p:nvPr/>
          </p:nvSpPr>
          <p:spPr bwMode="auto">
            <a:xfrm>
              <a:off x="1205" y="713"/>
              <a:ext cx="25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rPr>
                <a:t>6-磷酸葡萄糖酸内酯(</a:t>
              </a:r>
              <a:r>
                <a:rPr kumimoji="1" lang="en-US" altLang="zh-CN" sz="2400">
                  <a:latin typeface="Arial" panose="020B0604020202020204" pitchFamily="34" charset="0"/>
                </a:rPr>
                <a:t>C</a:t>
              </a:r>
              <a:r>
                <a:rPr kumimoji="1" lang="en-US" altLang="zh-CN" sz="2400" baseline="-25000">
                  <a:latin typeface="Arial" panose="020B0604020202020204" pitchFamily="34" charset="0"/>
                </a:rPr>
                <a:t>6</a:t>
              </a:r>
              <a:r>
                <a:rPr kumimoji="1" lang="en-US" altLang="zh-CN" sz="2400">
                  <a:solidFill>
                    <a:schemeClr val="tx2"/>
                  </a:solidFill>
                  <a:latin typeface="Arial" panose="020B0604020202020204" pitchFamily="34" charset="0"/>
                </a:rPr>
                <a:t>)</a:t>
              </a:r>
              <a:r>
                <a:rPr kumimoji="1" lang="en-US" altLang="zh-CN" sz="2400">
                  <a:latin typeface="Arial" panose="020B0604020202020204" pitchFamily="34" charset="0"/>
                </a:rPr>
                <a:t>×3  </a:t>
              </a:r>
              <a:endParaRPr kumimoji="1" lang="en-US" altLang="zh-CN" sz="2000" b="0">
                <a:solidFill>
                  <a:schemeClr val="tx2"/>
                </a:solidFill>
                <a:latin typeface="Arial" panose="020B0604020202020204" pitchFamily="34" charset="0"/>
              </a:endParaRPr>
            </a:p>
          </p:txBody>
        </p:sp>
        <p:sp>
          <p:nvSpPr>
            <p:cNvPr id="241679" name="Line 27"/>
            <p:cNvSpPr>
              <a:spLocks noChangeShapeType="1"/>
            </p:cNvSpPr>
            <p:nvPr/>
          </p:nvSpPr>
          <p:spPr bwMode="auto">
            <a:xfrm>
              <a:off x="2122" y="954"/>
              <a:ext cx="0" cy="19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1680" name="Text Box 28"/>
            <p:cNvSpPr txBox="1">
              <a:spLocks noChangeArrowheads="1"/>
            </p:cNvSpPr>
            <p:nvPr/>
          </p:nvSpPr>
          <p:spPr bwMode="auto">
            <a:xfrm>
              <a:off x="1398" y="1097"/>
              <a:ext cx="21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rPr>
                <a:t>6-磷酸葡萄糖酸(</a:t>
              </a:r>
              <a:r>
                <a:rPr kumimoji="1" lang="en-US" altLang="zh-CN" sz="2400">
                  <a:latin typeface="Arial" panose="020B0604020202020204" pitchFamily="34" charset="0"/>
                </a:rPr>
                <a:t>C</a:t>
              </a:r>
              <a:r>
                <a:rPr kumimoji="1" lang="en-US" altLang="zh-CN" sz="2400" baseline="-25000">
                  <a:latin typeface="Arial" panose="020B0604020202020204" pitchFamily="34" charset="0"/>
                </a:rPr>
                <a:t>6</a:t>
              </a:r>
              <a:r>
                <a:rPr kumimoji="1" lang="en-US" altLang="zh-CN" sz="2400">
                  <a:solidFill>
                    <a:schemeClr val="tx2"/>
                  </a:solidFill>
                  <a:latin typeface="Arial" panose="020B0604020202020204" pitchFamily="34" charset="0"/>
                </a:rPr>
                <a:t>)</a:t>
              </a:r>
              <a:r>
                <a:rPr kumimoji="1" lang="en-US" altLang="zh-CN" sz="2400">
                  <a:latin typeface="Arial" panose="020B0604020202020204" pitchFamily="34" charset="0"/>
                </a:rPr>
                <a:t>×3  </a:t>
              </a:r>
              <a:endParaRPr kumimoji="1" lang="en-US" altLang="zh-CN" sz="2000" b="0">
                <a:solidFill>
                  <a:schemeClr val="tx2"/>
                </a:solidFill>
                <a:latin typeface="Arial" panose="020B0604020202020204" pitchFamily="34" charset="0"/>
              </a:endParaRPr>
            </a:p>
          </p:txBody>
        </p:sp>
        <p:sp>
          <p:nvSpPr>
            <p:cNvPr id="241681" name="Text Box 29"/>
            <p:cNvSpPr txBox="1">
              <a:spLocks noChangeArrowheads="1"/>
            </p:cNvSpPr>
            <p:nvPr/>
          </p:nvSpPr>
          <p:spPr bwMode="auto">
            <a:xfrm>
              <a:off x="1495" y="1817"/>
              <a:ext cx="21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chemeClr val="tx2"/>
                  </a:solidFill>
                  <a:latin typeface="Arial" panose="020B0604020202020204" pitchFamily="34" charset="0"/>
                </a:rPr>
                <a:t>5-磷酸核酮糖(</a:t>
              </a:r>
              <a:r>
                <a:rPr kumimoji="1" lang="en-US" altLang="zh-CN" sz="2400">
                  <a:latin typeface="Arial" panose="020B0604020202020204" pitchFamily="34" charset="0"/>
                </a:rPr>
                <a:t>C</a:t>
              </a:r>
              <a:r>
                <a:rPr kumimoji="1" lang="en-US" altLang="zh-CN" sz="2400" baseline="-25000">
                  <a:latin typeface="Arial" panose="020B0604020202020204" pitchFamily="34" charset="0"/>
                </a:rPr>
                <a:t>5</a:t>
              </a:r>
              <a:r>
                <a:rPr kumimoji="1" lang="en-US" altLang="zh-CN" sz="2400">
                  <a:solidFill>
                    <a:schemeClr val="tx2"/>
                  </a:solidFill>
                  <a:latin typeface="Arial" panose="020B0604020202020204" pitchFamily="34" charset="0"/>
                </a:rPr>
                <a:t>) </a:t>
              </a:r>
              <a:r>
                <a:rPr kumimoji="1" lang="en-US" altLang="zh-CN" sz="2400">
                  <a:latin typeface="Arial" panose="020B0604020202020204" pitchFamily="34" charset="0"/>
                </a:rPr>
                <a:t>×3   </a:t>
              </a:r>
              <a:endParaRPr kumimoji="1" lang="en-US" altLang="zh-CN" sz="2000" b="0">
                <a:solidFill>
                  <a:schemeClr val="tx2"/>
                </a:solidFill>
                <a:latin typeface="Arial" panose="020B0604020202020204" pitchFamily="34" charset="0"/>
              </a:endParaRPr>
            </a:p>
          </p:txBody>
        </p:sp>
        <p:grpSp>
          <p:nvGrpSpPr>
            <p:cNvPr id="241682" name="Group 31"/>
            <p:cNvGrpSpPr/>
            <p:nvPr/>
          </p:nvGrpSpPr>
          <p:grpSpPr bwMode="auto">
            <a:xfrm>
              <a:off x="1060" y="233"/>
              <a:ext cx="1062" cy="492"/>
              <a:chOff x="1386" y="287"/>
              <a:chExt cx="1062" cy="492"/>
            </a:xfrm>
          </p:grpSpPr>
          <p:sp>
            <p:nvSpPr>
              <p:cNvPr id="241693" name="Line 32"/>
              <p:cNvSpPr>
                <a:spLocks noChangeShapeType="1"/>
              </p:cNvSpPr>
              <p:nvPr/>
            </p:nvSpPr>
            <p:spPr bwMode="auto">
              <a:xfrm>
                <a:off x="2448" y="384"/>
                <a:ext cx="0" cy="33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cxnSp>
            <p:nvCxnSpPr>
              <p:cNvPr id="241694" name="AutoShape 33"/>
              <p:cNvCxnSpPr>
                <a:cxnSpLocks noChangeShapeType="1"/>
              </p:cNvCxnSpPr>
              <p:nvPr/>
            </p:nvCxnSpPr>
            <p:spPr bwMode="auto">
              <a:xfrm>
                <a:off x="2160" y="432"/>
                <a:ext cx="70" cy="190"/>
              </a:xfrm>
              <a:prstGeom prst="curvedConnector3">
                <a:avLst>
                  <a:gd name="adj1" fmla="val 400000"/>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241695" name="Text Box 34"/>
              <p:cNvSpPr txBox="1">
                <a:spLocks noChangeArrowheads="1"/>
              </p:cNvSpPr>
              <p:nvPr/>
            </p:nvSpPr>
            <p:spPr bwMode="auto">
              <a:xfrm>
                <a:off x="1531" y="287"/>
                <a:ext cx="7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a:latin typeface="Arial" panose="020B0604020202020204" pitchFamily="34" charset="0"/>
                  </a:rPr>
                  <a:t>3</a:t>
                </a:r>
                <a:r>
                  <a:rPr kumimoji="1" lang="en-US" altLang="zh-CN" sz="1800">
                    <a:latin typeface="Arial" panose="020B0604020202020204" pitchFamily="34" charset="0"/>
                  </a:rPr>
                  <a:t>NADP</a:t>
                </a:r>
                <a:r>
                  <a:rPr kumimoji="1" lang="en-US" altLang="zh-CN" sz="2000" baseline="30000">
                    <a:latin typeface="Arial" panose="020B0604020202020204" pitchFamily="34" charset="0"/>
                  </a:rPr>
                  <a:t>+  </a:t>
                </a:r>
                <a:endParaRPr kumimoji="1" lang="en-US" altLang="zh-CN" sz="2000" b="0">
                  <a:solidFill>
                    <a:schemeClr val="tx2"/>
                  </a:solidFill>
                  <a:latin typeface="Arial" panose="020B0604020202020204" pitchFamily="34" charset="0"/>
                </a:endParaRPr>
              </a:p>
            </p:txBody>
          </p:sp>
          <p:sp>
            <p:nvSpPr>
              <p:cNvPr id="241696" name="Text Box 35"/>
              <p:cNvSpPr txBox="1">
                <a:spLocks noChangeArrowheads="1"/>
              </p:cNvSpPr>
              <p:nvPr/>
            </p:nvSpPr>
            <p:spPr bwMode="auto">
              <a:xfrm>
                <a:off x="1386" y="527"/>
                <a:ext cx="10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a:solidFill>
                      <a:srgbClr val="FF3F8D"/>
                    </a:solidFill>
                    <a:latin typeface="Arial" panose="020B0604020202020204" pitchFamily="34" charset="0"/>
                  </a:rPr>
                  <a:t>3</a:t>
                </a:r>
                <a:r>
                  <a:rPr kumimoji="1" lang="en-US" altLang="zh-CN" sz="1800">
                    <a:solidFill>
                      <a:srgbClr val="FF3F8D"/>
                    </a:solidFill>
                    <a:latin typeface="Arial" panose="020B0604020202020204" pitchFamily="34" charset="0"/>
                  </a:rPr>
                  <a:t>NADP+3H</a:t>
                </a:r>
                <a:r>
                  <a:rPr kumimoji="1" lang="en-US" altLang="zh-CN" sz="2000" baseline="30000">
                    <a:solidFill>
                      <a:srgbClr val="FF3F8D"/>
                    </a:solidFill>
                    <a:latin typeface="Arial" panose="020B0604020202020204" pitchFamily="34" charset="0"/>
                  </a:rPr>
                  <a:t>+</a:t>
                </a:r>
                <a:r>
                  <a:rPr kumimoji="1" lang="en-US" altLang="zh-CN" sz="2000" baseline="30000">
                    <a:solidFill>
                      <a:srgbClr val="FF99CC"/>
                    </a:solidFill>
                    <a:latin typeface="Arial" panose="020B0604020202020204" pitchFamily="34" charset="0"/>
                  </a:rPr>
                  <a:t>  </a:t>
                </a:r>
                <a:endParaRPr kumimoji="1" lang="en-US" altLang="zh-CN" sz="2000" b="0">
                  <a:solidFill>
                    <a:schemeClr val="tx2"/>
                  </a:solidFill>
                  <a:latin typeface="Arial" panose="020B0604020202020204" pitchFamily="34" charset="0"/>
                </a:endParaRPr>
              </a:p>
            </p:txBody>
          </p:sp>
        </p:grpSp>
        <p:sp>
          <p:nvSpPr>
            <p:cNvPr id="241683" name="Text Box 36"/>
            <p:cNvSpPr txBox="1">
              <a:spLocks noChangeArrowheads="1"/>
            </p:cNvSpPr>
            <p:nvPr/>
          </p:nvSpPr>
          <p:spPr bwMode="auto">
            <a:xfrm>
              <a:off x="2262" y="342"/>
              <a:ext cx="193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solidFill>
                    <a:srgbClr val="FF0000"/>
                  </a:solidFill>
                  <a:latin typeface="Arial" panose="020B0604020202020204" pitchFamily="34" charset="0"/>
                </a:rPr>
                <a:t>6-磷酸葡萄糖脱氢酶</a:t>
              </a:r>
              <a:r>
                <a:rPr kumimoji="1" lang="zh-CN" altLang="en-US" sz="2400">
                  <a:solidFill>
                    <a:srgbClr val="B7F064"/>
                  </a:solidFill>
                  <a:latin typeface="Arial" panose="020B0604020202020204" pitchFamily="34" charset="0"/>
                </a:rPr>
                <a:t>  </a:t>
              </a:r>
              <a:endParaRPr kumimoji="1" lang="zh-CN" altLang="en-US" sz="2000" b="0">
                <a:solidFill>
                  <a:schemeClr val="tx2"/>
                </a:solidFill>
                <a:latin typeface="Arial" panose="020B0604020202020204" pitchFamily="34" charset="0"/>
              </a:endParaRPr>
            </a:p>
          </p:txBody>
        </p:sp>
        <p:grpSp>
          <p:nvGrpSpPr>
            <p:cNvPr id="241684" name="Group 37"/>
            <p:cNvGrpSpPr/>
            <p:nvPr/>
          </p:nvGrpSpPr>
          <p:grpSpPr bwMode="auto">
            <a:xfrm>
              <a:off x="1061" y="1385"/>
              <a:ext cx="1061" cy="492"/>
              <a:chOff x="1387" y="1247"/>
              <a:chExt cx="1061" cy="492"/>
            </a:xfrm>
          </p:grpSpPr>
          <p:sp>
            <p:nvSpPr>
              <p:cNvPr id="241689" name="Line 38"/>
              <p:cNvSpPr>
                <a:spLocks noChangeShapeType="1"/>
              </p:cNvSpPr>
              <p:nvPr/>
            </p:nvSpPr>
            <p:spPr bwMode="auto">
              <a:xfrm>
                <a:off x="2448" y="1296"/>
                <a:ext cx="0" cy="381"/>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cxnSp>
            <p:nvCxnSpPr>
              <p:cNvPr id="241690" name="AutoShape 39"/>
              <p:cNvCxnSpPr>
                <a:cxnSpLocks noChangeShapeType="1"/>
              </p:cNvCxnSpPr>
              <p:nvPr/>
            </p:nvCxnSpPr>
            <p:spPr bwMode="auto">
              <a:xfrm>
                <a:off x="2160" y="1392"/>
                <a:ext cx="70" cy="190"/>
              </a:xfrm>
              <a:prstGeom prst="curvedConnector3">
                <a:avLst>
                  <a:gd name="adj1" fmla="val 400000"/>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cxnSp>
          <p:sp>
            <p:nvSpPr>
              <p:cNvPr id="241691" name="Text Box 40"/>
              <p:cNvSpPr txBox="1">
                <a:spLocks noChangeArrowheads="1"/>
              </p:cNvSpPr>
              <p:nvPr/>
            </p:nvSpPr>
            <p:spPr bwMode="auto">
              <a:xfrm>
                <a:off x="1531" y="1247"/>
                <a:ext cx="7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a:latin typeface="Arial" panose="020B0604020202020204" pitchFamily="34" charset="0"/>
                  </a:rPr>
                  <a:t>3</a:t>
                </a:r>
                <a:r>
                  <a:rPr kumimoji="1" lang="en-US" altLang="zh-CN" sz="1800">
                    <a:latin typeface="Arial" panose="020B0604020202020204" pitchFamily="34" charset="0"/>
                  </a:rPr>
                  <a:t>NADP</a:t>
                </a:r>
                <a:r>
                  <a:rPr kumimoji="1" lang="en-US" altLang="zh-CN" sz="2000" baseline="30000">
                    <a:latin typeface="Arial" panose="020B0604020202020204" pitchFamily="34" charset="0"/>
                  </a:rPr>
                  <a:t>+  </a:t>
                </a:r>
                <a:endParaRPr kumimoji="1" lang="en-US" altLang="zh-CN" sz="2000" b="0">
                  <a:solidFill>
                    <a:schemeClr val="tx2"/>
                  </a:solidFill>
                  <a:latin typeface="Arial" panose="020B0604020202020204" pitchFamily="34" charset="0"/>
                </a:endParaRPr>
              </a:p>
            </p:txBody>
          </p:sp>
          <p:sp>
            <p:nvSpPr>
              <p:cNvPr id="241692" name="Text Box 41"/>
              <p:cNvSpPr txBox="1">
                <a:spLocks noChangeArrowheads="1"/>
              </p:cNvSpPr>
              <p:nvPr/>
            </p:nvSpPr>
            <p:spPr bwMode="auto">
              <a:xfrm>
                <a:off x="1387" y="1487"/>
                <a:ext cx="9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a:solidFill>
                      <a:srgbClr val="FF3F8D"/>
                    </a:solidFill>
                    <a:latin typeface="Arial" panose="020B0604020202020204" pitchFamily="34" charset="0"/>
                  </a:rPr>
                  <a:t>3</a:t>
                </a:r>
                <a:r>
                  <a:rPr kumimoji="1" lang="en-US" altLang="zh-CN" sz="1800">
                    <a:solidFill>
                      <a:srgbClr val="FF3F8D"/>
                    </a:solidFill>
                    <a:latin typeface="Arial" panose="020B0604020202020204" pitchFamily="34" charset="0"/>
                  </a:rPr>
                  <a:t>NADP+3H</a:t>
                </a:r>
                <a:r>
                  <a:rPr kumimoji="1" lang="en-US" altLang="zh-CN" sz="2000" baseline="30000">
                    <a:solidFill>
                      <a:srgbClr val="FF3F8D"/>
                    </a:solidFill>
                    <a:latin typeface="Arial" panose="020B0604020202020204" pitchFamily="34" charset="0"/>
                  </a:rPr>
                  <a:t>+</a:t>
                </a:r>
                <a:r>
                  <a:rPr kumimoji="1" lang="en-US" altLang="zh-CN" sz="2000" baseline="30000">
                    <a:solidFill>
                      <a:srgbClr val="FF99CC"/>
                    </a:solidFill>
                    <a:latin typeface="Arial" panose="020B0604020202020204" pitchFamily="34" charset="0"/>
                  </a:rPr>
                  <a:t> </a:t>
                </a:r>
                <a:endParaRPr kumimoji="1" lang="en-US" altLang="zh-CN" sz="2000" b="0">
                  <a:solidFill>
                    <a:schemeClr val="tx2"/>
                  </a:solidFill>
                  <a:latin typeface="Arial" panose="020B0604020202020204" pitchFamily="34" charset="0"/>
                </a:endParaRPr>
              </a:p>
            </p:txBody>
          </p:sp>
        </p:grpSp>
        <p:sp>
          <p:nvSpPr>
            <p:cNvPr id="241685" name="Text Box 42"/>
            <p:cNvSpPr txBox="1">
              <a:spLocks noChangeArrowheads="1"/>
            </p:cNvSpPr>
            <p:nvPr/>
          </p:nvSpPr>
          <p:spPr bwMode="auto">
            <a:xfrm>
              <a:off x="2213" y="1446"/>
              <a:ext cx="21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rial" panose="020B0604020202020204" pitchFamily="34" charset="0"/>
                </a:rPr>
                <a:t>6-磷酸葡萄糖酸脱氢酶  </a:t>
              </a:r>
              <a:endParaRPr kumimoji="1" lang="zh-CN" altLang="en-US" sz="2000" b="0">
                <a:solidFill>
                  <a:schemeClr val="tx2"/>
                </a:solidFill>
                <a:latin typeface="Arial" panose="020B0604020202020204" pitchFamily="34" charset="0"/>
              </a:endParaRPr>
            </a:p>
          </p:txBody>
        </p:sp>
        <p:grpSp>
          <p:nvGrpSpPr>
            <p:cNvPr id="241686" name="Group 44"/>
            <p:cNvGrpSpPr/>
            <p:nvPr/>
          </p:nvGrpSpPr>
          <p:grpSpPr bwMode="auto">
            <a:xfrm>
              <a:off x="2109" y="1655"/>
              <a:ext cx="567" cy="231"/>
              <a:chOff x="2154" y="1661"/>
              <a:chExt cx="567" cy="231"/>
            </a:xfrm>
          </p:grpSpPr>
          <p:sp>
            <p:nvSpPr>
              <p:cNvPr id="241687" name="Line 45"/>
              <p:cNvSpPr>
                <a:spLocks noChangeShapeType="1"/>
              </p:cNvSpPr>
              <p:nvPr/>
            </p:nvSpPr>
            <p:spPr bwMode="auto">
              <a:xfrm>
                <a:off x="2154" y="1661"/>
                <a:ext cx="227" cy="9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1688" name="Rectangle 46"/>
              <p:cNvSpPr>
                <a:spLocks noChangeArrowheads="1"/>
              </p:cNvSpPr>
              <p:nvPr/>
            </p:nvSpPr>
            <p:spPr bwMode="auto">
              <a:xfrm>
                <a:off x="2336" y="1661"/>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1800">
                    <a:latin typeface="Arial" panose="020B0604020202020204" pitchFamily="34" charset="0"/>
                  </a:rPr>
                  <a:t>CO</a:t>
                </a:r>
                <a:r>
                  <a:rPr kumimoji="1" lang="en-US" altLang="zh-CN" sz="1800" baseline="-25000">
                    <a:latin typeface="Arial" panose="020B0604020202020204" pitchFamily="34" charset="0"/>
                  </a:rPr>
                  <a:t>2</a:t>
                </a:r>
                <a:endParaRPr kumimoji="1" lang="en-US" altLang="zh-CN" sz="2000" b="0">
                  <a:latin typeface="Arial" panose="020B0604020202020204" pitchFamily="34" charset="0"/>
                </a:endParaRPr>
              </a:p>
            </p:txBody>
          </p:sp>
        </p:gr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1000"/>
                                  </p:stCondLst>
                                  <p:childTnLst>
                                    <p:set>
                                      <p:cBhvr>
                                        <p:cTn id="6" dur="1" fill="hold">
                                          <p:stCondLst>
                                            <p:cond delay="0"/>
                                          </p:stCondLst>
                                        </p:cTn>
                                        <p:tgtEl>
                                          <p:spTgt spid="235523"/>
                                        </p:tgtEl>
                                        <p:attrNameLst>
                                          <p:attrName>style.visibility</p:attrName>
                                        </p:attrNameLst>
                                      </p:cBhvr>
                                      <p:to>
                                        <p:strVal val="visible"/>
                                      </p:to>
                                    </p:set>
                                    <p:anim calcmode="lin" valueType="num">
                                      <p:cBhvr additive="base">
                                        <p:cTn id="7" dur="500" fill="hold"/>
                                        <p:tgtEl>
                                          <p:spTgt spid="235523"/>
                                        </p:tgtEl>
                                        <p:attrNameLst>
                                          <p:attrName>ppt_x</p:attrName>
                                        </p:attrNameLst>
                                      </p:cBhvr>
                                      <p:tavLst>
                                        <p:tav tm="0">
                                          <p:val>
                                            <p:strVal val="#ppt_x"/>
                                          </p:val>
                                        </p:tav>
                                        <p:tav tm="100000">
                                          <p:val>
                                            <p:strVal val="#ppt_x"/>
                                          </p:val>
                                        </p:tav>
                                      </p:tavLst>
                                    </p:anim>
                                    <p:anim calcmode="lin" valueType="num">
                                      <p:cBhvr additive="base">
                                        <p:cTn id="8" dur="500" fill="hold"/>
                                        <p:tgtEl>
                                          <p:spTgt spid="235523"/>
                                        </p:tgtEl>
                                        <p:attrNameLst>
                                          <p:attrName>ppt_y</p:attrName>
                                        </p:attrNameLst>
                                      </p:cBhvr>
                                      <p:tavLst>
                                        <p:tav tm="0">
                                          <p:val>
                                            <p:strVal val="0-#ppt_h/2"/>
                                          </p:val>
                                        </p:tav>
                                        <p:tav tm="100000">
                                          <p:val>
                                            <p:strVal val="#ppt_y"/>
                                          </p:val>
                                        </p:tav>
                                      </p:tavLst>
                                    </p:anim>
                                  </p:childTnLst>
                                </p:cTn>
                              </p:par>
                            </p:childTnLst>
                          </p:cTn>
                        </p:par>
                        <p:par>
                          <p:cTn id="9" fill="hold">
                            <p:stCondLst>
                              <p:cond delay="1500"/>
                            </p:stCondLst>
                            <p:childTnLst>
                              <p:par>
                                <p:cTn id="10" presetID="22" presetClass="entr" presetSubtype="1"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35524"/>
                                        </p:tgtEl>
                                        <p:attrNameLst>
                                          <p:attrName>style.visibility</p:attrName>
                                        </p:attrNameLst>
                                      </p:cBhvr>
                                      <p:to>
                                        <p:strVal val="visible"/>
                                      </p:to>
                                    </p:set>
                                    <p:anim calcmode="lin" valueType="num">
                                      <p:cBhvr additive="base">
                                        <p:cTn id="17" dur="500" fill="hold"/>
                                        <p:tgtEl>
                                          <p:spTgt spid="235524"/>
                                        </p:tgtEl>
                                        <p:attrNameLst>
                                          <p:attrName>ppt_x</p:attrName>
                                        </p:attrNameLst>
                                      </p:cBhvr>
                                      <p:tavLst>
                                        <p:tav tm="0">
                                          <p:val>
                                            <p:strVal val="1+#ppt_w/2"/>
                                          </p:val>
                                        </p:tav>
                                        <p:tav tm="100000">
                                          <p:val>
                                            <p:strVal val="#ppt_x"/>
                                          </p:val>
                                        </p:tav>
                                      </p:tavLst>
                                    </p:anim>
                                    <p:anim calcmode="lin" valueType="num">
                                      <p:cBhvr additive="base">
                                        <p:cTn id="18" dur="500" fill="hold"/>
                                        <p:tgtEl>
                                          <p:spTgt spid="235524"/>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235526"/>
                                        </p:tgtEl>
                                        <p:attrNameLst>
                                          <p:attrName>style.visibility</p:attrName>
                                        </p:attrNameLst>
                                      </p:cBhvr>
                                      <p:to>
                                        <p:strVal val="visible"/>
                                      </p:to>
                                    </p:set>
                                    <p:animEffect transition="in" filter="wipe(up)">
                                      <p:cBhvr>
                                        <p:cTn id="22" dur="500"/>
                                        <p:tgtEl>
                                          <p:spTgt spid="235526"/>
                                        </p:tgtEl>
                                      </p:cBhvr>
                                    </p:animEffect>
                                  </p:childTnLst>
                                </p:cTn>
                              </p:par>
                              <p:par>
                                <p:cTn id="23" presetID="22" presetClass="entr" presetSubtype="1" fill="hold" nodeType="withEffect">
                                  <p:stCondLst>
                                    <p:cond delay="0"/>
                                  </p:stCondLst>
                                  <p:childTnLst>
                                    <p:set>
                                      <p:cBhvr>
                                        <p:cTn id="24" dur="1" fill="hold">
                                          <p:stCondLst>
                                            <p:cond delay="0"/>
                                          </p:stCondLst>
                                        </p:cTn>
                                        <p:tgtEl>
                                          <p:spTgt spid="235563"/>
                                        </p:tgtEl>
                                        <p:attrNameLst>
                                          <p:attrName>style.visibility</p:attrName>
                                        </p:attrNameLst>
                                      </p:cBhvr>
                                      <p:to>
                                        <p:strVal val="visible"/>
                                      </p:to>
                                    </p:set>
                                    <p:animEffect transition="in" filter="wipe(up)">
                                      <p:cBhvr>
                                        <p:cTn id="25" dur="500"/>
                                        <p:tgtEl>
                                          <p:spTgt spid="235563"/>
                                        </p:tgtEl>
                                      </p:cBhvr>
                                    </p:animEffect>
                                  </p:childTnLst>
                                </p:cTn>
                              </p:par>
                              <p:par>
                                <p:cTn id="26" presetID="22" presetClass="entr" presetSubtype="1" fill="hold" nodeType="withEffect">
                                  <p:stCondLst>
                                    <p:cond delay="0"/>
                                  </p:stCondLst>
                                  <p:childTnLst>
                                    <p:set>
                                      <p:cBhvr>
                                        <p:cTn id="27" dur="1" fill="hold">
                                          <p:stCondLst>
                                            <p:cond delay="0"/>
                                          </p:stCondLst>
                                        </p:cTn>
                                        <p:tgtEl>
                                          <p:spTgt spid="235527"/>
                                        </p:tgtEl>
                                        <p:attrNameLst>
                                          <p:attrName>style.visibility</p:attrName>
                                        </p:attrNameLst>
                                      </p:cBhvr>
                                      <p:to>
                                        <p:strVal val="visible"/>
                                      </p:to>
                                    </p:set>
                                    <p:animEffect transition="in" filter="wipe(up)">
                                      <p:cBhvr>
                                        <p:cTn id="28" dur="500"/>
                                        <p:tgtEl>
                                          <p:spTgt spid="235527"/>
                                        </p:tgtEl>
                                      </p:cBhvr>
                                    </p:animEffect>
                                  </p:childTnLst>
                                </p:cTn>
                              </p:par>
                            </p:childTnLst>
                          </p:cTn>
                        </p:par>
                        <p:par>
                          <p:cTn id="29" fill="hold">
                            <p:stCondLst>
                              <p:cond delay="1000"/>
                            </p:stCondLst>
                            <p:childTnLst>
                              <p:par>
                                <p:cTn id="30" presetID="9" presetClass="entr" presetSubtype="0" fill="hold" nodeType="afterEffect">
                                  <p:stCondLst>
                                    <p:cond delay="0"/>
                                  </p:stCondLst>
                                  <p:childTnLst>
                                    <p:set>
                                      <p:cBhvr>
                                        <p:cTn id="31" dur="1" fill="hold">
                                          <p:stCondLst>
                                            <p:cond delay="0"/>
                                          </p:stCondLst>
                                        </p:cTn>
                                        <p:tgtEl>
                                          <p:spTgt spid="235528"/>
                                        </p:tgtEl>
                                        <p:attrNameLst>
                                          <p:attrName>style.visibility</p:attrName>
                                        </p:attrNameLst>
                                      </p:cBhvr>
                                      <p:to>
                                        <p:strVal val="visible"/>
                                      </p:to>
                                    </p:set>
                                    <p:animEffect transition="in" filter="dissolve">
                                      <p:cBhvr>
                                        <p:cTn id="32" dur="500"/>
                                        <p:tgtEl>
                                          <p:spTgt spid="235528"/>
                                        </p:tgtEl>
                                      </p:cBhvr>
                                    </p:animEffect>
                                  </p:childTnLst>
                                </p:cTn>
                              </p:par>
                              <p:par>
                                <p:cTn id="33" presetID="9" presetClass="entr" presetSubtype="0" fill="hold" nodeType="withEffect">
                                  <p:stCondLst>
                                    <p:cond delay="0"/>
                                  </p:stCondLst>
                                  <p:childTnLst>
                                    <p:set>
                                      <p:cBhvr>
                                        <p:cTn id="34" dur="1" fill="hold">
                                          <p:stCondLst>
                                            <p:cond delay="0"/>
                                          </p:stCondLst>
                                        </p:cTn>
                                        <p:tgtEl>
                                          <p:spTgt spid="235550"/>
                                        </p:tgtEl>
                                        <p:attrNameLst>
                                          <p:attrName>style.visibility</p:attrName>
                                        </p:attrNameLst>
                                      </p:cBhvr>
                                      <p:to>
                                        <p:strVal val="visible"/>
                                      </p:to>
                                    </p:set>
                                    <p:animEffect transition="in" filter="dissolve">
                                      <p:cBhvr>
                                        <p:cTn id="35" dur="500"/>
                                        <p:tgtEl>
                                          <p:spTgt spid="235550"/>
                                        </p:tgtEl>
                                      </p:cBhvr>
                                    </p:animEffect>
                                  </p:childTnLst>
                                </p:cTn>
                              </p:par>
                              <p:par>
                                <p:cTn id="36" presetID="9" presetClass="entr" presetSubtype="0" fill="hold" nodeType="withEffect">
                                  <p:stCondLst>
                                    <p:cond delay="0"/>
                                  </p:stCondLst>
                                  <p:childTnLst>
                                    <p:set>
                                      <p:cBhvr>
                                        <p:cTn id="37" dur="1" fill="hold">
                                          <p:stCondLst>
                                            <p:cond delay="0"/>
                                          </p:stCondLst>
                                        </p:cTn>
                                        <p:tgtEl>
                                          <p:spTgt spid="235529"/>
                                        </p:tgtEl>
                                        <p:attrNameLst>
                                          <p:attrName>style.visibility</p:attrName>
                                        </p:attrNameLst>
                                      </p:cBhvr>
                                      <p:to>
                                        <p:strVal val="visible"/>
                                      </p:to>
                                    </p:set>
                                    <p:animEffect transition="in" filter="dissolve">
                                      <p:cBhvr>
                                        <p:cTn id="38" dur="500"/>
                                        <p:tgtEl>
                                          <p:spTgt spid="23552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animBg="1" autoUpdateAnimBg="0"/>
      <p:bldP spid="235524" grpId="0" animBg="1"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ext Box 2"/>
          <p:cNvSpPr txBox="1">
            <a:spLocks noChangeArrowheads="1"/>
          </p:cNvSpPr>
          <p:nvPr/>
        </p:nvSpPr>
        <p:spPr bwMode="auto">
          <a:xfrm>
            <a:off x="1984403" y="1279923"/>
            <a:ext cx="26019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solidFill>
                  <a:srgbClr val="7030A0"/>
                </a:solidFill>
                <a:latin typeface="黑体" panose="02010609060101010101" pitchFamily="2" charset="-122"/>
                <a:ea typeface="黑体" panose="02010609060101010101" pitchFamily="2" charset="-122"/>
              </a:rPr>
              <a:t>总反应式  </a:t>
            </a:r>
            <a:endParaRPr kumimoji="1" lang="zh-CN" altLang="en-US" dirty="0">
              <a:solidFill>
                <a:srgbClr val="7030A0"/>
              </a:solidFill>
              <a:latin typeface="黑体" panose="02010609060101010101" pitchFamily="2" charset="-122"/>
              <a:ea typeface="黑体" panose="02010609060101010101" pitchFamily="2" charset="-122"/>
            </a:endParaRPr>
          </a:p>
        </p:txBody>
      </p:sp>
      <p:sp>
        <p:nvSpPr>
          <p:cNvPr id="236547" name="Rectangle 3"/>
          <p:cNvSpPr>
            <a:spLocks noChangeArrowheads="1"/>
          </p:cNvSpPr>
          <p:nvPr/>
        </p:nvSpPr>
        <p:spPr bwMode="auto">
          <a:xfrm>
            <a:off x="1992313" y="2060848"/>
            <a:ext cx="4824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rPr>
              <a:t>3×6-磷酸葡萄糖</a:t>
            </a:r>
            <a:r>
              <a:rPr kumimoji="1" lang="zh-CN" altLang="en-US" sz="2800">
                <a:solidFill>
                  <a:schemeClr val="tx2"/>
                </a:solidFill>
                <a:latin typeface="Arial" panose="020B0604020202020204" pitchFamily="34" charset="0"/>
              </a:rPr>
              <a:t> </a:t>
            </a:r>
            <a:r>
              <a:rPr kumimoji="1" lang="zh-CN" altLang="en-US" sz="2800">
                <a:latin typeface="Arial" panose="020B0604020202020204" pitchFamily="34" charset="0"/>
              </a:rPr>
              <a:t>+ 6 </a:t>
            </a:r>
            <a:r>
              <a:rPr kumimoji="1" lang="en-US" altLang="zh-CN" sz="2800">
                <a:latin typeface="Arial" panose="020B0604020202020204" pitchFamily="34" charset="0"/>
              </a:rPr>
              <a:t>NADP</a:t>
            </a:r>
            <a:r>
              <a:rPr kumimoji="1" lang="en-US" altLang="zh-CN" sz="2800" baseline="30000">
                <a:latin typeface="Arial" panose="020B0604020202020204" pitchFamily="34" charset="0"/>
              </a:rPr>
              <a:t>+</a:t>
            </a:r>
            <a:r>
              <a:rPr kumimoji="1" lang="en-US" altLang="zh-CN" sz="2800" baseline="30000">
                <a:solidFill>
                  <a:srgbClr val="FF33CC"/>
                </a:solidFill>
                <a:latin typeface="Arial" panose="020B0604020202020204" pitchFamily="34" charset="0"/>
              </a:rPr>
              <a:t>      </a:t>
            </a:r>
            <a:endParaRPr kumimoji="1" lang="en-US" altLang="zh-CN" sz="2800" baseline="30000">
              <a:solidFill>
                <a:srgbClr val="FF33CC"/>
              </a:solidFill>
              <a:latin typeface="Arial" panose="020B0604020202020204" pitchFamily="34" charset="0"/>
            </a:endParaRPr>
          </a:p>
        </p:txBody>
      </p:sp>
      <p:sp>
        <p:nvSpPr>
          <p:cNvPr id="236548" name="Line 4"/>
          <p:cNvSpPr>
            <a:spLocks noChangeShapeType="1"/>
          </p:cNvSpPr>
          <p:nvPr/>
        </p:nvSpPr>
        <p:spPr bwMode="auto">
          <a:xfrm>
            <a:off x="6816725" y="2349773"/>
            <a:ext cx="169703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36549" name="Rectangle 5"/>
          <p:cNvSpPr>
            <a:spLocks noChangeArrowheads="1"/>
          </p:cNvSpPr>
          <p:nvPr/>
        </p:nvSpPr>
        <p:spPr bwMode="auto">
          <a:xfrm>
            <a:off x="2100264" y="2780928"/>
            <a:ext cx="8567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rPr>
              <a:t>2×</a:t>
            </a:r>
            <a:r>
              <a:rPr kumimoji="1" lang="zh-CN" altLang="en-US" sz="2800">
                <a:solidFill>
                  <a:srgbClr val="000099"/>
                </a:solidFill>
                <a:latin typeface="Arial" panose="020B0604020202020204" pitchFamily="34" charset="0"/>
              </a:rPr>
              <a:t>6-磷酸果糖</a:t>
            </a:r>
            <a:r>
              <a:rPr kumimoji="1" lang="zh-CN" altLang="en-US" sz="2800">
                <a:latin typeface="Arial" panose="020B0604020202020204" pitchFamily="34" charset="0"/>
              </a:rPr>
              <a:t>+</a:t>
            </a:r>
            <a:r>
              <a:rPr kumimoji="1" lang="zh-CN" altLang="en-US" sz="2800">
                <a:solidFill>
                  <a:srgbClr val="000099"/>
                </a:solidFill>
                <a:latin typeface="Arial" panose="020B0604020202020204" pitchFamily="34" charset="0"/>
              </a:rPr>
              <a:t>3-磷酸甘油醛</a:t>
            </a:r>
            <a:r>
              <a:rPr kumimoji="1" lang="zh-CN" altLang="en-US" sz="2800">
                <a:latin typeface="Arial" panose="020B0604020202020204" pitchFamily="34" charset="0"/>
              </a:rPr>
              <a:t>+6</a:t>
            </a:r>
            <a:r>
              <a:rPr kumimoji="1" lang="en-US" altLang="zh-CN" sz="2800">
                <a:solidFill>
                  <a:srgbClr val="FF3F8D"/>
                </a:solidFill>
                <a:latin typeface="Arial" panose="020B0604020202020204" pitchFamily="34" charset="0"/>
              </a:rPr>
              <a:t>NADPH+H</a:t>
            </a:r>
            <a:r>
              <a:rPr kumimoji="1" lang="en-US" altLang="zh-CN" sz="2800" baseline="30000">
                <a:solidFill>
                  <a:srgbClr val="FF3F8D"/>
                </a:solidFill>
                <a:latin typeface="Arial" panose="020B0604020202020204" pitchFamily="34" charset="0"/>
              </a:rPr>
              <a:t>+</a:t>
            </a:r>
            <a:r>
              <a:rPr kumimoji="1" lang="en-US" altLang="zh-CN" sz="2800">
                <a:solidFill>
                  <a:srgbClr val="FF3F8D"/>
                </a:solidFill>
                <a:latin typeface="Arial" panose="020B0604020202020204" pitchFamily="34" charset="0"/>
              </a:rPr>
              <a:t>+</a:t>
            </a:r>
            <a:r>
              <a:rPr kumimoji="1" lang="en-US" altLang="zh-CN" sz="2800">
                <a:latin typeface="Arial" panose="020B0604020202020204" pitchFamily="34" charset="0"/>
              </a:rPr>
              <a:t>3CO</a:t>
            </a:r>
            <a:r>
              <a:rPr kumimoji="1" lang="en-US" altLang="zh-CN" sz="2800" baseline="-25000">
                <a:latin typeface="Arial" panose="020B0604020202020204" pitchFamily="34" charset="0"/>
              </a:rPr>
              <a:t>2 </a:t>
            </a:r>
            <a:r>
              <a:rPr kumimoji="1" lang="en-US" altLang="zh-CN" sz="2800" baseline="-25000">
                <a:solidFill>
                  <a:schemeClr val="folHlink"/>
                </a:solidFill>
                <a:latin typeface="Arial" panose="020B0604020202020204" pitchFamily="34" charset="0"/>
              </a:rPr>
              <a:t>       </a:t>
            </a:r>
            <a:endParaRPr kumimoji="1" lang="en-US" altLang="zh-CN" sz="2800" baseline="-25000">
              <a:solidFill>
                <a:schemeClr val="folHlink"/>
              </a:solidFill>
              <a:latin typeface="Arial" panose="020B0604020202020204" pitchFamily="34" charset="0"/>
            </a:endParaRPr>
          </a:p>
        </p:txBody>
      </p:sp>
      <p:sp>
        <p:nvSpPr>
          <p:cNvPr id="3" name="文本框 2"/>
          <p:cNvSpPr txBox="1"/>
          <p:nvPr/>
        </p:nvSpPr>
        <p:spPr>
          <a:xfrm>
            <a:off x="2116694" y="3861048"/>
            <a:ext cx="7718047" cy="2203680"/>
          </a:xfrm>
          <a:prstGeom prst="rect">
            <a:avLst/>
          </a:prstGeom>
          <a:noFill/>
        </p:spPr>
        <p:txBody>
          <a:bodyPr wrap="square">
            <a:spAutoFit/>
          </a:bodyPr>
          <a:lstStyle/>
          <a:p>
            <a:pPr>
              <a:lnSpc>
                <a:spcPct val="130000"/>
              </a:lnSpc>
            </a:pPr>
            <a:r>
              <a:rPr lang="zh-CN" altLang="en-US" sz="2800" dirty="0">
                <a:solidFill>
                  <a:srgbClr val="C00000"/>
                </a:solidFill>
                <a:latin typeface="+mj-ea"/>
                <a:ea typeface="+mj-ea"/>
              </a:rPr>
              <a:t>戊糖磷酸途径主要受</a:t>
            </a:r>
            <a:r>
              <a:rPr lang="en-US" altLang="zh-CN" sz="2800" dirty="0">
                <a:solidFill>
                  <a:srgbClr val="C00000"/>
                </a:solidFill>
                <a:latin typeface="+mj-ea"/>
                <a:ea typeface="+mj-ea"/>
              </a:rPr>
              <a:t>NADPH/NADP</a:t>
            </a:r>
            <a:r>
              <a:rPr lang="en-US" altLang="zh-CN" sz="2800" baseline="30000" dirty="0">
                <a:solidFill>
                  <a:srgbClr val="C00000"/>
                </a:solidFill>
                <a:latin typeface="+mj-ea"/>
                <a:ea typeface="+mj-ea"/>
              </a:rPr>
              <a:t>+ </a:t>
            </a:r>
            <a:r>
              <a:rPr lang="zh-CN" altLang="en-US" sz="2800" dirty="0">
                <a:solidFill>
                  <a:srgbClr val="C00000"/>
                </a:solidFill>
                <a:latin typeface="+mj-ea"/>
                <a:ea typeface="+mj-ea"/>
              </a:rPr>
              <a:t>比值的调节</a:t>
            </a:r>
            <a:endParaRPr lang="en-US" altLang="zh-CN" sz="2800" dirty="0">
              <a:solidFill>
                <a:srgbClr val="C00000"/>
              </a:solidFill>
              <a:latin typeface="+mj-ea"/>
              <a:ea typeface="+mj-ea"/>
            </a:endParaRPr>
          </a:p>
          <a:p>
            <a:pPr>
              <a:lnSpc>
                <a:spcPct val="130000"/>
              </a:lnSpc>
            </a:pPr>
            <a:r>
              <a:rPr lang="en-US" altLang="zh-CN" sz="2400" dirty="0">
                <a:latin typeface="+mj-ea"/>
                <a:ea typeface="+mj-ea"/>
              </a:rPr>
              <a:t> </a:t>
            </a:r>
            <a:r>
              <a:rPr lang="en-US" altLang="zh-CN" sz="2800" dirty="0">
                <a:latin typeface="+mj-ea"/>
                <a:ea typeface="+mj-ea"/>
              </a:rPr>
              <a:t>NADPH </a:t>
            </a:r>
            <a:r>
              <a:rPr lang="zh-CN" altLang="en-US" sz="2800" dirty="0">
                <a:latin typeface="+mj-ea"/>
                <a:ea typeface="+mj-ea"/>
              </a:rPr>
              <a:t>别构抑制</a:t>
            </a:r>
            <a:r>
              <a:rPr lang="zh-CN" altLang="en-US" sz="2800" dirty="0">
                <a:solidFill>
                  <a:srgbClr val="0000CC"/>
                </a:solidFill>
                <a:latin typeface="+mj-ea"/>
                <a:ea typeface="+mj-ea"/>
              </a:rPr>
              <a:t>葡萄糖</a:t>
            </a:r>
            <a:r>
              <a:rPr lang="en-US" altLang="zh-CN" sz="2800" dirty="0">
                <a:solidFill>
                  <a:srgbClr val="0000CC"/>
                </a:solidFill>
                <a:latin typeface="+mj-ea"/>
                <a:ea typeface="+mj-ea"/>
              </a:rPr>
              <a:t>-6-</a:t>
            </a:r>
            <a:r>
              <a:rPr lang="zh-CN" altLang="en-US" sz="2800" dirty="0">
                <a:solidFill>
                  <a:srgbClr val="0000CC"/>
                </a:solidFill>
                <a:latin typeface="+mj-ea"/>
                <a:ea typeface="+mj-ea"/>
              </a:rPr>
              <a:t>磷酸脱氢酶</a:t>
            </a:r>
            <a:endParaRPr lang="en-US" altLang="zh-CN" sz="2800" dirty="0">
              <a:latin typeface="+mj-ea"/>
              <a:ea typeface="+mj-ea"/>
            </a:endParaRPr>
          </a:p>
          <a:p>
            <a:pPr>
              <a:lnSpc>
                <a:spcPct val="130000"/>
              </a:lnSpc>
            </a:pPr>
            <a:r>
              <a:rPr lang="zh-CN" altLang="en-US" sz="2800" dirty="0">
                <a:latin typeface="+mj-ea"/>
                <a:ea typeface="+mj-ea"/>
              </a:rPr>
              <a:t> </a:t>
            </a:r>
            <a:r>
              <a:rPr lang="en-US" altLang="zh-CN" sz="2800" dirty="0">
                <a:latin typeface="+mj-ea"/>
                <a:ea typeface="+mj-ea"/>
              </a:rPr>
              <a:t>NADP</a:t>
            </a:r>
            <a:r>
              <a:rPr lang="en-US" altLang="zh-CN" sz="2800" baseline="30000" dirty="0">
                <a:latin typeface="+mj-ea"/>
                <a:ea typeface="+mj-ea"/>
              </a:rPr>
              <a:t>+ </a:t>
            </a:r>
            <a:r>
              <a:rPr lang="zh-CN" altLang="en-US" sz="2800" dirty="0">
                <a:latin typeface="+mj-ea"/>
                <a:ea typeface="+mj-ea"/>
              </a:rPr>
              <a:t>则别构激活之</a:t>
            </a:r>
            <a:endParaRPr lang="en-US" altLang="zh-CN" sz="2800" dirty="0">
              <a:latin typeface="+mj-ea"/>
              <a:ea typeface="+mj-ea"/>
            </a:endParaRPr>
          </a:p>
          <a:p>
            <a:endParaRPr lang="zh-CN" altLang="en-US" sz="2800" dirty="0">
              <a:solidFill>
                <a:srgbClr val="660066"/>
              </a:solidFill>
              <a:latin typeface="+mj-ea"/>
              <a:ea typeface="+mj-ea"/>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childTnLst>
                                    <p:set>
                                      <p:cBhvr>
                                        <p:cTn id="6" dur="1" fill="hold">
                                          <p:stCondLst>
                                            <p:cond delay="0"/>
                                          </p:stCondLst>
                                        </p:cTn>
                                        <p:tgtEl>
                                          <p:spTgt spid="236546"/>
                                        </p:tgtEl>
                                        <p:attrNameLst>
                                          <p:attrName>style.visibility</p:attrName>
                                        </p:attrNameLst>
                                      </p:cBhvr>
                                      <p:to>
                                        <p:strVal val="visible"/>
                                      </p:to>
                                    </p:set>
                                    <p:anim calcmode="lin" valueType="num">
                                      <p:cBhvr additive="base">
                                        <p:cTn id="7" dur="500" fill="hold"/>
                                        <p:tgtEl>
                                          <p:spTgt spid="236546"/>
                                        </p:tgtEl>
                                        <p:attrNameLst>
                                          <p:attrName>ppt_x</p:attrName>
                                        </p:attrNameLst>
                                      </p:cBhvr>
                                      <p:tavLst>
                                        <p:tav tm="0">
                                          <p:val>
                                            <p:strVal val="0-#ppt_w/2"/>
                                          </p:val>
                                        </p:tav>
                                        <p:tav tm="100000">
                                          <p:val>
                                            <p:strVal val="#ppt_x"/>
                                          </p:val>
                                        </p:tav>
                                      </p:tavLst>
                                    </p:anim>
                                    <p:anim calcmode="lin" valueType="num">
                                      <p:cBhvr additive="base">
                                        <p:cTn id="8" dur="500" fill="hold"/>
                                        <p:tgtEl>
                                          <p:spTgt spid="23654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36547"/>
                                        </p:tgtEl>
                                        <p:attrNameLst>
                                          <p:attrName>style.visibility</p:attrName>
                                        </p:attrNameLst>
                                      </p:cBhvr>
                                      <p:to>
                                        <p:strVal val="visible"/>
                                      </p:to>
                                    </p:set>
                                    <p:animEffect transition="in" filter="wipe(left)">
                                      <p:cBhvr>
                                        <p:cTn id="12" dur="500"/>
                                        <p:tgtEl>
                                          <p:spTgt spid="236547"/>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236548"/>
                                        </p:tgtEl>
                                        <p:attrNameLst>
                                          <p:attrName>style.visibility</p:attrName>
                                        </p:attrNameLst>
                                      </p:cBhvr>
                                      <p:to>
                                        <p:strVal val="visible"/>
                                      </p:to>
                                    </p:set>
                                    <p:animEffect transition="in" filter="wipe(left)">
                                      <p:cBhvr>
                                        <p:cTn id="16" dur="500"/>
                                        <p:tgtEl>
                                          <p:spTgt spid="236548"/>
                                        </p:tgtEl>
                                      </p:cBhvr>
                                    </p:animEffect>
                                  </p:childTnLst>
                                </p:cTn>
                              </p:par>
                            </p:childTnLst>
                          </p:cTn>
                        </p:par>
                        <p:par>
                          <p:cTn id="17" fill="hold">
                            <p:stCondLst>
                              <p:cond delay="1500"/>
                            </p:stCondLst>
                            <p:childTnLst>
                              <p:par>
                                <p:cTn id="18" presetID="2" presetClass="entr" presetSubtype="12" fill="hold" grpId="0" nodeType="afterEffect">
                                  <p:stCondLst>
                                    <p:cond delay="0"/>
                                  </p:stCondLst>
                                  <p:childTnLst>
                                    <p:set>
                                      <p:cBhvr>
                                        <p:cTn id="19" dur="1" fill="hold">
                                          <p:stCondLst>
                                            <p:cond delay="0"/>
                                          </p:stCondLst>
                                        </p:cTn>
                                        <p:tgtEl>
                                          <p:spTgt spid="236549"/>
                                        </p:tgtEl>
                                        <p:attrNameLst>
                                          <p:attrName>style.visibility</p:attrName>
                                        </p:attrNameLst>
                                      </p:cBhvr>
                                      <p:to>
                                        <p:strVal val="visible"/>
                                      </p:to>
                                    </p:set>
                                    <p:anim calcmode="lin" valueType="num">
                                      <p:cBhvr additive="base">
                                        <p:cTn id="20" dur="500" fill="hold"/>
                                        <p:tgtEl>
                                          <p:spTgt spid="236549"/>
                                        </p:tgtEl>
                                        <p:attrNameLst>
                                          <p:attrName>ppt_x</p:attrName>
                                        </p:attrNameLst>
                                      </p:cBhvr>
                                      <p:tavLst>
                                        <p:tav tm="0">
                                          <p:val>
                                            <p:strVal val="0-#ppt_w/2"/>
                                          </p:val>
                                        </p:tav>
                                        <p:tav tm="100000">
                                          <p:val>
                                            <p:strVal val="#ppt_x"/>
                                          </p:val>
                                        </p:tav>
                                      </p:tavLst>
                                    </p:anim>
                                    <p:anim calcmode="lin" valueType="num">
                                      <p:cBhvr additive="base">
                                        <p:cTn id="21" dur="500" fill="hold"/>
                                        <p:tgtEl>
                                          <p:spTgt spid="2365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autoUpdateAnimBg="0"/>
      <p:bldP spid="236547" grpId="0" autoUpdateAnimBg="0"/>
      <p:bldP spid="236549"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body" idx="1"/>
          </p:nvPr>
        </p:nvSpPr>
        <p:spPr>
          <a:xfrm>
            <a:off x="1992313" y="549275"/>
            <a:ext cx="7772400" cy="838200"/>
          </a:xfrm>
        </p:spPr>
        <p:txBody>
          <a:bodyPr/>
          <a:lstStyle/>
          <a:p>
            <a:pPr algn="ctr" eaLnBrk="1" hangingPunct="1">
              <a:buNone/>
            </a:pPr>
            <a:r>
              <a:rPr lang="zh-CN" altLang="en-US" sz="3600" dirty="0">
                <a:solidFill>
                  <a:srgbClr val="C00000"/>
                </a:solidFill>
                <a:latin typeface="楷体_GB2312" pitchFamily="49" charset="-122"/>
              </a:rPr>
              <a:t>  二、戊糖磷酸途径的生理意义</a:t>
            </a:r>
            <a:endParaRPr lang="zh-CN" altLang="en-US" sz="3600" dirty="0">
              <a:solidFill>
                <a:srgbClr val="C00000"/>
              </a:solidFill>
              <a:latin typeface="楷体_GB2312" pitchFamily="49" charset="-122"/>
            </a:endParaRPr>
          </a:p>
        </p:txBody>
      </p:sp>
      <p:sp>
        <p:nvSpPr>
          <p:cNvPr id="267267" name="Text Box 3"/>
          <p:cNvSpPr txBox="1">
            <a:spLocks noChangeArrowheads="1"/>
          </p:cNvSpPr>
          <p:nvPr/>
        </p:nvSpPr>
        <p:spPr bwMode="auto">
          <a:xfrm>
            <a:off x="1648619" y="1844824"/>
            <a:ext cx="8911877" cy="2468562"/>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defRPr/>
            </a:pPr>
            <a:r>
              <a:rPr kumimoji="1" lang="zh-CN" altLang="en-US" dirty="0">
                <a:solidFill>
                  <a:srgbClr val="0000CC"/>
                </a:solidFill>
                <a:latin typeface="Arial" panose="020B0604020202020204" pitchFamily="34" charset="0"/>
              </a:rPr>
              <a:t>１</a:t>
            </a:r>
            <a:r>
              <a:rPr kumimoji="1" lang="en-US" altLang="zh-CN" dirty="0">
                <a:solidFill>
                  <a:srgbClr val="0000CC"/>
                </a:solidFill>
                <a:latin typeface="Arial" panose="020B0604020202020204" pitchFamily="34" charset="0"/>
              </a:rPr>
              <a:t>. </a:t>
            </a:r>
            <a:r>
              <a:rPr kumimoji="1" lang="zh-CN" altLang="en-US" dirty="0">
                <a:solidFill>
                  <a:srgbClr val="0000CC"/>
                </a:solidFill>
                <a:latin typeface="Arial" panose="020B0604020202020204" pitchFamily="34" charset="0"/>
              </a:rPr>
              <a:t>为核苷酸的生成提供</a:t>
            </a:r>
            <a:r>
              <a:rPr kumimoji="1" lang="zh-CN" altLang="en-US" u="sng" dirty="0">
                <a:solidFill>
                  <a:srgbClr val="0000CC"/>
                </a:solidFill>
                <a:latin typeface="Arial" panose="020B0604020202020204" pitchFamily="34" charset="0"/>
              </a:rPr>
              <a:t>核糖磷酸</a:t>
            </a:r>
            <a:endParaRPr kumimoji="1" lang="en-US" altLang="zh-CN" u="sng" dirty="0">
              <a:solidFill>
                <a:srgbClr val="0000CC"/>
              </a:solidFill>
              <a:latin typeface="Arial" panose="020B0604020202020204" pitchFamily="34" charset="0"/>
            </a:endParaRPr>
          </a:p>
          <a:p>
            <a:pPr marL="357505">
              <a:lnSpc>
                <a:spcPct val="150000"/>
              </a:lnSpc>
              <a:spcBef>
                <a:spcPct val="0"/>
              </a:spcBef>
              <a:buClrTx/>
              <a:buSzTx/>
              <a:buFont typeface="Arial" panose="020B0604020202020204" pitchFamily="34" charset="0"/>
              <a:buChar char="•"/>
              <a:defRPr/>
            </a:pPr>
            <a:r>
              <a:rPr lang="zh-CN" altLang="en-US" sz="2400" dirty="0">
                <a:latin typeface="微软雅黑 Light" panose="020B0502040204020203" pitchFamily="34" charset="-122"/>
                <a:ea typeface="微软雅黑 Light" panose="020B0502040204020203" pitchFamily="34" charset="-122"/>
              </a:rPr>
              <a:t>血液中几乎没有核糖，意味着各组织细胞都自身合成核糖</a:t>
            </a:r>
            <a:endParaRPr lang="zh-CN" altLang="en-US" sz="2400" dirty="0">
              <a:latin typeface="微软雅黑 Light" panose="020B0502040204020203" pitchFamily="34" charset="-122"/>
              <a:ea typeface="微软雅黑 Light" panose="020B0502040204020203" pitchFamily="34" charset="-122"/>
            </a:endParaRPr>
          </a:p>
          <a:p>
            <a:pPr marL="449580" indent="-92075">
              <a:lnSpc>
                <a:spcPct val="120000"/>
              </a:lnSpc>
              <a:spcBef>
                <a:spcPct val="0"/>
              </a:spcBef>
              <a:buClrTx/>
              <a:buSzTx/>
              <a:buFont typeface="Arial" panose="020B0604020202020204" pitchFamily="34" charset="0"/>
              <a:buChar char="•"/>
              <a:defRPr/>
            </a:pPr>
            <a:r>
              <a:rPr lang="zh-CN" altLang="en-US" sz="2400" dirty="0">
                <a:solidFill>
                  <a:srgbClr val="0000CC"/>
                </a:solidFill>
                <a:latin typeface="微软雅黑 Light" panose="020B0502040204020203" pitchFamily="34" charset="-122"/>
                <a:ea typeface="微软雅黑 Light" panose="020B0502040204020203" pitchFamily="34" charset="-122"/>
              </a:rPr>
              <a:t>肌肉</a:t>
            </a:r>
            <a:r>
              <a:rPr lang="zh-CN" altLang="en-US" sz="2400" dirty="0">
                <a:latin typeface="微软雅黑 Light" panose="020B0502040204020203" pitchFamily="34" charset="-122"/>
                <a:ea typeface="微软雅黑 Light" panose="020B0502040204020203" pitchFamily="34" charset="-122"/>
              </a:rPr>
              <a:t>中的</a:t>
            </a:r>
            <a:r>
              <a:rPr lang="en-US" altLang="zh-CN" sz="2400" dirty="0">
                <a:latin typeface="微软雅黑 Light" panose="020B0502040204020203" pitchFamily="34" charset="-122"/>
                <a:ea typeface="微软雅黑 Light" panose="020B0502040204020203" pitchFamily="34" charset="-122"/>
              </a:rPr>
              <a:t>6-</a:t>
            </a:r>
            <a:r>
              <a:rPr lang="zh-CN" altLang="en-US" sz="2400" dirty="0">
                <a:latin typeface="微软雅黑 Light" panose="020B0502040204020203" pitchFamily="34" charset="-122"/>
                <a:ea typeface="微软雅黑 Light" panose="020B0502040204020203" pitchFamily="34" charset="-122"/>
              </a:rPr>
              <a:t>磷酸葡萄糖脱氢酶和</a:t>
            </a:r>
            <a:r>
              <a:rPr lang="en-US" altLang="zh-CN" sz="2400" dirty="0">
                <a:latin typeface="微软雅黑 Light" panose="020B0502040204020203" pitchFamily="34" charset="-122"/>
                <a:ea typeface="微软雅黑 Light" panose="020B0502040204020203" pitchFamily="34" charset="-122"/>
              </a:rPr>
              <a:t>6-</a:t>
            </a:r>
            <a:r>
              <a:rPr lang="zh-CN" altLang="en-US" sz="2400" dirty="0">
                <a:latin typeface="微软雅黑 Light" panose="020B0502040204020203" pitchFamily="34" charset="-122"/>
                <a:ea typeface="微软雅黑 Light" panose="020B0502040204020203" pitchFamily="34" charset="-122"/>
              </a:rPr>
              <a:t>磷酸葡萄糖酸脱氢酶活性低，第一阶段反应弱。</a:t>
            </a:r>
            <a:r>
              <a:rPr lang="zh-CN" altLang="en-US" sz="2400" dirty="0">
                <a:solidFill>
                  <a:srgbClr val="0000CC"/>
                </a:solidFill>
                <a:latin typeface="微软雅黑 Light" panose="020B0502040204020203" pitchFamily="34" charset="-122"/>
                <a:ea typeface="微软雅黑 Light" panose="020B0502040204020203" pitchFamily="34" charset="-122"/>
              </a:rPr>
              <a:t>主要通过基团转移反应获取核糖</a:t>
            </a:r>
            <a:r>
              <a:rPr lang="zh-CN" altLang="en-US" sz="2400" dirty="0">
                <a:latin typeface="微软雅黑 Light" panose="020B0502040204020203" pitchFamily="34" charset="-122"/>
                <a:ea typeface="微软雅黑 Light" panose="020B0502040204020203" pitchFamily="34" charset="-122"/>
              </a:rPr>
              <a:t>（即第二阶段反应活跃，逆向进行）。</a:t>
            </a:r>
            <a:endParaRPr kumimoji="1" lang="zh-CN" altLang="en-US" u="sng" dirty="0">
              <a:latin typeface="微软雅黑 Light" panose="020B0502040204020203" pitchFamily="34" charset="-122"/>
              <a:ea typeface="微软雅黑 Light" panose="020B0502040204020203" pitchFamily="34" charset="-122"/>
            </a:endParaRPr>
          </a:p>
        </p:txBody>
      </p:sp>
      <p:sp>
        <p:nvSpPr>
          <p:cNvPr id="245764" name="Text Box 4"/>
          <p:cNvSpPr txBox="1">
            <a:spLocks noChangeArrowheads="1"/>
          </p:cNvSpPr>
          <p:nvPr/>
        </p:nvSpPr>
        <p:spPr bwMode="auto">
          <a:xfrm>
            <a:off x="1648619" y="4581128"/>
            <a:ext cx="8459787" cy="7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260475" indent="-126047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40000"/>
              </a:lnSpc>
              <a:spcBef>
                <a:spcPct val="0"/>
              </a:spcBef>
              <a:buClrTx/>
              <a:buSzTx/>
              <a:buFontTx/>
              <a:buNone/>
            </a:pPr>
            <a:r>
              <a:rPr kumimoji="1" lang="zh-CN" altLang="en-US" dirty="0">
                <a:solidFill>
                  <a:srgbClr val="0000CC"/>
                </a:solidFill>
                <a:latin typeface="Arial" panose="020B0604020202020204" pitchFamily="34" charset="0"/>
              </a:rPr>
              <a:t>２</a:t>
            </a:r>
            <a:r>
              <a:rPr kumimoji="1" lang="en-US" altLang="zh-CN" dirty="0">
                <a:solidFill>
                  <a:srgbClr val="0000CC"/>
                </a:solidFill>
                <a:latin typeface="Arial" panose="020B0604020202020204" pitchFamily="34" charset="0"/>
              </a:rPr>
              <a:t>. </a:t>
            </a:r>
            <a:r>
              <a:rPr kumimoji="1" lang="zh-CN" altLang="en-US" dirty="0">
                <a:solidFill>
                  <a:srgbClr val="0000CC"/>
                </a:solidFill>
                <a:latin typeface="Arial" panose="020B0604020202020204" pitchFamily="34" charset="0"/>
              </a:rPr>
              <a:t>提供</a:t>
            </a:r>
            <a:r>
              <a:rPr kumimoji="1" lang="en-US" altLang="zh-CN" b="0" u="sng" dirty="0">
                <a:solidFill>
                  <a:srgbClr val="0000CC"/>
                </a:solidFill>
                <a:latin typeface="Arial" panose="020B0604020202020204" pitchFamily="34" charset="0"/>
              </a:rPr>
              <a:t>NADPH</a:t>
            </a:r>
            <a:r>
              <a:rPr kumimoji="1" lang="zh-CN" altLang="en-US" dirty="0">
                <a:solidFill>
                  <a:srgbClr val="0000CC"/>
                </a:solidFill>
                <a:latin typeface="Arial" panose="020B0604020202020204" pitchFamily="34" charset="0"/>
              </a:rPr>
              <a:t>作为供氢体参与多种代谢反应</a:t>
            </a:r>
            <a:endParaRPr kumimoji="1" lang="en-US" altLang="zh-CN" dirty="0">
              <a:solidFill>
                <a:srgbClr val="0000CC"/>
              </a:solidFill>
              <a:latin typeface="Arial" panose="020B0604020202020204" pitchFamily="34" charset="0"/>
            </a:endParaRPr>
          </a:p>
        </p:txBody>
      </p:sp>
    </p:spTree>
  </p:cSld>
  <p:clrMapOvr>
    <a:masterClrMapping/>
  </p:clrMapOvr>
  <p:transition spd="med">
    <p:zo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Text Box 2"/>
          <p:cNvSpPr txBox="1">
            <a:spLocks noChangeArrowheads="1"/>
          </p:cNvSpPr>
          <p:nvPr/>
        </p:nvSpPr>
        <p:spPr bwMode="auto">
          <a:xfrm>
            <a:off x="2133601" y="1855789"/>
            <a:ext cx="7993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t>（1）</a:t>
            </a:r>
            <a:r>
              <a:rPr kumimoji="1" lang="en-US" altLang="zh-CN" sz="2800" b="0" dirty="0"/>
              <a:t>NADPH</a:t>
            </a:r>
            <a:r>
              <a:rPr kumimoji="1" lang="zh-CN" altLang="en-US" sz="2800" b="0" dirty="0">
                <a:solidFill>
                  <a:srgbClr val="0000CC"/>
                </a:solidFill>
              </a:rPr>
              <a:t>参与合成多种物质</a:t>
            </a:r>
            <a:endParaRPr kumimoji="1" lang="zh-CN" altLang="en-US" sz="2800" b="0" dirty="0"/>
          </a:p>
        </p:txBody>
      </p:sp>
      <p:sp>
        <p:nvSpPr>
          <p:cNvPr id="240643" name="Text Box 3"/>
          <p:cNvSpPr txBox="1">
            <a:spLocks noChangeArrowheads="1"/>
          </p:cNvSpPr>
          <p:nvPr/>
        </p:nvSpPr>
        <p:spPr bwMode="auto">
          <a:xfrm>
            <a:off x="2133600" y="2490788"/>
            <a:ext cx="79946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901700" indent="-9017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800" b="0"/>
              <a:t>（2）</a:t>
            </a:r>
            <a:r>
              <a:rPr kumimoji="1" lang="en-US" altLang="zh-CN" sz="2800" b="0"/>
              <a:t>NADPH</a:t>
            </a:r>
            <a:r>
              <a:rPr kumimoji="1" lang="zh-CN" altLang="en-US" sz="2800" b="0"/>
              <a:t>参与体内的</a:t>
            </a:r>
            <a:r>
              <a:rPr kumimoji="1" lang="zh-CN" altLang="en-US" sz="2800" b="0">
                <a:solidFill>
                  <a:srgbClr val="0000CC"/>
                </a:solidFill>
              </a:rPr>
              <a:t>羟化反应</a:t>
            </a:r>
            <a:r>
              <a:rPr kumimoji="1" lang="zh-CN" altLang="en-US" sz="2800" b="0"/>
              <a:t>，与生物合成或生物转化有关</a:t>
            </a:r>
            <a:endParaRPr kumimoji="1" lang="zh-CN" altLang="en-US" sz="2800" b="0"/>
          </a:p>
        </p:txBody>
      </p:sp>
      <p:sp>
        <p:nvSpPr>
          <p:cNvPr id="240644" name="Text Box 4"/>
          <p:cNvSpPr txBox="1">
            <a:spLocks noChangeArrowheads="1"/>
          </p:cNvSpPr>
          <p:nvPr/>
        </p:nvSpPr>
        <p:spPr bwMode="auto">
          <a:xfrm>
            <a:off x="2144714" y="3575050"/>
            <a:ext cx="66960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t>（3）</a:t>
            </a:r>
            <a:r>
              <a:rPr kumimoji="1" lang="en-US" altLang="zh-CN" sz="2800" b="0"/>
              <a:t>NADPH</a:t>
            </a:r>
            <a:r>
              <a:rPr kumimoji="1" lang="zh-CN" altLang="en-US" sz="2800" b="0"/>
              <a:t>可</a:t>
            </a:r>
            <a:r>
              <a:rPr kumimoji="1" lang="zh-CN" altLang="en-US" sz="2800" b="0">
                <a:solidFill>
                  <a:srgbClr val="0000CC"/>
                </a:solidFill>
              </a:rPr>
              <a:t>维持</a:t>
            </a:r>
            <a:r>
              <a:rPr kumimoji="1" lang="en-US" altLang="zh-CN" sz="2800" b="0">
                <a:solidFill>
                  <a:srgbClr val="0000CC"/>
                </a:solidFill>
              </a:rPr>
              <a:t>GSH</a:t>
            </a:r>
            <a:r>
              <a:rPr kumimoji="1" lang="zh-CN" altLang="en-US" sz="2800" b="0">
                <a:solidFill>
                  <a:srgbClr val="0000CC"/>
                </a:solidFill>
              </a:rPr>
              <a:t>的还原性  </a:t>
            </a:r>
            <a:endParaRPr kumimoji="1" lang="zh-CN" altLang="en-US" sz="2800" b="0">
              <a:solidFill>
                <a:srgbClr val="0000CC"/>
              </a:solidFill>
            </a:endParaRPr>
          </a:p>
        </p:txBody>
      </p:sp>
      <p:grpSp>
        <p:nvGrpSpPr>
          <p:cNvPr id="2" name="Group 5"/>
          <p:cNvGrpSpPr/>
          <p:nvPr/>
        </p:nvGrpSpPr>
        <p:grpSpPr bwMode="auto">
          <a:xfrm>
            <a:off x="3563939" y="4184651"/>
            <a:ext cx="4789487" cy="1476375"/>
            <a:chOff x="1194" y="2208"/>
            <a:chExt cx="3017" cy="930"/>
          </a:xfrm>
        </p:grpSpPr>
        <p:sp>
          <p:nvSpPr>
            <p:cNvPr id="247815" name="Text Box 6"/>
            <p:cNvSpPr txBox="1">
              <a:spLocks noChangeArrowheads="1"/>
            </p:cNvSpPr>
            <p:nvPr/>
          </p:nvSpPr>
          <p:spPr bwMode="auto">
            <a:xfrm>
              <a:off x="1194" y="2527"/>
              <a:ext cx="30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b="0" dirty="0"/>
                <a:t>2</a:t>
              </a:r>
              <a:r>
                <a:rPr kumimoji="1" lang="en-US" altLang="zh-CN" sz="2400" b="0" dirty="0"/>
                <a:t>G-SH                                  G-S-S-G</a:t>
              </a:r>
              <a:endParaRPr kumimoji="1" lang="en-US" altLang="zh-CN" sz="2400" b="0" dirty="0"/>
            </a:p>
          </p:txBody>
        </p:sp>
        <p:sp>
          <p:nvSpPr>
            <p:cNvPr id="247816" name="Line 7"/>
            <p:cNvSpPr>
              <a:spLocks noChangeShapeType="1"/>
            </p:cNvSpPr>
            <p:nvPr/>
          </p:nvSpPr>
          <p:spPr bwMode="auto">
            <a:xfrm>
              <a:off x="1836" y="2662"/>
              <a:ext cx="1587"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47817" name="Arc 8"/>
            <p:cNvSpPr/>
            <p:nvPr/>
          </p:nvSpPr>
          <p:spPr bwMode="auto">
            <a:xfrm flipH="1">
              <a:off x="2017" y="2662"/>
              <a:ext cx="1127" cy="318"/>
            </a:xfrm>
            <a:custGeom>
              <a:avLst/>
              <a:gdLst>
                <a:gd name="T0" fmla="*/ 0 w 42243"/>
                <a:gd name="T1" fmla="*/ 0 h 21600"/>
                <a:gd name="T2" fmla="*/ 0 w 42243"/>
                <a:gd name="T3" fmla="*/ 0 h 21600"/>
                <a:gd name="T4" fmla="*/ 0 w 42243"/>
                <a:gd name="T5" fmla="*/ 0 h 21600"/>
                <a:gd name="T6" fmla="*/ 0 60000 65536"/>
                <a:gd name="T7" fmla="*/ 0 60000 65536"/>
                <a:gd name="T8" fmla="*/ 0 60000 65536"/>
                <a:gd name="T9" fmla="*/ 0 w 42243"/>
                <a:gd name="T10" fmla="*/ 0 h 21600"/>
                <a:gd name="T11" fmla="*/ 42243 w 42243"/>
                <a:gd name="T12" fmla="*/ 21600 h 21600"/>
              </a:gdLst>
              <a:ahLst/>
              <a:cxnLst>
                <a:cxn ang="T6">
                  <a:pos x="T0" y="T1"/>
                </a:cxn>
                <a:cxn ang="T7">
                  <a:pos x="T2" y="T3"/>
                </a:cxn>
                <a:cxn ang="T8">
                  <a:pos x="T4" y="T5"/>
                </a:cxn>
              </a:cxnLst>
              <a:rect l="T9" t="T10" r="T11" b="T12"/>
              <a:pathLst>
                <a:path w="42243" h="21600" fill="none" extrusionOk="0">
                  <a:moveTo>
                    <a:pt x="0" y="17203"/>
                  </a:moveTo>
                  <a:cubicBezTo>
                    <a:pt x="2083" y="7182"/>
                    <a:pt x="10913" y="-1"/>
                    <a:pt x="21148" y="0"/>
                  </a:cubicBezTo>
                  <a:cubicBezTo>
                    <a:pt x="31288" y="0"/>
                    <a:pt x="40064" y="7054"/>
                    <a:pt x="42243" y="16958"/>
                  </a:cubicBezTo>
                </a:path>
                <a:path w="42243" h="21600" stroke="0" extrusionOk="0">
                  <a:moveTo>
                    <a:pt x="0" y="17203"/>
                  </a:moveTo>
                  <a:cubicBezTo>
                    <a:pt x="2083" y="7182"/>
                    <a:pt x="10913" y="-1"/>
                    <a:pt x="21148" y="0"/>
                  </a:cubicBezTo>
                  <a:cubicBezTo>
                    <a:pt x="31288" y="0"/>
                    <a:pt x="40064" y="7054"/>
                    <a:pt x="42243" y="16958"/>
                  </a:cubicBezTo>
                  <a:lnTo>
                    <a:pt x="21148" y="21600"/>
                  </a:lnTo>
                  <a:lnTo>
                    <a:pt x="0" y="17203"/>
                  </a:lnTo>
                  <a:close/>
                </a:path>
              </a:pathLst>
            </a:custGeom>
            <a:noFill/>
            <a:ln w="19050">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7818" name="Arc 9"/>
            <p:cNvSpPr/>
            <p:nvPr/>
          </p:nvSpPr>
          <p:spPr bwMode="auto">
            <a:xfrm flipH="1" flipV="1">
              <a:off x="1972" y="2390"/>
              <a:ext cx="1137" cy="271"/>
            </a:xfrm>
            <a:custGeom>
              <a:avLst/>
              <a:gdLst>
                <a:gd name="T0" fmla="*/ 0 w 42620"/>
                <a:gd name="T1" fmla="*/ 0 h 21600"/>
                <a:gd name="T2" fmla="*/ 0 w 42620"/>
                <a:gd name="T3" fmla="*/ 0 h 21600"/>
                <a:gd name="T4" fmla="*/ 0 w 42620"/>
                <a:gd name="T5" fmla="*/ 0 h 21600"/>
                <a:gd name="T6" fmla="*/ 0 60000 65536"/>
                <a:gd name="T7" fmla="*/ 0 60000 65536"/>
                <a:gd name="T8" fmla="*/ 0 60000 65536"/>
                <a:gd name="T9" fmla="*/ 0 w 42620"/>
                <a:gd name="T10" fmla="*/ 0 h 21600"/>
                <a:gd name="T11" fmla="*/ 42620 w 42620"/>
                <a:gd name="T12" fmla="*/ 21600 h 21600"/>
              </a:gdLst>
              <a:ahLst/>
              <a:cxnLst>
                <a:cxn ang="T6">
                  <a:pos x="T0" y="T1"/>
                </a:cxn>
                <a:cxn ang="T7">
                  <a:pos x="T2" y="T3"/>
                </a:cxn>
                <a:cxn ang="T8">
                  <a:pos x="T4" y="T5"/>
                </a:cxn>
              </a:cxnLst>
              <a:rect l="T9" t="T10" r="T11" b="T12"/>
              <a:pathLst>
                <a:path w="42620" h="21600" fill="none" extrusionOk="0">
                  <a:moveTo>
                    <a:pt x="0" y="17203"/>
                  </a:moveTo>
                  <a:cubicBezTo>
                    <a:pt x="2083" y="7182"/>
                    <a:pt x="10913" y="-1"/>
                    <a:pt x="21148" y="0"/>
                  </a:cubicBezTo>
                  <a:cubicBezTo>
                    <a:pt x="32168" y="0"/>
                    <a:pt x="41422" y="8296"/>
                    <a:pt x="42620" y="19251"/>
                  </a:cubicBezTo>
                </a:path>
                <a:path w="42620" h="21600" stroke="0" extrusionOk="0">
                  <a:moveTo>
                    <a:pt x="0" y="17203"/>
                  </a:moveTo>
                  <a:cubicBezTo>
                    <a:pt x="2083" y="7182"/>
                    <a:pt x="10913" y="-1"/>
                    <a:pt x="21148" y="0"/>
                  </a:cubicBezTo>
                  <a:cubicBezTo>
                    <a:pt x="32168" y="0"/>
                    <a:pt x="41422" y="8296"/>
                    <a:pt x="42620" y="19251"/>
                  </a:cubicBezTo>
                  <a:lnTo>
                    <a:pt x="21148" y="21600"/>
                  </a:lnTo>
                  <a:lnTo>
                    <a:pt x="0" y="17203"/>
                  </a:lnTo>
                  <a:close/>
                </a:path>
              </a:pathLst>
            </a:custGeom>
            <a:noFill/>
            <a:ln w="19050">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7819" name="Text Box 10"/>
            <p:cNvSpPr txBox="1">
              <a:spLocks noChangeArrowheads="1"/>
            </p:cNvSpPr>
            <p:nvPr/>
          </p:nvSpPr>
          <p:spPr bwMode="auto">
            <a:xfrm>
              <a:off x="1610" y="2888"/>
              <a:ext cx="244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000" b="0">
                  <a:solidFill>
                    <a:schemeClr val="tx2"/>
                  </a:solidFill>
                </a:rPr>
                <a:t>NADP</a:t>
              </a:r>
              <a:r>
                <a:rPr kumimoji="1" lang="en-US" altLang="zh-CN" sz="2000" b="0" baseline="30000">
                  <a:solidFill>
                    <a:schemeClr val="tx2"/>
                  </a:solidFill>
                </a:rPr>
                <a:t>+            </a:t>
              </a:r>
              <a:r>
                <a:rPr kumimoji="1" lang="en-US" altLang="zh-CN" sz="2000" b="0">
                  <a:solidFill>
                    <a:schemeClr val="tx2"/>
                  </a:solidFill>
                </a:rPr>
                <a:t>NADPH+H</a:t>
              </a:r>
              <a:r>
                <a:rPr kumimoji="1" lang="en-US" altLang="zh-CN" sz="2000" b="0" baseline="30000">
                  <a:solidFill>
                    <a:schemeClr val="tx2"/>
                  </a:solidFill>
                </a:rPr>
                <a:t>+</a:t>
              </a:r>
              <a:endParaRPr kumimoji="1" lang="en-US" altLang="zh-CN" sz="2000" b="0">
                <a:solidFill>
                  <a:schemeClr val="tx2"/>
                </a:solidFill>
              </a:endParaRPr>
            </a:p>
          </p:txBody>
        </p:sp>
        <p:sp>
          <p:nvSpPr>
            <p:cNvPr id="247820" name="Text Box 11"/>
            <p:cNvSpPr txBox="1">
              <a:spLocks noChangeArrowheads="1"/>
            </p:cNvSpPr>
            <p:nvPr/>
          </p:nvSpPr>
          <p:spPr bwMode="auto">
            <a:xfrm>
              <a:off x="1564" y="2208"/>
              <a:ext cx="21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400" b="0">
                  <a:solidFill>
                    <a:srgbClr val="000099"/>
                  </a:solidFill>
                </a:rPr>
                <a:t>A                   AH</a:t>
              </a:r>
              <a:r>
                <a:rPr kumimoji="1" lang="en-US" altLang="zh-CN" sz="2400" b="0" baseline="-25000">
                  <a:solidFill>
                    <a:srgbClr val="000099"/>
                  </a:solidFill>
                </a:rPr>
                <a:t>2 </a:t>
              </a:r>
              <a:endParaRPr kumimoji="1" lang="en-US" altLang="zh-CN" sz="2400" b="0">
                <a:solidFill>
                  <a:srgbClr val="000099"/>
                </a:solidFill>
              </a:endParaRPr>
            </a:p>
          </p:txBody>
        </p:sp>
      </p:grpSp>
      <p:sp>
        <p:nvSpPr>
          <p:cNvPr id="13" name="Rectangle 2"/>
          <p:cNvSpPr txBox="1">
            <a:spLocks noChangeArrowheads="1"/>
          </p:cNvSpPr>
          <p:nvPr/>
        </p:nvSpPr>
        <p:spPr>
          <a:xfrm>
            <a:off x="2209800" y="613656"/>
            <a:ext cx="7772400" cy="838200"/>
          </a:xfrm>
          <a:prstGeom prst="rect">
            <a:avLst/>
          </a:prstGeom>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algn="ctr" eaLnBrk="1" hangingPunct="1">
              <a:buFont typeface="Wingdings" panose="05000000000000000000" pitchFamily="2" charset="2"/>
              <a:buNone/>
              <a:defRPr/>
            </a:pPr>
            <a:r>
              <a:rPr lang="zh-CN" altLang="en-US" sz="3600" kern="0" dirty="0">
                <a:solidFill>
                  <a:srgbClr val="660033"/>
                </a:solidFill>
                <a:latin typeface="楷体_GB2312" pitchFamily="49" charset="-122"/>
              </a:rPr>
              <a:t>  </a:t>
            </a:r>
            <a:r>
              <a:rPr lang="en-US" altLang="zh-CN" sz="3600" kern="0" dirty="0">
                <a:solidFill>
                  <a:srgbClr val="660033"/>
                </a:solidFill>
                <a:latin typeface="楷体_GB2312" pitchFamily="49" charset="-122"/>
              </a:rPr>
              <a:t>NADPH</a:t>
            </a:r>
            <a:r>
              <a:rPr lang="zh-CN" altLang="en-US" sz="3600" kern="0" dirty="0">
                <a:solidFill>
                  <a:srgbClr val="660033"/>
                </a:solidFill>
                <a:latin typeface="楷体_GB2312" pitchFamily="49" charset="-122"/>
              </a:rPr>
              <a:t>作为多种代谢反应的供氢体</a:t>
            </a:r>
            <a:endParaRPr lang="zh-CN" altLang="en-US" sz="3600" kern="0" dirty="0">
              <a:solidFill>
                <a:srgbClr val="660033"/>
              </a:solidFill>
              <a:latin typeface="楷体_GB2312" pitchFamily="49"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40642"/>
                                        </p:tgtEl>
                                        <p:attrNameLst>
                                          <p:attrName>style.visibility</p:attrName>
                                        </p:attrNameLst>
                                      </p:cBhvr>
                                      <p:to>
                                        <p:strVal val="visible"/>
                                      </p:to>
                                    </p:set>
                                    <p:animEffect transition="in" filter="barn(inVertical)">
                                      <p:cBhvr>
                                        <p:cTn id="7" dur="500"/>
                                        <p:tgtEl>
                                          <p:spTgt spid="24064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40643"/>
                                        </p:tgtEl>
                                        <p:attrNameLst>
                                          <p:attrName>style.visibility</p:attrName>
                                        </p:attrNameLst>
                                      </p:cBhvr>
                                      <p:to>
                                        <p:strVal val="visible"/>
                                      </p:to>
                                    </p:set>
                                    <p:animEffect transition="in" filter="barn(outVertical)">
                                      <p:cBhvr>
                                        <p:cTn id="12" dur="500"/>
                                        <p:tgtEl>
                                          <p:spTgt spid="24064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240644"/>
                                        </p:tgtEl>
                                        <p:attrNameLst>
                                          <p:attrName>style.visibility</p:attrName>
                                        </p:attrNameLst>
                                      </p:cBhvr>
                                      <p:to>
                                        <p:strVal val="visible"/>
                                      </p:to>
                                    </p:set>
                                    <p:animEffect transition="in" filter="randombar(vertical)">
                                      <p:cBhvr>
                                        <p:cTn id="17" dur="500"/>
                                        <p:tgtEl>
                                          <p:spTgt spid="240644"/>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autoUpdateAnimBg="0"/>
      <p:bldP spid="240643" grpId="0" autoUpdateAnimBg="0"/>
      <p:bldP spid="240644"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body" idx="4294967295"/>
          </p:nvPr>
        </p:nvSpPr>
        <p:spPr>
          <a:xfrm>
            <a:off x="731404" y="1149288"/>
            <a:ext cx="10729191" cy="5436901"/>
          </a:xfrm>
        </p:spPr>
        <p:txBody>
          <a:bodyPr/>
          <a:lstStyle/>
          <a:p>
            <a:pPr eaLnBrk="1" hangingPunct="1">
              <a:lnSpc>
                <a:spcPct val="110000"/>
              </a:lnSpc>
              <a:spcBef>
                <a:spcPts val="1200"/>
              </a:spcBef>
            </a:pPr>
            <a:r>
              <a:rPr lang="zh-CN" altLang="en-US" sz="2600" b="0" dirty="0"/>
              <a:t>最常见的遗传性溶血性疾病。红细胞</a:t>
            </a:r>
            <a:r>
              <a:rPr lang="zh-CN" altLang="en-US" sz="2600" b="0" dirty="0">
                <a:solidFill>
                  <a:srgbClr val="FF0000"/>
                </a:solidFill>
              </a:rPr>
              <a:t>葡萄糖</a:t>
            </a:r>
            <a:r>
              <a:rPr lang="en-US" altLang="zh-CN" sz="2600" b="0" dirty="0">
                <a:solidFill>
                  <a:srgbClr val="FF0000"/>
                </a:solidFill>
              </a:rPr>
              <a:t>-6-</a:t>
            </a:r>
            <a:r>
              <a:rPr lang="zh-CN" altLang="en-US" sz="2600" b="0" dirty="0">
                <a:solidFill>
                  <a:srgbClr val="FF0000"/>
                </a:solidFill>
              </a:rPr>
              <a:t>磷酸脱氢酶</a:t>
            </a:r>
            <a:r>
              <a:rPr lang="en-US" altLang="zh-CN" sz="2600" b="0" dirty="0">
                <a:solidFill>
                  <a:srgbClr val="FF0000"/>
                </a:solidFill>
              </a:rPr>
              <a:t>(G6PD)</a:t>
            </a:r>
            <a:r>
              <a:rPr lang="zh-CN" altLang="en-US" sz="2600" b="0" dirty="0">
                <a:solidFill>
                  <a:srgbClr val="FF0000"/>
                </a:solidFill>
              </a:rPr>
              <a:t>缺陷</a:t>
            </a:r>
            <a:r>
              <a:rPr lang="zh-CN" altLang="en-US" sz="2600" b="0" dirty="0"/>
              <a:t>的疾病。</a:t>
            </a:r>
            <a:endParaRPr lang="en-US" altLang="zh-CN" sz="2600" b="0" dirty="0"/>
          </a:p>
          <a:p>
            <a:pPr eaLnBrk="1" hangingPunct="1">
              <a:lnSpc>
                <a:spcPct val="110000"/>
              </a:lnSpc>
              <a:spcBef>
                <a:spcPts val="1200"/>
              </a:spcBef>
            </a:pPr>
            <a:r>
              <a:rPr lang="zh-CN" altLang="en-US" sz="2600" b="0" dirty="0"/>
              <a:t>因进食干、鲜蚕豆或蚕豆制品</a:t>
            </a:r>
            <a:r>
              <a:rPr lang="en-US" altLang="zh-CN" sz="2600" b="0" dirty="0"/>
              <a:t>, </a:t>
            </a:r>
            <a:r>
              <a:rPr lang="zh-CN" altLang="en-US" sz="2600" b="0" dirty="0"/>
              <a:t>或吸入蚕豆花粉</a:t>
            </a:r>
            <a:r>
              <a:rPr lang="en-US" altLang="zh-CN" sz="2600" b="0" dirty="0"/>
              <a:t>, </a:t>
            </a:r>
            <a:r>
              <a:rPr lang="zh-CN" altLang="en-US" sz="2600" b="0" dirty="0"/>
              <a:t>服用具有氧化作用的药物而引起的</a:t>
            </a:r>
            <a:r>
              <a:rPr lang="zh-CN" altLang="en-US" sz="2600" b="0" dirty="0">
                <a:solidFill>
                  <a:srgbClr val="0000CC"/>
                </a:solidFill>
              </a:rPr>
              <a:t>急性血管内溶血</a:t>
            </a:r>
            <a:r>
              <a:rPr lang="zh-CN" altLang="en-US" sz="2600" b="0" dirty="0"/>
              <a:t>。</a:t>
            </a:r>
            <a:r>
              <a:rPr lang="zh-CN" altLang="en-US" sz="2600" b="0" dirty="0">
                <a:solidFill>
                  <a:srgbClr val="0000CC"/>
                </a:solidFill>
              </a:rPr>
              <a:t>常发生于初夏蚕豆成熟季节。</a:t>
            </a:r>
            <a:endParaRPr lang="en-US" altLang="zh-CN" sz="2600" b="0" dirty="0"/>
          </a:p>
          <a:p>
            <a:pPr eaLnBrk="1" hangingPunct="1">
              <a:lnSpc>
                <a:spcPct val="110000"/>
              </a:lnSpc>
              <a:spcBef>
                <a:spcPts val="1200"/>
              </a:spcBef>
            </a:pPr>
            <a:r>
              <a:rPr lang="en-US" altLang="zh-CN" sz="2600" b="0" dirty="0">
                <a:solidFill>
                  <a:srgbClr val="C00000"/>
                </a:solidFill>
              </a:rPr>
              <a:t>X</a:t>
            </a:r>
            <a:r>
              <a:rPr lang="zh-CN" altLang="en-US" sz="2600" b="0" dirty="0">
                <a:solidFill>
                  <a:srgbClr val="C00000"/>
                </a:solidFill>
              </a:rPr>
              <a:t>连锁不完全显性遗传，</a:t>
            </a:r>
            <a:r>
              <a:rPr lang="en-US" altLang="zh-CN" sz="2600" b="0" dirty="0">
                <a:solidFill>
                  <a:srgbClr val="0000CC"/>
                </a:solidFill>
              </a:rPr>
              <a:t>3</a:t>
            </a:r>
            <a:r>
              <a:rPr lang="zh-CN" altLang="en-US" sz="2600" b="0" dirty="0">
                <a:solidFill>
                  <a:srgbClr val="0000CC"/>
                </a:solidFill>
              </a:rPr>
              <a:t>岁以下患者占</a:t>
            </a:r>
            <a:r>
              <a:rPr lang="en-US" altLang="zh-CN" sz="2600" b="0" dirty="0">
                <a:solidFill>
                  <a:srgbClr val="0000CC"/>
                </a:solidFill>
              </a:rPr>
              <a:t>70</a:t>
            </a:r>
            <a:r>
              <a:rPr lang="zh-CN" altLang="en-US" sz="2600" b="0" dirty="0">
                <a:solidFill>
                  <a:srgbClr val="0000CC"/>
                </a:solidFill>
              </a:rPr>
              <a:t>％，男性占</a:t>
            </a:r>
            <a:r>
              <a:rPr lang="en-US" altLang="zh-CN" sz="2600" b="0" dirty="0">
                <a:solidFill>
                  <a:srgbClr val="0000CC"/>
                </a:solidFill>
              </a:rPr>
              <a:t>90</a:t>
            </a:r>
            <a:r>
              <a:rPr lang="zh-CN" altLang="en-US" sz="2600" b="0" dirty="0">
                <a:solidFill>
                  <a:srgbClr val="0000CC"/>
                </a:solidFill>
              </a:rPr>
              <a:t>％。</a:t>
            </a:r>
            <a:r>
              <a:rPr lang="zh-CN" altLang="en-US" sz="2600" b="0" dirty="0"/>
              <a:t>有少数病例至中年或老年才首次发病。</a:t>
            </a:r>
            <a:endParaRPr lang="en-US" altLang="zh-CN" sz="2600" b="0" dirty="0"/>
          </a:p>
          <a:p>
            <a:pPr eaLnBrk="1" hangingPunct="1">
              <a:lnSpc>
                <a:spcPct val="110000"/>
              </a:lnSpc>
              <a:spcBef>
                <a:spcPts val="1200"/>
              </a:spcBef>
            </a:pPr>
            <a:r>
              <a:rPr lang="zh-CN" altLang="en-US" sz="2600" b="0" dirty="0"/>
              <a:t>全球约</a:t>
            </a:r>
            <a:r>
              <a:rPr lang="en-US" altLang="zh-CN" sz="2600" b="0" dirty="0"/>
              <a:t>4</a:t>
            </a:r>
            <a:r>
              <a:rPr lang="zh-CN" altLang="en-US" sz="2600" b="0" dirty="0"/>
              <a:t>亿缺陷基因携带者，亚洲、非洲、地中海、中东等地多见。 </a:t>
            </a:r>
            <a:r>
              <a:rPr lang="zh-CN" altLang="en-US" sz="2600" b="0" dirty="0">
                <a:solidFill>
                  <a:srgbClr val="0000CC"/>
                </a:solidFill>
              </a:rPr>
              <a:t>大多无症状</a:t>
            </a:r>
            <a:r>
              <a:rPr lang="zh-CN" altLang="en-US" sz="2600" b="0" dirty="0"/>
              <a:t>。</a:t>
            </a:r>
            <a:endParaRPr lang="en-US" altLang="zh-CN" sz="2600" b="0" dirty="0"/>
          </a:p>
          <a:p>
            <a:pPr eaLnBrk="1" hangingPunct="1">
              <a:lnSpc>
                <a:spcPct val="110000"/>
              </a:lnSpc>
              <a:spcBef>
                <a:spcPts val="1200"/>
              </a:spcBef>
            </a:pPr>
            <a:r>
              <a:rPr lang="zh-CN" altLang="en-US" sz="2600" b="0" dirty="0"/>
              <a:t>我国各地均有，</a:t>
            </a:r>
            <a:r>
              <a:rPr lang="zh-CN" altLang="en-US" sz="2600" b="0" dirty="0">
                <a:solidFill>
                  <a:srgbClr val="C00000"/>
                </a:solidFill>
              </a:rPr>
              <a:t>南高北低</a:t>
            </a:r>
            <a:r>
              <a:rPr lang="zh-CN" altLang="en-US" sz="2600" b="0" dirty="0"/>
              <a:t>。</a:t>
            </a:r>
            <a:endParaRPr lang="en-US" altLang="zh-CN" sz="2600" b="0" dirty="0"/>
          </a:p>
          <a:p>
            <a:pPr eaLnBrk="1" hangingPunct="1">
              <a:lnSpc>
                <a:spcPct val="110000"/>
              </a:lnSpc>
              <a:spcBef>
                <a:spcPts val="1200"/>
              </a:spcBef>
            </a:pPr>
            <a:r>
              <a:rPr lang="zh-CN" altLang="en-US" sz="2600" b="0" dirty="0"/>
              <a:t>属南方地区新生儿筛查项目</a:t>
            </a:r>
            <a:endParaRPr lang="zh-CN" altLang="en-US" sz="2600" b="0" dirty="0"/>
          </a:p>
        </p:txBody>
      </p:sp>
      <p:sp>
        <p:nvSpPr>
          <p:cNvPr id="2" name="矩形 1"/>
          <p:cNvSpPr/>
          <p:nvPr/>
        </p:nvSpPr>
        <p:spPr>
          <a:xfrm>
            <a:off x="3060700" y="260351"/>
            <a:ext cx="6121400" cy="646113"/>
          </a:xfrm>
          <a:prstGeom prst="rect">
            <a:avLst/>
          </a:prstGeom>
        </p:spPr>
        <p:txBody>
          <a:bodyPr>
            <a:spAutoFit/>
          </a:bodyPr>
          <a:lstStyle/>
          <a:p>
            <a:pPr marL="342900" indent="-342900" algn="ctr" eaLnBrk="1" hangingPunct="1">
              <a:spcBef>
                <a:spcPct val="20000"/>
              </a:spcBef>
              <a:buClr>
                <a:srgbClr val="7DA0D3"/>
              </a:buClr>
              <a:buSzPct val="75000"/>
              <a:defRPr/>
            </a:pPr>
            <a:r>
              <a:rPr lang="zh-CN" altLang="en-US" sz="3600" kern="0" dirty="0">
                <a:solidFill>
                  <a:srgbClr val="5D2785"/>
                </a:solidFill>
                <a:latin typeface="Times New Roman" panose="02020603050405020304"/>
                <a:ea typeface="楷体_GB2312"/>
              </a:rPr>
              <a:t>蚕豆病（</a:t>
            </a:r>
            <a:r>
              <a:rPr lang="en-US" altLang="zh-CN" sz="3600" kern="0" dirty="0">
                <a:solidFill>
                  <a:srgbClr val="5D2785"/>
                </a:solidFill>
                <a:latin typeface="Times New Roman" panose="02020603050405020304"/>
                <a:ea typeface="楷体_GB2312"/>
              </a:rPr>
              <a:t>favism, fabism)</a:t>
            </a:r>
            <a:endParaRPr lang="zh-CN" altLang="en-US" sz="3600" kern="0" dirty="0">
              <a:solidFill>
                <a:srgbClr val="5D2785"/>
              </a:solidFill>
              <a:latin typeface="Times New Roman" panose="02020603050405020304"/>
              <a:ea typeface="楷体_GB2312"/>
            </a:endParaRPr>
          </a:p>
        </p:txBody>
      </p:sp>
      <p:pic>
        <p:nvPicPr>
          <p:cNvPr id="25395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345614" y="5202238"/>
            <a:ext cx="1258887" cy="154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57"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43801" y="5157789"/>
            <a:ext cx="1801813"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524000" y="836712"/>
            <a:ext cx="9144000" cy="2407708"/>
          </a:xfrm>
          <a:prstGeom prst="rect">
            <a:avLst/>
          </a:prstGeom>
        </p:spPr>
      </p:pic>
      <p:sp>
        <p:nvSpPr>
          <p:cNvPr id="9" name="文本框 8"/>
          <p:cNvSpPr txBox="1"/>
          <p:nvPr/>
        </p:nvSpPr>
        <p:spPr>
          <a:xfrm>
            <a:off x="1703512" y="3573017"/>
            <a:ext cx="8964488" cy="2713948"/>
          </a:xfrm>
          <a:prstGeom prst="rect">
            <a:avLst/>
          </a:prstGeom>
          <a:noFill/>
        </p:spPr>
        <p:txBody>
          <a:bodyPr wrap="square">
            <a:spAutoFit/>
          </a:bodyPr>
          <a:lstStyle/>
          <a:p>
            <a:pPr>
              <a:lnSpc>
                <a:spcPct val="120000"/>
              </a:lnSpc>
            </a:pPr>
            <a:r>
              <a:rPr lang="zh-CN" altLang="en-US" sz="2400" b="0" dirty="0">
                <a:latin typeface="微软雅黑" panose="020B0503020204020204" pitchFamily="34" charset="-122"/>
                <a:ea typeface="微软雅黑" panose="020B0503020204020204" pitchFamily="34" charset="-122"/>
              </a:rPr>
              <a:t>“本组有</a:t>
            </a:r>
            <a:r>
              <a:rPr lang="en-US" altLang="zh-CN" sz="2400" b="0" dirty="0">
                <a:solidFill>
                  <a:srgbClr val="0000CC"/>
                </a:solidFill>
                <a:latin typeface="微软雅黑" panose="020B0503020204020204" pitchFamily="34" charset="-122"/>
                <a:ea typeface="微软雅黑" panose="020B0503020204020204" pitchFamily="34" charset="-122"/>
              </a:rPr>
              <a:t>4</a:t>
            </a:r>
            <a:r>
              <a:rPr lang="zh-CN" altLang="en-US" sz="2400" b="0" dirty="0">
                <a:solidFill>
                  <a:srgbClr val="0000CC"/>
                </a:solidFill>
                <a:latin typeface="微软雅黑" panose="020B0503020204020204" pitchFamily="34" charset="-122"/>
                <a:ea typeface="微软雅黑" panose="020B0503020204020204" pitchFamily="34" charset="-122"/>
              </a:rPr>
              <a:t>例具同样遗传缺陷的患者亲属在同食蚕豆后并不发病</a:t>
            </a: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故认为</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与个体对蚕豆的消化、吸收、排泄、过敏和解毒能力以及体内其他酶系统状态及食物中其他物质</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维生素</a:t>
            </a:r>
            <a:r>
              <a:rPr lang="en-US" altLang="zh-CN" sz="2400" b="0" dirty="0">
                <a:latin typeface="微软雅黑" panose="020B0503020204020204" pitchFamily="34" charset="-122"/>
                <a:ea typeface="微软雅黑" panose="020B0503020204020204" pitchFamily="34" charset="-122"/>
              </a:rPr>
              <a:t>C)</a:t>
            </a:r>
            <a:r>
              <a:rPr lang="zh-CN" altLang="en-US" sz="2400" b="0" dirty="0">
                <a:latin typeface="微软雅黑" panose="020B0503020204020204" pitchFamily="34" charset="-122"/>
                <a:ea typeface="微软雅黑" panose="020B0503020204020204" pitchFamily="34" charset="-122"/>
              </a:rPr>
              <a:t>有关</a:t>
            </a:r>
            <a:r>
              <a:rPr lang="en-US" altLang="zh-CN" sz="2400" b="0" dirty="0">
                <a:latin typeface="微软雅黑" panose="020B0503020204020204" pitchFamily="34" charset="-122"/>
                <a:ea typeface="微软雅黑" panose="020B0503020204020204" pitchFamily="34" charset="-122"/>
              </a:rPr>
              <a:t>.</a:t>
            </a:r>
            <a:endParaRPr lang="en-US" altLang="zh-CN" sz="2400" b="0" dirty="0">
              <a:latin typeface="微软雅黑" panose="020B0503020204020204" pitchFamily="34" charset="-122"/>
              <a:ea typeface="微软雅黑" panose="020B0503020204020204" pitchFamily="34" charset="-122"/>
            </a:endParaRPr>
          </a:p>
          <a:p>
            <a:pPr>
              <a:lnSpc>
                <a:spcPct val="120000"/>
              </a:lnSpc>
            </a:pPr>
            <a:r>
              <a:rPr lang="zh-CN" altLang="en-US" sz="2400" b="0" dirty="0">
                <a:solidFill>
                  <a:srgbClr val="0000CC"/>
                </a:solidFill>
                <a:latin typeface="微软雅黑" panose="020B0503020204020204" pitchFamily="34" charset="-122"/>
                <a:ea typeface="微软雅黑" panose="020B0503020204020204" pitchFamily="34" charset="-122"/>
              </a:rPr>
              <a:t>本组</a:t>
            </a:r>
            <a:r>
              <a:rPr lang="en-US" altLang="zh-CN" sz="2400" b="0" dirty="0">
                <a:solidFill>
                  <a:srgbClr val="0000CC"/>
                </a:solidFill>
                <a:latin typeface="微软雅黑" panose="020B0503020204020204" pitchFamily="34" charset="-122"/>
                <a:ea typeface="微软雅黑" panose="020B0503020204020204" pitchFamily="34" charset="-122"/>
              </a:rPr>
              <a:t>2</a:t>
            </a:r>
            <a:r>
              <a:rPr lang="zh-CN" altLang="en-US" sz="2400" b="0" dirty="0">
                <a:solidFill>
                  <a:srgbClr val="0000CC"/>
                </a:solidFill>
                <a:latin typeface="微软雅黑" panose="020B0503020204020204" pitchFamily="34" charset="-122"/>
                <a:ea typeface="微软雅黑" panose="020B0503020204020204" pitchFamily="34" charset="-122"/>
              </a:rPr>
              <a:t>例是在蚕豆成熟季节路过蚕豆地后发病</a:t>
            </a:r>
            <a:r>
              <a:rPr lang="en-US" altLang="zh-CN" sz="2400" b="0" dirty="0">
                <a:solidFill>
                  <a:srgbClr val="0000CC"/>
                </a:solidFill>
                <a:latin typeface="微软雅黑" panose="020B0503020204020204" pitchFamily="34" charset="-122"/>
                <a:ea typeface="微软雅黑" panose="020B0503020204020204" pitchFamily="34" charset="-122"/>
              </a:rPr>
              <a:t>,</a:t>
            </a:r>
            <a:r>
              <a:rPr lang="zh-CN" altLang="en-US" sz="2400" b="0" dirty="0">
                <a:solidFill>
                  <a:srgbClr val="0000CC"/>
                </a:solidFill>
                <a:latin typeface="微软雅黑" panose="020B0503020204020204" pitchFamily="34" charset="-122"/>
                <a:ea typeface="微软雅黑" panose="020B0503020204020204" pitchFamily="34" charset="-122"/>
              </a:rPr>
              <a:t>其间并无进食蚕豆史</a:t>
            </a:r>
            <a:r>
              <a:rPr lang="en-US" altLang="zh-CN" sz="2400" b="0" dirty="0">
                <a:solidFill>
                  <a:srgbClr val="0000CC"/>
                </a:solidFill>
                <a:latin typeface="微软雅黑" panose="020B0503020204020204" pitchFamily="34" charset="-122"/>
                <a:ea typeface="微软雅黑" panose="020B0503020204020204" pitchFamily="34" charset="-122"/>
              </a:rPr>
              <a:t>(</a:t>
            </a:r>
            <a:r>
              <a:rPr lang="zh-CN" altLang="en-US" sz="2400" b="0" dirty="0">
                <a:solidFill>
                  <a:srgbClr val="0000CC"/>
                </a:solidFill>
                <a:latin typeface="微软雅黑" panose="020B0503020204020204" pitchFamily="34" charset="-122"/>
                <a:ea typeface="微软雅黑" panose="020B0503020204020204" pitchFamily="34" charset="-122"/>
              </a:rPr>
              <a:t>吸入花粉</a:t>
            </a:r>
            <a:r>
              <a:rPr lang="en-US" altLang="zh-CN" sz="2400" b="0" dirty="0">
                <a:solidFill>
                  <a:srgbClr val="0000CC"/>
                </a:solidFill>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。因此</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蚕豆病的发病是多因素参与协同作用的结果</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有些机制</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尚待进一步探讨。</a:t>
            </a:r>
            <a:r>
              <a:rPr lang="en-US" altLang="zh-CN" sz="2400" b="0" dirty="0">
                <a:latin typeface="微软雅黑" panose="020B0503020204020204" pitchFamily="34" charset="-122"/>
                <a:ea typeface="微软雅黑" panose="020B0503020204020204" pitchFamily="34" charset="-122"/>
              </a:rPr>
              <a:t>”</a:t>
            </a:r>
            <a:endParaRPr lang="zh-CN" altLang="en-US" sz="2400" b="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223792" y="260649"/>
            <a:ext cx="4572000" cy="461665"/>
          </a:xfrm>
          <a:prstGeom prst="rect">
            <a:avLst/>
          </a:prstGeom>
          <a:noFill/>
        </p:spPr>
        <p:txBody>
          <a:bodyPr wrap="square">
            <a:spAutoFit/>
          </a:bodyPr>
          <a:lstStyle/>
          <a:p>
            <a:r>
              <a:rPr lang="zh-CN" altLang="en-US" sz="2400" dirty="0"/>
              <a:t>小儿蚕豆病 </a:t>
            </a:r>
            <a:r>
              <a:rPr lang="en-US" altLang="zh-CN" sz="2400" dirty="0"/>
              <a:t>73 </a:t>
            </a:r>
            <a:r>
              <a:rPr lang="zh-CN" altLang="en-US" sz="2400" dirty="0"/>
              <a:t>例临床分析 </a:t>
            </a:r>
            <a:endParaRPr lang="zh-CN" altLang="en-US" sz="240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9858" name="标题 1"/>
          <p:cNvSpPr>
            <a:spLocks noGrp="1" noChangeArrowheads="1"/>
          </p:cNvSpPr>
          <p:nvPr>
            <p:ph type="title"/>
          </p:nvPr>
        </p:nvSpPr>
        <p:spPr>
          <a:xfrm>
            <a:off x="2495550" y="549276"/>
            <a:ext cx="7391400" cy="563563"/>
          </a:xfrm>
        </p:spPr>
        <p:txBody>
          <a:bodyPr/>
          <a:lstStyle/>
          <a:p>
            <a:r>
              <a:rPr lang="zh-CN" altLang="en-US"/>
              <a:t>相关病例</a:t>
            </a:r>
            <a:endParaRPr lang="zh-CN" altLang="en-US"/>
          </a:p>
        </p:txBody>
      </p:sp>
      <p:sp>
        <p:nvSpPr>
          <p:cNvPr id="249859" name="内容占位符 2"/>
          <p:cNvSpPr>
            <a:spLocks noGrp="1" noChangeArrowheads="1"/>
          </p:cNvSpPr>
          <p:nvPr>
            <p:ph idx="1"/>
          </p:nvPr>
        </p:nvSpPr>
        <p:spPr>
          <a:xfrm>
            <a:off x="1055440" y="1341439"/>
            <a:ext cx="10225136" cy="4967287"/>
          </a:xfrm>
        </p:spPr>
        <p:txBody>
          <a:bodyPr/>
          <a:lstStyle/>
          <a:p>
            <a:r>
              <a:rPr lang="zh-CN" altLang="en-US" sz="2600" b="0" dirty="0"/>
              <a:t>患儿，</a:t>
            </a:r>
            <a:r>
              <a:rPr lang="zh-CN" altLang="en-US" sz="2600" b="0" dirty="0">
                <a:solidFill>
                  <a:srgbClr val="0000CC"/>
                </a:solidFill>
              </a:rPr>
              <a:t>男性，</a:t>
            </a:r>
            <a:r>
              <a:rPr lang="en-US" altLang="zh-CN" sz="2600" b="0" dirty="0">
                <a:solidFill>
                  <a:srgbClr val="0000CC"/>
                </a:solidFill>
              </a:rPr>
              <a:t>2</a:t>
            </a:r>
            <a:r>
              <a:rPr lang="zh-CN" altLang="en-US" sz="2600" b="0" dirty="0">
                <a:solidFill>
                  <a:srgbClr val="0000CC"/>
                </a:solidFill>
              </a:rPr>
              <a:t>岁</a:t>
            </a:r>
            <a:r>
              <a:rPr lang="zh-CN" altLang="en-US" sz="2600" b="0" dirty="0"/>
              <a:t>，因</a:t>
            </a:r>
            <a:r>
              <a:rPr lang="zh-CN" altLang="en-US" sz="2600" b="0" dirty="0">
                <a:solidFill>
                  <a:srgbClr val="0000CC"/>
                </a:solidFill>
              </a:rPr>
              <a:t>面色苍白伴血尿</a:t>
            </a:r>
            <a:r>
              <a:rPr lang="en-US" altLang="zh-CN" sz="2600" b="0" dirty="0">
                <a:solidFill>
                  <a:srgbClr val="0000CC"/>
                </a:solidFill>
              </a:rPr>
              <a:t>2</a:t>
            </a:r>
            <a:r>
              <a:rPr lang="zh-CN" altLang="en-US" sz="2600" b="0" dirty="0">
                <a:solidFill>
                  <a:srgbClr val="0000CC"/>
                </a:solidFill>
              </a:rPr>
              <a:t>天</a:t>
            </a:r>
            <a:r>
              <a:rPr lang="zh-CN" altLang="en-US" sz="2600" b="0" dirty="0"/>
              <a:t>入院。</a:t>
            </a:r>
            <a:r>
              <a:rPr lang="en-US" altLang="zh-CN" sz="2600" b="0" dirty="0"/>
              <a:t>2</a:t>
            </a:r>
            <a:r>
              <a:rPr lang="zh-CN" altLang="en-US" sz="2600" b="0" dirty="0"/>
              <a:t>天前患儿</a:t>
            </a:r>
            <a:r>
              <a:rPr lang="zh-CN" altLang="en-US" sz="2600" b="0" dirty="0">
                <a:solidFill>
                  <a:srgbClr val="0000CC"/>
                </a:solidFill>
              </a:rPr>
              <a:t>食新鲜蚕豆</a:t>
            </a:r>
            <a:r>
              <a:rPr lang="zh-CN" altLang="en-US" sz="2600" b="0" dirty="0"/>
              <a:t>后，次日出现发烧、恶心、呕吐，排</a:t>
            </a:r>
            <a:r>
              <a:rPr lang="zh-CN" altLang="en-US" sz="2600" b="0" dirty="0">
                <a:solidFill>
                  <a:srgbClr val="0000CC"/>
                </a:solidFill>
              </a:rPr>
              <a:t>浓茶尿</a:t>
            </a:r>
            <a:r>
              <a:rPr lang="zh-CN" altLang="en-US" sz="2600" b="0" dirty="0"/>
              <a:t>症状，</a:t>
            </a:r>
            <a:r>
              <a:rPr lang="zh-CN" altLang="en-US" sz="2600" b="0" dirty="0">
                <a:solidFill>
                  <a:srgbClr val="0000CC"/>
                </a:solidFill>
              </a:rPr>
              <a:t>其母曾有类似病史</a:t>
            </a:r>
            <a:r>
              <a:rPr lang="zh-CN" altLang="en-US" sz="2600" b="0" dirty="0"/>
              <a:t>。</a:t>
            </a:r>
            <a:endParaRPr lang="zh-CN" altLang="en-US" sz="2600" b="0" dirty="0"/>
          </a:p>
          <a:p>
            <a:endParaRPr lang="zh-CN" altLang="en-US" sz="2600" b="0" dirty="0"/>
          </a:p>
          <a:p>
            <a:r>
              <a:rPr lang="zh-CN" altLang="en-US" sz="2600" b="0" dirty="0"/>
              <a:t>体格检查：体温</a:t>
            </a:r>
            <a:r>
              <a:rPr lang="en-US" altLang="zh-CN" sz="2600" b="0" dirty="0"/>
              <a:t>38°C</a:t>
            </a:r>
            <a:r>
              <a:rPr lang="zh-CN" altLang="en-US" sz="2600" b="0" dirty="0"/>
              <a:t>，脉搏</a:t>
            </a:r>
            <a:r>
              <a:rPr lang="en-US" altLang="zh-CN" sz="2600" b="0" dirty="0"/>
              <a:t>148</a:t>
            </a:r>
            <a:r>
              <a:rPr lang="zh-CN" altLang="en-US" sz="2600" b="0" dirty="0"/>
              <a:t>次</a:t>
            </a:r>
            <a:r>
              <a:rPr lang="en-US" altLang="zh-CN" sz="2600" b="0" dirty="0"/>
              <a:t>/</a:t>
            </a:r>
            <a:r>
              <a:rPr lang="zh-CN" altLang="en-US" sz="2600" b="0" dirty="0"/>
              <a:t>每分，血压正常，呼吸急促，神情萎靡，</a:t>
            </a:r>
            <a:r>
              <a:rPr lang="zh-CN" altLang="en-US" sz="2600" b="0" dirty="0">
                <a:solidFill>
                  <a:srgbClr val="0000CC"/>
                </a:solidFill>
              </a:rPr>
              <a:t>皮肤及巩膜黄染</a:t>
            </a:r>
            <a:r>
              <a:rPr lang="zh-CN" altLang="en-US" sz="2600" b="0" dirty="0"/>
              <a:t>，</a:t>
            </a:r>
            <a:r>
              <a:rPr lang="zh-CN" altLang="en-US" sz="2600" b="0" dirty="0">
                <a:solidFill>
                  <a:srgbClr val="0000CC"/>
                </a:solidFill>
              </a:rPr>
              <a:t>肝肿大</a:t>
            </a:r>
            <a:r>
              <a:rPr lang="zh-CN" altLang="en-US" sz="2600" b="0" dirty="0"/>
              <a:t>。实验室检查：</a:t>
            </a:r>
            <a:r>
              <a:rPr lang="zh-CN" altLang="en-US" sz="2600" b="0" dirty="0">
                <a:solidFill>
                  <a:srgbClr val="0000CC"/>
                </a:solidFill>
              </a:rPr>
              <a:t>红细胞、血红蛋白及结合胆红素的值偏低</a:t>
            </a:r>
            <a:r>
              <a:rPr lang="zh-CN" altLang="en-US" sz="2600" b="0" dirty="0"/>
              <a:t>，</a:t>
            </a:r>
            <a:r>
              <a:rPr lang="zh-CN" altLang="en-US" sz="2600" b="0" dirty="0">
                <a:solidFill>
                  <a:srgbClr val="0000CC"/>
                </a:solidFill>
              </a:rPr>
              <a:t>未结合胆红素值高</a:t>
            </a:r>
            <a:r>
              <a:rPr lang="zh-CN" altLang="en-US" sz="2600" b="0" dirty="0"/>
              <a:t>，肾功能正常，尿镜下未见红细胞。</a:t>
            </a:r>
            <a:endParaRPr lang="zh-CN" altLang="en-US" sz="2600" b="0" dirty="0"/>
          </a:p>
          <a:p>
            <a:endParaRPr lang="zh-CN" altLang="en-US" sz="2600" b="0" dirty="0"/>
          </a:p>
          <a:p>
            <a:r>
              <a:rPr lang="zh-CN" altLang="en-US" sz="2600" b="0" dirty="0"/>
              <a:t>问题讨论：</a:t>
            </a:r>
            <a:endParaRPr lang="zh-CN" altLang="en-US" sz="2600" b="0" dirty="0"/>
          </a:p>
          <a:p>
            <a:r>
              <a:rPr lang="en-US" altLang="zh-CN" sz="2600" b="0" dirty="0"/>
              <a:t>1.	</a:t>
            </a:r>
            <a:r>
              <a:rPr lang="zh-CN" altLang="en-US" sz="2600" b="0" dirty="0"/>
              <a:t>该患儿的疾病符合哪一种诊断？</a:t>
            </a:r>
            <a:endParaRPr lang="zh-CN" altLang="en-US" sz="2600" b="0" dirty="0"/>
          </a:p>
          <a:p>
            <a:r>
              <a:rPr lang="en-US" altLang="zh-CN" sz="2600" b="0" dirty="0"/>
              <a:t>2.	</a:t>
            </a:r>
            <a:r>
              <a:rPr lang="zh-CN" altLang="en-US" sz="2600" b="0" dirty="0"/>
              <a:t>该病的发病机制是什么，请从生化角度来予以分析？</a:t>
            </a:r>
            <a:endParaRPr lang="zh-CN" altLang="en-US" sz="2600" b="0" dirty="0"/>
          </a:p>
          <a:p>
            <a:endParaRPr lang="zh-CN" altLang="en-US" sz="2600" b="0" dirty="0"/>
          </a:p>
        </p:txBody>
      </p:sp>
    </p:spTree>
  </p:cSld>
  <p:clrMapOvr>
    <a:masterClrMapping/>
  </p:clrMapOvr>
  <p:transition spd="med">
    <p:zoom/>
  </p:transition>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0098" name="标题 1"/>
          <p:cNvSpPr>
            <a:spLocks noGrp="1" noChangeArrowheads="1"/>
          </p:cNvSpPr>
          <p:nvPr>
            <p:ph type="title"/>
          </p:nvPr>
        </p:nvSpPr>
        <p:spPr>
          <a:xfrm>
            <a:off x="2566988" y="476251"/>
            <a:ext cx="7391400" cy="563563"/>
          </a:xfrm>
        </p:spPr>
        <p:txBody>
          <a:bodyPr/>
          <a:lstStyle/>
          <a:p>
            <a:r>
              <a:rPr lang="en-US" altLang="zh-CN">
                <a:solidFill>
                  <a:srgbClr val="5D2785"/>
                </a:solidFill>
              </a:rPr>
              <a:t>G6PD</a:t>
            </a:r>
            <a:r>
              <a:rPr lang="zh-CN" altLang="en-US">
                <a:solidFill>
                  <a:srgbClr val="5D2785"/>
                </a:solidFill>
              </a:rPr>
              <a:t>缺陷为什么常见？</a:t>
            </a:r>
            <a:endParaRPr lang="zh-CN" altLang="en-US">
              <a:solidFill>
                <a:srgbClr val="5D2785"/>
              </a:solidFill>
            </a:endParaRPr>
          </a:p>
        </p:txBody>
      </p:sp>
      <p:sp>
        <p:nvSpPr>
          <p:cNvPr id="3" name="内容占位符 2"/>
          <p:cNvSpPr>
            <a:spLocks noGrp="1" noChangeArrowheads="1"/>
          </p:cNvSpPr>
          <p:nvPr>
            <p:ph idx="1"/>
          </p:nvPr>
        </p:nvSpPr>
        <p:spPr>
          <a:xfrm>
            <a:off x="695400" y="1557338"/>
            <a:ext cx="10441160" cy="4767262"/>
          </a:xfrm>
        </p:spPr>
        <p:txBody>
          <a:bodyPr/>
          <a:lstStyle/>
          <a:p>
            <a:pPr>
              <a:lnSpc>
                <a:spcPct val="120000"/>
              </a:lnSpc>
            </a:pPr>
            <a:r>
              <a:rPr lang="zh-CN" altLang="en-US" sz="2600" b="0" dirty="0"/>
              <a:t>在热带非洲、中东部分地区及东南亚等疟疾流行区域，</a:t>
            </a:r>
            <a:r>
              <a:rPr lang="en-US" altLang="zh-CN" sz="2600" b="0" dirty="0">
                <a:solidFill>
                  <a:srgbClr val="0000CC"/>
                </a:solidFill>
              </a:rPr>
              <a:t>G6PD</a:t>
            </a:r>
            <a:r>
              <a:rPr lang="zh-CN" altLang="en-US" sz="2600" b="0" dirty="0">
                <a:solidFill>
                  <a:srgbClr val="0000CC"/>
                </a:solidFill>
              </a:rPr>
              <a:t>缺陷可高达</a:t>
            </a:r>
            <a:r>
              <a:rPr lang="en-US" altLang="zh-CN" sz="2600" b="0" dirty="0">
                <a:solidFill>
                  <a:srgbClr val="0000CC"/>
                </a:solidFill>
              </a:rPr>
              <a:t>25%</a:t>
            </a:r>
            <a:r>
              <a:rPr lang="zh-CN" altLang="en-US" sz="2600" b="0" dirty="0"/>
              <a:t>。 体外研究表明，</a:t>
            </a:r>
            <a:r>
              <a:rPr lang="en-US" altLang="zh-CN" sz="2600" b="0" dirty="0"/>
              <a:t>G6PD</a:t>
            </a:r>
            <a:r>
              <a:rPr lang="zh-CN" altLang="en-US" sz="2600" b="0" dirty="0"/>
              <a:t>缺陷的红细胞不利于某种疟原虫的生存（疟原虫对氧化物损害很敏感）， 有</a:t>
            </a:r>
            <a:r>
              <a:rPr lang="zh-CN" altLang="en-US" sz="2600" b="0" dirty="0">
                <a:solidFill>
                  <a:srgbClr val="0000CC"/>
                </a:solidFill>
              </a:rPr>
              <a:t>抵抗疟疾的优势。</a:t>
            </a:r>
            <a:endParaRPr lang="en-US" altLang="zh-CN" sz="2600" b="0" dirty="0">
              <a:solidFill>
                <a:srgbClr val="0000CC"/>
              </a:solidFill>
            </a:endParaRPr>
          </a:p>
          <a:p>
            <a:pPr>
              <a:lnSpc>
                <a:spcPct val="120000"/>
              </a:lnSpc>
            </a:pPr>
            <a:r>
              <a:rPr lang="zh-CN" altLang="en-US" sz="2600" b="0" dirty="0"/>
              <a:t>通常，</a:t>
            </a:r>
            <a:r>
              <a:rPr lang="en-US" altLang="zh-CN" sz="2600" b="0" dirty="0"/>
              <a:t>G6PD</a:t>
            </a:r>
            <a:r>
              <a:rPr lang="zh-CN" altLang="en-US" sz="2600" b="0" dirty="0"/>
              <a:t>缺陷患者只在摄入强氧化性物质时才会导致严重疾病。 有较强氧化性的</a:t>
            </a:r>
            <a:r>
              <a:rPr lang="zh-CN" altLang="en-US" sz="2600" b="0" dirty="0">
                <a:solidFill>
                  <a:srgbClr val="0000CC"/>
                </a:solidFill>
              </a:rPr>
              <a:t>蚕豆嘧啶其实可作为抗疟药物</a:t>
            </a:r>
            <a:r>
              <a:rPr lang="zh-CN" altLang="en-US" sz="2600" b="0" dirty="0"/>
              <a:t>，吃蚕豆有助于抵抗疟疾。 </a:t>
            </a:r>
            <a:endParaRPr lang="en-US" altLang="zh-CN" sz="2600" b="0" dirty="0"/>
          </a:p>
          <a:p>
            <a:endParaRPr lang="en-US" altLang="zh-CN" sz="2600" b="0" dirty="0"/>
          </a:p>
          <a:p>
            <a:r>
              <a:rPr lang="zh-CN" altLang="en-US" sz="2600" b="0" dirty="0"/>
              <a:t>类似的， 镰形红细胞贫血患者对疟疾亦有抵抗优势，故一般见于疟疾流行区。 </a:t>
            </a:r>
            <a:endParaRPr lang="zh-CN" altLang="en-US" sz="26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146" name="Rectangle 2"/>
          <p:cNvSpPr>
            <a:spLocks noGrp="1" noChangeArrowheads="1"/>
          </p:cNvSpPr>
          <p:nvPr>
            <p:ph type="body" idx="4294967295"/>
          </p:nvPr>
        </p:nvSpPr>
        <p:spPr>
          <a:xfrm>
            <a:off x="1703388" y="692150"/>
            <a:ext cx="8748712" cy="2159000"/>
          </a:xfrm>
        </p:spPr>
        <p:txBody>
          <a:bodyPr/>
          <a:lstStyle/>
          <a:p>
            <a:pPr>
              <a:lnSpc>
                <a:spcPct val="120000"/>
              </a:lnSpc>
              <a:spcBef>
                <a:spcPts val="0"/>
              </a:spcBef>
            </a:pPr>
            <a:r>
              <a:rPr lang="zh-CN" altLang="en-US" sz="2400" b="0" dirty="0">
                <a:latin typeface="微软雅黑" panose="020B0503020204020204" pitchFamily="34" charset="-122"/>
                <a:ea typeface="微软雅黑" panose="020B0503020204020204" pitchFamily="34" charset="-122"/>
              </a:rPr>
              <a:t>许多组织中，对细胞损伤的最早期反应之一是快速增加参与磷酸戊糖途径的酶的水平。损伤后</a:t>
            </a:r>
            <a:r>
              <a:rPr lang="en-US" altLang="zh-CN" sz="2400" b="0" dirty="0">
                <a:latin typeface="微软雅黑" panose="020B0503020204020204" pitchFamily="34" charset="-122"/>
                <a:ea typeface="微软雅黑" panose="020B0503020204020204" pitchFamily="34" charset="-122"/>
              </a:rPr>
              <a:t>10</a:t>
            </a:r>
            <a:r>
              <a:rPr lang="zh-CN" altLang="en-US" sz="2400" b="0" dirty="0">
                <a:latin typeface="微软雅黑" panose="020B0503020204020204" pitchFamily="34" charset="-122"/>
                <a:ea typeface="微软雅黑" panose="020B0503020204020204" pitchFamily="34" charset="-122"/>
              </a:rPr>
              <a:t>天，心脏的葡萄糖</a:t>
            </a:r>
            <a:r>
              <a:rPr lang="en-US" altLang="zh-CN" sz="2400" b="0" dirty="0">
                <a:latin typeface="微软雅黑" panose="020B0503020204020204" pitchFamily="34" charset="-122"/>
                <a:ea typeface="微软雅黑" panose="020B0503020204020204" pitchFamily="34" charset="-122"/>
              </a:rPr>
              <a:t>-6-</a:t>
            </a:r>
            <a:r>
              <a:rPr lang="zh-CN" altLang="en-US" sz="2400" b="0" dirty="0">
                <a:latin typeface="微软雅黑" panose="020B0503020204020204" pitchFamily="34" charset="-122"/>
                <a:ea typeface="微软雅黑" panose="020B0503020204020204" pitchFamily="34" charset="-122"/>
              </a:rPr>
              <a:t>磷酸脱氢酶水平是正常水平的</a:t>
            </a:r>
            <a:r>
              <a:rPr lang="en-US" altLang="zh-CN" sz="2400" b="0" dirty="0">
                <a:latin typeface="微软雅黑" panose="020B0503020204020204" pitchFamily="34" charset="-122"/>
                <a:ea typeface="微软雅黑" panose="020B0503020204020204" pitchFamily="34" charset="-122"/>
              </a:rPr>
              <a:t>20</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30</a:t>
            </a:r>
            <a:r>
              <a:rPr lang="zh-CN" altLang="en-US" sz="2400" b="0" dirty="0">
                <a:latin typeface="微软雅黑" panose="020B0503020204020204" pitchFamily="34" charset="-122"/>
                <a:ea typeface="微软雅黑" panose="020B0503020204020204" pitchFamily="34" charset="-122"/>
              </a:rPr>
              <a:t>倍，而糖酵解酶只有正常水平的</a:t>
            </a:r>
            <a:r>
              <a:rPr lang="en-US" altLang="zh-CN" sz="2400" b="0" dirty="0">
                <a:latin typeface="微软雅黑" panose="020B0503020204020204" pitchFamily="34" charset="-122"/>
                <a:ea typeface="微软雅黑" panose="020B0503020204020204" pitchFamily="34" charset="-122"/>
              </a:rPr>
              <a:t>10%</a:t>
            </a:r>
            <a:r>
              <a:rPr lang="zh-CN" altLang="en-US" sz="2400" b="0" dirty="0">
                <a:latin typeface="微软雅黑" panose="020B0503020204020204" pitchFamily="34" charset="-122"/>
                <a:ea typeface="微软雅黑" panose="020B0503020204020204" pitchFamily="34" charset="-122"/>
              </a:rPr>
              <a:t>至</a:t>
            </a:r>
            <a:r>
              <a:rPr lang="en-US" altLang="zh-CN" sz="2400" b="0" dirty="0">
                <a:latin typeface="微软雅黑" panose="020B0503020204020204" pitchFamily="34" charset="-122"/>
                <a:ea typeface="微软雅黑" panose="020B0503020204020204" pitchFamily="34" charset="-122"/>
              </a:rPr>
              <a:t>20%</a:t>
            </a:r>
            <a:r>
              <a:rPr lang="zh-CN" altLang="en-US" sz="2400" b="0" dirty="0">
                <a:latin typeface="微软雅黑" panose="020B0503020204020204" pitchFamily="34" charset="-122"/>
                <a:ea typeface="微软雅黑" panose="020B0503020204020204" pitchFamily="34" charset="-122"/>
              </a:rPr>
              <a:t>。解释此现象 。</a:t>
            </a:r>
            <a:endParaRPr lang="zh-CN" altLang="en-US" sz="2400" b="0" dirty="0">
              <a:latin typeface="微软雅黑" panose="020B0503020204020204" pitchFamily="34" charset="-122"/>
              <a:ea typeface="微软雅黑" panose="020B0503020204020204" pitchFamily="34" charset="-122"/>
            </a:endParaRPr>
          </a:p>
        </p:txBody>
      </p:sp>
      <p:sp>
        <p:nvSpPr>
          <p:cNvPr id="784387" name="Rectangle 3"/>
          <p:cNvSpPr>
            <a:spLocks noChangeArrowheads="1"/>
          </p:cNvSpPr>
          <p:nvPr/>
        </p:nvSpPr>
        <p:spPr bwMode="auto">
          <a:xfrm>
            <a:off x="1703388" y="2925762"/>
            <a:ext cx="8497888" cy="3240088"/>
          </a:xfrm>
          <a:prstGeom prst="rect">
            <a:avLst/>
          </a:prstGeom>
          <a:noFill/>
          <a:ln>
            <a:noFill/>
          </a:ln>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ts val="0"/>
              </a:spcBef>
              <a:buClrTx/>
              <a:buSzPct val="85000"/>
              <a:buBlip>
                <a:blip r:embed="rId1"/>
              </a:buBlip>
              <a:defRPr/>
            </a:pPr>
            <a:r>
              <a:rPr lang="zh-CN" altLang="en-US" sz="2400" b="0" dirty="0">
                <a:latin typeface="宋体" panose="02010600030101010101" pitchFamily="2" charset="-122"/>
                <a:ea typeface="宋体" panose="02010600030101010101" pitchFamily="2" charset="-122"/>
              </a:rPr>
              <a:t>答：修复受伤的组织需要细胞增殖并且合成疤痕组织，</a:t>
            </a:r>
            <a:r>
              <a:rPr lang="en-US" altLang="zh-CN" sz="2400" b="0" dirty="0">
                <a:solidFill>
                  <a:srgbClr val="0000CC"/>
                </a:solidFill>
                <a:latin typeface="宋体" panose="02010600030101010101" pitchFamily="2" charset="-122"/>
                <a:ea typeface="宋体" panose="02010600030101010101" pitchFamily="2" charset="-122"/>
              </a:rPr>
              <a:t>NADPH</a:t>
            </a:r>
            <a:r>
              <a:rPr lang="zh-CN" altLang="en-US" sz="2400" b="0" dirty="0">
                <a:latin typeface="宋体" panose="02010600030101010101" pitchFamily="2" charset="-122"/>
                <a:ea typeface="宋体" panose="02010600030101010101" pitchFamily="2" charset="-122"/>
              </a:rPr>
              <a:t>是合成胆固醇和脂肪酸（细胞膜的组分）所必需的，</a:t>
            </a:r>
            <a:r>
              <a:rPr lang="zh-CN" altLang="en-US" sz="2400" b="0" dirty="0">
                <a:solidFill>
                  <a:schemeClr val="tx1">
                    <a:lumMod val="95000"/>
                    <a:lumOff val="5000"/>
                  </a:schemeClr>
                </a:solidFill>
                <a:latin typeface="宋体" panose="02010600030101010101" pitchFamily="2" charset="-122"/>
                <a:ea typeface="宋体" panose="02010600030101010101" pitchFamily="2" charset="-122"/>
              </a:rPr>
              <a:t>而</a:t>
            </a:r>
            <a:r>
              <a:rPr lang="zh-CN" altLang="en-US" sz="2400" b="0" dirty="0">
                <a:solidFill>
                  <a:srgbClr val="0000CC"/>
                </a:solidFill>
                <a:latin typeface="宋体" panose="02010600030101010101" pitchFamily="2" charset="-122"/>
                <a:ea typeface="宋体" panose="02010600030101010101" pitchFamily="2" charset="-122"/>
              </a:rPr>
              <a:t>核糖</a:t>
            </a:r>
            <a:r>
              <a:rPr lang="en-US" altLang="zh-CN" sz="2400" b="0" dirty="0">
                <a:solidFill>
                  <a:srgbClr val="0000CC"/>
                </a:solidFill>
                <a:latin typeface="宋体" panose="02010600030101010101" pitchFamily="2" charset="-122"/>
                <a:ea typeface="宋体" panose="02010600030101010101" pitchFamily="2" charset="-122"/>
              </a:rPr>
              <a:t>-5-</a:t>
            </a:r>
            <a:r>
              <a:rPr lang="zh-CN" altLang="en-US" sz="2400" b="0" dirty="0">
                <a:solidFill>
                  <a:srgbClr val="0000CC"/>
                </a:solidFill>
                <a:latin typeface="宋体" panose="02010600030101010101" pitchFamily="2" charset="-122"/>
                <a:ea typeface="宋体" panose="02010600030101010101" pitchFamily="2" charset="-122"/>
              </a:rPr>
              <a:t>磷酸</a:t>
            </a:r>
            <a:r>
              <a:rPr lang="zh-CN" altLang="en-US" sz="2400" b="0" dirty="0">
                <a:solidFill>
                  <a:schemeClr val="tx1">
                    <a:lumMod val="95000"/>
                    <a:lumOff val="5000"/>
                  </a:schemeClr>
                </a:solidFill>
                <a:latin typeface="宋体" panose="02010600030101010101" pitchFamily="2" charset="-122"/>
                <a:ea typeface="宋体" panose="02010600030101010101" pitchFamily="2" charset="-122"/>
              </a:rPr>
              <a:t>是合成</a:t>
            </a:r>
            <a:r>
              <a:rPr lang="en-US" altLang="zh-CN" sz="2400" b="0" dirty="0">
                <a:solidFill>
                  <a:schemeClr val="tx1">
                    <a:lumMod val="95000"/>
                    <a:lumOff val="5000"/>
                  </a:schemeClr>
                </a:solidFill>
                <a:latin typeface="宋体" panose="02010600030101010101" pitchFamily="2" charset="-122"/>
                <a:ea typeface="宋体" panose="02010600030101010101" pitchFamily="2" charset="-122"/>
              </a:rPr>
              <a:t>DNA</a:t>
            </a:r>
            <a:r>
              <a:rPr lang="zh-CN" altLang="en-US" sz="2400" b="0" dirty="0">
                <a:solidFill>
                  <a:schemeClr val="tx1">
                    <a:lumMod val="95000"/>
                    <a:lumOff val="5000"/>
                  </a:schemeClr>
                </a:solidFill>
                <a:latin typeface="宋体" panose="02010600030101010101" pitchFamily="2" charset="-122"/>
                <a:ea typeface="宋体" panose="02010600030101010101" pitchFamily="2" charset="-122"/>
              </a:rPr>
              <a:t>和</a:t>
            </a:r>
            <a:r>
              <a:rPr lang="en-US" altLang="zh-CN" sz="2400" b="0" dirty="0">
                <a:solidFill>
                  <a:schemeClr val="tx1">
                    <a:lumMod val="95000"/>
                    <a:lumOff val="5000"/>
                  </a:schemeClr>
                </a:solidFill>
                <a:latin typeface="宋体" panose="02010600030101010101" pitchFamily="2" charset="-122"/>
                <a:ea typeface="宋体" panose="02010600030101010101" pitchFamily="2" charset="-122"/>
              </a:rPr>
              <a:t>RNA</a:t>
            </a:r>
            <a:r>
              <a:rPr lang="zh-CN" altLang="en-US" sz="2400" b="0" dirty="0">
                <a:solidFill>
                  <a:schemeClr val="tx1">
                    <a:lumMod val="95000"/>
                    <a:lumOff val="5000"/>
                  </a:schemeClr>
                </a:solidFill>
                <a:latin typeface="宋体" panose="02010600030101010101" pitchFamily="2" charset="-122"/>
                <a:ea typeface="宋体" panose="02010600030101010101" pitchFamily="2" charset="-122"/>
              </a:rPr>
              <a:t>所必需的。</a:t>
            </a:r>
            <a:r>
              <a:rPr lang="zh-CN" altLang="en-US" sz="2400" b="0" dirty="0">
                <a:solidFill>
                  <a:schemeClr val="tx2"/>
                </a:solidFill>
                <a:latin typeface="宋体" panose="02010600030101010101" pitchFamily="2" charset="-122"/>
                <a:ea typeface="宋体" panose="02010600030101010101" pitchFamily="2" charset="-122"/>
              </a:rPr>
              <a:t>因为戊糖磷酸途径是</a:t>
            </a:r>
            <a:r>
              <a:rPr lang="en-US" altLang="zh-CN" sz="2400" b="0" dirty="0">
                <a:solidFill>
                  <a:schemeClr val="tx2"/>
                </a:solidFill>
                <a:latin typeface="宋体" panose="02010600030101010101" pitchFamily="2" charset="-122"/>
                <a:ea typeface="宋体" panose="02010600030101010101" pitchFamily="2" charset="-122"/>
              </a:rPr>
              <a:t>NADPH</a:t>
            </a:r>
            <a:r>
              <a:rPr lang="zh-CN" altLang="en-US" sz="2400" b="0" dirty="0">
                <a:solidFill>
                  <a:schemeClr val="tx2"/>
                </a:solidFill>
                <a:latin typeface="宋体" panose="02010600030101010101" pitchFamily="2" charset="-122"/>
                <a:ea typeface="宋体" panose="02010600030101010101" pitchFamily="2" charset="-122"/>
              </a:rPr>
              <a:t>和核糖</a:t>
            </a:r>
            <a:r>
              <a:rPr lang="en-US" altLang="zh-CN" sz="2400" b="0" dirty="0">
                <a:solidFill>
                  <a:schemeClr val="tx2"/>
                </a:solidFill>
                <a:latin typeface="宋体" panose="02010600030101010101" pitchFamily="2" charset="-122"/>
                <a:ea typeface="宋体" panose="02010600030101010101" pitchFamily="2" charset="-122"/>
              </a:rPr>
              <a:t>-5-</a:t>
            </a:r>
            <a:r>
              <a:rPr lang="zh-CN" altLang="en-US" sz="2400" b="0" dirty="0">
                <a:solidFill>
                  <a:schemeClr val="tx2"/>
                </a:solidFill>
                <a:latin typeface="宋体" panose="02010600030101010101" pitchFamily="2" charset="-122"/>
                <a:ea typeface="宋体" panose="02010600030101010101" pitchFamily="2" charset="-122"/>
              </a:rPr>
              <a:t>磷酸的主要来源，</a:t>
            </a:r>
            <a:r>
              <a:rPr lang="zh-CN" altLang="en-US" sz="2400" b="0" dirty="0">
                <a:latin typeface="宋体" panose="02010600030101010101" pitchFamily="2" charset="-122"/>
                <a:ea typeface="宋体" panose="02010600030101010101" pitchFamily="2" charset="-122"/>
              </a:rPr>
              <a:t>所以在受伤后，组织对这些产物要求的增加所做的反应就是增加戊糖磷酸途径中各种酶合成的量。 </a:t>
            </a:r>
            <a:endParaRPr lang="zh-CN" altLang="en-US" sz="2400" b="0" dirty="0">
              <a:latin typeface="宋体" panose="02010600030101010101" pitchFamily="2" charset="-122"/>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84387">
                                            <p:txEl>
                                              <p:pRg st="0" end="0"/>
                                            </p:txEl>
                                          </p:spTgt>
                                        </p:tgtEl>
                                        <p:attrNameLst>
                                          <p:attrName>style.visibility</p:attrName>
                                        </p:attrNameLst>
                                      </p:cBhvr>
                                      <p:to>
                                        <p:strVal val="visible"/>
                                      </p:to>
                                    </p:set>
                                    <p:animEffect transition="in" filter="blinds(horizontal)">
                                      <p:cBhvr>
                                        <p:cTn id="7" dur="500"/>
                                        <p:tgtEl>
                                          <p:spTgt spid="7843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2063750" y="1366839"/>
            <a:ext cx="8280400" cy="2092881"/>
          </a:xfrm>
          <a:prstGeom prst="rect">
            <a:avLst/>
          </a:prstGeom>
          <a:noFill/>
          <a:ln>
            <a:noFill/>
          </a:ln>
        </p:spPr>
        <p:txBody>
          <a:bodyPr rIns="18000">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marL="452755" indent="-452755" eaLnBrk="1" hangingPunct="1">
              <a:spcBef>
                <a:spcPct val="0"/>
              </a:spcBef>
              <a:buClrTx/>
              <a:buSzTx/>
              <a:buNone/>
              <a:defRPr/>
            </a:pPr>
            <a:r>
              <a:rPr kumimoji="1" lang="en-US" altLang="zh-CN" sz="2600" b="0" dirty="0"/>
              <a:t>1.</a:t>
            </a:r>
            <a:r>
              <a:rPr kumimoji="1" lang="zh-CN" altLang="en-US" sz="2600" b="0" dirty="0"/>
              <a:t> </a:t>
            </a:r>
            <a:r>
              <a:rPr kumimoji="1" lang="zh-CN" altLang="en-US" sz="2600" b="0" dirty="0">
                <a:solidFill>
                  <a:srgbClr val="0000CC"/>
                </a:solidFill>
              </a:rPr>
              <a:t>糖无氧氧化</a:t>
            </a:r>
            <a:r>
              <a:rPr kumimoji="1" lang="zh-CN" altLang="en-US" sz="2600" b="0" dirty="0"/>
              <a:t>的概念、细胞定位、基本反应过程、关键酶、</a:t>
            </a:r>
            <a:r>
              <a:rPr kumimoji="1" lang="en-US" altLang="zh-CN" sz="2600" b="0" dirty="0"/>
              <a:t>ATP</a:t>
            </a:r>
            <a:r>
              <a:rPr kumimoji="1" lang="zh-CN" altLang="en-US" sz="2600" b="0" dirty="0"/>
              <a:t>生成及生理意义；</a:t>
            </a:r>
            <a:endParaRPr kumimoji="1" lang="zh-CN" altLang="en-US" sz="2600" b="0" dirty="0"/>
          </a:p>
          <a:p>
            <a:pPr marL="452755" indent="-452755" eaLnBrk="1" hangingPunct="1">
              <a:spcBef>
                <a:spcPct val="0"/>
              </a:spcBef>
              <a:buClrTx/>
              <a:buSzTx/>
              <a:buNone/>
              <a:defRPr/>
            </a:pPr>
            <a:r>
              <a:rPr kumimoji="1" lang="en-US" altLang="zh-CN" sz="2600" b="0" dirty="0"/>
              <a:t>2.</a:t>
            </a:r>
            <a:r>
              <a:rPr kumimoji="1" lang="zh-CN" altLang="en-US" sz="2600" b="0" dirty="0"/>
              <a:t> </a:t>
            </a:r>
            <a:r>
              <a:rPr kumimoji="1" lang="zh-CN" altLang="en-US" sz="2600" b="0" dirty="0">
                <a:solidFill>
                  <a:srgbClr val="0000CC"/>
                </a:solidFill>
              </a:rPr>
              <a:t>糖的有氧氧化</a:t>
            </a:r>
            <a:r>
              <a:rPr kumimoji="1" lang="zh-CN" altLang="en-US" sz="2600" b="0" dirty="0"/>
              <a:t>概念，有氧氧化的基本反应过程、关键酶、</a:t>
            </a:r>
            <a:r>
              <a:rPr kumimoji="1" lang="en-US" altLang="zh-CN" sz="2600" b="0" dirty="0"/>
              <a:t>ATP</a:t>
            </a:r>
            <a:r>
              <a:rPr kumimoji="1" lang="zh-CN" altLang="en-US" sz="2600" b="0" dirty="0"/>
              <a:t>生成及生理意义；</a:t>
            </a:r>
            <a:endParaRPr kumimoji="1" lang="zh-CN" altLang="en-US" sz="2600" b="0" dirty="0"/>
          </a:p>
          <a:p>
            <a:pPr eaLnBrk="1" hangingPunct="1">
              <a:spcBef>
                <a:spcPct val="0"/>
              </a:spcBef>
              <a:buClrTx/>
              <a:buSzTx/>
              <a:buFontTx/>
              <a:buNone/>
              <a:defRPr/>
            </a:pPr>
            <a:r>
              <a:rPr kumimoji="1" lang="en-US" altLang="zh-CN" sz="2600" b="0" dirty="0"/>
              <a:t>3. </a:t>
            </a:r>
            <a:r>
              <a:rPr kumimoji="1" lang="zh-CN" altLang="en-US" sz="2600" b="0" dirty="0">
                <a:solidFill>
                  <a:srgbClr val="0000CC"/>
                </a:solidFill>
              </a:rPr>
              <a:t>磷酸戊糖途径</a:t>
            </a:r>
            <a:r>
              <a:rPr kumimoji="1" lang="zh-CN" altLang="en-US" sz="2600" b="0" dirty="0"/>
              <a:t>的关键酶和生理意义。</a:t>
            </a:r>
            <a:endParaRPr kumimoji="1" lang="zh-CN" altLang="en-US" sz="2600" b="0" dirty="0"/>
          </a:p>
        </p:txBody>
      </p:sp>
      <p:sp>
        <p:nvSpPr>
          <p:cNvPr id="264195" name="Rectangle 3"/>
          <p:cNvSpPr>
            <a:spLocks noChangeArrowheads="1"/>
          </p:cNvSpPr>
          <p:nvPr/>
        </p:nvSpPr>
        <p:spPr bwMode="auto">
          <a:xfrm>
            <a:off x="1548783" y="787400"/>
            <a:ext cx="1816101"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dirty="0">
                <a:ea typeface="黑体" panose="02010609060101010101" pitchFamily="2" charset="-122"/>
              </a:rPr>
              <a:t>【</a:t>
            </a:r>
            <a:r>
              <a:rPr kumimoji="1" lang="zh-CN" altLang="en-US" dirty="0">
                <a:ea typeface="黑体" panose="02010609060101010101" pitchFamily="2" charset="-122"/>
              </a:rPr>
              <a:t>掌握</a:t>
            </a:r>
            <a:r>
              <a:rPr kumimoji="1" lang="en-US" altLang="zh-CN" dirty="0">
                <a:ea typeface="黑体" panose="02010609060101010101" pitchFamily="2" charset="-122"/>
              </a:rPr>
              <a:t>】</a:t>
            </a:r>
            <a:endParaRPr kumimoji="1" lang="zh-CN" altLang="en-US" dirty="0">
              <a:ea typeface="黑体" panose="02010609060101010101" pitchFamily="2" charset="-122"/>
            </a:endParaRPr>
          </a:p>
        </p:txBody>
      </p:sp>
      <p:sp>
        <p:nvSpPr>
          <p:cNvPr id="264196" name="Rectangle 4"/>
          <p:cNvSpPr>
            <a:spLocks noChangeArrowheads="1"/>
          </p:cNvSpPr>
          <p:nvPr/>
        </p:nvSpPr>
        <p:spPr bwMode="auto">
          <a:xfrm>
            <a:off x="2135189" y="4006850"/>
            <a:ext cx="4416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0"/>
              <a:t>1</a:t>
            </a:r>
            <a:r>
              <a:rPr kumimoji="1" lang="zh-CN" altLang="en-US" sz="2400" b="0"/>
              <a:t>．糖酵解调节；</a:t>
            </a:r>
            <a:endParaRPr kumimoji="1" lang="zh-CN" altLang="en-US" sz="2400" b="0"/>
          </a:p>
          <a:p>
            <a:pPr eaLnBrk="1" hangingPunct="1">
              <a:spcBef>
                <a:spcPct val="0"/>
              </a:spcBef>
              <a:buClrTx/>
              <a:buSzTx/>
              <a:buFontTx/>
              <a:buNone/>
            </a:pPr>
            <a:r>
              <a:rPr kumimoji="1" lang="en-US" altLang="zh-CN" sz="2400" b="0"/>
              <a:t>2</a:t>
            </a:r>
            <a:r>
              <a:rPr kumimoji="1" lang="zh-CN" altLang="en-US" sz="2400" b="0"/>
              <a:t>．糖的有氧氧化的调节；</a:t>
            </a:r>
            <a:endParaRPr kumimoji="1" lang="zh-CN" altLang="en-US" sz="2400" b="0"/>
          </a:p>
          <a:p>
            <a:pPr eaLnBrk="1" hangingPunct="1">
              <a:spcBef>
                <a:spcPct val="0"/>
              </a:spcBef>
              <a:buClrTx/>
              <a:buSzTx/>
              <a:buFontTx/>
              <a:buNone/>
            </a:pPr>
            <a:r>
              <a:rPr kumimoji="1" lang="en-US" altLang="zh-CN" sz="2400" b="0"/>
              <a:t>3</a:t>
            </a:r>
            <a:r>
              <a:rPr kumimoji="1" lang="zh-CN" altLang="en-US" sz="2400" b="0"/>
              <a:t>．磷酸戊糖途径的反应过程； </a:t>
            </a:r>
            <a:endParaRPr kumimoji="1" lang="zh-CN" altLang="en-US" sz="2400" b="0"/>
          </a:p>
        </p:txBody>
      </p:sp>
      <p:sp>
        <p:nvSpPr>
          <p:cNvPr id="264197" name="Rectangle 5"/>
          <p:cNvSpPr>
            <a:spLocks noChangeArrowheads="1"/>
          </p:cNvSpPr>
          <p:nvPr/>
        </p:nvSpPr>
        <p:spPr bwMode="auto">
          <a:xfrm>
            <a:off x="1487488" y="3429000"/>
            <a:ext cx="1816101"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ea typeface="黑体" panose="02010609060101010101" pitchFamily="2" charset="-122"/>
              </a:rPr>
              <a:t>【</a:t>
            </a:r>
            <a:r>
              <a:rPr kumimoji="1" lang="zh-CN" altLang="en-US">
                <a:ea typeface="黑体" panose="02010609060101010101" pitchFamily="2" charset="-122"/>
              </a:rPr>
              <a:t>熟悉</a:t>
            </a:r>
            <a:r>
              <a:rPr kumimoji="1" lang="en-US" altLang="zh-CN">
                <a:ea typeface="黑体" panose="02010609060101010101" pitchFamily="2" charset="-122"/>
              </a:rPr>
              <a:t>】</a:t>
            </a:r>
            <a:endParaRPr kumimoji="1" lang="zh-CN" altLang="en-US">
              <a:ea typeface="黑体" panose="02010609060101010101" pitchFamily="2" charset="-122"/>
            </a:endParaRPr>
          </a:p>
        </p:txBody>
      </p:sp>
      <p:sp>
        <p:nvSpPr>
          <p:cNvPr id="264198" name="Rectangle 6"/>
          <p:cNvSpPr>
            <a:spLocks noChangeArrowheads="1"/>
          </p:cNvSpPr>
          <p:nvPr/>
        </p:nvSpPr>
        <p:spPr bwMode="auto">
          <a:xfrm>
            <a:off x="2403476" y="5937251"/>
            <a:ext cx="2684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t>糖的消化与吸收</a:t>
            </a:r>
            <a:endParaRPr kumimoji="1" lang="zh-CN" altLang="en-US" sz="2800" b="0"/>
          </a:p>
        </p:txBody>
      </p:sp>
      <p:sp>
        <p:nvSpPr>
          <p:cNvPr id="264199" name="Rectangle 7"/>
          <p:cNvSpPr>
            <a:spLocks noChangeArrowheads="1"/>
          </p:cNvSpPr>
          <p:nvPr/>
        </p:nvSpPr>
        <p:spPr bwMode="auto">
          <a:xfrm>
            <a:off x="1487488" y="5357814"/>
            <a:ext cx="1816101"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ea typeface="黑体" panose="02010609060101010101" pitchFamily="2" charset="-122"/>
              </a:rPr>
              <a:t>【</a:t>
            </a:r>
            <a:r>
              <a:rPr kumimoji="1" lang="zh-CN" altLang="en-US">
                <a:ea typeface="黑体" panose="02010609060101010101" pitchFamily="2" charset="-122"/>
              </a:rPr>
              <a:t>了解</a:t>
            </a:r>
            <a:r>
              <a:rPr kumimoji="1" lang="en-US" altLang="zh-CN">
                <a:ea typeface="黑体" panose="02010609060101010101" pitchFamily="2" charset="-122"/>
              </a:rPr>
              <a:t>】</a:t>
            </a:r>
            <a:endParaRPr kumimoji="1" lang="zh-CN" altLang="en-US">
              <a:ea typeface="黑体" panose="02010609060101010101" pitchFamily="2" charset="-122"/>
            </a:endParaRPr>
          </a:p>
        </p:txBody>
      </p:sp>
      <p:sp>
        <p:nvSpPr>
          <p:cNvPr id="264200" name="Text Box 8"/>
          <p:cNvSpPr txBox="1">
            <a:spLocks noChangeArrowheads="1"/>
          </p:cNvSpPr>
          <p:nvPr/>
        </p:nvSpPr>
        <p:spPr bwMode="auto">
          <a:xfrm>
            <a:off x="5087939" y="188913"/>
            <a:ext cx="19446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4400">
                <a:solidFill>
                  <a:srgbClr val="7030A0"/>
                </a:solidFill>
                <a:latin typeface="黑体" panose="02010609060101010101" pitchFamily="2" charset="-122"/>
                <a:ea typeface="黑体" panose="02010609060101010101" pitchFamily="2" charset="-122"/>
              </a:rPr>
              <a:t>小  结</a:t>
            </a:r>
            <a:endParaRPr lang="zh-CN" altLang="en-US" sz="4400">
              <a:solidFill>
                <a:srgbClr val="7030A0"/>
              </a:solidFill>
              <a:latin typeface="黑体" panose="02010609060101010101" pitchFamily="2" charset="-122"/>
              <a:ea typeface="黑体" panose="02010609060101010101" pitchFamily="2" charset="-122"/>
            </a:endParaRPr>
          </a:p>
        </p:txBody>
      </p:sp>
    </p:spTree>
  </p:cSld>
  <p:clrMapOvr>
    <a:masterClrMapping/>
  </p:clrMapOvr>
  <p:transition spd="med">
    <p:zoom/>
  </p:transition>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42" name="内容占位符 2"/>
          <p:cNvSpPr>
            <a:spLocks noGrp="1" noChangeArrowheads="1"/>
          </p:cNvSpPr>
          <p:nvPr>
            <p:ph idx="4294967295"/>
          </p:nvPr>
        </p:nvSpPr>
        <p:spPr>
          <a:xfrm>
            <a:off x="1631504" y="1270000"/>
            <a:ext cx="9361040" cy="5111750"/>
          </a:xfrm>
        </p:spPr>
        <p:txBody>
          <a:bodyPr/>
          <a:lstStyle/>
          <a:p>
            <a:pPr marL="0" indent="0">
              <a:buNone/>
            </a:pPr>
            <a:r>
              <a:rPr lang="zh-CN" altLang="en-US" sz="2400" dirty="0"/>
              <a:t>向三羧酸循环的反应中加入草酰乙酸、乙酰</a:t>
            </a:r>
            <a:r>
              <a:rPr lang="en-US" altLang="zh-CN" sz="2400" dirty="0"/>
              <a:t>CoA</a:t>
            </a:r>
            <a:r>
              <a:rPr lang="zh-CN" altLang="en-US" sz="2400" dirty="0"/>
              <a:t>和丙二酸，可导致哪种产物的堆积</a:t>
            </a:r>
            <a:endParaRPr lang="zh-CN" altLang="en-US" sz="2400" dirty="0"/>
          </a:p>
          <a:p>
            <a:pPr marL="0" indent="0">
              <a:buNone/>
            </a:pPr>
            <a:r>
              <a:rPr lang="en-US" altLang="zh-CN" sz="2400" b="0" dirty="0"/>
              <a:t>A.</a:t>
            </a:r>
            <a:r>
              <a:rPr lang="zh-CN" altLang="en-US" sz="2400" b="0" dirty="0"/>
              <a:t>苹果酸            </a:t>
            </a:r>
            <a:r>
              <a:rPr lang="en-US" altLang="zh-CN" sz="2400" b="0" dirty="0"/>
              <a:t>B.</a:t>
            </a:r>
            <a:r>
              <a:rPr lang="zh-CN" altLang="en-US" sz="2400" b="0" dirty="0"/>
              <a:t>柠檬酸            </a:t>
            </a:r>
            <a:r>
              <a:rPr lang="en-US" altLang="zh-CN" sz="2400" b="0" dirty="0"/>
              <a:t>C. α-</a:t>
            </a:r>
            <a:r>
              <a:rPr lang="zh-CN" altLang="en-US" sz="2400" b="0" dirty="0"/>
              <a:t>酮戊二酸</a:t>
            </a:r>
            <a:endParaRPr lang="zh-CN" altLang="en-US" sz="2400" b="0" dirty="0"/>
          </a:p>
          <a:p>
            <a:pPr marL="0" indent="0">
              <a:buNone/>
            </a:pPr>
            <a:r>
              <a:rPr lang="en-US" altLang="zh-CN" sz="2400" b="0" dirty="0"/>
              <a:t>D.</a:t>
            </a:r>
            <a:r>
              <a:rPr lang="zh-CN" altLang="en-US" sz="2400" b="0" dirty="0"/>
              <a:t>琥珀酸            </a:t>
            </a:r>
            <a:r>
              <a:rPr lang="en-US" altLang="zh-CN" sz="2400" b="0" dirty="0"/>
              <a:t>E.</a:t>
            </a:r>
            <a:r>
              <a:rPr lang="zh-CN" altLang="en-US" sz="2400" b="0" dirty="0"/>
              <a:t>异柠檬酸</a:t>
            </a:r>
            <a:endParaRPr lang="zh-CN" altLang="en-US" sz="2400" b="0" dirty="0"/>
          </a:p>
          <a:p>
            <a:pPr marL="0" indent="0">
              <a:buNone/>
            </a:pPr>
            <a:endParaRPr lang="en-US" altLang="zh-CN" sz="2400" b="0" dirty="0"/>
          </a:p>
          <a:p>
            <a:pPr marL="0" indent="0">
              <a:buNone/>
            </a:pPr>
            <a:r>
              <a:rPr lang="zh-CN" altLang="en-US" sz="2400" dirty="0"/>
              <a:t>当肝细胞内</a:t>
            </a:r>
            <a:r>
              <a:rPr lang="en-US" altLang="zh-CN" sz="2400" dirty="0"/>
              <a:t>ATP</a:t>
            </a:r>
            <a:r>
              <a:rPr lang="zh-CN" altLang="en-US" sz="2400" dirty="0"/>
              <a:t>供应充分时，下列叙述中哪项是错误的</a:t>
            </a:r>
            <a:endParaRPr lang="zh-CN" altLang="en-US" sz="2400" dirty="0"/>
          </a:p>
          <a:p>
            <a:pPr marL="0" indent="0">
              <a:buNone/>
            </a:pPr>
            <a:r>
              <a:rPr lang="en-US" altLang="zh-CN" sz="2400" b="0" dirty="0"/>
              <a:t>A.</a:t>
            </a:r>
            <a:r>
              <a:rPr lang="zh-CN" altLang="en-US" sz="2400" b="0" dirty="0"/>
              <a:t>丙酮酸激酶被抑制</a:t>
            </a:r>
            <a:endParaRPr lang="zh-CN" altLang="en-US" sz="2400" b="0" dirty="0"/>
          </a:p>
          <a:p>
            <a:pPr marL="0" indent="0">
              <a:buNone/>
            </a:pPr>
            <a:r>
              <a:rPr lang="en-US" altLang="zh-CN" sz="2400" b="0" dirty="0"/>
              <a:t>B.</a:t>
            </a:r>
            <a:r>
              <a:rPr lang="zh-CN" altLang="en-US" sz="2400" b="0" dirty="0"/>
              <a:t>磷酸果糖激酶</a:t>
            </a:r>
            <a:r>
              <a:rPr lang="en-US" altLang="zh-CN" sz="2400" b="0" dirty="0"/>
              <a:t>—1</a:t>
            </a:r>
            <a:r>
              <a:rPr lang="zh-CN" altLang="en-US" sz="2400" b="0" dirty="0"/>
              <a:t>被抑制</a:t>
            </a:r>
            <a:endParaRPr lang="zh-CN" altLang="en-US" sz="2400" b="0" dirty="0"/>
          </a:p>
          <a:p>
            <a:pPr marL="0" indent="0">
              <a:buNone/>
            </a:pPr>
            <a:r>
              <a:rPr lang="en-US" altLang="zh-CN" sz="2400" b="0" dirty="0"/>
              <a:t>C.</a:t>
            </a:r>
            <a:r>
              <a:rPr lang="zh-CN" altLang="en-US" sz="2400" b="0" dirty="0"/>
              <a:t>异柠檬酸脱氢酶被抑制</a:t>
            </a:r>
            <a:endParaRPr lang="zh-CN" altLang="en-US" sz="2400" b="0" dirty="0"/>
          </a:p>
          <a:p>
            <a:pPr marL="0" indent="0">
              <a:buNone/>
            </a:pPr>
            <a:r>
              <a:rPr lang="en-US" altLang="zh-CN" sz="2400" b="0" dirty="0"/>
              <a:t>D.</a:t>
            </a:r>
            <a:r>
              <a:rPr lang="zh-CN" altLang="en-US" sz="2400" b="0" dirty="0"/>
              <a:t>果糖二磷酸酶被抑制</a:t>
            </a:r>
            <a:endParaRPr lang="zh-CN" altLang="en-US" sz="2400" b="0" dirty="0"/>
          </a:p>
          <a:p>
            <a:pPr marL="0" indent="0">
              <a:buNone/>
            </a:pPr>
            <a:r>
              <a:rPr lang="en-US" altLang="zh-CN" sz="2400" b="0" dirty="0"/>
              <a:t>E.</a:t>
            </a:r>
            <a:r>
              <a:rPr lang="zh-CN" altLang="en-US" sz="2400" b="0" dirty="0"/>
              <a:t>进入三羧酸循环的乙酰辅酶</a:t>
            </a:r>
            <a:r>
              <a:rPr lang="en-US" altLang="zh-CN" sz="2400" b="0" dirty="0"/>
              <a:t>A</a:t>
            </a:r>
            <a:r>
              <a:rPr lang="zh-CN" altLang="en-US" sz="2400" b="0" dirty="0"/>
              <a:t>减少</a:t>
            </a:r>
            <a:endParaRPr lang="zh-CN" altLang="en-US" sz="2400" b="0" dirty="0"/>
          </a:p>
          <a:p>
            <a:pPr marL="0" indent="0">
              <a:buNone/>
            </a:pPr>
            <a:endParaRPr lang="zh-CN" altLang="en-US" sz="2400" b="0" dirty="0"/>
          </a:p>
        </p:txBody>
      </p:sp>
      <p:sp>
        <p:nvSpPr>
          <p:cNvPr id="4" name="文本框 3"/>
          <p:cNvSpPr txBox="1">
            <a:spLocks noChangeArrowheads="1"/>
          </p:cNvSpPr>
          <p:nvPr/>
        </p:nvSpPr>
        <p:spPr bwMode="auto">
          <a:xfrm>
            <a:off x="8759825" y="2205039"/>
            <a:ext cx="1657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solidFill>
                  <a:srgbClr val="C00000"/>
                </a:solidFill>
                <a:latin typeface="Arial" panose="020B0604020202020204" pitchFamily="34" charset="0"/>
                <a:ea typeface="宋体" panose="02010600030101010101" pitchFamily="2" charset="-122"/>
              </a:rPr>
              <a:t>D </a:t>
            </a:r>
            <a:endParaRPr lang="zh-CN" altLang="en-US" sz="2800">
              <a:solidFill>
                <a:srgbClr val="C00000"/>
              </a:solidFill>
              <a:latin typeface="Arial" panose="020B0604020202020204" pitchFamily="34" charset="0"/>
              <a:ea typeface="宋体" panose="02010600030101010101" pitchFamily="2" charset="-122"/>
            </a:endParaRPr>
          </a:p>
        </p:txBody>
      </p:sp>
      <p:sp>
        <p:nvSpPr>
          <p:cNvPr id="5" name="文本框 4"/>
          <p:cNvSpPr txBox="1">
            <a:spLocks noChangeArrowheads="1"/>
          </p:cNvSpPr>
          <p:nvPr/>
        </p:nvSpPr>
        <p:spPr bwMode="auto">
          <a:xfrm>
            <a:off x="8472488" y="4654550"/>
            <a:ext cx="16557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800">
                <a:solidFill>
                  <a:srgbClr val="C00000"/>
                </a:solidFill>
                <a:latin typeface="Arial" panose="020B0604020202020204" pitchFamily="34" charset="0"/>
                <a:ea typeface="宋体" panose="02010600030101010101" pitchFamily="2" charset="-122"/>
              </a:rPr>
              <a:t>D </a:t>
            </a:r>
            <a:endParaRPr lang="zh-CN" altLang="en-US" sz="2800">
              <a:solidFill>
                <a:srgbClr val="C00000"/>
              </a:solidFill>
              <a:latin typeface="Arial" panose="020B0604020202020204" pitchFamily="34" charset="0"/>
              <a:ea typeface="宋体" panose="02010600030101010101" pitchFamily="2" charset="-122"/>
            </a:endParaRPr>
          </a:p>
        </p:txBody>
      </p:sp>
      <p:sp>
        <p:nvSpPr>
          <p:cNvPr id="266245" name="Text Box 3"/>
          <p:cNvSpPr txBox="1">
            <a:spLocks noChangeArrowheads="1"/>
          </p:cNvSpPr>
          <p:nvPr/>
        </p:nvSpPr>
        <p:spPr bwMode="auto">
          <a:xfrm>
            <a:off x="4295776" y="260351"/>
            <a:ext cx="39592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lang="zh-CN" altLang="en-US" sz="4000">
                <a:solidFill>
                  <a:srgbClr val="660066"/>
                </a:solidFill>
                <a:latin typeface="Arial" panose="020B0604020202020204" pitchFamily="34" charset="0"/>
                <a:ea typeface="宋体" panose="02010600030101010101" pitchFamily="2" charset="-122"/>
              </a:rPr>
              <a:t>课堂练习</a:t>
            </a:r>
            <a:endParaRPr lang="zh-CN" altLang="en-US" sz="4000">
              <a:solidFill>
                <a:srgbClr val="660066"/>
              </a:solidFill>
              <a:latin typeface="Arial" panose="020B0604020202020204" pitchFamily="34" charset="0"/>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524000" y="836613"/>
            <a:ext cx="9144000" cy="2724150"/>
          </a:xfrm>
        </p:spPr>
        <p:txBody>
          <a:bodyPr/>
          <a:lstStyle/>
          <a:p>
            <a:pPr eaLnBrk="1" hangingPunct="1">
              <a:lnSpc>
                <a:spcPct val="200000"/>
              </a:lnSpc>
            </a:pPr>
            <a:r>
              <a:rPr lang="zh-CN" altLang="en-US" sz="4400" b="1">
                <a:solidFill>
                  <a:srgbClr val="800000"/>
                </a:solidFill>
              </a:rPr>
              <a:t>第五节 </a:t>
            </a:r>
            <a:br>
              <a:rPr lang="zh-CN" altLang="en-US" sz="4400" b="1">
                <a:solidFill>
                  <a:srgbClr val="800000"/>
                </a:solidFill>
              </a:rPr>
            </a:br>
            <a:r>
              <a:rPr lang="zh-CN" altLang="en-US" sz="4400" b="1">
                <a:solidFill>
                  <a:srgbClr val="800000"/>
                </a:solidFill>
              </a:rPr>
              <a:t>糖原的合成与分解</a:t>
            </a:r>
            <a:endParaRPr lang="zh-CN" altLang="en-US" sz="4400" b="1">
              <a:solidFill>
                <a:srgbClr val="800000"/>
              </a:solidFill>
            </a:endParaRPr>
          </a:p>
        </p:txBody>
      </p:sp>
      <p:sp>
        <p:nvSpPr>
          <p:cNvPr id="6147" name="Text Box 3"/>
          <p:cNvSpPr txBox="1">
            <a:spLocks noChangeArrowheads="1"/>
          </p:cNvSpPr>
          <p:nvPr/>
        </p:nvSpPr>
        <p:spPr bwMode="auto">
          <a:xfrm>
            <a:off x="2590800" y="3763964"/>
            <a:ext cx="6934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a:latin typeface="Arial" panose="020B0604020202020204" pitchFamily="34" charset="0"/>
              </a:rPr>
              <a:t>Glycogenesis and Glycogenolysis</a:t>
            </a:r>
            <a:endParaRPr kumimoji="1" lang="zh-CN" altLang="en-US">
              <a:latin typeface="Arial" panose="020B0604020202020204" pitchFamily="34" charset="0"/>
            </a:endParaRP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2279650" y="1765301"/>
            <a:ext cx="7920806"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360045" indent="-360045" eaLnBrk="1" hangingPunct="1">
              <a:lnSpc>
                <a:spcPct val="130000"/>
              </a:lnSpc>
              <a:spcBef>
                <a:spcPct val="0"/>
              </a:spcBef>
              <a:buClrTx/>
              <a:buSzTx/>
            </a:pPr>
            <a:r>
              <a:rPr kumimoji="1" lang="zh-CN" altLang="en-US" sz="2800" b="0" dirty="0"/>
              <a:t>是人体内糖的储存形式，是机体能</a:t>
            </a:r>
            <a:r>
              <a:rPr kumimoji="1" lang="zh-CN" altLang="en-US" sz="2800" b="0" dirty="0">
                <a:solidFill>
                  <a:srgbClr val="C00000"/>
                </a:solidFill>
              </a:rPr>
              <a:t>迅速动用</a:t>
            </a:r>
            <a:r>
              <a:rPr kumimoji="1" lang="zh-CN" altLang="en-US" sz="2800" b="0" dirty="0"/>
              <a:t>的</a:t>
            </a:r>
            <a:r>
              <a:rPr kumimoji="1" lang="zh-CN" altLang="en-US" sz="2800" b="0" dirty="0">
                <a:solidFill>
                  <a:srgbClr val="0000CC"/>
                </a:solidFill>
              </a:rPr>
              <a:t>能量储备</a:t>
            </a:r>
            <a:r>
              <a:rPr kumimoji="1" lang="zh-CN" altLang="en-US" sz="2800" b="0" dirty="0"/>
              <a:t>。</a:t>
            </a:r>
            <a:endParaRPr kumimoji="1" lang="zh-CN" altLang="en-US" sz="2800" b="0" dirty="0"/>
          </a:p>
        </p:txBody>
      </p:sp>
      <p:grpSp>
        <p:nvGrpSpPr>
          <p:cNvPr id="2" name="Group 3"/>
          <p:cNvGrpSpPr/>
          <p:nvPr/>
        </p:nvGrpSpPr>
        <p:grpSpPr bwMode="auto">
          <a:xfrm>
            <a:off x="2573336" y="4387323"/>
            <a:ext cx="6474296" cy="1285875"/>
            <a:chOff x="1190" y="2996"/>
            <a:chExt cx="4570" cy="810"/>
          </a:xfrm>
        </p:grpSpPr>
        <p:sp>
          <p:nvSpPr>
            <p:cNvPr id="10246" name="Text Box 4"/>
            <p:cNvSpPr txBox="1">
              <a:spLocks noChangeArrowheads="1"/>
            </p:cNvSpPr>
            <p:nvPr/>
          </p:nvSpPr>
          <p:spPr bwMode="auto">
            <a:xfrm>
              <a:off x="1190" y="2996"/>
              <a:ext cx="457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0000CC"/>
                  </a:solidFill>
                </a:rPr>
                <a:t>肌糖原</a:t>
              </a:r>
              <a:r>
                <a:rPr kumimoji="1" lang="zh-CN" altLang="en-US" sz="2800" b="0" dirty="0"/>
                <a:t>，180 ~ </a:t>
              </a:r>
              <a:r>
                <a:rPr kumimoji="1" lang="en-US" altLang="zh-CN" sz="2800" b="0" dirty="0"/>
                <a:t>4</a:t>
              </a:r>
              <a:r>
                <a:rPr kumimoji="1" lang="zh-CN" altLang="en-US" sz="2800" b="0" dirty="0"/>
                <a:t>00</a:t>
              </a:r>
              <a:r>
                <a:rPr kumimoji="1" lang="en-US" altLang="zh-CN" sz="2800" b="0" dirty="0"/>
                <a:t>g，</a:t>
              </a:r>
              <a:r>
                <a:rPr kumimoji="1" lang="zh-CN" altLang="en-US" sz="2800" b="0" u="sng" dirty="0"/>
                <a:t>为肌肉收缩供能 </a:t>
              </a:r>
              <a:endParaRPr kumimoji="1" lang="zh-CN" altLang="en-US" sz="2800" b="0" u="sng" dirty="0"/>
            </a:p>
          </p:txBody>
        </p:sp>
        <p:sp>
          <p:nvSpPr>
            <p:cNvPr id="10247" name="Text Box 5"/>
            <p:cNvSpPr txBox="1">
              <a:spLocks noChangeArrowheads="1"/>
            </p:cNvSpPr>
            <p:nvPr/>
          </p:nvSpPr>
          <p:spPr bwMode="auto">
            <a:xfrm>
              <a:off x="1190" y="3476"/>
              <a:ext cx="419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0000CC"/>
                  </a:solidFill>
                </a:rPr>
                <a:t>肝糖原</a:t>
              </a:r>
              <a:r>
                <a:rPr kumimoji="1" lang="zh-CN" altLang="en-US" sz="2800" b="0" dirty="0"/>
                <a:t>，70 ~ 1</a:t>
              </a:r>
              <a:r>
                <a:rPr kumimoji="1" lang="en-US" altLang="zh-CN" sz="2800" b="0" dirty="0"/>
                <a:t>2</a:t>
              </a:r>
              <a:r>
                <a:rPr kumimoji="1" lang="zh-CN" altLang="en-US" sz="2800" b="0" dirty="0"/>
                <a:t>0</a:t>
              </a:r>
              <a:r>
                <a:rPr kumimoji="1" lang="en-US" altLang="zh-CN" sz="2800" b="0" dirty="0"/>
                <a:t>g，</a:t>
              </a:r>
              <a:r>
                <a:rPr kumimoji="1" lang="zh-CN" altLang="en-US" sz="2800" b="0" u="sng" dirty="0"/>
                <a:t>维持血糖水平    </a:t>
              </a:r>
              <a:endParaRPr kumimoji="1" lang="zh-CN" altLang="en-US" sz="2800" b="0" dirty="0"/>
            </a:p>
          </p:txBody>
        </p:sp>
      </p:grpSp>
      <p:sp>
        <p:nvSpPr>
          <p:cNvPr id="10244" name="Rectangle 6"/>
          <p:cNvSpPr>
            <a:spLocks noGrp="1" noChangeArrowheads="1"/>
          </p:cNvSpPr>
          <p:nvPr>
            <p:ph type="title"/>
          </p:nvPr>
        </p:nvSpPr>
        <p:spPr>
          <a:xfrm>
            <a:off x="2381251" y="642939"/>
            <a:ext cx="3965575" cy="676275"/>
          </a:xfrm>
          <a:noFill/>
        </p:spPr>
        <p:txBody>
          <a:bodyPr/>
          <a:lstStyle/>
          <a:p>
            <a:pPr algn="l" eaLnBrk="1" hangingPunct="1">
              <a:lnSpc>
                <a:spcPct val="120000"/>
              </a:lnSpc>
            </a:pPr>
            <a:r>
              <a:rPr lang="zh-CN" altLang="en-US" sz="3600" b="1" dirty="0">
                <a:solidFill>
                  <a:srgbClr val="800000"/>
                </a:solidFill>
                <a:latin typeface="Arial" panose="020B0604020202020204" pitchFamily="34" charset="0"/>
              </a:rPr>
              <a:t>糖 原 (</a:t>
            </a:r>
            <a:r>
              <a:rPr lang="en-US" altLang="zh-CN" sz="3600" b="1" dirty="0">
                <a:solidFill>
                  <a:srgbClr val="800000"/>
                </a:solidFill>
                <a:latin typeface="Arial" panose="020B0604020202020204" pitchFamily="34" charset="0"/>
              </a:rPr>
              <a:t>glycogen) </a:t>
            </a:r>
            <a:endParaRPr lang="en-US" altLang="zh-CN" sz="3600" b="1" dirty="0">
              <a:solidFill>
                <a:srgbClr val="800000"/>
              </a:solidFill>
              <a:latin typeface="Arial" panose="020B0604020202020204" pitchFamily="34" charset="0"/>
            </a:endParaRPr>
          </a:p>
        </p:txBody>
      </p:sp>
      <p:sp>
        <p:nvSpPr>
          <p:cNvPr id="243719" name="Rectangle 7"/>
          <p:cNvSpPr>
            <a:spLocks noGrp="1" noChangeArrowheads="1"/>
          </p:cNvSpPr>
          <p:nvPr>
            <p:ph type="body" idx="1"/>
          </p:nvPr>
        </p:nvSpPr>
        <p:spPr>
          <a:xfrm>
            <a:off x="2279650" y="3668184"/>
            <a:ext cx="6912694" cy="533400"/>
          </a:xfrm>
          <a:noFill/>
        </p:spPr>
        <p:txBody>
          <a:bodyPr/>
          <a:lstStyle/>
          <a:p>
            <a:pPr eaLnBrk="1" hangingPunct="1">
              <a:lnSpc>
                <a:spcPct val="90000"/>
              </a:lnSpc>
            </a:pPr>
            <a:r>
              <a:rPr lang="zh-CN" altLang="en-US" b="0" dirty="0">
                <a:solidFill>
                  <a:schemeClr val="tx2"/>
                </a:solidFill>
              </a:rPr>
              <a:t> 糖原主要储存部位及其生理意义 </a:t>
            </a:r>
            <a:endParaRPr lang="zh-CN" altLang="en-US" b="0" dirty="0">
              <a:solidFill>
                <a:schemeClr val="tx2"/>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43714"/>
                                        </p:tgtEl>
                                        <p:attrNameLst>
                                          <p:attrName>style.visibility</p:attrName>
                                        </p:attrNameLst>
                                      </p:cBhvr>
                                      <p:to>
                                        <p:strVal val="visible"/>
                                      </p:to>
                                    </p:set>
                                    <p:animEffect transition="in" filter="blinds(horizontal)">
                                      <p:cBhvr>
                                        <p:cTn id="7" dur="500"/>
                                        <p:tgtEl>
                                          <p:spTgt spid="2437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grpId="0" nodeType="clickEffect">
                                  <p:stCondLst>
                                    <p:cond delay="0"/>
                                  </p:stCondLst>
                                  <p:childTnLst>
                                    <p:set>
                                      <p:cBhvr>
                                        <p:cTn id="11" dur="1" fill="hold">
                                          <p:stCondLst>
                                            <p:cond delay="0"/>
                                          </p:stCondLst>
                                        </p:cTn>
                                        <p:tgtEl>
                                          <p:spTgt spid="243719">
                                            <p:txEl>
                                              <p:pRg st="0" end="0"/>
                                            </p:txEl>
                                          </p:spTgt>
                                        </p:tgtEl>
                                        <p:attrNameLst>
                                          <p:attrName>style.visibility</p:attrName>
                                        </p:attrNameLst>
                                      </p:cBhvr>
                                      <p:to>
                                        <p:strVal val="visible"/>
                                      </p:to>
                                    </p:set>
                                    <p:anim calcmode="lin" valueType="num">
                                      <p:cBhvr additive="base">
                                        <p:cTn id="12" dur="500" fill="hold"/>
                                        <p:tgtEl>
                                          <p:spTgt spid="243719">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43719">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3" presetClass="entr" presetSubtype="5"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vertic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autoUpdateAnimBg="0"/>
      <p:bldP spid="243719" grpId="0" autoUpdateAnimBg="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Box 4"/>
          <p:cNvSpPr txBox="1">
            <a:spLocks noChangeArrowheads="1"/>
          </p:cNvSpPr>
          <p:nvPr/>
        </p:nvSpPr>
        <p:spPr bwMode="auto">
          <a:xfrm>
            <a:off x="3903332" y="4097229"/>
            <a:ext cx="1111824" cy="646331"/>
          </a:xfrm>
          <a:prstGeom prst="rect">
            <a:avLst/>
          </a:prstGeom>
          <a:solidFill>
            <a:schemeClr val="accent1">
              <a:lumMod val="20000"/>
              <a:lumOff val="80000"/>
            </a:schemeClr>
          </a:solid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dirty="0">
                <a:latin typeface="Arial" panose="020B0604020202020204" pitchFamily="34" charset="0"/>
                <a:ea typeface="华文楷体" panose="02010600040101010101" pitchFamily="2" charset="-122"/>
              </a:rPr>
              <a:t>UDPG</a:t>
            </a:r>
            <a:r>
              <a:rPr kumimoji="1" lang="zh-CN" altLang="en-US" sz="1800" dirty="0">
                <a:latin typeface="Arial" panose="020B0604020202020204" pitchFamily="34" charset="0"/>
                <a:ea typeface="华文楷体" panose="02010600040101010101" pitchFamily="2" charset="-122"/>
              </a:rPr>
              <a:t>焦磷酸化酶</a:t>
            </a:r>
            <a:r>
              <a:rPr kumimoji="1" lang="zh-CN" altLang="en-US" sz="1800" dirty="0">
                <a:solidFill>
                  <a:schemeClr val="tx2"/>
                </a:solidFill>
                <a:latin typeface="Arial" panose="020B0604020202020204" pitchFamily="34" charset="0"/>
                <a:ea typeface="华文楷体" panose="02010600040101010101" pitchFamily="2" charset="-122"/>
              </a:rPr>
              <a:t>    </a:t>
            </a:r>
            <a:endParaRPr kumimoji="1" lang="zh-CN" altLang="en-US" sz="1800" dirty="0">
              <a:solidFill>
                <a:schemeClr val="tx2"/>
              </a:solidFill>
              <a:latin typeface="Arial" panose="020B0604020202020204" pitchFamily="34" charset="0"/>
              <a:ea typeface="华文楷体" panose="02010600040101010101" pitchFamily="2" charset="-122"/>
            </a:endParaRPr>
          </a:p>
        </p:txBody>
      </p:sp>
      <p:sp>
        <p:nvSpPr>
          <p:cNvPr id="246787" name="Text Box 3"/>
          <p:cNvSpPr txBox="1">
            <a:spLocks noChangeArrowheads="1"/>
          </p:cNvSpPr>
          <p:nvPr/>
        </p:nvSpPr>
        <p:spPr bwMode="auto">
          <a:xfrm>
            <a:off x="4100759" y="914401"/>
            <a:ext cx="28590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latin typeface="微软雅黑" panose="020B0503020204020204" pitchFamily="34" charset="-122"/>
                <a:ea typeface="微软雅黑" panose="020B0503020204020204" pitchFamily="34" charset="-122"/>
              </a:rPr>
              <a:t>葡萄糖（</a:t>
            </a:r>
            <a:r>
              <a:rPr kumimoji="1" lang="en-US" altLang="zh-CN" sz="2800" b="0">
                <a:latin typeface="微软雅黑" panose="020B0503020204020204" pitchFamily="34" charset="-122"/>
                <a:ea typeface="微软雅黑" panose="020B0503020204020204" pitchFamily="34" charset="-122"/>
              </a:rPr>
              <a:t>G）</a:t>
            </a:r>
            <a:endParaRPr kumimoji="1" lang="en-US" altLang="zh-CN" sz="2800" b="0">
              <a:latin typeface="微软雅黑" panose="020B0503020204020204" pitchFamily="34" charset="-122"/>
              <a:ea typeface="微软雅黑" panose="020B0503020204020204" pitchFamily="34" charset="-122"/>
            </a:endParaRPr>
          </a:p>
        </p:txBody>
      </p:sp>
      <p:sp>
        <p:nvSpPr>
          <p:cNvPr id="246788" name="Text Box 4"/>
          <p:cNvSpPr txBox="1">
            <a:spLocks noChangeArrowheads="1"/>
          </p:cNvSpPr>
          <p:nvPr/>
        </p:nvSpPr>
        <p:spPr bwMode="auto">
          <a:xfrm>
            <a:off x="3757859" y="3409950"/>
            <a:ext cx="2590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latin typeface="微软雅黑" panose="020B0503020204020204" pitchFamily="34" charset="-122"/>
                <a:ea typeface="微软雅黑" panose="020B0503020204020204" pitchFamily="34" charset="-122"/>
              </a:rPr>
              <a:t>葡萄糖</a:t>
            </a:r>
            <a:r>
              <a:rPr kumimoji="1" lang="en-US" altLang="zh-CN" sz="2800" b="0" dirty="0">
                <a:latin typeface="微软雅黑" panose="020B0503020204020204" pitchFamily="34" charset="-122"/>
                <a:ea typeface="微软雅黑" panose="020B0503020204020204" pitchFamily="34" charset="-122"/>
              </a:rPr>
              <a:t>-</a:t>
            </a:r>
            <a:r>
              <a:rPr kumimoji="1" lang="zh-CN" altLang="en-US" sz="2800" b="0" dirty="0">
                <a:latin typeface="微软雅黑" panose="020B0503020204020204" pitchFamily="34" charset="-122"/>
                <a:ea typeface="微软雅黑" panose="020B0503020204020204" pitchFamily="34" charset="-122"/>
              </a:rPr>
              <a:t>1-磷酸</a:t>
            </a:r>
            <a:endParaRPr kumimoji="1" lang="zh-CN" altLang="en-US" sz="2800" b="0" dirty="0">
              <a:latin typeface="微软雅黑" panose="020B0503020204020204" pitchFamily="34" charset="-122"/>
              <a:ea typeface="微软雅黑" panose="020B0503020204020204" pitchFamily="34" charset="-122"/>
            </a:endParaRPr>
          </a:p>
        </p:txBody>
      </p:sp>
      <p:sp>
        <p:nvSpPr>
          <p:cNvPr id="246789" name="Text Box 5"/>
          <p:cNvSpPr txBox="1">
            <a:spLocks noChangeArrowheads="1"/>
          </p:cNvSpPr>
          <p:nvPr/>
        </p:nvSpPr>
        <p:spPr bwMode="auto">
          <a:xfrm>
            <a:off x="3757859" y="2419350"/>
            <a:ext cx="2590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latin typeface="微软雅黑" panose="020B0503020204020204" pitchFamily="34" charset="-122"/>
                <a:ea typeface="微软雅黑" panose="020B0503020204020204" pitchFamily="34" charset="-122"/>
              </a:rPr>
              <a:t>葡萄糖</a:t>
            </a:r>
            <a:r>
              <a:rPr kumimoji="1" lang="en-US" altLang="zh-CN" sz="2800" b="0" dirty="0">
                <a:latin typeface="微软雅黑" panose="020B0503020204020204" pitchFamily="34" charset="-122"/>
                <a:ea typeface="微软雅黑" panose="020B0503020204020204" pitchFamily="34" charset="-122"/>
              </a:rPr>
              <a:t>-</a:t>
            </a:r>
            <a:r>
              <a:rPr kumimoji="1" lang="zh-CN" altLang="en-US" sz="2800" b="0" dirty="0">
                <a:latin typeface="微软雅黑" panose="020B0503020204020204" pitchFamily="34" charset="-122"/>
                <a:ea typeface="微软雅黑" panose="020B0503020204020204" pitchFamily="34" charset="-122"/>
              </a:rPr>
              <a:t>6-磷酸</a:t>
            </a:r>
            <a:endParaRPr kumimoji="1" lang="zh-CN" altLang="en-US" sz="2800" b="0" dirty="0">
              <a:latin typeface="微软雅黑" panose="020B0503020204020204" pitchFamily="34" charset="-122"/>
              <a:ea typeface="微软雅黑" panose="020B0503020204020204" pitchFamily="34" charset="-122"/>
            </a:endParaRPr>
          </a:p>
        </p:txBody>
      </p:sp>
      <p:sp>
        <p:nvSpPr>
          <p:cNvPr id="246790" name="Line 6"/>
          <p:cNvSpPr>
            <a:spLocks noChangeShapeType="1"/>
          </p:cNvSpPr>
          <p:nvPr/>
        </p:nvSpPr>
        <p:spPr bwMode="auto">
          <a:xfrm rot="10800000">
            <a:off x="5015159" y="2914650"/>
            <a:ext cx="0" cy="5334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7"/>
          <p:cNvGrpSpPr/>
          <p:nvPr/>
        </p:nvGrpSpPr>
        <p:grpSpPr bwMode="auto">
          <a:xfrm>
            <a:off x="2260847" y="1428751"/>
            <a:ext cx="4430712" cy="1133475"/>
            <a:chOff x="1145" y="612"/>
            <a:chExt cx="2791" cy="714"/>
          </a:xfrm>
        </p:grpSpPr>
        <p:sp>
          <p:nvSpPr>
            <p:cNvPr id="12314" name="Line 8"/>
            <p:cNvSpPr>
              <a:spLocks noChangeShapeType="1"/>
            </p:cNvSpPr>
            <p:nvPr/>
          </p:nvSpPr>
          <p:spPr bwMode="auto">
            <a:xfrm>
              <a:off x="2880" y="612"/>
              <a:ext cx="0" cy="64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315" name="Text Box 9"/>
            <p:cNvSpPr txBox="1">
              <a:spLocks noChangeArrowheads="1"/>
            </p:cNvSpPr>
            <p:nvPr/>
          </p:nvSpPr>
          <p:spPr bwMode="auto">
            <a:xfrm>
              <a:off x="1145" y="767"/>
              <a:ext cx="18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b="0">
                  <a:latin typeface="微软雅黑" panose="020B0503020204020204" pitchFamily="34" charset="-122"/>
                  <a:ea typeface="微软雅黑" panose="020B0503020204020204" pitchFamily="34" charset="-122"/>
                </a:rPr>
                <a:t>己糖</a:t>
              </a:r>
              <a:r>
                <a:rPr kumimoji="1" lang="en-US" altLang="zh-CN" sz="2400" b="0">
                  <a:latin typeface="微软雅黑" panose="020B0503020204020204" pitchFamily="34" charset="-122"/>
                  <a:ea typeface="微软雅黑" panose="020B0503020204020204" pitchFamily="34" charset="-122"/>
                </a:rPr>
                <a:t>/</a:t>
              </a:r>
              <a:r>
                <a:rPr kumimoji="1" lang="zh-CN" altLang="en-US" sz="2400" b="0">
                  <a:latin typeface="微软雅黑" panose="020B0503020204020204" pitchFamily="34" charset="-122"/>
                  <a:ea typeface="微软雅黑" panose="020B0503020204020204" pitchFamily="34" charset="-122"/>
                </a:rPr>
                <a:t>葡萄糖激酶</a:t>
              </a:r>
              <a:endParaRPr kumimoji="1" lang="zh-CN" altLang="en-US" sz="2400" b="0">
                <a:latin typeface="微软雅黑" panose="020B0503020204020204" pitchFamily="34" charset="-122"/>
                <a:ea typeface="微软雅黑" panose="020B0503020204020204" pitchFamily="34" charset="-122"/>
              </a:endParaRPr>
            </a:p>
          </p:txBody>
        </p:sp>
        <p:sp>
          <p:nvSpPr>
            <p:cNvPr id="12316" name="Line 10"/>
            <p:cNvSpPr>
              <a:spLocks noChangeShapeType="1"/>
            </p:cNvSpPr>
            <p:nvPr/>
          </p:nvSpPr>
          <p:spPr bwMode="auto">
            <a:xfrm flipH="1">
              <a:off x="2880" y="744"/>
              <a:ext cx="48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317" name="Line 11"/>
            <p:cNvSpPr>
              <a:spLocks noChangeShapeType="1"/>
            </p:cNvSpPr>
            <p:nvPr/>
          </p:nvSpPr>
          <p:spPr bwMode="auto">
            <a:xfrm>
              <a:off x="2880" y="900"/>
              <a:ext cx="48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318" name="Text Box 12"/>
            <p:cNvSpPr txBox="1">
              <a:spLocks noChangeArrowheads="1"/>
            </p:cNvSpPr>
            <p:nvPr/>
          </p:nvSpPr>
          <p:spPr bwMode="auto">
            <a:xfrm>
              <a:off x="3336" y="612"/>
              <a:ext cx="5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latin typeface="微软雅黑" panose="020B0503020204020204" pitchFamily="34" charset="-122"/>
                  <a:ea typeface="微软雅黑" panose="020B0503020204020204" pitchFamily="34" charset="-122"/>
                </a:rPr>
                <a:t>ATP</a:t>
              </a:r>
              <a:endParaRPr kumimoji="1" lang="en-US" altLang="zh-CN" sz="2800" b="0">
                <a:latin typeface="微软雅黑" panose="020B0503020204020204" pitchFamily="34" charset="-122"/>
                <a:ea typeface="微软雅黑" panose="020B0503020204020204" pitchFamily="34" charset="-122"/>
              </a:endParaRPr>
            </a:p>
          </p:txBody>
        </p:sp>
        <p:sp>
          <p:nvSpPr>
            <p:cNvPr id="12319" name="Text Box 13"/>
            <p:cNvSpPr txBox="1">
              <a:spLocks noChangeArrowheads="1"/>
            </p:cNvSpPr>
            <p:nvPr/>
          </p:nvSpPr>
          <p:spPr bwMode="auto">
            <a:xfrm>
              <a:off x="3324" y="996"/>
              <a:ext cx="6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latin typeface="微软雅黑" panose="020B0503020204020204" pitchFamily="34" charset="-122"/>
                  <a:ea typeface="微软雅黑" panose="020B0503020204020204" pitchFamily="34" charset="-122"/>
                </a:rPr>
                <a:t>ADP</a:t>
              </a:r>
              <a:endParaRPr kumimoji="1" lang="en-US" altLang="zh-CN" sz="2800" b="0">
                <a:latin typeface="微软雅黑" panose="020B0503020204020204" pitchFamily="34" charset="-122"/>
                <a:ea typeface="微软雅黑" panose="020B0503020204020204" pitchFamily="34" charset="-122"/>
              </a:endParaRPr>
            </a:p>
          </p:txBody>
        </p:sp>
      </p:grpSp>
      <p:grpSp>
        <p:nvGrpSpPr>
          <p:cNvPr id="3" name="Group 14"/>
          <p:cNvGrpSpPr/>
          <p:nvPr/>
        </p:nvGrpSpPr>
        <p:grpSpPr bwMode="auto">
          <a:xfrm>
            <a:off x="5015159" y="3943351"/>
            <a:ext cx="2038350" cy="1133475"/>
            <a:chOff x="2880" y="2196"/>
            <a:chExt cx="1056" cy="714"/>
          </a:xfrm>
        </p:grpSpPr>
        <p:sp>
          <p:nvSpPr>
            <p:cNvPr id="12309" name="Line 15"/>
            <p:cNvSpPr>
              <a:spLocks noChangeShapeType="1"/>
            </p:cNvSpPr>
            <p:nvPr/>
          </p:nvSpPr>
          <p:spPr bwMode="auto">
            <a:xfrm>
              <a:off x="2880" y="2196"/>
              <a:ext cx="0" cy="648"/>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310" name="Line 16"/>
            <p:cNvSpPr>
              <a:spLocks noChangeShapeType="1"/>
            </p:cNvSpPr>
            <p:nvPr/>
          </p:nvSpPr>
          <p:spPr bwMode="auto">
            <a:xfrm flipH="1">
              <a:off x="2880" y="2328"/>
              <a:ext cx="480" cy="144"/>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2311" name="Line 17"/>
            <p:cNvSpPr>
              <a:spLocks noChangeShapeType="1"/>
            </p:cNvSpPr>
            <p:nvPr/>
          </p:nvSpPr>
          <p:spPr bwMode="auto">
            <a:xfrm>
              <a:off x="2880" y="2484"/>
              <a:ext cx="48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312" name="Text Box 18"/>
            <p:cNvSpPr txBox="1">
              <a:spLocks noChangeArrowheads="1"/>
            </p:cNvSpPr>
            <p:nvPr/>
          </p:nvSpPr>
          <p:spPr bwMode="auto">
            <a:xfrm>
              <a:off x="3336" y="2196"/>
              <a:ext cx="5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latin typeface="微软雅黑" panose="020B0503020204020204" pitchFamily="34" charset="-122"/>
                  <a:ea typeface="微软雅黑" panose="020B0503020204020204" pitchFamily="34" charset="-122"/>
                </a:rPr>
                <a:t>UTP</a:t>
              </a:r>
              <a:endParaRPr kumimoji="1" lang="en-US" altLang="zh-CN" sz="2800" b="0">
                <a:latin typeface="微软雅黑" panose="020B0503020204020204" pitchFamily="34" charset="-122"/>
                <a:ea typeface="微软雅黑" panose="020B0503020204020204" pitchFamily="34" charset="-122"/>
              </a:endParaRPr>
            </a:p>
          </p:txBody>
        </p:sp>
        <p:sp>
          <p:nvSpPr>
            <p:cNvPr id="12313" name="Text Box 19"/>
            <p:cNvSpPr txBox="1">
              <a:spLocks noChangeArrowheads="1"/>
            </p:cNvSpPr>
            <p:nvPr/>
          </p:nvSpPr>
          <p:spPr bwMode="auto">
            <a:xfrm>
              <a:off x="3324" y="2580"/>
              <a:ext cx="6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latin typeface="微软雅黑" panose="020B0503020204020204" pitchFamily="34" charset="-122"/>
                  <a:ea typeface="微软雅黑" panose="020B0503020204020204" pitchFamily="34" charset="-122"/>
                </a:rPr>
                <a:t>PPi</a:t>
              </a:r>
              <a:endParaRPr kumimoji="1" lang="en-US" altLang="zh-CN" sz="2800" b="0">
                <a:latin typeface="微软雅黑" panose="020B0503020204020204" pitchFamily="34" charset="-122"/>
                <a:ea typeface="微软雅黑" panose="020B0503020204020204" pitchFamily="34" charset="-122"/>
              </a:endParaRPr>
            </a:p>
          </p:txBody>
        </p:sp>
      </p:grpSp>
      <p:sp>
        <p:nvSpPr>
          <p:cNvPr id="246804" name="Text Box 20"/>
          <p:cNvSpPr txBox="1">
            <a:spLocks noChangeArrowheads="1"/>
          </p:cNvSpPr>
          <p:nvPr/>
        </p:nvSpPr>
        <p:spPr bwMode="auto">
          <a:xfrm>
            <a:off x="4367459" y="4906964"/>
            <a:ext cx="137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solidFill>
                  <a:srgbClr val="FF0000"/>
                </a:solidFill>
                <a:latin typeface="微软雅黑" panose="020B0503020204020204" pitchFamily="34" charset="-122"/>
                <a:ea typeface="微软雅黑" panose="020B0503020204020204" pitchFamily="34" charset="-122"/>
              </a:rPr>
              <a:t>UDPG</a:t>
            </a:r>
            <a:endParaRPr kumimoji="1" lang="en-US" altLang="zh-CN" sz="2800" b="0">
              <a:solidFill>
                <a:srgbClr val="FF0000"/>
              </a:solidFill>
              <a:latin typeface="微软雅黑" panose="020B0503020204020204" pitchFamily="34" charset="-122"/>
              <a:ea typeface="微软雅黑" panose="020B0503020204020204" pitchFamily="34" charset="-122"/>
            </a:endParaRPr>
          </a:p>
        </p:txBody>
      </p:sp>
      <p:sp>
        <p:nvSpPr>
          <p:cNvPr id="246805" name="Text Box 21"/>
          <p:cNvSpPr txBox="1">
            <a:spLocks noChangeArrowheads="1"/>
          </p:cNvSpPr>
          <p:nvPr/>
        </p:nvSpPr>
        <p:spPr bwMode="auto">
          <a:xfrm>
            <a:off x="2424359" y="5486400"/>
            <a:ext cx="1828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latin typeface="微软雅黑" panose="020B0503020204020204" pitchFamily="34" charset="-122"/>
                <a:ea typeface="微软雅黑" panose="020B0503020204020204" pitchFamily="34" charset="-122"/>
              </a:rPr>
              <a:t>糖原引物（</a:t>
            </a:r>
            <a:r>
              <a:rPr kumimoji="1" lang="en-US" altLang="zh-CN" sz="2800" b="0">
                <a:latin typeface="微软雅黑" panose="020B0503020204020204" pitchFamily="34" charset="-122"/>
                <a:ea typeface="微软雅黑" panose="020B0503020204020204" pitchFamily="34" charset="-122"/>
              </a:rPr>
              <a:t>G</a:t>
            </a:r>
            <a:r>
              <a:rPr kumimoji="1" lang="en-US" altLang="zh-CN" sz="2800" b="0" baseline="-25000">
                <a:latin typeface="微软雅黑" panose="020B0503020204020204" pitchFamily="34" charset="-122"/>
                <a:ea typeface="微软雅黑" panose="020B0503020204020204" pitchFamily="34" charset="-122"/>
              </a:rPr>
              <a:t>n</a:t>
            </a:r>
            <a:r>
              <a:rPr kumimoji="1" lang="en-US" altLang="zh-CN" sz="2800" b="0">
                <a:latin typeface="微软雅黑" panose="020B0503020204020204" pitchFamily="34" charset="-122"/>
                <a:ea typeface="微软雅黑" panose="020B0503020204020204" pitchFamily="34" charset="-122"/>
              </a:rPr>
              <a:t>）</a:t>
            </a:r>
            <a:endParaRPr kumimoji="1" lang="en-US" altLang="zh-CN" sz="2800" b="0">
              <a:latin typeface="微软雅黑" panose="020B0503020204020204" pitchFamily="34" charset="-122"/>
              <a:ea typeface="微软雅黑" panose="020B0503020204020204" pitchFamily="34" charset="-122"/>
            </a:endParaRPr>
          </a:p>
        </p:txBody>
      </p:sp>
      <p:sp>
        <p:nvSpPr>
          <p:cNvPr id="246806" name="Text Box 22"/>
          <p:cNvSpPr txBox="1">
            <a:spLocks noChangeArrowheads="1"/>
          </p:cNvSpPr>
          <p:nvPr/>
        </p:nvSpPr>
        <p:spPr bwMode="auto">
          <a:xfrm>
            <a:off x="7053509" y="5486400"/>
            <a:ext cx="1828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latin typeface="微软雅黑" panose="020B0503020204020204" pitchFamily="34" charset="-122"/>
                <a:ea typeface="微软雅黑" panose="020B0503020204020204" pitchFamily="34" charset="-122"/>
              </a:rPr>
              <a:t>糖原（</a:t>
            </a:r>
            <a:r>
              <a:rPr kumimoji="1" lang="en-US" altLang="zh-CN" sz="2800" b="0">
                <a:latin typeface="微软雅黑" panose="020B0503020204020204" pitchFamily="34" charset="-122"/>
                <a:ea typeface="微软雅黑" panose="020B0503020204020204" pitchFamily="34" charset="-122"/>
              </a:rPr>
              <a:t>G</a:t>
            </a:r>
            <a:r>
              <a:rPr kumimoji="1" lang="en-US" altLang="zh-CN" sz="2800" b="0" baseline="-25000">
                <a:latin typeface="微软雅黑" panose="020B0503020204020204" pitchFamily="34" charset="-122"/>
                <a:ea typeface="微软雅黑" panose="020B0503020204020204" pitchFamily="34" charset="-122"/>
              </a:rPr>
              <a:t>n+1</a:t>
            </a:r>
            <a:r>
              <a:rPr kumimoji="1" lang="en-US" altLang="zh-CN" sz="2800" b="0">
                <a:latin typeface="微软雅黑" panose="020B0503020204020204" pitchFamily="34" charset="-122"/>
                <a:ea typeface="微软雅黑" panose="020B0503020204020204" pitchFamily="34" charset="-122"/>
              </a:rPr>
              <a:t>）</a:t>
            </a:r>
            <a:endParaRPr kumimoji="1" lang="en-US" altLang="zh-CN" sz="2800" b="0">
              <a:latin typeface="微软雅黑" panose="020B0503020204020204" pitchFamily="34" charset="-122"/>
              <a:ea typeface="微软雅黑" panose="020B0503020204020204" pitchFamily="34" charset="-122"/>
            </a:endParaRPr>
          </a:p>
        </p:txBody>
      </p:sp>
      <p:sp>
        <p:nvSpPr>
          <p:cNvPr id="246807" name="Text Box 23"/>
          <p:cNvSpPr txBox="1">
            <a:spLocks noChangeArrowheads="1"/>
          </p:cNvSpPr>
          <p:nvPr/>
        </p:nvSpPr>
        <p:spPr bwMode="auto">
          <a:xfrm>
            <a:off x="4024559" y="5843589"/>
            <a:ext cx="3429000" cy="888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solidFill>
                  <a:srgbClr val="FF0000"/>
                </a:solidFill>
                <a:latin typeface="微软雅黑" panose="020B0503020204020204" pitchFamily="34" charset="-122"/>
                <a:ea typeface="微软雅黑" panose="020B0503020204020204" pitchFamily="34" charset="-122"/>
              </a:rPr>
              <a:t>糖原合酶</a:t>
            </a:r>
            <a:endParaRPr kumimoji="1" lang="zh-CN" altLang="en-US" sz="2800" b="0">
              <a:solidFill>
                <a:srgbClr val="FF0000"/>
              </a:solidFill>
              <a:latin typeface="微软雅黑" panose="020B0503020204020204" pitchFamily="34" charset="-122"/>
              <a:ea typeface="微软雅黑" panose="020B0503020204020204" pitchFamily="34" charset="-122"/>
            </a:endParaRPr>
          </a:p>
          <a:p>
            <a:pPr algn="ctr" eaLnBrk="1" hangingPunct="1">
              <a:lnSpc>
                <a:spcPct val="20000"/>
              </a:lnSpc>
              <a:spcBef>
                <a:spcPct val="50000"/>
              </a:spcBef>
              <a:buClrTx/>
              <a:buSzTx/>
              <a:buFontTx/>
              <a:buNone/>
            </a:pPr>
            <a:r>
              <a:rPr kumimoji="1" lang="zh-CN" altLang="en-US" sz="2000" b="0">
                <a:solidFill>
                  <a:srgbClr val="FF0000"/>
                </a:solidFill>
                <a:latin typeface="微软雅黑" panose="020B0503020204020204" pitchFamily="34" charset="-122"/>
                <a:ea typeface="微软雅黑" panose="020B0503020204020204" pitchFamily="34" charset="-122"/>
              </a:rPr>
              <a:t>( </a:t>
            </a:r>
            <a:r>
              <a:rPr kumimoji="1" lang="en-US" altLang="zh-CN" sz="2400" b="0">
                <a:solidFill>
                  <a:srgbClr val="FF0000"/>
                </a:solidFill>
                <a:latin typeface="微软雅黑" panose="020B0503020204020204" pitchFamily="34" charset="-122"/>
                <a:ea typeface="微软雅黑" panose="020B0503020204020204" pitchFamily="34" charset="-122"/>
              </a:rPr>
              <a:t>glycogen  synthase </a:t>
            </a:r>
            <a:r>
              <a:rPr kumimoji="1" lang="en-US" altLang="zh-CN" sz="2800" b="0">
                <a:solidFill>
                  <a:srgbClr val="FF0000"/>
                </a:solidFill>
                <a:latin typeface="微软雅黑" panose="020B0503020204020204" pitchFamily="34" charset="-122"/>
                <a:ea typeface="微软雅黑" panose="020B0503020204020204" pitchFamily="34" charset="-122"/>
              </a:rPr>
              <a:t>)</a:t>
            </a:r>
            <a:endParaRPr kumimoji="1" lang="zh-CN" altLang="en-US" sz="2800" b="0">
              <a:solidFill>
                <a:srgbClr val="FF0000"/>
              </a:solidFill>
              <a:latin typeface="微软雅黑" panose="020B0503020204020204" pitchFamily="34" charset="-122"/>
              <a:ea typeface="微软雅黑" panose="020B0503020204020204" pitchFamily="34" charset="-122"/>
            </a:endParaRPr>
          </a:p>
        </p:txBody>
      </p:sp>
      <p:grpSp>
        <p:nvGrpSpPr>
          <p:cNvPr id="4" name="Group 24"/>
          <p:cNvGrpSpPr/>
          <p:nvPr/>
        </p:nvGrpSpPr>
        <p:grpSpPr bwMode="auto">
          <a:xfrm>
            <a:off x="4253159" y="5410200"/>
            <a:ext cx="3124200" cy="381000"/>
            <a:chOff x="2400" y="3120"/>
            <a:chExt cx="1968" cy="240"/>
          </a:xfrm>
        </p:grpSpPr>
        <p:sp>
          <p:nvSpPr>
            <p:cNvPr id="12306" name="Line 25"/>
            <p:cNvSpPr>
              <a:spLocks noChangeShapeType="1"/>
            </p:cNvSpPr>
            <p:nvPr/>
          </p:nvSpPr>
          <p:spPr bwMode="auto">
            <a:xfrm>
              <a:off x="2400" y="3360"/>
              <a:ext cx="196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307" name="Line 26"/>
            <p:cNvSpPr>
              <a:spLocks noChangeShapeType="1"/>
            </p:cNvSpPr>
            <p:nvPr/>
          </p:nvSpPr>
          <p:spPr bwMode="auto">
            <a:xfrm>
              <a:off x="2880" y="3120"/>
              <a:ext cx="288" cy="19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308" name="Line 27"/>
            <p:cNvSpPr>
              <a:spLocks noChangeShapeType="1"/>
            </p:cNvSpPr>
            <p:nvPr/>
          </p:nvSpPr>
          <p:spPr bwMode="auto">
            <a:xfrm flipV="1">
              <a:off x="3744" y="3120"/>
              <a:ext cx="192" cy="23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46812" name="Text Box 28"/>
          <p:cNvSpPr txBox="1">
            <a:spLocks noChangeArrowheads="1"/>
          </p:cNvSpPr>
          <p:nvPr/>
        </p:nvSpPr>
        <p:spPr bwMode="auto">
          <a:xfrm>
            <a:off x="6234359" y="4933951"/>
            <a:ext cx="106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latin typeface="微软雅黑" panose="020B0503020204020204" pitchFamily="34" charset="-122"/>
                <a:ea typeface="微软雅黑" panose="020B0503020204020204" pitchFamily="34" charset="-122"/>
              </a:rPr>
              <a:t>UDP</a:t>
            </a:r>
            <a:endParaRPr kumimoji="1" lang="en-US" altLang="zh-CN" sz="2800" b="0">
              <a:latin typeface="微软雅黑" panose="020B0503020204020204" pitchFamily="34" charset="-122"/>
              <a:ea typeface="微软雅黑" panose="020B0503020204020204" pitchFamily="34" charset="-122"/>
            </a:endParaRPr>
          </a:p>
        </p:txBody>
      </p:sp>
      <p:sp>
        <p:nvSpPr>
          <p:cNvPr id="30" name="Rectangle 2"/>
          <p:cNvSpPr txBox="1">
            <a:spLocks noChangeArrowheads="1"/>
          </p:cNvSpPr>
          <p:nvPr/>
        </p:nvSpPr>
        <p:spPr>
          <a:xfrm>
            <a:off x="2384425" y="120651"/>
            <a:ext cx="7137400" cy="792163"/>
          </a:xfrm>
          <a:prstGeom prst="rect">
            <a:avLst/>
          </a:prstGeom>
          <a:noFill/>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cs typeface="楷体_GB2312"/>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algn="ctr" eaLnBrk="1" hangingPunct="1">
              <a:lnSpc>
                <a:spcPct val="90000"/>
              </a:lnSpc>
              <a:buFont typeface="Wingdings" panose="05000000000000000000" pitchFamily="2" charset="2"/>
              <a:buNone/>
              <a:defRPr/>
            </a:pPr>
            <a:r>
              <a:rPr lang="zh-CN" altLang="en-US" sz="3600" kern="0" dirty="0">
                <a:solidFill>
                  <a:srgbClr val="800000"/>
                </a:solidFill>
                <a:latin typeface="黑体" panose="02010609060101010101" pitchFamily="2" charset="-122"/>
                <a:ea typeface="黑体" panose="02010609060101010101" pitchFamily="2" charset="-122"/>
              </a:rPr>
              <a:t>一、糖原的合成（</a:t>
            </a:r>
            <a:r>
              <a:rPr lang="en-US" altLang="zh-CN" sz="3600" kern="0" dirty="0">
                <a:solidFill>
                  <a:srgbClr val="800000"/>
                </a:solidFill>
                <a:latin typeface="黑体" panose="02010609060101010101" pitchFamily="2" charset="-122"/>
                <a:ea typeface="黑体" panose="02010609060101010101" pitchFamily="2" charset="-122"/>
              </a:rPr>
              <a:t>glycogenesis)</a:t>
            </a:r>
            <a:endParaRPr lang="zh-CN" altLang="en-US" sz="3600" kern="0" dirty="0">
              <a:solidFill>
                <a:srgbClr val="800000"/>
              </a:solidFill>
              <a:latin typeface="黑体" panose="02010609060101010101" pitchFamily="2" charset="-122"/>
              <a:ea typeface="黑体" panose="02010609060101010101" pitchFamily="2" charset="-122"/>
            </a:endParaRPr>
          </a:p>
        </p:txBody>
      </p:sp>
      <p:sp>
        <p:nvSpPr>
          <p:cNvPr id="12303" name="矩形 5"/>
          <p:cNvSpPr>
            <a:spLocks noChangeArrowheads="1"/>
          </p:cNvSpPr>
          <p:nvPr/>
        </p:nvSpPr>
        <p:spPr bwMode="auto">
          <a:xfrm>
            <a:off x="7889477" y="1674814"/>
            <a:ext cx="3348037" cy="182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50000"/>
              </a:lnSpc>
              <a:spcBef>
                <a:spcPct val="0"/>
              </a:spcBef>
              <a:buClrTx/>
              <a:buSzTx/>
              <a:buFontTx/>
              <a:buNone/>
            </a:pPr>
            <a:r>
              <a:rPr lang="zh-CN" altLang="en-US" sz="2600" b="0" dirty="0">
                <a:latin typeface="微软雅黑" panose="020B0503020204020204" pitchFamily="34" charset="-122"/>
                <a:ea typeface="微软雅黑" panose="020B0503020204020204" pitchFamily="34" charset="-122"/>
              </a:rPr>
              <a:t>组织定位：</a:t>
            </a:r>
            <a:endParaRPr lang="en-US" altLang="zh-CN" sz="2600" b="0" dirty="0">
              <a:latin typeface="微软雅黑" panose="020B0503020204020204" pitchFamily="34" charset="-122"/>
              <a:ea typeface="微软雅黑" panose="020B0503020204020204" pitchFamily="34" charset="-122"/>
            </a:endParaRPr>
          </a:p>
          <a:p>
            <a:pPr>
              <a:lnSpc>
                <a:spcPct val="150000"/>
              </a:lnSpc>
              <a:spcBef>
                <a:spcPct val="0"/>
              </a:spcBef>
              <a:buClrTx/>
              <a:buSzTx/>
              <a:buFontTx/>
              <a:buNone/>
            </a:pPr>
            <a:r>
              <a:rPr lang="en-US" altLang="zh-CN" sz="2600" b="0" dirty="0">
                <a:latin typeface="微软雅黑" panose="020B0503020204020204" pitchFamily="34" charset="-122"/>
                <a:ea typeface="微软雅黑" panose="020B0503020204020204" pitchFamily="34" charset="-122"/>
              </a:rPr>
              <a:t>     </a:t>
            </a:r>
            <a:r>
              <a:rPr lang="zh-CN" altLang="en-US" sz="2600" b="0" dirty="0">
                <a:latin typeface="微软雅黑" panose="020B0503020204020204" pitchFamily="34" charset="-122"/>
                <a:ea typeface="微软雅黑" panose="020B0503020204020204" pitchFamily="34" charset="-122"/>
              </a:rPr>
              <a:t>主要在</a:t>
            </a:r>
            <a:r>
              <a:rPr lang="zh-CN" altLang="en-US" sz="2600" b="0" dirty="0">
                <a:solidFill>
                  <a:srgbClr val="0000CC"/>
                </a:solidFill>
                <a:latin typeface="微软雅黑" panose="020B0503020204020204" pitchFamily="34" charset="-122"/>
                <a:ea typeface="微软雅黑" panose="020B0503020204020204" pitchFamily="34" charset="-122"/>
              </a:rPr>
              <a:t>肝脏、肌肉</a:t>
            </a:r>
            <a:endParaRPr lang="zh-CN" altLang="en-US" sz="2600" b="0" dirty="0">
              <a:solidFill>
                <a:srgbClr val="0000CC"/>
              </a:solidFill>
              <a:latin typeface="微软雅黑" panose="020B0503020204020204" pitchFamily="34" charset="-122"/>
              <a:ea typeface="微软雅黑" panose="020B0503020204020204" pitchFamily="34" charset="-122"/>
            </a:endParaRPr>
          </a:p>
          <a:p>
            <a:pPr>
              <a:lnSpc>
                <a:spcPct val="150000"/>
              </a:lnSpc>
              <a:spcBef>
                <a:spcPct val="0"/>
              </a:spcBef>
              <a:buClrTx/>
              <a:buSzTx/>
              <a:buFontTx/>
              <a:buNone/>
            </a:pPr>
            <a:r>
              <a:rPr lang="zh-CN" altLang="en-US" sz="2600" b="0" dirty="0">
                <a:latin typeface="微软雅黑" panose="020B0503020204020204" pitchFamily="34" charset="-122"/>
                <a:ea typeface="微软雅黑" panose="020B0503020204020204" pitchFamily="34" charset="-122"/>
              </a:rPr>
              <a:t>细胞定位：</a:t>
            </a:r>
            <a:r>
              <a:rPr lang="zh-CN" altLang="en-US" sz="2600" b="0" dirty="0">
                <a:solidFill>
                  <a:srgbClr val="C00000"/>
                </a:solidFill>
                <a:latin typeface="微软雅黑" panose="020B0503020204020204" pitchFamily="34" charset="-122"/>
                <a:ea typeface="微软雅黑" panose="020B0503020204020204" pitchFamily="34" charset="-122"/>
              </a:rPr>
              <a:t>胞质</a:t>
            </a:r>
            <a:endParaRPr lang="zh-CN" altLang="en-US" sz="2600" b="0" dirty="0">
              <a:solidFill>
                <a:srgbClr val="C00000"/>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65647" y="3465117"/>
            <a:ext cx="2581885" cy="1832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a:spLocks noChangeArrowheads="1"/>
          </p:cNvSpPr>
          <p:nvPr/>
        </p:nvSpPr>
        <p:spPr bwMode="auto">
          <a:xfrm>
            <a:off x="8032350" y="3817940"/>
            <a:ext cx="3464249"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600" b="0" dirty="0">
                <a:latin typeface="微软雅黑" panose="020B0503020204020204" pitchFamily="34" charset="-122"/>
                <a:ea typeface="微软雅黑" panose="020B0503020204020204" pitchFamily="34" charset="-122"/>
              </a:rPr>
              <a:t>糖原合成时葡萄糖的</a:t>
            </a:r>
            <a:r>
              <a:rPr lang="zh-CN" altLang="en-US" sz="2600" b="0" dirty="0">
                <a:solidFill>
                  <a:srgbClr val="FF0000"/>
                </a:solidFill>
                <a:latin typeface="微软雅黑" panose="020B0503020204020204" pitchFamily="34" charset="-122"/>
                <a:ea typeface="微软雅黑" panose="020B0503020204020204" pitchFamily="34" charset="-122"/>
              </a:rPr>
              <a:t>直接供体： </a:t>
            </a:r>
            <a:r>
              <a:rPr lang="en-US" altLang="zh-CN" sz="2600" b="0" dirty="0">
                <a:solidFill>
                  <a:srgbClr val="FF0000"/>
                </a:solidFill>
                <a:latin typeface="微软雅黑" panose="020B0503020204020204" pitchFamily="34" charset="-122"/>
                <a:ea typeface="微软雅黑" panose="020B0503020204020204" pitchFamily="34" charset="-122"/>
              </a:rPr>
              <a:t>UDPG</a:t>
            </a:r>
            <a:endParaRPr lang="zh-CN" altLang="en-US" sz="2600" b="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46787"/>
                                        </p:tgtEl>
                                        <p:attrNameLst>
                                          <p:attrName>style.visibility</p:attrName>
                                        </p:attrNameLst>
                                      </p:cBhvr>
                                      <p:to>
                                        <p:strVal val="visible"/>
                                      </p:to>
                                    </p:set>
                                    <p:animEffect transition="in" filter="dissolve">
                                      <p:cBhvr>
                                        <p:cTn id="7" dur="500"/>
                                        <p:tgtEl>
                                          <p:spTgt spid="2467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46789"/>
                                        </p:tgtEl>
                                        <p:attrNameLst>
                                          <p:attrName>style.visibility</p:attrName>
                                        </p:attrNameLst>
                                      </p:cBhvr>
                                      <p:to>
                                        <p:strVal val="visible"/>
                                      </p:to>
                                    </p:set>
                                    <p:animEffect transition="in" filter="dissolve">
                                      <p:cBhvr>
                                        <p:cTn id="16" dur="500"/>
                                        <p:tgtEl>
                                          <p:spTgt spid="24678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46790"/>
                                        </p:tgtEl>
                                        <p:attrNameLst>
                                          <p:attrName>style.visibility</p:attrName>
                                        </p:attrNameLst>
                                      </p:cBhvr>
                                      <p:to>
                                        <p:strVal val="visible"/>
                                      </p:to>
                                    </p:set>
                                    <p:animEffect transition="in" filter="wipe(up)">
                                      <p:cBhvr>
                                        <p:cTn id="21" dur="500"/>
                                        <p:tgtEl>
                                          <p:spTgt spid="246790"/>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246788"/>
                                        </p:tgtEl>
                                        <p:attrNameLst>
                                          <p:attrName>style.visibility</p:attrName>
                                        </p:attrNameLst>
                                      </p:cBhvr>
                                      <p:to>
                                        <p:strVal val="visible"/>
                                      </p:to>
                                    </p:set>
                                    <p:animEffect transition="in" filter="dissolve">
                                      <p:cBhvr>
                                        <p:cTn id="25" dur="500"/>
                                        <p:tgtEl>
                                          <p:spTgt spid="24678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up)">
                                      <p:cBhvr>
                                        <p:cTn id="30" dur="500"/>
                                        <p:tgtEl>
                                          <p:spTgt spid="3"/>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46804"/>
                                        </p:tgtEl>
                                        <p:attrNameLst>
                                          <p:attrName>style.visibility</p:attrName>
                                        </p:attrNameLst>
                                      </p:cBhvr>
                                      <p:to>
                                        <p:strVal val="visible"/>
                                      </p:to>
                                    </p:set>
                                    <p:animEffect transition="in" filter="dissolve">
                                      <p:cBhvr>
                                        <p:cTn id="34" dur="500"/>
                                        <p:tgtEl>
                                          <p:spTgt spid="246804"/>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246805"/>
                                        </p:tgtEl>
                                        <p:attrNameLst>
                                          <p:attrName>style.visibility</p:attrName>
                                        </p:attrNameLst>
                                      </p:cBhvr>
                                      <p:to>
                                        <p:strVal val="visible"/>
                                      </p:to>
                                    </p:set>
                                    <p:animEffect transition="in" filter="dissolve">
                                      <p:cBhvr>
                                        <p:cTn id="44" dur="500"/>
                                        <p:tgtEl>
                                          <p:spTgt spid="246805"/>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wipe(left)">
                                      <p:cBhvr>
                                        <p:cTn id="48" dur="500"/>
                                        <p:tgtEl>
                                          <p:spTgt spid="4"/>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246807"/>
                                        </p:tgtEl>
                                        <p:attrNameLst>
                                          <p:attrName>style.visibility</p:attrName>
                                        </p:attrNameLst>
                                      </p:cBhvr>
                                      <p:to>
                                        <p:strVal val="visible"/>
                                      </p:to>
                                    </p:set>
                                    <p:animEffect transition="in" filter="wipe(left)">
                                      <p:cBhvr>
                                        <p:cTn id="52" dur="500"/>
                                        <p:tgtEl>
                                          <p:spTgt spid="246807"/>
                                        </p:tgtEl>
                                      </p:cBhvr>
                                    </p:animEffect>
                                  </p:childTnLst>
                                </p:cTn>
                              </p:par>
                            </p:childTnLst>
                          </p:cTn>
                        </p:par>
                        <p:par>
                          <p:cTn id="53" fill="hold">
                            <p:stCondLst>
                              <p:cond delay="1500"/>
                            </p:stCondLst>
                            <p:childTnLst>
                              <p:par>
                                <p:cTn id="54" presetID="9" presetClass="entr" presetSubtype="0" fill="hold" grpId="0" nodeType="afterEffect">
                                  <p:stCondLst>
                                    <p:cond delay="0"/>
                                  </p:stCondLst>
                                  <p:childTnLst>
                                    <p:set>
                                      <p:cBhvr>
                                        <p:cTn id="55" dur="1" fill="hold">
                                          <p:stCondLst>
                                            <p:cond delay="0"/>
                                          </p:stCondLst>
                                        </p:cTn>
                                        <p:tgtEl>
                                          <p:spTgt spid="246812"/>
                                        </p:tgtEl>
                                        <p:attrNameLst>
                                          <p:attrName>style.visibility</p:attrName>
                                        </p:attrNameLst>
                                      </p:cBhvr>
                                      <p:to>
                                        <p:strVal val="visible"/>
                                      </p:to>
                                    </p:set>
                                    <p:animEffect transition="in" filter="dissolve">
                                      <p:cBhvr>
                                        <p:cTn id="56" dur="500"/>
                                        <p:tgtEl>
                                          <p:spTgt spid="246812"/>
                                        </p:tgtEl>
                                      </p:cBhvr>
                                    </p:animEffect>
                                  </p:childTnLst>
                                </p:cTn>
                              </p:par>
                            </p:childTnLst>
                          </p:cTn>
                        </p:par>
                        <p:par>
                          <p:cTn id="57" fill="hold">
                            <p:stCondLst>
                              <p:cond delay="2000"/>
                            </p:stCondLst>
                            <p:childTnLst>
                              <p:par>
                                <p:cTn id="58" presetID="9" presetClass="entr" presetSubtype="0" fill="hold" grpId="0" nodeType="afterEffect">
                                  <p:stCondLst>
                                    <p:cond delay="0"/>
                                  </p:stCondLst>
                                  <p:childTnLst>
                                    <p:set>
                                      <p:cBhvr>
                                        <p:cTn id="59" dur="1" fill="hold">
                                          <p:stCondLst>
                                            <p:cond delay="0"/>
                                          </p:stCondLst>
                                        </p:cTn>
                                        <p:tgtEl>
                                          <p:spTgt spid="246806"/>
                                        </p:tgtEl>
                                        <p:attrNameLst>
                                          <p:attrName>style.visibility</p:attrName>
                                        </p:attrNameLst>
                                      </p:cBhvr>
                                      <p:to>
                                        <p:strVal val="visible"/>
                                      </p:to>
                                    </p:set>
                                    <p:animEffect transition="in" filter="dissolve">
                                      <p:cBhvr>
                                        <p:cTn id="60" dur="500"/>
                                        <p:tgtEl>
                                          <p:spTgt spid="246806"/>
                                        </p:tgtEl>
                                      </p:cBhvr>
                                    </p:animEffect>
                                  </p:childTnLst>
                                </p:cTn>
                              </p:par>
                            </p:childTnLst>
                          </p:cTn>
                        </p:par>
                        <p:par>
                          <p:cTn id="61" fill="hold">
                            <p:stCondLst>
                              <p:cond delay="2500"/>
                            </p:stCondLst>
                            <p:childTnLst>
                              <p:par>
                                <p:cTn id="62" presetID="1" presetClass="entr" presetSubtype="0" fill="hold" grpId="0" nodeType="afterEffect">
                                  <p:stCondLst>
                                    <p:cond delay="0"/>
                                  </p:stCondLst>
                                  <p:childTnLst>
                                    <p:set>
                                      <p:cBhvr>
                                        <p:cTn id="6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46787" grpId="0" autoUpdateAnimBg="0"/>
      <p:bldP spid="246788" grpId="0" autoUpdateAnimBg="0"/>
      <p:bldP spid="246789" grpId="0" autoUpdateAnimBg="0"/>
      <p:bldP spid="246804" grpId="0" autoUpdateAnimBg="0"/>
      <p:bldP spid="246805" grpId="0" autoUpdateAnimBg="0"/>
      <p:bldP spid="246806" grpId="0" autoUpdateAnimBg="0"/>
      <p:bldP spid="246807" grpId="0" autoUpdateAnimBg="0"/>
      <p:bldP spid="246812" grpId="0" autoUpdateAnimBg="0"/>
      <p:bldP spid="1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247650"/>
            <a:ext cx="9144000" cy="636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438400" y="476250"/>
            <a:ext cx="7391400" cy="490538"/>
          </a:xfrm>
        </p:spPr>
        <p:txBody>
          <a:bodyPr/>
          <a:lstStyle/>
          <a:p>
            <a:pPr eaLnBrk="1" hangingPunct="1"/>
            <a:r>
              <a:rPr lang="zh-CN" altLang="en-US" sz="3600" b="1">
                <a:solidFill>
                  <a:srgbClr val="800000"/>
                </a:solidFill>
              </a:rPr>
              <a:t>糖原蛋白是糖原引物</a:t>
            </a:r>
            <a:endParaRPr lang="zh-CN" altLang="en-US" sz="3600" b="1">
              <a:solidFill>
                <a:srgbClr val="800000"/>
              </a:solidFill>
            </a:endParaRPr>
          </a:p>
        </p:txBody>
      </p:sp>
      <p:sp>
        <p:nvSpPr>
          <p:cNvPr id="249859" name="Rectangle 3"/>
          <p:cNvSpPr>
            <a:spLocks noGrp="1" noChangeArrowheads="1"/>
          </p:cNvSpPr>
          <p:nvPr>
            <p:ph type="body" idx="1"/>
          </p:nvPr>
        </p:nvSpPr>
        <p:spPr>
          <a:xfrm>
            <a:off x="1782763" y="1577976"/>
            <a:ext cx="8702673" cy="1079500"/>
          </a:xfrm>
        </p:spPr>
        <p:txBody>
          <a:bodyPr/>
          <a:lstStyle/>
          <a:p>
            <a:pPr eaLnBrk="1" hangingPunct="1">
              <a:lnSpc>
                <a:spcPct val="120000"/>
              </a:lnSpc>
              <a:buClr>
                <a:schemeClr val="tx1"/>
              </a:buClr>
              <a:defRPr/>
            </a:pPr>
            <a:r>
              <a:rPr lang="zh-CN" altLang="en-US" sz="2800" b="0" dirty="0">
                <a:solidFill>
                  <a:srgbClr val="C00000"/>
                </a:solidFill>
                <a:latin typeface="+mj-ea"/>
                <a:ea typeface="+mj-ea"/>
              </a:rPr>
              <a:t>糖原蛋白</a:t>
            </a:r>
            <a:r>
              <a:rPr lang="zh-CN" altLang="en-US" sz="2800" b="0" dirty="0">
                <a:latin typeface="+mj-ea"/>
                <a:ea typeface="+mj-ea"/>
              </a:rPr>
              <a:t>（</a:t>
            </a:r>
            <a:r>
              <a:rPr lang="en-US" altLang="zh-CN" sz="2800" b="0" dirty="0" err="1">
                <a:latin typeface="+mj-ea"/>
                <a:ea typeface="+mj-ea"/>
              </a:rPr>
              <a:t>glycogenin</a:t>
            </a:r>
            <a:r>
              <a:rPr lang="en-US" altLang="zh-CN" sz="2800" b="0" dirty="0">
                <a:latin typeface="+mj-ea"/>
                <a:ea typeface="+mj-ea"/>
              </a:rPr>
              <a:t>)</a:t>
            </a:r>
            <a:r>
              <a:rPr lang="zh-CN" altLang="en-US" sz="2800" b="0" dirty="0">
                <a:latin typeface="+mj-ea"/>
                <a:ea typeface="+mj-ea"/>
              </a:rPr>
              <a:t>有</a:t>
            </a:r>
            <a:r>
              <a:rPr lang="zh-CN" altLang="en-US" sz="2800" b="0" dirty="0">
                <a:solidFill>
                  <a:srgbClr val="0000CC"/>
                </a:solidFill>
                <a:latin typeface="+mj-ea"/>
                <a:ea typeface="+mj-ea"/>
              </a:rPr>
              <a:t>糖基转移活性</a:t>
            </a:r>
            <a:r>
              <a:rPr lang="zh-CN" altLang="en-US" sz="2800" b="0" dirty="0">
                <a:latin typeface="+mj-ea"/>
                <a:ea typeface="+mj-ea"/>
              </a:rPr>
              <a:t>，</a:t>
            </a:r>
            <a:r>
              <a:rPr lang="zh-CN" altLang="en-US" sz="2800" b="0" dirty="0">
                <a:solidFill>
                  <a:srgbClr val="0000CC"/>
                </a:solidFill>
                <a:latin typeface="+mj-ea"/>
                <a:ea typeface="+mj-ea"/>
              </a:rPr>
              <a:t>以</a:t>
            </a:r>
            <a:r>
              <a:rPr lang="en-US" altLang="zh-CN" sz="2800" b="0" dirty="0">
                <a:solidFill>
                  <a:srgbClr val="0000CC"/>
                </a:solidFill>
                <a:latin typeface="+mj-ea"/>
                <a:ea typeface="+mj-ea"/>
              </a:rPr>
              <a:t>UDPG</a:t>
            </a:r>
            <a:r>
              <a:rPr lang="zh-CN" altLang="en-US" sz="2800" b="0" dirty="0">
                <a:solidFill>
                  <a:srgbClr val="0000CC"/>
                </a:solidFill>
                <a:latin typeface="+mj-ea"/>
                <a:ea typeface="+mj-ea"/>
              </a:rPr>
              <a:t>为底物，</a:t>
            </a:r>
            <a:r>
              <a:rPr lang="zh-CN" altLang="en-US" sz="2800" b="0" dirty="0">
                <a:latin typeface="+mj-ea"/>
                <a:ea typeface="+mj-ea"/>
              </a:rPr>
              <a:t>将葡萄糖结合在</a:t>
            </a:r>
            <a:r>
              <a:rPr kumimoji="1" lang="en-US" altLang="zh-CN" sz="2800" b="0" u="sng" dirty="0">
                <a:latin typeface="+mj-ea"/>
                <a:ea typeface="+mj-ea"/>
              </a:rPr>
              <a:t>Tyr</a:t>
            </a:r>
            <a:r>
              <a:rPr kumimoji="1" lang="en-US" altLang="zh-CN" sz="2800" b="0" u="sng" baseline="30000" dirty="0">
                <a:latin typeface="+mj-ea"/>
                <a:ea typeface="+mj-ea"/>
              </a:rPr>
              <a:t>194</a:t>
            </a:r>
            <a:r>
              <a:rPr kumimoji="1" lang="zh-CN" altLang="en-US" sz="2800" b="0" u="sng" dirty="0">
                <a:latin typeface="+mj-ea"/>
                <a:ea typeface="+mj-ea"/>
              </a:rPr>
              <a:t>的酚羟基</a:t>
            </a:r>
            <a:r>
              <a:rPr kumimoji="1" lang="zh-CN" altLang="en-US" sz="2800" b="0" dirty="0">
                <a:latin typeface="+mj-ea"/>
                <a:ea typeface="+mj-ea"/>
              </a:rPr>
              <a:t>上。</a:t>
            </a:r>
            <a:endParaRPr lang="zh-CN" altLang="en-US" sz="2800" b="0" dirty="0">
              <a:latin typeface="+mj-ea"/>
              <a:ea typeface="+mj-ea"/>
            </a:endParaRPr>
          </a:p>
        </p:txBody>
      </p:sp>
      <p:pic>
        <p:nvPicPr>
          <p:cNvPr id="16388"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82763" y="2780928"/>
            <a:ext cx="3384376" cy="3350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文本框 2"/>
          <p:cNvSpPr txBox="1">
            <a:spLocks noChangeArrowheads="1"/>
          </p:cNvSpPr>
          <p:nvPr/>
        </p:nvSpPr>
        <p:spPr bwMode="auto">
          <a:xfrm>
            <a:off x="5807968" y="3382941"/>
            <a:ext cx="5184576" cy="2452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20000"/>
              </a:lnSpc>
              <a:spcBef>
                <a:spcPct val="0"/>
              </a:spcBef>
              <a:buClrTx/>
              <a:buSzTx/>
              <a:buFontTx/>
              <a:buNone/>
            </a:pPr>
            <a:r>
              <a:rPr lang="zh-CN" altLang="en-US" sz="2600" dirty="0">
                <a:latin typeface="微软雅黑" panose="020B0503020204020204" pitchFamily="34" charset="-122"/>
                <a:ea typeface="微软雅黑" panose="020B0503020204020204" pitchFamily="34" charset="-122"/>
              </a:rPr>
              <a:t>糖原蛋白是同二聚体</a:t>
            </a:r>
            <a:r>
              <a:rPr lang="zh-CN" altLang="en-US" sz="2600" b="0" dirty="0">
                <a:latin typeface="微软雅黑" panose="020B0503020204020204" pitchFamily="34" charset="-122"/>
                <a:ea typeface="微软雅黑" panose="020B0503020204020204" pitchFamily="34" charset="-122"/>
              </a:rPr>
              <a:t>， </a:t>
            </a:r>
            <a:r>
              <a:rPr lang="zh-CN" altLang="en-US" sz="2600" b="0" dirty="0">
                <a:solidFill>
                  <a:srgbClr val="0000FF"/>
                </a:solidFill>
                <a:latin typeface="微软雅黑" panose="020B0503020204020204" pitchFamily="34" charset="-122"/>
                <a:ea typeface="微软雅黑" panose="020B0503020204020204" pitchFamily="34" charset="-122"/>
              </a:rPr>
              <a:t>每个单体上有一个葡萄糖基结合位点</a:t>
            </a:r>
            <a:r>
              <a:rPr lang="zh-CN" altLang="en-US" sz="2600" b="0" dirty="0">
                <a:latin typeface="微软雅黑" panose="020B0503020204020204" pitchFamily="34" charset="-122"/>
                <a:ea typeface="微软雅黑" panose="020B0503020204020204" pitchFamily="34" charset="-122"/>
              </a:rPr>
              <a:t>，葡萄糖以其还原端与</a:t>
            </a:r>
            <a:r>
              <a:rPr lang="en-US" altLang="zh-CN" sz="2600" b="0" dirty="0">
                <a:latin typeface="微软雅黑" panose="020B0503020204020204" pitchFamily="34" charset="-122"/>
                <a:ea typeface="微软雅黑" panose="020B0503020204020204" pitchFamily="34" charset="-122"/>
              </a:rPr>
              <a:t>Tyr</a:t>
            </a:r>
            <a:r>
              <a:rPr lang="en-US" altLang="zh-CN" sz="2600" b="0" baseline="30000" dirty="0">
                <a:latin typeface="微软雅黑" panose="020B0503020204020204" pitchFamily="34" charset="-122"/>
                <a:ea typeface="微软雅黑" panose="020B0503020204020204" pitchFamily="34" charset="-122"/>
              </a:rPr>
              <a:t>194</a:t>
            </a:r>
            <a:r>
              <a:rPr lang="zh-CN" altLang="en-US" sz="2600" b="0" dirty="0">
                <a:latin typeface="微软雅黑" panose="020B0503020204020204" pitchFamily="34" charset="-122"/>
                <a:ea typeface="微软雅黑" panose="020B0503020204020204" pitchFamily="34" charset="-122"/>
              </a:rPr>
              <a:t>结合，连续加上共</a:t>
            </a:r>
            <a:r>
              <a:rPr lang="en-US" altLang="zh-CN" sz="2600" b="0" dirty="0">
                <a:latin typeface="微软雅黑" panose="020B0503020204020204" pitchFamily="34" charset="-122"/>
                <a:ea typeface="微软雅黑" panose="020B0503020204020204" pitchFamily="34" charset="-122"/>
              </a:rPr>
              <a:t>8</a:t>
            </a:r>
            <a:r>
              <a:rPr lang="zh-CN" altLang="en-US" sz="2600" b="0" dirty="0">
                <a:latin typeface="微软雅黑" panose="020B0503020204020204" pitchFamily="34" charset="-122"/>
                <a:ea typeface="微软雅黑" panose="020B0503020204020204" pitchFamily="34" charset="-122"/>
              </a:rPr>
              <a:t>个葡萄糖基团后，由糖原合酶继续延长糖链。 </a:t>
            </a:r>
            <a:endParaRPr lang="zh-CN" altLang="en-US" sz="26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animEffect transition="in" filter="dissolve">
                                      <p:cBhvr>
                                        <p:cTn id="7" dur="500"/>
                                        <p:tgtEl>
                                          <p:spTgt spid="2498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9" grpId="0" advAuto="0" autoUpdateAnimBg="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糖原分支"/>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1451" y="1566864"/>
            <a:ext cx="6945313"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3"/>
          <p:cNvSpPr txBox="1">
            <a:spLocks noChangeArrowheads="1"/>
          </p:cNvSpPr>
          <p:nvPr/>
        </p:nvSpPr>
        <p:spPr bwMode="auto">
          <a:xfrm>
            <a:off x="2351088" y="688975"/>
            <a:ext cx="464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 typeface="Wingdings" panose="05000000000000000000" pitchFamily="2" charset="2"/>
              <a:buChar char="Ø"/>
            </a:pPr>
            <a:r>
              <a:rPr kumimoji="1" lang="zh-CN" altLang="en-US">
                <a:solidFill>
                  <a:srgbClr val="800000"/>
                </a:solidFill>
                <a:latin typeface="楷体_GB2312" pitchFamily="49" charset="-122"/>
              </a:rPr>
              <a:t> 糖原分枝的形成 </a:t>
            </a:r>
            <a:r>
              <a:rPr kumimoji="1" lang="zh-CN" altLang="en-US" b="0">
                <a:solidFill>
                  <a:srgbClr val="800000"/>
                </a:solidFill>
                <a:latin typeface="楷体_GB2312" pitchFamily="49" charset="-122"/>
              </a:rPr>
              <a:t>             </a:t>
            </a:r>
            <a:endParaRPr kumimoji="1" lang="zh-CN" altLang="en-US" b="0">
              <a:solidFill>
                <a:srgbClr val="800000"/>
              </a:solidFill>
              <a:latin typeface="楷体_GB2312" pitchFamily="49" charset="-122"/>
            </a:endParaRPr>
          </a:p>
        </p:txBody>
      </p:sp>
      <p:grpSp>
        <p:nvGrpSpPr>
          <p:cNvPr id="2" name="Group 4"/>
          <p:cNvGrpSpPr/>
          <p:nvPr/>
        </p:nvGrpSpPr>
        <p:grpSpPr bwMode="auto">
          <a:xfrm>
            <a:off x="2206625" y="2316164"/>
            <a:ext cx="2800350" cy="752475"/>
            <a:chOff x="2496" y="1255"/>
            <a:chExt cx="1634" cy="595"/>
          </a:xfrm>
        </p:grpSpPr>
        <p:sp>
          <p:nvSpPr>
            <p:cNvPr id="18446" name="Rectangle 5"/>
            <p:cNvSpPr>
              <a:spLocks noChangeArrowheads="1"/>
            </p:cNvSpPr>
            <p:nvPr/>
          </p:nvSpPr>
          <p:spPr bwMode="auto">
            <a:xfrm>
              <a:off x="2736" y="1255"/>
              <a:ext cx="91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0000CC"/>
                  </a:solidFill>
                  <a:latin typeface="华文楷体" panose="02010600040101010101" pitchFamily="2" charset="-122"/>
                  <a:ea typeface="华文楷体" panose="02010600040101010101" pitchFamily="2" charset="-122"/>
                </a:rPr>
                <a:t> 分 支 酶</a:t>
              </a:r>
              <a:r>
                <a:rPr kumimoji="1" lang="zh-CN" altLang="en-US" sz="2400">
                  <a:solidFill>
                    <a:srgbClr val="0000CC"/>
                  </a:solidFill>
                  <a:ea typeface="宋体" panose="02010600030101010101" pitchFamily="2" charset="-122"/>
                </a:rPr>
                <a:t>   </a:t>
              </a:r>
              <a:endParaRPr kumimoji="1" lang="zh-CN" altLang="en-US" sz="2400">
                <a:solidFill>
                  <a:srgbClr val="0000CC"/>
                </a:solidFill>
                <a:ea typeface="宋体" panose="02010600030101010101" pitchFamily="2" charset="-122"/>
              </a:endParaRPr>
            </a:p>
          </p:txBody>
        </p:sp>
        <p:sp>
          <p:nvSpPr>
            <p:cNvPr id="18447" name="Rectangle 6"/>
            <p:cNvSpPr>
              <a:spLocks noChangeArrowheads="1"/>
            </p:cNvSpPr>
            <p:nvPr/>
          </p:nvSpPr>
          <p:spPr bwMode="auto">
            <a:xfrm>
              <a:off x="2496" y="1439"/>
              <a:ext cx="1634"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0000CC"/>
                  </a:solidFill>
                  <a:ea typeface="宋体" panose="02010600030101010101" pitchFamily="2" charset="-122"/>
                </a:rPr>
                <a:t>(</a:t>
              </a:r>
              <a:r>
                <a:rPr kumimoji="1" lang="en-US" altLang="zh-CN" sz="2400">
                  <a:solidFill>
                    <a:srgbClr val="0000CC"/>
                  </a:solidFill>
                  <a:ea typeface="宋体" panose="02010600030101010101" pitchFamily="2" charset="-122"/>
                </a:rPr>
                <a:t>branching enzyme</a:t>
              </a:r>
              <a:r>
                <a:rPr kumimoji="1" lang="en-US" altLang="zh-CN" sz="2800">
                  <a:solidFill>
                    <a:srgbClr val="0000CC"/>
                  </a:solidFill>
                  <a:ea typeface="宋体" panose="02010600030101010101" pitchFamily="2" charset="-122"/>
                </a:rPr>
                <a:t>)</a:t>
              </a:r>
              <a:endParaRPr kumimoji="1" lang="en-US" altLang="zh-CN" sz="2800">
                <a:solidFill>
                  <a:srgbClr val="0000CC"/>
                </a:solidFill>
                <a:ea typeface="宋体" panose="02010600030101010101" pitchFamily="2" charset="-122"/>
              </a:endParaRPr>
            </a:p>
          </p:txBody>
        </p:sp>
      </p:grpSp>
      <p:grpSp>
        <p:nvGrpSpPr>
          <p:cNvPr id="3" name="Group 7"/>
          <p:cNvGrpSpPr/>
          <p:nvPr/>
        </p:nvGrpSpPr>
        <p:grpSpPr bwMode="auto">
          <a:xfrm>
            <a:off x="5353051" y="5511801"/>
            <a:ext cx="2665413" cy="625475"/>
            <a:chOff x="2304" y="2966"/>
            <a:chExt cx="1230" cy="394"/>
          </a:xfrm>
        </p:grpSpPr>
        <p:sp>
          <p:nvSpPr>
            <p:cNvPr id="18444" name="Line 8"/>
            <p:cNvSpPr>
              <a:spLocks noChangeShapeType="1"/>
            </p:cNvSpPr>
            <p:nvPr/>
          </p:nvSpPr>
          <p:spPr bwMode="auto">
            <a:xfrm flipH="1">
              <a:off x="2352" y="3216"/>
              <a:ext cx="240" cy="144"/>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445" name="Text Box 9"/>
            <p:cNvSpPr txBox="1">
              <a:spLocks noChangeArrowheads="1"/>
            </p:cNvSpPr>
            <p:nvPr/>
          </p:nvSpPr>
          <p:spPr bwMode="auto">
            <a:xfrm>
              <a:off x="2304" y="2966"/>
              <a:ext cx="12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宋体" panose="02010600030101010101" pitchFamily="2" charset="-122"/>
                </a:rPr>
                <a:t>  </a:t>
              </a:r>
              <a:r>
                <a:rPr kumimoji="1" lang="en-US" altLang="zh-CN" sz="2400">
                  <a:latin typeface="Arial" panose="020B0604020202020204" pitchFamily="34" charset="0"/>
                  <a:ea typeface="宋体" panose="02010600030101010101" pitchFamily="2" charset="-122"/>
                </a:rPr>
                <a:t>α-1,6-</a:t>
              </a:r>
              <a:r>
                <a:rPr kumimoji="1" lang="zh-CN" altLang="en-US" sz="2400">
                  <a:latin typeface="Arial" panose="020B0604020202020204" pitchFamily="34" charset="0"/>
                  <a:ea typeface="宋体" panose="02010600030101010101" pitchFamily="2" charset="-122"/>
                </a:rPr>
                <a:t>糖苷键    </a:t>
              </a:r>
              <a:endParaRPr kumimoji="1" lang="zh-CN" altLang="en-US" sz="2400">
                <a:latin typeface="Arial" panose="020B0604020202020204" pitchFamily="34" charset="0"/>
                <a:ea typeface="宋体" panose="02010600030101010101" pitchFamily="2" charset="-122"/>
              </a:endParaRPr>
            </a:p>
          </p:txBody>
        </p:sp>
      </p:grpSp>
      <p:grpSp>
        <p:nvGrpSpPr>
          <p:cNvPr id="4" name="Group 10"/>
          <p:cNvGrpSpPr/>
          <p:nvPr/>
        </p:nvGrpSpPr>
        <p:grpSpPr bwMode="auto">
          <a:xfrm>
            <a:off x="8110539" y="2062164"/>
            <a:ext cx="2306637" cy="1633537"/>
            <a:chOff x="4149" y="1299"/>
            <a:chExt cx="1453" cy="1029"/>
          </a:xfrm>
        </p:grpSpPr>
        <p:sp>
          <p:nvSpPr>
            <p:cNvPr id="18441" name="Text Box 11"/>
            <p:cNvSpPr txBox="1">
              <a:spLocks noChangeArrowheads="1"/>
            </p:cNvSpPr>
            <p:nvPr/>
          </p:nvSpPr>
          <p:spPr bwMode="auto">
            <a:xfrm>
              <a:off x="4240" y="1299"/>
              <a:ext cx="13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800">
                  <a:latin typeface="Arial" panose="020B0604020202020204" pitchFamily="34" charset="0"/>
                  <a:ea typeface="宋体" panose="02010600030101010101" pitchFamily="2" charset="-122"/>
                </a:rPr>
                <a:t>α</a:t>
              </a:r>
              <a:r>
                <a:rPr kumimoji="1" lang="en-US" altLang="zh-CN" sz="2400">
                  <a:latin typeface="Arial" panose="020B0604020202020204" pitchFamily="34" charset="0"/>
                  <a:ea typeface="宋体" panose="02010600030101010101" pitchFamily="2" charset="-122"/>
                </a:rPr>
                <a:t>-1,4-</a:t>
              </a:r>
              <a:r>
                <a:rPr kumimoji="1" lang="zh-CN" altLang="en-US" sz="2400">
                  <a:latin typeface="Arial" panose="020B0604020202020204" pitchFamily="34" charset="0"/>
                  <a:ea typeface="宋体" panose="02010600030101010101" pitchFamily="2" charset="-122"/>
                </a:rPr>
                <a:t>糖苷键  </a:t>
              </a:r>
              <a:endParaRPr kumimoji="1" lang="zh-CN" altLang="en-US" sz="2400">
                <a:latin typeface="Arial" panose="020B0604020202020204" pitchFamily="34" charset="0"/>
                <a:ea typeface="宋体" panose="02010600030101010101" pitchFamily="2" charset="-122"/>
              </a:endParaRPr>
            </a:p>
          </p:txBody>
        </p:sp>
        <p:sp>
          <p:nvSpPr>
            <p:cNvPr id="18442" name="Line 12"/>
            <p:cNvSpPr>
              <a:spLocks noChangeShapeType="1"/>
            </p:cNvSpPr>
            <p:nvPr/>
          </p:nvSpPr>
          <p:spPr bwMode="auto">
            <a:xfrm flipH="1">
              <a:off x="4149" y="1616"/>
              <a:ext cx="470" cy="144"/>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443" name="Line 13"/>
            <p:cNvSpPr>
              <a:spLocks noChangeShapeType="1"/>
            </p:cNvSpPr>
            <p:nvPr/>
          </p:nvSpPr>
          <p:spPr bwMode="auto">
            <a:xfrm flipH="1">
              <a:off x="4784" y="1616"/>
              <a:ext cx="0" cy="712"/>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47822" name="Rectangle 14"/>
          <p:cNvSpPr>
            <a:spLocks noChangeArrowheads="1"/>
          </p:cNvSpPr>
          <p:nvPr/>
        </p:nvSpPr>
        <p:spPr bwMode="auto">
          <a:xfrm>
            <a:off x="2640013" y="1554163"/>
            <a:ext cx="3473450" cy="457200"/>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247823" name="Freeform 15"/>
          <p:cNvSpPr/>
          <p:nvPr/>
        </p:nvSpPr>
        <p:spPr bwMode="auto">
          <a:xfrm rot="209247">
            <a:off x="2624138" y="4651376"/>
            <a:ext cx="2951162" cy="1446213"/>
          </a:xfrm>
          <a:custGeom>
            <a:avLst/>
            <a:gdLst>
              <a:gd name="T0" fmla="*/ 2147483646 w 2342"/>
              <a:gd name="T1" fmla="*/ 0 h 879"/>
              <a:gd name="T2" fmla="*/ 2147483646 w 2342"/>
              <a:gd name="T3" fmla="*/ 2147483646 h 879"/>
              <a:gd name="T4" fmla="*/ 2147483646 w 2342"/>
              <a:gd name="T5" fmla="*/ 2147483646 h 879"/>
              <a:gd name="T6" fmla="*/ 2147483646 w 2342"/>
              <a:gd name="T7" fmla="*/ 2147483646 h 879"/>
              <a:gd name="T8" fmla="*/ 2147483646 w 2342"/>
              <a:gd name="T9" fmla="*/ 2147483646 h 879"/>
              <a:gd name="T10" fmla="*/ 2147483646 w 2342"/>
              <a:gd name="T11" fmla="*/ 2147483646 h 879"/>
              <a:gd name="T12" fmla="*/ 2147483646 w 2342"/>
              <a:gd name="T13" fmla="*/ 2147483646 h 879"/>
              <a:gd name="T14" fmla="*/ 2147483646 w 2342"/>
              <a:gd name="T15" fmla="*/ 2147483646 h 879"/>
              <a:gd name="T16" fmla="*/ 2147483646 w 2342"/>
              <a:gd name="T17" fmla="*/ 2147483646 h 879"/>
              <a:gd name="T18" fmla="*/ 2147483646 w 2342"/>
              <a:gd name="T19" fmla="*/ 2147483646 h 879"/>
              <a:gd name="T20" fmla="*/ 2147483646 w 2342"/>
              <a:gd name="T21" fmla="*/ 2147483646 h 879"/>
              <a:gd name="T22" fmla="*/ 2147483646 w 2342"/>
              <a:gd name="T23" fmla="*/ 2147483646 h 879"/>
              <a:gd name="T24" fmla="*/ 2147483646 w 2342"/>
              <a:gd name="T25" fmla="*/ 2147483646 h 879"/>
              <a:gd name="T26" fmla="*/ 2147483646 w 2342"/>
              <a:gd name="T27" fmla="*/ 2147483646 h 879"/>
              <a:gd name="T28" fmla="*/ 2147483646 w 2342"/>
              <a:gd name="T29" fmla="*/ 2147483646 h 879"/>
              <a:gd name="T30" fmla="*/ 2147483646 w 2342"/>
              <a:gd name="T31" fmla="*/ 2147483646 h 879"/>
              <a:gd name="T32" fmla="*/ 2147483646 w 2342"/>
              <a:gd name="T33" fmla="*/ 2147483646 h 879"/>
              <a:gd name="T34" fmla="*/ 2147483646 w 2342"/>
              <a:gd name="T35" fmla="*/ 2147483646 h 879"/>
              <a:gd name="T36" fmla="*/ 2147483646 w 2342"/>
              <a:gd name="T37" fmla="*/ 2147483646 h 879"/>
              <a:gd name="T38" fmla="*/ 2147483646 w 2342"/>
              <a:gd name="T39" fmla="*/ 2147483646 h 879"/>
              <a:gd name="T40" fmla="*/ 2147483646 w 2342"/>
              <a:gd name="T41" fmla="*/ 2147483646 h 879"/>
              <a:gd name="T42" fmla="*/ 2147483646 w 2342"/>
              <a:gd name="T43" fmla="*/ 2147483646 h 879"/>
              <a:gd name="T44" fmla="*/ 2147483646 w 2342"/>
              <a:gd name="T45" fmla="*/ 2147483646 h 879"/>
              <a:gd name="T46" fmla="*/ 2147483646 w 2342"/>
              <a:gd name="T47" fmla="*/ 2147483646 h 879"/>
              <a:gd name="T48" fmla="*/ 2147483646 w 2342"/>
              <a:gd name="T49" fmla="*/ 2147483646 h 879"/>
              <a:gd name="T50" fmla="*/ 2147483646 w 2342"/>
              <a:gd name="T51" fmla="*/ 2147483646 h 879"/>
              <a:gd name="T52" fmla="*/ 2147483646 w 2342"/>
              <a:gd name="T53" fmla="*/ 2147483646 h 879"/>
              <a:gd name="T54" fmla="*/ 2147483646 w 2342"/>
              <a:gd name="T55" fmla="*/ 2147483646 h 879"/>
              <a:gd name="T56" fmla="*/ 2147483646 w 2342"/>
              <a:gd name="T57" fmla="*/ 2147483646 h 879"/>
              <a:gd name="T58" fmla="*/ 2147483646 w 2342"/>
              <a:gd name="T59" fmla="*/ 2147483646 h 879"/>
              <a:gd name="T60" fmla="*/ 2147483646 w 2342"/>
              <a:gd name="T61" fmla="*/ 2147483646 h 879"/>
              <a:gd name="T62" fmla="*/ 2147483646 w 2342"/>
              <a:gd name="T63" fmla="*/ 2147483646 h 879"/>
              <a:gd name="T64" fmla="*/ 2147483646 w 2342"/>
              <a:gd name="T65" fmla="*/ 2147483646 h 879"/>
              <a:gd name="T66" fmla="*/ 2147483646 w 2342"/>
              <a:gd name="T67" fmla="*/ 0 h 87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42"/>
              <a:gd name="T103" fmla="*/ 0 h 879"/>
              <a:gd name="T104" fmla="*/ 2342 w 2342"/>
              <a:gd name="T105" fmla="*/ 879 h 87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42" h="879">
                <a:moveTo>
                  <a:pt x="74" y="0"/>
                </a:moveTo>
                <a:cubicBezTo>
                  <a:pt x="441" y="7"/>
                  <a:pt x="790" y="23"/>
                  <a:pt x="1154" y="36"/>
                </a:cubicBezTo>
                <a:cubicBezTo>
                  <a:pt x="1302" y="85"/>
                  <a:pt x="1355" y="86"/>
                  <a:pt x="1538" y="96"/>
                </a:cubicBezTo>
                <a:cubicBezTo>
                  <a:pt x="1584" y="127"/>
                  <a:pt x="1674" y="164"/>
                  <a:pt x="1730" y="180"/>
                </a:cubicBezTo>
                <a:cubicBezTo>
                  <a:pt x="1743" y="184"/>
                  <a:pt x="1799" y="196"/>
                  <a:pt x="1814" y="204"/>
                </a:cubicBezTo>
                <a:cubicBezTo>
                  <a:pt x="1814" y="204"/>
                  <a:pt x="1904" y="264"/>
                  <a:pt x="1922" y="276"/>
                </a:cubicBezTo>
                <a:cubicBezTo>
                  <a:pt x="1946" y="292"/>
                  <a:pt x="1978" y="291"/>
                  <a:pt x="2006" y="300"/>
                </a:cubicBezTo>
                <a:cubicBezTo>
                  <a:pt x="2018" y="312"/>
                  <a:pt x="2028" y="327"/>
                  <a:pt x="2042" y="336"/>
                </a:cubicBezTo>
                <a:cubicBezTo>
                  <a:pt x="2053" y="343"/>
                  <a:pt x="2068" y="340"/>
                  <a:pt x="2078" y="348"/>
                </a:cubicBezTo>
                <a:cubicBezTo>
                  <a:pt x="2134" y="393"/>
                  <a:pt x="2075" y="372"/>
                  <a:pt x="2114" y="420"/>
                </a:cubicBezTo>
                <a:cubicBezTo>
                  <a:pt x="2123" y="431"/>
                  <a:pt x="2138" y="436"/>
                  <a:pt x="2150" y="444"/>
                </a:cubicBezTo>
                <a:cubicBezTo>
                  <a:pt x="2214" y="540"/>
                  <a:pt x="2130" y="424"/>
                  <a:pt x="2210" y="504"/>
                </a:cubicBezTo>
                <a:cubicBezTo>
                  <a:pt x="2290" y="584"/>
                  <a:pt x="2174" y="500"/>
                  <a:pt x="2270" y="564"/>
                </a:cubicBezTo>
                <a:cubicBezTo>
                  <a:pt x="2300" y="654"/>
                  <a:pt x="2259" y="543"/>
                  <a:pt x="2306" y="636"/>
                </a:cubicBezTo>
                <a:cubicBezTo>
                  <a:pt x="2328" y="680"/>
                  <a:pt x="2326" y="733"/>
                  <a:pt x="2342" y="780"/>
                </a:cubicBezTo>
                <a:cubicBezTo>
                  <a:pt x="2327" y="857"/>
                  <a:pt x="2329" y="852"/>
                  <a:pt x="2258" y="876"/>
                </a:cubicBezTo>
                <a:cubicBezTo>
                  <a:pt x="2166" y="872"/>
                  <a:pt x="2073" y="879"/>
                  <a:pt x="1982" y="864"/>
                </a:cubicBezTo>
                <a:cubicBezTo>
                  <a:pt x="1970" y="862"/>
                  <a:pt x="1976" y="839"/>
                  <a:pt x="1970" y="828"/>
                </a:cubicBezTo>
                <a:cubicBezTo>
                  <a:pt x="1962" y="812"/>
                  <a:pt x="1898" y="728"/>
                  <a:pt x="1886" y="720"/>
                </a:cubicBezTo>
                <a:cubicBezTo>
                  <a:pt x="1865" y="707"/>
                  <a:pt x="1838" y="704"/>
                  <a:pt x="1814" y="696"/>
                </a:cubicBezTo>
                <a:cubicBezTo>
                  <a:pt x="1802" y="692"/>
                  <a:pt x="1778" y="684"/>
                  <a:pt x="1778" y="684"/>
                </a:cubicBezTo>
                <a:cubicBezTo>
                  <a:pt x="1742" y="630"/>
                  <a:pt x="1707" y="584"/>
                  <a:pt x="1646" y="564"/>
                </a:cubicBezTo>
                <a:cubicBezTo>
                  <a:pt x="1606" y="503"/>
                  <a:pt x="1644" y="545"/>
                  <a:pt x="1586" y="516"/>
                </a:cubicBezTo>
                <a:cubicBezTo>
                  <a:pt x="1407" y="427"/>
                  <a:pt x="1459" y="448"/>
                  <a:pt x="1226" y="432"/>
                </a:cubicBezTo>
                <a:cubicBezTo>
                  <a:pt x="1174" y="429"/>
                  <a:pt x="1122" y="424"/>
                  <a:pt x="1070" y="420"/>
                </a:cubicBezTo>
                <a:cubicBezTo>
                  <a:pt x="822" y="337"/>
                  <a:pt x="685" y="367"/>
                  <a:pt x="362" y="360"/>
                </a:cubicBezTo>
                <a:cubicBezTo>
                  <a:pt x="236" y="318"/>
                  <a:pt x="234" y="323"/>
                  <a:pt x="74" y="312"/>
                </a:cubicBezTo>
                <a:cubicBezTo>
                  <a:pt x="54" y="308"/>
                  <a:pt x="28" y="314"/>
                  <a:pt x="14" y="300"/>
                </a:cubicBezTo>
                <a:cubicBezTo>
                  <a:pt x="0" y="286"/>
                  <a:pt x="2" y="260"/>
                  <a:pt x="2" y="240"/>
                </a:cubicBezTo>
                <a:cubicBezTo>
                  <a:pt x="2" y="200"/>
                  <a:pt x="5" y="159"/>
                  <a:pt x="14" y="120"/>
                </a:cubicBezTo>
                <a:cubicBezTo>
                  <a:pt x="17" y="106"/>
                  <a:pt x="32" y="97"/>
                  <a:pt x="38" y="84"/>
                </a:cubicBezTo>
                <a:cubicBezTo>
                  <a:pt x="44" y="73"/>
                  <a:pt x="40" y="55"/>
                  <a:pt x="50" y="48"/>
                </a:cubicBezTo>
                <a:cubicBezTo>
                  <a:pt x="71" y="33"/>
                  <a:pt x="122" y="24"/>
                  <a:pt x="122" y="24"/>
                </a:cubicBezTo>
                <a:cubicBezTo>
                  <a:pt x="81" y="10"/>
                  <a:pt x="95" y="21"/>
                  <a:pt x="74" y="0"/>
                </a:cubicBezTo>
                <a:close/>
              </a:path>
            </a:pathLst>
          </a:custGeom>
          <a:noFill/>
          <a:ln w="38100" cap="rnd">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247822"/>
                                        </p:tgtEl>
                                        <p:attrNameLst>
                                          <p:attrName>style.visibility</p:attrName>
                                        </p:attrNameLst>
                                      </p:cBhvr>
                                      <p:to>
                                        <p:strVal val="visible"/>
                                      </p:to>
                                    </p:set>
                                    <p:animEffect transition="in" filter="barn(outVertical)">
                                      <p:cBhvr>
                                        <p:cTn id="11" dur="500"/>
                                        <p:tgtEl>
                                          <p:spTgt spid="247822"/>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247823"/>
                                        </p:tgtEl>
                                        <p:attrNameLst>
                                          <p:attrName>style.visibility</p:attrName>
                                        </p:attrNameLst>
                                      </p:cBhvr>
                                      <p:to>
                                        <p:strVal val="visible"/>
                                      </p:to>
                                    </p:set>
                                    <p:animEffect transition="in" filter="wipe(down)">
                                      <p:cBhvr>
                                        <p:cTn id="15" dur="500"/>
                                        <p:tgtEl>
                                          <p:spTgt spid="247823"/>
                                        </p:tgtEl>
                                      </p:cBhvr>
                                    </p:animEffect>
                                  </p:childTnLst>
                                </p:cTn>
                              </p:par>
                              <p:par>
                                <p:cTn id="16" presetID="17" presetClass="entr" presetSubtype="1"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ppt_x</p:attrName>
                                        </p:attrNameLst>
                                      </p:cBhvr>
                                      <p:tavLst>
                                        <p:tav tm="0">
                                          <p:val>
                                            <p:strVal val="#ppt_x"/>
                                          </p:val>
                                        </p:tav>
                                        <p:tav tm="100000">
                                          <p:val>
                                            <p:strVal val="#ppt_x"/>
                                          </p:val>
                                        </p:tav>
                                      </p:tavLst>
                                    </p:anim>
                                    <p:anim calcmode="lin" valueType="num">
                                      <p:cBhvr>
                                        <p:cTn id="19" dur="500" fill="hold"/>
                                        <p:tgtEl>
                                          <p:spTgt spid="3"/>
                                        </p:tgtEl>
                                        <p:attrNameLst>
                                          <p:attrName>ppt_y</p:attrName>
                                        </p:attrNameLst>
                                      </p:cBhvr>
                                      <p:tavLst>
                                        <p:tav tm="0">
                                          <p:val>
                                            <p:strVal val="#ppt_y-#ppt_h/2"/>
                                          </p:val>
                                        </p:tav>
                                        <p:tav tm="100000">
                                          <p:val>
                                            <p:strVal val="#ppt_y"/>
                                          </p:val>
                                        </p:tav>
                                      </p:tavLst>
                                    </p:anim>
                                    <p:anim calcmode="lin" valueType="num">
                                      <p:cBhvr>
                                        <p:cTn id="20" dur="500" fill="hold"/>
                                        <p:tgtEl>
                                          <p:spTgt spid="3"/>
                                        </p:tgtEl>
                                        <p:attrNameLst>
                                          <p:attrName>ppt_w</p:attrName>
                                        </p:attrNameLst>
                                      </p:cBhvr>
                                      <p:tavLst>
                                        <p:tav tm="0">
                                          <p:val>
                                            <p:strVal val="#ppt_w"/>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childTnLst>
                                </p:cTn>
                              </p:par>
                              <p:par>
                                <p:cTn id="22" presetID="18" presetClass="entr" presetSubtype="12"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strips(downLeft)">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22"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5"/>
          <p:cNvSpPr>
            <a:spLocks noGrp="1" noChangeArrowheads="1"/>
          </p:cNvSpPr>
          <p:nvPr>
            <p:ph type="title"/>
          </p:nvPr>
        </p:nvSpPr>
        <p:spPr>
          <a:xfrm>
            <a:off x="2424113" y="531813"/>
            <a:ext cx="7391400" cy="563562"/>
          </a:xfrm>
        </p:spPr>
        <p:txBody>
          <a:bodyPr/>
          <a:lstStyle/>
          <a:p>
            <a:r>
              <a:rPr lang="zh-CN" altLang="en-US">
                <a:solidFill>
                  <a:srgbClr val="800000"/>
                </a:solidFill>
              </a:rPr>
              <a:t>糖原的结构</a:t>
            </a:r>
            <a:endParaRPr lang="zh-CN" altLang="en-US">
              <a:solidFill>
                <a:srgbClr val="800000"/>
              </a:solidFill>
            </a:endParaRPr>
          </a:p>
        </p:txBody>
      </p:sp>
      <p:sp>
        <p:nvSpPr>
          <p:cNvPr id="60419" name="内容占位符 2"/>
          <p:cNvSpPr>
            <a:spLocks noGrp="1" noChangeArrowheads="1"/>
          </p:cNvSpPr>
          <p:nvPr>
            <p:ph idx="1"/>
          </p:nvPr>
        </p:nvSpPr>
        <p:spPr>
          <a:xfrm>
            <a:off x="6418825" y="1628800"/>
            <a:ext cx="4416728" cy="1512887"/>
          </a:xfrm>
        </p:spPr>
        <p:txBody>
          <a:bodyPr/>
          <a:lstStyle/>
          <a:p>
            <a:pPr>
              <a:defRPr/>
            </a:pPr>
            <a:r>
              <a:rPr lang="zh-CN" altLang="en-US" sz="2800" b="0" dirty="0">
                <a:latin typeface="+mj-ea"/>
                <a:ea typeface="+mj-ea"/>
              </a:rPr>
              <a:t>成熟的糖原颗粒中糖链一般有</a:t>
            </a:r>
            <a:r>
              <a:rPr lang="en-US" altLang="zh-CN" sz="2800" b="0" dirty="0">
                <a:latin typeface="+mj-ea"/>
                <a:ea typeface="+mj-ea"/>
              </a:rPr>
              <a:t>12</a:t>
            </a:r>
            <a:r>
              <a:rPr lang="zh-CN" altLang="en-US" sz="2800" b="0" dirty="0">
                <a:latin typeface="+mj-ea"/>
                <a:ea typeface="+mj-ea"/>
              </a:rPr>
              <a:t>层（</a:t>
            </a:r>
            <a:r>
              <a:rPr lang="en-US" altLang="zh-CN" sz="2800" b="0" dirty="0">
                <a:latin typeface="+mj-ea"/>
                <a:ea typeface="+mj-ea"/>
              </a:rPr>
              <a:t>tier)</a:t>
            </a:r>
            <a:r>
              <a:rPr lang="zh-CN" altLang="en-US" sz="2800" b="0" dirty="0">
                <a:latin typeface="+mj-ea"/>
                <a:ea typeface="+mj-ea"/>
              </a:rPr>
              <a:t>， 此图只显示了</a:t>
            </a:r>
            <a:r>
              <a:rPr lang="en-US" altLang="zh-CN" sz="2800" b="0" dirty="0">
                <a:latin typeface="+mj-ea"/>
                <a:ea typeface="+mj-ea"/>
              </a:rPr>
              <a:t>5</a:t>
            </a:r>
            <a:r>
              <a:rPr lang="zh-CN" altLang="en-US" sz="2800" b="0" dirty="0">
                <a:latin typeface="+mj-ea"/>
                <a:ea typeface="+mj-ea"/>
              </a:rPr>
              <a:t>层：</a:t>
            </a:r>
            <a:endParaRPr lang="en-US" altLang="zh-CN" sz="2800" b="0" dirty="0">
              <a:latin typeface="+mj-ea"/>
              <a:ea typeface="+mj-ea"/>
            </a:endParaRPr>
          </a:p>
          <a:p>
            <a:pPr>
              <a:defRPr/>
            </a:pPr>
            <a:endParaRPr lang="zh-CN" altLang="en-US" sz="2800" b="0" dirty="0">
              <a:latin typeface="+mj-ea"/>
              <a:ea typeface="+mj-ea"/>
            </a:endParaRPr>
          </a:p>
        </p:txBody>
      </p:sp>
      <p:pic>
        <p:nvPicPr>
          <p:cNvPr id="2048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01169" y="1772816"/>
            <a:ext cx="4176714" cy="4214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62658" y="4934544"/>
            <a:ext cx="3929062"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txBox="1"/>
          <p:nvPr/>
        </p:nvSpPr>
        <p:spPr bwMode="auto">
          <a:xfrm>
            <a:off x="6250997" y="3280155"/>
            <a:ext cx="4957571" cy="1440160"/>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a:defRPr/>
            </a:pPr>
            <a:r>
              <a:rPr lang="zh-CN" altLang="en-US" sz="2800" b="0" kern="0" dirty="0">
                <a:solidFill>
                  <a:srgbClr val="FF0000"/>
                </a:solidFill>
                <a:latin typeface="+mj-ea"/>
                <a:ea typeface="+mj-ea"/>
              </a:rPr>
              <a:t>每条链末端为非还原端</a:t>
            </a:r>
            <a:r>
              <a:rPr lang="zh-CN" altLang="en-US" sz="2400" b="0" kern="0" dirty="0">
                <a:latin typeface="+mj-ea"/>
                <a:ea typeface="+mj-ea"/>
              </a:rPr>
              <a:t>。分支多，意味着非还原端多，有利于糖原被糖原磷酸化酶分解。</a:t>
            </a:r>
            <a:endParaRPr lang="en-US" altLang="zh-CN" sz="2400" b="0" kern="0" dirty="0">
              <a:latin typeface="+mj-ea"/>
              <a:ea typeface="+mj-ea"/>
            </a:endParaRPr>
          </a:p>
          <a:p>
            <a:pPr>
              <a:defRPr/>
            </a:pPr>
            <a:endParaRPr lang="zh-CN" altLang="en-US" sz="2800" b="0" kern="0" dirty="0">
              <a:latin typeface="+mj-ea"/>
              <a:ea typeface="+mj-ea"/>
            </a:endParaRPr>
          </a:p>
        </p:txBody>
      </p:sp>
    </p:spTree>
  </p:cSld>
  <p:clrMapOvr>
    <a:masterClrMapping/>
  </p:clrMapOvr>
  <p:transition spd="med">
    <p:zo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9650" y="333376"/>
            <a:ext cx="7632700" cy="522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文本框 4"/>
          <p:cNvSpPr txBox="1">
            <a:spLocks noChangeArrowheads="1"/>
          </p:cNvSpPr>
          <p:nvPr/>
        </p:nvSpPr>
        <p:spPr bwMode="auto">
          <a:xfrm>
            <a:off x="2279055" y="6001405"/>
            <a:ext cx="47525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dirty="0">
                <a:latin typeface="Arial" panose="020B0604020202020204" pitchFamily="34" charset="0"/>
              </a:rPr>
              <a:t>电镜下肝细胞中的糖原颗粒</a:t>
            </a:r>
            <a:endParaRPr lang="zh-CN" altLang="en-US" sz="2800" dirty="0">
              <a:latin typeface="Arial" panose="020B0604020202020204" pitchFamily="34" charset="0"/>
            </a:endParaRPr>
          </a:p>
        </p:txBody>
      </p:sp>
      <p:sp>
        <p:nvSpPr>
          <p:cNvPr id="22532" name="文本框 5"/>
          <p:cNvSpPr txBox="1">
            <a:spLocks noChangeArrowheads="1"/>
          </p:cNvSpPr>
          <p:nvPr/>
        </p:nvSpPr>
        <p:spPr bwMode="auto">
          <a:xfrm>
            <a:off x="7680325" y="6002339"/>
            <a:ext cx="23764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a:latin typeface="Arial" panose="020B0604020202020204" pitchFamily="34" charset="0"/>
              </a:rPr>
              <a:t>线粒体</a:t>
            </a:r>
            <a:endParaRPr lang="zh-CN" altLang="en-US" sz="2800">
              <a:latin typeface="Arial" panose="020B0604020202020204" pitchFamily="34" charset="0"/>
            </a:endParaRPr>
          </a:p>
        </p:txBody>
      </p:sp>
      <p:cxnSp>
        <p:nvCxnSpPr>
          <p:cNvPr id="22533" name="直接箭头连接符 7"/>
          <p:cNvCxnSpPr/>
          <p:nvPr/>
        </p:nvCxnSpPr>
        <p:spPr bwMode="auto">
          <a:xfrm flipH="1" flipV="1">
            <a:off x="3216276" y="5465763"/>
            <a:ext cx="358775" cy="411162"/>
          </a:xfrm>
          <a:prstGeom prst="straightConnector1">
            <a:avLst/>
          </a:prstGeom>
          <a:noFill/>
          <a:ln w="381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22534" name="直接箭头连接符 8"/>
          <p:cNvCxnSpPr/>
          <p:nvPr/>
        </p:nvCxnSpPr>
        <p:spPr bwMode="auto">
          <a:xfrm flipV="1">
            <a:off x="4151313" y="5084763"/>
            <a:ext cx="1008062" cy="792162"/>
          </a:xfrm>
          <a:prstGeom prst="straightConnector1">
            <a:avLst/>
          </a:prstGeom>
          <a:noFill/>
          <a:ln w="381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22535" name="直接箭头连接符 11"/>
          <p:cNvCxnSpPr/>
          <p:nvPr/>
        </p:nvCxnSpPr>
        <p:spPr bwMode="auto">
          <a:xfrm flipV="1">
            <a:off x="8472489" y="5229225"/>
            <a:ext cx="71437" cy="647700"/>
          </a:xfrm>
          <a:prstGeom prst="straightConnector1">
            <a:avLst/>
          </a:prstGeom>
          <a:noFill/>
          <a:ln w="38100"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22536" name="直接箭头连接符 14"/>
          <p:cNvCxnSpPr/>
          <p:nvPr/>
        </p:nvCxnSpPr>
        <p:spPr bwMode="auto">
          <a:xfrm flipH="1" flipV="1">
            <a:off x="7464426" y="3644900"/>
            <a:ext cx="619125" cy="2305050"/>
          </a:xfrm>
          <a:prstGeom prst="straightConnector1">
            <a:avLst/>
          </a:prstGeom>
          <a:noFill/>
          <a:ln w="38100" algn="ctr">
            <a:solidFill>
              <a:schemeClr val="tx1"/>
            </a:solidFill>
            <a:round/>
            <a:tailEnd type="triangle" w="med" len="med"/>
          </a:ln>
          <a:extLst>
            <a:ext uri="{909E8E84-426E-40DD-AFC4-6F175D3DCCD1}">
              <a14:hiddenFill xmlns:a14="http://schemas.microsoft.com/office/drawing/2010/main">
                <a:noFill/>
              </a14:hiddenFill>
            </a:ext>
          </a:extLst>
        </p:spPr>
      </p:cxnSp>
    </p:spTree>
  </p:cSld>
  <p:clrMapOvr>
    <a:masterClrMapping/>
  </p:clrMapOvr>
  <p:transition spd="med">
    <p:zoom/>
  </p:transition>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438400" y="620714"/>
            <a:ext cx="7391400" cy="490537"/>
          </a:xfrm>
        </p:spPr>
        <p:txBody>
          <a:bodyPr/>
          <a:lstStyle/>
          <a:p>
            <a:pPr eaLnBrk="1" hangingPunct="1"/>
            <a:r>
              <a:rPr lang="zh-CN" altLang="en-US" sz="3600" b="1" dirty="0">
                <a:solidFill>
                  <a:srgbClr val="800000"/>
                </a:solidFill>
              </a:rPr>
              <a:t>糖原合成反应的特点</a:t>
            </a:r>
            <a:endParaRPr lang="zh-CN" altLang="en-US" sz="3600" b="1" dirty="0">
              <a:solidFill>
                <a:srgbClr val="800000"/>
              </a:solidFill>
            </a:endParaRPr>
          </a:p>
        </p:txBody>
      </p:sp>
      <p:sp>
        <p:nvSpPr>
          <p:cNvPr id="249859" name="Rectangle 3"/>
          <p:cNvSpPr>
            <a:spLocks noGrp="1" noChangeArrowheads="1"/>
          </p:cNvSpPr>
          <p:nvPr>
            <p:ph type="body" idx="1"/>
          </p:nvPr>
        </p:nvSpPr>
        <p:spPr>
          <a:xfrm>
            <a:off x="1991544" y="1789021"/>
            <a:ext cx="8550970" cy="4464470"/>
          </a:xfrm>
        </p:spPr>
        <p:txBody>
          <a:bodyPr/>
          <a:lstStyle/>
          <a:p>
            <a:pPr eaLnBrk="1" hangingPunct="1">
              <a:lnSpc>
                <a:spcPct val="140000"/>
              </a:lnSpc>
              <a:buClr>
                <a:schemeClr val="tx1"/>
              </a:buClr>
              <a:defRPr/>
            </a:pPr>
            <a:r>
              <a:rPr lang="zh-CN" altLang="en-US" sz="2800" b="0" dirty="0">
                <a:solidFill>
                  <a:srgbClr val="FF0000"/>
                </a:solidFill>
                <a:latin typeface="+mj-ea"/>
                <a:ea typeface="+mj-ea"/>
              </a:rPr>
              <a:t>糖原合酶</a:t>
            </a:r>
            <a:r>
              <a:rPr lang="zh-CN" altLang="en-US" sz="2800" b="0" dirty="0">
                <a:latin typeface="+mj-ea"/>
                <a:ea typeface="+mj-ea"/>
              </a:rPr>
              <a:t>为关键酶。</a:t>
            </a:r>
            <a:endParaRPr lang="zh-CN" altLang="en-US" sz="2800" b="0" dirty="0">
              <a:solidFill>
                <a:schemeClr val="hlink"/>
              </a:solidFill>
              <a:latin typeface="+mj-ea"/>
              <a:ea typeface="+mj-ea"/>
            </a:endParaRPr>
          </a:p>
          <a:p>
            <a:pPr eaLnBrk="1" hangingPunct="1">
              <a:lnSpc>
                <a:spcPct val="140000"/>
              </a:lnSpc>
              <a:buClr>
                <a:schemeClr val="tx1"/>
              </a:buClr>
              <a:defRPr/>
            </a:pPr>
            <a:r>
              <a:rPr lang="zh-CN" altLang="en-US" sz="2800" b="0" dirty="0">
                <a:latin typeface="+mj-ea"/>
                <a:ea typeface="+mj-ea"/>
              </a:rPr>
              <a:t>糖原合酶只延长糖链，由</a:t>
            </a:r>
            <a:r>
              <a:rPr lang="zh-CN" altLang="en-US" sz="2800" b="0" dirty="0">
                <a:solidFill>
                  <a:srgbClr val="0000FF"/>
                </a:solidFill>
                <a:latin typeface="+mj-ea"/>
                <a:ea typeface="+mj-ea"/>
              </a:rPr>
              <a:t>分支酶</a:t>
            </a:r>
            <a:r>
              <a:rPr lang="zh-CN" altLang="en-US" sz="2800" b="0" dirty="0">
                <a:latin typeface="+mj-ea"/>
                <a:ea typeface="+mj-ea"/>
              </a:rPr>
              <a:t>产生分支。</a:t>
            </a:r>
            <a:endParaRPr lang="zh-CN" altLang="en-US" sz="2800" b="0" dirty="0">
              <a:latin typeface="+mj-ea"/>
              <a:ea typeface="+mj-ea"/>
            </a:endParaRPr>
          </a:p>
          <a:p>
            <a:pPr eaLnBrk="1" hangingPunct="1">
              <a:lnSpc>
                <a:spcPct val="140000"/>
              </a:lnSpc>
              <a:buClr>
                <a:schemeClr val="tx1"/>
              </a:buClr>
              <a:defRPr/>
            </a:pPr>
            <a:r>
              <a:rPr lang="zh-CN" altLang="en-US" sz="2800" b="0" dirty="0">
                <a:latin typeface="+mj-ea"/>
                <a:ea typeface="+mj-ea"/>
              </a:rPr>
              <a:t>合成不能从头开始，</a:t>
            </a:r>
            <a:r>
              <a:rPr lang="zh-CN" altLang="en-US" sz="2800" b="0" dirty="0">
                <a:solidFill>
                  <a:srgbClr val="0000FF"/>
                </a:solidFill>
                <a:latin typeface="+mj-ea"/>
                <a:ea typeface="+mj-ea"/>
              </a:rPr>
              <a:t>需要糖原引物</a:t>
            </a:r>
            <a:r>
              <a:rPr lang="zh-CN" altLang="en-US" sz="2800" b="0" dirty="0">
                <a:solidFill>
                  <a:srgbClr val="0033CC"/>
                </a:solidFill>
                <a:latin typeface="+mj-ea"/>
                <a:ea typeface="+mj-ea"/>
              </a:rPr>
              <a:t>。</a:t>
            </a:r>
            <a:endParaRPr lang="en-US" altLang="zh-CN" sz="2800" b="0" dirty="0">
              <a:solidFill>
                <a:srgbClr val="0033CC"/>
              </a:solidFill>
              <a:latin typeface="+mj-ea"/>
              <a:ea typeface="+mj-ea"/>
            </a:endParaRPr>
          </a:p>
          <a:p>
            <a:pPr eaLnBrk="1" hangingPunct="1">
              <a:lnSpc>
                <a:spcPct val="140000"/>
              </a:lnSpc>
              <a:buClr>
                <a:schemeClr val="tx1"/>
              </a:buClr>
              <a:defRPr/>
            </a:pPr>
            <a:r>
              <a:rPr lang="en-US" altLang="zh-CN" sz="2800" b="0" dirty="0">
                <a:solidFill>
                  <a:srgbClr val="FF0000"/>
                </a:solidFill>
                <a:latin typeface="+mj-ea"/>
                <a:ea typeface="+mj-ea"/>
              </a:rPr>
              <a:t>UDPG</a:t>
            </a:r>
            <a:r>
              <a:rPr lang="zh-CN" altLang="en-US" sz="2800" b="0" dirty="0">
                <a:solidFill>
                  <a:srgbClr val="FF0000"/>
                </a:solidFill>
                <a:latin typeface="+mj-ea"/>
                <a:ea typeface="+mj-ea"/>
              </a:rPr>
              <a:t>是活性葡萄糖基的供体</a:t>
            </a:r>
            <a:r>
              <a:rPr lang="zh-CN" altLang="en-US" sz="2800" b="0" dirty="0">
                <a:latin typeface="+mj-ea"/>
                <a:ea typeface="+mj-ea"/>
              </a:rPr>
              <a:t>，糖原合成过程消耗</a:t>
            </a:r>
            <a:r>
              <a:rPr lang="en-US" altLang="zh-CN" sz="2800" b="0" dirty="0">
                <a:latin typeface="+mj-ea"/>
                <a:ea typeface="+mj-ea"/>
              </a:rPr>
              <a:t>ATP</a:t>
            </a:r>
            <a:r>
              <a:rPr lang="zh-CN" altLang="en-US" sz="2800" b="0" dirty="0">
                <a:latin typeface="+mj-ea"/>
                <a:ea typeface="+mj-ea"/>
              </a:rPr>
              <a:t>和</a:t>
            </a:r>
            <a:r>
              <a:rPr lang="en-US" altLang="zh-CN" sz="2800" b="0" dirty="0">
                <a:latin typeface="+mj-ea"/>
                <a:ea typeface="+mj-ea"/>
              </a:rPr>
              <a:t>UTP</a:t>
            </a:r>
            <a:r>
              <a:rPr lang="zh-CN" altLang="en-US" sz="2800" b="0" dirty="0">
                <a:latin typeface="+mj-ea"/>
                <a:ea typeface="+mj-ea"/>
              </a:rPr>
              <a:t>。糖原引物上</a:t>
            </a:r>
            <a:r>
              <a:rPr lang="zh-CN" altLang="en-US" sz="2800" b="0" dirty="0">
                <a:solidFill>
                  <a:srgbClr val="0033CC"/>
                </a:solidFill>
                <a:latin typeface="+mj-ea"/>
                <a:ea typeface="+mj-ea"/>
              </a:rPr>
              <a:t>每加上一个葡萄糖，需要</a:t>
            </a:r>
            <a:r>
              <a:rPr lang="zh-CN" altLang="en-US" sz="2800" b="0" dirty="0">
                <a:solidFill>
                  <a:srgbClr val="FF0000"/>
                </a:solidFill>
                <a:latin typeface="+mj-ea"/>
                <a:ea typeface="+mj-ea"/>
              </a:rPr>
              <a:t>消耗两个高能磷酸键</a:t>
            </a:r>
            <a:r>
              <a:rPr lang="zh-CN" altLang="en-US" sz="2800" b="0" dirty="0">
                <a:solidFill>
                  <a:srgbClr val="0033CC"/>
                </a:solidFill>
                <a:latin typeface="+mj-ea"/>
                <a:ea typeface="+mj-ea"/>
              </a:rPr>
              <a:t>。</a:t>
            </a:r>
            <a:endParaRPr lang="zh-CN" altLang="en-US" sz="2800" b="0" dirty="0">
              <a:solidFill>
                <a:srgbClr val="0033CC"/>
              </a:solidFill>
              <a:latin typeface="+mj-ea"/>
              <a:ea typeface="+mj-ea"/>
            </a:endParaRPr>
          </a:p>
        </p:txBody>
      </p:sp>
    </p:spTree>
  </p:cSld>
  <p:clrMapOvr>
    <a:masterClrMapping/>
  </p:clrMapOvr>
  <p:transition spd="med">
    <p:zoom/>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5" name="Text Box 3"/>
          <p:cNvSpPr txBox="1">
            <a:spLocks noChangeArrowheads="1"/>
          </p:cNvSpPr>
          <p:nvPr/>
        </p:nvSpPr>
        <p:spPr bwMode="auto">
          <a:xfrm>
            <a:off x="5697538" y="5499101"/>
            <a:ext cx="194945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ts val="600"/>
              </a:spcBef>
              <a:buClrTx/>
              <a:buSzTx/>
              <a:buNone/>
            </a:pPr>
            <a:r>
              <a:rPr kumimoji="1" lang="zh-CN" altLang="en-US" sz="2800" b="0"/>
              <a:t>葡萄糖</a:t>
            </a:r>
            <a:endParaRPr kumimoji="1" lang="zh-CN" altLang="en-US" sz="2800" b="0"/>
          </a:p>
          <a:p>
            <a:pPr algn="ctr" eaLnBrk="1" hangingPunct="1">
              <a:spcBef>
                <a:spcPts val="600"/>
              </a:spcBef>
              <a:buClrTx/>
              <a:buSzTx/>
              <a:buNone/>
            </a:pPr>
            <a:r>
              <a:rPr kumimoji="1" lang="zh-CN" altLang="en-US" sz="2800" b="0"/>
              <a:t>（肝、肾）</a:t>
            </a:r>
            <a:endParaRPr kumimoji="1" lang="zh-CN" altLang="en-US" sz="2800" b="0"/>
          </a:p>
        </p:txBody>
      </p:sp>
      <p:sp>
        <p:nvSpPr>
          <p:cNvPr id="253956" name="Text Box 4"/>
          <p:cNvSpPr txBox="1">
            <a:spLocks noChangeArrowheads="1"/>
          </p:cNvSpPr>
          <p:nvPr/>
        </p:nvSpPr>
        <p:spPr bwMode="auto">
          <a:xfrm>
            <a:off x="3508375" y="2690813"/>
            <a:ext cx="2590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葡萄糖</a:t>
            </a:r>
            <a:r>
              <a:rPr kumimoji="1" lang="en-US" altLang="zh-CN" sz="2800" b="0" dirty="0"/>
              <a:t>-</a:t>
            </a:r>
            <a:r>
              <a:rPr kumimoji="1" lang="zh-CN" altLang="en-US" sz="2800" b="0" dirty="0"/>
              <a:t>1-磷酸</a:t>
            </a:r>
            <a:endParaRPr kumimoji="1" lang="zh-CN" altLang="en-US" sz="2800" b="0" dirty="0"/>
          </a:p>
        </p:txBody>
      </p:sp>
      <p:sp>
        <p:nvSpPr>
          <p:cNvPr id="253957" name="Text Box 5"/>
          <p:cNvSpPr txBox="1">
            <a:spLocks noChangeArrowheads="1"/>
          </p:cNvSpPr>
          <p:nvPr/>
        </p:nvSpPr>
        <p:spPr bwMode="auto">
          <a:xfrm>
            <a:off x="3508375" y="3681413"/>
            <a:ext cx="2590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葡萄糖</a:t>
            </a:r>
            <a:r>
              <a:rPr kumimoji="1" lang="en-US" altLang="zh-CN" sz="2800" b="0" dirty="0"/>
              <a:t>-</a:t>
            </a:r>
            <a:r>
              <a:rPr kumimoji="1" lang="zh-CN" altLang="en-US" sz="2800" b="0" dirty="0"/>
              <a:t>6-磷酸</a:t>
            </a:r>
            <a:endParaRPr kumimoji="1" lang="zh-CN" altLang="en-US" sz="2800" b="0" dirty="0"/>
          </a:p>
        </p:txBody>
      </p:sp>
      <p:sp>
        <p:nvSpPr>
          <p:cNvPr id="253958" name="Line 6"/>
          <p:cNvSpPr>
            <a:spLocks noChangeShapeType="1"/>
          </p:cNvSpPr>
          <p:nvPr/>
        </p:nvSpPr>
        <p:spPr bwMode="auto">
          <a:xfrm rot="10800000">
            <a:off x="4765675" y="3194050"/>
            <a:ext cx="0" cy="5334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3959" name="Text Box 7"/>
          <p:cNvSpPr txBox="1">
            <a:spLocks noChangeArrowheads="1"/>
          </p:cNvSpPr>
          <p:nvPr/>
        </p:nvSpPr>
        <p:spPr bwMode="auto">
          <a:xfrm>
            <a:off x="3470275" y="1166814"/>
            <a:ext cx="297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t>糖原（</a:t>
            </a:r>
            <a:r>
              <a:rPr kumimoji="1" lang="en-US" altLang="zh-CN" sz="2800" b="0"/>
              <a:t>G</a:t>
            </a:r>
            <a:r>
              <a:rPr kumimoji="1" lang="en-US" altLang="zh-CN" sz="2800" b="0" baseline="-25000"/>
              <a:t>n</a:t>
            </a:r>
            <a:r>
              <a:rPr kumimoji="1" lang="en-US" altLang="zh-CN" sz="2800" b="0"/>
              <a:t>）</a:t>
            </a:r>
            <a:endParaRPr kumimoji="1" lang="en-US" altLang="zh-CN" sz="2800" b="0"/>
          </a:p>
        </p:txBody>
      </p:sp>
      <p:sp>
        <p:nvSpPr>
          <p:cNvPr id="253960" name="Line 8"/>
          <p:cNvSpPr>
            <a:spLocks noChangeShapeType="1"/>
          </p:cNvSpPr>
          <p:nvPr/>
        </p:nvSpPr>
        <p:spPr bwMode="auto">
          <a:xfrm>
            <a:off x="4784725" y="4184650"/>
            <a:ext cx="0" cy="3810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9"/>
          <p:cNvGrpSpPr/>
          <p:nvPr/>
        </p:nvGrpSpPr>
        <p:grpSpPr bwMode="auto">
          <a:xfrm>
            <a:off x="3089275" y="4565650"/>
            <a:ext cx="1676400" cy="965200"/>
            <a:chOff x="1824" y="2400"/>
            <a:chExt cx="1056" cy="608"/>
          </a:xfrm>
        </p:grpSpPr>
        <p:sp>
          <p:nvSpPr>
            <p:cNvPr id="26648" name="Line 10"/>
            <p:cNvSpPr>
              <a:spLocks noChangeShapeType="1"/>
            </p:cNvSpPr>
            <p:nvPr/>
          </p:nvSpPr>
          <p:spPr bwMode="auto">
            <a:xfrm>
              <a:off x="1824" y="2400"/>
              <a:ext cx="105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649" name="Line 11"/>
            <p:cNvSpPr>
              <a:spLocks noChangeShapeType="1"/>
            </p:cNvSpPr>
            <p:nvPr/>
          </p:nvSpPr>
          <p:spPr bwMode="auto">
            <a:xfrm>
              <a:off x="1824" y="2400"/>
              <a:ext cx="0" cy="60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53964" name="Text Box 12"/>
          <p:cNvSpPr txBox="1">
            <a:spLocks noChangeArrowheads="1"/>
          </p:cNvSpPr>
          <p:nvPr/>
        </p:nvSpPr>
        <p:spPr bwMode="auto">
          <a:xfrm>
            <a:off x="2438401" y="5432426"/>
            <a:ext cx="1528763" cy="100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800" b="0" dirty="0"/>
              <a:t>糖酵解</a:t>
            </a:r>
            <a:endParaRPr kumimoji="1" lang="en-US" altLang="zh-CN" sz="2800" b="0" dirty="0"/>
          </a:p>
          <a:p>
            <a:pPr eaLnBrk="1" hangingPunct="1">
              <a:lnSpc>
                <a:spcPct val="110000"/>
              </a:lnSpc>
              <a:spcBef>
                <a:spcPct val="0"/>
              </a:spcBef>
              <a:buClrTx/>
              <a:buSzTx/>
              <a:buFontTx/>
              <a:buNone/>
            </a:pPr>
            <a:r>
              <a:rPr kumimoji="1" lang="zh-CN" altLang="en-US" sz="2800" b="0" dirty="0"/>
              <a:t>（肌肉）</a:t>
            </a:r>
            <a:endParaRPr kumimoji="1" lang="zh-CN" altLang="en-US" sz="2800" b="0" dirty="0"/>
          </a:p>
        </p:txBody>
      </p:sp>
      <p:grpSp>
        <p:nvGrpSpPr>
          <p:cNvPr id="3" name="Group 13"/>
          <p:cNvGrpSpPr/>
          <p:nvPr/>
        </p:nvGrpSpPr>
        <p:grpSpPr bwMode="auto">
          <a:xfrm>
            <a:off x="4765675" y="4546600"/>
            <a:ext cx="4572000" cy="965200"/>
            <a:chOff x="2880" y="2388"/>
            <a:chExt cx="2592" cy="608"/>
          </a:xfrm>
        </p:grpSpPr>
        <p:sp>
          <p:nvSpPr>
            <p:cNvPr id="26643" name="Line 14"/>
            <p:cNvSpPr>
              <a:spLocks noChangeShapeType="1"/>
            </p:cNvSpPr>
            <p:nvPr/>
          </p:nvSpPr>
          <p:spPr bwMode="auto">
            <a:xfrm>
              <a:off x="2880" y="2400"/>
              <a:ext cx="105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6644" name="Line 15"/>
            <p:cNvSpPr>
              <a:spLocks noChangeShapeType="1"/>
            </p:cNvSpPr>
            <p:nvPr/>
          </p:nvSpPr>
          <p:spPr bwMode="auto">
            <a:xfrm>
              <a:off x="3924" y="2388"/>
              <a:ext cx="0" cy="60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645" name="Text Box 16"/>
            <p:cNvSpPr txBox="1">
              <a:spLocks noChangeArrowheads="1"/>
            </p:cNvSpPr>
            <p:nvPr/>
          </p:nvSpPr>
          <p:spPr bwMode="auto">
            <a:xfrm>
              <a:off x="3888" y="2544"/>
              <a:ext cx="158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dirty="0">
                  <a:solidFill>
                    <a:srgbClr val="FF0000"/>
                  </a:solidFill>
                  <a:ea typeface="宋体" panose="02010600030101010101" pitchFamily="2" charset="-122"/>
                </a:rPr>
                <a:t>葡萄糖-6-磷酸酶</a:t>
              </a:r>
              <a:endParaRPr kumimoji="1" lang="zh-CN" altLang="en-US" sz="2800" dirty="0">
                <a:solidFill>
                  <a:srgbClr val="FF0000"/>
                </a:solidFill>
                <a:ea typeface="宋体" panose="02010600030101010101" pitchFamily="2" charset="-122"/>
              </a:endParaRPr>
            </a:p>
          </p:txBody>
        </p:sp>
        <p:sp>
          <p:nvSpPr>
            <p:cNvPr id="26646" name="Line 17"/>
            <p:cNvSpPr>
              <a:spLocks noChangeShapeType="1"/>
            </p:cNvSpPr>
            <p:nvPr/>
          </p:nvSpPr>
          <p:spPr bwMode="auto">
            <a:xfrm flipH="1">
              <a:off x="3648" y="2592"/>
              <a:ext cx="264" cy="14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647" name="Text Box 18"/>
            <p:cNvSpPr txBox="1">
              <a:spLocks noChangeArrowheads="1"/>
            </p:cNvSpPr>
            <p:nvPr/>
          </p:nvSpPr>
          <p:spPr bwMode="auto">
            <a:xfrm>
              <a:off x="3408" y="2616"/>
              <a:ext cx="38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ea typeface="宋体" panose="02010600030101010101" pitchFamily="2" charset="-122"/>
                </a:rPr>
                <a:t>Pi</a:t>
              </a:r>
              <a:endParaRPr kumimoji="1" lang="en-US" altLang="zh-CN" sz="2800">
                <a:ea typeface="宋体" panose="02010600030101010101" pitchFamily="2" charset="-122"/>
              </a:endParaRPr>
            </a:p>
          </p:txBody>
        </p:sp>
      </p:grpSp>
      <p:grpSp>
        <p:nvGrpSpPr>
          <p:cNvPr id="4" name="Group 19"/>
          <p:cNvGrpSpPr/>
          <p:nvPr/>
        </p:nvGrpSpPr>
        <p:grpSpPr bwMode="auto">
          <a:xfrm>
            <a:off x="2279651" y="1708150"/>
            <a:ext cx="3629025" cy="1028700"/>
            <a:chOff x="1314" y="600"/>
            <a:chExt cx="2286" cy="648"/>
          </a:xfrm>
        </p:grpSpPr>
        <p:sp>
          <p:nvSpPr>
            <p:cNvPr id="26639" name="Line 20"/>
            <p:cNvSpPr>
              <a:spLocks noChangeShapeType="1"/>
            </p:cNvSpPr>
            <p:nvPr/>
          </p:nvSpPr>
          <p:spPr bwMode="auto">
            <a:xfrm>
              <a:off x="2880" y="600"/>
              <a:ext cx="0" cy="64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640" name="Text Box 21"/>
            <p:cNvSpPr txBox="1">
              <a:spLocks noChangeArrowheads="1"/>
            </p:cNvSpPr>
            <p:nvPr/>
          </p:nvSpPr>
          <p:spPr bwMode="auto">
            <a:xfrm>
              <a:off x="3216" y="672"/>
              <a:ext cx="38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ea typeface="宋体" panose="02010600030101010101" pitchFamily="2" charset="-122"/>
                </a:rPr>
                <a:t>Pi</a:t>
              </a:r>
              <a:endParaRPr kumimoji="1" lang="en-US" altLang="zh-CN" sz="2800" b="0">
                <a:ea typeface="宋体" panose="02010600030101010101" pitchFamily="2" charset="-122"/>
              </a:endParaRPr>
            </a:p>
          </p:txBody>
        </p:sp>
        <p:sp>
          <p:nvSpPr>
            <p:cNvPr id="26641" name="Line 22"/>
            <p:cNvSpPr>
              <a:spLocks noChangeShapeType="1"/>
            </p:cNvSpPr>
            <p:nvPr/>
          </p:nvSpPr>
          <p:spPr bwMode="auto">
            <a:xfrm flipH="1">
              <a:off x="2880" y="816"/>
              <a:ext cx="336" cy="14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642" name="Text Box 23"/>
            <p:cNvSpPr txBox="1">
              <a:spLocks noChangeArrowheads="1"/>
            </p:cNvSpPr>
            <p:nvPr/>
          </p:nvSpPr>
          <p:spPr bwMode="auto">
            <a:xfrm>
              <a:off x="1314" y="780"/>
              <a:ext cx="16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a:solidFill>
                    <a:srgbClr val="FF0000"/>
                  </a:solidFill>
                  <a:ea typeface="宋体" panose="02010600030101010101" pitchFamily="2" charset="-122"/>
                </a:rPr>
                <a:t>糖原磷酸化酶</a:t>
              </a:r>
              <a:endParaRPr kumimoji="1" lang="zh-CN" altLang="en-US" sz="2800">
                <a:solidFill>
                  <a:srgbClr val="FF0000"/>
                </a:solidFill>
                <a:ea typeface="宋体" panose="02010600030101010101" pitchFamily="2" charset="-122"/>
              </a:endParaRPr>
            </a:p>
          </p:txBody>
        </p:sp>
      </p:grpSp>
      <p:sp>
        <p:nvSpPr>
          <p:cNvPr id="24" name="Rectangle 2"/>
          <p:cNvSpPr txBox="1">
            <a:spLocks noChangeArrowheads="1"/>
          </p:cNvSpPr>
          <p:nvPr/>
        </p:nvSpPr>
        <p:spPr>
          <a:xfrm>
            <a:off x="1876425" y="266700"/>
            <a:ext cx="8064500" cy="762000"/>
          </a:xfrm>
          <a:prstGeom prst="rect">
            <a:avLst/>
          </a:prstGeom>
          <a:noFill/>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cs typeface="楷体_GB2312"/>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algn="ctr" eaLnBrk="1" hangingPunct="1">
              <a:buFont typeface="Wingdings" panose="05000000000000000000" pitchFamily="2" charset="2"/>
              <a:buNone/>
              <a:defRPr/>
            </a:pPr>
            <a:r>
              <a:rPr lang="zh-CN" altLang="en-US" sz="3600" kern="0" dirty="0">
                <a:solidFill>
                  <a:srgbClr val="800000"/>
                </a:solidFill>
                <a:latin typeface="黑体" panose="02010609060101010101" pitchFamily="2" charset="-122"/>
                <a:ea typeface="黑体" panose="02010609060101010101" pitchFamily="2" charset="-122"/>
              </a:rPr>
              <a:t> 二、糖原的分解（</a:t>
            </a:r>
            <a:r>
              <a:rPr lang="en-US" altLang="zh-CN" sz="3600" kern="0" dirty="0" err="1">
                <a:solidFill>
                  <a:srgbClr val="800000"/>
                </a:solidFill>
                <a:latin typeface="黑体" panose="02010609060101010101" pitchFamily="2" charset="-122"/>
                <a:ea typeface="黑体" panose="02010609060101010101" pitchFamily="2" charset="-122"/>
              </a:rPr>
              <a:t>glycogenolysis</a:t>
            </a:r>
            <a:r>
              <a:rPr lang="en-US" altLang="zh-CN" sz="3600" kern="0" dirty="0">
                <a:solidFill>
                  <a:srgbClr val="800000"/>
                </a:solidFill>
                <a:latin typeface="黑体" panose="02010609060101010101" pitchFamily="2" charset="-122"/>
                <a:ea typeface="黑体" panose="02010609060101010101" pitchFamily="2" charset="-122"/>
              </a:rPr>
              <a:t>)</a:t>
            </a:r>
            <a:endParaRPr lang="zh-CN" altLang="en-US" sz="3600" kern="0" dirty="0">
              <a:solidFill>
                <a:srgbClr val="800000"/>
              </a:solidFill>
              <a:latin typeface="黑体" panose="02010609060101010101" pitchFamily="2" charset="-122"/>
              <a:ea typeface="黑体" panose="02010609060101010101" pitchFamily="2" charset="-122"/>
            </a:endParaRPr>
          </a:p>
        </p:txBody>
      </p:sp>
      <p:sp>
        <p:nvSpPr>
          <p:cNvPr id="5" name="文本框 4"/>
          <p:cNvSpPr txBox="1"/>
          <p:nvPr/>
        </p:nvSpPr>
        <p:spPr>
          <a:xfrm>
            <a:off x="7287105" y="1822450"/>
            <a:ext cx="4137485" cy="2640723"/>
          </a:xfrm>
          <a:prstGeom prst="rect">
            <a:avLst/>
          </a:prstGeom>
          <a:noFill/>
          <a:ln>
            <a:solidFill>
              <a:schemeClr val="accent1"/>
            </a:solidFill>
          </a:ln>
        </p:spPr>
        <p:txBody>
          <a:bodyPr wrap="square">
            <a:spAutoFit/>
          </a:bodyPr>
          <a:lstStyle/>
          <a:p>
            <a:pPr marL="342900" indent="-342900">
              <a:lnSpc>
                <a:spcPct val="130000"/>
              </a:lnSpc>
              <a:buFont typeface="Arial" panose="020B0604020202020204" pitchFamily="34" charset="0"/>
              <a:buChar char="•"/>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不是糖原合成的逆反应</a:t>
            </a: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2900" indent="-342900">
              <a:lnSpc>
                <a:spcPct val="130000"/>
              </a:lnSpc>
              <a:buFont typeface="Arial" panose="020B0604020202020204" pitchFamily="34" charset="0"/>
              <a:buChar char="•"/>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是</a:t>
            </a:r>
            <a:r>
              <a:rPr lang="zh-CN" altLang="en-US" sz="2400" b="0" dirty="0">
                <a:solidFill>
                  <a:srgbClr val="C00000"/>
                </a:solidFill>
                <a:latin typeface="微软雅黑" panose="020B0503020204020204" pitchFamily="34" charset="-122"/>
                <a:ea typeface="微软雅黑" panose="020B0503020204020204" pitchFamily="34" charset="-122"/>
              </a:rPr>
              <a:t>磷酸解</a:t>
            </a:r>
            <a:r>
              <a:rPr lang="zh-CN" altLang="en-US" b="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b="0" dirty="0">
                <a:solidFill>
                  <a:schemeClr val="tx1">
                    <a:lumMod val="95000"/>
                    <a:lumOff val="5000"/>
                  </a:schemeClr>
                </a:solidFill>
                <a:latin typeface="微软雅黑" panose="020B0503020204020204" pitchFamily="34" charset="-122"/>
                <a:ea typeface="微软雅黑" panose="020B0503020204020204" pitchFamily="34" charset="-122"/>
              </a:rPr>
              <a:t>phosphorolysis</a:t>
            </a:r>
            <a:r>
              <a:rPr lang="zh-CN" altLang="en-US" b="0" dirty="0">
                <a:solidFill>
                  <a:schemeClr val="tx1">
                    <a:lumMod val="95000"/>
                    <a:lumOff val="5000"/>
                  </a:schemeClr>
                </a:solidFill>
                <a:latin typeface="微软雅黑" panose="020B0503020204020204" pitchFamily="34" charset="-122"/>
                <a:ea typeface="微软雅黑" panose="020B0503020204020204" pitchFamily="34" charset="-122"/>
              </a:rPr>
              <a:t>），</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不是水解</a:t>
            </a: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400" b="0" dirty="0">
                <a:solidFill>
                  <a:srgbClr val="0000CC"/>
                </a:solidFill>
                <a:latin typeface="微软雅黑" panose="020B0503020204020204" pitchFamily="34" charset="-122"/>
                <a:ea typeface="微软雅黑" panose="020B0503020204020204" pitchFamily="34" charset="-122"/>
              </a:rPr>
              <a:t>产物：</a:t>
            </a: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 </a:t>
            </a:r>
            <a:r>
              <a:rPr lang="zh-CN" altLang="en-US" sz="2400" b="0" dirty="0">
                <a:solidFill>
                  <a:srgbClr val="0000CC"/>
                </a:solidFill>
                <a:latin typeface="微软雅黑" panose="020B0503020204020204" pitchFamily="34" charset="-122"/>
                <a:ea typeface="微软雅黑" panose="020B0503020204020204" pitchFamily="34" charset="-122"/>
              </a:rPr>
              <a:t>葡萄糖</a:t>
            </a:r>
            <a:r>
              <a:rPr lang="en-US" altLang="zh-CN" sz="2400" b="0" dirty="0">
                <a:solidFill>
                  <a:srgbClr val="0000CC"/>
                </a:solidFill>
                <a:latin typeface="微软雅黑" panose="020B0503020204020204" pitchFamily="34" charset="-122"/>
                <a:ea typeface="微软雅黑" panose="020B0503020204020204" pitchFamily="34" charset="-122"/>
              </a:rPr>
              <a:t>-1-</a:t>
            </a:r>
            <a:r>
              <a:rPr lang="zh-CN" altLang="en-US" sz="2400" b="0" dirty="0">
                <a:solidFill>
                  <a:srgbClr val="0000CC"/>
                </a:solidFill>
                <a:latin typeface="微软雅黑" panose="020B0503020204020204" pitchFamily="34" charset="-122"/>
                <a:ea typeface="微软雅黑" panose="020B0503020204020204" pitchFamily="34" charset="-122"/>
              </a:rPr>
              <a:t>磷酸</a:t>
            </a:r>
            <a:endParaRPr lang="en-US" altLang="zh-CN" sz="2400" b="0" dirty="0">
              <a:solidFill>
                <a:srgbClr val="0000CC"/>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endParaRPr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defRPr/>
            </a:pPr>
            <a:r>
              <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部位：胞质</a:t>
            </a:r>
            <a:endParaRPr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文本框 5"/>
          <p:cNvSpPr txBox="1">
            <a:spLocks noChangeArrowheads="1"/>
          </p:cNvSpPr>
          <p:nvPr/>
        </p:nvSpPr>
        <p:spPr bwMode="auto">
          <a:xfrm>
            <a:off x="1874839" y="6384925"/>
            <a:ext cx="34242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dirty="0">
                <a:solidFill>
                  <a:srgbClr val="0000FF"/>
                </a:solidFill>
                <a:latin typeface="Arial" panose="020B0604020202020204" pitchFamily="34" charset="0"/>
              </a:rPr>
              <a:t>缺葡萄糖－６－磷酸酶</a:t>
            </a:r>
            <a:endParaRPr lang="zh-CN" altLang="en-US" sz="2400" dirty="0">
              <a:solidFill>
                <a:srgbClr val="0000FF"/>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53959"/>
                                        </p:tgtEl>
                                        <p:attrNameLst>
                                          <p:attrName>style.visibility</p:attrName>
                                        </p:attrNameLst>
                                      </p:cBhvr>
                                      <p:to>
                                        <p:strVal val="visible"/>
                                      </p:to>
                                    </p:set>
                                    <p:animEffect transition="in" filter="dissolve">
                                      <p:cBhvr>
                                        <p:cTn id="7" dur="500"/>
                                        <p:tgtEl>
                                          <p:spTgt spid="2539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53956"/>
                                        </p:tgtEl>
                                        <p:attrNameLst>
                                          <p:attrName>style.visibility</p:attrName>
                                        </p:attrNameLst>
                                      </p:cBhvr>
                                      <p:to>
                                        <p:strVal val="visible"/>
                                      </p:to>
                                    </p:set>
                                    <p:animEffect transition="in" filter="dissolve">
                                      <p:cBhvr>
                                        <p:cTn id="16" dur="500"/>
                                        <p:tgtEl>
                                          <p:spTgt spid="253956"/>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253958"/>
                                        </p:tgtEl>
                                        <p:attrNameLst>
                                          <p:attrName>style.visibility</p:attrName>
                                        </p:attrNameLst>
                                      </p:cBhvr>
                                      <p:to>
                                        <p:strVal val="visible"/>
                                      </p:to>
                                    </p:set>
                                    <p:animEffect transition="in" filter="wipe(up)">
                                      <p:cBhvr>
                                        <p:cTn id="24" dur="500"/>
                                        <p:tgtEl>
                                          <p:spTgt spid="253958"/>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253957"/>
                                        </p:tgtEl>
                                        <p:attrNameLst>
                                          <p:attrName>style.visibility</p:attrName>
                                        </p:attrNameLst>
                                      </p:cBhvr>
                                      <p:to>
                                        <p:strVal val="visible"/>
                                      </p:to>
                                    </p:set>
                                    <p:animEffect transition="in" filter="dissolve">
                                      <p:cBhvr>
                                        <p:cTn id="28" dur="500"/>
                                        <p:tgtEl>
                                          <p:spTgt spid="25395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53960"/>
                                        </p:tgtEl>
                                        <p:attrNameLst>
                                          <p:attrName>style.visibility</p:attrName>
                                        </p:attrNameLst>
                                      </p:cBhvr>
                                      <p:to>
                                        <p:strVal val="visible"/>
                                      </p:to>
                                    </p:set>
                                    <p:animEffect transition="in" filter="wipe(up)">
                                      <p:cBhvr>
                                        <p:cTn id="33" dur="500"/>
                                        <p:tgtEl>
                                          <p:spTgt spid="253960"/>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par>
                          <p:cTn id="38" fill="hold">
                            <p:stCondLst>
                              <p:cond delay="1000"/>
                            </p:stCondLst>
                            <p:childTnLst>
                              <p:par>
                                <p:cTn id="39" presetID="9" presetClass="entr" presetSubtype="0" fill="hold" grpId="0" nodeType="afterEffect">
                                  <p:stCondLst>
                                    <p:cond delay="0"/>
                                  </p:stCondLst>
                                  <p:childTnLst>
                                    <p:set>
                                      <p:cBhvr>
                                        <p:cTn id="40" dur="1" fill="hold">
                                          <p:stCondLst>
                                            <p:cond delay="0"/>
                                          </p:stCondLst>
                                        </p:cTn>
                                        <p:tgtEl>
                                          <p:spTgt spid="253955"/>
                                        </p:tgtEl>
                                        <p:attrNameLst>
                                          <p:attrName>style.visibility</p:attrName>
                                        </p:attrNameLst>
                                      </p:cBhvr>
                                      <p:to>
                                        <p:strVal val="visible"/>
                                      </p:to>
                                    </p:set>
                                    <p:animEffect transition="in" filter="dissolve">
                                      <p:cBhvr>
                                        <p:cTn id="41" dur="500"/>
                                        <p:tgtEl>
                                          <p:spTgt spid="25395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up)">
                                      <p:cBhvr>
                                        <p:cTn id="46" dur="500"/>
                                        <p:tgtEl>
                                          <p:spTgt spid="2"/>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253964"/>
                                        </p:tgtEl>
                                        <p:attrNameLst>
                                          <p:attrName>style.visibility</p:attrName>
                                        </p:attrNameLst>
                                      </p:cBhvr>
                                      <p:to>
                                        <p:strVal val="visible"/>
                                      </p:to>
                                    </p:set>
                                    <p:animEffect transition="in" filter="dissolve">
                                      <p:cBhvr>
                                        <p:cTn id="50" dur="500"/>
                                        <p:tgtEl>
                                          <p:spTgt spid="25396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autoUpdateAnimBg="0"/>
      <p:bldP spid="253956" grpId="0" autoUpdateAnimBg="0"/>
      <p:bldP spid="253957" grpId="0" autoUpdateAnimBg="0"/>
      <p:bldP spid="253959" grpId="0" autoUpdateAnimBg="0"/>
      <p:bldP spid="253964" grpId="0" autoUpdateAnimBg="0"/>
      <p:bldP spid="5" grpId="0" animBg="1"/>
      <p:bldP spid="6"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脱支酶的作用"/>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185" y="1732011"/>
            <a:ext cx="6291285" cy="400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Rectangle 3"/>
          <p:cNvSpPr>
            <a:spLocks noChangeArrowheads="1"/>
          </p:cNvSpPr>
          <p:nvPr/>
        </p:nvSpPr>
        <p:spPr bwMode="auto">
          <a:xfrm>
            <a:off x="2362200" y="4500563"/>
            <a:ext cx="2133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28676" name="Rectangle 4"/>
          <p:cNvSpPr>
            <a:spLocks noChangeArrowheads="1"/>
          </p:cNvSpPr>
          <p:nvPr/>
        </p:nvSpPr>
        <p:spPr bwMode="auto">
          <a:xfrm>
            <a:off x="5791200" y="3662363"/>
            <a:ext cx="76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nvGrpSpPr>
          <p:cNvPr id="2" name="Group 5"/>
          <p:cNvGrpSpPr/>
          <p:nvPr/>
        </p:nvGrpSpPr>
        <p:grpSpPr bwMode="auto">
          <a:xfrm>
            <a:off x="6788520" y="3248990"/>
            <a:ext cx="3751263" cy="846138"/>
            <a:chOff x="3264" y="1844"/>
            <a:chExt cx="2237" cy="634"/>
          </a:xfrm>
        </p:grpSpPr>
        <p:sp>
          <p:nvSpPr>
            <p:cNvPr id="28694" name="Rectangle 6"/>
            <p:cNvSpPr>
              <a:spLocks noChangeArrowheads="1"/>
            </p:cNvSpPr>
            <p:nvPr/>
          </p:nvSpPr>
          <p:spPr bwMode="auto">
            <a:xfrm>
              <a:off x="4464" y="1844"/>
              <a:ext cx="905"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rgbClr val="0000CC"/>
                  </a:solidFill>
                  <a:ea typeface="华文楷体" panose="02010600040101010101" pitchFamily="2" charset="-122"/>
                </a:rPr>
                <a:t>脱枝酶</a:t>
              </a:r>
              <a:r>
                <a:rPr kumimoji="1" lang="zh-CN" altLang="en-US" sz="2800">
                  <a:solidFill>
                    <a:srgbClr val="0000CC"/>
                  </a:solidFill>
                  <a:ea typeface="宋体" panose="02010600030101010101" pitchFamily="2" charset="-122"/>
                </a:rPr>
                <a:t>   </a:t>
              </a:r>
              <a:endParaRPr kumimoji="1" lang="zh-CN" altLang="en-US" sz="2800">
                <a:solidFill>
                  <a:srgbClr val="0000CC"/>
                </a:solidFill>
                <a:ea typeface="宋体" panose="02010600030101010101" pitchFamily="2" charset="-122"/>
              </a:endParaRPr>
            </a:p>
          </p:txBody>
        </p:sp>
        <p:sp>
          <p:nvSpPr>
            <p:cNvPr id="28695" name="Rectangle 7"/>
            <p:cNvSpPr>
              <a:spLocks noChangeArrowheads="1"/>
            </p:cNvSpPr>
            <p:nvPr/>
          </p:nvSpPr>
          <p:spPr bwMode="auto">
            <a:xfrm>
              <a:off x="3264" y="2089"/>
              <a:ext cx="2237"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solidFill>
                    <a:srgbClr val="0000CC"/>
                  </a:solidFill>
                  <a:ea typeface="宋体" panose="02010600030101010101" pitchFamily="2" charset="-122"/>
                </a:rPr>
                <a:t>  (</a:t>
              </a:r>
              <a:r>
                <a:rPr kumimoji="1" lang="en-US" altLang="zh-CN" sz="2800" dirty="0">
                  <a:solidFill>
                    <a:srgbClr val="0000CC"/>
                  </a:solidFill>
                  <a:ea typeface="宋体" panose="02010600030101010101" pitchFamily="2" charset="-122"/>
                </a:rPr>
                <a:t>debranching enzyme)</a:t>
              </a:r>
              <a:endParaRPr kumimoji="1" lang="en-US" altLang="zh-CN" sz="2800" dirty="0">
                <a:solidFill>
                  <a:srgbClr val="0000CC"/>
                </a:solidFill>
                <a:ea typeface="宋体" panose="02010600030101010101" pitchFamily="2" charset="-122"/>
              </a:endParaRPr>
            </a:p>
          </p:txBody>
        </p:sp>
      </p:grpSp>
      <p:sp>
        <p:nvSpPr>
          <p:cNvPr id="256008" name="Line 8"/>
          <p:cNvSpPr>
            <a:spLocks noChangeShapeType="1"/>
          </p:cNvSpPr>
          <p:nvPr/>
        </p:nvSpPr>
        <p:spPr bwMode="auto">
          <a:xfrm>
            <a:off x="9480551" y="4005064"/>
            <a:ext cx="9525" cy="40005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56009" name="Line 9"/>
          <p:cNvSpPr>
            <a:spLocks noChangeShapeType="1"/>
          </p:cNvSpPr>
          <p:nvPr/>
        </p:nvSpPr>
        <p:spPr bwMode="auto">
          <a:xfrm flipH="1">
            <a:off x="6937742" y="4034446"/>
            <a:ext cx="1111091" cy="222746"/>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680" name="Text Box 10"/>
          <p:cNvSpPr txBox="1">
            <a:spLocks noChangeArrowheads="1"/>
          </p:cNvSpPr>
          <p:nvPr/>
        </p:nvSpPr>
        <p:spPr bwMode="auto">
          <a:xfrm>
            <a:off x="2422526" y="476250"/>
            <a:ext cx="30972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b="0" dirty="0">
                <a:solidFill>
                  <a:srgbClr val="800000"/>
                </a:solidFill>
                <a:latin typeface="黑体" panose="02010609060101010101" pitchFamily="2" charset="-122"/>
                <a:ea typeface="黑体" panose="02010609060101010101" pitchFamily="2" charset="-122"/>
              </a:rPr>
              <a:t>脱支酶的作用 </a:t>
            </a:r>
            <a:endParaRPr kumimoji="1" lang="zh-CN" altLang="en-US" sz="3600" b="0" dirty="0">
              <a:solidFill>
                <a:srgbClr val="800000"/>
              </a:solidFill>
              <a:latin typeface="黑体" panose="02010609060101010101" pitchFamily="2" charset="-122"/>
              <a:ea typeface="黑体" panose="02010609060101010101" pitchFamily="2" charset="-122"/>
            </a:endParaRPr>
          </a:p>
        </p:txBody>
      </p:sp>
      <p:sp>
        <p:nvSpPr>
          <p:cNvPr id="256011" name="Text Box 11"/>
          <p:cNvSpPr txBox="1">
            <a:spLocks noChangeArrowheads="1"/>
          </p:cNvSpPr>
          <p:nvPr/>
        </p:nvSpPr>
        <p:spPr bwMode="auto">
          <a:xfrm>
            <a:off x="6937742" y="1583704"/>
            <a:ext cx="3743325" cy="1021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latin typeface="Arial" panose="020B0604020202020204" pitchFamily="34" charset="0"/>
                <a:ea typeface="宋体" panose="02010600030101010101" pitchFamily="2" charset="-122"/>
              </a:rPr>
              <a:t>①转移葡萄糖残基</a:t>
            </a:r>
            <a:endParaRPr kumimoji="1" lang="zh-CN" altLang="en-US" sz="2800" dirty="0">
              <a:latin typeface="Arial" panose="020B0604020202020204" pitchFamily="34" charset="0"/>
              <a:ea typeface="宋体" panose="02010600030101010101" pitchFamily="2" charset="-122"/>
            </a:endParaRPr>
          </a:p>
          <a:p>
            <a:pPr eaLnBrk="1" hangingPunct="1">
              <a:lnSpc>
                <a:spcPct val="130000"/>
              </a:lnSpc>
              <a:spcBef>
                <a:spcPct val="0"/>
              </a:spcBef>
              <a:buClrTx/>
              <a:buSzTx/>
              <a:buFontTx/>
              <a:buNone/>
            </a:pPr>
            <a:r>
              <a:rPr kumimoji="1" lang="zh-CN" altLang="en-US" sz="2800" dirty="0">
                <a:latin typeface="Arial" panose="020B0604020202020204" pitchFamily="34" charset="0"/>
                <a:ea typeface="宋体" panose="02010600030101010101" pitchFamily="2" charset="-122"/>
              </a:rPr>
              <a:t>②水解</a:t>
            </a:r>
            <a:r>
              <a:rPr kumimoji="1" lang="zh-CN" altLang="en-US" sz="2800" dirty="0">
                <a:latin typeface="Arial" panose="020B0604020202020204" pitchFamily="34" charset="0"/>
                <a:ea typeface="宋体" panose="02010600030101010101" pitchFamily="2" charset="-122"/>
                <a:sym typeface="Symbol" panose="05050102010706020507" pitchFamily="18" charset="2"/>
              </a:rPr>
              <a:t></a:t>
            </a:r>
            <a:r>
              <a:rPr kumimoji="1" lang="zh-CN" altLang="en-US" sz="2800" dirty="0">
                <a:latin typeface="Arial" panose="020B0604020202020204" pitchFamily="34" charset="0"/>
                <a:ea typeface="宋体" panose="02010600030101010101" pitchFamily="2" charset="-122"/>
              </a:rPr>
              <a:t>-1,6-糖苷键  </a:t>
            </a:r>
            <a:endParaRPr kumimoji="1" lang="zh-CN" altLang="en-US" sz="2800" dirty="0">
              <a:latin typeface="Arial" panose="020B0604020202020204" pitchFamily="34" charset="0"/>
              <a:ea typeface="宋体" panose="02010600030101010101" pitchFamily="2" charset="-122"/>
            </a:endParaRPr>
          </a:p>
        </p:txBody>
      </p:sp>
      <p:grpSp>
        <p:nvGrpSpPr>
          <p:cNvPr id="6" name="组合 5"/>
          <p:cNvGrpSpPr/>
          <p:nvPr/>
        </p:nvGrpSpPr>
        <p:grpSpPr>
          <a:xfrm>
            <a:off x="2140359" y="4501492"/>
            <a:ext cx="1954381" cy="871724"/>
            <a:chOff x="616358" y="4501492"/>
            <a:chExt cx="1954381" cy="871724"/>
          </a:xfrm>
        </p:grpSpPr>
        <p:sp>
          <p:nvSpPr>
            <p:cNvPr id="28690" name="Text Box 13"/>
            <p:cNvSpPr txBox="1">
              <a:spLocks noChangeArrowheads="1"/>
            </p:cNvSpPr>
            <p:nvPr/>
          </p:nvSpPr>
          <p:spPr bwMode="auto">
            <a:xfrm>
              <a:off x="616358" y="4501492"/>
              <a:ext cx="19543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0000"/>
                  </a:solidFill>
                  <a:latin typeface="华文楷体" panose="02010600040101010101" pitchFamily="2" charset="-122"/>
                  <a:ea typeface="华文楷体" panose="02010600040101010101" pitchFamily="2" charset="-122"/>
                </a:rPr>
                <a:t>磷 酸 化 酶    </a:t>
              </a:r>
              <a:endParaRPr kumimoji="1" lang="zh-CN" altLang="en-US" sz="2400" dirty="0">
                <a:solidFill>
                  <a:srgbClr val="FF0000"/>
                </a:solidFill>
                <a:latin typeface="华文楷体" panose="02010600040101010101" pitchFamily="2" charset="-122"/>
                <a:ea typeface="华文楷体" panose="02010600040101010101" pitchFamily="2" charset="-122"/>
              </a:endParaRPr>
            </a:p>
          </p:txBody>
        </p:sp>
        <p:sp>
          <p:nvSpPr>
            <p:cNvPr id="28691" name="Line 14"/>
            <p:cNvSpPr>
              <a:spLocks noChangeShapeType="1"/>
            </p:cNvSpPr>
            <p:nvPr/>
          </p:nvSpPr>
          <p:spPr bwMode="auto">
            <a:xfrm>
              <a:off x="1259632" y="4916016"/>
              <a:ext cx="0" cy="4572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56017" name="Text Box 17"/>
          <p:cNvSpPr txBox="1">
            <a:spLocks noChangeArrowheads="1"/>
          </p:cNvSpPr>
          <p:nvPr/>
        </p:nvSpPr>
        <p:spPr bwMode="auto">
          <a:xfrm>
            <a:off x="5214154" y="4027675"/>
            <a:ext cx="18892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latin typeface="Arial" panose="020B0604020202020204" pitchFamily="34" charset="0"/>
                <a:ea typeface="宋体" panose="02010600030101010101" pitchFamily="2" charset="-122"/>
              </a:rPr>
              <a:t>①</a:t>
            </a:r>
            <a:r>
              <a:rPr kumimoji="1" lang="zh-CN" altLang="en-US" sz="2400" b="0" dirty="0">
                <a:latin typeface="微软雅黑" panose="020B0503020204020204" pitchFamily="34" charset="-122"/>
                <a:ea typeface="微软雅黑" panose="020B0503020204020204" pitchFamily="34" charset="-122"/>
              </a:rPr>
              <a:t>葡聚糖转移酶活性   </a:t>
            </a:r>
            <a:endParaRPr kumimoji="1" lang="zh-CN" altLang="en-US" sz="2400" b="0" dirty="0">
              <a:latin typeface="微软雅黑" panose="020B0503020204020204" pitchFamily="34" charset="-122"/>
              <a:ea typeface="微软雅黑" panose="020B0503020204020204" pitchFamily="34" charset="-122"/>
            </a:endParaRPr>
          </a:p>
        </p:txBody>
      </p:sp>
      <p:grpSp>
        <p:nvGrpSpPr>
          <p:cNvPr id="4" name="Group 18"/>
          <p:cNvGrpSpPr/>
          <p:nvPr/>
        </p:nvGrpSpPr>
        <p:grpSpPr bwMode="auto">
          <a:xfrm>
            <a:off x="7450140" y="4324601"/>
            <a:ext cx="3305177" cy="930108"/>
            <a:chOff x="3767" y="2787"/>
            <a:chExt cx="2082" cy="451"/>
          </a:xfrm>
        </p:grpSpPr>
        <p:sp>
          <p:nvSpPr>
            <p:cNvPr id="28688" name="Text Box 19"/>
            <p:cNvSpPr txBox="1">
              <a:spLocks noChangeArrowheads="1"/>
            </p:cNvSpPr>
            <p:nvPr/>
          </p:nvSpPr>
          <p:spPr bwMode="auto">
            <a:xfrm>
              <a:off x="3922" y="2787"/>
              <a:ext cx="192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latin typeface="Arial" panose="020B0604020202020204" pitchFamily="34" charset="0"/>
                  <a:ea typeface="宋体" panose="02010600030101010101" pitchFamily="2" charset="-122"/>
                </a:rPr>
                <a:t>②</a:t>
              </a:r>
              <a:r>
                <a:rPr kumimoji="1" lang="en-US" altLang="zh-CN" sz="2400" dirty="0">
                  <a:latin typeface="Arial" panose="020B0604020202020204" pitchFamily="34" charset="0"/>
                  <a:ea typeface="华文楷体" panose="02010600040101010101" pitchFamily="2" charset="-122"/>
                </a:rPr>
                <a:t> α-1,6</a:t>
              </a:r>
              <a:r>
                <a:rPr kumimoji="1" lang="zh-CN" altLang="en-US" sz="2400" dirty="0">
                  <a:latin typeface="Arial" panose="020B0604020202020204" pitchFamily="34" charset="0"/>
                  <a:ea typeface="华文楷体" panose="02010600040101010101" pitchFamily="2" charset="-122"/>
                </a:rPr>
                <a:t>糖苷酶活性    </a:t>
              </a:r>
              <a:endParaRPr kumimoji="1" lang="zh-CN" altLang="en-US" sz="2400" dirty="0">
                <a:latin typeface="Arial" panose="020B0604020202020204" pitchFamily="34" charset="0"/>
                <a:ea typeface="华文楷体" panose="02010600040101010101" pitchFamily="2" charset="-122"/>
              </a:endParaRPr>
            </a:p>
          </p:txBody>
        </p:sp>
        <p:sp>
          <p:nvSpPr>
            <p:cNvPr id="28689" name="Line 20"/>
            <p:cNvSpPr>
              <a:spLocks noChangeShapeType="1"/>
            </p:cNvSpPr>
            <p:nvPr/>
          </p:nvSpPr>
          <p:spPr bwMode="auto">
            <a:xfrm flipH="1">
              <a:off x="3767" y="3051"/>
              <a:ext cx="363" cy="18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56021" name="Rectangle 21"/>
          <p:cNvSpPr>
            <a:spLocks noChangeArrowheads="1"/>
          </p:cNvSpPr>
          <p:nvPr/>
        </p:nvSpPr>
        <p:spPr bwMode="auto">
          <a:xfrm>
            <a:off x="2095904" y="5221907"/>
            <a:ext cx="2055880" cy="519708"/>
          </a:xfrm>
          <a:prstGeom prst="rect">
            <a:avLst/>
          </a:prstGeom>
          <a:noFill/>
          <a:ln w="38100" cap="rnd">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256022" name="Freeform 22"/>
          <p:cNvSpPr/>
          <p:nvPr/>
        </p:nvSpPr>
        <p:spPr bwMode="auto">
          <a:xfrm rot="605415">
            <a:off x="4224767" y="1652365"/>
            <a:ext cx="1981503" cy="1008062"/>
          </a:xfrm>
          <a:custGeom>
            <a:avLst/>
            <a:gdLst>
              <a:gd name="T0" fmla="*/ 2147483646 w 1423"/>
              <a:gd name="T1" fmla="*/ 0 h 564"/>
              <a:gd name="T2" fmla="*/ 2147483646 w 1423"/>
              <a:gd name="T3" fmla="*/ 2147483646 h 564"/>
              <a:gd name="T4" fmla="*/ 2147483646 w 1423"/>
              <a:gd name="T5" fmla="*/ 2147483646 h 564"/>
              <a:gd name="T6" fmla="*/ 2147483646 w 1423"/>
              <a:gd name="T7" fmla="*/ 2147483646 h 564"/>
              <a:gd name="T8" fmla="*/ 2147483646 w 1423"/>
              <a:gd name="T9" fmla="*/ 2147483646 h 564"/>
              <a:gd name="T10" fmla="*/ 2147483646 w 1423"/>
              <a:gd name="T11" fmla="*/ 2147483646 h 564"/>
              <a:gd name="T12" fmla="*/ 2147483646 w 1423"/>
              <a:gd name="T13" fmla="*/ 2147483646 h 564"/>
              <a:gd name="T14" fmla="*/ 2147483646 w 1423"/>
              <a:gd name="T15" fmla="*/ 2147483646 h 564"/>
              <a:gd name="T16" fmla="*/ 2147483646 w 1423"/>
              <a:gd name="T17" fmla="*/ 2147483646 h 564"/>
              <a:gd name="T18" fmla="*/ 2147483646 w 1423"/>
              <a:gd name="T19" fmla="*/ 2147483646 h 564"/>
              <a:gd name="T20" fmla="*/ 2147483646 w 1423"/>
              <a:gd name="T21" fmla="*/ 2147483646 h 564"/>
              <a:gd name="T22" fmla="*/ 2147483646 w 1423"/>
              <a:gd name="T23" fmla="*/ 2147483646 h 564"/>
              <a:gd name="T24" fmla="*/ 2147483646 w 1423"/>
              <a:gd name="T25" fmla="*/ 2147483646 h 564"/>
              <a:gd name="T26" fmla="*/ 2147483646 w 1423"/>
              <a:gd name="T27" fmla="*/ 2147483646 h 564"/>
              <a:gd name="T28" fmla="*/ 2147483646 w 1423"/>
              <a:gd name="T29" fmla="*/ 2147483646 h 564"/>
              <a:gd name="T30" fmla="*/ 2147483646 w 1423"/>
              <a:gd name="T31" fmla="*/ 2147483646 h 564"/>
              <a:gd name="T32" fmla="*/ 2147483646 w 1423"/>
              <a:gd name="T33" fmla="*/ 2147483646 h 564"/>
              <a:gd name="T34" fmla="*/ 2147483646 w 1423"/>
              <a:gd name="T35" fmla="*/ 2147483646 h 564"/>
              <a:gd name="T36" fmla="*/ 2147483646 w 1423"/>
              <a:gd name="T37" fmla="*/ 2147483646 h 564"/>
              <a:gd name="T38" fmla="*/ 2147483646 w 1423"/>
              <a:gd name="T39" fmla="*/ 2147483646 h 564"/>
              <a:gd name="T40" fmla="*/ 2147483646 w 1423"/>
              <a:gd name="T41" fmla="*/ 2147483646 h 564"/>
              <a:gd name="T42" fmla="*/ 2147483646 w 1423"/>
              <a:gd name="T43" fmla="*/ 2147483646 h 564"/>
              <a:gd name="T44" fmla="*/ 2147483646 w 1423"/>
              <a:gd name="T45" fmla="*/ 0 h 5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423"/>
              <a:gd name="T70" fmla="*/ 0 h 564"/>
              <a:gd name="T71" fmla="*/ 1423 w 1423"/>
              <a:gd name="T72" fmla="*/ 564 h 56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423" h="564">
                <a:moveTo>
                  <a:pt x="127" y="0"/>
                </a:moveTo>
                <a:cubicBezTo>
                  <a:pt x="252" y="10"/>
                  <a:pt x="347" y="21"/>
                  <a:pt x="463" y="60"/>
                </a:cubicBezTo>
                <a:cubicBezTo>
                  <a:pt x="562" y="93"/>
                  <a:pt x="671" y="68"/>
                  <a:pt x="775" y="72"/>
                </a:cubicBezTo>
                <a:cubicBezTo>
                  <a:pt x="790" y="76"/>
                  <a:pt x="842" y="87"/>
                  <a:pt x="859" y="96"/>
                </a:cubicBezTo>
                <a:cubicBezTo>
                  <a:pt x="872" y="102"/>
                  <a:pt x="881" y="117"/>
                  <a:pt x="895" y="120"/>
                </a:cubicBezTo>
                <a:cubicBezTo>
                  <a:pt x="930" y="129"/>
                  <a:pt x="967" y="128"/>
                  <a:pt x="1003" y="132"/>
                </a:cubicBezTo>
                <a:cubicBezTo>
                  <a:pt x="1031" y="141"/>
                  <a:pt x="1063" y="139"/>
                  <a:pt x="1087" y="156"/>
                </a:cubicBezTo>
                <a:cubicBezTo>
                  <a:pt x="1234" y="259"/>
                  <a:pt x="1102" y="209"/>
                  <a:pt x="1195" y="240"/>
                </a:cubicBezTo>
                <a:cubicBezTo>
                  <a:pt x="1203" y="252"/>
                  <a:pt x="1208" y="267"/>
                  <a:pt x="1219" y="276"/>
                </a:cubicBezTo>
                <a:cubicBezTo>
                  <a:pt x="1229" y="284"/>
                  <a:pt x="1244" y="282"/>
                  <a:pt x="1255" y="288"/>
                </a:cubicBezTo>
                <a:cubicBezTo>
                  <a:pt x="1338" y="329"/>
                  <a:pt x="1239" y="299"/>
                  <a:pt x="1339" y="324"/>
                </a:cubicBezTo>
                <a:cubicBezTo>
                  <a:pt x="1393" y="360"/>
                  <a:pt x="1407" y="367"/>
                  <a:pt x="1423" y="432"/>
                </a:cubicBezTo>
                <a:cubicBezTo>
                  <a:pt x="1412" y="449"/>
                  <a:pt x="1376" y="533"/>
                  <a:pt x="1363" y="540"/>
                </a:cubicBezTo>
                <a:cubicBezTo>
                  <a:pt x="1333" y="555"/>
                  <a:pt x="1267" y="564"/>
                  <a:pt x="1267" y="564"/>
                </a:cubicBezTo>
                <a:cubicBezTo>
                  <a:pt x="1199" y="560"/>
                  <a:pt x="1131" y="560"/>
                  <a:pt x="1063" y="552"/>
                </a:cubicBezTo>
                <a:cubicBezTo>
                  <a:pt x="1030" y="548"/>
                  <a:pt x="967" y="528"/>
                  <a:pt x="967" y="528"/>
                </a:cubicBezTo>
                <a:cubicBezTo>
                  <a:pt x="900" y="484"/>
                  <a:pt x="811" y="484"/>
                  <a:pt x="751" y="444"/>
                </a:cubicBezTo>
                <a:cubicBezTo>
                  <a:pt x="671" y="391"/>
                  <a:pt x="557" y="370"/>
                  <a:pt x="463" y="360"/>
                </a:cubicBezTo>
                <a:cubicBezTo>
                  <a:pt x="383" y="351"/>
                  <a:pt x="223" y="336"/>
                  <a:pt x="223" y="336"/>
                </a:cubicBezTo>
                <a:cubicBezTo>
                  <a:pt x="92" y="292"/>
                  <a:pt x="291" y="362"/>
                  <a:pt x="151" y="300"/>
                </a:cubicBezTo>
                <a:cubicBezTo>
                  <a:pt x="113" y="283"/>
                  <a:pt x="71" y="274"/>
                  <a:pt x="31" y="264"/>
                </a:cubicBezTo>
                <a:cubicBezTo>
                  <a:pt x="41" y="107"/>
                  <a:pt x="0" y="86"/>
                  <a:pt x="115" y="48"/>
                </a:cubicBezTo>
                <a:cubicBezTo>
                  <a:pt x="142" y="7"/>
                  <a:pt x="149" y="22"/>
                  <a:pt x="127" y="0"/>
                </a:cubicBezTo>
                <a:close/>
              </a:path>
            </a:pathLst>
          </a:custGeom>
          <a:noFill/>
          <a:ln w="38100" cap="rnd">
            <a:solidFill>
              <a:srgbClr val="FF0000"/>
            </a:solidFill>
            <a:prstDash val="sysDot"/>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 name="文本框 4"/>
          <p:cNvSpPr txBox="1">
            <a:spLocks noChangeArrowheads="1"/>
          </p:cNvSpPr>
          <p:nvPr/>
        </p:nvSpPr>
        <p:spPr bwMode="auto">
          <a:xfrm>
            <a:off x="8730981" y="4806776"/>
            <a:ext cx="171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400" dirty="0">
                <a:solidFill>
                  <a:srgbClr val="C00000"/>
                </a:solidFill>
                <a:latin typeface="微软雅黑" panose="020B0503020204020204" pitchFamily="34" charset="-122"/>
                <a:ea typeface="微软雅黑" panose="020B0503020204020204" pitchFamily="34" charset="-122"/>
              </a:rPr>
              <a:t>水解</a:t>
            </a:r>
            <a:r>
              <a:rPr lang="en-US" altLang="zh-CN" sz="2400" dirty="0">
                <a:solidFill>
                  <a:srgbClr val="C00000"/>
                </a:solidFill>
                <a:latin typeface="微软雅黑" panose="020B0503020204020204" pitchFamily="34" charset="-122"/>
                <a:ea typeface="微软雅黑" panose="020B0503020204020204" pitchFamily="34" charset="-122"/>
              </a:rPr>
              <a:t>, </a:t>
            </a:r>
            <a:r>
              <a:rPr lang="zh-CN" altLang="en-US" sz="2400" b="0" dirty="0">
                <a:solidFill>
                  <a:srgbClr val="C00000"/>
                </a:solidFill>
                <a:latin typeface="微软雅黑" panose="020B0503020204020204" pitchFamily="34" charset="-122"/>
                <a:ea typeface="微软雅黑" panose="020B0503020204020204" pitchFamily="34" charset="-122"/>
              </a:rPr>
              <a:t>得到游离葡萄糖</a:t>
            </a:r>
            <a:endParaRPr lang="zh-CN" altLang="en-US" sz="2400" b="0" dirty="0">
              <a:solidFill>
                <a:srgbClr val="C0000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2426111" y="6075039"/>
            <a:ext cx="8022957" cy="461665"/>
          </a:xfrm>
          <a:prstGeom prst="rect">
            <a:avLst/>
          </a:prstGeom>
          <a:noFill/>
        </p:spPr>
        <p:txBody>
          <a:bodyPr wrap="square" rtlCol="0">
            <a:spAutoFit/>
          </a:bodyPr>
          <a:lstStyle/>
          <a:p>
            <a:r>
              <a:rPr lang="zh-CN" altLang="en-US" sz="2400" b="0" dirty="0">
                <a:solidFill>
                  <a:srgbClr val="0000FF"/>
                </a:solidFill>
                <a:latin typeface="+mj-lt"/>
              </a:rPr>
              <a:t>糖原分解产物： 葡萄糖</a:t>
            </a:r>
            <a:r>
              <a:rPr lang="en-US" altLang="zh-CN" sz="2400" b="0" dirty="0">
                <a:solidFill>
                  <a:srgbClr val="0000FF"/>
                </a:solidFill>
                <a:latin typeface="+mj-lt"/>
              </a:rPr>
              <a:t>-1-</a:t>
            </a:r>
            <a:r>
              <a:rPr lang="zh-CN" altLang="en-US" sz="2400" b="0" dirty="0">
                <a:solidFill>
                  <a:srgbClr val="0000FF"/>
                </a:solidFill>
                <a:latin typeface="+mj-lt"/>
              </a:rPr>
              <a:t>磷酸（</a:t>
            </a:r>
            <a:r>
              <a:rPr lang="zh-CN" altLang="en-US" sz="2400" b="0" dirty="0">
                <a:solidFill>
                  <a:srgbClr val="0000FF"/>
                </a:solidFill>
                <a:latin typeface="+mj-lt"/>
                <a:sym typeface="Symbol" panose="05050102010706020507" pitchFamily="18" charset="2"/>
              </a:rPr>
              <a:t></a:t>
            </a:r>
            <a:r>
              <a:rPr lang="en-US" altLang="zh-CN" sz="2400" b="0" dirty="0">
                <a:solidFill>
                  <a:srgbClr val="0000FF"/>
                </a:solidFill>
                <a:latin typeface="+mj-lt"/>
              </a:rPr>
              <a:t>90%</a:t>
            </a:r>
            <a:r>
              <a:rPr lang="zh-CN" altLang="en-US" sz="2400" b="0" dirty="0">
                <a:solidFill>
                  <a:srgbClr val="0000FF"/>
                </a:solidFill>
                <a:latin typeface="+mj-lt"/>
              </a:rPr>
              <a:t>） </a:t>
            </a:r>
            <a:r>
              <a:rPr lang="en-US" altLang="zh-CN" sz="2400" b="0" dirty="0">
                <a:solidFill>
                  <a:srgbClr val="0000FF"/>
                </a:solidFill>
                <a:latin typeface="+mj-lt"/>
              </a:rPr>
              <a:t>+  </a:t>
            </a:r>
            <a:r>
              <a:rPr lang="zh-CN" altLang="en-US" sz="2400" b="0" dirty="0">
                <a:solidFill>
                  <a:srgbClr val="0000FF"/>
                </a:solidFill>
                <a:latin typeface="+mj-lt"/>
              </a:rPr>
              <a:t>葡萄糖</a:t>
            </a:r>
            <a:endParaRPr lang="zh-CN" altLang="en-US" sz="2400" b="0" dirty="0">
              <a:solidFill>
                <a:srgbClr val="0000FF"/>
              </a:solidFill>
              <a:latin typeface="+mj-lt"/>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256011"/>
                                        </p:tgtEl>
                                        <p:attrNameLst>
                                          <p:attrName>style.visibility</p:attrName>
                                        </p:attrNameLst>
                                      </p:cBhvr>
                                      <p:to>
                                        <p:strVal val="visible"/>
                                      </p:to>
                                    </p:set>
                                    <p:anim calcmode="lin" valueType="num">
                                      <p:cBhvr additive="base">
                                        <p:cTn id="7" dur="500" fill="hold"/>
                                        <p:tgtEl>
                                          <p:spTgt spid="256011"/>
                                        </p:tgtEl>
                                        <p:attrNameLst>
                                          <p:attrName>ppt_x</p:attrName>
                                        </p:attrNameLst>
                                      </p:cBhvr>
                                      <p:tavLst>
                                        <p:tav tm="0">
                                          <p:val>
                                            <p:strVal val="#ppt_x"/>
                                          </p:val>
                                        </p:tav>
                                        <p:tav tm="100000">
                                          <p:val>
                                            <p:strVal val="#ppt_x"/>
                                          </p:val>
                                        </p:tav>
                                      </p:tavLst>
                                    </p:anim>
                                    <p:anim calcmode="lin" valueType="num">
                                      <p:cBhvr additive="base">
                                        <p:cTn id="8" dur="500" fill="hold"/>
                                        <p:tgtEl>
                                          <p:spTgt spid="25601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par>
                          <p:cTn id="14" fill="hold">
                            <p:stCondLst>
                              <p:cond delay="500"/>
                            </p:stCondLst>
                            <p:childTnLst>
                              <p:par>
                                <p:cTn id="15" presetID="22" presetClass="entr" presetSubtype="1" fill="hold" nodeType="afterEffect">
                                  <p:stCondLst>
                                    <p:cond delay="0"/>
                                  </p:stCondLst>
                                  <p:childTnLst>
                                    <p:set>
                                      <p:cBhvr>
                                        <p:cTn id="16" dur="1" fill="hold">
                                          <p:stCondLst>
                                            <p:cond delay="0"/>
                                          </p:stCondLst>
                                        </p:cTn>
                                        <p:tgtEl>
                                          <p:spTgt spid="256009"/>
                                        </p:tgtEl>
                                        <p:attrNameLst>
                                          <p:attrName>style.visibility</p:attrName>
                                        </p:attrNameLst>
                                      </p:cBhvr>
                                      <p:to>
                                        <p:strVal val="visible"/>
                                      </p:to>
                                    </p:set>
                                    <p:animEffect transition="in" filter="wipe(up)">
                                      <p:cBhvr>
                                        <p:cTn id="17" dur="500"/>
                                        <p:tgtEl>
                                          <p:spTgt spid="256009"/>
                                        </p:tgtEl>
                                      </p:cBhvr>
                                    </p:animEffect>
                                  </p:childTnLst>
                                </p:cTn>
                              </p:par>
                            </p:childTnLst>
                          </p:cTn>
                        </p:par>
                        <p:par>
                          <p:cTn id="18" fill="hold">
                            <p:stCondLst>
                              <p:cond delay="1000"/>
                            </p:stCondLst>
                            <p:childTnLst>
                              <p:par>
                                <p:cTn id="19" presetID="5" presetClass="entr" presetSubtype="10" fill="hold" grpId="0" nodeType="afterEffect">
                                  <p:stCondLst>
                                    <p:cond delay="0"/>
                                  </p:stCondLst>
                                  <p:childTnLst>
                                    <p:set>
                                      <p:cBhvr>
                                        <p:cTn id="20" dur="1" fill="hold">
                                          <p:stCondLst>
                                            <p:cond delay="0"/>
                                          </p:stCondLst>
                                        </p:cTn>
                                        <p:tgtEl>
                                          <p:spTgt spid="256017"/>
                                        </p:tgtEl>
                                        <p:attrNameLst>
                                          <p:attrName>style.visibility</p:attrName>
                                        </p:attrNameLst>
                                      </p:cBhvr>
                                      <p:to>
                                        <p:strVal val="visible"/>
                                      </p:to>
                                    </p:set>
                                    <p:animEffect transition="in" filter="checkerboard(across)">
                                      <p:cBhvr>
                                        <p:cTn id="21" dur="500"/>
                                        <p:tgtEl>
                                          <p:spTgt spid="256017"/>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256022"/>
                                        </p:tgtEl>
                                        <p:attrNameLst>
                                          <p:attrName>style.visibility</p:attrName>
                                        </p:attrNameLst>
                                      </p:cBhvr>
                                      <p:to>
                                        <p:strVal val="visible"/>
                                      </p:to>
                                    </p:set>
                                    <p:animEffect transition="in" filter="wipe(up)">
                                      <p:cBhvr>
                                        <p:cTn id="25" dur="500"/>
                                        <p:tgtEl>
                                          <p:spTgt spid="256022"/>
                                        </p:tgtEl>
                                      </p:cBhvr>
                                    </p:animEffect>
                                  </p:childTnLst>
                                </p:cTn>
                              </p:par>
                            </p:childTnLst>
                          </p:cTn>
                        </p:par>
                        <p:par>
                          <p:cTn id="26" fill="hold">
                            <p:stCondLst>
                              <p:cond delay="2000"/>
                            </p:stCondLst>
                            <p:childTnLst>
                              <p:par>
                                <p:cTn id="27" presetID="16" presetClass="entr" presetSubtype="42" fill="hold" grpId="0" nodeType="afterEffect">
                                  <p:stCondLst>
                                    <p:cond delay="0"/>
                                  </p:stCondLst>
                                  <p:childTnLst>
                                    <p:set>
                                      <p:cBhvr>
                                        <p:cTn id="28" dur="1" fill="hold">
                                          <p:stCondLst>
                                            <p:cond delay="0"/>
                                          </p:stCondLst>
                                        </p:cTn>
                                        <p:tgtEl>
                                          <p:spTgt spid="256021"/>
                                        </p:tgtEl>
                                        <p:attrNameLst>
                                          <p:attrName>style.visibility</p:attrName>
                                        </p:attrNameLst>
                                      </p:cBhvr>
                                      <p:to>
                                        <p:strVal val="visible"/>
                                      </p:to>
                                    </p:set>
                                    <p:animEffect transition="in" filter="barn(outHorizontal)">
                                      <p:cBhvr>
                                        <p:cTn id="29" dur="500"/>
                                        <p:tgtEl>
                                          <p:spTgt spid="2560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56008"/>
                                        </p:tgtEl>
                                        <p:attrNameLst>
                                          <p:attrName>style.visibility</p:attrName>
                                        </p:attrNameLst>
                                      </p:cBhvr>
                                      <p:to>
                                        <p:strVal val="visible"/>
                                      </p:to>
                                    </p:set>
                                    <p:animEffect transition="in" filter="wipe(up)">
                                      <p:cBhvr>
                                        <p:cTn id="34" dur="500"/>
                                        <p:tgtEl>
                                          <p:spTgt spid="256008"/>
                                        </p:tgtEl>
                                      </p:cBhvr>
                                    </p:animEffect>
                                  </p:childTnLst>
                                </p:cTn>
                              </p:par>
                            </p:childTnLst>
                          </p:cTn>
                        </p:par>
                        <p:par>
                          <p:cTn id="35" fill="hold">
                            <p:stCondLst>
                              <p:cond delay="500"/>
                            </p:stCondLst>
                            <p:childTnLst>
                              <p:par>
                                <p:cTn id="36" presetID="22" presetClass="entr" presetSubtype="1"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up)">
                                      <p:cBhvr>
                                        <p:cTn id="38" dur="500"/>
                                        <p:tgtEl>
                                          <p:spTgt spid="4"/>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11" grpId="0" autoUpdateAnimBg="0"/>
      <p:bldP spid="256017" grpId="0" autoUpdateAnimBg="0"/>
      <p:bldP spid="256021" grpId="0" animBg="1"/>
      <p:bldP spid="5" grpId="0"/>
      <p:bldP spid="7"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3381376" y="71438"/>
            <a:ext cx="5940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a:solidFill>
                  <a:srgbClr val="800000"/>
                </a:solidFill>
                <a:ea typeface="黑体" panose="02010609060101010101" pitchFamily="2" charset="-122"/>
              </a:rPr>
              <a:t>糖原的合成与分解总图</a:t>
            </a:r>
            <a:endParaRPr kumimoji="1" lang="zh-CN" altLang="en-US" sz="3600">
              <a:solidFill>
                <a:srgbClr val="800000"/>
              </a:solidFill>
              <a:ea typeface="黑体" panose="02010609060101010101" pitchFamily="2" charset="-122"/>
            </a:endParaRPr>
          </a:p>
        </p:txBody>
      </p:sp>
      <p:grpSp>
        <p:nvGrpSpPr>
          <p:cNvPr id="2" name="Group 3"/>
          <p:cNvGrpSpPr/>
          <p:nvPr/>
        </p:nvGrpSpPr>
        <p:grpSpPr bwMode="auto">
          <a:xfrm>
            <a:off x="2263776" y="838200"/>
            <a:ext cx="7642225" cy="6000750"/>
            <a:chOff x="158" y="210"/>
            <a:chExt cx="4814" cy="3780"/>
          </a:xfrm>
        </p:grpSpPr>
        <p:sp>
          <p:nvSpPr>
            <p:cNvPr id="32782" name="Text Box 4"/>
            <p:cNvSpPr txBox="1">
              <a:spLocks noChangeArrowheads="1"/>
            </p:cNvSpPr>
            <p:nvPr/>
          </p:nvSpPr>
          <p:spPr bwMode="auto">
            <a:xfrm>
              <a:off x="1145" y="1996"/>
              <a:ext cx="18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dirty="0">
                  <a:latin typeface="Arial" panose="020B0604020202020204" pitchFamily="34" charset="0"/>
                  <a:ea typeface="华文楷体" panose="02010600040101010101" pitchFamily="2" charset="-122"/>
                </a:rPr>
                <a:t>UDPG</a:t>
              </a:r>
              <a:r>
                <a:rPr kumimoji="1" lang="zh-CN" altLang="en-US" sz="2400" dirty="0">
                  <a:latin typeface="Arial" panose="020B0604020202020204" pitchFamily="34" charset="0"/>
                  <a:ea typeface="华文楷体" panose="02010600040101010101" pitchFamily="2" charset="-122"/>
                </a:rPr>
                <a:t>焦磷酸化酶</a:t>
              </a:r>
              <a:r>
                <a:rPr kumimoji="1" lang="zh-CN" altLang="en-US" sz="2400" dirty="0">
                  <a:solidFill>
                    <a:schemeClr val="tx2"/>
                  </a:solidFill>
                  <a:latin typeface="Arial" panose="020B0604020202020204" pitchFamily="34" charset="0"/>
                  <a:ea typeface="华文楷体" panose="02010600040101010101" pitchFamily="2" charset="-122"/>
                </a:rPr>
                <a:t>    </a:t>
              </a:r>
              <a:endParaRPr kumimoji="1" lang="zh-CN" altLang="en-US" sz="2400" dirty="0">
                <a:solidFill>
                  <a:schemeClr val="tx2"/>
                </a:solidFill>
                <a:latin typeface="Arial" panose="020B0604020202020204" pitchFamily="34" charset="0"/>
                <a:ea typeface="华文楷体" panose="02010600040101010101" pitchFamily="2" charset="-122"/>
              </a:endParaRPr>
            </a:p>
          </p:txBody>
        </p:sp>
        <p:sp>
          <p:nvSpPr>
            <p:cNvPr id="32783" name="Text Box 5"/>
            <p:cNvSpPr txBox="1">
              <a:spLocks noChangeArrowheads="1"/>
            </p:cNvSpPr>
            <p:nvPr/>
          </p:nvSpPr>
          <p:spPr bwMode="auto">
            <a:xfrm>
              <a:off x="1973" y="2568"/>
              <a:ext cx="8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G-1-P  </a:t>
              </a:r>
              <a:endParaRPr kumimoji="1" lang="en-US" altLang="zh-CN" sz="2800">
                <a:latin typeface="Arial" panose="020B0604020202020204" pitchFamily="34" charset="0"/>
                <a:ea typeface="华文楷体" panose="02010600040101010101" pitchFamily="2" charset="-122"/>
              </a:endParaRPr>
            </a:p>
          </p:txBody>
        </p:sp>
        <p:sp>
          <p:nvSpPr>
            <p:cNvPr id="32784" name="Text Box 6"/>
            <p:cNvSpPr txBox="1">
              <a:spLocks noChangeArrowheads="1"/>
            </p:cNvSpPr>
            <p:nvPr/>
          </p:nvSpPr>
          <p:spPr bwMode="auto">
            <a:xfrm>
              <a:off x="953" y="2624"/>
              <a:ext cx="6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UTP  </a:t>
              </a:r>
              <a:endParaRPr kumimoji="1" lang="en-US" altLang="zh-CN" sz="2800">
                <a:latin typeface="Arial" panose="020B0604020202020204" pitchFamily="34" charset="0"/>
                <a:ea typeface="华文楷体" panose="02010600040101010101" pitchFamily="2" charset="-122"/>
              </a:endParaRPr>
            </a:p>
          </p:txBody>
        </p:sp>
        <p:sp>
          <p:nvSpPr>
            <p:cNvPr id="32785" name="Text Box 7"/>
            <p:cNvSpPr txBox="1">
              <a:spLocks noChangeArrowheads="1"/>
            </p:cNvSpPr>
            <p:nvPr/>
          </p:nvSpPr>
          <p:spPr bwMode="auto">
            <a:xfrm>
              <a:off x="569" y="1328"/>
              <a:ext cx="94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FF0000"/>
                  </a:solidFill>
                  <a:latin typeface="Arial" panose="020B0604020202020204" pitchFamily="34" charset="0"/>
                  <a:ea typeface="华文楷体" panose="02010600040101010101" pitchFamily="2" charset="-122"/>
                </a:rPr>
                <a:t>UDPG </a:t>
              </a:r>
              <a:r>
                <a:rPr kumimoji="1" lang="en-US" altLang="zh-CN" sz="2800">
                  <a:latin typeface="Arial" panose="020B0604020202020204" pitchFamily="34" charset="0"/>
                  <a:ea typeface="华文楷体" panose="02010600040101010101" pitchFamily="2" charset="-122"/>
                </a:rPr>
                <a:t>  </a:t>
              </a:r>
              <a:endParaRPr kumimoji="1" lang="en-US" altLang="zh-CN" sz="2800">
                <a:latin typeface="Arial" panose="020B0604020202020204" pitchFamily="34" charset="0"/>
                <a:ea typeface="华文楷体" panose="02010600040101010101" pitchFamily="2" charset="-122"/>
              </a:endParaRPr>
            </a:p>
          </p:txBody>
        </p:sp>
        <p:sp>
          <p:nvSpPr>
            <p:cNvPr id="32786" name="Text Box 8"/>
            <p:cNvSpPr txBox="1">
              <a:spLocks noChangeArrowheads="1"/>
            </p:cNvSpPr>
            <p:nvPr/>
          </p:nvSpPr>
          <p:spPr bwMode="auto">
            <a:xfrm>
              <a:off x="377" y="1856"/>
              <a:ext cx="6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PPi  </a:t>
              </a:r>
              <a:endParaRPr kumimoji="1" lang="en-US" altLang="zh-CN" sz="2800">
                <a:latin typeface="Arial" panose="020B0604020202020204" pitchFamily="34" charset="0"/>
                <a:ea typeface="华文楷体" panose="02010600040101010101" pitchFamily="2" charset="-122"/>
              </a:endParaRPr>
            </a:p>
          </p:txBody>
        </p:sp>
        <p:sp>
          <p:nvSpPr>
            <p:cNvPr id="32787" name="Text Box 9"/>
            <p:cNvSpPr txBox="1">
              <a:spLocks noChangeArrowheads="1"/>
            </p:cNvSpPr>
            <p:nvPr/>
          </p:nvSpPr>
          <p:spPr bwMode="auto">
            <a:xfrm>
              <a:off x="1837" y="210"/>
              <a:ext cx="10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糖原</a:t>
              </a:r>
              <a:r>
                <a:rPr kumimoji="1" lang="en-US" altLang="zh-CN" sz="2800">
                  <a:latin typeface="Arial" panose="020B0604020202020204" pitchFamily="34" charset="0"/>
                  <a:ea typeface="华文楷体" panose="02010600040101010101" pitchFamily="2" charset="-122"/>
                </a:rPr>
                <a:t>n</a:t>
              </a:r>
              <a:r>
                <a:rPr kumimoji="1" lang="en-US" altLang="zh-CN" sz="2400">
                  <a:latin typeface="Arial" panose="020B0604020202020204" pitchFamily="34" charset="0"/>
                  <a:ea typeface="华文楷体" panose="02010600040101010101" pitchFamily="2" charset="-122"/>
                </a:rPr>
                <a:t>+1  </a:t>
              </a:r>
              <a:endParaRPr kumimoji="1" lang="en-US" altLang="zh-CN" sz="2800">
                <a:latin typeface="Arial" panose="020B0604020202020204" pitchFamily="34" charset="0"/>
                <a:ea typeface="华文楷体" panose="02010600040101010101" pitchFamily="2" charset="-122"/>
              </a:endParaRPr>
            </a:p>
          </p:txBody>
        </p:sp>
        <p:sp>
          <p:nvSpPr>
            <p:cNvPr id="32788" name="Text Box 10"/>
            <p:cNvSpPr txBox="1">
              <a:spLocks noChangeArrowheads="1"/>
            </p:cNvSpPr>
            <p:nvPr/>
          </p:nvSpPr>
          <p:spPr bwMode="auto">
            <a:xfrm>
              <a:off x="473" y="368"/>
              <a:ext cx="7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UDP  </a:t>
              </a:r>
              <a:endParaRPr kumimoji="1" lang="en-US" altLang="zh-CN" sz="2800">
                <a:latin typeface="Arial" panose="020B0604020202020204" pitchFamily="34" charset="0"/>
                <a:ea typeface="华文楷体" panose="02010600040101010101" pitchFamily="2" charset="-122"/>
              </a:endParaRPr>
            </a:p>
          </p:txBody>
        </p:sp>
        <p:sp>
          <p:nvSpPr>
            <p:cNvPr id="32789" name="Text Box 11"/>
            <p:cNvSpPr txBox="1">
              <a:spLocks noChangeArrowheads="1"/>
            </p:cNvSpPr>
            <p:nvPr/>
          </p:nvSpPr>
          <p:spPr bwMode="auto">
            <a:xfrm>
              <a:off x="1973" y="3476"/>
              <a:ext cx="83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G-6-P  </a:t>
              </a:r>
              <a:endParaRPr kumimoji="1" lang="en-US" altLang="zh-CN" sz="2800">
                <a:latin typeface="Arial" panose="020B0604020202020204" pitchFamily="34" charset="0"/>
                <a:ea typeface="华文楷体" panose="02010600040101010101" pitchFamily="2" charset="-122"/>
              </a:endParaRPr>
            </a:p>
          </p:txBody>
        </p:sp>
        <p:sp>
          <p:nvSpPr>
            <p:cNvPr id="32790" name="Text Box 12"/>
            <p:cNvSpPr txBox="1">
              <a:spLocks noChangeArrowheads="1"/>
            </p:cNvSpPr>
            <p:nvPr/>
          </p:nvSpPr>
          <p:spPr bwMode="auto">
            <a:xfrm>
              <a:off x="4558" y="3476"/>
              <a:ext cx="4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G  </a:t>
              </a:r>
              <a:endParaRPr kumimoji="1" lang="en-US" altLang="zh-CN" sz="2800">
                <a:latin typeface="Arial" panose="020B0604020202020204" pitchFamily="34" charset="0"/>
                <a:ea typeface="华文楷体" panose="02010600040101010101" pitchFamily="2" charset="-122"/>
              </a:endParaRPr>
            </a:p>
          </p:txBody>
        </p:sp>
        <p:cxnSp>
          <p:nvCxnSpPr>
            <p:cNvPr id="32791" name="AutoShape 13"/>
            <p:cNvCxnSpPr>
              <a:cxnSpLocks noChangeShapeType="1"/>
            </p:cNvCxnSpPr>
            <p:nvPr/>
          </p:nvCxnSpPr>
          <p:spPr bwMode="auto">
            <a:xfrm rot="-5400000">
              <a:off x="929" y="412"/>
              <a:ext cx="940" cy="836"/>
            </a:xfrm>
            <a:prstGeom prst="curvedConnector2">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cxnSp>
        <p:sp>
          <p:nvSpPr>
            <p:cNvPr id="32792" name="Line 14"/>
            <p:cNvSpPr>
              <a:spLocks noChangeShapeType="1"/>
            </p:cNvSpPr>
            <p:nvPr/>
          </p:nvSpPr>
          <p:spPr bwMode="auto">
            <a:xfrm flipH="1" flipV="1">
              <a:off x="953" y="600"/>
              <a:ext cx="144" cy="22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93" name="Text Box 15"/>
            <p:cNvSpPr txBox="1">
              <a:spLocks noChangeArrowheads="1"/>
            </p:cNvSpPr>
            <p:nvPr/>
          </p:nvSpPr>
          <p:spPr bwMode="auto">
            <a:xfrm>
              <a:off x="1064" y="744"/>
              <a:ext cx="145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solidFill>
                    <a:srgbClr val="FF0000"/>
                  </a:solidFill>
                  <a:latin typeface="楷体_GB2312" pitchFamily="49" charset="-122"/>
                </a:rPr>
                <a:t>糖原合酶</a:t>
              </a:r>
              <a:r>
                <a:rPr kumimoji="1" lang="zh-CN" altLang="en-US" b="0">
                  <a:solidFill>
                    <a:schemeClr val="tx2"/>
                  </a:solidFill>
                  <a:latin typeface="楷体_GB2312" pitchFamily="49" charset="-122"/>
                </a:rPr>
                <a:t>    </a:t>
              </a:r>
              <a:endParaRPr kumimoji="1" lang="zh-CN" altLang="en-US" b="0">
                <a:solidFill>
                  <a:schemeClr val="tx2"/>
                </a:solidFill>
                <a:latin typeface="楷体_GB2312" pitchFamily="49" charset="-122"/>
              </a:endParaRPr>
            </a:p>
          </p:txBody>
        </p:sp>
        <p:cxnSp>
          <p:nvCxnSpPr>
            <p:cNvPr id="32794" name="AutoShape 16"/>
            <p:cNvCxnSpPr>
              <a:cxnSpLocks noChangeShapeType="1"/>
            </p:cNvCxnSpPr>
            <p:nvPr/>
          </p:nvCxnSpPr>
          <p:spPr bwMode="auto">
            <a:xfrm rot="10800000">
              <a:off x="981" y="1647"/>
              <a:ext cx="980" cy="1037"/>
            </a:xfrm>
            <a:prstGeom prst="curvedConnector2">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cxnSp>
        <p:sp>
          <p:nvSpPr>
            <p:cNvPr id="32795" name="Line 17"/>
            <p:cNvSpPr>
              <a:spLocks noChangeShapeType="1"/>
            </p:cNvSpPr>
            <p:nvPr/>
          </p:nvSpPr>
          <p:spPr bwMode="auto">
            <a:xfrm flipV="1">
              <a:off x="2290" y="2886"/>
              <a:ext cx="1" cy="576"/>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96" name="Text Box 18"/>
            <p:cNvSpPr txBox="1">
              <a:spLocks noChangeArrowheads="1"/>
            </p:cNvSpPr>
            <p:nvPr/>
          </p:nvSpPr>
          <p:spPr bwMode="auto">
            <a:xfrm>
              <a:off x="612" y="3022"/>
              <a:ext cx="17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磷酸葡萄糖变位酶  </a:t>
              </a:r>
              <a:endParaRPr kumimoji="1" lang="zh-CN" altLang="en-US" sz="2400">
                <a:latin typeface="Arial" panose="020B0604020202020204" pitchFamily="34" charset="0"/>
                <a:ea typeface="华文楷体" panose="02010600040101010101" pitchFamily="2" charset="-122"/>
              </a:endParaRPr>
            </a:p>
          </p:txBody>
        </p:sp>
        <p:sp>
          <p:nvSpPr>
            <p:cNvPr id="32797" name="Line 19"/>
            <p:cNvSpPr>
              <a:spLocks noChangeShapeType="1"/>
            </p:cNvSpPr>
            <p:nvPr/>
          </p:nvSpPr>
          <p:spPr bwMode="auto">
            <a:xfrm flipH="1">
              <a:off x="2744" y="3702"/>
              <a:ext cx="1776"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98" name="Text Box 20"/>
            <p:cNvSpPr txBox="1">
              <a:spLocks noChangeArrowheads="1"/>
            </p:cNvSpPr>
            <p:nvPr/>
          </p:nvSpPr>
          <p:spPr bwMode="auto">
            <a:xfrm>
              <a:off x="2835" y="3702"/>
              <a:ext cx="16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solidFill>
                    <a:srgbClr val="000099"/>
                  </a:solidFill>
                  <a:latin typeface="Arial" panose="020B0604020202020204" pitchFamily="34" charset="0"/>
                  <a:ea typeface="华文楷体" panose="02010600040101010101" pitchFamily="2" charset="-122"/>
                </a:rPr>
                <a:t>己糖</a:t>
              </a:r>
              <a:r>
                <a:rPr kumimoji="1" lang="en-US" altLang="zh-CN" sz="2400">
                  <a:solidFill>
                    <a:srgbClr val="000099"/>
                  </a:solidFill>
                  <a:latin typeface="Arial" panose="020B0604020202020204" pitchFamily="34" charset="0"/>
                  <a:ea typeface="华文楷体" panose="02010600040101010101" pitchFamily="2" charset="-122"/>
                </a:rPr>
                <a:t>/</a:t>
              </a:r>
              <a:r>
                <a:rPr kumimoji="1" lang="zh-CN" altLang="en-US" sz="2400">
                  <a:solidFill>
                    <a:srgbClr val="000099"/>
                  </a:solidFill>
                  <a:latin typeface="Arial" panose="020B0604020202020204" pitchFamily="34" charset="0"/>
                  <a:ea typeface="华文楷体" panose="02010600040101010101" pitchFamily="2" charset="-122"/>
                </a:rPr>
                <a:t>葡萄糖激酶</a:t>
              </a:r>
              <a:r>
                <a:rPr kumimoji="1" lang="zh-CN" altLang="en-US" sz="2400">
                  <a:solidFill>
                    <a:schemeClr val="tx2"/>
                  </a:solidFill>
                  <a:latin typeface="Arial" panose="020B0604020202020204" pitchFamily="34" charset="0"/>
                  <a:ea typeface="华文楷体" panose="02010600040101010101" pitchFamily="2" charset="-122"/>
                </a:rPr>
                <a:t>  </a:t>
              </a:r>
              <a:endParaRPr kumimoji="1" lang="zh-CN" altLang="en-US" sz="2400">
                <a:solidFill>
                  <a:schemeClr val="tx2"/>
                </a:solidFill>
                <a:latin typeface="Arial" panose="020B0604020202020204" pitchFamily="34" charset="0"/>
                <a:ea typeface="华文楷体" panose="02010600040101010101" pitchFamily="2" charset="-122"/>
              </a:endParaRPr>
            </a:p>
          </p:txBody>
        </p:sp>
        <p:sp>
          <p:nvSpPr>
            <p:cNvPr id="32799" name="Line 21"/>
            <p:cNvSpPr>
              <a:spLocks noChangeShapeType="1"/>
            </p:cNvSpPr>
            <p:nvPr/>
          </p:nvSpPr>
          <p:spPr bwMode="auto">
            <a:xfrm flipH="1" flipV="1">
              <a:off x="839" y="2069"/>
              <a:ext cx="240" cy="4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800" name="Line 22"/>
            <p:cNvSpPr>
              <a:spLocks noChangeShapeType="1"/>
            </p:cNvSpPr>
            <p:nvPr/>
          </p:nvSpPr>
          <p:spPr bwMode="auto">
            <a:xfrm>
              <a:off x="1241" y="2328"/>
              <a:ext cx="0" cy="28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2801" name="Text Box 23"/>
            <p:cNvSpPr txBox="1">
              <a:spLocks noChangeArrowheads="1"/>
            </p:cNvSpPr>
            <p:nvPr/>
          </p:nvSpPr>
          <p:spPr bwMode="auto">
            <a:xfrm>
              <a:off x="158" y="799"/>
              <a:ext cx="8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糖原</a:t>
              </a:r>
              <a:r>
                <a:rPr kumimoji="1" lang="en-US" altLang="zh-CN" sz="2800">
                  <a:latin typeface="Arial" panose="020B0604020202020204" pitchFamily="34" charset="0"/>
                  <a:ea typeface="华文楷体" panose="02010600040101010101" pitchFamily="2" charset="-122"/>
                </a:rPr>
                <a:t>n  </a:t>
              </a:r>
              <a:endParaRPr kumimoji="1" lang="en-US" altLang="zh-CN" sz="2800">
                <a:latin typeface="Arial" panose="020B0604020202020204" pitchFamily="34" charset="0"/>
                <a:ea typeface="华文楷体" panose="02010600040101010101" pitchFamily="2" charset="-122"/>
              </a:endParaRPr>
            </a:p>
          </p:txBody>
        </p:sp>
        <p:sp>
          <p:nvSpPr>
            <p:cNvPr id="32802" name="Line 24"/>
            <p:cNvSpPr>
              <a:spLocks noChangeShapeType="1"/>
            </p:cNvSpPr>
            <p:nvPr/>
          </p:nvSpPr>
          <p:spPr bwMode="auto">
            <a:xfrm flipV="1">
              <a:off x="839" y="890"/>
              <a:ext cx="227" cy="9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25"/>
          <p:cNvGrpSpPr/>
          <p:nvPr/>
        </p:nvGrpSpPr>
        <p:grpSpPr bwMode="auto">
          <a:xfrm>
            <a:off x="5792789" y="1054101"/>
            <a:ext cx="4460875" cy="5203825"/>
            <a:chOff x="2381" y="346"/>
            <a:chExt cx="2810" cy="3278"/>
          </a:xfrm>
        </p:grpSpPr>
        <p:sp>
          <p:nvSpPr>
            <p:cNvPr id="32773" name="Line 26"/>
            <p:cNvSpPr>
              <a:spLocks noChangeShapeType="1"/>
            </p:cNvSpPr>
            <p:nvPr/>
          </p:nvSpPr>
          <p:spPr bwMode="auto">
            <a:xfrm>
              <a:off x="2381" y="2886"/>
              <a:ext cx="0" cy="576"/>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74" name="Text Box 27"/>
            <p:cNvSpPr txBox="1">
              <a:spLocks noChangeArrowheads="1"/>
            </p:cNvSpPr>
            <p:nvPr/>
          </p:nvSpPr>
          <p:spPr bwMode="auto">
            <a:xfrm>
              <a:off x="3865" y="466"/>
              <a:ext cx="4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Pi  </a:t>
              </a:r>
              <a:endParaRPr kumimoji="1" lang="en-US" altLang="zh-CN" sz="2800">
                <a:latin typeface="Arial" panose="020B0604020202020204" pitchFamily="34" charset="0"/>
                <a:ea typeface="华文楷体" panose="02010600040101010101" pitchFamily="2" charset="-122"/>
              </a:endParaRPr>
            </a:p>
          </p:txBody>
        </p:sp>
        <p:cxnSp>
          <p:nvCxnSpPr>
            <p:cNvPr id="32775" name="AutoShape 28"/>
            <p:cNvCxnSpPr>
              <a:cxnSpLocks noChangeShapeType="1"/>
            </p:cNvCxnSpPr>
            <p:nvPr/>
          </p:nvCxnSpPr>
          <p:spPr bwMode="auto">
            <a:xfrm flipH="1">
              <a:off x="2699" y="346"/>
              <a:ext cx="76" cy="2304"/>
            </a:xfrm>
            <a:prstGeom prst="curvedConnector3">
              <a:avLst>
                <a:gd name="adj1" fmla="val -1185528"/>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32776" name="Line 29"/>
            <p:cNvSpPr>
              <a:spLocks noChangeShapeType="1"/>
            </p:cNvSpPr>
            <p:nvPr/>
          </p:nvSpPr>
          <p:spPr bwMode="auto">
            <a:xfrm flipH="1">
              <a:off x="3560" y="709"/>
              <a:ext cx="258" cy="26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32777" name="Text Box 30"/>
            <p:cNvSpPr txBox="1">
              <a:spLocks noChangeArrowheads="1"/>
            </p:cNvSpPr>
            <p:nvPr/>
          </p:nvSpPr>
          <p:spPr bwMode="auto">
            <a:xfrm>
              <a:off x="2470" y="1322"/>
              <a:ext cx="138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solidFill>
                    <a:srgbClr val="FF0000"/>
                  </a:solidFill>
                  <a:latin typeface="楷体_GB2312" pitchFamily="49" charset="-122"/>
                </a:rPr>
                <a:t>磷酸化酶</a:t>
              </a:r>
              <a:r>
                <a:rPr kumimoji="1" lang="zh-CN" altLang="en-US" b="0">
                  <a:solidFill>
                    <a:srgbClr val="CCFF33"/>
                  </a:solidFill>
                  <a:latin typeface="楷体_GB2312" pitchFamily="49" charset="-122"/>
                </a:rPr>
                <a:t>   </a:t>
              </a:r>
              <a:endParaRPr kumimoji="1" lang="zh-CN" altLang="en-US" b="0">
                <a:solidFill>
                  <a:srgbClr val="CCFF33"/>
                </a:solidFill>
                <a:latin typeface="楷体_GB2312" pitchFamily="49" charset="-122"/>
              </a:endParaRPr>
            </a:p>
          </p:txBody>
        </p:sp>
        <p:sp>
          <p:nvSpPr>
            <p:cNvPr id="32778" name="Line 31"/>
            <p:cNvSpPr>
              <a:spLocks noChangeShapeType="1"/>
            </p:cNvSpPr>
            <p:nvPr/>
          </p:nvSpPr>
          <p:spPr bwMode="auto">
            <a:xfrm>
              <a:off x="2744" y="3612"/>
              <a:ext cx="1814"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779" name="Text Box 32"/>
            <p:cNvSpPr txBox="1">
              <a:spLocks noChangeArrowheads="1"/>
            </p:cNvSpPr>
            <p:nvPr/>
          </p:nvSpPr>
          <p:spPr bwMode="auto">
            <a:xfrm>
              <a:off x="2699" y="3294"/>
              <a:ext cx="24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rgbClr val="FF0000"/>
                  </a:solidFill>
                  <a:latin typeface="Arial" panose="020B0604020202020204" pitchFamily="34" charset="0"/>
                  <a:ea typeface="华文楷体" panose="02010600040101010101" pitchFamily="2" charset="-122"/>
                </a:rPr>
                <a:t>葡萄糖-6-磷酸酶（肝）</a:t>
              </a:r>
              <a:r>
                <a:rPr kumimoji="1" lang="zh-CN" altLang="en-US" sz="2800">
                  <a:solidFill>
                    <a:srgbClr val="CCFF33"/>
                  </a:solidFill>
                  <a:latin typeface="Arial" panose="020B0604020202020204" pitchFamily="34" charset="0"/>
                  <a:ea typeface="华文楷体" panose="02010600040101010101" pitchFamily="2" charset="-122"/>
                </a:rPr>
                <a:t> </a:t>
              </a:r>
              <a:endParaRPr kumimoji="1" lang="zh-CN" altLang="en-US" sz="2800">
                <a:solidFill>
                  <a:srgbClr val="CCFF33"/>
                </a:solidFill>
                <a:latin typeface="Arial" panose="020B0604020202020204" pitchFamily="34" charset="0"/>
                <a:ea typeface="华文楷体" panose="02010600040101010101" pitchFamily="2" charset="-122"/>
              </a:endParaRPr>
            </a:p>
          </p:txBody>
        </p:sp>
        <p:sp>
          <p:nvSpPr>
            <p:cNvPr id="32780" name="Text Box 33"/>
            <p:cNvSpPr txBox="1">
              <a:spLocks noChangeArrowheads="1"/>
            </p:cNvSpPr>
            <p:nvPr/>
          </p:nvSpPr>
          <p:spPr bwMode="auto">
            <a:xfrm>
              <a:off x="3922" y="997"/>
              <a:ext cx="8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糖原</a:t>
              </a:r>
              <a:r>
                <a:rPr kumimoji="1" lang="en-US" altLang="zh-CN" sz="2800">
                  <a:latin typeface="Arial" panose="020B0604020202020204" pitchFamily="34" charset="0"/>
                  <a:ea typeface="华文楷体" panose="02010600040101010101" pitchFamily="2" charset="-122"/>
                </a:rPr>
                <a:t>n  </a:t>
              </a:r>
              <a:endParaRPr kumimoji="1" lang="en-US" altLang="zh-CN" sz="2800">
                <a:latin typeface="Arial" panose="020B0604020202020204" pitchFamily="34" charset="0"/>
                <a:ea typeface="华文楷体" panose="02010600040101010101" pitchFamily="2" charset="-122"/>
              </a:endParaRPr>
            </a:p>
          </p:txBody>
        </p:sp>
        <p:sp>
          <p:nvSpPr>
            <p:cNvPr id="32781" name="Line 34"/>
            <p:cNvSpPr>
              <a:spLocks noChangeShapeType="1"/>
            </p:cNvSpPr>
            <p:nvPr/>
          </p:nvSpPr>
          <p:spPr bwMode="auto">
            <a:xfrm>
              <a:off x="3606" y="1071"/>
              <a:ext cx="318" cy="137"/>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7026"/>
                                        </p:tgtEl>
                                        <p:attrNameLst>
                                          <p:attrName>style.visibility</p:attrName>
                                        </p:attrNameLst>
                                      </p:cBhvr>
                                      <p:to>
                                        <p:strVal val="visible"/>
                                      </p:to>
                                    </p:set>
                                    <p:animEffect transition="in" filter="wipe(up)">
                                      <p:cBhvr>
                                        <p:cTn id="7" dur="500"/>
                                        <p:tgtEl>
                                          <p:spTgt spid="2570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818"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0739" y="765176"/>
            <a:ext cx="801052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矩形 2"/>
          <p:cNvSpPr>
            <a:spLocks noChangeArrowheads="1"/>
          </p:cNvSpPr>
          <p:nvPr/>
        </p:nvSpPr>
        <p:spPr bwMode="auto">
          <a:xfrm>
            <a:off x="2351585" y="4077073"/>
            <a:ext cx="8092589"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400" dirty="0">
                <a:latin typeface="Arial" panose="020B0604020202020204" pitchFamily="34" charset="0"/>
              </a:rPr>
              <a:t>Generation of glucose from glucose 6-phosphate.   </a:t>
            </a:r>
            <a:endParaRPr lang="en-US" altLang="zh-CN" sz="2400" dirty="0">
              <a:latin typeface="Arial" panose="020B0604020202020204" pitchFamily="34" charset="0"/>
            </a:endParaRPr>
          </a:p>
          <a:p>
            <a:pPr>
              <a:spcBef>
                <a:spcPct val="0"/>
              </a:spcBef>
              <a:buClrTx/>
              <a:buSzTx/>
              <a:buFontTx/>
              <a:buNone/>
            </a:pPr>
            <a:r>
              <a:rPr lang="en-US" altLang="zh-CN" sz="2000" b="0" dirty="0">
                <a:latin typeface="Arial" panose="020B0604020202020204" pitchFamily="34" charset="0"/>
              </a:rPr>
              <a:t>Several endoplasmic reticulum (ER) proteins play a role in the generation of glucose from glucose 6-phosphate.</a:t>
            </a:r>
            <a:r>
              <a:rPr lang="zh-CN" altLang="en-US" sz="2000" b="0" dirty="0">
                <a:latin typeface="Arial" panose="020B0604020202020204" pitchFamily="34" charset="0"/>
              </a:rPr>
              <a:t>　</a:t>
            </a:r>
            <a:r>
              <a:rPr lang="en-US" altLang="zh-CN" sz="2000" b="0" dirty="0">
                <a:latin typeface="Arial" panose="020B0604020202020204" pitchFamily="34" charset="0"/>
              </a:rPr>
              <a:t>T1 transports glucose 6-phosphate into the lumen of the ER, whereas T2 and T3 transport Pi and glucose, respectively, back into the cytoplasm.</a:t>
            </a:r>
            <a:endParaRPr lang="zh-CN" altLang="en-US" sz="2000" b="0" dirty="0">
              <a:latin typeface="Arial" panose="020B0604020202020204" pitchFamily="34" charset="0"/>
            </a:endParaRPr>
          </a:p>
        </p:txBody>
      </p:sp>
    </p:spTree>
  </p:cSld>
  <p:clrMapOvr>
    <a:masterClrMapping/>
  </p:clrMapOvr>
  <p:transition spd="med">
    <p:zoom/>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a:xfrm>
            <a:off x="2208213" y="620713"/>
            <a:ext cx="7772400" cy="838200"/>
          </a:xfrm>
          <a:noFill/>
        </p:spPr>
        <p:txBody>
          <a:bodyPr/>
          <a:lstStyle/>
          <a:p>
            <a:pPr algn="ctr" eaLnBrk="1" hangingPunct="1">
              <a:buFont typeface="Wingdings" panose="05000000000000000000" pitchFamily="2" charset="2"/>
              <a:buNone/>
            </a:pPr>
            <a:r>
              <a:rPr lang="zh-CN" altLang="en-US" sz="3600">
                <a:solidFill>
                  <a:srgbClr val="800000"/>
                </a:solidFill>
                <a:latin typeface="黑体" panose="02010609060101010101" pitchFamily="2" charset="-122"/>
                <a:ea typeface="黑体" panose="02010609060101010101" pitchFamily="2" charset="-122"/>
              </a:rPr>
              <a:t> 三、糖原合成与分解的调节 </a:t>
            </a:r>
            <a:endParaRPr lang="zh-CN" altLang="en-US" sz="3600">
              <a:solidFill>
                <a:srgbClr val="800000"/>
              </a:solidFill>
              <a:latin typeface="黑体" panose="02010609060101010101" pitchFamily="2" charset="-122"/>
              <a:ea typeface="黑体" panose="02010609060101010101" pitchFamily="2" charset="-122"/>
            </a:endParaRPr>
          </a:p>
        </p:txBody>
      </p:sp>
      <p:sp>
        <p:nvSpPr>
          <p:cNvPr id="258055" name="Text Box 7"/>
          <p:cNvSpPr txBox="1">
            <a:spLocks noChangeArrowheads="1"/>
          </p:cNvSpPr>
          <p:nvPr/>
        </p:nvSpPr>
        <p:spPr bwMode="auto">
          <a:xfrm>
            <a:off x="2351088" y="1773239"/>
            <a:ext cx="7772400" cy="4035785"/>
          </a:xfrm>
          <a:prstGeom prst="rect">
            <a:avLst/>
          </a:prstGeom>
          <a:noFill/>
          <a:ln>
            <a:noFill/>
          </a:ln>
        </p:spPr>
        <p:txBody>
          <a:bodyPr>
            <a:spAutoFit/>
          </a:bodyPr>
          <a:lstStyle>
            <a:lvl1pPr marL="365125" indent="-36512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lnSpc>
                <a:spcPct val="150000"/>
              </a:lnSpc>
              <a:spcBef>
                <a:spcPct val="0"/>
              </a:spcBef>
              <a:buClrTx/>
              <a:buSzTx/>
              <a:defRPr/>
            </a:pPr>
            <a:r>
              <a:rPr kumimoji="1" lang="zh-CN" altLang="en-US" sz="2800" b="0" dirty="0">
                <a:latin typeface="楷体_GB2312"/>
              </a:rPr>
              <a:t>对关键酶</a:t>
            </a:r>
            <a:r>
              <a:rPr kumimoji="1" lang="zh-CN" altLang="en-US" sz="2800" b="0" dirty="0">
                <a:solidFill>
                  <a:srgbClr val="FF0000"/>
                </a:solidFill>
                <a:latin typeface="楷体_GB2312"/>
              </a:rPr>
              <a:t>糖原合酶</a:t>
            </a:r>
            <a:r>
              <a:rPr kumimoji="1" lang="zh-CN" altLang="en-US" sz="2800" b="0" dirty="0">
                <a:latin typeface="楷体_GB2312"/>
              </a:rPr>
              <a:t>与</a:t>
            </a:r>
            <a:r>
              <a:rPr kumimoji="1" lang="zh-CN" altLang="en-US" sz="2800" b="0" dirty="0">
                <a:solidFill>
                  <a:srgbClr val="FF0000"/>
                </a:solidFill>
                <a:latin typeface="楷体_GB2312"/>
              </a:rPr>
              <a:t>糖原磷酸化酶</a:t>
            </a:r>
            <a:r>
              <a:rPr kumimoji="1" lang="zh-CN" altLang="en-US" sz="2800" b="0" dirty="0">
                <a:latin typeface="楷体_GB2312"/>
              </a:rPr>
              <a:t>的调节</a:t>
            </a:r>
            <a:endParaRPr kumimoji="1" lang="en-US" altLang="zh-CN" sz="2800" b="0" dirty="0">
              <a:latin typeface="楷体_GB2312"/>
            </a:endParaRPr>
          </a:p>
          <a:p>
            <a:pPr eaLnBrk="1" hangingPunct="1">
              <a:lnSpc>
                <a:spcPct val="150000"/>
              </a:lnSpc>
              <a:spcBef>
                <a:spcPct val="0"/>
              </a:spcBef>
              <a:buClrTx/>
              <a:buSzTx/>
              <a:defRPr/>
            </a:pPr>
            <a:r>
              <a:rPr kumimoji="1" lang="zh-CN" altLang="en-US" sz="2800" b="0" dirty="0">
                <a:latin typeface="楷体_GB2312"/>
              </a:rPr>
              <a:t>以</a:t>
            </a:r>
            <a:r>
              <a:rPr kumimoji="1" lang="zh-CN" altLang="en-US" sz="2800" b="0" dirty="0">
                <a:solidFill>
                  <a:srgbClr val="0000FF"/>
                </a:solidFill>
                <a:latin typeface="楷体_GB2312"/>
              </a:rPr>
              <a:t>磷酸化和去磷酸化修饰调节</a:t>
            </a:r>
            <a:r>
              <a:rPr kumimoji="1" lang="zh-CN" altLang="en-US" sz="2800" b="0" dirty="0">
                <a:latin typeface="楷体_GB2312"/>
              </a:rPr>
              <a:t>为主</a:t>
            </a:r>
            <a:endParaRPr kumimoji="1" lang="en-US" altLang="zh-CN" sz="2800" b="0" dirty="0">
              <a:latin typeface="楷体_GB2312"/>
            </a:endParaRPr>
          </a:p>
          <a:p>
            <a:pPr lvl="1" eaLnBrk="1" hangingPunct="1">
              <a:lnSpc>
                <a:spcPct val="130000"/>
              </a:lnSpc>
              <a:spcBef>
                <a:spcPct val="0"/>
              </a:spcBef>
              <a:buClrTx/>
              <a:buSzTx/>
              <a:defRPr/>
            </a:pPr>
            <a:r>
              <a:rPr kumimoji="1" lang="zh-CN" altLang="en-US" sz="2600" b="0" dirty="0">
                <a:latin typeface="楷体_GB2312"/>
              </a:rPr>
              <a:t>这两种酶磷酸化或去磷酸化后</a:t>
            </a:r>
            <a:r>
              <a:rPr kumimoji="1" lang="zh-CN" altLang="en-US" sz="2600" b="0" dirty="0">
                <a:solidFill>
                  <a:srgbClr val="0000FF"/>
                </a:solidFill>
                <a:latin typeface="楷体_GB2312"/>
              </a:rPr>
              <a:t>活性变化相反</a:t>
            </a:r>
            <a:endParaRPr kumimoji="1" lang="en-US" altLang="zh-CN" sz="2600" b="0" dirty="0">
              <a:solidFill>
                <a:srgbClr val="0000FF"/>
              </a:solidFill>
              <a:latin typeface="楷体_GB2312"/>
            </a:endParaRPr>
          </a:p>
          <a:p>
            <a:pPr lvl="1" eaLnBrk="1" hangingPunct="1">
              <a:lnSpc>
                <a:spcPct val="130000"/>
              </a:lnSpc>
              <a:spcBef>
                <a:spcPct val="0"/>
              </a:spcBef>
              <a:buClrTx/>
              <a:buSzTx/>
              <a:defRPr/>
            </a:pPr>
            <a:r>
              <a:rPr kumimoji="1" lang="zh-CN" altLang="en-US" sz="2600" b="0" dirty="0">
                <a:latin typeface="楷体_GB2312"/>
              </a:rPr>
              <a:t>此调节为酶促反应，调节</a:t>
            </a:r>
            <a:r>
              <a:rPr kumimoji="1" lang="zh-CN" altLang="en-US" sz="2600" b="0" dirty="0">
                <a:solidFill>
                  <a:srgbClr val="0000FF"/>
                </a:solidFill>
                <a:latin typeface="楷体_GB2312"/>
              </a:rPr>
              <a:t>速度快</a:t>
            </a:r>
            <a:r>
              <a:rPr kumimoji="1" lang="zh-CN" altLang="en-US" sz="2600" b="0" dirty="0">
                <a:latin typeface="楷体_GB2312"/>
              </a:rPr>
              <a:t>； </a:t>
            </a:r>
            <a:endParaRPr kumimoji="1" lang="en-US" altLang="zh-CN" sz="2600" b="0" dirty="0">
              <a:latin typeface="楷体_GB2312"/>
            </a:endParaRPr>
          </a:p>
          <a:p>
            <a:pPr lvl="1" eaLnBrk="1" hangingPunct="1">
              <a:lnSpc>
                <a:spcPct val="130000"/>
              </a:lnSpc>
              <a:spcBef>
                <a:spcPct val="0"/>
              </a:spcBef>
              <a:buClrTx/>
              <a:buSzTx/>
              <a:defRPr/>
            </a:pPr>
            <a:r>
              <a:rPr kumimoji="1" lang="zh-CN" altLang="en-US" sz="2600" b="0" dirty="0"/>
              <a:t>调节有</a:t>
            </a:r>
            <a:r>
              <a:rPr kumimoji="1" lang="zh-CN" altLang="en-US" sz="2600" b="0" dirty="0">
                <a:solidFill>
                  <a:srgbClr val="0000FF"/>
                </a:solidFill>
              </a:rPr>
              <a:t>级联放大</a:t>
            </a:r>
            <a:r>
              <a:rPr kumimoji="1" lang="zh-CN" altLang="en-US" sz="2600" b="0" dirty="0"/>
              <a:t>作用，效率高</a:t>
            </a:r>
            <a:endParaRPr kumimoji="1" lang="en-US" altLang="zh-CN" sz="2600" b="0" dirty="0">
              <a:latin typeface="楷体_GB2312"/>
            </a:endParaRPr>
          </a:p>
          <a:p>
            <a:pPr lvl="1" eaLnBrk="1" hangingPunct="1">
              <a:lnSpc>
                <a:spcPct val="130000"/>
              </a:lnSpc>
              <a:spcBef>
                <a:spcPct val="0"/>
              </a:spcBef>
              <a:buClrTx/>
              <a:buSzTx/>
              <a:defRPr/>
            </a:pPr>
            <a:r>
              <a:rPr kumimoji="1" lang="zh-CN" altLang="en-US" sz="2600" b="0" dirty="0"/>
              <a:t>受</a:t>
            </a:r>
            <a:r>
              <a:rPr kumimoji="1" lang="zh-CN" altLang="en-US" sz="2600" b="0" dirty="0">
                <a:solidFill>
                  <a:srgbClr val="0000FF"/>
                </a:solidFill>
              </a:rPr>
              <a:t>激素调节</a:t>
            </a:r>
            <a:endParaRPr kumimoji="1" lang="en-US" altLang="zh-CN" sz="2600" b="0" dirty="0">
              <a:solidFill>
                <a:srgbClr val="0000FF"/>
              </a:solidFill>
              <a:latin typeface="楷体_GB2312"/>
            </a:endParaRPr>
          </a:p>
          <a:p>
            <a:pPr eaLnBrk="1" hangingPunct="1">
              <a:lnSpc>
                <a:spcPct val="150000"/>
              </a:lnSpc>
              <a:spcBef>
                <a:spcPct val="0"/>
              </a:spcBef>
              <a:buClrTx/>
              <a:buSzTx/>
              <a:defRPr/>
            </a:pPr>
            <a:r>
              <a:rPr kumimoji="1" lang="zh-CN" altLang="en-US" sz="2800" b="0" dirty="0">
                <a:solidFill>
                  <a:schemeClr val="tx1">
                    <a:lumMod val="95000"/>
                    <a:lumOff val="5000"/>
                  </a:schemeClr>
                </a:solidFill>
                <a:latin typeface="楷体_GB2312"/>
              </a:rPr>
              <a:t>同时存在</a:t>
            </a:r>
            <a:r>
              <a:rPr kumimoji="1" lang="zh-CN" altLang="en-US" sz="2800" b="0" dirty="0">
                <a:solidFill>
                  <a:srgbClr val="0000FF"/>
                </a:solidFill>
                <a:latin typeface="楷体_GB2312"/>
              </a:rPr>
              <a:t>别构调节</a:t>
            </a:r>
            <a:endParaRPr kumimoji="1" lang="zh-CN" altLang="en-US" sz="2800" b="0" dirty="0">
              <a:solidFill>
                <a:srgbClr val="0000FF"/>
              </a:solidFill>
              <a:latin typeface="楷体_GB231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58055"/>
                                        </p:tgtEl>
                                        <p:attrNameLst>
                                          <p:attrName>style.visibility</p:attrName>
                                        </p:attrNameLst>
                                      </p:cBhvr>
                                      <p:to>
                                        <p:strVal val="visible"/>
                                      </p:to>
                                    </p:set>
                                    <p:animEffect transition="in" filter="blinds(vertical)">
                                      <p:cBhvr>
                                        <p:cTn id="7" dur="500"/>
                                        <p:tgtEl>
                                          <p:spTgt spid="25805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8055">
                                            <p:txEl>
                                              <p:pRg st="1" end="1"/>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58055">
                                            <p:txEl>
                                              <p:pRg st="2" end="2"/>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58055">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58055">
                                            <p:txEl>
                                              <p:pRg st="4" end="4"/>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58055">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580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5" grpId="0"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ChangeArrowheads="1"/>
          </p:cNvSpPr>
          <p:nvPr/>
        </p:nvSpPr>
        <p:spPr bwMode="auto">
          <a:xfrm>
            <a:off x="1919289" y="2765425"/>
            <a:ext cx="64087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877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
                <a:schemeClr val="tx2"/>
              </a:buClr>
              <a:buSzPct val="80000"/>
              <a:buFont typeface="Wingdings" panose="05000000000000000000" pitchFamily="2" charset="2"/>
              <a:buChar char="Ø"/>
            </a:pPr>
            <a:r>
              <a:rPr kumimoji="1" lang="zh-CN" altLang="en-US" b="0">
                <a:solidFill>
                  <a:srgbClr val="800000"/>
                </a:solidFill>
              </a:rPr>
              <a:t>糖原磷酸化酶的共价修饰调节</a:t>
            </a:r>
            <a:endParaRPr kumimoji="1" lang="zh-CN" altLang="en-US" b="0">
              <a:solidFill>
                <a:srgbClr val="800000"/>
              </a:solidFill>
            </a:endParaRPr>
          </a:p>
        </p:txBody>
      </p:sp>
      <p:grpSp>
        <p:nvGrpSpPr>
          <p:cNvPr id="2" name="Group 3"/>
          <p:cNvGrpSpPr/>
          <p:nvPr/>
        </p:nvGrpSpPr>
        <p:grpSpPr bwMode="auto">
          <a:xfrm>
            <a:off x="4986338" y="3344864"/>
            <a:ext cx="5573712" cy="2892425"/>
            <a:chOff x="1338" y="1863"/>
            <a:chExt cx="3511" cy="2050"/>
          </a:xfrm>
        </p:grpSpPr>
        <p:sp>
          <p:nvSpPr>
            <p:cNvPr id="38930" name="Text Box 4"/>
            <p:cNvSpPr txBox="1">
              <a:spLocks noChangeArrowheads="1"/>
            </p:cNvSpPr>
            <p:nvPr/>
          </p:nvSpPr>
          <p:spPr bwMode="auto">
            <a:xfrm>
              <a:off x="2020" y="1863"/>
              <a:ext cx="176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000099"/>
                  </a:solidFill>
                </a:rPr>
                <a:t>磷酸化酶</a:t>
              </a:r>
              <a:r>
                <a:rPr kumimoji="1" lang="en-US" altLang="zh-CN" sz="2800" b="0">
                  <a:solidFill>
                    <a:srgbClr val="000099"/>
                  </a:solidFill>
                </a:rPr>
                <a:t>b</a:t>
              </a:r>
              <a:r>
                <a:rPr kumimoji="1" lang="zh-CN" altLang="en-US" sz="2800" b="0">
                  <a:solidFill>
                    <a:srgbClr val="000099"/>
                  </a:solidFill>
                </a:rPr>
                <a:t>激酶</a:t>
              </a:r>
              <a:endParaRPr kumimoji="1" lang="zh-CN" altLang="en-US" sz="2800" b="0">
                <a:solidFill>
                  <a:srgbClr val="000099"/>
                </a:solidFill>
              </a:endParaRPr>
            </a:p>
          </p:txBody>
        </p:sp>
        <p:cxnSp>
          <p:nvCxnSpPr>
            <p:cNvPr id="38931" name="AutoShape 5"/>
            <p:cNvCxnSpPr>
              <a:cxnSpLocks noChangeShapeType="1"/>
            </p:cNvCxnSpPr>
            <p:nvPr/>
          </p:nvCxnSpPr>
          <p:spPr bwMode="auto">
            <a:xfrm rot="10800000" flipV="1">
              <a:off x="2018" y="2088"/>
              <a:ext cx="38" cy="519"/>
            </a:xfrm>
            <a:prstGeom prst="curvedConnector3">
              <a:avLst>
                <a:gd name="adj1" fmla="val 478949"/>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38932" name="Text Box 6"/>
            <p:cNvSpPr txBox="1">
              <a:spLocks noChangeArrowheads="1"/>
            </p:cNvSpPr>
            <p:nvPr/>
          </p:nvSpPr>
          <p:spPr bwMode="auto">
            <a:xfrm>
              <a:off x="1338" y="3243"/>
              <a:ext cx="1361"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000099"/>
                  </a:solidFill>
                </a:rPr>
                <a:t>磷酸化酶</a:t>
              </a:r>
              <a:r>
                <a:rPr kumimoji="1" lang="en-US" altLang="zh-CN" sz="2800" b="0">
                  <a:solidFill>
                    <a:srgbClr val="000099"/>
                  </a:solidFill>
                </a:rPr>
                <a:t>b</a:t>
              </a:r>
              <a:endParaRPr kumimoji="1" lang="en-US" altLang="zh-CN" sz="2800" b="0">
                <a:solidFill>
                  <a:srgbClr val="000099"/>
                </a:solidFill>
              </a:endParaRPr>
            </a:p>
            <a:p>
              <a:pPr algn="ctr" eaLnBrk="1" hangingPunct="1">
                <a:spcBef>
                  <a:spcPct val="0"/>
                </a:spcBef>
                <a:buClrTx/>
                <a:buSzTx/>
                <a:buFontTx/>
                <a:buNone/>
              </a:pPr>
              <a:r>
                <a:rPr kumimoji="1" lang="zh-CN" altLang="en-US" sz="2800" b="0">
                  <a:solidFill>
                    <a:srgbClr val="000099"/>
                  </a:solidFill>
                </a:rPr>
                <a:t>（活性低）</a:t>
              </a:r>
              <a:endParaRPr kumimoji="1" lang="zh-CN" altLang="en-US" sz="2800" b="0">
                <a:solidFill>
                  <a:srgbClr val="000099"/>
                </a:solidFill>
              </a:endParaRPr>
            </a:p>
          </p:txBody>
        </p:sp>
        <p:grpSp>
          <p:nvGrpSpPr>
            <p:cNvPr id="38933" name="Group 7"/>
            <p:cNvGrpSpPr/>
            <p:nvPr/>
          </p:nvGrpSpPr>
          <p:grpSpPr bwMode="auto">
            <a:xfrm>
              <a:off x="2064" y="2547"/>
              <a:ext cx="1666" cy="688"/>
              <a:chOff x="3216" y="1865"/>
              <a:chExt cx="1666" cy="688"/>
            </a:xfrm>
          </p:grpSpPr>
          <p:sp>
            <p:nvSpPr>
              <p:cNvPr id="38937" name="Text Box 8"/>
              <p:cNvSpPr txBox="1">
                <a:spLocks noChangeArrowheads="1"/>
              </p:cNvSpPr>
              <p:nvPr/>
            </p:nvSpPr>
            <p:spPr bwMode="auto">
              <a:xfrm>
                <a:off x="3216" y="1865"/>
                <a:ext cx="166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FF0000"/>
                    </a:solidFill>
                  </a:rPr>
                  <a:t>磷酸化酶</a:t>
                </a:r>
                <a:r>
                  <a:rPr kumimoji="1" lang="en-US" altLang="zh-CN" sz="2800" b="0">
                    <a:solidFill>
                      <a:srgbClr val="FF0000"/>
                    </a:solidFill>
                  </a:rPr>
                  <a:t>b</a:t>
                </a:r>
                <a:r>
                  <a:rPr kumimoji="1" lang="zh-CN" altLang="en-US" sz="2800" b="0">
                    <a:solidFill>
                      <a:srgbClr val="FF0000"/>
                    </a:solidFill>
                  </a:rPr>
                  <a:t>激酶</a:t>
                </a:r>
                <a:r>
                  <a:rPr kumimoji="1" lang="en-US" altLang="zh-CN" sz="2800" b="0">
                    <a:solidFill>
                      <a:schemeClr val="tx2"/>
                    </a:solidFill>
                  </a:rPr>
                  <a:t>-</a:t>
                </a:r>
                <a:endParaRPr kumimoji="1" lang="en-US" altLang="zh-CN" sz="2800" b="0">
                  <a:solidFill>
                    <a:schemeClr val="tx2"/>
                  </a:solidFill>
                </a:endParaRPr>
              </a:p>
            </p:txBody>
          </p:sp>
          <p:cxnSp>
            <p:nvCxnSpPr>
              <p:cNvPr id="38938" name="AutoShape 9"/>
              <p:cNvCxnSpPr>
                <a:cxnSpLocks noChangeShapeType="1"/>
              </p:cNvCxnSpPr>
              <p:nvPr/>
            </p:nvCxnSpPr>
            <p:spPr bwMode="auto">
              <a:xfrm rot="-5400000">
                <a:off x="4078" y="1994"/>
                <a:ext cx="9" cy="1110"/>
              </a:xfrm>
              <a:prstGeom prst="curvedConnector3">
                <a:avLst>
                  <a:gd name="adj1" fmla="val 1700000"/>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38939" name="Line 10"/>
              <p:cNvSpPr>
                <a:spLocks noChangeShapeType="1"/>
              </p:cNvSpPr>
              <p:nvPr/>
            </p:nvSpPr>
            <p:spPr bwMode="auto">
              <a:xfrm>
                <a:off x="4032" y="2208"/>
                <a:ext cx="0" cy="19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8934" name="Text Box 11"/>
            <p:cNvSpPr txBox="1">
              <a:spLocks noChangeArrowheads="1"/>
            </p:cNvSpPr>
            <p:nvPr/>
          </p:nvSpPr>
          <p:spPr bwMode="auto">
            <a:xfrm>
              <a:off x="3152" y="3242"/>
              <a:ext cx="1697"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FF0000"/>
                  </a:solidFill>
                </a:rPr>
                <a:t>磷酸化酶</a:t>
              </a:r>
              <a:r>
                <a:rPr kumimoji="1" lang="en-US" altLang="zh-CN" sz="2800" b="0">
                  <a:solidFill>
                    <a:srgbClr val="FF0000"/>
                  </a:solidFill>
                </a:rPr>
                <a:t>a-</a:t>
              </a:r>
              <a:endParaRPr kumimoji="1" lang="en-US" altLang="zh-CN" sz="2800" b="0">
                <a:solidFill>
                  <a:srgbClr val="FF0000"/>
                </a:solidFill>
              </a:endParaRPr>
            </a:p>
            <a:p>
              <a:pPr algn="ctr" eaLnBrk="1" hangingPunct="1">
                <a:spcBef>
                  <a:spcPct val="0"/>
                </a:spcBef>
                <a:buClrTx/>
                <a:buSzTx/>
                <a:buFontTx/>
                <a:buNone/>
              </a:pPr>
              <a:r>
                <a:rPr kumimoji="1" lang="zh-CN" altLang="en-US" sz="2800" b="0">
                  <a:solidFill>
                    <a:srgbClr val="FF0000"/>
                  </a:solidFill>
                </a:rPr>
                <a:t>（活性高）</a:t>
              </a:r>
              <a:endParaRPr kumimoji="1" lang="zh-CN" altLang="en-US" sz="2800" b="0">
                <a:solidFill>
                  <a:srgbClr val="FF0000"/>
                </a:solidFill>
              </a:endParaRPr>
            </a:p>
          </p:txBody>
        </p:sp>
        <p:sp>
          <p:nvSpPr>
            <p:cNvPr id="38935" name="Oval 12"/>
            <p:cNvSpPr>
              <a:spLocks noChangeArrowheads="1"/>
            </p:cNvSpPr>
            <p:nvPr/>
          </p:nvSpPr>
          <p:spPr bwMode="auto">
            <a:xfrm>
              <a:off x="4559" y="3354"/>
              <a:ext cx="135" cy="136"/>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b="0"/>
                <a:t>Ｐ</a:t>
              </a:r>
              <a:endParaRPr kumimoji="1" lang="zh-CN" altLang="en-US" sz="1800" b="0"/>
            </a:p>
          </p:txBody>
        </p:sp>
        <p:sp>
          <p:nvSpPr>
            <p:cNvPr id="38936" name="Oval 13"/>
            <p:cNvSpPr>
              <a:spLocks noChangeArrowheads="1"/>
            </p:cNvSpPr>
            <p:nvPr/>
          </p:nvSpPr>
          <p:spPr bwMode="auto">
            <a:xfrm>
              <a:off x="3696" y="2652"/>
              <a:ext cx="135" cy="136"/>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b="0"/>
                <a:t>Ｐ</a:t>
              </a:r>
              <a:endParaRPr kumimoji="1" lang="zh-CN" altLang="en-US" sz="1800" b="0"/>
            </a:p>
          </p:txBody>
        </p:sp>
      </p:grpSp>
      <p:sp>
        <p:nvSpPr>
          <p:cNvPr id="260110" name="Rectangle 14"/>
          <p:cNvSpPr>
            <a:spLocks noChangeArrowheads="1"/>
          </p:cNvSpPr>
          <p:nvPr/>
        </p:nvSpPr>
        <p:spPr bwMode="auto">
          <a:xfrm>
            <a:off x="1969294" y="437330"/>
            <a:ext cx="55451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35877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
                <a:schemeClr val="tx2"/>
              </a:buClr>
              <a:buSzPct val="80000"/>
              <a:buFont typeface="Wingdings" panose="05000000000000000000" pitchFamily="2" charset="2"/>
              <a:buChar char="Ø"/>
            </a:pPr>
            <a:r>
              <a:rPr kumimoji="1" lang="zh-CN" altLang="en-US" b="0" dirty="0">
                <a:solidFill>
                  <a:srgbClr val="800000"/>
                </a:solidFill>
              </a:rPr>
              <a:t>糖原合酶的共价修饰调节</a:t>
            </a:r>
            <a:endParaRPr kumimoji="1" lang="zh-CN" altLang="en-US" b="0" dirty="0">
              <a:solidFill>
                <a:srgbClr val="800000"/>
              </a:solidFill>
            </a:endParaRPr>
          </a:p>
        </p:txBody>
      </p:sp>
      <p:grpSp>
        <p:nvGrpSpPr>
          <p:cNvPr id="4" name="Group 15"/>
          <p:cNvGrpSpPr/>
          <p:nvPr/>
        </p:nvGrpSpPr>
        <p:grpSpPr bwMode="auto">
          <a:xfrm>
            <a:off x="5303839" y="803275"/>
            <a:ext cx="4537075" cy="1739900"/>
            <a:chOff x="2381" y="506"/>
            <a:chExt cx="2858" cy="1096"/>
          </a:xfrm>
        </p:grpSpPr>
        <p:grpSp>
          <p:nvGrpSpPr>
            <p:cNvPr id="38919" name="Group 16"/>
            <p:cNvGrpSpPr/>
            <p:nvPr/>
          </p:nvGrpSpPr>
          <p:grpSpPr bwMode="auto">
            <a:xfrm>
              <a:off x="3742" y="986"/>
              <a:ext cx="1497" cy="616"/>
              <a:chOff x="3742" y="986"/>
              <a:chExt cx="1497" cy="616"/>
            </a:xfrm>
          </p:grpSpPr>
          <p:grpSp>
            <p:nvGrpSpPr>
              <p:cNvPr id="38926" name="Group 17"/>
              <p:cNvGrpSpPr/>
              <p:nvPr/>
            </p:nvGrpSpPr>
            <p:grpSpPr bwMode="auto">
              <a:xfrm>
                <a:off x="3742" y="986"/>
                <a:ext cx="1497" cy="327"/>
                <a:chOff x="3742" y="986"/>
                <a:chExt cx="1497" cy="327"/>
              </a:xfrm>
            </p:grpSpPr>
            <p:sp>
              <p:nvSpPr>
                <p:cNvPr id="38928" name="Text Box 18"/>
                <p:cNvSpPr txBox="1">
                  <a:spLocks noChangeArrowheads="1"/>
                </p:cNvSpPr>
                <p:nvPr/>
              </p:nvSpPr>
              <p:spPr bwMode="auto">
                <a:xfrm>
                  <a:off x="3742" y="986"/>
                  <a:ext cx="14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000099"/>
                      </a:solidFill>
                    </a:rPr>
                    <a:t>糖原合酶</a:t>
                  </a:r>
                  <a:r>
                    <a:rPr kumimoji="1" lang="en-US" altLang="zh-CN" sz="2800" b="0">
                      <a:solidFill>
                        <a:srgbClr val="000099"/>
                      </a:solidFill>
                    </a:rPr>
                    <a:t>-</a:t>
                  </a:r>
                  <a:endParaRPr kumimoji="1" lang="en-US" altLang="zh-CN" sz="2800" b="0">
                    <a:solidFill>
                      <a:srgbClr val="000099"/>
                    </a:solidFill>
                  </a:endParaRPr>
                </a:p>
              </p:txBody>
            </p:sp>
            <p:sp>
              <p:nvSpPr>
                <p:cNvPr id="38929" name="Oval 19"/>
                <p:cNvSpPr>
                  <a:spLocks noChangeArrowheads="1"/>
                </p:cNvSpPr>
                <p:nvPr/>
              </p:nvSpPr>
              <p:spPr bwMode="auto">
                <a:xfrm>
                  <a:off x="4990" y="1099"/>
                  <a:ext cx="135" cy="136"/>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1800" b="0"/>
                    <a:t>Ｐ</a:t>
                  </a:r>
                  <a:endParaRPr kumimoji="1" lang="zh-CN" altLang="en-US" sz="1800" b="0"/>
                </a:p>
              </p:txBody>
            </p:sp>
          </p:grpSp>
          <p:sp>
            <p:nvSpPr>
              <p:cNvPr id="38927" name="Rectangle 20"/>
              <p:cNvSpPr>
                <a:spLocks noChangeArrowheads="1"/>
              </p:cNvSpPr>
              <p:nvPr/>
            </p:nvSpPr>
            <p:spPr bwMode="auto">
              <a:xfrm>
                <a:off x="3870" y="1275"/>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000099"/>
                    </a:solidFill>
                  </a:rPr>
                  <a:t>（活性低）</a:t>
                </a:r>
                <a:endParaRPr kumimoji="1" lang="zh-CN" altLang="en-US" sz="2800" b="0">
                  <a:solidFill>
                    <a:srgbClr val="000099"/>
                  </a:solidFill>
                </a:endParaRPr>
              </a:p>
            </p:txBody>
          </p:sp>
        </p:grpSp>
        <p:grpSp>
          <p:nvGrpSpPr>
            <p:cNvPr id="38920" name="Group 21"/>
            <p:cNvGrpSpPr/>
            <p:nvPr/>
          </p:nvGrpSpPr>
          <p:grpSpPr bwMode="auto">
            <a:xfrm>
              <a:off x="2381" y="986"/>
              <a:ext cx="1247" cy="601"/>
              <a:chOff x="2381" y="986"/>
              <a:chExt cx="1247" cy="601"/>
            </a:xfrm>
          </p:grpSpPr>
          <p:sp>
            <p:nvSpPr>
              <p:cNvPr id="38924" name="Text Box 22"/>
              <p:cNvSpPr txBox="1">
                <a:spLocks noChangeArrowheads="1"/>
              </p:cNvSpPr>
              <p:nvPr/>
            </p:nvSpPr>
            <p:spPr bwMode="auto">
              <a:xfrm>
                <a:off x="2381" y="986"/>
                <a:ext cx="12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FF0000"/>
                    </a:solidFill>
                  </a:rPr>
                  <a:t>糖原合酶</a:t>
                </a:r>
                <a:endParaRPr kumimoji="1" lang="zh-CN" altLang="en-US" sz="2800" b="0">
                  <a:solidFill>
                    <a:srgbClr val="FF0000"/>
                  </a:solidFill>
                </a:endParaRPr>
              </a:p>
            </p:txBody>
          </p:sp>
          <p:sp>
            <p:nvSpPr>
              <p:cNvPr id="38925" name="Rectangle 23"/>
              <p:cNvSpPr>
                <a:spLocks noChangeArrowheads="1"/>
              </p:cNvSpPr>
              <p:nvPr/>
            </p:nvSpPr>
            <p:spPr bwMode="auto">
              <a:xfrm>
                <a:off x="2381" y="1260"/>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FF0000"/>
                    </a:solidFill>
                  </a:rPr>
                  <a:t>（活性高）</a:t>
                </a:r>
                <a:endParaRPr kumimoji="1" lang="zh-CN" altLang="en-US" sz="2800" b="0">
                  <a:solidFill>
                    <a:srgbClr val="FF0000"/>
                  </a:solidFill>
                </a:endParaRPr>
              </a:p>
            </p:txBody>
          </p:sp>
        </p:grpSp>
        <p:grpSp>
          <p:nvGrpSpPr>
            <p:cNvPr id="38921" name="Group 24"/>
            <p:cNvGrpSpPr/>
            <p:nvPr/>
          </p:nvGrpSpPr>
          <p:grpSpPr bwMode="auto">
            <a:xfrm>
              <a:off x="3093" y="506"/>
              <a:ext cx="1245" cy="476"/>
              <a:chOff x="3093" y="506"/>
              <a:chExt cx="1245" cy="476"/>
            </a:xfrm>
          </p:grpSpPr>
          <p:cxnSp>
            <p:nvCxnSpPr>
              <p:cNvPr id="38922" name="AutoShape 25"/>
              <p:cNvCxnSpPr>
                <a:cxnSpLocks noChangeShapeType="1"/>
              </p:cNvCxnSpPr>
              <p:nvPr/>
            </p:nvCxnSpPr>
            <p:spPr bwMode="auto">
              <a:xfrm rot="5400000" flipV="1">
                <a:off x="3715" y="359"/>
                <a:ext cx="1" cy="1245"/>
              </a:xfrm>
              <a:prstGeom prst="curvedConnector3">
                <a:avLst>
                  <a:gd name="adj1" fmla="val -14400005"/>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38923" name="Text Box 26"/>
              <p:cNvSpPr txBox="1">
                <a:spLocks noChangeArrowheads="1"/>
              </p:cNvSpPr>
              <p:nvPr/>
            </p:nvSpPr>
            <p:spPr bwMode="auto">
              <a:xfrm>
                <a:off x="3470" y="506"/>
                <a:ext cx="6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t>PKA</a:t>
                </a:r>
                <a:endParaRPr kumimoji="1" lang="en-US" altLang="zh-CN" sz="2800" b="0"/>
              </a:p>
            </p:txBody>
          </p:sp>
        </p:grpSp>
      </p:grpSp>
      <p:sp>
        <p:nvSpPr>
          <p:cNvPr id="260123" name="Text Box 27"/>
          <p:cNvSpPr txBox="1">
            <a:spLocks noChangeArrowheads="1"/>
          </p:cNvSpPr>
          <p:nvPr/>
        </p:nvSpPr>
        <p:spPr bwMode="auto">
          <a:xfrm>
            <a:off x="4943476" y="3789363"/>
            <a:ext cx="10080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b="0"/>
              <a:t>PKA</a:t>
            </a:r>
            <a:endParaRPr kumimoji="1" lang="en-US" altLang="zh-CN" sz="2800" b="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60110"/>
                                        </p:tgtEl>
                                        <p:attrNameLst>
                                          <p:attrName>style.visibility</p:attrName>
                                        </p:attrNameLst>
                                      </p:cBhvr>
                                      <p:to>
                                        <p:strVal val="visible"/>
                                      </p:to>
                                    </p:set>
                                    <p:animEffect transition="in" filter="dissolve">
                                      <p:cBhvr>
                                        <p:cTn id="7" dur="500"/>
                                        <p:tgtEl>
                                          <p:spTgt spid="26011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60098"/>
                                        </p:tgtEl>
                                        <p:attrNameLst>
                                          <p:attrName>style.visibility</p:attrName>
                                        </p:attrNameLst>
                                      </p:cBhvr>
                                      <p:to>
                                        <p:strVal val="visible"/>
                                      </p:to>
                                    </p:set>
                                    <p:animEffect transition="in" filter="dissolve">
                                      <p:cBhvr>
                                        <p:cTn id="16" dur="500"/>
                                        <p:tgtEl>
                                          <p:spTgt spid="260098"/>
                                        </p:tgtEl>
                                      </p:cBhvr>
                                    </p:animEffect>
                                  </p:childTnLst>
                                </p:cTn>
                              </p:par>
                            </p:childTnLst>
                          </p:cTn>
                        </p:par>
                        <p:par>
                          <p:cTn id="17" fill="hold">
                            <p:stCondLst>
                              <p:cond delay="500"/>
                            </p:stCondLst>
                            <p:childTnLst>
                              <p:par>
                                <p:cTn id="18" presetID="3" presetClass="entr" presetSubtype="5"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vertical)">
                                      <p:cBhvr>
                                        <p:cTn id="20" dur="500"/>
                                        <p:tgtEl>
                                          <p:spTgt spid="2"/>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60123"/>
                                        </p:tgtEl>
                                        <p:attrNameLst>
                                          <p:attrName>style.visibility</p:attrName>
                                        </p:attrNameLst>
                                      </p:cBhvr>
                                      <p:to>
                                        <p:strVal val="visible"/>
                                      </p:to>
                                    </p:set>
                                    <p:animEffect transition="in" filter="blinds(horizontal)">
                                      <p:cBhvr>
                                        <p:cTn id="23" dur="500"/>
                                        <p:tgtEl>
                                          <p:spTgt spid="260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098" grpId="0"/>
      <p:bldP spid="260110" grpId="0"/>
      <p:bldP spid="26012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1524001" y="333376"/>
            <a:ext cx="6677025" cy="3019425"/>
            <a:chOff x="0" y="210"/>
            <a:chExt cx="4206" cy="1902"/>
          </a:xfrm>
        </p:grpSpPr>
        <p:grpSp>
          <p:nvGrpSpPr>
            <p:cNvPr id="41006" name="Group 3"/>
            <p:cNvGrpSpPr/>
            <p:nvPr/>
          </p:nvGrpSpPr>
          <p:grpSpPr bwMode="auto">
            <a:xfrm>
              <a:off x="0" y="210"/>
              <a:ext cx="4206" cy="1065"/>
              <a:chOff x="0" y="192"/>
              <a:chExt cx="4206" cy="1065"/>
            </a:xfrm>
          </p:grpSpPr>
          <p:sp>
            <p:nvSpPr>
              <p:cNvPr id="78903" name="Text Box 4"/>
              <p:cNvSpPr txBox="1">
                <a:spLocks noChangeArrowheads="1"/>
              </p:cNvSpPr>
              <p:nvPr/>
            </p:nvSpPr>
            <p:spPr bwMode="auto">
              <a:xfrm>
                <a:off x="0" y="734"/>
                <a:ext cx="1385" cy="5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solidFill>
                      <a:srgbClr val="000099"/>
                    </a:solidFill>
                    <a:latin typeface="+mj-ea"/>
                    <a:ea typeface="+mj-ea"/>
                  </a:rPr>
                  <a:t>腺苷环化酶   </a:t>
                </a:r>
                <a:endParaRPr kumimoji="1" lang="zh-CN" altLang="en-US" sz="2400" b="0" dirty="0">
                  <a:solidFill>
                    <a:srgbClr val="000099"/>
                  </a:solidFill>
                  <a:latin typeface="+mj-ea"/>
                  <a:ea typeface="+mj-ea"/>
                </a:endParaRPr>
              </a:p>
              <a:p>
                <a:pPr eaLnBrk="1" hangingPunct="1">
                  <a:spcBef>
                    <a:spcPct val="0"/>
                  </a:spcBef>
                  <a:buClrTx/>
                  <a:buSzTx/>
                  <a:buFontTx/>
                  <a:buNone/>
                  <a:defRPr/>
                </a:pPr>
                <a:r>
                  <a:rPr kumimoji="1" lang="zh-CN" altLang="en-US" sz="2400" b="0" dirty="0">
                    <a:solidFill>
                      <a:srgbClr val="000099"/>
                    </a:solidFill>
                    <a:latin typeface="+mj-ea"/>
                    <a:ea typeface="+mj-ea"/>
                  </a:rPr>
                  <a:t>（无活性）</a:t>
                </a:r>
                <a:endParaRPr kumimoji="1" lang="zh-CN" altLang="en-US" sz="2400" b="0" dirty="0">
                  <a:solidFill>
                    <a:srgbClr val="000099"/>
                  </a:solidFill>
                  <a:latin typeface="+mj-ea"/>
                  <a:ea typeface="+mj-ea"/>
                </a:endParaRPr>
              </a:p>
            </p:txBody>
          </p:sp>
          <p:sp>
            <p:nvSpPr>
              <p:cNvPr id="78904" name="Text Box 5"/>
              <p:cNvSpPr txBox="1">
                <a:spLocks noChangeArrowheads="1"/>
              </p:cNvSpPr>
              <p:nvPr/>
            </p:nvSpPr>
            <p:spPr bwMode="auto">
              <a:xfrm>
                <a:off x="1344" y="736"/>
                <a:ext cx="2261"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solidFill>
                      <a:srgbClr val="FF0000"/>
                    </a:solidFill>
                    <a:latin typeface="+mj-ea"/>
                    <a:ea typeface="+mj-ea"/>
                  </a:rPr>
                  <a:t>腺苷环化酶（有活性）</a:t>
                </a:r>
                <a:r>
                  <a:rPr kumimoji="1" lang="zh-CN" altLang="en-US" sz="2400" b="0">
                    <a:solidFill>
                      <a:schemeClr val="tx2"/>
                    </a:solidFill>
                    <a:latin typeface="+mj-ea"/>
                    <a:ea typeface="+mj-ea"/>
                  </a:rPr>
                  <a:t>  </a:t>
                </a:r>
                <a:endParaRPr kumimoji="1" lang="zh-CN" altLang="en-US" sz="2400" b="0">
                  <a:solidFill>
                    <a:schemeClr val="tx2"/>
                  </a:solidFill>
                  <a:latin typeface="+mj-ea"/>
                  <a:ea typeface="+mj-ea"/>
                </a:endParaRPr>
              </a:p>
            </p:txBody>
          </p:sp>
          <p:grpSp>
            <p:nvGrpSpPr>
              <p:cNvPr id="41017" name="Group 6"/>
              <p:cNvGrpSpPr/>
              <p:nvPr/>
            </p:nvGrpSpPr>
            <p:grpSpPr bwMode="auto">
              <a:xfrm>
                <a:off x="240" y="192"/>
                <a:ext cx="3966" cy="672"/>
                <a:chOff x="240" y="192"/>
                <a:chExt cx="3966" cy="672"/>
              </a:xfrm>
            </p:grpSpPr>
            <p:sp>
              <p:nvSpPr>
                <p:cNvPr id="78906" name="Text Box 7"/>
                <p:cNvSpPr txBox="1">
                  <a:spLocks noChangeArrowheads="1"/>
                </p:cNvSpPr>
                <p:nvPr/>
              </p:nvSpPr>
              <p:spPr bwMode="auto">
                <a:xfrm>
                  <a:off x="240" y="192"/>
                  <a:ext cx="3966" cy="291"/>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latin typeface="+mj-ea"/>
                      <a:ea typeface="+mj-ea"/>
                    </a:rPr>
                    <a:t>激素（胰高血糖素、肾上腺素等）+  受体    </a:t>
                  </a:r>
                  <a:endParaRPr kumimoji="1" lang="zh-CN" altLang="en-US" sz="2400" b="0" dirty="0">
                    <a:latin typeface="+mj-ea"/>
                    <a:ea typeface="+mj-ea"/>
                  </a:endParaRPr>
                </a:p>
              </p:txBody>
            </p:sp>
            <p:sp>
              <p:nvSpPr>
                <p:cNvPr id="78907" name="Line 8"/>
                <p:cNvSpPr>
                  <a:spLocks noChangeShapeType="1"/>
                </p:cNvSpPr>
                <p:nvPr/>
              </p:nvSpPr>
              <p:spPr bwMode="auto">
                <a:xfrm>
                  <a:off x="1009" y="864"/>
                  <a:ext cx="374" cy="0"/>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sp>
              <p:nvSpPr>
                <p:cNvPr id="78908" name="Line 9"/>
                <p:cNvSpPr>
                  <a:spLocks noChangeShapeType="1"/>
                </p:cNvSpPr>
                <p:nvPr/>
              </p:nvSpPr>
              <p:spPr bwMode="auto">
                <a:xfrm>
                  <a:off x="1156" y="576"/>
                  <a:ext cx="0" cy="288"/>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grpSp>
        </p:grpSp>
        <p:grpSp>
          <p:nvGrpSpPr>
            <p:cNvPr id="41007" name="Group 10"/>
            <p:cNvGrpSpPr/>
            <p:nvPr/>
          </p:nvGrpSpPr>
          <p:grpSpPr bwMode="auto">
            <a:xfrm>
              <a:off x="1008" y="960"/>
              <a:ext cx="1520" cy="392"/>
              <a:chOff x="1008" y="960"/>
              <a:chExt cx="1520" cy="392"/>
            </a:xfrm>
          </p:grpSpPr>
          <p:sp>
            <p:nvSpPr>
              <p:cNvPr id="78899" name="Text Box 11"/>
              <p:cNvSpPr txBox="1">
                <a:spLocks noChangeArrowheads="1"/>
              </p:cNvSpPr>
              <p:nvPr/>
            </p:nvSpPr>
            <p:spPr bwMode="auto">
              <a:xfrm>
                <a:off x="1008" y="1061"/>
                <a:ext cx="606"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en-US" altLang="zh-CN" sz="2400" b="0">
                    <a:latin typeface="+mj-ea"/>
                    <a:ea typeface="+mj-ea"/>
                  </a:rPr>
                  <a:t>ATP  </a:t>
                </a:r>
                <a:endParaRPr kumimoji="1" lang="en-US" altLang="zh-CN" sz="2400" b="0">
                  <a:latin typeface="+mj-ea"/>
                  <a:ea typeface="+mj-ea"/>
                </a:endParaRPr>
              </a:p>
            </p:txBody>
          </p:sp>
          <p:sp>
            <p:nvSpPr>
              <p:cNvPr id="78900" name="Text Box 12"/>
              <p:cNvSpPr txBox="1">
                <a:spLocks noChangeArrowheads="1"/>
              </p:cNvSpPr>
              <p:nvPr/>
            </p:nvSpPr>
            <p:spPr bwMode="auto">
              <a:xfrm>
                <a:off x="1824" y="1061"/>
                <a:ext cx="704"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en-US" altLang="zh-CN" sz="2400" b="0">
                    <a:latin typeface="+mj-ea"/>
                    <a:ea typeface="+mj-ea"/>
                  </a:rPr>
                  <a:t>cAMP  </a:t>
                </a:r>
                <a:endParaRPr kumimoji="1" lang="en-US" altLang="zh-CN" sz="2400" b="0">
                  <a:latin typeface="+mj-ea"/>
                  <a:ea typeface="+mj-ea"/>
                </a:endParaRPr>
              </a:p>
            </p:txBody>
          </p:sp>
          <p:sp>
            <p:nvSpPr>
              <p:cNvPr id="78901" name="Line 13"/>
              <p:cNvSpPr>
                <a:spLocks noChangeShapeType="1"/>
              </p:cNvSpPr>
              <p:nvPr/>
            </p:nvSpPr>
            <p:spPr bwMode="auto">
              <a:xfrm>
                <a:off x="1440" y="1200"/>
                <a:ext cx="384" cy="0"/>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sp>
            <p:nvSpPr>
              <p:cNvPr id="78902" name="Line 14"/>
              <p:cNvSpPr>
                <a:spLocks noChangeShapeType="1"/>
              </p:cNvSpPr>
              <p:nvPr/>
            </p:nvSpPr>
            <p:spPr bwMode="auto">
              <a:xfrm>
                <a:off x="1632" y="960"/>
                <a:ext cx="0" cy="240"/>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grpSp>
        <p:sp>
          <p:nvSpPr>
            <p:cNvPr id="78896" name="Text Box 15"/>
            <p:cNvSpPr txBox="1">
              <a:spLocks noChangeArrowheads="1"/>
            </p:cNvSpPr>
            <p:nvPr/>
          </p:nvSpPr>
          <p:spPr bwMode="auto">
            <a:xfrm>
              <a:off x="1152" y="1589"/>
              <a:ext cx="995" cy="5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solidFill>
                    <a:srgbClr val="000099"/>
                  </a:solidFill>
                  <a:latin typeface="+mj-ea"/>
                  <a:ea typeface="+mj-ea"/>
                </a:rPr>
                <a:t>  </a:t>
              </a:r>
              <a:r>
                <a:rPr kumimoji="1" lang="en-US" altLang="zh-CN" sz="2400" b="0">
                  <a:solidFill>
                    <a:srgbClr val="000099"/>
                  </a:solidFill>
                  <a:latin typeface="+mj-ea"/>
                  <a:ea typeface="+mj-ea"/>
                </a:rPr>
                <a:t>PKA</a:t>
              </a:r>
              <a:endParaRPr kumimoji="1" lang="en-US" altLang="zh-CN" sz="2400" b="0">
                <a:solidFill>
                  <a:srgbClr val="000099"/>
                </a:solidFill>
                <a:latin typeface="+mj-ea"/>
                <a:ea typeface="+mj-ea"/>
              </a:endParaRPr>
            </a:p>
            <a:p>
              <a:pPr eaLnBrk="1" hangingPunct="1">
                <a:spcBef>
                  <a:spcPct val="0"/>
                </a:spcBef>
                <a:buClrTx/>
                <a:buSzTx/>
                <a:buFontTx/>
                <a:buNone/>
                <a:defRPr/>
              </a:pPr>
              <a:r>
                <a:rPr kumimoji="1" lang="en-US" altLang="zh-CN" sz="2400" b="0">
                  <a:solidFill>
                    <a:srgbClr val="000099"/>
                  </a:solidFill>
                  <a:latin typeface="+mj-ea"/>
                  <a:ea typeface="+mj-ea"/>
                </a:rPr>
                <a:t>(</a:t>
              </a:r>
              <a:r>
                <a:rPr kumimoji="1" lang="zh-CN" altLang="en-US" sz="2400" b="0">
                  <a:solidFill>
                    <a:srgbClr val="000099"/>
                  </a:solidFill>
                  <a:latin typeface="+mj-ea"/>
                  <a:ea typeface="+mj-ea"/>
                </a:rPr>
                <a:t>无活性) </a:t>
              </a:r>
              <a:endParaRPr kumimoji="1" lang="zh-CN" altLang="en-US" sz="2400" b="0">
                <a:solidFill>
                  <a:srgbClr val="000099"/>
                </a:solidFill>
                <a:latin typeface="+mj-ea"/>
                <a:ea typeface="+mj-ea"/>
              </a:endParaRPr>
            </a:p>
          </p:txBody>
        </p:sp>
        <p:cxnSp>
          <p:nvCxnSpPr>
            <p:cNvPr id="41009" name="AutoShape 16"/>
            <p:cNvCxnSpPr>
              <a:cxnSpLocks noChangeShapeType="1"/>
            </p:cNvCxnSpPr>
            <p:nvPr/>
          </p:nvCxnSpPr>
          <p:spPr bwMode="auto">
            <a:xfrm rot="-5400000">
              <a:off x="2016" y="1200"/>
              <a:ext cx="9" cy="778"/>
            </a:xfrm>
            <a:prstGeom prst="curvedConnector3">
              <a:avLst>
                <a:gd name="adj1" fmla="val 1300000"/>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78898" name="Line 17"/>
            <p:cNvSpPr>
              <a:spLocks noChangeShapeType="1"/>
            </p:cNvSpPr>
            <p:nvPr/>
          </p:nvSpPr>
          <p:spPr bwMode="auto">
            <a:xfrm>
              <a:off x="2016" y="1296"/>
              <a:ext cx="0" cy="192"/>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grpSp>
      <p:sp>
        <p:nvSpPr>
          <p:cNvPr id="261138" name="Text Box 18"/>
          <p:cNvSpPr txBox="1">
            <a:spLocks noChangeArrowheads="1"/>
          </p:cNvSpPr>
          <p:nvPr/>
        </p:nvSpPr>
        <p:spPr bwMode="auto">
          <a:xfrm>
            <a:off x="6705601" y="2217738"/>
            <a:ext cx="2506663" cy="46196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solidFill>
                  <a:srgbClr val="000099"/>
                </a:solidFill>
                <a:latin typeface="+mj-ea"/>
                <a:ea typeface="+mj-ea"/>
              </a:rPr>
              <a:t>磷酸化酶</a:t>
            </a:r>
            <a:r>
              <a:rPr kumimoji="1" lang="en-US" altLang="zh-CN" sz="2400" b="0" dirty="0">
                <a:solidFill>
                  <a:srgbClr val="000099"/>
                </a:solidFill>
                <a:latin typeface="+mj-ea"/>
                <a:ea typeface="+mj-ea"/>
              </a:rPr>
              <a:t>b</a:t>
            </a:r>
            <a:r>
              <a:rPr kumimoji="1" lang="zh-CN" altLang="en-US" sz="2400" b="0" dirty="0">
                <a:solidFill>
                  <a:srgbClr val="000099"/>
                </a:solidFill>
                <a:latin typeface="+mj-ea"/>
                <a:ea typeface="+mj-ea"/>
              </a:rPr>
              <a:t>激酶  </a:t>
            </a:r>
            <a:endParaRPr kumimoji="1" lang="zh-CN" altLang="en-US" sz="2400" b="0" dirty="0">
              <a:solidFill>
                <a:srgbClr val="000099"/>
              </a:solidFill>
              <a:latin typeface="+mj-ea"/>
              <a:ea typeface="+mj-ea"/>
            </a:endParaRPr>
          </a:p>
        </p:txBody>
      </p:sp>
      <p:sp>
        <p:nvSpPr>
          <p:cNvPr id="78852" name="Text Box 19"/>
          <p:cNvSpPr txBox="1">
            <a:spLocks noChangeArrowheads="1"/>
          </p:cNvSpPr>
          <p:nvPr/>
        </p:nvSpPr>
        <p:spPr bwMode="auto">
          <a:xfrm>
            <a:off x="2351088" y="4005263"/>
            <a:ext cx="2044700" cy="46196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solidFill>
                  <a:srgbClr val="FF0000"/>
                </a:solidFill>
                <a:latin typeface="+mj-ea"/>
                <a:ea typeface="+mj-ea"/>
              </a:rPr>
              <a:t>糖原合酶</a:t>
            </a:r>
            <a:r>
              <a:rPr kumimoji="1" lang="en-US" altLang="zh-CN" sz="2400" b="0">
                <a:solidFill>
                  <a:srgbClr val="FF0000"/>
                </a:solidFill>
                <a:latin typeface="+mj-ea"/>
                <a:ea typeface="+mj-ea"/>
              </a:rPr>
              <a:t>a</a:t>
            </a:r>
            <a:r>
              <a:rPr kumimoji="1" lang="en-US" altLang="zh-CN" sz="2400" b="0">
                <a:solidFill>
                  <a:schemeClr val="tx2"/>
                </a:solidFill>
                <a:latin typeface="+mj-ea"/>
                <a:ea typeface="+mj-ea"/>
              </a:rPr>
              <a:t>   </a:t>
            </a:r>
            <a:endParaRPr kumimoji="1" lang="en-US" altLang="zh-CN" sz="2400" b="0">
              <a:solidFill>
                <a:schemeClr val="tx2"/>
              </a:solidFill>
              <a:latin typeface="+mj-ea"/>
              <a:ea typeface="+mj-ea"/>
            </a:endParaRPr>
          </a:p>
        </p:txBody>
      </p:sp>
      <p:sp>
        <p:nvSpPr>
          <p:cNvPr id="78853" name="Text Box 20"/>
          <p:cNvSpPr txBox="1">
            <a:spLocks noChangeArrowheads="1"/>
          </p:cNvSpPr>
          <p:nvPr/>
        </p:nvSpPr>
        <p:spPr bwMode="auto">
          <a:xfrm>
            <a:off x="4114800" y="4046538"/>
            <a:ext cx="2355850" cy="46196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solidFill>
                  <a:srgbClr val="000099"/>
                </a:solidFill>
                <a:latin typeface="+mj-ea"/>
                <a:ea typeface="+mj-ea"/>
              </a:rPr>
              <a:t>糖原合酶</a:t>
            </a:r>
            <a:r>
              <a:rPr kumimoji="1" lang="en-US" altLang="zh-CN" sz="2400" b="0">
                <a:solidFill>
                  <a:srgbClr val="000099"/>
                </a:solidFill>
                <a:latin typeface="+mj-ea"/>
                <a:ea typeface="+mj-ea"/>
              </a:rPr>
              <a:t>b-P   </a:t>
            </a:r>
            <a:endParaRPr kumimoji="1" lang="en-US" altLang="zh-CN" sz="2400" b="0">
              <a:solidFill>
                <a:srgbClr val="000099"/>
              </a:solidFill>
              <a:latin typeface="+mj-ea"/>
              <a:ea typeface="+mj-ea"/>
            </a:endParaRPr>
          </a:p>
        </p:txBody>
      </p:sp>
      <p:grpSp>
        <p:nvGrpSpPr>
          <p:cNvPr id="6" name="Group 21"/>
          <p:cNvGrpSpPr/>
          <p:nvPr/>
        </p:nvGrpSpPr>
        <p:grpSpPr bwMode="auto">
          <a:xfrm>
            <a:off x="5791201" y="2438401"/>
            <a:ext cx="898525" cy="823913"/>
            <a:chOff x="2688" y="1536"/>
            <a:chExt cx="566" cy="519"/>
          </a:xfrm>
        </p:grpSpPr>
        <p:cxnSp>
          <p:nvCxnSpPr>
            <p:cNvPr id="41004" name="AutoShape 22"/>
            <p:cNvCxnSpPr>
              <a:cxnSpLocks noChangeShapeType="1"/>
            </p:cNvCxnSpPr>
            <p:nvPr/>
          </p:nvCxnSpPr>
          <p:spPr bwMode="auto">
            <a:xfrm rot="10800000" flipV="1">
              <a:off x="3216" y="1536"/>
              <a:ext cx="38" cy="519"/>
            </a:xfrm>
            <a:prstGeom prst="curvedConnector3">
              <a:avLst>
                <a:gd name="adj1" fmla="val 478949"/>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78893" name="Line 23"/>
            <p:cNvSpPr>
              <a:spLocks noChangeShapeType="1"/>
            </p:cNvSpPr>
            <p:nvPr/>
          </p:nvSpPr>
          <p:spPr bwMode="auto">
            <a:xfrm>
              <a:off x="2688" y="1776"/>
              <a:ext cx="336" cy="0"/>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grpSp>
      <p:grpSp>
        <p:nvGrpSpPr>
          <p:cNvPr id="7" name="Group 24"/>
          <p:cNvGrpSpPr/>
          <p:nvPr/>
        </p:nvGrpSpPr>
        <p:grpSpPr bwMode="auto">
          <a:xfrm>
            <a:off x="3013075" y="2522538"/>
            <a:ext cx="3443288" cy="1517650"/>
            <a:chOff x="938" y="1589"/>
            <a:chExt cx="2169" cy="956"/>
          </a:xfrm>
        </p:grpSpPr>
        <p:sp>
          <p:nvSpPr>
            <p:cNvPr id="78889" name="Text Box 25"/>
            <p:cNvSpPr txBox="1">
              <a:spLocks noChangeArrowheads="1"/>
            </p:cNvSpPr>
            <p:nvPr/>
          </p:nvSpPr>
          <p:spPr bwMode="auto">
            <a:xfrm>
              <a:off x="2112" y="1589"/>
              <a:ext cx="995" cy="523"/>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solidFill>
                    <a:schemeClr val="tx2"/>
                  </a:solidFill>
                  <a:latin typeface="+mj-ea"/>
                  <a:ea typeface="+mj-ea"/>
                </a:rPr>
                <a:t>  </a:t>
              </a:r>
              <a:r>
                <a:rPr kumimoji="1" lang="en-US" altLang="zh-CN" sz="2400" b="0">
                  <a:solidFill>
                    <a:srgbClr val="FF0000"/>
                  </a:solidFill>
                  <a:latin typeface="+mj-ea"/>
                  <a:ea typeface="+mj-ea"/>
                </a:rPr>
                <a:t>PKA</a:t>
              </a:r>
              <a:endParaRPr kumimoji="1" lang="en-US" altLang="zh-CN" sz="2400" b="0">
                <a:solidFill>
                  <a:srgbClr val="FF0000"/>
                </a:solidFill>
                <a:latin typeface="+mj-ea"/>
                <a:ea typeface="+mj-ea"/>
              </a:endParaRPr>
            </a:p>
            <a:p>
              <a:pPr eaLnBrk="1" hangingPunct="1">
                <a:spcBef>
                  <a:spcPct val="0"/>
                </a:spcBef>
                <a:buClrTx/>
                <a:buSzTx/>
                <a:buFontTx/>
                <a:buNone/>
                <a:defRPr/>
              </a:pPr>
              <a:r>
                <a:rPr kumimoji="1" lang="en-US" altLang="zh-CN" sz="2400" b="0">
                  <a:solidFill>
                    <a:srgbClr val="FF0000"/>
                  </a:solidFill>
                  <a:latin typeface="+mj-ea"/>
                  <a:ea typeface="+mj-ea"/>
                </a:rPr>
                <a:t>(</a:t>
              </a:r>
              <a:r>
                <a:rPr kumimoji="1" lang="zh-CN" altLang="en-US" sz="2400" b="0">
                  <a:solidFill>
                    <a:srgbClr val="FF0000"/>
                  </a:solidFill>
                  <a:latin typeface="+mj-ea"/>
                  <a:ea typeface="+mj-ea"/>
                </a:rPr>
                <a:t>有活性)</a:t>
              </a:r>
              <a:r>
                <a:rPr kumimoji="1" lang="zh-CN" altLang="en-US" sz="2400" b="0">
                  <a:solidFill>
                    <a:schemeClr val="tx2"/>
                  </a:solidFill>
                  <a:latin typeface="+mj-ea"/>
                  <a:ea typeface="+mj-ea"/>
                </a:rPr>
                <a:t> </a:t>
              </a:r>
              <a:endParaRPr kumimoji="1" lang="zh-CN" altLang="en-US" sz="2400" b="0">
                <a:solidFill>
                  <a:schemeClr val="tx2"/>
                </a:solidFill>
                <a:latin typeface="+mj-ea"/>
                <a:ea typeface="+mj-ea"/>
              </a:endParaRPr>
            </a:p>
          </p:txBody>
        </p:sp>
        <p:cxnSp>
          <p:nvCxnSpPr>
            <p:cNvPr id="41002" name="AutoShape 26"/>
            <p:cNvCxnSpPr>
              <a:cxnSpLocks noChangeShapeType="1"/>
            </p:cNvCxnSpPr>
            <p:nvPr/>
          </p:nvCxnSpPr>
          <p:spPr bwMode="auto">
            <a:xfrm rot="5400000" flipV="1">
              <a:off x="1560" y="1922"/>
              <a:ext cx="1" cy="1245"/>
            </a:xfrm>
            <a:prstGeom prst="curvedConnector3">
              <a:avLst>
                <a:gd name="adj1" fmla="val -14400005"/>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78891" name="Line 27"/>
            <p:cNvSpPr>
              <a:spLocks noChangeShapeType="1"/>
            </p:cNvSpPr>
            <p:nvPr/>
          </p:nvSpPr>
          <p:spPr bwMode="auto">
            <a:xfrm flipH="1">
              <a:off x="1680" y="2064"/>
              <a:ext cx="576" cy="288"/>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grpSp>
      <p:sp>
        <p:nvSpPr>
          <p:cNvPr id="78856" name="Text Box 28"/>
          <p:cNvSpPr txBox="1">
            <a:spLocks noChangeArrowheads="1"/>
          </p:cNvSpPr>
          <p:nvPr/>
        </p:nvSpPr>
        <p:spPr bwMode="auto">
          <a:xfrm>
            <a:off x="6311901" y="4005263"/>
            <a:ext cx="1889125" cy="46196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solidFill>
                  <a:srgbClr val="000099"/>
                </a:solidFill>
                <a:latin typeface="+mj-ea"/>
                <a:ea typeface="+mj-ea"/>
              </a:rPr>
              <a:t>磷酸化酶</a:t>
            </a:r>
            <a:r>
              <a:rPr kumimoji="1" lang="en-US" altLang="zh-CN" sz="2400" b="0" dirty="0">
                <a:solidFill>
                  <a:srgbClr val="000099"/>
                </a:solidFill>
                <a:latin typeface="+mj-ea"/>
                <a:ea typeface="+mj-ea"/>
              </a:rPr>
              <a:t>b  </a:t>
            </a:r>
            <a:endParaRPr kumimoji="1" lang="en-US" altLang="zh-CN" sz="2400" b="0" dirty="0">
              <a:solidFill>
                <a:srgbClr val="000099"/>
              </a:solidFill>
              <a:latin typeface="+mj-ea"/>
              <a:ea typeface="+mj-ea"/>
            </a:endParaRPr>
          </a:p>
        </p:txBody>
      </p:sp>
      <p:sp>
        <p:nvSpPr>
          <p:cNvPr id="78857" name="Text Box 29"/>
          <p:cNvSpPr txBox="1">
            <a:spLocks noChangeArrowheads="1"/>
          </p:cNvSpPr>
          <p:nvPr/>
        </p:nvSpPr>
        <p:spPr bwMode="auto">
          <a:xfrm>
            <a:off x="7967663" y="4005263"/>
            <a:ext cx="2355850" cy="46196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solidFill>
                  <a:srgbClr val="FF0000"/>
                </a:solidFill>
                <a:latin typeface="+mj-ea"/>
                <a:ea typeface="+mj-ea"/>
              </a:rPr>
              <a:t>磷酸化酶</a:t>
            </a:r>
            <a:r>
              <a:rPr kumimoji="1" lang="en-US" altLang="zh-CN" sz="2400" b="0" dirty="0">
                <a:solidFill>
                  <a:srgbClr val="FF0000"/>
                </a:solidFill>
                <a:latin typeface="+mj-ea"/>
                <a:ea typeface="+mj-ea"/>
              </a:rPr>
              <a:t>a-P</a:t>
            </a:r>
            <a:r>
              <a:rPr kumimoji="1" lang="en-US" altLang="zh-CN" sz="2400" b="0" dirty="0">
                <a:solidFill>
                  <a:schemeClr val="tx2"/>
                </a:solidFill>
                <a:latin typeface="+mj-ea"/>
                <a:ea typeface="+mj-ea"/>
              </a:rPr>
              <a:t>   </a:t>
            </a:r>
            <a:endParaRPr kumimoji="1" lang="en-US" altLang="zh-CN" sz="2400" b="0" dirty="0">
              <a:solidFill>
                <a:schemeClr val="tx2"/>
              </a:solidFill>
              <a:latin typeface="+mj-ea"/>
              <a:ea typeface="+mj-ea"/>
            </a:endParaRPr>
          </a:p>
        </p:txBody>
      </p:sp>
      <p:grpSp>
        <p:nvGrpSpPr>
          <p:cNvPr id="8" name="Group 30"/>
          <p:cNvGrpSpPr/>
          <p:nvPr/>
        </p:nvGrpSpPr>
        <p:grpSpPr bwMode="auto">
          <a:xfrm>
            <a:off x="6600825" y="3068638"/>
            <a:ext cx="2973388" cy="996950"/>
            <a:chOff x="3216" y="1925"/>
            <a:chExt cx="1873" cy="628"/>
          </a:xfrm>
        </p:grpSpPr>
        <p:sp>
          <p:nvSpPr>
            <p:cNvPr id="78886" name="Text Box 31"/>
            <p:cNvSpPr txBox="1">
              <a:spLocks noChangeArrowheads="1"/>
            </p:cNvSpPr>
            <p:nvPr/>
          </p:nvSpPr>
          <p:spPr bwMode="auto">
            <a:xfrm>
              <a:off x="3216" y="1925"/>
              <a:ext cx="1873"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solidFill>
                    <a:srgbClr val="FF0000"/>
                  </a:solidFill>
                  <a:latin typeface="+mj-ea"/>
                  <a:ea typeface="+mj-ea"/>
                </a:rPr>
                <a:t>磷酸化酶</a:t>
              </a:r>
              <a:r>
                <a:rPr kumimoji="1" lang="en-US" altLang="zh-CN" sz="2400" b="0">
                  <a:solidFill>
                    <a:srgbClr val="FF0000"/>
                  </a:solidFill>
                  <a:latin typeface="+mj-ea"/>
                  <a:ea typeface="+mj-ea"/>
                </a:rPr>
                <a:t>b</a:t>
              </a:r>
              <a:r>
                <a:rPr kumimoji="1" lang="zh-CN" altLang="en-US" sz="2400" b="0">
                  <a:solidFill>
                    <a:srgbClr val="FF0000"/>
                  </a:solidFill>
                  <a:latin typeface="+mj-ea"/>
                  <a:ea typeface="+mj-ea"/>
                </a:rPr>
                <a:t>激酶-</a:t>
              </a:r>
              <a:r>
                <a:rPr kumimoji="1" lang="en-US" altLang="zh-CN" sz="2400" b="0">
                  <a:solidFill>
                    <a:srgbClr val="FF0000"/>
                  </a:solidFill>
                  <a:latin typeface="+mj-ea"/>
                  <a:ea typeface="+mj-ea"/>
                </a:rPr>
                <a:t>P</a:t>
              </a:r>
              <a:r>
                <a:rPr kumimoji="1" lang="en-US" altLang="zh-CN" sz="2400" b="0">
                  <a:solidFill>
                    <a:schemeClr val="tx2"/>
                  </a:solidFill>
                  <a:latin typeface="+mj-ea"/>
                  <a:ea typeface="+mj-ea"/>
                </a:rPr>
                <a:t>   </a:t>
              </a:r>
              <a:endParaRPr kumimoji="1" lang="en-US" altLang="zh-CN" sz="2400" b="0">
                <a:solidFill>
                  <a:schemeClr val="tx2"/>
                </a:solidFill>
                <a:latin typeface="+mj-ea"/>
                <a:ea typeface="+mj-ea"/>
              </a:endParaRPr>
            </a:p>
          </p:txBody>
        </p:sp>
        <p:cxnSp>
          <p:nvCxnSpPr>
            <p:cNvPr id="40999" name="AutoShape 32"/>
            <p:cNvCxnSpPr>
              <a:cxnSpLocks noChangeShapeType="1"/>
            </p:cNvCxnSpPr>
            <p:nvPr/>
          </p:nvCxnSpPr>
          <p:spPr bwMode="auto">
            <a:xfrm rot="-5400000">
              <a:off x="4078" y="1994"/>
              <a:ext cx="9" cy="1110"/>
            </a:xfrm>
            <a:prstGeom prst="curvedConnector3">
              <a:avLst>
                <a:gd name="adj1" fmla="val 1700000"/>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78888" name="Line 33"/>
            <p:cNvSpPr>
              <a:spLocks noChangeShapeType="1"/>
            </p:cNvSpPr>
            <p:nvPr/>
          </p:nvSpPr>
          <p:spPr bwMode="auto">
            <a:xfrm>
              <a:off x="4032" y="2208"/>
              <a:ext cx="0" cy="192"/>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grpSp>
      <p:grpSp>
        <p:nvGrpSpPr>
          <p:cNvPr id="9" name="Group 34"/>
          <p:cNvGrpSpPr/>
          <p:nvPr/>
        </p:nvGrpSpPr>
        <p:grpSpPr bwMode="auto">
          <a:xfrm>
            <a:off x="2819401" y="2065338"/>
            <a:ext cx="8101013" cy="3128962"/>
            <a:chOff x="816" y="1301"/>
            <a:chExt cx="5103" cy="1971"/>
          </a:xfrm>
        </p:grpSpPr>
        <p:cxnSp>
          <p:nvCxnSpPr>
            <p:cNvPr id="40986" name="AutoShape 35"/>
            <p:cNvCxnSpPr>
              <a:cxnSpLocks noChangeShapeType="1"/>
            </p:cNvCxnSpPr>
            <p:nvPr/>
          </p:nvCxnSpPr>
          <p:spPr bwMode="auto">
            <a:xfrm flipH="1" flipV="1">
              <a:off x="4592" y="1536"/>
              <a:ext cx="148" cy="519"/>
            </a:xfrm>
            <a:prstGeom prst="curvedConnector3">
              <a:avLst>
                <a:gd name="adj1" fmla="val -52903"/>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78875" name="Line 36"/>
            <p:cNvSpPr>
              <a:spLocks noChangeShapeType="1"/>
            </p:cNvSpPr>
            <p:nvPr/>
          </p:nvSpPr>
          <p:spPr bwMode="auto">
            <a:xfrm flipV="1">
              <a:off x="4872" y="1536"/>
              <a:ext cx="140" cy="144"/>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sp>
          <p:nvSpPr>
            <p:cNvPr id="78876" name="Text Box 37"/>
            <p:cNvSpPr txBox="1">
              <a:spLocks noChangeArrowheads="1"/>
            </p:cNvSpPr>
            <p:nvPr/>
          </p:nvSpPr>
          <p:spPr bwMode="auto">
            <a:xfrm>
              <a:off x="4955" y="1301"/>
              <a:ext cx="601"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en-US" altLang="zh-CN" sz="2400" b="0" dirty="0">
                  <a:latin typeface="+mj-ea"/>
                  <a:ea typeface="+mj-ea"/>
                </a:rPr>
                <a:t>Pi   </a:t>
              </a:r>
              <a:endParaRPr kumimoji="1" lang="en-US" altLang="zh-CN" sz="2400" b="0" dirty="0">
                <a:latin typeface="+mj-ea"/>
                <a:ea typeface="+mj-ea"/>
              </a:endParaRPr>
            </a:p>
          </p:txBody>
        </p:sp>
        <p:sp>
          <p:nvSpPr>
            <p:cNvPr id="78877" name="Text Box 38"/>
            <p:cNvSpPr txBox="1">
              <a:spLocks noChangeArrowheads="1"/>
            </p:cNvSpPr>
            <p:nvPr/>
          </p:nvSpPr>
          <p:spPr bwMode="auto">
            <a:xfrm>
              <a:off x="4429" y="1727"/>
              <a:ext cx="1490" cy="25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000" b="0" dirty="0">
                  <a:latin typeface="+mj-ea"/>
                  <a:ea typeface="+mj-ea"/>
                </a:rPr>
                <a:t>磷蛋白磷酸酶-1   </a:t>
              </a:r>
              <a:endParaRPr kumimoji="1" lang="zh-CN" altLang="en-US" sz="2000" b="0" dirty="0">
                <a:latin typeface="+mj-ea"/>
                <a:ea typeface="+mj-ea"/>
              </a:endParaRPr>
            </a:p>
          </p:txBody>
        </p:sp>
        <p:cxnSp>
          <p:nvCxnSpPr>
            <p:cNvPr id="40990" name="AutoShape 39"/>
            <p:cNvCxnSpPr>
              <a:cxnSpLocks noChangeShapeType="1"/>
            </p:cNvCxnSpPr>
            <p:nvPr/>
          </p:nvCxnSpPr>
          <p:spPr bwMode="auto">
            <a:xfrm rot="5400000">
              <a:off x="1560" y="2172"/>
              <a:ext cx="1" cy="1245"/>
            </a:xfrm>
            <a:prstGeom prst="curvedConnector3">
              <a:avLst>
                <a:gd name="adj1" fmla="val 14400005"/>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cxnSp>
          <p:nvCxnSpPr>
            <p:cNvPr id="40991" name="AutoShape 40"/>
            <p:cNvCxnSpPr>
              <a:cxnSpLocks noChangeShapeType="1"/>
            </p:cNvCxnSpPr>
            <p:nvPr/>
          </p:nvCxnSpPr>
          <p:spPr bwMode="auto">
            <a:xfrm rot="5400000">
              <a:off x="4078" y="2244"/>
              <a:ext cx="9" cy="1110"/>
            </a:xfrm>
            <a:prstGeom prst="curvedConnector3">
              <a:avLst>
                <a:gd name="adj1" fmla="val 1700000"/>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sp>
          <p:nvSpPr>
            <p:cNvPr id="78880" name="Line 41"/>
            <p:cNvSpPr>
              <a:spLocks noChangeShapeType="1"/>
            </p:cNvSpPr>
            <p:nvPr/>
          </p:nvSpPr>
          <p:spPr bwMode="auto">
            <a:xfrm flipH="1">
              <a:off x="1056" y="2928"/>
              <a:ext cx="336" cy="144"/>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sp>
          <p:nvSpPr>
            <p:cNvPr id="78881" name="Text Box 42"/>
            <p:cNvSpPr txBox="1">
              <a:spLocks noChangeArrowheads="1"/>
            </p:cNvSpPr>
            <p:nvPr/>
          </p:nvSpPr>
          <p:spPr bwMode="auto">
            <a:xfrm>
              <a:off x="816" y="2981"/>
              <a:ext cx="504"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en-US" altLang="zh-CN" sz="2400" b="0">
                  <a:latin typeface="+mj-ea"/>
                  <a:ea typeface="+mj-ea"/>
                </a:rPr>
                <a:t>Pi  </a:t>
              </a:r>
              <a:endParaRPr kumimoji="1" lang="en-US" altLang="zh-CN" sz="2400" b="0">
                <a:latin typeface="+mj-ea"/>
                <a:ea typeface="+mj-ea"/>
              </a:endParaRPr>
            </a:p>
          </p:txBody>
        </p:sp>
        <p:sp>
          <p:nvSpPr>
            <p:cNvPr id="78882" name="Text Box 43"/>
            <p:cNvSpPr txBox="1">
              <a:spLocks noChangeArrowheads="1"/>
            </p:cNvSpPr>
            <p:nvPr/>
          </p:nvSpPr>
          <p:spPr bwMode="auto">
            <a:xfrm>
              <a:off x="3312" y="2981"/>
              <a:ext cx="601"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en-US" altLang="zh-CN" sz="2400" b="0">
                  <a:latin typeface="+mj-ea"/>
                  <a:ea typeface="+mj-ea"/>
                </a:rPr>
                <a:t>Pi   </a:t>
              </a:r>
              <a:endParaRPr kumimoji="1" lang="en-US" altLang="zh-CN" sz="2400" b="0">
                <a:latin typeface="+mj-ea"/>
                <a:ea typeface="+mj-ea"/>
              </a:endParaRPr>
            </a:p>
          </p:txBody>
        </p:sp>
        <p:sp>
          <p:nvSpPr>
            <p:cNvPr id="78883" name="Line 44"/>
            <p:cNvSpPr>
              <a:spLocks noChangeShapeType="1"/>
            </p:cNvSpPr>
            <p:nvPr/>
          </p:nvSpPr>
          <p:spPr bwMode="auto">
            <a:xfrm flipH="1">
              <a:off x="3552" y="2928"/>
              <a:ext cx="336" cy="144"/>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sp>
          <p:nvSpPr>
            <p:cNvPr id="78884" name="Text Box 45"/>
            <p:cNvSpPr txBox="1">
              <a:spLocks noChangeArrowheads="1"/>
            </p:cNvSpPr>
            <p:nvPr/>
          </p:nvSpPr>
          <p:spPr bwMode="auto">
            <a:xfrm>
              <a:off x="1344" y="2980"/>
              <a:ext cx="1764"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latin typeface="+mj-ea"/>
                  <a:ea typeface="+mj-ea"/>
                </a:rPr>
                <a:t>磷蛋白磷酸酶-1   </a:t>
              </a:r>
              <a:endParaRPr kumimoji="1" lang="zh-CN" altLang="en-US" sz="2400" b="0" dirty="0">
                <a:latin typeface="+mj-ea"/>
                <a:ea typeface="+mj-ea"/>
              </a:endParaRPr>
            </a:p>
          </p:txBody>
        </p:sp>
        <p:sp>
          <p:nvSpPr>
            <p:cNvPr id="78885" name="Text Box 46"/>
            <p:cNvSpPr txBox="1">
              <a:spLocks noChangeArrowheads="1"/>
            </p:cNvSpPr>
            <p:nvPr/>
          </p:nvSpPr>
          <p:spPr bwMode="auto">
            <a:xfrm>
              <a:off x="3840" y="2980"/>
              <a:ext cx="1764"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latin typeface="+mj-ea"/>
                  <a:ea typeface="+mj-ea"/>
                </a:rPr>
                <a:t>磷蛋白磷酸酶-1   </a:t>
              </a:r>
              <a:endParaRPr kumimoji="1" lang="zh-CN" altLang="en-US" sz="2400" b="0" dirty="0">
                <a:latin typeface="+mj-ea"/>
                <a:ea typeface="+mj-ea"/>
              </a:endParaRPr>
            </a:p>
          </p:txBody>
        </p:sp>
      </p:grpSp>
      <p:grpSp>
        <p:nvGrpSpPr>
          <p:cNvPr id="10" name="Group 47"/>
          <p:cNvGrpSpPr/>
          <p:nvPr/>
        </p:nvGrpSpPr>
        <p:grpSpPr bwMode="auto">
          <a:xfrm>
            <a:off x="4267201" y="3133726"/>
            <a:ext cx="6943725" cy="2773363"/>
            <a:chOff x="1728" y="1974"/>
            <a:chExt cx="4374" cy="1747"/>
          </a:xfrm>
        </p:grpSpPr>
        <p:sp>
          <p:nvSpPr>
            <p:cNvPr id="78866" name="Line 48"/>
            <p:cNvSpPr>
              <a:spLocks noChangeShapeType="1"/>
            </p:cNvSpPr>
            <p:nvPr/>
          </p:nvSpPr>
          <p:spPr bwMode="auto">
            <a:xfrm flipV="1">
              <a:off x="1728" y="3222"/>
              <a:ext cx="0" cy="282"/>
            </a:xfrm>
            <a:prstGeom prst="line">
              <a:avLst/>
            </a:prstGeom>
            <a:noFill/>
            <a:ln w="38100">
              <a:solidFill>
                <a:schemeClr val="tx1"/>
              </a:solidFill>
              <a:prstDash val="dash"/>
              <a:round/>
              <a:tailEnd type="triangle" w="med" len="med"/>
            </a:ln>
          </p:spPr>
          <p:txBody>
            <a:bodyPr wrap="none"/>
            <a:lstStyle/>
            <a:p>
              <a:pPr>
                <a:defRPr/>
              </a:pPr>
              <a:endParaRPr lang="zh-CN" altLang="en-US" sz="2400" b="0">
                <a:latin typeface="+mj-ea"/>
                <a:ea typeface="+mj-ea"/>
                <a:cs typeface="楷体_GB2312"/>
              </a:endParaRPr>
            </a:p>
          </p:txBody>
        </p:sp>
        <p:sp>
          <p:nvSpPr>
            <p:cNvPr id="78867" name="Text Box 49"/>
            <p:cNvSpPr txBox="1">
              <a:spLocks noChangeArrowheads="1"/>
            </p:cNvSpPr>
            <p:nvPr/>
          </p:nvSpPr>
          <p:spPr bwMode="auto">
            <a:xfrm>
              <a:off x="1776" y="3197"/>
              <a:ext cx="311"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latin typeface="+mj-ea"/>
                  <a:ea typeface="+mj-ea"/>
                </a:rPr>
                <a:t>–</a:t>
              </a:r>
              <a:endParaRPr kumimoji="1" lang="zh-CN" altLang="en-US" sz="2400" b="0">
                <a:latin typeface="+mj-ea"/>
                <a:ea typeface="+mj-ea"/>
              </a:endParaRPr>
            </a:p>
          </p:txBody>
        </p:sp>
        <p:sp>
          <p:nvSpPr>
            <p:cNvPr id="78868" name="Line 50"/>
            <p:cNvSpPr>
              <a:spLocks noChangeShapeType="1"/>
            </p:cNvSpPr>
            <p:nvPr/>
          </p:nvSpPr>
          <p:spPr bwMode="auto">
            <a:xfrm flipV="1">
              <a:off x="5239" y="2045"/>
              <a:ext cx="0" cy="1412"/>
            </a:xfrm>
            <a:prstGeom prst="line">
              <a:avLst/>
            </a:prstGeom>
            <a:noFill/>
            <a:ln w="28575">
              <a:solidFill>
                <a:schemeClr val="tx1"/>
              </a:solidFill>
              <a:prstDash val="dash"/>
              <a:round/>
              <a:tailEnd type="triangle" w="med" len="med"/>
            </a:ln>
          </p:spPr>
          <p:txBody>
            <a:bodyPr wrap="none"/>
            <a:lstStyle/>
            <a:p>
              <a:pPr>
                <a:defRPr/>
              </a:pPr>
              <a:endParaRPr lang="zh-CN" altLang="en-US" sz="2400" b="0">
                <a:latin typeface="+mj-ea"/>
                <a:ea typeface="+mj-ea"/>
                <a:cs typeface="楷体_GB2312"/>
              </a:endParaRPr>
            </a:p>
          </p:txBody>
        </p:sp>
        <p:sp>
          <p:nvSpPr>
            <p:cNvPr id="78869" name="Text Box 51"/>
            <p:cNvSpPr txBox="1">
              <a:spLocks noChangeArrowheads="1"/>
            </p:cNvSpPr>
            <p:nvPr/>
          </p:nvSpPr>
          <p:spPr bwMode="auto">
            <a:xfrm>
              <a:off x="5227" y="1974"/>
              <a:ext cx="507"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latin typeface="+mj-ea"/>
                  <a:ea typeface="+mj-ea"/>
                </a:rPr>
                <a:t>–</a:t>
              </a:r>
              <a:r>
                <a:rPr kumimoji="1" lang="zh-CN" altLang="en-US" sz="2400" b="0" dirty="0">
                  <a:solidFill>
                    <a:schemeClr val="accent1"/>
                  </a:solidFill>
                  <a:latin typeface="+mj-ea"/>
                  <a:ea typeface="+mj-ea"/>
                </a:rPr>
                <a:t>  </a:t>
              </a:r>
              <a:endParaRPr kumimoji="1" lang="zh-CN" altLang="en-US" sz="2400" b="0" dirty="0">
                <a:solidFill>
                  <a:schemeClr val="accent1"/>
                </a:solidFill>
                <a:latin typeface="+mj-ea"/>
                <a:ea typeface="+mj-ea"/>
              </a:endParaRPr>
            </a:p>
          </p:txBody>
        </p:sp>
        <p:sp>
          <p:nvSpPr>
            <p:cNvPr id="78870" name="Line 52"/>
            <p:cNvSpPr>
              <a:spLocks noChangeShapeType="1"/>
            </p:cNvSpPr>
            <p:nvPr/>
          </p:nvSpPr>
          <p:spPr bwMode="auto">
            <a:xfrm flipV="1">
              <a:off x="4368" y="3222"/>
              <a:ext cx="0" cy="235"/>
            </a:xfrm>
            <a:prstGeom prst="line">
              <a:avLst/>
            </a:prstGeom>
            <a:noFill/>
            <a:ln w="38100">
              <a:solidFill>
                <a:schemeClr val="tx1"/>
              </a:solidFill>
              <a:prstDash val="sysDot"/>
              <a:round/>
              <a:tailEnd type="triangle" w="med" len="med"/>
            </a:ln>
          </p:spPr>
          <p:txBody>
            <a:bodyPr wrap="none"/>
            <a:lstStyle/>
            <a:p>
              <a:pPr>
                <a:defRPr/>
              </a:pPr>
              <a:endParaRPr lang="zh-CN" altLang="en-US" sz="2400" b="0">
                <a:latin typeface="+mj-ea"/>
                <a:ea typeface="+mj-ea"/>
                <a:cs typeface="楷体_GB2312"/>
              </a:endParaRPr>
            </a:p>
          </p:txBody>
        </p:sp>
        <p:sp>
          <p:nvSpPr>
            <p:cNvPr id="78871" name="Text Box 53"/>
            <p:cNvSpPr txBox="1">
              <a:spLocks noChangeArrowheads="1"/>
            </p:cNvSpPr>
            <p:nvPr/>
          </p:nvSpPr>
          <p:spPr bwMode="auto">
            <a:xfrm>
              <a:off x="4416" y="3197"/>
              <a:ext cx="311"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a:latin typeface="+mj-ea"/>
                  <a:ea typeface="+mj-ea"/>
                </a:rPr>
                <a:t>–</a:t>
              </a:r>
              <a:endParaRPr kumimoji="1" lang="zh-CN" altLang="en-US" sz="2400" b="0">
                <a:latin typeface="+mj-ea"/>
                <a:ea typeface="+mj-ea"/>
              </a:endParaRPr>
            </a:p>
          </p:txBody>
        </p:sp>
        <p:sp>
          <p:nvSpPr>
            <p:cNvPr id="78872" name="Line 54"/>
            <p:cNvSpPr>
              <a:spLocks noChangeShapeType="1"/>
            </p:cNvSpPr>
            <p:nvPr/>
          </p:nvSpPr>
          <p:spPr bwMode="auto">
            <a:xfrm flipH="1">
              <a:off x="1728" y="3504"/>
              <a:ext cx="2016" cy="0"/>
            </a:xfrm>
            <a:prstGeom prst="line">
              <a:avLst/>
            </a:prstGeom>
            <a:noFill/>
            <a:ln w="28575">
              <a:solidFill>
                <a:schemeClr val="tx1"/>
              </a:solidFill>
              <a:prstDash val="dash"/>
              <a:round/>
            </a:ln>
          </p:spPr>
          <p:txBody>
            <a:bodyPr wrap="none"/>
            <a:lstStyle/>
            <a:p>
              <a:pPr>
                <a:defRPr/>
              </a:pPr>
              <a:endParaRPr lang="zh-CN" altLang="en-US" sz="2400" b="0">
                <a:latin typeface="+mj-ea"/>
                <a:ea typeface="+mj-ea"/>
                <a:cs typeface="楷体_GB2312"/>
              </a:endParaRPr>
            </a:p>
          </p:txBody>
        </p:sp>
        <p:sp>
          <p:nvSpPr>
            <p:cNvPr id="78873" name="Text Box 55"/>
            <p:cNvSpPr txBox="1">
              <a:spLocks noChangeArrowheads="1"/>
            </p:cNvSpPr>
            <p:nvPr/>
          </p:nvSpPr>
          <p:spPr bwMode="auto">
            <a:xfrm>
              <a:off x="3742" y="3430"/>
              <a:ext cx="2360" cy="291"/>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solidFill>
                    <a:srgbClr val="FF0000"/>
                  </a:solidFill>
                  <a:latin typeface="+mj-ea"/>
                  <a:ea typeface="+mj-ea"/>
                </a:rPr>
                <a:t>磷蛋白磷酸酶抑制剂-</a:t>
              </a:r>
              <a:r>
                <a:rPr kumimoji="1" lang="en-US" altLang="zh-CN" sz="2400" b="0" dirty="0">
                  <a:solidFill>
                    <a:srgbClr val="FF0000"/>
                  </a:solidFill>
                  <a:latin typeface="+mj-ea"/>
                  <a:ea typeface="+mj-ea"/>
                </a:rPr>
                <a:t>P</a:t>
              </a:r>
              <a:r>
                <a:rPr kumimoji="1" lang="en-US" altLang="zh-CN" sz="2400" b="0" dirty="0">
                  <a:solidFill>
                    <a:schemeClr val="tx2"/>
                  </a:solidFill>
                  <a:latin typeface="+mj-ea"/>
                  <a:ea typeface="+mj-ea"/>
                </a:rPr>
                <a:t>   </a:t>
              </a:r>
              <a:endParaRPr kumimoji="1" lang="en-US" altLang="zh-CN" sz="2400" b="0" dirty="0">
                <a:solidFill>
                  <a:schemeClr val="tx2"/>
                </a:solidFill>
                <a:latin typeface="+mj-ea"/>
                <a:ea typeface="+mj-ea"/>
              </a:endParaRPr>
            </a:p>
          </p:txBody>
        </p:sp>
      </p:grpSp>
      <p:sp>
        <p:nvSpPr>
          <p:cNvPr id="261176" name="Text Box 56"/>
          <p:cNvSpPr txBox="1">
            <a:spLocks noChangeArrowheads="1"/>
          </p:cNvSpPr>
          <p:nvPr/>
        </p:nvSpPr>
        <p:spPr bwMode="auto">
          <a:xfrm>
            <a:off x="7464425" y="6021388"/>
            <a:ext cx="3435350" cy="461962"/>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zh-CN" altLang="en-US" sz="2400" b="0" dirty="0">
                <a:solidFill>
                  <a:srgbClr val="000099"/>
                </a:solidFill>
                <a:latin typeface="+mj-ea"/>
                <a:ea typeface="+mj-ea"/>
              </a:rPr>
              <a:t>磷蛋白磷酸酶抑制剂   </a:t>
            </a:r>
            <a:endParaRPr kumimoji="1" lang="zh-CN" altLang="en-US" sz="2400" b="0" dirty="0">
              <a:solidFill>
                <a:srgbClr val="000099"/>
              </a:solidFill>
              <a:latin typeface="+mj-ea"/>
              <a:ea typeface="+mj-ea"/>
            </a:endParaRPr>
          </a:p>
        </p:txBody>
      </p:sp>
      <p:grpSp>
        <p:nvGrpSpPr>
          <p:cNvPr id="11" name="Group 57"/>
          <p:cNvGrpSpPr/>
          <p:nvPr/>
        </p:nvGrpSpPr>
        <p:grpSpPr bwMode="auto">
          <a:xfrm>
            <a:off x="4727575" y="5661025"/>
            <a:ext cx="2808288" cy="661988"/>
            <a:chOff x="2160" y="3734"/>
            <a:chExt cx="1633" cy="491"/>
          </a:xfrm>
        </p:grpSpPr>
        <p:sp>
          <p:nvSpPr>
            <p:cNvPr id="78863" name="Text Box 58"/>
            <p:cNvSpPr txBox="1">
              <a:spLocks noChangeArrowheads="1"/>
            </p:cNvSpPr>
            <p:nvPr/>
          </p:nvSpPr>
          <p:spPr bwMode="auto">
            <a:xfrm>
              <a:off x="2160" y="3884"/>
              <a:ext cx="1343" cy="341"/>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spcBef>
                  <a:spcPct val="0"/>
                </a:spcBef>
                <a:buClrTx/>
                <a:buSzTx/>
                <a:buFontTx/>
                <a:buNone/>
                <a:defRPr/>
              </a:pPr>
              <a:r>
                <a:rPr kumimoji="1" lang="en-US" altLang="zh-CN" sz="2400" b="0">
                  <a:solidFill>
                    <a:srgbClr val="FF0000"/>
                  </a:solidFill>
                  <a:latin typeface="+mj-ea"/>
                  <a:ea typeface="+mj-ea"/>
                </a:rPr>
                <a:t>PKA（</a:t>
              </a:r>
              <a:r>
                <a:rPr kumimoji="1" lang="zh-CN" altLang="en-US" sz="2400" b="0">
                  <a:solidFill>
                    <a:srgbClr val="FF0000"/>
                  </a:solidFill>
                  <a:latin typeface="+mj-ea"/>
                  <a:ea typeface="+mj-ea"/>
                </a:rPr>
                <a:t>有活性）</a:t>
              </a:r>
              <a:r>
                <a:rPr kumimoji="1" lang="zh-CN" altLang="en-US" sz="2400" b="0">
                  <a:solidFill>
                    <a:schemeClr val="tx2"/>
                  </a:solidFill>
                  <a:latin typeface="+mj-ea"/>
                  <a:ea typeface="+mj-ea"/>
                </a:rPr>
                <a:t>  </a:t>
              </a:r>
              <a:endParaRPr kumimoji="1" lang="zh-CN" altLang="en-US" sz="2400" b="0">
                <a:solidFill>
                  <a:schemeClr val="tx2"/>
                </a:solidFill>
                <a:latin typeface="+mj-ea"/>
                <a:ea typeface="+mj-ea"/>
              </a:endParaRPr>
            </a:p>
          </p:txBody>
        </p:sp>
        <p:sp>
          <p:nvSpPr>
            <p:cNvPr id="78864" name="Line 59"/>
            <p:cNvSpPr>
              <a:spLocks noChangeShapeType="1"/>
            </p:cNvSpPr>
            <p:nvPr/>
          </p:nvSpPr>
          <p:spPr bwMode="auto">
            <a:xfrm>
              <a:off x="3284" y="4022"/>
              <a:ext cx="384" cy="0"/>
            </a:xfrm>
            <a:prstGeom prst="line">
              <a:avLst/>
            </a:prstGeom>
            <a:noFill/>
            <a:ln w="28575">
              <a:solidFill>
                <a:schemeClr val="tx1"/>
              </a:solidFill>
              <a:round/>
              <a:tailEnd type="triangle" w="med" len="med"/>
            </a:ln>
          </p:spPr>
          <p:txBody>
            <a:bodyPr wrap="none"/>
            <a:lstStyle/>
            <a:p>
              <a:pPr>
                <a:defRPr/>
              </a:pPr>
              <a:endParaRPr lang="zh-CN" altLang="en-US" sz="2400" b="0">
                <a:latin typeface="+mj-ea"/>
                <a:ea typeface="+mj-ea"/>
                <a:cs typeface="楷体_GB2312"/>
              </a:endParaRPr>
            </a:p>
          </p:txBody>
        </p:sp>
        <p:cxnSp>
          <p:nvCxnSpPr>
            <p:cNvPr id="40977" name="AutoShape 60"/>
            <p:cNvCxnSpPr>
              <a:cxnSpLocks noChangeShapeType="1"/>
            </p:cNvCxnSpPr>
            <p:nvPr/>
          </p:nvCxnSpPr>
          <p:spPr bwMode="auto">
            <a:xfrm rot="10800000" flipH="1">
              <a:off x="3792" y="3734"/>
              <a:ext cx="1" cy="480"/>
            </a:xfrm>
            <a:prstGeom prst="curvedConnector3">
              <a:avLst>
                <a:gd name="adj1" fmla="val -14400005"/>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cxn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ppt_h/2"/>
                                          </p:val>
                                        </p:tav>
                                        <p:tav tm="100000">
                                          <p:val>
                                            <p:strVal val="#ppt_y"/>
                                          </p:val>
                                        </p:tav>
                                      </p:tavLst>
                                    </p:anim>
                                    <p:anim calcmode="lin" valueType="num">
                                      <p:cBhvr>
                                        <p:cTn id="14" dur="500" fill="hold"/>
                                        <p:tgtEl>
                                          <p:spTgt spid="8"/>
                                        </p:tgtEl>
                                        <p:attrNameLst>
                                          <p:attrName>ppt_w</p:attrName>
                                        </p:attrNameLst>
                                      </p:cBhvr>
                                      <p:tavLst>
                                        <p:tav tm="0">
                                          <p:val>
                                            <p:strVal val="#ppt_w"/>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61138"/>
                                        </p:tgtEl>
                                        <p:attrNameLst>
                                          <p:attrName>style.visibility</p:attrName>
                                        </p:attrNameLst>
                                      </p:cBhvr>
                                      <p:to>
                                        <p:strVal val="visible"/>
                                      </p:to>
                                    </p:set>
                                    <p:animEffect transition="in" filter="blinds(horizontal)">
                                      <p:cBhvr>
                                        <p:cTn id="20" dur="500"/>
                                        <p:tgtEl>
                                          <p:spTgt spid="261138"/>
                                        </p:tgtEl>
                                      </p:cBhvr>
                                    </p:animEffect>
                                  </p:childTnLst>
                                </p:cTn>
                              </p:par>
                            </p:childTnLst>
                          </p:cTn>
                        </p:par>
                        <p:par>
                          <p:cTn id="21" fill="hold">
                            <p:stCondLst>
                              <p:cond delay="500"/>
                            </p:stCondLst>
                            <p:childTnLst>
                              <p:par>
                                <p:cTn id="22" presetID="17"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ppt_x</p:attrName>
                                        </p:attrNameLst>
                                      </p:cBhvr>
                                      <p:tavLst>
                                        <p:tav tm="0">
                                          <p:val>
                                            <p:strVal val="#ppt_x-#ppt_w/2"/>
                                          </p:val>
                                        </p:tav>
                                        <p:tav tm="100000">
                                          <p:val>
                                            <p:strVal val="#ppt_x"/>
                                          </p:val>
                                        </p:tav>
                                      </p:tavLst>
                                    </p:anim>
                                    <p:anim calcmode="lin" valueType="num">
                                      <p:cBhvr>
                                        <p:cTn id="25" dur="500" fill="hold"/>
                                        <p:tgtEl>
                                          <p:spTgt spid="6"/>
                                        </p:tgtEl>
                                        <p:attrNameLst>
                                          <p:attrName>ppt_y</p:attrName>
                                        </p:attrNameLst>
                                      </p:cBhvr>
                                      <p:tavLst>
                                        <p:tav tm="0">
                                          <p:val>
                                            <p:strVal val="#ppt_y"/>
                                          </p:val>
                                        </p:tav>
                                        <p:tav tm="100000">
                                          <p:val>
                                            <p:strVal val="#ppt_y"/>
                                          </p:val>
                                        </p:tav>
                                      </p:tavLst>
                                    </p:anim>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dissolv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61176"/>
                                        </p:tgtEl>
                                        <p:attrNameLst>
                                          <p:attrName>style.visibility</p:attrName>
                                        </p:attrNameLst>
                                      </p:cBhvr>
                                      <p:to>
                                        <p:strVal val="visible"/>
                                      </p:to>
                                    </p:set>
                                    <p:animEffect transition="in" filter="box(in)">
                                      <p:cBhvr>
                                        <p:cTn id="42" dur="500"/>
                                        <p:tgtEl>
                                          <p:spTgt spid="261176"/>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up)">
                                      <p:cBhvr>
                                        <p:cTn id="5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38" grpId="0" autoUpdateAnimBg="0"/>
      <p:bldP spid="261176" grpId="0"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1">
            <a:lum bright="-10000" contrast="10000"/>
            <a:extLst>
              <a:ext uri="{28A0092B-C50C-407E-A947-70E740481C1C}">
                <a14:useLocalDpi xmlns:a14="http://schemas.microsoft.com/office/drawing/2010/main" val="0"/>
              </a:ext>
            </a:extLst>
          </a:blip>
          <a:srcRect/>
          <a:stretch>
            <a:fillRect/>
          </a:stretch>
        </p:blipFill>
        <p:spPr bwMode="auto">
          <a:xfrm>
            <a:off x="5663952" y="0"/>
            <a:ext cx="4470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99456" y="1628800"/>
            <a:ext cx="3966344" cy="3394968"/>
          </a:xfrm>
          <a:prstGeom prst="rect">
            <a:avLst/>
          </a:prstGeom>
          <a:noFill/>
        </p:spPr>
        <p:txBody>
          <a:bodyPr wrap="square" rtlCol="0">
            <a:spAutoFit/>
          </a:bodyPr>
          <a:lstStyle/>
          <a:p>
            <a:pPr>
              <a:lnSpc>
                <a:spcPct val="130000"/>
              </a:lnSpc>
            </a:pPr>
            <a:r>
              <a:rPr lang="zh-CN" altLang="en-US" sz="2800" b="0" dirty="0">
                <a:solidFill>
                  <a:srgbClr val="0000CC"/>
                </a:solidFill>
                <a:latin typeface="+mj-ea"/>
                <a:ea typeface="+mj-ea"/>
              </a:rPr>
              <a:t>磷酸化</a:t>
            </a:r>
            <a:r>
              <a:rPr lang="en-US" altLang="zh-CN" sz="2800" b="0" dirty="0">
                <a:solidFill>
                  <a:srgbClr val="0000CC"/>
                </a:solidFill>
                <a:latin typeface="+mj-ea"/>
                <a:ea typeface="+mj-ea"/>
              </a:rPr>
              <a:t>/</a:t>
            </a:r>
            <a:r>
              <a:rPr lang="zh-CN" altLang="en-US" sz="2800" b="0" dirty="0">
                <a:solidFill>
                  <a:srgbClr val="0000CC"/>
                </a:solidFill>
                <a:latin typeface="+mj-ea"/>
                <a:ea typeface="+mj-ea"/>
              </a:rPr>
              <a:t>去磷酸化修饰</a:t>
            </a:r>
            <a:r>
              <a:rPr lang="zh-CN" altLang="en-US" sz="2800" b="0" dirty="0">
                <a:solidFill>
                  <a:schemeClr val="tx1">
                    <a:lumMod val="95000"/>
                    <a:lumOff val="5000"/>
                  </a:schemeClr>
                </a:solidFill>
                <a:latin typeface="+mj-ea"/>
                <a:ea typeface="+mj-ea"/>
              </a:rPr>
              <a:t>调节存在</a:t>
            </a:r>
            <a:r>
              <a:rPr lang="zh-CN" altLang="en-US" sz="2800" b="0" dirty="0">
                <a:solidFill>
                  <a:srgbClr val="0000FF"/>
                </a:solidFill>
                <a:latin typeface="+mj-ea"/>
                <a:ea typeface="+mj-ea"/>
              </a:rPr>
              <a:t>级联放大效应。</a:t>
            </a:r>
            <a:endParaRPr lang="en-US" altLang="zh-CN" sz="2800" b="0" dirty="0">
              <a:solidFill>
                <a:srgbClr val="0000FF"/>
              </a:solidFill>
              <a:latin typeface="+mj-ea"/>
              <a:ea typeface="+mj-ea"/>
            </a:endParaRPr>
          </a:p>
          <a:p>
            <a:pPr>
              <a:lnSpc>
                <a:spcPct val="130000"/>
              </a:lnSpc>
            </a:pPr>
            <a:endParaRPr lang="en-US" altLang="zh-CN" sz="2800" b="0" dirty="0">
              <a:solidFill>
                <a:srgbClr val="0000FF"/>
              </a:solidFill>
              <a:latin typeface="+mj-ea"/>
              <a:ea typeface="+mj-ea"/>
            </a:endParaRPr>
          </a:p>
          <a:p>
            <a:pPr>
              <a:lnSpc>
                <a:spcPct val="130000"/>
              </a:lnSpc>
            </a:pPr>
            <a:r>
              <a:rPr lang="zh-CN" altLang="en-US" sz="2800" b="0" dirty="0">
                <a:solidFill>
                  <a:schemeClr val="tx1">
                    <a:lumMod val="95000"/>
                    <a:lumOff val="5000"/>
                  </a:schemeClr>
                </a:solidFill>
                <a:latin typeface="+mj-ea"/>
                <a:ea typeface="+mj-ea"/>
              </a:rPr>
              <a:t>少量激素分子可以产生明显效应。</a:t>
            </a:r>
            <a:endParaRPr lang="en-US" altLang="zh-CN" sz="2800" b="0" dirty="0">
              <a:solidFill>
                <a:schemeClr val="tx1">
                  <a:lumMod val="95000"/>
                  <a:lumOff val="5000"/>
                </a:schemeClr>
              </a:solidFill>
              <a:latin typeface="+mj-ea"/>
              <a:ea typeface="+mj-ea"/>
            </a:endParaRPr>
          </a:p>
          <a:p>
            <a:pPr>
              <a:lnSpc>
                <a:spcPct val="130000"/>
              </a:lnSpc>
            </a:pPr>
            <a:endParaRPr lang="zh-CN" altLang="en-US" sz="2800" b="0" dirty="0">
              <a:solidFill>
                <a:srgbClr val="0000FF"/>
              </a:solidFill>
              <a:latin typeface="+mj-ea"/>
              <a:ea typeface="+mj-ea"/>
            </a:endParaRPr>
          </a:p>
        </p:txBody>
      </p:sp>
    </p:spTree>
  </p:cSld>
  <p:clrMapOvr>
    <a:masterClrMapping/>
  </p:clrMapOvr>
  <p:transition spd="med">
    <p:zoom/>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424114" y="549275"/>
            <a:ext cx="3089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Pct val="85000"/>
              <a:buFont typeface="Wingdings" panose="05000000000000000000" pitchFamily="2" charset="2"/>
              <a:buChar char="Ø"/>
            </a:pPr>
            <a:r>
              <a:rPr kumimoji="1" lang="zh-CN" altLang="en-US" sz="3600">
                <a:solidFill>
                  <a:srgbClr val="800000"/>
                </a:solidFill>
                <a:latin typeface="Arial" panose="020B0604020202020204" pitchFamily="34" charset="0"/>
              </a:rPr>
              <a:t> 别构调节</a:t>
            </a:r>
            <a:endParaRPr kumimoji="1" lang="zh-CN" altLang="en-US" sz="3600">
              <a:solidFill>
                <a:srgbClr val="800000"/>
              </a:solidFill>
              <a:latin typeface="Arial" panose="020B0604020202020204" pitchFamily="34" charset="0"/>
            </a:endParaRPr>
          </a:p>
        </p:txBody>
      </p:sp>
      <p:graphicFrame>
        <p:nvGraphicFramePr>
          <p:cNvPr id="2" name="表格 1"/>
          <p:cNvGraphicFramePr>
            <a:graphicFrameLocks noGrp="1"/>
          </p:cNvGraphicFramePr>
          <p:nvPr/>
        </p:nvGraphicFramePr>
        <p:xfrm>
          <a:off x="1415480" y="1484314"/>
          <a:ext cx="9793088" cy="3837217"/>
        </p:xfrm>
        <a:graphic>
          <a:graphicData uri="http://schemas.openxmlformats.org/drawingml/2006/table">
            <a:tbl>
              <a:tblPr firstRow="1" bandRow="1">
                <a:tableStyleId>{5C22544A-7EE6-4342-B048-85BDC9FD1C3A}</a:tableStyleId>
              </a:tblPr>
              <a:tblGrid>
                <a:gridCol w="2880320"/>
                <a:gridCol w="2669097"/>
                <a:gridCol w="4243671"/>
              </a:tblGrid>
              <a:tr h="849408">
                <a:tc>
                  <a:txBody>
                    <a:bodyPr/>
                    <a:lstStyle/>
                    <a:p>
                      <a:pPr algn="ctr"/>
                      <a:r>
                        <a:rPr lang="zh-CN" altLang="en-US" sz="2800" b="1" dirty="0">
                          <a:latin typeface="微软雅黑" panose="020B0503020204020204" pitchFamily="34" charset="-122"/>
                          <a:ea typeface="微软雅黑" panose="020B0503020204020204" pitchFamily="34" charset="-122"/>
                        </a:rPr>
                        <a:t>酶</a:t>
                      </a:r>
                      <a:endParaRPr lang="zh-CN" altLang="en-US" sz="2800" b="1" dirty="0">
                        <a:latin typeface="微软雅黑" panose="020B0503020204020204" pitchFamily="34" charset="-122"/>
                        <a:ea typeface="微软雅黑" panose="020B0503020204020204" pitchFamily="34" charset="-122"/>
                      </a:endParaRPr>
                    </a:p>
                  </a:txBody>
                  <a:tcPr marL="91455" marR="91455" marT="45732" marB="45732" anchor="ctr">
                    <a:solidFill>
                      <a:schemeClr val="accent5">
                        <a:lumMod val="50000"/>
                      </a:schemeClr>
                    </a:solidFill>
                  </a:tcPr>
                </a:tc>
                <a:tc>
                  <a:txBody>
                    <a:bodyPr/>
                    <a:lstStyle/>
                    <a:p>
                      <a:pPr algn="ctr"/>
                      <a:r>
                        <a:rPr lang="zh-CN" altLang="en-US" sz="2800" b="1" dirty="0">
                          <a:latin typeface="微软雅黑" panose="020B0503020204020204" pitchFamily="34" charset="-122"/>
                          <a:ea typeface="微软雅黑" panose="020B0503020204020204" pitchFamily="34" charset="-122"/>
                        </a:rPr>
                        <a:t>别构激活剂</a:t>
                      </a:r>
                      <a:endParaRPr lang="zh-CN" altLang="en-US" sz="2800" b="1" dirty="0">
                        <a:latin typeface="微软雅黑" panose="020B0503020204020204" pitchFamily="34" charset="-122"/>
                        <a:ea typeface="微软雅黑" panose="020B0503020204020204" pitchFamily="34" charset="-122"/>
                      </a:endParaRPr>
                    </a:p>
                  </a:txBody>
                  <a:tcPr marL="91455" marR="91455" marT="45732" marB="45732" anchor="ctr">
                    <a:solidFill>
                      <a:schemeClr val="accent5">
                        <a:lumMod val="50000"/>
                      </a:schemeClr>
                    </a:solidFill>
                  </a:tcPr>
                </a:tc>
                <a:tc>
                  <a:txBody>
                    <a:bodyPr/>
                    <a:lstStyle/>
                    <a:p>
                      <a:pPr algn="ctr"/>
                      <a:r>
                        <a:rPr lang="zh-CN" altLang="en-US" sz="2800" b="1" dirty="0">
                          <a:latin typeface="微软雅黑" panose="020B0503020204020204" pitchFamily="34" charset="-122"/>
                          <a:ea typeface="微软雅黑" panose="020B0503020204020204" pitchFamily="34" charset="-122"/>
                        </a:rPr>
                        <a:t>别构抑制剂</a:t>
                      </a:r>
                      <a:endParaRPr lang="zh-CN" altLang="en-US" sz="2800" b="1" dirty="0">
                        <a:latin typeface="微软雅黑" panose="020B0503020204020204" pitchFamily="34" charset="-122"/>
                        <a:ea typeface="微软雅黑" panose="020B0503020204020204" pitchFamily="34" charset="-122"/>
                      </a:endParaRPr>
                    </a:p>
                  </a:txBody>
                  <a:tcPr marL="91455" marR="91455" marT="45732" marB="45732" anchor="ctr">
                    <a:solidFill>
                      <a:schemeClr val="accent5">
                        <a:lumMod val="50000"/>
                      </a:schemeClr>
                    </a:solidFill>
                  </a:tcPr>
                </a:tc>
              </a:tr>
              <a:tr h="849408">
                <a:tc>
                  <a:txBody>
                    <a:bodyPr/>
                    <a:lstStyle/>
                    <a:p>
                      <a:r>
                        <a:rPr lang="zh-CN" altLang="en-US" sz="2800" dirty="0">
                          <a:solidFill>
                            <a:srgbClr val="0000CC"/>
                          </a:solidFill>
                          <a:latin typeface="微软雅黑" panose="020B0503020204020204" pitchFamily="34" charset="-122"/>
                          <a:ea typeface="微软雅黑" panose="020B0503020204020204" pitchFamily="34" charset="-122"/>
                        </a:rPr>
                        <a:t>糖原合酶</a:t>
                      </a:r>
                      <a:endParaRPr lang="zh-CN" altLang="en-US" sz="2800" dirty="0">
                        <a:solidFill>
                          <a:srgbClr val="0000CC"/>
                        </a:solidFill>
                        <a:latin typeface="微软雅黑" panose="020B0503020204020204" pitchFamily="34" charset="-122"/>
                        <a:ea typeface="微软雅黑" panose="020B0503020204020204" pitchFamily="34" charset="-122"/>
                      </a:endParaRPr>
                    </a:p>
                  </a:txBody>
                  <a:tcPr marL="91455" marR="91455" marT="45732" marB="45732" anchor="ctr">
                    <a:solidFill>
                      <a:srgbClr val="DBE7F9"/>
                    </a:solidFill>
                  </a:tcPr>
                </a:tc>
                <a:tc>
                  <a:txBody>
                    <a:bodyPr/>
                    <a:lstStyle/>
                    <a:p>
                      <a:r>
                        <a:rPr lang="zh-CN" altLang="en-US" sz="2800" dirty="0">
                          <a:latin typeface="微软雅黑" panose="020B0503020204020204" pitchFamily="34" charset="-122"/>
                          <a:ea typeface="微软雅黑" panose="020B0503020204020204" pitchFamily="34" charset="-122"/>
                        </a:rPr>
                        <a:t>葡萄糖</a:t>
                      </a:r>
                      <a:r>
                        <a:rPr lang="en-US" altLang="zh-CN" sz="2800" dirty="0">
                          <a:latin typeface="微软雅黑" panose="020B0503020204020204" pitchFamily="34" charset="-122"/>
                          <a:ea typeface="微软雅黑" panose="020B0503020204020204" pitchFamily="34" charset="-122"/>
                        </a:rPr>
                        <a:t>-6-</a:t>
                      </a:r>
                      <a:r>
                        <a:rPr lang="zh-CN" altLang="en-US" sz="2800" dirty="0">
                          <a:latin typeface="微软雅黑" panose="020B0503020204020204" pitchFamily="34" charset="-122"/>
                          <a:ea typeface="微软雅黑" panose="020B0503020204020204" pitchFamily="34" charset="-122"/>
                        </a:rPr>
                        <a:t>磷酸</a:t>
                      </a:r>
                      <a:endParaRPr lang="zh-CN" altLang="en-US" sz="2800" dirty="0">
                        <a:latin typeface="微软雅黑" panose="020B0503020204020204" pitchFamily="34" charset="-122"/>
                        <a:ea typeface="微软雅黑" panose="020B0503020204020204" pitchFamily="34" charset="-122"/>
                      </a:endParaRPr>
                    </a:p>
                  </a:txBody>
                  <a:tcPr marL="91455" marR="91455" marT="45732" marB="45732" anchor="ctr">
                    <a:solidFill>
                      <a:srgbClr val="DBE7F9"/>
                    </a:solidFill>
                  </a:tcPr>
                </a:tc>
                <a:tc>
                  <a:txBody>
                    <a:bodyPr/>
                    <a:lstStyle/>
                    <a:p>
                      <a:endParaRPr lang="zh-CN" altLang="en-US" sz="2800" dirty="0">
                        <a:latin typeface="微软雅黑" panose="020B0503020204020204" pitchFamily="34" charset="-122"/>
                        <a:ea typeface="微软雅黑" panose="020B0503020204020204" pitchFamily="34" charset="-122"/>
                      </a:endParaRPr>
                    </a:p>
                  </a:txBody>
                  <a:tcPr marL="91455" marR="91455" marT="45732" marB="45732" anchor="ctr">
                    <a:solidFill>
                      <a:srgbClr val="DBE7F9"/>
                    </a:solidFill>
                  </a:tcPr>
                </a:tc>
              </a:tr>
              <a:tr h="1109967">
                <a:tc>
                  <a:txBody>
                    <a:bodyPr/>
                    <a:lstStyle/>
                    <a:p>
                      <a:r>
                        <a:rPr lang="zh-CN" altLang="en-US" sz="2800" dirty="0">
                          <a:solidFill>
                            <a:srgbClr val="0000CC"/>
                          </a:solidFill>
                          <a:latin typeface="微软雅黑" panose="020B0503020204020204" pitchFamily="34" charset="-122"/>
                          <a:ea typeface="微软雅黑" panose="020B0503020204020204" pitchFamily="34" charset="-122"/>
                        </a:rPr>
                        <a:t>肝糖原磷酸化酶</a:t>
                      </a:r>
                      <a:endParaRPr lang="zh-CN" altLang="en-US" sz="2800" dirty="0">
                        <a:solidFill>
                          <a:srgbClr val="0000CC"/>
                        </a:solidFill>
                        <a:latin typeface="微软雅黑" panose="020B0503020204020204" pitchFamily="34" charset="-122"/>
                        <a:ea typeface="微软雅黑" panose="020B0503020204020204" pitchFamily="34" charset="-122"/>
                      </a:endParaRPr>
                    </a:p>
                  </a:txBody>
                  <a:tcPr marL="91455" marR="91455" marT="45732" marB="45732" anchor="ctr">
                    <a:solidFill>
                      <a:srgbClr val="F1F6FD"/>
                    </a:solidFill>
                  </a:tcPr>
                </a:tc>
                <a:tc>
                  <a:txBody>
                    <a:bodyPr/>
                    <a:lstStyle/>
                    <a:p>
                      <a:endParaRPr lang="zh-CN" altLang="en-US" sz="2800" dirty="0">
                        <a:latin typeface="微软雅黑" panose="020B0503020204020204" pitchFamily="34" charset="-122"/>
                        <a:ea typeface="微软雅黑" panose="020B0503020204020204" pitchFamily="34" charset="-122"/>
                      </a:endParaRPr>
                    </a:p>
                  </a:txBody>
                  <a:tcPr marL="91455" marR="91455" marT="45732" marB="45732" anchor="ctr">
                    <a:solidFill>
                      <a:srgbClr val="F1F6FD"/>
                    </a:solidFill>
                  </a:tcPr>
                </a:tc>
                <a:tc>
                  <a:txBody>
                    <a:bodyPr/>
                    <a:lstStyle/>
                    <a:p>
                      <a:r>
                        <a:rPr lang="zh-CN" altLang="en-US" sz="2800" dirty="0">
                          <a:solidFill>
                            <a:srgbClr val="FF0000"/>
                          </a:solidFill>
                          <a:latin typeface="微软雅黑" panose="020B0503020204020204" pitchFamily="34" charset="-122"/>
                          <a:ea typeface="微软雅黑" panose="020B0503020204020204" pitchFamily="34" charset="-122"/>
                        </a:rPr>
                        <a:t>葡萄糖</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6-</a:t>
                      </a:r>
                      <a:r>
                        <a:rPr lang="zh-CN" altLang="en-US" sz="2800" dirty="0">
                          <a:latin typeface="微软雅黑" panose="020B0503020204020204" pitchFamily="34" charset="-122"/>
                          <a:ea typeface="微软雅黑" panose="020B0503020204020204" pitchFamily="34" charset="-122"/>
                        </a:rPr>
                        <a:t>二磷酸果糖，</a:t>
                      </a:r>
                      <a:r>
                        <a:rPr lang="zh-CN" altLang="en-US" sz="2800" dirty="0">
                          <a:solidFill>
                            <a:srgbClr val="FF0000"/>
                          </a:solidFill>
                          <a:latin typeface="微软雅黑" panose="020B0503020204020204" pitchFamily="34" charset="-122"/>
                          <a:ea typeface="微软雅黑" panose="020B0503020204020204" pitchFamily="34" charset="-122"/>
                        </a:rPr>
                        <a:t>果糖</a:t>
                      </a:r>
                      <a:r>
                        <a:rPr lang="en-US" altLang="zh-CN" sz="2800" dirty="0">
                          <a:solidFill>
                            <a:srgbClr val="FF0000"/>
                          </a:solidFill>
                          <a:latin typeface="微软雅黑" panose="020B0503020204020204" pitchFamily="34" charset="-122"/>
                          <a:ea typeface="微软雅黑" panose="020B0503020204020204" pitchFamily="34" charset="-122"/>
                        </a:rPr>
                        <a:t>-1-</a:t>
                      </a:r>
                      <a:r>
                        <a:rPr lang="zh-CN" altLang="en-US" sz="2800" dirty="0">
                          <a:solidFill>
                            <a:srgbClr val="FF0000"/>
                          </a:solidFill>
                          <a:latin typeface="微软雅黑" panose="020B0503020204020204" pitchFamily="34" charset="-122"/>
                          <a:ea typeface="微软雅黑" panose="020B0503020204020204" pitchFamily="34" charset="-122"/>
                        </a:rPr>
                        <a:t>磷酸</a:t>
                      </a:r>
                      <a:endParaRPr lang="zh-CN" altLang="en-US" sz="2800" dirty="0">
                        <a:solidFill>
                          <a:srgbClr val="FF0000"/>
                        </a:solidFill>
                        <a:latin typeface="微软雅黑" panose="020B0503020204020204" pitchFamily="34" charset="-122"/>
                        <a:ea typeface="微软雅黑" panose="020B0503020204020204" pitchFamily="34" charset="-122"/>
                      </a:endParaRPr>
                    </a:p>
                  </a:txBody>
                  <a:tcPr marL="91455" marR="91455" marT="45732" marB="45732" anchor="ctr">
                    <a:solidFill>
                      <a:srgbClr val="F1F6FD"/>
                    </a:solidFill>
                  </a:tcPr>
                </a:tc>
              </a:tr>
              <a:tr h="1028434">
                <a:tc>
                  <a:txBody>
                    <a:bodyPr/>
                    <a:lstStyle/>
                    <a:p>
                      <a:r>
                        <a:rPr lang="zh-CN" altLang="en-US" sz="2800" dirty="0">
                          <a:solidFill>
                            <a:srgbClr val="0000CC"/>
                          </a:solidFill>
                          <a:latin typeface="微软雅黑" panose="020B0503020204020204" pitchFamily="34" charset="-122"/>
                          <a:ea typeface="微软雅黑" panose="020B0503020204020204" pitchFamily="34" charset="-122"/>
                        </a:rPr>
                        <a:t>肌糖原磷酸化酶</a:t>
                      </a:r>
                      <a:endParaRPr lang="zh-CN" altLang="en-US" sz="2800" dirty="0">
                        <a:solidFill>
                          <a:srgbClr val="0000CC"/>
                        </a:solidFill>
                        <a:latin typeface="微软雅黑" panose="020B0503020204020204" pitchFamily="34" charset="-122"/>
                        <a:ea typeface="微软雅黑" panose="020B0503020204020204" pitchFamily="34" charset="-122"/>
                      </a:endParaRPr>
                    </a:p>
                  </a:txBody>
                  <a:tcPr marL="91455" marR="91455" marT="45732" marB="45732" anchor="ctr">
                    <a:solidFill>
                      <a:srgbClr val="DBE7F9"/>
                    </a:solidFill>
                  </a:tcPr>
                </a:tc>
                <a:tc>
                  <a:txBody>
                    <a:bodyPr/>
                    <a:lstStyle/>
                    <a:p>
                      <a:r>
                        <a:rPr lang="en-US" altLang="zh-CN" sz="2800" dirty="0">
                          <a:latin typeface="微软雅黑" panose="020B0503020204020204" pitchFamily="34" charset="-122"/>
                          <a:ea typeface="微软雅黑" panose="020B0503020204020204" pitchFamily="34" charset="-122"/>
                        </a:rPr>
                        <a:t>AMP</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Ca</a:t>
                      </a:r>
                      <a:r>
                        <a:rPr lang="en-US" altLang="zh-CN" sz="2800" baseline="30000" dirty="0">
                          <a:latin typeface="微软雅黑" panose="020B0503020204020204" pitchFamily="34" charset="-122"/>
                          <a:ea typeface="微软雅黑" panose="020B0503020204020204" pitchFamily="34" charset="-122"/>
                        </a:rPr>
                        <a:t>2+</a:t>
                      </a:r>
                      <a:endParaRPr lang="zh-CN" altLang="en-US" sz="2800" baseline="30000" dirty="0">
                        <a:latin typeface="微软雅黑" panose="020B0503020204020204" pitchFamily="34" charset="-122"/>
                        <a:ea typeface="微软雅黑" panose="020B0503020204020204" pitchFamily="34" charset="-122"/>
                      </a:endParaRPr>
                    </a:p>
                  </a:txBody>
                  <a:tcPr marL="91455" marR="91455" marT="45732" marB="45732" anchor="ctr">
                    <a:solidFill>
                      <a:srgbClr val="DBE7F9"/>
                    </a:solidFill>
                  </a:tcPr>
                </a:tc>
                <a:tc>
                  <a:txBody>
                    <a:bodyPr/>
                    <a:lstStyle/>
                    <a:p>
                      <a:r>
                        <a:rPr lang="en-US" altLang="zh-CN" sz="2800" dirty="0">
                          <a:latin typeface="微软雅黑" panose="020B0503020204020204" pitchFamily="34" charset="-122"/>
                          <a:ea typeface="微软雅黑" panose="020B0503020204020204" pitchFamily="34" charset="-122"/>
                        </a:rPr>
                        <a:t>ATP</a:t>
                      </a:r>
                      <a:r>
                        <a:rPr lang="zh-CN" altLang="en-US" sz="2800" dirty="0">
                          <a:latin typeface="微软雅黑" panose="020B0503020204020204" pitchFamily="34" charset="-122"/>
                          <a:ea typeface="微软雅黑" panose="020B0503020204020204" pitchFamily="34" charset="-122"/>
                        </a:rPr>
                        <a:t>、葡糖</a:t>
                      </a:r>
                      <a:r>
                        <a:rPr lang="en-US" altLang="zh-CN" sz="2800" dirty="0">
                          <a:latin typeface="微软雅黑" panose="020B0503020204020204" pitchFamily="34" charset="-122"/>
                          <a:ea typeface="微软雅黑" panose="020B0503020204020204" pitchFamily="34" charset="-122"/>
                        </a:rPr>
                        <a:t>-6-</a:t>
                      </a:r>
                      <a:r>
                        <a:rPr lang="zh-CN" altLang="en-US" sz="2800" dirty="0">
                          <a:latin typeface="微软雅黑" panose="020B0503020204020204" pitchFamily="34" charset="-122"/>
                          <a:ea typeface="微软雅黑" panose="020B0503020204020204" pitchFamily="34" charset="-122"/>
                        </a:rPr>
                        <a:t>磷酸</a:t>
                      </a:r>
                      <a:endParaRPr lang="zh-CN" altLang="en-US" sz="2800" dirty="0">
                        <a:latin typeface="微软雅黑" panose="020B0503020204020204" pitchFamily="34" charset="-122"/>
                        <a:ea typeface="微软雅黑" panose="020B0503020204020204" pitchFamily="34" charset="-122"/>
                      </a:endParaRPr>
                    </a:p>
                  </a:txBody>
                  <a:tcPr marL="91455" marR="91455" marT="45732" marB="45732" anchor="ctr">
                    <a:solidFill>
                      <a:srgbClr val="DBE7F9"/>
                    </a:solidFill>
                  </a:tcPr>
                </a:tc>
              </a:tr>
            </a:tbl>
          </a:graphicData>
        </a:graphic>
      </p:graphicFrame>
    </p:spTree>
  </p:cSld>
  <p:clrMapOvr>
    <a:masterClrMapping/>
  </p:clrMapOvr>
  <p:transition spd="med">
    <p:zoom/>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2747964" y="765176"/>
            <a:ext cx="66690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3600">
                <a:solidFill>
                  <a:srgbClr val="800000"/>
                </a:solidFill>
                <a:latin typeface="楷体_GB2312" pitchFamily="49" charset="-122"/>
              </a:rPr>
              <a:t>肌糖原和肝糖原代谢调节的差异</a:t>
            </a:r>
            <a:endParaRPr kumimoji="1" lang="zh-CN" altLang="en-US" sz="3600">
              <a:solidFill>
                <a:srgbClr val="800000"/>
              </a:solidFill>
              <a:latin typeface="楷体_GB2312" pitchFamily="49" charset="-122"/>
            </a:endParaRPr>
          </a:p>
        </p:txBody>
      </p:sp>
      <p:graphicFrame>
        <p:nvGraphicFramePr>
          <p:cNvPr id="2" name="表格 1"/>
          <p:cNvGraphicFramePr>
            <a:graphicFrameLocks noGrp="1"/>
          </p:cNvGraphicFramePr>
          <p:nvPr/>
        </p:nvGraphicFramePr>
        <p:xfrm>
          <a:off x="1703512" y="1754189"/>
          <a:ext cx="8712968" cy="3867149"/>
        </p:xfrm>
        <a:graphic>
          <a:graphicData uri="http://schemas.openxmlformats.org/drawingml/2006/table">
            <a:tbl>
              <a:tblPr firstRow="1" bandRow="1">
                <a:tableStyleId>{5C22544A-7EE6-4342-B048-85BDC9FD1C3A}</a:tableStyleId>
              </a:tblPr>
              <a:tblGrid>
                <a:gridCol w="2804670"/>
                <a:gridCol w="3003975"/>
                <a:gridCol w="2904323"/>
              </a:tblGrid>
              <a:tr h="741646">
                <a:tc>
                  <a:txBody>
                    <a:bodyPr/>
                    <a:lstStyle/>
                    <a:p>
                      <a:pPr algn="ctr"/>
                      <a:r>
                        <a:rPr lang="zh-CN" altLang="en-US" sz="3200" dirty="0">
                          <a:latin typeface="微软雅黑" panose="020B0503020204020204" pitchFamily="34" charset="-122"/>
                          <a:ea typeface="微软雅黑" panose="020B0503020204020204" pitchFamily="34" charset="-122"/>
                        </a:rPr>
                        <a:t>激素</a:t>
                      </a:r>
                      <a:endParaRPr lang="zh-CN" altLang="en-US" sz="3200" dirty="0">
                        <a:latin typeface="微软雅黑" panose="020B0503020204020204" pitchFamily="34" charset="-122"/>
                        <a:ea typeface="微软雅黑" panose="020B0503020204020204" pitchFamily="34" charset="-122"/>
                      </a:endParaRPr>
                    </a:p>
                  </a:txBody>
                  <a:tcPr marL="91439" marR="91439" marT="45705" marB="45705" anchor="ctr">
                    <a:solidFill>
                      <a:schemeClr val="accent1">
                        <a:lumMod val="50000"/>
                      </a:schemeClr>
                    </a:solidFill>
                  </a:tcPr>
                </a:tc>
                <a:tc>
                  <a:txBody>
                    <a:bodyPr/>
                    <a:lstStyle/>
                    <a:p>
                      <a:pPr algn="ctr"/>
                      <a:r>
                        <a:rPr lang="zh-CN" altLang="en-US" sz="3200" dirty="0">
                          <a:latin typeface="微软雅黑" panose="020B0503020204020204" pitchFamily="34" charset="-122"/>
                          <a:ea typeface="微软雅黑" panose="020B0503020204020204" pitchFamily="34" charset="-122"/>
                        </a:rPr>
                        <a:t>肝糖原</a:t>
                      </a:r>
                      <a:endParaRPr lang="zh-CN" altLang="en-US" sz="3200" dirty="0">
                        <a:latin typeface="微软雅黑" panose="020B0503020204020204" pitchFamily="34" charset="-122"/>
                        <a:ea typeface="微软雅黑" panose="020B0503020204020204" pitchFamily="34" charset="-122"/>
                      </a:endParaRPr>
                    </a:p>
                  </a:txBody>
                  <a:tcPr marL="91439" marR="91439" marT="45705" marB="45705" anchor="ctr">
                    <a:solidFill>
                      <a:schemeClr val="accent1">
                        <a:lumMod val="50000"/>
                      </a:schemeClr>
                    </a:solidFill>
                  </a:tcPr>
                </a:tc>
                <a:tc>
                  <a:txBody>
                    <a:bodyPr/>
                    <a:lstStyle/>
                    <a:p>
                      <a:pPr algn="ctr"/>
                      <a:r>
                        <a:rPr lang="zh-CN" altLang="en-US" sz="3200" dirty="0">
                          <a:latin typeface="微软雅黑" panose="020B0503020204020204" pitchFamily="34" charset="-122"/>
                          <a:ea typeface="微软雅黑" panose="020B0503020204020204" pitchFamily="34" charset="-122"/>
                        </a:rPr>
                        <a:t>肌糖原</a:t>
                      </a:r>
                      <a:endParaRPr lang="zh-CN" altLang="en-US" sz="3200" dirty="0">
                        <a:latin typeface="微软雅黑" panose="020B0503020204020204" pitchFamily="34" charset="-122"/>
                        <a:ea typeface="微软雅黑" panose="020B0503020204020204" pitchFamily="34" charset="-122"/>
                      </a:endParaRPr>
                    </a:p>
                  </a:txBody>
                  <a:tcPr marL="91439" marR="91439" marT="45705" marB="45705" anchor="ctr">
                    <a:solidFill>
                      <a:schemeClr val="accent1">
                        <a:lumMod val="50000"/>
                      </a:schemeClr>
                    </a:solidFill>
                  </a:tcPr>
                </a:tc>
              </a:tr>
              <a:tr h="972748">
                <a:tc>
                  <a:txBody>
                    <a:bodyPr/>
                    <a:lstStyle/>
                    <a:p>
                      <a:r>
                        <a:rPr lang="zh-CN" altLang="en-US" sz="2800" dirty="0">
                          <a:solidFill>
                            <a:srgbClr val="0000CC"/>
                          </a:solidFill>
                          <a:latin typeface="微软雅黑" panose="020B0503020204020204" pitchFamily="34" charset="-122"/>
                          <a:ea typeface="微软雅黑" panose="020B0503020204020204" pitchFamily="34" charset="-122"/>
                        </a:rPr>
                        <a:t>胰岛素</a:t>
                      </a:r>
                      <a:endParaRPr lang="zh-CN" altLang="en-US" sz="2800" dirty="0">
                        <a:solidFill>
                          <a:srgbClr val="0000CC"/>
                        </a:solidFill>
                        <a:latin typeface="微软雅黑" panose="020B0503020204020204" pitchFamily="34" charset="-122"/>
                        <a:ea typeface="微软雅黑" panose="020B0503020204020204" pitchFamily="34" charset="-122"/>
                      </a:endParaRPr>
                    </a:p>
                  </a:txBody>
                  <a:tcPr marL="91439" marR="91439" marT="45705" marB="45705" anchor="ctr">
                    <a:solidFill>
                      <a:srgbClr val="D8E5F8"/>
                    </a:solidFill>
                  </a:tcPr>
                </a:tc>
                <a:tc>
                  <a:txBody>
                    <a:bodyPr/>
                    <a:lstStyle/>
                    <a:p>
                      <a:r>
                        <a:rPr lang="zh-CN" altLang="en-US" sz="2800" dirty="0">
                          <a:latin typeface="微软雅黑" panose="020B0503020204020204" pitchFamily="34" charset="-122"/>
                          <a:ea typeface="微软雅黑" panose="020B0503020204020204" pitchFamily="34" charset="-122"/>
                        </a:rPr>
                        <a:t>糖原合成 </a:t>
                      </a:r>
                      <a:r>
                        <a:rPr lang="zh-CN" altLang="en-US" sz="2800" dirty="0">
                          <a:latin typeface="微软雅黑" panose="020B0503020204020204" pitchFamily="34" charset="-122"/>
                          <a:ea typeface="微软雅黑" panose="020B0503020204020204" pitchFamily="34" charset="-122"/>
                          <a:sym typeface="Wingdings" panose="05000000000000000000" pitchFamily="2" charset="2"/>
                        </a:rPr>
                        <a:t></a:t>
                      </a:r>
                      <a:endParaRPr lang="zh-CN" altLang="en-US" sz="2800" dirty="0">
                        <a:latin typeface="微软雅黑" panose="020B0503020204020204" pitchFamily="34" charset="-122"/>
                        <a:ea typeface="微软雅黑" panose="020B0503020204020204" pitchFamily="34" charset="-122"/>
                      </a:endParaRPr>
                    </a:p>
                  </a:txBody>
                  <a:tcPr marL="91439" marR="91439" marT="45705" marB="45705" anchor="ctr">
                    <a:solidFill>
                      <a:srgbClr val="D8E5F8"/>
                    </a:solidFill>
                  </a:tcPr>
                </a:tc>
                <a:tc>
                  <a:txBody>
                    <a:bodyPr/>
                    <a:lstStyle/>
                    <a:p>
                      <a:r>
                        <a:rPr lang="zh-CN" altLang="en-US" sz="2800" dirty="0">
                          <a:latin typeface="微软雅黑" panose="020B0503020204020204" pitchFamily="34" charset="-122"/>
                          <a:ea typeface="微软雅黑" panose="020B0503020204020204" pitchFamily="34" charset="-122"/>
                        </a:rPr>
                        <a:t>糖原合成</a:t>
                      </a:r>
                      <a:r>
                        <a:rPr lang="zh-CN" altLang="en-US" sz="2800" dirty="0">
                          <a:latin typeface="微软雅黑" panose="020B0503020204020204" pitchFamily="34" charset="-122"/>
                          <a:ea typeface="微软雅黑" panose="020B0503020204020204" pitchFamily="34" charset="-122"/>
                          <a:sym typeface="Wingdings" panose="05000000000000000000" pitchFamily="2" charset="2"/>
                        </a:rPr>
                        <a:t></a:t>
                      </a:r>
                      <a:endParaRPr lang="zh-CN" altLang="en-US" sz="2800" dirty="0">
                        <a:latin typeface="微软雅黑" panose="020B0503020204020204" pitchFamily="34" charset="-122"/>
                        <a:ea typeface="微软雅黑" panose="020B0503020204020204" pitchFamily="34" charset="-122"/>
                      </a:endParaRPr>
                    </a:p>
                  </a:txBody>
                  <a:tcPr marL="91439" marR="91439" marT="45705" marB="45705" anchor="ctr">
                    <a:solidFill>
                      <a:srgbClr val="D8E5F8"/>
                    </a:solidFill>
                  </a:tcPr>
                </a:tc>
              </a:tr>
              <a:tr h="972748">
                <a:tc>
                  <a:txBody>
                    <a:bodyPr/>
                    <a:lstStyle/>
                    <a:p>
                      <a:r>
                        <a:rPr lang="zh-CN" altLang="en-US" sz="2800" dirty="0">
                          <a:solidFill>
                            <a:srgbClr val="0000CC"/>
                          </a:solidFill>
                          <a:latin typeface="微软雅黑" panose="020B0503020204020204" pitchFamily="34" charset="-122"/>
                          <a:ea typeface="微软雅黑" panose="020B0503020204020204" pitchFamily="34" charset="-122"/>
                        </a:rPr>
                        <a:t>胰高血糖素</a:t>
                      </a:r>
                      <a:endParaRPr lang="zh-CN" altLang="en-US" sz="2800" dirty="0">
                        <a:solidFill>
                          <a:srgbClr val="0000CC"/>
                        </a:solidFill>
                        <a:latin typeface="微软雅黑" panose="020B0503020204020204" pitchFamily="34" charset="-122"/>
                        <a:ea typeface="微软雅黑" panose="020B0503020204020204" pitchFamily="34" charset="-122"/>
                      </a:endParaRPr>
                    </a:p>
                  </a:txBody>
                  <a:tcPr marL="91439" marR="91439" marT="45705" marB="45705" anchor="ctr">
                    <a:solidFill>
                      <a:srgbClr val="F1F6FD"/>
                    </a:solidFill>
                  </a:tcPr>
                </a:tc>
                <a:tc>
                  <a:txBody>
                    <a:bodyPr/>
                    <a:lstStyle/>
                    <a:p>
                      <a:r>
                        <a:rPr lang="zh-CN" altLang="en-US" sz="2800" dirty="0">
                          <a:latin typeface="微软雅黑" panose="020B0503020204020204" pitchFamily="34" charset="-122"/>
                          <a:ea typeface="微软雅黑" panose="020B0503020204020204" pitchFamily="34" charset="-122"/>
                        </a:rPr>
                        <a:t>糖原分解</a:t>
                      </a:r>
                      <a:r>
                        <a:rPr lang="zh-CN" altLang="en-US" sz="2800" dirty="0">
                          <a:latin typeface="微软雅黑" panose="020B0503020204020204" pitchFamily="34" charset="-122"/>
                          <a:ea typeface="微软雅黑" panose="020B0503020204020204" pitchFamily="34" charset="-122"/>
                          <a:sym typeface="Wingdings" panose="05000000000000000000" pitchFamily="2" charset="2"/>
                        </a:rPr>
                        <a:t></a:t>
                      </a:r>
                      <a:endParaRPr lang="zh-CN" altLang="en-US" sz="2800" dirty="0">
                        <a:latin typeface="微软雅黑" panose="020B0503020204020204" pitchFamily="34" charset="-122"/>
                        <a:ea typeface="微软雅黑" panose="020B0503020204020204" pitchFamily="34" charset="-122"/>
                      </a:endParaRPr>
                    </a:p>
                  </a:txBody>
                  <a:tcPr marL="91439" marR="91439" marT="45705" marB="45705" anchor="ctr">
                    <a:solidFill>
                      <a:srgbClr val="F1F6FD"/>
                    </a:solidFill>
                  </a:tcPr>
                </a:tc>
                <a:tc>
                  <a:txBody>
                    <a:bodyPr/>
                    <a:lstStyle/>
                    <a:p>
                      <a:r>
                        <a:rPr lang="zh-CN" altLang="en-US" sz="2800" dirty="0">
                          <a:solidFill>
                            <a:srgbClr val="C00000"/>
                          </a:solidFill>
                          <a:latin typeface="微软雅黑" panose="020B0503020204020204" pitchFamily="34" charset="-122"/>
                          <a:ea typeface="微软雅黑" panose="020B0503020204020204" pitchFamily="34" charset="-122"/>
                        </a:rPr>
                        <a:t>不影响</a:t>
                      </a:r>
                      <a:endParaRPr lang="zh-CN" altLang="en-US" sz="2800" dirty="0">
                        <a:solidFill>
                          <a:srgbClr val="C00000"/>
                        </a:solidFill>
                        <a:latin typeface="微软雅黑" panose="020B0503020204020204" pitchFamily="34" charset="-122"/>
                        <a:ea typeface="微软雅黑" panose="020B0503020204020204" pitchFamily="34" charset="-122"/>
                      </a:endParaRPr>
                    </a:p>
                  </a:txBody>
                  <a:tcPr marL="91439" marR="91439" marT="45705" marB="45705" anchor="ctr">
                    <a:solidFill>
                      <a:srgbClr val="F1F6FD"/>
                    </a:solidFill>
                  </a:tcPr>
                </a:tc>
              </a:tr>
              <a:tr h="1180007">
                <a:tc>
                  <a:txBody>
                    <a:bodyPr/>
                    <a:lstStyle/>
                    <a:p>
                      <a:r>
                        <a:rPr lang="zh-CN" altLang="en-US" sz="2800" dirty="0">
                          <a:solidFill>
                            <a:srgbClr val="0000CC"/>
                          </a:solidFill>
                          <a:latin typeface="微软雅黑" panose="020B0503020204020204" pitchFamily="34" charset="-122"/>
                          <a:ea typeface="微软雅黑" panose="020B0503020204020204" pitchFamily="34" charset="-122"/>
                        </a:rPr>
                        <a:t>肾上腺素</a:t>
                      </a:r>
                      <a:endParaRPr lang="zh-CN" altLang="en-US" sz="2800" dirty="0">
                        <a:solidFill>
                          <a:srgbClr val="0000CC"/>
                        </a:solidFill>
                        <a:latin typeface="微软雅黑" panose="020B0503020204020204" pitchFamily="34" charset="-122"/>
                        <a:ea typeface="微软雅黑" panose="020B0503020204020204" pitchFamily="34" charset="-122"/>
                      </a:endParaRPr>
                    </a:p>
                  </a:txBody>
                  <a:tcPr marL="91439" marR="91439" marT="45705" marB="45705" anchor="ctr">
                    <a:solidFill>
                      <a:srgbClr val="D8E5F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latin typeface="微软雅黑" panose="020B0503020204020204" pitchFamily="34" charset="-122"/>
                          <a:ea typeface="微软雅黑" panose="020B0503020204020204" pitchFamily="34" charset="-122"/>
                        </a:rPr>
                        <a:t>糖原分解</a:t>
                      </a:r>
                      <a:r>
                        <a:rPr lang="zh-CN" altLang="en-US" sz="2800" dirty="0">
                          <a:latin typeface="微软雅黑" panose="020B0503020204020204" pitchFamily="34" charset="-122"/>
                          <a:ea typeface="微软雅黑" panose="020B0503020204020204" pitchFamily="34" charset="-122"/>
                          <a:sym typeface="Wingdings" panose="05000000000000000000" pitchFamily="2" charset="2"/>
                        </a:rPr>
                        <a:t></a:t>
                      </a:r>
                      <a:endParaRPr lang="zh-CN" altLang="en-US" sz="2800" dirty="0">
                        <a:latin typeface="微软雅黑" panose="020B0503020204020204" pitchFamily="34" charset="-122"/>
                        <a:ea typeface="微软雅黑" panose="020B0503020204020204" pitchFamily="34" charset="-122"/>
                      </a:endParaRPr>
                    </a:p>
                  </a:txBody>
                  <a:tcPr marL="91439" marR="91439" marT="45705" marB="45705" anchor="ctr">
                    <a:solidFill>
                      <a:srgbClr val="D8E5F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dirty="0">
                          <a:latin typeface="微软雅黑" panose="020B0503020204020204" pitchFamily="34" charset="-122"/>
                          <a:ea typeface="微软雅黑" panose="020B0503020204020204" pitchFamily="34" charset="-122"/>
                        </a:rPr>
                        <a:t>糖原分解</a:t>
                      </a:r>
                      <a:r>
                        <a:rPr lang="zh-CN" altLang="en-US" sz="2800" dirty="0">
                          <a:latin typeface="微软雅黑" panose="020B0503020204020204" pitchFamily="34" charset="-122"/>
                          <a:ea typeface="微软雅黑" panose="020B0503020204020204" pitchFamily="34" charset="-122"/>
                          <a:sym typeface="Wingdings" panose="05000000000000000000" pitchFamily="2" charset="2"/>
                        </a:rPr>
                        <a:t></a:t>
                      </a:r>
                      <a:endParaRPr lang="zh-CN" altLang="en-US" sz="2800" dirty="0">
                        <a:latin typeface="微软雅黑" panose="020B0503020204020204" pitchFamily="34" charset="-122"/>
                        <a:ea typeface="微软雅黑" panose="020B0503020204020204" pitchFamily="34" charset="-122"/>
                      </a:endParaRPr>
                    </a:p>
                  </a:txBody>
                  <a:tcPr marL="91439" marR="91439" marT="45705" marB="45705" anchor="ctr">
                    <a:solidFill>
                      <a:srgbClr val="D8E5F8"/>
                    </a:solidFill>
                  </a:tcPr>
                </a:tc>
              </a:tr>
            </a:tbl>
          </a:graphicData>
        </a:graphic>
      </p:graphicFrame>
    </p:spTree>
  </p:cSld>
  <p:clrMapOvr>
    <a:masterClrMapping/>
  </p:clrMapOvr>
  <p:transition spd="med">
    <p:zoom/>
  </p:transition>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2965451" y="690563"/>
            <a:ext cx="68945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3600" dirty="0">
                <a:solidFill>
                  <a:srgbClr val="800000"/>
                </a:solidFill>
                <a:latin typeface="黑体" panose="02010609060101010101" pitchFamily="2" charset="-122"/>
                <a:ea typeface="黑体" panose="02010609060101010101" pitchFamily="2" charset="-122"/>
              </a:rPr>
              <a:t>糖原合成与分解的调节</a:t>
            </a:r>
            <a:r>
              <a:rPr kumimoji="1" lang="en-US" altLang="zh-CN" sz="3600" dirty="0">
                <a:solidFill>
                  <a:srgbClr val="800000"/>
                </a:solidFill>
                <a:latin typeface="黑体" panose="02010609060101010101" pitchFamily="2" charset="-122"/>
                <a:ea typeface="黑体" panose="02010609060101010101" pitchFamily="2" charset="-122"/>
              </a:rPr>
              <a:t>---</a:t>
            </a:r>
            <a:r>
              <a:rPr kumimoji="1" lang="zh-CN" altLang="en-US" sz="3600" dirty="0">
                <a:solidFill>
                  <a:srgbClr val="800000"/>
                </a:solidFill>
                <a:latin typeface="黑体" panose="02010609060101010101" pitchFamily="2" charset="-122"/>
                <a:ea typeface="黑体" panose="02010609060101010101" pitchFamily="2" charset="-122"/>
              </a:rPr>
              <a:t>小结</a:t>
            </a:r>
            <a:endParaRPr kumimoji="1" lang="zh-CN" altLang="en-US" sz="3600" dirty="0">
              <a:solidFill>
                <a:srgbClr val="800000"/>
              </a:solidFill>
              <a:latin typeface="黑体" panose="02010609060101010101" pitchFamily="2" charset="-122"/>
              <a:ea typeface="黑体" panose="02010609060101010101" pitchFamily="2" charset="-122"/>
            </a:endParaRPr>
          </a:p>
        </p:txBody>
      </p:sp>
      <p:sp>
        <p:nvSpPr>
          <p:cNvPr id="265219" name="Text Box 3"/>
          <p:cNvSpPr txBox="1">
            <a:spLocks noChangeArrowheads="1"/>
          </p:cNvSpPr>
          <p:nvPr/>
        </p:nvSpPr>
        <p:spPr bwMode="auto">
          <a:xfrm>
            <a:off x="2351088" y="2738438"/>
            <a:ext cx="7473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6405" indent="-4464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dirty="0">
                <a:latin typeface="微软雅黑" panose="020B0503020204020204" pitchFamily="34" charset="-122"/>
                <a:ea typeface="微软雅黑" panose="020B0503020204020204" pitchFamily="34" charset="-122"/>
              </a:rPr>
              <a:t>② </a:t>
            </a:r>
            <a:r>
              <a:rPr kumimoji="1" lang="zh-CN" altLang="en-US" sz="2400" b="0" dirty="0">
                <a:solidFill>
                  <a:srgbClr val="000099"/>
                </a:solidFill>
                <a:latin typeface="微软雅黑" panose="020B0503020204020204" pitchFamily="34" charset="-122"/>
                <a:ea typeface="微软雅黑" panose="020B0503020204020204" pitchFamily="34" charset="-122"/>
              </a:rPr>
              <a:t>双向调控</a:t>
            </a:r>
            <a:r>
              <a:rPr kumimoji="1" lang="zh-CN" altLang="en-US" sz="2400" b="0" dirty="0">
                <a:latin typeface="微软雅黑" panose="020B0503020204020204" pitchFamily="34" charset="-122"/>
                <a:ea typeface="微软雅黑" panose="020B0503020204020204" pitchFamily="34" charset="-122"/>
              </a:rPr>
              <a:t>：对合成酶系与分解酶系分别进行调节。</a:t>
            </a:r>
            <a:endParaRPr kumimoji="1" lang="zh-CN" altLang="en-US" sz="2400" b="0" dirty="0">
              <a:latin typeface="微软雅黑" panose="020B0503020204020204" pitchFamily="34" charset="-122"/>
              <a:ea typeface="微软雅黑" panose="020B0503020204020204" pitchFamily="34" charset="-122"/>
            </a:endParaRPr>
          </a:p>
        </p:txBody>
      </p:sp>
      <p:sp>
        <p:nvSpPr>
          <p:cNvPr id="265220" name="Text Box 4"/>
          <p:cNvSpPr txBox="1">
            <a:spLocks noChangeArrowheads="1"/>
          </p:cNvSpPr>
          <p:nvPr/>
        </p:nvSpPr>
        <p:spPr bwMode="auto">
          <a:xfrm>
            <a:off x="2378075" y="3459164"/>
            <a:ext cx="6172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spcBef>
                <a:spcPct val="0"/>
              </a:spcBef>
              <a:buClrTx/>
              <a:buSzTx/>
              <a:buFontTx/>
              <a:buNone/>
            </a:pPr>
            <a:r>
              <a:rPr kumimoji="1" lang="zh-CN" altLang="en-US" sz="2400" b="0">
                <a:latin typeface="微软雅黑" panose="020B0503020204020204" pitchFamily="34" charset="-122"/>
                <a:ea typeface="微软雅黑" panose="020B0503020204020204" pitchFamily="34" charset="-122"/>
              </a:rPr>
              <a:t>③ </a:t>
            </a:r>
            <a:r>
              <a:rPr kumimoji="1" lang="zh-CN" altLang="en-US" sz="2400" b="0">
                <a:solidFill>
                  <a:srgbClr val="000099"/>
                </a:solidFill>
                <a:latin typeface="微软雅黑" panose="020B0503020204020204" pitchFamily="34" charset="-122"/>
                <a:ea typeface="微软雅黑" panose="020B0503020204020204" pitchFamily="34" charset="-122"/>
              </a:rPr>
              <a:t>双重调节</a:t>
            </a:r>
            <a:r>
              <a:rPr kumimoji="1" lang="zh-CN" altLang="en-US" sz="2400" b="0">
                <a:latin typeface="微软雅黑" panose="020B0503020204020204" pitchFamily="34" charset="-122"/>
                <a:ea typeface="微软雅黑" panose="020B0503020204020204" pitchFamily="34" charset="-122"/>
              </a:rPr>
              <a:t>：别构调节和共价修饰调节。 </a:t>
            </a:r>
            <a:endParaRPr kumimoji="1" lang="zh-CN" altLang="en-US" sz="2400" b="0">
              <a:latin typeface="微软雅黑" panose="020B0503020204020204" pitchFamily="34" charset="-122"/>
              <a:ea typeface="微软雅黑" panose="020B0503020204020204" pitchFamily="34" charset="-122"/>
            </a:endParaRPr>
          </a:p>
        </p:txBody>
      </p:sp>
      <p:sp>
        <p:nvSpPr>
          <p:cNvPr id="265221" name="Text Box 5"/>
          <p:cNvSpPr txBox="1">
            <a:spLocks noChangeArrowheads="1"/>
          </p:cNvSpPr>
          <p:nvPr/>
        </p:nvSpPr>
        <p:spPr bwMode="auto">
          <a:xfrm>
            <a:off x="2422525" y="4683125"/>
            <a:ext cx="7202488"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0"/>
              </a:spcBef>
              <a:buClrTx/>
              <a:buSzTx/>
              <a:buFontTx/>
              <a:buNone/>
            </a:pPr>
            <a:r>
              <a:rPr kumimoji="1" lang="zh-CN" altLang="en-US" sz="2400" b="0" dirty="0">
                <a:latin typeface="微软雅黑" panose="020B0503020204020204" pitchFamily="34" charset="-122"/>
                <a:ea typeface="微软雅黑" panose="020B0503020204020204" pitchFamily="34" charset="-122"/>
              </a:rPr>
              <a:t>⑤ 促进肝糖原分解的激素主要为</a:t>
            </a:r>
            <a:r>
              <a:rPr kumimoji="1" lang="zh-CN" altLang="en-US" sz="2400" b="0" dirty="0">
                <a:solidFill>
                  <a:srgbClr val="000099"/>
                </a:solidFill>
                <a:latin typeface="微软雅黑" panose="020B0503020204020204" pitchFamily="34" charset="-122"/>
                <a:ea typeface="微软雅黑" panose="020B0503020204020204" pitchFamily="34" charset="-122"/>
              </a:rPr>
              <a:t>胰高血糖素</a:t>
            </a:r>
            <a:r>
              <a:rPr kumimoji="1" lang="zh-CN" altLang="en-US" sz="2400" b="0" dirty="0">
                <a:latin typeface="微软雅黑" panose="020B0503020204020204" pitchFamily="34" charset="-122"/>
                <a:ea typeface="微软雅黑" panose="020B0503020204020204" pitchFamily="34" charset="-122"/>
              </a:rPr>
              <a:t>， </a:t>
            </a:r>
            <a:endParaRPr kumimoji="1" lang="zh-CN" altLang="en-US" sz="2400" b="0" dirty="0">
              <a:latin typeface="微软雅黑" panose="020B0503020204020204" pitchFamily="34" charset="-122"/>
              <a:ea typeface="微软雅黑" panose="020B0503020204020204" pitchFamily="34" charset="-122"/>
            </a:endParaRPr>
          </a:p>
          <a:p>
            <a:pPr algn="just" eaLnBrk="1" hangingPunct="1">
              <a:lnSpc>
                <a:spcPct val="110000"/>
              </a:lnSpc>
              <a:spcBef>
                <a:spcPct val="0"/>
              </a:spcBef>
              <a:buClrTx/>
              <a:buSzTx/>
              <a:buFontTx/>
              <a:buNone/>
            </a:pPr>
            <a:r>
              <a:rPr kumimoji="1" lang="zh-CN" altLang="en-US" sz="2400" b="0" dirty="0">
                <a:latin typeface="微软雅黑" panose="020B0503020204020204" pitchFamily="34" charset="-122"/>
                <a:ea typeface="微软雅黑" panose="020B0503020204020204" pitchFamily="34" charset="-122"/>
              </a:rPr>
              <a:t>     促进肌糖原分解的激素主要为</a:t>
            </a:r>
            <a:r>
              <a:rPr kumimoji="1" lang="zh-CN" altLang="en-US" sz="2400" b="0" dirty="0">
                <a:solidFill>
                  <a:srgbClr val="000099"/>
                </a:solidFill>
                <a:latin typeface="微软雅黑" panose="020B0503020204020204" pitchFamily="34" charset="-122"/>
                <a:ea typeface="微软雅黑" panose="020B0503020204020204" pitchFamily="34" charset="-122"/>
              </a:rPr>
              <a:t>肾上腺素</a:t>
            </a:r>
            <a:r>
              <a:rPr kumimoji="1" lang="zh-CN" altLang="en-US" sz="2400" b="0" dirty="0">
                <a:latin typeface="微软雅黑" panose="020B0503020204020204" pitchFamily="34" charset="-122"/>
                <a:ea typeface="微软雅黑" panose="020B0503020204020204" pitchFamily="34" charset="-122"/>
              </a:rPr>
              <a:t>。</a:t>
            </a:r>
            <a:endParaRPr kumimoji="1" lang="zh-CN" altLang="en-US" sz="2400" b="0" dirty="0">
              <a:latin typeface="微软雅黑" panose="020B0503020204020204" pitchFamily="34" charset="-122"/>
              <a:ea typeface="微软雅黑" panose="020B0503020204020204" pitchFamily="34" charset="-122"/>
            </a:endParaRPr>
          </a:p>
        </p:txBody>
      </p:sp>
      <p:sp>
        <p:nvSpPr>
          <p:cNvPr id="265222" name="Rectangle 6"/>
          <p:cNvSpPr>
            <a:spLocks noChangeArrowheads="1"/>
          </p:cNvSpPr>
          <p:nvPr/>
        </p:nvSpPr>
        <p:spPr bwMode="auto">
          <a:xfrm>
            <a:off x="2392363" y="4106863"/>
            <a:ext cx="5575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spcBef>
                <a:spcPct val="0"/>
              </a:spcBef>
              <a:buClrTx/>
              <a:buSzTx/>
              <a:buFontTx/>
              <a:buNone/>
            </a:pPr>
            <a:r>
              <a:rPr kumimoji="1" lang="zh-CN" altLang="en-US" sz="2400" b="0">
                <a:latin typeface="微软雅黑" panose="020B0503020204020204" pitchFamily="34" charset="-122"/>
                <a:ea typeface="微软雅黑" panose="020B0503020204020204" pitchFamily="34" charset="-122"/>
              </a:rPr>
              <a:t>④ 关键酶调节上存在</a:t>
            </a:r>
            <a:r>
              <a:rPr kumimoji="1" lang="zh-CN" altLang="en-US" sz="2400" b="0" u="sng">
                <a:solidFill>
                  <a:srgbClr val="000099"/>
                </a:solidFill>
                <a:latin typeface="微软雅黑" panose="020B0503020204020204" pitchFamily="34" charset="-122"/>
                <a:ea typeface="微软雅黑" panose="020B0503020204020204" pitchFamily="34" charset="-122"/>
              </a:rPr>
              <a:t>级联效应</a:t>
            </a:r>
            <a:r>
              <a:rPr kumimoji="1" lang="zh-CN" altLang="en-US" sz="2400" b="0">
                <a:latin typeface="微软雅黑" panose="020B0503020204020204" pitchFamily="34" charset="-122"/>
                <a:ea typeface="微软雅黑" panose="020B0503020204020204" pitchFamily="34" charset="-122"/>
              </a:rPr>
              <a:t>。 </a:t>
            </a:r>
            <a:endParaRPr kumimoji="1" lang="zh-CN" altLang="en-US" sz="2400" b="0">
              <a:latin typeface="微软雅黑" panose="020B0503020204020204" pitchFamily="34" charset="-122"/>
              <a:ea typeface="微软雅黑" panose="020B0503020204020204" pitchFamily="34" charset="-122"/>
            </a:endParaRPr>
          </a:p>
        </p:txBody>
      </p:sp>
      <p:sp>
        <p:nvSpPr>
          <p:cNvPr id="265223" name="Rectangle 7"/>
          <p:cNvSpPr>
            <a:spLocks noChangeArrowheads="1"/>
          </p:cNvSpPr>
          <p:nvPr/>
        </p:nvSpPr>
        <p:spPr bwMode="auto">
          <a:xfrm>
            <a:off x="2351088" y="1785938"/>
            <a:ext cx="76327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6405" indent="-4464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latin typeface="微软雅黑" panose="020B0503020204020204" pitchFamily="34" charset="-122"/>
                <a:ea typeface="微软雅黑" panose="020B0503020204020204" pitchFamily="34" charset="-122"/>
              </a:rPr>
              <a:t>① 关键酶都以</a:t>
            </a:r>
            <a:r>
              <a:rPr kumimoji="1" lang="zh-CN" altLang="en-US" sz="2400" b="0">
                <a:solidFill>
                  <a:srgbClr val="000099"/>
                </a:solidFill>
                <a:latin typeface="微软雅黑" panose="020B0503020204020204" pitchFamily="34" charset="-122"/>
                <a:ea typeface="微软雅黑" panose="020B0503020204020204" pitchFamily="34" charset="-122"/>
              </a:rPr>
              <a:t>活性、无（低）活性二种形式</a:t>
            </a:r>
            <a:r>
              <a:rPr kumimoji="1" lang="zh-CN" altLang="en-US" sz="2400" b="0">
                <a:latin typeface="微软雅黑" panose="020B0503020204020204" pitchFamily="34" charset="-122"/>
                <a:ea typeface="微软雅黑" panose="020B0503020204020204" pitchFamily="34" charset="-122"/>
              </a:rPr>
              <a:t>存在，通过</a:t>
            </a:r>
            <a:r>
              <a:rPr kumimoji="1" lang="zh-CN" altLang="en-US" sz="2400" b="0">
                <a:solidFill>
                  <a:srgbClr val="000099"/>
                </a:solidFill>
                <a:latin typeface="微软雅黑" panose="020B0503020204020204" pitchFamily="34" charset="-122"/>
                <a:ea typeface="微软雅黑" panose="020B0503020204020204" pitchFamily="34" charset="-122"/>
              </a:rPr>
              <a:t>磷酸化和去磷酸化</a:t>
            </a:r>
            <a:r>
              <a:rPr kumimoji="1" lang="zh-CN" altLang="en-US" sz="2400" b="0">
                <a:latin typeface="微软雅黑" panose="020B0503020204020204" pitchFamily="34" charset="-122"/>
                <a:ea typeface="微软雅黑" panose="020B0503020204020204" pitchFamily="34" charset="-122"/>
              </a:rPr>
              <a:t>转变活性。</a:t>
            </a:r>
            <a:endParaRPr kumimoji="1" lang="zh-CN" altLang="en-US" sz="2400" b="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5223"/>
                                        </p:tgtEl>
                                        <p:attrNameLst>
                                          <p:attrName>style.visibility</p:attrName>
                                        </p:attrNameLst>
                                      </p:cBhvr>
                                      <p:to>
                                        <p:strVal val="visible"/>
                                      </p:to>
                                    </p:set>
                                    <p:animEffect transition="in" filter="blinds(horizontal)">
                                      <p:cBhvr>
                                        <p:cTn id="7" dur="500"/>
                                        <p:tgtEl>
                                          <p:spTgt spid="2652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5219"/>
                                        </p:tgtEl>
                                        <p:attrNameLst>
                                          <p:attrName>style.visibility</p:attrName>
                                        </p:attrNameLst>
                                      </p:cBhvr>
                                      <p:to>
                                        <p:strVal val="visible"/>
                                      </p:to>
                                    </p:set>
                                    <p:animEffect transition="in" filter="blinds(horizontal)">
                                      <p:cBhvr>
                                        <p:cTn id="12" dur="500"/>
                                        <p:tgtEl>
                                          <p:spTgt spid="26521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65220"/>
                                        </p:tgtEl>
                                        <p:attrNameLst>
                                          <p:attrName>style.visibility</p:attrName>
                                        </p:attrNameLst>
                                      </p:cBhvr>
                                      <p:to>
                                        <p:strVal val="visible"/>
                                      </p:to>
                                    </p:set>
                                    <p:animEffect transition="in" filter="barn(inVertical)">
                                      <p:cBhvr>
                                        <p:cTn id="17" dur="500"/>
                                        <p:tgtEl>
                                          <p:spTgt spid="26522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65222"/>
                                        </p:tgtEl>
                                        <p:attrNameLst>
                                          <p:attrName>style.visibility</p:attrName>
                                        </p:attrNameLst>
                                      </p:cBhvr>
                                      <p:to>
                                        <p:strVal val="visible"/>
                                      </p:to>
                                    </p:set>
                                    <p:animEffect transition="in" filter="randombar(horizontal)">
                                      <p:cBhvr>
                                        <p:cTn id="22" dur="500"/>
                                        <p:tgtEl>
                                          <p:spTgt spid="26522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265221"/>
                                        </p:tgtEl>
                                        <p:attrNameLst>
                                          <p:attrName>style.visibility</p:attrName>
                                        </p:attrNameLst>
                                      </p:cBhvr>
                                      <p:to>
                                        <p:strVal val="visible"/>
                                      </p:to>
                                    </p:set>
                                    <p:animEffect transition="in" filter="barn(outHorizontal)">
                                      <p:cBhvr>
                                        <p:cTn id="27" dur="500"/>
                                        <p:tgtEl>
                                          <p:spTgt spid="265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9" grpId="0" autoUpdateAnimBg="0"/>
      <p:bldP spid="265220" grpId="0" autoUpdateAnimBg="0"/>
      <p:bldP spid="265221" grpId="0" autoUpdateAnimBg="0"/>
      <p:bldP spid="265222" grpId="0" autoUpdateAnimBg="0"/>
      <p:bldP spid="265223" grpId="0"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xfrm>
            <a:off x="3971925" y="549276"/>
            <a:ext cx="4248150" cy="720725"/>
          </a:xfrm>
          <a:noFill/>
        </p:spPr>
        <p:txBody>
          <a:bodyPr/>
          <a:lstStyle/>
          <a:p>
            <a:pPr eaLnBrk="1" hangingPunct="1">
              <a:buFont typeface="Wingdings" panose="05000000000000000000" pitchFamily="2" charset="2"/>
              <a:buNone/>
            </a:pPr>
            <a:r>
              <a:rPr lang="zh-CN" altLang="en-US" sz="4000" b="0">
                <a:solidFill>
                  <a:srgbClr val="800000"/>
                </a:solidFill>
                <a:latin typeface="黑体" panose="02010609060101010101" pitchFamily="2" charset="-122"/>
                <a:ea typeface="黑体" panose="02010609060101010101" pitchFamily="2" charset="-122"/>
              </a:rPr>
              <a:t> 四、糖原累积症</a:t>
            </a:r>
            <a:endParaRPr lang="zh-CN" altLang="en-US" sz="4000" b="0">
              <a:solidFill>
                <a:srgbClr val="800000"/>
              </a:solidFill>
              <a:latin typeface="黑体" panose="02010609060101010101" pitchFamily="2" charset="-122"/>
              <a:ea typeface="黑体" panose="02010609060101010101" pitchFamily="2" charset="-122"/>
            </a:endParaRPr>
          </a:p>
        </p:txBody>
      </p:sp>
      <p:sp>
        <p:nvSpPr>
          <p:cNvPr id="45059" name="Rectangle 3"/>
          <p:cNvSpPr>
            <a:spLocks noChangeArrowheads="1"/>
          </p:cNvSpPr>
          <p:nvPr/>
        </p:nvSpPr>
        <p:spPr bwMode="auto">
          <a:xfrm>
            <a:off x="1487488" y="1805190"/>
            <a:ext cx="9505056" cy="3247620"/>
          </a:xfrm>
          <a:prstGeom prst="rect">
            <a:avLst/>
          </a:prstGeom>
          <a:noFill/>
          <a:ln>
            <a:noFill/>
          </a:ln>
        </p:spPr>
        <p:txBody>
          <a:bodyPr wrap="square" anchor="ct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50000"/>
              </a:lnSpc>
              <a:spcBef>
                <a:spcPct val="0"/>
              </a:spcBef>
              <a:buClrTx/>
              <a:buSzTx/>
              <a:buFontTx/>
              <a:buNone/>
              <a:defRPr/>
            </a:pPr>
            <a:r>
              <a:rPr kumimoji="1" lang="zh-CN" altLang="en-US" sz="2800" dirty="0">
                <a:solidFill>
                  <a:srgbClr val="800000"/>
                </a:solidFill>
              </a:rPr>
              <a:t>糖原累积症</a:t>
            </a:r>
            <a:r>
              <a:rPr kumimoji="1" lang="zh-CN" altLang="en-US" sz="2800" b="0" dirty="0">
                <a:solidFill>
                  <a:srgbClr val="800000"/>
                </a:solidFill>
              </a:rPr>
              <a:t>(</a:t>
            </a:r>
            <a:r>
              <a:rPr kumimoji="1" lang="en-US" altLang="zh-CN" sz="2800" b="0" dirty="0">
                <a:solidFill>
                  <a:srgbClr val="800000"/>
                </a:solidFill>
              </a:rPr>
              <a:t>glycogen storage diseases, GSD)</a:t>
            </a:r>
            <a:r>
              <a:rPr kumimoji="1" lang="zh-CN" altLang="en-US" sz="2800" b="0" dirty="0"/>
              <a:t>是一类遗传性代谢病，其特点为体内</a:t>
            </a:r>
            <a:r>
              <a:rPr kumimoji="1" lang="zh-CN" altLang="en-US" sz="2800" b="0" dirty="0">
                <a:solidFill>
                  <a:srgbClr val="0033CC"/>
                </a:solidFill>
              </a:rPr>
              <a:t>某些器官组织中有大量糖原堆积</a:t>
            </a:r>
            <a:r>
              <a:rPr kumimoji="1" lang="zh-CN" altLang="en-US" sz="2800" b="0" dirty="0"/>
              <a:t>。</a:t>
            </a:r>
            <a:endParaRPr kumimoji="1" lang="en-US" altLang="zh-CN" sz="2800" b="0" dirty="0"/>
          </a:p>
          <a:p>
            <a:pPr eaLnBrk="1" hangingPunct="1">
              <a:lnSpc>
                <a:spcPct val="150000"/>
              </a:lnSpc>
              <a:spcBef>
                <a:spcPct val="0"/>
              </a:spcBef>
              <a:buClrTx/>
              <a:buSzTx/>
              <a:buFontTx/>
              <a:buNone/>
              <a:defRPr/>
            </a:pPr>
            <a:r>
              <a:rPr kumimoji="1" lang="zh-CN" altLang="en-US" sz="2800" b="0" dirty="0"/>
              <a:t>病因：</a:t>
            </a:r>
            <a:r>
              <a:rPr kumimoji="1" lang="zh-CN" altLang="en-US" sz="2800" b="0" dirty="0">
                <a:solidFill>
                  <a:srgbClr val="0000CC"/>
                </a:solidFill>
              </a:rPr>
              <a:t>先天性缺乏与糖原代谢有关的酶类</a:t>
            </a:r>
            <a:r>
              <a:rPr kumimoji="1" lang="zh-CN" altLang="en-US" sz="2800" b="0" dirty="0"/>
              <a:t>。</a:t>
            </a:r>
            <a:endParaRPr kumimoji="1" lang="en-US" altLang="zh-CN" sz="2800" b="0" dirty="0"/>
          </a:p>
          <a:p>
            <a:pPr eaLnBrk="1" hangingPunct="1">
              <a:lnSpc>
                <a:spcPct val="150000"/>
              </a:lnSpc>
              <a:spcBef>
                <a:spcPct val="0"/>
              </a:spcBef>
              <a:buClrTx/>
              <a:buSzTx/>
              <a:buFontTx/>
              <a:buNone/>
              <a:defRPr/>
            </a:pPr>
            <a:r>
              <a:rPr kumimoji="1" lang="zh-CN" altLang="en-US" sz="2800" b="0" dirty="0">
                <a:solidFill>
                  <a:schemeClr val="tx1">
                    <a:lumMod val="95000"/>
                    <a:lumOff val="5000"/>
                  </a:schemeClr>
                </a:solidFill>
              </a:rPr>
              <a:t>多数属</a:t>
            </a:r>
            <a:r>
              <a:rPr kumimoji="1" lang="zh-CN" altLang="en-US" sz="2800" b="0" dirty="0">
                <a:solidFill>
                  <a:srgbClr val="000099"/>
                </a:solidFill>
              </a:rPr>
              <a:t>常染色体隐性遗传</a:t>
            </a:r>
            <a:r>
              <a:rPr kumimoji="1" lang="zh-CN" altLang="en-US" sz="2800" b="0" dirty="0">
                <a:solidFill>
                  <a:schemeClr val="tx1">
                    <a:lumMod val="95000"/>
                    <a:lumOff val="5000"/>
                  </a:schemeClr>
                </a:solidFill>
              </a:rPr>
              <a:t>，发病因种族而异。根据欧洲资料，其发病率为</a:t>
            </a:r>
            <a:r>
              <a:rPr kumimoji="1" lang="en-US" altLang="zh-CN" sz="2800" b="0" dirty="0">
                <a:solidFill>
                  <a:schemeClr val="tx1">
                    <a:lumMod val="95000"/>
                    <a:lumOff val="5000"/>
                  </a:schemeClr>
                </a:solidFill>
              </a:rPr>
              <a:t>1/2</a:t>
            </a:r>
            <a:r>
              <a:rPr kumimoji="1" lang="zh-CN" altLang="en-US" sz="2800" b="0" dirty="0">
                <a:solidFill>
                  <a:schemeClr val="tx1">
                    <a:lumMod val="95000"/>
                    <a:lumOff val="5000"/>
                  </a:schemeClr>
                </a:solidFill>
              </a:rPr>
              <a:t>万～</a:t>
            </a:r>
            <a:r>
              <a:rPr kumimoji="1" lang="en-US" altLang="zh-CN" sz="2800" b="0" dirty="0">
                <a:solidFill>
                  <a:schemeClr val="tx1">
                    <a:lumMod val="95000"/>
                    <a:lumOff val="5000"/>
                  </a:schemeClr>
                </a:solidFill>
              </a:rPr>
              <a:t>2.5</a:t>
            </a:r>
            <a:r>
              <a:rPr kumimoji="1" lang="zh-CN" altLang="en-US" sz="2800" b="0" dirty="0">
                <a:solidFill>
                  <a:schemeClr val="tx1">
                    <a:lumMod val="95000"/>
                    <a:lumOff val="5000"/>
                  </a:schemeClr>
                </a:solidFill>
              </a:rPr>
              <a:t>万。</a:t>
            </a:r>
            <a:endParaRPr kumimoji="1" lang="zh-CN" altLang="en-US" sz="2800" b="0" dirty="0">
              <a:solidFill>
                <a:schemeClr val="tx1">
                  <a:lumMod val="95000"/>
                  <a:lumOff val="5000"/>
                </a:schemeClr>
              </a:solidFill>
            </a:endParaRPr>
          </a:p>
        </p:txBody>
      </p:sp>
    </p:spTree>
  </p:cSld>
  <p:clrMapOvr>
    <a:masterClrMapping/>
  </p:clrMapOvr>
  <p:transition spd="med">
    <p:zoom/>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47850" y="0"/>
            <a:ext cx="84963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p:cNvCxnSpPr/>
          <p:nvPr/>
        </p:nvCxnSpPr>
        <p:spPr bwMode="auto">
          <a:xfrm>
            <a:off x="7680176" y="1196752"/>
            <a:ext cx="1368152"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6" name="直接连接符 5"/>
          <p:cNvCxnSpPr/>
          <p:nvPr/>
        </p:nvCxnSpPr>
        <p:spPr bwMode="auto">
          <a:xfrm>
            <a:off x="8616280" y="5661248"/>
            <a:ext cx="504056"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7" name="直接连接符 6"/>
          <p:cNvCxnSpPr/>
          <p:nvPr/>
        </p:nvCxnSpPr>
        <p:spPr bwMode="auto">
          <a:xfrm>
            <a:off x="9336360" y="4869160"/>
            <a:ext cx="792088"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8" name="直接连接符 7"/>
          <p:cNvCxnSpPr/>
          <p:nvPr/>
        </p:nvCxnSpPr>
        <p:spPr bwMode="auto">
          <a:xfrm>
            <a:off x="7752184" y="4005064"/>
            <a:ext cx="1152128"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9" name="直接连接符 8"/>
          <p:cNvCxnSpPr/>
          <p:nvPr/>
        </p:nvCxnSpPr>
        <p:spPr bwMode="auto">
          <a:xfrm>
            <a:off x="7752184" y="3717032"/>
            <a:ext cx="889248"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3" name="直接连接符 22"/>
          <p:cNvCxnSpPr/>
          <p:nvPr/>
        </p:nvCxnSpPr>
        <p:spPr bwMode="auto">
          <a:xfrm>
            <a:off x="7680176" y="6237312"/>
            <a:ext cx="504056"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4" name="直接连接符 23"/>
          <p:cNvCxnSpPr/>
          <p:nvPr/>
        </p:nvCxnSpPr>
        <p:spPr bwMode="auto">
          <a:xfrm>
            <a:off x="8688288" y="6525344"/>
            <a:ext cx="504056" cy="0"/>
          </a:xfrm>
          <a:prstGeom prst="line">
            <a:avLst/>
          </a:prstGeom>
          <a:solidFill>
            <a:schemeClr val="accent1"/>
          </a:solidFill>
          <a:ln w="28575" cap="flat" cmpd="sng" algn="ctr">
            <a:solidFill>
              <a:srgbClr val="C00000"/>
            </a:solidFill>
            <a:prstDash val="solid"/>
            <a:round/>
            <a:headEnd type="none" w="med" len="med"/>
            <a:tailEnd type="none" w="med" len="med"/>
          </a:ln>
          <a:effectLst/>
        </p:spPr>
      </p:cxnSp>
      <p:cxnSp>
        <p:nvCxnSpPr>
          <p:cNvPr id="26" name="直接连接符 25"/>
          <p:cNvCxnSpPr/>
          <p:nvPr/>
        </p:nvCxnSpPr>
        <p:spPr bwMode="auto">
          <a:xfrm>
            <a:off x="8472264" y="2924944"/>
            <a:ext cx="576064" cy="0"/>
          </a:xfrm>
          <a:prstGeom prst="line">
            <a:avLst/>
          </a:prstGeom>
          <a:solidFill>
            <a:schemeClr val="accent1"/>
          </a:solidFill>
          <a:ln w="28575" cap="flat" cmpd="sng" algn="ctr">
            <a:solidFill>
              <a:srgbClr val="0000FF"/>
            </a:solidFill>
            <a:prstDash val="solid"/>
            <a:round/>
            <a:headEnd type="none" w="med" len="med"/>
            <a:tailEnd type="none" w="med" len="med"/>
          </a:ln>
          <a:effectLst/>
        </p:spPr>
      </p:cxnSp>
      <p:cxnSp>
        <p:nvCxnSpPr>
          <p:cNvPr id="27" name="直接连接符 26"/>
          <p:cNvCxnSpPr/>
          <p:nvPr/>
        </p:nvCxnSpPr>
        <p:spPr bwMode="auto">
          <a:xfrm>
            <a:off x="8400256" y="5157192"/>
            <a:ext cx="576064" cy="0"/>
          </a:xfrm>
          <a:prstGeom prst="line">
            <a:avLst/>
          </a:prstGeom>
          <a:solidFill>
            <a:schemeClr val="accent1"/>
          </a:solidFill>
          <a:ln w="28575" cap="flat" cmpd="sng" algn="ctr">
            <a:solidFill>
              <a:srgbClr val="0000FF"/>
            </a:solidFill>
            <a:prstDash val="solid"/>
            <a:round/>
            <a:headEnd type="none" w="med" len="med"/>
            <a:tailEnd type="none" w="med" len="med"/>
          </a:ln>
          <a:effectLst/>
        </p:spPr>
      </p:cxnSp>
      <p:cxnSp>
        <p:nvCxnSpPr>
          <p:cNvPr id="28" name="直接连接符 27"/>
          <p:cNvCxnSpPr/>
          <p:nvPr/>
        </p:nvCxnSpPr>
        <p:spPr bwMode="auto">
          <a:xfrm>
            <a:off x="7752184" y="4581128"/>
            <a:ext cx="576064" cy="0"/>
          </a:xfrm>
          <a:prstGeom prst="line">
            <a:avLst/>
          </a:prstGeom>
          <a:solidFill>
            <a:schemeClr val="accent1"/>
          </a:solidFill>
          <a:ln w="28575" cap="flat" cmpd="sng" algn="ctr">
            <a:solidFill>
              <a:srgbClr val="0000FF"/>
            </a:solidFill>
            <a:prstDash val="solid"/>
            <a:round/>
            <a:headEnd type="none" w="med" len="med"/>
            <a:tailEnd type="none" w="med" len="med"/>
          </a:ln>
          <a:effectLst/>
        </p:spPr>
      </p:cxnSp>
    </p:spTree>
  </p:cSld>
  <p:clrMapOvr>
    <a:masterClrMapping/>
  </p:clrMapOvr>
  <p:transition spd="med">
    <p:zoom/>
  </p:transition>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2754" name="内容占位符 2"/>
          <p:cNvSpPr>
            <a:spLocks noGrp="1" noChangeArrowheads="1"/>
          </p:cNvSpPr>
          <p:nvPr>
            <p:ph idx="4294967295"/>
          </p:nvPr>
        </p:nvSpPr>
        <p:spPr>
          <a:xfrm>
            <a:off x="1163452" y="1052736"/>
            <a:ext cx="9829092" cy="4968552"/>
          </a:xfrm>
        </p:spPr>
        <p:txBody>
          <a:bodyPr/>
          <a:lstStyle/>
          <a:p>
            <a:pPr>
              <a:lnSpc>
                <a:spcPct val="150000"/>
              </a:lnSpc>
            </a:pPr>
            <a:r>
              <a:rPr lang="zh-CN" altLang="en-US" sz="2800" b="0" dirty="0">
                <a:latin typeface="Arial" panose="020B0604020202020204" pitchFamily="34" charset="0"/>
              </a:rPr>
              <a:t>病例</a:t>
            </a:r>
            <a:r>
              <a:rPr lang="en-US" altLang="zh-CN" sz="2800" b="0" dirty="0">
                <a:latin typeface="Arial" panose="020B0604020202020204" pitchFamily="34" charset="0"/>
              </a:rPr>
              <a:t>A   </a:t>
            </a:r>
            <a:r>
              <a:rPr lang="zh-CN" altLang="en-US" sz="2800" b="0" dirty="0">
                <a:latin typeface="Arial" panose="020B0604020202020204" pitchFamily="34" charset="0"/>
              </a:rPr>
              <a:t>患者主诉进行剧烈体育锻炼时肌肉痉挛疼痛，但没有其他症状。 肌肉活检显示肌糖原浓度远高于正常水平。 为什么糖原会积累？ </a:t>
            </a:r>
            <a:endParaRPr lang="en-US" altLang="zh-CN" sz="2800" b="0" dirty="0">
              <a:latin typeface="Arial" panose="020B0604020202020204" pitchFamily="34" charset="0"/>
            </a:endParaRPr>
          </a:p>
          <a:p>
            <a:pPr>
              <a:lnSpc>
                <a:spcPct val="150000"/>
              </a:lnSpc>
            </a:pPr>
            <a:endParaRPr lang="en-US" altLang="zh-CN" sz="2800" b="0" dirty="0">
              <a:latin typeface="Arial" panose="020B0604020202020204" pitchFamily="34" charset="0"/>
            </a:endParaRPr>
          </a:p>
          <a:p>
            <a:pPr>
              <a:lnSpc>
                <a:spcPct val="150000"/>
              </a:lnSpc>
            </a:pPr>
            <a:r>
              <a:rPr lang="zh-CN" altLang="en-US" sz="2800" b="0" dirty="0">
                <a:latin typeface="Arial" panose="020B0604020202020204" pitchFamily="34" charset="0"/>
              </a:rPr>
              <a:t>病例</a:t>
            </a:r>
            <a:r>
              <a:rPr lang="en-US" altLang="zh-CN" sz="2800" b="0" dirty="0">
                <a:latin typeface="Arial" panose="020B0604020202020204" pitchFamily="34" charset="0"/>
              </a:rPr>
              <a:t>B   </a:t>
            </a:r>
            <a:r>
              <a:rPr lang="zh-CN" altLang="en-US" sz="2800" b="0" dirty="0">
                <a:latin typeface="Arial" panose="020B0604020202020204" pitchFamily="34" charset="0"/>
              </a:rPr>
              <a:t>患者昏昏欲睡，肝脏肿大，肝脏活检显示过量的糖原。 她的血糖水平也低于正常水平。 该患者低血糖的原因是什么？ </a:t>
            </a:r>
            <a:endParaRPr lang="zh-CN" altLang="en-US" sz="2800" b="0" dirty="0">
              <a:latin typeface="Arial" panose="020B0604020202020204" pitchFamily="34" charset="0"/>
            </a:endParaRPr>
          </a:p>
          <a:p>
            <a:endParaRPr lang="zh-CN" altLang="en-US" sz="2800" dirty="0"/>
          </a:p>
        </p:txBody>
      </p:sp>
    </p:spTree>
  </p:cSld>
  <p:clrMapOvr>
    <a:masterClrMapping/>
  </p:clrMapOvr>
  <p:transition spd="med">
    <p:zo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501775" y="1427163"/>
            <a:ext cx="9144000" cy="2724150"/>
          </a:xfrm>
        </p:spPr>
        <p:txBody>
          <a:bodyPr/>
          <a:lstStyle/>
          <a:p>
            <a:pPr eaLnBrk="1" hangingPunct="1">
              <a:lnSpc>
                <a:spcPct val="200000"/>
              </a:lnSpc>
            </a:pPr>
            <a:r>
              <a:rPr lang="zh-CN" altLang="en-US" sz="4400" b="1">
                <a:solidFill>
                  <a:srgbClr val="800000"/>
                </a:solidFill>
              </a:rPr>
              <a:t>第六节 </a:t>
            </a:r>
            <a:br>
              <a:rPr lang="zh-CN" altLang="en-US" sz="4400" b="1">
                <a:solidFill>
                  <a:srgbClr val="800000"/>
                </a:solidFill>
              </a:rPr>
            </a:br>
            <a:r>
              <a:rPr lang="zh-CN" altLang="en-US" sz="4400" b="1">
                <a:solidFill>
                  <a:srgbClr val="800000"/>
                </a:solidFill>
              </a:rPr>
              <a:t>糖 异 生</a:t>
            </a:r>
            <a:endParaRPr lang="zh-CN" altLang="en-US" sz="4400" b="1">
              <a:solidFill>
                <a:srgbClr val="800000"/>
              </a:solidFill>
            </a:endParaRPr>
          </a:p>
        </p:txBody>
      </p:sp>
      <p:sp>
        <p:nvSpPr>
          <p:cNvPr id="54275" name="Text Box 3"/>
          <p:cNvSpPr txBox="1">
            <a:spLocks noChangeArrowheads="1"/>
          </p:cNvSpPr>
          <p:nvPr/>
        </p:nvSpPr>
        <p:spPr bwMode="auto">
          <a:xfrm>
            <a:off x="2782888" y="3860800"/>
            <a:ext cx="693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a:latin typeface="Arial" panose="020B0604020202020204" pitchFamily="34" charset="0"/>
              </a:rPr>
              <a:t>Gluconeogenesis</a:t>
            </a:r>
            <a:endParaRPr kumimoji="1" lang="zh-CN" altLang="en-US">
              <a:latin typeface="Arial" panose="020B0604020202020204" pitchFamily="34" charset="0"/>
            </a:endParaRPr>
          </a:p>
        </p:txBody>
      </p:sp>
    </p:spTree>
  </p:cSld>
  <p:clrMapOvr>
    <a:masterClrMapping/>
  </p:clrMapOvr>
  <p:transition spd="med">
    <p:zo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p:cNvSpPr txBox="1">
            <a:spLocks noChangeArrowheads="1"/>
          </p:cNvSpPr>
          <p:nvPr/>
        </p:nvSpPr>
        <p:spPr bwMode="auto">
          <a:xfrm>
            <a:off x="1970088" y="2229353"/>
            <a:ext cx="8640960"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buFontTx/>
              <a:buNone/>
            </a:pPr>
            <a:r>
              <a:rPr kumimoji="1" lang="zh-CN" altLang="en-US" sz="2800" b="0" dirty="0">
                <a:solidFill>
                  <a:srgbClr val="000099"/>
                </a:solidFill>
              </a:rPr>
              <a:t>糖异生(</a:t>
            </a:r>
            <a:r>
              <a:rPr kumimoji="1" lang="en-US" altLang="zh-CN" sz="2800" b="0" dirty="0">
                <a:solidFill>
                  <a:srgbClr val="000099"/>
                </a:solidFill>
              </a:rPr>
              <a:t>gluconeogenesis)</a:t>
            </a:r>
            <a:r>
              <a:rPr kumimoji="1" lang="zh-CN" altLang="en-US" sz="2800" b="0" dirty="0"/>
              <a:t>是指从非糖化合物（</a:t>
            </a:r>
            <a:r>
              <a:rPr kumimoji="1" lang="zh-CN" altLang="en-US" sz="2800" b="0" dirty="0">
                <a:solidFill>
                  <a:srgbClr val="0000CC"/>
                </a:solidFill>
              </a:rPr>
              <a:t>乳酸、甘油、生糖氨基酸等</a:t>
            </a:r>
            <a:r>
              <a:rPr kumimoji="1" lang="zh-CN" altLang="en-US" sz="2800" b="0" dirty="0"/>
              <a:t>）转变为葡萄糖 或糖原的过程。</a:t>
            </a:r>
            <a:endParaRPr kumimoji="1" lang="zh-CN" altLang="en-US" sz="2800" b="0" dirty="0"/>
          </a:p>
        </p:txBody>
      </p:sp>
      <p:sp>
        <p:nvSpPr>
          <p:cNvPr id="270339" name="Text Box 3"/>
          <p:cNvSpPr txBox="1">
            <a:spLocks noChangeArrowheads="1"/>
          </p:cNvSpPr>
          <p:nvPr/>
        </p:nvSpPr>
        <p:spPr bwMode="auto">
          <a:xfrm>
            <a:off x="1970088" y="3957086"/>
            <a:ext cx="4679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800000"/>
                </a:solidFill>
              </a:rPr>
              <a:t>* 部位</a:t>
            </a:r>
            <a:endParaRPr kumimoji="1" lang="zh-CN" altLang="en-US" sz="2800" b="0" dirty="0">
              <a:solidFill>
                <a:srgbClr val="800000"/>
              </a:solidFill>
            </a:endParaRPr>
          </a:p>
        </p:txBody>
      </p:sp>
      <p:sp>
        <p:nvSpPr>
          <p:cNvPr id="56325" name="Text Box 5"/>
          <p:cNvSpPr txBox="1">
            <a:spLocks noChangeArrowheads="1"/>
          </p:cNvSpPr>
          <p:nvPr/>
        </p:nvSpPr>
        <p:spPr bwMode="auto">
          <a:xfrm>
            <a:off x="1970088" y="1528485"/>
            <a:ext cx="28654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C00000"/>
                </a:solidFill>
              </a:rPr>
              <a:t>* 概念   </a:t>
            </a:r>
            <a:endParaRPr kumimoji="1" lang="zh-CN" altLang="en-US" sz="2800" b="0" dirty="0">
              <a:solidFill>
                <a:srgbClr val="C00000"/>
              </a:solidFill>
            </a:endParaRPr>
          </a:p>
        </p:txBody>
      </p:sp>
      <p:sp>
        <p:nvSpPr>
          <p:cNvPr id="270342" name="Text Box 6"/>
          <p:cNvSpPr txBox="1">
            <a:spLocks noChangeArrowheads="1"/>
          </p:cNvSpPr>
          <p:nvPr/>
        </p:nvSpPr>
        <p:spPr bwMode="auto">
          <a:xfrm>
            <a:off x="2942530" y="4479373"/>
            <a:ext cx="7761982" cy="1048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Tx/>
              <a:buNone/>
            </a:pPr>
            <a:r>
              <a:rPr kumimoji="1" lang="zh-CN" altLang="en-US" sz="2800" b="0" dirty="0"/>
              <a:t>主要是</a:t>
            </a:r>
            <a:r>
              <a:rPr kumimoji="1" lang="zh-CN" altLang="en-US" sz="2800" b="0" dirty="0">
                <a:solidFill>
                  <a:srgbClr val="0000FF"/>
                </a:solidFill>
              </a:rPr>
              <a:t>肝脏</a:t>
            </a:r>
            <a:r>
              <a:rPr kumimoji="1" lang="zh-CN" altLang="en-US" sz="2800" b="0" dirty="0">
                <a:solidFill>
                  <a:schemeClr val="tx1">
                    <a:lumMod val="95000"/>
                    <a:lumOff val="5000"/>
                  </a:schemeClr>
                </a:solidFill>
              </a:rPr>
              <a:t>合成葡萄糖并</a:t>
            </a:r>
            <a:r>
              <a:rPr kumimoji="1" lang="zh-CN" altLang="en-US" sz="2800" b="0" dirty="0">
                <a:solidFill>
                  <a:srgbClr val="0000CC"/>
                </a:solidFill>
              </a:rPr>
              <a:t>输出</a:t>
            </a:r>
            <a:endParaRPr kumimoji="1" lang="en-US" altLang="zh-CN" sz="2800" b="0" dirty="0">
              <a:solidFill>
                <a:srgbClr val="0000CC"/>
              </a:solidFill>
            </a:endParaRPr>
          </a:p>
          <a:p>
            <a:pPr eaLnBrk="1" hangingPunct="1">
              <a:lnSpc>
                <a:spcPct val="120000"/>
              </a:lnSpc>
              <a:spcBef>
                <a:spcPct val="0"/>
              </a:spcBef>
              <a:buClrTx/>
              <a:buSzTx/>
              <a:buFontTx/>
              <a:buNone/>
            </a:pPr>
            <a:r>
              <a:rPr kumimoji="1" lang="zh-CN" altLang="en-US" sz="2600" b="0" dirty="0">
                <a:solidFill>
                  <a:schemeClr val="tx1">
                    <a:lumMod val="95000"/>
                    <a:lumOff val="5000"/>
                  </a:schemeClr>
                </a:solidFill>
              </a:rPr>
              <a:t>肾皮质和小肠上皮细胞亦可生成，主要自身利用。</a:t>
            </a:r>
            <a:endParaRPr kumimoji="1" lang="en-US" altLang="zh-CN" sz="2600" b="0" dirty="0">
              <a:solidFill>
                <a:schemeClr val="tx1">
                  <a:lumMod val="95000"/>
                  <a:lumOff val="5000"/>
                </a:schemeClr>
              </a:solidFill>
            </a:endParaRPr>
          </a:p>
        </p:txBody>
      </p:sp>
      <p:sp>
        <p:nvSpPr>
          <p:cNvPr id="56328" name="Rectangle 8"/>
          <p:cNvSpPr>
            <a:spLocks noGrp="1" noChangeArrowheads="1"/>
          </p:cNvSpPr>
          <p:nvPr>
            <p:ph type="title"/>
          </p:nvPr>
        </p:nvSpPr>
        <p:spPr>
          <a:xfrm>
            <a:off x="2286000" y="404813"/>
            <a:ext cx="7772400" cy="914400"/>
          </a:xfrm>
          <a:noFill/>
        </p:spPr>
        <p:txBody>
          <a:bodyPr/>
          <a:lstStyle/>
          <a:p>
            <a:pPr eaLnBrk="1" hangingPunct="1"/>
            <a:r>
              <a:rPr lang="zh-CN" altLang="en-US" b="1">
                <a:solidFill>
                  <a:srgbClr val="800000"/>
                </a:solidFill>
              </a:rPr>
              <a:t>糖异生</a:t>
            </a:r>
            <a:endParaRPr lang="zh-CN" altLang="en-US" b="1">
              <a:solidFill>
                <a:srgbClr val="800000"/>
              </a:solidFill>
            </a:endParaRPr>
          </a:p>
        </p:txBody>
      </p:sp>
      <p:sp>
        <p:nvSpPr>
          <p:cNvPr id="3" name="文本框 2"/>
          <p:cNvSpPr txBox="1"/>
          <p:nvPr/>
        </p:nvSpPr>
        <p:spPr>
          <a:xfrm>
            <a:off x="2258289" y="5819384"/>
            <a:ext cx="5400600" cy="523220"/>
          </a:xfrm>
          <a:prstGeom prst="rect">
            <a:avLst/>
          </a:prstGeom>
          <a:noFill/>
        </p:spPr>
        <p:txBody>
          <a:bodyPr wrap="square">
            <a:spAutoFit/>
          </a:bodyPr>
          <a:lstStyle/>
          <a:p>
            <a:r>
              <a:rPr kumimoji="1" lang="zh-CN" altLang="en-US" sz="2800" b="0" dirty="0">
                <a:solidFill>
                  <a:schemeClr val="tx1">
                    <a:lumMod val="95000"/>
                    <a:lumOff val="5000"/>
                  </a:schemeClr>
                </a:solidFill>
                <a:latin typeface="Times New Roman" panose="02020603050405020304" pitchFamily="18" charset="0"/>
                <a:ea typeface="楷体_GB2312" pitchFamily="49" charset="-122"/>
              </a:rPr>
              <a:t>亚细胞定位： </a:t>
            </a:r>
            <a:r>
              <a:rPr kumimoji="1" lang="zh-CN" altLang="en-US" sz="2800" b="0" dirty="0">
                <a:solidFill>
                  <a:srgbClr val="0000CC"/>
                </a:solidFill>
                <a:latin typeface="Times New Roman" panose="02020603050405020304" pitchFamily="18" charset="0"/>
                <a:ea typeface="楷体_GB2312" pitchFamily="49" charset="-122"/>
              </a:rPr>
              <a:t>胞质及线粒体   </a:t>
            </a:r>
            <a:endParaRPr kumimoji="1" lang="zh-CN" altLang="en-US" sz="2800" b="0" dirty="0">
              <a:solidFill>
                <a:srgbClr val="0000CC"/>
              </a:solidFill>
              <a:latin typeface="Times New Roman" panose="02020603050405020304" pitchFamily="18" charset="0"/>
              <a:ea typeface="楷体_GB2312" pitchFamily="49"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70338"/>
                                        </p:tgtEl>
                                        <p:attrNameLst>
                                          <p:attrName>style.visibility</p:attrName>
                                        </p:attrNameLst>
                                      </p:cBhvr>
                                      <p:to>
                                        <p:strVal val="visible"/>
                                      </p:to>
                                    </p:set>
                                    <p:animEffect transition="in" filter="wipe(up)">
                                      <p:cBhvr>
                                        <p:cTn id="7" dur="500"/>
                                        <p:tgtEl>
                                          <p:spTgt spid="270338"/>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270339"/>
                                        </p:tgtEl>
                                        <p:attrNameLst>
                                          <p:attrName>style.visibility</p:attrName>
                                        </p:attrNameLst>
                                      </p:cBhvr>
                                      <p:to>
                                        <p:strVal val="visible"/>
                                      </p:to>
                                    </p:set>
                                    <p:anim calcmode="lin" valueType="num">
                                      <p:cBhvr>
                                        <p:cTn id="12" dur="500" fill="hold"/>
                                        <p:tgtEl>
                                          <p:spTgt spid="270339"/>
                                        </p:tgtEl>
                                        <p:attrNameLst>
                                          <p:attrName>ppt_x</p:attrName>
                                        </p:attrNameLst>
                                      </p:cBhvr>
                                      <p:tavLst>
                                        <p:tav tm="0">
                                          <p:val>
                                            <p:strVal val="#ppt_x-#ppt_w/2"/>
                                          </p:val>
                                        </p:tav>
                                        <p:tav tm="100000">
                                          <p:val>
                                            <p:strVal val="#ppt_x"/>
                                          </p:val>
                                        </p:tav>
                                      </p:tavLst>
                                    </p:anim>
                                    <p:anim calcmode="lin" valueType="num">
                                      <p:cBhvr>
                                        <p:cTn id="13" dur="500" fill="hold"/>
                                        <p:tgtEl>
                                          <p:spTgt spid="270339"/>
                                        </p:tgtEl>
                                        <p:attrNameLst>
                                          <p:attrName>ppt_y</p:attrName>
                                        </p:attrNameLst>
                                      </p:cBhvr>
                                      <p:tavLst>
                                        <p:tav tm="0">
                                          <p:val>
                                            <p:strVal val="#ppt_y"/>
                                          </p:val>
                                        </p:tav>
                                        <p:tav tm="100000">
                                          <p:val>
                                            <p:strVal val="#ppt_y"/>
                                          </p:val>
                                        </p:tav>
                                      </p:tavLst>
                                    </p:anim>
                                    <p:anim calcmode="lin" valueType="num">
                                      <p:cBhvr>
                                        <p:cTn id="14" dur="500" fill="hold"/>
                                        <p:tgtEl>
                                          <p:spTgt spid="270339"/>
                                        </p:tgtEl>
                                        <p:attrNameLst>
                                          <p:attrName>ppt_w</p:attrName>
                                        </p:attrNameLst>
                                      </p:cBhvr>
                                      <p:tavLst>
                                        <p:tav tm="0">
                                          <p:val>
                                            <p:fltVal val="0"/>
                                          </p:val>
                                        </p:tav>
                                        <p:tav tm="100000">
                                          <p:val>
                                            <p:strVal val="#ppt_w"/>
                                          </p:val>
                                        </p:tav>
                                      </p:tavLst>
                                    </p:anim>
                                    <p:anim calcmode="lin" valueType="num">
                                      <p:cBhvr>
                                        <p:cTn id="15" dur="500" fill="hold"/>
                                        <p:tgtEl>
                                          <p:spTgt spid="270339"/>
                                        </p:tgtEl>
                                        <p:attrNameLst>
                                          <p:attrName>ppt_h</p:attrName>
                                        </p:attrNameLst>
                                      </p:cBhvr>
                                      <p:tavLst>
                                        <p:tav tm="0">
                                          <p:val>
                                            <p:strVal val="#ppt_h"/>
                                          </p:val>
                                        </p:tav>
                                        <p:tav tm="100000">
                                          <p:val>
                                            <p:strVal val="#ppt_h"/>
                                          </p:val>
                                        </p:tav>
                                      </p:tavLst>
                                    </p:anim>
                                  </p:childTnLst>
                                </p:cTn>
                              </p:par>
                            </p:childTnLst>
                          </p:cTn>
                        </p:par>
                        <p:par>
                          <p:cTn id="16" fill="hold">
                            <p:stCondLst>
                              <p:cond delay="500"/>
                            </p:stCondLst>
                            <p:childTnLst>
                              <p:par>
                                <p:cTn id="17" presetID="17" presetClass="entr" presetSubtype="8" fill="hold" grpId="0" nodeType="afterEffect">
                                  <p:stCondLst>
                                    <p:cond delay="0"/>
                                  </p:stCondLst>
                                  <p:childTnLst>
                                    <p:set>
                                      <p:cBhvr>
                                        <p:cTn id="18" dur="1" fill="hold">
                                          <p:stCondLst>
                                            <p:cond delay="0"/>
                                          </p:stCondLst>
                                        </p:cTn>
                                        <p:tgtEl>
                                          <p:spTgt spid="270342"/>
                                        </p:tgtEl>
                                        <p:attrNameLst>
                                          <p:attrName>style.visibility</p:attrName>
                                        </p:attrNameLst>
                                      </p:cBhvr>
                                      <p:to>
                                        <p:strVal val="visible"/>
                                      </p:to>
                                    </p:set>
                                    <p:anim calcmode="lin" valueType="num">
                                      <p:cBhvr>
                                        <p:cTn id="19" dur="500" fill="hold"/>
                                        <p:tgtEl>
                                          <p:spTgt spid="270342"/>
                                        </p:tgtEl>
                                        <p:attrNameLst>
                                          <p:attrName>ppt_x</p:attrName>
                                        </p:attrNameLst>
                                      </p:cBhvr>
                                      <p:tavLst>
                                        <p:tav tm="0">
                                          <p:val>
                                            <p:strVal val="#ppt_x-#ppt_w/2"/>
                                          </p:val>
                                        </p:tav>
                                        <p:tav tm="100000">
                                          <p:val>
                                            <p:strVal val="#ppt_x"/>
                                          </p:val>
                                        </p:tav>
                                      </p:tavLst>
                                    </p:anim>
                                    <p:anim calcmode="lin" valueType="num">
                                      <p:cBhvr>
                                        <p:cTn id="20" dur="500" fill="hold"/>
                                        <p:tgtEl>
                                          <p:spTgt spid="270342"/>
                                        </p:tgtEl>
                                        <p:attrNameLst>
                                          <p:attrName>ppt_y</p:attrName>
                                        </p:attrNameLst>
                                      </p:cBhvr>
                                      <p:tavLst>
                                        <p:tav tm="0">
                                          <p:val>
                                            <p:strVal val="#ppt_y"/>
                                          </p:val>
                                        </p:tav>
                                        <p:tav tm="100000">
                                          <p:val>
                                            <p:strVal val="#ppt_y"/>
                                          </p:val>
                                        </p:tav>
                                      </p:tavLst>
                                    </p:anim>
                                    <p:anim calcmode="lin" valueType="num">
                                      <p:cBhvr>
                                        <p:cTn id="21" dur="500" fill="hold"/>
                                        <p:tgtEl>
                                          <p:spTgt spid="270342"/>
                                        </p:tgtEl>
                                        <p:attrNameLst>
                                          <p:attrName>ppt_w</p:attrName>
                                        </p:attrNameLst>
                                      </p:cBhvr>
                                      <p:tavLst>
                                        <p:tav tm="0">
                                          <p:val>
                                            <p:fltVal val="0"/>
                                          </p:val>
                                        </p:tav>
                                        <p:tav tm="100000">
                                          <p:val>
                                            <p:strVal val="#ppt_w"/>
                                          </p:val>
                                        </p:tav>
                                      </p:tavLst>
                                    </p:anim>
                                    <p:anim calcmode="lin" valueType="num">
                                      <p:cBhvr>
                                        <p:cTn id="22" dur="500" fill="hold"/>
                                        <p:tgtEl>
                                          <p:spTgt spid="2703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8" grpId="0" autoUpdateAnimBg="0"/>
      <p:bldP spid="270339" grpId="0" autoUpdateAnimBg="0"/>
      <p:bldP spid="270342" grpId="0" autoUpdateAnimBg="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733801" y="711201"/>
            <a:ext cx="6826695" cy="701675"/>
          </a:xfrm>
        </p:spPr>
        <p:txBody>
          <a:bodyPr/>
          <a:lstStyle/>
          <a:p>
            <a:pPr eaLnBrk="1" hangingPunct="1"/>
            <a:r>
              <a:rPr lang="zh-CN" altLang="en-US" sz="3200" b="1" dirty="0">
                <a:solidFill>
                  <a:srgbClr val="800000"/>
                </a:solidFill>
                <a:ea typeface="楷体_GB2312" pitchFamily="49" charset="-122"/>
              </a:rPr>
              <a:t>一、糖异生不完全是糖酵解的逆反应</a:t>
            </a:r>
            <a:endParaRPr lang="zh-CN" altLang="en-US" sz="3200" b="1" dirty="0">
              <a:solidFill>
                <a:srgbClr val="800000"/>
              </a:solidFill>
              <a:ea typeface="楷体_GB2312" pitchFamily="49" charset="-122"/>
            </a:endParaRPr>
          </a:p>
        </p:txBody>
      </p:sp>
      <p:sp>
        <p:nvSpPr>
          <p:cNvPr id="58371" name="Text Box 3"/>
          <p:cNvSpPr txBox="1">
            <a:spLocks noChangeArrowheads="1"/>
          </p:cNvSpPr>
          <p:nvPr/>
        </p:nvSpPr>
        <p:spPr bwMode="auto">
          <a:xfrm>
            <a:off x="4046985" y="2101819"/>
            <a:ext cx="7305599" cy="3463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457200" indent="-457200" eaLnBrk="1" hangingPunct="1">
              <a:lnSpc>
                <a:spcPct val="150000"/>
              </a:lnSpc>
              <a:spcBef>
                <a:spcPct val="50000"/>
              </a:spcBef>
              <a:buClrTx/>
              <a:buSzTx/>
            </a:pPr>
            <a:r>
              <a:rPr kumimoji="1" lang="zh-CN" altLang="en-US" sz="2800" b="0" dirty="0">
                <a:solidFill>
                  <a:srgbClr val="0000FF"/>
                </a:solidFill>
                <a:latin typeface="楷体_GB2312" pitchFamily="49" charset="-122"/>
              </a:rPr>
              <a:t>糖异生途径</a:t>
            </a:r>
            <a:r>
              <a:rPr kumimoji="1" lang="zh-CN" altLang="en-US" sz="2800" b="0" dirty="0">
                <a:solidFill>
                  <a:schemeClr val="tx1">
                    <a:lumMod val="95000"/>
                    <a:lumOff val="5000"/>
                  </a:schemeClr>
                </a:solidFill>
                <a:latin typeface="楷体_GB2312" pitchFamily="49" charset="-122"/>
              </a:rPr>
              <a:t>： 从</a:t>
            </a:r>
            <a:r>
              <a:rPr kumimoji="1" lang="zh-CN" altLang="en-US" sz="2800" dirty="0">
                <a:solidFill>
                  <a:schemeClr val="tx1">
                    <a:lumMod val="95000"/>
                    <a:lumOff val="5000"/>
                  </a:schemeClr>
                </a:solidFill>
                <a:latin typeface="楷体_GB2312" pitchFamily="49" charset="-122"/>
              </a:rPr>
              <a:t>丙酮酸</a:t>
            </a:r>
            <a:r>
              <a:rPr kumimoji="1" lang="zh-CN" altLang="en-US" sz="2800" b="0" dirty="0">
                <a:solidFill>
                  <a:schemeClr val="tx1">
                    <a:lumMod val="95000"/>
                    <a:lumOff val="5000"/>
                  </a:schemeClr>
                </a:solidFill>
                <a:latin typeface="楷体_GB2312" pitchFamily="49" charset="-122"/>
              </a:rPr>
              <a:t>生成</a:t>
            </a:r>
            <a:r>
              <a:rPr kumimoji="1" lang="zh-CN" altLang="en-US" sz="2800" dirty="0">
                <a:solidFill>
                  <a:schemeClr val="tx1">
                    <a:lumMod val="95000"/>
                    <a:lumOff val="5000"/>
                  </a:schemeClr>
                </a:solidFill>
                <a:latin typeface="楷体_GB2312" pitchFamily="49" charset="-122"/>
              </a:rPr>
              <a:t>葡萄糖</a:t>
            </a:r>
            <a:r>
              <a:rPr kumimoji="1" lang="zh-CN" altLang="en-US" sz="2800" b="0" dirty="0">
                <a:solidFill>
                  <a:schemeClr val="tx1">
                    <a:lumMod val="95000"/>
                    <a:lumOff val="5000"/>
                  </a:schemeClr>
                </a:solidFill>
                <a:latin typeface="楷体_GB2312" pitchFamily="49" charset="-122"/>
              </a:rPr>
              <a:t>的具体反应过程</a:t>
            </a:r>
            <a:r>
              <a:rPr kumimoji="1" lang="zh-CN" altLang="en-US" sz="2800" b="0" dirty="0">
                <a:latin typeface="楷体_GB2312" pitchFamily="49" charset="-122"/>
              </a:rPr>
              <a:t>。  </a:t>
            </a:r>
            <a:endParaRPr kumimoji="1" lang="en-US" altLang="zh-CN" sz="2800" b="0" dirty="0">
              <a:latin typeface="楷体_GB2312" pitchFamily="49" charset="-122"/>
            </a:endParaRPr>
          </a:p>
          <a:p>
            <a:pPr marL="457200" indent="-457200" eaLnBrk="1" hangingPunct="1">
              <a:lnSpc>
                <a:spcPct val="150000"/>
              </a:lnSpc>
              <a:spcBef>
                <a:spcPct val="50000"/>
              </a:spcBef>
              <a:buClrTx/>
              <a:buSzTx/>
            </a:pPr>
            <a:r>
              <a:rPr kumimoji="1" lang="zh-CN" altLang="en-US" sz="2800" b="0" dirty="0">
                <a:solidFill>
                  <a:schemeClr val="tx1">
                    <a:lumMod val="95000"/>
                    <a:lumOff val="5000"/>
                  </a:schemeClr>
                </a:solidFill>
                <a:latin typeface="楷体_GB2312" pitchFamily="49" charset="-122"/>
              </a:rPr>
              <a:t>糖异生途径</a:t>
            </a:r>
            <a:r>
              <a:rPr kumimoji="1" lang="zh-CN" altLang="en-US" sz="2800" b="0" dirty="0">
                <a:solidFill>
                  <a:srgbClr val="0000FF"/>
                </a:solidFill>
                <a:latin typeface="楷体_GB2312" pitchFamily="49" charset="-122"/>
              </a:rPr>
              <a:t>与糖酵解的多数反应是共有的、可逆的</a:t>
            </a:r>
            <a:r>
              <a:rPr kumimoji="1" lang="zh-CN" altLang="en-US" sz="2800" b="0" dirty="0">
                <a:latin typeface="楷体_GB2312" pitchFamily="49" charset="-122"/>
              </a:rPr>
              <a:t>，但糖酵解途径中有</a:t>
            </a:r>
            <a:r>
              <a:rPr kumimoji="1" lang="zh-CN" altLang="en-US" sz="2800" b="0" dirty="0">
                <a:solidFill>
                  <a:srgbClr val="0000FF"/>
                </a:solidFill>
                <a:latin typeface="楷体_GB2312" pitchFamily="49" charset="-122"/>
              </a:rPr>
              <a:t>3个不可逆反应</a:t>
            </a:r>
            <a:r>
              <a:rPr kumimoji="1" lang="zh-CN" altLang="en-US" sz="2800" b="0" dirty="0">
                <a:latin typeface="楷体_GB2312" pitchFamily="49" charset="-122"/>
              </a:rPr>
              <a:t>，在糖异生途径中须</a:t>
            </a:r>
            <a:r>
              <a:rPr kumimoji="1" lang="zh-CN" altLang="en-US" sz="2800" b="0" dirty="0">
                <a:solidFill>
                  <a:srgbClr val="0000FF"/>
                </a:solidFill>
                <a:latin typeface="楷体_GB2312" pitchFamily="49" charset="-122"/>
              </a:rPr>
              <a:t>由另外的反应和酶代替。</a:t>
            </a:r>
            <a:endParaRPr kumimoji="1" lang="en-US" altLang="zh-CN" sz="2800" b="0" dirty="0">
              <a:solidFill>
                <a:srgbClr val="0000FF"/>
              </a:solidFill>
              <a:latin typeface="楷体_GB2312" pitchFamily="49" charset="-122"/>
            </a:endParaRPr>
          </a:p>
        </p:txBody>
      </p:sp>
      <p:grpSp>
        <p:nvGrpSpPr>
          <p:cNvPr id="58372" name="Group 4"/>
          <p:cNvGrpSpPr/>
          <p:nvPr/>
        </p:nvGrpSpPr>
        <p:grpSpPr bwMode="auto">
          <a:xfrm>
            <a:off x="1343472" y="-26988"/>
            <a:ext cx="2411413" cy="6888163"/>
            <a:chOff x="-23" y="-19"/>
            <a:chExt cx="1519" cy="4339"/>
          </a:xfrm>
        </p:grpSpPr>
        <p:sp>
          <p:nvSpPr>
            <p:cNvPr id="58373" name="Rectangle 5"/>
            <p:cNvSpPr>
              <a:spLocks noChangeArrowheads="1"/>
            </p:cNvSpPr>
            <p:nvPr/>
          </p:nvSpPr>
          <p:spPr bwMode="auto">
            <a:xfrm>
              <a:off x="0" y="0"/>
              <a:ext cx="1474" cy="432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58374" name="Text Box 6"/>
            <p:cNvSpPr txBox="1">
              <a:spLocks noChangeArrowheads="1"/>
            </p:cNvSpPr>
            <p:nvPr/>
          </p:nvSpPr>
          <p:spPr bwMode="auto">
            <a:xfrm>
              <a:off x="158" y="-19"/>
              <a:ext cx="753" cy="25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Glucose</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58375" name="Text Box 7"/>
            <p:cNvSpPr txBox="1">
              <a:spLocks noChangeArrowheads="1"/>
            </p:cNvSpPr>
            <p:nvPr/>
          </p:nvSpPr>
          <p:spPr bwMode="auto">
            <a:xfrm>
              <a:off x="249" y="478"/>
              <a:ext cx="542"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G-6-P</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58376" name="Text Box 8"/>
            <p:cNvSpPr txBox="1">
              <a:spLocks noChangeArrowheads="1"/>
            </p:cNvSpPr>
            <p:nvPr/>
          </p:nvSpPr>
          <p:spPr bwMode="auto">
            <a:xfrm>
              <a:off x="288" y="910"/>
              <a:ext cx="516"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F-6-P</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58377" name="Text Box 9"/>
            <p:cNvSpPr txBox="1">
              <a:spLocks noChangeArrowheads="1"/>
            </p:cNvSpPr>
            <p:nvPr/>
          </p:nvSpPr>
          <p:spPr bwMode="auto">
            <a:xfrm>
              <a:off x="192" y="1390"/>
              <a:ext cx="738"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F-1,6-2P</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58378" name="Line 10"/>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379" name="Text Box 11"/>
            <p:cNvSpPr txBox="1">
              <a:spLocks noChangeArrowheads="1"/>
            </p:cNvSpPr>
            <p:nvPr/>
          </p:nvSpPr>
          <p:spPr bwMode="auto">
            <a:xfrm>
              <a:off x="683" y="162"/>
              <a:ext cx="430" cy="213"/>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grpSp>
          <p:nvGrpSpPr>
            <p:cNvPr id="58380" name="Group 12"/>
            <p:cNvGrpSpPr/>
            <p:nvPr/>
          </p:nvGrpSpPr>
          <p:grpSpPr bwMode="auto">
            <a:xfrm>
              <a:off x="528" y="240"/>
              <a:ext cx="192" cy="240"/>
              <a:chOff x="480" y="336"/>
              <a:chExt cx="144" cy="240"/>
            </a:xfrm>
          </p:grpSpPr>
          <p:sp>
            <p:nvSpPr>
              <p:cNvPr id="58422" name="Line 13"/>
              <p:cNvSpPr>
                <a:spLocks noChangeShapeType="1"/>
              </p:cNvSpPr>
              <p:nvPr/>
            </p:nvSpPr>
            <p:spPr bwMode="auto">
              <a:xfrm>
                <a:off x="480" y="336"/>
                <a:ext cx="0" cy="24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423" name="Line 14"/>
              <p:cNvSpPr>
                <a:spLocks noChangeShapeType="1"/>
              </p:cNvSpPr>
              <p:nvPr/>
            </p:nvSpPr>
            <p:spPr bwMode="auto">
              <a:xfrm flipV="1">
                <a:off x="480" y="336"/>
                <a:ext cx="144" cy="96"/>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8424" name="Line 15"/>
              <p:cNvSpPr>
                <a:spLocks noChangeShapeType="1"/>
              </p:cNvSpPr>
              <p:nvPr/>
            </p:nvSpPr>
            <p:spPr bwMode="auto">
              <a:xfrm>
                <a:off x="480" y="432"/>
                <a:ext cx="144" cy="144"/>
              </a:xfrm>
              <a:prstGeom prst="line">
                <a:avLst/>
              </a:prstGeom>
              <a:noFill/>
              <a:ln w="28575">
                <a:solidFill>
                  <a:srgbClr val="FFFF00"/>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8381" name="Text Box 16"/>
            <p:cNvSpPr txBox="1">
              <a:spLocks noChangeArrowheads="1"/>
            </p:cNvSpPr>
            <p:nvPr/>
          </p:nvSpPr>
          <p:spPr bwMode="auto">
            <a:xfrm>
              <a:off x="720" y="363"/>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58382" name="Text Box 17"/>
            <p:cNvSpPr txBox="1">
              <a:spLocks noChangeArrowheads="1"/>
            </p:cNvSpPr>
            <p:nvPr/>
          </p:nvSpPr>
          <p:spPr bwMode="auto">
            <a:xfrm>
              <a:off x="720" y="1038"/>
              <a:ext cx="371"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grpSp>
          <p:nvGrpSpPr>
            <p:cNvPr id="58383" name="Group 18"/>
            <p:cNvGrpSpPr/>
            <p:nvPr/>
          </p:nvGrpSpPr>
          <p:grpSpPr bwMode="auto">
            <a:xfrm>
              <a:off x="528" y="1104"/>
              <a:ext cx="240" cy="288"/>
              <a:chOff x="432" y="1296"/>
              <a:chExt cx="144" cy="288"/>
            </a:xfrm>
          </p:grpSpPr>
          <p:sp>
            <p:nvSpPr>
              <p:cNvPr id="58419" name="Line 19"/>
              <p:cNvSpPr>
                <a:spLocks noChangeShapeType="1"/>
              </p:cNvSpPr>
              <p:nvPr/>
            </p:nvSpPr>
            <p:spPr bwMode="auto">
              <a:xfrm>
                <a:off x="432" y="1296"/>
                <a:ext cx="0" cy="288"/>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420" name="Line 20"/>
              <p:cNvSpPr>
                <a:spLocks noChangeShapeType="1"/>
              </p:cNvSpPr>
              <p:nvPr/>
            </p:nvSpPr>
            <p:spPr bwMode="auto">
              <a:xfrm flipV="1">
                <a:off x="432" y="1344"/>
                <a:ext cx="144" cy="96"/>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8421" name="Line 21"/>
              <p:cNvSpPr>
                <a:spLocks noChangeShapeType="1"/>
              </p:cNvSpPr>
              <p:nvPr/>
            </p:nvSpPr>
            <p:spPr bwMode="auto">
              <a:xfrm>
                <a:off x="432" y="1440"/>
                <a:ext cx="144" cy="96"/>
              </a:xfrm>
              <a:prstGeom prst="line">
                <a:avLst/>
              </a:prstGeom>
              <a:noFill/>
              <a:ln w="28575">
                <a:solidFill>
                  <a:srgbClr val="FFFF00"/>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8384" name="Text Box 22"/>
            <p:cNvSpPr txBox="1">
              <a:spLocks noChangeArrowheads="1"/>
            </p:cNvSpPr>
            <p:nvPr/>
          </p:nvSpPr>
          <p:spPr bwMode="auto">
            <a:xfrm>
              <a:off x="771" y="1229"/>
              <a:ext cx="385"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58385" name="Text Box 23"/>
            <p:cNvSpPr txBox="1">
              <a:spLocks noChangeArrowheads="1"/>
            </p:cNvSpPr>
            <p:nvPr/>
          </p:nvSpPr>
          <p:spPr bwMode="auto">
            <a:xfrm>
              <a:off x="15" y="2601"/>
              <a:ext cx="1357"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58386" name="Text Box 24"/>
            <p:cNvSpPr txBox="1">
              <a:spLocks noChangeArrowheads="1"/>
            </p:cNvSpPr>
            <p:nvPr/>
          </p:nvSpPr>
          <p:spPr bwMode="auto">
            <a:xfrm>
              <a:off x="432" y="3033"/>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58387" name="Text Box 25"/>
            <p:cNvSpPr txBox="1">
              <a:spLocks noChangeArrowheads="1"/>
            </p:cNvSpPr>
            <p:nvPr/>
          </p:nvSpPr>
          <p:spPr bwMode="auto">
            <a:xfrm>
              <a:off x="414" y="3369"/>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58388" name="Text Box 26"/>
            <p:cNvSpPr txBox="1">
              <a:spLocks noChangeArrowheads="1"/>
            </p:cNvSpPr>
            <p:nvPr/>
          </p:nvSpPr>
          <p:spPr bwMode="auto">
            <a:xfrm>
              <a:off x="624" y="4070"/>
              <a:ext cx="599"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rPr>
                <a:t>丙酮酸</a:t>
              </a:r>
              <a:endParaRPr kumimoji="1" lang="zh-CN" altLang="en-US" sz="2000">
                <a:solidFill>
                  <a:srgbClr val="FFFF00"/>
                </a:solidFill>
                <a:latin typeface="Arial" panose="020B0604020202020204" pitchFamily="34" charset="0"/>
              </a:endParaRPr>
            </a:p>
          </p:txBody>
        </p:sp>
        <p:sp>
          <p:nvSpPr>
            <p:cNvPr id="58389" name="Line 27"/>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390" name="Line 28"/>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391" name="Text Box 29"/>
            <p:cNvSpPr txBox="1">
              <a:spLocks noChangeArrowheads="1"/>
            </p:cNvSpPr>
            <p:nvPr/>
          </p:nvSpPr>
          <p:spPr bwMode="auto">
            <a:xfrm>
              <a:off x="0" y="1872"/>
              <a:ext cx="599" cy="44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58392" name="Text Box 30"/>
            <p:cNvSpPr txBox="1">
              <a:spLocks noChangeArrowheads="1"/>
            </p:cNvSpPr>
            <p:nvPr/>
          </p:nvSpPr>
          <p:spPr bwMode="auto">
            <a:xfrm>
              <a:off x="672" y="1872"/>
              <a:ext cx="720" cy="44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58393" name="Group 31"/>
            <p:cNvGrpSpPr/>
            <p:nvPr/>
          </p:nvGrpSpPr>
          <p:grpSpPr bwMode="auto">
            <a:xfrm>
              <a:off x="240" y="1584"/>
              <a:ext cx="624" cy="336"/>
              <a:chOff x="3888" y="576"/>
              <a:chExt cx="624" cy="336"/>
            </a:xfrm>
          </p:grpSpPr>
          <p:sp>
            <p:nvSpPr>
              <p:cNvPr id="58415" name="Line 32"/>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8416" name="Group 33"/>
              <p:cNvGrpSpPr/>
              <p:nvPr/>
            </p:nvGrpSpPr>
            <p:grpSpPr bwMode="auto">
              <a:xfrm>
                <a:off x="3888" y="576"/>
                <a:ext cx="288" cy="336"/>
                <a:chOff x="3888" y="576"/>
                <a:chExt cx="288" cy="336"/>
              </a:xfrm>
            </p:grpSpPr>
            <p:sp>
              <p:nvSpPr>
                <p:cNvPr id="58417" name="Line 34"/>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418" name="Line 35"/>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58394" name="Line 36"/>
            <p:cNvSpPr>
              <a:spLocks noChangeShapeType="1"/>
            </p:cNvSpPr>
            <p:nvPr/>
          </p:nvSpPr>
          <p:spPr bwMode="auto">
            <a:xfrm flipV="1">
              <a:off x="528" y="2163"/>
              <a:ext cx="24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395" name="Text Box 37"/>
            <p:cNvSpPr txBox="1">
              <a:spLocks noChangeArrowheads="1"/>
            </p:cNvSpPr>
            <p:nvPr/>
          </p:nvSpPr>
          <p:spPr bwMode="auto">
            <a:xfrm>
              <a:off x="288" y="2285"/>
              <a:ext cx="527"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600">
                  <a:latin typeface="Arial" panose="020B0604020202020204" pitchFamily="34" charset="0"/>
                  <a:ea typeface="宋体" panose="02010600030101010101" pitchFamily="2" charset="-122"/>
                </a:rPr>
                <a:t> </a:t>
              </a: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  </a:t>
              </a:r>
              <a:endParaRPr kumimoji="1" lang="en-US" altLang="zh-CN" sz="1600" baseline="30000">
                <a:latin typeface="Arial" panose="020B0604020202020204" pitchFamily="34" charset="0"/>
                <a:ea typeface="宋体" panose="02010600030101010101" pitchFamily="2" charset="-122"/>
              </a:endParaRPr>
            </a:p>
          </p:txBody>
        </p:sp>
        <p:sp>
          <p:nvSpPr>
            <p:cNvPr id="58396" name="Text Box 39"/>
            <p:cNvSpPr txBox="1">
              <a:spLocks noChangeArrowheads="1"/>
            </p:cNvSpPr>
            <p:nvPr/>
          </p:nvSpPr>
          <p:spPr bwMode="auto">
            <a:xfrm>
              <a:off x="432" y="2808"/>
              <a:ext cx="385"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58397" name="Group 40"/>
            <p:cNvGrpSpPr/>
            <p:nvPr/>
          </p:nvGrpSpPr>
          <p:grpSpPr bwMode="auto">
            <a:xfrm>
              <a:off x="816" y="2784"/>
              <a:ext cx="336" cy="288"/>
              <a:chOff x="912" y="2736"/>
              <a:chExt cx="336" cy="384"/>
            </a:xfrm>
          </p:grpSpPr>
          <p:sp>
            <p:nvSpPr>
              <p:cNvPr id="58411" name="Line 41"/>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8412" name="Group 42"/>
              <p:cNvGrpSpPr/>
              <p:nvPr/>
            </p:nvGrpSpPr>
            <p:grpSpPr bwMode="auto">
              <a:xfrm>
                <a:off x="912" y="2880"/>
                <a:ext cx="336" cy="192"/>
                <a:chOff x="4560" y="2127"/>
                <a:chExt cx="336" cy="192"/>
              </a:xfrm>
            </p:grpSpPr>
            <p:sp>
              <p:nvSpPr>
                <p:cNvPr id="58413" name="Line 43"/>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8414" name="Line 44"/>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58398" name="Text Box 45"/>
            <p:cNvSpPr txBox="1">
              <a:spLocks noChangeArrowheads="1"/>
            </p:cNvSpPr>
            <p:nvPr/>
          </p:nvSpPr>
          <p:spPr bwMode="auto">
            <a:xfrm>
              <a:off x="1104" y="2880"/>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sp>
          <p:nvSpPr>
            <p:cNvPr id="58399" name="Text Box 46"/>
            <p:cNvSpPr txBox="1">
              <a:spLocks noChangeArrowheads="1"/>
            </p:cNvSpPr>
            <p:nvPr/>
          </p:nvSpPr>
          <p:spPr bwMode="auto">
            <a:xfrm>
              <a:off x="480" y="3887"/>
              <a:ext cx="385"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58400" name="Text Box 47"/>
            <p:cNvSpPr txBox="1">
              <a:spLocks noChangeArrowheads="1"/>
            </p:cNvSpPr>
            <p:nvPr/>
          </p:nvSpPr>
          <p:spPr bwMode="auto">
            <a:xfrm>
              <a:off x="1104" y="3966"/>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grpSp>
          <p:nvGrpSpPr>
            <p:cNvPr id="58401" name="Group 48"/>
            <p:cNvGrpSpPr/>
            <p:nvPr/>
          </p:nvGrpSpPr>
          <p:grpSpPr bwMode="auto">
            <a:xfrm>
              <a:off x="720" y="2256"/>
              <a:ext cx="240" cy="384"/>
              <a:chOff x="4512" y="1248"/>
              <a:chExt cx="240" cy="432"/>
            </a:xfrm>
          </p:grpSpPr>
          <p:sp>
            <p:nvSpPr>
              <p:cNvPr id="58408" name="Line 49"/>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409" name="Line 51"/>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8410" name="Line 50"/>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8402" name="Text Box 52"/>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rPr>
                <a:t>磷酸烯醇式丙酮酸</a:t>
              </a:r>
              <a:endParaRPr kumimoji="1" lang="zh-CN" altLang="en-US" sz="2000">
                <a:solidFill>
                  <a:srgbClr val="FFFF00"/>
                </a:solidFill>
                <a:latin typeface="Arial" panose="020B0604020202020204" pitchFamily="34" charset="0"/>
              </a:endParaRPr>
            </a:p>
          </p:txBody>
        </p:sp>
        <p:grpSp>
          <p:nvGrpSpPr>
            <p:cNvPr id="58403" name="Group 53"/>
            <p:cNvGrpSpPr/>
            <p:nvPr/>
          </p:nvGrpSpPr>
          <p:grpSpPr bwMode="auto">
            <a:xfrm>
              <a:off x="816" y="3888"/>
              <a:ext cx="336" cy="240"/>
              <a:chOff x="912" y="3888"/>
              <a:chExt cx="336" cy="240"/>
            </a:xfrm>
          </p:grpSpPr>
          <p:sp>
            <p:nvSpPr>
              <p:cNvPr id="58405" name="Line 54"/>
              <p:cNvSpPr>
                <a:spLocks noChangeShapeType="1"/>
              </p:cNvSpPr>
              <p:nvPr/>
            </p:nvSpPr>
            <p:spPr bwMode="auto">
              <a:xfrm flipH="1">
                <a:off x="1056" y="3888"/>
                <a:ext cx="0" cy="24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406" name="Line 55"/>
              <p:cNvSpPr>
                <a:spLocks noChangeShapeType="1"/>
              </p:cNvSpPr>
              <p:nvPr/>
            </p:nvSpPr>
            <p:spPr bwMode="auto">
              <a:xfrm flipH="1" flipV="1">
                <a:off x="912" y="3936"/>
                <a:ext cx="144" cy="48"/>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58407" name="Line 56"/>
              <p:cNvSpPr>
                <a:spLocks noChangeShapeType="1"/>
              </p:cNvSpPr>
              <p:nvPr/>
            </p:nvSpPr>
            <p:spPr bwMode="auto">
              <a:xfrm rot="-318911">
                <a:off x="1056" y="4005"/>
                <a:ext cx="192" cy="96"/>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58404" name="Text Box 37"/>
            <p:cNvSpPr txBox="1">
              <a:spLocks noChangeArrowheads="1"/>
            </p:cNvSpPr>
            <p:nvPr/>
          </p:nvSpPr>
          <p:spPr bwMode="auto">
            <a:xfrm>
              <a:off x="-23" y="2463"/>
              <a:ext cx="73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400">
                  <a:latin typeface="Arial" panose="020B0604020202020204" pitchFamily="34" charset="0"/>
                  <a:ea typeface="宋体" panose="02010600030101010101" pitchFamily="2" charset="-122"/>
                </a:rPr>
                <a:t> </a:t>
              </a:r>
              <a:r>
                <a:rPr kumimoji="1" lang="en-US" altLang="zh-CN" sz="1400">
                  <a:latin typeface="Arial" panose="020B0604020202020204" pitchFamily="34" charset="0"/>
                  <a:ea typeface="宋体" panose="02010600030101010101" pitchFamily="2" charset="-122"/>
                </a:rPr>
                <a:t>NADH + H</a:t>
              </a:r>
              <a:r>
                <a:rPr kumimoji="1" lang="en-US" altLang="zh-CN" sz="1400" baseline="30000">
                  <a:latin typeface="Arial" panose="020B0604020202020204" pitchFamily="34" charset="0"/>
                  <a:ea typeface="宋体" panose="02010600030101010101" pitchFamily="2" charset="-122"/>
                </a:rPr>
                <a:t>+  </a:t>
              </a:r>
              <a:endParaRPr kumimoji="1" lang="en-US" altLang="zh-CN" sz="1400" baseline="30000">
                <a:latin typeface="Arial" panose="020B0604020202020204" pitchFamily="34" charset="0"/>
                <a:ea typeface="宋体" panose="02010600030101010101" pitchFamily="2" charset="-122"/>
              </a:endParaRPr>
            </a:p>
          </p:txBody>
        </p:sp>
      </p:grpSp>
    </p:spTree>
  </p:cSld>
  <p:clrMapOvr>
    <a:masterClrMapping/>
  </p:clrMapOvr>
  <p:transition spd="med">
    <p:zoom/>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56426" y="1"/>
            <a:ext cx="3032125" cy="283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5" name="图片 2"/>
          <p:cNvPicPr>
            <a:picLocks noChangeAspect="1" noChangeArrowheads="1"/>
          </p:cNvPicPr>
          <p:nvPr/>
        </p:nvPicPr>
        <p:blipFill>
          <a:blip r:embed="rId2">
            <a:extLst>
              <a:ext uri="{28A0092B-C50C-407E-A947-70E740481C1C}">
                <a14:useLocalDpi xmlns:a14="http://schemas.microsoft.com/office/drawing/2010/main" val="0"/>
              </a:ext>
            </a:extLst>
          </a:blip>
          <a:srcRect t="6038"/>
          <a:stretch>
            <a:fillRect/>
          </a:stretch>
        </p:blipFill>
        <p:spPr bwMode="auto">
          <a:xfrm>
            <a:off x="6600825" y="2860675"/>
            <a:ext cx="3562350" cy="388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9" y="1341438"/>
            <a:ext cx="2566987"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图片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6364" y="1811338"/>
            <a:ext cx="19383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4339" y="4827588"/>
            <a:ext cx="3578225"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a:xfrm>
            <a:off x="1806576" y="1316038"/>
            <a:ext cx="2701925" cy="9906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eaLnBrk="1" hangingPunct="1">
              <a:defRPr/>
            </a:pPr>
            <a:r>
              <a:rPr lang="zh-CN" altLang="en-US" sz="2800" b="0" kern="0" dirty="0">
                <a:solidFill>
                  <a:srgbClr val="800000"/>
                </a:solidFill>
                <a:latin typeface="微软雅黑" panose="020B0503020204020204" pitchFamily="34" charset="-122"/>
                <a:ea typeface="微软雅黑" panose="020B0503020204020204" pitchFamily="34" charset="-122"/>
              </a:rPr>
              <a:t>丙酮酸（</a:t>
            </a:r>
            <a:r>
              <a:rPr lang="en-US" altLang="zh-CN" sz="2800" b="0" kern="0" dirty="0">
                <a:solidFill>
                  <a:srgbClr val="800000"/>
                </a:solidFill>
                <a:latin typeface="微软雅黑" panose="020B0503020204020204" pitchFamily="34" charset="-122"/>
                <a:ea typeface="微软雅黑" panose="020B0503020204020204" pitchFamily="34" charset="-122"/>
              </a:rPr>
              <a:t>pyruvate)</a:t>
            </a:r>
            <a:endParaRPr lang="zh-CN" altLang="en-US" sz="2800" b="0" kern="0" dirty="0">
              <a:solidFill>
                <a:srgbClr val="800000"/>
              </a:solidFill>
              <a:latin typeface="微软雅黑" panose="020B0503020204020204" pitchFamily="34" charset="-122"/>
              <a:ea typeface="微软雅黑" panose="020B0503020204020204" pitchFamily="34" charset="-122"/>
            </a:endParaRPr>
          </a:p>
        </p:txBody>
      </p:sp>
      <p:sp>
        <p:nvSpPr>
          <p:cNvPr id="8" name="Rectangle 2"/>
          <p:cNvSpPr txBox="1">
            <a:spLocks noChangeArrowheads="1"/>
          </p:cNvSpPr>
          <p:nvPr/>
        </p:nvSpPr>
        <p:spPr>
          <a:xfrm>
            <a:off x="1466850" y="3635376"/>
            <a:ext cx="3524250" cy="627063"/>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eaLnBrk="1" hangingPunct="1">
              <a:defRPr/>
            </a:pPr>
            <a:r>
              <a:rPr lang="zh-CN" altLang="en-US" sz="2800" b="0" kern="0" dirty="0">
                <a:solidFill>
                  <a:srgbClr val="800000"/>
                </a:solidFill>
                <a:latin typeface="微软雅黑" panose="020B0503020204020204" pitchFamily="34" charset="-122"/>
                <a:ea typeface="微软雅黑" panose="020B0503020204020204" pitchFamily="34" charset="-122"/>
              </a:rPr>
              <a:t>磷酸烯醇式丙酮酸</a:t>
            </a:r>
            <a:r>
              <a:rPr lang="en-US" altLang="zh-CN" sz="2800" b="0" kern="0" dirty="0">
                <a:solidFill>
                  <a:srgbClr val="800000"/>
                </a:solidFill>
                <a:latin typeface="微软雅黑" panose="020B0503020204020204" pitchFamily="34" charset="-122"/>
                <a:ea typeface="微软雅黑" panose="020B0503020204020204" pitchFamily="34" charset="-122"/>
              </a:rPr>
              <a:t>(PEP)</a:t>
            </a:r>
            <a:endParaRPr lang="zh-CN" altLang="en-US" sz="2800" b="0" kern="0" dirty="0">
              <a:solidFill>
                <a:srgbClr val="800000"/>
              </a:solidFill>
              <a:latin typeface="微软雅黑" panose="020B0503020204020204" pitchFamily="34" charset="-122"/>
              <a:ea typeface="微软雅黑" panose="020B0503020204020204" pitchFamily="34" charset="-122"/>
            </a:endParaRPr>
          </a:p>
        </p:txBody>
      </p:sp>
      <p:sp>
        <p:nvSpPr>
          <p:cNvPr id="2" name="下箭头 1"/>
          <p:cNvSpPr>
            <a:spLocks noChangeArrowheads="1"/>
          </p:cNvSpPr>
          <p:nvPr/>
        </p:nvSpPr>
        <p:spPr bwMode="auto">
          <a:xfrm>
            <a:off x="3057526" y="2457450"/>
            <a:ext cx="301625" cy="1042988"/>
          </a:xfrm>
          <a:prstGeom prst="downArrow">
            <a:avLst>
              <a:gd name="adj1" fmla="val 50000"/>
              <a:gd name="adj2" fmla="val 49963"/>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 name="文本框 2"/>
          <p:cNvSpPr txBox="1">
            <a:spLocks noChangeArrowheads="1"/>
          </p:cNvSpPr>
          <p:nvPr/>
        </p:nvSpPr>
        <p:spPr bwMode="auto">
          <a:xfrm>
            <a:off x="8904289" y="2473326"/>
            <a:ext cx="151288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200" b="0" dirty="0">
                <a:solidFill>
                  <a:srgbClr val="0000CC"/>
                </a:solidFill>
                <a:latin typeface="微软雅黑" panose="020B0503020204020204" pitchFamily="34" charset="-122"/>
                <a:ea typeface="微软雅黑" panose="020B0503020204020204" pitchFamily="34" charset="-122"/>
              </a:rPr>
              <a:t>草酰乙酸</a:t>
            </a:r>
            <a:endParaRPr lang="zh-CN" altLang="en-US" sz="2200" b="0" dirty="0">
              <a:solidFill>
                <a:srgbClr val="0000CC"/>
              </a:solidFill>
              <a:latin typeface="微软雅黑" panose="020B0503020204020204" pitchFamily="34" charset="-122"/>
              <a:ea typeface="微软雅黑" panose="020B0503020204020204" pitchFamily="34" charset="-122"/>
            </a:endParaRPr>
          </a:p>
        </p:txBody>
      </p:sp>
      <p:pic>
        <p:nvPicPr>
          <p:cNvPr id="11" name="图片 2"/>
          <p:cNvPicPr>
            <a:picLocks noChangeAspect="1" noChangeArrowheads="1"/>
          </p:cNvPicPr>
          <p:nvPr/>
        </p:nvPicPr>
        <p:blipFill>
          <a:blip r:embed="rId2">
            <a:extLst>
              <a:ext uri="{28A0092B-C50C-407E-A947-70E740481C1C}">
                <a14:useLocalDpi xmlns:a14="http://schemas.microsoft.com/office/drawing/2010/main" val="0"/>
              </a:ext>
            </a:extLst>
          </a:blip>
          <a:srcRect l="22235" t="6039" r="19147" b="74786"/>
          <a:stretch>
            <a:fillRect/>
          </a:stretch>
        </p:blipFill>
        <p:spPr bwMode="auto">
          <a:xfrm>
            <a:off x="7391400" y="2852738"/>
            <a:ext cx="20891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2"/>
          <p:cNvSpPr txBox="1">
            <a:spLocks noChangeArrowheads="1"/>
          </p:cNvSpPr>
          <p:nvPr/>
        </p:nvSpPr>
        <p:spPr>
          <a:xfrm>
            <a:off x="8975726" y="6381750"/>
            <a:ext cx="2304850" cy="379413"/>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4000">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4000">
                <a:solidFill>
                  <a:schemeClr val="tx1"/>
                </a:solidFill>
                <a:latin typeface="黑体" panose="02010609060101010101" pitchFamily="2" charset="-122"/>
                <a:ea typeface="黑体" panose="02010609060101010101" pitchFamily="2" charset="-122"/>
              </a:defRPr>
            </a:lvl9pPr>
          </a:lstStyle>
          <a:p>
            <a:pPr eaLnBrk="1" hangingPunct="1">
              <a:defRPr/>
            </a:pPr>
            <a:r>
              <a:rPr lang="zh-CN" altLang="en-US" sz="1800" b="0" kern="0" dirty="0">
                <a:solidFill>
                  <a:srgbClr val="0000CC"/>
                </a:solidFill>
                <a:latin typeface="微软雅黑" panose="020B0503020204020204" pitchFamily="34" charset="-122"/>
                <a:ea typeface="微软雅黑" panose="020B0503020204020204" pitchFamily="34" charset="-122"/>
              </a:rPr>
              <a:t>磷酸烯醇式丙酮酸</a:t>
            </a:r>
            <a:endParaRPr lang="zh-CN" altLang="en-US" sz="1800" b="0" kern="0" dirty="0">
              <a:solidFill>
                <a:srgbClr val="0000CC"/>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4754"/>
                                        </p:tgtEl>
                                        <p:attrNameLst>
                                          <p:attrName>style.visibility</p:attrName>
                                        </p:attrNameLst>
                                      </p:cBhvr>
                                      <p:to>
                                        <p:strVal val="visible"/>
                                      </p:to>
                                    </p:set>
                                    <p:animEffect transition="in" filter="wipe(up)">
                                      <p:cBhvr>
                                        <p:cTn id="18" dur="500"/>
                                        <p:tgtEl>
                                          <p:spTgt spid="74754"/>
                                        </p:tgtEl>
                                      </p:cBhvr>
                                    </p:animEffect>
                                  </p:childTnLst>
                                </p:cTn>
                              </p:par>
                              <p:par>
                                <p:cTn id="19" presetID="22" presetClass="entr" presetSubtype="1" fill="hold" nodeType="withEffect">
                                  <p:stCondLst>
                                    <p:cond delay="0"/>
                                  </p:stCondLst>
                                  <p:childTnLst>
                                    <p:set>
                                      <p:cBhvr>
                                        <p:cTn id="20" dur="1" fill="hold">
                                          <p:stCondLst>
                                            <p:cond delay="0"/>
                                          </p:stCondLst>
                                        </p:cTn>
                                        <p:tgtEl>
                                          <p:spTgt spid="74756"/>
                                        </p:tgtEl>
                                        <p:attrNameLst>
                                          <p:attrName>style.visibility</p:attrName>
                                        </p:attrNameLst>
                                      </p:cBhvr>
                                      <p:to>
                                        <p:strVal val="visible"/>
                                      </p:to>
                                    </p:set>
                                    <p:animEffect transition="in" filter="wipe(up)">
                                      <p:cBhvr>
                                        <p:cTn id="21" dur="500"/>
                                        <p:tgtEl>
                                          <p:spTgt spid="74756"/>
                                        </p:tgtEl>
                                      </p:cBhvr>
                                    </p:animEffect>
                                  </p:childTnLst>
                                </p:cTn>
                              </p:par>
                              <p:par>
                                <p:cTn id="22" presetID="22" presetClass="entr" presetSubtype="1" fill="hold" nodeType="withEffect">
                                  <p:stCondLst>
                                    <p:cond delay="0"/>
                                  </p:stCondLst>
                                  <p:childTnLst>
                                    <p:set>
                                      <p:cBhvr>
                                        <p:cTn id="23" dur="1" fill="hold">
                                          <p:stCondLst>
                                            <p:cond delay="0"/>
                                          </p:stCondLst>
                                        </p:cTn>
                                        <p:tgtEl>
                                          <p:spTgt spid="74757"/>
                                        </p:tgtEl>
                                        <p:attrNameLst>
                                          <p:attrName>style.visibility</p:attrName>
                                        </p:attrNameLst>
                                      </p:cBhvr>
                                      <p:to>
                                        <p:strVal val="visible"/>
                                      </p:to>
                                    </p:set>
                                    <p:animEffect transition="in" filter="wipe(up)">
                                      <p:cBhvr>
                                        <p:cTn id="24" dur="500"/>
                                        <p:tgtEl>
                                          <p:spTgt spid="74757"/>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4755"/>
                                        </p:tgtEl>
                                        <p:attrNameLst>
                                          <p:attrName>style.visibility</p:attrName>
                                        </p:attrNameLst>
                                      </p:cBhvr>
                                      <p:to>
                                        <p:strVal val="visible"/>
                                      </p:to>
                                    </p:set>
                                    <p:animEffect transition="in" filter="wipe(up)">
                                      <p:cBhvr>
                                        <p:cTn id="37" dur="500"/>
                                        <p:tgtEl>
                                          <p:spTgt spid="74755"/>
                                        </p:tgtEl>
                                      </p:cBhvr>
                                    </p:animEffect>
                                  </p:childTnLst>
                                </p:cTn>
                              </p:par>
                              <p:par>
                                <p:cTn id="38" presetID="22" presetClass="entr" presetSubtype="1" fill="hold" nodeType="withEffect">
                                  <p:stCondLst>
                                    <p:cond delay="0"/>
                                  </p:stCondLst>
                                  <p:childTnLst>
                                    <p:set>
                                      <p:cBhvr>
                                        <p:cTn id="39" dur="1" fill="hold">
                                          <p:stCondLst>
                                            <p:cond delay="0"/>
                                          </p:stCondLst>
                                        </p:cTn>
                                        <p:tgtEl>
                                          <p:spTgt spid="74758"/>
                                        </p:tgtEl>
                                        <p:attrNameLst>
                                          <p:attrName>style.visibility</p:attrName>
                                        </p:attrNameLst>
                                      </p:cBhvr>
                                      <p:to>
                                        <p:strVal val="visible"/>
                                      </p:to>
                                    </p:set>
                                    <p:animEffect transition="in" filter="wipe(up)">
                                      <p:cBhvr>
                                        <p:cTn id="40" dur="500"/>
                                        <p:tgtEl>
                                          <p:spTgt spid="74758"/>
                                        </p:tgtEl>
                                      </p:cBhvr>
                                    </p:animEffect>
                                  </p:childTnLst>
                                </p:cTn>
                              </p:par>
                            </p:childTnLst>
                          </p:cTn>
                        </p:par>
                        <p:par>
                          <p:cTn id="41" fill="hold">
                            <p:stCondLst>
                              <p:cond delay="500"/>
                            </p:stCondLst>
                            <p:childTnLst>
                              <p:par>
                                <p:cTn id="42" presetID="1"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animBg="1"/>
      <p:bldP spid="3" grpId="0"/>
      <p:bldP spid="12"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Line 2"/>
          <p:cNvSpPr>
            <a:spLocks noChangeShapeType="1"/>
          </p:cNvSpPr>
          <p:nvPr/>
        </p:nvSpPr>
        <p:spPr bwMode="auto">
          <a:xfrm>
            <a:off x="2057400" y="5562600"/>
            <a:ext cx="861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67" name="Line 3"/>
          <p:cNvSpPr>
            <a:spLocks noChangeShapeType="1"/>
          </p:cNvSpPr>
          <p:nvPr/>
        </p:nvSpPr>
        <p:spPr bwMode="auto">
          <a:xfrm>
            <a:off x="1828800" y="5791200"/>
            <a:ext cx="8839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68" name="Line 4"/>
          <p:cNvSpPr>
            <a:spLocks noChangeShapeType="1"/>
          </p:cNvSpPr>
          <p:nvPr/>
        </p:nvSpPr>
        <p:spPr bwMode="auto">
          <a:xfrm>
            <a:off x="1828800" y="2133600"/>
            <a:ext cx="88392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69" name="Line 5"/>
          <p:cNvSpPr>
            <a:spLocks noChangeShapeType="1"/>
          </p:cNvSpPr>
          <p:nvPr/>
        </p:nvSpPr>
        <p:spPr bwMode="auto">
          <a:xfrm>
            <a:off x="2057400" y="2362200"/>
            <a:ext cx="8610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70" name="Rectangle 6"/>
          <p:cNvSpPr>
            <a:spLocks noChangeArrowheads="1"/>
          </p:cNvSpPr>
          <p:nvPr/>
        </p:nvSpPr>
        <p:spPr bwMode="auto">
          <a:xfrm>
            <a:off x="5257801" y="5826126"/>
            <a:ext cx="13493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丙酮酸 </a:t>
            </a:r>
            <a:endParaRPr kumimoji="1" lang="zh-CN" altLang="en-US" sz="2800">
              <a:latin typeface="Arial" panose="020B0604020202020204" pitchFamily="34" charset="0"/>
              <a:ea typeface="华文楷体" panose="02010600040101010101" pitchFamily="2" charset="-122"/>
            </a:endParaRPr>
          </a:p>
        </p:txBody>
      </p:sp>
      <p:grpSp>
        <p:nvGrpSpPr>
          <p:cNvPr id="2" name="Group 7"/>
          <p:cNvGrpSpPr/>
          <p:nvPr/>
        </p:nvGrpSpPr>
        <p:grpSpPr bwMode="auto">
          <a:xfrm>
            <a:off x="5334001" y="4987926"/>
            <a:ext cx="1349375" cy="879475"/>
            <a:chOff x="2400" y="3334"/>
            <a:chExt cx="850" cy="554"/>
          </a:xfrm>
        </p:grpSpPr>
        <p:sp>
          <p:nvSpPr>
            <p:cNvPr id="62511" name="Line 8"/>
            <p:cNvSpPr>
              <a:spLocks noChangeShapeType="1"/>
            </p:cNvSpPr>
            <p:nvPr/>
          </p:nvSpPr>
          <p:spPr bwMode="auto">
            <a:xfrm flipV="1">
              <a:off x="2784" y="3600"/>
              <a:ext cx="0"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512" name="Rectangle 9"/>
            <p:cNvSpPr>
              <a:spLocks noChangeArrowheads="1"/>
            </p:cNvSpPr>
            <p:nvPr/>
          </p:nvSpPr>
          <p:spPr bwMode="auto">
            <a:xfrm>
              <a:off x="2400" y="3334"/>
              <a:ext cx="85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丙酮酸 </a:t>
              </a:r>
              <a:endParaRPr kumimoji="1" lang="zh-CN" altLang="en-US" sz="2800">
                <a:latin typeface="Arial" panose="020B0604020202020204" pitchFamily="34" charset="0"/>
                <a:ea typeface="华文楷体" panose="02010600040101010101" pitchFamily="2" charset="-122"/>
              </a:endParaRPr>
            </a:p>
          </p:txBody>
        </p:sp>
      </p:grpSp>
      <p:grpSp>
        <p:nvGrpSpPr>
          <p:cNvPr id="3" name="Group 10"/>
          <p:cNvGrpSpPr/>
          <p:nvPr/>
        </p:nvGrpSpPr>
        <p:grpSpPr bwMode="auto">
          <a:xfrm>
            <a:off x="4267201" y="3616326"/>
            <a:ext cx="4132263" cy="1349375"/>
            <a:chOff x="1728" y="2470"/>
            <a:chExt cx="2603" cy="850"/>
          </a:xfrm>
        </p:grpSpPr>
        <p:sp>
          <p:nvSpPr>
            <p:cNvPr id="62505" name="Line 11"/>
            <p:cNvSpPr>
              <a:spLocks noChangeShapeType="1"/>
            </p:cNvSpPr>
            <p:nvPr/>
          </p:nvSpPr>
          <p:spPr bwMode="auto">
            <a:xfrm flipV="1">
              <a:off x="2784" y="2736"/>
              <a:ext cx="0" cy="57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506" name="Rectangle 12"/>
            <p:cNvSpPr>
              <a:spLocks noChangeArrowheads="1"/>
            </p:cNvSpPr>
            <p:nvPr/>
          </p:nvSpPr>
          <p:spPr bwMode="auto">
            <a:xfrm>
              <a:off x="2304" y="2470"/>
              <a:ext cx="11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草酰乙酸</a:t>
              </a:r>
              <a:r>
                <a:rPr kumimoji="1" lang="zh-CN" altLang="en-US" sz="2800">
                  <a:solidFill>
                    <a:srgbClr val="66FFFF"/>
                  </a:solidFill>
                  <a:latin typeface="Arial" panose="020B0604020202020204" pitchFamily="34" charset="0"/>
                  <a:ea typeface="华文楷体" panose="02010600040101010101" pitchFamily="2" charset="-122"/>
                </a:rPr>
                <a:t>   </a:t>
              </a:r>
              <a:endParaRPr kumimoji="1" lang="zh-CN" altLang="en-US" sz="2800">
                <a:solidFill>
                  <a:srgbClr val="66FFFF"/>
                </a:solidFill>
                <a:latin typeface="Arial" panose="020B0604020202020204" pitchFamily="34" charset="0"/>
                <a:ea typeface="华文楷体" panose="02010600040101010101" pitchFamily="2" charset="-122"/>
              </a:endParaRPr>
            </a:p>
          </p:txBody>
        </p:sp>
        <p:sp>
          <p:nvSpPr>
            <p:cNvPr id="62507" name="Rectangle 13"/>
            <p:cNvSpPr>
              <a:spLocks noChangeArrowheads="1"/>
            </p:cNvSpPr>
            <p:nvPr/>
          </p:nvSpPr>
          <p:spPr bwMode="auto">
            <a:xfrm>
              <a:off x="2843" y="2928"/>
              <a:ext cx="1488" cy="327"/>
            </a:xfrm>
            <a:prstGeom prst="rect">
              <a:avLst/>
            </a:prstGeom>
            <a:solidFill>
              <a:srgbClr val="FFFF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FF0000"/>
                  </a:solidFill>
                  <a:latin typeface="黑体" panose="02010609060101010101" pitchFamily="2" charset="-122"/>
                  <a:ea typeface="黑体" panose="02010609060101010101" pitchFamily="2" charset="-122"/>
                </a:rPr>
                <a:t>丙酮酸羧化酶  </a:t>
              </a:r>
              <a:endParaRPr kumimoji="1" lang="zh-CN" altLang="en-US" sz="2800" b="0">
                <a:solidFill>
                  <a:srgbClr val="FF0000"/>
                </a:solidFill>
                <a:latin typeface="黑体" panose="02010609060101010101" pitchFamily="2" charset="-122"/>
                <a:ea typeface="黑体" panose="02010609060101010101" pitchFamily="2" charset="-122"/>
              </a:endParaRPr>
            </a:p>
          </p:txBody>
        </p:sp>
        <p:sp>
          <p:nvSpPr>
            <p:cNvPr id="62508" name="Rectangle 14"/>
            <p:cNvSpPr>
              <a:spLocks noChangeArrowheads="1"/>
            </p:cNvSpPr>
            <p:nvPr/>
          </p:nvSpPr>
          <p:spPr bwMode="auto">
            <a:xfrm>
              <a:off x="1728" y="3070"/>
              <a:ext cx="91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ATP + CO</a:t>
              </a:r>
              <a:r>
                <a:rPr kumimoji="1" lang="en-US" altLang="zh-CN" sz="1800" baseline="-25000">
                  <a:latin typeface="Arial" panose="020B0604020202020204" pitchFamily="34" charset="0"/>
                  <a:ea typeface="华文楷体" panose="02010600040101010101" pitchFamily="2" charset="-122"/>
                </a:rPr>
                <a:t>2</a:t>
              </a:r>
              <a:endParaRPr kumimoji="1" lang="en-US" altLang="zh-CN" sz="1800" baseline="-25000">
                <a:latin typeface="Arial" panose="020B0604020202020204" pitchFamily="34" charset="0"/>
                <a:ea typeface="华文楷体" panose="02010600040101010101" pitchFamily="2" charset="-122"/>
              </a:endParaRPr>
            </a:p>
          </p:txBody>
        </p:sp>
        <p:sp>
          <p:nvSpPr>
            <p:cNvPr id="62509" name="Rectangle 15"/>
            <p:cNvSpPr>
              <a:spLocks noChangeArrowheads="1"/>
            </p:cNvSpPr>
            <p:nvPr/>
          </p:nvSpPr>
          <p:spPr bwMode="auto">
            <a:xfrm>
              <a:off x="1872" y="2789"/>
              <a:ext cx="91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ADP + Pi   </a:t>
              </a:r>
              <a:endParaRPr kumimoji="1" lang="en-US" altLang="zh-CN" sz="1600">
                <a:latin typeface="Arial" panose="020B0604020202020204" pitchFamily="34" charset="0"/>
                <a:ea typeface="华文楷体" panose="02010600040101010101" pitchFamily="2" charset="-122"/>
              </a:endParaRPr>
            </a:p>
          </p:txBody>
        </p:sp>
        <p:sp>
          <p:nvSpPr>
            <p:cNvPr id="62510" name="Freeform 16"/>
            <p:cNvSpPr/>
            <p:nvPr/>
          </p:nvSpPr>
          <p:spPr bwMode="auto">
            <a:xfrm>
              <a:off x="2592" y="2928"/>
              <a:ext cx="192" cy="240"/>
            </a:xfrm>
            <a:custGeom>
              <a:avLst/>
              <a:gdLst>
                <a:gd name="T0" fmla="*/ 0 w 288"/>
                <a:gd name="T1" fmla="*/ 0 h 720"/>
                <a:gd name="T2" fmla="*/ 1 w 288"/>
                <a:gd name="T3" fmla="*/ 0 h 720"/>
                <a:gd name="T4" fmla="*/ 0 w 288"/>
                <a:gd name="T5" fmla="*/ 0 h 720"/>
                <a:gd name="T6" fmla="*/ 0 60000 65536"/>
                <a:gd name="T7" fmla="*/ 0 60000 65536"/>
                <a:gd name="T8" fmla="*/ 0 60000 65536"/>
                <a:gd name="T9" fmla="*/ 0 w 288"/>
                <a:gd name="T10" fmla="*/ 0 h 720"/>
                <a:gd name="T11" fmla="*/ 288 w 288"/>
                <a:gd name="T12" fmla="*/ 720 h 720"/>
              </a:gdLst>
              <a:ahLst/>
              <a:cxnLst>
                <a:cxn ang="T6">
                  <a:pos x="T0" y="T1"/>
                </a:cxn>
                <a:cxn ang="T7">
                  <a:pos x="T2" y="T3"/>
                </a:cxn>
                <a:cxn ang="T8">
                  <a:pos x="T4" y="T5"/>
                </a:cxn>
              </a:cxnLst>
              <a:rect l="T9" t="T10" r="T11" b="T12"/>
              <a:pathLst>
                <a:path w="288" h="720">
                  <a:moveTo>
                    <a:pt x="0" y="0"/>
                  </a:moveTo>
                  <a:cubicBezTo>
                    <a:pt x="144" y="132"/>
                    <a:pt x="288" y="264"/>
                    <a:pt x="288" y="384"/>
                  </a:cubicBezTo>
                  <a:cubicBezTo>
                    <a:pt x="288" y="504"/>
                    <a:pt x="144" y="612"/>
                    <a:pt x="0" y="720"/>
                  </a:cubicBezTo>
                </a:path>
              </a:pathLst>
            </a:custGeom>
            <a:noFill/>
            <a:ln w="28575">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 name="Group 17"/>
          <p:cNvGrpSpPr/>
          <p:nvPr/>
        </p:nvGrpSpPr>
        <p:grpSpPr bwMode="auto">
          <a:xfrm>
            <a:off x="6705600" y="2438401"/>
            <a:ext cx="2819400" cy="1387475"/>
            <a:chOff x="3264" y="1728"/>
            <a:chExt cx="1776" cy="874"/>
          </a:xfrm>
        </p:grpSpPr>
        <p:sp>
          <p:nvSpPr>
            <p:cNvPr id="62500" name="Line 18"/>
            <p:cNvSpPr>
              <a:spLocks noChangeShapeType="1"/>
            </p:cNvSpPr>
            <p:nvPr/>
          </p:nvSpPr>
          <p:spPr bwMode="auto">
            <a:xfrm flipV="1">
              <a:off x="3264" y="2016"/>
              <a:ext cx="816" cy="52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501" name="Rectangle 19"/>
            <p:cNvSpPr>
              <a:spLocks noChangeArrowheads="1"/>
            </p:cNvSpPr>
            <p:nvPr/>
          </p:nvSpPr>
          <p:spPr bwMode="auto">
            <a:xfrm>
              <a:off x="3936" y="1728"/>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rgbClr val="000099"/>
                  </a:solidFill>
                  <a:latin typeface="Arial" panose="020B0604020202020204" pitchFamily="34" charset="0"/>
                  <a:ea typeface="华文楷体" panose="02010600040101010101" pitchFamily="2" charset="-122"/>
                </a:rPr>
                <a:t>苹果酸</a:t>
              </a:r>
              <a:r>
                <a:rPr kumimoji="1" lang="zh-CN" altLang="en-US" sz="2800">
                  <a:solidFill>
                    <a:srgbClr val="FFCC99"/>
                  </a:solidFill>
                  <a:latin typeface="Arial" panose="020B0604020202020204" pitchFamily="34" charset="0"/>
                  <a:ea typeface="华文楷体" panose="02010600040101010101" pitchFamily="2" charset="-122"/>
                </a:rPr>
                <a:t>  </a:t>
              </a:r>
              <a:endParaRPr kumimoji="1" lang="zh-CN" altLang="en-US" sz="2000">
                <a:solidFill>
                  <a:srgbClr val="FFCC99"/>
                </a:solidFill>
                <a:latin typeface="Arial" panose="020B0604020202020204" pitchFamily="34" charset="0"/>
                <a:ea typeface="华文楷体" panose="02010600040101010101" pitchFamily="2" charset="-122"/>
              </a:endParaRPr>
            </a:p>
          </p:txBody>
        </p:sp>
        <p:sp>
          <p:nvSpPr>
            <p:cNvPr id="62502" name="Freeform 20"/>
            <p:cNvSpPr/>
            <p:nvPr/>
          </p:nvSpPr>
          <p:spPr bwMode="auto">
            <a:xfrm rot="1551854" flipH="1">
              <a:off x="3783" y="2102"/>
              <a:ext cx="240" cy="342"/>
            </a:xfrm>
            <a:custGeom>
              <a:avLst/>
              <a:gdLst>
                <a:gd name="T0" fmla="*/ 0 w 288"/>
                <a:gd name="T1" fmla="*/ 0 h 720"/>
                <a:gd name="T2" fmla="*/ 3 w 288"/>
                <a:gd name="T3" fmla="*/ 0 h 720"/>
                <a:gd name="T4" fmla="*/ 0 w 288"/>
                <a:gd name="T5" fmla="*/ 0 h 720"/>
                <a:gd name="T6" fmla="*/ 0 60000 65536"/>
                <a:gd name="T7" fmla="*/ 0 60000 65536"/>
                <a:gd name="T8" fmla="*/ 0 60000 65536"/>
                <a:gd name="T9" fmla="*/ 0 w 288"/>
                <a:gd name="T10" fmla="*/ 0 h 720"/>
                <a:gd name="T11" fmla="*/ 288 w 288"/>
                <a:gd name="T12" fmla="*/ 720 h 720"/>
              </a:gdLst>
              <a:ahLst/>
              <a:cxnLst>
                <a:cxn ang="T6">
                  <a:pos x="T0" y="T1"/>
                </a:cxn>
                <a:cxn ang="T7">
                  <a:pos x="T2" y="T3"/>
                </a:cxn>
                <a:cxn ang="T8">
                  <a:pos x="T4" y="T5"/>
                </a:cxn>
              </a:cxnLst>
              <a:rect l="T9" t="T10" r="T11" b="T12"/>
              <a:pathLst>
                <a:path w="288" h="720">
                  <a:moveTo>
                    <a:pt x="0" y="0"/>
                  </a:moveTo>
                  <a:cubicBezTo>
                    <a:pt x="144" y="132"/>
                    <a:pt x="288" y="264"/>
                    <a:pt x="288" y="384"/>
                  </a:cubicBezTo>
                  <a:cubicBezTo>
                    <a:pt x="288" y="504"/>
                    <a:pt x="144" y="612"/>
                    <a:pt x="0" y="720"/>
                  </a:cubicBez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503" name="Rectangle 21"/>
            <p:cNvSpPr>
              <a:spLocks noChangeArrowheads="1"/>
            </p:cNvSpPr>
            <p:nvPr/>
          </p:nvSpPr>
          <p:spPr bwMode="auto">
            <a:xfrm>
              <a:off x="3936" y="2350"/>
              <a:ext cx="10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NADH + H</a:t>
              </a:r>
              <a:r>
                <a:rPr kumimoji="1" lang="en-US" altLang="zh-CN" sz="2000" baseline="30000">
                  <a:latin typeface="Arial" panose="020B0604020202020204" pitchFamily="34" charset="0"/>
                  <a:ea typeface="华文楷体" panose="02010600040101010101" pitchFamily="2" charset="-122"/>
                </a:rPr>
                <a:t>+   </a:t>
              </a:r>
              <a:endParaRPr kumimoji="1" lang="en-US" altLang="zh-CN" sz="2000" baseline="30000">
                <a:latin typeface="Arial" panose="020B0604020202020204" pitchFamily="34" charset="0"/>
                <a:ea typeface="华文楷体" panose="02010600040101010101" pitchFamily="2" charset="-122"/>
              </a:endParaRPr>
            </a:p>
          </p:txBody>
        </p:sp>
        <p:sp>
          <p:nvSpPr>
            <p:cNvPr id="62504" name="Rectangle 22"/>
            <p:cNvSpPr>
              <a:spLocks noChangeArrowheads="1"/>
            </p:cNvSpPr>
            <p:nvPr/>
          </p:nvSpPr>
          <p:spPr bwMode="auto">
            <a:xfrm>
              <a:off x="4032" y="2062"/>
              <a:ext cx="6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NAD</a:t>
              </a:r>
              <a:r>
                <a:rPr kumimoji="1" lang="en-US" altLang="zh-CN" sz="2400" baseline="30000">
                  <a:latin typeface="Arial" panose="020B0604020202020204" pitchFamily="34" charset="0"/>
                  <a:ea typeface="华文楷体" panose="02010600040101010101" pitchFamily="2" charset="-122"/>
                </a:rPr>
                <a:t>+   </a:t>
              </a:r>
              <a:endParaRPr kumimoji="1" lang="en-US" altLang="zh-CN" sz="2400" baseline="30000">
                <a:latin typeface="Arial" panose="020B0604020202020204" pitchFamily="34" charset="0"/>
                <a:ea typeface="华文楷体" panose="02010600040101010101" pitchFamily="2" charset="-122"/>
              </a:endParaRPr>
            </a:p>
          </p:txBody>
        </p:sp>
      </p:grpSp>
      <p:grpSp>
        <p:nvGrpSpPr>
          <p:cNvPr id="5" name="Group 23"/>
          <p:cNvGrpSpPr/>
          <p:nvPr/>
        </p:nvGrpSpPr>
        <p:grpSpPr bwMode="auto">
          <a:xfrm>
            <a:off x="2438400" y="2397125"/>
            <a:ext cx="2743200" cy="1758950"/>
            <a:chOff x="576" y="1702"/>
            <a:chExt cx="1728" cy="1108"/>
          </a:xfrm>
        </p:grpSpPr>
        <p:sp>
          <p:nvSpPr>
            <p:cNvPr id="62495" name="Line 24"/>
            <p:cNvSpPr>
              <a:spLocks noChangeShapeType="1"/>
            </p:cNvSpPr>
            <p:nvPr/>
          </p:nvSpPr>
          <p:spPr bwMode="auto">
            <a:xfrm flipH="1" flipV="1">
              <a:off x="1392" y="1968"/>
              <a:ext cx="912" cy="57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6" name="Rectangle 25"/>
            <p:cNvSpPr>
              <a:spLocks noChangeArrowheads="1"/>
            </p:cNvSpPr>
            <p:nvPr/>
          </p:nvSpPr>
          <p:spPr bwMode="auto">
            <a:xfrm>
              <a:off x="768" y="1702"/>
              <a:ext cx="12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rgbClr val="000099"/>
                  </a:solidFill>
                  <a:latin typeface="Arial" panose="020B0604020202020204" pitchFamily="34" charset="0"/>
                  <a:ea typeface="华文楷体" panose="02010600040101010101" pitchFamily="2" charset="-122"/>
                </a:rPr>
                <a:t>天冬氨酸</a:t>
              </a:r>
              <a:r>
                <a:rPr kumimoji="1" lang="zh-CN" altLang="en-US" sz="2800">
                  <a:solidFill>
                    <a:srgbClr val="99FF99"/>
                  </a:solidFill>
                  <a:latin typeface="Arial" panose="020B0604020202020204" pitchFamily="34" charset="0"/>
                  <a:ea typeface="华文楷体" panose="02010600040101010101" pitchFamily="2" charset="-122"/>
                </a:rPr>
                <a:t>    </a:t>
              </a:r>
              <a:endParaRPr kumimoji="1" lang="zh-CN" altLang="en-US" sz="2800">
                <a:solidFill>
                  <a:srgbClr val="99FF99"/>
                </a:solidFill>
                <a:latin typeface="Arial" panose="020B0604020202020204" pitchFamily="34" charset="0"/>
                <a:ea typeface="华文楷体" panose="02010600040101010101" pitchFamily="2" charset="-122"/>
              </a:endParaRPr>
            </a:p>
          </p:txBody>
        </p:sp>
        <p:sp>
          <p:nvSpPr>
            <p:cNvPr id="62497" name="Freeform 26"/>
            <p:cNvSpPr/>
            <p:nvPr/>
          </p:nvSpPr>
          <p:spPr bwMode="auto">
            <a:xfrm rot="-2002180">
              <a:off x="1632" y="2208"/>
              <a:ext cx="288" cy="338"/>
            </a:xfrm>
            <a:custGeom>
              <a:avLst/>
              <a:gdLst>
                <a:gd name="T0" fmla="*/ 0 w 288"/>
                <a:gd name="T1" fmla="*/ 0 h 720"/>
                <a:gd name="T2" fmla="*/ 288 w 288"/>
                <a:gd name="T3" fmla="*/ 0 h 720"/>
                <a:gd name="T4" fmla="*/ 0 w 288"/>
                <a:gd name="T5" fmla="*/ 0 h 720"/>
                <a:gd name="T6" fmla="*/ 0 60000 65536"/>
                <a:gd name="T7" fmla="*/ 0 60000 65536"/>
                <a:gd name="T8" fmla="*/ 0 60000 65536"/>
                <a:gd name="T9" fmla="*/ 0 w 288"/>
                <a:gd name="T10" fmla="*/ 0 h 720"/>
                <a:gd name="T11" fmla="*/ 288 w 288"/>
                <a:gd name="T12" fmla="*/ 720 h 720"/>
              </a:gdLst>
              <a:ahLst/>
              <a:cxnLst>
                <a:cxn ang="T6">
                  <a:pos x="T0" y="T1"/>
                </a:cxn>
                <a:cxn ang="T7">
                  <a:pos x="T2" y="T3"/>
                </a:cxn>
                <a:cxn ang="T8">
                  <a:pos x="T4" y="T5"/>
                </a:cxn>
              </a:cxnLst>
              <a:rect l="T9" t="T10" r="T11" b="T12"/>
              <a:pathLst>
                <a:path w="288" h="720">
                  <a:moveTo>
                    <a:pt x="0" y="0"/>
                  </a:moveTo>
                  <a:cubicBezTo>
                    <a:pt x="144" y="132"/>
                    <a:pt x="288" y="264"/>
                    <a:pt x="288" y="384"/>
                  </a:cubicBezTo>
                  <a:cubicBezTo>
                    <a:pt x="288" y="504"/>
                    <a:pt x="144" y="612"/>
                    <a:pt x="0" y="720"/>
                  </a:cubicBezTo>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98" name="Rectangle 27"/>
            <p:cNvSpPr>
              <a:spLocks noChangeArrowheads="1"/>
            </p:cNvSpPr>
            <p:nvPr/>
          </p:nvSpPr>
          <p:spPr bwMode="auto">
            <a:xfrm>
              <a:off x="1152" y="2560"/>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谷氨酸     </a:t>
              </a:r>
              <a:endParaRPr kumimoji="1" lang="zh-CN" altLang="en-US" sz="2000">
                <a:latin typeface="Arial" panose="020B0604020202020204" pitchFamily="34" charset="0"/>
                <a:ea typeface="华文楷体" panose="02010600040101010101" pitchFamily="2" charset="-122"/>
              </a:endParaRPr>
            </a:p>
          </p:txBody>
        </p:sp>
        <p:sp>
          <p:nvSpPr>
            <p:cNvPr id="62499" name="Rectangle 28"/>
            <p:cNvSpPr>
              <a:spLocks noChangeArrowheads="1"/>
            </p:cNvSpPr>
            <p:nvPr/>
          </p:nvSpPr>
          <p:spPr bwMode="auto">
            <a:xfrm>
              <a:off x="576" y="2213"/>
              <a:ext cx="13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   </a:t>
              </a:r>
              <a:r>
                <a:rPr kumimoji="1" lang="en-US" altLang="zh-CN" sz="2000">
                  <a:latin typeface="Arial" panose="020B0604020202020204" pitchFamily="34" charset="0"/>
                  <a:ea typeface="华文楷体" panose="02010600040101010101" pitchFamily="2" charset="-122"/>
                </a:rPr>
                <a:t>α-</a:t>
              </a:r>
              <a:r>
                <a:rPr kumimoji="1" lang="zh-CN" altLang="en-US" sz="2000">
                  <a:latin typeface="Arial" panose="020B0604020202020204" pitchFamily="34" charset="0"/>
                  <a:ea typeface="华文楷体" panose="02010600040101010101" pitchFamily="2" charset="-122"/>
                </a:rPr>
                <a:t>酮戊二酸      </a:t>
              </a:r>
              <a:endParaRPr kumimoji="1" lang="zh-CN" altLang="en-US" sz="2000">
                <a:latin typeface="Arial" panose="020B0604020202020204" pitchFamily="34" charset="0"/>
                <a:ea typeface="华文楷体" panose="02010600040101010101" pitchFamily="2" charset="-122"/>
              </a:endParaRPr>
            </a:p>
          </p:txBody>
        </p:sp>
      </p:grpSp>
      <p:grpSp>
        <p:nvGrpSpPr>
          <p:cNvPr id="6" name="Group 29"/>
          <p:cNvGrpSpPr/>
          <p:nvPr/>
        </p:nvGrpSpPr>
        <p:grpSpPr bwMode="auto">
          <a:xfrm>
            <a:off x="2819400" y="1447800"/>
            <a:ext cx="6248400" cy="1066800"/>
            <a:chOff x="816" y="1104"/>
            <a:chExt cx="3936" cy="672"/>
          </a:xfrm>
        </p:grpSpPr>
        <p:sp>
          <p:nvSpPr>
            <p:cNvPr id="62491" name="Line 30"/>
            <p:cNvSpPr>
              <a:spLocks noChangeShapeType="1"/>
            </p:cNvSpPr>
            <p:nvPr/>
          </p:nvSpPr>
          <p:spPr bwMode="auto">
            <a:xfrm flipH="1" flipV="1">
              <a:off x="1344" y="1440"/>
              <a:ext cx="0"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2" name="Line 31"/>
            <p:cNvSpPr>
              <a:spLocks noChangeShapeType="1"/>
            </p:cNvSpPr>
            <p:nvPr/>
          </p:nvSpPr>
          <p:spPr bwMode="auto">
            <a:xfrm flipV="1">
              <a:off x="4320" y="1440"/>
              <a:ext cx="0" cy="33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3" name="Rectangle 32"/>
            <p:cNvSpPr>
              <a:spLocks noChangeArrowheads="1"/>
            </p:cNvSpPr>
            <p:nvPr/>
          </p:nvSpPr>
          <p:spPr bwMode="auto">
            <a:xfrm>
              <a:off x="816" y="1126"/>
              <a:ext cx="11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solidFill>
                    <a:srgbClr val="000099"/>
                  </a:solidFill>
                  <a:latin typeface="Arial" panose="020B0604020202020204" pitchFamily="34" charset="0"/>
                  <a:ea typeface="华文楷体" panose="02010600040101010101" pitchFamily="2" charset="-122"/>
                </a:rPr>
                <a:t>天冬氨酸</a:t>
              </a:r>
              <a:r>
                <a:rPr kumimoji="1" lang="zh-CN" altLang="en-US" sz="2800">
                  <a:solidFill>
                    <a:srgbClr val="99FF99"/>
                  </a:solidFill>
                  <a:latin typeface="Arial" panose="020B0604020202020204" pitchFamily="34" charset="0"/>
                  <a:ea typeface="华文楷体" panose="02010600040101010101" pitchFamily="2" charset="-122"/>
                </a:rPr>
                <a:t>   </a:t>
              </a:r>
              <a:endParaRPr kumimoji="1" lang="zh-CN" altLang="en-US" sz="2800">
                <a:solidFill>
                  <a:srgbClr val="99FF99"/>
                </a:solidFill>
                <a:latin typeface="Arial" panose="020B0604020202020204" pitchFamily="34" charset="0"/>
                <a:ea typeface="华文楷体" panose="02010600040101010101" pitchFamily="2" charset="-122"/>
              </a:endParaRPr>
            </a:p>
          </p:txBody>
        </p:sp>
        <p:sp>
          <p:nvSpPr>
            <p:cNvPr id="62494" name="Rectangle 33"/>
            <p:cNvSpPr>
              <a:spLocks noChangeArrowheads="1"/>
            </p:cNvSpPr>
            <p:nvPr/>
          </p:nvSpPr>
          <p:spPr bwMode="auto">
            <a:xfrm>
              <a:off x="3936" y="1104"/>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solidFill>
                    <a:srgbClr val="000099"/>
                  </a:solidFill>
                  <a:latin typeface="Arial" panose="020B0604020202020204" pitchFamily="34" charset="0"/>
                  <a:ea typeface="华文楷体" panose="02010600040101010101" pitchFamily="2" charset="-122"/>
                </a:rPr>
                <a:t>苹果酸</a:t>
              </a:r>
              <a:r>
                <a:rPr kumimoji="1" lang="zh-CN" altLang="en-US" sz="2800" dirty="0">
                  <a:solidFill>
                    <a:srgbClr val="FFCC99"/>
                  </a:solidFill>
                  <a:latin typeface="Arial" panose="020B0604020202020204" pitchFamily="34" charset="0"/>
                  <a:ea typeface="华文楷体" panose="02010600040101010101" pitchFamily="2" charset="-122"/>
                </a:rPr>
                <a:t>     </a:t>
              </a:r>
              <a:endParaRPr kumimoji="1" lang="zh-CN" altLang="en-US" sz="2000" dirty="0">
                <a:solidFill>
                  <a:srgbClr val="FFCC99"/>
                </a:solidFill>
                <a:latin typeface="Arial" panose="020B0604020202020204" pitchFamily="34" charset="0"/>
                <a:ea typeface="华文楷体" panose="02010600040101010101" pitchFamily="2" charset="-122"/>
              </a:endParaRPr>
            </a:p>
          </p:txBody>
        </p:sp>
      </p:grpSp>
      <p:grpSp>
        <p:nvGrpSpPr>
          <p:cNvPr id="7" name="Group 34"/>
          <p:cNvGrpSpPr/>
          <p:nvPr/>
        </p:nvGrpSpPr>
        <p:grpSpPr bwMode="auto">
          <a:xfrm>
            <a:off x="4495800" y="1519238"/>
            <a:ext cx="3124200" cy="519112"/>
            <a:chOff x="1872" y="1078"/>
            <a:chExt cx="1968" cy="327"/>
          </a:xfrm>
        </p:grpSpPr>
        <p:sp>
          <p:nvSpPr>
            <p:cNvPr id="62488" name="Rectangle 35"/>
            <p:cNvSpPr>
              <a:spLocks noChangeArrowheads="1"/>
            </p:cNvSpPr>
            <p:nvPr/>
          </p:nvSpPr>
          <p:spPr bwMode="auto">
            <a:xfrm>
              <a:off x="2352" y="1078"/>
              <a:ext cx="12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草酰乙酸</a:t>
              </a:r>
              <a:r>
                <a:rPr kumimoji="1" lang="zh-CN" altLang="en-US" sz="2800">
                  <a:solidFill>
                    <a:srgbClr val="66FFFF"/>
                  </a:solidFill>
                  <a:latin typeface="Arial" panose="020B0604020202020204" pitchFamily="34" charset="0"/>
                  <a:ea typeface="华文楷体" panose="02010600040101010101" pitchFamily="2" charset="-122"/>
                </a:rPr>
                <a:t>    </a:t>
              </a:r>
              <a:endParaRPr kumimoji="1" lang="zh-CN" altLang="en-US" sz="2800">
                <a:solidFill>
                  <a:srgbClr val="66FFFF"/>
                </a:solidFill>
                <a:latin typeface="Arial" panose="020B0604020202020204" pitchFamily="34" charset="0"/>
                <a:ea typeface="华文楷体" panose="02010600040101010101" pitchFamily="2" charset="-122"/>
              </a:endParaRPr>
            </a:p>
          </p:txBody>
        </p:sp>
        <p:sp>
          <p:nvSpPr>
            <p:cNvPr id="62489" name="Line 36"/>
            <p:cNvSpPr>
              <a:spLocks noChangeShapeType="1"/>
            </p:cNvSpPr>
            <p:nvPr/>
          </p:nvSpPr>
          <p:spPr bwMode="auto">
            <a:xfrm>
              <a:off x="1872" y="1248"/>
              <a:ext cx="432"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0" name="Line 37"/>
            <p:cNvSpPr>
              <a:spLocks noChangeShapeType="1"/>
            </p:cNvSpPr>
            <p:nvPr/>
          </p:nvSpPr>
          <p:spPr bwMode="auto">
            <a:xfrm flipH="1">
              <a:off x="3456" y="1248"/>
              <a:ext cx="3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38"/>
          <p:cNvGrpSpPr/>
          <p:nvPr/>
        </p:nvGrpSpPr>
        <p:grpSpPr bwMode="auto">
          <a:xfrm>
            <a:off x="4079876" y="101600"/>
            <a:ext cx="6359525" cy="1511300"/>
            <a:chOff x="1680" y="152"/>
            <a:chExt cx="3859" cy="952"/>
          </a:xfrm>
        </p:grpSpPr>
        <p:sp>
          <p:nvSpPr>
            <p:cNvPr id="62482" name="Line 39"/>
            <p:cNvSpPr>
              <a:spLocks noChangeShapeType="1"/>
            </p:cNvSpPr>
            <p:nvPr/>
          </p:nvSpPr>
          <p:spPr bwMode="auto">
            <a:xfrm flipV="1">
              <a:off x="2880" y="528"/>
              <a:ext cx="0" cy="57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83" name="Rectangle 40"/>
            <p:cNvSpPr>
              <a:spLocks noChangeArrowheads="1"/>
            </p:cNvSpPr>
            <p:nvPr/>
          </p:nvSpPr>
          <p:spPr bwMode="auto">
            <a:xfrm>
              <a:off x="2592" y="152"/>
              <a:ext cx="220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PEP</a:t>
              </a:r>
              <a:r>
                <a:rPr kumimoji="1" lang="zh-CN" altLang="en-US" sz="2000">
                  <a:latin typeface="Arial" panose="020B0604020202020204" pitchFamily="34" charset="0"/>
                  <a:ea typeface="华文楷体" panose="02010600040101010101" pitchFamily="2" charset="-122"/>
                </a:rPr>
                <a:t>（磷酸烯醇式丙酮酸）</a:t>
              </a:r>
              <a:r>
                <a:rPr kumimoji="1" lang="en-US" altLang="zh-CN" sz="2000">
                  <a:latin typeface="Arial" panose="020B0604020202020204" pitchFamily="34" charset="0"/>
                  <a:ea typeface="华文楷体" panose="02010600040101010101" pitchFamily="2" charset="-122"/>
                </a:rPr>
                <a:t> </a:t>
              </a:r>
              <a:endParaRPr kumimoji="1" lang="en-US" altLang="zh-CN" sz="2000">
                <a:latin typeface="Arial" panose="020B0604020202020204" pitchFamily="34" charset="0"/>
                <a:ea typeface="华文楷体" panose="02010600040101010101" pitchFamily="2" charset="-122"/>
              </a:endParaRPr>
            </a:p>
          </p:txBody>
        </p:sp>
        <p:sp>
          <p:nvSpPr>
            <p:cNvPr id="62484" name="Rectangle 41"/>
            <p:cNvSpPr>
              <a:spLocks noChangeArrowheads="1"/>
            </p:cNvSpPr>
            <p:nvPr/>
          </p:nvSpPr>
          <p:spPr bwMode="auto">
            <a:xfrm>
              <a:off x="2947" y="624"/>
              <a:ext cx="2592" cy="327"/>
            </a:xfrm>
            <a:prstGeom prst="rect">
              <a:avLst/>
            </a:prstGeom>
            <a:solidFill>
              <a:srgbClr val="FFFFA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FF0000"/>
                  </a:solidFill>
                  <a:latin typeface="黑体" panose="02010609060101010101" pitchFamily="2" charset="-122"/>
                  <a:ea typeface="黑体" panose="02010609060101010101" pitchFamily="2" charset="-122"/>
                </a:rPr>
                <a:t>磷酸烯醇型丙酮酸羧激酶  </a:t>
              </a:r>
              <a:endParaRPr kumimoji="1" lang="zh-CN" altLang="en-US" sz="2800" b="0">
                <a:solidFill>
                  <a:srgbClr val="FF0000"/>
                </a:solidFill>
                <a:latin typeface="黑体" panose="02010609060101010101" pitchFamily="2" charset="-122"/>
                <a:ea typeface="黑体" panose="02010609060101010101" pitchFamily="2" charset="-122"/>
              </a:endParaRPr>
            </a:p>
          </p:txBody>
        </p:sp>
        <p:sp>
          <p:nvSpPr>
            <p:cNvPr id="62485" name="Rectangle 42"/>
            <p:cNvSpPr>
              <a:spLocks noChangeArrowheads="1"/>
            </p:cNvSpPr>
            <p:nvPr/>
          </p:nvSpPr>
          <p:spPr bwMode="auto">
            <a:xfrm>
              <a:off x="2160" y="821"/>
              <a:ext cx="5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GTP  </a:t>
              </a:r>
              <a:endParaRPr kumimoji="1" lang="en-US" altLang="zh-CN" sz="1600">
                <a:latin typeface="Arial" panose="020B0604020202020204" pitchFamily="34" charset="0"/>
                <a:ea typeface="华文楷体" panose="02010600040101010101" pitchFamily="2" charset="-122"/>
              </a:endParaRPr>
            </a:p>
          </p:txBody>
        </p:sp>
        <p:sp>
          <p:nvSpPr>
            <p:cNvPr id="62486" name="Rectangle 43"/>
            <p:cNvSpPr>
              <a:spLocks noChangeArrowheads="1"/>
            </p:cNvSpPr>
            <p:nvPr/>
          </p:nvSpPr>
          <p:spPr bwMode="auto">
            <a:xfrm>
              <a:off x="1680" y="526"/>
              <a:ext cx="10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GDP + CO</a:t>
              </a:r>
              <a:r>
                <a:rPr kumimoji="1" lang="en-US" altLang="zh-CN" sz="1800" baseline="-25000">
                  <a:latin typeface="Arial" panose="020B0604020202020204" pitchFamily="34" charset="0"/>
                  <a:ea typeface="华文楷体" panose="02010600040101010101" pitchFamily="2" charset="-122"/>
                </a:rPr>
                <a:t>2    </a:t>
              </a:r>
              <a:endParaRPr kumimoji="1" lang="en-US" altLang="zh-CN" sz="1800" baseline="-25000">
                <a:latin typeface="Arial" panose="020B0604020202020204" pitchFamily="34" charset="0"/>
                <a:ea typeface="华文楷体" panose="02010600040101010101" pitchFamily="2" charset="-122"/>
              </a:endParaRPr>
            </a:p>
          </p:txBody>
        </p:sp>
        <p:sp>
          <p:nvSpPr>
            <p:cNvPr id="62487" name="Freeform 44"/>
            <p:cNvSpPr/>
            <p:nvPr/>
          </p:nvSpPr>
          <p:spPr bwMode="auto">
            <a:xfrm>
              <a:off x="2592" y="672"/>
              <a:ext cx="288" cy="288"/>
            </a:xfrm>
            <a:custGeom>
              <a:avLst/>
              <a:gdLst>
                <a:gd name="T0" fmla="*/ 0 w 288"/>
                <a:gd name="T1" fmla="*/ 0 h 720"/>
                <a:gd name="T2" fmla="*/ 288 w 288"/>
                <a:gd name="T3" fmla="*/ 0 h 720"/>
                <a:gd name="T4" fmla="*/ 0 w 288"/>
                <a:gd name="T5" fmla="*/ 0 h 720"/>
                <a:gd name="T6" fmla="*/ 0 60000 65536"/>
                <a:gd name="T7" fmla="*/ 0 60000 65536"/>
                <a:gd name="T8" fmla="*/ 0 60000 65536"/>
                <a:gd name="T9" fmla="*/ 0 w 288"/>
                <a:gd name="T10" fmla="*/ 0 h 720"/>
                <a:gd name="T11" fmla="*/ 288 w 288"/>
                <a:gd name="T12" fmla="*/ 720 h 720"/>
              </a:gdLst>
              <a:ahLst/>
              <a:cxnLst>
                <a:cxn ang="T6">
                  <a:pos x="T0" y="T1"/>
                </a:cxn>
                <a:cxn ang="T7">
                  <a:pos x="T2" y="T3"/>
                </a:cxn>
                <a:cxn ang="T8">
                  <a:pos x="T4" y="T5"/>
                </a:cxn>
              </a:cxnLst>
              <a:rect l="T9" t="T10" r="T11" b="T12"/>
              <a:pathLst>
                <a:path w="288" h="720">
                  <a:moveTo>
                    <a:pt x="0" y="0"/>
                  </a:moveTo>
                  <a:cubicBezTo>
                    <a:pt x="144" y="132"/>
                    <a:pt x="288" y="264"/>
                    <a:pt x="288" y="384"/>
                  </a:cubicBezTo>
                  <a:cubicBezTo>
                    <a:pt x="288" y="504"/>
                    <a:pt x="144" y="612"/>
                    <a:pt x="0" y="720"/>
                  </a:cubicBezTo>
                </a:path>
              </a:pathLst>
            </a:custGeom>
            <a:noFill/>
            <a:ln w="28575">
              <a:solidFill>
                <a:schemeClr val="tx1"/>
              </a:solidFill>
              <a:round/>
              <a:head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62478" name="Rectangle 45"/>
          <p:cNvSpPr>
            <a:spLocks noChangeArrowheads="1"/>
          </p:cNvSpPr>
          <p:nvPr/>
        </p:nvSpPr>
        <p:spPr bwMode="auto">
          <a:xfrm>
            <a:off x="2057400" y="4191001"/>
            <a:ext cx="533400" cy="1382713"/>
          </a:xfrm>
          <a:prstGeom prst="rect">
            <a:avLst/>
          </a:prstGeom>
          <a:solidFill>
            <a:srgbClr val="DAC2A4"/>
          </a:solidFill>
          <a:ln w="9525">
            <a:solidFill>
              <a:srgbClr val="DAC2A4"/>
            </a:solidFill>
            <a:miter lim="800000"/>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线粒体</a:t>
            </a:r>
            <a:endParaRPr kumimoji="1" lang="zh-CN" altLang="en-US" sz="2800">
              <a:latin typeface="Arial" panose="020B0604020202020204" pitchFamily="34" charset="0"/>
              <a:ea typeface="华文楷体" panose="02010600040101010101" pitchFamily="2" charset="-122"/>
            </a:endParaRPr>
          </a:p>
        </p:txBody>
      </p:sp>
      <p:sp>
        <p:nvSpPr>
          <p:cNvPr id="62479" name="Rectangle 46"/>
          <p:cNvSpPr>
            <a:spLocks noChangeArrowheads="1"/>
          </p:cNvSpPr>
          <p:nvPr/>
        </p:nvSpPr>
        <p:spPr bwMode="auto">
          <a:xfrm>
            <a:off x="1752600" y="609600"/>
            <a:ext cx="533400" cy="94615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胞质</a:t>
            </a:r>
            <a:endParaRPr kumimoji="1" lang="zh-CN" altLang="en-US" sz="2800">
              <a:latin typeface="Arial" panose="020B0604020202020204" pitchFamily="34" charset="0"/>
              <a:ea typeface="华文楷体" panose="02010600040101010101" pitchFamily="2" charset="-122"/>
            </a:endParaRPr>
          </a:p>
        </p:txBody>
      </p:sp>
      <p:sp>
        <p:nvSpPr>
          <p:cNvPr id="62480" name="Line 47"/>
          <p:cNvSpPr>
            <a:spLocks noChangeShapeType="1"/>
          </p:cNvSpPr>
          <p:nvPr/>
        </p:nvSpPr>
        <p:spPr bwMode="auto">
          <a:xfrm>
            <a:off x="2057400" y="2362200"/>
            <a:ext cx="0" cy="3200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81" name="Line 48"/>
          <p:cNvSpPr>
            <a:spLocks noChangeShapeType="1"/>
          </p:cNvSpPr>
          <p:nvPr/>
        </p:nvSpPr>
        <p:spPr bwMode="auto">
          <a:xfrm>
            <a:off x="1828800" y="2133600"/>
            <a:ext cx="0" cy="3657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8" presetClass="entr" presetSubtype="3"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strips(upRight)">
                                      <p:cBhvr>
                                        <p:cTn id="16" dur="500"/>
                                        <p:tgtEl>
                                          <p:spTgt spid="4"/>
                                        </p:tgtEl>
                                      </p:cBhvr>
                                    </p:animEffect>
                                  </p:childTnLst>
                                </p:cTn>
                              </p:par>
                            </p:childTnLst>
                          </p:cTn>
                        </p:par>
                        <p:par>
                          <p:cTn id="17" fill="hold">
                            <p:stCondLst>
                              <p:cond delay="500"/>
                            </p:stCondLst>
                            <p:childTnLst>
                              <p:par>
                                <p:cTn id="18" presetID="18" presetClass="entr" presetSubtype="9"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upLeft)">
                                      <p:cBhvr>
                                        <p:cTn id="20" dur="500"/>
                                        <p:tgtEl>
                                          <p:spTgt spid="5"/>
                                        </p:tgtEl>
                                      </p:cBhvr>
                                    </p:animEffect>
                                  </p:childTnLst>
                                </p:cTn>
                              </p:par>
                            </p:childTnLst>
                          </p:cTn>
                        </p:par>
                        <p:par>
                          <p:cTn id="21" fill="hold">
                            <p:stCondLst>
                              <p:cond delay="1000"/>
                            </p:stCondLst>
                            <p:childTnLst>
                              <p:par>
                                <p:cTn id="22" presetID="17" presetClass="entr" presetSubtype="4"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ppt_x</p:attrName>
                                        </p:attrNameLst>
                                      </p:cBhvr>
                                      <p:tavLst>
                                        <p:tav tm="0">
                                          <p:val>
                                            <p:strVal val="#ppt_x"/>
                                          </p:val>
                                        </p:tav>
                                        <p:tav tm="100000">
                                          <p:val>
                                            <p:strVal val="#ppt_x"/>
                                          </p:val>
                                        </p:tav>
                                      </p:tavLst>
                                    </p:anim>
                                    <p:anim calcmode="lin" valueType="num">
                                      <p:cBhvr>
                                        <p:cTn id="25" dur="500" fill="hold"/>
                                        <p:tgtEl>
                                          <p:spTgt spid="6"/>
                                        </p:tgtEl>
                                        <p:attrNameLst>
                                          <p:attrName>ppt_y</p:attrName>
                                        </p:attrNameLst>
                                      </p:cBhvr>
                                      <p:tavLst>
                                        <p:tav tm="0">
                                          <p:val>
                                            <p:strVal val="#ppt_y+#ppt_h/2"/>
                                          </p:val>
                                        </p:tav>
                                        <p:tav tm="100000">
                                          <p:val>
                                            <p:strVal val="#ppt_y"/>
                                          </p:val>
                                        </p:tav>
                                      </p:tavLst>
                                    </p:anim>
                                    <p:anim calcmode="lin" valueType="num">
                                      <p:cBhvr>
                                        <p:cTn id="26" dur="500" fill="hold"/>
                                        <p:tgtEl>
                                          <p:spTgt spid="6"/>
                                        </p:tgtEl>
                                        <p:attrNameLst>
                                          <p:attrName>ppt_w</p:attrName>
                                        </p:attrNameLst>
                                      </p:cBhvr>
                                      <p:tavLst>
                                        <p:tav tm="0">
                                          <p:val>
                                            <p:strVal val="#ppt_w"/>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childTnLst>
                                </p:cTn>
                              </p:par>
                            </p:childTnLst>
                          </p:cTn>
                        </p:par>
                        <p:par>
                          <p:cTn id="28" fill="hold">
                            <p:stCondLst>
                              <p:cond delay="1500"/>
                            </p:stCondLst>
                            <p:childTnLst>
                              <p:par>
                                <p:cTn id="29" presetID="16" presetClass="entr" presetSubtype="21"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arn(inVertic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3"/>
          <p:cNvGrpSpPr/>
          <p:nvPr/>
        </p:nvGrpSpPr>
        <p:grpSpPr bwMode="auto">
          <a:xfrm>
            <a:off x="4021737" y="1147763"/>
            <a:ext cx="7546871" cy="1604962"/>
            <a:chOff x="453" y="1091"/>
            <a:chExt cx="4589" cy="1011"/>
          </a:xfrm>
        </p:grpSpPr>
        <p:sp>
          <p:nvSpPr>
            <p:cNvPr id="64578" name="Text Box 4"/>
            <p:cNvSpPr txBox="1">
              <a:spLocks noChangeArrowheads="1"/>
            </p:cNvSpPr>
            <p:nvPr/>
          </p:nvSpPr>
          <p:spPr bwMode="auto">
            <a:xfrm>
              <a:off x="453" y="1323"/>
              <a:ext cx="161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600" dirty="0"/>
                <a:t>果糖</a:t>
              </a:r>
              <a:r>
                <a:rPr kumimoji="1" lang="en-US" altLang="zh-CN" sz="2600" dirty="0"/>
                <a:t>-</a:t>
              </a:r>
              <a:r>
                <a:rPr kumimoji="1" lang="zh-CN" altLang="en-US" sz="2600" dirty="0"/>
                <a:t>1,6-二磷酸</a:t>
              </a:r>
              <a:endParaRPr kumimoji="1" lang="zh-CN" altLang="en-US" sz="2600" dirty="0"/>
            </a:p>
          </p:txBody>
        </p:sp>
        <p:sp>
          <p:nvSpPr>
            <p:cNvPr id="64579" name="Text Box 5"/>
            <p:cNvSpPr txBox="1">
              <a:spLocks noChangeArrowheads="1"/>
            </p:cNvSpPr>
            <p:nvPr/>
          </p:nvSpPr>
          <p:spPr bwMode="auto">
            <a:xfrm>
              <a:off x="3468" y="1336"/>
              <a:ext cx="157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600" dirty="0"/>
                <a:t> 果糖</a:t>
              </a:r>
              <a:r>
                <a:rPr kumimoji="1" lang="en-US" altLang="zh-CN" sz="2600" dirty="0"/>
                <a:t>-</a:t>
              </a:r>
              <a:r>
                <a:rPr kumimoji="1" lang="zh-CN" altLang="en-US" sz="2600" dirty="0"/>
                <a:t>6-磷酸</a:t>
              </a:r>
              <a:endParaRPr kumimoji="1" lang="zh-CN" altLang="en-US" sz="2600" dirty="0"/>
            </a:p>
          </p:txBody>
        </p:sp>
        <p:sp>
          <p:nvSpPr>
            <p:cNvPr id="64580" name="Line 6"/>
            <p:cNvSpPr>
              <a:spLocks noChangeShapeType="1"/>
            </p:cNvSpPr>
            <p:nvPr/>
          </p:nvSpPr>
          <p:spPr bwMode="auto">
            <a:xfrm flipV="1">
              <a:off x="2066" y="1474"/>
              <a:ext cx="1402" cy="14"/>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81" name="Text Box 7"/>
            <p:cNvSpPr txBox="1">
              <a:spLocks noChangeArrowheads="1"/>
            </p:cNvSpPr>
            <p:nvPr/>
          </p:nvSpPr>
          <p:spPr bwMode="auto">
            <a:xfrm>
              <a:off x="1909" y="1091"/>
              <a:ext cx="17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solidFill>
                    <a:srgbClr val="FF0000"/>
                  </a:solidFill>
                  <a:latin typeface="黑体" panose="02010609060101010101" pitchFamily="2" charset="-122"/>
                  <a:ea typeface="黑体" panose="02010609060101010101" pitchFamily="2" charset="-122"/>
                </a:rPr>
                <a:t>果糖二磷酸酶-1</a:t>
              </a:r>
              <a:endParaRPr kumimoji="1" lang="zh-CN" altLang="en-US" sz="2800" b="0" dirty="0">
                <a:solidFill>
                  <a:srgbClr val="FF0000"/>
                </a:solidFill>
                <a:latin typeface="黑体" panose="02010609060101010101" pitchFamily="2" charset="-122"/>
                <a:ea typeface="黑体" panose="02010609060101010101" pitchFamily="2" charset="-122"/>
              </a:endParaRPr>
            </a:p>
          </p:txBody>
        </p:sp>
        <p:sp>
          <p:nvSpPr>
            <p:cNvPr id="64582" name="Line 8"/>
            <p:cNvSpPr>
              <a:spLocks noChangeShapeType="1"/>
            </p:cNvSpPr>
            <p:nvPr/>
          </p:nvSpPr>
          <p:spPr bwMode="auto">
            <a:xfrm flipH="1">
              <a:off x="2258" y="1479"/>
              <a:ext cx="199" cy="22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4583" name="Line 9"/>
            <p:cNvSpPr>
              <a:spLocks noChangeShapeType="1"/>
            </p:cNvSpPr>
            <p:nvPr/>
          </p:nvSpPr>
          <p:spPr bwMode="auto">
            <a:xfrm>
              <a:off x="3023" y="1471"/>
              <a:ext cx="238" cy="28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84" name="Text Box 10"/>
            <p:cNvSpPr txBox="1">
              <a:spLocks noChangeArrowheads="1"/>
            </p:cNvSpPr>
            <p:nvPr/>
          </p:nvSpPr>
          <p:spPr bwMode="auto">
            <a:xfrm>
              <a:off x="1924" y="1723"/>
              <a:ext cx="7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ea typeface="宋体" panose="02010600030101010101" pitchFamily="2" charset="-122"/>
                </a:rPr>
                <a:t>H</a:t>
              </a:r>
              <a:r>
                <a:rPr kumimoji="1" lang="en-US" altLang="zh-CN" sz="2800" baseline="-25000">
                  <a:ea typeface="宋体" panose="02010600030101010101" pitchFamily="2" charset="-122"/>
                </a:rPr>
                <a:t>2</a:t>
              </a:r>
              <a:r>
                <a:rPr kumimoji="1" lang="en-US" altLang="zh-CN" sz="2800">
                  <a:ea typeface="宋体" panose="02010600030101010101" pitchFamily="2" charset="-122"/>
                </a:rPr>
                <a:t>O</a:t>
              </a:r>
              <a:endParaRPr kumimoji="1" lang="en-US" altLang="zh-CN" sz="2800">
                <a:ea typeface="宋体" panose="02010600030101010101" pitchFamily="2" charset="-122"/>
              </a:endParaRPr>
            </a:p>
          </p:txBody>
        </p:sp>
        <p:sp>
          <p:nvSpPr>
            <p:cNvPr id="64585" name="Text Box 11"/>
            <p:cNvSpPr txBox="1">
              <a:spLocks noChangeArrowheads="1"/>
            </p:cNvSpPr>
            <p:nvPr/>
          </p:nvSpPr>
          <p:spPr bwMode="auto">
            <a:xfrm>
              <a:off x="3147" y="1772"/>
              <a:ext cx="38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800">
                  <a:ea typeface="宋体" panose="02010600030101010101" pitchFamily="2" charset="-122"/>
                </a:rPr>
                <a:t>Pi</a:t>
              </a:r>
              <a:endParaRPr kumimoji="1" lang="en-US" altLang="zh-CN" sz="2800">
                <a:ea typeface="宋体" panose="02010600030101010101" pitchFamily="2" charset="-122"/>
              </a:endParaRPr>
            </a:p>
          </p:txBody>
        </p:sp>
      </p:grpSp>
      <p:grpSp>
        <p:nvGrpSpPr>
          <p:cNvPr id="66" name="Group 13"/>
          <p:cNvGrpSpPr/>
          <p:nvPr/>
        </p:nvGrpSpPr>
        <p:grpSpPr bwMode="auto">
          <a:xfrm>
            <a:off x="4177208" y="3798888"/>
            <a:ext cx="6743700" cy="1581150"/>
            <a:chOff x="676" y="2913"/>
            <a:chExt cx="4101" cy="996"/>
          </a:xfrm>
        </p:grpSpPr>
        <p:sp>
          <p:nvSpPr>
            <p:cNvPr id="64570" name="Text Box 14"/>
            <p:cNvSpPr txBox="1">
              <a:spLocks noChangeArrowheads="1"/>
            </p:cNvSpPr>
            <p:nvPr/>
          </p:nvSpPr>
          <p:spPr bwMode="auto">
            <a:xfrm>
              <a:off x="676" y="3081"/>
              <a:ext cx="21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600" dirty="0"/>
                <a:t>葡萄糖</a:t>
              </a:r>
              <a:r>
                <a:rPr kumimoji="1" lang="en-US" altLang="zh-CN" sz="2600" dirty="0"/>
                <a:t>-</a:t>
              </a:r>
              <a:r>
                <a:rPr kumimoji="1" lang="zh-CN" altLang="en-US" sz="2600" dirty="0"/>
                <a:t>6-磷酸</a:t>
              </a:r>
              <a:endParaRPr kumimoji="1" lang="zh-CN" altLang="en-US" sz="2600" dirty="0"/>
            </a:p>
          </p:txBody>
        </p:sp>
        <p:sp>
          <p:nvSpPr>
            <p:cNvPr id="64571" name="Text Box 15"/>
            <p:cNvSpPr txBox="1">
              <a:spLocks noChangeArrowheads="1"/>
            </p:cNvSpPr>
            <p:nvPr/>
          </p:nvSpPr>
          <p:spPr bwMode="auto">
            <a:xfrm>
              <a:off x="3731" y="3115"/>
              <a:ext cx="104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600" dirty="0"/>
                <a:t>葡萄糖</a:t>
              </a:r>
              <a:endParaRPr kumimoji="1" lang="zh-CN" altLang="en-US" sz="2600" dirty="0"/>
            </a:p>
          </p:txBody>
        </p:sp>
        <p:sp>
          <p:nvSpPr>
            <p:cNvPr id="64572" name="Line 16"/>
            <p:cNvSpPr>
              <a:spLocks noChangeShapeType="1"/>
            </p:cNvSpPr>
            <p:nvPr/>
          </p:nvSpPr>
          <p:spPr bwMode="auto">
            <a:xfrm flipV="1">
              <a:off x="2074" y="3282"/>
              <a:ext cx="1559" cy="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sz="2600"/>
            </a:p>
          </p:txBody>
        </p:sp>
        <p:sp>
          <p:nvSpPr>
            <p:cNvPr id="64573" name="Text Box 17"/>
            <p:cNvSpPr txBox="1">
              <a:spLocks noChangeArrowheads="1"/>
            </p:cNvSpPr>
            <p:nvPr/>
          </p:nvSpPr>
          <p:spPr bwMode="auto">
            <a:xfrm>
              <a:off x="1985" y="2913"/>
              <a:ext cx="181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600" b="0">
                  <a:solidFill>
                    <a:srgbClr val="FF0000"/>
                  </a:solidFill>
                  <a:latin typeface="Arial" panose="020B0604020202020204" pitchFamily="34" charset="0"/>
                  <a:ea typeface="黑体" panose="02010609060101010101" pitchFamily="2" charset="-122"/>
                </a:rPr>
                <a:t>葡萄糖-6-磷酸酶</a:t>
              </a:r>
              <a:endParaRPr kumimoji="1" lang="zh-CN" altLang="en-US" sz="2600" b="0">
                <a:solidFill>
                  <a:srgbClr val="FF0000"/>
                </a:solidFill>
                <a:latin typeface="Arial" panose="020B0604020202020204" pitchFamily="34" charset="0"/>
                <a:ea typeface="黑体" panose="02010609060101010101" pitchFamily="2" charset="-122"/>
              </a:endParaRPr>
            </a:p>
          </p:txBody>
        </p:sp>
        <p:sp>
          <p:nvSpPr>
            <p:cNvPr id="64574" name="Line 18"/>
            <p:cNvSpPr>
              <a:spLocks noChangeShapeType="1"/>
            </p:cNvSpPr>
            <p:nvPr/>
          </p:nvSpPr>
          <p:spPr bwMode="auto">
            <a:xfrm flipH="1">
              <a:off x="2385" y="3276"/>
              <a:ext cx="229" cy="3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2600"/>
            </a:p>
          </p:txBody>
        </p:sp>
        <p:sp>
          <p:nvSpPr>
            <p:cNvPr id="64575" name="Line 19"/>
            <p:cNvSpPr>
              <a:spLocks noChangeShapeType="1"/>
            </p:cNvSpPr>
            <p:nvPr/>
          </p:nvSpPr>
          <p:spPr bwMode="auto">
            <a:xfrm>
              <a:off x="3316" y="3276"/>
              <a:ext cx="281" cy="33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sz="2600"/>
            </a:p>
          </p:txBody>
        </p:sp>
        <p:sp>
          <p:nvSpPr>
            <p:cNvPr id="64576" name="Text Box 20"/>
            <p:cNvSpPr txBox="1">
              <a:spLocks noChangeArrowheads="1"/>
            </p:cNvSpPr>
            <p:nvPr/>
          </p:nvSpPr>
          <p:spPr bwMode="auto">
            <a:xfrm>
              <a:off x="2109" y="3552"/>
              <a:ext cx="71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600">
                  <a:ea typeface="宋体" panose="02010600030101010101" pitchFamily="2" charset="-122"/>
                </a:rPr>
                <a:t>H</a:t>
              </a:r>
              <a:r>
                <a:rPr kumimoji="1" lang="en-US" altLang="zh-CN" sz="2600" baseline="-25000">
                  <a:ea typeface="宋体" panose="02010600030101010101" pitchFamily="2" charset="-122"/>
                </a:rPr>
                <a:t>2</a:t>
              </a:r>
              <a:r>
                <a:rPr kumimoji="1" lang="en-US" altLang="zh-CN" sz="2600">
                  <a:ea typeface="宋体" panose="02010600030101010101" pitchFamily="2" charset="-122"/>
                </a:rPr>
                <a:t>O</a:t>
              </a:r>
              <a:endParaRPr kumimoji="1" lang="en-US" altLang="zh-CN" sz="2600">
                <a:ea typeface="宋体" panose="02010600030101010101" pitchFamily="2" charset="-122"/>
              </a:endParaRPr>
            </a:p>
          </p:txBody>
        </p:sp>
        <p:sp>
          <p:nvSpPr>
            <p:cNvPr id="64577" name="Text Box 21"/>
            <p:cNvSpPr txBox="1">
              <a:spLocks noChangeArrowheads="1"/>
            </p:cNvSpPr>
            <p:nvPr/>
          </p:nvSpPr>
          <p:spPr bwMode="auto">
            <a:xfrm>
              <a:off x="3466" y="3599"/>
              <a:ext cx="38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en-US" altLang="zh-CN" sz="2600" dirty="0">
                  <a:ea typeface="宋体" panose="02010600030101010101" pitchFamily="2" charset="-122"/>
                </a:rPr>
                <a:t>Pi</a:t>
              </a:r>
              <a:endParaRPr kumimoji="1" lang="en-US" altLang="zh-CN" sz="2600" dirty="0">
                <a:ea typeface="宋体" panose="02010600030101010101" pitchFamily="2" charset="-122"/>
              </a:endParaRPr>
            </a:p>
          </p:txBody>
        </p:sp>
      </p:grpSp>
      <p:grpSp>
        <p:nvGrpSpPr>
          <p:cNvPr id="5" name="组合 4"/>
          <p:cNvGrpSpPr/>
          <p:nvPr/>
        </p:nvGrpSpPr>
        <p:grpSpPr bwMode="auto">
          <a:xfrm>
            <a:off x="1487488" y="-26988"/>
            <a:ext cx="2411413" cy="6888163"/>
            <a:chOff x="-36513" y="-26988"/>
            <a:chExt cx="2411413" cy="6888163"/>
          </a:xfrm>
        </p:grpSpPr>
        <p:grpSp>
          <p:nvGrpSpPr>
            <p:cNvPr id="64517" name="Group 4"/>
            <p:cNvGrpSpPr/>
            <p:nvPr/>
          </p:nvGrpSpPr>
          <p:grpSpPr bwMode="auto">
            <a:xfrm>
              <a:off x="0" y="-26988"/>
              <a:ext cx="2374900" cy="6888163"/>
              <a:chOff x="0" y="-19"/>
              <a:chExt cx="1496" cy="4339"/>
            </a:xfrm>
          </p:grpSpPr>
          <p:sp>
            <p:nvSpPr>
              <p:cNvPr id="64519" name="Rectangle 5"/>
              <p:cNvSpPr>
                <a:spLocks noChangeArrowheads="1"/>
              </p:cNvSpPr>
              <p:nvPr/>
            </p:nvSpPr>
            <p:spPr bwMode="auto">
              <a:xfrm>
                <a:off x="0" y="0"/>
                <a:ext cx="1474" cy="432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64520" name="Text Box 6"/>
              <p:cNvSpPr txBox="1">
                <a:spLocks noChangeArrowheads="1"/>
              </p:cNvSpPr>
              <p:nvPr/>
            </p:nvSpPr>
            <p:spPr bwMode="auto">
              <a:xfrm>
                <a:off x="158" y="-19"/>
                <a:ext cx="753" cy="25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Glucose</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64521" name="Text Box 7"/>
              <p:cNvSpPr txBox="1">
                <a:spLocks noChangeArrowheads="1"/>
              </p:cNvSpPr>
              <p:nvPr/>
            </p:nvSpPr>
            <p:spPr bwMode="auto">
              <a:xfrm>
                <a:off x="249" y="478"/>
                <a:ext cx="542"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G-6-P</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64522" name="Text Box 8"/>
              <p:cNvSpPr txBox="1">
                <a:spLocks noChangeArrowheads="1"/>
              </p:cNvSpPr>
              <p:nvPr/>
            </p:nvSpPr>
            <p:spPr bwMode="auto">
              <a:xfrm>
                <a:off x="288" y="910"/>
                <a:ext cx="516"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F-6-P</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64523" name="Text Box 9"/>
              <p:cNvSpPr txBox="1">
                <a:spLocks noChangeArrowheads="1"/>
              </p:cNvSpPr>
              <p:nvPr/>
            </p:nvSpPr>
            <p:spPr bwMode="auto">
              <a:xfrm>
                <a:off x="192" y="1390"/>
                <a:ext cx="738"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FF00"/>
                    </a:solidFill>
                    <a:latin typeface="Arial" panose="020B0604020202020204" pitchFamily="34" charset="0"/>
                    <a:ea typeface="宋体" panose="02010600030101010101" pitchFamily="2" charset="-122"/>
                  </a:rPr>
                  <a:t>F-1,6-2P</a:t>
                </a:r>
                <a:endParaRPr kumimoji="1" lang="en-US" altLang="zh-CN" sz="2000">
                  <a:solidFill>
                    <a:srgbClr val="FFFF00"/>
                  </a:solidFill>
                  <a:latin typeface="Arial" panose="020B0604020202020204" pitchFamily="34" charset="0"/>
                  <a:ea typeface="宋体" panose="02010600030101010101" pitchFamily="2" charset="-122"/>
                </a:endParaRPr>
              </a:p>
            </p:txBody>
          </p:sp>
          <p:sp>
            <p:nvSpPr>
              <p:cNvPr id="64524" name="Line 10"/>
              <p:cNvSpPr>
                <a:spLocks noChangeShapeType="1"/>
              </p:cNvSpPr>
              <p:nvPr/>
            </p:nvSpPr>
            <p:spPr bwMode="auto">
              <a:xfrm flipH="1">
                <a:off x="528" y="672"/>
                <a:ext cx="0" cy="288"/>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25" name="Text Box 11"/>
              <p:cNvSpPr txBox="1">
                <a:spLocks noChangeArrowheads="1"/>
              </p:cNvSpPr>
              <p:nvPr/>
            </p:nvSpPr>
            <p:spPr bwMode="auto">
              <a:xfrm>
                <a:off x="710" y="162"/>
                <a:ext cx="430" cy="213"/>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grpSp>
            <p:nvGrpSpPr>
              <p:cNvPr id="64526" name="Group 12"/>
              <p:cNvGrpSpPr/>
              <p:nvPr/>
            </p:nvGrpSpPr>
            <p:grpSpPr bwMode="auto">
              <a:xfrm>
                <a:off x="528" y="240"/>
                <a:ext cx="192" cy="240"/>
                <a:chOff x="480" y="336"/>
                <a:chExt cx="144" cy="240"/>
              </a:xfrm>
            </p:grpSpPr>
            <p:sp>
              <p:nvSpPr>
                <p:cNvPr id="64567" name="Line 13"/>
                <p:cNvSpPr>
                  <a:spLocks noChangeShapeType="1"/>
                </p:cNvSpPr>
                <p:nvPr/>
              </p:nvSpPr>
              <p:spPr bwMode="auto">
                <a:xfrm>
                  <a:off x="480" y="336"/>
                  <a:ext cx="0" cy="24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68" name="Line 14"/>
                <p:cNvSpPr>
                  <a:spLocks noChangeShapeType="1"/>
                </p:cNvSpPr>
                <p:nvPr/>
              </p:nvSpPr>
              <p:spPr bwMode="auto">
                <a:xfrm flipV="1">
                  <a:off x="480" y="336"/>
                  <a:ext cx="144" cy="96"/>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4569" name="Line 15"/>
                <p:cNvSpPr>
                  <a:spLocks noChangeShapeType="1"/>
                </p:cNvSpPr>
                <p:nvPr/>
              </p:nvSpPr>
              <p:spPr bwMode="auto">
                <a:xfrm>
                  <a:off x="480" y="432"/>
                  <a:ext cx="144" cy="144"/>
                </a:xfrm>
                <a:prstGeom prst="line">
                  <a:avLst/>
                </a:prstGeom>
                <a:noFill/>
                <a:ln w="28575">
                  <a:solidFill>
                    <a:srgbClr val="FFFF00"/>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64527" name="Text Box 16"/>
              <p:cNvSpPr txBox="1">
                <a:spLocks noChangeArrowheads="1"/>
              </p:cNvSpPr>
              <p:nvPr/>
            </p:nvSpPr>
            <p:spPr bwMode="auto">
              <a:xfrm>
                <a:off x="720" y="363"/>
                <a:ext cx="38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64528" name="Text Box 17"/>
              <p:cNvSpPr txBox="1">
                <a:spLocks noChangeArrowheads="1"/>
              </p:cNvSpPr>
              <p:nvPr/>
            </p:nvSpPr>
            <p:spPr bwMode="auto">
              <a:xfrm>
                <a:off x="720" y="1038"/>
                <a:ext cx="371"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grpSp>
            <p:nvGrpSpPr>
              <p:cNvPr id="64529" name="Group 18"/>
              <p:cNvGrpSpPr/>
              <p:nvPr/>
            </p:nvGrpSpPr>
            <p:grpSpPr bwMode="auto">
              <a:xfrm>
                <a:off x="528" y="1104"/>
                <a:ext cx="240" cy="288"/>
                <a:chOff x="432" y="1296"/>
                <a:chExt cx="144" cy="288"/>
              </a:xfrm>
            </p:grpSpPr>
            <p:sp>
              <p:nvSpPr>
                <p:cNvPr id="64564" name="Line 19"/>
                <p:cNvSpPr>
                  <a:spLocks noChangeShapeType="1"/>
                </p:cNvSpPr>
                <p:nvPr/>
              </p:nvSpPr>
              <p:spPr bwMode="auto">
                <a:xfrm>
                  <a:off x="432" y="1296"/>
                  <a:ext cx="0" cy="288"/>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65" name="Line 20"/>
                <p:cNvSpPr>
                  <a:spLocks noChangeShapeType="1"/>
                </p:cNvSpPr>
                <p:nvPr/>
              </p:nvSpPr>
              <p:spPr bwMode="auto">
                <a:xfrm flipV="1">
                  <a:off x="432" y="1344"/>
                  <a:ext cx="144" cy="96"/>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4566" name="Line 21"/>
                <p:cNvSpPr>
                  <a:spLocks noChangeShapeType="1"/>
                </p:cNvSpPr>
                <p:nvPr/>
              </p:nvSpPr>
              <p:spPr bwMode="auto">
                <a:xfrm>
                  <a:off x="432" y="1440"/>
                  <a:ext cx="144" cy="96"/>
                </a:xfrm>
                <a:prstGeom prst="line">
                  <a:avLst/>
                </a:prstGeom>
                <a:noFill/>
                <a:ln w="28575">
                  <a:solidFill>
                    <a:srgbClr val="FFFF00"/>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64530" name="Text Box 22"/>
              <p:cNvSpPr txBox="1">
                <a:spLocks noChangeArrowheads="1"/>
              </p:cNvSpPr>
              <p:nvPr/>
            </p:nvSpPr>
            <p:spPr bwMode="auto">
              <a:xfrm>
                <a:off x="817" y="1205"/>
                <a:ext cx="385"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64531" name="Text Box 23"/>
              <p:cNvSpPr txBox="1">
                <a:spLocks noChangeArrowheads="1"/>
              </p:cNvSpPr>
              <p:nvPr/>
            </p:nvSpPr>
            <p:spPr bwMode="auto">
              <a:xfrm>
                <a:off x="15" y="2601"/>
                <a:ext cx="1357"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1,3-二磷酸甘油酸</a:t>
                </a:r>
                <a:endParaRPr kumimoji="1" lang="zh-CN" altLang="en-US" sz="2000">
                  <a:latin typeface="Arial" panose="020B0604020202020204" pitchFamily="34" charset="0"/>
                </a:endParaRPr>
              </a:p>
            </p:txBody>
          </p:sp>
          <p:sp>
            <p:nvSpPr>
              <p:cNvPr id="64532" name="Text Box 24"/>
              <p:cNvSpPr txBox="1">
                <a:spLocks noChangeArrowheads="1"/>
              </p:cNvSpPr>
              <p:nvPr/>
            </p:nvSpPr>
            <p:spPr bwMode="auto">
              <a:xfrm>
                <a:off x="432" y="3033"/>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3-磷酸甘油酸</a:t>
                </a:r>
                <a:endParaRPr kumimoji="1" lang="zh-CN" altLang="en-US" sz="2000">
                  <a:latin typeface="Arial" panose="020B0604020202020204" pitchFamily="34" charset="0"/>
                </a:endParaRPr>
              </a:p>
            </p:txBody>
          </p:sp>
          <p:sp>
            <p:nvSpPr>
              <p:cNvPr id="64533" name="Text Box 25"/>
              <p:cNvSpPr txBox="1">
                <a:spLocks noChangeArrowheads="1"/>
              </p:cNvSpPr>
              <p:nvPr/>
            </p:nvSpPr>
            <p:spPr bwMode="auto">
              <a:xfrm>
                <a:off x="414" y="3369"/>
                <a:ext cx="10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2-磷酸甘油酸</a:t>
                </a:r>
                <a:endParaRPr kumimoji="1" lang="zh-CN" altLang="en-US" sz="2000">
                  <a:latin typeface="Arial" panose="020B0604020202020204" pitchFamily="34" charset="0"/>
                </a:endParaRPr>
              </a:p>
            </p:txBody>
          </p:sp>
          <p:sp>
            <p:nvSpPr>
              <p:cNvPr id="64534" name="Text Box 26"/>
              <p:cNvSpPr txBox="1">
                <a:spLocks noChangeArrowheads="1"/>
              </p:cNvSpPr>
              <p:nvPr/>
            </p:nvSpPr>
            <p:spPr bwMode="auto">
              <a:xfrm>
                <a:off x="624" y="4070"/>
                <a:ext cx="599" cy="25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rPr>
                  <a:t>丙酮酸</a:t>
                </a:r>
                <a:endParaRPr kumimoji="1" lang="zh-CN" altLang="en-US" sz="2000">
                  <a:solidFill>
                    <a:srgbClr val="FFFF00"/>
                  </a:solidFill>
                  <a:latin typeface="Arial" panose="020B0604020202020204" pitchFamily="34" charset="0"/>
                </a:endParaRPr>
              </a:p>
            </p:txBody>
          </p:sp>
          <p:sp>
            <p:nvSpPr>
              <p:cNvPr id="64535" name="Line 27"/>
              <p:cNvSpPr>
                <a:spLocks noChangeShapeType="1"/>
              </p:cNvSpPr>
              <p:nvPr/>
            </p:nvSpPr>
            <p:spPr bwMode="auto">
              <a:xfrm flipV="1">
                <a:off x="960" y="3216"/>
                <a:ext cx="0" cy="245"/>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36" name="Line 28"/>
              <p:cNvSpPr>
                <a:spLocks noChangeShapeType="1"/>
              </p:cNvSpPr>
              <p:nvPr/>
            </p:nvSpPr>
            <p:spPr bwMode="auto">
              <a:xfrm flipV="1">
                <a:off x="960" y="3552"/>
                <a:ext cx="0" cy="24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37" name="Text Box 29"/>
              <p:cNvSpPr txBox="1">
                <a:spLocks noChangeArrowheads="1"/>
              </p:cNvSpPr>
              <p:nvPr/>
            </p:nvSpPr>
            <p:spPr bwMode="auto">
              <a:xfrm>
                <a:off x="0" y="1872"/>
                <a:ext cx="599" cy="44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磷酸二</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羟丙酮</a:t>
                </a:r>
                <a:endParaRPr kumimoji="1" lang="zh-CN" altLang="en-US" sz="2000">
                  <a:latin typeface="Arial" panose="020B0604020202020204" pitchFamily="34" charset="0"/>
                </a:endParaRPr>
              </a:p>
            </p:txBody>
          </p:sp>
          <p:sp>
            <p:nvSpPr>
              <p:cNvPr id="64538" name="Text Box 30"/>
              <p:cNvSpPr txBox="1">
                <a:spLocks noChangeArrowheads="1"/>
              </p:cNvSpPr>
              <p:nvPr/>
            </p:nvSpPr>
            <p:spPr bwMode="auto">
              <a:xfrm>
                <a:off x="672" y="1872"/>
                <a:ext cx="720" cy="44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rPr>
                  <a:t>3-磷酸</a:t>
                </a:r>
                <a:endParaRPr kumimoji="1" lang="zh-CN" altLang="en-US" sz="2000">
                  <a:latin typeface="Arial" panose="020B0604020202020204" pitchFamily="34" charset="0"/>
                </a:endParaRPr>
              </a:p>
              <a:p>
                <a:pPr eaLnBrk="1" hangingPunct="1">
                  <a:spcBef>
                    <a:spcPct val="0"/>
                  </a:spcBef>
                  <a:buClrTx/>
                  <a:buSzTx/>
                  <a:buFontTx/>
                  <a:buNone/>
                </a:pPr>
                <a:r>
                  <a:rPr kumimoji="1" lang="zh-CN" altLang="en-US" sz="2000">
                    <a:latin typeface="Arial" panose="020B0604020202020204" pitchFamily="34" charset="0"/>
                  </a:rPr>
                  <a:t>甘油醛</a:t>
                </a:r>
                <a:endParaRPr kumimoji="1" lang="zh-CN" altLang="en-US" sz="2000">
                  <a:latin typeface="Arial" panose="020B0604020202020204" pitchFamily="34" charset="0"/>
                </a:endParaRPr>
              </a:p>
            </p:txBody>
          </p:sp>
          <p:grpSp>
            <p:nvGrpSpPr>
              <p:cNvPr id="64539" name="Group 31"/>
              <p:cNvGrpSpPr/>
              <p:nvPr/>
            </p:nvGrpSpPr>
            <p:grpSpPr bwMode="auto">
              <a:xfrm>
                <a:off x="240" y="1584"/>
                <a:ext cx="624" cy="336"/>
                <a:chOff x="3888" y="576"/>
                <a:chExt cx="624" cy="336"/>
              </a:xfrm>
            </p:grpSpPr>
            <p:sp>
              <p:nvSpPr>
                <p:cNvPr id="64560" name="Line 32"/>
                <p:cNvSpPr>
                  <a:spLocks noChangeShapeType="1"/>
                </p:cNvSpPr>
                <p:nvPr/>
              </p:nvSpPr>
              <p:spPr bwMode="auto">
                <a:xfrm>
                  <a:off x="4176" y="768"/>
                  <a:ext cx="336"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4561" name="Group 33"/>
                <p:cNvGrpSpPr/>
                <p:nvPr/>
              </p:nvGrpSpPr>
              <p:grpSpPr bwMode="auto">
                <a:xfrm>
                  <a:off x="3888" y="576"/>
                  <a:ext cx="288" cy="336"/>
                  <a:chOff x="3888" y="576"/>
                  <a:chExt cx="288" cy="336"/>
                </a:xfrm>
              </p:grpSpPr>
              <p:sp>
                <p:nvSpPr>
                  <p:cNvPr id="64562" name="Line 34"/>
                  <p:cNvSpPr>
                    <a:spLocks noChangeShapeType="1"/>
                  </p:cNvSpPr>
                  <p:nvPr/>
                </p:nvSpPr>
                <p:spPr bwMode="auto">
                  <a:xfrm flipH="1">
                    <a:off x="3888" y="768"/>
                    <a:ext cx="288" cy="14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63" name="Line 35"/>
                  <p:cNvSpPr>
                    <a:spLocks noChangeShapeType="1"/>
                  </p:cNvSpPr>
                  <p:nvPr/>
                </p:nvSpPr>
                <p:spPr bwMode="auto">
                  <a:xfrm flipV="1">
                    <a:off x="4176" y="576"/>
                    <a:ext cx="0" cy="19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4540" name="Line 36"/>
              <p:cNvSpPr>
                <a:spLocks noChangeShapeType="1"/>
              </p:cNvSpPr>
              <p:nvPr/>
            </p:nvSpPr>
            <p:spPr bwMode="auto">
              <a:xfrm flipV="1">
                <a:off x="528" y="2163"/>
                <a:ext cx="240"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41" name="Text Box 37"/>
              <p:cNvSpPr txBox="1">
                <a:spLocks noChangeArrowheads="1"/>
              </p:cNvSpPr>
              <p:nvPr/>
            </p:nvSpPr>
            <p:spPr bwMode="auto">
              <a:xfrm>
                <a:off x="288" y="2285"/>
                <a:ext cx="527"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600">
                    <a:latin typeface="Arial" panose="020B0604020202020204" pitchFamily="34" charset="0"/>
                    <a:ea typeface="宋体" panose="02010600030101010101" pitchFamily="2" charset="-122"/>
                  </a:rPr>
                  <a:t> </a:t>
                </a:r>
                <a:r>
                  <a:rPr kumimoji="1" lang="en-US" altLang="zh-CN" sz="1600">
                    <a:latin typeface="Arial" panose="020B0604020202020204" pitchFamily="34" charset="0"/>
                    <a:ea typeface="宋体" panose="02010600030101010101" pitchFamily="2" charset="-122"/>
                  </a:rPr>
                  <a:t>NAD</a:t>
                </a:r>
                <a:r>
                  <a:rPr kumimoji="1" lang="en-US" altLang="zh-CN" sz="1600" baseline="30000">
                    <a:latin typeface="Arial" panose="020B0604020202020204" pitchFamily="34" charset="0"/>
                    <a:ea typeface="宋体" panose="02010600030101010101" pitchFamily="2" charset="-122"/>
                  </a:rPr>
                  <a:t>+  </a:t>
                </a:r>
                <a:endParaRPr kumimoji="1" lang="en-US" altLang="zh-CN" sz="1600" baseline="30000">
                  <a:latin typeface="Arial" panose="020B0604020202020204" pitchFamily="34" charset="0"/>
                  <a:ea typeface="宋体" panose="02010600030101010101" pitchFamily="2" charset="-122"/>
                </a:endParaRPr>
              </a:p>
            </p:txBody>
          </p:sp>
          <p:sp>
            <p:nvSpPr>
              <p:cNvPr id="64542" name="Text Box 39"/>
              <p:cNvSpPr txBox="1">
                <a:spLocks noChangeArrowheads="1"/>
              </p:cNvSpPr>
              <p:nvPr/>
            </p:nvSpPr>
            <p:spPr bwMode="auto">
              <a:xfrm>
                <a:off x="432" y="2808"/>
                <a:ext cx="385"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grpSp>
            <p:nvGrpSpPr>
              <p:cNvPr id="64543" name="Group 40"/>
              <p:cNvGrpSpPr/>
              <p:nvPr/>
            </p:nvGrpSpPr>
            <p:grpSpPr bwMode="auto">
              <a:xfrm>
                <a:off x="816" y="2784"/>
                <a:ext cx="336" cy="288"/>
                <a:chOff x="912" y="2736"/>
                <a:chExt cx="336" cy="384"/>
              </a:xfrm>
            </p:grpSpPr>
            <p:sp>
              <p:nvSpPr>
                <p:cNvPr id="64556" name="Line 41"/>
                <p:cNvSpPr>
                  <a:spLocks noChangeShapeType="1"/>
                </p:cNvSpPr>
                <p:nvPr/>
              </p:nvSpPr>
              <p:spPr bwMode="auto">
                <a:xfrm flipV="1">
                  <a:off x="1056" y="2736"/>
                  <a:ext cx="0" cy="384"/>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64557" name="Group 42"/>
                <p:cNvGrpSpPr/>
                <p:nvPr/>
              </p:nvGrpSpPr>
              <p:grpSpPr bwMode="auto">
                <a:xfrm>
                  <a:off x="912" y="2880"/>
                  <a:ext cx="336" cy="192"/>
                  <a:chOff x="4560" y="2127"/>
                  <a:chExt cx="336" cy="192"/>
                </a:xfrm>
              </p:grpSpPr>
              <p:sp>
                <p:nvSpPr>
                  <p:cNvPr id="64558" name="Line 43"/>
                  <p:cNvSpPr>
                    <a:spLocks noChangeShapeType="1"/>
                  </p:cNvSpPr>
                  <p:nvPr/>
                </p:nvSpPr>
                <p:spPr bwMode="auto">
                  <a:xfrm>
                    <a:off x="4560" y="2127"/>
                    <a:ext cx="144"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4559" name="Line 44"/>
                  <p:cNvSpPr>
                    <a:spLocks noChangeShapeType="1"/>
                  </p:cNvSpPr>
                  <p:nvPr/>
                </p:nvSpPr>
                <p:spPr bwMode="auto">
                  <a:xfrm>
                    <a:off x="4704" y="2223"/>
                    <a:ext cx="192" cy="9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4544" name="Text Box 45"/>
              <p:cNvSpPr txBox="1">
                <a:spLocks noChangeArrowheads="1"/>
              </p:cNvSpPr>
              <p:nvPr/>
            </p:nvSpPr>
            <p:spPr bwMode="auto">
              <a:xfrm>
                <a:off x="1104" y="2880"/>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sp>
            <p:nvSpPr>
              <p:cNvPr id="64545" name="Text Box 46"/>
              <p:cNvSpPr txBox="1">
                <a:spLocks noChangeArrowheads="1"/>
              </p:cNvSpPr>
              <p:nvPr/>
            </p:nvSpPr>
            <p:spPr bwMode="auto">
              <a:xfrm>
                <a:off x="480" y="3887"/>
                <a:ext cx="385" cy="2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latin typeface="Arial" panose="020B0604020202020204" pitchFamily="34" charset="0"/>
                    <a:ea typeface="宋体" panose="02010600030101010101" pitchFamily="2" charset="-122"/>
                  </a:rPr>
                  <a:t>ADP</a:t>
                </a:r>
                <a:endParaRPr kumimoji="1" lang="en-US" altLang="zh-CN" sz="1600">
                  <a:latin typeface="Arial" panose="020B0604020202020204" pitchFamily="34" charset="0"/>
                  <a:ea typeface="宋体" panose="02010600030101010101" pitchFamily="2" charset="-122"/>
                </a:endParaRPr>
              </a:p>
            </p:txBody>
          </p:sp>
          <p:sp>
            <p:nvSpPr>
              <p:cNvPr id="64546" name="Text Box 47"/>
              <p:cNvSpPr txBox="1">
                <a:spLocks noChangeArrowheads="1"/>
              </p:cNvSpPr>
              <p:nvPr/>
            </p:nvSpPr>
            <p:spPr bwMode="auto">
              <a:xfrm>
                <a:off x="1104" y="3966"/>
                <a:ext cx="3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600">
                    <a:solidFill>
                      <a:srgbClr val="FF0D6F"/>
                    </a:solidFill>
                    <a:latin typeface="Arial" panose="020B0604020202020204" pitchFamily="34" charset="0"/>
                    <a:ea typeface="宋体" panose="02010600030101010101" pitchFamily="2" charset="-122"/>
                  </a:rPr>
                  <a:t>ATP</a:t>
                </a:r>
                <a:endParaRPr kumimoji="1" lang="en-US" altLang="zh-CN" sz="1600">
                  <a:solidFill>
                    <a:srgbClr val="FF0D6F"/>
                  </a:solidFill>
                  <a:latin typeface="Arial" panose="020B0604020202020204" pitchFamily="34" charset="0"/>
                  <a:ea typeface="宋体" panose="02010600030101010101" pitchFamily="2" charset="-122"/>
                </a:endParaRPr>
              </a:p>
            </p:txBody>
          </p:sp>
          <p:grpSp>
            <p:nvGrpSpPr>
              <p:cNvPr id="64547" name="Group 48"/>
              <p:cNvGrpSpPr/>
              <p:nvPr/>
            </p:nvGrpSpPr>
            <p:grpSpPr bwMode="auto">
              <a:xfrm>
                <a:off x="720" y="2256"/>
                <a:ext cx="240" cy="384"/>
                <a:chOff x="4512" y="1248"/>
                <a:chExt cx="240" cy="432"/>
              </a:xfrm>
            </p:grpSpPr>
            <p:sp>
              <p:nvSpPr>
                <p:cNvPr id="64553" name="Line 49"/>
                <p:cNvSpPr>
                  <a:spLocks noChangeShapeType="1"/>
                </p:cNvSpPr>
                <p:nvPr/>
              </p:nvSpPr>
              <p:spPr bwMode="auto">
                <a:xfrm flipV="1">
                  <a:off x="4752" y="1248"/>
                  <a:ext cx="0" cy="43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54" name="Line 50"/>
                <p:cNvSpPr>
                  <a:spLocks noChangeShapeType="1"/>
                </p:cNvSpPr>
                <p:nvPr/>
              </p:nvSpPr>
              <p:spPr bwMode="auto">
                <a:xfrm flipH="1">
                  <a:off x="4512" y="1488"/>
                  <a:ext cx="240" cy="96"/>
                </a:xfrm>
                <a:prstGeom prst="line">
                  <a:avLst/>
                </a:prstGeom>
                <a:noFill/>
                <a:ln w="19050">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55" name="Line 51"/>
                <p:cNvSpPr>
                  <a:spLocks noChangeShapeType="1"/>
                </p:cNvSpPr>
                <p:nvPr/>
              </p:nvSpPr>
              <p:spPr bwMode="auto">
                <a:xfrm flipH="1" flipV="1">
                  <a:off x="4512" y="1392"/>
                  <a:ext cx="240" cy="48"/>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64548" name="Text Box 52"/>
              <p:cNvSpPr txBox="1">
                <a:spLocks noChangeArrowheads="1"/>
              </p:cNvSpPr>
              <p:nvPr/>
            </p:nvSpPr>
            <p:spPr bwMode="auto">
              <a:xfrm>
                <a:off x="92" y="3696"/>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FF00"/>
                    </a:solidFill>
                    <a:latin typeface="Arial" panose="020B0604020202020204" pitchFamily="34" charset="0"/>
                  </a:rPr>
                  <a:t>磷酸烯醇式丙酮酸</a:t>
                </a:r>
                <a:endParaRPr kumimoji="1" lang="zh-CN" altLang="en-US" sz="2000">
                  <a:solidFill>
                    <a:srgbClr val="FFFF00"/>
                  </a:solidFill>
                  <a:latin typeface="Arial" panose="020B0604020202020204" pitchFamily="34" charset="0"/>
                </a:endParaRPr>
              </a:p>
            </p:txBody>
          </p:sp>
          <p:grpSp>
            <p:nvGrpSpPr>
              <p:cNvPr id="64549" name="Group 53"/>
              <p:cNvGrpSpPr/>
              <p:nvPr/>
            </p:nvGrpSpPr>
            <p:grpSpPr bwMode="auto">
              <a:xfrm>
                <a:off x="816" y="3888"/>
                <a:ext cx="336" cy="240"/>
                <a:chOff x="912" y="3888"/>
                <a:chExt cx="336" cy="240"/>
              </a:xfrm>
            </p:grpSpPr>
            <p:sp>
              <p:nvSpPr>
                <p:cNvPr id="64550" name="Line 54"/>
                <p:cNvSpPr>
                  <a:spLocks noChangeShapeType="1"/>
                </p:cNvSpPr>
                <p:nvPr/>
              </p:nvSpPr>
              <p:spPr bwMode="auto">
                <a:xfrm flipH="1">
                  <a:off x="1056" y="3888"/>
                  <a:ext cx="0" cy="240"/>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4551" name="Line 55"/>
                <p:cNvSpPr>
                  <a:spLocks noChangeShapeType="1"/>
                </p:cNvSpPr>
                <p:nvPr/>
              </p:nvSpPr>
              <p:spPr bwMode="auto">
                <a:xfrm flipH="1" flipV="1">
                  <a:off x="912" y="3936"/>
                  <a:ext cx="144" cy="48"/>
                </a:xfrm>
                <a:prstGeom prst="line">
                  <a:avLst/>
                </a:prstGeom>
                <a:noFill/>
                <a:ln w="28575">
                  <a:solidFill>
                    <a:srgbClr val="FFFF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4552" name="Line 56"/>
                <p:cNvSpPr>
                  <a:spLocks noChangeShapeType="1"/>
                </p:cNvSpPr>
                <p:nvPr/>
              </p:nvSpPr>
              <p:spPr bwMode="auto">
                <a:xfrm rot="-318911">
                  <a:off x="1056" y="4005"/>
                  <a:ext cx="192" cy="96"/>
                </a:xfrm>
                <a:prstGeom prst="line">
                  <a:avLst/>
                </a:prstGeom>
                <a:noFill/>
                <a:ln w="28575">
                  <a:solidFill>
                    <a:srgbClr val="FFFF00"/>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64518" name="Text Box 37"/>
            <p:cNvSpPr txBox="1">
              <a:spLocks noChangeArrowheads="1"/>
            </p:cNvSpPr>
            <p:nvPr/>
          </p:nvSpPr>
          <p:spPr bwMode="auto">
            <a:xfrm>
              <a:off x="-36513" y="3913187"/>
              <a:ext cx="1173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400">
                  <a:latin typeface="Arial" panose="020B0604020202020204" pitchFamily="34" charset="0"/>
                  <a:ea typeface="宋体" panose="02010600030101010101" pitchFamily="2" charset="-122"/>
                </a:rPr>
                <a:t> </a:t>
              </a:r>
              <a:r>
                <a:rPr kumimoji="1" lang="en-US" altLang="zh-CN" sz="1400">
                  <a:latin typeface="Arial" panose="020B0604020202020204" pitchFamily="34" charset="0"/>
                  <a:ea typeface="宋体" panose="02010600030101010101" pitchFamily="2" charset="-122"/>
                </a:rPr>
                <a:t>NADH + H</a:t>
              </a:r>
              <a:r>
                <a:rPr kumimoji="1" lang="en-US" altLang="zh-CN" sz="1400" baseline="30000">
                  <a:latin typeface="Arial" panose="020B0604020202020204" pitchFamily="34" charset="0"/>
                  <a:ea typeface="宋体" panose="02010600030101010101" pitchFamily="2" charset="-122"/>
                </a:rPr>
                <a:t>+  </a:t>
              </a:r>
              <a:endParaRPr kumimoji="1" lang="en-US" altLang="zh-CN" sz="1400" baseline="30000">
                <a:latin typeface="Arial" panose="020B0604020202020204" pitchFamily="34" charset="0"/>
                <a:ea typeface="宋体" panose="0201060003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wipe(left)">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wipe(left)">
                                      <p:cBhvr>
                                        <p:cTn id="1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图5-13 糖异生途径"/>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31826" y="0"/>
            <a:ext cx="63373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8467" name="Line 3"/>
          <p:cNvSpPr>
            <a:spLocks noChangeShapeType="1"/>
          </p:cNvSpPr>
          <p:nvPr/>
        </p:nvSpPr>
        <p:spPr bwMode="auto">
          <a:xfrm>
            <a:off x="3374902" y="3822700"/>
            <a:ext cx="1584325"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468" name="Line 4"/>
          <p:cNvSpPr>
            <a:spLocks noChangeShapeType="1"/>
          </p:cNvSpPr>
          <p:nvPr/>
        </p:nvSpPr>
        <p:spPr bwMode="auto">
          <a:xfrm>
            <a:off x="4463926" y="5661025"/>
            <a:ext cx="865188"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469" name="Line 5"/>
          <p:cNvSpPr>
            <a:spLocks noChangeShapeType="1"/>
          </p:cNvSpPr>
          <p:nvPr/>
        </p:nvSpPr>
        <p:spPr bwMode="auto">
          <a:xfrm>
            <a:off x="4708402" y="1163638"/>
            <a:ext cx="1008063"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470" name="Line 6"/>
          <p:cNvSpPr>
            <a:spLocks noChangeShapeType="1"/>
          </p:cNvSpPr>
          <p:nvPr/>
        </p:nvSpPr>
        <p:spPr bwMode="auto">
          <a:xfrm>
            <a:off x="4656014" y="352425"/>
            <a:ext cx="1008062"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472" name="Line 8"/>
          <p:cNvSpPr>
            <a:spLocks noChangeShapeType="1"/>
          </p:cNvSpPr>
          <p:nvPr/>
        </p:nvSpPr>
        <p:spPr bwMode="auto">
          <a:xfrm>
            <a:off x="1992189" y="1163638"/>
            <a:ext cx="10795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8473" name="Line 9"/>
          <p:cNvSpPr>
            <a:spLocks noChangeShapeType="1"/>
          </p:cNvSpPr>
          <p:nvPr/>
        </p:nvSpPr>
        <p:spPr bwMode="auto">
          <a:xfrm>
            <a:off x="2379539" y="355600"/>
            <a:ext cx="792162"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569" name="Text Box 10"/>
          <p:cNvSpPr txBox="1">
            <a:spLocks noChangeArrowheads="1"/>
          </p:cNvSpPr>
          <p:nvPr/>
        </p:nvSpPr>
        <p:spPr bwMode="auto">
          <a:xfrm>
            <a:off x="1271464" y="4608514"/>
            <a:ext cx="86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1000">
                <a:latin typeface="宋体" panose="02010600030101010101" pitchFamily="2" charset="-122"/>
                <a:ea typeface="宋体" panose="02010600030101010101" pitchFamily="2" charset="-122"/>
              </a:rPr>
              <a:t>丙酮酸激酶</a:t>
            </a:r>
            <a:endParaRPr lang="zh-CN" altLang="en-US" sz="1000">
              <a:latin typeface="宋体" panose="02010600030101010101" pitchFamily="2" charset="-122"/>
              <a:ea typeface="宋体" panose="02010600030101010101" pitchFamily="2" charset="-122"/>
            </a:endParaRPr>
          </a:p>
        </p:txBody>
      </p:sp>
      <p:sp>
        <p:nvSpPr>
          <p:cNvPr id="318475" name="Line 11"/>
          <p:cNvSpPr>
            <a:spLocks noChangeShapeType="1"/>
          </p:cNvSpPr>
          <p:nvPr/>
        </p:nvSpPr>
        <p:spPr bwMode="auto">
          <a:xfrm>
            <a:off x="1323852" y="4835525"/>
            <a:ext cx="684213"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 name="矩形 1"/>
          <p:cNvSpPr>
            <a:spLocks noChangeArrowheads="1"/>
          </p:cNvSpPr>
          <p:nvPr/>
        </p:nvSpPr>
        <p:spPr bwMode="auto">
          <a:xfrm>
            <a:off x="7969126" y="2276872"/>
            <a:ext cx="36258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b="0" dirty="0">
                <a:solidFill>
                  <a:srgbClr val="C00000"/>
                </a:solidFill>
                <a:latin typeface="微软雅黑" panose="020B0503020204020204" pitchFamily="34" charset="-122"/>
                <a:ea typeface="微软雅黑" panose="020B0503020204020204" pitchFamily="34" charset="-122"/>
              </a:rPr>
              <a:t>两分子乳酸异生为葡萄糖需消耗</a:t>
            </a:r>
            <a:r>
              <a:rPr lang="en-US" altLang="zh-CN" sz="2800" b="0" dirty="0">
                <a:solidFill>
                  <a:srgbClr val="C00000"/>
                </a:solidFill>
                <a:latin typeface="微软雅黑" panose="020B0503020204020204" pitchFamily="34" charset="-122"/>
                <a:ea typeface="微软雅黑" panose="020B0503020204020204" pitchFamily="34" charset="-122"/>
              </a:rPr>
              <a:t>6</a:t>
            </a:r>
            <a:r>
              <a:rPr lang="zh-CN" altLang="en-US" sz="2800" b="0" dirty="0">
                <a:solidFill>
                  <a:srgbClr val="C00000"/>
                </a:solidFill>
                <a:latin typeface="微软雅黑" panose="020B0503020204020204" pitchFamily="34" charset="-122"/>
                <a:ea typeface="微软雅黑" panose="020B0503020204020204" pitchFamily="34" charset="-122"/>
              </a:rPr>
              <a:t>分子</a:t>
            </a:r>
            <a:r>
              <a:rPr lang="en-US" altLang="zh-CN" sz="2800" b="0" dirty="0">
                <a:solidFill>
                  <a:srgbClr val="C00000"/>
                </a:solidFill>
                <a:latin typeface="微软雅黑" panose="020B0503020204020204" pitchFamily="34" charset="-122"/>
                <a:ea typeface="微软雅黑" panose="020B0503020204020204" pitchFamily="34" charset="-122"/>
              </a:rPr>
              <a:t>ATP</a:t>
            </a:r>
            <a:endParaRPr lang="en-US" altLang="zh-CN" sz="2800" b="0" dirty="0">
              <a:solidFill>
                <a:srgbClr val="C00000"/>
              </a:solidFill>
              <a:latin typeface="微软雅黑" panose="020B0503020204020204" pitchFamily="34" charset="-122"/>
              <a:ea typeface="微软雅黑" panose="020B0503020204020204" pitchFamily="34" charset="-122"/>
            </a:endParaRPr>
          </a:p>
          <a:p>
            <a:pPr>
              <a:spcBef>
                <a:spcPct val="0"/>
              </a:spcBef>
              <a:buClrTx/>
              <a:buSzTx/>
              <a:buFontTx/>
              <a:buNone/>
            </a:pPr>
            <a:endParaRPr lang="en-US" altLang="zh-CN" sz="2800" b="0" dirty="0">
              <a:solidFill>
                <a:srgbClr val="C00000"/>
              </a:solidFill>
              <a:latin typeface="微软雅黑" panose="020B0503020204020204" pitchFamily="34" charset="-122"/>
              <a:ea typeface="微软雅黑" panose="020B0503020204020204" pitchFamily="34" charset="-122"/>
            </a:endParaRPr>
          </a:p>
          <a:p>
            <a:pPr>
              <a:spcBef>
                <a:spcPct val="0"/>
              </a:spcBef>
              <a:buClrTx/>
              <a:buSzTx/>
              <a:buFontTx/>
              <a:buNone/>
            </a:pPr>
            <a:r>
              <a:rPr lang="zh-CN" altLang="en-US" sz="2400" b="0" dirty="0">
                <a:latin typeface="Arial" panose="020B0604020202020204" pitchFamily="34" charset="0"/>
              </a:rPr>
              <a:t>如果</a:t>
            </a:r>
            <a:r>
              <a:rPr lang="en-US" altLang="zh-CN" sz="2400" b="0" dirty="0">
                <a:latin typeface="Arial" panose="020B0604020202020204" pitchFamily="34" charset="0"/>
              </a:rPr>
              <a:t>2</a:t>
            </a:r>
            <a:r>
              <a:rPr lang="zh-CN" altLang="en-US" sz="2400" b="0" dirty="0">
                <a:latin typeface="Arial" panose="020B0604020202020204" pitchFamily="34" charset="0"/>
              </a:rPr>
              <a:t>分子丙酮酸异生为一分子葡萄糖，除了需消耗</a:t>
            </a:r>
            <a:r>
              <a:rPr lang="en-US" altLang="zh-CN" sz="2400" b="0" dirty="0">
                <a:latin typeface="Arial" panose="020B0604020202020204" pitchFamily="34" charset="0"/>
              </a:rPr>
              <a:t>6</a:t>
            </a:r>
            <a:r>
              <a:rPr lang="zh-CN" altLang="en-US" sz="2400" b="0" dirty="0">
                <a:latin typeface="Arial" panose="020B0604020202020204" pitchFamily="34" charset="0"/>
              </a:rPr>
              <a:t>分子</a:t>
            </a:r>
            <a:r>
              <a:rPr lang="en-US" altLang="zh-CN" sz="2400" b="0" dirty="0">
                <a:latin typeface="Arial" panose="020B0604020202020204" pitchFamily="34" charset="0"/>
              </a:rPr>
              <a:t>ATP,</a:t>
            </a:r>
            <a:r>
              <a:rPr lang="zh-CN" altLang="en-US" sz="2400" b="0" dirty="0">
                <a:latin typeface="Arial" panose="020B0604020202020204" pitchFamily="34" charset="0"/>
              </a:rPr>
              <a:t>还需消耗两对</a:t>
            </a:r>
            <a:r>
              <a:rPr lang="en-US" altLang="zh-CN" sz="2400" b="0" dirty="0">
                <a:latin typeface="Arial" panose="020B0604020202020204" pitchFamily="34" charset="0"/>
              </a:rPr>
              <a:t>H</a:t>
            </a:r>
            <a:r>
              <a:rPr lang="zh-CN" altLang="en-US" sz="2400" b="0" dirty="0">
                <a:latin typeface="Arial" panose="020B0604020202020204" pitchFamily="34" charset="0"/>
              </a:rPr>
              <a:t>（两分子</a:t>
            </a:r>
            <a:r>
              <a:rPr lang="en-US" altLang="zh-CN" sz="2400" b="0" dirty="0">
                <a:latin typeface="Arial" panose="020B0604020202020204" pitchFamily="34" charset="0"/>
              </a:rPr>
              <a:t>NADH</a:t>
            </a:r>
            <a:r>
              <a:rPr lang="zh-CN" altLang="en-US" sz="2400" b="0" dirty="0">
                <a:latin typeface="Arial" panose="020B0604020202020204" pitchFamily="34" charset="0"/>
              </a:rPr>
              <a:t>） </a:t>
            </a:r>
            <a:endParaRPr lang="zh-CN" altLang="en-US" sz="2400" b="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18472"/>
                                        </p:tgtEl>
                                        <p:attrNameLst>
                                          <p:attrName>style.visibility</p:attrName>
                                        </p:attrNameLst>
                                      </p:cBhvr>
                                      <p:to>
                                        <p:strVal val="visible"/>
                                      </p:to>
                                    </p:set>
                                    <p:animEffect transition="in" filter="slide(fromBottom)">
                                      <p:cBhvr>
                                        <p:cTn id="7" dur="500"/>
                                        <p:tgtEl>
                                          <p:spTgt spid="318472"/>
                                        </p:tgtEl>
                                      </p:cBhvr>
                                    </p:animEffect>
                                  </p:childTnLst>
                                </p:cTn>
                              </p:par>
                              <p:par>
                                <p:cTn id="8" presetID="12" presetClass="entr" presetSubtype="4" fill="hold" nodeType="withEffect">
                                  <p:stCondLst>
                                    <p:cond delay="0"/>
                                  </p:stCondLst>
                                  <p:childTnLst>
                                    <p:set>
                                      <p:cBhvr>
                                        <p:cTn id="9" dur="1" fill="hold">
                                          <p:stCondLst>
                                            <p:cond delay="0"/>
                                          </p:stCondLst>
                                        </p:cTn>
                                        <p:tgtEl>
                                          <p:spTgt spid="318473"/>
                                        </p:tgtEl>
                                        <p:attrNameLst>
                                          <p:attrName>style.visibility</p:attrName>
                                        </p:attrNameLst>
                                      </p:cBhvr>
                                      <p:to>
                                        <p:strVal val="visible"/>
                                      </p:to>
                                    </p:set>
                                    <p:animEffect transition="in" filter="slide(fromBottom)">
                                      <p:cBhvr>
                                        <p:cTn id="10" dur="500"/>
                                        <p:tgtEl>
                                          <p:spTgt spid="318473"/>
                                        </p:tgtEl>
                                      </p:cBhvr>
                                    </p:animEffect>
                                  </p:childTnLst>
                                </p:cTn>
                              </p:par>
                              <p:par>
                                <p:cTn id="11" presetID="12" presetClass="entr" presetSubtype="4" fill="hold" nodeType="withEffect">
                                  <p:stCondLst>
                                    <p:cond delay="0"/>
                                  </p:stCondLst>
                                  <p:childTnLst>
                                    <p:set>
                                      <p:cBhvr>
                                        <p:cTn id="12" dur="1" fill="hold">
                                          <p:stCondLst>
                                            <p:cond delay="0"/>
                                          </p:stCondLst>
                                        </p:cTn>
                                        <p:tgtEl>
                                          <p:spTgt spid="318475"/>
                                        </p:tgtEl>
                                        <p:attrNameLst>
                                          <p:attrName>style.visibility</p:attrName>
                                        </p:attrNameLst>
                                      </p:cBhvr>
                                      <p:to>
                                        <p:strVal val="visible"/>
                                      </p:to>
                                    </p:set>
                                    <p:animEffect transition="in" filter="slide(fromBottom)">
                                      <p:cBhvr>
                                        <p:cTn id="13" dur="500"/>
                                        <p:tgtEl>
                                          <p:spTgt spid="318475"/>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318470"/>
                                        </p:tgtEl>
                                        <p:attrNameLst>
                                          <p:attrName>style.visibility</p:attrName>
                                        </p:attrNameLst>
                                      </p:cBhvr>
                                      <p:to>
                                        <p:strVal val="visible"/>
                                      </p:to>
                                    </p:set>
                                    <p:animEffect transition="in" filter="slide(fromBottom)">
                                      <p:cBhvr>
                                        <p:cTn id="18" dur="500"/>
                                        <p:tgtEl>
                                          <p:spTgt spid="318470"/>
                                        </p:tgtEl>
                                      </p:cBhvr>
                                    </p:animEffect>
                                  </p:childTnLst>
                                </p:cTn>
                              </p:par>
                              <p:par>
                                <p:cTn id="19" presetID="12" presetClass="entr" presetSubtype="4" fill="hold" nodeType="withEffect">
                                  <p:stCondLst>
                                    <p:cond delay="0"/>
                                  </p:stCondLst>
                                  <p:childTnLst>
                                    <p:set>
                                      <p:cBhvr>
                                        <p:cTn id="20" dur="1" fill="hold">
                                          <p:stCondLst>
                                            <p:cond delay="0"/>
                                          </p:stCondLst>
                                        </p:cTn>
                                        <p:tgtEl>
                                          <p:spTgt spid="318469"/>
                                        </p:tgtEl>
                                        <p:attrNameLst>
                                          <p:attrName>style.visibility</p:attrName>
                                        </p:attrNameLst>
                                      </p:cBhvr>
                                      <p:to>
                                        <p:strVal val="visible"/>
                                      </p:to>
                                    </p:set>
                                    <p:animEffect transition="in" filter="slide(fromBottom)">
                                      <p:cBhvr>
                                        <p:cTn id="21" dur="500"/>
                                        <p:tgtEl>
                                          <p:spTgt spid="318469"/>
                                        </p:tgtEl>
                                      </p:cBhvr>
                                    </p:animEffect>
                                  </p:childTnLst>
                                </p:cTn>
                              </p:par>
                              <p:par>
                                <p:cTn id="22" presetID="12" presetClass="entr" presetSubtype="4" fill="hold" nodeType="withEffect">
                                  <p:stCondLst>
                                    <p:cond delay="0"/>
                                  </p:stCondLst>
                                  <p:childTnLst>
                                    <p:set>
                                      <p:cBhvr>
                                        <p:cTn id="23" dur="1" fill="hold">
                                          <p:stCondLst>
                                            <p:cond delay="0"/>
                                          </p:stCondLst>
                                        </p:cTn>
                                        <p:tgtEl>
                                          <p:spTgt spid="318467"/>
                                        </p:tgtEl>
                                        <p:attrNameLst>
                                          <p:attrName>style.visibility</p:attrName>
                                        </p:attrNameLst>
                                      </p:cBhvr>
                                      <p:to>
                                        <p:strVal val="visible"/>
                                      </p:to>
                                    </p:set>
                                    <p:animEffect transition="in" filter="slide(fromBottom)">
                                      <p:cBhvr>
                                        <p:cTn id="24" dur="500"/>
                                        <p:tgtEl>
                                          <p:spTgt spid="318467"/>
                                        </p:tgtEl>
                                      </p:cBhvr>
                                    </p:animEffect>
                                  </p:childTnLst>
                                </p:cTn>
                              </p:par>
                              <p:par>
                                <p:cTn id="25" presetID="12" presetClass="entr" presetSubtype="4" fill="hold" nodeType="withEffect">
                                  <p:stCondLst>
                                    <p:cond delay="0"/>
                                  </p:stCondLst>
                                  <p:childTnLst>
                                    <p:set>
                                      <p:cBhvr>
                                        <p:cTn id="26" dur="1" fill="hold">
                                          <p:stCondLst>
                                            <p:cond delay="0"/>
                                          </p:stCondLst>
                                        </p:cTn>
                                        <p:tgtEl>
                                          <p:spTgt spid="318468"/>
                                        </p:tgtEl>
                                        <p:attrNameLst>
                                          <p:attrName>style.visibility</p:attrName>
                                        </p:attrNameLst>
                                      </p:cBhvr>
                                      <p:to>
                                        <p:strVal val="visible"/>
                                      </p:to>
                                    </p:set>
                                    <p:animEffect transition="in" filter="slide(fromBottom)">
                                      <p:cBhvr>
                                        <p:cTn id="27" dur="500"/>
                                        <p:tgtEl>
                                          <p:spTgt spid="31846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Text Box 2"/>
          <p:cNvSpPr txBox="1">
            <a:spLocks noChangeArrowheads="1"/>
          </p:cNvSpPr>
          <p:nvPr/>
        </p:nvSpPr>
        <p:spPr bwMode="auto">
          <a:xfrm>
            <a:off x="5351463" y="1230139"/>
            <a:ext cx="1066800" cy="523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ea typeface="黑体" panose="02010609060101010101" pitchFamily="2" charset="-122"/>
              </a:rPr>
              <a:t>乳酸</a:t>
            </a:r>
            <a:endParaRPr kumimoji="1" lang="zh-CN" altLang="en-US" sz="2800" b="0">
              <a:ea typeface="黑体" panose="02010609060101010101" pitchFamily="2" charset="-122"/>
            </a:endParaRPr>
          </a:p>
        </p:txBody>
      </p:sp>
      <p:grpSp>
        <p:nvGrpSpPr>
          <p:cNvPr id="2" name="Group 3"/>
          <p:cNvGrpSpPr/>
          <p:nvPr/>
        </p:nvGrpSpPr>
        <p:grpSpPr bwMode="auto">
          <a:xfrm>
            <a:off x="4113213" y="1744489"/>
            <a:ext cx="3505200" cy="5068887"/>
            <a:chOff x="1536" y="756"/>
            <a:chExt cx="2208" cy="3193"/>
          </a:xfrm>
        </p:grpSpPr>
        <p:sp>
          <p:nvSpPr>
            <p:cNvPr id="68622" name="Text Box 4"/>
            <p:cNvSpPr txBox="1">
              <a:spLocks noChangeArrowheads="1"/>
            </p:cNvSpPr>
            <p:nvPr/>
          </p:nvSpPr>
          <p:spPr bwMode="auto">
            <a:xfrm>
              <a:off x="2208" y="972"/>
              <a:ext cx="96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a:t>丙酮酸</a:t>
              </a:r>
              <a:endParaRPr kumimoji="1" lang="zh-CN" altLang="en-US" sz="2800"/>
            </a:p>
          </p:txBody>
        </p:sp>
        <p:sp>
          <p:nvSpPr>
            <p:cNvPr id="68623" name="Line 5"/>
            <p:cNvSpPr>
              <a:spLocks noChangeShapeType="1"/>
            </p:cNvSpPr>
            <p:nvPr/>
          </p:nvSpPr>
          <p:spPr bwMode="auto">
            <a:xfrm flipH="1">
              <a:off x="2640" y="1284"/>
              <a:ext cx="0" cy="312"/>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624" name="Text Box 6"/>
            <p:cNvSpPr txBox="1">
              <a:spLocks noChangeArrowheads="1"/>
            </p:cNvSpPr>
            <p:nvPr/>
          </p:nvSpPr>
          <p:spPr bwMode="auto">
            <a:xfrm>
              <a:off x="2052" y="1524"/>
              <a:ext cx="120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a:t>草酰乙酸</a:t>
              </a:r>
              <a:endParaRPr kumimoji="1" lang="zh-CN" altLang="en-US" sz="2800"/>
            </a:p>
          </p:txBody>
        </p:sp>
        <p:sp>
          <p:nvSpPr>
            <p:cNvPr id="68625" name="Line 7"/>
            <p:cNvSpPr>
              <a:spLocks noChangeShapeType="1"/>
            </p:cNvSpPr>
            <p:nvPr/>
          </p:nvSpPr>
          <p:spPr bwMode="auto">
            <a:xfrm flipH="1">
              <a:off x="2640" y="183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626" name="Text Box 8"/>
            <p:cNvSpPr txBox="1">
              <a:spLocks noChangeArrowheads="1"/>
            </p:cNvSpPr>
            <p:nvPr/>
          </p:nvSpPr>
          <p:spPr bwMode="auto">
            <a:xfrm>
              <a:off x="1536" y="2076"/>
              <a:ext cx="220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a:t>磷酸烯醇式丙酮酸</a:t>
              </a:r>
              <a:endParaRPr kumimoji="1" lang="zh-CN" altLang="en-US" sz="2800"/>
            </a:p>
          </p:txBody>
        </p:sp>
        <p:sp>
          <p:nvSpPr>
            <p:cNvPr id="68627" name="Line 9"/>
            <p:cNvSpPr>
              <a:spLocks noChangeShapeType="1"/>
            </p:cNvSpPr>
            <p:nvPr/>
          </p:nvSpPr>
          <p:spPr bwMode="auto">
            <a:xfrm>
              <a:off x="2628" y="2388"/>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628" name="Line 10"/>
            <p:cNvSpPr>
              <a:spLocks noChangeShapeType="1"/>
            </p:cNvSpPr>
            <p:nvPr/>
          </p:nvSpPr>
          <p:spPr bwMode="auto">
            <a:xfrm>
              <a:off x="2628" y="2652"/>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629" name="Text Box 11"/>
            <p:cNvSpPr txBox="1">
              <a:spLocks noChangeArrowheads="1"/>
            </p:cNvSpPr>
            <p:nvPr/>
          </p:nvSpPr>
          <p:spPr bwMode="auto">
            <a:xfrm>
              <a:off x="1773" y="2844"/>
              <a:ext cx="17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a:t>磷酸二羟丙酮</a:t>
              </a:r>
              <a:endParaRPr kumimoji="1" lang="zh-CN" altLang="en-US" sz="2800"/>
            </a:p>
          </p:txBody>
        </p:sp>
        <p:sp>
          <p:nvSpPr>
            <p:cNvPr id="68630" name="Line 12"/>
            <p:cNvSpPr>
              <a:spLocks noChangeShapeType="1"/>
            </p:cNvSpPr>
            <p:nvPr/>
          </p:nvSpPr>
          <p:spPr bwMode="auto">
            <a:xfrm>
              <a:off x="2628" y="3144"/>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631" name="Line 13"/>
            <p:cNvSpPr>
              <a:spLocks noChangeShapeType="1"/>
            </p:cNvSpPr>
            <p:nvPr/>
          </p:nvSpPr>
          <p:spPr bwMode="auto">
            <a:xfrm>
              <a:off x="2628" y="3408"/>
              <a:ext cx="0" cy="24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8632" name="Text Box 14"/>
            <p:cNvSpPr txBox="1">
              <a:spLocks noChangeArrowheads="1"/>
            </p:cNvSpPr>
            <p:nvPr/>
          </p:nvSpPr>
          <p:spPr bwMode="auto">
            <a:xfrm>
              <a:off x="2184" y="3619"/>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a:t>葡萄糖</a:t>
              </a:r>
              <a:endParaRPr kumimoji="1" lang="zh-CN" altLang="en-US" sz="2800"/>
            </a:p>
          </p:txBody>
        </p:sp>
        <p:sp>
          <p:nvSpPr>
            <p:cNvPr id="68633" name="Line 15"/>
            <p:cNvSpPr>
              <a:spLocks noChangeShapeType="1"/>
            </p:cNvSpPr>
            <p:nvPr/>
          </p:nvSpPr>
          <p:spPr bwMode="auto">
            <a:xfrm>
              <a:off x="2628" y="756"/>
              <a:ext cx="0" cy="2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77520" name="Text Box 16"/>
          <p:cNvSpPr txBox="1">
            <a:spLocks noChangeArrowheads="1"/>
          </p:cNvSpPr>
          <p:nvPr/>
        </p:nvSpPr>
        <p:spPr bwMode="auto">
          <a:xfrm>
            <a:off x="1770063" y="1915939"/>
            <a:ext cx="2259012" cy="9540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latin typeface="黑体" panose="02010609060101010101" pitchFamily="2" charset="-122"/>
                <a:ea typeface="黑体" panose="02010609060101010101" pitchFamily="2" charset="-122"/>
              </a:rPr>
              <a:t>丙氨酸等  生糖氨基酸</a:t>
            </a:r>
            <a:endParaRPr kumimoji="1" lang="zh-CN" altLang="en-US" sz="2800" b="0">
              <a:latin typeface="黑体" panose="02010609060101010101" pitchFamily="2" charset="-122"/>
              <a:ea typeface="黑体" panose="02010609060101010101" pitchFamily="2" charset="-122"/>
            </a:endParaRPr>
          </a:p>
        </p:txBody>
      </p:sp>
      <p:sp>
        <p:nvSpPr>
          <p:cNvPr id="277521" name="Line 17"/>
          <p:cNvSpPr>
            <a:spLocks noChangeShapeType="1"/>
          </p:cNvSpPr>
          <p:nvPr/>
        </p:nvSpPr>
        <p:spPr bwMode="auto">
          <a:xfrm flipH="1">
            <a:off x="4037013" y="2389013"/>
            <a:ext cx="1066800" cy="0"/>
          </a:xfrm>
          <a:prstGeom prst="line">
            <a:avLst/>
          </a:prstGeom>
          <a:noFill/>
          <a:ln w="28575">
            <a:solidFill>
              <a:schemeClr val="tx1"/>
            </a:solidFill>
            <a:round/>
            <a:head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7522" name="Line 18"/>
          <p:cNvSpPr>
            <a:spLocks noChangeShapeType="1"/>
          </p:cNvSpPr>
          <p:nvPr/>
        </p:nvSpPr>
        <p:spPr bwMode="auto">
          <a:xfrm flipH="1">
            <a:off x="6704013" y="3287538"/>
            <a:ext cx="10668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7523" name="Text Box 19"/>
          <p:cNvSpPr txBox="1">
            <a:spLocks noChangeArrowheads="1"/>
          </p:cNvSpPr>
          <p:nvPr/>
        </p:nvSpPr>
        <p:spPr bwMode="auto">
          <a:xfrm>
            <a:off x="7751763" y="2677939"/>
            <a:ext cx="22860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a:t>三羧酸循环中间产物</a:t>
            </a:r>
            <a:endParaRPr kumimoji="1" lang="zh-CN" altLang="en-US" sz="2800"/>
          </a:p>
        </p:txBody>
      </p:sp>
      <p:sp>
        <p:nvSpPr>
          <p:cNvPr id="277524" name="Text Box 20"/>
          <p:cNvSpPr txBox="1">
            <a:spLocks noChangeArrowheads="1"/>
          </p:cNvSpPr>
          <p:nvPr/>
        </p:nvSpPr>
        <p:spPr bwMode="auto">
          <a:xfrm>
            <a:off x="7770813" y="1687339"/>
            <a:ext cx="2286000" cy="523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ea typeface="黑体" panose="02010609060101010101" pitchFamily="2" charset="-122"/>
              </a:rPr>
              <a:t>生糖氨基酸</a:t>
            </a:r>
            <a:endParaRPr kumimoji="1" lang="zh-CN" altLang="en-US" sz="2800" b="0">
              <a:ea typeface="黑体" panose="02010609060101010101" pitchFamily="2" charset="-122"/>
            </a:endParaRPr>
          </a:p>
        </p:txBody>
      </p:sp>
      <p:sp>
        <p:nvSpPr>
          <p:cNvPr id="277525" name="Line 21"/>
          <p:cNvSpPr>
            <a:spLocks noChangeShapeType="1"/>
          </p:cNvSpPr>
          <p:nvPr/>
        </p:nvSpPr>
        <p:spPr bwMode="auto">
          <a:xfrm>
            <a:off x="8913813" y="2220738"/>
            <a:ext cx="0" cy="5334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7526" name="Line 22"/>
          <p:cNvSpPr>
            <a:spLocks noChangeShapeType="1"/>
          </p:cNvSpPr>
          <p:nvPr/>
        </p:nvSpPr>
        <p:spPr bwMode="auto">
          <a:xfrm flipH="1">
            <a:off x="7085013" y="5344938"/>
            <a:ext cx="6096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7527" name="Line 23"/>
          <p:cNvSpPr>
            <a:spLocks noChangeShapeType="1"/>
          </p:cNvSpPr>
          <p:nvPr/>
        </p:nvSpPr>
        <p:spPr bwMode="auto">
          <a:xfrm flipH="1">
            <a:off x="7770813" y="5344938"/>
            <a:ext cx="6096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77528" name="Text Box 24"/>
          <p:cNvSpPr txBox="1">
            <a:spLocks noChangeArrowheads="1"/>
          </p:cNvSpPr>
          <p:nvPr/>
        </p:nvSpPr>
        <p:spPr bwMode="auto">
          <a:xfrm>
            <a:off x="8361363" y="5021089"/>
            <a:ext cx="1085850" cy="523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a:ea typeface="黑体" panose="02010609060101010101" pitchFamily="2" charset="-122"/>
              </a:rPr>
              <a:t>甘油</a:t>
            </a:r>
            <a:endParaRPr kumimoji="1" lang="zh-CN" altLang="en-US" sz="2800" b="0">
              <a:ea typeface="黑体" panose="02010609060101010101" pitchFamily="2" charset="-122"/>
            </a:endParaRPr>
          </a:p>
        </p:txBody>
      </p:sp>
      <p:sp>
        <p:nvSpPr>
          <p:cNvPr id="68621" name="Text Box 25"/>
          <p:cNvSpPr txBox="1">
            <a:spLocks noChangeArrowheads="1"/>
          </p:cNvSpPr>
          <p:nvPr/>
        </p:nvSpPr>
        <p:spPr bwMode="auto">
          <a:xfrm>
            <a:off x="3045323" y="230073"/>
            <a:ext cx="6101353" cy="584775"/>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b="0" dirty="0">
                <a:ea typeface="黑体" panose="02010609060101010101" pitchFamily="2" charset="-122"/>
              </a:rPr>
              <a:t>非糖物质进行糖异生的途径</a:t>
            </a:r>
            <a:endParaRPr kumimoji="1" lang="zh-CN" altLang="en-US" b="0" dirty="0">
              <a:ea typeface="黑体" panose="0201060906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77506"/>
                                        </p:tgtEl>
                                        <p:attrNameLst>
                                          <p:attrName>style.visibility</p:attrName>
                                        </p:attrNameLst>
                                      </p:cBhvr>
                                      <p:to>
                                        <p:strVal val="visible"/>
                                      </p:to>
                                    </p:set>
                                    <p:animEffect transition="in" filter="dissolve">
                                      <p:cBhvr>
                                        <p:cTn id="7" dur="500"/>
                                        <p:tgtEl>
                                          <p:spTgt spid="27750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77524"/>
                                        </p:tgtEl>
                                        <p:attrNameLst>
                                          <p:attrName>style.visibility</p:attrName>
                                        </p:attrNameLst>
                                      </p:cBhvr>
                                      <p:to>
                                        <p:strVal val="visible"/>
                                      </p:to>
                                    </p:set>
                                    <p:animEffect transition="in" filter="dissolve">
                                      <p:cBhvr>
                                        <p:cTn id="10" dur="500"/>
                                        <p:tgtEl>
                                          <p:spTgt spid="27752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77528"/>
                                        </p:tgtEl>
                                        <p:attrNameLst>
                                          <p:attrName>style.visibility</p:attrName>
                                        </p:attrNameLst>
                                      </p:cBhvr>
                                      <p:to>
                                        <p:strVal val="visible"/>
                                      </p:to>
                                    </p:set>
                                    <p:animEffect transition="in" filter="dissolve">
                                      <p:cBhvr>
                                        <p:cTn id="13" dur="500"/>
                                        <p:tgtEl>
                                          <p:spTgt spid="27752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77521"/>
                                        </p:tgtEl>
                                        <p:attrNameLst>
                                          <p:attrName>style.visibility</p:attrName>
                                        </p:attrNameLst>
                                      </p:cBhvr>
                                      <p:to>
                                        <p:strVal val="visible"/>
                                      </p:to>
                                    </p:set>
                                    <p:animEffect transition="in" filter="wipe(left)">
                                      <p:cBhvr>
                                        <p:cTn id="23" dur="500"/>
                                        <p:tgtEl>
                                          <p:spTgt spid="27752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77525"/>
                                        </p:tgtEl>
                                        <p:attrNameLst>
                                          <p:attrName>style.visibility</p:attrName>
                                        </p:attrNameLst>
                                      </p:cBhvr>
                                      <p:to>
                                        <p:strVal val="visible"/>
                                      </p:to>
                                    </p:set>
                                    <p:animEffect transition="in" filter="wipe(up)">
                                      <p:cBhvr>
                                        <p:cTn id="28" dur="500"/>
                                        <p:tgtEl>
                                          <p:spTgt spid="277525"/>
                                        </p:tgtEl>
                                      </p:cBhvr>
                                    </p:animEffect>
                                  </p:childTnLst>
                                </p:cTn>
                              </p:par>
                            </p:childTnLst>
                          </p:cTn>
                        </p:par>
                        <p:par>
                          <p:cTn id="29" fill="hold">
                            <p:stCondLst>
                              <p:cond delay="500"/>
                            </p:stCondLst>
                            <p:childTnLst>
                              <p:par>
                                <p:cTn id="30" presetID="9" presetClass="entr" presetSubtype="0" fill="hold" grpId="0" nodeType="afterEffect">
                                  <p:stCondLst>
                                    <p:cond delay="0"/>
                                  </p:stCondLst>
                                  <p:childTnLst>
                                    <p:set>
                                      <p:cBhvr>
                                        <p:cTn id="31" dur="1" fill="hold">
                                          <p:stCondLst>
                                            <p:cond delay="0"/>
                                          </p:stCondLst>
                                        </p:cTn>
                                        <p:tgtEl>
                                          <p:spTgt spid="277523"/>
                                        </p:tgtEl>
                                        <p:attrNameLst>
                                          <p:attrName>style.visibility</p:attrName>
                                        </p:attrNameLst>
                                      </p:cBhvr>
                                      <p:to>
                                        <p:strVal val="visible"/>
                                      </p:to>
                                    </p:set>
                                    <p:animEffect transition="in" filter="dissolve">
                                      <p:cBhvr>
                                        <p:cTn id="32" dur="500"/>
                                        <p:tgtEl>
                                          <p:spTgt spid="277523"/>
                                        </p:tgtEl>
                                      </p:cBhvr>
                                    </p:animEffect>
                                  </p:childTnLst>
                                </p:cTn>
                              </p:par>
                            </p:childTnLst>
                          </p:cTn>
                        </p:par>
                        <p:par>
                          <p:cTn id="33" fill="hold">
                            <p:stCondLst>
                              <p:cond delay="1000"/>
                            </p:stCondLst>
                            <p:childTnLst>
                              <p:par>
                                <p:cTn id="34" presetID="22" presetClass="entr" presetSubtype="2" fill="hold" nodeType="afterEffect">
                                  <p:stCondLst>
                                    <p:cond delay="0"/>
                                  </p:stCondLst>
                                  <p:childTnLst>
                                    <p:set>
                                      <p:cBhvr>
                                        <p:cTn id="35" dur="1" fill="hold">
                                          <p:stCondLst>
                                            <p:cond delay="0"/>
                                          </p:stCondLst>
                                        </p:cTn>
                                        <p:tgtEl>
                                          <p:spTgt spid="277522"/>
                                        </p:tgtEl>
                                        <p:attrNameLst>
                                          <p:attrName>style.visibility</p:attrName>
                                        </p:attrNameLst>
                                      </p:cBhvr>
                                      <p:to>
                                        <p:strVal val="visible"/>
                                      </p:to>
                                    </p:set>
                                    <p:animEffect transition="in" filter="wipe(right)">
                                      <p:cBhvr>
                                        <p:cTn id="36" dur="500"/>
                                        <p:tgtEl>
                                          <p:spTgt spid="2775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nodeType="clickEffect">
                                  <p:stCondLst>
                                    <p:cond delay="0"/>
                                  </p:stCondLst>
                                  <p:childTnLst>
                                    <p:set>
                                      <p:cBhvr>
                                        <p:cTn id="40" dur="1" fill="hold">
                                          <p:stCondLst>
                                            <p:cond delay="0"/>
                                          </p:stCondLst>
                                        </p:cTn>
                                        <p:tgtEl>
                                          <p:spTgt spid="277527"/>
                                        </p:tgtEl>
                                        <p:attrNameLst>
                                          <p:attrName>style.visibility</p:attrName>
                                        </p:attrNameLst>
                                      </p:cBhvr>
                                      <p:to>
                                        <p:strVal val="visible"/>
                                      </p:to>
                                    </p:set>
                                    <p:animEffect transition="in" filter="wipe(right)">
                                      <p:cBhvr>
                                        <p:cTn id="41" dur="500"/>
                                        <p:tgtEl>
                                          <p:spTgt spid="277527"/>
                                        </p:tgtEl>
                                      </p:cBhvr>
                                    </p:animEffect>
                                  </p:childTnLst>
                                </p:cTn>
                              </p:par>
                            </p:childTnLst>
                          </p:cTn>
                        </p:par>
                        <p:par>
                          <p:cTn id="42" fill="hold">
                            <p:stCondLst>
                              <p:cond delay="500"/>
                            </p:stCondLst>
                            <p:childTnLst>
                              <p:par>
                                <p:cTn id="43" presetID="22" presetClass="entr" presetSubtype="2" fill="hold" nodeType="afterEffect">
                                  <p:stCondLst>
                                    <p:cond delay="0"/>
                                  </p:stCondLst>
                                  <p:childTnLst>
                                    <p:set>
                                      <p:cBhvr>
                                        <p:cTn id="44" dur="1" fill="hold">
                                          <p:stCondLst>
                                            <p:cond delay="0"/>
                                          </p:stCondLst>
                                        </p:cTn>
                                        <p:tgtEl>
                                          <p:spTgt spid="277526"/>
                                        </p:tgtEl>
                                        <p:attrNameLst>
                                          <p:attrName>style.visibility</p:attrName>
                                        </p:attrNameLst>
                                      </p:cBhvr>
                                      <p:to>
                                        <p:strVal val="visible"/>
                                      </p:to>
                                    </p:set>
                                    <p:animEffect transition="in" filter="wipe(right)">
                                      <p:cBhvr>
                                        <p:cTn id="45" dur="500"/>
                                        <p:tgtEl>
                                          <p:spTgt spid="277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animBg="1"/>
      <p:bldP spid="277523" grpId="0" autoUpdateAnimBg="0"/>
      <p:bldP spid="277524" grpId="0" animBg="1"/>
      <p:bldP spid="277528"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body" idx="4294967295"/>
          </p:nvPr>
        </p:nvSpPr>
        <p:spPr>
          <a:xfrm>
            <a:off x="1061646" y="611981"/>
            <a:ext cx="4643438" cy="762000"/>
          </a:xfrm>
          <a:noFill/>
        </p:spPr>
        <p:txBody>
          <a:bodyPr/>
          <a:lstStyle/>
          <a:p>
            <a:pPr eaLnBrk="1" hangingPunct="1">
              <a:buFont typeface="Wingdings" panose="05000000000000000000" pitchFamily="2" charset="2"/>
              <a:buNone/>
            </a:pPr>
            <a:r>
              <a:rPr lang="zh-CN" altLang="en-US" sz="3600" dirty="0">
                <a:solidFill>
                  <a:srgbClr val="800000"/>
                </a:solidFill>
                <a:latin typeface="楷体_GB2312" pitchFamily="49" charset="-122"/>
              </a:rPr>
              <a:t>二、糖异生的调节 </a:t>
            </a:r>
            <a:endParaRPr lang="zh-CN" altLang="en-US" sz="3600" dirty="0">
              <a:solidFill>
                <a:srgbClr val="800000"/>
              </a:solidFill>
              <a:latin typeface="楷体_GB2312" pitchFamily="49" charset="-122"/>
            </a:endParaRPr>
          </a:p>
        </p:txBody>
      </p:sp>
      <p:sp>
        <p:nvSpPr>
          <p:cNvPr id="278531" name="Text Box 3"/>
          <p:cNvSpPr txBox="1">
            <a:spLocks noChangeArrowheads="1"/>
          </p:cNvSpPr>
          <p:nvPr/>
        </p:nvSpPr>
        <p:spPr bwMode="auto">
          <a:xfrm>
            <a:off x="731005" y="2052887"/>
            <a:ext cx="4643438" cy="3821624"/>
          </a:xfrm>
          <a:prstGeom prst="rect">
            <a:avLst/>
          </a:prstGeom>
          <a:solidFill>
            <a:srgbClr val="F1F6FD"/>
          </a:solidFill>
          <a:ln w="9525">
            <a:solidFill>
              <a:srgbClr val="0070C0"/>
            </a:solidFill>
            <a:miter lim="800000"/>
          </a:ln>
        </p:spPr>
        <p:txBody>
          <a:bodyPr wrap="square" lIns="0" rIns="0">
            <a:spAutoFit/>
          </a:bodyPr>
          <a:lstStyle>
            <a:lvl1pPr indent="71945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360045" indent="-360045" eaLnBrk="1" hangingPunct="1">
              <a:lnSpc>
                <a:spcPct val="120000"/>
              </a:lnSpc>
              <a:spcBef>
                <a:spcPts val="600"/>
              </a:spcBef>
              <a:buClrTx/>
              <a:buSzTx/>
            </a:pPr>
            <a:r>
              <a:rPr kumimoji="1" lang="zh-CN" altLang="en-US" sz="2800" b="0" dirty="0">
                <a:solidFill>
                  <a:srgbClr val="C00000"/>
                </a:solidFill>
              </a:rPr>
              <a:t>底物循环：</a:t>
            </a:r>
            <a:r>
              <a:rPr kumimoji="1" lang="zh-CN" altLang="en-US" sz="2800" b="0" dirty="0"/>
              <a:t>作用物的互变分别由不同酶催化其单向反应的互变循环</a:t>
            </a:r>
            <a:r>
              <a:rPr kumimoji="1" lang="en-US" altLang="zh-CN" sz="2800" b="0" dirty="0">
                <a:solidFill>
                  <a:schemeClr val="tx1">
                    <a:lumMod val="95000"/>
                    <a:lumOff val="5000"/>
                  </a:schemeClr>
                </a:solidFill>
              </a:rPr>
              <a:t>。</a:t>
            </a:r>
            <a:endParaRPr kumimoji="1" lang="en-US" altLang="zh-CN" sz="2800" b="0" dirty="0">
              <a:solidFill>
                <a:schemeClr val="tx1">
                  <a:lumMod val="95000"/>
                  <a:lumOff val="5000"/>
                </a:schemeClr>
              </a:solidFill>
            </a:endParaRPr>
          </a:p>
          <a:p>
            <a:pPr marL="360045" indent="-360045" eaLnBrk="1" hangingPunct="1">
              <a:lnSpc>
                <a:spcPct val="120000"/>
              </a:lnSpc>
              <a:spcBef>
                <a:spcPts val="600"/>
              </a:spcBef>
              <a:buClrTx/>
              <a:buSzTx/>
            </a:pPr>
            <a:endParaRPr kumimoji="1" lang="en-US" altLang="zh-CN" sz="2800" b="0" dirty="0">
              <a:solidFill>
                <a:schemeClr val="tx1">
                  <a:lumMod val="95000"/>
                  <a:lumOff val="5000"/>
                </a:schemeClr>
              </a:solidFill>
            </a:endParaRPr>
          </a:p>
          <a:p>
            <a:pPr marL="360045" indent="-360045" eaLnBrk="1" hangingPunct="1">
              <a:lnSpc>
                <a:spcPct val="120000"/>
              </a:lnSpc>
              <a:spcBef>
                <a:spcPts val="600"/>
              </a:spcBef>
              <a:buClrTx/>
              <a:buSzTx/>
            </a:pPr>
            <a:r>
              <a:rPr kumimoji="1" lang="zh-CN" altLang="en-US" sz="2800" b="0" dirty="0">
                <a:solidFill>
                  <a:schemeClr val="tx1">
                    <a:lumMod val="95000"/>
                    <a:lumOff val="5000"/>
                  </a:schemeClr>
                </a:solidFill>
              </a:rPr>
              <a:t>糖异生和糖酵解的反向调节</a:t>
            </a:r>
            <a:r>
              <a:rPr kumimoji="1" lang="zh-CN" altLang="en-US" sz="2800" b="0" dirty="0">
                <a:solidFill>
                  <a:srgbClr val="0000CC"/>
                </a:solidFill>
              </a:rPr>
              <a:t>主要针对后两个底物循环(</a:t>
            </a:r>
            <a:r>
              <a:rPr kumimoji="1" lang="en-US" altLang="zh-CN" sz="2800" b="0" dirty="0">
                <a:solidFill>
                  <a:srgbClr val="0000CC"/>
                </a:solidFill>
              </a:rPr>
              <a:t>substrate cycle)</a:t>
            </a:r>
            <a:r>
              <a:rPr kumimoji="1" lang="zh-CN" altLang="en-US" sz="2800" b="0" dirty="0">
                <a:solidFill>
                  <a:srgbClr val="0000CC"/>
                </a:solidFill>
              </a:rPr>
              <a:t>。</a:t>
            </a:r>
            <a:endParaRPr kumimoji="1" lang="en-US" altLang="zh-CN" sz="2800" b="0" dirty="0">
              <a:solidFill>
                <a:srgbClr val="0000CC"/>
              </a:solidFill>
            </a:endParaRPr>
          </a:p>
        </p:txBody>
      </p:sp>
      <p:grpSp>
        <p:nvGrpSpPr>
          <p:cNvPr id="2" name="Group 4"/>
          <p:cNvGrpSpPr/>
          <p:nvPr/>
        </p:nvGrpSpPr>
        <p:grpSpPr bwMode="auto">
          <a:xfrm>
            <a:off x="6132883" y="2276476"/>
            <a:ext cx="4953000" cy="1749425"/>
            <a:chOff x="2448" y="1730"/>
            <a:chExt cx="3120" cy="1102"/>
          </a:xfrm>
        </p:grpSpPr>
        <p:grpSp>
          <p:nvGrpSpPr>
            <p:cNvPr id="70699" name="Group 5"/>
            <p:cNvGrpSpPr/>
            <p:nvPr/>
          </p:nvGrpSpPr>
          <p:grpSpPr bwMode="auto">
            <a:xfrm>
              <a:off x="2448" y="1730"/>
              <a:ext cx="3120" cy="1102"/>
              <a:chOff x="2640" y="1922"/>
              <a:chExt cx="3120" cy="1102"/>
            </a:xfrm>
          </p:grpSpPr>
          <p:sp>
            <p:nvSpPr>
              <p:cNvPr id="70709" name="Text Box 6"/>
              <p:cNvSpPr txBox="1">
                <a:spLocks noChangeArrowheads="1"/>
              </p:cNvSpPr>
              <p:nvPr/>
            </p:nvSpPr>
            <p:spPr bwMode="auto">
              <a:xfrm>
                <a:off x="4512" y="2352"/>
                <a:ext cx="1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latin typeface="Arial" panose="020B0604020202020204" pitchFamily="34" charset="0"/>
                    <a:ea typeface="华文楷体" panose="02010600040101010101" pitchFamily="2" charset="-122"/>
                  </a:rPr>
                  <a:t>果糖</a:t>
                </a:r>
                <a:r>
                  <a:rPr kumimoji="1" lang="en-US" altLang="zh-CN" sz="2400" dirty="0">
                    <a:latin typeface="Arial" panose="020B0604020202020204" pitchFamily="34" charset="0"/>
                    <a:ea typeface="华文楷体" panose="02010600040101010101" pitchFamily="2" charset="-122"/>
                  </a:rPr>
                  <a:t>-</a:t>
                </a:r>
                <a:r>
                  <a:rPr kumimoji="1" lang="zh-CN" altLang="en-US" sz="2400" dirty="0">
                    <a:latin typeface="Arial" panose="020B0604020202020204" pitchFamily="34" charset="0"/>
                    <a:ea typeface="华文楷体" panose="02010600040101010101" pitchFamily="2" charset="-122"/>
                  </a:rPr>
                  <a:t> 6-磷酸</a:t>
                </a:r>
                <a:endParaRPr kumimoji="1" lang="zh-CN" altLang="en-US" sz="2400" dirty="0">
                  <a:latin typeface="Arial" panose="020B0604020202020204" pitchFamily="34" charset="0"/>
                  <a:ea typeface="华文楷体" panose="02010600040101010101" pitchFamily="2" charset="-122"/>
                </a:endParaRPr>
              </a:p>
            </p:txBody>
          </p:sp>
          <p:sp>
            <p:nvSpPr>
              <p:cNvPr id="70710" name="Rectangle 7"/>
              <p:cNvSpPr>
                <a:spLocks noChangeArrowheads="1"/>
              </p:cNvSpPr>
              <p:nvPr/>
            </p:nvSpPr>
            <p:spPr bwMode="auto">
              <a:xfrm>
                <a:off x="2640" y="2368"/>
                <a:ext cx="14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latin typeface="Arial" panose="020B0604020202020204" pitchFamily="34" charset="0"/>
                    <a:ea typeface="华文楷体" panose="02010600040101010101" pitchFamily="2" charset="-122"/>
                  </a:rPr>
                  <a:t>果糖</a:t>
                </a:r>
                <a:r>
                  <a:rPr kumimoji="1" lang="en-US" altLang="zh-CN" sz="2400" dirty="0">
                    <a:latin typeface="Arial" panose="020B0604020202020204" pitchFamily="34" charset="0"/>
                    <a:ea typeface="华文楷体" panose="02010600040101010101" pitchFamily="2" charset="-122"/>
                  </a:rPr>
                  <a:t>-</a:t>
                </a:r>
                <a:r>
                  <a:rPr kumimoji="1" lang="zh-CN" altLang="en-US" sz="2400" dirty="0">
                    <a:latin typeface="Arial" panose="020B0604020202020204" pitchFamily="34" charset="0"/>
                    <a:ea typeface="华文楷体" panose="02010600040101010101" pitchFamily="2" charset="-122"/>
                  </a:rPr>
                  <a:t>1,6-二磷酸</a:t>
                </a:r>
                <a:endParaRPr kumimoji="1" lang="zh-CN" altLang="en-US" sz="2400" dirty="0">
                  <a:latin typeface="Arial" panose="020B0604020202020204" pitchFamily="34" charset="0"/>
                  <a:ea typeface="华文楷体" panose="02010600040101010101" pitchFamily="2" charset="-122"/>
                </a:endParaRPr>
              </a:p>
            </p:txBody>
          </p:sp>
          <p:sp>
            <p:nvSpPr>
              <p:cNvPr id="70711" name="Arc 8"/>
              <p:cNvSpPr/>
              <p:nvPr/>
            </p:nvSpPr>
            <p:spPr bwMode="auto">
              <a:xfrm>
                <a:off x="3984" y="2208"/>
                <a:ext cx="945" cy="194"/>
              </a:xfrm>
              <a:custGeom>
                <a:avLst/>
                <a:gdLst>
                  <a:gd name="T0" fmla="*/ 0 w 42477"/>
                  <a:gd name="T1" fmla="*/ 0 h 21600"/>
                  <a:gd name="T2" fmla="*/ 0 w 42477"/>
                  <a:gd name="T3" fmla="*/ 0 h 21600"/>
                  <a:gd name="T4" fmla="*/ 0 w 42477"/>
                  <a:gd name="T5" fmla="*/ 0 h 21600"/>
                  <a:gd name="T6" fmla="*/ 0 60000 65536"/>
                  <a:gd name="T7" fmla="*/ 0 60000 65536"/>
                  <a:gd name="T8" fmla="*/ 0 60000 65536"/>
                  <a:gd name="T9" fmla="*/ 0 w 42477"/>
                  <a:gd name="T10" fmla="*/ 0 h 21600"/>
                  <a:gd name="T11" fmla="*/ 42477 w 42477"/>
                  <a:gd name="T12" fmla="*/ 21600 h 21600"/>
                </a:gdLst>
                <a:ahLst/>
                <a:cxnLst>
                  <a:cxn ang="T6">
                    <a:pos x="T0" y="T1"/>
                  </a:cxn>
                  <a:cxn ang="T7">
                    <a:pos x="T2" y="T3"/>
                  </a:cxn>
                  <a:cxn ang="T8">
                    <a:pos x="T4" y="T5"/>
                  </a:cxn>
                </a:cxnLst>
                <a:rect l="T9" t="T10" r="T11" b="T12"/>
                <a:pathLst>
                  <a:path w="42477" h="21600" fill="none" extrusionOk="0">
                    <a:moveTo>
                      <a:pt x="0" y="17090"/>
                    </a:moveTo>
                    <a:cubicBezTo>
                      <a:pt x="2127" y="7123"/>
                      <a:pt x="10932" y="-1"/>
                      <a:pt x="21124" y="0"/>
                    </a:cubicBezTo>
                    <a:cubicBezTo>
                      <a:pt x="31795" y="0"/>
                      <a:pt x="40867" y="7792"/>
                      <a:pt x="42476" y="18342"/>
                    </a:cubicBezTo>
                  </a:path>
                  <a:path w="42477" h="21600" stroke="0" extrusionOk="0">
                    <a:moveTo>
                      <a:pt x="0" y="17090"/>
                    </a:moveTo>
                    <a:cubicBezTo>
                      <a:pt x="2127" y="7123"/>
                      <a:pt x="10932" y="-1"/>
                      <a:pt x="21124" y="0"/>
                    </a:cubicBezTo>
                    <a:cubicBezTo>
                      <a:pt x="31795" y="0"/>
                      <a:pt x="40867" y="7792"/>
                      <a:pt x="42476" y="18342"/>
                    </a:cubicBezTo>
                    <a:lnTo>
                      <a:pt x="21124" y="21600"/>
                    </a:lnTo>
                    <a:lnTo>
                      <a:pt x="0" y="17090"/>
                    </a:lnTo>
                    <a:close/>
                  </a:path>
                </a:pathLst>
              </a:custGeom>
              <a:noFill/>
              <a:ln w="28575">
                <a:solidFill>
                  <a:schemeClr val="tx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712" name="Arc 9"/>
              <p:cNvSpPr/>
              <p:nvPr/>
            </p:nvSpPr>
            <p:spPr bwMode="auto">
              <a:xfrm>
                <a:off x="3984" y="2592"/>
                <a:ext cx="946" cy="192"/>
              </a:xfrm>
              <a:custGeom>
                <a:avLst/>
                <a:gdLst>
                  <a:gd name="T0" fmla="*/ 0 w 42397"/>
                  <a:gd name="T1" fmla="*/ 0 h 21600"/>
                  <a:gd name="T2" fmla="*/ 0 w 42397"/>
                  <a:gd name="T3" fmla="*/ 0 h 21600"/>
                  <a:gd name="T4" fmla="*/ 0 w 42397"/>
                  <a:gd name="T5" fmla="*/ 0 h 21600"/>
                  <a:gd name="T6" fmla="*/ 0 60000 65536"/>
                  <a:gd name="T7" fmla="*/ 0 60000 65536"/>
                  <a:gd name="T8" fmla="*/ 0 60000 65536"/>
                  <a:gd name="T9" fmla="*/ 0 w 42397"/>
                  <a:gd name="T10" fmla="*/ 0 h 21600"/>
                  <a:gd name="T11" fmla="*/ 42397 w 42397"/>
                  <a:gd name="T12" fmla="*/ 21600 h 21600"/>
                </a:gdLst>
                <a:ahLst/>
                <a:cxnLst>
                  <a:cxn ang="T6">
                    <a:pos x="T0" y="T1"/>
                  </a:cxn>
                  <a:cxn ang="T7">
                    <a:pos x="T2" y="T3"/>
                  </a:cxn>
                  <a:cxn ang="T8">
                    <a:pos x="T4" y="T5"/>
                  </a:cxn>
                </a:cxnLst>
                <a:rect l="T9" t="T10" r="T11" b="T12"/>
                <a:pathLst>
                  <a:path w="42397" h="21600" fill="none" extrusionOk="0">
                    <a:moveTo>
                      <a:pt x="42397" y="5667"/>
                    </a:moveTo>
                    <a:cubicBezTo>
                      <a:pt x="39840" y="15072"/>
                      <a:pt x="31300" y="21599"/>
                      <a:pt x="21554" y="21600"/>
                    </a:cubicBezTo>
                    <a:cubicBezTo>
                      <a:pt x="10172" y="21600"/>
                      <a:pt x="743" y="12767"/>
                      <a:pt x="0" y="1409"/>
                    </a:cubicBezTo>
                  </a:path>
                  <a:path w="42397" h="21600" stroke="0" extrusionOk="0">
                    <a:moveTo>
                      <a:pt x="42397" y="5667"/>
                    </a:moveTo>
                    <a:cubicBezTo>
                      <a:pt x="39840" y="15072"/>
                      <a:pt x="31300" y="21599"/>
                      <a:pt x="21554" y="21600"/>
                    </a:cubicBezTo>
                    <a:cubicBezTo>
                      <a:pt x="10172" y="21600"/>
                      <a:pt x="743" y="12767"/>
                      <a:pt x="0" y="1409"/>
                    </a:cubicBezTo>
                    <a:lnTo>
                      <a:pt x="21554" y="0"/>
                    </a:lnTo>
                    <a:lnTo>
                      <a:pt x="42397" y="5667"/>
                    </a:lnTo>
                    <a:close/>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713" name="Text Box 10"/>
              <p:cNvSpPr txBox="1">
                <a:spLocks noChangeArrowheads="1"/>
              </p:cNvSpPr>
              <p:nvPr/>
            </p:nvSpPr>
            <p:spPr bwMode="auto">
              <a:xfrm>
                <a:off x="3868" y="2774"/>
                <a:ext cx="14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dirty="0">
                    <a:solidFill>
                      <a:srgbClr val="FF0000"/>
                    </a:solidFill>
                    <a:latin typeface="Arial" panose="020B0604020202020204" pitchFamily="34" charset="0"/>
                    <a:ea typeface="华文楷体" panose="02010600040101010101" pitchFamily="2" charset="-122"/>
                  </a:rPr>
                  <a:t>磷酸果糖激酶</a:t>
                </a:r>
                <a:r>
                  <a:rPr kumimoji="1" lang="zh-CN" altLang="en-US" sz="1600" dirty="0">
                    <a:solidFill>
                      <a:srgbClr val="FF0000"/>
                    </a:solidFill>
                    <a:latin typeface="Arial" panose="020B0604020202020204" pitchFamily="34" charset="0"/>
                    <a:ea typeface="华文楷体" panose="02010600040101010101" pitchFamily="2" charset="-122"/>
                  </a:rPr>
                  <a:t>-</a:t>
                </a:r>
                <a:r>
                  <a:rPr kumimoji="1" lang="zh-CN" altLang="en-US" sz="2000" dirty="0">
                    <a:solidFill>
                      <a:srgbClr val="FF0000"/>
                    </a:solidFill>
                    <a:latin typeface="Arial" panose="020B0604020202020204" pitchFamily="34" charset="0"/>
                    <a:ea typeface="华文楷体" panose="02010600040101010101" pitchFamily="2" charset="-122"/>
                  </a:rPr>
                  <a:t>1</a:t>
                </a:r>
                <a:r>
                  <a:rPr kumimoji="1" lang="zh-CN" altLang="en-US" sz="2000" dirty="0">
                    <a:solidFill>
                      <a:schemeClr val="accent1"/>
                    </a:solidFill>
                    <a:latin typeface="Arial" panose="020B0604020202020204" pitchFamily="34" charset="0"/>
                    <a:ea typeface="华文楷体" panose="02010600040101010101" pitchFamily="2" charset="-122"/>
                  </a:rPr>
                  <a:t>  </a:t>
                </a:r>
                <a:endParaRPr kumimoji="1" lang="zh-CN" altLang="en-US" sz="2000" dirty="0">
                  <a:solidFill>
                    <a:schemeClr val="accent1"/>
                  </a:solidFill>
                  <a:latin typeface="Arial" panose="020B0604020202020204" pitchFamily="34" charset="0"/>
                  <a:ea typeface="华文楷体" panose="02010600040101010101" pitchFamily="2" charset="-122"/>
                </a:endParaRPr>
              </a:p>
            </p:txBody>
          </p:sp>
          <p:sp>
            <p:nvSpPr>
              <p:cNvPr id="70714" name="Text Box 11"/>
              <p:cNvSpPr txBox="1">
                <a:spLocks noChangeArrowheads="1"/>
              </p:cNvSpPr>
              <p:nvPr/>
            </p:nvSpPr>
            <p:spPr bwMode="auto">
              <a:xfrm>
                <a:off x="3744" y="1922"/>
                <a:ext cx="1488" cy="2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dirty="0">
                    <a:latin typeface="Arial" panose="020B0604020202020204" pitchFamily="34" charset="0"/>
                    <a:ea typeface="华文楷体" panose="02010600040101010101" pitchFamily="2" charset="-122"/>
                  </a:rPr>
                  <a:t> 果糖二磷酸酶-1 </a:t>
                </a:r>
                <a:endParaRPr kumimoji="1" lang="zh-CN" altLang="en-US" sz="2000" dirty="0">
                  <a:latin typeface="Arial" panose="020B0604020202020204" pitchFamily="34" charset="0"/>
                  <a:ea typeface="华文楷体" panose="02010600040101010101" pitchFamily="2" charset="-122"/>
                </a:endParaRPr>
              </a:p>
            </p:txBody>
          </p:sp>
        </p:grpSp>
        <p:grpSp>
          <p:nvGrpSpPr>
            <p:cNvPr id="70700" name="Group 12"/>
            <p:cNvGrpSpPr/>
            <p:nvPr/>
          </p:nvGrpSpPr>
          <p:grpSpPr bwMode="auto">
            <a:xfrm>
              <a:off x="3120" y="2503"/>
              <a:ext cx="816" cy="250"/>
              <a:chOff x="3120" y="2503"/>
              <a:chExt cx="816" cy="250"/>
            </a:xfrm>
          </p:grpSpPr>
          <p:sp>
            <p:nvSpPr>
              <p:cNvPr id="70707" name="Line 13"/>
              <p:cNvSpPr>
                <a:spLocks noChangeShapeType="1"/>
              </p:cNvSpPr>
              <p:nvPr/>
            </p:nvSpPr>
            <p:spPr bwMode="auto">
              <a:xfrm flipH="1">
                <a:off x="3552" y="2544"/>
                <a:ext cx="384" cy="4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708" name="Text Box 14"/>
              <p:cNvSpPr txBox="1">
                <a:spLocks noChangeArrowheads="1"/>
              </p:cNvSpPr>
              <p:nvPr/>
            </p:nvSpPr>
            <p:spPr bwMode="auto">
              <a:xfrm>
                <a:off x="3120" y="2503"/>
                <a:ext cx="4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ADP </a:t>
                </a:r>
                <a:endParaRPr kumimoji="1" lang="en-US" altLang="zh-CN" sz="2000">
                  <a:latin typeface="Arial" panose="020B0604020202020204" pitchFamily="34" charset="0"/>
                  <a:ea typeface="华文楷体" panose="02010600040101010101" pitchFamily="2" charset="-122"/>
                </a:endParaRPr>
              </a:p>
            </p:txBody>
          </p:sp>
        </p:grpSp>
        <p:grpSp>
          <p:nvGrpSpPr>
            <p:cNvPr id="70701" name="Group 15"/>
            <p:cNvGrpSpPr/>
            <p:nvPr/>
          </p:nvGrpSpPr>
          <p:grpSpPr bwMode="auto">
            <a:xfrm>
              <a:off x="4656" y="2496"/>
              <a:ext cx="813" cy="257"/>
              <a:chOff x="4656" y="2496"/>
              <a:chExt cx="813" cy="257"/>
            </a:xfrm>
          </p:grpSpPr>
          <p:sp>
            <p:nvSpPr>
              <p:cNvPr id="70705" name="Text Box 16"/>
              <p:cNvSpPr txBox="1">
                <a:spLocks noChangeArrowheads="1"/>
              </p:cNvSpPr>
              <p:nvPr/>
            </p:nvSpPr>
            <p:spPr bwMode="auto">
              <a:xfrm>
                <a:off x="4856" y="2503"/>
                <a:ext cx="61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a:solidFill>
                      <a:srgbClr val="FF99CC"/>
                    </a:solidFill>
                    <a:latin typeface="Arial" panose="020B0604020202020204" pitchFamily="34" charset="0"/>
                    <a:ea typeface="华文楷体" panose="02010600040101010101" pitchFamily="2" charset="-122"/>
                  </a:rPr>
                  <a:t>  </a:t>
                </a:r>
                <a:r>
                  <a:rPr kumimoji="1" lang="en-US" altLang="zh-CN" sz="2000">
                    <a:solidFill>
                      <a:srgbClr val="FF0D6F"/>
                    </a:solidFill>
                    <a:latin typeface="Arial" panose="020B0604020202020204" pitchFamily="34" charset="0"/>
                    <a:ea typeface="华文楷体" panose="02010600040101010101" pitchFamily="2" charset="-122"/>
                  </a:rPr>
                  <a:t>ATP</a:t>
                </a:r>
                <a:r>
                  <a:rPr kumimoji="1" lang="en-US" altLang="zh-CN" sz="2000">
                    <a:solidFill>
                      <a:srgbClr val="FF99CC"/>
                    </a:solidFill>
                    <a:latin typeface="Arial" panose="020B0604020202020204" pitchFamily="34" charset="0"/>
                    <a:ea typeface="华文楷体" panose="02010600040101010101" pitchFamily="2" charset="-122"/>
                  </a:rPr>
                  <a:t>  </a:t>
                </a:r>
                <a:endParaRPr kumimoji="1" lang="en-US" altLang="zh-CN" sz="2000">
                  <a:solidFill>
                    <a:srgbClr val="FF99CC"/>
                  </a:solidFill>
                  <a:latin typeface="Arial" panose="020B0604020202020204" pitchFamily="34" charset="0"/>
                  <a:ea typeface="华文楷体" panose="02010600040101010101" pitchFamily="2" charset="-122"/>
                </a:endParaRPr>
              </a:p>
            </p:txBody>
          </p:sp>
          <p:sp>
            <p:nvSpPr>
              <p:cNvPr id="70706" name="Line 17"/>
              <p:cNvSpPr>
                <a:spLocks noChangeShapeType="1"/>
              </p:cNvSpPr>
              <p:nvPr/>
            </p:nvSpPr>
            <p:spPr bwMode="auto">
              <a:xfrm flipH="1" flipV="1">
                <a:off x="4656" y="2496"/>
                <a:ext cx="33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0702" name="Group 18"/>
            <p:cNvGrpSpPr/>
            <p:nvPr/>
          </p:nvGrpSpPr>
          <p:grpSpPr bwMode="auto">
            <a:xfrm>
              <a:off x="4560" y="1927"/>
              <a:ext cx="643" cy="250"/>
              <a:chOff x="4560" y="1927"/>
              <a:chExt cx="643" cy="250"/>
            </a:xfrm>
          </p:grpSpPr>
          <p:sp>
            <p:nvSpPr>
              <p:cNvPr id="70703" name="Line 19"/>
              <p:cNvSpPr>
                <a:spLocks noChangeShapeType="1"/>
              </p:cNvSpPr>
              <p:nvPr/>
            </p:nvSpPr>
            <p:spPr bwMode="auto">
              <a:xfrm>
                <a:off x="4560" y="2064"/>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704" name="Text Box 20"/>
              <p:cNvSpPr txBox="1">
                <a:spLocks noChangeArrowheads="1"/>
              </p:cNvSpPr>
              <p:nvPr/>
            </p:nvSpPr>
            <p:spPr bwMode="auto">
              <a:xfrm>
                <a:off x="4760" y="1927"/>
                <a:ext cx="4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  </a:t>
                </a:r>
                <a:r>
                  <a:rPr kumimoji="1" lang="en-US" altLang="zh-CN" sz="2000">
                    <a:latin typeface="Arial" panose="020B0604020202020204" pitchFamily="34" charset="0"/>
                    <a:ea typeface="华文楷体" panose="02010600040101010101" pitchFamily="2" charset="-122"/>
                  </a:rPr>
                  <a:t>Pi  </a:t>
                </a:r>
                <a:endParaRPr kumimoji="1" lang="en-US" altLang="zh-CN" sz="2000">
                  <a:latin typeface="Arial" panose="020B0604020202020204" pitchFamily="34" charset="0"/>
                  <a:ea typeface="华文楷体" panose="02010600040101010101" pitchFamily="2" charset="-122"/>
                </a:endParaRPr>
              </a:p>
            </p:txBody>
          </p:sp>
        </p:grpSp>
      </p:grpSp>
      <p:grpSp>
        <p:nvGrpSpPr>
          <p:cNvPr id="7" name="Group 21"/>
          <p:cNvGrpSpPr/>
          <p:nvPr/>
        </p:nvGrpSpPr>
        <p:grpSpPr bwMode="auto">
          <a:xfrm>
            <a:off x="6132883" y="439738"/>
            <a:ext cx="4471988" cy="1801812"/>
            <a:chOff x="2736" y="2923"/>
            <a:chExt cx="2723" cy="1135"/>
          </a:xfrm>
        </p:grpSpPr>
        <p:grpSp>
          <p:nvGrpSpPr>
            <p:cNvPr id="70684" name="Group 22"/>
            <p:cNvGrpSpPr/>
            <p:nvPr/>
          </p:nvGrpSpPr>
          <p:grpSpPr bwMode="auto">
            <a:xfrm>
              <a:off x="2736" y="2923"/>
              <a:ext cx="2723" cy="1135"/>
              <a:chOff x="3072" y="475"/>
              <a:chExt cx="2680" cy="1135"/>
            </a:xfrm>
          </p:grpSpPr>
          <p:sp>
            <p:nvSpPr>
              <p:cNvPr id="70693" name="Rectangle 23"/>
              <p:cNvSpPr>
                <a:spLocks noChangeArrowheads="1"/>
              </p:cNvSpPr>
              <p:nvPr/>
            </p:nvSpPr>
            <p:spPr bwMode="auto">
              <a:xfrm>
                <a:off x="3072" y="918"/>
                <a:ext cx="12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latin typeface="Arial" panose="020B0604020202020204" pitchFamily="34" charset="0"/>
                    <a:ea typeface="华文楷体" panose="02010600040101010101" pitchFamily="2" charset="-122"/>
                  </a:rPr>
                  <a:t>葡萄糖</a:t>
                </a:r>
                <a:r>
                  <a:rPr kumimoji="1" lang="en-US" altLang="zh-CN" sz="2400" dirty="0">
                    <a:latin typeface="Arial" panose="020B0604020202020204" pitchFamily="34" charset="0"/>
                    <a:ea typeface="华文楷体" panose="02010600040101010101" pitchFamily="2" charset="-122"/>
                  </a:rPr>
                  <a:t>-6-</a:t>
                </a:r>
                <a:r>
                  <a:rPr kumimoji="1" lang="zh-CN" altLang="en-US" sz="2400" dirty="0">
                    <a:latin typeface="Arial" panose="020B0604020202020204" pitchFamily="34" charset="0"/>
                    <a:ea typeface="华文楷体" panose="02010600040101010101" pitchFamily="2" charset="-122"/>
                  </a:rPr>
                  <a:t>磷酸</a:t>
                </a:r>
                <a:endParaRPr kumimoji="1" lang="zh-CN" altLang="en-US" sz="2400" dirty="0">
                  <a:latin typeface="Arial" panose="020B0604020202020204" pitchFamily="34" charset="0"/>
                  <a:ea typeface="华文楷体" panose="02010600040101010101" pitchFamily="2" charset="-122"/>
                </a:endParaRPr>
              </a:p>
            </p:txBody>
          </p:sp>
          <p:sp>
            <p:nvSpPr>
              <p:cNvPr id="70694" name="Rectangle 24"/>
              <p:cNvSpPr>
                <a:spLocks noChangeArrowheads="1"/>
              </p:cNvSpPr>
              <p:nvPr/>
            </p:nvSpPr>
            <p:spPr bwMode="auto">
              <a:xfrm>
                <a:off x="4943" y="931"/>
                <a:ext cx="8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葡萄糖   </a:t>
                </a:r>
                <a:endParaRPr kumimoji="1" lang="zh-CN" altLang="en-US" sz="2400">
                  <a:latin typeface="Arial" panose="020B0604020202020204" pitchFamily="34" charset="0"/>
                  <a:ea typeface="华文楷体" panose="02010600040101010101" pitchFamily="2" charset="-122"/>
                </a:endParaRPr>
              </a:p>
            </p:txBody>
          </p:sp>
          <p:sp>
            <p:nvSpPr>
              <p:cNvPr id="70695" name="Arc 25"/>
              <p:cNvSpPr/>
              <p:nvPr/>
            </p:nvSpPr>
            <p:spPr bwMode="auto">
              <a:xfrm>
                <a:off x="4176" y="769"/>
                <a:ext cx="940" cy="191"/>
              </a:xfrm>
              <a:custGeom>
                <a:avLst/>
                <a:gdLst>
                  <a:gd name="T0" fmla="*/ 0 w 42468"/>
                  <a:gd name="T1" fmla="*/ 0 h 21600"/>
                  <a:gd name="T2" fmla="*/ 0 w 42468"/>
                  <a:gd name="T3" fmla="*/ 0 h 21600"/>
                  <a:gd name="T4" fmla="*/ 0 w 42468"/>
                  <a:gd name="T5" fmla="*/ 0 h 21600"/>
                  <a:gd name="T6" fmla="*/ 0 60000 65536"/>
                  <a:gd name="T7" fmla="*/ 0 60000 65536"/>
                  <a:gd name="T8" fmla="*/ 0 60000 65536"/>
                  <a:gd name="T9" fmla="*/ 0 w 42468"/>
                  <a:gd name="T10" fmla="*/ 0 h 21600"/>
                  <a:gd name="T11" fmla="*/ 42468 w 42468"/>
                  <a:gd name="T12" fmla="*/ 21600 h 21600"/>
                </a:gdLst>
                <a:ahLst/>
                <a:cxnLst>
                  <a:cxn ang="T6">
                    <a:pos x="T0" y="T1"/>
                  </a:cxn>
                  <a:cxn ang="T7">
                    <a:pos x="T2" y="T3"/>
                  </a:cxn>
                  <a:cxn ang="T8">
                    <a:pos x="T4" y="T5"/>
                  </a:cxn>
                </a:cxnLst>
                <a:rect l="T9" t="T10" r="T11" b="T12"/>
                <a:pathLst>
                  <a:path w="42468" h="21600" fill="none" extrusionOk="0">
                    <a:moveTo>
                      <a:pt x="-1" y="18472"/>
                    </a:moveTo>
                    <a:cubicBezTo>
                      <a:pt x="1551" y="7864"/>
                      <a:pt x="10650" y="-1"/>
                      <a:pt x="21372" y="0"/>
                    </a:cubicBezTo>
                    <a:cubicBezTo>
                      <a:pt x="31513" y="0"/>
                      <a:pt x="40289" y="7055"/>
                      <a:pt x="42467" y="16961"/>
                    </a:cubicBezTo>
                  </a:path>
                  <a:path w="42468" h="21600" stroke="0" extrusionOk="0">
                    <a:moveTo>
                      <a:pt x="-1" y="18472"/>
                    </a:moveTo>
                    <a:cubicBezTo>
                      <a:pt x="1551" y="7864"/>
                      <a:pt x="10650" y="-1"/>
                      <a:pt x="21372" y="0"/>
                    </a:cubicBezTo>
                    <a:cubicBezTo>
                      <a:pt x="31513" y="0"/>
                      <a:pt x="40289" y="7055"/>
                      <a:pt x="42467" y="16961"/>
                    </a:cubicBezTo>
                    <a:lnTo>
                      <a:pt x="21372" y="21600"/>
                    </a:lnTo>
                    <a:lnTo>
                      <a:pt x="-1" y="18472"/>
                    </a:lnTo>
                    <a:close/>
                  </a:path>
                </a:pathLst>
              </a:custGeom>
              <a:noFill/>
              <a:ln w="28575">
                <a:solidFill>
                  <a:schemeClr val="tx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96" name="Arc 26"/>
              <p:cNvSpPr/>
              <p:nvPr/>
            </p:nvSpPr>
            <p:spPr bwMode="auto">
              <a:xfrm>
                <a:off x="4176" y="1152"/>
                <a:ext cx="897" cy="192"/>
              </a:xfrm>
              <a:custGeom>
                <a:avLst/>
                <a:gdLst>
                  <a:gd name="T0" fmla="*/ 0 w 42301"/>
                  <a:gd name="T1" fmla="*/ 0 h 21600"/>
                  <a:gd name="T2" fmla="*/ 0 w 42301"/>
                  <a:gd name="T3" fmla="*/ 0 h 21600"/>
                  <a:gd name="T4" fmla="*/ 0 w 42301"/>
                  <a:gd name="T5" fmla="*/ 0 h 21600"/>
                  <a:gd name="T6" fmla="*/ 0 60000 65536"/>
                  <a:gd name="T7" fmla="*/ 0 60000 65536"/>
                  <a:gd name="T8" fmla="*/ 0 60000 65536"/>
                  <a:gd name="T9" fmla="*/ 0 w 42301"/>
                  <a:gd name="T10" fmla="*/ 0 h 21600"/>
                  <a:gd name="T11" fmla="*/ 42301 w 42301"/>
                  <a:gd name="T12" fmla="*/ 21600 h 21600"/>
                </a:gdLst>
                <a:ahLst/>
                <a:cxnLst>
                  <a:cxn ang="T6">
                    <a:pos x="T0" y="T1"/>
                  </a:cxn>
                  <a:cxn ang="T7">
                    <a:pos x="T2" y="T3"/>
                  </a:cxn>
                  <a:cxn ang="T8">
                    <a:pos x="T4" y="T5"/>
                  </a:cxn>
                </a:cxnLst>
                <a:rect l="T9" t="T10" r="T11" b="T12"/>
                <a:pathLst>
                  <a:path w="42301" h="21600" fill="none" extrusionOk="0">
                    <a:moveTo>
                      <a:pt x="42300" y="5800"/>
                    </a:moveTo>
                    <a:cubicBezTo>
                      <a:pt x="39696" y="15139"/>
                      <a:pt x="31189" y="21599"/>
                      <a:pt x="21494" y="21600"/>
                    </a:cubicBezTo>
                    <a:cubicBezTo>
                      <a:pt x="10394" y="21600"/>
                      <a:pt x="1101" y="13187"/>
                      <a:pt x="0" y="2141"/>
                    </a:cubicBezTo>
                  </a:path>
                  <a:path w="42301" h="21600" stroke="0" extrusionOk="0">
                    <a:moveTo>
                      <a:pt x="42300" y="5800"/>
                    </a:moveTo>
                    <a:cubicBezTo>
                      <a:pt x="39696" y="15139"/>
                      <a:pt x="31189" y="21599"/>
                      <a:pt x="21494" y="21600"/>
                    </a:cubicBezTo>
                    <a:cubicBezTo>
                      <a:pt x="10394" y="21600"/>
                      <a:pt x="1101" y="13187"/>
                      <a:pt x="0" y="2141"/>
                    </a:cubicBezTo>
                    <a:lnTo>
                      <a:pt x="21494" y="0"/>
                    </a:lnTo>
                    <a:lnTo>
                      <a:pt x="42300" y="5800"/>
                    </a:lnTo>
                    <a:close/>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97" name="Rectangle 27"/>
              <p:cNvSpPr>
                <a:spLocks noChangeArrowheads="1"/>
              </p:cNvSpPr>
              <p:nvPr/>
            </p:nvSpPr>
            <p:spPr bwMode="auto">
              <a:xfrm>
                <a:off x="3973" y="475"/>
                <a:ext cx="1335" cy="2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dirty="0">
                    <a:latin typeface="Arial" panose="020B0604020202020204" pitchFamily="34" charset="0"/>
                    <a:ea typeface="华文楷体" panose="02010600040101010101" pitchFamily="2" charset="-122"/>
                  </a:rPr>
                  <a:t>葡萄糖-6-磷酸酶   </a:t>
                </a:r>
                <a:endParaRPr kumimoji="1" lang="zh-CN" altLang="en-US" sz="2000" dirty="0">
                  <a:latin typeface="Arial" panose="020B0604020202020204" pitchFamily="34" charset="0"/>
                  <a:ea typeface="华文楷体" panose="02010600040101010101" pitchFamily="2" charset="-122"/>
                </a:endParaRPr>
              </a:p>
            </p:txBody>
          </p:sp>
          <p:sp>
            <p:nvSpPr>
              <p:cNvPr id="70698" name="Text Box 28"/>
              <p:cNvSpPr txBox="1">
                <a:spLocks noChangeArrowheads="1"/>
              </p:cNvSpPr>
              <p:nvPr/>
            </p:nvSpPr>
            <p:spPr bwMode="auto">
              <a:xfrm>
                <a:off x="4260" y="1360"/>
                <a:ext cx="8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latin typeface="Arial" panose="020B0604020202020204" pitchFamily="34" charset="0"/>
                    <a:ea typeface="华文楷体" panose="02010600040101010101" pitchFamily="2" charset="-122"/>
                  </a:rPr>
                  <a:t>己糖激酶</a:t>
                </a:r>
                <a:r>
                  <a:rPr kumimoji="1" lang="zh-CN" altLang="en-US" sz="2000">
                    <a:solidFill>
                      <a:schemeClr val="accent1"/>
                    </a:solidFill>
                    <a:latin typeface="Arial" panose="020B0604020202020204" pitchFamily="34" charset="0"/>
                    <a:ea typeface="华文楷体" panose="02010600040101010101" pitchFamily="2" charset="-122"/>
                  </a:rPr>
                  <a:t>   </a:t>
                </a:r>
                <a:endParaRPr kumimoji="1" lang="zh-CN" altLang="en-US" sz="2000">
                  <a:solidFill>
                    <a:schemeClr val="accent1"/>
                  </a:solidFill>
                  <a:latin typeface="Arial" panose="020B0604020202020204" pitchFamily="34" charset="0"/>
                  <a:ea typeface="华文楷体" panose="02010600040101010101" pitchFamily="2" charset="-122"/>
                </a:endParaRPr>
              </a:p>
            </p:txBody>
          </p:sp>
        </p:grpSp>
        <p:grpSp>
          <p:nvGrpSpPr>
            <p:cNvPr id="70685" name="Group 29"/>
            <p:cNvGrpSpPr/>
            <p:nvPr/>
          </p:nvGrpSpPr>
          <p:grpSpPr bwMode="auto">
            <a:xfrm>
              <a:off x="4560" y="3744"/>
              <a:ext cx="802" cy="257"/>
              <a:chOff x="4656" y="2496"/>
              <a:chExt cx="802" cy="257"/>
            </a:xfrm>
          </p:grpSpPr>
          <p:sp>
            <p:nvSpPr>
              <p:cNvPr id="70691" name="Text Box 30"/>
              <p:cNvSpPr txBox="1">
                <a:spLocks noChangeArrowheads="1"/>
              </p:cNvSpPr>
              <p:nvPr/>
            </p:nvSpPr>
            <p:spPr bwMode="auto">
              <a:xfrm>
                <a:off x="4907" y="2503"/>
                <a:ext cx="55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99CC"/>
                    </a:solidFill>
                    <a:latin typeface="Arial" panose="020B0604020202020204" pitchFamily="34" charset="0"/>
                    <a:ea typeface="华文楷体" panose="02010600040101010101" pitchFamily="2" charset="-122"/>
                  </a:rPr>
                  <a:t> </a:t>
                </a:r>
                <a:r>
                  <a:rPr kumimoji="1" lang="en-US" altLang="zh-CN" sz="2000">
                    <a:solidFill>
                      <a:srgbClr val="FF0D6F"/>
                    </a:solidFill>
                    <a:latin typeface="Arial" panose="020B0604020202020204" pitchFamily="34" charset="0"/>
                    <a:ea typeface="华文楷体" panose="02010600040101010101" pitchFamily="2" charset="-122"/>
                  </a:rPr>
                  <a:t>ATP</a:t>
                </a:r>
                <a:r>
                  <a:rPr kumimoji="1" lang="en-US" altLang="zh-CN" sz="2000">
                    <a:solidFill>
                      <a:srgbClr val="FF99CC"/>
                    </a:solidFill>
                    <a:latin typeface="Arial" panose="020B0604020202020204" pitchFamily="34" charset="0"/>
                    <a:ea typeface="华文楷体" panose="02010600040101010101" pitchFamily="2" charset="-122"/>
                  </a:rPr>
                  <a:t>  </a:t>
                </a:r>
                <a:endParaRPr kumimoji="1" lang="en-US" altLang="zh-CN" sz="2000">
                  <a:solidFill>
                    <a:srgbClr val="FF99CC"/>
                  </a:solidFill>
                  <a:latin typeface="Arial" panose="020B0604020202020204" pitchFamily="34" charset="0"/>
                  <a:ea typeface="华文楷体" panose="02010600040101010101" pitchFamily="2" charset="-122"/>
                </a:endParaRPr>
              </a:p>
            </p:txBody>
          </p:sp>
          <p:sp>
            <p:nvSpPr>
              <p:cNvPr id="70692" name="Line 31"/>
              <p:cNvSpPr>
                <a:spLocks noChangeShapeType="1"/>
              </p:cNvSpPr>
              <p:nvPr/>
            </p:nvSpPr>
            <p:spPr bwMode="auto">
              <a:xfrm flipH="1" flipV="1">
                <a:off x="4656" y="2496"/>
                <a:ext cx="33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70686" name="Line 32"/>
            <p:cNvSpPr>
              <a:spLocks noChangeShapeType="1"/>
            </p:cNvSpPr>
            <p:nvPr/>
          </p:nvSpPr>
          <p:spPr bwMode="auto">
            <a:xfrm flipH="1">
              <a:off x="3648" y="3761"/>
              <a:ext cx="384" cy="6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687" name="Text Box 33"/>
            <p:cNvSpPr txBox="1">
              <a:spLocks noChangeArrowheads="1"/>
            </p:cNvSpPr>
            <p:nvPr/>
          </p:nvSpPr>
          <p:spPr bwMode="auto">
            <a:xfrm>
              <a:off x="3223" y="3751"/>
              <a:ext cx="5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ADP  </a:t>
              </a:r>
              <a:endParaRPr kumimoji="1" lang="en-US" altLang="zh-CN" sz="2000">
                <a:latin typeface="Arial" panose="020B0604020202020204" pitchFamily="34" charset="0"/>
                <a:ea typeface="华文楷体" panose="02010600040101010101" pitchFamily="2" charset="-122"/>
              </a:endParaRPr>
            </a:p>
          </p:txBody>
        </p:sp>
        <p:grpSp>
          <p:nvGrpSpPr>
            <p:cNvPr id="70688" name="Group 34"/>
            <p:cNvGrpSpPr/>
            <p:nvPr/>
          </p:nvGrpSpPr>
          <p:grpSpPr bwMode="auto">
            <a:xfrm>
              <a:off x="4656" y="3127"/>
              <a:ext cx="613" cy="250"/>
              <a:chOff x="4560" y="1927"/>
              <a:chExt cx="613" cy="250"/>
            </a:xfrm>
          </p:grpSpPr>
          <p:sp>
            <p:nvSpPr>
              <p:cNvPr id="70689" name="Line 35"/>
              <p:cNvSpPr>
                <a:spLocks noChangeShapeType="1"/>
              </p:cNvSpPr>
              <p:nvPr/>
            </p:nvSpPr>
            <p:spPr bwMode="auto">
              <a:xfrm>
                <a:off x="4560" y="2064"/>
                <a:ext cx="336"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690" name="Text Box 36"/>
              <p:cNvSpPr txBox="1">
                <a:spLocks noChangeArrowheads="1"/>
              </p:cNvSpPr>
              <p:nvPr/>
            </p:nvSpPr>
            <p:spPr bwMode="auto">
              <a:xfrm>
                <a:off x="4788" y="1927"/>
                <a:ext cx="3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 </a:t>
                </a:r>
                <a:r>
                  <a:rPr kumimoji="1" lang="en-US" altLang="zh-CN" sz="2000">
                    <a:latin typeface="Arial" panose="020B0604020202020204" pitchFamily="34" charset="0"/>
                    <a:ea typeface="华文楷体" panose="02010600040101010101" pitchFamily="2" charset="-122"/>
                  </a:rPr>
                  <a:t>Pi  </a:t>
                </a:r>
                <a:endParaRPr kumimoji="1" lang="en-US" altLang="zh-CN" sz="2000">
                  <a:latin typeface="Arial" panose="020B0604020202020204" pitchFamily="34" charset="0"/>
                  <a:ea typeface="华文楷体" panose="02010600040101010101" pitchFamily="2" charset="-122"/>
                </a:endParaRPr>
              </a:p>
            </p:txBody>
          </p:sp>
        </p:grpSp>
      </p:grpSp>
      <p:grpSp>
        <p:nvGrpSpPr>
          <p:cNvPr id="11" name="Group 37"/>
          <p:cNvGrpSpPr/>
          <p:nvPr/>
        </p:nvGrpSpPr>
        <p:grpSpPr bwMode="auto">
          <a:xfrm>
            <a:off x="5628059" y="4005263"/>
            <a:ext cx="5724525" cy="2316162"/>
            <a:chOff x="2210" y="247"/>
            <a:chExt cx="3807" cy="1459"/>
          </a:xfrm>
        </p:grpSpPr>
        <p:sp>
          <p:nvSpPr>
            <p:cNvPr id="70663" name="Rectangle 56"/>
            <p:cNvSpPr>
              <a:spLocks noChangeArrowheads="1"/>
            </p:cNvSpPr>
            <p:nvPr/>
          </p:nvSpPr>
          <p:spPr bwMode="auto">
            <a:xfrm>
              <a:off x="4017" y="480"/>
              <a:ext cx="2000" cy="25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000099"/>
                  </a:solidFill>
                  <a:latin typeface="Arial" panose="020B0604020202020204" pitchFamily="34" charset="0"/>
                  <a:ea typeface="华文楷体" panose="02010600040101010101" pitchFamily="2" charset="-122"/>
                </a:rPr>
                <a:t>磷酸烯醇式丙酮酸羧激酶</a:t>
              </a:r>
              <a:endParaRPr kumimoji="1" lang="zh-CN" altLang="en-US" sz="2000">
                <a:solidFill>
                  <a:srgbClr val="000099"/>
                </a:solidFill>
                <a:latin typeface="Arial" panose="020B0604020202020204" pitchFamily="34" charset="0"/>
                <a:ea typeface="华文楷体" panose="02010600040101010101" pitchFamily="2" charset="-122"/>
              </a:endParaRPr>
            </a:p>
          </p:txBody>
        </p:sp>
        <p:sp>
          <p:nvSpPr>
            <p:cNvPr id="70664" name="Text Box 38"/>
            <p:cNvSpPr txBox="1">
              <a:spLocks noChangeArrowheads="1"/>
            </p:cNvSpPr>
            <p:nvPr/>
          </p:nvSpPr>
          <p:spPr bwMode="auto">
            <a:xfrm>
              <a:off x="4720" y="1008"/>
              <a:ext cx="5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a:latin typeface="Arial" panose="020B0604020202020204" pitchFamily="34" charset="0"/>
                  <a:ea typeface="华文楷体" panose="02010600040101010101" pitchFamily="2" charset="-122"/>
                </a:rPr>
                <a:t>PEP</a:t>
              </a:r>
              <a:r>
                <a:rPr kumimoji="1" lang="en-US" altLang="zh-CN" sz="2800" b="0">
                  <a:latin typeface="Arial" panose="020B0604020202020204" pitchFamily="34" charset="0"/>
                  <a:ea typeface="华文楷体" panose="02010600040101010101" pitchFamily="2" charset="-122"/>
                </a:rPr>
                <a:t>    </a:t>
              </a:r>
              <a:endParaRPr kumimoji="1" lang="en-US" altLang="zh-CN" sz="2800" b="0">
                <a:latin typeface="Arial" panose="020B0604020202020204" pitchFamily="34" charset="0"/>
                <a:ea typeface="华文楷体" panose="02010600040101010101" pitchFamily="2" charset="-122"/>
              </a:endParaRPr>
            </a:p>
          </p:txBody>
        </p:sp>
        <p:sp>
          <p:nvSpPr>
            <p:cNvPr id="70665" name="Rectangle 39"/>
            <p:cNvSpPr>
              <a:spLocks noChangeArrowheads="1"/>
            </p:cNvSpPr>
            <p:nvPr/>
          </p:nvSpPr>
          <p:spPr bwMode="auto">
            <a:xfrm>
              <a:off x="2592" y="1016"/>
              <a:ext cx="7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丙酮酸</a:t>
              </a:r>
              <a:endParaRPr kumimoji="1" lang="zh-CN" altLang="en-US" sz="2400">
                <a:latin typeface="Arial" panose="020B0604020202020204" pitchFamily="34" charset="0"/>
                <a:ea typeface="华文楷体" panose="02010600040101010101" pitchFamily="2" charset="-122"/>
              </a:endParaRPr>
            </a:p>
          </p:txBody>
        </p:sp>
        <p:sp>
          <p:nvSpPr>
            <p:cNvPr id="70666" name="Arc 41"/>
            <p:cNvSpPr/>
            <p:nvPr/>
          </p:nvSpPr>
          <p:spPr bwMode="auto">
            <a:xfrm>
              <a:off x="4440" y="816"/>
              <a:ext cx="458" cy="242"/>
            </a:xfrm>
            <a:custGeom>
              <a:avLst/>
              <a:gdLst>
                <a:gd name="T0" fmla="*/ 0 w 21571"/>
                <a:gd name="T1" fmla="*/ 0 h 21131"/>
                <a:gd name="T2" fmla="*/ 0 w 21571"/>
                <a:gd name="T3" fmla="*/ 0 h 21131"/>
                <a:gd name="T4" fmla="*/ 0 w 21571"/>
                <a:gd name="T5" fmla="*/ 0 h 21131"/>
                <a:gd name="T6" fmla="*/ 0 60000 65536"/>
                <a:gd name="T7" fmla="*/ 0 60000 65536"/>
                <a:gd name="T8" fmla="*/ 0 60000 65536"/>
                <a:gd name="T9" fmla="*/ 0 w 21571"/>
                <a:gd name="T10" fmla="*/ 0 h 21131"/>
                <a:gd name="T11" fmla="*/ 21571 w 21571"/>
                <a:gd name="T12" fmla="*/ 21131 h 21131"/>
              </a:gdLst>
              <a:ahLst/>
              <a:cxnLst>
                <a:cxn ang="T6">
                  <a:pos x="T0" y="T1"/>
                </a:cxn>
                <a:cxn ang="T7">
                  <a:pos x="T2" y="T3"/>
                </a:cxn>
                <a:cxn ang="T8">
                  <a:pos x="T4" y="T5"/>
                </a:cxn>
              </a:cxnLst>
              <a:rect l="T9" t="T10" r="T11" b="T12"/>
              <a:pathLst>
                <a:path w="21571" h="21131" fill="none" extrusionOk="0">
                  <a:moveTo>
                    <a:pt x="4475" y="-1"/>
                  </a:moveTo>
                  <a:cubicBezTo>
                    <a:pt x="14048" y="2027"/>
                    <a:pt x="21063" y="10237"/>
                    <a:pt x="21570" y="20011"/>
                  </a:cubicBezTo>
                </a:path>
                <a:path w="21571" h="21131" stroke="0" extrusionOk="0">
                  <a:moveTo>
                    <a:pt x="4475" y="-1"/>
                  </a:moveTo>
                  <a:cubicBezTo>
                    <a:pt x="14048" y="2027"/>
                    <a:pt x="21063" y="10237"/>
                    <a:pt x="21570" y="20011"/>
                  </a:cubicBezTo>
                  <a:lnTo>
                    <a:pt x="0" y="21131"/>
                  </a:lnTo>
                  <a:lnTo>
                    <a:pt x="4475" y="-1"/>
                  </a:lnTo>
                  <a:close/>
                </a:path>
              </a:pathLst>
            </a:custGeom>
            <a:noFill/>
            <a:ln w="28575">
              <a:solidFill>
                <a:schemeClr val="tx2"/>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67" name="Arc 42"/>
            <p:cNvSpPr/>
            <p:nvPr/>
          </p:nvSpPr>
          <p:spPr bwMode="auto">
            <a:xfrm flipH="1">
              <a:off x="3195" y="815"/>
              <a:ext cx="494" cy="268"/>
            </a:xfrm>
            <a:custGeom>
              <a:avLst/>
              <a:gdLst>
                <a:gd name="T0" fmla="*/ 0 w 21159"/>
                <a:gd name="T1" fmla="*/ 0 h 21468"/>
                <a:gd name="T2" fmla="*/ 0 w 21159"/>
                <a:gd name="T3" fmla="*/ 0 h 21468"/>
                <a:gd name="T4" fmla="*/ 0 w 21159"/>
                <a:gd name="T5" fmla="*/ 0 h 21468"/>
                <a:gd name="T6" fmla="*/ 0 60000 65536"/>
                <a:gd name="T7" fmla="*/ 0 60000 65536"/>
                <a:gd name="T8" fmla="*/ 0 60000 65536"/>
                <a:gd name="T9" fmla="*/ 0 w 21159"/>
                <a:gd name="T10" fmla="*/ 0 h 21468"/>
                <a:gd name="T11" fmla="*/ 21159 w 21159"/>
                <a:gd name="T12" fmla="*/ 21468 h 21468"/>
              </a:gdLst>
              <a:ahLst/>
              <a:cxnLst>
                <a:cxn ang="T6">
                  <a:pos x="T0" y="T1"/>
                </a:cxn>
                <a:cxn ang="T7">
                  <a:pos x="T2" y="T3"/>
                </a:cxn>
                <a:cxn ang="T8">
                  <a:pos x="T4" y="T5"/>
                </a:cxn>
              </a:cxnLst>
              <a:rect l="T9" t="T10" r="T11" b="T12"/>
              <a:pathLst>
                <a:path w="21159" h="21468" fill="none" extrusionOk="0">
                  <a:moveTo>
                    <a:pt x="2383" y="-1"/>
                  </a:moveTo>
                  <a:cubicBezTo>
                    <a:pt x="11693" y="1033"/>
                    <a:pt x="19276" y="7950"/>
                    <a:pt x="21159" y="17126"/>
                  </a:cubicBezTo>
                </a:path>
                <a:path w="21159" h="21468" stroke="0" extrusionOk="0">
                  <a:moveTo>
                    <a:pt x="2383" y="-1"/>
                  </a:moveTo>
                  <a:cubicBezTo>
                    <a:pt x="11693" y="1033"/>
                    <a:pt x="19276" y="7950"/>
                    <a:pt x="21159" y="17126"/>
                  </a:cubicBezTo>
                  <a:lnTo>
                    <a:pt x="0" y="21468"/>
                  </a:lnTo>
                  <a:lnTo>
                    <a:pt x="2383" y="-1"/>
                  </a:lnTo>
                  <a:close/>
                </a:path>
              </a:pathLst>
            </a:custGeom>
            <a:noFill/>
            <a:ln w="28575">
              <a:solidFill>
                <a:schemeClr val="tx2"/>
              </a:solidFill>
              <a:round/>
              <a:head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68" name="Arc 43"/>
            <p:cNvSpPr/>
            <p:nvPr/>
          </p:nvSpPr>
          <p:spPr bwMode="auto">
            <a:xfrm>
              <a:off x="3173" y="1248"/>
              <a:ext cx="1675" cy="192"/>
            </a:xfrm>
            <a:custGeom>
              <a:avLst/>
              <a:gdLst>
                <a:gd name="T0" fmla="*/ 0 w 42472"/>
                <a:gd name="T1" fmla="*/ 0 h 21600"/>
                <a:gd name="T2" fmla="*/ 0 w 42472"/>
                <a:gd name="T3" fmla="*/ 0 h 21600"/>
                <a:gd name="T4" fmla="*/ 0 w 42472"/>
                <a:gd name="T5" fmla="*/ 0 h 21600"/>
                <a:gd name="T6" fmla="*/ 0 60000 65536"/>
                <a:gd name="T7" fmla="*/ 0 60000 65536"/>
                <a:gd name="T8" fmla="*/ 0 60000 65536"/>
                <a:gd name="T9" fmla="*/ 0 w 42472"/>
                <a:gd name="T10" fmla="*/ 0 h 21600"/>
                <a:gd name="T11" fmla="*/ 42472 w 42472"/>
                <a:gd name="T12" fmla="*/ 21600 h 21600"/>
              </a:gdLst>
              <a:ahLst/>
              <a:cxnLst>
                <a:cxn ang="T6">
                  <a:pos x="T0" y="T1"/>
                </a:cxn>
                <a:cxn ang="T7">
                  <a:pos x="T2" y="T3"/>
                </a:cxn>
                <a:cxn ang="T8">
                  <a:pos x="T4" y="T5"/>
                </a:cxn>
              </a:cxnLst>
              <a:rect l="T9" t="T10" r="T11" b="T12"/>
              <a:pathLst>
                <a:path w="42472" h="21600" fill="none" extrusionOk="0">
                  <a:moveTo>
                    <a:pt x="42472" y="5383"/>
                  </a:moveTo>
                  <a:cubicBezTo>
                    <a:pt x="40016" y="14928"/>
                    <a:pt x="31410" y="21599"/>
                    <a:pt x="21554" y="21600"/>
                  </a:cubicBezTo>
                  <a:cubicBezTo>
                    <a:pt x="10172" y="21600"/>
                    <a:pt x="743" y="12767"/>
                    <a:pt x="0" y="1409"/>
                  </a:cubicBezTo>
                </a:path>
                <a:path w="42472" h="21600" stroke="0" extrusionOk="0">
                  <a:moveTo>
                    <a:pt x="42472" y="5383"/>
                  </a:moveTo>
                  <a:cubicBezTo>
                    <a:pt x="40016" y="14928"/>
                    <a:pt x="31410" y="21599"/>
                    <a:pt x="21554" y="21600"/>
                  </a:cubicBezTo>
                  <a:cubicBezTo>
                    <a:pt x="10172" y="21600"/>
                    <a:pt x="743" y="12767"/>
                    <a:pt x="0" y="1409"/>
                  </a:cubicBezTo>
                  <a:lnTo>
                    <a:pt x="21554" y="0"/>
                  </a:lnTo>
                  <a:lnTo>
                    <a:pt x="42472" y="5383"/>
                  </a:lnTo>
                  <a:close/>
                </a:path>
              </a:pathLst>
            </a:custGeom>
            <a:noFill/>
            <a:ln w="2857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0669" name="Rectangle 44"/>
            <p:cNvSpPr>
              <a:spLocks noChangeArrowheads="1"/>
            </p:cNvSpPr>
            <p:nvPr/>
          </p:nvSpPr>
          <p:spPr bwMode="auto">
            <a:xfrm>
              <a:off x="3587" y="1456"/>
              <a:ext cx="11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FF0000"/>
                  </a:solidFill>
                  <a:latin typeface="Arial" panose="020B0604020202020204" pitchFamily="34" charset="0"/>
                  <a:ea typeface="华文楷体" panose="02010600040101010101" pitchFamily="2" charset="-122"/>
                </a:rPr>
                <a:t>丙酮酸激酶</a:t>
              </a:r>
              <a:r>
                <a:rPr kumimoji="1" lang="zh-CN" altLang="en-US" sz="2000">
                  <a:solidFill>
                    <a:schemeClr val="accent1"/>
                  </a:solidFill>
                  <a:latin typeface="Arial" panose="020B0604020202020204" pitchFamily="34" charset="0"/>
                  <a:ea typeface="华文楷体" panose="02010600040101010101" pitchFamily="2" charset="-122"/>
                </a:rPr>
                <a:t>   </a:t>
              </a:r>
              <a:endParaRPr kumimoji="1" lang="zh-CN" altLang="en-US" sz="2000">
                <a:solidFill>
                  <a:schemeClr val="accent1"/>
                </a:solidFill>
                <a:latin typeface="Arial" panose="020B0604020202020204" pitchFamily="34" charset="0"/>
                <a:ea typeface="华文楷体" panose="02010600040101010101" pitchFamily="2" charset="-122"/>
              </a:endParaRPr>
            </a:p>
          </p:txBody>
        </p:sp>
        <p:sp>
          <p:nvSpPr>
            <p:cNvPr id="70670" name="Rectangle 45"/>
            <p:cNvSpPr>
              <a:spLocks noChangeArrowheads="1"/>
            </p:cNvSpPr>
            <p:nvPr/>
          </p:nvSpPr>
          <p:spPr bwMode="auto">
            <a:xfrm>
              <a:off x="2448" y="592"/>
              <a:ext cx="1229" cy="2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rgbClr val="000099"/>
                  </a:solidFill>
                  <a:latin typeface="Arial" panose="020B0604020202020204" pitchFamily="34" charset="0"/>
                  <a:ea typeface="华文楷体" panose="02010600040101010101" pitchFamily="2" charset="-122"/>
                </a:rPr>
                <a:t>丙酮酸羧化酶</a:t>
              </a:r>
              <a:r>
                <a:rPr kumimoji="1" lang="zh-CN" altLang="en-US" sz="2000">
                  <a:solidFill>
                    <a:schemeClr val="tx2"/>
                  </a:solidFill>
                  <a:latin typeface="Arial" panose="020B0604020202020204" pitchFamily="34" charset="0"/>
                  <a:ea typeface="华文楷体" panose="02010600040101010101" pitchFamily="2" charset="-122"/>
                </a:rPr>
                <a:t>  </a:t>
              </a:r>
              <a:endParaRPr kumimoji="1" lang="zh-CN" altLang="en-US" sz="2000">
                <a:solidFill>
                  <a:schemeClr val="tx2"/>
                </a:solidFill>
                <a:latin typeface="Arial" panose="020B0604020202020204" pitchFamily="34" charset="0"/>
                <a:ea typeface="华文楷体" panose="02010600040101010101" pitchFamily="2" charset="-122"/>
              </a:endParaRPr>
            </a:p>
          </p:txBody>
        </p:sp>
        <p:sp>
          <p:nvSpPr>
            <p:cNvPr id="70671" name="Line 46"/>
            <p:cNvSpPr>
              <a:spLocks noChangeShapeType="1"/>
            </p:cNvSpPr>
            <p:nvPr/>
          </p:nvSpPr>
          <p:spPr bwMode="auto">
            <a:xfrm flipH="1">
              <a:off x="3328" y="1440"/>
              <a:ext cx="309"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672" name="Text Box 47"/>
            <p:cNvSpPr txBox="1">
              <a:spLocks noChangeArrowheads="1"/>
            </p:cNvSpPr>
            <p:nvPr/>
          </p:nvSpPr>
          <p:spPr bwMode="auto">
            <a:xfrm>
              <a:off x="2868" y="1447"/>
              <a:ext cx="5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0D6F"/>
                  </a:solidFill>
                  <a:latin typeface="Arial" panose="020B0604020202020204" pitchFamily="34" charset="0"/>
                  <a:ea typeface="华文楷体" panose="02010600040101010101" pitchFamily="2" charset="-122"/>
                </a:rPr>
                <a:t>ATP  </a:t>
              </a:r>
              <a:endParaRPr kumimoji="1" lang="en-US" altLang="zh-CN" sz="2000">
                <a:solidFill>
                  <a:srgbClr val="FF0D6F"/>
                </a:solidFill>
                <a:latin typeface="Arial" panose="020B0604020202020204" pitchFamily="34" charset="0"/>
                <a:ea typeface="华文楷体" panose="02010600040101010101" pitchFamily="2" charset="-122"/>
              </a:endParaRPr>
            </a:p>
          </p:txBody>
        </p:sp>
        <p:sp>
          <p:nvSpPr>
            <p:cNvPr id="70673" name="Text Box 48"/>
            <p:cNvSpPr txBox="1">
              <a:spLocks noChangeArrowheads="1"/>
            </p:cNvSpPr>
            <p:nvPr/>
          </p:nvSpPr>
          <p:spPr bwMode="auto">
            <a:xfrm>
              <a:off x="4828" y="1447"/>
              <a:ext cx="5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ADP</a:t>
              </a:r>
              <a:r>
                <a:rPr kumimoji="1" lang="en-US" altLang="zh-CN" sz="2000">
                  <a:solidFill>
                    <a:srgbClr val="FF99CC"/>
                  </a:solidFill>
                  <a:latin typeface="Arial" panose="020B0604020202020204" pitchFamily="34" charset="0"/>
                  <a:ea typeface="华文楷体" panose="02010600040101010101" pitchFamily="2" charset="-122"/>
                </a:rPr>
                <a:t>  </a:t>
              </a:r>
              <a:endParaRPr kumimoji="1" lang="en-US" altLang="zh-CN" sz="2000">
                <a:solidFill>
                  <a:srgbClr val="FF99CC"/>
                </a:solidFill>
                <a:latin typeface="Arial" panose="020B0604020202020204" pitchFamily="34" charset="0"/>
                <a:ea typeface="华文楷体" panose="02010600040101010101" pitchFamily="2" charset="-122"/>
              </a:endParaRPr>
            </a:p>
          </p:txBody>
        </p:sp>
        <p:sp>
          <p:nvSpPr>
            <p:cNvPr id="70674" name="Line 49"/>
            <p:cNvSpPr>
              <a:spLocks noChangeShapeType="1"/>
            </p:cNvSpPr>
            <p:nvPr/>
          </p:nvSpPr>
          <p:spPr bwMode="auto">
            <a:xfrm flipH="1" flipV="1">
              <a:off x="4514" y="1392"/>
              <a:ext cx="361"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0675" name="Line 50"/>
            <p:cNvSpPr>
              <a:spLocks noChangeShapeType="1"/>
            </p:cNvSpPr>
            <p:nvPr/>
          </p:nvSpPr>
          <p:spPr bwMode="auto">
            <a:xfrm>
              <a:off x="3024" y="912"/>
              <a:ext cx="25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0676" name="Text Box 51"/>
            <p:cNvSpPr txBox="1">
              <a:spLocks noChangeArrowheads="1"/>
            </p:cNvSpPr>
            <p:nvPr/>
          </p:nvSpPr>
          <p:spPr bwMode="auto">
            <a:xfrm>
              <a:off x="2210" y="775"/>
              <a:ext cx="9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latin typeface="Arial" panose="020B0604020202020204" pitchFamily="34" charset="0"/>
                  <a:ea typeface="华文楷体" panose="02010600040101010101" pitchFamily="2" charset="-122"/>
                </a:rPr>
                <a:t> </a:t>
              </a:r>
              <a:r>
                <a:rPr kumimoji="1" lang="en-US" altLang="zh-CN" sz="2000">
                  <a:latin typeface="Arial" panose="020B0604020202020204" pitchFamily="34" charset="0"/>
                  <a:ea typeface="华文楷体" panose="02010600040101010101" pitchFamily="2" charset="-122"/>
                </a:rPr>
                <a:t>CO</a:t>
              </a:r>
              <a:r>
                <a:rPr kumimoji="1" lang="en-US" altLang="zh-CN" sz="2000" baseline="-25000">
                  <a:latin typeface="Arial" panose="020B0604020202020204" pitchFamily="34" charset="0"/>
                  <a:ea typeface="华文楷体" panose="02010600040101010101" pitchFamily="2" charset="-122"/>
                </a:rPr>
                <a:t>2</a:t>
              </a:r>
              <a:r>
                <a:rPr kumimoji="1" lang="en-US" altLang="zh-CN" sz="2000">
                  <a:latin typeface="Arial" panose="020B0604020202020204" pitchFamily="34" charset="0"/>
                  <a:ea typeface="华文楷体" panose="02010600040101010101" pitchFamily="2" charset="-122"/>
                </a:rPr>
                <a:t>+</a:t>
              </a:r>
              <a:r>
                <a:rPr kumimoji="1" lang="en-US" altLang="zh-CN" sz="2000">
                  <a:solidFill>
                    <a:srgbClr val="FF0D6F"/>
                  </a:solidFill>
                  <a:latin typeface="Arial" panose="020B0604020202020204" pitchFamily="34" charset="0"/>
                  <a:ea typeface="华文楷体" panose="02010600040101010101" pitchFamily="2" charset="-122"/>
                </a:rPr>
                <a:t>ATP</a:t>
              </a:r>
              <a:r>
                <a:rPr kumimoji="1" lang="en-US" altLang="zh-CN" sz="2000">
                  <a:solidFill>
                    <a:srgbClr val="FF99CC"/>
                  </a:solidFill>
                  <a:latin typeface="Arial" panose="020B0604020202020204" pitchFamily="34" charset="0"/>
                  <a:ea typeface="华文楷体" panose="02010600040101010101" pitchFamily="2" charset="-122"/>
                </a:rPr>
                <a:t> </a:t>
              </a:r>
              <a:endParaRPr kumimoji="1" lang="en-US" altLang="zh-CN" sz="2000">
                <a:solidFill>
                  <a:srgbClr val="FF99CC"/>
                </a:solidFill>
                <a:latin typeface="Arial" panose="020B0604020202020204" pitchFamily="34" charset="0"/>
                <a:ea typeface="华文楷体" panose="02010600040101010101" pitchFamily="2" charset="-122"/>
              </a:endParaRPr>
            </a:p>
          </p:txBody>
        </p:sp>
        <p:sp>
          <p:nvSpPr>
            <p:cNvPr id="70677" name="Line 52"/>
            <p:cNvSpPr>
              <a:spLocks noChangeShapeType="1"/>
            </p:cNvSpPr>
            <p:nvPr/>
          </p:nvSpPr>
          <p:spPr bwMode="auto">
            <a:xfrm flipV="1">
              <a:off x="3483" y="528"/>
              <a:ext cx="103" cy="28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678" name="Text Box 53"/>
            <p:cNvSpPr txBox="1">
              <a:spLocks noChangeArrowheads="1"/>
            </p:cNvSpPr>
            <p:nvPr/>
          </p:nvSpPr>
          <p:spPr bwMode="auto">
            <a:xfrm>
              <a:off x="3104" y="343"/>
              <a:ext cx="7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ADP+Pi </a:t>
              </a:r>
              <a:endParaRPr kumimoji="1" lang="en-US" altLang="zh-CN" sz="2000">
                <a:latin typeface="Arial" panose="020B0604020202020204" pitchFamily="34" charset="0"/>
                <a:ea typeface="华文楷体" panose="02010600040101010101" pitchFamily="2" charset="-122"/>
              </a:endParaRPr>
            </a:p>
          </p:txBody>
        </p:sp>
        <p:sp>
          <p:nvSpPr>
            <p:cNvPr id="70679" name="Line 54"/>
            <p:cNvSpPr>
              <a:spLocks noChangeShapeType="1"/>
            </p:cNvSpPr>
            <p:nvPr/>
          </p:nvSpPr>
          <p:spPr bwMode="auto">
            <a:xfrm>
              <a:off x="4669" y="432"/>
              <a:ext cx="0" cy="43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0680" name="Text Box 55"/>
            <p:cNvSpPr txBox="1">
              <a:spLocks noChangeArrowheads="1"/>
            </p:cNvSpPr>
            <p:nvPr/>
          </p:nvSpPr>
          <p:spPr bwMode="auto">
            <a:xfrm>
              <a:off x="4411" y="247"/>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000">
                  <a:solidFill>
                    <a:srgbClr val="FF0D6F"/>
                  </a:solidFill>
                  <a:latin typeface="Arial" panose="020B0604020202020204" pitchFamily="34" charset="0"/>
                  <a:ea typeface="华文楷体" panose="02010600040101010101" pitchFamily="2" charset="-122"/>
                </a:rPr>
                <a:t>GTP</a:t>
              </a:r>
              <a:r>
                <a:rPr kumimoji="1" lang="en-US" altLang="zh-CN" sz="2000">
                  <a:solidFill>
                    <a:srgbClr val="FF99CC"/>
                  </a:solidFill>
                  <a:latin typeface="Arial" panose="020B0604020202020204" pitchFamily="34" charset="0"/>
                  <a:ea typeface="华文楷体" panose="02010600040101010101" pitchFamily="2" charset="-122"/>
                </a:rPr>
                <a:t> </a:t>
              </a:r>
              <a:endParaRPr kumimoji="1" lang="en-US" altLang="zh-CN" sz="2000">
                <a:solidFill>
                  <a:srgbClr val="FF99CC"/>
                </a:solidFill>
                <a:latin typeface="Arial" panose="020B0604020202020204" pitchFamily="34" charset="0"/>
                <a:ea typeface="华文楷体" panose="02010600040101010101" pitchFamily="2" charset="-122"/>
              </a:endParaRPr>
            </a:p>
          </p:txBody>
        </p:sp>
        <p:sp>
          <p:nvSpPr>
            <p:cNvPr id="70681" name="Line 57"/>
            <p:cNvSpPr>
              <a:spLocks noChangeShapeType="1"/>
            </p:cNvSpPr>
            <p:nvPr/>
          </p:nvSpPr>
          <p:spPr bwMode="auto">
            <a:xfrm>
              <a:off x="4824" y="912"/>
              <a:ext cx="257" cy="4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0682" name="Text Box 58"/>
            <p:cNvSpPr txBox="1">
              <a:spLocks noChangeArrowheads="1"/>
            </p:cNvSpPr>
            <p:nvPr/>
          </p:nvSpPr>
          <p:spPr bwMode="auto">
            <a:xfrm>
              <a:off x="4954" y="871"/>
              <a:ext cx="83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GDP+Pi</a:t>
              </a:r>
              <a:endParaRPr kumimoji="1" lang="en-US" altLang="zh-CN" sz="2000">
                <a:latin typeface="Arial" panose="020B0604020202020204" pitchFamily="34" charset="0"/>
                <a:ea typeface="华文楷体" panose="02010600040101010101" pitchFamily="2" charset="-122"/>
              </a:endParaRPr>
            </a:p>
            <a:p>
              <a:pPr algn="ctr" eaLnBrk="1" hangingPunct="1">
                <a:spcBef>
                  <a:spcPct val="0"/>
                </a:spcBef>
                <a:buClrTx/>
                <a:buSzTx/>
                <a:buFontTx/>
                <a:buNone/>
              </a:pPr>
              <a:r>
                <a:rPr kumimoji="1" lang="en-US" altLang="zh-CN" sz="2000">
                  <a:latin typeface="Arial" panose="020B0604020202020204" pitchFamily="34" charset="0"/>
                  <a:ea typeface="华文楷体" panose="02010600040101010101" pitchFamily="2" charset="-122"/>
                </a:rPr>
                <a:t>     +CO</a:t>
              </a:r>
              <a:r>
                <a:rPr kumimoji="1" lang="en-US" altLang="zh-CN" sz="2000" baseline="-25000">
                  <a:latin typeface="Arial" panose="020B0604020202020204" pitchFamily="34" charset="0"/>
                  <a:ea typeface="华文楷体" panose="02010600040101010101" pitchFamily="2" charset="-122"/>
                </a:rPr>
                <a:t>2  </a:t>
              </a:r>
              <a:endParaRPr kumimoji="1" lang="en-US" altLang="zh-CN" sz="2000" baseline="-25000">
                <a:latin typeface="Arial" panose="020B0604020202020204" pitchFamily="34" charset="0"/>
                <a:ea typeface="华文楷体" panose="02010600040101010101" pitchFamily="2" charset="-122"/>
              </a:endParaRPr>
            </a:p>
          </p:txBody>
        </p:sp>
        <p:sp>
          <p:nvSpPr>
            <p:cNvPr id="70683" name="Text Box 40"/>
            <p:cNvSpPr txBox="1">
              <a:spLocks noChangeArrowheads="1"/>
            </p:cNvSpPr>
            <p:nvPr/>
          </p:nvSpPr>
          <p:spPr bwMode="auto">
            <a:xfrm>
              <a:off x="3587" y="678"/>
              <a:ext cx="10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草酰乙酸  </a:t>
              </a:r>
              <a:endParaRPr kumimoji="1" lang="zh-CN" altLang="en-US" sz="2400">
                <a:latin typeface="Arial" panose="020B0604020202020204" pitchFamily="34" charset="0"/>
                <a:ea typeface="华文楷体" panose="0201060004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278531"/>
                                        </p:tgtEl>
                                        <p:attrNameLst>
                                          <p:attrName>style.visibility</p:attrName>
                                        </p:attrNameLst>
                                      </p:cBhvr>
                                      <p:to>
                                        <p:strVal val="visible"/>
                                      </p:to>
                                    </p:set>
                                    <p:animEffect transition="in" filter="randombar(vertical)">
                                      <p:cBhvr>
                                        <p:cTn id="7" dur="500"/>
                                        <p:tgtEl>
                                          <p:spTgt spid="2785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14" presetClass="entr" presetSubtype="5"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randombar(vertical)">
                                      <p:cBhvr>
                                        <p:cTn id="16" dur="500"/>
                                        <p:tgtEl>
                                          <p:spTgt spid="2"/>
                                        </p:tgtEl>
                                      </p:cBhvr>
                                    </p:animEffect>
                                  </p:childTnLst>
                                </p:cTn>
                              </p:par>
                            </p:childTnLst>
                          </p:cTn>
                        </p:par>
                        <p:par>
                          <p:cTn id="17" fill="hold">
                            <p:stCondLst>
                              <p:cond delay="1000"/>
                            </p:stCondLst>
                            <p:childTnLst>
                              <p:par>
                                <p:cTn id="18" presetID="17" presetClass="entr" presetSubtype="10"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 fill="hold"/>
                                        <p:tgtEl>
                                          <p:spTgt spid="11"/>
                                        </p:tgtEl>
                                        <p:attrNameLst>
                                          <p:attrName>ppt_w</p:attrName>
                                        </p:attrNameLst>
                                      </p:cBhvr>
                                      <p:tavLst>
                                        <p:tav tm="0">
                                          <p:val>
                                            <p:fltVal val="0"/>
                                          </p:val>
                                        </p:tav>
                                        <p:tav tm="100000">
                                          <p:val>
                                            <p:strVal val="#ppt_w"/>
                                          </p:val>
                                        </p:tav>
                                      </p:tavLst>
                                    </p:anim>
                                    <p:anim calcmode="lin" valueType="num">
                                      <p:cBhvr>
                                        <p:cTn id="21" dur="5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1" grpId="0" animBg="1" autoUpdateAnimBg="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5221486" y="2011364"/>
            <a:ext cx="244316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latin typeface="Arial" panose="020B0604020202020204" pitchFamily="34" charset="0"/>
                <a:ea typeface="华文楷体" panose="02010600040101010101" pitchFamily="2" charset="-122"/>
              </a:rPr>
              <a:t>果糖</a:t>
            </a:r>
            <a:r>
              <a:rPr kumimoji="1" lang="en-US" altLang="zh-CN" dirty="0">
                <a:latin typeface="Arial" panose="020B0604020202020204" pitchFamily="34" charset="0"/>
                <a:ea typeface="华文楷体" panose="02010600040101010101" pitchFamily="2" charset="-122"/>
              </a:rPr>
              <a:t>-</a:t>
            </a:r>
            <a:r>
              <a:rPr kumimoji="1" lang="zh-CN" altLang="en-US" dirty="0">
                <a:latin typeface="Arial" panose="020B0604020202020204" pitchFamily="34" charset="0"/>
                <a:ea typeface="华文楷体" panose="02010600040101010101" pitchFamily="2" charset="-122"/>
              </a:rPr>
              <a:t>6-磷酸</a:t>
            </a:r>
            <a:endParaRPr kumimoji="1" lang="zh-CN" altLang="en-US" dirty="0">
              <a:latin typeface="Arial" panose="020B0604020202020204" pitchFamily="34" charset="0"/>
              <a:ea typeface="华文楷体" panose="02010600040101010101" pitchFamily="2" charset="-122"/>
            </a:endParaRPr>
          </a:p>
        </p:txBody>
      </p:sp>
      <p:sp>
        <p:nvSpPr>
          <p:cNvPr id="73731" name="Rectangle 3"/>
          <p:cNvSpPr>
            <a:spLocks noChangeArrowheads="1"/>
          </p:cNvSpPr>
          <p:nvPr/>
        </p:nvSpPr>
        <p:spPr bwMode="auto">
          <a:xfrm>
            <a:off x="4832549" y="4462464"/>
            <a:ext cx="30780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dirty="0">
                <a:latin typeface="Arial" panose="020B0604020202020204" pitchFamily="34" charset="0"/>
                <a:ea typeface="华文楷体" panose="02010600040101010101" pitchFamily="2" charset="-122"/>
              </a:rPr>
              <a:t>果糖</a:t>
            </a:r>
            <a:r>
              <a:rPr kumimoji="1" lang="en-US" altLang="zh-CN" dirty="0">
                <a:latin typeface="Arial" panose="020B0604020202020204" pitchFamily="34" charset="0"/>
                <a:ea typeface="华文楷体" panose="02010600040101010101" pitchFamily="2" charset="-122"/>
              </a:rPr>
              <a:t>-</a:t>
            </a:r>
            <a:r>
              <a:rPr kumimoji="1" lang="zh-CN" altLang="en-US" dirty="0">
                <a:latin typeface="Arial" panose="020B0604020202020204" pitchFamily="34" charset="0"/>
                <a:ea typeface="华文楷体" panose="02010600040101010101" pitchFamily="2" charset="-122"/>
              </a:rPr>
              <a:t>1,6-二磷酸</a:t>
            </a:r>
            <a:endParaRPr kumimoji="1" lang="zh-CN" altLang="en-US" dirty="0">
              <a:latin typeface="Arial" panose="020B0604020202020204" pitchFamily="34" charset="0"/>
              <a:ea typeface="华文楷体" panose="02010600040101010101" pitchFamily="2" charset="-122"/>
            </a:endParaRPr>
          </a:p>
        </p:txBody>
      </p:sp>
      <p:cxnSp>
        <p:nvCxnSpPr>
          <p:cNvPr id="73732" name="AutoShape 4"/>
          <p:cNvCxnSpPr>
            <a:cxnSpLocks noChangeShapeType="1"/>
          </p:cNvCxnSpPr>
          <p:nvPr/>
        </p:nvCxnSpPr>
        <p:spPr bwMode="auto">
          <a:xfrm rot="10800000" flipH="1">
            <a:off x="4840485" y="2392363"/>
            <a:ext cx="152400" cy="2335212"/>
          </a:xfrm>
          <a:prstGeom prst="curvedConnector3">
            <a:avLst>
              <a:gd name="adj1" fmla="val -438546"/>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cxnSp>
      <p:cxnSp>
        <p:nvCxnSpPr>
          <p:cNvPr id="73733" name="AutoShape 5"/>
          <p:cNvCxnSpPr>
            <a:cxnSpLocks noChangeShapeType="1"/>
          </p:cNvCxnSpPr>
          <p:nvPr/>
        </p:nvCxnSpPr>
        <p:spPr bwMode="auto">
          <a:xfrm>
            <a:off x="7659885" y="2392363"/>
            <a:ext cx="114300" cy="2335212"/>
          </a:xfrm>
          <a:prstGeom prst="curvedConnector3">
            <a:avLst>
              <a:gd name="adj1" fmla="val 666667"/>
            </a:avLst>
          </a:prstGeom>
          <a:noFill/>
          <a:ln w="38100">
            <a:solidFill>
              <a:schemeClr val="accent1"/>
            </a:solidFill>
            <a:round/>
            <a:tailEnd type="triangle" w="med" len="med"/>
          </a:ln>
          <a:extLst>
            <a:ext uri="{909E8E84-426E-40DD-AFC4-6F175D3DCCD1}">
              <a14:hiddenFill xmlns:a14="http://schemas.microsoft.com/office/drawing/2010/main">
                <a:noFill/>
              </a14:hiddenFill>
            </a:ext>
          </a:extLst>
        </p:spPr>
      </p:cxnSp>
      <p:sp>
        <p:nvSpPr>
          <p:cNvPr id="73734" name="Text Box 6"/>
          <p:cNvSpPr txBox="1">
            <a:spLocks noChangeArrowheads="1"/>
          </p:cNvSpPr>
          <p:nvPr/>
        </p:nvSpPr>
        <p:spPr bwMode="auto">
          <a:xfrm>
            <a:off x="8574285" y="2557463"/>
            <a:ext cx="109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ATP  </a:t>
            </a:r>
            <a:endParaRPr kumimoji="1" lang="en-US" altLang="zh-CN" sz="2800">
              <a:latin typeface="Arial" panose="020B0604020202020204" pitchFamily="34" charset="0"/>
              <a:ea typeface="华文楷体" panose="02010600040101010101" pitchFamily="2" charset="-122"/>
            </a:endParaRPr>
          </a:p>
        </p:txBody>
      </p:sp>
      <p:sp>
        <p:nvSpPr>
          <p:cNvPr id="73735" name="Text Box 7"/>
          <p:cNvSpPr txBox="1">
            <a:spLocks noChangeArrowheads="1"/>
          </p:cNvSpPr>
          <p:nvPr/>
        </p:nvSpPr>
        <p:spPr bwMode="auto">
          <a:xfrm>
            <a:off x="8574285" y="4005263"/>
            <a:ext cx="1131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ADP  </a:t>
            </a:r>
            <a:endParaRPr kumimoji="1" lang="en-US" altLang="zh-CN" sz="2800">
              <a:latin typeface="Arial" panose="020B0604020202020204" pitchFamily="34" charset="0"/>
              <a:ea typeface="华文楷体" panose="02010600040101010101" pitchFamily="2" charset="-122"/>
            </a:endParaRPr>
          </a:p>
        </p:txBody>
      </p:sp>
      <p:cxnSp>
        <p:nvCxnSpPr>
          <p:cNvPr id="73736" name="AutoShape 8"/>
          <p:cNvCxnSpPr>
            <a:cxnSpLocks noChangeShapeType="1"/>
          </p:cNvCxnSpPr>
          <p:nvPr/>
        </p:nvCxnSpPr>
        <p:spPr bwMode="auto">
          <a:xfrm rot="10800000" flipH="1" flipV="1">
            <a:off x="8650486" y="3001964"/>
            <a:ext cx="15875" cy="1152525"/>
          </a:xfrm>
          <a:prstGeom prst="curvedConnector3">
            <a:avLst>
              <a:gd name="adj1" fmla="val -1340005"/>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73737" name="Text Box 9"/>
          <p:cNvSpPr txBox="1">
            <a:spLocks noChangeArrowheads="1"/>
          </p:cNvSpPr>
          <p:nvPr/>
        </p:nvSpPr>
        <p:spPr bwMode="auto">
          <a:xfrm>
            <a:off x="8528248" y="3146426"/>
            <a:ext cx="28243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FF0000"/>
                </a:solidFill>
                <a:latin typeface="Arial" panose="020B0604020202020204" pitchFamily="34" charset="0"/>
                <a:ea typeface="黑体" panose="02010609060101010101" pitchFamily="2" charset="-122"/>
              </a:rPr>
              <a:t>磷酸果糖激酶-1</a:t>
            </a:r>
            <a:r>
              <a:rPr kumimoji="1" lang="zh-CN" altLang="en-US" sz="2800" b="0" dirty="0">
                <a:solidFill>
                  <a:schemeClr val="accent1"/>
                </a:solidFill>
                <a:latin typeface="Arial" panose="020B0604020202020204" pitchFamily="34" charset="0"/>
                <a:ea typeface="华文楷体" panose="02010600040101010101" pitchFamily="2" charset="-122"/>
              </a:rPr>
              <a:t>   </a:t>
            </a:r>
            <a:endParaRPr kumimoji="1" lang="zh-CN" altLang="en-US" sz="2800" b="0" dirty="0">
              <a:solidFill>
                <a:schemeClr val="accent1"/>
              </a:solidFill>
              <a:latin typeface="Arial" panose="020B0604020202020204" pitchFamily="34" charset="0"/>
              <a:ea typeface="华文楷体" panose="02010600040101010101" pitchFamily="2" charset="-122"/>
            </a:endParaRPr>
          </a:p>
        </p:txBody>
      </p:sp>
      <p:sp>
        <p:nvSpPr>
          <p:cNvPr id="73738" name="Line 10"/>
          <p:cNvSpPr>
            <a:spLocks noChangeShapeType="1"/>
          </p:cNvSpPr>
          <p:nvPr/>
        </p:nvSpPr>
        <p:spPr bwMode="auto">
          <a:xfrm flipH="1" flipV="1">
            <a:off x="4078485" y="2620963"/>
            <a:ext cx="228600" cy="304800"/>
          </a:xfrm>
          <a:prstGeom prst="line">
            <a:avLst/>
          </a:prstGeom>
          <a:noFill/>
          <a:ln w="127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3739" name="Text Box 11"/>
          <p:cNvSpPr txBox="1">
            <a:spLocks noChangeArrowheads="1"/>
          </p:cNvSpPr>
          <p:nvPr/>
        </p:nvSpPr>
        <p:spPr bwMode="auto">
          <a:xfrm>
            <a:off x="3621286" y="2176463"/>
            <a:ext cx="715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Pi  </a:t>
            </a:r>
            <a:endParaRPr kumimoji="1" lang="en-US" altLang="zh-CN" sz="2800">
              <a:latin typeface="Arial" panose="020B0604020202020204" pitchFamily="34" charset="0"/>
              <a:ea typeface="华文楷体" panose="02010600040101010101" pitchFamily="2" charset="-122"/>
            </a:endParaRPr>
          </a:p>
        </p:txBody>
      </p:sp>
      <p:sp>
        <p:nvSpPr>
          <p:cNvPr id="73740" name="Text Box 12"/>
          <p:cNvSpPr txBox="1">
            <a:spLocks noChangeArrowheads="1"/>
          </p:cNvSpPr>
          <p:nvPr/>
        </p:nvSpPr>
        <p:spPr bwMode="auto">
          <a:xfrm>
            <a:off x="1343472" y="3254376"/>
            <a:ext cx="2766764" cy="52322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dirty="0">
                <a:latin typeface="Arial" panose="020B0604020202020204" pitchFamily="34" charset="0"/>
                <a:ea typeface="黑体" panose="02010609060101010101" pitchFamily="2" charset="-122"/>
              </a:rPr>
              <a:t>果糖二磷酸酶-1 </a:t>
            </a:r>
            <a:endParaRPr kumimoji="1" lang="zh-CN" altLang="en-US" sz="2800" dirty="0">
              <a:latin typeface="Arial" panose="020B0604020202020204" pitchFamily="34" charset="0"/>
              <a:ea typeface="黑体" panose="02010609060101010101" pitchFamily="2" charset="-122"/>
            </a:endParaRPr>
          </a:p>
        </p:txBody>
      </p:sp>
      <p:sp>
        <p:nvSpPr>
          <p:cNvPr id="73742" name="Line 14"/>
          <p:cNvSpPr>
            <a:spLocks noChangeShapeType="1"/>
          </p:cNvSpPr>
          <p:nvPr/>
        </p:nvSpPr>
        <p:spPr bwMode="auto">
          <a:xfrm>
            <a:off x="6224785" y="1706563"/>
            <a:ext cx="0" cy="3810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3743" name="Line 15"/>
          <p:cNvSpPr>
            <a:spLocks noChangeShapeType="1"/>
          </p:cNvSpPr>
          <p:nvPr/>
        </p:nvSpPr>
        <p:spPr bwMode="auto">
          <a:xfrm>
            <a:off x="6224785" y="5089525"/>
            <a:ext cx="0" cy="4572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17"/>
          <p:cNvGrpSpPr/>
          <p:nvPr/>
        </p:nvGrpSpPr>
        <p:grpSpPr bwMode="auto">
          <a:xfrm>
            <a:off x="4459485" y="2782889"/>
            <a:ext cx="3733800" cy="1512887"/>
            <a:chOff x="1632" y="2022"/>
            <a:chExt cx="2352" cy="953"/>
          </a:xfrm>
        </p:grpSpPr>
        <p:sp>
          <p:nvSpPr>
            <p:cNvPr id="73748" name="Text Box 18"/>
            <p:cNvSpPr txBox="1">
              <a:spLocks noChangeArrowheads="1"/>
            </p:cNvSpPr>
            <p:nvPr/>
          </p:nvSpPr>
          <p:spPr bwMode="auto">
            <a:xfrm>
              <a:off x="1960" y="2022"/>
              <a:ext cx="159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600" dirty="0">
                  <a:solidFill>
                    <a:srgbClr val="FF0D6F"/>
                  </a:solidFill>
                  <a:latin typeface="Arial" panose="020B0604020202020204" pitchFamily="34" charset="0"/>
                  <a:ea typeface="华文楷体" panose="02010600040101010101" pitchFamily="2" charset="-122"/>
                </a:rPr>
                <a:t>果糖</a:t>
              </a:r>
              <a:r>
                <a:rPr kumimoji="1" lang="en-US" altLang="zh-CN" sz="2600" dirty="0">
                  <a:solidFill>
                    <a:srgbClr val="FF0D6F"/>
                  </a:solidFill>
                  <a:latin typeface="Arial" panose="020B0604020202020204" pitchFamily="34" charset="0"/>
                  <a:ea typeface="华文楷体" panose="02010600040101010101" pitchFamily="2" charset="-122"/>
                </a:rPr>
                <a:t>-</a:t>
              </a:r>
              <a:r>
                <a:rPr kumimoji="1" lang="zh-CN" altLang="en-US" sz="2600" dirty="0">
                  <a:solidFill>
                    <a:srgbClr val="FF0D6F"/>
                  </a:solidFill>
                  <a:latin typeface="Arial" panose="020B0604020202020204" pitchFamily="34" charset="0"/>
                  <a:ea typeface="华文楷体" panose="02010600040101010101" pitchFamily="2" charset="-122"/>
                </a:rPr>
                <a:t>2,6-二磷酸</a:t>
              </a:r>
              <a:endParaRPr kumimoji="1" lang="zh-CN" altLang="en-US" sz="2600" dirty="0">
                <a:solidFill>
                  <a:srgbClr val="FF0D6F"/>
                </a:solidFill>
                <a:latin typeface="Arial" panose="020B0604020202020204" pitchFamily="34" charset="0"/>
                <a:ea typeface="华文楷体" panose="02010600040101010101" pitchFamily="2" charset="-122"/>
              </a:endParaRPr>
            </a:p>
          </p:txBody>
        </p:sp>
        <p:sp>
          <p:nvSpPr>
            <p:cNvPr id="73749" name="Text Box 19"/>
            <p:cNvSpPr txBox="1">
              <a:spLocks noChangeArrowheads="1"/>
            </p:cNvSpPr>
            <p:nvPr/>
          </p:nvSpPr>
          <p:spPr bwMode="auto">
            <a:xfrm>
              <a:off x="2507" y="2648"/>
              <a:ext cx="8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solidFill>
                    <a:srgbClr val="FF0D6F"/>
                  </a:solidFill>
                  <a:latin typeface="Arial" panose="020B0604020202020204" pitchFamily="34" charset="0"/>
                  <a:ea typeface="华文楷体" panose="02010600040101010101" pitchFamily="2" charset="-122"/>
                </a:rPr>
                <a:t>AMP</a:t>
              </a:r>
              <a:r>
                <a:rPr kumimoji="1" lang="en-US" altLang="zh-CN" sz="2800">
                  <a:solidFill>
                    <a:srgbClr val="F67CF3"/>
                  </a:solidFill>
                  <a:latin typeface="Arial" panose="020B0604020202020204" pitchFamily="34" charset="0"/>
                  <a:ea typeface="华文楷体" panose="02010600040101010101" pitchFamily="2" charset="-122"/>
                </a:rPr>
                <a:t>   </a:t>
              </a:r>
              <a:endParaRPr kumimoji="1" lang="en-US" altLang="zh-CN" sz="2800">
                <a:solidFill>
                  <a:srgbClr val="F67CF3"/>
                </a:solidFill>
                <a:latin typeface="Arial" panose="020B0604020202020204" pitchFamily="34" charset="0"/>
                <a:ea typeface="华文楷体" panose="02010600040101010101" pitchFamily="2" charset="-122"/>
              </a:endParaRPr>
            </a:p>
          </p:txBody>
        </p:sp>
        <p:sp>
          <p:nvSpPr>
            <p:cNvPr id="73750" name="Line 20"/>
            <p:cNvSpPr>
              <a:spLocks noChangeShapeType="1"/>
            </p:cNvSpPr>
            <p:nvPr/>
          </p:nvSpPr>
          <p:spPr bwMode="auto">
            <a:xfrm flipH="1">
              <a:off x="1960" y="2304"/>
              <a:ext cx="219" cy="144"/>
            </a:xfrm>
            <a:prstGeom prst="line">
              <a:avLst/>
            </a:prstGeom>
            <a:noFill/>
            <a:ln w="3810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3751" name="Line 21"/>
            <p:cNvSpPr>
              <a:spLocks noChangeShapeType="1"/>
            </p:cNvSpPr>
            <p:nvPr/>
          </p:nvSpPr>
          <p:spPr bwMode="auto">
            <a:xfrm>
              <a:off x="3492" y="2304"/>
              <a:ext cx="273" cy="144"/>
            </a:xfrm>
            <a:prstGeom prst="line">
              <a:avLst/>
            </a:prstGeom>
            <a:noFill/>
            <a:ln w="3810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3752" name="Line 22"/>
            <p:cNvSpPr>
              <a:spLocks noChangeShapeType="1"/>
            </p:cNvSpPr>
            <p:nvPr/>
          </p:nvSpPr>
          <p:spPr bwMode="auto">
            <a:xfrm flipH="1" flipV="1">
              <a:off x="1851" y="2640"/>
              <a:ext cx="437" cy="144"/>
            </a:xfrm>
            <a:prstGeom prst="line">
              <a:avLst/>
            </a:prstGeom>
            <a:noFill/>
            <a:ln w="3810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3753" name="Line 23"/>
            <p:cNvSpPr>
              <a:spLocks noChangeShapeType="1"/>
            </p:cNvSpPr>
            <p:nvPr/>
          </p:nvSpPr>
          <p:spPr bwMode="auto">
            <a:xfrm flipV="1">
              <a:off x="3328" y="2640"/>
              <a:ext cx="437" cy="192"/>
            </a:xfrm>
            <a:prstGeom prst="line">
              <a:avLst/>
            </a:prstGeom>
            <a:noFill/>
            <a:ln w="3810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3754" name="Line 24"/>
            <p:cNvSpPr>
              <a:spLocks noChangeShapeType="1"/>
            </p:cNvSpPr>
            <p:nvPr/>
          </p:nvSpPr>
          <p:spPr bwMode="auto">
            <a:xfrm>
              <a:off x="1632" y="2496"/>
              <a:ext cx="16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73755" name="Group 25"/>
            <p:cNvGrpSpPr/>
            <p:nvPr/>
          </p:nvGrpSpPr>
          <p:grpSpPr bwMode="auto">
            <a:xfrm>
              <a:off x="3820" y="2400"/>
              <a:ext cx="164" cy="192"/>
              <a:chOff x="240" y="3792"/>
              <a:chExt cx="144" cy="192"/>
            </a:xfrm>
          </p:grpSpPr>
          <p:sp>
            <p:nvSpPr>
              <p:cNvPr id="73756" name="Line 26"/>
              <p:cNvSpPr>
                <a:spLocks noChangeShapeType="1"/>
              </p:cNvSpPr>
              <p:nvPr/>
            </p:nvSpPr>
            <p:spPr bwMode="auto">
              <a:xfrm>
                <a:off x="240" y="3888"/>
                <a:ext cx="144"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3757" name="Line 27"/>
              <p:cNvSpPr>
                <a:spLocks noChangeShapeType="1"/>
              </p:cNvSpPr>
              <p:nvPr/>
            </p:nvSpPr>
            <p:spPr bwMode="auto">
              <a:xfrm>
                <a:off x="310" y="3792"/>
                <a:ext cx="0" cy="19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73746" name="Text Box 28"/>
          <p:cNvSpPr txBox="1">
            <a:spLocks noChangeArrowheads="1"/>
          </p:cNvSpPr>
          <p:nvPr/>
        </p:nvSpPr>
        <p:spPr bwMode="auto">
          <a:xfrm>
            <a:off x="1943103" y="849344"/>
            <a:ext cx="88569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solidFill>
                  <a:srgbClr val="800000"/>
                </a:solidFill>
                <a:latin typeface="微软雅黑" panose="020B0503020204020204" pitchFamily="34" charset="-122"/>
                <a:ea typeface="微软雅黑" panose="020B0503020204020204" pitchFamily="34" charset="-122"/>
              </a:rPr>
              <a:t>1. 果糖</a:t>
            </a:r>
            <a:r>
              <a:rPr kumimoji="1" lang="en-US" altLang="zh-CN" sz="2800" dirty="0">
                <a:solidFill>
                  <a:srgbClr val="800000"/>
                </a:solidFill>
                <a:latin typeface="微软雅黑" panose="020B0503020204020204" pitchFamily="34" charset="-122"/>
                <a:ea typeface="微软雅黑" panose="020B0503020204020204" pitchFamily="34" charset="-122"/>
              </a:rPr>
              <a:t>-2</a:t>
            </a:r>
            <a:r>
              <a:rPr kumimoji="1" lang="zh-CN" altLang="en-US" sz="2800" dirty="0">
                <a:solidFill>
                  <a:srgbClr val="800000"/>
                </a:solidFill>
                <a:latin typeface="微软雅黑" panose="020B0503020204020204" pitchFamily="34" charset="-122"/>
                <a:ea typeface="微软雅黑" panose="020B0503020204020204" pitchFamily="34" charset="-122"/>
              </a:rPr>
              <a:t>，</a:t>
            </a:r>
            <a:r>
              <a:rPr kumimoji="1" lang="en-US" altLang="zh-CN" sz="2800" dirty="0">
                <a:solidFill>
                  <a:srgbClr val="800000"/>
                </a:solidFill>
                <a:latin typeface="微软雅黑" panose="020B0503020204020204" pitchFamily="34" charset="-122"/>
                <a:ea typeface="微软雅黑" panose="020B0503020204020204" pitchFamily="34" charset="-122"/>
              </a:rPr>
              <a:t>6- </a:t>
            </a:r>
            <a:r>
              <a:rPr kumimoji="1" lang="zh-CN" altLang="en-US" sz="2800" dirty="0">
                <a:solidFill>
                  <a:srgbClr val="800000"/>
                </a:solidFill>
                <a:latin typeface="微软雅黑" panose="020B0503020204020204" pitchFamily="34" charset="-122"/>
                <a:ea typeface="微软雅黑" panose="020B0503020204020204" pitchFamily="34" charset="-122"/>
              </a:rPr>
              <a:t>二磷酸和</a:t>
            </a:r>
            <a:r>
              <a:rPr kumimoji="1" lang="en-US" altLang="zh-CN" sz="2800" dirty="0">
                <a:solidFill>
                  <a:srgbClr val="800000"/>
                </a:solidFill>
                <a:latin typeface="微软雅黑" panose="020B0503020204020204" pitchFamily="34" charset="-122"/>
                <a:ea typeface="微软雅黑" panose="020B0503020204020204" pitchFamily="34" charset="-122"/>
              </a:rPr>
              <a:t>AMP </a:t>
            </a:r>
            <a:r>
              <a:rPr kumimoji="1" lang="zh-CN" altLang="en-US" sz="2800" dirty="0">
                <a:solidFill>
                  <a:srgbClr val="800000"/>
                </a:solidFill>
                <a:latin typeface="微软雅黑" panose="020B0503020204020204" pitchFamily="34" charset="-122"/>
                <a:ea typeface="微软雅黑" panose="020B0503020204020204" pitchFamily="34" charset="-122"/>
              </a:rPr>
              <a:t>反向调节的底物循环</a:t>
            </a:r>
            <a:endParaRPr kumimoji="1" lang="zh-CN" altLang="en-US" sz="2800" dirty="0">
              <a:solidFill>
                <a:srgbClr val="800000"/>
              </a:solidFill>
              <a:latin typeface="微软雅黑" panose="020B0503020204020204" pitchFamily="34" charset="-122"/>
              <a:ea typeface="微软雅黑" panose="020B0503020204020204" pitchFamily="34" charset="-122"/>
            </a:endParaRPr>
          </a:p>
        </p:txBody>
      </p:sp>
      <p:sp>
        <p:nvSpPr>
          <p:cNvPr id="73747" name="文本框 2"/>
          <p:cNvSpPr txBox="1">
            <a:spLocks noChangeArrowheads="1"/>
          </p:cNvSpPr>
          <p:nvPr/>
        </p:nvSpPr>
        <p:spPr bwMode="auto">
          <a:xfrm>
            <a:off x="2582666" y="5345113"/>
            <a:ext cx="3384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b="0" dirty="0">
                <a:solidFill>
                  <a:srgbClr val="0033CC"/>
                </a:solidFill>
                <a:latin typeface="Arial" panose="020B0604020202020204" pitchFamily="34" charset="0"/>
              </a:rPr>
              <a:t>最重要的调控</a:t>
            </a:r>
            <a:endParaRPr lang="zh-CN" altLang="en-US" sz="2800" b="0" dirty="0">
              <a:solidFill>
                <a:srgbClr val="0033CC"/>
              </a:solidFill>
              <a:latin typeface="Arial" panose="020B0604020202020204" pitchFamily="34" charset="0"/>
            </a:endParaRPr>
          </a:p>
        </p:txBody>
      </p:sp>
      <p:sp>
        <p:nvSpPr>
          <p:cNvPr id="4" name="文本框 3"/>
          <p:cNvSpPr txBox="1"/>
          <p:nvPr/>
        </p:nvSpPr>
        <p:spPr>
          <a:xfrm>
            <a:off x="2582666" y="6003926"/>
            <a:ext cx="7977830" cy="461665"/>
          </a:xfrm>
          <a:prstGeom prst="rect">
            <a:avLst/>
          </a:prstGeom>
          <a:noFill/>
        </p:spPr>
        <p:txBody>
          <a:bodyPr wrap="square">
            <a:spAutoFit/>
          </a:bodyPr>
          <a:lstStyle/>
          <a:p>
            <a:r>
              <a:rPr lang="zh-CN" altLang="en-US" sz="2400" b="0" dirty="0">
                <a:solidFill>
                  <a:srgbClr val="0000CC"/>
                </a:solidFill>
                <a:latin typeface="微软雅黑" panose="020B0503020204020204" pitchFamily="34" charset="-122"/>
                <a:ea typeface="微软雅黑" panose="020B0503020204020204" pitchFamily="34" charset="-122"/>
              </a:rPr>
              <a:t>果糖</a:t>
            </a:r>
            <a:r>
              <a:rPr lang="en-US" altLang="zh-CN" sz="2400" b="0" dirty="0">
                <a:solidFill>
                  <a:srgbClr val="0000CC"/>
                </a:solidFill>
                <a:latin typeface="微软雅黑" panose="020B0503020204020204" pitchFamily="34" charset="-122"/>
                <a:ea typeface="微软雅黑" panose="020B0503020204020204" pitchFamily="34" charset="-122"/>
              </a:rPr>
              <a:t>-2</a:t>
            </a:r>
            <a:r>
              <a:rPr lang="zh-CN" altLang="en-US" sz="2400" b="0" dirty="0">
                <a:solidFill>
                  <a:srgbClr val="0000CC"/>
                </a:solidFill>
                <a:latin typeface="微软雅黑" panose="020B0503020204020204" pitchFamily="34" charset="-122"/>
                <a:ea typeface="微软雅黑" panose="020B0503020204020204" pitchFamily="34" charset="-122"/>
              </a:rPr>
              <a:t>，</a:t>
            </a:r>
            <a:r>
              <a:rPr lang="en-US" altLang="zh-CN" sz="2400" b="0" dirty="0">
                <a:solidFill>
                  <a:srgbClr val="0000CC"/>
                </a:solidFill>
                <a:latin typeface="微软雅黑" panose="020B0503020204020204" pitchFamily="34" charset="-122"/>
                <a:ea typeface="微软雅黑" panose="020B0503020204020204" pitchFamily="34" charset="-122"/>
              </a:rPr>
              <a:t>6-</a:t>
            </a:r>
            <a:r>
              <a:rPr lang="zh-CN" altLang="en-US" sz="2400" b="0" dirty="0">
                <a:solidFill>
                  <a:srgbClr val="0000CC"/>
                </a:solidFill>
                <a:latin typeface="微软雅黑" panose="020B0503020204020204" pitchFamily="34" charset="-122"/>
                <a:ea typeface="微软雅黑" panose="020B0503020204020204" pitchFamily="34" charset="-122"/>
              </a:rPr>
              <a:t>二磷酸</a:t>
            </a:r>
            <a:r>
              <a:rPr lang="zh-CN" altLang="en-US" sz="2400" b="0" dirty="0">
                <a:latin typeface="微软雅黑" panose="020B0503020204020204" pitchFamily="34" charset="-122"/>
                <a:ea typeface="微软雅黑" panose="020B0503020204020204" pitchFamily="34" charset="-122"/>
              </a:rPr>
              <a:t>是</a:t>
            </a:r>
            <a:r>
              <a:rPr lang="zh-CN" altLang="en-US" sz="2400" b="0" dirty="0">
                <a:solidFill>
                  <a:srgbClr val="0000CC"/>
                </a:solidFill>
                <a:latin typeface="微软雅黑" panose="020B0503020204020204" pitchFamily="34" charset="-122"/>
                <a:ea typeface="微软雅黑" panose="020B0503020204020204" pitchFamily="34" charset="-122"/>
              </a:rPr>
              <a:t>肝内</a:t>
            </a:r>
            <a:r>
              <a:rPr lang="zh-CN" altLang="en-US" sz="2400" b="0" dirty="0">
                <a:latin typeface="微软雅黑" panose="020B0503020204020204" pitchFamily="34" charset="-122"/>
                <a:ea typeface="微软雅黑" panose="020B0503020204020204" pitchFamily="34" charset="-122"/>
              </a:rPr>
              <a:t>糖异生与糖酵解的主要调节信号</a:t>
            </a:r>
            <a:endParaRPr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p:cNvSpPr txBox="1">
            <a:spLocks noChangeArrowheads="1"/>
          </p:cNvSpPr>
          <p:nvPr/>
        </p:nvSpPr>
        <p:spPr bwMode="auto">
          <a:xfrm>
            <a:off x="2417764" y="542925"/>
            <a:ext cx="7134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solidFill>
                  <a:srgbClr val="800000"/>
                </a:solidFill>
              </a:rPr>
              <a:t>2.  </a:t>
            </a:r>
            <a:r>
              <a:rPr kumimoji="1" lang="zh-CN" altLang="en-US">
                <a:solidFill>
                  <a:srgbClr val="800000"/>
                </a:solidFill>
              </a:rPr>
              <a:t>磷酸烯醇式丙酮酸与丙酮酸之间</a:t>
            </a:r>
            <a:endParaRPr kumimoji="1" lang="zh-CN" altLang="en-US">
              <a:solidFill>
                <a:srgbClr val="800000"/>
              </a:solidFill>
            </a:endParaRPr>
          </a:p>
        </p:txBody>
      </p:sp>
      <p:sp>
        <p:nvSpPr>
          <p:cNvPr id="75779" name="Text Box 3"/>
          <p:cNvSpPr txBox="1">
            <a:spLocks noChangeArrowheads="1"/>
          </p:cNvSpPr>
          <p:nvPr/>
        </p:nvSpPr>
        <p:spPr bwMode="auto">
          <a:xfrm>
            <a:off x="5076825" y="1968500"/>
            <a:ext cx="129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latin typeface="Arial" panose="020B0604020202020204" pitchFamily="34" charset="0"/>
                <a:ea typeface="华文楷体" panose="02010600040101010101" pitchFamily="2" charset="-122"/>
              </a:rPr>
              <a:t>PEP       </a:t>
            </a:r>
            <a:endParaRPr kumimoji="1" lang="en-US" altLang="zh-CN">
              <a:latin typeface="Arial" panose="020B0604020202020204" pitchFamily="34" charset="0"/>
              <a:ea typeface="华文楷体" panose="02010600040101010101" pitchFamily="2" charset="-122"/>
            </a:endParaRPr>
          </a:p>
        </p:txBody>
      </p:sp>
      <p:sp>
        <p:nvSpPr>
          <p:cNvPr id="75780" name="Rectangle 4"/>
          <p:cNvSpPr>
            <a:spLocks noChangeArrowheads="1"/>
          </p:cNvSpPr>
          <p:nvPr/>
        </p:nvSpPr>
        <p:spPr bwMode="auto">
          <a:xfrm>
            <a:off x="4772026" y="4572001"/>
            <a:ext cx="1939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丙  酮  酸   </a:t>
            </a:r>
            <a:endParaRPr kumimoji="1" lang="zh-CN" altLang="en-US" sz="2800">
              <a:latin typeface="Arial" panose="020B0604020202020204" pitchFamily="34" charset="0"/>
              <a:ea typeface="华文楷体" panose="02010600040101010101" pitchFamily="2" charset="-122"/>
            </a:endParaRPr>
          </a:p>
        </p:txBody>
      </p:sp>
      <p:cxnSp>
        <p:nvCxnSpPr>
          <p:cNvPr id="75781" name="AutoShape 5"/>
          <p:cNvCxnSpPr>
            <a:cxnSpLocks noChangeShapeType="1"/>
          </p:cNvCxnSpPr>
          <p:nvPr/>
        </p:nvCxnSpPr>
        <p:spPr bwMode="auto">
          <a:xfrm>
            <a:off x="6600825" y="2349501"/>
            <a:ext cx="114300" cy="2335213"/>
          </a:xfrm>
          <a:prstGeom prst="curvedConnector3">
            <a:avLst>
              <a:gd name="adj1" fmla="val 766667"/>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75782" name="Text Box 6"/>
          <p:cNvSpPr txBox="1">
            <a:spLocks noChangeArrowheads="1"/>
          </p:cNvSpPr>
          <p:nvPr/>
        </p:nvSpPr>
        <p:spPr bwMode="auto">
          <a:xfrm>
            <a:off x="7751763" y="3860801"/>
            <a:ext cx="1047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b="0">
                <a:latin typeface="Arial" panose="020B0604020202020204" pitchFamily="34" charset="0"/>
                <a:ea typeface="华文楷体" panose="02010600040101010101" pitchFamily="2" charset="-122"/>
              </a:rPr>
              <a:t>ATP  </a:t>
            </a:r>
            <a:endParaRPr kumimoji="1" lang="en-US" altLang="zh-CN" sz="2800" b="0">
              <a:latin typeface="Arial" panose="020B0604020202020204" pitchFamily="34" charset="0"/>
              <a:ea typeface="华文楷体" panose="02010600040101010101" pitchFamily="2" charset="-122"/>
            </a:endParaRPr>
          </a:p>
        </p:txBody>
      </p:sp>
      <p:sp>
        <p:nvSpPr>
          <p:cNvPr id="75783" name="Text Box 7"/>
          <p:cNvSpPr txBox="1">
            <a:spLocks noChangeArrowheads="1"/>
          </p:cNvSpPr>
          <p:nvPr/>
        </p:nvSpPr>
        <p:spPr bwMode="auto">
          <a:xfrm>
            <a:off x="7751764" y="2636838"/>
            <a:ext cx="11318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800">
                <a:latin typeface="Arial" panose="020B0604020202020204" pitchFamily="34" charset="0"/>
                <a:ea typeface="华文楷体" panose="02010600040101010101" pitchFamily="2" charset="-122"/>
              </a:rPr>
              <a:t>ADP  </a:t>
            </a:r>
            <a:endParaRPr kumimoji="1" lang="en-US" altLang="zh-CN" sz="2800">
              <a:latin typeface="Arial" panose="020B0604020202020204" pitchFamily="34" charset="0"/>
              <a:ea typeface="华文楷体" panose="02010600040101010101" pitchFamily="2" charset="-122"/>
            </a:endParaRPr>
          </a:p>
        </p:txBody>
      </p:sp>
      <p:cxnSp>
        <p:nvCxnSpPr>
          <p:cNvPr id="75784" name="AutoShape 8"/>
          <p:cNvCxnSpPr>
            <a:cxnSpLocks noChangeShapeType="1"/>
          </p:cNvCxnSpPr>
          <p:nvPr/>
        </p:nvCxnSpPr>
        <p:spPr bwMode="auto">
          <a:xfrm rot="10800000" flipH="1" flipV="1">
            <a:off x="7743826" y="2959101"/>
            <a:ext cx="15875" cy="1152525"/>
          </a:xfrm>
          <a:prstGeom prst="curvedConnector3">
            <a:avLst>
              <a:gd name="adj1" fmla="val -1340005"/>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cxnSp>
      <p:sp>
        <p:nvSpPr>
          <p:cNvPr id="75785" name="Text Box 9"/>
          <p:cNvSpPr txBox="1">
            <a:spLocks noChangeArrowheads="1"/>
          </p:cNvSpPr>
          <p:nvPr/>
        </p:nvSpPr>
        <p:spPr bwMode="auto">
          <a:xfrm>
            <a:off x="7743825" y="3187701"/>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FF0000"/>
                </a:solidFill>
                <a:latin typeface="黑体" panose="02010609060101010101" pitchFamily="2" charset="-122"/>
                <a:ea typeface="黑体" panose="02010609060101010101" pitchFamily="2" charset="-122"/>
              </a:rPr>
              <a:t>丙酮酸激酶</a:t>
            </a:r>
            <a:r>
              <a:rPr kumimoji="1" lang="zh-CN" altLang="en-US" sz="2800" b="0">
                <a:solidFill>
                  <a:srgbClr val="CCFF33"/>
                </a:solidFill>
                <a:latin typeface="黑体" panose="02010609060101010101" pitchFamily="2" charset="-122"/>
                <a:ea typeface="黑体" panose="02010609060101010101" pitchFamily="2" charset="-122"/>
              </a:rPr>
              <a:t>    </a:t>
            </a:r>
            <a:endParaRPr kumimoji="1" lang="zh-CN" altLang="en-US" sz="2800" b="0">
              <a:solidFill>
                <a:srgbClr val="CCFF33"/>
              </a:solidFill>
              <a:latin typeface="黑体" panose="02010609060101010101" pitchFamily="2" charset="-122"/>
              <a:ea typeface="黑体" panose="02010609060101010101" pitchFamily="2" charset="-122"/>
            </a:endParaRPr>
          </a:p>
        </p:txBody>
      </p:sp>
      <p:sp>
        <p:nvSpPr>
          <p:cNvPr id="75786" name="Line 10"/>
          <p:cNvSpPr>
            <a:spLocks noChangeShapeType="1"/>
          </p:cNvSpPr>
          <p:nvPr/>
        </p:nvSpPr>
        <p:spPr bwMode="auto">
          <a:xfrm>
            <a:off x="5554663" y="1176338"/>
            <a:ext cx="0" cy="3810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5787" name="Line 11"/>
          <p:cNvSpPr>
            <a:spLocks noChangeShapeType="1"/>
          </p:cNvSpPr>
          <p:nvPr/>
        </p:nvSpPr>
        <p:spPr bwMode="auto">
          <a:xfrm>
            <a:off x="5554663" y="1608138"/>
            <a:ext cx="0" cy="3810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5788" name="Line 12"/>
          <p:cNvSpPr>
            <a:spLocks noChangeShapeType="1"/>
          </p:cNvSpPr>
          <p:nvPr/>
        </p:nvSpPr>
        <p:spPr bwMode="auto">
          <a:xfrm>
            <a:off x="5554663" y="5135563"/>
            <a:ext cx="0" cy="4572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2" name="Group 13"/>
          <p:cNvGrpSpPr/>
          <p:nvPr/>
        </p:nvGrpSpPr>
        <p:grpSpPr bwMode="auto">
          <a:xfrm>
            <a:off x="4238625" y="2816225"/>
            <a:ext cx="3079750" cy="1512888"/>
            <a:chOff x="1824" y="1878"/>
            <a:chExt cx="1940" cy="953"/>
          </a:xfrm>
        </p:grpSpPr>
        <p:sp>
          <p:nvSpPr>
            <p:cNvPr id="75803" name="Text Box 14"/>
            <p:cNvSpPr txBox="1">
              <a:spLocks noChangeArrowheads="1"/>
            </p:cNvSpPr>
            <p:nvPr/>
          </p:nvSpPr>
          <p:spPr bwMode="auto">
            <a:xfrm>
              <a:off x="1824" y="1878"/>
              <a:ext cx="14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dirty="0">
                  <a:solidFill>
                    <a:srgbClr val="FF0D6F"/>
                  </a:solidFill>
                  <a:latin typeface="Arial" panose="020B0604020202020204" pitchFamily="34" charset="0"/>
                  <a:ea typeface="华文楷体" panose="02010600040101010101" pitchFamily="2" charset="-122"/>
                </a:rPr>
                <a:t>果糖</a:t>
              </a:r>
              <a:r>
                <a:rPr kumimoji="1" lang="en-US" altLang="zh-CN" sz="2400" dirty="0">
                  <a:solidFill>
                    <a:srgbClr val="FF0D6F"/>
                  </a:solidFill>
                  <a:latin typeface="Arial" panose="020B0604020202020204" pitchFamily="34" charset="0"/>
                  <a:ea typeface="华文楷体" panose="02010600040101010101" pitchFamily="2" charset="-122"/>
                </a:rPr>
                <a:t>-1,6-</a:t>
              </a:r>
              <a:r>
                <a:rPr kumimoji="1" lang="zh-CN" altLang="en-US" sz="2400" dirty="0">
                  <a:solidFill>
                    <a:srgbClr val="FF0D6F"/>
                  </a:solidFill>
                  <a:latin typeface="Arial" panose="020B0604020202020204" pitchFamily="34" charset="0"/>
                  <a:ea typeface="华文楷体" panose="02010600040101010101" pitchFamily="2" charset="-122"/>
                </a:rPr>
                <a:t>二磷酸</a:t>
              </a:r>
              <a:endParaRPr kumimoji="1" lang="zh-CN" altLang="en-US" sz="2400" dirty="0">
                <a:solidFill>
                  <a:schemeClr val="tx2"/>
                </a:solidFill>
                <a:latin typeface="Arial" panose="020B0604020202020204" pitchFamily="34" charset="0"/>
                <a:ea typeface="华文楷体" panose="02010600040101010101" pitchFamily="2" charset="-122"/>
              </a:endParaRPr>
            </a:p>
          </p:txBody>
        </p:sp>
        <p:sp>
          <p:nvSpPr>
            <p:cNvPr id="75804" name="Text Box 15"/>
            <p:cNvSpPr txBox="1">
              <a:spLocks noChangeArrowheads="1"/>
            </p:cNvSpPr>
            <p:nvPr/>
          </p:nvSpPr>
          <p:spPr bwMode="auto">
            <a:xfrm>
              <a:off x="2496" y="2504"/>
              <a:ext cx="97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丙氨酸   </a:t>
              </a:r>
              <a:endParaRPr kumimoji="1" lang="zh-CN" altLang="en-US" sz="2800">
                <a:latin typeface="Arial" panose="020B0604020202020204" pitchFamily="34" charset="0"/>
                <a:ea typeface="华文楷体" panose="02010600040101010101" pitchFamily="2" charset="-122"/>
              </a:endParaRPr>
            </a:p>
          </p:txBody>
        </p:sp>
        <p:sp>
          <p:nvSpPr>
            <p:cNvPr id="75805" name="Line 16"/>
            <p:cNvSpPr>
              <a:spLocks noChangeShapeType="1"/>
            </p:cNvSpPr>
            <p:nvPr/>
          </p:nvSpPr>
          <p:spPr bwMode="auto">
            <a:xfrm>
              <a:off x="3312" y="2112"/>
              <a:ext cx="240" cy="48"/>
            </a:xfrm>
            <a:prstGeom prst="line">
              <a:avLst/>
            </a:prstGeom>
            <a:noFill/>
            <a:ln w="38100">
              <a:solidFill>
                <a:srgbClr val="FF0000"/>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5806" name="Line 17"/>
            <p:cNvSpPr>
              <a:spLocks noChangeShapeType="1"/>
            </p:cNvSpPr>
            <p:nvPr/>
          </p:nvSpPr>
          <p:spPr bwMode="auto">
            <a:xfrm flipV="1">
              <a:off x="3168" y="2544"/>
              <a:ext cx="336" cy="96"/>
            </a:xfrm>
            <a:prstGeom prst="line">
              <a:avLst/>
            </a:prstGeom>
            <a:noFill/>
            <a:ln w="3810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5807" name="Line 18"/>
            <p:cNvSpPr>
              <a:spLocks noChangeShapeType="1"/>
            </p:cNvSpPr>
            <p:nvPr/>
          </p:nvSpPr>
          <p:spPr bwMode="auto">
            <a:xfrm>
              <a:off x="3600" y="2544"/>
              <a:ext cx="16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75808" name="Group 19"/>
            <p:cNvGrpSpPr/>
            <p:nvPr/>
          </p:nvGrpSpPr>
          <p:grpSpPr bwMode="auto">
            <a:xfrm>
              <a:off x="3600" y="2064"/>
              <a:ext cx="164" cy="192"/>
              <a:chOff x="240" y="3792"/>
              <a:chExt cx="144" cy="192"/>
            </a:xfrm>
          </p:grpSpPr>
          <p:sp>
            <p:nvSpPr>
              <p:cNvPr id="75809" name="Line 20"/>
              <p:cNvSpPr>
                <a:spLocks noChangeShapeType="1"/>
              </p:cNvSpPr>
              <p:nvPr/>
            </p:nvSpPr>
            <p:spPr bwMode="auto">
              <a:xfrm>
                <a:off x="240" y="3888"/>
                <a:ext cx="144"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5810" name="Line 21"/>
              <p:cNvSpPr>
                <a:spLocks noChangeShapeType="1"/>
              </p:cNvSpPr>
              <p:nvPr/>
            </p:nvSpPr>
            <p:spPr bwMode="auto">
              <a:xfrm>
                <a:off x="310" y="3792"/>
                <a:ext cx="0" cy="192"/>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75790" name="Rectangle 22"/>
          <p:cNvSpPr>
            <a:spLocks noChangeArrowheads="1"/>
          </p:cNvSpPr>
          <p:nvPr/>
        </p:nvSpPr>
        <p:spPr bwMode="auto">
          <a:xfrm>
            <a:off x="4762500" y="5640388"/>
            <a:ext cx="1943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ea typeface="华文楷体" panose="02010600040101010101" pitchFamily="2" charset="-122"/>
              </a:rPr>
              <a:t>乙 酰 </a:t>
            </a:r>
            <a:r>
              <a:rPr kumimoji="1" lang="en-US" altLang="zh-CN" sz="2800">
                <a:ea typeface="华文楷体" panose="02010600040101010101" pitchFamily="2" charset="-122"/>
              </a:rPr>
              <a:t>CoA  </a:t>
            </a:r>
            <a:endParaRPr kumimoji="1" lang="en-US" altLang="zh-CN" sz="2800">
              <a:ea typeface="华文楷体" panose="02010600040101010101" pitchFamily="2" charset="-122"/>
            </a:endParaRPr>
          </a:p>
        </p:txBody>
      </p:sp>
      <p:sp>
        <p:nvSpPr>
          <p:cNvPr id="75791" name="Text Box 23"/>
          <p:cNvSpPr txBox="1">
            <a:spLocks noChangeArrowheads="1"/>
          </p:cNvSpPr>
          <p:nvPr/>
        </p:nvSpPr>
        <p:spPr bwMode="auto">
          <a:xfrm>
            <a:off x="2486026" y="3298826"/>
            <a:ext cx="1901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草酰乙酸   </a:t>
            </a:r>
            <a:endParaRPr kumimoji="1" lang="zh-CN" altLang="en-US" sz="2800">
              <a:latin typeface="Arial" panose="020B0604020202020204" pitchFamily="34" charset="0"/>
              <a:ea typeface="华文楷体" panose="02010600040101010101" pitchFamily="2" charset="-122"/>
            </a:endParaRPr>
          </a:p>
        </p:txBody>
      </p:sp>
      <p:sp>
        <p:nvSpPr>
          <p:cNvPr id="75792" name="Freeform 24"/>
          <p:cNvSpPr/>
          <p:nvPr/>
        </p:nvSpPr>
        <p:spPr bwMode="auto">
          <a:xfrm>
            <a:off x="3552825" y="2273300"/>
            <a:ext cx="1143000" cy="914400"/>
          </a:xfrm>
          <a:custGeom>
            <a:avLst/>
            <a:gdLst>
              <a:gd name="T0" fmla="*/ 0 w 576"/>
              <a:gd name="T1" fmla="*/ 2147483646 h 528"/>
              <a:gd name="T2" fmla="*/ 2147483646 w 576"/>
              <a:gd name="T3" fmla="*/ 2147483646 h 528"/>
              <a:gd name="T4" fmla="*/ 2147483646 w 576"/>
              <a:gd name="T5" fmla="*/ 0 h 528"/>
              <a:gd name="T6" fmla="*/ 0 60000 65536"/>
              <a:gd name="T7" fmla="*/ 0 60000 65536"/>
              <a:gd name="T8" fmla="*/ 0 60000 65536"/>
              <a:gd name="T9" fmla="*/ 0 w 576"/>
              <a:gd name="T10" fmla="*/ 0 h 528"/>
              <a:gd name="T11" fmla="*/ 576 w 576"/>
              <a:gd name="T12" fmla="*/ 528 h 528"/>
            </a:gdLst>
            <a:ahLst/>
            <a:cxnLst>
              <a:cxn ang="T6">
                <a:pos x="T0" y="T1"/>
              </a:cxn>
              <a:cxn ang="T7">
                <a:pos x="T2" y="T3"/>
              </a:cxn>
              <a:cxn ang="T8">
                <a:pos x="T4" y="T5"/>
              </a:cxn>
            </a:cxnLst>
            <a:rect l="T9" t="T10" r="T11" b="T12"/>
            <a:pathLst>
              <a:path w="576" h="528">
                <a:moveTo>
                  <a:pt x="0" y="528"/>
                </a:moveTo>
                <a:cubicBezTo>
                  <a:pt x="72" y="356"/>
                  <a:pt x="144" y="184"/>
                  <a:pt x="240" y="96"/>
                </a:cubicBezTo>
                <a:cubicBezTo>
                  <a:pt x="336" y="8"/>
                  <a:pt x="520" y="16"/>
                  <a:pt x="576" y="0"/>
                </a:cubicBezTo>
              </a:path>
            </a:pathLst>
          </a:custGeom>
          <a:noFill/>
          <a:ln w="38100">
            <a:solidFill>
              <a:schemeClr val="tx2"/>
            </a:solidFill>
            <a:rou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5793" name="Freeform 25"/>
          <p:cNvSpPr/>
          <p:nvPr/>
        </p:nvSpPr>
        <p:spPr bwMode="auto">
          <a:xfrm flipV="1">
            <a:off x="3552825" y="3949700"/>
            <a:ext cx="1066800" cy="914400"/>
          </a:xfrm>
          <a:custGeom>
            <a:avLst/>
            <a:gdLst>
              <a:gd name="T0" fmla="*/ 0 w 576"/>
              <a:gd name="T1" fmla="*/ 2147483646 h 528"/>
              <a:gd name="T2" fmla="*/ 2147483646 w 576"/>
              <a:gd name="T3" fmla="*/ 2147483646 h 528"/>
              <a:gd name="T4" fmla="*/ 2147483646 w 576"/>
              <a:gd name="T5" fmla="*/ 0 h 528"/>
              <a:gd name="T6" fmla="*/ 0 60000 65536"/>
              <a:gd name="T7" fmla="*/ 0 60000 65536"/>
              <a:gd name="T8" fmla="*/ 0 60000 65536"/>
              <a:gd name="T9" fmla="*/ 0 w 576"/>
              <a:gd name="T10" fmla="*/ 0 h 528"/>
              <a:gd name="T11" fmla="*/ 576 w 576"/>
              <a:gd name="T12" fmla="*/ 528 h 528"/>
            </a:gdLst>
            <a:ahLst/>
            <a:cxnLst>
              <a:cxn ang="T6">
                <a:pos x="T0" y="T1"/>
              </a:cxn>
              <a:cxn ang="T7">
                <a:pos x="T2" y="T3"/>
              </a:cxn>
              <a:cxn ang="T8">
                <a:pos x="T4" y="T5"/>
              </a:cxn>
            </a:cxnLst>
            <a:rect l="T9" t="T10" r="T11" b="T12"/>
            <a:pathLst>
              <a:path w="576" h="528">
                <a:moveTo>
                  <a:pt x="0" y="528"/>
                </a:moveTo>
                <a:cubicBezTo>
                  <a:pt x="72" y="356"/>
                  <a:pt x="144" y="184"/>
                  <a:pt x="240" y="96"/>
                </a:cubicBezTo>
                <a:cubicBezTo>
                  <a:pt x="336" y="8"/>
                  <a:pt x="520" y="16"/>
                  <a:pt x="576" y="0"/>
                </a:cubicBezTo>
              </a:path>
            </a:pathLst>
          </a:custGeom>
          <a:noFill/>
          <a:ln w="38100">
            <a:solidFill>
              <a:schemeClr val="tx2"/>
            </a:solidFill>
            <a:round/>
            <a:head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4" name="Group 26"/>
          <p:cNvGrpSpPr/>
          <p:nvPr/>
        </p:nvGrpSpPr>
        <p:grpSpPr bwMode="auto">
          <a:xfrm>
            <a:off x="3611563" y="4559301"/>
            <a:ext cx="1676400" cy="1152525"/>
            <a:chOff x="1440" y="3024"/>
            <a:chExt cx="1056" cy="726"/>
          </a:xfrm>
        </p:grpSpPr>
        <p:sp>
          <p:nvSpPr>
            <p:cNvPr id="75797" name="Freeform 27"/>
            <p:cNvSpPr/>
            <p:nvPr/>
          </p:nvSpPr>
          <p:spPr bwMode="auto">
            <a:xfrm rot="-4254960">
              <a:off x="1660" y="3178"/>
              <a:ext cx="356" cy="788"/>
            </a:xfrm>
            <a:custGeom>
              <a:avLst/>
              <a:gdLst>
                <a:gd name="T0" fmla="*/ 0 w 576"/>
                <a:gd name="T1" fmla="*/ 2147483646 h 528"/>
                <a:gd name="T2" fmla="*/ 1 w 576"/>
                <a:gd name="T3" fmla="*/ 2147483646 h 528"/>
                <a:gd name="T4" fmla="*/ 1 w 576"/>
                <a:gd name="T5" fmla="*/ 0 h 528"/>
                <a:gd name="T6" fmla="*/ 0 60000 65536"/>
                <a:gd name="T7" fmla="*/ 0 60000 65536"/>
                <a:gd name="T8" fmla="*/ 0 60000 65536"/>
                <a:gd name="T9" fmla="*/ 0 w 576"/>
                <a:gd name="T10" fmla="*/ 0 h 528"/>
                <a:gd name="T11" fmla="*/ 576 w 576"/>
                <a:gd name="T12" fmla="*/ 528 h 528"/>
              </a:gdLst>
              <a:ahLst/>
              <a:cxnLst>
                <a:cxn ang="T6">
                  <a:pos x="T0" y="T1"/>
                </a:cxn>
                <a:cxn ang="T7">
                  <a:pos x="T2" y="T3"/>
                </a:cxn>
                <a:cxn ang="T8">
                  <a:pos x="T4" y="T5"/>
                </a:cxn>
              </a:cxnLst>
              <a:rect l="T9" t="T10" r="T11" b="T12"/>
              <a:pathLst>
                <a:path w="576" h="528">
                  <a:moveTo>
                    <a:pt x="0" y="528"/>
                  </a:moveTo>
                  <a:cubicBezTo>
                    <a:pt x="72" y="356"/>
                    <a:pt x="144" y="184"/>
                    <a:pt x="240" y="96"/>
                  </a:cubicBezTo>
                  <a:cubicBezTo>
                    <a:pt x="336" y="8"/>
                    <a:pt x="520" y="16"/>
                    <a:pt x="576" y="0"/>
                  </a:cubicBezTo>
                </a:path>
              </a:pathLst>
            </a:custGeom>
            <a:noFill/>
            <a:ln w="38100">
              <a:solidFill>
                <a:srgbClr val="FF0000"/>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5798" name="Freeform 28"/>
            <p:cNvSpPr/>
            <p:nvPr/>
          </p:nvSpPr>
          <p:spPr bwMode="auto">
            <a:xfrm>
              <a:off x="1968" y="3504"/>
              <a:ext cx="288" cy="240"/>
            </a:xfrm>
            <a:custGeom>
              <a:avLst/>
              <a:gdLst>
                <a:gd name="T0" fmla="*/ 0 w 576"/>
                <a:gd name="T1" fmla="*/ 0 h 528"/>
                <a:gd name="T2" fmla="*/ 1 w 576"/>
                <a:gd name="T3" fmla="*/ 0 h 528"/>
                <a:gd name="T4" fmla="*/ 1 w 576"/>
                <a:gd name="T5" fmla="*/ 0 h 528"/>
                <a:gd name="T6" fmla="*/ 0 60000 65536"/>
                <a:gd name="T7" fmla="*/ 0 60000 65536"/>
                <a:gd name="T8" fmla="*/ 0 60000 65536"/>
                <a:gd name="T9" fmla="*/ 0 w 576"/>
                <a:gd name="T10" fmla="*/ 0 h 528"/>
                <a:gd name="T11" fmla="*/ 576 w 576"/>
                <a:gd name="T12" fmla="*/ 528 h 528"/>
              </a:gdLst>
              <a:ahLst/>
              <a:cxnLst>
                <a:cxn ang="T6">
                  <a:pos x="T0" y="T1"/>
                </a:cxn>
                <a:cxn ang="T7">
                  <a:pos x="T2" y="T3"/>
                </a:cxn>
                <a:cxn ang="T8">
                  <a:pos x="T4" y="T5"/>
                </a:cxn>
              </a:cxnLst>
              <a:rect l="T9" t="T10" r="T11" b="T12"/>
              <a:pathLst>
                <a:path w="576" h="528">
                  <a:moveTo>
                    <a:pt x="0" y="528"/>
                  </a:moveTo>
                  <a:cubicBezTo>
                    <a:pt x="72" y="356"/>
                    <a:pt x="144" y="184"/>
                    <a:pt x="240" y="96"/>
                  </a:cubicBezTo>
                  <a:cubicBezTo>
                    <a:pt x="336" y="8"/>
                    <a:pt x="520" y="16"/>
                    <a:pt x="576" y="0"/>
                  </a:cubicBezTo>
                </a:path>
              </a:pathLst>
            </a:custGeom>
            <a:noFill/>
            <a:ln w="38100">
              <a:solidFill>
                <a:schemeClr val="tx1"/>
              </a:solidFill>
              <a:prstDash val="dash"/>
              <a:rou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5799" name="Line 29"/>
            <p:cNvSpPr>
              <a:spLocks noChangeShapeType="1"/>
            </p:cNvSpPr>
            <p:nvPr/>
          </p:nvSpPr>
          <p:spPr bwMode="auto">
            <a:xfrm>
              <a:off x="2352" y="3504"/>
              <a:ext cx="144" cy="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nvGrpSpPr>
            <p:cNvPr id="75800" name="Group 30"/>
            <p:cNvGrpSpPr/>
            <p:nvPr/>
          </p:nvGrpSpPr>
          <p:grpSpPr bwMode="auto">
            <a:xfrm>
              <a:off x="1440" y="3024"/>
              <a:ext cx="144" cy="144"/>
              <a:chOff x="240" y="3792"/>
              <a:chExt cx="144" cy="192"/>
            </a:xfrm>
          </p:grpSpPr>
          <p:sp>
            <p:nvSpPr>
              <p:cNvPr id="75801" name="Line 31"/>
              <p:cNvSpPr>
                <a:spLocks noChangeShapeType="1"/>
              </p:cNvSpPr>
              <p:nvPr/>
            </p:nvSpPr>
            <p:spPr bwMode="auto">
              <a:xfrm>
                <a:off x="240" y="3888"/>
                <a:ext cx="144" cy="0"/>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75802" name="Line 32"/>
              <p:cNvSpPr>
                <a:spLocks noChangeShapeType="1"/>
              </p:cNvSpPr>
              <p:nvPr/>
            </p:nvSpPr>
            <p:spPr bwMode="auto">
              <a:xfrm>
                <a:off x="310" y="3792"/>
                <a:ext cx="0" cy="192"/>
              </a:xfrm>
              <a:prstGeom prst="line">
                <a:avLst/>
              </a:prstGeom>
              <a:noFill/>
              <a:ln w="57150">
                <a:solidFill>
                  <a:srgbClr val="FF0000"/>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75795" name="Text Box 33"/>
          <p:cNvSpPr txBox="1">
            <a:spLocks noChangeArrowheads="1"/>
          </p:cNvSpPr>
          <p:nvPr/>
        </p:nvSpPr>
        <p:spPr bwMode="auto">
          <a:xfrm>
            <a:off x="2208213" y="4211638"/>
            <a:ext cx="1274762"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a:ea typeface="黑体" panose="02010609060101010101" pitchFamily="2" charset="-122"/>
              </a:rPr>
              <a:t>丙酮酸羧化酶</a:t>
            </a:r>
            <a:endParaRPr kumimoji="1" lang="zh-CN" altLang="en-US" sz="2800" b="0">
              <a:latin typeface="Antique Olive"/>
              <a:ea typeface="黑体" panose="02010609060101010101" pitchFamily="2" charset="-122"/>
            </a:endParaRPr>
          </a:p>
        </p:txBody>
      </p:sp>
      <p:sp>
        <p:nvSpPr>
          <p:cNvPr id="75796" name="Text Box 34"/>
          <p:cNvSpPr txBox="1">
            <a:spLocks noChangeArrowheads="1"/>
          </p:cNvSpPr>
          <p:nvPr/>
        </p:nvSpPr>
        <p:spPr bwMode="auto">
          <a:xfrm>
            <a:off x="5538788" y="5033963"/>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800" b="0">
                <a:solidFill>
                  <a:srgbClr val="FF0000"/>
                </a:solidFill>
                <a:ea typeface="黑体" panose="02010609060101010101" pitchFamily="2" charset="-122"/>
              </a:rPr>
              <a:t>丙酮酸脱氢酶复合体</a:t>
            </a:r>
            <a:endParaRPr kumimoji="1" lang="zh-CN" altLang="en-US" sz="2800" b="0">
              <a:solidFill>
                <a:srgbClr val="FF0000"/>
              </a:solidFill>
              <a:latin typeface="Antique Olive"/>
              <a:ea typeface="黑体" panose="02010609060101010101" pitchFamily="2" charset="-122"/>
            </a:endParaRPr>
          </a:p>
        </p:txBody>
      </p:sp>
      <p:sp>
        <p:nvSpPr>
          <p:cNvPr id="3" name="文本框 2"/>
          <p:cNvSpPr txBox="1"/>
          <p:nvPr/>
        </p:nvSpPr>
        <p:spPr>
          <a:xfrm>
            <a:off x="2276385" y="2154191"/>
            <a:ext cx="1962240" cy="461665"/>
          </a:xfrm>
          <a:prstGeom prst="rect">
            <a:avLst/>
          </a:prstGeom>
          <a:noFill/>
        </p:spPr>
        <p:txBody>
          <a:bodyPr wrap="square" rtlCol="0">
            <a:spAutoFit/>
          </a:bodyPr>
          <a:lstStyle/>
          <a:p>
            <a:r>
              <a:rPr lang="en-US" altLang="zh-CN" sz="2400" dirty="0">
                <a:highlight>
                  <a:srgbClr val="FFFF00"/>
                </a:highlight>
              </a:rPr>
              <a:t>PEP</a:t>
            </a:r>
            <a:r>
              <a:rPr lang="zh-CN" altLang="en-US" sz="2400" dirty="0">
                <a:highlight>
                  <a:srgbClr val="FFFF00"/>
                </a:highlight>
              </a:rPr>
              <a:t>羧激酶 </a:t>
            </a:r>
            <a:endParaRPr lang="zh-CN" altLang="en-US" sz="2400" dirty="0">
              <a:highlight>
                <a:srgbClr val="FFFF00"/>
              </a:highlight>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up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281238" y="738188"/>
            <a:ext cx="7629525" cy="5381625"/>
          </a:xfrm>
          <a:prstGeom prst="rect">
            <a:avLst/>
          </a:prstGeom>
        </p:spPr>
      </p:pic>
    </p:spTree>
  </p:cSld>
  <p:clrMapOvr>
    <a:masterClrMapping/>
  </p:clrMapOvr>
  <p:transition spd="med">
    <p:zoom/>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918692" y="657225"/>
            <a:ext cx="8439472" cy="496888"/>
          </a:xfrm>
        </p:spPr>
        <p:txBody>
          <a:bodyPr/>
          <a:lstStyle/>
          <a:p>
            <a:pPr eaLnBrk="1" hangingPunct="1"/>
            <a:r>
              <a:rPr lang="zh-CN" altLang="en-US" sz="3200" dirty="0">
                <a:solidFill>
                  <a:srgbClr val="C00000"/>
                </a:solidFill>
                <a:ea typeface="楷体_GB2312" pitchFamily="49" charset="-122"/>
              </a:rPr>
              <a:t>三、糖异生的主要生理意义是维持血糖恒定</a:t>
            </a:r>
            <a:endParaRPr lang="zh-CN" altLang="en-US" sz="3200" dirty="0">
              <a:solidFill>
                <a:srgbClr val="C00000"/>
              </a:solidFill>
              <a:ea typeface="楷体_GB2312" pitchFamily="49" charset="-122"/>
            </a:endParaRPr>
          </a:p>
        </p:txBody>
      </p:sp>
      <p:sp>
        <p:nvSpPr>
          <p:cNvPr id="77827" name="Rectangle 3"/>
          <p:cNvSpPr>
            <a:spLocks noGrp="1" noChangeArrowheads="1"/>
          </p:cNvSpPr>
          <p:nvPr>
            <p:ph type="body" idx="1"/>
          </p:nvPr>
        </p:nvSpPr>
        <p:spPr>
          <a:xfrm>
            <a:off x="1415480" y="1615083"/>
            <a:ext cx="9505056" cy="4572000"/>
          </a:xfrm>
        </p:spPr>
        <p:txBody>
          <a:bodyPr/>
          <a:lstStyle/>
          <a:p>
            <a:pPr marL="0" indent="0" eaLnBrk="1" hangingPunct="1">
              <a:lnSpc>
                <a:spcPct val="140000"/>
              </a:lnSpc>
              <a:buClr>
                <a:srgbClr val="FF0000"/>
              </a:buClr>
              <a:buNone/>
            </a:pPr>
            <a:r>
              <a:rPr lang="zh-CN" altLang="en-US" sz="2600" b="0" dirty="0">
                <a:solidFill>
                  <a:srgbClr val="0000CC"/>
                </a:solidFill>
                <a:latin typeface="楷体_GB2312" pitchFamily="49" charset="-122"/>
              </a:rPr>
              <a:t>（一） 饥饿或剧烈运动时肝糖异生补给血糖</a:t>
            </a:r>
            <a:endParaRPr lang="zh-CN" altLang="en-US" sz="2600" b="0" dirty="0">
              <a:solidFill>
                <a:srgbClr val="0000CC"/>
              </a:solidFill>
              <a:latin typeface="楷体_GB2312" pitchFamily="49" charset="-122"/>
            </a:endParaRPr>
          </a:p>
          <a:p>
            <a:pPr marL="857250" lvl="1" indent="-457200" eaLnBrk="1" hangingPunct="1">
              <a:lnSpc>
                <a:spcPct val="120000"/>
              </a:lnSpc>
              <a:buClr>
                <a:srgbClr val="FF0000"/>
              </a:buClr>
              <a:buFont typeface="+mj-lt"/>
              <a:buAutoNum type="arabicPeriod"/>
            </a:pPr>
            <a:r>
              <a:rPr lang="zh-CN" altLang="en-US" sz="2200" b="0" dirty="0">
                <a:solidFill>
                  <a:schemeClr val="tx1">
                    <a:lumMod val="95000"/>
                    <a:lumOff val="5000"/>
                  </a:schemeClr>
                </a:solidFill>
                <a:latin typeface="楷体_GB2312" pitchFamily="49" charset="-122"/>
              </a:rPr>
              <a:t>糖异生主要在肝糖原耗竭后补给血糖 </a:t>
            </a:r>
            <a:endParaRPr lang="en-US" altLang="zh-CN" sz="2200" b="0" dirty="0">
              <a:solidFill>
                <a:schemeClr val="tx1">
                  <a:lumMod val="95000"/>
                  <a:lumOff val="5000"/>
                </a:schemeClr>
              </a:solidFill>
              <a:latin typeface="楷体_GB2312" pitchFamily="49" charset="-122"/>
            </a:endParaRPr>
          </a:p>
          <a:p>
            <a:pPr marL="857250" lvl="1" indent="-457200" eaLnBrk="1" hangingPunct="1">
              <a:lnSpc>
                <a:spcPct val="120000"/>
              </a:lnSpc>
              <a:buClr>
                <a:srgbClr val="FF0000"/>
              </a:buClr>
              <a:buFont typeface="+mj-lt"/>
              <a:buAutoNum type="arabicPeriod"/>
            </a:pPr>
            <a:r>
              <a:rPr lang="zh-CN" altLang="en-US" sz="2200" b="0" dirty="0">
                <a:solidFill>
                  <a:srgbClr val="0000CC"/>
                </a:solidFill>
                <a:latin typeface="楷体_GB2312" pitchFamily="49" charset="-122"/>
              </a:rPr>
              <a:t>饥饿</a:t>
            </a:r>
            <a:r>
              <a:rPr lang="zh-CN" altLang="en-US" sz="2200" b="0" dirty="0">
                <a:solidFill>
                  <a:schemeClr val="tx1">
                    <a:lumMod val="95000"/>
                    <a:lumOff val="5000"/>
                  </a:schemeClr>
                </a:solidFill>
                <a:latin typeface="楷体_GB2312" pitchFamily="49" charset="-122"/>
              </a:rPr>
              <a:t>时糖异生的主要原料是</a:t>
            </a:r>
            <a:r>
              <a:rPr lang="zh-CN" altLang="en-US" sz="2200" b="0" dirty="0">
                <a:solidFill>
                  <a:srgbClr val="0000CC"/>
                </a:solidFill>
                <a:latin typeface="楷体_GB2312" pitchFamily="49" charset="-122"/>
              </a:rPr>
              <a:t>生糖氨基酸</a:t>
            </a:r>
            <a:r>
              <a:rPr lang="zh-CN" altLang="en-US" sz="2200" b="0" dirty="0">
                <a:solidFill>
                  <a:schemeClr val="tx1">
                    <a:lumMod val="95000"/>
                    <a:lumOff val="5000"/>
                  </a:schemeClr>
                </a:solidFill>
                <a:latin typeface="楷体_GB2312" pitchFamily="49" charset="-122"/>
              </a:rPr>
              <a:t>和</a:t>
            </a:r>
            <a:r>
              <a:rPr lang="zh-CN" altLang="en-US" sz="2200" b="0" dirty="0">
                <a:solidFill>
                  <a:srgbClr val="0000CC"/>
                </a:solidFill>
                <a:latin typeface="楷体_GB2312" pitchFamily="49" charset="-122"/>
              </a:rPr>
              <a:t>甘油</a:t>
            </a:r>
            <a:endParaRPr lang="en-US" altLang="zh-CN" sz="2200" b="0" dirty="0">
              <a:solidFill>
                <a:srgbClr val="0000CC"/>
              </a:solidFill>
              <a:latin typeface="楷体_GB2312" pitchFamily="49" charset="-122"/>
            </a:endParaRPr>
          </a:p>
          <a:p>
            <a:pPr marL="857250" lvl="1" indent="-457200" eaLnBrk="1" hangingPunct="1">
              <a:lnSpc>
                <a:spcPct val="120000"/>
              </a:lnSpc>
              <a:spcBef>
                <a:spcPts val="600"/>
              </a:spcBef>
              <a:buClr>
                <a:srgbClr val="FF0000"/>
              </a:buClr>
              <a:buFont typeface="+mj-lt"/>
              <a:buAutoNum type="arabicPeriod"/>
            </a:pPr>
            <a:r>
              <a:rPr lang="zh-CN" altLang="en-US" sz="2200" b="0" dirty="0">
                <a:solidFill>
                  <a:srgbClr val="0000CC"/>
                </a:solidFill>
                <a:latin typeface="楷体_GB2312" pitchFamily="49" charset="-122"/>
              </a:rPr>
              <a:t>剧烈运动时</a:t>
            </a:r>
            <a:r>
              <a:rPr lang="zh-CN" altLang="en-US" sz="2200" b="0" dirty="0">
                <a:solidFill>
                  <a:schemeClr val="tx1">
                    <a:lumMod val="95000"/>
                    <a:lumOff val="5000"/>
                  </a:schemeClr>
                </a:solidFill>
                <a:latin typeface="楷体_GB2312" pitchFamily="49" charset="-122"/>
              </a:rPr>
              <a:t>糖异生的主要原料是</a:t>
            </a:r>
            <a:r>
              <a:rPr lang="zh-CN" altLang="en-US" sz="2200" b="0" dirty="0">
                <a:solidFill>
                  <a:srgbClr val="0000CC"/>
                </a:solidFill>
                <a:latin typeface="楷体_GB2312" pitchFamily="49" charset="-122"/>
              </a:rPr>
              <a:t>乳酸</a:t>
            </a:r>
            <a:endParaRPr lang="en-US" altLang="zh-CN" sz="2200" b="0" dirty="0">
              <a:solidFill>
                <a:srgbClr val="0000CC"/>
              </a:solidFill>
              <a:latin typeface="楷体_GB2312" pitchFamily="49" charset="-122"/>
            </a:endParaRPr>
          </a:p>
          <a:p>
            <a:pPr marL="0" indent="0" eaLnBrk="1" hangingPunct="1">
              <a:lnSpc>
                <a:spcPct val="140000"/>
              </a:lnSpc>
              <a:spcBef>
                <a:spcPts val="600"/>
              </a:spcBef>
              <a:buClr>
                <a:srgbClr val="FF0000"/>
              </a:buClr>
              <a:buNone/>
            </a:pPr>
            <a:r>
              <a:rPr lang="zh-CN" altLang="en-US" sz="2600" b="0" dirty="0">
                <a:solidFill>
                  <a:srgbClr val="0000CC"/>
                </a:solidFill>
                <a:latin typeface="楷体_GB2312" pitchFamily="49" charset="-122"/>
              </a:rPr>
              <a:t>（二） 饥饿后进食经肝糖异生补充或恢复肝糖原储备</a:t>
            </a:r>
            <a:endParaRPr lang="en-US" altLang="zh-CN" sz="2600" b="0" dirty="0">
              <a:solidFill>
                <a:srgbClr val="0000CC"/>
              </a:solidFill>
              <a:latin typeface="楷体_GB2312" pitchFamily="49" charset="-122"/>
            </a:endParaRPr>
          </a:p>
          <a:p>
            <a:pPr marL="431800" indent="0" eaLnBrk="1" hangingPunct="1">
              <a:lnSpc>
                <a:spcPct val="120000"/>
              </a:lnSpc>
              <a:spcBef>
                <a:spcPts val="0"/>
              </a:spcBef>
              <a:buClr>
                <a:srgbClr val="FF0000"/>
              </a:buClr>
              <a:buNone/>
            </a:pPr>
            <a:r>
              <a:rPr lang="zh-CN" altLang="en-US" sz="2200" b="0" dirty="0">
                <a:solidFill>
                  <a:schemeClr val="tx1">
                    <a:lumMod val="95000"/>
                    <a:lumOff val="5000"/>
                  </a:schemeClr>
                </a:solidFill>
              </a:rPr>
              <a:t>机体摄入的葡萄糖（在</a:t>
            </a:r>
            <a:r>
              <a:rPr lang="zh-CN" altLang="en-US" sz="2200" b="0" dirty="0">
                <a:solidFill>
                  <a:srgbClr val="0000CC"/>
                </a:solidFill>
              </a:rPr>
              <a:t>肝外组织</a:t>
            </a:r>
            <a:r>
              <a:rPr lang="zh-CN" altLang="en-US" sz="2200" b="0" dirty="0">
                <a:solidFill>
                  <a:schemeClr val="tx1">
                    <a:lumMod val="95000"/>
                    <a:lumOff val="5000"/>
                  </a:schemeClr>
                </a:solidFill>
              </a:rPr>
              <a:t>）先分解为丙酮酸、乳酸等三碳化合物后再输入肝脏异生成糖原的途径称为</a:t>
            </a:r>
            <a:r>
              <a:rPr lang="zh-CN" altLang="en-US" sz="2200" dirty="0">
                <a:solidFill>
                  <a:srgbClr val="0000CC"/>
                </a:solidFill>
              </a:rPr>
              <a:t>三碳途径</a:t>
            </a:r>
            <a:r>
              <a:rPr lang="zh-CN" altLang="en-US" sz="2200" b="0" dirty="0">
                <a:solidFill>
                  <a:schemeClr val="tx1">
                    <a:lumMod val="95000"/>
                    <a:lumOff val="5000"/>
                  </a:schemeClr>
                </a:solidFill>
              </a:rPr>
              <a:t>，也称之为</a:t>
            </a:r>
            <a:r>
              <a:rPr lang="zh-CN" altLang="en-US" sz="2200" b="0" dirty="0">
                <a:solidFill>
                  <a:srgbClr val="0000CC"/>
                </a:solidFill>
              </a:rPr>
              <a:t>间接途径 </a:t>
            </a:r>
            <a:r>
              <a:rPr lang="zh-CN" altLang="en-US" sz="2200" b="0" dirty="0">
                <a:solidFill>
                  <a:schemeClr val="tx1">
                    <a:lumMod val="95000"/>
                    <a:lumOff val="5000"/>
                  </a:schemeClr>
                </a:solidFill>
              </a:rPr>
              <a:t>，是肝细胞合成肝糖原的重要途径。 </a:t>
            </a:r>
            <a:endParaRPr lang="en-US" altLang="zh-CN" sz="2200" b="0" dirty="0">
              <a:solidFill>
                <a:schemeClr val="tx1">
                  <a:lumMod val="95000"/>
                  <a:lumOff val="5000"/>
                </a:schemeClr>
              </a:solidFill>
            </a:endParaRPr>
          </a:p>
          <a:p>
            <a:pPr marL="0" indent="0" eaLnBrk="1" hangingPunct="1">
              <a:lnSpc>
                <a:spcPct val="140000"/>
              </a:lnSpc>
              <a:buClr>
                <a:srgbClr val="FF0000"/>
              </a:buClr>
              <a:buNone/>
            </a:pPr>
            <a:r>
              <a:rPr lang="zh-CN" altLang="en-US" sz="2600" b="0" dirty="0">
                <a:solidFill>
                  <a:srgbClr val="0000CC"/>
                </a:solidFill>
                <a:latin typeface="楷体_GB2312" pitchFamily="49" charset="-122"/>
              </a:rPr>
              <a:t>（三） 长期饥饿时肾糖异生增强有利于维持酸碱平衡</a:t>
            </a:r>
            <a:endParaRPr lang="zh-CN" altLang="en-US" sz="2600" b="0" dirty="0">
              <a:solidFill>
                <a:srgbClr val="0000CC"/>
              </a:solidFill>
              <a:latin typeface="楷体_GB2312" pitchFamily="49"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782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782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2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782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7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024064" y="1397000"/>
            <a:ext cx="7761287" cy="946150"/>
            <a:chOff x="113" y="639"/>
            <a:chExt cx="4889" cy="596"/>
          </a:xfrm>
        </p:grpSpPr>
        <p:sp>
          <p:nvSpPr>
            <p:cNvPr id="79896" name="Text Box 3"/>
            <p:cNvSpPr txBox="1">
              <a:spLocks noChangeArrowheads="1"/>
            </p:cNvSpPr>
            <p:nvPr/>
          </p:nvSpPr>
          <p:spPr bwMode="auto">
            <a:xfrm>
              <a:off x="113" y="754"/>
              <a:ext cx="7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t>饥饿</a:t>
              </a:r>
              <a:endParaRPr kumimoji="1" lang="zh-CN" altLang="en-US" sz="2800" b="0"/>
            </a:p>
          </p:txBody>
        </p:sp>
        <p:sp>
          <p:nvSpPr>
            <p:cNvPr id="79897" name="Line 4"/>
            <p:cNvSpPr>
              <a:spLocks noChangeShapeType="1"/>
            </p:cNvSpPr>
            <p:nvPr/>
          </p:nvSpPr>
          <p:spPr bwMode="auto">
            <a:xfrm>
              <a:off x="794" y="935"/>
              <a:ext cx="453"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98" name="Text Box 5"/>
            <p:cNvSpPr txBox="1">
              <a:spLocks noChangeArrowheads="1"/>
            </p:cNvSpPr>
            <p:nvPr/>
          </p:nvSpPr>
          <p:spPr bwMode="auto">
            <a:xfrm>
              <a:off x="1119" y="639"/>
              <a:ext cx="95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t>代谢性酸中毒</a:t>
              </a:r>
              <a:endParaRPr kumimoji="1" lang="zh-CN" altLang="en-US" sz="2800" b="0"/>
            </a:p>
          </p:txBody>
        </p:sp>
        <p:sp>
          <p:nvSpPr>
            <p:cNvPr id="79899" name="Line 6"/>
            <p:cNvSpPr>
              <a:spLocks noChangeShapeType="1"/>
            </p:cNvSpPr>
            <p:nvPr/>
          </p:nvSpPr>
          <p:spPr bwMode="auto">
            <a:xfrm>
              <a:off x="1973" y="949"/>
              <a:ext cx="453"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900" name="Text Box 7"/>
            <p:cNvSpPr txBox="1">
              <a:spLocks noChangeArrowheads="1"/>
            </p:cNvSpPr>
            <p:nvPr/>
          </p:nvSpPr>
          <p:spPr bwMode="auto">
            <a:xfrm>
              <a:off x="2221" y="796"/>
              <a:ext cx="12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t>〔H</a:t>
              </a:r>
              <a:r>
                <a:rPr kumimoji="1" lang="en-US" altLang="zh-CN" sz="2800" b="0" baseline="30000"/>
                <a:t>+</a:t>
              </a:r>
              <a:r>
                <a:rPr kumimoji="1" lang="en-US" altLang="zh-CN" sz="2800" b="0"/>
                <a:t>〕↑</a:t>
              </a:r>
              <a:endParaRPr kumimoji="1" lang="en-US" altLang="zh-CN" sz="2800" b="0"/>
            </a:p>
          </p:txBody>
        </p:sp>
        <p:sp>
          <p:nvSpPr>
            <p:cNvPr id="79901" name="Text Box 8"/>
            <p:cNvSpPr txBox="1">
              <a:spLocks noChangeArrowheads="1"/>
            </p:cNvSpPr>
            <p:nvPr/>
          </p:nvSpPr>
          <p:spPr bwMode="auto">
            <a:xfrm>
              <a:off x="3687" y="792"/>
              <a:ext cx="131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t>肾糖异生↑</a:t>
              </a:r>
              <a:endParaRPr kumimoji="1" lang="zh-CN" altLang="en-US" sz="2800" b="0"/>
            </a:p>
          </p:txBody>
        </p:sp>
        <p:sp>
          <p:nvSpPr>
            <p:cNvPr id="79902" name="Line 9"/>
            <p:cNvSpPr>
              <a:spLocks noChangeShapeType="1"/>
            </p:cNvSpPr>
            <p:nvPr/>
          </p:nvSpPr>
          <p:spPr bwMode="auto">
            <a:xfrm>
              <a:off x="3243" y="949"/>
              <a:ext cx="453"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10"/>
          <p:cNvGrpSpPr/>
          <p:nvPr/>
        </p:nvGrpSpPr>
        <p:grpSpPr bwMode="auto">
          <a:xfrm>
            <a:off x="7607300" y="2155825"/>
            <a:ext cx="2376488" cy="1277938"/>
            <a:chOff x="3630" y="1117"/>
            <a:chExt cx="1497" cy="805"/>
          </a:xfrm>
        </p:grpSpPr>
        <p:sp>
          <p:nvSpPr>
            <p:cNvPr id="79894" name="Line 11"/>
            <p:cNvSpPr>
              <a:spLocks noChangeShapeType="1"/>
            </p:cNvSpPr>
            <p:nvPr/>
          </p:nvSpPr>
          <p:spPr bwMode="auto">
            <a:xfrm>
              <a:off x="4241" y="1117"/>
              <a:ext cx="0" cy="453"/>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95" name="Text Box 12"/>
            <p:cNvSpPr txBox="1">
              <a:spLocks noChangeArrowheads="1"/>
            </p:cNvSpPr>
            <p:nvPr/>
          </p:nvSpPr>
          <p:spPr bwMode="auto">
            <a:xfrm>
              <a:off x="3630" y="1595"/>
              <a:ext cx="149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Symbol" panose="05050102010706020507" pitchFamily="18" charset="2"/>
                </a:rPr>
                <a:t>a</a:t>
              </a:r>
              <a:r>
                <a:rPr kumimoji="1" lang="en-US" altLang="zh-CN" sz="2800" b="0"/>
                <a:t>-</a:t>
              </a:r>
              <a:r>
                <a:rPr kumimoji="1" lang="zh-CN" altLang="en-US" sz="2800" b="0"/>
                <a:t>酮戊二酸↓</a:t>
              </a:r>
              <a:endParaRPr kumimoji="1" lang="zh-CN" altLang="en-US" sz="2800" b="0"/>
            </a:p>
          </p:txBody>
        </p:sp>
      </p:grpSp>
      <p:sp>
        <p:nvSpPr>
          <p:cNvPr id="44047" name="Text Box 14"/>
          <p:cNvSpPr txBox="1">
            <a:spLocks noChangeArrowheads="1"/>
          </p:cNvSpPr>
          <p:nvPr/>
        </p:nvSpPr>
        <p:spPr bwMode="auto">
          <a:xfrm>
            <a:off x="2168526" y="2914651"/>
            <a:ext cx="1871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t>谷氨酰胺</a:t>
            </a:r>
            <a:endParaRPr kumimoji="1" lang="zh-CN" altLang="en-US" sz="2800" b="0"/>
          </a:p>
        </p:txBody>
      </p:sp>
      <p:sp>
        <p:nvSpPr>
          <p:cNvPr id="44048" name="Text Box 15"/>
          <p:cNvSpPr txBox="1">
            <a:spLocks noChangeArrowheads="1"/>
          </p:cNvSpPr>
          <p:nvPr/>
        </p:nvSpPr>
        <p:spPr bwMode="auto">
          <a:xfrm>
            <a:off x="4832351" y="2914651"/>
            <a:ext cx="18716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t>谷氨酸</a:t>
            </a:r>
            <a:endParaRPr kumimoji="1" lang="zh-CN" altLang="en-US" sz="2800" b="0"/>
          </a:p>
        </p:txBody>
      </p:sp>
      <p:sp>
        <p:nvSpPr>
          <p:cNvPr id="44049" name="Line 16"/>
          <p:cNvSpPr>
            <a:spLocks noChangeShapeType="1"/>
          </p:cNvSpPr>
          <p:nvPr/>
        </p:nvSpPr>
        <p:spPr bwMode="auto">
          <a:xfrm>
            <a:off x="3895725" y="3201988"/>
            <a:ext cx="1225550"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0" name="Line 17"/>
          <p:cNvSpPr>
            <a:spLocks noChangeShapeType="1"/>
          </p:cNvSpPr>
          <p:nvPr/>
        </p:nvSpPr>
        <p:spPr bwMode="auto">
          <a:xfrm>
            <a:off x="4400550" y="3201989"/>
            <a:ext cx="287338" cy="288925"/>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1" name="Text Box 18"/>
          <p:cNvSpPr txBox="1">
            <a:spLocks noChangeArrowheads="1"/>
          </p:cNvSpPr>
          <p:nvPr/>
        </p:nvSpPr>
        <p:spPr bwMode="auto">
          <a:xfrm>
            <a:off x="4084639" y="3440113"/>
            <a:ext cx="12969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t>NH</a:t>
            </a:r>
            <a:r>
              <a:rPr kumimoji="1" lang="en-US" altLang="zh-CN" sz="2800" b="0" baseline="-25000"/>
              <a:t>3</a:t>
            </a:r>
            <a:endParaRPr kumimoji="1" lang="en-US" altLang="zh-CN" sz="2800" b="0" baseline="-25000"/>
          </a:p>
        </p:txBody>
      </p:sp>
      <p:sp>
        <p:nvSpPr>
          <p:cNvPr id="44052" name="Line 19"/>
          <p:cNvSpPr>
            <a:spLocks noChangeShapeType="1"/>
          </p:cNvSpPr>
          <p:nvPr/>
        </p:nvSpPr>
        <p:spPr bwMode="auto">
          <a:xfrm>
            <a:off x="6388100" y="3197225"/>
            <a:ext cx="1225550"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3" name="Line 20"/>
          <p:cNvSpPr>
            <a:spLocks noChangeShapeType="1"/>
          </p:cNvSpPr>
          <p:nvPr/>
        </p:nvSpPr>
        <p:spPr bwMode="auto">
          <a:xfrm>
            <a:off x="6892925" y="3197226"/>
            <a:ext cx="287338" cy="288925"/>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54" name="Text Box 21"/>
          <p:cNvSpPr txBox="1">
            <a:spLocks noChangeArrowheads="1"/>
          </p:cNvSpPr>
          <p:nvPr/>
        </p:nvSpPr>
        <p:spPr bwMode="auto">
          <a:xfrm>
            <a:off x="6577014" y="3435351"/>
            <a:ext cx="1296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t>NH</a:t>
            </a:r>
            <a:r>
              <a:rPr kumimoji="1" lang="en-US" altLang="zh-CN" sz="2800" b="0" baseline="-25000"/>
              <a:t>3</a:t>
            </a:r>
            <a:endParaRPr kumimoji="1" lang="en-US" altLang="zh-CN" sz="2800" b="0" baseline="-25000"/>
          </a:p>
        </p:txBody>
      </p:sp>
      <p:grpSp>
        <p:nvGrpSpPr>
          <p:cNvPr id="4" name="Group 22"/>
          <p:cNvGrpSpPr/>
          <p:nvPr/>
        </p:nvGrpSpPr>
        <p:grpSpPr bwMode="auto">
          <a:xfrm>
            <a:off x="5081588" y="3883025"/>
            <a:ext cx="1966912" cy="1976438"/>
            <a:chOff x="2039" y="2205"/>
            <a:chExt cx="1239" cy="1245"/>
          </a:xfrm>
        </p:grpSpPr>
        <p:sp>
          <p:nvSpPr>
            <p:cNvPr id="79889" name="Text Box 23"/>
            <p:cNvSpPr txBox="1">
              <a:spLocks noChangeArrowheads="1"/>
            </p:cNvSpPr>
            <p:nvPr/>
          </p:nvSpPr>
          <p:spPr bwMode="auto">
            <a:xfrm>
              <a:off x="2039" y="2422"/>
              <a:ext cx="12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t>〔H</a:t>
              </a:r>
              <a:r>
                <a:rPr kumimoji="1" lang="en-US" altLang="zh-CN" sz="2800" b="0" baseline="30000"/>
                <a:t>+</a:t>
              </a:r>
              <a:r>
                <a:rPr kumimoji="1" lang="en-US" altLang="zh-CN" sz="2800" b="0"/>
                <a:t>〕</a:t>
              </a:r>
              <a:endParaRPr kumimoji="1" lang="en-US" altLang="zh-CN" sz="2800" b="0"/>
            </a:p>
          </p:txBody>
        </p:sp>
        <p:sp>
          <p:nvSpPr>
            <p:cNvPr id="79890" name="Line 24"/>
            <p:cNvSpPr>
              <a:spLocks noChangeShapeType="1"/>
            </p:cNvSpPr>
            <p:nvPr/>
          </p:nvSpPr>
          <p:spPr bwMode="auto">
            <a:xfrm>
              <a:off x="2064" y="2205"/>
              <a:ext cx="498" cy="227"/>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91" name="Line 25"/>
            <p:cNvSpPr>
              <a:spLocks noChangeShapeType="1"/>
            </p:cNvSpPr>
            <p:nvPr/>
          </p:nvSpPr>
          <p:spPr bwMode="auto">
            <a:xfrm flipH="1">
              <a:off x="2699" y="2205"/>
              <a:ext cx="453" cy="227"/>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92" name="Line 26"/>
            <p:cNvSpPr>
              <a:spLocks noChangeShapeType="1"/>
            </p:cNvSpPr>
            <p:nvPr/>
          </p:nvSpPr>
          <p:spPr bwMode="auto">
            <a:xfrm>
              <a:off x="2653" y="2732"/>
              <a:ext cx="0" cy="409"/>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93" name="Text Box 27"/>
            <p:cNvSpPr txBox="1">
              <a:spLocks noChangeArrowheads="1"/>
            </p:cNvSpPr>
            <p:nvPr/>
          </p:nvSpPr>
          <p:spPr bwMode="auto">
            <a:xfrm>
              <a:off x="2053" y="3123"/>
              <a:ext cx="12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t>〔NH</a:t>
              </a:r>
              <a:r>
                <a:rPr kumimoji="1" lang="en-US" altLang="zh-CN" sz="2800" b="0" baseline="-25000"/>
                <a:t>4</a:t>
              </a:r>
              <a:r>
                <a:rPr kumimoji="1" lang="en-US" altLang="zh-CN" sz="2800" b="0" baseline="30000"/>
                <a:t>+</a:t>
              </a:r>
              <a:r>
                <a:rPr kumimoji="1" lang="en-US" altLang="zh-CN" sz="2800" b="0"/>
                <a:t>〕</a:t>
              </a:r>
              <a:endParaRPr kumimoji="1" lang="en-US" altLang="zh-CN" sz="2800" b="0"/>
            </a:p>
          </p:txBody>
        </p:sp>
      </p:grpSp>
      <p:grpSp>
        <p:nvGrpSpPr>
          <p:cNvPr id="5" name="Group 28"/>
          <p:cNvGrpSpPr/>
          <p:nvPr/>
        </p:nvGrpSpPr>
        <p:grpSpPr bwMode="auto">
          <a:xfrm>
            <a:off x="6848475" y="5357813"/>
            <a:ext cx="2763838" cy="519112"/>
            <a:chOff x="3152" y="3134"/>
            <a:chExt cx="1741" cy="327"/>
          </a:xfrm>
        </p:grpSpPr>
        <p:sp>
          <p:nvSpPr>
            <p:cNvPr id="79887" name="Line 29"/>
            <p:cNvSpPr>
              <a:spLocks noChangeShapeType="1"/>
            </p:cNvSpPr>
            <p:nvPr/>
          </p:nvSpPr>
          <p:spPr bwMode="auto">
            <a:xfrm>
              <a:off x="3152" y="3294"/>
              <a:ext cx="681" cy="0"/>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9888" name="Text Box 30"/>
            <p:cNvSpPr txBox="1">
              <a:spLocks noChangeArrowheads="1"/>
            </p:cNvSpPr>
            <p:nvPr/>
          </p:nvSpPr>
          <p:spPr bwMode="auto">
            <a:xfrm>
              <a:off x="3668" y="3134"/>
              <a:ext cx="122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t>〔H</a:t>
              </a:r>
              <a:r>
                <a:rPr kumimoji="1" lang="en-US" altLang="zh-CN" sz="2800" b="0" baseline="30000"/>
                <a:t>+</a:t>
              </a:r>
              <a:r>
                <a:rPr kumimoji="1" lang="en-US" altLang="zh-CN" sz="2800" b="0"/>
                <a:t>〕↓</a:t>
              </a:r>
              <a:endParaRPr kumimoji="1" lang="en-US" altLang="zh-CN" sz="2800" b="0"/>
            </a:p>
          </p:txBody>
        </p:sp>
      </p:grpSp>
      <p:sp>
        <p:nvSpPr>
          <p:cNvPr id="79886" name="Text Box 31"/>
          <p:cNvSpPr txBox="1">
            <a:spLocks noChangeArrowheads="1"/>
          </p:cNvSpPr>
          <p:nvPr/>
        </p:nvSpPr>
        <p:spPr bwMode="auto">
          <a:xfrm>
            <a:off x="1825625" y="492125"/>
            <a:ext cx="6192838" cy="579438"/>
          </a:xfrm>
          <a:prstGeom prst="rect">
            <a:avLst/>
          </a:prstGeom>
          <a:solidFill>
            <a:srgbClr val="FFFF99"/>
          </a:solid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dirty="0">
                <a:solidFill>
                  <a:srgbClr val="0000CC"/>
                </a:solidFill>
                <a:ea typeface="黑体" panose="02010609060101010101" pitchFamily="2" charset="-122"/>
              </a:rPr>
              <a:t>肾糖异生增强时的排酸保碱作用</a:t>
            </a:r>
            <a:endParaRPr kumimoji="1" lang="zh-CN" altLang="en-US" dirty="0">
              <a:solidFill>
                <a:srgbClr val="0000CC"/>
              </a:solidFill>
              <a:ea typeface="黑体" panose="0201060906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052"/>
                                        </p:tgtEl>
                                        <p:attrNameLst>
                                          <p:attrName>style.visibility</p:attrName>
                                        </p:attrNameLst>
                                      </p:cBhvr>
                                      <p:to>
                                        <p:strVal val="visible"/>
                                      </p:to>
                                    </p:set>
                                    <p:animEffect transition="in" filter="blinds(horizontal)">
                                      <p:cBhvr>
                                        <p:cTn id="17" dur="500"/>
                                        <p:tgtEl>
                                          <p:spTgt spid="44052"/>
                                        </p:tgtEl>
                                      </p:cBhvr>
                                    </p:animEffect>
                                  </p:childTnLst>
                                </p:cTn>
                              </p:par>
                              <p:par>
                                <p:cTn id="18" presetID="3" presetClass="entr" presetSubtype="10" fill="hold" nodeType="withEffect">
                                  <p:stCondLst>
                                    <p:cond delay="0"/>
                                  </p:stCondLst>
                                  <p:childTnLst>
                                    <p:set>
                                      <p:cBhvr>
                                        <p:cTn id="19" dur="1" fill="hold">
                                          <p:stCondLst>
                                            <p:cond delay="0"/>
                                          </p:stCondLst>
                                        </p:cTn>
                                        <p:tgtEl>
                                          <p:spTgt spid="44053"/>
                                        </p:tgtEl>
                                        <p:attrNameLst>
                                          <p:attrName>style.visibility</p:attrName>
                                        </p:attrNameLst>
                                      </p:cBhvr>
                                      <p:to>
                                        <p:strVal val="visible"/>
                                      </p:to>
                                    </p:set>
                                    <p:animEffect transition="in" filter="blinds(horizontal)">
                                      <p:cBhvr>
                                        <p:cTn id="20" dur="500"/>
                                        <p:tgtEl>
                                          <p:spTgt spid="4405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44054"/>
                                        </p:tgtEl>
                                        <p:attrNameLst>
                                          <p:attrName>style.visibility</p:attrName>
                                        </p:attrNameLst>
                                      </p:cBhvr>
                                      <p:to>
                                        <p:strVal val="visible"/>
                                      </p:to>
                                    </p:set>
                                    <p:animEffect transition="in" filter="blinds(horizontal)">
                                      <p:cBhvr>
                                        <p:cTn id="23" dur="500"/>
                                        <p:tgtEl>
                                          <p:spTgt spid="4405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44048"/>
                                        </p:tgtEl>
                                        <p:attrNameLst>
                                          <p:attrName>style.visibility</p:attrName>
                                        </p:attrNameLst>
                                      </p:cBhvr>
                                      <p:to>
                                        <p:strVal val="visible"/>
                                      </p:to>
                                    </p:set>
                                    <p:animEffect transition="in" filter="blinds(horizontal)">
                                      <p:cBhvr>
                                        <p:cTn id="26" dur="500"/>
                                        <p:tgtEl>
                                          <p:spTgt spid="4404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4047"/>
                                        </p:tgtEl>
                                        <p:attrNameLst>
                                          <p:attrName>style.visibility</p:attrName>
                                        </p:attrNameLst>
                                      </p:cBhvr>
                                      <p:to>
                                        <p:strVal val="visible"/>
                                      </p:to>
                                    </p:set>
                                    <p:animEffect transition="in" filter="blinds(horizontal)">
                                      <p:cBhvr>
                                        <p:cTn id="31" dur="500"/>
                                        <p:tgtEl>
                                          <p:spTgt spid="44047"/>
                                        </p:tgtEl>
                                      </p:cBhvr>
                                    </p:animEffect>
                                  </p:childTnLst>
                                </p:cTn>
                              </p:par>
                              <p:par>
                                <p:cTn id="32" presetID="3" presetClass="entr" presetSubtype="10" fill="hold" nodeType="withEffect">
                                  <p:stCondLst>
                                    <p:cond delay="0"/>
                                  </p:stCondLst>
                                  <p:childTnLst>
                                    <p:set>
                                      <p:cBhvr>
                                        <p:cTn id="33" dur="1" fill="hold">
                                          <p:stCondLst>
                                            <p:cond delay="0"/>
                                          </p:stCondLst>
                                        </p:cTn>
                                        <p:tgtEl>
                                          <p:spTgt spid="44049"/>
                                        </p:tgtEl>
                                        <p:attrNameLst>
                                          <p:attrName>style.visibility</p:attrName>
                                        </p:attrNameLst>
                                      </p:cBhvr>
                                      <p:to>
                                        <p:strVal val="visible"/>
                                      </p:to>
                                    </p:set>
                                    <p:animEffect transition="in" filter="blinds(horizontal)">
                                      <p:cBhvr>
                                        <p:cTn id="34" dur="500"/>
                                        <p:tgtEl>
                                          <p:spTgt spid="44049"/>
                                        </p:tgtEl>
                                      </p:cBhvr>
                                    </p:animEffect>
                                  </p:childTnLst>
                                </p:cTn>
                              </p:par>
                              <p:par>
                                <p:cTn id="35" presetID="3" presetClass="entr" presetSubtype="10" fill="hold" nodeType="withEffect">
                                  <p:stCondLst>
                                    <p:cond delay="0"/>
                                  </p:stCondLst>
                                  <p:childTnLst>
                                    <p:set>
                                      <p:cBhvr>
                                        <p:cTn id="36" dur="1" fill="hold">
                                          <p:stCondLst>
                                            <p:cond delay="0"/>
                                          </p:stCondLst>
                                        </p:cTn>
                                        <p:tgtEl>
                                          <p:spTgt spid="44050"/>
                                        </p:tgtEl>
                                        <p:attrNameLst>
                                          <p:attrName>style.visibility</p:attrName>
                                        </p:attrNameLst>
                                      </p:cBhvr>
                                      <p:to>
                                        <p:strVal val="visible"/>
                                      </p:to>
                                    </p:set>
                                    <p:animEffect transition="in" filter="blinds(horizontal)">
                                      <p:cBhvr>
                                        <p:cTn id="37" dur="500"/>
                                        <p:tgtEl>
                                          <p:spTgt spid="4405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44051"/>
                                        </p:tgtEl>
                                        <p:attrNameLst>
                                          <p:attrName>style.visibility</p:attrName>
                                        </p:attrNameLst>
                                      </p:cBhvr>
                                      <p:to>
                                        <p:strVal val="visible"/>
                                      </p:to>
                                    </p:set>
                                    <p:animEffect transition="in" filter="blinds(horizontal)">
                                      <p:cBhvr>
                                        <p:cTn id="40" dur="500"/>
                                        <p:tgtEl>
                                          <p:spTgt spid="4405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up)">
                                      <p:cBhvr>
                                        <p:cTn id="45" dur="500"/>
                                        <p:tgtEl>
                                          <p:spTgt spid="4"/>
                                        </p:tgtEl>
                                      </p:cBhvr>
                                    </p:animEffect>
                                  </p:childTnLst>
                                </p:cTn>
                              </p:par>
                            </p:childTnLst>
                          </p:cTn>
                        </p:par>
                        <p:par>
                          <p:cTn id="46" fill="hold">
                            <p:stCondLst>
                              <p:cond delay="500"/>
                            </p:stCondLst>
                            <p:childTnLst>
                              <p:par>
                                <p:cTn id="47" presetID="22" presetClass="entr" presetSubtype="1" fill="hold" nodeType="after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up)">
                                      <p:cBhvr>
                                        <p:cTn id="4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7" grpId="0"/>
      <p:bldP spid="44048" grpId="0"/>
      <p:bldP spid="44051" grpId="0"/>
      <p:bldP spid="44054"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2063751" y="544513"/>
            <a:ext cx="8208963" cy="438150"/>
          </a:xfrm>
        </p:spPr>
        <p:txBody>
          <a:bodyPr/>
          <a:lstStyle/>
          <a:p>
            <a:pPr eaLnBrk="1" hangingPunct="1"/>
            <a:r>
              <a:rPr lang="zh-CN" altLang="en-US" sz="3600" b="1" dirty="0">
                <a:solidFill>
                  <a:srgbClr val="800000"/>
                </a:solidFill>
                <a:latin typeface="Times New Roman" panose="02020603050405020304" pitchFamily="18" charset="0"/>
                <a:ea typeface="楷体_GB2312" pitchFamily="49" charset="-122"/>
              </a:rPr>
              <a:t>四、乳酸循环（</a:t>
            </a:r>
            <a:r>
              <a:rPr lang="en-US" altLang="zh-CN" sz="3600" b="1" dirty="0">
                <a:solidFill>
                  <a:srgbClr val="800000"/>
                </a:solidFill>
                <a:latin typeface="Times New Roman" panose="02020603050405020304" pitchFamily="18" charset="0"/>
                <a:ea typeface="楷体_GB2312" pitchFamily="49" charset="-122"/>
              </a:rPr>
              <a:t>Cori </a:t>
            </a:r>
            <a:r>
              <a:rPr lang="zh-CN" altLang="en-US" sz="3600" b="1" dirty="0">
                <a:solidFill>
                  <a:srgbClr val="800000"/>
                </a:solidFill>
                <a:latin typeface="Times New Roman" panose="02020603050405020304" pitchFamily="18" charset="0"/>
                <a:ea typeface="楷体_GB2312" pitchFamily="49" charset="-122"/>
              </a:rPr>
              <a:t> </a:t>
            </a:r>
            <a:r>
              <a:rPr lang="en-US" altLang="zh-CN" sz="3600" b="1" dirty="0">
                <a:solidFill>
                  <a:srgbClr val="800000"/>
                </a:solidFill>
                <a:latin typeface="Times New Roman" panose="02020603050405020304" pitchFamily="18" charset="0"/>
                <a:ea typeface="楷体_GB2312" pitchFamily="49" charset="-122"/>
              </a:rPr>
              <a:t>cycle</a:t>
            </a:r>
            <a:r>
              <a:rPr lang="zh-CN" altLang="en-US" sz="3600" b="1" dirty="0">
                <a:solidFill>
                  <a:srgbClr val="800000"/>
                </a:solidFill>
                <a:latin typeface="Times New Roman" panose="02020603050405020304" pitchFamily="18" charset="0"/>
                <a:ea typeface="楷体_GB2312" pitchFamily="49" charset="-122"/>
              </a:rPr>
              <a:t>）</a:t>
            </a:r>
            <a:endParaRPr lang="zh-CN" altLang="en-US" sz="3600" b="1" dirty="0">
              <a:solidFill>
                <a:srgbClr val="800000"/>
              </a:solidFill>
              <a:latin typeface="Times New Roman" panose="02020603050405020304" pitchFamily="18" charset="0"/>
              <a:ea typeface="楷体_GB2312" pitchFamily="49" charset="-122"/>
            </a:endParaRPr>
          </a:p>
        </p:txBody>
      </p:sp>
      <p:sp>
        <p:nvSpPr>
          <p:cNvPr id="128003" name="Text Box 4"/>
          <p:cNvSpPr txBox="1">
            <a:spLocks noChangeArrowheads="1"/>
          </p:cNvSpPr>
          <p:nvPr/>
        </p:nvSpPr>
        <p:spPr bwMode="auto">
          <a:xfrm>
            <a:off x="2628901" y="5911851"/>
            <a:ext cx="2746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b="0">
                <a:solidFill>
                  <a:srgbClr val="FF0000"/>
                </a:solidFill>
                <a:latin typeface="黑体" panose="02010609060101010101" pitchFamily="2" charset="-122"/>
                <a:ea typeface="黑体" panose="02010609060101010101" pitchFamily="2" charset="-122"/>
              </a:rPr>
              <a:t>糖异生活跃</a:t>
            </a:r>
            <a:endParaRPr kumimoji="1" lang="zh-CN" altLang="en-US" sz="2400" b="0">
              <a:solidFill>
                <a:srgbClr val="FF0000"/>
              </a:solidFill>
              <a:latin typeface="黑体" panose="02010609060101010101" pitchFamily="2" charset="-122"/>
              <a:ea typeface="黑体" panose="02010609060101010101" pitchFamily="2" charset="-122"/>
            </a:endParaRPr>
          </a:p>
          <a:p>
            <a:pPr algn="ctr" eaLnBrk="1" hangingPunct="1">
              <a:spcBef>
                <a:spcPct val="0"/>
              </a:spcBef>
              <a:buClrTx/>
              <a:buSzTx/>
              <a:buFontTx/>
              <a:buNone/>
            </a:pPr>
            <a:r>
              <a:rPr kumimoji="1" lang="zh-CN" altLang="en-US" sz="2400" b="0">
                <a:solidFill>
                  <a:srgbClr val="FF0000"/>
                </a:solidFill>
                <a:latin typeface="黑体" panose="02010609060101010101" pitchFamily="2" charset="-122"/>
                <a:ea typeface="黑体" panose="02010609060101010101" pitchFamily="2" charset="-122"/>
              </a:rPr>
              <a:t>有葡萄糖-6磷酸酶</a:t>
            </a:r>
            <a:r>
              <a:rPr kumimoji="1" lang="zh-CN" altLang="en-US" sz="2400" b="0">
                <a:solidFill>
                  <a:schemeClr val="tx2"/>
                </a:solidFill>
                <a:latin typeface="Arial" panose="020B0604020202020204" pitchFamily="34" charset="0"/>
                <a:ea typeface="华文楷体" panose="02010600040101010101" pitchFamily="2" charset="-122"/>
              </a:rPr>
              <a:t> </a:t>
            </a:r>
            <a:endParaRPr kumimoji="1" lang="zh-CN" altLang="en-US" sz="2400" b="0">
              <a:solidFill>
                <a:schemeClr val="tx2"/>
              </a:solidFill>
              <a:latin typeface="Arial" panose="020B0604020202020204" pitchFamily="34" charset="0"/>
              <a:ea typeface="华文楷体" panose="02010600040101010101" pitchFamily="2" charset="-122"/>
            </a:endParaRPr>
          </a:p>
        </p:txBody>
      </p:sp>
      <p:grpSp>
        <p:nvGrpSpPr>
          <p:cNvPr id="3" name="Group 7"/>
          <p:cNvGrpSpPr/>
          <p:nvPr/>
        </p:nvGrpSpPr>
        <p:grpSpPr bwMode="auto">
          <a:xfrm>
            <a:off x="3216275" y="1928814"/>
            <a:ext cx="1447800" cy="4052887"/>
            <a:chOff x="1105" y="1005"/>
            <a:chExt cx="912" cy="2553"/>
          </a:xfrm>
        </p:grpSpPr>
        <p:sp>
          <p:nvSpPr>
            <p:cNvPr id="81971" name="Rectangle 8"/>
            <p:cNvSpPr>
              <a:spLocks noChangeArrowheads="1"/>
            </p:cNvSpPr>
            <p:nvPr/>
          </p:nvSpPr>
          <p:spPr bwMode="auto">
            <a:xfrm>
              <a:off x="1105" y="1005"/>
              <a:ext cx="912" cy="2256"/>
            </a:xfrm>
            <a:prstGeom prst="rect">
              <a:avLst/>
            </a:prstGeom>
            <a:solidFill>
              <a:schemeClr val="bg1"/>
            </a:solidFill>
            <a:ln w="38100">
              <a:solidFill>
                <a:schemeClr val="accent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endParaRPr kumimoji="1" lang="zh-CN" altLang="en-US" sz="2800">
                <a:latin typeface="Arial" panose="020B0604020202020204" pitchFamily="34" charset="0"/>
                <a:ea typeface="华文楷体" panose="02010600040101010101" pitchFamily="2" charset="-122"/>
              </a:endParaRPr>
            </a:p>
          </p:txBody>
        </p:sp>
        <p:sp>
          <p:nvSpPr>
            <p:cNvPr id="81972" name="Rectangle 9"/>
            <p:cNvSpPr>
              <a:spLocks noChangeArrowheads="1"/>
            </p:cNvSpPr>
            <p:nvPr/>
          </p:nvSpPr>
          <p:spPr bwMode="auto">
            <a:xfrm>
              <a:off x="1292" y="3270"/>
              <a:ext cx="4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肝  </a:t>
              </a:r>
              <a:endParaRPr kumimoji="1" lang="zh-CN" altLang="en-US" sz="2400">
                <a:latin typeface="Arial" panose="020B0604020202020204" pitchFamily="34" charset="0"/>
                <a:ea typeface="华文楷体" panose="02010600040101010101" pitchFamily="2" charset="-122"/>
              </a:endParaRPr>
            </a:p>
          </p:txBody>
        </p:sp>
      </p:grpSp>
      <p:grpSp>
        <p:nvGrpSpPr>
          <p:cNvPr id="4" name="Group 10"/>
          <p:cNvGrpSpPr/>
          <p:nvPr/>
        </p:nvGrpSpPr>
        <p:grpSpPr bwMode="auto">
          <a:xfrm>
            <a:off x="7175500" y="1928814"/>
            <a:ext cx="1447800" cy="4048125"/>
            <a:chOff x="3600" y="1008"/>
            <a:chExt cx="912" cy="2550"/>
          </a:xfrm>
        </p:grpSpPr>
        <p:sp>
          <p:nvSpPr>
            <p:cNvPr id="81969" name="Rectangle 11"/>
            <p:cNvSpPr>
              <a:spLocks noChangeArrowheads="1"/>
            </p:cNvSpPr>
            <p:nvPr/>
          </p:nvSpPr>
          <p:spPr bwMode="auto">
            <a:xfrm>
              <a:off x="3600" y="1008"/>
              <a:ext cx="912" cy="2256"/>
            </a:xfrm>
            <a:prstGeom prst="rect">
              <a:avLst/>
            </a:prstGeom>
            <a:solidFill>
              <a:schemeClr val="bg1"/>
            </a:solidFill>
            <a:ln w="38100">
              <a:solidFill>
                <a:schemeClr val="accent1"/>
              </a:solidFill>
              <a:miter lim="800000"/>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endParaRPr kumimoji="1" lang="zh-CN" altLang="en-US" sz="2800">
                <a:latin typeface="Arial" panose="020B0604020202020204" pitchFamily="34" charset="0"/>
                <a:ea typeface="华文楷体" panose="02010600040101010101" pitchFamily="2" charset="-122"/>
              </a:endParaRPr>
            </a:p>
          </p:txBody>
        </p:sp>
        <p:sp>
          <p:nvSpPr>
            <p:cNvPr id="81970" name="Rectangle 12"/>
            <p:cNvSpPr>
              <a:spLocks noChangeArrowheads="1"/>
            </p:cNvSpPr>
            <p:nvPr/>
          </p:nvSpPr>
          <p:spPr bwMode="auto">
            <a:xfrm>
              <a:off x="3766" y="3270"/>
              <a:ext cx="5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肌肉 </a:t>
              </a:r>
              <a:endParaRPr kumimoji="1" lang="zh-CN" altLang="en-US" sz="2400">
                <a:latin typeface="Arial" panose="020B0604020202020204" pitchFamily="34" charset="0"/>
                <a:ea typeface="华文楷体" panose="02010600040101010101" pitchFamily="2" charset="-122"/>
              </a:endParaRPr>
            </a:p>
          </p:txBody>
        </p:sp>
      </p:grpSp>
      <p:sp>
        <p:nvSpPr>
          <p:cNvPr id="285709" name="Text Box 13"/>
          <p:cNvSpPr txBox="1">
            <a:spLocks noChangeArrowheads="1"/>
          </p:cNvSpPr>
          <p:nvPr/>
        </p:nvSpPr>
        <p:spPr bwMode="auto">
          <a:xfrm>
            <a:off x="2063751" y="1196975"/>
            <a:ext cx="33131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t>1. </a:t>
            </a:r>
            <a:r>
              <a:rPr kumimoji="1" lang="zh-CN" altLang="en-US"/>
              <a:t>循环过程  </a:t>
            </a:r>
            <a:endParaRPr kumimoji="1" lang="zh-CN" altLang="en-US"/>
          </a:p>
        </p:txBody>
      </p:sp>
      <p:sp>
        <p:nvSpPr>
          <p:cNvPr id="285710" name="Text Box 14"/>
          <p:cNvSpPr txBox="1">
            <a:spLocks noChangeArrowheads="1"/>
          </p:cNvSpPr>
          <p:nvPr/>
        </p:nvSpPr>
        <p:spPr bwMode="auto">
          <a:xfrm>
            <a:off x="3175000" y="1970088"/>
            <a:ext cx="1441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葡萄糖</a:t>
            </a:r>
            <a:r>
              <a:rPr kumimoji="1" lang="zh-CN" altLang="en-US" sz="1800">
                <a:latin typeface="Arial" panose="020B0604020202020204" pitchFamily="34" charset="0"/>
                <a:ea typeface="华文楷体" panose="02010600040101010101" pitchFamily="2" charset="-122"/>
              </a:rPr>
              <a:t>   </a:t>
            </a:r>
            <a:endParaRPr kumimoji="1" lang="zh-CN" altLang="en-US" sz="1800">
              <a:latin typeface="Arial" panose="020B0604020202020204" pitchFamily="34" charset="0"/>
              <a:ea typeface="华文楷体" panose="02010600040101010101" pitchFamily="2" charset="-122"/>
            </a:endParaRPr>
          </a:p>
        </p:txBody>
      </p:sp>
      <p:sp>
        <p:nvSpPr>
          <p:cNvPr id="285711" name="Line 15"/>
          <p:cNvSpPr>
            <a:spLocks noChangeShapeType="1"/>
          </p:cNvSpPr>
          <p:nvPr/>
        </p:nvSpPr>
        <p:spPr bwMode="auto">
          <a:xfrm>
            <a:off x="4346575" y="2233613"/>
            <a:ext cx="9144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5712" name="Text Box 16"/>
          <p:cNvSpPr txBox="1">
            <a:spLocks noChangeArrowheads="1"/>
          </p:cNvSpPr>
          <p:nvPr/>
        </p:nvSpPr>
        <p:spPr bwMode="auto">
          <a:xfrm>
            <a:off x="5289551" y="1966913"/>
            <a:ext cx="1546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葡萄糖   </a:t>
            </a:r>
            <a:endParaRPr kumimoji="1" lang="zh-CN" altLang="en-US" sz="2800">
              <a:latin typeface="Arial" panose="020B0604020202020204" pitchFamily="34" charset="0"/>
              <a:ea typeface="华文楷体" panose="02010600040101010101" pitchFamily="2" charset="-122"/>
            </a:endParaRPr>
          </a:p>
        </p:txBody>
      </p:sp>
      <p:sp>
        <p:nvSpPr>
          <p:cNvPr id="285713" name="Line 17"/>
          <p:cNvSpPr>
            <a:spLocks noChangeShapeType="1"/>
          </p:cNvSpPr>
          <p:nvPr/>
        </p:nvSpPr>
        <p:spPr bwMode="auto">
          <a:xfrm>
            <a:off x="6530976" y="2233613"/>
            <a:ext cx="860425"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5714" name="Text Box 18"/>
          <p:cNvSpPr txBox="1">
            <a:spLocks noChangeArrowheads="1"/>
          </p:cNvSpPr>
          <p:nvPr/>
        </p:nvSpPr>
        <p:spPr bwMode="auto">
          <a:xfrm>
            <a:off x="7265988" y="1981201"/>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葡萄糖  </a:t>
            </a:r>
            <a:endParaRPr kumimoji="1" lang="zh-CN" altLang="en-US" sz="2800">
              <a:latin typeface="Arial" panose="020B0604020202020204" pitchFamily="34" charset="0"/>
              <a:ea typeface="华文楷体" panose="02010600040101010101" pitchFamily="2" charset="-122"/>
            </a:endParaRPr>
          </a:p>
        </p:txBody>
      </p:sp>
      <p:grpSp>
        <p:nvGrpSpPr>
          <p:cNvPr id="5" name="Group 19"/>
          <p:cNvGrpSpPr/>
          <p:nvPr/>
        </p:nvGrpSpPr>
        <p:grpSpPr bwMode="auto">
          <a:xfrm>
            <a:off x="7650164" y="2427290"/>
            <a:ext cx="630237" cy="1575907"/>
            <a:chOff x="3888" y="1920"/>
            <a:chExt cx="397" cy="948"/>
          </a:xfrm>
        </p:grpSpPr>
        <p:sp>
          <p:nvSpPr>
            <p:cNvPr id="81963" name="Line 20"/>
            <p:cNvSpPr>
              <a:spLocks noChangeShapeType="1"/>
            </p:cNvSpPr>
            <p:nvPr/>
          </p:nvSpPr>
          <p:spPr bwMode="auto">
            <a:xfrm>
              <a:off x="3888" y="1920"/>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64" name="Line 21"/>
            <p:cNvSpPr>
              <a:spLocks noChangeShapeType="1"/>
            </p:cNvSpPr>
            <p:nvPr/>
          </p:nvSpPr>
          <p:spPr bwMode="auto">
            <a:xfrm>
              <a:off x="3888" y="2112"/>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65" name="Line 22"/>
            <p:cNvSpPr>
              <a:spLocks noChangeShapeType="1"/>
            </p:cNvSpPr>
            <p:nvPr/>
          </p:nvSpPr>
          <p:spPr bwMode="auto">
            <a:xfrm>
              <a:off x="3888" y="2304"/>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66" name="Line 23"/>
            <p:cNvSpPr>
              <a:spLocks noChangeShapeType="1"/>
            </p:cNvSpPr>
            <p:nvPr/>
          </p:nvSpPr>
          <p:spPr bwMode="auto">
            <a:xfrm>
              <a:off x="3888" y="2496"/>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67" name="Text Box 24"/>
            <p:cNvSpPr txBox="1">
              <a:spLocks noChangeArrowheads="1"/>
            </p:cNvSpPr>
            <p:nvPr/>
          </p:nvSpPr>
          <p:spPr bwMode="auto">
            <a:xfrm>
              <a:off x="3975" y="1987"/>
              <a:ext cx="310" cy="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000">
                  <a:solidFill>
                    <a:schemeClr val="tx2"/>
                  </a:solidFill>
                  <a:latin typeface="Arial" panose="020B0604020202020204" pitchFamily="34" charset="0"/>
                  <a:ea typeface="华文楷体" panose="02010600040101010101" pitchFamily="2" charset="-122"/>
                </a:rPr>
                <a:t>酵解途径</a:t>
              </a:r>
              <a:r>
                <a:rPr kumimoji="1" lang="zh-CN" altLang="en-US" sz="1800">
                  <a:latin typeface="Arial" panose="020B0604020202020204" pitchFamily="34" charset="0"/>
                  <a:ea typeface="华文楷体" panose="02010600040101010101" pitchFamily="2" charset="-122"/>
                </a:rPr>
                <a:t> </a:t>
              </a:r>
              <a:endParaRPr kumimoji="1" lang="zh-CN" altLang="en-US" sz="1800">
                <a:latin typeface="Arial" panose="020B0604020202020204" pitchFamily="34" charset="0"/>
                <a:ea typeface="华文楷体" panose="02010600040101010101" pitchFamily="2" charset="-122"/>
              </a:endParaRPr>
            </a:p>
          </p:txBody>
        </p:sp>
        <p:sp>
          <p:nvSpPr>
            <p:cNvPr id="81968" name="Line 25"/>
            <p:cNvSpPr>
              <a:spLocks noChangeShapeType="1"/>
            </p:cNvSpPr>
            <p:nvPr/>
          </p:nvSpPr>
          <p:spPr bwMode="auto">
            <a:xfrm>
              <a:off x="3888" y="2688"/>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285722" name="Text Box 26"/>
          <p:cNvSpPr txBox="1">
            <a:spLocks noChangeArrowheads="1"/>
          </p:cNvSpPr>
          <p:nvPr/>
        </p:nvSpPr>
        <p:spPr bwMode="auto">
          <a:xfrm>
            <a:off x="7248525" y="3841751"/>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丙酮酸  </a:t>
            </a:r>
            <a:endParaRPr kumimoji="1" lang="zh-CN" altLang="en-US" sz="2800">
              <a:latin typeface="Arial" panose="020B0604020202020204" pitchFamily="34" charset="0"/>
              <a:ea typeface="华文楷体" panose="02010600040101010101" pitchFamily="2" charset="-122"/>
            </a:endParaRPr>
          </a:p>
        </p:txBody>
      </p:sp>
      <p:sp>
        <p:nvSpPr>
          <p:cNvPr id="285723" name="Text Box 27"/>
          <p:cNvSpPr txBox="1">
            <a:spLocks noChangeArrowheads="1"/>
          </p:cNvSpPr>
          <p:nvPr/>
        </p:nvSpPr>
        <p:spPr bwMode="auto">
          <a:xfrm>
            <a:off x="7348538" y="4983163"/>
            <a:ext cx="1022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乳酸</a:t>
            </a:r>
            <a:r>
              <a:rPr kumimoji="1" lang="zh-CN" altLang="en-US" sz="1800">
                <a:latin typeface="Arial" panose="020B0604020202020204" pitchFamily="34" charset="0"/>
                <a:ea typeface="华文楷体" panose="02010600040101010101" pitchFamily="2" charset="-122"/>
              </a:rPr>
              <a:t>  </a:t>
            </a:r>
            <a:endParaRPr kumimoji="1" lang="zh-CN" altLang="en-US" sz="1800">
              <a:latin typeface="Arial" panose="020B0604020202020204" pitchFamily="34" charset="0"/>
              <a:ea typeface="华文楷体" panose="02010600040101010101" pitchFamily="2" charset="-122"/>
            </a:endParaRPr>
          </a:p>
        </p:txBody>
      </p:sp>
      <p:grpSp>
        <p:nvGrpSpPr>
          <p:cNvPr id="6" name="Group 28"/>
          <p:cNvGrpSpPr/>
          <p:nvPr/>
        </p:nvGrpSpPr>
        <p:grpSpPr bwMode="auto">
          <a:xfrm>
            <a:off x="7608888" y="4305301"/>
            <a:ext cx="984250" cy="784225"/>
            <a:chOff x="3840" y="3024"/>
            <a:chExt cx="620" cy="494"/>
          </a:xfrm>
        </p:grpSpPr>
        <p:sp>
          <p:nvSpPr>
            <p:cNvPr id="81958" name="Line 29"/>
            <p:cNvSpPr>
              <a:spLocks noChangeShapeType="1"/>
            </p:cNvSpPr>
            <p:nvPr/>
          </p:nvSpPr>
          <p:spPr bwMode="auto">
            <a:xfrm>
              <a:off x="3840" y="3024"/>
              <a:ext cx="0" cy="43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59" name="Line 30"/>
            <p:cNvSpPr>
              <a:spLocks noChangeShapeType="1"/>
            </p:cNvSpPr>
            <p:nvPr/>
          </p:nvSpPr>
          <p:spPr bwMode="auto">
            <a:xfrm flipH="1">
              <a:off x="3840" y="3120"/>
              <a:ext cx="96"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1960" name="Text Box 31"/>
            <p:cNvSpPr txBox="1">
              <a:spLocks noChangeArrowheads="1"/>
            </p:cNvSpPr>
            <p:nvPr/>
          </p:nvSpPr>
          <p:spPr bwMode="auto">
            <a:xfrm>
              <a:off x="3888" y="3028"/>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latin typeface="Arial" panose="020B0604020202020204" pitchFamily="34" charset="0"/>
                  <a:ea typeface="华文楷体" panose="02010600040101010101" pitchFamily="2" charset="-122"/>
                </a:rPr>
                <a:t>NADH </a:t>
              </a:r>
              <a:endParaRPr kumimoji="1" lang="en-US" altLang="zh-CN" sz="1800">
                <a:latin typeface="Arial" panose="020B0604020202020204" pitchFamily="34" charset="0"/>
                <a:ea typeface="华文楷体" panose="02010600040101010101" pitchFamily="2" charset="-122"/>
              </a:endParaRPr>
            </a:p>
          </p:txBody>
        </p:sp>
        <p:sp>
          <p:nvSpPr>
            <p:cNvPr id="81961" name="Line 32"/>
            <p:cNvSpPr>
              <a:spLocks noChangeShapeType="1"/>
            </p:cNvSpPr>
            <p:nvPr/>
          </p:nvSpPr>
          <p:spPr bwMode="auto">
            <a:xfrm>
              <a:off x="3840" y="3312"/>
              <a:ext cx="144"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62" name="Text Box 33"/>
            <p:cNvSpPr txBox="1">
              <a:spLocks noChangeArrowheads="1"/>
            </p:cNvSpPr>
            <p:nvPr/>
          </p:nvSpPr>
          <p:spPr bwMode="auto">
            <a:xfrm>
              <a:off x="3926" y="3287"/>
              <a:ext cx="5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latin typeface="Arial" panose="020B0604020202020204" pitchFamily="34" charset="0"/>
                  <a:ea typeface="华文楷体" panose="02010600040101010101" pitchFamily="2" charset="-122"/>
                </a:rPr>
                <a:t>NAD</a:t>
              </a:r>
              <a:r>
                <a:rPr kumimoji="1" lang="en-US" altLang="zh-CN" sz="1800" baseline="30000">
                  <a:latin typeface="Arial" panose="020B0604020202020204" pitchFamily="34" charset="0"/>
                  <a:ea typeface="华文楷体" panose="02010600040101010101" pitchFamily="2" charset="-122"/>
                </a:rPr>
                <a:t>+ </a:t>
              </a:r>
              <a:endParaRPr kumimoji="1" lang="en-US" altLang="zh-CN" sz="1800" baseline="30000">
                <a:latin typeface="Arial" panose="020B0604020202020204" pitchFamily="34" charset="0"/>
                <a:ea typeface="华文楷体" panose="02010600040101010101" pitchFamily="2" charset="-122"/>
              </a:endParaRPr>
            </a:p>
          </p:txBody>
        </p:sp>
      </p:grpSp>
      <p:sp>
        <p:nvSpPr>
          <p:cNvPr id="285730" name="Line 34"/>
          <p:cNvSpPr>
            <a:spLocks noChangeShapeType="1"/>
          </p:cNvSpPr>
          <p:nvPr/>
        </p:nvSpPr>
        <p:spPr bwMode="auto">
          <a:xfrm flipH="1">
            <a:off x="6167438" y="5241925"/>
            <a:ext cx="122396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5731" name="Text Box 35"/>
          <p:cNvSpPr txBox="1">
            <a:spLocks noChangeArrowheads="1"/>
          </p:cNvSpPr>
          <p:nvPr/>
        </p:nvSpPr>
        <p:spPr bwMode="auto">
          <a:xfrm>
            <a:off x="5348289" y="4994276"/>
            <a:ext cx="993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乳酸 </a:t>
            </a:r>
            <a:endParaRPr kumimoji="1" lang="zh-CN" altLang="en-US" sz="2800">
              <a:latin typeface="Arial" panose="020B0604020202020204" pitchFamily="34" charset="0"/>
              <a:ea typeface="华文楷体" panose="02010600040101010101" pitchFamily="2" charset="-122"/>
            </a:endParaRPr>
          </a:p>
        </p:txBody>
      </p:sp>
      <p:sp>
        <p:nvSpPr>
          <p:cNvPr id="285732" name="Line 36"/>
          <p:cNvSpPr>
            <a:spLocks noChangeShapeType="1"/>
          </p:cNvSpPr>
          <p:nvPr/>
        </p:nvSpPr>
        <p:spPr bwMode="auto">
          <a:xfrm flipH="1">
            <a:off x="4008439" y="5241925"/>
            <a:ext cx="1366837"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85733" name="Text Box 37"/>
          <p:cNvSpPr txBox="1">
            <a:spLocks noChangeArrowheads="1"/>
          </p:cNvSpPr>
          <p:nvPr/>
        </p:nvSpPr>
        <p:spPr bwMode="auto">
          <a:xfrm>
            <a:off x="3173413" y="4968876"/>
            <a:ext cx="1136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乳酸  </a:t>
            </a:r>
            <a:endParaRPr kumimoji="1" lang="zh-CN" altLang="en-US" sz="2800">
              <a:latin typeface="Arial" panose="020B0604020202020204" pitchFamily="34" charset="0"/>
              <a:ea typeface="华文楷体" panose="02010600040101010101" pitchFamily="2" charset="-122"/>
            </a:endParaRPr>
          </a:p>
        </p:txBody>
      </p:sp>
      <p:grpSp>
        <p:nvGrpSpPr>
          <p:cNvPr id="7" name="Group 38"/>
          <p:cNvGrpSpPr/>
          <p:nvPr/>
        </p:nvGrpSpPr>
        <p:grpSpPr bwMode="auto">
          <a:xfrm>
            <a:off x="3719514" y="4305301"/>
            <a:ext cx="1108075" cy="822325"/>
            <a:chOff x="1392" y="3072"/>
            <a:chExt cx="698" cy="518"/>
          </a:xfrm>
        </p:grpSpPr>
        <p:sp>
          <p:nvSpPr>
            <p:cNvPr id="81953" name="Line 39"/>
            <p:cNvSpPr>
              <a:spLocks noChangeShapeType="1"/>
            </p:cNvSpPr>
            <p:nvPr/>
          </p:nvSpPr>
          <p:spPr bwMode="auto">
            <a:xfrm flipV="1">
              <a:off x="1392" y="3072"/>
              <a:ext cx="0" cy="43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54" name="Line 40"/>
            <p:cNvSpPr>
              <a:spLocks noChangeShapeType="1"/>
            </p:cNvSpPr>
            <p:nvPr/>
          </p:nvSpPr>
          <p:spPr bwMode="auto">
            <a:xfrm flipH="1" flipV="1">
              <a:off x="1392" y="3408"/>
              <a:ext cx="144"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81955" name="Text Box 41"/>
            <p:cNvSpPr txBox="1">
              <a:spLocks noChangeArrowheads="1"/>
            </p:cNvSpPr>
            <p:nvPr/>
          </p:nvSpPr>
          <p:spPr bwMode="auto">
            <a:xfrm>
              <a:off x="1488" y="3359"/>
              <a:ext cx="53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latin typeface="Arial" panose="020B0604020202020204" pitchFamily="34" charset="0"/>
                  <a:ea typeface="华文楷体" panose="02010600040101010101" pitchFamily="2" charset="-122"/>
                </a:rPr>
                <a:t>NAD</a:t>
              </a:r>
              <a:r>
                <a:rPr kumimoji="1" lang="en-US" altLang="zh-CN" sz="1800" baseline="30000">
                  <a:latin typeface="Arial" panose="020B0604020202020204" pitchFamily="34" charset="0"/>
                  <a:ea typeface="华文楷体" panose="02010600040101010101" pitchFamily="2" charset="-122"/>
                </a:rPr>
                <a:t>+  </a:t>
              </a:r>
              <a:endParaRPr kumimoji="1" lang="en-US" altLang="zh-CN" sz="1800" baseline="30000">
                <a:latin typeface="Arial" panose="020B0604020202020204" pitchFamily="34" charset="0"/>
                <a:ea typeface="华文楷体" panose="02010600040101010101" pitchFamily="2" charset="-122"/>
              </a:endParaRPr>
            </a:p>
          </p:txBody>
        </p:sp>
        <p:sp>
          <p:nvSpPr>
            <p:cNvPr id="81956" name="Line 42"/>
            <p:cNvSpPr>
              <a:spLocks noChangeShapeType="1"/>
            </p:cNvSpPr>
            <p:nvPr/>
          </p:nvSpPr>
          <p:spPr bwMode="auto">
            <a:xfrm flipV="1">
              <a:off x="1392" y="3216"/>
              <a:ext cx="144" cy="96"/>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57" name="Text Box 43"/>
            <p:cNvSpPr txBox="1">
              <a:spLocks noChangeArrowheads="1"/>
            </p:cNvSpPr>
            <p:nvPr/>
          </p:nvSpPr>
          <p:spPr bwMode="auto">
            <a:xfrm>
              <a:off x="1478" y="3100"/>
              <a:ext cx="6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1800">
                  <a:latin typeface="Arial" panose="020B0604020202020204" pitchFamily="34" charset="0"/>
                  <a:ea typeface="华文楷体" panose="02010600040101010101" pitchFamily="2" charset="-122"/>
                </a:rPr>
                <a:t>NADH  </a:t>
              </a:r>
              <a:endParaRPr kumimoji="1" lang="en-US" altLang="zh-CN" sz="1800">
                <a:latin typeface="Arial" panose="020B0604020202020204" pitchFamily="34" charset="0"/>
                <a:ea typeface="华文楷体" panose="02010600040101010101" pitchFamily="2" charset="-122"/>
              </a:endParaRPr>
            </a:p>
          </p:txBody>
        </p:sp>
      </p:grpSp>
      <p:sp>
        <p:nvSpPr>
          <p:cNvPr id="285740" name="Text Box 44"/>
          <p:cNvSpPr txBox="1">
            <a:spLocks noChangeArrowheads="1"/>
          </p:cNvSpPr>
          <p:nvPr/>
        </p:nvSpPr>
        <p:spPr bwMode="auto">
          <a:xfrm>
            <a:off x="3216275" y="3859213"/>
            <a:ext cx="1517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latin typeface="Arial" panose="020B0604020202020204" pitchFamily="34" charset="0"/>
                <a:ea typeface="华文楷体" panose="02010600040101010101" pitchFamily="2" charset="-122"/>
              </a:rPr>
              <a:t>丙酮酸   </a:t>
            </a:r>
            <a:endParaRPr kumimoji="1" lang="zh-CN" altLang="en-US" sz="2800">
              <a:latin typeface="Arial" panose="020B0604020202020204" pitchFamily="34" charset="0"/>
              <a:ea typeface="华文楷体" panose="02010600040101010101" pitchFamily="2" charset="-122"/>
            </a:endParaRPr>
          </a:p>
        </p:txBody>
      </p:sp>
      <p:grpSp>
        <p:nvGrpSpPr>
          <p:cNvPr id="8" name="Group 45"/>
          <p:cNvGrpSpPr/>
          <p:nvPr/>
        </p:nvGrpSpPr>
        <p:grpSpPr bwMode="auto">
          <a:xfrm>
            <a:off x="3719514" y="2427290"/>
            <a:ext cx="534987" cy="1725613"/>
            <a:chOff x="1440" y="1968"/>
            <a:chExt cx="337" cy="1087"/>
          </a:xfrm>
        </p:grpSpPr>
        <p:sp>
          <p:nvSpPr>
            <p:cNvPr id="81947" name="Line 46"/>
            <p:cNvSpPr>
              <a:spLocks noChangeShapeType="1"/>
            </p:cNvSpPr>
            <p:nvPr/>
          </p:nvSpPr>
          <p:spPr bwMode="auto">
            <a:xfrm rot="10704532">
              <a:off x="1440" y="1968"/>
              <a:ext cx="1"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48" name="Line 47"/>
            <p:cNvSpPr>
              <a:spLocks noChangeShapeType="1"/>
            </p:cNvSpPr>
            <p:nvPr/>
          </p:nvSpPr>
          <p:spPr bwMode="auto">
            <a:xfrm rot="10704532">
              <a:off x="1440" y="2160"/>
              <a:ext cx="1"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49" name="Line 48"/>
            <p:cNvSpPr>
              <a:spLocks noChangeShapeType="1"/>
            </p:cNvSpPr>
            <p:nvPr/>
          </p:nvSpPr>
          <p:spPr bwMode="auto">
            <a:xfrm rot="10704532">
              <a:off x="1440" y="2352"/>
              <a:ext cx="1"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50" name="Line 49"/>
            <p:cNvSpPr>
              <a:spLocks noChangeShapeType="1"/>
            </p:cNvSpPr>
            <p:nvPr/>
          </p:nvSpPr>
          <p:spPr bwMode="auto">
            <a:xfrm rot="10704532">
              <a:off x="1440" y="2544"/>
              <a:ext cx="1"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51" name="Line 50"/>
            <p:cNvSpPr>
              <a:spLocks noChangeShapeType="1"/>
            </p:cNvSpPr>
            <p:nvPr/>
          </p:nvSpPr>
          <p:spPr bwMode="auto">
            <a:xfrm rot="10704532">
              <a:off x="1440" y="2736"/>
              <a:ext cx="1"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1952" name="Text Box 51"/>
            <p:cNvSpPr txBox="1">
              <a:spLocks noChangeArrowheads="1"/>
            </p:cNvSpPr>
            <p:nvPr/>
          </p:nvSpPr>
          <p:spPr bwMode="auto">
            <a:xfrm>
              <a:off x="1486" y="1987"/>
              <a:ext cx="291"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1800">
                  <a:latin typeface="Arial" panose="020B0604020202020204" pitchFamily="34" charset="0"/>
                  <a:ea typeface="华文楷体" panose="02010600040101010101" pitchFamily="2" charset="-122"/>
                </a:rPr>
                <a:t>糖异生途径  </a:t>
              </a:r>
              <a:endParaRPr kumimoji="1" lang="zh-CN" altLang="en-US" sz="1800">
                <a:latin typeface="Arial" panose="020B0604020202020204" pitchFamily="34" charset="0"/>
                <a:ea typeface="华文楷体" panose="02010600040101010101" pitchFamily="2" charset="-122"/>
              </a:endParaRPr>
            </a:p>
          </p:txBody>
        </p:sp>
      </p:grpSp>
      <p:sp>
        <p:nvSpPr>
          <p:cNvPr id="285748" name="Text Box 52"/>
          <p:cNvSpPr txBox="1">
            <a:spLocks noChangeArrowheads="1"/>
          </p:cNvSpPr>
          <p:nvPr/>
        </p:nvSpPr>
        <p:spPr bwMode="auto">
          <a:xfrm>
            <a:off x="5494339" y="5462588"/>
            <a:ext cx="877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a:latin typeface="Arial" panose="020B0604020202020204" pitchFamily="34" charset="0"/>
                <a:ea typeface="华文楷体" panose="02010600040101010101" pitchFamily="2" charset="-122"/>
              </a:rPr>
              <a:t>血液 </a:t>
            </a:r>
            <a:endParaRPr kumimoji="1" lang="zh-CN" altLang="en-US" sz="2400">
              <a:latin typeface="Arial" panose="020B0604020202020204" pitchFamily="34" charset="0"/>
              <a:ea typeface="华文楷体" panose="02010600040101010101" pitchFamily="2" charset="-122"/>
            </a:endParaRPr>
          </a:p>
        </p:txBody>
      </p:sp>
      <p:grpSp>
        <p:nvGrpSpPr>
          <p:cNvPr id="9" name="Group 53"/>
          <p:cNvGrpSpPr/>
          <p:nvPr/>
        </p:nvGrpSpPr>
        <p:grpSpPr bwMode="auto">
          <a:xfrm>
            <a:off x="6022975" y="5894388"/>
            <a:ext cx="3594100" cy="836612"/>
            <a:chOff x="2789" y="3578"/>
            <a:chExt cx="2264" cy="527"/>
          </a:xfrm>
        </p:grpSpPr>
        <p:sp>
          <p:nvSpPr>
            <p:cNvPr id="81945" name="Text Box 54"/>
            <p:cNvSpPr txBox="1">
              <a:spLocks noChangeArrowheads="1"/>
            </p:cNvSpPr>
            <p:nvPr/>
          </p:nvSpPr>
          <p:spPr bwMode="auto">
            <a:xfrm>
              <a:off x="3128" y="3578"/>
              <a:ext cx="1925"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2400" b="0">
                  <a:solidFill>
                    <a:srgbClr val="000099"/>
                  </a:solidFill>
                  <a:latin typeface="黑体" panose="02010609060101010101" pitchFamily="2" charset="-122"/>
                  <a:ea typeface="黑体" panose="02010609060101010101" pitchFamily="2" charset="-122"/>
                </a:rPr>
                <a:t>糖异生低下</a:t>
              </a:r>
              <a:endParaRPr kumimoji="1" lang="zh-CN" altLang="en-US" sz="2400" b="0">
                <a:solidFill>
                  <a:srgbClr val="000099"/>
                </a:solidFill>
                <a:latin typeface="黑体" panose="02010609060101010101" pitchFamily="2" charset="-122"/>
                <a:ea typeface="黑体" panose="02010609060101010101" pitchFamily="2" charset="-122"/>
              </a:endParaRPr>
            </a:p>
            <a:p>
              <a:pPr algn="ctr" eaLnBrk="1" hangingPunct="1">
                <a:spcBef>
                  <a:spcPct val="0"/>
                </a:spcBef>
                <a:buClrTx/>
                <a:buSzTx/>
                <a:buFontTx/>
                <a:buNone/>
              </a:pPr>
              <a:r>
                <a:rPr kumimoji="1" lang="zh-CN" altLang="en-US" sz="2400" b="0">
                  <a:solidFill>
                    <a:srgbClr val="000099"/>
                  </a:solidFill>
                  <a:latin typeface="黑体" panose="02010609060101010101" pitchFamily="2" charset="-122"/>
                  <a:ea typeface="黑体" panose="02010609060101010101" pitchFamily="2" charset="-122"/>
                </a:rPr>
                <a:t>没有葡萄糖-6磷酸酶</a:t>
              </a:r>
              <a:r>
                <a:rPr kumimoji="1" lang="zh-CN" altLang="en-US" sz="2400" b="0">
                  <a:solidFill>
                    <a:srgbClr val="CCFF33"/>
                  </a:solidFill>
                  <a:latin typeface="Arial" panose="020B0604020202020204" pitchFamily="34" charset="0"/>
                  <a:ea typeface="华文楷体" panose="02010600040101010101" pitchFamily="2" charset="-122"/>
                </a:rPr>
                <a:t> </a:t>
              </a:r>
              <a:endParaRPr kumimoji="1" lang="zh-CN" altLang="en-US" sz="2400" b="0">
                <a:solidFill>
                  <a:srgbClr val="CCFF33"/>
                </a:solidFill>
                <a:latin typeface="Arial" panose="020B0604020202020204" pitchFamily="34" charset="0"/>
                <a:ea typeface="华文楷体" panose="02010600040101010101" pitchFamily="2" charset="-122"/>
              </a:endParaRPr>
            </a:p>
          </p:txBody>
        </p:sp>
        <p:sp>
          <p:nvSpPr>
            <p:cNvPr id="81946" name="Rectangle 55"/>
            <p:cNvSpPr>
              <a:spLocks noChangeArrowheads="1"/>
            </p:cNvSpPr>
            <p:nvPr/>
          </p:nvSpPr>
          <p:spPr bwMode="auto">
            <a:xfrm>
              <a:off x="2789" y="3586"/>
              <a:ext cx="528"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endParaRPr kumimoji="1" lang="zh-CN" altLang="en-US" sz="4800">
                <a:latin typeface="Arial" panose="020B0604020202020204" pitchFamily="34" charset="0"/>
                <a:ea typeface="华文楷体" panose="02010600040101010101" pitchFamily="2" charset="-122"/>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285709"/>
                                        </p:tgtEl>
                                        <p:attrNameLst>
                                          <p:attrName>style.visibility</p:attrName>
                                        </p:attrNameLst>
                                      </p:cBhvr>
                                      <p:to>
                                        <p:strVal val="visible"/>
                                      </p:to>
                                    </p:set>
                                  </p:childTnLst>
                                </p:cTn>
                              </p:par>
                              <p:par>
                                <p:cTn id="7" presetID="16" presetClass="entr" presetSubtype="42"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barn(outHorizontal)">
                                      <p:cBhvr>
                                        <p:cTn id="9" dur="500"/>
                                        <p:tgtEl>
                                          <p:spTgt spid="4"/>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499"/>
                                          </p:stCondLst>
                                        </p:cTn>
                                        <p:tgtEl>
                                          <p:spTgt spid="285714"/>
                                        </p:tgtEl>
                                        <p:attrNameLst>
                                          <p:attrName>style.visibility</p:attrName>
                                        </p:attrNameLst>
                                      </p:cBhvr>
                                      <p:to>
                                        <p:strVal val="visible"/>
                                      </p:to>
                                    </p:set>
                                  </p:childTnLst>
                                </p:cTn>
                              </p:par>
                            </p:childTnLst>
                          </p:cTn>
                        </p:par>
                        <p:par>
                          <p:cTn id="13" fill="hold">
                            <p:stCondLst>
                              <p:cond delay="1000"/>
                            </p:stCondLst>
                            <p:childTnLst>
                              <p:par>
                                <p:cTn id="14" presetID="12" presetClass="entr" presetSubtype="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lide(fromTop)">
                                      <p:cBhvr>
                                        <p:cTn id="16" dur="500"/>
                                        <p:tgtEl>
                                          <p:spTgt spid="5"/>
                                        </p:tgtEl>
                                      </p:cBhvr>
                                    </p:animEffect>
                                  </p:childTnLst>
                                </p:cTn>
                              </p:par>
                            </p:childTnLst>
                          </p:cTn>
                        </p:par>
                        <p:par>
                          <p:cTn id="17" fill="hold">
                            <p:stCondLst>
                              <p:cond delay="1500"/>
                            </p:stCondLst>
                            <p:childTnLst>
                              <p:par>
                                <p:cTn id="18" presetID="1" presetClass="entr" presetSubtype="0" fill="hold" grpId="0" nodeType="afterEffect">
                                  <p:stCondLst>
                                    <p:cond delay="0"/>
                                  </p:stCondLst>
                                  <p:childTnLst>
                                    <p:set>
                                      <p:cBhvr>
                                        <p:cTn id="19" dur="1" fill="hold">
                                          <p:stCondLst>
                                            <p:cond delay="499"/>
                                          </p:stCondLst>
                                        </p:cTn>
                                        <p:tgtEl>
                                          <p:spTgt spid="285722"/>
                                        </p:tgtEl>
                                        <p:attrNameLst>
                                          <p:attrName>style.visibility</p:attrName>
                                        </p:attrNameLst>
                                      </p:cBhvr>
                                      <p:to>
                                        <p:strVal val="visible"/>
                                      </p:to>
                                    </p:set>
                                  </p:childTnLst>
                                </p:cTn>
                              </p:par>
                            </p:childTnLst>
                          </p:cTn>
                        </p:par>
                        <p:par>
                          <p:cTn id="20" fill="hold">
                            <p:stCondLst>
                              <p:cond delay="2000"/>
                            </p:stCondLst>
                            <p:childTnLst>
                              <p:par>
                                <p:cTn id="21" presetID="12" presetClass="entr" presetSubtype="1"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lide(fromTop)">
                                      <p:cBhvr>
                                        <p:cTn id="23" dur="500"/>
                                        <p:tgtEl>
                                          <p:spTgt spid="6"/>
                                        </p:tgtEl>
                                      </p:cBhvr>
                                    </p:animEffect>
                                  </p:childTnLst>
                                </p:cTn>
                              </p:par>
                            </p:childTnLst>
                          </p:cTn>
                        </p:par>
                        <p:par>
                          <p:cTn id="24" fill="hold">
                            <p:stCondLst>
                              <p:cond delay="2500"/>
                            </p:stCondLst>
                            <p:childTnLst>
                              <p:par>
                                <p:cTn id="25" presetID="1" presetClass="entr" presetSubtype="0" fill="hold" grpId="0" nodeType="afterEffect">
                                  <p:stCondLst>
                                    <p:cond delay="0"/>
                                  </p:stCondLst>
                                  <p:childTnLst>
                                    <p:set>
                                      <p:cBhvr>
                                        <p:cTn id="26" dur="1" fill="hold">
                                          <p:stCondLst>
                                            <p:cond delay="499"/>
                                          </p:stCondLst>
                                        </p:cTn>
                                        <p:tgtEl>
                                          <p:spTgt spid="2857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checkerboard(across)">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32"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ox(out)">
                                      <p:cBhvr>
                                        <p:cTn id="36" dur="500"/>
                                        <p:tgtEl>
                                          <p:spTgt spid="3"/>
                                        </p:tgtEl>
                                      </p:cBhvr>
                                    </p:animEffect>
                                  </p:childTnLst>
                                </p:cTn>
                              </p:par>
                            </p:childTnLst>
                          </p:cTn>
                        </p:par>
                        <p:par>
                          <p:cTn id="37" fill="hold">
                            <p:stCondLst>
                              <p:cond delay="500"/>
                            </p:stCondLst>
                            <p:childTnLst>
                              <p:par>
                                <p:cTn id="38" presetID="12" presetClass="entr" presetSubtype="2" fill="hold" nodeType="afterEffect">
                                  <p:stCondLst>
                                    <p:cond delay="0"/>
                                  </p:stCondLst>
                                  <p:childTnLst>
                                    <p:set>
                                      <p:cBhvr>
                                        <p:cTn id="39" dur="1" fill="hold">
                                          <p:stCondLst>
                                            <p:cond delay="0"/>
                                          </p:stCondLst>
                                        </p:cTn>
                                        <p:tgtEl>
                                          <p:spTgt spid="285730"/>
                                        </p:tgtEl>
                                        <p:attrNameLst>
                                          <p:attrName>style.visibility</p:attrName>
                                        </p:attrNameLst>
                                      </p:cBhvr>
                                      <p:to>
                                        <p:strVal val="visible"/>
                                      </p:to>
                                    </p:set>
                                    <p:animEffect transition="in" filter="slide(fromRight)">
                                      <p:cBhvr>
                                        <p:cTn id="40" dur="500"/>
                                        <p:tgtEl>
                                          <p:spTgt spid="285730"/>
                                        </p:tgtEl>
                                      </p:cBhvr>
                                    </p:animEffec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499"/>
                                          </p:stCondLst>
                                        </p:cTn>
                                        <p:tgtEl>
                                          <p:spTgt spid="285748"/>
                                        </p:tgtEl>
                                        <p:attrNameLst>
                                          <p:attrName>style.visibility</p:attrName>
                                        </p:attrNameLst>
                                      </p:cBhvr>
                                      <p:to>
                                        <p:strVal val="visible"/>
                                      </p:to>
                                    </p:set>
                                  </p:childTnLst>
                                </p:cTn>
                              </p:par>
                            </p:childTnLst>
                          </p:cTn>
                        </p:par>
                        <p:par>
                          <p:cTn id="44" fill="hold">
                            <p:stCondLst>
                              <p:cond delay="1500"/>
                            </p:stCondLst>
                            <p:childTnLst>
                              <p:par>
                                <p:cTn id="45" presetID="1" presetClass="entr" presetSubtype="0" fill="hold" grpId="0" nodeType="afterEffect">
                                  <p:stCondLst>
                                    <p:cond delay="0"/>
                                  </p:stCondLst>
                                  <p:childTnLst>
                                    <p:set>
                                      <p:cBhvr>
                                        <p:cTn id="46" dur="1" fill="hold">
                                          <p:stCondLst>
                                            <p:cond delay="499"/>
                                          </p:stCondLst>
                                        </p:cTn>
                                        <p:tgtEl>
                                          <p:spTgt spid="285731"/>
                                        </p:tgtEl>
                                        <p:attrNameLst>
                                          <p:attrName>style.visibility</p:attrName>
                                        </p:attrNameLst>
                                      </p:cBhvr>
                                      <p:to>
                                        <p:strVal val="visible"/>
                                      </p:to>
                                    </p:set>
                                  </p:childTnLst>
                                </p:cTn>
                              </p:par>
                            </p:childTnLst>
                          </p:cTn>
                        </p:par>
                        <p:par>
                          <p:cTn id="47" fill="hold">
                            <p:stCondLst>
                              <p:cond delay="2000"/>
                            </p:stCondLst>
                            <p:childTnLst>
                              <p:par>
                                <p:cTn id="48" presetID="12" presetClass="entr" presetSubtype="2" fill="hold" nodeType="afterEffect">
                                  <p:stCondLst>
                                    <p:cond delay="0"/>
                                  </p:stCondLst>
                                  <p:childTnLst>
                                    <p:set>
                                      <p:cBhvr>
                                        <p:cTn id="49" dur="1" fill="hold">
                                          <p:stCondLst>
                                            <p:cond delay="0"/>
                                          </p:stCondLst>
                                        </p:cTn>
                                        <p:tgtEl>
                                          <p:spTgt spid="285732"/>
                                        </p:tgtEl>
                                        <p:attrNameLst>
                                          <p:attrName>style.visibility</p:attrName>
                                        </p:attrNameLst>
                                      </p:cBhvr>
                                      <p:to>
                                        <p:strVal val="visible"/>
                                      </p:to>
                                    </p:set>
                                    <p:animEffect transition="in" filter="slide(fromRight)">
                                      <p:cBhvr>
                                        <p:cTn id="50" dur="500"/>
                                        <p:tgtEl>
                                          <p:spTgt spid="285732"/>
                                        </p:tgtEl>
                                      </p:cBhvr>
                                    </p:animEffect>
                                  </p:childTnLst>
                                </p:cTn>
                              </p:par>
                            </p:childTnLst>
                          </p:cTn>
                        </p:par>
                        <p:par>
                          <p:cTn id="51" fill="hold">
                            <p:stCondLst>
                              <p:cond delay="2500"/>
                            </p:stCondLst>
                            <p:childTnLst>
                              <p:par>
                                <p:cTn id="52" presetID="1" presetClass="entr" presetSubtype="0" fill="hold" grpId="0" nodeType="afterEffect">
                                  <p:stCondLst>
                                    <p:cond delay="0"/>
                                  </p:stCondLst>
                                  <p:childTnLst>
                                    <p:set>
                                      <p:cBhvr>
                                        <p:cTn id="53" dur="1" fill="hold">
                                          <p:stCondLst>
                                            <p:cond delay="499"/>
                                          </p:stCondLst>
                                        </p:cTn>
                                        <p:tgtEl>
                                          <p:spTgt spid="28573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2800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2" presetClass="entr" presetSubtype="4"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slide(fromBottom)">
                                      <p:cBhvr>
                                        <p:cTn id="62" dur="500"/>
                                        <p:tgtEl>
                                          <p:spTgt spid="7"/>
                                        </p:tgtEl>
                                      </p:cBhvr>
                                    </p:animEffec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499"/>
                                          </p:stCondLst>
                                        </p:cTn>
                                        <p:tgtEl>
                                          <p:spTgt spid="285740"/>
                                        </p:tgtEl>
                                        <p:attrNameLst>
                                          <p:attrName>style.visibility</p:attrName>
                                        </p:attrNameLst>
                                      </p:cBhvr>
                                      <p:to>
                                        <p:strVal val="visible"/>
                                      </p:to>
                                    </p:set>
                                  </p:childTnLst>
                                </p:cTn>
                              </p:par>
                            </p:childTnLst>
                          </p:cTn>
                        </p:par>
                        <p:par>
                          <p:cTn id="66" fill="hold">
                            <p:stCondLst>
                              <p:cond delay="1000"/>
                            </p:stCondLst>
                            <p:childTnLst>
                              <p:par>
                                <p:cTn id="67" presetID="12" presetClass="entr" presetSubtype="4" fill="hold" nodeType="after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slide(fromBottom)">
                                      <p:cBhvr>
                                        <p:cTn id="69" dur="500"/>
                                        <p:tgtEl>
                                          <p:spTgt spid="8"/>
                                        </p:tgtEl>
                                      </p:cBhvr>
                                    </p:animEffect>
                                  </p:childTnLst>
                                </p:cTn>
                              </p:par>
                            </p:childTnLst>
                          </p:cTn>
                        </p:par>
                        <p:par>
                          <p:cTn id="70" fill="hold">
                            <p:stCondLst>
                              <p:cond delay="1500"/>
                            </p:stCondLst>
                            <p:childTnLst>
                              <p:par>
                                <p:cTn id="71" presetID="1" presetClass="entr" presetSubtype="0" fill="hold" grpId="0" nodeType="afterEffect">
                                  <p:stCondLst>
                                    <p:cond delay="0"/>
                                  </p:stCondLst>
                                  <p:childTnLst>
                                    <p:set>
                                      <p:cBhvr>
                                        <p:cTn id="72" dur="1" fill="hold">
                                          <p:stCondLst>
                                            <p:cond delay="499"/>
                                          </p:stCondLst>
                                        </p:cTn>
                                        <p:tgtEl>
                                          <p:spTgt spid="28571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2" presetClass="entr" presetSubtype="8" fill="hold" nodeType="clickEffect">
                                  <p:stCondLst>
                                    <p:cond delay="0"/>
                                  </p:stCondLst>
                                  <p:childTnLst>
                                    <p:set>
                                      <p:cBhvr>
                                        <p:cTn id="76" dur="1" fill="hold">
                                          <p:stCondLst>
                                            <p:cond delay="0"/>
                                          </p:stCondLst>
                                        </p:cTn>
                                        <p:tgtEl>
                                          <p:spTgt spid="285711"/>
                                        </p:tgtEl>
                                        <p:attrNameLst>
                                          <p:attrName>style.visibility</p:attrName>
                                        </p:attrNameLst>
                                      </p:cBhvr>
                                      <p:to>
                                        <p:strVal val="visible"/>
                                      </p:to>
                                    </p:set>
                                    <p:animEffect transition="in" filter="slide(fromLeft)">
                                      <p:cBhvr>
                                        <p:cTn id="77" dur="500"/>
                                        <p:tgtEl>
                                          <p:spTgt spid="285711"/>
                                        </p:tgtEl>
                                      </p:cBhvr>
                                    </p:animEffec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499"/>
                                          </p:stCondLst>
                                        </p:cTn>
                                        <p:tgtEl>
                                          <p:spTgt spid="285712"/>
                                        </p:tgtEl>
                                        <p:attrNameLst>
                                          <p:attrName>style.visibility</p:attrName>
                                        </p:attrNameLst>
                                      </p:cBhvr>
                                      <p:to>
                                        <p:strVal val="visible"/>
                                      </p:to>
                                    </p:set>
                                  </p:childTnLst>
                                </p:cTn>
                              </p:par>
                            </p:childTnLst>
                          </p:cTn>
                        </p:par>
                        <p:par>
                          <p:cTn id="81" fill="hold">
                            <p:stCondLst>
                              <p:cond delay="1000"/>
                            </p:stCondLst>
                            <p:childTnLst>
                              <p:par>
                                <p:cTn id="82" presetID="12" presetClass="entr" presetSubtype="8" fill="hold" nodeType="afterEffect">
                                  <p:stCondLst>
                                    <p:cond delay="0"/>
                                  </p:stCondLst>
                                  <p:childTnLst>
                                    <p:set>
                                      <p:cBhvr>
                                        <p:cTn id="83" dur="1" fill="hold">
                                          <p:stCondLst>
                                            <p:cond delay="0"/>
                                          </p:stCondLst>
                                        </p:cTn>
                                        <p:tgtEl>
                                          <p:spTgt spid="285713"/>
                                        </p:tgtEl>
                                        <p:attrNameLst>
                                          <p:attrName>style.visibility</p:attrName>
                                        </p:attrNameLst>
                                      </p:cBhvr>
                                      <p:to>
                                        <p:strVal val="visible"/>
                                      </p:to>
                                    </p:set>
                                    <p:animEffect transition="in" filter="slide(fromLeft)">
                                      <p:cBhvr>
                                        <p:cTn id="84" dur="500"/>
                                        <p:tgtEl>
                                          <p:spTgt spid="285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p:bldP spid="285709" grpId="0" autoUpdateAnimBg="0"/>
      <p:bldP spid="285710" grpId="0" autoUpdateAnimBg="0"/>
      <p:bldP spid="285712" grpId="0" autoUpdateAnimBg="0"/>
      <p:bldP spid="285714" grpId="0" autoUpdateAnimBg="0"/>
      <p:bldP spid="285722" grpId="0" autoUpdateAnimBg="0"/>
      <p:bldP spid="285723" grpId="0" autoUpdateAnimBg="0"/>
      <p:bldP spid="285731" grpId="0" autoUpdateAnimBg="0"/>
      <p:bldP spid="285733" grpId="0" autoUpdateAnimBg="0"/>
      <p:bldP spid="285740" grpId="0" autoUpdateAnimBg="0"/>
      <p:bldP spid="285748" grpId="0"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397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75520" y="1772816"/>
            <a:ext cx="4608512" cy="481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标题 2"/>
          <p:cNvSpPr>
            <a:spLocks noGrp="1" noChangeArrowheads="1"/>
          </p:cNvSpPr>
          <p:nvPr>
            <p:ph type="title"/>
          </p:nvPr>
        </p:nvSpPr>
        <p:spPr>
          <a:xfrm>
            <a:off x="2135188" y="476251"/>
            <a:ext cx="7766050" cy="563563"/>
          </a:xfrm>
        </p:spPr>
        <p:txBody>
          <a:bodyPr/>
          <a:lstStyle/>
          <a:p>
            <a:r>
              <a:rPr lang="zh-CN" altLang="en-US" sz="3600"/>
              <a:t>科研路上的和谐伉俪</a:t>
            </a:r>
            <a:r>
              <a:rPr lang="en-US" altLang="zh-CN" sz="3600"/>
              <a:t>---Cori</a:t>
            </a:r>
            <a:r>
              <a:rPr lang="zh-CN" altLang="en-US" sz="3600"/>
              <a:t>夫妇</a:t>
            </a:r>
            <a:endParaRPr lang="zh-CN" altLang="en-US" sz="3600"/>
          </a:p>
        </p:txBody>
      </p:sp>
      <p:sp>
        <p:nvSpPr>
          <p:cNvPr id="83972" name="矩形 3"/>
          <p:cNvSpPr>
            <a:spLocks noChangeArrowheads="1"/>
          </p:cNvSpPr>
          <p:nvPr/>
        </p:nvSpPr>
        <p:spPr bwMode="auto">
          <a:xfrm>
            <a:off x="6888088" y="2348880"/>
            <a:ext cx="4608512"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2200" b="0" dirty="0">
                <a:solidFill>
                  <a:srgbClr val="000000"/>
                </a:solidFill>
                <a:latin typeface="Arial" panose="020B0604020202020204" pitchFamily="34" charset="0"/>
                <a:ea typeface="宋体" panose="02010600030101010101" pitchFamily="2" charset="-122"/>
              </a:rPr>
              <a:t>Carl and </a:t>
            </a:r>
            <a:r>
              <a:rPr lang="en-US" altLang="zh-CN" sz="2200" b="0" dirty="0" err="1">
                <a:solidFill>
                  <a:srgbClr val="000000"/>
                </a:solidFill>
                <a:latin typeface="Arial" panose="020B0604020202020204" pitchFamily="34" charset="0"/>
                <a:ea typeface="宋体" panose="02010600030101010101" pitchFamily="2" charset="-122"/>
              </a:rPr>
              <a:t>Gerty</a:t>
            </a:r>
            <a:r>
              <a:rPr lang="en-US" altLang="zh-CN" sz="2200" b="0" dirty="0">
                <a:solidFill>
                  <a:srgbClr val="000000"/>
                </a:solidFill>
                <a:latin typeface="Arial" panose="020B0604020202020204" pitchFamily="34" charset="0"/>
                <a:ea typeface="宋体" panose="02010600030101010101" pitchFamily="2" charset="-122"/>
              </a:rPr>
              <a:t> Cori shared the </a:t>
            </a:r>
            <a:r>
              <a:rPr lang="en-US" altLang="zh-CN" sz="2200" b="0" dirty="0">
                <a:solidFill>
                  <a:srgbClr val="0033CC"/>
                </a:solidFill>
                <a:latin typeface="Arial" panose="020B0604020202020204" pitchFamily="34" charset="0"/>
                <a:ea typeface="宋体" panose="02010600030101010101" pitchFamily="2" charset="-122"/>
              </a:rPr>
              <a:t>Nobel Prize in Physiology or Medicine in 1947</a:t>
            </a:r>
            <a:r>
              <a:rPr lang="en-US" altLang="zh-CN" sz="2200" b="0" dirty="0">
                <a:solidFill>
                  <a:srgbClr val="000000"/>
                </a:solidFill>
                <a:latin typeface="Arial" panose="020B0604020202020204" pitchFamily="34" charset="0"/>
                <a:ea typeface="宋体" panose="02010600030101010101" pitchFamily="2" charset="-122"/>
              </a:rPr>
              <a:t> with Bernardo Houssay of Argentina.   </a:t>
            </a:r>
            <a:endParaRPr lang="en-US" altLang="zh-CN" sz="2200" b="0" dirty="0">
              <a:solidFill>
                <a:srgbClr val="000000"/>
              </a:solidFill>
              <a:latin typeface="Arial" panose="020B0604020202020204" pitchFamily="34" charset="0"/>
              <a:ea typeface="宋体" panose="02010600030101010101" pitchFamily="2" charset="-122"/>
            </a:endParaRPr>
          </a:p>
          <a:p>
            <a:pPr>
              <a:spcBef>
                <a:spcPct val="0"/>
              </a:spcBef>
              <a:buClrTx/>
              <a:buSzTx/>
              <a:buFont typeface="Wingdings" panose="05000000000000000000" pitchFamily="2" charset="2"/>
              <a:buNone/>
            </a:pPr>
            <a:endParaRPr lang="en-US" altLang="zh-CN" sz="2200" dirty="0">
              <a:latin typeface="Arial" panose="020B0604020202020204" pitchFamily="34" charset="0"/>
              <a:ea typeface="宋体" panose="02010600030101010101" pitchFamily="2" charset="-122"/>
            </a:endParaRPr>
          </a:p>
          <a:p>
            <a:pPr>
              <a:spcBef>
                <a:spcPct val="0"/>
              </a:spcBef>
              <a:buClrTx/>
              <a:buSzTx/>
              <a:buNone/>
            </a:pPr>
            <a:r>
              <a:rPr lang="zh-CN" altLang="en-US" sz="2200" b="0" dirty="0">
                <a:ea typeface="宋体" panose="02010600030101010101" pitchFamily="2" charset="-122"/>
              </a:rPr>
              <a:t>格蒂</a:t>
            </a:r>
            <a:r>
              <a:rPr lang="en-US" altLang="zh-CN" sz="2200" b="0" dirty="0">
                <a:ea typeface="宋体" panose="02010600030101010101" pitchFamily="2" charset="-122"/>
              </a:rPr>
              <a:t>·</a:t>
            </a:r>
            <a:r>
              <a:rPr lang="zh-CN" altLang="en-US" sz="2200" b="0" dirty="0">
                <a:ea typeface="宋体" panose="02010600030101010101" pitchFamily="2" charset="-122"/>
              </a:rPr>
              <a:t>特蕾莎</a:t>
            </a:r>
            <a:r>
              <a:rPr lang="en-US" altLang="zh-CN" sz="2200" b="0" dirty="0">
                <a:ea typeface="宋体" panose="02010600030101010101" pitchFamily="2" charset="-122"/>
              </a:rPr>
              <a:t>·</a:t>
            </a:r>
            <a:r>
              <a:rPr lang="zh-CN" altLang="en-US" sz="2200" b="0" dirty="0">
                <a:ea typeface="宋体" panose="02010600030101010101" pitchFamily="2" charset="-122"/>
              </a:rPr>
              <a:t>科里</a:t>
            </a:r>
            <a:r>
              <a:rPr lang="en-US" altLang="zh-CN" sz="2200" b="0" dirty="0" err="1">
                <a:latin typeface="Arial" panose="020B0604020202020204" pitchFamily="34" charset="0"/>
                <a:ea typeface="宋体" panose="02010600030101010101" pitchFamily="2" charset="-122"/>
              </a:rPr>
              <a:t>Gerty</a:t>
            </a:r>
            <a:r>
              <a:rPr lang="en-US" altLang="zh-CN" sz="2200" b="0" dirty="0">
                <a:latin typeface="Arial" panose="020B0604020202020204" pitchFamily="34" charset="0"/>
                <a:ea typeface="宋体" panose="02010600030101010101" pitchFamily="2" charset="-122"/>
              </a:rPr>
              <a:t> Theresa Cori (1896 –1957</a:t>
            </a:r>
            <a:r>
              <a:rPr lang="en-US" altLang="zh-CN" sz="2200" b="0" dirty="0">
                <a:ea typeface="宋体" panose="02010600030101010101" pitchFamily="2" charset="-122"/>
              </a:rPr>
              <a:t>)</a:t>
            </a:r>
            <a:r>
              <a:rPr lang="zh-CN" altLang="en-US" sz="2200" b="0" dirty="0">
                <a:ea typeface="宋体" panose="02010600030101010101" pitchFamily="2" charset="-122"/>
              </a:rPr>
              <a:t>，第一位获得诺贝尔生理学或医学奖的女性。</a:t>
            </a:r>
            <a:endParaRPr lang="zh-CN" altLang="en-US" sz="2200" b="0" dirty="0">
              <a:ea typeface="宋体" panose="02010600030101010101" pitchFamily="2" charset="-122"/>
            </a:endParaRPr>
          </a:p>
        </p:txBody>
      </p:sp>
    </p:spTree>
  </p:cSld>
  <p:clrMapOvr>
    <a:masterClrMapping/>
  </p:clrMapOvr>
  <p:transition spd="med">
    <p:zoom/>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Text Box 2"/>
          <p:cNvSpPr txBox="1">
            <a:spLocks noChangeArrowheads="1"/>
          </p:cNvSpPr>
          <p:nvPr/>
        </p:nvSpPr>
        <p:spPr bwMode="auto">
          <a:xfrm>
            <a:off x="2208213" y="3429000"/>
            <a:ext cx="35988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b="0" dirty="0">
                <a:solidFill>
                  <a:srgbClr val="0033CC"/>
                </a:solidFill>
                <a:latin typeface="Arial" panose="020B0604020202020204" pitchFamily="34" charset="0"/>
              </a:rPr>
              <a:t>3. </a:t>
            </a:r>
            <a:r>
              <a:rPr kumimoji="1" lang="zh-CN" altLang="en-US" b="0" dirty="0">
                <a:solidFill>
                  <a:srgbClr val="0033CC"/>
                </a:solidFill>
                <a:latin typeface="Arial" panose="020B0604020202020204" pitchFamily="34" charset="0"/>
              </a:rPr>
              <a:t>生理意义 </a:t>
            </a:r>
            <a:endParaRPr kumimoji="1" lang="zh-CN" altLang="en-US" b="0" dirty="0">
              <a:solidFill>
                <a:srgbClr val="0033CC"/>
              </a:solidFill>
              <a:latin typeface="Arial" panose="020B0604020202020204" pitchFamily="34" charset="0"/>
            </a:endParaRPr>
          </a:p>
        </p:txBody>
      </p:sp>
      <p:sp>
        <p:nvSpPr>
          <p:cNvPr id="286723" name="Text Box 3"/>
          <p:cNvSpPr txBox="1">
            <a:spLocks noChangeArrowheads="1"/>
          </p:cNvSpPr>
          <p:nvPr/>
        </p:nvSpPr>
        <p:spPr bwMode="auto">
          <a:xfrm>
            <a:off x="3048000" y="4191000"/>
            <a:ext cx="7151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① 乳酸再利用，避免了乳酸的损失。 </a:t>
            </a:r>
            <a:endParaRPr kumimoji="1" lang="zh-CN" altLang="en-US" b="0">
              <a:latin typeface="Arial" panose="020B0604020202020204" pitchFamily="34" charset="0"/>
            </a:endParaRPr>
          </a:p>
        </p:txBody>
      </p:sp>
      <p:sp>
        <p:nvSpPr>
          <p:cNvPr id="286724" name="Rectangle 4"/>
          <p:cNvSpPr>
            <a:spLocks noChangeArrowheads="1"/>
          </p:cNvSpPr>
          <p:nvPr/>
        </p:nvSpPr>
        <p:spPr bwMode="auto">
          <a:xfrm>
            <a:off x="3048000" y="4983164"/>
            <a:ext cx="62166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dirty="0">
                <a:latin typeface="Arial" panose="020B0604020202020204" pitchFamily="34" charset="0"/>
              </a:rPr>
              <a:t>② 防止乳酸堆积引起酸中毒。 </a:t>
            </a:r>
            <a:endParaRPr kumimoji="1" lang="zh-CN" altLang="en-US" b="0" dirty="0">
              <a:latin typeface="Arial" panose="020B0604020202020204" pitchFamily="34" charset="0"/>
            </a:endParaRPr>
          </a:p>
        </p:txBody>
      </p:sp>
      <p:sp>
        <p:nvSpPr>
          <p:cNvPr id="286725" name="Text Box 5"/>
          <p:cNvSpPr txBox="1">
            <a:spLocks noChangeArrowheads="1"/>
          </p:cNvSpPr>
          <p:nvPr/>
        </p:nvSpPr>
        <p:spPr bwMode="auto">
          <a:xfrm>
            <a:off x="2209800" y="1357314"/>
            <a:ext cx="71262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a:latin typeface="Arial" panose="020B0604020202020204" pitchFamily="34" charset="0"/>
              </a:rPr>
              <a:t>2. </a:t>
            </a:r>
            <a:r>
              <a:rPr kumimoji="1" lang="zh-CN" altLang="en-US">
                <a:solidFill>
                  <a:srgbClr val="C00000"/>
                </a:solidFill>
                <a:latin typeface="Arial" panose="020B0604020202020204" pitchFamily="34" charset="0"/>
              </a:rPr>
              <a:t>乳酸循环是一个耗能的过程 </a:t>
            </a:r>
            <a:endParaRPr kumimoji="1" lang="zh-CN" altLang="en-US">
              <a:solidFill>
                <a:srgbClr val="C00000"/>
              </a:solidFill>
              <a:latin typeface="Arial" panose="020B0604020202020204" pitchFamily="34" charset="0"/>
            </a:endParaRPr>
          </a:p>
        </p:txBody>
      </p:sp>
      <p:sp>
        <p:nvSpPr>
          <p:cNvPr id="286726" name="Rectangle 6"/>
          <p:cNvSpPr>
            <a:spLocks noChangeArrowheads="1"/>
          </p:cNvSpPr>
          <p:nvPr/>
        </p:nvSpPr>
        <p:spPr bwMode="auto">
          <a:xfrm>
            <a:off x="2667000" y="2209800"/>
            <a:ext cx="800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2分子乳酸异生为1分子葡萄糖需</a:t>
            </a:r>
            <a:r>
              <a:rPr kumimoji="1" lang="zh-CN" altLang="en-US" b="0">
                <a:solidFill>
                  <a:schemeClr val="tx2"/>
                </a:solidFill>
                <a:latin typeface="Arial" panose="020B0604020202020204" pitchFamily="34" charset="0"/>
              </a:rPr>
              <a:t>6分子</a:t>
            </a:r>
            <a:r>
              <a:rPr kumimoji="1" lang="en-US" altLang="zh-CN" b="0">
                <a:solidFill>
                  <a:schemeClr val="tx2"/>
                </a:solidFill>
                <a:latin typeface="Arial" panose="020B0604020202020204" pitchFamily="34" charset="0"/>
              </a:rPr>
              <a:t>ATP</a:t>
            </a:r>
            <a:r>
              <a:rPr kumimoji="1" lang="en-US" altLang="zh-CN" b="0">
                <a:solidFill>
                  <a:srgbClr val="F67CF3"/>
                </a:solidFill>
                <a:latin typeface="Arial" panose="020B0604020202020204" pitchFamily="34" charset="0"/>
              </a:rPr>
              <a:t> </a:t>
            </a:r>
            <a:endParaRPr kumimoji="1" lang="en-US" altLang="zh-CN" b="0">
              <a:solidFill>
                <a:srgbClr val="F67CF3"/>
              </a:solidFill>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86725"/>
                                        </p:tgtEl>
                                        <p:attrNameLst>
                                          <p:attrName>style.visibility</p:attrName>
                                        </p:attrNameLst>
                                      </p:cBhvr>
                                      <p:to>
                                        <p:strVal val="visible"/>
                                      </p:to>
                                    </p:set>
                                    <p:animEffect transition="in" filter="barn(inVertical)">
                                      <p:cBhvr>
                                        <p:cTn id="7" dur="500"/>
                                        <p:tgtEl>
                                          <p:spTgt spid="28672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86726"/>
                                        </p:tgtEl>
                                        <p:attrNameLst>
                                          <p:attrName>style.visibility</p:attrName>
                                        </p:attrNameLst>
                                      </p:cBhvr>
                                      <p:to>
                                        <p:strVal val="visible"/>
                                      </p:to>
                                    </p:set>
                                    <p:animEffect transition="in" filter="dissolve">
                                      <p:cBhvr>
                                        <p:cTn id="11" dur="500"/>
                                        <p:tgtEl>
                                          <p:spTgt spid="286726"/>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286722"/>
                                        </p:tgtEl>
                                        <p:attrNameLst>
                                          <p:attrName>style.visibility</p:attrName>
                                        </p:attrNameLst>
                                      </p:cBhvr>
                                      <p:to>
                                        <p:strVal val="visible"/>
                                      </p:to>
                                    </p:set>
                                    <p:anim calcmode="lin" valueType="num">
                                      <p:cBhvr additive="base">
                                        <p:cTn id="16" dur="500" fill="hold"/>
                                        <p:tgtEl>
                                          <p:spTgt spid="286722"/>
                                        </p:tgtEl>
                                        <p:attrNameLst>
                                          <p:attrName>ppt_x</p:attrName>
                                        </p:attrNameLst>
                                      </p:cBhvr>
                                      <p:tavLst>
                                        <p:tav tm="0">
                                          <p:val>
                                            <p:strVal val="#ppt_x"/>
                                          </p:val>
                                        </p:tav>
                                        <p:tav tm="100000">
                                          <p:val>
                                            <p:strVal val="#ppt_x"/>
                                          </p:val>
                                        </p:tav>
                                      </p:tavLst>
                                    </p:anim>
                                    <p:anim calcmode="lin" valueType="num">
                                      <p:cBhvr additive="base">
                                        <p:cTn id="17" dur="500" fill="hold"/>
                                        <p:tgtEl>
                                          <p:spTgt spid="286722"/>
                                        </p:tgtEl>
                                        <p:attrNameLst>
                                          <p:attrName>ppt_y</p:attrName>
                                        </p:attrNameLst>
                                      </p:cBhvr>
                                      <p:tavLst>
                                        <p:tav tm="0">
                                          <p:val>
                                            <p:strVal val="1+#ppt_h/2"/>
                                          </p:val>
                                        </p:tav>
                                        <p:tav tm="100000">
                                          <p:val>
                                            <p:strVal val="#ppt_y"/>
                                          </p:val>
                                        </p:tav>
                                      </p:tavLst>
                                    </p:anim>
                                  </p:childTnLst>
                                </p:cTn>
                              </p:par>
                            </p:childTnLst>
                          </p:cTn>
                        </p:par>
                        <p:par>
                          <p:cTn id="18" fill="hold">
                            <p:stCondLst>
                              <p:cond delay="500"/>
                            </p:stCondLst>
                            <p:childTnLst>
                              <p:par>
                                <p:cTn id="19" presetID="17" presetClass="entr" presetSubtype="8" fill="hold" grpId="0" nodeType="afterEffect">
                                  <p:stCondLst>
                                    <p:cond delay="0"/>
                                  </p:stCondLst>
                                  <p:childTnLst>
                                    <p:set>
                                      <p:cBhvr>
                                        <p:cTn id="20" dur="1" fill="hold">
                                          <p:stCondLst>
                                            <p:cond delay="0"/>
                                          </p:stCondLst>
                                        </p:cTn>
                                        <p:tgtEl>
                                          <p:spTgt spid="286723"/>
                                        </p:tgtEl>
                                        <p:attrNameLst>
                                          <p:attrName>style.visibility</p:attrName>
                                        </p:attrNameLst>
                                      </p:cBhvr>
                                      <p:to>
                                        <p:strVal val="visible"/>
                                      </p:to>
                                    </p:set>
                                    <p:anim calcmode="lin" valueType="num">
                                      <p:cBhvr>
                                        <p:cTn id="21" dur="500" fill="hold"/>
                                        <p:tgtEl>
                                          <p:spTgt spid="286723"/>
                                        </p:tgtEl>
                                        <p:attrNameLst>
                                          <p:attrName>ppt_x</p:attrName>
                                        </p:attrNameLst>
                                      </p:cBhvr>
                                      <p:tavLst>
                                        <p:tav tm="0">
                                          <p:val>
                                            <p:strVal val="#ppt_x-#ppt_w/2"/>
                                          </p:val>
                                        </p:tav>
                                        <p:tav tm="100000">
                                          <p:val>
                                            <p:strVal val="#ppt_x"/>
                                          </p:val>
                                        </p:tav>
                                      </p:tavLst>
                                    </p:anim>
                                    <p:anim calcmode="lin" valueType="num">
                                      <p:cBhvr>
                                        <p:cTn id="22" dur="500" fill="hold"/>
                                        <p:tgtEl>
                                          <p:spTgt spid="286723"/>
                                        </p:tgtEl>
                                        <p:attrNameLst>
                                          <p:attrName>ppt_y</p:attrName>
                                        </p:attrNameLst>
                                      </p:cBhvr>
                                      <p:tavLst>
                                        <p:tav tm="0">
                                          <p:val>
                                            <p:strVal val="#ppt_y"/>
                                          </p:val>
                                        </p:tav>
                                        <p:tav tm="100000">
                                          <p:val>
                                            <p:strVal val="#ppt_y"/>
                                          </p:val>
                                        </p:tav>
                                      </p:tavLst>
                                    </p:anim>
                                    <p:anim calcmode="lin" valueType="num">
                                      <p:cBhvr>
                                        <p:cTn id="23" dur="500" fill="hold"/>
                                        <p:tgtEl>
                                          <p:spTgt spid="286723"/>
                                        </p:tgtEl>
                                        <p:attrNameLst>
                                          <p:attrName>ppt_w</p:attrName>
                                        </p:attrNameLst>
                                      </p:cBhvr>
                                      <p:tavLst>
                                        <p:tav tm="0">
                                          <p:val>
                                            <p:fltVal val="0"/>
                                          </p:val>
                                        </p:tav>
                                        <p:tav tm="100000">
                                          <p:val>
                                            <p:strVal val="#ppt_w"/>
                                          </p:val>
                                        </p:tav>
                                      </p:tavLst>
                                    </p:anim>
                                    <p:anim calcmode="lin" valueType="num">
                                      <p:cBhvr>
                                        <p:cTn id="24" dur="500" fill="hold"/>
                                        <p:tgtEl>
                                          <p:spTgt spid="286723"/>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7" presetClass="entr" presetSubtype="8" fill="hold" grpId="0" nodeType="afterEffect">
                                  <p:stCondLst>
                                    <p:cond delay="0"/>
                                  </p:stCondLst>
                                  <p:childTnLst>
                                    <p:set>
                                      <p:cBhvr>
                                        <p:cTn id="27" dur="1" fill="hold">
                                          <p:stCondLst>
                                            <p:cond delay="0"/>
                                          </p:stCondLst>
                                        </p:cTn>
                                        <p:tgtEl>
                                          <p:spTgt spid="286724"/>
                                        </p:tgtEl>
                                        <p:attrNameLst>
                                          <p:attrName>style.visibility</p:attrName>
                                        </p:attrNameLst>
                                      </p:cBhvr>
                                      <p:to>
                                        <p:strVal val="visible"/>
                                      </p:to>
                                    </p:set>
                                    <p:anim calcmode="lin" valueType="num">
                                      <p:cBhvr>
                                        <p:cTn id="28" dur="500" fill="hold"/>
                                        <p:tgtEl>
                                          <p:spTgt spid="286724"/>
                                        </p:tgtEl>
                                        <p:attrNameLst>
                                          <p:attrName>ppt_x</p:attrName>
                                        </p:attrNameLst>
                                      </p:cBhvr>
                                      <p:tavLst>
                                        <p:tav tm="0">
                                          <p:val>
                                            <p:strVal val="#ppt_x-#ppt_w/2"/>
                                          </p:val>
                                        </p:tav>
                                        <p:tav tm="100000">
                                          <p:val>
                                            <p:strVal val="#ppt_x"/>
                                          </p:val>
                                        </p:tav>
                                      </p:tavLst>
                                    </p:anim>
                                    <p:anim calcmode="lin" valueType="num">
                                      <p:cBhvr>
                                        <p:cTn id="29" dur="500" fill="hold"/>
                                        <p:tgtEl>
                                          <p:spTgt spid="286724"/>
                                        </p:tgtEl>
                                        <p:attrNameLst>
                                          <p:attrName>ppt_y</p:attrName>
                                        </p:attrNameLst>
                                      </p:cBhvr>
                                      <p:tavLst>
                                        <p:tav tm="0">
                                          <p:val>
                                            <p:strVal val="#ppt_y"/>
                                          </p:val>
                                        </p:tav>
                                        <p:tav tm="100000">
                                          <p:val>
                                            <p:strVal val="#ppt_y"/>
                                          </p:val>
                                        </p:tav>
                                      </p:tavLst>
                                    </p:anim>
                                    <p:anim calcmode="lin" valueType="num">
                                      <p:cBhvr>
                                        <p:cTn id="30" dur="500" fill="hold"/>
                                        <p:tgtEl>
                                          <p:spTgt spid="286724"/>
                                        </p:tgtEl>
                                        <p:attrNameLst>
                                          <p:attrName>ppt_w</p:attrName>
                                        </p:attrNameLst>
                                      </p:cBhvr>
                                      <p:tavLst>
                                        <p:tav tm="0">
                                          <p:val>
                                            <p:fltVal val="0"/>
                                          </p:val>
                                        </p:tav>
                                        <p:tav tm="100000">
                                          <p:val>
                                            <p:strVal val="#ppt_w"/>
                                          </p:val>
                                        </p:tav>
                                      </p:tavLst>
                                    </p:anim>
                                    <p:anim calcmode="lin" valueType="num">
                                      <p:cBhvr>
                                        <p:cTn id="31" dur="500" fill="hold"/>
                                        <p:tgtEl>
                                          <p:spTgt spid="2867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22" grpId="0" autoUpdateAnimBg="0"/>
      <p:bldP spid="286723" grpId="0" autoUpdateAnimBg="0"/>
      <p:bldP spid="286724" grpId="0" autoUpdateAnimBg="0"/>
      <p:bldP spid="286725" grpId="0" autoUpdateAnimBg="0"/>
      <p:bldP spid="286726" grpId="0" autoUpdateAnimBg="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501775" y="1427163"/>
            <a:ext cx="9144000" cy="2724150"/>
          </a:xfrm>
        </p:spPr>
        <p:txBody>
          <a:bodyPr/>
          <a:lstStyle/>
          <a:p>
            <a:pPr eaLnBrk="1" hangingPunct="1">
              <a:lnSpc>
                <a:spcPct val="200000"/>
              </a:lnSpc>
            </a:pPr>
            <a:r>
              <a:rPr lang="zh-CN" altLang="en-US" sz="4400" b="1">
                <a:solidFill>
                  <a:srgbClr val="800000"/>
                </a:solidFill>
              </a:rPr>
              <a:t>第 七 节 </a:t>
            </a:r>
            <a:br>
              <a:rPr lang="zh-CN" altLang="en-US" sz="4400" b="1">
                <a:solidFill>
                  <a:srgbClr val="800000"/>
                </a:solidFill>
              </a:rPr>
            </a:br>
            <a:r>
              <a:rPr lang="zh-CN" altLang="en-US" sz="4400" b="1">
                <a:solidFill>
                  <a:srgbClr val="800000"/>
                </a:solidFill>
              </a:rPr>
              <a:t>葡萄糖的其他代谢途径</a:t>
            </a:r>
            <a:endParaRPr lang="zh-CN" altLang="en-US" sz="4400" b="1">
              <a:solidFill>
                <a:srgbClr val="800000"/>
              </a:solidFill>
            </a:endParaRPr>
          </a:p>
        </p:txBody>
      </p:sp>
    </p:spTree>
  </p:cSld>
  <p:clrMapOvr>
    <a:masterClrMapping/>
  </p:clrMapOvr>
  <p:transition spd="med">
    <p:zoom/>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bwMode="auto">
          <a:xfrm>
            <a:off x="1919288" y="404813"/>
            <a:ext cx="8229600" cy="850900"/>
          </a:xfrm>
          <a:noFill/>
        </p:spPr>
        <p:txBody>
          <a:bodyPr anchor="t"/>
          <a:lstStyle/>
          <a:p>
            <a:r>
              <a:rPr lang="zh-CN" altLang="en-US" sz="3600" b="1" dirty="0">
                <a:solidFill>
                  <a:srgbClr val="C00000"/>
                </a:solidFill>
              </a:rPr>
              <a:t>一、糖醛酸途径生成葡萄糖醛酸</a:t>
            </a:r>
            <a:endParaRPr lang="zh-CN" altLang="en-US" sz="3600" b="1" dirty="0">
              <a:solidFill>
                <a:srgbClr val="C00000"/>
              </a:solidFill>
            </a:endParaRPr>
          </a:p>
        </p:txBody>
      </p:sp>
      <p:sp>
        <p:nvSpPr>
          <p:cNvPr id="90115" name="Rectangle 3"/>
          <p:cNvSpPr>
            <a:spLocks noGrp="1" noChangeArrowheads="1"/>
          </p:cNvSpPr>
          <p:nvPr>
            <p:ph type="body" idx="1"/>
          </p:nvPr>
        </p:nvSpPr>
        <p:spPr>
          <a:xfrm>
            <a:off x="2197100" y="1600200"/>
            <a:ext cx="1900238" cy="388938"/>
          </a:xfrm>
          <a:noFill/>
        </p:spPr>
        <p:txBody>
          <a:bodyPr/>
          <a:lstStyle/>
          <a:p>
            <a:pPr>
              <a:lnSpc>
                <a:spcPct val="80000"/>
              </a:lnSpc>
              <a:buFontTx/>
              <a:buNone/>
            </a:pPr>
            <a:r>
              <a:rPr lang="zh-CN" altLang="en-US" sz="2800"/>
              <a:t>葡萄糖</a:t>
            </a:r>
            <a:endParaRPr lang="zh-CN" altLang="en-US" sz="2800"/>
          </a:p>
        </p:txBody>
      </p:sp>
      <p:sp>
        <p:nvSpPr>
          <p:cNvPr id="90116" name="Line 4"/>
          <p:cNvSpPr>
            <a:spLocks noChangeShapeType="1"/>
          </p:cNvSpPr>
          <p:nvPr/>
        </p:nvSpPr>
        <p:spPr bwMode="auto">
          <a:xfrm>
            <a:off x="2711450" y="1989138"/>
            <a:ext cx="0" cy="360362"/>
          </a:xfrm>
          <a:prstGeom prst="line">
            <a:avLst/>
          </a:prstGeom>
          <a:noFill/>
          <a:ln w="57150">
            <a:solidFill>
              <a:srgbClr val="000099"/>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17" name="Rectangle 5"/>
          <p:cNvSpPr>
            <a:spLocks noChangeArrowheads="1"/>
          </p:cNvSpPr>
          <p:nvPr/>
        </p:nvSpPr>
        <p:spPr bwMode="auto">
          <a:xfrm>
            <a:off x="2208213" y="2493964"/>
            <a:ext cx="251936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buClrTx/>
              <a:buSzPct val="85000"/>
              <a:buFontTx/>
              <a:buNone/>
            </a:pPr>
            <a:r>
              <a:rPr lang="en-US" altLang="zh-CN" sz="2800">
                <a:latin typeface="Arial" panose="020B0604020202020204" pitchFamily="34" charset="0"/>
                <a:ea typeface="宋体" panose="02010600030101010101" pitchFamily="2" charset="-122"/>
              </a:rPr>
              <a:t>6-</a:t>
            </a:r>
            <a:r>
              <a:rPr lang="zh-CN" altLang="en-US" sz="2800">
                <a:latin typeface="Arial" panose="020B0604020202020204" pitchFamily="34" charset="0"/>
                <a:ea typeface="宋体" panose="02010600030101010101" pitchFamily="2" charset="-122"/>
              </a:rPr>
              <a:t>磷酸葡萄糖</a:t>
            </a:r>
            <a:endParaRPr lang="zh-CN" altLang="en-US" sz="2800">
              <a:latin typeface="Arial" panose="020B0604020202020204" pitchFamily="34" charset="0"/>
              <a:ea typeface="宋体" panose="02010600030101010101" pitchFamily="2" charset="-122"/>
            </a:endParaRPr>
          </a:p>
        </p:txBody>
      </p:sp>
      <p:sp>
        <p:nvSpPr>
          <p:cNvPr id="90118" name="Rectangle 6"/>
          <p:cNvSpPr>
            <a:spLocks noChangeArrowheads="1"/>
          </p:cNvSpPr>
          <p:nvPr/>
        </p:nvSpPr>
        <p:spPr bwMode="auto">
          <a:xfrm>
            <a:off x="2208214" y="3430589"/>
            <a:ext cx="24479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buClrTx/>
              <a:buSzPct val="85000"/>
              <a:buFontTx/>
              <a:buNone/>
            </a:pPr>
            <a:r>
              <a:rPr lang="en-US" altLang="zh-CN" sz="2800">
                <a:latin typeface="Arial" panose="020B0604020202020204" pitchFamily="34" charset="0"/>
                <a:ea typeface="宋体" panose="02010600030101010101" pitchFamily="2" charset="-122"/>
              </a:rPr>
              <a:t>1-</a:t>
            </a:r>
            <a:r>
              <a:rPr lang="zh-CN" altLang="en-US" sz="2800">
                <a:latin typeface="Arial" panose="020B0604020202020204" pitchFamily="34" charset="0"/>
                <a:ea typeface="宋体" panose="02010600030101010101" pitchFamily="2" charset="-122"/>
              </a:rPr>
              <a:t>磷酸葡萄糖</a:t>
            </a:r>
            <a:endParaRPr lang="zh-CN" altLang="en-US" sz="2800">
              <a:latin typeface="Arial" panose="020B0604020202020204" pitchFamily="34" charset="0"/>
              <a:ea typeface="宋体" panose="02010600030101010101" pitchFamily="2" charset="-122"/>
            </a:endParaRPr>
          </a:p>
        </p:txBody>
      </p:sp>
      <p:sp>
        <p:nvSpPr>
          <p:cNvPr id="90119" name="Rectangle 7"/>
          <p:cNvSpPr>
            <a:spLocks noChangeArrowheads="1"/>
          </p:cNvSpPr>
          <p:nvPr/>
        </p:nvSpPr>
        <p:spPr bwMode="auto">
          <a:xfrm>
            <a:off x="2208213" y="4365626"/>
            <a:ext cx="3167062"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buClrTx/>
              <a:buSzPct val="85000"/>
              <a:buFontTx/>
              <a:buNone/>
            </a:pPr>
            <a:r>
              <a:rPr lang="zh-CN" altLang="en-US" sz="2800">
                <a:latin typeface="Arial" panose="020B0604020202020204" pitchFamily="34" charset="0"/>
                <a:ea typeface="宋体" panose="02010600030101010101" pitchFamily="2" charset="-122"/>
              </a:rPr>
              <a:t>尿苷二磷酸葡萄糖</a:t>
            </a:r>
            <a:endParaRPr lang="zh-CN" altLang="en-US" sz="2800">
              <a:latin typeface="Arial" panose="020B0604020202020204" pitchFamily="34" charset="0"/>
              <a:ea typeface="宋体" panose="02010600030101010101" pitchFamily="2" charset="-122"/>
            </a:endParaRPr>
          </a:p>
        </p:txBody>
      </p:sp>
      <p:sp>
        <p:nvSpPr>
          <p:cNvPr id="90120" name="Rectangle 8"/>
          <p:cNvSpPr>
            <a:spLocks noChangeArrowheads="1"/>
          </p:cNvSpPr>
          <p:nvPr/>
        </p:nvSpPr>
        <p:spPr bwMode="auto">
          <a:xfrm>
            <a:off x="1775520" y="5302251"/>
            <a:ext cx="396011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80000"/>
              </a:lnSpc>
              <a:buClrTx/>
              <a:buSzPct val="85000"/>
              <a:buFontTx/>
              <a:buNone/>
            </a:pPr>
            <a:r>
              <a:rPr lang="en-US" altLang="zh-CN" sz="2800" dirty="0">
                <a:latin typeface="Arial" panose="020B0604020202020204" pitchFamily="34" charset="0"/>
                <a:ea typeface="宋体" panose="02010600030101010101" pitchFamily="2" charset="-122"/>
              </a:rPr>
              <a:t> </a:t>
            </a:r>
            <a:r>
              <a:rPr lang="zh-CN" altLang="en-US" sz="2800" dirty="0">
                <a:solidFill>
                  <a:srgbClr val="FF0000"/>
                </a:solidFill>
                <a:latin typeface="Arial" panose="020B0604020202020204" pitchFamily="34" charset="0"/>
                <a:ea typeface="宋体" panose="02010600030101010101" pitchFamily="2" charset="-122"/>
              </a:rPr>
              <a:t>尿苷二磷酸葡萄糖醛酸</a:t>
            </a:r>
            <a:endParaRPr lang="zh-CN" altLang="en-US" sz="2800" dirty="0">
              <a:solidFill>
                <a:srgbClr val="FF0000"/>
              </a:solidFill>
              <a:latin typeface="Arial" panose="020B0604020202020204" pitchFamily="34" charset="0"/>
              <a:ea typeface="宋体" panose="02010600030101010101" pitchFamily="2" charset="-122"/>
            </a:endParaRPr>
          </a:p>
          <a:p>
            <a:pPr algn="ctr" eaLnBrk="1" hangingPunct="1">
              <a:lnSpc>
                <a:spcPct val="80000"/>
              </a:lnSpc>
              <a:buClrTx/>
              <a:buSzPct val="85000"/>
              <a:buFontTx/>
              <a:buNone/>
            </a:pPr>
            <a:r>
              <a:rPr lang="zh-CN" altLang="en-US" sz="2800" dirty="0">
                <a:solidFill>
                  <a:srgbClr val="FF0000"/>
                </a:solidFill>
                <a:latin typeface="Arial" panose="020B0604020202020204" pitchFamily="34" charset="0"/>
                <a:ea typeface="宋体" panose="02010600030101010101" pitchFamily="2" charset="-122"/>
              </a:rPr>
              <a:t>（</a:t>
            </a:r>
            <a:r>
              <a:rPr lang="en-US" altLang="zh-CN" sz="2800" dirty="0">
                <a:solidFill>
                  <a:srgbClr val="FF0000"/>
                </a:solidFill>
                <a:latin typeface="Arial" panose="020B0604020202020204" pitchFamily="34" charset="0"/>
                <a:ea typeface="宋体" panose="02010600030101010101" pitchFamily="2" charset="-122"/>
              </a:rPr>
              <a:t>UDPGA</a:t>
            </a:r>
            <a:r>
              <a:rPr lang="zh-CN" altLang="en-US" sz="2800" dirty="0">
                <a:solidFill>
                  <a:srgbClr val="FF0000"/>
                </a:solidFill>
                <a:latin typeface="Arial" panose="020B0604020202020204" pitchFamily="34" charset="0"/>
                <a:ea typeface="宋体" panose="02010600030101010101" pitchFamily="2" charset="-122"/>
              </a:rPr>
              <a:t>）</a:t>
            </a:r>
            <a:endParaRPr lang="zh-CN" altLang="en-US" sz="2800" dirty="0">
              <a:solidFill>
                <a:srgbClr val="FF0000"/>
              </a:solidFill>
              <a:latin typeface="Arial" panose="020B0604020202020204" pitchFamily="34" charset="0"/>
              <a:ea typeface="宋体" panose="02010600030101010101" pitchFamily="2" charset="-122"/>
            </a:endParaRPr>
          </a:p>
        </p:txBody>
      </p:sp>
      <p:sp>
        <p:nvSpPr>
          <p:cNvPr id="90121" name="Line 9"/>
          <p:cNvSpPr>
            <a:spLocks noChangeShapeType="1"/>
          </p:cNvSpPr>
          <p:nvPr/>
        </p:nvSpPr>
        <p:spPr bwMode="auto">
          <a:xfrm>
            <a:off x="2711450" y="2997201"/>
            <a:ext cx="0" cy="360363"/>
          </a:xfrm>
          <a:prstGeom prst="line">
            <a:avLst/>
          </a:prstGeom>
          <a:noFill/>
          <a:ln w="57150">
            <a:solidFill>
              <a:srgbClr val="000099"/>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22" name="Line 10"/>
          <p:cNvSpPr>
            <a:spLocks noChangeShapeType="1"/>
          </p:cNvSpPr>
          <p:nvPr/>
        </p:nvSpPr>
        <p:spPr bwMode="auto">
          <a:xfrm>
            <a:off x="2711450" y="3933826"/>
            <a:ext cx="0" cy="360363"/>
          </a:xfrm>
          <a:prstGeom prst="line">
            <a:avLst/>
          </a:prstGeom>
          <a:noFill/>
          <a:ln w="57150">
            <a:solidFill>
              <a:srgbClr val="000099"/>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23" name="Line 11"/>
          <p:cNvSpPr>
            <a:spLocks noChangeShapeType="1"/>
          </p:cNvSpPr>
          <p:nvPr/>
        </p:nvSpPr>
        <p:spPr bwMode="auto">
          <a:xfrm>
            <a:off x="2711450" y="4797426"/>
            <a:ext cx="0" cy="360363"/>
          </a:xfrm>
          <a:prstGeom prst="line">
            <a:avLst/>
          </a:prstGeom>
          <a:noFill/>
          <a:ln w="57150">
            <a:solidFill>
              <a:srgbClr val="000099"/>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24" name="Line 12"/>
          <p:cNvSpPr>
            <a:spLocks noChangeShapeType="1"/>
          </p:cNvSpPr>
          <p:nvPr/>
        </p:nvSpPr>
        <p:spPr bwMode="auto">
          <a:xfrm>
            <a:off x="2711450" y="5876926"/>
            <a:ext cx="0" cy="360363"/>
          </a:xfrm>
          <a:prstGeom prst="line">
            <a:avLst/>
          </a:prstGeom>
          <a:noFill/>
          <a:ln w="57150">
            <a:solidFill>
              <a:srgbClr val="000099"/>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90125" name="Rectangle 13"/>
          <p:cNvSpPr>
            <a:spLocks noChangeArrowheads="1"/>
          </p:cNvSpPr>
          <p:nvPr/>
        </p:nvSpPr>
        <p:spPr bwMode="auto">
          <a:xfrm>
            <a:off x="6237085" y="1770606"/>
            <a:ext cx="446405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80000"/>
              </a:lnSpc>
              <a:buClrTx/>
              <a:buSzPct val="85000"/>
              <a:buFontTx/>
              <a:buNone/>
            </a:pPr>
            <a:r>
              <a:rPr lang="zh-CN" altLang="en-US" dirty="0">
                <a:solidFill>
                  <a:schemeClr val="tx2"/>
                </a:solidFill>
                <a:latin typeface="Arial" panose="020B0604020202020204" pitchFamily="34" charset="0"/>
                <a:ea typeface="宋体" panose="02010600030101010101" pitchFamily="2" charset="-122"/>
              </a:rPr>
              <a:t>糖醛酸途径生理意义：</a:t>
            </a:r>
            <a:endParaRPr lang="zh-CN" altLang="en-US" dirty="0">
              <a:solidFill>
                <a:schemeClr val="tx2"/>
              </a:solidFill>
              <a:latin typeface="Arial" panose="020B0604020202020204" pitchFamily="34" charset="0"/>
              <a:ea typeface="宋体" panose="02010600030101010101" pitchFamily="2" charset="-122"/>
            </a:endParaRPr>
          </a:p>
          <a:p>
            <a:pPr eaLnBrk="1" hangingPunct="1">
              <a:lnSpc>
                <a:spcPct val="110000"/>
              </a:lnSpc>
              <a:buClrTx/>
              <a:buSzPct val="85000"/>
              <a:buFontTx/>
              <a:buNone/>
            </a:pPr>
            <a:r>
              <a:rPr lang="zh-CN" altLang="en-US" sz="2800" dirty="0">
                <a:latin typeface="Arial" panose="020B0604020202020204" pitchFamily="34" charset="0"/>
                <a:ea typeface="宋体" panose="02010600030101010101" pitchFamily="2" charset="-122"/>
              </a:rPr>
              <a:t> </a:t>
            </a:r>
            <a:endParaRPr lang="zh-CN" altLang="en-US" sz="2800" dirty="0">
              <a:latin typeface="Arial" panose="020B0604020202020204" pitchFamily="34" charset="0"/>
              <a:ea typeface="宋体" panose="02010600030101010101" pitchFamily="2" charset="-122"/>
            </a:endParaRPr>
          </a:p>
          <a:p>
            <a:pPr eaLnBrk="1" hangingPunct="1">
              <a:lnSpc>
                <a:spcPct val="110000"/>
              </a:lnSpc>
              <a:buClrTx/>
              <a:buSzPct val="85000"/>
              <a:buFontTx/>
              <a:buBlip>
                <a:blip r:embed="rId1"/>
              </a:buBlip>
            </a:pPr>
            <a:r>
              <a:rPr lang="en-US" altLang="zh-CN" sz="2800" dirty="0">
                <a:latin typeface="Arial" panose="020B0604020202020204" pitchFamily="34" charset="0"/>
                <a:ea typeface="宋体" panose="02010600030101010101" pitchFamily="2" charset="-122"/>
              </a:rPr>
              <a:t>UDPGA</a:t>
            </a:r>
            <a:r>
              <a:rPr lang="zh-CN" altLang="en-US" sz="2800" dirty="0">
                <a:latin typeface="Arial" panose="020B0604020202020204" pitchFamily="34" charset="0"/>
                <a:ea typeface="宋体" panose="02010600030101010101" pitchFamily="2" charset="-122"/>
              </a:rPr>
              <a:t>是组成蛋白聚糖的</a:t>
            </a:r>
            <a:r>
              <a:rPr lang="zh-CN" altLang="en-US" sz="2800" dirty="0">
                <a:solidFill>
                  <a:srgbClr val="0033CC"/>
                </a:solidFill>
                <a:latin typeface="Arial" panose="020B0604020202020204" pitchFamily="34" charset="0"/>
                <a:ea typeface="宋体" panose="02010600030101010101" pitchFamily="2" charset="-122"/>
              </a:rPr>
              <a:t>糖胺多糖</a:t>
            </a:r>
            <a:r>
              <a:rPr lang="zh-CN" altLang="en-US" sz="2800" dirty="0">
                <a:latin typeface="Arial" panose="020B0604020202020204" pitchFamily="34" charset="0"/>
                <a:ea typeface="宋体" panose="02010600030101010101" pitchFamily="2" charset="-122"/>
              </a:rPr>
              <a:t>如透明质酸、硫酸软骨素、肝素等的</a:t>
            </a:r>
            <a:r>
              <a:rPr lang="zh-CN" altLang="en-US" sz="2800" dirty="0">
                <a:solidFill>
                  <a:srgbClr val="0033CC"/>
                </a:solidFill>
                <a:latin typeface="Arial" panose="020B0604020202020204" pitchFamily="34" charset="0"/>
                <a:ea typeface="宋体" panose="02010600030101010101" pitchFamily="2" charset="-122"/>
              </a:rPr>
              <a:t>组成成分。</a:t>
            </a:r>
            <a:endParaRPr lang="zh-CN" altLang="en-US" sz="2800" dirty="0">
              <a:solidFill>
                <a:srgbClr val="0033CC"/>
              </a:solidFill>
              <a:latin typeface="Arial" panose="020B0604020202020204" pitchFamily="34" charset="0"/>
              <a:ea typeface="宋体" panose="02010600030101010101" pitchFamily="2" charset="-122"/>
            </a:endParaRPr>
          </a:p>
          <a:p>
            <a:pPr eaLnBrk="1" hangingPunct="1">
              <a:lnSpc>
                <a:spcPct val="110000"/>
              </a:lnSpc>
              <a:buClrTx/>
              <a:buSzPct val="85000"/>
              <a:buFontTx/>
              <a:buBlip>
                <a:blip r:embed="rId1"/>
              </a:buBlip>
            </a:pPr>
            <a:endParaRPr lang="zh-CN" altLang="en-US" sz="2800" dirty="0">
              <a:latin typeface="Arial" panose="020B0604020202020204" pitchFamily="34" charset="0"/>
              <a:ea typeface="宋体" panose="02010600030101010101" pitchFamily="2" charset="-122"/>
            </a:endParaRPr>
          </a:p>
          <a:p>
            <a:pPr eaLnBrk="1" hangingPunct="1">
              <a:lnSpc>
                <a:spcPct val="110000"/>
              </a:lnSpc>
              <a:buClrTx/>
              <a:buSzPct val="85000"/>
              <a:buFontTx/>
              <a:buBlip>
                <a:blip r:embed="rId1"/>
              </a:buBlip>
            </a:pPr>
            <a:r>
              <a:rPr lang="en-US" altLang="zh-CN" sz="2800" dirty="0">
                <a:latin typeface="Arial" panose="020B0604020202020204" pitchFamily="34" charset="0"/>
                <a:ea typeface="宋体" panose="02010600030101010101" pitchFamily="2" charset="-122"/>
              </a:rPr>
              <a:t>UDPGA</a:t>
            </a:r>
            <a:r>
              <a:rPr lang="zh-CN" altLang="en-US" sz="2800" dirty="0">
                <a:latin typeface="Arial" panose="020B0604020202020204" pitchFamily="34" charset="0"/>
                <a:ea typeface="宋体" panose="02010600030101010101" pitchFamily="2" charset="-122"/>
              </a:rPr>
              <a:t>在</a:t>
            </a:r>
            <a:r>
              <a:rPr lang="zh-CN" altLang="en-US" sz="2800" dirty="0">
                <a:solidFill>
                  <a:srgbClr val="0033CC"/>
                </a:solidFill>
                <a:latin typeface="Arial" panose="020B0604020202020204" pitchFamily="34" charset="0"/>
                <a:ea typeface="宋体" panose="02010600030101010101" pitchFamily="2" charset="-122"/>
              </a:rPr>
              <a:t>生物转化</a:t>
            </a:r>
            <a:r>
              <a:rPr lang="zh-CN" altLang="en-US" sz="2800" dirty="0">
                <a:latin typeface="Arial" panose="020B0604020202020204" pitchFamily="34" charset="0"/>
                <a:ea typeface="宋体" panose="02010600030101010101" pitchFamily="2" charset="-122"/>
              </a:rPr>
              <a:t>过程中参与很多</a:t>
            </a:r>
            <a:r>
              <a:rPr lang="zh-CN" altLang="en-US" sz="2800" dirty="0">
                <a:solidFill>
                  <a:srgbClr val="0033CC"/>
                </a:solidFill>
                <a:latin typeface="Arial" panose="020B0604020202020204" pitchFamily="34" charset="0"/>
                <a:ea typeface="宋体" panose="02010600030101010101" pitchFamily="2" charset="-122"/>
              </a:rPr>
              <a:t>结合反应。</a:t>
            </a:r>
            <a:endParaRPr lang="zh-CN" altLang="en-US" sz="2800" dirty="0">
              <a:solidFill>
                <a:srgbClr val="0033CC"/>
              </a:solidFill>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bwMode="auto">
          <a:xfrm>
            <a:off x="1847528" y="548680"/>
            <a:ext cx="8229600" cy="809625"/>
          </a:xfrm>
          <a:noFill/>
        </p:spPr>
        <p:txBody>
          <a:bodyPr anchor="t"/>
          <a:lstStyle/>
          <a:p>
            <a:r>
              <a:rPr lang="zh-CN" altLang="en-US" sz="3600" b="1">
                <a:solidFill>
                  <a:srgbClr val="C00000"/>
                </a:solidFill>
              </a:rPr>
              <a:t>多元醇途径可生成木糖醇、山梨醇</a:t>
            </a:r>
            <a:endParaRPr lang="zh-CN" altLang="en-US" sz="3600" b="1">
              <a:solidFill>
                <a:srgbClr val="C00000"/>
              </a:solidFill>
            </a:endParaRPr>
          </a:p>
        </p:txBody>
      </p:sp>
      <p:sp>
        <p:nvSpPr>
          <p:cNvPr id="92163" name="Rectangle 4"/>
          <p:cNvSpPr>
            <a:spLocks noGrp="1" noChangeArrowheads="1"/>
          </p:cNvSpPr>
          <p:nvPr>
            <p:ph type="body" idx="1"/>
          </p:nvPr>
        </p:nvSpPr>
        <p:spPr>
          <a:xfrm>
            <a:off x="839416" y="1752329"/>
            <a:ext cx="10729192" cy="4525962"/>
          </a:xfrm>
          <a:noFill/>
        </p:spPr>
        <p:txBody>
          <a:bodyPr/>
          <a:lstStyle/>
          <a:p>
            <a:r>
              <a:rPr lang="zh-CN" altLang="en-US" sz="2800" b="0" dirty="0"/>
              <a:t>葡萄糖代谢过程中可生成一些多元醇，如木糖醇（</a:t>
            </a:r>
            <a:r>
              <a:rPr lang="en-US" altLang="zh-CN" sz="2800" b="0" dirty="0"/>
              <a:t>xylitol</a:t>
            </a:r>
            <a:r>
              <a:rPr lang="zh-CN" altLang="en-US" sz="2800" b="0" dirty="0"/>
              <a:t>）、山梨醇（</a:t>
            </a:r>
            <a:r>
              <a:rPr lang="en-US" altLang="zh-CN" sz="2800" b="0" dirty="0"/>
              <a:t>sorbitol</a:t>
            </a:r>
            <a:r>
              <a:rPr lang="zh-CN" altLang="en-US" sz="2800" b="0" dirty="0"/>
              <a:t>）等，所以被称为多元醇途径（</a:t>
            </a:r>
            <a:r>
              <a:rPr lang="en-US" altLang="zh-CN" sz="2800" b="0" dirty="0"/>
              <a:t>polyol pathway</a:t>
            </a:r>
            <a:r>
              <a:rPr lang="zh-CN" altLang="en-US" sz="2800" b="0" dirty="0"/>
              <a:t>）。</a:t>
            </a:r>
            <a:endParaRPr lang="en-US" altLang="zh-CN" sz="2800" b="0" dirty="0"/>
          </a:p>
          <a:p>
            <a:endParaRPr lang="en-US" altLang="zh-CN" sz="2800" b="0" dirty="0"/>
          </a:p>
          <a:p>
            <a:r>
              <a:rPr lang="zh-CN" altLang="en-US" sz="2800" b="0" dirty="0"/>
              <a:t>糖尿病患者血糖水平高，透入眼中晶状体的葡萄糖显著增多，使醛糖还原酶充分发挥作用，生成较多的山梨醇，可致山梨醇堆积，引起晶状体渗透压升高而出现白内障。 </a:t>
            </a:r>
            <a:endParaRPr lang="zh-CN" altLang="en-US" sz="2800" b="0" dirty="0"/>
          </a:p>
          <a:p>
            <a:endParaRPr lang="zh-CN" altLang="en-US" sz="2800" b="0" dirty="0"/>
          </a:p>
          <a:p>
            <a:r>
              <a:rPr lang="zh-CN" altLang="en-US" sz="2800" b="0" dirty="0">
                <a:solidFill>
                  <a:srgbClr val="0000CC"/>
                </a:solidFill>
              </a:rPr>
              <a:t>生精细胞</a:t>
            </a:r>
            <a:r>
              <a:rPr lang="zh-CN" altLang="en-US" sz="2800" b="0" dirty="0"/>
              <a:t>利用多元醇途径，在精液中生成高于</a:t>
            </a:r>
            <a:r>
              <a:rPr lang="en-US" altLang="zh-CN" sz="2800" b="0" dirty="0"/>
              <a:t>10mmol/L </a:t>
            </a:r>
            <a:r>
              <a:rPr lang="zh-CN" altLang="en-US" sz="2800" b="0" dirty="0"/>
              <a:t>的果糖，</a:t>
            </a:r>
            <a:r>
              <a:rPr lang="zh-CN" altLang="en-US" sz="2800" b="0" dirty="0">
                <a:solidFill>
                  <a:srgbClr val="0000CC"/>
                </a:solidFill>
              </a:rPr>
              <a:t>精子活动主要依赖果糖供能，</a:t>
            </a:r>
            <a:r>
              <a:rPr lang="zh-CN" altLang="en-US" sz="2800" b="0" dirty="0">
                <a:solidFill>
                  <a:schemeClr val="tx1">
                    <a:lumMod val="95000"/>
                    <a:lumOff val="5000"/>
                  </a:schemeClr>
                </a:solidFill>
              </a:rPr>
              <a:t>以避免与周围组织竞争葡萄糖能源。</a:t>
            </a:r>
            <a:endParaRPr lang="zh-CN" altLang="en-US" sz="2800" b="0" dirty="0">
              <a:solidFill>
                <a:schemeClr val="tx1">
                  <a:lumMod val="95000"/>
                  <a:lumOff val="5000"/>
                </a:schemeClr>
              </a:solidFill>
            </a:endParaRPr>
          </a:p>
        </p:txBody>
      </p:sp>
    </p:spTree>
  </p:cSld>
  <p:clrMapOvr>
    <a:masterClrMapping/>
  </p:clrMapOvr>
  <p:transition spd="med">
    <p:zoom/>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1981200" y="2027238"/>
            <a:ext cx="8229600" cy="914400"/>
          </a:xfrm>
        </p:spPr>
        <p:txBody>
          <a:bodyPr/>
          <a:lstStyle/>
          <a:p>
            <a:pPr eaLnBrk="1" hangingPunct="1"/>
            <a:r>
              <a:rPr lang="zh-CN" altLang="en-US" sz="4800">
                <a:solidFill>
                  <a:srgbClr val="800000"/>
                </a:solidFill>
              </a:rPr>
              <a:t>第八节 血糖及其调节</a:t>
            </a:r>
            <a:endParaRPr lang="zh-CN" altLang="en-US" sz="4800">
              <a:solidFill>
                <a:srgbClr val="800000"/>
              </a:solidFill>
            </a:endParaRPr>
          </a:p>
        </p:txBody>
      </p:sp>
      <p:sp>
        <p:nvSpPr>
          <p:cNvPr id="95235" name="Text Box 3"/>
          <p:cNvSpPr txBox="1">
            <a:spLocks noChangeArrowheads="1"/>
          </p:cNvSpPr>
          <p:nvPr/>
        </p:nvSpPr>
        <p:spPr bwMode="auto">
          <a:xfrm>
            <a:off x="1828800" y="3284538"/>
            <a:ext cx="853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a:latin typeface="Arial" panose="020B0604020202020204" pitchFamily="34" charset="0"/>
              </a:rPr>
              <a:t>Regulation of Blood Glucose level</a:t>
            </a:r>
            <a:endParaRPr kumimoji="1" lang="zh-CN" altLang="en-US">
              <a:latin typeface="Arial" panose="020B0604020202020204" pitchFamily="34" charset="0"/>
            </a:endParaRPr>
          </a:p>
        </p:txBody>
      </p:sp>
    </p:spTree>
  </p:cSld>
  <p:clrMapOvr>
    <a:masterClrMapping/>
  </p:clrMapOvr>
  <p:transition spd="med">
    <p:zoom/>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body" idx="4294967295"/>
          </p:nvPr>
        </p:nvSpPr>
        <p:spPr>
          <a:xfrm>
            <a:off x="3143250" y="1125538"/>
            <a:ext cx="6624638" cy="4679950"/>
          </a:xfrm>
        </p:spPr>
        <p:txBody>
          <a:bodyPr/>
          <a:lstStyle/>
          <a:p>
            <a:pPr marL="0" indent="0" eaLnBrk="1" hangingPunct="1">
              <a:lnSpc>
                <a:spcPct val="120000"/>
              </a:lnSpc>
              <a:spcBef>
                <a:spcPct val="0"/>
              </a:spcBef>
              <a:buClr>
                <a:schemeClr val="tx1"/>
              </a:buClr>
            </a:pPr>
            <a:r>
              <a:rPr lang="zh-CN" altLang="en-US" b="0" dirty="0">
                <a:solidFill>
                  <a:srgbClr val="C00000"/>
                </a:solidFill>
                <a:latin typeface="黑体" panose="02010609060101010101" pitchFamily="2" charset="-122"/>
                <a:ea typeface="黑体" panose="02010609060101010101" pitchFamily="2" charset="-122"/>
              </a:rPr>
              <a:t>掌握：</a:t>
            </a:r>
            <a:endParaRPr lang="en-US" altLang="zh-CN" b="0" dirty="0">
              <a:solidFill>
                <a:srgbClr val="C00000"/>
              </a:solidFill>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r>
              <a:rPr lang="zh-CN" altLang="en-US" b="0" dirty="0">
                <a:latin typeface="黑体" panose="02010609060101010101" pitchFamily="2" charset="-122"/>
                <a:ea typeface="黑体" panose="02010609060101010101" pitchFamily="2" charset="-122"/>
              </a:rPr>
              <a:t>血糖的来源与去路</a:t>
            </a:r>
            <a:endParaRPr lang="en-US" altLang="zh-CN" b="0" dirty="0">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r>
              <a:rPr lang="zh-CN" altLang="en-US" b="0" dirty="0">
                <a:latin typeface="黑体" panose="02010609060101010101" pitchFamily="2" charset="-122"/>
                <a:ea typeface="黑体" panose="02010609060101010101" pitchFamily="2" charset="-122"/>
              </a:rPr>
              <a:t>空腹血糖标准</a:t>
            </a:r>
            <a:endParaRPr lang="en-US" altLang="zh-CN" b="0" dirty="0">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r>
              <a:rPr lang="zh-CN" altLang="en-US" b="0" dirty="0">
                <a:latin typeface="黑体" panose="02010609060101010101" pitchFamily="2" charset="-122"/>
                <a:ea typeface="黑体" panose="02010609060101010101" pitchFamily="2" charset="-122"/>
              </a:rPr>
              <a:t>重度高血糖典型症状</a:t>
            </a:r>
            <a:r>
              <a:rPr lang="en-US" altLang="zh-CN" b="0" dirty="0">
                <a:latin typeface="黑体" panose="02010609060101010101" pitchFamily="2" charset="-122"/>
                <a:ea typeface="黑体" panose="02010609060101010101" pitchFamily="2" charset="-122"/>
              </a:rPr>
              <a:t>:</a:t>
            </a:r>
            <a:r>
              <a:rPr lang="zh-CN" altLang="en-US" b="0" dirty="0">
                <a:latin typeface="黑体" panose="02010609060101010101" pitchFamily="2" charset="-122"/>
                <a:ea typeface="黑体" panose="02010609060101010101" pitchFamily="2" charset="-122"/>
              </a:rPr>
              <a:t>三多一少</a:t>
            </a:r>
            <a:endParaRPr lang="en-US" altLang="zh-CN" b="0" dirty="0">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endParaRPr lang="en-US" altLang="zh-CN"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r>
              <a:rPr lang="zh-CN" altLang="en-US" b="0" dirty="0">
                <a:solidFill>
                  <a:srgbClr val="0000CC"/>
                </a:solidFill>
                <a:latin typeface="黑体" panose="02010609060101010101" pitchFamily="2" charset="-122"/>
                <a:ea typeface="黑体" panose="02010609060101010101" pitchFamily="2" charset="-122"/>
              </a:rPr>
              <a:t>熟悉：</a:t>
            </a:r>
            <a:endParaRPr lang="en-US" altLang="zh-CN" b="0" dirty="0">
              <a:solidFill>
                <a:srgbClr val="0000CC"/>
              </a:solidFill>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r>
              <a:rPr lang="zh-CN" altLang="en-US" b="0" dirty="0">
                <a:latin typeface="黑体" panose="02010609060101010101" pitchFamily="2" charset="-122"/>
                <a:ea typeface="黑体" panose="02010609060101010101" pitchFamily="2" charset="-122"/>
              </a:rPr>
              <a:t>糖尿病诊断标准</a:t>
            </a:r>
            <a:endParaRPr lang="en-US" altLang="zh-CN" b="0" dirty="0">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r>
              <a:rPr lang="zh-CN" altLang="en-US" b="0" dirty="0">
                <a:latin typeface="黑体" panose="02010609060101010101" pitchFamily="2" charset="-122"/>
                <a:ea typeface="黑体" panose="02010609060101010101" pitchFamily="2" charset="-122"/>
              </a:rPr>
              <a:t>调节血糖的几种重要激素的作用特点</a:t>
            </a:r>
            <a:endParaRPr lang="en-US" altLang="zh-CN" b="0" dirty="0">
              <a:latin typeface="黑体" panose="02010609060101010101" pitchFamily="2" charset="-122"/>
              <a:ea typeface="黑体" panose="02010609060101010101" pitchFamily="2" charset="-122"/>
            </a:endParaRPr>
          </a:p>
          <a:p>
            <a:pPr marL="0" indent="0" eaLnBrk="1" hangingPunct="1">
              <a:lnSpc>
                <a:spcPct val="120000"/>
              </a:lnSpc>
              <a:spcBef>
                <a:spcPct val="0"/>
              </a:spcBef>
              <a:buClr>
                <a:schemeClr val="tx1"/>
              </a:buClr>
            </a:pPr>
            <a:endParaRPr lang="en-US" altLang="zh-CN" b="0" dirty="0">
              <a:latin typeface="黑体" panose="02010609060101010101" pitchFamily="2" charset="-122"/>
              <a:ea typeface="黑体" panose="02010609060101010101" pitchFamily="2" charset="-122"/>
            </a:endParaRPr>
          </a:p>
          <a:p>
            <a:pPr marL="400050" lvl="1" indent="0" eaLnBrk="1" hangingPunct="1">
              <a:lnSpc>
                <a:spcPct val="120000"/>
              </a:lnSpc>
              <a:spcBef>
                <a:spcPct val="0"/>
              </a:spcBef>
              <a:buClr>
                <a:schemeClr val="tx1"/>
              </a:buClr>
            </a:pPr>
            <a:endParaRPr lang="en-US" altLang="zh-CN" b="0" dirty="0">
              <a:latin typeface="黑体" panose="02010609060101010101" pitchFamily="2" charset="-122"/>
              <a:ea typeface="黑体" panose="02010609060101010101" pitchFamily="2" charset="-122"/>
            </a:endParaRPr>
          </a:p>
        </p:txBody>
      </p:sp>
    </p:spTree>
  </p:cSld>
  <p:clrMapOvr>
    <a:masterClrMapping/>
  </p:clrMapOvr>
  <p:transition spd="med">
    <p:zoom/>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2438400" y="830264"/>
            <a:ext cx="7391400" cy="274637"/>
          </a:xfrm>
        </p:spPr>
        <p:txBody>
          <a:bodyPr/>
          <a:lstStyle/>
          <a:p>
            <a:pPr eaLnBrk="1" hangingPunct="1"/>
            <a:r>
              <a:rPr lang="zh-CN" altLang="en-US" sz="3600" b="1">
                <a:solidFill>
                  <a:srgbClr val="C00000"/>
                </a:solidFill>
              </a:rPr>
              <a:t>一、血糖的来源和去路</a:t>
            </a:r>
            <a:endParaRPr lang="zh-CN" altLang="en-US" sz="3600" b="1">
              <a:solidFill>
                <a:srgbClr val="C00000"/>
              </a:solidFill>
            </a:endParaRPr>
          </a:p>
        </p:txBody>
      </p:sp>
      <p:sp>
        <p:nvSpPr>
          <p:cNvPr id="295940" name="Text Box 4"/>
          <p:cNvSpPr txBox="1">
            <a:spLocks noChangeArrowheads="1"/>
          </p:cNvSpPr>
          <p:nvPr/>
        </p:nvSpPr>
        <p:spPr bwMode="auto">
          <a:xfrm>
            <a:off x="2819400" y="1779589"/>
            <a:ext cx="6629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
                <a:schemeClr val="tx2"/>
              </a:buClr>
              <a:buSzTx/>
              <a:buFont typeface="Wingdings" panose="05000000000000000000" pitchFamily="2" charset="2"/>
              <a:buChar char="Ø"/>
            </a:pPr>
            <a:r>
              <a:rPr kumimoji="1" lang="zh-CN" altLang="en-US" b="0">
                <a:solidFill>
                  <a:schemeClr val="tx2"/>
                </a:solidFill>
              </a:rPr>
              <a:t> </a:t>
            </a:r>
            <a:r>
              <a:rPr kumimoji="1" lang="zh-CN" altLang="en-US" b="0">
                <a:solidFill>
                  <a:srgbClr val="000099"/>
                </a:solidFill>
              </a:rPr>
              <a:t>血糖</a:t>
            </a:r>
            <a:r>
              <a:rPr kumimoji="1" lang="zh-CN" altLang="en-US" b="0">
                <a:solidFill>
                  <a:schemeClr val="tx2"/>
                </a:solidFill>
              </a:rPr>
              <a:t>：</a:t>
            </a:r>
            <a:r>
              <a:rPr kumimoji="1" lang="zh-CN" altLang="en-US" b="0"/>
              <a:t>指血液中的葡萄糖。</a:t>
            </a:r>
            <a:endParaRPr kumimoji="1" lang="zh-CN" altLang="en-US" b="0"/>
          </a:p>
        </p:txBody>
      </p:sp>
      <p:sp>
        <p:nvSpPr>
          <p:cNvPr id="295942" name="Rectangle 6"/>
          <p:cNvSpPr>
            <a:spLocks noChangeArrowheads="1"/>
          </p:cNvSpPr>
          <p:nvPr/>
        </p:nvSpPr>
        <p:spPr bwMode="auto">
          <a:xfrm>
            <a:off x="2438400" y="2533650"/>
            <a:ext cx="8482136" cy="1158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buFontTx/>
              <a:buNone/>
            </a:pPr>
            <a:r>
              <a:rPr kumimoji="1" lang="zh-CN" altLang="en-US" sz="2800" b="0" dirty="0">
                <a:latin typeface="微软雅黑" panose="020B0503020204020204" pitchFamily="34" charset="-122"/>
                <a:ea typeface="微软雅黑" panose="020B0503020204020204" pitchFamily="34" charset="-122"/>
              </a:rPr>
              <a:t>正常空腹血糖</a:t>
            </a:r>
            <a:r>
              <a:rPr kumimoji="1" lang="zh-CN" altLang="en-US" sz="2400" b="0" dirty="0">
                <a:latin typeface="微软雅黑" panose="020B0503020204020204" pitchFamily="34" charset="-122"/>
                <a:ea typeface="微软雅黑" panose="020B0503020204020204" pitchFamily="34" charset="-122"/>
              </a:rPr>
              <a:t>（</a:t>
            </a:r>
            <a:r>
              <a:rPr kumimoji="1" lang="en-US" altLang="zh-CN" sz="2400" b="0" dirty="0">
                <a:latin typeface="微软雅黑" panose="020B0503020204020204" pitchFamily="34" charset="-122"/>
                <a:ea typeface="微软雅黑" panose="020B0503020204020204" pitchFamily="34" charset="-122"/>
              </a:rPr>
              <a:t>fasting plasma glucose</a:t>
            </a:r>
            <a:r>
              <a:rPr kumimoji="1" lang="zh-CN" altLang="en-US" sz="2400" b="0" dirty="0">
                <a:latin typeface="微软雅黑" panose="020B0503020204020204" pitchFamily="34" charset="-122"/>
                <a:ea typeface="微软雅黑" panose="020B0503020204020204" pitchFamily="34" charset="-122"/>
              </a:rPr>
              <a:t>，</a:t>
            </a:r>
            <a:r>
              <a:rPr kumimoji="1" lang="en-US" altLang="zh-CN" sz="2400" b="0" dirty="0">
                <a:solidFill>
                  <a:srgbClr val="0000CC"/>
                </a:solidFill>
                <a:latin typeface="微软雅黑" panose="020B0503020204020204" pitchFamily="34" charset="-122"/>
                <a:ea typeface="微软雅黑" panose="020B0503020204020204" pitchFamily="34" charset="-122"/>
              </a:rPr>
              <a:t>FPG</a:t>
            </a:r>
            <a:r>
              <a:rPr kumimoji="1" lang="zh-CN" altLang="en-US" sz="2400" b="0" dirty="0">
                <a:latin typeface="微软雅黑" panose="020B0503020204020204" pitchFamily="34" charset="-122"/>
                <a:ea typeface="微软雅黑" panose="020B0503020204020204" pitchFamily="34" charset="-122"/>
              </a:rPr>
              <a:t>） ：</a:t>
            </a:r>
            <a:endParaRPr kumimoji="1" lang="en-US" altLang="zh-CN" sz="2400" b="0" dirty="0">
              <a:latin typeface="微软雅黑" panose="020B0503020204020204" pitchFamily="34" charset="-122"/>
              <a:ea typeface="微软雅黑" panose="020B0503020204020204" pitchFamily="34" charset="-122"/>
            </a:endParaRPr>
          </a:p>
          <a:p>
            <a:pPr eaLnBrk="1" hangingPunct="1">
              <a:lnSpc>
                <a:spcPct val="130000"/>
              </a:lnSpc>
              <a:spcBef>
                <a:spcPct val="0"/>
              </a:spcBef>
              <a:buClrTx/>
              <a:buSzTx/>
              <a:buFontTx/>
              <a:buNone/>
            </a:pPr>
            <a:r>
              <a:rPr kumimoji="1" lang="en-US" altLang="zh-CN" sz="2800" b="0" dirty="0">
                <a:solidFill>
                  <a:srgbClr val="FF0000"/>
                </a:solidFill>
                <a:latin typeface="微软雅黑" panose="020B0503020204020204" pitchFamily="34" charset="-122"/>
                <a:ea typeface="微软雅黑" panose="020B0503020204020204" pitchFamily="34" charset="-122"/>
              </a:rPr>
              <a:t>    3.9~6.0mmol/L</a:t>
            </a:r>
            <a:r>
              <a:rPr kumimoji="1" lang="en-US" altLang="zh-CN" sz="2800" b="0" dirty="0">
                <a:solidFill>
                  <a:schemeClr val="tx2"/>
                </a:solidFill>
                <a:latin typeface="微软雅黑" panose="020B0503020204020204" pitchFamily="34" charset="-122"/>
                <a:ea typeface="微软雅黑" panose="020B0503020204020204" pitchFamily="34" charset="-122"/>
              </a:rPr>
              <a:t>    = </a:t>
            </a:r>
            <a:r>
              <a:rPr kumimoji="1" lang="zh-CN" altLang="en-US" sz="2800" b="0" dirty="0">
                <a:latin typeface="微软雅黑" panose="020B0503020204020204" pitchFamily="34" charset="-122"/>
                <a:ea typeface="微软雅黑" panose="020B0503020204020204" pitchFamily="34" charset="-122"/>
              </a:rPr>
              <a:t>  </a:t>
            </a:r>
            <a:r>
              <a:rPr lang="en-US" altLang="zh-CN" sz="2800" b="0" dirty="0">
                <a:solidFill>
                  <a:srgbClr val="FF0000"/>
                </a:solidFill>
                <a:latin typeface="微软雅黑" panose="020B0503020204020204" pitchFamily="34" charset="-122"/>
                <a:ea typeface="微软雅黑" panose="020B0503020204020204" pitchFamily="34" charset="-122"/>
              </a:rPr>
              <a:t>70~110mg/dL </a:t>
            </a:r>
            <a:endParaRPr kumimoji="1" lang="zh-CN" altLang="en-US" sz="2800" b="0" dirty="0">
              <a:solidFill>
                <a:srgbClr val="FF0000"/>
              </a:solidFill>
              <a:latin typeface="微软雅黑" panose="020B0503020204020204" pitchFamily="34" charset="-122"/>
              <a:ea typeface="微软雅黑" panose="020B0503020204020204" pitchFamily="34" charset="-122"/>
            </a:endParaRPr>
          </a:p>
        </p:txBody>
      </p:sp>
      <p:sp>
        <p:nvSpPr>
          <p:cNvPr id="2" name="矩形 1"/>
          <p:cNvSpPr>
            <a:spLocks noChangeArrowheads="1"/>
          </p:cNvSpPr>
          <p:nvPr/>
        </p:nvSpPr>
        <p:spPr bwMode="auto">
          <a:xfrm>
            <a:off x="2258467" y="3908657"/>
            <a:ext cx="8316416"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342900" indent="-342900">
              <a:lnSpc>
                <a:spcPct val="130000"/>
              </a:lnSpc>
              <a:spcBef>
                <a:spcPct val="0"/>
              </a:spcBef>
              <a:buClrTx/>
              <a:buSzTx/>
              <a:buFont typeface="Wingdings" panose="05000000000000000000" pitchFamily="2" charset="2"/>
              <a:buChar char=""/>
            </a:pPr>
            <a:r>
              <a:rPr lang="zh-CN" altLang="en-US" sz="2400" b="0" dirty="0">
                <a:latin typeface="微软雅黑" panose="020B0503020204020204" pitchFamily="34" charset="-122"/>
                <a:ea typeface="微软雅黑" panose="020B0503020204020204" pitchFamily="34" charset="-122"/>
              </a:rPr>
              <a:t>隔夜</a:t>
            </a:r>
            <a:r>
              <a:rPr lang="zh-CN" altLang="en-US" sz="2400" b="0" dirty="0">
                <a:solidFill>
                  <a:srgbClr val="0000CC"/>
                </a:solidFill>
                <a:latin typeface="微软雅黑" panose="020B0503020204020204" pitchFamily="34" charset="-122"/>
                <a:ea typeface="微软雅黑" panose="020B0503020204020204" pitchFamily="34" charset="-122"/>
              </a:rPr>
              <a:t>空腹</a:t>
            </a:r>
            <a:r>
              <a:rPr lang="zh-CN" altLang="en-US" sz="2400" b="0" dirty="0">
                <a:latin typeface="微软雅黑" panose="020B0503020204020204" pitchFamily="34" charset="-122"/>
                <a:ea typeface="微软雅黑" panose="020B0503020204020204" pitchFamily="34" charset="-122"/>
              </a:rPr>
              <a:t>（</a:t>
            </a:r>
            <a:r>
              <a:rPr lang="zh-CN" altLang="en-US" sz="2400" b="0" dirty="0">
                <a:solidFill>
                  <a:srgbClr val="0000CC"/>
                </a:solidFill>
                <a:latin typeface="微软雅黑" panose="020B0503020204020204" pitchFamily="34" charset="-122"/>
                <a:ea typeface="微软雅黑" panose="020B0503020204020204" pitchFamily="34" charset="-122"/>
              </a:rPr>
              <a:t>至少</a:t>
            </a:r>
            <a:r>
              <a:rPr lang="en-US" altLang="zh-CN" sz="2400" b="0" dirty="0">
                <a:solidFill>
                  <a:srgbClr val="0000CC"/>
                </a:solidFill>
                <a:latin typeface="微软雅黑" panose="020B0503020204020204" pitchFamily="34" charset="-122"/>
                <a:ea typeface="微软雅黑" panose="020B0503020204020204" pitchFamily="34" charset="-122"/>
              </a:rPr>
              <a:t>8-10</a:t>
            </a:r>
            <a:r>
              <a:rPr lang="zh-CN" altLang="en-US" sz="2400" b="0" dirty="0">
                <a:solidFill>
                  <a:srgbClr val="0000CC"/>
                </a:solidFill>
                <a:latin typeface="微软雅黑" panose="020B0503020204020204" pitchFamily="34" charset="-122"/>
                <a:ea typeface="微软雅黑" panose="020B0503020204020204" pitchFamily="34" charset="-122"/>
              </a:rPr>
              <a:t>小时未进任何食物</a:t>
            </a:r>
            <a:r>
              <a:rPr lang="zh-CN" altLang="en-US" sz="2400" b="0" dirty="0">
                <a:latin typeface="微软雅黑" panose="020B0503020204020204" pitchFamily="34" charset="-122"/>
                <a:ea typeface="微软雅黑" panose="020B0503020204020204" pitchFamily="34" charset="-122"/>
              </a:rPr>
              <a:t>，饮水除外）后，早餐前采的血所检定的血糖值。</a:t>
            </a:r>
            <a:endParaRPr lang="zh-CN" altLang="en-US" sz="2400" b="0" dirty="0">
              <a:latin typeface="微软雅黑" panose="020B0503020204020204" pitchFamily="34" charset="-122"/>
              <a:ea typeface="微软雅黑" panose="020B0503020204020204" pitchFamily="34" charset="-122"/>
            </a:endParaRPr>
          </a:p>
        </p:txBody>
      </p:sp>
      <p:sp>
        <p:nvSpPr>
          <p:cNvPr id="7" name="文本框 6"/>
          <p:cNvSpPr txBox="1">
            <a:spLocks noChangeArrowheads="1"/>
          </p:cNvSpPr>
          <p:nvPr/>
        </p:nvSpPr>
        <p:spPr bwMode="auto">
          <a:xfrm>
            <a:off x="2244218" y="5161194"/>
            <a:ext cx="8028246" cy="940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楷体_GB2312" pitchFamily="49" charset="-122"/>
              </a:defRPr>
            </a:lvl1pPr>
            <a:lvl2pPr marL="742950" indent="-285750">
              <a:defRPr b="1">
                <a:solidFill>
                  <a:schemeClr val="tx1"/>
                </a:solidFill>
                <a:latin typeface="Arial" panose="020B0604020202020204" pitchFamily="34" charset="0"/>
                <a:ea typeface="楷体_GB2312" pitchFamily="49" charset="-122"/>
              </a:defRPr>
            </a:lvl2pPr>
            <a:lvl3pPr marL="1143000" indent="-228600">
              <a:defRPr b="1">
                <a:solidFill>
                  <a:schemeClr val="tx1"/>
                </a:solidFill>
                <a:latin typeface="Arial" panose="020B0604020202020204" pitchFamily="34" charset="0"/>
                <a:ea typeface="楷体_GB2312" pitchFamily="49" charset="-122"/>
              </a:defRPr>
            </a:lvl3pPr>
            <a:lvl4pPr marL="1600200" indent="-228600">
              <a:defRPr b="1">
                <a:solidFill>
                  <a:schemeClr val="tx1"/>
                </a:solidFill>
                <a:latin typeface="Arial" panose="020B0604020202020204" pitchFamily="34" charset="0"/>
                <a:ea typeface="楷体_GB2312" pitchFamily="49" charset="-122"/>
              </a:defRPr>
            </a:lvl4pPr>
            <a:lvl5pPr marL="2057400" indent="-228600">
              <a:defRPr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楷体_GB2312" pitchFamily="49" charset="-122"/>
              </a:defRPr>
            </a:lvl9pPr>
          </a:lstStyle>
          <a:p>
            <a:pPr marL="342900" indent="-342900">
              <a:lnSpc>
                <a:spcPct val="120000"/>
              </a:lnSpc>
              <a:buFont typeface="Arial" panose="020B0604020202020204" pitchFamily="34" charset="0"/>
              <a:buChar char="☺"/>
            </a:pPr>
            <a:r>
              <a:rPr lang="zh-CN" altLang="en-US" sz="2400" b="0" dirty="0"/>
              <a:t>饱食后</a:t>
            </a:r>
            <a:r>
              <a:rPr lang="en-US" altLang="zh-CN" sz="2400" b="0" dirty="0"/>
              <a:t>1h</a:t>
            </a:r>
            <a:r>
              <a:rPr lang="zh-CN" altLang="en-US" sz="2400" b="0" dirty="0"/>
              <a:t>血糖可升至 </a:t>
            </a:r>
            <a:r>
              <a:rPr lang="en-US" altLang="zh-CN" sz="2400" b="0" dirty="0"/>
              <a:t>~ 9mM,  </a:t>
            </a:r>
            <a:r>
              <a:rPr lang="zh-CN" altLang="en-US" sz="2400" b="0" dirty="0"/>
              <a:t>餐后</a:t>
            </a:r>
            <a:r>
              <a:rPr lang="en-US" altLang="zh-CN" sz="2400" b="0" dirty="0"/>
              <a:t>2h</a:t>
            </a:r>
            <a:r>
              <a:rPr lang="zh-CN" altLang="en-US" sz="2400" b="0" dirty="0"/>
              <a:t>降至</a:t>
            </a:r>
            <a:r>
              <a:rPr lang="en-US" altLang="zh-CN" sz="2400" b="0" dirty="0"/>
              <a:t>7.8mM</a:t>
            </a:r>
            <a:r>
              <a:rPr lang="zh-CN" altLang="en-US" sz="2400" b="0" dirty="0"/>
              <a:t>以下， 饥饿时可降至</a:t>
            </a:r>
            <a:r>
              <a:rPr lang="en-US" altLang="zh-CN" sz="2400" b="0" dirty="0"/>
              <a:t>3.3-3.9mmol/L</a:t>
            </a:r>
            <a:r>
              <a:rPr lang="zh-CN" altLang="en-US" sz="2400" b="0" dirty="0"/>
              <a:t>。</a:t>
            </a:r>
            <a:endParaRPr lang="zh-CN" altLang="en-US" sz="24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295940"/>
                                        </p:tgtEl>
                                        <p:attrNameLst>
                                          <p:attrName>style.visibility</p:attrName>
                                        </p:attrNameLst>
                                      </p:cBhvr>
                                      <p:to>
                                        <p:strVal val="visible"/>
                                      </p:to>
                                    </p:set>
                                    <p:animEffect transition="in" filter="barn(inVertical)">
                                      <p:cBhvr>
                                        <p:cTn id="7" dur="500"/>
                                        <p:tgtEl>
                                          <p:spTgt spid="29594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295942"/>
                                        </p:tgtEl>
                                        <p:attrNameLst>
                                          <p:attrName>style.visibility</p:attrName>
                                        </p:attrNameLst>
                                      </p:cBhvr>
                                      <p:to>
                                        <p:strVal val="visible"/>
                                      </p:to>
                                    </p:set>
                                    <p:animEffect transition="in" filter="blinds(horizontal)">
                                      <p:cBhvr>
                                        <p:cTn id="11" dur="500"/>
                                        <p:tgtEl>
                                          <p:spTgt spid="29594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0" grpId="0" autoUpdateAnimBg="0"/>
      <p:bldP spid="295942" grpId="0"/>
      <p:bldP spid="2" grpId="0"/>
      <p:bldP spid="7" grpId="0"/>
    </p:bldLst>
  </p:timing>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3460276" y="-2172"/>
            <a:ext cx="5271447" cy="6858000"/>
          </a:xfrm>
          <a:prstGeom prst="rect">
            <a:avLst/>
          </a:prstGeom>
        </p:spPr>
      </p:pic>
    </p:spTree>
  </p:cSld>
  <p:clrMapOvr>
    <a:masterClrMapping/>
  </p:clrMapOvr>
  <p:transition spd="med">
    <p:zoom/>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ChangeArrowheads="1"/>
          </p:cNvSpPr>
          <p:nvPr/>
        </p:nvSpPr>
        <p:spPr bwMode="auto">
          <a:xfrm>
            <a:off x="4148138" y="2390775"/>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01379" name="Rectangle 3" descr="75%"/>
          <p:cNvSpPr>
            <a:spLocks noChangeArrowheads="1"/>
          </p:cNvSpPr>
          <p:nvPr/>
        </p:nvSpPr>
        <p:spPr bwMode="auto">
          <a:xfrm>
            <a:off x="4973638" y="1966913"/>
            <a:ext cx="1066800" cy="1600200"/>
          </a:xfrm>
          <a:prstGeom prst="rect">
            <a:avLst/>
          </a:prstGeom>
          <a:blipFill dpi="0" rotWithShape="0">
            <a:blip r:embed="rId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4800" b="0">
                <a:latin typeface="Arial" panose="020B0604020202020204" pitchFamily="34" charset="0"/>
                <a:ea typeface="黑体" panose="02010609060101010101" pitchFamily="2" charset="-122"/>
              </a:rPr>
              <a:t>血</a:t>
            </a:r>
            <a:endParaRPr kumimoji="1" lang="zh-CN" altLang="en-US" sz="4800" b="0">
              <a:latin typeface="Arial" panose="020B0604020202020204" pitchFamily="34" charset="0"/>
              <a:ea typeface="黑体" panose="02010609060101010101" pitchFamily="2" charset="-122"/>
            </a:endParaRPr>
          </a:p>
          <a:p>
            <a:pPr algn="ctr" eaLnBrk="1" hangingPunct="1">
              <a:spcBef>
                <a:spcPct val="0"/>
              </a:spcBef>
              <a:buClrTx/>
              <a:buSzTx/>
              <a:buFontTx/>
              <a:buNone/>
            </a:pPr>
            <a:r>
              <a:rPr kumimoji="1" lang="zh-CN" altLang="en-US" sz="4800" b="0">
                <a:latin typeface="Arial" panose="020B0604020202020204" pitchFamily="34" charset="0"/>
                <a:ea typeface="黑体" panose="02010609060101010101" pitchFamily="2" charset="-122"/>
              </a:rPr>
              <a:t>糖</a:t>
            </a:r>
            <a:endParaRPr kumimoji="1" lang="zh-CN" altLang="en-US" sz="4800" b="0">
              <a:latin typeface="Arial" panose="020B0604020202020204" pitchFamily="34" charset="0"/>
              <a:ea typeface="黑体" panose="02010609060101010101" pitchFamily="2" charset="-122"/>
            </a:endParaRPr>
          </a:p>
        </p:txBody>
      </p:sp>
      <p:grpSp>
        <p:nvGrpSpPr>
          <p:cNvPr id="2" name="Group 4"/>
          <p:cNvGrpSpPr/>
          <p:nvPr/>
        </p:nvGrpSpPr>
        <p:grpSpPr bwMode="auto">
          <a:xfrm>
            <a:off x="2459038" y="620713"/>
            <a:ext cx="2819400" cy="1346200"/>
            <a:chOff x="624" y="1072"/>
            <a:chExt cx="1776" cy="848"/>
          </a:xfrm>
        </p:grpSpPr>
        <p:sp>
          <p:nvSpPr>
            <p:cNvPr id="101410" name="Line 5"/>
            <p:cNvSpPr>
              <a:spLocks noChangeShapeType="1"/>
            </p:cNvSpPr>
            <p:nvPr/>
          </p:nvSpPr>
          <p:spPr bwMode="auto">
            <a:xfrm>
              <a:off x="1248" y="1440"/>
              <a:ext cx="960" cy="48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411" name="Text Box 6"/>
            <p:cNvSpPr txBox="1">
              <a:spLocks noChangeArrowheads="1"/>
            </p:cNvSpPr>
            <p:nvPr/>
          </p:nvSpPr>
          <p:spPr bwMode="auto">
            <a:xfrm>
              <a:off x="624" y="1072"/>
              <a:ext cx="115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食 物 糖</a:t>
              </a:r>
              <a:r>
                <a:rPr kumimoji="1" lang="zh-CN" altLang="en-US" sz="2800" b="0">
                  <a:latin typeface="Arial" panose="020B0604020202020204" pitchFamily="34" charset="0"/>
                </a:rPr>
                <a:t>  </a:t>
              </a:r>
              <a:endParaRPr kumimoji="1" lang="zh-CN" altLang="en-US" sz="2800" b="0">
                <a:latin typeface="Arial" panose="020B0604020202020204" pitchFamily="34" charset="0"/>
              </a:endParaRPr>
            </a:p>
          </p:txBody>
        </p:sp>
        <p:sp>
          <p:nvSpPr>
            <p:cNvPr id="101412" name="Text Box 7"/>
            <p:cNvSpPr txBox="1">
              <a:spLocks noChangeArrowheads="1"/>
            </p:cNvSpPr>
            <p:nvPr/>
          </p:nvSpPr>
          <p:spPr bwMode="auto">
            <a:xfrm>
              <a:off x="1680" y="1200"/>
              <a:ext cx="72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latin typeface="Arial" panose="020B0604020202020204" pitchFamily="34" charset="0"/>
                </a:rPr>
                <a:t>消化，吸收 </a:t>
              </a:r>
              <a:endParaRPr kumimoji="1" lang="zh-CN" altLang="en-US" sz="2400" b="0">
                <a:solidFill>
                  <a:srgbClr val="FF0000"/>
                </a:solidFill>
                <a:latin typeface="Arial" panose="020B0604020202020204" pitchFamily="34" charset="0"/>
              </a:endParaRPr>
            </a:p>
          </p:txBody>
        </p:sp>
      </p:grpSp>
      <p:grpSp>
        <p:nvGrpSpPr>
          <p:cNvPr id="3" name="Group 8"/>
          <p:cNvGrpSpPr/>
          <p:nvPr/>
        </p:nvGrpSpPr>
        <p:grpSpPr bwMode="auto">
          <a:xfrm>
            <a:off x="2154238" y="2214563"/>
            <a:ext cx="2819400" cy="754062"/>
            <a:chOff x="432" y="2076"/>
            <a:chExt cx="1776" cy="475"/>
          </a:xfrm>
        </p:grpSpPr>
        <p:sp>
          <p:nvSpPr>
            <p:cNvPr id="101407" name="Text Box 9"/>
            <p:cNvSpPr txBox="1">
              <a:spLocks noChangeArrowheads="1"/>
            </p:cNvSpPr>
            <p:nvPr/>
          </p:nvSpPr>
          <p:spPr bwMode="auto">
            <a:xfrm>
              <a:off x="432" y="2186"/>
              <a:ext cx="101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肝糖原</a:t>
              </a:r>
              <a:r>
                <a:rPr kumimoji="1" lang="zh-CN" altLang="en-US" sz="2800" b="0">
                  <a:latin typeface="Arial" panose="020B0604020202020204" pitchFamily="34" charset="0"/>
                </a:rPr>
                <a:t>  </a:t>
              </a:r>
              <a:endParaRPr kumimoji="1" lang="zh-CN" altLang="en-US" sz="2800" b="0">
                <a:latin typeface="Arial" panose="020B0604020202020204" pitchFamily="34" charset="0"/>
              </a:endParaRPr>
            </a:p>
          </p:txBody>
        </p:sp>
        <p:sp>
          <p:nvSpPr>
            <p:cNvPr id="101408" name="Line 10"/>
            <p:cNvSpPr>
              <a:spLocks noChangeShapeType="1"/>
            </p:cNvSpPr>
            <p:nvPr/>
          </p:nvSpPr>
          <p:spPr bwMode="auto">
            <a:xfrm>
              <a:off x="1248" y="2400"/>
              <a:ext cx="96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409" name="Text Box 11"/>
            <p:cNvSpPr txBox="1">
              <a:spLocks noChangeArrowheads="1"/>
            </p:cNvSpPr>
            <p:nvPr/>
          </p:nvSpPr>
          <p:spPr bwMode="auto">
            <a:xfrm>
              <a:off x="1440" y="2076"/>
              <a:ext cx="6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latin typeface="Arial" panose="020B0604020202020204" pitchFamily="34" charset="0"/>
                </a:rPr>
                <a:t>分解  </a:t>
              </a:r>
              <a:endParaRPr kumimoji="1" lang="zh-CN" altLang="en-US" sz="2400" b="0">
                <a:solidFill>
                  <a:srgbClr val="FF0000"/>
                </a:solidFill>
                <a:latin typeface="Arial" panose="020B0604020202020204" pitchFamily="34" charset="0"/>
              </a:endParaRPr>
            </a:p>
          </p:txBody>
        </p:sp>
      </p:grpSp>
      <p:grpSp>
        <p:nvGrpSpPr>
          <p:cNvPr id="4" name="Group 12"/>
          <p:cNvGrpSpPr/>
          <p:nvPr/>
        </p:nvGrpSpPr>
        <p:grpSpPr bwMode="auto">
          <a:xfrm>
            <a:off x="2382838" y="3433763"/>
            <a:ext cx="2590800" cy="1439862"/>
            <a:chOff x="576" y="2844"/>
            <a:chExt cx="1632" cy="907"/>
          </a:xfrm>
        </p:grpSpPr>
        <p:sp>
          <p:nvSpPr>
            <p:cNvPr id="101404" name="Text Box 13"/>
            <p:cNvSpPr txBox="1">
              <a:spLocks noChangeArrowheads="1"/>
            </p:cNvSpPr>
            <p:nvPr/>
          </p:nvSpPr>
          <p:spPr bwMode="auto">
            <a:xfrm>
              <a:off x="576" y="3386"/>
              <a:ext cx="126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非糖物质</a:t>
              </a:r>
              <a:r>
                <a:rPr kumimoji="1" lang="zh-CN" altLang="en-US" sz="2800" b="0">
                  <a:latin typeface="Arial" panose="020B0604020202020204" pitchFamily="34" charset="0"/>
                </a:rPr>
                <a:t>  </a:t>
              </a:r>
              <a:endParaRPr kumimoji="1" lang="zh-CN" altLang="en-US" sz="2800" b="0">
                <a:latin typeface="Arial" panose="020B0604020202020204" pitchFamily="34" charset="0"/>
              </a:endParaRPr>
            </a:p>
          </p:txBody>
        </p:sp>
        <p:sp>
          <p:nvSpPr>
            <p:cNvPr id="101405" name="Line 14"/>
            <p:cNvSpPr>
              <a:spLocks noChangeShapeType="1"/>
            </p:cNvSpPr>
            <p:nvPr/>
          </p:nvSpPr>
          <p:spPr bwMode="auto">
            <a:xfrm flipV="1">
              <a:off x="1248" y="2880"/>
              <a:ext cx="960" cy="528"/>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406" name="Text Box 15"/>
            <p:cNvSpPr txBox="1">
              <a:spLocks noChangeArrowheads="1"/>
            </p:cNvSpPr>
            <p:nvPr/>
          </p:nvSpPr>
          <p:spPr bwMode="auto">
            <a:xfrm>
              <a:off x="1152" y="2844"/>
              <a:ext cx="8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latin typeface="Arial" panose="020B0604020202020204" pitchFamily="34" charset="0"/>
                </a:rPr>
                <a:t>糖异生  </a:t>
              </a:r>
              <a:endParaRPr kumimoji="1" lang="zh-CN" altLang="en-US" sz="2400" b="0">
                <a:solidFill>
                  <a:srgbClr val="FF0000"/>
                </a:solidFill>
                <a:latin typeface="Arial" panose="020B0604020202020204" pitchFamily="34" charset="0"/>
              </a:endParaRPr>
            </a:p>
          </p:txBody>
        </p:sp>
      </p:grpSp>
      <p:grpSp>
        <p:nvGrpSpPr>
          <p:cNvPr id="5" name="Group 16"/>
          <p:cNvGrpSpPr/>
          <p:nvPr/>
        </p:nvGrpSpPr>
        <p:grpSpPr bwMode="auto">
          <a:xfrm>
            <a:off x="6040438" y="620713"/>
            <a:ext cx="3949700" cy="1346200"/>
            <a:chOff x="2880" y="1171"/>
            <a:chExt cx="2488" cy="749"/>
          </a:xfrm>
        </p:grpSpPr>
        <p:sp>
          <p:nvSpPr>
            <p:cNvPr id="101401" name="Line 17"/>
            <p:cNvSpPr>
              <a:spLocks noChangeShapeType="1"/>
            </p:cNvSpPr>
            <p:nvPr/>
          </p:nvSpPr>
          <p:spPr bwMode="auto">
            <a:xfrm flipV="1">
              <a:off x="2880" y="1440"/>
              <a:ext cx="1008" cy="48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402" name="Text Box 18"/>
            <p:cNvSpPr txBox="1">
              <a:spLocks noChangeArrowheads="1"/>
            </p:cNvSpPr>
            <p:nvPr/>
          </p:nvSpPr>
          <p:spPr bwMode="auto">
            <a:xfrm>
              <a:off x="2928" y="1200"/>
              <a:ext cx="57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latin typeface="Arial" panose="020B0604020202020204" pitchFamily="34" charset="0"/>
                </a:rPr>
                <a:t>氧化分解 </a:t>
              </a:r>
              <a:endParaRPr kumimoji="1" lang="zh-CN" altLang="en-US" sz="2400" b="0">
                <a:solidFill>
                  <a:srgbClr val="FF0000"/>
                </a:solidFill>
                <a:latin typeface="Arial" panose="020B0604020202020204" pitchFamily="34" charset="0"/>
              </a:endParaRPr>
            </a:p>
          </p:txBody>
        </p:sp>
        <p:sp>
          <p:nvSpPr>
            <p:cNvPr id="101403" name="Text Box 19"/>
            <p:cNvSpPr txBox="1">
              <a:spLocks noChangeArrowheads="1"/>
            </p:cNvSpPr>
            <p:nvPr/>
          </p:nvSpPr>
          <p:spPr bwMode="auto">
            <a:xfrm>
              <a:off x="3888" y="1171"/>
              <a:ext cx="1480"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b="0">
                  <a:latin typeface="Arial" panose="020B0604020202020204" pitchFamily="34" charset="0"/>
                </a:rPr>
                <a:t>CO</a:t>
              </a:r>
              <a:r>
                <a:rPr kumimoji="1" lang="en-US" altLang="zh-CN" b="0" baseline="-25000">
                  <a:latin typeface="Arial" panose="020B0604020202020204" pitchFamily="34" charset="0"/>
                </a:rPr>
                <a:t>2 </a:t>
              </a:r>
              <a:r>
                <a:rPr kumimoji="1" lang="en-US" altLang="zh-CN" b="0">
                  <a:latin typeface="Arial" panose="020B0604020202020204" pitchFamily="34" charset="0"/>
                </a:rPr>
                <a:t>+ H</a:t>
              </a:r>
              <a:r>
                <a:rPr kumimoji="1" lang="en-US" altLang="zh-CN" b="0" baseline="-25000">
                  <a:latin typeface="Arial" panose="020B0604020202020204" pitchFamily="34" charset="0"/>
                </a:rPr>
                <a:t>2</a:t>
              </a:r>
              <a:r>
                <a:rPr kumimoji="1" lang="en-US" altLang="zh-CN" b="0">
                  <a:latin typeface="Arial" panose="020B0604020202020204" pitchFamily="34" charset="0"/>
                </a:rPr>
                <a:t>O</a:t>
              </a:r>
              <a:r>
                <a:rPr kumimoji="1" lang="en-US" altLang="zh-CN" sz="2800" b="0">
                  <a:latin typeface="Arial" panose="020B0604020202020204" pitchFamily="34" charset="0"/>
                </a:rPr>
                <a:t>  </a:t>
              </a:r>
              <a:endParaRPr kumimoji="1" lang="en-US" altLang="zh-CN" sz="2800" b="0">
                <a:latin typeface="Arial" panose="020B0604020202020204" pitchFamily="34" charset="0"/>
              </a:endParaRPr>
            </a:p>
          </p:txBody>
        </p:sp>
      </p:grpSp>
      <p:grpSp>
        <p:nvGrpSpPr>
          <p:cNvPr id="6" name="Group 20"/>
          <p:cNvGrpSpPr/>
          <p:nvPr/>
        </p:nvGrpSpPr>
        <p:grpSpPr bwMode="auto">
          <a:xfrm>
            <a:off x="6040439" y="1905000"/>
            <a:ext cx="4395787" cy="661988"/>
            <a:chOff x="2880" y="1884"/>
            <a:chExt cx="2828" cy="417"/>
          </a:xfrm>
        </p:grpSpPr>
        <p:sp>
          <p:nvSpPr>
            <p:cNvPr id="101398" name="Line 21"/>
            <p:cNvSpPr>
              <a:spLocks noChangeShapeType="1"/>
            </p:cNvSpPr>
            <p:nvPr/>
          </p:nvSpPr>
          <p:spPr bwMode="auto">
            <a:xfrm>
              <a:off x="2880" y="2160"/>
              <a:ext cx="1344"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99" name="Text Box 22"/>
            <p:cNvSpPr txBox="1">
              <a:spLocks noChangeArrowheads="1"/>
            </p:cNvSpPr>
            <p:nvPr/>
          </p:nvSpPr>
          <p:spPr bwMode="auto">
            <a:xfrm>
              <a:off x="3168" y="1884"/>
              <a:ext cx="10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latin typeface="Arial" panose="020B0604020202020204" pitchFamily="34" charset="0"/>
                </a:rPr>
                <a:t>糖原合成  </a:t>
              </a:r>
              <a:endParaRPr kumimoji="1" lang="zh-CN" altLang="en-US" sz="2400" b="0">
                <a:solidFill>
                  <a:srgbClr val="FF0000"/>
                </a:solidFill>
                <a:latin typeface="Arial" panose="020B0604020202020204" pitchFamily="34" charset="0"/>
              </a:endParaRPr>
            </a:p>
          </p:txBody>
        </p:sp>
        <p:sp>
          <p:nvSpPr>
            <p:cNvPr id="101400" name="Text Box 23"/>
            <p:cNvSpPr txBox="1">
              <a:spLocks noChangeArrowheads="1"/>
            </p:cNvSpPr>
            <p:nvPr/>
          </p:nvSpPr>
          <p:spPr bwMode="auto">
            <a:xfrm>
              <a:off x="4176" y="1936"/>
              <a:ext cx="153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latin typeface="Arial" panose="020B0604020202020204" pitchFamily="34" charset="0"/>
                </a:rPr>
                <a:t> </a:t>
              </a:r>
              <a:r>
                <a:rPr kumimoji="1" lang="zh-CN" altLang="en-US" b="0">
                  <a:latin typeface="Arial" panose="020B0604020202020204" pitchFamily="34" charset="0"/>
                </a:rPr>
                <a:t>肝(肌)糖原</a:t>
              </a:r>
              <a:r>
                <a:rPr kumimoji="1" lang="zh-CN" altLang="en-US" sz="2800" b="0">
                  <a:latin typeface="Arial" panose="020B0604020202020204" pitchFamily="34" charset="0"/>
                </a:rPr>
                <a:t>  </a:t>
              </a:r>
              <a:endParaRPr kumimoji="1" lang="zh-CN" altLang="en-US" sz="2800" b="0">
                <a:latin typeface="Arial" panose="020B0604020202020204" pitchFamily="34" charset="0"/>
              </a:endParaRPr>
            </a:p>
          </p:txBody>
        </p:sp>
      </p:grpSp>
      <p:grpSp>
        <p:nvGrpSpPr>
          <p:cNvPr id="7" name="Group 24"/>
          <p:cNvGrpSpPr/>
          <p:nvPr/>
        </p:nvGrpSpPr>
        <p:grpSpPr bwMode="auto">
          <a:xfrm>
            <a:off x="6040439" y="2747964"/>
            <a:ext cx="4052887" cy="731837"/>
            <a:chOff x="2880" y="2412"/>
            <a:chExt cx="2702" cy="461"/>
          </a:xfrm>
        </p:grpSpPr>
        <p:sp>
          <p:nvSpPr>
            <p:cNvPr id="101395" name="Line 25"/>
            <p:cNvSpPr>
              <a:spLocks noChangeShapeType="1"/>
            </p:cNvSpPr>
            <p:nvPr/>
          </p:nvSpPr>
          <p:spPr bwMode="auto">
            <a:xfrm>
              <a:off x="2880" y="2736"/>
              <a:ext cx="1584"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96" name="Text Box 26"/>
            <p:cNvSpPr txBox="1">
              <a:spLocks noChangeArrowheads="1"/>
            </p:cNvSpPr>
            <p:nvPr/>
          </p:nvSpPr>
          <p:spPr bwMode="auto">
            <a:xfrm>
              <a:off x="2928" y="2412"/>
              <a:ext cx="16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dirty="0">
                  <a:solidFill>
                    <a:srgbClr val="FF0000"/>
                  </a:solidFill>
                  <a:latin typeface="Arial" panose="020B0604020202020204" pitchFamily="34" charset="0"/>
                </a:rPr>
                <a:t>戊糖磷酸途径等  </a:t>
              </a:r>
              <a:endParaRPr kumimoji="1" lang="zh-CN" altLang="en-US" sz="2400" b="0" dirty="0">
                <a:solidFill>
                  <a:srgbClr val="FF0000"/>
                </a:solidFill>
                <a:latin typeface="Arial" panose="020B0604020202020204" pitchFamily="34" charset="0"/>
              </a:endParaRPr>
            </a:p>
          </p:txBody>
        </p:sp>
        <p:sp>
          <p:nvSpPr>
            <p:cNvPr id="101397" name="Text Box 27"/>
            <p:cNvSpPr txBox="1">
              <a:spLocks noChangeArrowheads="1"/>
            </p:cNvSpPr>
            <p:nvPr/>
          </p:nvSpPr>
          <p:spPr bwMode="auto">
            <a:xfrm>
              <a:off x="4512" y="2508"/>
              <a:ext cx="107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其它糖</a:t>
              </a:r>
              <a:r>
                <a:rPr kumimoji="1" lang="zh-CN" altLang="en-US" sz="2800" b="0">
                  <a:latin typeface="Arial" panose="020B0604020202020204" pitchFamily="34" charset="0"/>
                </a:rPr>
                <a:t>  </a:t>
              </a:r>
              <a:endParaRPr kumimoji="1" lang="zh-CN" altLang="en-US" sz="2800" b="0">
                <a:latin typeface="Arial" panose="020B0604020202020204" pitchFamily="34" charset="0"/>
              </a:endParaRPr>
            </a:p>
          </p:txBody>
        </p:sp>
      </p:grpSp>
      <p:grpSp>
        <p:nvGrpSpPr>
          <p:cNvPr id="8" name="Group 28"/>
          <p:cNvGrpSpPr/>
          <p:nvPr/>
        </p:nvGrpSpPr>
        <p:grpSpPr bwMode="auto">
          <a:xfrm>
            <a:off x="6040439" y="3567113"/>
            <a:ext cx="4352925" cy="1382712"/>
            <a:chOff x="2880" y="2928"/>
            <a:chExt cx="2742" cy="871"/>
          </a:xfrm>
        </p:grpSpPr>
        <p:sp>
          <p:nvSpPr>
            <p:cNvPr id="101392" name="Line 29"/>
            <p:cNvSpPr>
              <a:spLocks noChangeShapeType="1"/>
            </p:cNvSpPr>
            <p:nvPr/>
          </p:nvSpPr>
          <p:spPr bwMode="auto">
            <a:xfrm>
              <a:off x="2880" y="2928"/>
              <a:ext cx="1008" cy="624"/>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93" name="Text Box 30"/>
            <p:cNvSpPr txBox="1">
              <a:spLocks noChangeArrowheads="1"/>
            </p:cNvSpPr>
            <p:nvPr/>
          </p:nvSpPr>
          <p:spPr bwMode="auto">
            <a:xfrm>
              <a:off x="3408" y="3036"/>
              <a:ext cx="2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400" b="0">
                  <a:solidFill>
                    <a:srgbClr val="FF0000"/>
                  </a:solidFill>
                  <a:latin typeface="Arial" panose="020B0604020202020204" pitchFamily="34" charset="0"/>
                </a:rPr>
                <a:t>脂类、氨基酸合成代谢  </a:t>
              </a:r>
              <a:endParaRPr kumimoji="1" lang="zh-CN" altLang="en-US" sz="2400" b="0">
                <a:solidFill>
                  <a:srgbClr val="FF0000"/>
                </a:solidFill>
                <a:latin typeface="Arial" panose="020B0604020202020204" pitchFamily="34" charset="0"/>
              </a:endParaRPr>
            </a:p>
          </p:txBody>
        </p:sp>
        <p:sp>
          <p:nvSpPr>
            <p:cNvPr id="101394" name="Text Box 31"/>
            <p:cNvSpPr txBox="1">
              <a:spLocks noChangeArrowheads="1"/>
            </p:cNvSpPr>
            <p:nvPr/>
          </p:nvSpPr>
          <p:spPr bwMode="auto">
            <a:xfrm>
              <a:off x="3840" y="3434"/>
              <a:ext cx="178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latin typeface="Arial" panose="020B0604020202020204" pitchFamily="34" charset="0"/>
                </a:rPr>
                <a:t>脂肪、氨基酸</a:t>
              </a:r>
              <a:r>
                <a:rPr kumimoji="1" lang="zh-CN" altLang="en-US" sz="2800" b="0">
                  <a:latin typeface="Arial" panose="020B0604020202020204" pitchFamily="34" charset="0"/>
                </a:rPr>
                <a:t>  </a:t>
              </a:r>
              <a:endParaRPr kumimoji="1" lang="zh-CN" altLang="en-US" sz="2800" b="0">
                <a:latin typeface="Arial" panose="020B0604020202020204" pitchFamily="34" charset="0"/>
              </a:endParaRPr>
            </a:p>
          </p:txBody>
        </p:sp>
      </p:grpSp>
      <p:sp>
        <p:nvSpPr>
          <p:cNvPr id="101387" name="Rectangle 32"/>
          <p:cNvSpPr>
            <a:spLocks noChangeArrowheads="1"/>
          </p:cNvSpPr>
          <p:nvPr/>
        </p:nvSpPr>
        <p:spPr bwMode="auto">
          <a:xfrm>
            <a:off x="3725864" y="5668963"/>
            <a:ext cx="4675187" cy="609600"/>
          </a:xfrm>
          <a:prstGeom prst="rect">
            <a:avLst/>
          </a:prstGeom>
          <a:solidFill>
            <a:srgbClr val="FFC9CA"/>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ClrTx/>
              <a:buSzPct val="85000"/>
              <a:buFontTx/>
              <a:buNone/>
            </a:pPr>
            <a:r>
              <a:rPr kumimoji="1" lang="zh-CN" altLang="en-US" sz="4000" b="0">
                <a:latin typeface="Arial" panose="020B0604020202020204" pitchFamily="34" charset="0"/>
                <a:ea typeface="黑体" panose="02010609060101010101" pitchFamily="2" charset="-122"/>
              </a:rPr>
              <a:t>血糖的来源和去路</a:t>
            </a:r>
            <a:endParaRPr kumimoji="1" lang="zh-CN" altLang="en-US" sz="4000" b="0">
              <a:latin typeface="Arial" panose="020B0604020202020204" pitchFamily="34" charset="0"/>
              <a:ea typeface="黑体" panose="02010609060101010101" pitchFamily="2" charset="-122"/>
            </a:endParaRPr>
          </a:p>
        </p:txBody>
      </p:sp>
      <p:grpSp>
        <p:nvGrpSpPr>
          <p:cNvPr id="9" name="Group 33"/>
          <p:cNvGrpSpPr/>
          <p:nvPr/>
        </p:nvGrpSpPr>
        <p:grpSpPr bwMode="auto">
          <a:xfrm>
            <a:off x="4800600" y="3541714"/>
            <a:ext cx="2293938" cy="1728787"/>
            <a:chOff x="2064" y="2432"/>
            <a:chExt cx="1445" cy="1089"/>
          </a:xfrm>
        </p:grpSpPr>
        <p:sp>
          <p:nvSpPr>
            <p:cNvPr id="101389" name="Line 34"/>
            <p:cNvSpPr>
              <a:spLocks noChangeShapeType="1"/>
            </p:cNvSpPr>
            <p:nvPr/>
          </p:nvSpPr>
          <p:spPr bwMode="auto">
            <a:xfrm>
              <a:off x="2517" y="2432"/>
              <a:ext cx="0" cy="771"/>
            </a:xfrm>
            <a:prstGeom prst="line">
              <a:avLst/>
            </a:prstGeom>
            <a:noFill/>
            <a:ln w="28575">
              <a:solidFill>
                <a:schemeClr val="tx1"/>
              </a:solidFill>
              <a:round/>
              <a:tailEnd type="arrow"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1390" name="Text Box 35"/>
            <p:cNvSpPr txBox="1">
              <a:spLocks noChangeArrowheads="1"/>
            </p:cNvSpPr>
            <p:nvPr/>
          </p:nvSpPr>
          <p:spPr bwMode="auto">
            <a:xfrm>
              <a:off x="2064" y="3156"/>
              <a:ext cx="90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b="0">
                  <a:solidFill>
                    <a:srgbClr val="FF0066"/>
                  </a:solidFill>
                </a:rPr>
                <a:t>尿糖</a:t>
              </a:r>
              <a:endParaRPr kumimoji="1" lang="zh-CN" altLang="en-US" b="0">
                <a:solidFill>
                  <a:srgbClr val="FF0066"/>
                </a:solidFill>
              </a:endParaRPr>
            </a:p>
          </p:txBody>
        </p:sp>
        <p:sp>
          <p:nvSpPr>
            <p:cNvPr id="101391" name="Text Box 36"/>
            <p:cNvSpPr txBox="1">
              <a:spLocks noChangeArrowheads="1"/>
            </p:cNvSpPr>
            <p:nvPr/>
          </p:nvSpPr>
          <p:spPr bwMode="auto">
            <a:xfrm>
              <a:off x="2375" y="2729"/>
              <a:ext cx="113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800" b="0">
                  <a:solidFill>
                    <a:srgbClr val="FF0000"/>
                  </a:solidFill>
                </a:rPr>
                <a:t>﹥肾糖阈</a:t>
              </a:r>
              <a:endParaRPr kumimoji="1" lang="zh-CN" altLang="en-US" sz="2800" b="0">
                <a:solidFill>
                  <a:srgbClr val="FF0000"/>
                </a:solidFill>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up)">
                                      <p:cBhvr>
                                        <p:cTn id="4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12-01"/>
          <p:cNvPicPr>
            <a:picLocks noChangeAspect="1" noChangeArrowheads="1"/>
          </p:cNvPicPr>
          <p:nvPr/>
        </p:nvPicPr>
        <p:blipFill>
          <a:blip r:embed="rId1">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rcRect l="7559" t="11826" r="6985" b="10609"/>
          <a:stretch>
            <a:fillRect/>
          </a:stretch>
        </p:blipFill>
        <p:spPr bwMode="auto">
          <a:xfrm>
            <a:off x="1524000" y="28576"/>
            <a:ext cx="9144000" cy="682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Text Box 3"/>
          <p:cNvSpPr txBox="1">
            <a:spLocks noChangeArrowheads="1"/>
          </p:cNvSpPr>
          <p:nvPr/>
        </p:nvSpPr>
        <p:spPr bwMode="auto">
          <a:xfrm>
            <a:off x="6527800" y="1773238"/>
            <a:ext cx="10810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1800">
                <a:solidFill>
                  <a:srgbClr val="000010"/>
                </a:solidFill>
                <a:latin typeface="Arial" panose="020B0604020202020204" pitchFamily="34" charset="0"/>
                <a:ea typeface="宋体" panose="02010600030101010101" pitchFamily="2" charset="-122"/>
              </a:rPr>
              <a:t>糖异生</a:t>
            </a:r>
            <a:endParaRPr lang="zh-CN" altLang="en-US" sz="1800">
              <a:solidFill>
                <a:srgbClr val="000010"/>
              </a:solidFill>
              <a:latin typeface="Arial" panose="020B0604020202020204" pitchFamily="34" charset="0"/>
              <a:ea typeface="宋体" panose="02010600030101010101" pitchFamily="2" charset="-122"/>
            </a:endParaRPr>
          </a:p>
        </p:txBody>
      </p:sp>
      <p:sp>
        <p:nvSpPr>
          <p:cNvPr id="103428" name="Text Box 4"/>
          <p:cNvSpPr txBox="1">
            <a:spLocks noChangeArrowheads="1"/>
          </p:cNvSpPr>
          <p:nvPr/>
        </p:nvSpPr>
        <p:spPr bwMode="auto">
          <a:xfrm>
            <a:off x="6511926" y="2133600"/>
            <a:ext cx="158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1800">
                <a:solidFill>
                  <a:srgbClr val="000010"/>
                </a:solidFill>
                <a:latin typeface="Arial" panose="020B0604020202020204" pitchFamily="34" charset="0"/>
                <a:ea typeface="宋体" panose="02010600030101010101" pitchFamily="2" charset="-122"/>
              </a:rPr>
              <a:t>肝糖原分解</a:t>
            </a:r>
            <a:endParaRPr lang="zh-CN" altLang="en-US" sz="1800">
              <a:solidFill>
                <a:srgbClr val="000010"/>
              </a:solidFill>
              <a:latin typeface="Arial" panose="020B0604020202020204" pitchFamily="34" charset="0"/>
              <a:ea typeface="宋体" panose="02010600030101010101" pitchFamily="2" charset="-122"/>
            </a:endParaRPr>
          </a:p>
        </p:txBody>
      </p:sp>
    </p:spTree>
  </p:cSld>
  <p:clrMapOvr>
    <a:masterClrMapping/>
  </p:clrMapOvr>
  <p:transition spd="med">
    <p:zoom/>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3287713" y="549275"/>
            <a:ext cx="6553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
                <a:srgbClr val="FF0000"/>
              </a:buClr>
              <a:buSzPct val="80000"/>
              <a:buFont typeface="Wingdings" panose="05000000000000000000" pitchFamily="2" charset="2"/>
              <a:buNone/>
            </a:pPr>
            <a:r>
              <a:rPr kumimoji="1" lang="zh-CN" altLang="en-US" sz="3600" b="0" dirty="0">
                <a:solidFill>
                  <a:srgbClr val="C00000"/>
                </a:solidFill>
                <a:latin typeface="宋体" panose="02010600030101010101" pitchFamily="2" charset="-122"/>
                <a:ea typeface="黑体" panose="02010609060101010101" pitchFamily="2" charset="-122"/>
              </a:rPr>
              <a:t> 血糖水平恒定的生理意义</a:t>
            </a:r>
            <a:endParaRPr kumimoji="1" lang="zh-CN" altLang="en-US" sz="3600" b="0" dirty="0">
              <a:solidFill>
                <a:srgbClr val="C00000"/>
              </a:solidFill>
              <a:latin typeface="宋体" panose="02010600030101010101" pitchFamily="2" charset="-122"/>
              <a:ea typeface="黑体" panose="02010609060101010101" pitchFamily="2" charset="-122"/>
            </a:endParaRPr>
          </a:p>
        </p:txBody>
      </p:sp>
      <p:sp>
        <p:nvSpPr>
          <p:cNvPr id="297987" name="Text Box 3"/>
          <p:cNvSpPr txBox="1">
            <a:spLocks noChangeArrowheads="1"/>
          </p:cNvSpPr>
          <p:nvPr/>
        </p:nvSpPr>
        <p:spPr bwMode="auto">
          <a:xfrm>
            <a:off x="2352674" y="1844824"/>
            <a:ext cx="77755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indent="0" eaLnBrk="1" hangingPunct="1">
              <a:lnSpc>
                <a:spcPct val="120000"/>
              </a:lnSpc>
              <a:spcBef>
                <a:spcPct val="0"/>
              </a:spcBef>
              <a:buClrTx/>
              <a:buSzTx/>
            </a:pPr>
            <a:r>
              <a:rPr kumimoji="1" lang="zh-CN" altLang="en-US" sz="2800" b="0" dirty="0">
                <a:latin typeface="华文楷体" panose="02010600040101010101" pitchFamily="2" charset="-122"/>
              </a:rPr>
              <a:t>   保证重要组织器官的能量供应，特别是某些 </a:t>
            </a:r>
            <a:endParaRPr kumimoji="1" lang="en-US" altLang="zh-CN" sz="2800" b="0" dirty="0">
              <a:latin typeface="华文楷体" panose="02010600040101010101" pitchFamily="2" charset="-122"/>
            </a:endParaRPr>
          </a:p>
          <a:p>
            <a:pPr indent="0" eaLnBrk="1" hangingPunct="1">
              <a:lnSpc>
                <a:spcPct val="120000"/>
              </a:lnSpc>
              <a:spcBef>
                <a:spcPct val="0"/>
              </a:spcBef>
              <a:buClrTx/>
              <a:buSzTx/>
              <a:buNone/>
            </a:pPr>
            <a:r>
              <a:rPr kumimoji="1" lang="en-US" altLang="zh-CN" sz="2800" b="0" dirty="0">
                <a:latin typeface="华文楷体" panose="02010600040101010101" pitchFamily="2" charset="-122"/>
              </a:rPr>
              <a:t>       </a:t>
            </a:r>
            <a:r>
              <a:rPr kumimoji="1" lang="zh-CN" altLang="en-US" sz="2800" b="0" dirty="0">
                <a:latin typeface="华文楷体" panose="02010600040101010101" pitchFamily="2" charset="-122"/>
              </a:rPr>
              <a:t>依赖葡萄糖供能的组织器官。</a:t>
            </a:r>
            <a:endParaRPr kumimoji="1" lang="zh-CN" altLang="en-US" sz="2400" b="0" dirty="0">
              <a:latin typeface="华文楷体" panose="02010600040101010101" pitchFamily="2" charset="-122"/>
            </a:endParaRPr>
          </a:p>
        </p:txBody>
      </p:sp>
      <p:sp>
        <p:nvSpPr>
          <p:cNvPr id="297988" name="Rectangle 4"/>
          <p:cNvSpPr>
            <a:spLocks noChangeArrowheads="1"/>
          </p:cNvSpPr>
          <p:nvPr/>
        </p:nvSpPr>
        <p:spPr bwMode="auto">
          <a:xfrm>
            <a:off x="2360663" y="3284984"/>
            <a:ext cx="7959725" cy="2049600"/>
          </a:xfrm>
          <a:prstGeom prst="rect">
            <a:avLst/>
          </a:prstGeom>
          <a:noFill/>
          <a:ln>
            <a:noFill/>
          </a:ln>
        </p:spPr>
        <p:txBody>
          <a:bodyPr>
            <a:spAutoFit/>
          </a:bodyPr>
          <a:lstStyle>
            <a:lvl1pPr marL="446405" indent="-44640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a:cs typeface="楷体_GB231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a:cs typeface="楷体_GB231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a:cs typeface="楷体_GB231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0"/>
              </a:spcBef>
              <a:buClr>
                <a:schemeClr val="tx2"/>
              </a:buClr>
              <a:buSzTx/>
              <a:buFont typeface="Wingdings" panose="05000000000000000000" pitchFamily="2" charset="2"/>
              <a:buChar char="Ø"/>
              <a:defRPr/>
            </a:pPr>
            <a:r>
              <a:rPr kumimoji="1" lang="zh-CN" altLang="en-US" sz="2400" b="0" dirty="0">
                <a:solidFill>
                  <a:srgbClr val="000099"/>
                </a:solidFill>
                <a:latin typeface="华文楷体" panose="02010600040101010101" pitchFamily="2" charset="-122"/>
              </a:rPr>
              <a:t>脑组织</a:t>
            </a:r>
            <a:r>
              <a:rPr kumimoji="1" lang="zh-CN" altLang="en-US" sz="2400" b="0" dirty="0">
                <a:latin typeface="华文楷体" panose="02010600040101010101" pitchFamily="2" charset="-122"/>
              </a:rPr>
              <a:t>不能利用脂酸，正常情况下主要依赖葡萄糖供能，成人每日需要量高达</a:t>
            </a:r>
            <a:r>
              <a:rPr kumimoji="1" lang="en-US" altLang="zh-CN" sz="2400" b="0" dirty="0">
                <a:solidFill>
                  <a:srgbClr val="0000CC"/>
                </a:solidFill>
                <a:latin typeface="+mj-ea"/>
                <a:ea typeface="+mj-ea"/>
              </a:rPr>
              <a:t>120</a:t>
            </a:r>
            <a:r>
              <a:rPr kumimoji="1" lang="zh-CN" altLang="en-US" sz="2400" b="0" dirty="0">
                <a:solidFill>
                  <a:srgbClr val="0000CC"/>
                </a:solidFill>
                <a:latin typeface="华文楷体" panose="02010600040101010101" pitchFamily="2" charset="-122"/>
              </a:rPr>
              <a:t>克</a:t>
            </a:r>
            <a:r>
              <a:rPr kumimoji="1" lang="zh-CN" altLang="en-US" sz="2400" b="0" dirty="0">
                <a:latin typeface="华文楷体" panose="02010600040101010101" pitchFamily="2" charset="-122"/>
              </a:rPr>
              <a:t>；</a:t>
            </a:r>
            <a:endParaRPr kumimoji="1" lang="en-US" altLang="zh-CN" sz="2400" b="0" dirty="0">
              <a:latin typeface="华文楷体" panose="02010600040101010101" pitchFamily="2" charset="-122"/>
            </a:endParaRPr>
          </a:p>
          <a:p>
            <a:pPr eaLnBrk="1" hangingPunct="1">
              <a:lnSpc>
                <a:spcPct val="130000"/>
              </a:lnSpc>
              <a:spcBef>
                <a:spcPct val="0"/>
              </a:spcBef>
              <a:buClr>
                <a:schemeClr val="tx2"/>
              </a:buClr>
              <a:buSzTx/>
              <a:buFont typeface="Wingdings" panose="05000000000000000000" pitchFamily="2" charset="2"/>
              <a:buChar char="Ø"/>
              <a:defRPr/>
            </a:pPr>
            <a:r>
              <a:rPr kumimoji="1" lang="zh-CN" altLang="en-US" sz="2400" b="0" dirty="0">
                <a:solidFill>
                  <a:srgbClr val="000099"/>
                </a:solidFill>
                <a:latin typeface="华文楷体" panose="02010600040101010101" pitchFamily="2" charset="-122"/>
              </a:rPr>
              <a:t>红细胞</a:t>
            </a:r>
            <a:r>
              <a:rPr kumimoji="1" lang="zh-CN" altLang="en-US" sz="2400" b="0" dirty="0">
                <a:latin typeface="华文楷体" panose="02010600040101010101" pitchFamily="2" charset="-122"/>
              </a:rPr>
              <a:t>没有线粒体，完全通过糖无氧氧化获能；</a:t>
            </a:r>
            <a:endParaRPr kumimoji="1" lang="zh-CN" altLang="en-US" sz="2400" b="0" dirty="0">
              <a:latin typeface="华文楷体" panose="02010600040101010101" pitchFamily="2" charset="-122"/>
            </a:endParaRPr>
          </a:p>
          <a:p>
            <a:pPr eaLnBrk="1" hangingPunct="1">
              <a:lnSpc>
                <a:spcPct val="130000"/>
              </a:lnSpc>
              <a:spcBef>
                <a:spcPct val="0"/>
              </a:spcBef>
              <a:buClr>
                <a:schemeClr val="tx2"/>
              </a:buClr>
              <a:buSzTx/>
              <a:buFont typeface="Wingdings" panose="05000000000000000000" pitchFamily="2" charset="2"/>
              <a:buChar char="Ø"/>
              <a:defRPr/>
            </a:pPr>
            <a:r>
              <a:rPr kumimoji="1" lang="zh-CN" altLang="en-US" sz="2400" b="0" dirty="0">
                <a:solidFill>
                  <a:srgbClr val="000099"/>
                </a:solidFill>
                <a:latin typeface="华文楷体" panose="02010600040101010101" pitchFamily="2" charset="-122"/>
              </a:rPr>
              <a:t>骨髓、神经组织等</a:t>
            </a:r>
            <a:r>
              <a:rPr kumimoji="1" lang="zh-CN" altLang="en-US" sz="2400" b="0" dirty="0">
                <a:latin typeface="华文楷体" panose="02010600040101010101" pitchFamily="2" charset="-122"/>
              </a:rPr>
              <a:t>代谢活跃，经常利用葡萄糖供能。</a:t>
            </a:r>
            <a:endParaRPr kumimoji="1" lang="zh-CN" altLang="en-US" sz="2400" b="0" dirty="0">
              <a:latin typeface="华文楷体" panose="0201060004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97987"/>
                                        </p:tgtEl>
                                        <p:attrNameLst>
                                          <p:attrName>style.visibility</p:attrName>
                                        </p:attrNameLst>
                                      </p:cBhvr>
                                      <p:to>
                                        <p:strVal val="visible"/>
                                      </p:to>
                                    </p:set>
                                    <p:animEffect transition="in" filter="checkerboard(across)">
                                      <p:cBhvr>
                                        <p:cTn id="7" dur="500"/>
                                        <p:tgtEl>
                                          <p:spTgt spid="2979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988"/>
                                        </p:tgtEl>
                                        <p:attrNameLst>
                                          <p:attrName>style.visibility</p:attrName>
                                        </p:attrNameLst>
                                      </p:cBhvr>
                                      <p:to>
                                        <p:strVal val="visible"/>
                                      </p:to>
                                    </p:set>
                                    <p:animEffect transition="in" filter="wipe(left)">
                                      <p:cBhvr>
                                        <p:cTn id="12" dur="500"/>
                                        <p:tgtEl>
                                          <p:spTgt spid="29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autoUpdateAnimBg="0"/>
      <p:bldP spid="297988" grpId="0" autoUpdateAnimBg="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2438400" y="692150"/>
            <a:ext cx="7391400" cy="585788"/>
          </a:xfrm>
        </p:spPr>
        <p:txBody>
          <a:bodyPr/>
          <a:lstStyle/>
          <a:p>
            <a:pPr eaLnBrk="1" hangingPunct="1"/>
            <a:r>
              <a:rPr lang="zh-CN" altLang="en-US" sz="3600" dirty="0">
                <a:solidFill>
                  <a:srgbClr val="C00000"/>
                </a:solidFill>
              </a:rPr>
              <a:t>二、血糖稳态主要受激素调节</a:t>
            </a:r>
            <a:endParaRPr lang="zh-CN" altLang="en-US" sz="3600" dirty="0">
              <a:solidFill>
                <a:srgbClr val="C00000"/>
              </a:solidFill>
            </a:endParaRPr>
          </a:p>
        </p:txBody>
      </p:sp>
      <p:sp>
        <p:nvSpPr>
          <p:cNvPr id="131075" name="Rectangle 3"/>
          <p:cNvSpPr>
            <a:spLocks noChangeArrowheads="1"/>
          </p:cNvSpPr>
          <p:nvPr/>
        </p:nvSpPr>
        <p:spPr bwMode="auto">
          <a:xfrm>
            <a:off x="1775520" y="1989139"/>
            <a:ext cx="9145015" cy="2439707"/>
          </a:xfrm>
          <a:prstGeom prst="rect">
            <a:avLst/>
          </a:prstGeom>
          <a:noFill/>
          <a:ln>
            <a:noFill/>
          </a:ln>
        </p:spPr>
        <p:txBody>
          <a:bodyPr wrap="square">
            <a:spAutoFit/>
          </a:bodyPr>
          <a:lstStyle>
            <a:lvl1pPr marL="358775" indent="-35877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40000"/>
              </a:lnSpc>
              <a:spcBef>
                <a:spcPct val="0"/>
              </a:spcBef>
              <a:buClr>
                <a:schemeClr val="tx2"/>
              </a:buClr>
              <a:buSzTx/>
              <a:buFont typeface="Wingdings" panose="05000000000000000000" pitchFamily="2" charset="2"/>
              <a:buChar char="Ø"/>
              <a:defRPr/>
            </a:pPr>
            <a:r>
              <a:rPr kumimoji="1" lang="zh-CN" altLang="en-US" sz="2800" b="0" dirty="0"/>
              <a:t>血糖水平保持恒定是</a:t>
            </a:r>
            <a:r>
              <a:rPr kumimoji="1" lang="zh-CN" altLang="en-US" sz="2800" b="0" dirty="0">
                <a:solidFill>
                  <a:srgbClr val="0000CC"/>
                </a:solidFill>
              </a:rPr>
              <a:t>糖、脂肪、氨基酸代谢协调的结果</a:t>
            </a:r>
            <a:r>
              <a:rPr kumimoji="1" lang="zh-CN" altLang="en-US" sz="2800" b="0" dirty="0"/>
              <a:t>，也是肝、肌、脂肪组织等各器官组织代谢协调的结果。</a:t>
            </a:r>
            <a:endParaRPr kumimoji="1" lang="zh-CN" altLang="en-US" sz="2800" b="0" dirty="0"/>
          </a:p>
          <a:p>
            <a:pPr eaLnBrk="1" hangingPunct="1">
              <a:lnSpc>
                <a:spcPct val="140000"/>
              </a:lnSpc>
              <a:spcBef>
                <a:spcPct val="0"/>
              </a:spcBef>
              <a:buClr>
                <a:schemeClr val="tx2"/>
              </a:buClr>
              <a:buSzTx/>
              <a:buFont typeface="Wingdings" panose="05000000000000000000" pitchFamily="2" charset="2"/>
              <a:buChar char="Ø"/>
              <a:defRPr/>
            </a:pPr>
            <a:r>
              <a:rPr kumimoji="1" lang="zh-CN" altLang="en-US" sz="2800" b="0" dirty="0">
                <a:solidFill>
                  <a:schemeClr val="tx1">
                    <a:lumMod val="95000"/>
                    <a:lumOff val="5000"/>
                  </a:schemeClr>
                </a:solidFill>
              </a:rPr>
              <a:t>血糖稳态</a:t>
            </a:r>
            <a:r>
              <a:rPr kumimoji="1" lang="zh-CN" altLang="en-US" sz="2800" b="0" dirty="0">
                <a:solidFill>
                  <a:srgbClr val="0000CC"/>
                </a:solidFill>
              </a:rPr>
              <a:t>主要依靠激素的调节</a:t>
            </a:r>
            <a:r>
              <a:rPr kumimoji="1" lang="zh-CN" altLang="en-US" sz="2800" b="0" dirty="0"/>
              <a:t>。</a:t>
            </a:r>
            <a:endParaRPr kumimoji="1" lang="zh-CN" altLang="en-US" sz="2800" b="0" dirty="0"/>
          </a:p>
          <a:p>
            <a:pPr eaLnBrk="1" hangingPunct="1">
              <a:lnSpc>
                <a:spcPct val="140000"/>
              </a:lnSpc>
              <a:spcBef>
                <a:spcPct val="0"/>
              </a:spcBef>
              <a:buClr>
                <a:schemeClr val="tx2"/>
              </a:buClr>
              <a:buSzTx/>
              <a:buFont typeface="Wingdings" panose="05000000000000000000" pitchFamily="2" charset="2"/>
              <a:buChar char="Ø"/>
              <a:defRPr/>
            </a:pPr>
            <a:r>
              <a:rPr kumimoji="1" lang="zh-CN" altLang="en-US" sz="2800" b="0" dirty="0">
                <a:solidFill>
                  <a:srgbClr val="0000CC"/>
                </a:solidFill>
              </a:rPr>
              <a:t>酶水平的调节</a:t>
            </a:r>
            <a:r>
              <a:rPr kumimoji="1" lang="zh-CN" altLang="en-US" sz="2800" b="0" dirty="0">
                <a:solidFill>
                  <a:schemeClr val="tx1">
                    <a:lumMod val="95000"/>
                    <a:lumOff val="5000"/>
                  </a:schemeClr>
                </a:solidFill>
              </a:rPr>
              <a:t>是最基本的调节方式和基础</a:t>
            </a:r>
            <a:r>
              <a:rPr kumimoji="1" lang="zh-CN" altLang="en-US" sz="2800" b="0" dirty="0">
                <a:solidFill>
                  <a:schemeClr val="hlink"/>
                </a:solidFill>
              </a:rPr>
              <a:t>。</a:t>
            </a:r>
            <a:endParaRPr kumimoji="1" lang="zh-CN" altLang="en-US" sz="2800" b="0" dirty="0">
              <a:solidFill>
                <a:schemeClr val="hlink"/>
              </a:solidFill>
            </a:endParaRPr>
          </a:p>
        </p:txBody>
      </p:sp>
    </p:spTree>
  </p:cSld>
  <p:clrMapOvr>
    <a:masterClrMapping/>
  </p:clrMapOvr>
  <p:transition spd="med">
    <p:zo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2225676" y="2205039"/>
            <a:ext cx="17176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Tx/>
              <a:buNone/>
            </a:pPr>
            <a:r>
              <a:rPr kumimoji="1" lang="zh-CN" altLang="en-US" b="0"/>
              <a:t>主要调节激素</a:t>
            </a:r>
            <a:endParaRPr kumimoji="1" lang="zh-CN" altLang="en-US" b="0"/>
          </a:p>
        </p:txBody>
      </p:sp>
      <p:sp>
        <p:nvSpPr>
          <p:cNvPr id="108547" name="AutoShape 3"/>
          <p:cNvSpPr/>
          <p:nvPr/>
        </p:nvSpPr>
        <p:spPr bwMode="auto">
          <a:xfrm>
            <a:off x="3794125" y="2371725"/>
            <a:ext cx="190500" cy="1066800"/>
          </a:xfrm>
          <a:prstGeom prst="leftBrace">
            <a:avLst>
              <a:gd name="adj1" fmla="val 46667"/>
              <a:gd name="adj2" fmla="val 48213"/>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b="0">
              <a:latin typeface="Arial" panose="020B0604020202020204" pitchFamily="34" charset="0"/>
            </a:endParaRPr>
          </a:p>
        </p:txBody>
      </p:sp>
      <p:sp>
        <p:nvSpPr>
          <p:cNvPr id="300036" name="Text Box 4"/>
          <p:cNvSpPr txBox="1">
            <a:spLocks noChangeArrowheads="1"/>
          </p:cNvSpPr>
          <p:nvPr/>
        </p:nvSpPr>
        <p:spPr bwMode="auto">
          <a:xfrm>
            <a:off x="4081464" y="2117725"/>
            <a:ext cx="5197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b="0">
                <a:solidFill>
                  <a:srgbClr val="C00000"/>
                </a:solidFill>
              </a:rPr>
              <a:t>降低血糖：胰岛素(</a:t>
            </a:r>
            <a:r>
              <a:rPr kumimoji="1" lang="en-US" altLang="zh-CN" b="0">
                <a:solidFill>
                  <a:srgbClr val="C00000"/>
                </a:solidFill>
              </a:rPr>
              <a:t>insulin)   </a:t>
            </a:r>
            <a:endParaRPr kumimoji="1" lang="en-US" altLang="zh-CN" b="0">
              <a:solidFill>
                <a:srgbClr val="C00000"/>
              </a:solidFill>
            </a:endParaRPr>
          </a:p>
        </p:txBody>
      </p:sp>
      <p:sp>
        <p:nvSpPr>
          <p:cNvPr id="300037" name="Text Box 5"/>
          <p:cNvSpPr txBox="1">
            <a:spLocks noChangeArrowheads="1"/>
          </p:cNvSpPr>
          <p:nvPr/>
        </p:nvSpPr>
        <p:spPr bwMode="auto">
          <a:xfrm>
            <a:off x="3984626" y="2997201"/>
            <a:ext cx="6683375" cy="245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00225" indent="-180022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ClrTx/>
              <a:buSzTx/>
              <a:buFontTx/>
              <a:buNone/>
            </a:pPr>
            <a:r>
              <a:rPr kumimoji="1" lang="zh-CN" altLang="en-US" b="0">
                <a:solidFill>
                  <a:srgbClr val="0033CC"/>
                </a:solidFill>
              </a:rPr>
              <a:t>升高血糖：胰高血糖素(</a:t>
            </a:r>
            <a:r>
              <a:rPr kumimoji="1" lang="en-US" altLang="zh-CN" b="0">
                <a:solidFill>
                  <a:srgbClr val="0033CC"/>
                </a:solidFill>
              </a:rPr>
              <a:t>glucagon)</a:t>
            </a:r>
            <a:endParaRPr kumimoji="1" lang="en-US" altLang="zh-CN" b="0">
              <a:solidFill>
                <a:srgbClr val="0033CC"/>
              </a:solidFill>
            </a:endParaRPr>
          </a:p>
          <a:p>
            <a:pPr eaLnBrk="1" hangingPunct="1">
              <a:lnSpc>
                <a:spcPct val="120000"/>
              </a:lnSpc>
              <a:spcBef>
                <a:spcPct val="0"/>
              </a:spcBef>
              <a:buClrTx/>
              <a:buSzTx/>
              <a:buFontTx/>
              <a:buNone/>
            </a:pPr>
            <a:r>
              <a:rPr kumimoji="1" lang="en-US" altLang="zh-CN" b="0">
                <a:solidFill>
                  <a:srgbClr val="0033CC"/>
                </a:solidFill>
              </a:rPr>
              <a:t>                    </a:t>
            </a:r>
            <a:r>
              <a:rPr kumimoji="1" lang="zh-CN" altLang="en-US" b="0">
                <a:solidFill>
                  <a:srgbClr val="0033CC"/>
                </a:solidFill>
              </a:rPr>
              <a:t>糖皮质激素</a:t>
            </a:r>
            <a:endParaRPr kumimoji="1" lang="en-US" altLang="zh-CN" b="0">
              <a:solidFill>
                <a:srgbClr val="0033CC"/>
              </a:solidFill>
            </a:endParaRPr>
          </a:p>
          <a:p>
            <a:pPr eaLnBrk="1" hangingPunct="1">
              <a:lnSpc>
                <a:spcPct val="120000"/>
              </a:lnSpc>
              <a:spcBef>
                <a:spcPct val="0"/>
              </a:spcBef>
              <a:buClrTx/>
              <a:buSzTx/>
              <a:buFontTx/>
              <a:buNone/>
            </a:pPr>
            <a:r>
              <a:rPr kumimoji="1" lang="en-US" altLang="zh-CN" b="0">
                <a:solidFill>
                  <a:srgbClr val="0033CC"/>
                </a:solidFill>
              </a:rPr>
              <a:t>                    </a:t>
            </a:r>
            <a:r>
              <a:rPr kumimoji="1" lang="zh-CN" altLang="en-US" b="0">
                <a:solidFill>
                  <a:srgbClr val="0033CC"/>
                </a:solidFill>
              </a:rPr>
              <a:t>肾上腺素</a:t>
            </a:r>
            <a:endParaRPr kumimoji="1" lang="en-US" altLang="zh-CN" b="0">
              <a:solidFill>
                <a:srgbClr val="0033CC"/>
              </a:solidFill>
            </a:endParaRPr>
          </a:p>
          <a:p>
            <a:pPr eaLnBrk="1" hangingPunct="1">
              <a:lnSpc>
                <a:spcPct val="120000"/>
              </a:lnSpc>
              <a:spcBef>
                <a:spcPct val="0"/>
              </a:spcBef>
              <a:buClrTx/>
              <a:buSzTx/>
              <a:buFontTx/>
              <a:buNone/>
            </a:pPr>
            <a:r>
              <a:rPr kumimoji="1" lang="zh-CN" altLang="en-US" b="0">
                <a:solidFill>
                  <a:srgbClr val="0033CC"/>
                </a:solidFill>
              </a:rPr>
              <a:t>                    生长激素等</a:t>
            </a:r>
            <a:endParaRPr kumimoji="1" lang="zh-CN" altLang="en-US" b="0">
              <a:solidFill>
                <a:srgbClr val="0033CC"/>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0036"/>
                                        </p:tgtEl>
                                        <p:attrNameLst>
                                          <p:attrName>style.visibility</p:attrName>
                                        </p:attrNameLst>
                                      </p:cBhvr>
                                      <p:to>
                                        <p:strVal val="visible"/>
                                      </p:to>
                                    </p:set>
                                    <p:animEffect transition="in" filter="wipe(left)">
                                      <p:cBhvr>
                                        <p:cTn id="7" dur="500"/>
                                        <p:tgtEl>
                                          <p:spTgt spid="30003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0037"/>
                                        </p:tgtEl>
                                        <p:attrNameLst>
                                          <p:attrName>style.visibility</p:attrName>
                                        </p:attrNameLst>
                                      </p:cBhvr>
                                      <p:to>
                                        <p:strVal val="visible"/>
                                      </p:to>
                                    </p:set>
                                    <p:animEffect transition="in" filter="wipe(left)">
                                      <p:cBhvr>
                                        <p:cTn id="12" dur="500"/>
                                        <p:tgtEl>
                                          <p:spTgt spid="300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6" grpId="0"/>
      <p:bldP spid="300037"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16250" y="2205038"/>
            <a:ext cx="6338888"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txBox="1">
            <a:spLocks noChangeArrowheads="1"/>
          </p:cNvSpPr>
          <p:nvPr/>
        </p:nvSpPr>
        <p:spPr bwMode="auto">
          <a:xfrm>
            <a:off x="1703388" y="412750"/>
            <a:ext cx="8964612" cy="1576388"/>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cs typeface="楷体_GB2312"/>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eaLnBrk="1" hangingPunct="1">
              <a:lnSpc>
                <a:spcPct val="140000"/>
              </a:lnSpc>
              <a:buFont typeface="Wingdings" panose="05000000000000000000" pitchFamily="2" charset="2"/>
              <a:buNone/>
              <a:defRPr/>
            </a:pPr>
            <a:r>
              <a:rPr lang="en-US" altLang="zh-CN" kern="0" dirty="0"/>
              <a:t>(</a:t>
            </a:r>
            <a:r>
              <a:rPr lang="zh-CN" altLang="en-US" kern="0" dirty="0"/>
              <a:t>一</a:t>
            </a:r>
            <a:r>
              <a:rPr lang="en-US" altLang="zh-CN" kern="0" dirty="0"/>
              <a:t>)</a:t>
            </a:r>
            <a:r>
              <a:rPr lang="zh-CN" altLang="en-US" kern="0" dirty="0">
                <a:solidFill>
                  <a:srgbClr val="C00000"/>
                </a:solidFill>
              </a:rPr>
              <a:t>胰岛素</a:t>
            </a:r>
            <a:r>
              <a:rPr lang="en-US" altLang="zh-CN" kern="0" dirty="0">
                <a:solidFill>
                  <a:srgbClr val="C00000"/>
                </a:solidFill>
              </a:rPr>
              <a:t>(insulin)</a:t>
            </a:r>
            <a:r>
              <a:rPr lang="zh-CN" altLang="en-US" kern="0" dirty="0">
                <a:solidFill>
                  <a:srgbClr val="C00000"/>
                </a:solidFill>
              </a:rPr>
              <a:t>： 体内唯一降低血糖的激素</a:t>
            </a:r>
            <a:endParaRPr lang="zh-CN" altLang="en-US" kern="0" dirty="0">
              <a:solidFill>
                <a:srgbClr val="C00000"/>
              </a:solidFill>
            </a:endParaRPr>
          </a:p>
          <a:p>
            <a:pPr eaLnBrk="1" hangingPunct="1">
              <a:lnSpc>
                <a:spcPct val="140000"/>
              </a:lnSpc>
              <a:buFont typeface="Wingdings" panose="05000000000000000000" pitchFamily="2" charset="2"/>
              <a:buNone/>
              <a:defRPr/>
            </a:pPr>
            <a:r>
              <a:rPr lang="zh-CN" altLang="en-US" sz="2800" kern="0" dirty="0"/>
              <a:t>             </a:t>
            </a:r>
            <a:r>
              <a:rPr lang="zh-CN" altLang="en-US" sz="2800" b="0" kern="0" dirty="0"/>
              <a:t>胰岛素降低血糖是多方面作用的结果：</a:t>
            </a:r>
            <a:endParaRPr lang="zh-CN" altLang="en-US" sz="2800" b="0" kern="0" dirty="0"/>
          </a:p>
        </p:txBody>
      </p:sp>
      <p:sp>
        <p:nvSpPr>
          <p:cNvPr id="4" name="矩形 3"/>
          <p:cNvSpPr>
            <a:spLocks noChangeArrowheads="1"/>
          </p:cNvSpPr>
          <p:nvPr/>
        </p:nvSpPr>
        <p:spPr bwMode="auto">
          <a:xfrm>
            <a:off x="6527801" y="2205038"/>
            <a:ext cx="646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3600">
                <a:solidFill>
                  <a:srgbClr val="0000CC"/>
                </a:solidFill>
                <a:latin typeface="等线" panose="02010600030101010101" pitchFamily="2" charset="-122"/>
                <a:cs typeface="Times New Roman" panose="02020603050405020304" pitchFamily="18" charset="0"/>
              </a:rPr>
              <a:t>⊕</a:t>
            </a:r>
            <a:endParaRPr lang="zh-CN" altLang="en-US" sz="3600">
              <a:solidFill>
                <a:srgbClr val="0000CC"/>
              </a:solidFill>
              <a:latin typeface="Arial" panose="020B0604020202020204" pitchFamily="34" charset="0"/>
              <a:cs typeface="Times New Roman" panose="02020603050405020304" pitchFamily="18" charset="0"/>
            </a:endParaRPr>
          </a:p>
        </p:txBody>
      </p:sp>
      <p:sp>
        <p:nvSpPr>
          <p:cNvPr id="5" name="矩形 4"/>
          <p:cNvSpPr>
            <a:spLocks noChangeArrowheads="1"/>
          </p:cNvSpPr>
          <p:nvPr/>
        </p:nvSpPr>
        <p:spPr bwMode="auto">
          <a:xfrm>
            <a:off x="7307263" y="2870201"/>
            <a:ext cx="646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3600">
                <a:solidFill>
                  <a:srgbClr val="0000CC"/>
                </a:solidFill>
                <a:latin typeface="等线" panose="02010600030101010101" pitchFamily="2" charset="-122"/>
                <a:cs typeface="Times New Roman" panose="02020603050405020304" pitchFamily="18" charset="0"/>
              </a:rPr>
              <a:t>⊕</a:t>
            </a:r>
            <a:endParaRPr lang="zh-CN" altLang="en-US" sz="3600">
              <a:solidFill>
                <a:srgbClr val="0000CC"/>
              </a:solidFill>
              <a:latin typeface="Arial" panose="020B0604020202020204" pitchFamily="34" charset="0"/>
              <a:cs typeface="Times New Roman" panose="02020603050405020304" pitchFamily="18" charset="0"/>
            </a:endParaRPr>
          </a:p>
        </p:txBody>
      </p:sp>
      <p:sp>
        <p:nvSpPr>
          <p:cNvPr id="6" name="矩形 5"/>
          <p:cNvSpPr>
            <a:spLocks noChangeArrowheads="1"/>
          </p:cNvSpPr>
          <p:nvPr/>
        </p:nvSpPr>
        <p:spPr bwMode="auto">
          <a:xfrm>
            <a:off x="6931026" y="4652963"/>
            <a:ext cx="646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en-US" altLang="zh-CN" sz="3600">
                <a:solidFill>
                  <a:srgbClr val="0000CC"/>
                </a:solidFill>
                <a:latin typeface="等线" panose="02010600030101010101" pitchFamily="2" charset="-122"/>
                <a:cs typeface="Times New Roman" panose="02020603050405020304" pitchFamily="18" charset="0"/>
              </a:rPr>
              <a:t>⊕</a:t>
            </a:r>
            <a:endParaRPr lang="zh-CN" altLang="en-US" sz="3600">
              <a:solidFill>
                <a:srgbClr val="0000CC"/>
              </a:solidFill>
              <a:latin typeface="Arial" panose="020B0604020202020204" pitchFamily="34" charset="0"/>
              <a:cs typeface="Times New Roman" panose="02020603050405020304" pitchFamily="18" charset="0"/>
            </a:endParaRPr>
          </a:p>
        </p:txBody>
      </p:sp>
      <p:sp>
        <p:nvSpPr>
          <p:cNvPr id="7" name="矩形 6"/>
          <p:cNvSpPr>
            <a:spLocks noChangeArrowheads="1"/>
          </p:cNvSpPr>
          <p:nvPr/>
        </p:nvSpPr>
        <p:spPr bwMode="auto">
          <a:xfrm>
            <a:off x="3792538" y="3194051"/>
            <a:ext cx="647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3600">
                <a:solidFill>
                  <a:srgbClr val="0000CC"/>
                </a:solidFill>
                <a:latin typeface="Arial" panose="020B0604020202020204" pitchFamily="34" charset="0"/>
              </a:rPr>
              <a:t>㊀</a:t>
            </a:r>
            <a:endParaRPr lang="zh-CN" altLang="en-US" sz="3600">
              <a:solidFill>
                <a:srgbClr val="0000CC"/>
              </a:solidFill>
              <a:latin typeface="Arial" panose="020B0604020202020204" pitchFamily="34" charset="0"/>
            </a:endParaRPr>
          </a:p>
        </p:txBody>
      </p:sp>
      <p:sp>
        <p:nvSpPr>
          <p:cNvPr id="8" name="矩形 7"/>
          <p:cNvSpPr>
            <a:spLocks noChangeArrowheads="1"/>
          </p:cNvSpPr>
          <p:nvPr/>
        </p:nvSpPr>
        <p:spPr bwMode="auto">
          <a:xfrm>
            <a:off x="3648075" y="4549776"/>
            <a:ext cx="6477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3600">
                <a:solidFill>
                  <a:srgbClr val="0000CC"/>
                </a:solidFill>
                <a:latin typeface="Arial" panose="020B0604020202020204" pitchFamily="34" charset="0"/>
              </a:rPr>
              <a:t>㊀</a:t>
            </a:r>
            <a:endParaRPr lang="zh-CN" altLang="en-US" sz="3600">
              <a:solidFill>
                <a:srgbClr val="0000CC"/>
              </a:solidFill>
              <a:latin typeface="Arial" panose="020B0604020202020204" pitchFamily="34" charset="0"/>
            </a:endParaRPr>
          </a:p>
        </p:txBody>
      </p:sp>
      <p:sp>
        <p:nvSpPr>
          <p:cNvPr id="9" name="Rectangle 3"/>
          <p:cNvSpPr>
            <a:spLocks noChangeArrowheads="1"/>
          </p:cNvSpPr>
          <p:nvPr/>
        </p:nvSpPr>
        <p:spPr bwMode="auto">
          <a:xfrm>
            <a:off x="3297239" y="6019801"/>
            <a:ext cx="6461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0000CC"/>
                </a:solidFill>
              </a:rPr>
              <a:t>促进葡萄糖转运进入组织细胞</a:t>
            </a:r>
            <a:endParaRPr kumimoji="1" lang="zh-CN" altLang="en-US" sz="2800" b="0">
              <a:solidFill>
                <a:srgbClr val="0000CC"/>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blinds(horizontal)">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autoUpdateAnimBg="0"/>
    </p:bldLst>
  </p:timing>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1618" name="图片 1"/>
          <p:cNvPicPr>
            <a:picLocks noChangeAspect="1"/>
          </p:cNvPicPr>
          <p:nvPr/>
        </p:nvPicPr>
        <p:blipFill>
          <a:blip r:embed="rId1">
            <a:extLst>
              <a:ext uri="{28A0092B-C50C-407E-A947-70E740481C1C}">
                <a14:useLocalDpi xmlns:a14="http://schemas.microsoft.com/office/drawing/2010/main" val="0"/>
              </a:ext>
            </a:extLst>
          </a:blip>
          <a:srcRect t="18224"/>
          <a:stretch>
            <a:fillRect/>
          </a:stretch>
        </p:blipFill>
        <p:spPr bwMode="auto">
          <a:xfrm>
            <a:off x="911424" y="1772816"/>
            <a:ext cx="10656901"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19" name="矩形 1"/>
          <p:cNvSpPr>
            <a:spLocks noChangeArrowheads="1"/>
          </p:cNvSpPr>
          <p:nvPr/>
        </p:nvSpPr>
        <p:spPr bwMode="auto">
          <a:xfrm>
            <a:off x="1945238" y="1006474"/>
            <a:ext cx="8518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0"/>
              </a:spcBef>
              <a:buClrTx/>
              <a:buSzTx/>
              <a:buFontTx/>
              <a:buNone/>
            </a:pPr>
            <a:r>
              <a:rPr lang="zh-CN" altLang="en-US" sz="2800" dirty="0">
                <a:solidFill>
                  <a:srgbClr val="0000CC"/>
                </a:solidFill>
                <a:latin typeface="Arial" panose="020B0604020202020204" pitchFamily="34" charset="0"/>
              </a:rPr>
              <a:t>受胰岛素影响的部分酶及代谢效应</a:t>
            </a:r>
            <a:endParaRPr lang="zh-CN" altLang="en-US" sz="2800" dirty="0">
              <a:solidFill>
                <a:srgbClr val="0000CC"/>
              </a:solidFill>
              <a:latin typeface="Arial" panose="020B0604020202020204" pitchFamily="34" charset="0"/>
            </a:endParaRPr>
          </a:p>
        </p:txBody>
      </p:sp>
    </p:spTree>
  </p:cSld>
  <p:clrMapOvr>
    <a:masterClrMapping/>
  </p:clrMapOvr>
  <p:transition spd="med">
    <p:zoom/>
  </p:transition>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366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28788" y="114300"/>
            <a:ext cx="8831262" cy="669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5714" name="标题 1"/>
          <p:cNvSpPr>
            <a:spLocks noGrp="1" noChangeArrowheads="1"/>
          </p:cNvSpPr>
          <p:nvPr>
            <p:ph type="title" idx="4294967295"/>
          </p:nvPr>
        </p:nvSpPr>
        <p:spPr>
          <a:xfrm>
            <a:off x="3000376" y="482600"/>
            <a:ext cx="6194425" cy="457200"/>
          </a:xfrm>
        </p:spPr>
        <p:txBody>
          <a:bodyPr/>
          <a:lstStyle/>
          <a:p>
            <a:r>
              <a:rPr lang="zh-CN" altLang="en-US" sz="3600" b="1">
                <a:solidFill>
                  <a:srgbClr val="800000"/>
                </a:solidFill>
              </a:rPr>
              <a:t>胰岛素</a:t>
            </a:r>
            <a:r>
              <a:rPr lang="zh-CN" altLang="en-US" sz="3600" b="1">
                <a:solidFill>
                  <a:srgbClr val="990000"/>
                </a:solidFill>
              </a:rPr>
              <a:t>分泌</a:t>
            </a:r>
            <a:r>
              <a:rPr lang="zh-CN" altLang="en-US" sz="3600" b="1">
                <a:solidFill>
                  <a:srgbClr val="800000"/>
                </a:solidFill>
              </a:rPr>
              <a:t>的调节</a:t>
            </a:r>
            <a:endParaRPr lang="zh-CN" altLang="en-US" sz="3600" b="1">
              <a:solidFill>
                <a:srgbClr val="800000"/>
              </a:solidFill>
            </a:endParaRPr>
          </a:p>
        </p:txBody>
      </p:sp>
      <p:sp>
        <p:nvSpPr>
          <p:cNvPr id="3" name="内容占位符 2"/>
          <p:cNvSpPr>
            <a:spLocks noGrp="1"/>
          </p:cNvSpPr>
          <p:nvPr>
            <p:ph idx="4294967295"/>
          </p:nvPr>
        </p:nvSpPr>
        <p:spPr>
          <a:xfrm>
            <a:off x="1343472" y="1271349"/>
            <a:ext cx="5148262" cy="3813836"/>
          </a:xfrm>
        </p:spPr>
        <p:txBody>
          <a:bodyPr/>
          <a:lstStyle/>
          <a:p>
            <a:pPr>
              <a:spcBef>
                <a:spcPts val="600"/>
              </a:spcBef>
              <a:defRPr/>
            </a:pPr>
            <a:r>
              <a:rPr lang="zh-CN" altLang="en-US" sz="2800" dirty="0">
                <a:solidFill>
                  <a:srgbClr val="0000CC"/>
                </a:solidFill>
                <a:latin typeface="+mn-ea"/>
              </a:rPr>
              <a:t>促进分泌的因素</a:t>
            </a:r>
            <a:endParaRPr lang="en-US" altLang="zh-CN" sz="2800" dirty="0">
              <a:solidFill>
                <a:srgbClr val="0000CC"/>
              </a:solidFill>
              <a:latin typeface="+mn-ea"/>
            </a:endParaRPr>
          </a:p>
          <a:p>
            <a:pPr lvl="1">
              <a:spcBef>
                <a:spcPts val="600"/>
              </a:spcBef>
              <a:buFont typeface="Wingdings" panose="05000000000000000000" pitchFamily="2" charset="2"/>
              <a:buChar char="l"/>
              <a:defRPr/>
            </a:pPr>
            <a:r>
              <a:rPr lang="zh-CN" altLang="en-US" sz="2400" dirty="0">
                <a:solidFill>
                  <a:srgbClr val="FF0000"/>
                </a:solidFill>
                <a:latin typeface="+mn-ea"/>
              </a:rPr>
              <a:t>血糖升高：最重要的因素</a:t>
            </a:r>
            <a:endParaRPr lang="en-US" altLang="zh-CN" sz="2400" dirty="0">
              <a:solidFill>
                <a:srgbClr val="FF0000"/>
              </a:solidFill>
              <a:latin typeface="+mn-ea"/>
            </a:endParaRPr>
          </a:p>
          <a:p>
            <a:pPr lvl="1">
              <a:spcBef>
                <a:spcPts val="600"/>
              </a:spcBef>
              <a:buFont typeface="Wingdings" panose="05000000000000000000" pitchFamily="2" charset="2"/>
              <a:buChar char="l"/>
              <a:defRPr/>
            </a:pPr>
            <a:r>
              <a:rPr lang="zh-CN" altLang="en-US" sz="2400" b="0" dirty="0">
                <a:latin typeface="+mn-ea"/>
              </a:rPr>
              <a:t>血浆</a:t>
            </a:r>
            <a:r>
              <a:rPr lang="zh-CN" altLang="en-US" sz="2400" b="0" dirty="0">
                <a:solidFill>
                  <a:srgbClr val="C00000"/>
                </a:solidFill>
                <a:latin typeface="+mn-ea"/>
              </a:rPr>
              <a:t>氨基酸、脂肪酸浓度升高</a:t>
            </a:r>
            <a:endParaRPr lang="en-US" altLang="zh-CN" sz="2400" b="0" dirty="0">
              <a:solidFill>
                <a:srgbClr val="C00000"/>
              </a:solidFill>
              <a:latin typeface="+mn-ea"/>
            </a:endParaRPr>
          </a:p>
          <a:p>
            <a:pPr lvl="1">
              <a:spcBef>
                <a:spcPts val="600"/>
              </a:spcBef>
              <a:buFont typeface="Wingdings" panose="05000000000000000000" pitchFamily="2" charset="2"/>
              <a:buChar char="l"/>
              <a:defRPr/>
            </a:pPr>
            <a:r>
              <a:rPr lang="zh-CN" altLang="en-US" sz="2000" b="0" dirty="0">
                <a:latin typeface="+mn-ea"/>
              </a:rPr>
              <a:t>缩胆囊素、肠抑胃肽等</a:t>
            </a:r>
            <a:r>
              <a:rPr lang="zh-CN" altLang="en-US" sz="2000" b="0" dirty="0">
                <a:solidFill>
                  <a:srgbClr val="C00000"/>
                </a:solidFill>
                <a:latin typeface="+mn-ea"/>
              </a:rPr>
              <a:t>肠胃激素</a:t>
            </a:r>
            <a:endParaRPr lang="en-US" altLang="zh-CN" sz="2000" b="0" dirty="0">
              <a:solidFill>
                <a:srgbClr val="C00000"/>
              </a:solidFill>
              <a:latin typeface="+mn-ea"/>
            </a:endParaRPr>
          </a:p>
          <a:p>
            <a:pPr lvl="1">
              <a:spcBef>
                <a:spcPts val="600"/>
              </a:spcBef>
              <a:buFont typeface="Wingdings" panose="05000000000000000000" pitchFamily="2" charset="2"/>
              <a:buChar char="l"/>
              <a:defRPr/>
            </a:pPr>
            <a:endParaRPr lang="en-US" altLang="zh-CN" sz="2000" b="0" dirty="0">
              <a:latin typeface="+mn-ea"/>
            </a:endParaRPr>
          </a:p>
          <a:p>
            <a:pPr>
              <a:spcBef>
                <a:spcPts val="600"/>
              </a:spcBef>
              <a:defRPr/>
            </a:pPr>
            <a:r>
              <a:rPr lang="zh-CN" altLang="en-US" sz="2800" dirty="0">
                <a:solidFill>
                  <a:srgbClr val="0000CC"/>
                </a:solidFill>
                <a:latin typeface="+mn-ea"/>
              </a:rPr>
              <a:t>抑制分泌的因素</a:t>
            </a:r>
            <a:endParaRPr lang="en-US" altLang="zh-CN" sz="2800" dirty="0">
              <a:solidFill>
                <a:srgbClr val="0000CC"/>
              </a:solidFill>
              <a:latin typeface="+mn-ea"/>
            </a:endParaRPr>
          </a:p>
          <a:p>
            <a:pPr lvl="1">
              <a:spcBef>
                <a:spcPts val="600"/>
              </a:spcBef>
              <a:buFont typeface="Wingdings" panose="05000000000000000000" pitchFamily="2" charset="2"/>
              <a:buChar char="l"/>
              <a:defRPr/>
            </a:pPr>
            <a:r>
              <a:rPr lang="zh-CN" altLang="en-US" sz="2400" b="0" dirty="0">
                <a:latin typeface="+mn-ea"/>
              </a:rPr>
              <a:t>食物来源</a:t>
            </a:r>
            <a:r>
              <a:rPr lang="zh-CN" altLang="en-US" sz="2400" b="0" dirty="0">
                <a:solidFill>
                  <a:srgbClr val="0000CC"/>
                </a:solidFill>
                <a:latin typeface="+mn-ea"/>
              </a:rPr>
              <a:t>能量不足</a:t>
            </a:r>
            <a:endParaRPr lang="en-US" altLang="zh-CN" sz="2400" b="0" dirty="0">
              <a:solidFill>
                <a:srgbClr val="0000CC"/>
              </a:solidFill>
              <a:latin typeface="+mn-ea"/>
            </a:endParaRPr>
          </a:p>
          <a:p>
            <a:pPr lvl="1">
              <a:spcBef>
                <a:spcPts val="600"/>
              </a:spcBef>
              <a:buFont typeface="Wingdings" panose="05000000000000000000" pitchFamily="2" charset="2"/>
              <a:buChar char="l"/>
              <a:defRPr/>
            </a:pPr>
            <a:r>
              <a:rPr lang="zh-CN" altLang="en-US" sz="2000" b="0" dirty="0">
                <a:latin typeface="+mn-ea"/>
              </a:rPr>
              <a:t>发热、感染、创伤、运动等</a:t>
            </a:r>
            <a:r>
              <a:rPr lang="zh-CN" altLang="en-US" sz="2000" b="0" dirty="0">
                <a:solidFill>
                  <a:srgbClr val="0000CC"/>
                </a:solidFill>
                <a:latin typeface="+mn-ea"/>
              </a:rPr>
              <a:t>应激状态</a:t>
            </a:r>
            <a:endParaRPr lang="en-US" altLang="zh-CN" sz="2800" dirty="0">
              <a:latin typeface="+mn-ea"/>
            </a:endParaRPr>
          </a:p>
          <a:p>
            <a:pPr>
              <a:spcBef>
                <a:spcPts val="600"/>
              </a:spcBef>
              <a:defRPr/>
            </a:pPr>
            <a:endParaRPr lang="en-US" altLang="zh-CN" sz="2800" dirty="0">
              <a:latin typeface="+mn-ea"/>
            </a:endParaRPr>
          </a:p>
          <a:p>
            <a:pPr>
              <a:spcBef>
                <a:spcPts val="600"/>
              </a:spcBef>
              <a:defRPr/>
            </a:pPr>
            <a:endParaRPr lang="zh-CN" altLang="en-US" sz="2800" dirty="0">
              <a:latin typeface="+mn-ea"/>
            </a:endParaRPr>
          </a:p>
        </p:txBody>
      </p:sp>
      <p:pic>
        <p:nvPicPr>
          <p:cNvPr id="115716"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66568" y="1628800"/>
            <a:ext cx="4656465" cy="4677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a:spLocks noChangeArrowheads="1"/>
          </p:cNvSpPr>
          <p:nvPr/>
        </p:nvSpPr>
        <p:spPr bwMode="auto">
          <a:xfrm>
            <a:off x="1357080" y="5208567"/>
            <a:ext cx="5256584" cy="1200329"/>
          </a:xfrm>
          <a:prstGeom prst="rect">
            <a:avLst/>
          </a:prstGeom>
          <a:noFill/>
          <a:ln>
            <a:noFill/>
          </a:ln>
        </p:spPr>
        <p:txBody>
          <a:bodyPr wrap="square">
            <a:spAutoFit/>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ts val="1200"/>
              </a:spcBef>
              <a:buClr>
                <a:schemeClr val="accent1"/>
              </a:buClr>
              <a:buSzTx/>
              <a:buFont typeface="Wingdings" panose="05000000000000000000" pitchFamily="2" charset="2"/>
              <a:buChar char="l"/>
              <a:defRPr/>
            </a:pPr>
            <a:r>
              <a:rPr lang="zh-CN" altLang="en-US" sz="2400" dirty="0">
                <a:latin typeface="+mn-ea"/>
                <a:ea typeface="+mn-ea"/>
                <a:cs typeface="楷体_GB2312"/>
              </a:rPr>
              <a:t>应激等情况</a:t>
            </a:r>
            <a:r>
              <a:rPr lang="zh-CN" altLang="en-US" sz="2400" dirty="0">
                <a:latin typeface="Garamond" panose="02020404030301010803" pitchFamily="18" charset="0"/>
                <a:cs typeface="楷体_GB2312"/>
              </a:rPr>
              <a:t>下，交感神经兴奋 → 肾上腺髓质分泌</a:t>
            </a:r>
            <a:r>
              <a:rPr lang="zh-CN" altLang="en-US" sz="2400" dirty="0">
                <a:solidFill>
                  <a:srgbClr val="0000CC"/>
                </a:solidFill>
                <a:latin typeface="Garamond" panose="02020404030301010803" pitchFamily="18" charset="0"/>
                <a:cs typeface="楷体_GB2312"/>
              </a:rPr>
              <a:t>肾上腺素</a:t>
            </a:r>
            <a:r>
              <a:rPr lang="zh-CN" altLang="en-US" sz="2400" dirty="0">
                <a:latin typeface="Garamond" panose="02020404030301010803" pitchFamily="18" charset="0"/>
                <a:cs typeface="楷体_GB2312"/>
              </a:rPr>
              <a:t>，抑制胰岛素分泌，升高血溏。</a:t>
            </a:r>
            <a:endParaRPr lang="en-US" altLang="zh-CN" sz="2400" dirty="0">
              <a:latin typeface="Garamond" panose="02020404030301010803" pitchFamily="18" charset="0"/>
              <a:cs typeface="楷体_GB231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8406" y="386596"/>
            <a:ext cx="6005784" cy="608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文本框 1"/>
          <p:cNvSpPr txBox="1">
            <a:spLocks noChangeArrowheads="1"/>
          </p:cNvSpPr>
          <p:nvPr/>
        </p:nvSpPr>
        <p:spPr bwMode="auto">
          <a:xfrm>
            <a:off x="7596189" y="468314"/>
            <a:ext cx="26638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pPr>
            <a:r>
              <a:rPr lang="zh-CN" altLang="en-US" sz="2800">
                <a:solidFill>
                  <a:srgbClr val="0033CC"/>
                </a:solidFill>
                <a:latin typeface="Arial" panose="020B0604020202020204" pitchFamily="34" charset="0"/>
              </a:rPr>
              <a:t>胰腺</a:t>
            </a:r>
            <a:r>
              <a:rPr lang="en-US" altLang="zh-CN" sz="2800">
                <a:solidFill>
                  <a:srgbClr val="0033CC"/>
                </a:solidFill>
                <a:latin typeface="Arial" panose="020B0604020202020204" pitchFamily="34" charset="0"/>
              </a:rPr>
              <a:t>β</a:t>
            </a:r>
            <a:r>
              <a:rPr lang="zh-CN" altLang="en-US" sz="2800">
                <a:solidFill>
                  <a:srgbClr val="0033CC"/>
                </a:solidFill>
                <a:latin typeface="Arial" panose="020B0604020202020204" pitchFamily="34" charset="0"/>
              </a:rPr>
              <a:t>细胞释放胰岛素的机制</a:t>
            </a:r>
            <a:endParaRPr lang="zh-CN" altLang="en-US" sz="2800">
              <a:solidFill>
                <a:srgbClr val="0033CC"/>
              </a:solidFill>
              <a:latin typeface="Arial" panose="020B0604020202020204" pitchFamily="34" charset="0"/>
            </a:endParaRPr>
          </a:p>
        </p:txBody>
      </p:sp>
      <p:sp>
        <p:nvSpPr>
          <p:cNvPr id="143364" name="TextBox 2"/>
          <p:cNvSpPr txBox="1">
            <a:spLocks noChangeArrowheads="1"/>
          </p:cNvSpPr>
          <p:nvPr/>
        </p:nvSpPr>
        <p:spPr bwMode="auto">
          <a:xfrm>
            <a:off x="7254875" y="1700214"/>
            <a:ext cx="3436938" cy="523875"/>
          </a:xfrm>
          <a:prstGeom prst="rect">
            <a:avLst/>
          </a:prstGeom>
          <a:noFill/>
          <a:ln>
            <a:noFill/>
          </a:ln>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0"/>
              </a:spcBef>
              <a:buClrTx/>
              <a:buSzTx/>
              <a:buFontTx/>
              <a:buNone/>
              <a:defRPr/>
            </a:pPr>
            <a:r>
              <a:rPr kumimoji="1" lang="zh-CN" altLang="en-US" sz="2800" dirty="0">
                <a:solidFill>
                  <a:schemeClr val="tx1">
                    <a:lumMod val="95000"/>
                    <a:lumOff val="5000"/>
                  </a:schemeClr>
                </a:solidFill>
                <a:ea typeface="宋体" panose="02010600030101010101" pitchFamily="2" charset="-122"/>
              </a:rPr>
              <a:t> 血糖</a:t>
            </a:r>
            <a:r>
              <a:rPr kumimoji="1" lang="zh-CN" altLang="en-US" sz="2800" dirty="0">
                <a:solidFill>
                  <a:schemeClr val="tx1">
                    <a:lumMod val="95000"/>
                    <a:lumOff val="5000"/>
                  </a:schemeClr>
                </a:solidFill>
                <a:ea typeface="宋体" panose="02010600030101010101" pitchFamily="2" charset="-122"/>
                <a:sym typeface="Wingdings" panose="05000000000000000000" pitchFamily="2" charset="2"/>
              </a:rPr>
              <a:t>       胰岛素 </a:t>
            </a:r>
            <a:endParaRPr kumimoji="1" lang="zh-CN" altLang="en-US" sz="2800" dirty="0">
              <a:solidFill>
                <a:schemeClr val="tx1">
                  <a:lumMod val="95000"/>
                  <a:lumOff val="5000"/>
                </a:schemeClr>
              </a:solidFill>
              <a:ea typeface="宋体" panose="02010600030101010101" pitchFamily="2" charset="-122"/>
            </a:endParaRPr>
          </a:p>
        </p:txBody>
      </p:sp>
      <p:sp>
        <p:nvSpPr>
          <p:cNvPr id="6" name="TextBox 5"/>
          <p:cNvSpPr txBox="1">
            <a:spLocks noChangeArrowheads="1"/>
          </p:cNvSpPr>
          <p:nvPr/>
        </p:nvSpPr>
        <p:spPr bwMode="auto">
          <a:xfrm>
            <a:off x="7326314" y="2838451"/>
            <a:ext cx="4037280" cy="2941959"/>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nSpc>
                <a:spcPct val="130000"/>
              </a:lnSpc>
              <a:spcBef>
                <a:spcPct val="0"/>
              </a:spcBef>
              <a:buClrTx/>
              <a:buSzTx/>
              <a:buFontTx/>
              <a:buNone/>
              <a:defRPr/>
            </a:pPr>
            <a:r>
              <a:rPr lang="zh-CN" altLang="en-US" sz="2400" b="0" dirty="0">
                <a:solidFill>
                  <a:srgbClr val="C00000"/>
                </a:solidFill>
                <a:latin typeface="微软雅黑" panose="020B0503020204020204" pitchFamily="34" charset="-122"/>
                <a:ea typeface="微软雅黑" panose="020B0503020204020204" pitchFamily="34" charset="-122"/>
              </a:rPr>
              <a:t>磺脲类降糖药物作用机制：</a:t>
            </a:r>
            <a:endParaRPr lang="en-US" altLang="zh-CN" sz="2400" b="0" dirty="0">
              <a:solidFill>
                <a:srgbClr val="C00000"/>
              </a:solidFill>
              <a:latin typeface="微软雅黑" panose="020B0503020204020204" pitchFamily="34" charset="-122"/>
              <a:ea typeface="微软雅黑" panose="020B0503020204020204" pitchFamily="34" charset="-122"/>
            </a:endParaRPr>
          </a:p>
          <a:p>
            <a:pPr>
              <a:lnSpc>
                <a:spcPct val="130000"/>
              </a:lnSpc>
              <a:spcBef>
                <a:spcPct val="0"/>
              </a:spcBef>
              <a:buClrTx/>
              <a:buSzTx/>
              <a:buFontTx/>
              <a:buNone/>
              <a:defRPr/>
            </a:pPr>
            <a:r>
              <a:rPr lang="zh-CN" altLang="en-US" sz="2400" b="0" dirty="0">
                <a:solidFill>
                  <a:srgbClr val="C00000"/>
                </a:solidFill>
                <a:latin typeface="微软雅黑" panose="020B0503020204020204" pitchFamily="34" charset="-122"/>
                <a:ea typeface="微软雅黑" panose="020B0503020204020204" pitchFamily="34" charset="-122"/>
              </a:rPr>
              <a:t>关闭</a:t>
            </a:r>
            <a:r>
              <a:rPr lang="en-US" altLang="zh-CN" sz="2400" b="0" dirty="0">
                <a:solidFill>
                  <a:srgbClr val="C00000"/>
                </a:solidFill>
                <a:latin typeface="微软雅黑" panose="020B0503020204020204" pitchFamily="34" charset="-122"/>
                <a:ea typeface="微软雅黑" panose="020B0503020204020204" pitchFamily="34" charset="-122"/>
              </a:rPr>
              <a:t>ATP</a:t>
            </a:r>
            <a:r>
              <a:rPr lang="zh-CN" altLang="en-US" sz="2400" b="0" dirty="0">
                <a:solidFill>
                  <a:srgbClr val="C00000"/>
                </a:solidFill>
                <a:latin typeface="微软雅黑" panose="020B0503020204020204" pitchFamily="34" charset="-122"/>
                <a:ea typeface="微软雅黑" panose="020B0503020204020204" pitchFamily="34" charset="-122"/>
              </a:rPr>
              <a:t>依赖</a:t>
            </a:r>
            <a:r>
              <a:rPr lang="en-US" altLang="zh-CN" sz="2400" b="0" dirty="0">
                <a:solidFill>
                  <a:srgbClr val="C00000"/>
                </a:solidFill>
                <a:latin typeface="微软雅黑" panose="020B0503020204020204" pitchFamily="34" charset="-122"/>
                <a:ea typeface="微软雅黑" panose="020B0503020204020204" pitchFamily="34" charset="-122"/>
              </a:rPr>
              <a:t>K</a:t>
            </a:r>
            <a:r>
              <a:rPr lang="en-US" altLang="zh-CN" sz="2400" b="0" baseline="30000" dirty="0">
                <a:solidFill>
                  <a:srgbClr val="C00000"/>
                </a:solidFill>
                <a:latin typeface="微软雅黑" panose="020B0503020204020204" pitchFamily="34" charset="-122"/>
                <a:ea typeface="微软雅黑" panose="020B0503020204020204" pitchFamily="34" charset="-122"/>
              </a:rPr>
              <a:t>+</a:t>
            </a:r>
            <a:r>
              <a:rPr lang="zh-CN" altLang="en-US" sz="2400" b="0" dirty="0">
                <a:solidFill>
                  <a:srgbClr val="C00000"/>
                </a:solidFill>
                <a:latin typeface="微软雅黑" panose="020B0503020204020204" pitchFamily="34" charset="-122"/>
                <a:ea typeface="微软雅黑" panose="020B0503020204020204" pitchFamily="34" charset="-122"/>
              </a:rPr>
              <a:t>通道，促进胰岛素释放。</a:t>
            </a:r>
            <a:endParaRPr lang="en-US" altLang="zh-CN" sz="2400" b="0" dirty="0">
              <a:solidFill>
                <a:srgbClr val="C00000"/>
              </a:solidFill>
              <a:latin typeface="微软雅黑" panose="020B0503020204020204" pitchFamily="34" charset="-122"/>
              <a:ea typeface="微软雅黑" panose="020B0503020204020204" pitchFamily="34" charset="-122"/>
            </a:endParaRPr>
          </a:p>
          <a:p>
            <a:pPr>
              <a:lnSpc>
                <a:spcPct val="130000"/>
              </a:lnSpc>
              <a:spcBef>
                <a:spcPct val="0"/>
              </a:spcBef>
              <a:buClrTx/>
              <a:buSzTx/>
              <a:buFontTx/>
              <a:buNone/>
              <a:defRPr/>
            </a:pPr>
            <a:endParaRPr lang="en-US" altLang="zh-CN" sz="2400" b="0" dirty="0">
              <a:solidFill>
                <a:srgbClr val="C00000"/>
              </a:solidFill>
              <a:latin typeface="微软雅黑" panose="020B0503020204020204" pitchFamily="34" charset="-122"/>
              <a:ea typeface="微软雅黑" panose="020B0503020204020204" pitchFamily="34" charset="-122"/>
            </a:endParaRPr>
          </a:p>
          <a:p>
            <a:pPr>
              <a:lnSpc>
                <a:spcPct val="130000"/>
              </a:lnSpc>
              <a:spcBef>
                <a:spcPct val="0"/>
              </a:spcBef>
              <a:buClrTx/>
              <a:buSzTx/>
              <a:buFontTx/>
              <a:buNone/>
              <a:defRPr/>
            </a:pPr>
            <a:r>
              <a:rPr lang="zh-CN" altLang="en-US" sz="1600" b="0" dirty="0">
                <a:solidFill>
                  <a:schemeClr val="tx1">
                    <a:lumMod val="95000"/>
                    <a:lumOff val="5000"/>
                  </a:schemeClr>
                </a:solidFill>
                <a:latin typeface="微软雅黑" panose="020B0503020204020204" pitchFamily="34" charset="-122"/>
                <a:ea typeface="微软雅黑" panose="020B0503020204020204" pitchFamily="34" charset="-122"/>
              </a:rPr>
              <a:t>代表药：格列苯脲（</a:t>
            </a:r>
            <a:r>
              <a:rPr lang="en-US" altLang="zh-CN" sz="1600" b="0" dirty="0">
                <a:solidFill>
                  <a:schemeClr val="tx1">
                    <a:lumMod val="95000"/>
                    <a:lumOff val="5000"/>
                  </a:schemeClr>
                </a:solidFill>
                <a:latin typeface="微软雅黑" panose="020B0503020204020204" pitchFamily="34" charset="-122"/>
                <a:ea typeface="微软雅黑" panose="020B0503020204020204" pitchFamily="34" charset="-122"/>
              </a:rPr>
              <a:t>U</a:t>
            </a:r>
            <a:r>
              <a:rPr lang="zh-CN" altLang="en-US" sz="1600" b="0" dirty="0">
                <a:solidFill>
                  <a:schemeClr val="tx1">
                    <a:lumMod val="95000"/>
                    <a:lumOff val="5000"/>
                  </a:schemeClr>
                </a:solidFill>
                <a:latin typeface="微软雅黑" panose="020B0503020204020204" pitchFamily="34" charset="-122"/>
                <a:ea typeface="微软雅黑" panose="020B0503020204020204" pitchFamily="34" charset="-122"/>
              </a:rPr>
              <a:t>降糖）、格列齐特（达美康）、米克胰、格列博脲、克糖利、格列喹酮、糖适平、糖肾平、美吡达</a:t>
            </a:r>
            <a:endParaRPr lang="zh-CN" altLang="en-US" sz="1600" b="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7766" name="右箭头 1"/>
          <p:cNvSpPr>
            <a:spLocks noChangeArrowheads="1"/>
          </p:cNvSpPr>
          <p:nvPr/>
        </p:nvSpPr>
        <p:spPr bwMode="auto">
          <a:xfrm>
            <a:off x="8570914" y="1909763"/>
            <a:ext cx="384175" cy="150812"/>
          </a:xfrm>
          <a:prstGeom prst="rightArrow">
            <a:avLst>
              <a:gd name="adj1" fmla="val 50000"/>
              <a:gd name="adj2" fmla="val 49851"/>
            </a:avLst>
          </a:prstGeom>
          <a:solidFill>
            <a:schemeClr val="accent1"/>
          </a:solidFill>
          <a:ln w="9525" algn="ctr">
            <a:solidFill>
              <a:schemeClr val="tx1"/>
            </a:solidFill>
            <a:round/>
          </a:ln>
        </p:spPr>
        <p:txBody>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框 2"/>
          <p:cNvSpPr txBox="1"/>
          <p:nvPr/>
        </p:nvSpPr>
        <p:spPr>
          <a:xfrm>
            <a:off x="1955540" y="674173"/>
            <a:ext cx="8676964" cy="2934906"/>
          </a:xfrm>
          <a:prstGeom prst="rect">
            <a:avLst/>
          </a:prstGeom>
          <a:noFill/>
        </p:spPr>
        <p:txBody>
          <a:bodyPr wrap="square">
            <a:spAutoFit/>
          </a:bodyPr>
          <a:lstStyle/>
          <a:p>
            <a:pPr marL="457200" indent="-457200">
              <a:lnSpc>
                <a:spcPct val="120000"/>
              </a:lnSpc>
              <a:buFont typeface="Arial" panose="020B0604020202020204" pitchFamily="34" charset="0"/>
              <a:buChar char="•"/>
            </a:pPr>
            <a:r>
              <a:rPr lang="zh-CN" altLang="en-US" sz="2800" b="0" dirty="0">
                <a:solidFill>
                  <a:srgbClr val="0033CC"/>
                </a:solidFill>
                <a:latin typeface="+mj-ea"/>
                <a:ea typeface="+mj-ea"/>
              </a:rPr>
              <a:t>口服葡萄糖比静脉注射等量葡萄糖引起更多的胰岛素分泌</a:t>
            </a:r>
            <a:r>
              <a:rPr lang="zh-CN" altLang="en-US" sz="2800" b="0" dirty="0">
                <a:latin typeface="+mj-ea"/>
                <a:ea typeface="+mj-ea"/>
              </a:rPr>
              <a:t>，其原因是</a:t>
            </a:r>
            <a:endParaRPr lang="zh-CN" altLang="en-US" sz="2800" b="0" dirty="0">
              <a:latin typeface="+mj-ea"/>
              <a:ea typeface="+mj-ea"/>
            </a:endParaRPr>
          </a:p>
          <a:p>
            <a:pPr>
              <a:lnSpc>
                <a:spcPct val="120000"/>
              </a:lnSpc>
            </a:pPr>
            <a:r>
              <a:rPr lang="zh-CN" altLang="en-US" sz="2800" b="0" dirty="0">
                <a:latin typeface="+mj-ea"/>
                <a:ea typeface="+mj-ea"/>
              </a:rPr>
              <a:t>	</a:t>
            </a:r>
            <a:r>
              <a:rPr lang="en-US" altLang="zh-CN" sz="2400" b="0" dirty="0">
                <a:latin typeface="+mj-ea"/>
                <a:ea typeface="+mj-ea"/>
              </a:rPr>
              <a:t>A. </a:t>
            </a:r>
            <a:r>
              <a:rPr lang="zh-CN" altLang="en-US" sz="2400" b="0" dirty="0">
                <a:latin typeface="+mj-ea"/>
                <a:ea typeface="+mj-ea"/>
              </a:rPr>
              <a:t>小肠吸收葡萄糖非常完全 </a:t>
            </a:r>
            <a:endParaRPr lang="zh-CN" altLang="en-US" sz="2400" b="0" dirty="0">
              <a:latin typeface="+mj-ea"/>
              <a:ea typeface="+mj-ea"/>
            </a:endParaRPr>
          </a:p>
          <a:p>
            <a:pPr>
              <a:lnSpc>
                <a:spcPct val="120000"/>
              </a:lnSpc>
            </a:pPr>
            <a:r>
              <a:rPr lang="zh-CN" altLang="en-US" sz="2400" b="0" dirty="0">
                <a:latin typeface="+mj-ea"/>
                <a:ea typeface="+mj-ea"/>
              </a:rPr>
              <a:t>	</a:t>
            </a:r>
            <a:r>
              <a:rPr lang="en-US" altLang="zh-CN" sz="2400" b="0" dirty="0">
                <a:latin typeface="+mj-ea"/>
                <a:ea typeface="+mj-ea"/>
              </a:rPr>
              <a:t>B. </a:t>
            </a:r>
            <a:r>
              <a:rPr lang="zh-CN" altLang="en-US" sz="2400" b="0" dirty="0">
                <a:latin typeface="+mj-ea"/>
                <a:ea typeface="+mj-ea"/>
              </a:rPr>
              <a:t>小肠分泌抑胃肽刺激胰岛素分泌</a:t>
            </a:r>
            <a:endParaRPr lang="zh-CN" altLang="en-US" sz="2400" b="0" dirty="0">
              <a:latin typeface="+mj-ea"/>
              <a:ea typeface="+mj-ea"/>
            </a:endParaRPr>
          </a:p>
          <a:p>
            <a:pPr>
              <a:lnSpc>
                <a:spcPct val="120000"/>
              </a:lnSpc>
            </a:pPr>
            <a:r>
              <a:rPr lang="zh-CN" altLang="en-US" sz="2400" b="0" dirty="0">
                <a:latin typeface="+mj-ea"/>
                <a:ea typeface="+mj-ea"/>
              </a:rPr>
              <a:t>	</a:t>
            </a:r>
            <a:r>
              <a:rPr lang="en-US" altLang="zh-CN" sz="2400" b="0" dirty="0">
                <a:latin typeface="+mj-ea"/>
                <a:ea typeface="+mj-ea"/>
              </a:rPr>
              <a:t>C. </a:t>
            </a:r>
            <a:r>
              <a:rPr lang="zh-CN" altLang="en-US" sz="2400" b="0" dirty="0">
                <a:latin typeface="+mj-ea"/>
                <a:ea typeface="+mj-ea"/>
              </a:rPr>
              <a:t>流经胰岛的血流量很少</a:t>
            </a:r>
            <a:endParaRPr lang="zh-CN" altLang="en-US" sz="2400" b="0" dirty="0">
              <a:latin typeface="+mj-ea"/>
              <a:ea typeface="+mj-ea"/>
            </a:endParaRPr>
          </a:p>
          <a:p>
            <a:pPr>
              <a:lnSpc>
                <a:spcPct val="120000"/>
              </a:lnSpc>
            </a:pPr>
            <a:r>
              <a:rPr lang="zh-CN" altLang="en-US" sz="2400" b="0" dirty="0">
                <a:latin typeface="+mj-ea"/>
                <a:ea typeface="+mj-ea"/>
              </a:rPr>
              <a:t>	</a:t>
            </a:r>
            <a:r>
              <a:rPr lang="en-US" altLang="zh-CN" sz="2400" b="0" dirty="0">
                <a:latin typeface="+mj-ea"/>
                <a:ea typeface="+mj-ea"/>
              </a:rPr>
              <a:t>D. </a:t>
            </a:r>
            <a:r>
              <a:rPr lang="zh-CN" altLang="en-US" sz="2400" b="0" dirty="0">
                <a:latin typeface="+mj-ea"/>
                <a:ea typeface="+mj-ea"/>
              </a:rPr>
              <a:t>血流经胰岛时葡萄糖浓度已很低</a:t>
            </a:r>
            <a:endParaRPr lang="zh-CN" altLang="en-US" sz="2400" b="0" dirty="0">
              <a:latin typeface="+mj-ea"/>
              <a:ea typeface="+mj-ea"/>
            </a:endParaRPr>
          </a:p>
        </p:txBody>
      </p:sp>
      <p:sp>
        <p:nvSpPr>
          <p:cNvPr id="5" name="文本框 4"/>
          <p:cNvSpPr txBox="1"/>
          <p:nvPr/>
        </p:nvSpPr>
        <p:spPr>
          <a:xfrm>
            <a:off x="3810000" y="3246740"/>
            <a:ext cx="4572000" cy="369332"/>
          </a:xfrm>
          <a:prstGeom prst="rect">
            <a:avLst/>
          </a:prstGeom>
          <a:noFill/>
        </p:spPr>
        <p:txBody>
          <a:bodyPr wrap="square">
            <a:spAutoFit/>
          </a:bodyPr>
          <a:lstStyle/>
          <a:p>
            <a:endParaRPr lang="zh-CN" altLang="en-US" dirty="0"/>
          </a:p>
        </p:txBody>
      </p:sp>
      <p:sp>
        <p:nvSpPr>
          <p:cNvPr id="7" name="文本框 6"/>
          <p:cNvSpPr txBox="1"/>
          <p:nvPr/>
        </p:nvSpPr>
        <p:spPr>
          <a:xfrm>
            <a:off x="1721514" y="3937570"/>
            <a:ext cx="8982998" cy="2244076"/>
          </a:xfrm>
          <a:prstGeom prst="rect">
            <a:avLst/>
          </a:prstGeom>
          <a:noFill/>
        </p:spPr>
        <p:txBody>
          <a:bodyPr wrap="square">
            <a:spAutoFit/>
          </a:bodyPr>
          <a:lstStyle/>
          <a:p>
            <a:pPr>
              <a:lnSpc>
                <a:spcPct val="130000"/>
              </a:lnSpc>
            </a:pPr>
            <a:r>
              <a:rPr lang="zh-CN" altLang="en-US" sz="2200" b="0" dirty="0"/>
              <a:t>答案： </a:t>
            </a:r>
            <a:r>
              <a:rPr lang="en-US" altLang="zh-CN" sz="2200" b="0" dirty="0"/>
              <a:t>B .  </a:t>
            </a:r>
            <a:r>
              <a:rPr lang="zh-CN" altLang="en-US" sz="2200" b="0" dirty="0"/>
              <a:t>许多胃肠激素可促进胰岛素的分泌，其中以</a:t>
            </a:r>
            <a:r>
              <a:rPr lang="zh-CN" altLang="en-US" sz="2200" dirty="0">
                <a:solidFill>
                  <a:srgbClr val="0033CC"/>
                </a:solidFill>
              </a:rPr>
              <a:t>抑胃肽（</a:t>
            </a:r>
            <a:r>
              <a:rPr lang="en-US" altLang="zh-CN" sz="2200" dirty="0">
                <a:solidFill>
                  <a:srgbClr val="0033CC"/>
                </a:solidFill>
              </a:rPr>
              <a:t>gastric inhibitory polypeptide, GIP)</a:t>
            </a:r>
            <a:r>
              <a:rPr lang="zh-CN" altLang="en-US" sz="2200" dirty="0">
                <a:solidFill>
                  <a:srgbClr val="0033CC"/>
                </a:solidFill>
              </a:rPr>
              <a:t>作用最强</a:t>
            </a:r>
            <a:r>
              <a:rPr lang="zh-CN" altLang="en-US" sz="2200" b="0" dirty="0"/>
              <a:t>，是生理性肠促胰岛素因子。 口服葡萄糖后，小肠吸收葡萄糖的同时，小肠粘膜分泌的</a:t>
            </a:r>
            <a:r>
              <a:rPr lang="en-US" altLang="zh-CN" sz="2200" b="0" dirty="0"/>
              <a:t>GIP</a:t>
            </a:r>
            <a:r>
              <a:rPr lang="zh-CN" altLang="en-US" sz="2200" b="0" dirty="0"/>
              <a:t>入血后可刺激胰岛素分泌，且超过由静脉注射等量葡萄糖所引起的胰岛素分泌量，故</a:t>
            </a:r>
            <a:r>
              <a:rPr lang="en-US" altLang="zh-CN" sz="2200" b="0" dirty="0"/>
              <a:t>GIP</a:t>
            </a:r>
            <a:r>
              <a:rPr lang="zh-CN" altLang="en-US" sz="2200" b="0" dirty="0"/>
              <a:t>又称为</a:t>
            </a:r>
            <a:r>
              <a:rPr lang="zh-CN" altLang="en-US" sz="2200" b="0" dirty="0">
                <a:solidFill>
                  <a:srgbClr val="0033CC"/>
                </a:solidFill>
              </a:rPr>
              <a:t>葡萄糖依赖性促胰岛素多肽</a:t>
            </a:r>
            <a:r>
              <a:rPr lang="zh-CN" altLang="en-US" sz="2200" b="0" dirty="0"/>
              <a:t>。 </a:t>
            </a:r>
            <a:endParaRPr lang="zh-CN" altLang="en-US" sz="22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body" idx="4294967295"/>
          </p:nvPr>
        </p:nvSpPr>
        <p:spPr>
          <a:xfrm>
            <a:off x="1558925" y="849313"/>
            <a:ext cx="9290050" cy="685800"/>
          </a:xfrm>
        </p:spPr>
        <p:txBody>
          <a:bodyPr/>
          <a:lstStyle/>
          <a:p>
            <a:pPr eaLnBrk="1" hangingPunct="1">
              <a:buFont typeface="Wingdings" panose="05000000000000000000" pitchFamily="2" charset="2"/>
              <a:buNone/>
            </a:pPr>
            <a:r>
              <a:rPr lang="en-US" altLang="zh-CN">
                <a:solidFill>
                  <a:srgbClr val="C00000"/>
                </a:solidFill>
              </a:rPr>
              <a:t>(</a:t>
            </a:r>
            <a:r>
              <a:rPr lang="zh-CN" altLang="en-US">
                <a:solidFill>
                  <a:srgbClr val="C00000"/>
                </a:solidFill>
              </a:rPr>
              <a:t>二</a:t>
            </a:r>
            <a:r>
              <a:rPr lang="en-US" altLang="zh-CN">
                <a:solidFill>
                  <a:srgbClr val="C00000"/>
                </a:solidFill>
              </a:rPr>
              <a:t>)</a:t>
            </a:r>
            <a:r>
              <a:rPr lang="zh-CN" altLang="en-US">
                <a:solidFill>
                  <a:srgbClr val="C00000"/>
                </a:solidFill>
              </a:rPr>
              <a:t>胰高血糖素</a:t>
            </a:r>
            <a:r>
              <a:rPr lang="en-US" altLang="zh-CN">
                <a:solidFill>
                  <a:srgbClr val="C00000"/>
                </a:solidFill>
              </a:rPr>
              <a:t>(glucagon): </a:t>
            </a:r>
            <a:r>
              <a:rPr lang="zh-CN" altLang="en-US">
                <a:solidFill>
                  <a:srgbClr val="C00000"/>
                </a:solidFill>
              </a:rPr>
              <a:t>升高血糖的最重要激素</a:t>
            </a:r>
            <a:endParaRPr lang="zh-CN" altLang="en-US">
              <a:solidFill>
                <a:srgbClr val="C00000"/>
              </a:solidFill>
            </a:endParaRPr>
          </a:p>
        </p:txBody>
      </p:sp>
      <p:sp>
        <p:nvSpPr>
          <p:cNvPr id="302083" name="Text Box 3"/>
          <p:cNvSpPr txBox="1">
            <a:spLocks noChangeArrowheads="1"/>
          </p:cNvSpPr>
          <p:nvPr/>
        </p:nvSpPr>
        <p:spPr bwMode="auto">
          <a:xfrm>
            <a:off x="3048000" y="2943226"/>
            <a:ext cx="676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t>① </a:t>
            </a:r>
            <a:r>
              <a:rPr kumimoji="1" lang="zh-CN" altLang="en-US" sz="2800"/>
              <a:t>促进肝糖原分解，抑制肝糖原合成</a:t>
            </a:r>
            <a:r>
              <a:rPr kumimoji="1" lang="zh-CN" altLang="en-US" sz="2800" b="0"/>
              <a:t>；    </a:t>
            </a:r>
            <a:endParaRPr kumimoji="1" lang="zh-CN" altLang="en-US" sz="2800" b="0"/>
          </a:p>
        </p:txBody>
      </p:sp>
      <p:sp>
        <p:nvSpPr>
          <p:cNvPr id="302084" name="Text Box 4"/>
          <p:cNvSpPr txBox="1">
            <a:spLocks noChangeArrowheads="1"/>
          </p:cNvSpPr>
          <p:nvPr/>
        </p:nvSpPr>
        <p:spPr bwMode="auto">
          <a:xfrm>
            <a:off x="3048000" y="3573464"/>
            <a:ext cx="4330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t>② 抑制肝细胞糖酵解；     </a:t>
            </a:r>
            <a:endParaRPr kumimoji="1" lang="zh-CN" altLang="en-US" sz="2800" b="0"/>
          </a:p>
        </p:txBody>
      </p:sp>
      <p:sp>
        <p:nvSpPr>
          <p:cNvPr id="302085" name="Text Box 5"/>
          <p:cNvSpPr txBox="1">
            <a:spLocks noChangeArrowheads="1"/>
          </p:cNvSpPr>
          <p:nvPr/>
        </p:nvSpPr>
        <p:spPr bwMode="auto">
          <a:xfrm>
            <a:off x="3048001" y="4221164"/>
            <a:ext cx="376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t>③ 促进糖异生；      </a:t>
            </a:r>
            <a:endParaRPr kumimoji="1" lang="zh-CN" altLang="en-US" sz="2800" b="0" dirty="0"/>
          </a:p>
        </p:txBody>
      </p:sp>
      <p:sp>
        <p:nvSpPr>
          <p:cNvPr id="302086" name="Rectangle 6"/>
          <p:cNvSpPr>
            <a:spLocks noChangeArrowheads="1"/>
          </p:cNvSpPr>
          <p:nvPr/>
        </p:nvSpPr>
        <p:spPr bwMode="auto">
          <a:xfrm>
            <a:off x="2649538" y="1443038"/>
            <a:ext cx="7561262" cy="130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50000"/>
              </a:lnSpc>
              <a:spcBef>
                <a:spcPct val="0"/>
              </a:spcBef>
              <a:buClrTx/>
              <a:buSzTx/>
              <a:buFontTx/>
              <a:buNone/>
            </a:pPr>
            <a:r>
              <a:rPr kumimoji="1" lang="zh-CN" altLang="en-US" sz="2800" b="0"/>
              <a:t>作用于肝细胞和脂肪细胞，</a:t>
            </a:r>
            <a:r>
              <a:rPr kumimoji="1" lang="zh-CN" altLang="en-US" sz="2800" b="0">
                <a:solidFill>
                  <a:srgbClr val="0000CC"/>
                </a:solidFill>
              </a:rPr>
              <a:t>对肌细胞不起作用</a:t>
            </a:r>
            <a:r>
              <a:rPr kumimoji="1" lang="zh-CN" altLang="en-US" sz="2800" b="0"/>
              <a:t>。</a:t>
            </a:r>
            <a:endParaRPr kumimoji="1" lang="en-US" altLang="zh-CN" sz="2800" b="0"/>
          </a:p>
          <a:p>
            <a:pPr eaLnBrk="1" hangingPunct="1">
              <a:lnSpc>
                <a:spcPct val="150000"/>
              </a:lnSpc>
              <a:spcBef>
                <a:spcPct val="0"/>
              </a:spcBef>
              <a:buClrTx/>
              <a:buSzTx/>
              <a:buFontTx/>
              <a:buNone/>
            </a:pPr>
            <a:r>
              <a:rPr kumimoji="1" lang="zh-CN" altLang="en-US" sz="2800" b="0"/>
              <a:t>作用机制（和胰岛素基本相反）： </a:t>
            </a:r>
            <a:endParaRPr kumimoji="1" lang="zh-CN" altLang="en-US" sz="2800" b="0"/>
          </a:p>
        </p:txBody>
      </p:sp>
      <p:sp>
        <p:nvSpPr>
          <p:cNvPr id="7" name="Text Box 5"/>
          <p:cNvSpPr txBox="1">
            <a:spLocks noChangeArrowheads="1"/>
          </p:cNvSpPr>
          <p:nvPr/>
        </p:nvSpPr>
        <p:spPr bwMode="auto">
          <a:xfrm>
            <a:off x="3024189" y="4868864"/>
            <a:ext cx="376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zh-CN" sz="2800">
                <a:ea typeface="宋体" panose="02010600030101010101" pitchFamily="2" charset="-122"/>
              </a:rPr>
              <a:t>④</a:t>
            </a:r>
            <a:r>
              <a:rPr kumimoji="1" lang="en-US" altLang="zh-CN" sz="2800">
                <a:ea typeface="宋体" panose="02010600030101010101" pitchFamily="2" charset="-122"/>
              </a:rPr>
              <a:t> </a:t>
            </a:r>
            <a:r>
              <a:rPr kumimoji="1" lang="zh-CN" altLang="en-US" sz="2800">
                <a:ea typeface="宋体" panose="02010600030101010101" pitchFamily="2" charset="-122"/>
              </a:rPr>
              <a:t>促进脂肪动员</a:t>
            </a:r>
            <a:r>
              <a:rPr kumimoji="1" lang="zh-CN" altLang="en-US" sz="2800" b="0">
                <a:ea typeface="宋体" panose="02010600030101010101" pitchFamily="2" charset="-122"/>
              </a:rPr>
              <a:t>； </a:t>
            </a:r>
            <a:endParaRPr kumimoji="1" lang="en-US" altLang="zh-CN" sz="2800" b="0">
              <a:ea typeface="宋体" panose="02010600030101010101" pitchFamily="2" charset="-122"/>
            </a:endParaRPr>
          </a:p>
        </p:txBody>
      </p:sp>
      <p:sp>
        <p:nvSpPr>
          <p:cNvPr id="8" name="Text Box 5"/>
          <p:cNvSpPr txBox="1">
            <a:spLocks noChangeArrowheads="1"/>
          </p:cNvSpPr>
          <p:nvPr/>
        </p:nvSpPr>
        <p:spPr bwMode="auto">
          <a:xfrm>
            <a:off x="3024189" y="5445126"/>
            <a:ext cx="376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a:ea typeface="宋体" panose="02010600030101010101" pitchFamily="2" charset="-122"/>
              </a:rPr>
              <a:t>⑤ 促进酮体生成。</a:t>
            </a:r>
            <a:endParaRPr kumimoji="1" lang="en-US" altLang="zh-CN" sz="2800">
              <a:ea typeface="宋体" panose="0201060003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2086"/>
                                        </p:tgtEl>
                                        <p:attrNameLst>
                                          <p:attrName>style.visibility</p:attrName>
                                        </p:attrNameLst>
                                      </p:cBhvr>
                                      <p:to>
                                        <p:strVal val="visible"/>
                                      </p:to>
                                    </p:set>
                                    <p:animEffect transition="in" filter="box(in)">
                                      <p:cBhvr>
                                        <p:cTn id="7" dur="500"/>
                                        <p:tgtEl>
                                          <p:spTgt spid="3020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2083"/>
                                        </p:tgtEl>
                                        <p:attrNameLst>
                                          <p:attrName>style.visibility</p:attrName>
                                        </p:attrNameLst>
                                      </p:cBhvr>
                                      <p:to>
                                        <p:strVal val="visible"/>
                                      </p:to>
                                    </p:set>
                                    <p:animEffect transition="in" filter="wipe(left)">
                                      <p:cBhvr>
                                        <p:cTn id="11" dur="500"/>
                                        <p:tgtEl>
                                          <p:spTgt spid="302083"/>
                                        </p:tgtEl>
                                      </p:cBhvr>
                                    </p:animEffect>
                                  </p:childTnLst>
                                </p:cTn>
                              </p:par>
                            </p:childTnLst>
                          </p:cTn>
                        </p:par>
                        <p:par>
                          <p:cTn id="12" fill="hold">
                            <p:stCondLst>
                              <p:cond delay="1000"/>
                            </p:stCondLst>
                            <p:childTnLst>
                              <p:par>
                                <p:cTn id="13" presetID="17" presetClass="entr" presetSubtype="10" fill="hold" grpId="0" nodeType="afterEffect">
                                  <p:stCondLst>
                                    <p:cond delay="0"/>
                                  </p:stCondLst>
                                  <p:childTnLst>
                                    <p:set>
                                      <p:cBhvr>
                                        <p:cTn id="14" dur="1" fill="hold">
                                          <p:stCondLst>
                                            <p:cond delay="0"/>
                                          </p:stCondLst>
                                        </p:cTn>
                                        <p:tgtEl>
                                          <p:spTgt spid="302084"/>
                                        </p:tgtEl>
                                        <p:attrNameLst>
                                          <p:attrName>style.visibility</p:attrName>
                                        </p:attrNameLst>
                                      </p:cBhvr>
                                      <p:to>
                                        <p:strVal val="visible"/>
                                      </p:to>
                                    </p:set>
                                    <p:anim calcmode="lin" valueType="num">
                                      <p:cBhvr>
                                        <p:cTn id="15" dur="500" fill="hold"/>
                                        <p:tgtEl>
                                          <p:spTgt spid="302084"/>
                                        </p:tgtEl>
                                        <p:attrNameLst>
                                          <p:attrName>ppt_w</p:attrName>
                                        </p:attrNameLst>
                                      </p:cBhvr>
                                      <p:tavLst>
                                        <p:tav tm="0">
                                          <p:val>
                                            <p:fltVal val="0"/>
                                          </p:val>
                                        </p:tav>
                                        <p:tav tm="100000">
                                          <p:val>
                                            <p:strVal val="#ppt_w"/>
                                          </p:val>
                                        </p:tav>
                                      </p:tavLst>
                                    </p:anim>
                                    <p:anim calcmode="lin" valueType="num">
                                      <p:cBhvr>
                                        <p:cTn id="16" dur="500" fill="hold"/>
                                        <p:tgtEl>
                                          <p:spTgt spid="302084"/>
                                        </p:tgtEl>
                                        <p:attrNameLst>
                                          <p:attrName>ppt_h</p:attrName>
                                        </p:attrNameLst>
                                      </p:cBhvr>
                                      <p:tavLst>
                                        <p:tav tm="0">
                                          <p:val>
                                            <p:strVal val="#ppt_h"/>
                                          </p:val>
                                        </p:tav>
                                        <p:tav tm="100000">
                                          <p:val>
                                            <p:strVal val="#ppt_h"/>
                                          </p:val>
                                        </p:tav>
                                      </p:tavLst>
                                    </p:anim>
                                  </p:childTnLst>
                                </p:cTn>
                              </p:par>
                            </p:childTnLst>
                          </p:cTn>
                        </p:par>
                        <p:par>
                          <p:cTn id="17" fill="hold">
                            <p:stCondLst>
                              <p:cond delay="1500"/>
                            </p:stCondLst>
                            <p:childTnLst>
                              <p:par>
                                <p:cTn id="18" presetID="5" presetClass="entr" presetSubtype="10" fill="hold" grpId="0" nodeType="afterEffect">
                                  <p:stCondLst>
                                    <p:cond delay="0"/>
                                  </p:stCondLst>
                                  <p:childTnLst>
                                    <p:set>
                                      <p:cBhvr>
                                        <p:cTn id="19" dur="1" fill="hold">
                                          <p:stCondLst>
                                            <p:cond delay="0"/>
                                          </p:stCondLst>
                                        </p:cTn>
                                        <p:tgtEl>
                                          <p:spTgt spid="302085"/>
                                        </p:tgtEl>
                                        <p:attrNameLst>
                                          <p:attrName>style.visibility</p:attrName>
                                        </p:attrNameLst>
                                      </p:cBhvr>
                                      <p:to>
                                        <p:strVal val="visible"/>
                                      </p:to>
                                    </p:set>
                                    <p:animEffect transition="in" filter="checkerboard(across)">
                                      <p:cBhvr>
                                        <p:cTn id="20" dur="500"/>
                                        <p:tgtEl>
                                          <p:spTgt spid="302085"/>
                                        </p:tgtEl>
                                      </p:cBhvr>
                                    </p:animEffect>
                                  </p:childTnLst>
                                </p:cTn>
                              </p:par>
                            </p:childTnLst>
                          </p:cTn>
                        </p:par>
                        <p:par>
                          <p:cTn id="21" fill="hold">
                            <p:stCondLst>
                              <p:cond delay="2000"/>
                            </p:stCondLst>
                            <p:childTnLst>
                              <p:par>
                                <p:cTn id="22" presetID="5" presetClass="entr" presetSubtype="1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checkerboard(across)">
                                      <p:cBhvr>
                                        <p:cTn id="24" dur="500"/>
                                        <p:tgtEl>
                                          <p:spTgt spid="7"/>
                                        </p:tgtEl>
                                      </p:cBhvr>
                                    </p:animEffect>
                                  </p:childTnLst>
                                </p:cTn>
                              </p:par>
                            </p:childTnLst>
                          </p:cTn>
                        </p:par>
                        <p:par>
                          <p:cTn id="25" fill="hold">
                            <p:stCondLst>
                              <p:cond delay="2500"/>
                            </p:stCondLst>
                            <p:childTnLst>
                              <p:par>
                                <p:cTn id="26" presetID="5" presetClass="entr" presetSubtype="1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checkerboard(across)">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autoUpdateAnimBg="0"/>
      <p:bldP spid="302084" grpId="0" autoUpdateAnimBg="0"/>
      <p:bldP spid="302085" grpId="0" autoUpdateAnimBg="0"/>
      <p:bldP spid="302086" grpId="0" autoUpdateAnimBg="0"/>
      <p:bldP spid="7" grpId="0" autoUpdateAnimBg="0"/>
      <p:bldP spid="8" grpId="0" autoUpdateAnimBg="0"/>
    </p:bldLst>
  </p:timing>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390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87737" y="1700808"/>
            <a:ext cx="11216525" cy="40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4130" name="Rectangle 2"/>
          <p:cNvSpPr>
            <a:spLocks noGrp="1" noChangeArrowheads="1"/>
          </p:cNvSpPr>
          <p:nvPr>
            <p:ph type="body" idx="4294967295"/>
          </p:nvPr>
        </p:nvSpPr>
        <p:spPr>
          <a:xfrm>
            <a:off x="1992314" y="1412876"/>
            <a:ext cx="8358187" cy="4968875"/>
          </a:xfrm>
        </p:spPr>
        <p:txBody>
          <a:bodyPr/>
          <a:lstStyle/>
          <a:p>
            <a:pPr eaLnBrk="1" hangingPunct="1">
              <a:lnSpc>
                <a:spcPct val="130000"/>
              </a:lnSpc>
              <a:buFont typeface="Wingdings" panose="05000000000000000000" pitchFamily="2" charset="2"/>
              <a:buNone/>
              <a:defRPr/>
            </a:pPr>
            <a:r>
              <a:rPr lang="zh-CN" altLang="en-US" sz="2800" b="0" dirty="0"/>
              <a:t>    强力升血糖激素，参与“</a:t>
            </a:r>
            <a:r>
              <a:rPr lang="en-US" altLang="zh-CN" sz="2800" b="0" dirty="0">
                <a:solidFill>
                  <a:srgbClr val="C00000"/>
                </a:solidFill>
              </a:rPr>
              <a:t>fight or flight response</a:t>
            </a:r>
            <a:r>
              <a:rPr lang="en-US" altLang="zh-CN" sz="2800" b="0" dirty="0"/>
              <a:t>”, </a:t>
            </a:r>
            <a:r>
              <a:rPr lang="zh-CN" altLang="en-US" sz="2800" b="0" dirty="0"/>
              <a:t> </a:t>
            </a:r>
            <a:endParaRPr lang="en-US" altLang="zh-CN" sz="2800" b="0" dirty="0"/>
          </a:p>
          <a:p>
            <a:pPr eaLnBrk="1" hangingPunct="1">
              <a:lnSpc>
                <a:spcPct val="130000"/>
              </a:lnSpc>
              <a:buFont typeface="Wingdings" panose="05000000000000000000" pitchFamily="2" charset="2"/>
              <a:buNone/>
              <a:defRPr/>
            </a:pPr>
            <a:r>
              <a:rPr lang="zh-CN" altLang="en-US" sz="2800" b="0" dirty="0">
                <a:solidFill>
                  <a:srgbClr val="C00000"/>
                </a:solidFill>
              </a:rPr>
              <a:t>    应激状态</a:t>
            </a:r>
            <a:r>
              <a:rPr lang="zh-CN" altLang="en-US" sz="2800" b="0" dirty="0"/>
              <a:t>下发挥作用。</a:t>
            </a:r>
            <a:endParaRPr lang="en-US" altLang="zh-CN" sz="2800" b="0" dirty="0"/>
          </a:p>
          <a:p>
            <a:pPr eaLnBrk="1" hangingPunct="1">
              <a:spcBef>
                <a:spcPts val="1200"/>
              </a:spcBef>
              <a:buNone/>
              <a:defRPr/>
            </a:pPr>
            <a:r>
              <a:rPr lang="en-US" altLang="zh-CN" sz="2800" b="0" dirty="0"/>
              <a:t>    </a:t>
            </a:r>
            <a:r>
              <a:rPr lang="zh-CN" altLang="en-US" sz="2400" b="0" dirty="0"/>
              <a:t>作用于肌肉、脂肪组织及肝组织。</a:t>
            </a:r>
            <a:endParaRPr lang="en-US" altLang="zh-CN" sz="2400" b="0" dirty="0"/>
          </a:p>
          <a:p>
            <a:pPr eaLnBrk="1" hangingPunct="1">
              <a:spcBef>
                <a:spcPts val="1200"/>
              </a:spcBef>
              <a:buNone/>
              <a:defRPr/>
            </a:pPr>
            <a:r>
              <a:rPr lang="zh-CN" altLang="en-US" sz="2800" b="0" dirty="0"/>
              <a:t>    </a:t>
            </a:r>
            <a:r>
              <a:rPr lang="zh-CN" altLang="en-US" sz="2800" b="0" dirty="0">
                <a:solidFill>
                  <a:srgbClr val="000099"/>
                </a:solidFill>
              </a:rPr>
              <a:t>作用机制：</a:t>
            </a:r>
            <a:endParaRPr lang="zh-CN" altLang="en-US" sz="2800" b="0" dirty="0">
              <a:solidFill>
                <a:srgbClr val="000099"/>
              </a:solidFill>
            </a:endParaRPr>
          </a:p>
          <a:p>
            <a:pPr marL="630555" indent="-268605" eaLnBrk="1" hangingPunct="1">
              <a:defRPr/>
            </a:pPr>
            <a:r>
              <a:rPr lang="zh-CN" altLang="en-US" sz="2400" b="0" dirty="0">
                <a:latin typeface="微软雅黑" panose="020B0503020204020204" pitchFamily="34" charset="-122"/>
                <a:ea typeface="微软雅黑" panose="020B0503020204020204" pitchFamily="34" charset="-122"/>
              </a:rPr>
              <a:t>通过肌肉及肝细胞的细胞膜受体、</a:t>
            </a:r>
            <a:r>
              <a:rPr lang="en-US" altLang="zh-CN" sz="2400" b="0" dirty="0">
                <a:latin typeface="微软雅黑" panose="020B0503020204020204" pitchFamily="34" charset="-122"/>
                <a:ea typeface="微软雅黑" panose="020B0503020204020204" pitchFamily="34" charset="-122"/>
              </a:rPr>
              <a:t>cAMP- </a:t>
            </a:r>
            <a:r>
              <a:rPr lang="zh-CN" altLang="en-US" sz="2400" b="0" dirty="0">
                <a:latin typeface="微软雅黑" panose="020B0503020204020204" pitchFamily="34" charset="-122"/>
                <a:ea typeface="微软雅黑" panose="020B0503020204020204" pitchFamily="34" charset="-122"/>
              </a:rPr>
              <a:t>蛋白激酶级联激活磷酸化酶，</a:t>
            </a:r>
            <a:r>
              <a:rPr lang="zh-CN" altLang="en-US" sz="2400" b="0" dirty="0">
                <a:solidFill>
                  <a:srgbClr val="C00000"/>
                </a:solidFill>
                <a:latin typeface="微软雅黑" panose="020B0503020204020204" pitchFamily="34" charset="-122"/>
                <a:ea typeface="微软雅黑" panose="020B0503020204020204" pitchFamily="34" charset="-122"/>
              </a:rPr>
              <a:t>加速糖原分解</a:t>
            </a:r>
            <a:r>
              <a:rPr lang="en-US" altLang="zh-CN" sz="2400" b="0" dirty="0">
                <a:solidFill>
                  <a:srgbClr val="C00000"/>
                </a:solidFill>
                <a:latin typeface="微软雅黑" panose="020B0503020204020204" pitchFamily="34" charset="-122"/>
                <a:ea typeface="微软雅黑" panose="020B0503020204020204" pitchFamily="34" charset="-122"/>
              </a:rPr>
              <a:t>.</a:t>
            </a:r>
            <a:endParaRPr lang="en-US" altLang="zh-CN" sz="2400" b="0" dirty="0">
              <a:latin typeface="微软雅黑" panose="020B0503020204020204" pitchFamily="34" charset="-122"/>
              <a:ea typeface="微软雅黑" panose="020B0503020204020204" pitchFamily="34" charset="-122"/>
            </a:endParaRPr>
          </a:p>
          <a:p>
            <a:pPr marL="630555" indent="-268605" eaLnBrk="1" hangingPunct="1">
              <a:defRPr/>
            </a:pP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促进糖异生、脂肪动员</a:t>
            </a:r>
            <a:endParaRPr lang="en-US" altLang="zh-CN" sz="2400" b="0" dirty="0">
              <a:latin typeface="微软雅黑" panose="020B0503020204020204" pitchFamily="34" charset="-122"/>
              <a:ea typeface="微软雅黑" panose="020B0503020204020204" pitchFamily="34" charset="-122"/>
            </a:endParaRPr>
          </a:p>
          <a:p>
            <a:pPr marL="630555" indent="-268605" eaLnBrk="1" hangingPunct="1">
              <a:defRPr/>
            </a:pP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促进</a:t>
            </a:r>
            <a:r>
              <a:rPr lang="en-US" altLang="zh-CN" sz="2400" b="0" dirty="0">
                <a:latin typeface="微软雅黑" panose="020B0503020204020204" pitchFamily="34" charset="-122"/>
                <a:ea typeface="微软雅黑" panose="020B0503020204020204" pitchFamily="34" charset="-122"/>
              </a:rPr>
              <a:t>glucagon</a:t>
            </a:r>
            <a:r>
              <a:rPr lang="zh-CN" altLang="en-US" sz="2400" b="0" dirty="0">
                <a:latin typeface="微软雅黑" panose="020B0503020204020204" pitchFamily="34" charset="-122"/>
                <a:ea typeface="微软雅黑" panose="020B0503020204020204" pitchFamily="34" charset="-122"/>
              </a:rPr>
              <a:t>释放</a:t>
            </a:r>
            <a:endParaRPr lang="en-US" altLang="zh-CN" sz="2400" b="0" dirty="0">
              <a:latin typeface="微软雅黑" panose="020B0503020204020204" pitchFamily="34" charset="-122"/>
              <a:ea typeface="微软雅黑" panose="020B0503020204020204" pitchFamily="34" charset="-122"/>
            </a:endParaRPr>
          </a:p>
          <a:p>
            <a:pPr marL="630555" indent="-268605" eaLnBrk="1" hangingPunct="1">
              <a:defRPr/>
            </a:pPr>
            <a:r>
              <a:rPr lang="en-US" altLang="zh-CN" sz="2400" b="0" dirty="0">
                <a:latin typeface="微软雅黑" panose="020B0503020204020204" pitchFamily="34" charset="-122"/>
                <a:ea typeface="微软雅黑" panose="020B0503020204020204" pitchFamily="34" charset="-122"/>
              </a:rPr>
              <a:t> </a:t>
            </a:r>
            <a:r>
              <a:rPr lang="zh-CN" altLang="en-US" sz="2400" b="0" dirty="0">
                <a:latin typeface="微软雅黑" panose="020B0503020204020204" pitchFamily="34" charset="-122"/>
                <a:ea typeface="微软雅黑" panose="020B0503020204020204" pitchFamily="34" charset="-122"/>
              </a:rPr>
              <a:t>抑制</a:t>
            </a:r>
            <a:r>
              <a:rPr lang="en-US" altLang="zh-CN" sz="2400" b="0" dirty="0">
                <a:latin typeface="微软雅黑" panose="020B0503020204020204" pitchFamily="34" charset="-122"/>
                <a:ea typeface="微软雅黑" panose="020B0503020204020204" pitchFamily="34" charset="-122"/>
              </a:rPr>
              <a:t>insulin</a:t>
            </a:r>
            <a:r>
              <a:rPr lang="zh-CN" altLang="en-US" sz="2400" b="0" dirty="0">
                <a:latin typeface="微软雅黑" panose="020B0503020204020204" pitchFamily="34" charset="-122"/>
                <a:ea typeface="微软雅黑" panose="020B0503020204020204" pitchFamily="34" charset="-122"/>
              </a:rPr>
              <a:t>释放</a:t>
            </a:r>
            <a:endParaRPr lang="en-US" altLang="zh-CN" sz="2400" b="0" dirty="0">
              <a:latin typeface="微软雅黑" panose="020B0503020204020204" pitchFamily="34" charset="-122"/>
              <a:ea typeface="微软雅黑" panose="020B0503020204020204" pitchFamily="34" charset="-122"/>
            </a:endParaRPr>
          </a:p>
        </p:txBody>
      </p:sp>
      <p:sp>
        <p:nvSpPr>
          <p:cNvPr id="172035" name="矩形 1"/>
          <p:cNvSpPr>
            <a:spLocks noChangeArrowheads="1"/>
          </p:cNvSpPr>
          <p:nvPr/>
        </p:nvSpPr>
        <p:spPr bwMode="auto">
          <a:xfrm>
            <a:off x="1774825" y="549276"/>
            <a:ext cx="6841938" cy="742319"/>
          </a:xfrm>
          <a:prstGeom prst="rect">
            <a:avLst/>
          </a:prstGeom>
          <a:noFill/>
          <a:ln>
            <a:noFill/>
          </a:ln>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 typeface="Wingdings" panose="05000000000000000000" pitchFamily="2" charset="2"/>
              <a:buNone/>
              <a:defRPr/>
            </a:pPr>
            <a:r>
              <a:rPr lang="zh-CN" altLang="en-US" sz="3600" b="0" dirty="0">
                <a:solidFill>
                  <a:srgbClr val="0000CC"/>
                </a:solidFill>
                <a:latin typeface="微软雅黑" panose="020B0503020204020204" pitchFamily="34" charset="-122"/>
                <a:ea typeface="微软雅黑" panose="020B0503020204020204" pitchFamily="34" charset="-122"/>
                <a:cs typeface="楷体_GB2312"/>
              </a:rPr>
              <a:t> （三）肾上腺素</a:t>
            </a:r>
            <a:r>
              <a:rPr lang="en-US" altLang="zh-CN" sz="3600" b="0" dirty="0">
                <a:solidFill>
                  <a:srgbClr val="0000CC"/>
                </a:solidFill>
                <a:latin typeface="微软雅黑" panose="020B0503020204020204" pitchFamily="34" charset="-122"/>
                <a:ea typeface="微软雅黑" panose="020B0503020204020204" pitchFamily="34" charset="-122"/>
                <a:cs typeface="楷体_GB2312"/>
              </a:rPr>
              <a:t>(epinephrine)</a:t>
            </a:r>
            <a:r>
              <a:rPr lang="zh-CN" altLang="en-US" sz="3600" b="0" dirty="0">
                <a:solidFill>
                  <a:srgbClr val="0000CC"/>
                </a:solidFill>
                <a:latin typeface="微软雅黑" panose="020B0503020204020204" pitchFamily="34" charset="-122"/>
                <a:ea typeface="微软雅黑" panose="020B0503020204020204" pitchFamily="34" charset="-122"/>
                <a:cs typeface="楷体_GB2312"/>
              </a:rPr>
              <a:t> </a:t>
            </a:r>
            <a:endParaRPr lang="en-US" altLang="zh-CN" sz="3600" b="0" dirty="0">
              <a:solidFill>
                <a:srgbClr val="0000CC"/>
              </a:solidFill>
              <a:latin typeface="微软雅黑" panose="020B0503020204020204" pitchFamily="34" charset="-122"/>
              <a:ea typeface="微软雅黑" panose="020B0503020204020204" pitchFamily="34" charset="-122"/>
              <a:cs typeface="楷体_GB231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04130">
                                            <p:txEl>
                                              <p:pRg st="0" end="0"/>
                                            </p:txEl>
                                          </p:spTgt>
                                        </p:tgtEl>
                                        <p:attrNameLst>
                                          <p:attrName>style.visibility</p:attrName>
                                        </p:attrNameLst>
                                      </p:cBhvr>
                                      <p:to>
                                        <p:strVal val="visible"/>
                                      </p:to>
                                    </p:set>
                                    <p:animEffect transition="in" filter="dissolve">
                                      <p:cBhvr>
                                        <p:cTn id="7" dur="500"/>
                                        <p:tgtEl>
                                          <p:spTgt spid="304130">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04130">
                                            <p:txEl>
                                              <p:pRg st="1" end="1"/>
                                            </p:txEl>
                                          </p:spTgt>
                                        </p:tgtEl>
                                        <p:attrNameLst>
                                          <p:attrName>style.visibility</p:attrName>
                                        </p:attrNameLst>
                                      </p:cBhvr>
                                      <p:to>
                                        <p:strVal val="visible"/>
                                      </p:to>
                                    </p:set>
                                    <p:animEffect transition="in" filter="dissolve">
                                      <p:cBhvr>
                                        <p:cTn id="11" dur="500"/>
                                        <p:tgtEl>
                                          <p:spTgt spid="304130">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4130">
                                            <p:txEl>
                                              <p:pRg st="2" end="2"/>
                                            </p:txEl>
                                          </p:spTgt>
                                        </p:tgtEl>
                                        <p:attrNameLst>
                                          <p:attrName>style.visibility</p:attrName>
                                        </p:attrNameLst>
                                      </p:cBhvr>
                                      <p:to>
                                        <p:strVal val="visible"/>
                                      </p:to>
                                    </p:set>
                                    <p:animEffect transition="in" filter="dissolve">
                                      <p:cBhvr>
                                        <p:cTn id="15" dur="500"/>
                                        <p:tgtEl>
                                          <p:spTgt spid="30413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04130">
                                            <p:txEl>
                                              <p:pRg st="3" end="3"/>
                                            </p:txEl>
                                          </p:spTgt>
                                        </p:tgtEl>
                                        <p:attrNameLst>
                                          <p:attrName>style.visibility</p:attrName>
                                        </p:attrNameLst>
                                      </p:cBhvr>
                                      <p:to>
                                        <p:strVal val="visible"/>
                                      </p:to>
                                    </p:set>
                                    <p:animEffect transition="in" filter="dissolve">
                                      <p:cBhvr>
                                        <p:cTn id="20" dur="500"/>
                                        <p:tgtEl>
                                          <p:spTgt spid="304130">
                                            <p:txEl>
                                              <p:pRg st="3" end="3"/>
                                            </p:txEl>
                                          </p:spTgt>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304130">
                                            <p:txEl>
                                              <p:pRg st="4" end="4"/>
                                            </p:txEl>
                                          </p:spTgt>
                                        </p:tgtEl>
                                        <p:attrNameLst>
                                          <p:attrName>style.visibility</p:attrName>
                                        </p:attrNameLst>
                                      </p:cBhvr>
                                      <p:to>
                                        <p:strVal val="visible"/>
                                      </p:to>
                                    </p:set>
                                    <p:animEffect transition="in" filter="dissolve">
                                      <p:cBhvr>
                                        <p:cTn id="24" dur="500"/>
                                        <p:tgtEl>
                                          <p:spTgt spid="304130">
                                            <p:txEl>
                                              <p:pRg st="4" end="4"/>
                                            </p:txEl>
                                          </p:spTgt>
                                        </p:tgtEl>
                                      </p:cBhvr>
                                    </p:animEffect>
                                  </p:childTnLst>
                                </p:cTn>
                              </p:par>
                            </p:childTnLst>
                          </p:cTn>
                        </p:par>
                        <p:par>
                          <p:cTn id="25" fill="hold">
                            <p:stCondLst>
                              <p:cond delay="1000"/>
                            </p:stCondLst>
                            <p:childTnLst>
                              <p:par>
                                <p:cTn id="26" presetID="9" presetClass="entr" presetSubtype="0" fill="hold" grpId="0" nodeType="afterEffect">
                                  <p:stCondLst>
                                    <p:cond delay="0"/>
                                  </p:stCondLst>
                                  <p:childTnLst>
                                    <p:set>
                                      <p:cBhvr>
                                        <p:cTn id="27" dur="1" fill="hold">
                                          <p:stCondLst>
                                            <p:cond delay="0"/>
                                          </p:stCondLst>
                                        </p:cTn>
                                        <p:tgtEl>
                                          <p:spTgt spid="304130">
                                            <p:txEl>
                                              <p:pRg st="5" end="5"/>
                                            </p:txEl>
                                          </p:spTgt>
                                        </p:tgtEl>
                                        <p:attrNameLst>
                                          <p:attrName>style.visibility</p:attrName>
                                        </p:attrNameLst>
                                      </p:cBhvr>
                                      <p:to>
                                        <p:strVal val="visible"/>
                                      </p:to>
                                    </p:set>
                                    <p:animEffect transition="in" filter="dissolve">
                                      <p:cBhvr>
                                        <p:cTn id="28" dur="500"/>
                                        <p:tgtEl>
                                          <p:spTgt spid="304130">
                                            <p:txEl>
                                              <p:pRg st="5" end="5"/>
                                            </p:txEl>
                                          </p:spTgt>
                                        </p:tgtEl>
                                      </p:cBhvr>
                                    </p:animEffect>
                                  </p:childTnLst>
                                </p:cTn>
                              </p:par>
                            </p:childTnLst>
                          </p:cTn>
                        </p:par>
                        <p:par>
                          <p:cTn id="29" fill="hold">
                            <p:stCondLst>
                              <p:cond delay="1500"/>
                            </p:stCondLst>
                            <p:childTnLst>
                              <p:par>
                                <p:cTn id="30" presetID="9" presetClass="entr" presetSubtype="0" fill="hold" grpId="0" nodeType="afterEffect">
                                  <p:stCondLst>
                                    <p:cond delay="0"/>
                                  </p:stCondLst>
                                  <p:childTnLst>
                                    <p:set>
                                      <p:cBhvr>
                                        <p:cTn id="31" dur="1" fill="hold">
                                          <p:stCondLst>
                                            <p:cond delay="0"/>
                                          </p:stCondLst>
                                        </p:cTn>
                                        <p:tgtEl>
                                          <p:spTgt spid="304130">
                                            <p:txEl>
                                              <p:pRg st="6" end="6"/>
                                            </p:txEl>
                                          </p:spTgt>
                                        </p:tgtEl>
                                        <p:attrNameLst>
                                          <p:attrName>style.visibility</p:attrName>
                                        </p:attrNameLst>
                                      </p:cBhvr>
                                      <p:to>
                                        <p:strVal val="visible"/>
                                      </p:to>
                                    </p:set>
                                    <p:animEffect transition="in" filter="dissolve">
                                      <p:cBhvr>
                                        <p:cTn id="32" dur="500"/>
                                        <p:tgtEl>
                                          <p:spTgt spid="304130">
                                            <p:txEl>
                                              <p:pRg st="6" end="6"/>
                                            </p:txEl>
                                          </p:spTgt>
                                        </p:tgtEl>
                                      </p:cBhvr>
                                    </p:animEffect>
                                  </p:childTnLst>
                                </p:cTn>
                              </p:par>
                            </p:childTnLst>
                          </p:cTn>
                        </p:par>
                        <p:par>
                          <p:cTn id="33" fill="hold">
                            <p:stCondLst>
                              <p:cond delay="2000"/>
                            </p:stCondLst>
                            <p:childTnLst>
                              <p:par>
                                <p:cTn id="34" presetID="9" presetClass="entr" presetSubtype="0" fill="hold" grpId="0" nodeType="afterEffect">
                                  <p:stCondLst>
                                    <p:cond delay="0"/>
                                  </p:stCondLst>
                                  <p:childTnLst>
                                    <p:set>
                                      <p:cBhvr>
                                        <p:cTn id="35" dur="1" fill="hold">
                                          <p:stCondLst>
                                            <p:cond delay="0"/>
                                          </p:stCondLst>
                                        </p:cTn>
                                        <p:tgtEl>
                                          <p:spTgt spid="304130">
                                            <p:txEl>
                                              <p:pRg st="7" end="7"/>
                                            </p:txEl>
                                          </p:spTgt>
                                        </p:tgtEl>
                                        <p:attrNameLst>
                                          <p:attrName>style.visibility</p:attrName>
                                        </p:attrNameLst>
                                      </p:cBhvr>
                                      <p:to>
                                        <p:strVal val="visible"/>
                                      </p:to>
                                    </p:set>
                                    <p:animEffect transition="in" filter="dissolve">
                                      <p:cBhvr>
                                        <p:cTn id="36" dur="500"/>
                                        <p:tgtEl>
                                          <p:spTgt spid="30413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0" grpId="0" advAuto="0" autoUpdateAnimBg="0" uiExpand="1" build="p"/>
    </p:bldLst>
  </p:timing>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1574800" y="711200"/>
            <a:ext cx="9228138" cy="954088"/>
          </a:xfrm>
          <a:prstGeom prst="rect">
            <a:avLst/>
          </a:prstGeom>
          <a:noFill/>
        </p:spPr>
        <p:txBody>
          <a:bodyPr>
            <a:spAutoFit/>
          </a:bodyPr>
          <a:lstStyle/>
          <a:p>
            <a:pPr>
              <a:defRPr/>
            </a:pPr>
            <a:r>
              <a:rPr lang="en-US" altLang="zh-CN" sz="2800" b="0" dirty="0">
                <a:solidFill>
                  <a:srgbClr val="0000CC"/>
                </a:solidFill>
                <a:ea typeface="+mj-ea"/>
                <a:cs typeface="Arial" panose="020B0604020202020204" pitchFamily="34" charset="0"/>
              </a:rPr>
              <a:t>Physiological and Metabolic Effects of  Epinephrine: </a:t>
            </a:r>
            <a:r>
              <a:rPr lang="en-US" altLang="zh-CN" sz="2800" b="0" dirty="0">
                <a:solidFill>
                  <a:srgbClr val="C00000"/>
                </a:solidFill>
                <a:ea typeface="+mj-ea"/>
                <a:cs typeface="Arial" panose="020B0604020202020204" pitchFamily="34" charset="0"/>
              </a:rPr>
              <a:t>Preparation for Action </a:t>
            </a:r>
            <a:endParaRPr lang="zh-CN" altLang="en-US" sz="2800" b="0" dirty="0">
              <a:solidFill>
                <a:srgbClr val="C00000"/>
              </a:solidFill>
              <a:ea typeface="+mj-ea"/>
              <a:cs typeface="Arial" panose="020B0604020202020204" pitchFamily="34" charset="0"/>
            </a:endParaRPr>
          </a:p>
        </p:txBody>
      </p:sp>
      <p:pic>
        <p:nvPicPr>
          <p:cNvPr id="129027"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99456" y="1668696"/>
            <a:ext cx="10147325" cy="4716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body" idx="4294967295"/>
          </p:nvPr>
        </p:nvSpPr>
        <p:spPr>
          <a:xfrm>
            <a:off x="2209800" y="704850"/>
            <a:ext cx="8458200" cy="2160588"/>
          </a:xfrm>
        </p:spPr>
        <p:txBody>
          <a:bodyPr/>
          <a:lstStyle/>
          <a:p>
            <a:pPr eaLnBrk="1" hangingPunct="1">
              <a:lnSpc>
                <a:spcPct val="130000"/>
              </a:lnSpc>
              <a:buFont typeface="Wingdings" panose="05000000000000000000" pitchFamily="2" charset="2"/>
              <a:buNone/>
            </a:pPr>
            <a:r>
              <a:rPr lang="en-US" altLang="zh-CN" sz="3000" b="0" dirty="0"/>
              <a:t>(</a:t>
            </a:r>
            <a:r>
              <a:rPr lang="zh-CN" altLang="en-US" sz="3000" b="0" dirty="0"/>
              <a:t>四</a:t>
            </a:r>
            <a:r>
              <a:rPr lang="en-US" altLang="zh-CN" sz="3000" b="0" dirty="0"/>
              <a:t>)</a:t>
            </a:r>
            <a:r>
              <a:rPr lang="zh-CN" altLang="en-US" sz="3000" b="0" dirty="0">
                <a:solidFill>
                  <a:srgbClr val="0033CC"/>
                </a:solidFill>
              </a:rPr>
              <a:t>糖皮质激素</a:t>
            </a:r>
            <a:r>
              <a:rPr lang="zh-CN" altLang="en-US" sz="3000" b="0" dirty="0"/>
              <a:t>——</a:t>
            </a:r>
            <a:r>
              <a:rPr lang="zh-CN" altLang="en-US" sz="3000" b="0" dirty="0">
                <a:solidFill>
                  <a:srgbClr val="0000FF"/>
                </a:solidFill>
              </a:rPr>
              <a:t>升高血糖</a:t>
            </a:r>
            <a:r>
              <a:rPr lang="zh-CN" altLang="en-US" sz="3000" b="0" dirty="0"/>
              <a:t>，增加肝糖原</a:t>
            </a:r>
            <a:endParaRPr lang="zh-CN" altLang="en-US" sz="3000" b="0" dirty="0"/>
          </a:p>
          <a:p>
            <a:pPr eaLnBrk="1" hangingPunct="1">
              <a:lnSpc>
                <a:spcPct val="130000"/>
              </a:lnSpc>
              <a:buFont typeface="Wingdings" panose="05000000000000000000" pitchFamily="2" charset="2"/>
              <a:buNone/>
            </a:pPr>
            <a:r>
              <a:rPr lang="zh-CN" altLang="en-US" sz="2400" b="0" dirty="0"/>
              <a:t>  </a:t>
            </a:r>
            <a:r>
              <a:rPr lang="zh-CN" altLang="en-US" sz="2800" b="0" dirty="0"/>
              <a:t>相对</a:t>
            </a:r>
            <a:r>
              <a:rPr lang="zh-CN" altLang="en-US" sz="2800" b="0" dirty="0">
                <a:solidFill>
                  <a:srgbClr val="C00000"/>
                </a:solidFill>
              </a:rPr>
              <a:t>慢反应激素</a:t>
            </a:r>
            <a:r>
              <a:rPr lang="zh-CN" altLang="en-US" sz="2800" b="0" dirty="0"/>
              <a:t>， 帮助机体</a:t>
            </a:r>
            <a:r>
              <a:rPr lang="zh-CN" altLang="en-US" sz="2800" b="0" dirty="0">
                <a:solidFill>
                  <a:srgbClr val="0033CC"/>
                </a:solidFill>
              </a:rPr>
              <a:t>应对较长期压力 </a:t>
            </a:r>
            <a:endParaRPr lang="en-US" altLang="zh-CN" sz="2800" b="0" dirty="0">
              <a:solidFill>
                <a:srgbClr val="0033CC"/>
              </a:solidFill>
            </a:endParaRPr>
          </a:p>
          <a:p>
            <a:pPr eaLnBrk="1" hangingPunct="1">
              <a:lnSpc>
                <a:spcPct val="130000"/>
              </a:lnSpc>
              <a:buFont typeface="Wingdings" panose="05000000000000000000" pitchFamily="2" charset="2"/>
              <a:buNone/>
            </a:pPr>
            <a:r>
              <a:rPr lang="en-US" altLang="zh-CN" sz="2800" b="0" dirty="0"/>
              <a:t>   </a:t>
            </a:r>
            <a:r>
              <a:rPr lang="zh-CN" altLang="en-US" sz="2800" b="0" dirty="0"/>
              <a:t>作用机制</a:t>
            </a:r>
            <a:r>
              <a:rPr lang="zh-CN" altLang="en-US" b="0" dirty="0"/>
              <a:t>：</a:t>
            </a:r>
            <a:endParaRPr lang="zh-CN" altLang="en-US" sz="2800" b="0" dirty="0"/>
          </a:p>
        </p:txBody>
      </p:sp>
      <p:sp>
        <p:nvSpPr>
          <p:cNvPr id="303107" name="Text Box 3"/>
          <p:cNvSpPr txBox="1">
            <a:spLocks noChangeArrowheads="1"/>
          </p:cNvSpPr>
          <p:nvPr/>
        </p:nvSpPr>
        <p:spPr bwMode="auto">
          <a:xfrm>
            <a:off x="2351584" y="2865439"/>
            <a:ext cx="7704855" cy="2492375"/>
          </a:xfrm>
          <a:prstGeom prst="rect">
            <a:avLst/>
          </a:prstGeom>
          <a:noFill/>
          <a:ln>
            <a:noFill/>
          </a:ln>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342900" indent="-342900" algn="just" eaLnBrk="1" hangingPunct="1">
              <a:lnSpc>
                <a:spcPct val="130000"/>
              </a:lnSpc>
              <a:spcBef>
                <a:spcPts val="0"/>
              </a:spcBef>
              <a:buClrTx/>
              <a:buSzPct val="85000"/>
              <a:defRPr/>
            </a:pPr>
            <a:r>
              <a:rPr kumimoji="1" lang="zh-CN" altLang="en-US" sz="2400" b="0" dirty="0">
                <a:solidFill>
                  <a:srgbClr val="0000FF"/>
                </a:solidFill>
                <a:latin typeface="微软雅黑" panose="020B0503020204020204" pitchFamily="34" charset="-122"/>
                <a:ea typeface="微软雅黑" panose="020B0503020204020204" pitchFamily="34" charset="-122"/>
              </a:rPr>
              <a:t>改变靶细胞中某些酶的种类及含量</a:t>
            </a:r>
            <a:r>
              <a:rPr kumimoji="1"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，而不是直接调节细胞中现有酶的活性。</a:t>
            </a:r>
            <a:endParaRPr kumimoji="1"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2900" indent="-342900" algn="just" eaLnBrk="1" hangingPunct="1">
              <a:lnSpc>
                <a:spcPct val="130000"/>
              </a:lnSpc>
              <a:spcBef>
                <a:spcPts val="0"/>
              </a:spcBef>
              <a:buClrTx/>
              <a:buSzPct val="85000"/>
              <a:defRPr/>
            </a:pPr>
            <a:r>
              <a:rPr kumimoji="1"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促进肌肉蛋白质分解</a:t>
            </a:r>
            <a:r>
              <a:rPr kumimoji="1"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，促进</a:t>
            </a:r>
            <a:r>
              <a:rPr kumimoji="1" lang="zh-CN" altLang="en-US" sz="2400" b="0" dirty="0">
                <a:latin typeface="微软雅黑" panose="020B0503020204020204" pitchFamily="34" charset="-122"/>
                <a:ea typeface="微软雅黑" panose="020B0503020204020204" pitchFamily="34" charset="-122"/>
              </a:rPr>
              <a:t>肝脏</a:t>
            </a:r>
            <a:r>
              <a:rPr kumimoji="1" lang="zh-CN" altLang="en-US" sz="2400" b="0" dirty="0">
                <a:solidFill>
                  <a:schemeClr val="tx1">
                    <a:lumMod val="95000"/>
                    <a:lumOff val="5000"/>
                  </a:schemeClr>
                </a:solidFill>
                <a:latin typeface="微软雅黑" panose="020B0503020204020204" pitchFamily="34" charset="-122"/>
                <a:ea typeface="微软雅黑" panose="020B0503020204020204" pitchFamily="34" charset="-122"/>
              </a:rPr>
              <a:t>糖异生；</a:t>
            </a:r>
            <a:endParaRPr kumimoji="1" lang="en-US" altLang="zh-CN" sz="2400" b="0" dirty="0">
              <a:solidFill>
                <a:schemeClr val="tx1">
                  <a:lumMod val="95000"/>
                  <a:lumOff val="5000"/>
                </a:schemeClr>
              </a:solidFill>
              <a:latin typeface="微软雅黑" panose="020B0503020204020204" pitchFamily="34" charset="-122"/>
              <a:ea typeface="微软雅黑" panose="020B0503020204020204" pitchFamily="34" charset="-122"/>
            </a:endParaRPr>
          </a:p>
          <a:p>
            <a:pPr marL="342900" indent="-342900" algn="just" eaLnBrk="1" hangingPunct="1">
              <a:lnSpc>
                <a:spcPct val="130000"/>
              </a:lnSpc>
              <a:spcBef>
                <a:spcPts val="0"/>
              </a:spcBef>
              <a:buClrTx/>
              <a:buSzPct val="85000"/>
              <a:defRPr/>
            </a:pPr>
            <a:r>
              <a:rPr kumimoji="1" lang="zh-CN" altLang="en-US" sz="2400" b="0" dirty="0">
                <a:latin typeface="微软雅黑" panose="020B0503020204020204" pitchFamily="34" charset="-122"/>
                <a:ea typeface="微软雅黑" panose="020B0503020204020204" pitchFamily="34" charset="-122"/>
              </a:rPr>
              <a:t>抑制肝外组织摄取和利用葡萄糖； </a:t>
            </a:r>
            <a:endParaRPr kumimoji="1" lang="en-US" altLang="zh-CN" sz="2400" b="0" dirty="0">
              <a:latin typeface="微软雅黑" panose="020B0503020204020204" pitchFamily="34" charset="-122"/>
              <a:ea typeface="微软雅黑" panose="020B0503020204020204" pitchFamily="34" charset="-122"/>
            </a:endParaRPr>
          </a:p>
          <a:p>
            <a:pPr marL="342900" indent="-342900" algn="just" eaLnBrk="1" hangingPunct="1">
              <a:lnSpc>
                <a:spcPct val="130000"/>
              </a:lnSpc>
              <a:spcBef>
                <a:spcPts val="0"/>
              </a:spcBef>
              <a:buClrTx/>
              <a:buSzPct val="85000"/>
              <a:defRPr/>
            </a:pPr>
            <a:r>
              <a:rPr kumimoji="1" lang="zh-CN" altLang="en-US" sz="2400" b="0" dirty="0">
                <a:latin typeface="微软雅黑" panose="020B0503020204020204" pitchFamily="34" charset="-122"/>
                <a:ea typeface="微软雅黑" panose="020B0503020204020204" pitchFamily="34" charset="-122"/>
              </a:rPr>
              <a:t>促进脂肪动员</a:t>
            </a:r>
            <a:endParaRPr kumimoji="1" lang="zh-CN" altLang="en-US" sz="2400" b="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Effect transition="in" filter="dissolve">
                                      <p:cBhvr>
                                        <p:cTn id="7" dur="500"/>
                                        <p:tgtEl>
                                          <p:spTgt spid="303107">
                                            <p:txEl>
                                              <p:pRg st="0" end="0"/>
                                            </p:txEl>
                                          </p:spTgt>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03107">
                                            <p:txEl>
                                              <p:pRg st="1" end="1"/>
                                            </p:txEl>
                                          </p:spTgt>
                                        </p:tgtEl>
                                        <p:attrNameLst>
                                          <p:attrName>style.visibility</p:attrName>
                                        </p:attrNameLst>
                                      </p:cBhvr>
                                      <p:to>
                                        <p:strVal val="visible"/>
                                      </p:to>
                                    </p:set>
                                    <p:animEffect transition="in" filter="dissolve">
                                      <p:cBhvr>
                                        <p:cTn id="11" dur="500"/>
                                        <p:tgtEl>
                                          <p:spTgt spid="303107">
                                            <p:txEl>
                                              <p:pRg st="1" end="1"/>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3107">
                                            <p:txEl>
                                              <p:pRg st="2" end="2"/>
                                            </p:txEl>
                                          </p:spTgt>
                                        </p:tgtEl>
                                        <p:attrNameLst>
                                          <p:attrName>style.visibility</p:attrName>
                                        </p:attrNameLst>
                                      </p:cBhvr>
                                      <p:to>
                                        <p:strVal val="visible"/>
                                      </p:to>
                                    </p:set>
                                    <p:animEffect transition="in" filter="dissolve">
                                      <p:cBhvr>
                                        <p:cTn id="15" dur="500"/>
                                        <p:tgtEl>
                                          <p:spTgt spid="303107">
                                            <p:txEl>
                                              <p:pRg st="2" end="2"/>
                                            </p:txEl>
                                          </p:spTgt>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303107">
                                            <p:txEl>
                                              <p:pRg st="3" end="3"/>
                                            </p:txEl>
                                          </p:spTgt>
                                        </p:tgtEl>
                                        <p:attrNameLst>
                                          <p:attrName>style.visibility</p:attrName>
                                        </p:attrNameLst>
                                      </p:cBhvr>
                                      <p:to>
                                        <p:strVal val="visible"/>
                                      </p:to>
                                    </p:set>
                                    <p:animEffect transition="in" filter="dissolve">
                                      <p:cBhvr>
                                        <p:cTn id="19" dur="500"/>
                                        <p:tgtEl>
                                          <p:spTgt spid="3031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advAuto="0" autoUpdateAnimBg="0" build="p"/>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Text Box 2"/>
          <p:cNvSpPr txBox="1">
            <a:spLocks noChangeArrowheads="1"/>
          </p:cNvSpPr>
          <p:nvPr/>
        </p:nvSpPr>
        <p:spPr bwMode="auto">
          <a:xfrm>
            <a:off x="1731394" y="1728493"/>
            <a:ext cx="845616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3000" b="0" dirty="0">
                <a:solidFill>
                  <a:schemeClr val="tx1">
                    <a:lumMod val="95000"/>
                    <a:lumOff val="5000"/>
                  </a:schemeClr>
                </a:solidFill>
                <a:latin typeface="Arial" panose="020B0604020202020204" pitchFamily="34" charset="0"/>
                <a:ea typeface="黑体" panose="02010609060101010101" pitchFamily="2" charset="-122"/>
              </a:rPr>
              <a:t>（一）糖耐量试验(</a:t>
            </a:r>
            <a:r>
              <a:rPr kumimoji="1" lang="en-US" altLang="zh-CN" sz="3000" b="0" dirty="0">
                <a:solidFill>
                  <a:schemeClr val="tx1">
                    <a:lumMod val="95000"/>
                    <a:lumOff val="5000"/>
                  </a:schemeClr>
                </a:solidFill>
                <a:latin typeface="Arial" panose="020B0604020202020204" pitchFamily="34" charset="0"/>
                <a:ea typeface="黑体" panose="02010609060101010101" pitchFamily="2" charset="-122"/>
              </a:rPr>
              <a:t>glucose  tolerance  test, GTT)</a:t>
            </a:r>
            <a:endParaRPr kumimoji="1" lang="en-US" altLang="zh-CN" sz="3000" b="0" dirty="0">
              <a:solidFill>
                <a:schemeClr val="tx1">
                  <a:lumMod val="95000"/>
                  <a:lumOff val="5000"/>
                </a:schemeClr>
              </a:solidFill>
              <a:latin typeface="Arial" panose="020B0604020202020204" pitchFamily="34" charset="0"/>
              <a:ea typeface="黑体" panose="02010609060101010101" pitchFamily="2" charset="-122"/>
            </a:endParaRPr>
          </a:p>
        </p:txBody>
      </p:sp>
      <p:sp>
        <p:nvSpPr>
          <p:cNvPr id="136195" name="Text Box 3"/>
          <p:cNvSpPr txBox="1">
            <a:spLocks noChangeArrowheads="1"/>
          </p:cNvSpPr>
          <p:nvPr/>
        </p:nvSpPr>
        <p:spPr bwMode="auto">
          <a:xfrm>
            <a:off x="2228288" y="2375182"/>
            <a:ext cx="485261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0000FF"/>
                </a:solidFill>
              </a:rPr>
              <a:t>目的： 诊断有无糖代谢异常   </a:t>
            </a:r>
            <a:endParaRPr kumimoji="1" lang="zh-CN" altLang="en-US" sz="2800" b="0" dirty="0">
              <a:solidFill>
                <a:srgbClr val="0000FF"/>
              </a:solidFill>
            </a:endParaRPr>
          </a:p>
        </p:txBody>
      </p:sp>
      <p:sp>
        <p:nvSpPr>
          <p:cNvPr id="306180" name="Text Box 4"/>
          <p:cNvSpPr txBox="1">
            <a:spLocks noChangeArrowheads="1"/>
          </p:cNvSpPr>
          <p:nvPr/>
        </p:nvSpPr>
        <p:spPr bwMode="auto">
          <a:xfrm>
            <a:off x="2251075" y="3212976"/>
            <a:ext cx="7416800"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ClrTx/>
              <a:buSzTx/>
              <a:buFontTx/>
              <a:buNone/>
            </a:pPr>
            <a:r>
              <a:rPr kumimoji="1" lang="zh-CN" altLang="en-US" sz="2800" b="0" dirty="0">
                <a:solidFill>
                  <a:srgbClr val="C00000"/>
                </a:solidFill>
              </a:rPr>
              <a:t>口服糖耐量试验（</a:t>
            </a:r>
            <a:r>
              <a:rPr kumimoji="1" lang="en-US" altLang="zh-CN" sz="2800" b="0" dirty="0">
                <a:solidFill>
                  <a:srgbClr val="C00000"/>
                </a:solidFill>
              </a:rPr>
              <a:t>OGTT)</a:t>
            </a:r>
            <a:r>
              <a:rPr kumimoji="1" lang="zh-CN" altLang="en-US" sz="2800" b="0" dirty="0">
                <a:solidFill>
                  <a:srgbClr val="000099"/>
                </a:solidFill>
              </a:rPr>
              <a:t>的方法：</a:t>
            </a:r>
            <a:endParaRPr kumimoji="1" lang="zh-CN" altLang="en-US" sz="2800" b="0" dirty="0">
              <a:solidFill>
                <a:srgbClr val="000099"/>
              </a:solidFill>
            </a:endParaRPr>
          </a:p>
        </p:txBody>
      </p:sp>
      <p:sp>
        <p:nvSpPr>
          <p:cNvPr id="306181" name="Text Box 5"/>
          <p:cNvSpPr txBox="1">
            <a:spLocks noChangeArrowheads="1"/>
          </p:cNvSpPr>
          <p:nvPr/>
        </p:nvSpPr>
        <p:spPr bwMode="auto">
          <a:xfrm>
            <a:off x="2050652" y="4105082"/>
            <a:ext cx="8424936" cy="1485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0"/>
              </a:spcBef>
              <a:buClrTx/>
              <a:buSzTx/>
            </a:pPr>
            <a:r>
              <a:rPr kumimoji="1" lang="zh-CN" altLang="en-US" sz="2400" b="0" dirty="0"/>
              <a:t>被试者清晨</a:t>
            </a:r>
            <a:r>
              <a:rPr kumimoji="1" lang="zh-CN" altLang="en-US" sz="2400" b="0" dirty="0">
                <a:solidFill>
                  <a:srgbClr val="0000FF"/>
                </a:solidFill>
              </a:rPr>
              <a:t>空腹</a:t>
            </a:r>
            <a:r>
              <a:rPr kumimoji="1" lang="zh-CN" altLang="en-US" sz="2400" b="0" dirty="0"/>
              <a:t>静脉采血测定</a:t>
            </a:r>
            <a:r>
              <a:rPr kumimoji="1" lang="zh-CN" altLang="en-US" sz="2400" b="0" dirty="0">
                <a:solidFill>
                  <a:srgbClr val="0000FF"/>
                </a:solidFill>
              </a:rPr>
              <a:t>血糖</a:t>
            </a:r>
            <a:r>
              <a:rPr kumimoji="1" lang="zh-CN" altLang="en-US" sz="2400" b="0" dirty="0"/>
              <a:t>浓度，然后一次</a:t>
            </a:r>
            <a:r>
              <a:rPr kumimoji="1" lang="zh-CN" altLang="en-US" sz="2400" b="0" dirty="0">
                <a:solidFill>
                  <a:srgbClr val="0000FF"/>
                </a:solidFill>
              </a:rPr>
              <a:t>口服含</a:t>
            </a:r>
            <a:r>
              <a:rPr kumimoji="1" lang="en-US" altLang="zh-CN" sz="2400" b="0" dirty="0">
                <a:solidFill>
                  <a:srgbClr val="0000FF"/>
                </a:solidFill>
              </a:rPr>
              <a:t>75g</a:t>
            </a:r>
            <a:r>
              <a:rPr kumimoji="1" lang="zh-CN" altLang="en-US" sz="2400" b="0" dirty="0">
                <a:solidFill>
                  <a:srgbClr val="0000FF"/>
                </a:solidFill>
              </a:rPr>
              <a:t>葡萄糖</a:t>
            </a:r>
            <a:r>
              <a:rPr kumimoji="1" lang="zh-CN" altLang="en-US" sz="2400" b="0" dirty="0"/>
              <a:t>的糖水，服糖后的</a:t>
            </a:r>
            <a:r>
              <a:rPr kumimoji="1" lang="zh-CN" altLang="en-US" sz="2400" b="0" dirty="0">
                <a:solidFill>
                  <a:srgbClr val="C00000"/>
                </a:solidFill>
              </a:rPr>
              <a:t>1/2、1、2</a:t>
            </a:r>
            <a:r>
              <a:rPr kumimoji="1" lang="en-US" altLang="zh-CN" sz="2400" b="0" dirty="0">
                <a:solidFill>
                  <a:srgbClr val="C00000"/>
                </a:solidFill>
              </a:rPr>
              <a:t>h</a:t>
            </a:r>
            <a:r>
              <a:rPr kumimoji="1" lang="en-US" altLang="zh-CN" sz="2400" b="0" dirty="0"/>
              <a:t>（</a:t>
            </a:r>
            <a:r>
              <a:rPr kumimoji="1" lang="zh-CN" altLang="en-US" sz="2400" b="0" dirty="0"/>
              <a:t>必要时可在3</a:t>
            </a:r>
            <a:r>
              <a:rPr kumimoji="1" lang="en-US" altLang="zh-CN" sz="2400" b="0" dirty="0"/>
              <a:t>h）</a:t>
            </a:r>
            <a:r>
              <a:rPr kumimoji="1" lang="zh-CN" altLang="en-US" sz="2400" b="0" dirty="0"/>
              <a:t>各测血糖一次。实验过程中每隔一小时取尿测尿糖。</a:t>
            </a:r>
            <a:endParaRPr kumimoji="1" lang="en-US" altLang="zh-CN" sz="2400" b="0" dirty="0"/>
          </a:p>
        </p:txBody>
      </p:sp>
      <p:sp>
        <p:nvSpPr>
          <p:cNvPr id="2" name="Rectangle 5"/>
          <p:cNvSpPr>
            <a:spLocks noChangeArrowheads="1"/>
          </p:cNvSpPr>
          <p:nvPr/>
        </p:nvSpPr>
        <p:spPr bwMode="auto">
          <a:xfrm>
            <a:off x="1883532" y="591027"/>
            <a:ext cx="8424936"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buFont typeface="Wingdings" panose="05000000000000000000" pitchFamily="2" charset="2"/>
              <a:buNone/>
            </a:pPr>
            <a:r>
              <a:rPr lang="zh-CN" altLang="en-US" sz="3600" b="0" dirty="0">
                <a:solidFill>
                  <a:srgbClr val="C00000"/>
                </a:solidFill>
                <a:latin typeface="黑体" panose="02010609060101010101" pitchFamily="2" charset="-122"/>
                <a:ea typeface="黑体" panose="02010609060101010101" pitchFamily="2" charset="-122"/>
              </a:rPr>
              <a:t> 三、糖代谢障碍导致血糖水平异常</a:t>
            </a:r>
            <a:endParaRPr lang="zh-CN" altLang="en-US" sz="3600" b="0" dirty="0">
              <a:solidFill>
                <a:srgbClr val="C00000"/>
              </a:solidFill>
              <a:latin typeface="黑体" panose="02010609060101010101" pitchFamily="2" charset="-122"/>
              <a:ea typeface="黑体" panose="02010609060101010101" pitchFamily="2"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6180"/>
                                        </p:tgtEl>
                                        <p:attrNameLst>
                                          <p:attrName>style.visibility</p:attrName>
                                        </p:attrNameLst>
                                      </p:cBhvr>
                                      <p:to>
                                        <p:strVal val="visible"/>
                                      </p:to>
                                    </p:set>
                                    <p:animEffect transition="in" filter="blinds(horizontal)">
                                      <p:cBhvr>
                                        <p:cTn id="7" dur="500"/>
                                        <p:tgtEl>
                                          <p:spTgt spid="30618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06181"/>
                                        </p:tgtEl>
                                        <p:attrNameLst>
                                          <p:attrName>style.visibility</p:attrName>
                                        </p:attrNameLst>
                                      </p:cBhvr>
                                      <p:to>
                                        <p:strVal val="visible"/>
                                      </p:to>
                                    </p:set>
                                    <p:animEffect transition="in" filter="blinds(horizontal)">
                                      <p:cBhvr>
                                        <p:cTn id="11" dur="500"/>
                                        <p:tgtEl>
                                          <p:spTgt spid="306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0" grpId="0" autoUpdateAnimBg="0"/>
      <p:bldP spid="306181" grpId="0" autoUpdateAnimBg="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2"/>
          <p:cNvSpPr txBox="1">
            <a:spLocks noChangeArrowheads="1"/>
          </p:cNvSpPr>
          <p:nvPr/>
        </p:nvSpPr>
        <p:spPr bwMode="auto">
          <a:xfrm>
            <a:off x="5089525" y="476250"/>
            <a:ext cx="259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3600" b="0">
                <a:latin typeface="黑体" panose="02010609060101010101" pitchFamily="2" charset="-122"/>
                <a:ea typeface="黑体" panose="02010609060101010101" pitchFamily="2" charset="-122"/>
              </a:rPr>
              <a:t>糖耐量曲线    </a:t>
            </a:r>
            <a:endParaRPr kumimoji="1" lang="zh-CN" altLang="en-US" sz="3600" b="0">
              <a:latin typeface="黑体" panose="02010609060101010101" pitchFamily="2" charset="-122"/>
              <a:ea typeface="黑体" panose="02010609060101010101" pitchFamily="2" charset="-122"/>
            </a:endParaRPr>
          </a:p>
        </p:txBody>
      </p:sp>
      <p:sp>
        <p:nvSpPr>
          <p:cNvPr id="138243" name="Text Box 3"/>
          <p:cNvSpPr txBox="1">
            <a:spLocks noChangeArrowheads="1"/>
          </p:cNvSpPr>
          <p:nvPr/>
        </p:nvSpPr>
        <p:spPr bwMode="auto">
          <a:xfrm rot="-5400000">
            <a:off x="13494" y="2959894"/>
            <a:ext cx="4248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b="0">
                <a:solidFill>
                  <a:schemeClr val="tx2"/>
                </a:solidFill>
              </a:rPr>
              <a:t>血糖浓度（</a:t>
            </a:r>
            <a:r>
              <a:rPr kumimoji="1" lang="en-US" altLang="zh-CN" b="0">
                <a:solidFill>
                  <a:schemeClr val="tx2"/>
                </a:solidFill>
              </a:rPr>
              <a:t>mg/dl</a:t>
            </a:r>
            <a:r>
              <a:rPr kumimoji="1" lang="zh-CN" altLang="en-US" b="0">
                <a:solidFill>
                  <a:schemeClr val="tx2"/>
                </a:solidFill>
              </a:rPr>
              <a:t>）</a:t>
            </a:r>
            <a:endParaRPr kumimoji="1" lang="zh-CN" altLang="en-US" b="0">
              <a:solidFill>
                <a:schemeClr val="tx2"/>
              </a:solidFill>
            </a:endParaRPr>
          </a:p>
        </p:txBody>
      </p:sp>
      <p:grpSp>
        <p:nvGrpSpPr>
          <p:cNvPr id="138244" name="Group 4"/>
          <p:cNvGrpSpPr/>
          <p:nvPr/>
        </p:nvGrpSpPr>
        <p:grpSpPr bwMode="auto">
          <a:xfrm>
            <a:off x="2495551" y="1081088"/>
            <a:ext cx="8137525" cy="5300662"/>
            <a:chOff x="884" y="436"/>
            <a:chExt cx="5126" cy="3339"/>
          </a:xfrm>
        </p:grpSpPr>
        <p:grpSp>
          <p:nvGrpSpPr>
            <p:cNvPr id="138285" name="Group 5"/>
            <p:cNvGrpSpPr/>
            <p:nvPr/>
          </p:nvGrpSpPr>
          <p:grpSpPr bwMode="auto">
            <a:xfrm>
              <a:off x="1368" y="436"/>
              <a:ext cx="3834" cy="2903"/>
              <a:chOff x="974" y="527"/>
              <a:chExt cx="3834" cy="2903"/>
            </a:xfrm>
          </p:grpSpPr>
          <p:sp>
            <p:nvSpPr>
              <p:cNvPr id="138301" name="Line 6"/>
              <p:cNvSpPr>
                <a:spLocks noChangeShapeType="1"/>
              </p:cNvSpPr>
              <p:nvPr/>
            </p:nvSpPr>
            <p:spPr bwMode="auto">
              <a:xfrm>
                <a:off x="974" y="3430"/>
                <a:ext cx="3834"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138302" name="Group 7"/>
              <p:cNvGrpSpPr/>
              <p:nvPr/>
            </p:nvGrpSpPr>
            <p:grpSpPr bwMode="auto">
              <a:xfrm>
                <a:off x="983" y="527"/>
                <a:ext cx="91" cy="2903"/>
                <a:chOff x="1292" y="709"/>
                <a:chExt cx="91" cy="2903"/>
              </a:xfrm>
            </p:grpSpPr>
            <p:sp>
              <p:nvSpPr>
                <p:cNvPr id="138309" name="Line 8"/>
                <p:cNvSpPr>
                  <a:spLocks noChangeShapeType="1"/>
                </p:cNvSpPr>
                <p:nvPr/>
              </p:nvSpPr>
              <p:spPr bwMode="auto">
                <a:xfrm flipV="1">
                  <a:off x="1292" y="709"/>
                  <a:ext cx="0" cy="2903"/>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38310" name="Line 9"/>
                <p:cNvSpPr>
                  <a:spLocks noChangeShapeType="1"/>
                </p:cNvSpPr>
                <p:nvPr/>
              </p:nvSpPr>
              <p:spPr bwMode="auto">
                <a:xfrm>
                  <a:off x="1292" y="3294"/>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1" name="Line 10"/>
                <p:cNvSpPr>
                  <a:spLocks noChangeShapeType="1"/>
                </p:cNvSpPr>
                <p:nvPr/>
              </p:nvSpPr>
              <p:spPr bwMode="auto">
                <a:xfrm>
                  <a:off x="1292" y="2976"/>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2" name="Line 11"/>
                <p:cNvSpPr>
                  <a:spLocks noChangeShapeType="1"/>
                </p:cNvSpPr>
                <p:nvPr/>
              </p:nvSpPr>
              <p:spPr bwMode="auto">
                <a:xfrm>
                  <a:off x="1292" y="2659"/>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3" name="Line 12"/>
                <p:cNvSpPr>
                  <a:spLocks noChangeShapeType="1"/>
                </p:cNvSpPr>
                <p:nvPr/>
              </p:nvSpPr>
              <p:spPr bwMode="auto">
                <a:xfrm>
                  <a:off x="1292" y="2341"/>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4" name="Line 13"/>
                <p:cNvSpPr>
                  <a:spLocks noChangeShapeType="1"/>
                </p:cNvSpPr>
                <p:nvPr/>
              </p:nvSpPr>
              <p:spPr bwMode="auto">
                <a:xfrm>
                  <a:off x="1292" y="2024"/>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5" name="Line 14"/>
                <p:cNvSpPr>
                  <a:spLocks noChangeShapeType="1"/>
                </p:cNvSpPr>
                <p:nvPr/>
              </p:nvSpPr>
              <p:spPr bwMode="auto">
                <a:xfrm>
                  <a:off x="1292" y="1706"/>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6" name="Line 15"/>
                <p:cNvSpPr>
                  <a:spLocks noChangeShapeType="1"/>
                </p:cNvSpPr>
                <p:nvPr/>
              </p:nvSpPr>
              <p:spPr bwMode="auto">
                <a:xfrm>
                  <a:off x="1292" y="1389"/>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17" name="Line 16"/>
                <p:cNvSpPr>
                  <a:spLocks noChangeShapeType="1"/>
                </p:cNvSpPr>
                <p:nvPr/>
              </p:nvSpPr>
              <p:spPr bwMode="auto">
                <a:xfrm>
                  <a:off x="1292" y="1071"/>
                  <a:ext cx="91"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8303" name="Line 17"/>
              <p:cNvSpPr>
                <a:spLocks noChangeShapeType="1"/>
              </p:cNvSpPr>
              <p:nvPr/>
            </p:nvSpPr>
            <p:spPr bwMode="auto">
              <a:xfrm flipV="1">
                <a:off x="1565" y="3312"/>
                <a:ext cx="0" cy="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04" name="Line 18"/>
              <p:cNvSpPr>
                <a:spLocks noChangeShapeType="1"/>
              </p:cNvSpPr>
              <p:nvPr/>
            </p:nvSpPr>
            <p:spPr bwMode="auto">
              <a:xfrm flipV="1">
                <a:off x="2109" y="3311"/>
                <a:ext cx="0" cy="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05" name="Line 19"/>
              <p:cNvSpPr>
                <a:spLocks noChangeShapeType="1"/>
              </p:cNvSpPr>
              <p:nvPr/>
            </p:nvSpPr>
            <p:spPr bwMode="auto">
              <a:xfrm flipV="1">
                <a:off x="2653" y="3313"/>
                <a:ext cx="0" cy="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06" name="Line 20"/>
              <p:cNvSpPr>
                <a:spLocks noChangeShapeType="1"/>
              </p:cNvSpPr>
              <p:nvPr/>
            </p:nvSpPr>
            <p:spPr bwMode="auto">
              <a:xfrm flipV="1">
                <a:off x="3198" y="3312"/>
                <a:ext cx="0" cy="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07" name="Line 21"/>
              <p:cNvSpPr>
                <a:spLocks noChangeShapeType="1"/>
              </p:cNvSpPr>
              <p:nvPr/>
            </p:nvSpPr>
            <p:spPr bwMode="auto">
              <a:xfrm flipV="1">
                <a:off x="3742" y="3313"/>
                <a:ext cx="0" cy="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38308" name="Line 22"/>
              <p:cNvSpPr>
                <a:spLocks noChangeShapeType="1"/>
              </p:cNvSpPr>
              <p:nvPr/>
            </p:nvSpPr>
            <p:spPr bwMode="auto">
              <a:xfrm flipV="1">
                <a:off x="4286" y="3312"/>
                <a:ext cx="0" cy="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38286" name="Text Box 23"/>
            <p:cNvSpPr txBox="1">
              <a:spLocks noChangeArrowheads="1"/>
            </p:cNvSpPr>
            <p:nvPr/>
          </p:nvSpPr>
          <p:spPr bwMode="auto">
            <a:xfrm>
              <a:off x="884" y="2877"/>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50</a:t>
              </a:r>
              <a:endParaRPr kumimoji="1" lang="en-US" altLang="zh-CN" sz="2400"/>
            </a:p>
          </p:txBody>
        </p:sp>
        <p:sp>
          <p:nvSpPr>
            <p:cNvPr id="138287" name="Text Box 24"/>
            <p:cNvSpPr txBox="1">
              <a:spLocks noChangeArrowheads="1"/>
            </p:cNvSpPr>
            <p:nvPr/>
          </p:nvSpPr>
          <p:spPr bwMode="auto">
            <a:xfrm>
              <a:off x="884" y="1606"/>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250</a:t>
              </a:r>
              <a:endParaRPr kumimoji="1" lang="en-US" altLang="zh-CN" sz="2400"/>
            </a:p>
          </p:txBody>
        </p:sp>
        <p:sp>
          <p:nvSpPr>
            <p:cNvPr id="138288" name="Text Box 25"/>
            <p:cNvSpPr txBox="1">
              <a:spLocks noChangeArrowheads="1"/>
            </p:cNvSpPr>
            <p:nvPr/>
          </p:nvSpPr>
          <p:spPr bwMode="auto">
            <a:xfrm>
              <a:off x="884" y="2241"/>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150</a:t>
              </a:r>
              <a:endParaRPr kumimoji="1" lang="en-US" altLang="zh-CN" sz="2400"/>
            </a:p>
          </p:txBody>
        </p:sp>
        <p:sp>
          <p:nvSpPr>
            <p:cNvPr id="138289" name="Text Box 26"/>
            <p:cNvSpPr txBox="1">
              <a:spLocks noChangeArrowheads="1"/>
            </p:cNvSpPr>
            <p:nvPr/>
          </p:nvSpPr>
          <p:spPr bwMode="auto">
            <a:xfrm>
              <a:off x="884" y="971"/>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350</a:t>
              </a:r>
              <a:endParaRPr kumimoji="1" lang="en-US" altLang="zh-CN" sz="2400"/>
            </a:p>
          </p:txBody>
        </p:sp>
        <p:sp>
          <p:nvSpPr>
            <p:cNvPr id="138290" name="Text Box 27"/>
            <p:cNvSpPr txBox="1">
              <a:spLocks noChangeArrowheads="1"/>
            </p:cNvSpPr>
            <p:nvPr/>
          </p:nvSpPr>
          <p:spPr bwMode="auto">
            <a:xfrm>
              <a:off x="884" y="2559"/>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100</a:t>
              </a:r>
              <a:endParaRPr kumimoji="1" lang="en-US" altLang="zh-CN" sz="2400"/>
            </a:p>
          </p:txBody>
        </p:sp>
        <p:sp>
          <p:nvSpPr>
            <p:cNvPr id="138291" name="Text Box 28"/>
            <p:cNvSpPr txBox="1">
              <a:spLocks noChangeArrowheads="1"/>
            </p:cNvSpPr>
            <p:nvPr/>
          </p:nvSpPr>
          <p:spPr bwMode="auto">
            <a:xfrm>
              <a:off x="884" y="1924"/>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200</a:t>
              </a:r>
              <a:endParaRPr kumimoji="1" lang="en-US" altLang="zh-CN" sz="2400"/>
            </a:p>
          </p:txBody>
        </p:sp>
        <p:sp>
          <p:nvSpPr>
            <p:cNvPr id="138292" name="Text Box 29"/>
            <p:cNvSpPr txBox="1">
              <a:spLocks noChangeArrowheads="1"/>
            </p:cNvSpPr>
            <p:nvPr/>
          </p:nvSpPr>
          <p:spPr bwMode="auto">
            <a:xfrm>
              <a:off x="884" y="1289"/>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300</a:t>
              </a:r>
              <a:endParaRPr kumimoji="1" lang="en-US" altLang="zh-CN" sz="2400"/>
            </a:p>
          </p:txBody>
        </p:sp>
        <p:sp>
          <p:nvSpPr>
            <p:cNvPr id="138293" name="Text Box 30"/>
            <p:cNvSpPr txBox="1">
              <a:spLocks noChangeArrowheads="1"/>
            </p:cNvSpPr>
            <p:nvPr/>
          </p:nvSpPr>
          <p:spPr bwMode="auto">
            <a:xfrm>
              <a:off x="884" y="654"/>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400"/>
                <a:t>400</a:t>
              </a:r>
              <a:endParaRPr kumimoji="1" lang="en-US" altLang="zh-CN" sz="2400"/>
            </a:p>
          </p:txBody>
        </p:sp>
        <p:sp>
          <p:nvSpPr>
            <p:cNvPr id="138294" name="Text Box 31"/>
            <p:cNvSpPr txBox="1">
              <a:spLocks noChangeArrowheads="1"/>
            </p:cNvSpPr>
            <p:nvPr/>
          </p:nvSpPr>
          <p:spPr bwMode="auto">
            <a:xfrm>
              <a:off x="1664" y="3349"/>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Arial" panose="020B0604020202020204" pitchFamily="34" charset="0"/>
                </a:rPr>
                <a:t>0.5</a:t>
              </a:r>
              <a:endParaRPr kumimoji="1" lang="en-US" altLang="zh-CN" sz="2800" b="0">
                <a:latin typeface="Arial" panose="020B0604020202020204" pitchFamily="34" charset="0"/>
              </a:endParaRPr>
            </a:p>
          </p:txBody>
        </p:sp>
        <p:sp>
          <p:nvSpPr>
            <p:cNvPr id="138295" name="Text Box 32"/>
            <p:cNvSpPr txBox="1">
              <a:spLocks noChangeArrowheads="1"/>
            </p:cNvSpPr>
            <p:nvPr/>
          </p:nvSpPr>
          <p:spPr bwMode="auto">
            <a:xfrm>
              <a:off x="2208" y="3349"/>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Arial" panose="020B0604020202020204" pitchFamily="34" charset="0"/>
                </a:rPr>
                <a:t>1.0</a:t>
              </a:r>
              <a:endParaRPr kumimoji="1" lang="en-US" altLang="zh-CN" sz="2800" b="0">
                <a:latin typeface="Arial" panose="020B0604020202020204" pitchFamily="34" charset="0"/>
              </a:endParaRPr>
            </a:p>
          </p:txBody>
        </p:sp>
        <p:sp>
          <p:nvSpPr>
            <p:cNvPr id="138296" name="Text Box 33"/>
            <p:cNvSpPr txBox="1">
              <a:spLocks noChangeArrowheads="1"/>
            </p:cNvSpPr>
            <p:nvPr/>
          </p:nvSpPr>
          <p:spPr bwMode="auto">
            <a:xfrm>
              <a:off x="2752" y="3349"/>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Arial" panose="020B0604020202020204" pitchFamily="34" charset="0"/>
                </a:rPr>
                <a:t>1.5</a:t>
              </a:r>
              <a:endParaRPr kumimoji="1" lang="en-US" altLang="zh-CN" sz="2800" b="0">
                <a:latin typeface="Arial" panose="020B0604020202020204" pitchFamily="34" charset="0"/>
              </a:endParaRPr>
            </a:p>
          </p:txBody>
        </p:sp>
        <p:sp>
          <p:nvSpPr>
            <p:cNvPr id="138297" name="Text Box 34"/>
            <p:cNvSpPr txBox="1">
              <a:spLocks noChangeArrowheads="1"/>
            </p:cNvSpPr>
            <p:nvPr/>
          </p:nvSpPr>
          <p:spPr bwMode="auto">
            <a:xfrm>
              <a:off x="3296" y="3349"/>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Arial" panose="020B0604020202020204" pitchFamily="34" charset="0"/>
                </a:rPr>
                <a:t>2.0</a:t>
              </a:r>
              <a:endParaRPr kumimoji="1" lang="en-US" altLang="zh-CN" sz="2800" b="0">
                <a:latin typeface="Arial" panose="020B0604020202020204" pitchFamily="34" charset="0"/>
              </a:endParaRPr>
            </a:p>
          </p:txBody>
        </p:sp>
        <p:sp>
          <p:nvSpPr>
            <p:cNvPr id="138298" name="Text Box 35"/>
            <p:cNvSpPr txBox="1">
              <a:spLocks noChangeArrowheads="1"/>
            </p:cNvSpPr>
            <p:nvPr/>
          </p:nvSpPr>
          <p:spPr bwMode="auto">
            <a:xfrm>
              <a:off x="3841" y="3349"/>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Arial" panose="020B0604020202020204" pitchFamily="34" charset="0"/>
                </a:rPr>
                <a:t>2.5</a:t>
              </a:r>
              <a:endParaRPr kumimoji="1" lang="en-US" altLang="zh-CN" sz="2800" b="0">
                <a:latin typeface="Arial" panose="020B0604020202020204" pitchFamily="34" charset="0"/>
              </a:endParaRPr>
            </a:p>
          </p:txBody>
        </p:sp>
        <p:sp>
          <p:nvSpPr>
            <p:cNvPr id="138299" name="Text Box 36"/>
            <p:cNvSpPr txBox="1">
              <a:spLocks noChangeArrowheads="1"/>
            </p:cNvSpPr>
            <p:nvPr/>
          </p:nvSpPr>
          <p:spPr bwMode="auto">
            <a:xfrm>
              <a:off x="4385" y="3349"/>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en-US" altLang="zh-CN" sz="2800" b="0">
                  <a:latin typeface="Arial" panose="020B0604020202020204" pitchFamily="34" charset="0"/>
                </a:rPr>
                <a:t>3.0</a:t>
              </a:r>
              <a:endParaRPr kumimoji="1" lang="en-US" altLang="zh-CN" sz="2800" b="0">
                <a:latin typeface="Arial" panose="020B0604020202020204" pitchFamily="34" charset="0"/>
              </a:endParaRPr>
            </a:p>
          </p:txBody>
        </p:sp>
        <p:sp>
          <p:nvSpPr>
            <p:cNvPr id="138300" name="Text Box 37"/>
            <p:cNvSpPr txBox="1">
              <a:spLocks noChangeArrowheads="1"/>
            </p:cNvSpPr>
            <p:nvPr/>
          </p:nvSpPr>
          <p:spPr bwMode="auto">
            <a:xfrm>
              <a:off x="4903" y="3407"/>
              <a:ext cx="1107"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b="0">
                  <a:solidFill>
                    <a:schemeClr val="tx2"/>
                  </a:solidFill>
                </a:rPr>
                <a:t>时间（</a:t>
              </a:r>
              <a:r>
                <a:rPr kumimoji="1" lang="en-US" altLang="zh-CN" b="0">
                  <a:solidFill>
                    <a:schemeClr val="tx2"/>
                  </a:solidFill>
                </a:rPr>
                <a:t>h</a:t>
              </a:r>
              <a:r>
                <a:rPr kumimoji="1" lang="zh-CN" altLang="en-US" b="0">
                  <a:solidFill>
                    <a:schemeClr val="tx2"/>
                  </a:solidFill>
                </a:rPr>
                <a:t>）</a:t>
              </a:r>
              <a:endParaRPr kumimoji="1" lang="zh-CN" altLang="en-US" b="0">
                <a:solidFill>
                  <a:schemeClr val="tx2"/>
                </a:solidFill>
              </a:endParaRPr>
            </a:p>
          </p:txBody>
        </p:sp>
      </p:grpSp>
      <p:grpSp>
        <p:nvGrpSpPr>
          <p:cNvPr id="5" name="Group 38"/>
          <p:cNvGrpSpPr/>
          <p:nvPr/>
        </p:nvGrpSpPr>
        <p:grpSpPr bwMode="auto">
          <a:xfrm>
            <a:off x="3287714" y="1657350"/>
            <a:ext cx="5894387" cy="2635250"/>
            <a:chOff x="1111" y="1044"/>
            <a:chExt cx="3713" cy="1660"/>
          </a:xfrm>
        </p:grpSpPr>
        <p:grpSp>
          <p:nvGrpSpPr>
            <p:cNvPr id="138278" name="Group 39"/>
            <p:cNvGrpSpPr/>
            <p:nvPr/>
          </p:nvGrpSpPr>
          <p:grpSpPr bwMode="auto">
            <a:xfrm>
              <a:off x="1111" y="1044"/>
              <a:ext cx="3311" cy="1660"/>
              <a:chOff x="1383" y="1044"/>
              <a:chExt cx="3311" cy="1660"/>
            </a:xfrm>
          </p:grpSpPr>
          <p:sp>
            <p:nvSpPr>
              <p:cNvPr id="138280" name="Freeform 40"/>
              <p:cNvSpPr/>
              <p:nvPr/>
            </p:nvSpPr>
            <p:spPr bwMode="auto">
              <a:xfrm>
                <a:off x="1383" y="1071"/>
                <a:ext cx="3266" cy="1633"/>
              </a:xfrm>
              <a:custGeom>
                <a:avLst/>
                <a:gdLst>
                  <a:gd name="T0" fmla="*/ 0 w 3266"/>
                  <a:gd name="T1" fmla="*/ 1633 h 1633"/>
                  <a:gd name="T2" fmla="*/ 590 w 3266"/>
                  <a:gd name="T3" fmla="*/ 635 h 1633"/>
                  <a:gd name="T4" fmla="*/ 1134 w 3266"/>
                  <a:gd name="T5" fmla="*/ 273 h 1633"/>
                  <a:gd name="T6" fmla="*/ 2223 w 3266"/>
                  <a:gd name="T7" fmla="*/ 0 h 1633"/>
                  <a:gd name="T8" fmla="*/ 3266 w 3266"/>
                  <a:gd name="T9" fmla="*/ 182 h 1633"/>
                  <a:gd name="T10" fmla="*/ 0 60000 65536"/>
                  <a:gd name="T11" fmla="*/ 0 60000 65536"/>
                  <a:gd name="T12" fmla="*/ 0 60000 65536"/>
                  <a:gd name="T13" fmla="*/ 0 60000 65536"/>
                  <a:gd name="T14" fmla="*/ 0 60000 65536"/>
                  <a:gd name="T15" fmla="*/ 0 w 3266"/>
                  <a:gd name="T16" fmla="*/ 0 h 1633"/>
                  <a:gd name="T17" fmla="*/ 3266 w 3266"/>
                  <a:gd name="T18" fmla="*/ 1633 h 1633"/>
                </a:gdLst>
                <a:ahLst/>
                <a:cxnLst>
                  <a:cxn ang="T10">
                    <a:pos x="T0" y="T1"/>
                  </a:cxn>
                  <a:cxn ang="T11">
                    <a:pos x="T2" y="T3"/>
                  </a:cxn>
                  <a:cxn ang="T12">
                    <a:pos x="T4" y="T5"/>
                  </a:cxn>
                  <a:cxn ang="T13">
                    <a:pos x="T6" y="T7"/>
                  </a:cxn>
                  <a:cxn ang="T14">
                    <a:pos x="T8" y="T9"/>
                  </a:cxn>
                </a:cxnLst>
                <a:rect l="T15" t="T16" r="T17" b="T18"/>
                <a:pathLst>
                  <a:path w="3266" h="1633">
                    <a:moveTo>
                      <a:pt x="0" y="1633"/>
                    </a:moveTo>
                    <a:lnTo>
                      <a:pt x="590" y="635"/>
                    </a:lnTo>
                    <a:lnTo>
                      <a:pt x="1134" y="273"/>
                    </a:lnTo>
                    <a:lnTo>
                      <a:pt x="2223" y="0"/>
                    </a:lnTo>
                    <a:lnTo>
                      <a:pt x="3266" y="182"/>
                    </a:lnTo>
                  </a:path>
                </a:pathLst>
              </a:custGeom>
              <a:noFill/>
              <a:ln w="28575">
                <a:solidFill>
                  <a:srgbClr val="FF0000"/>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281" name="Oval 41"/>
              <p:cNvSpPr>
                <a:spLocks noChangeAspect="1" noChangeArrowheads="1"/>
              </p:cNvSpPr>
              <p:nvPr/>
            </p:nvSpPr>
            <p:spPr bwMode="auto">
              <a:xfrm>
                <a:off x="3560" y="1044"/>
                <a:ext cx="68" cy="68"/>
              </a:xfrm>
              <a:prstGeom prst="ellipse">
                <a:avLst/>
              </a:prstGeom>
              <a:solidFill>
                <a:srgbClr val="FF0000"/>
              </a:solidFill>
              <a:ln w="38100" algn="ctr">
                <a:solidFill>
                  <a:srgbClr val="FF0000"/>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82" name="Oval 42"/>
              <p:cNvSpPr>
                <a:spLocks noChangeAspect="1" noChangeArrowheads="1"/>
              </p:cNvSpPr>
              <p:nvPr/>
            </p:nvSpPr>
            <p:spPr bwMode="auto">
              <a:xfrm>
                <a:off x="4626" y="1216"/>
                <a:ext cx="68" cy="68"/>
              </a:xfrm>
              <a:prstGeom prst="ellipse">
                <a:avLst/>
              </a:prstGeom>
              <a:solidFill>
                <a:srgbClr val="FF0000"/>
              </a:solidFill>
              <a:ln w="38100" algn="ctr">
                <a:solidFill>
                  <a:srgbClr val="FF0000"/>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83" name="Oval 43"/>
              <p:cNvSpPr>
                <a:spLocks noChangeAspect="1" noChangeArrowheads="1"/>
              </p:cNvSpPr>
              <p:nvPr/>
            </p:nvSpPr>
            <p:spPr bwMode="auto">
              <a:xfrm>
                <a:off x="2472" y="1315"/>
                <a:ext cx="68" cy="68"/>
              </a:xfrm>
              <a:prstGeom prst="ellipse">
                <a:avLst/>
              </a:prstGeom>
              <a:solidFill>
                <a:srgbClr val="FF0000"/>
              </a:solidFill>
              <a:ln w="38100" algn="ctr">
                <a:solidFill>
                  <a:srgbClr val="FF0000"/>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84" name="Oval 44"/>
              <p:cNvSpPr>
                <a:spLocks noChangeAspect="1" noChangeArrowheads="1"/>
              </p:cNvSpPr>
              <p:nvPr/>
            </p:nvSpPr>
            <p:spPr bwMode="auto">
              <a:xfrm>
                <a:off x="1927" y="1697"/>
                <a:ext cx="68" cy="68"/>
              </a:xfrm>
              <a:prstGeom prst="ellipse">
                <a:avLst/>
              </a:prstGeom>
              <a:solidFill>
                <a:srgbClr val="FF0000"/>
              </a:solidFill>
              <a:ln w="38100" algn="ctr">
                <a:solidFill>
                  <a:srgbClr val="FF0000"/>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sp>
          <p:nvSpPr>
            <p:cNvPr id="138279" name="Text Box 45"/>
            <p:cNvSpPr txBox="1">
              <a:spLocks noChangeArrowheads="1"/>
            </p:cNvSpPr>
            <p:nvPr/>
          </p:nvSpPr>
          <p:spPr bwMode="auto">
            <a:xfrm>
              <a:off x="3690" y="1350"/>
              <a:ext cx="113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70000"/>
                </a:lnSpc>
                <a:spcBef>
                  <a:spcPct val="50000"/>
                </a:spcBef>
                <a:buClrTx/>
                <a:buSzTx/>
                <a:buFontTx/>
                <a:buNone/>
              </a:pPr>
              <a:r>
                <a:rPr kumimoji="1" lang="zh-CN" altLang="en-US" sz="2400">
                  <a:solidFill>
                    <a:srgbClr val="FF0000"/>
                  </a:solidFill>
                </a:rPr>
                <a:t>重症糖尿病</a:t>
              </a:r>
              <a:endParaRPr kumimoji="1" lang="zh-CN" altLang="en-US" sz="2400">
                <a:solidFill>
                  <a:srgbClr val="FF0000"/>
                </a:solidFill>
              </a:endParaRPr>
            </a:p>
          </p:txBody>
        </p:sp>
      </p:grpSp>
      <p:grpSp>
        <p:nvGrpSpPr>
          <p:cNvPr id="7" name="Group 46"/>
          <p:cNvGrpSpPr/>
          <p:nvPr/>
        </p:nvGrpSpPr>
        <p:grpSpPr bwMode="auto">
          <a:xfrm>
            <a:off x="3287713" y="3471864"/>
            <a:ext cx="6062662" cy="1036637"/>
            <a:chOff x="1111" y="2187"/>
            <a:chExt cx="3819" cy="653"/>
          </a:xfrm>
        </p:grpSpPr>
        <p:grpSp>
          <p:nvGrpSpPr>
            <p:cNvPr id="138271" name="Group 47"/>
            <p:cNvGrpSpPr/>
            <p:nvPr/>
          </p:nvGrpSpPr>
          <p:grpSpPr bwMode="auto">
            <a:xfrm>
              <a:off x="1111" y="2187"/>
              <a:ext cx="3320" cy="653"/>
              <a:chOff x="1383" y="2187"/>
              <a:chExt cx="3320" cy="653"/>
            </a:xfrm>
          </p:grpSpPr>
          <p:sp>
            <p:nvSpPr>
              <p:cNvPr id="138273" name="Freeform 48"/>
              <p:cNvSpPr/>
              <p:nvPr/>
            </p:nvSpPr>
            <p:spPr bwMode="auto">
              <a:xfrm>
                <a:off x="1383" y="2205"/>
                <a:ext cx="3311" cy="635"/>
              </a:xfrm>
              <a:custGeom>
                <a:avLst/>
                <a:gdLst>
                  <a:gd name="T0" fmla="*/ 0 w 3311"/>
                  <a:gd name="T1" fmla="*/ 635 h 635"/>
                  <a:gd name="T2" fmla="*/ 590 w 3311"/>
                  <a:gd name="T3" fmla="*/ 0 h 635"/>
                  <a:gd name="T4" fmla="*/ 1134 w 3311"/>
                  <a:gd name="T5" fmla="*/ 136 h 635"/>
                  <a:gd name="T6" fmla="*/ 2223 w 3311"/>
                  <a:gd name="T7" fmla="*/ 273 h 635"/>
                  <a:gd name="T8" fmla="*/ 3311 w 3311"/>
                  <a:gd name="T9" fmla="*/ 363 h 635"/>
                  <a:gd name="T10" fmla="*/ 0 60000 65536"/>
                  <a:gd name="T11" fmla="*/ 0 60000 65536"/>
                  <a:gd name="T12" fmla="*/ 0 60000 65536"/>
                  <a:gd name="T13" fmla="*/ 0 60000 65536"/>
                  <a:gd name="T14" fmla="*/ 0 60000 65536"/>
                  <a:gd name="T15" fmla="*/ 0 w 3311"/>
                  <a:gd name="T16" fmla="*/ 0 h 635"/>
                  <a:gd name="T17" fmla="*/ 3311 w 3311"/>
                  <a:gd name="T18" fmla="*/ 635 h 635"/>
                </a:gdLst>
                <a:ahLst/>
                <a:cxnLst>
                  <a:cxn ang="T10">
                    <a:pos x="T0" y="T1"/>
                  </a:cxn>
                  <a:cxn ang="T11">
                    <a:pos x="T2" y="T3"/>
                  </a:cxn>
                  <a:cxn ang="T12">
                    <a:pos x="T4" y="T5"/>
                  </a:cxn>
                  <a:cxn ang="T13">
                    <a:pos x="T6" y="T7"/>
                  </a:cxn>
                  <a:cxn ang="T14">
                    <a:pos x="T8" y="T9"/>
                  </a:cxn>
                </a:cxnLst>
                <a:rect l="T15" t="T16" r="T17" b="T18"/>
                <a:pathLst>
                  <a:path w="3311" h="635">
                    <a:moveTo>
                      <a:pt x="0" y="635"/>
                    </a:moveTo>
                    <a:lnTo>
                      <a:pt x="590" y="0"/>
                    </a:lnTo>
                    <a:lnTo>
                      <a:pt x="1134" y="136"/>
                    </a:lnTo>
                    <a:lnTo>
                      <a:pt x="2223" y="273"/>
                    </a:lnTo>
                    <a:lnTo>
                      <a:pt x="3311" y="363"/>
                    </a:lnTo>
                  </a:path>
                </a:pathLst>
              </a:custGeom>
              <a:noFill/>
              <a:ln w="28575">
                <a:solidFill>
                  <a:srgbClr val="FF0066"/>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274" name="Oval 49"/>
              <p:cNvSpPr>
                <a:spLocks noChangeAspect="1" noChangeArrowheads="1"/>
              </p:cNvSpPr>
              <p:nvPr/>
            </p:nvSpPr>
            <p:spPr bwMode="auto">
              <a:xfrm>
                <a:off x="2472" y="2301"/>
                <a:ext cx="68" cy="68"/>
              </a:xfrm>
              <a:prstGeom prst="ellipse">
                <a:avLst/>
              </a:prstGeom>
              <a:solidFill>
                <a:srgbClr val="FF0066"/>
              </a:solidFill>
              <a:ln w="38100" algn="ctr">
                <a:solidFill>
                  <a:srgbClr val="FF0066"/>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75" name="Oval 50"/>
              <p:cNvSpPr>
                <a:spLocks noChangeAspect="1" noChangeArrowheads="1"/>
              </p:cNvSpPr>
              <p:nvPr/>
            </p:nvSpPr>
            <p:spPr bwMode="auto">
              <a:xfrm>
                <a:off x="1936" y="2187"/>
                <a:ext cx="68" cy="68"/>
              </a:xfrm>
              <a:prstGeom prst="ellipse">
                <a:avLst/>
              </a:prstGeom>
              <a:solidFill>
                <a:srgbClr val="FF0066"/>
              </a:solidFill>
              <a:ln w="38100" algn="ctr">
                <a:solidFill>
                  <a:srgbClr val="FF0066"/>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76" name="Oval 51"/>
              <p:cNvSpPr>
                <a:spLocks noChangeAspect="1" noChangeArrowheads="1"/>
              </p:cNvSpPr>
              <p:nvPr/>
            </p:nvSpPr>
            <p:spPr bwMode="auto">
              <a:xfrm>
                <a:off x="3551" y="2432"/>
                <a:ext cx="68" cy="68"/>
              </a:xfrm>
              <a:prstGeom prst="ellipse">
                <a:avLst/>
              </a:prstGeom>
              <a:solidFill>
                <a:srgbClr val="FF0066"/>
              </a:solidFill>
              <a:ln w="38100" algn="ctr">
                <a:solidFill>
                  <a:srgbClr val="FF0066"/>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77" name="Oval 52"/>
              <p:cNvSpPr>
                <a:spLocks noChangeAspect="1" noChangeArrowheads="1"/>
              </p:cNvSpPr>
              <p:nvPr/>
            </p:nvSpPr>
            <p:spPr bwMode="auto">
              <a:xfrm>
                <a:off x="4635" y="2523"/>
                <a:ext cx="68" cy="68"/>
              </a:xfrm>
              <a:prstGeom prst="ellipse">
                <a:avLst/>
              </a:prstGeom>
              <a:solidFill>
                <a:srgbClr val="FF0066"/>
              </a:solidFill>
              <a:ln w="38100" algn="ctr">
                <a:solidFill>
                  <a:srgbClr val="FF0066"/>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sp>
          <p:nvSpPr>
            <p:cNvPr id="138272" name="Text Box 53"/>
            <p:cNvSpPr txBox="1">
              <a:spLocks noChangeArrowheads="1"/>
            </p:cNvSpPr>
            <p:nvPr/>
          </p:nvSpPr>
          <p:spPr bwMode="auto">
            <a:xfrm>
              <a:off x="3696" y="2205"/>
              <a:ext cx="123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70000"/>
                </a:lnSpc>
                <a:spcBef>
                  <a:spcPct val="50000"/>
                </a:spcBef>
                <a:buClrTx/>
                <a:buSzTx/>
                <a:buFontTx/>
                <a:buNone/>
              </a:pPr>
              <a:r>
                <a:rPr kumimoji="1" lang="zh-CN" altLang="en-US" sz="2400">
                  <a:solidFill>
                    <a:srgbClr val="FF0066"/>
                  </a:solidFill>
                </a:rPr>
                <a:t>轻症糖尿病</a:t>
              </a:r>
              <a:endParaRPr kumimoji="1" lang="zh-CN" altLang="en-US" sz="2400">
                <a:solidFill>
                  <a:srgbClr val="FF0066"/>
                </a:solidFill>
              </a:endParaRPr>
            </a:p>
          </p:txBody>
        </p:sp>
      </p:grpSp>
      <p:grpSp>
        <p:nvGrpSpPr>
          <p:cNvPr id="9" name="Group 54"/>
          <p:cNvGrpSpPr/>
          <p:nvPr/>
        </p:nvGrpSpPr>
        <p:grpSpPr bwMode="auto">
          <a:xfrm>
            <a:off x="3287714" y="3983039"/>
            <a:ext cx="5400675" cy="1030287"/>
            <a:chOff x="1111" y="2509"/>
            <a:chExt cx="3402" cy="649"/>
          </a:xfrm>
        </p:grpSpPr>
        <p:grpSp>
          <p:nvGrpSpPr>
            <p:cNvPr id="138264" name="Group 55"/>
            <p:cNvGrpSpPr/>
            <p:nvPr/>
          </p:nvGrpSpPr>
          <p:grpSpPr bwMode="auto">
            <a:xfrm>
              <a:off x="1111" y="2509"/>
              <a:ext cx="3320" cy="649"/>
              <a:chOff x="1383" y="2491"/>
              <a:chExt cx="3320" cy="649"/>
            </a:xfrm>
          </p:grpSpPr>
          <p:sp>
            <p:nvSpPr>
              <p:cNvPr id="138266" name="Freeform 56"/>
              <p:cNvSpPr/>
              <p:nvPr/>
            </p:nvSpPr>
            <p:spPr bwMode="auto">
              <a:xfrm>
                <a:off x="1383" y="2523"/>
                <a:ext cx="3311" cy="590"/>
              </a:xfrm>
              <a:custGeom>
                <a:avLst/>
                <a:gdLst>
                  <a:gd name="T0" fmla="*/ 0 w 3311"/>
                  <a:gd name="T1" fmla="*/ 544 h 590"/>
                  <a:gd name="T2" fmla="*/ 590 w 3311"/>
                  <a:gd name="T3" fmla="*/ 91 h 590"/>
                  <a:gd name="T4" fmla="*/ 1134 w 3311"/>
                  <a:gd name="T5" fmla="*/ 0 h 590"/>
                  <a:gd name="T6" fmla="*/ 3311 w 3311"/>
                  <a:gd name="T7" fmla="*/ 590 h 590"/>
                  <a:gd name="T8" fmla="*/ 0 60000 65536"/>
                  <a:gd name="T9" fmla="*/ 0 60000 65536"/>
                  <a:gd name="T10" fmla="*/ 0 60000 65536"/>
                  <a:gd name="T11" fmla="*/ 0 60000 65536"/>
                  <a:gd name="T12" fmla="*/ 0 w 3311"/>
                  <a:gd name="T13" fmla="*/ 0 h 590"/>
                  <a:gd name="T14" fmla="*/ 3311 w 3311"/>
                  <a:gd name="T15" fmla="*/ 590 h 590"/>
                </a:gdLst>
                <a:ahLst/>
                <a:cxnLst>
                  <a:cxn ang="T8">
                    <a:pos x="T0" y="T1"/>
                  </a:cxn>
                  <a:cxn ang="T9">
                    <a:pos x="T2" y="T3"/>
                  </a:cxn>
                  <a:cxn ang="T10">
                    <a:pos x="T4" y="T5"/>
                  </a:cxn>
                  <a:cxn ang="T11">
                    <a:pos x="T6" y="T7"/>
                  </a:cxn>
                </a:cxnLst>
                <a:rect l="T12" t="T13" r="T14" b="T15"/>
                <a:pathLst>
                  <a:path w="3311" h="590">
                    <a:moveTo>
                      <a:pt x="0" y="544"/>
                    </a:moveTo>
                    <a:lnTo>
                      <a:pt x="590" y="91"/>
                    </a:lnTo>
                    <a:lnTo>
                      <a:pt x="1134" y="0"/>
                    </a:lnTo>
                    <a:lnTo>
                      <a:pt x="3311" y="590"/>
                    </a:lnTo>
                  </a:path>
                </a:pathLst>
              </a:cu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267" name="Oval 57"/>
              <p:cNvSpPr>
                <a:spLocks noChangeAspect="1" noChangeArrowheads="1"/>
              </p:cNvSpPr>
              <p:nvPr/>
            </p:nvSpPr>
            <p:spPr bwMode="auto">
              <a:xfrm>
                <a:off x="2463" y="2491"/>
                <a:ext cx="68" cy="68"/>
              </a:xfrm>
              <a:prstGeom prst="ellipse">
                <a:avLst/>
              </a:prstGeom>
              <a:solidFill>
                <a:srgbClr val="FFFFFF"/>
              </a:solidFill>
              <a:ln w="38100" algn="ctr">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68" name="Oval 58"/>
              <p:cNvSpPr>
                <a:spLocks noChangeAspect="1" noChangeArrowheads="1"/>
              </p:cNvSpPr>
              <p:nvPr/>
            </p:nvSpPr>
            <p:spPr bwMode="auto">
              <a:xfrm>
                <a:off x="1927" y="2591"/>
                <a:ext cx="68" cy="68"/>
              </a:xfrm>
              <a:prstGeom prst="ellipse">
                <a:avLst/>
              </a:prstGeom>
              <a:solidFill>
                <a:srgbClr val="FFFFFF"/>
              </a:solidFill>
              <a:ln w="38100" algn="ctr">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69" name="Oval 59"/>
              <p:cNvSpPr>
                <a:spLocks noChangeAspect="1" noChangeArrowheads="1"/>
              </p:cNvSpPr>
              <p:nvPr/>
            </p:nvSpPr>
            <p:spPr bwMode="auto">
              <a:xfrm>
                <a:off x="3551" y="2786"/>
                <a:ext cx="68" cy="68"/>
              </a:xfrm>
              <a:prstGeom prst="ellipse">
                <a:avLst/>
              </a:prstGeom>
              <a:solidFill>
                <a:srgbClr val="FFFFFF"/>
              </a:solidFill>
              <a:ln w="38100" algn="ctr">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70" name="Oval 60"/>
              <p:cNvSpPr>
                <a:spLocks noChangeAspect="1" noChangeArrowheads="1"/>
              </p:cNvSpPr>
              <p:nvPr/>
            </p:nvSpPr>
            <p:spPr bwMode="auto">
              <a:xfrm>
                <a:off x="4635" y="3072"/>
                <a:ext cx="68" cy="68"/>
              </a:xfrm>
              <a:prstGeom prst="ellipse">
                <a:avLst/>
              </a:prstGeom>
              <a:solidFill>
                <a:srgbClr val="FFFFFF"/>
              </a:solidFill>
              <a:ln w="38100" algn="ctr">
                <a:solidFill>
                  <a:schemeClr val="tx1"/>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sp>
          <p:nvSpPr>
            <p:cNvPr id="138265" name="Text Box 61"/>
            <p:cNvSpPr txBox="1">
              <a:spLocks noChangeArrowheads="1"/>
            </p:cNvSpPr>
            <p:nvPr/>
          </p:nvSpPr>
          <p:spPr bwMode="auto">
            <a:xfrm>
              <a:off x="3787" y="2704"/>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t>健康人</a:t>
              </a:r>
              <a:endParaRPr kumimoji="1" lang="zh-CN" altLang="en-US" sz="2400"/>
            </a:p>
          </p:txBody>
        </p:sp>
      </p:grpSp>
      <p:grpSp>
        <p:nvGrpSpPr>
          <p:cNvPr id="11" name="Group 62"/>
          <p:cNvGrpSpPr/>
          <p:nvPr/>
        </p:nvGrpSpPr>
        <p:grpSpPr bwMode="auto">
          <a:xfrm>
            <a:off x="3287713" y="4724401"/>
            <a:ext cx="7200900" cy="504825"/>
            <a:chOff x="1111" y="2976"/>
            <a:chExt cx="4536" cy="318"/>
          </a:xfrm>
        </p:grpSpPr>
        <p:grpSp>
          <p:nvGrpSpPr>
            <p:cNvPr id="138257" name="Group 63"/>
            <p:cNvGrpSpPr/>
            <p:nvPr/>
          </p:nvGrpSpPr>
          <p:grpSpPr bwMode="auto">
            <a:xfrm>
              <a:off x="1111" y="3017"/>
              <a:ext cx="3320" cy="277"/>
              <a:chOff x="1383" y="2999"/>
              <a:chExt cx="3320" cy="277"/>
            </a:xfrm>
          </p:grpSpPr>
          <p:sp>
            <p:nvSpPr>
              <p:cNvPr id="138259" name="Freeform 64"/>
              <p:cNvSpPr/>
              <p:nvPr/>
            </p:nvSpPr>
            <p:spPr bwMode="auto">
              <a:xfrm>
                <a:off x="1383" y="3022"/>
                <a:ext cx="3266" cy="227"/>
              </a:xfrm>
              <a:custGeom>
                <a:avLst/>
                <a:gdLst>
                  <a:gd name="T0" fmla="*/ 0 w 3266"/>
                  <a:gd name="T1" fmla="*/ 181 h 227"/>
                  <a:gd name="T2" fmla="*/ 590 w 3266"/>
                  <a:gd name="T3" fmla="*/ 0 h 227"/>
                  <a:gd name="T4" fmla="*/ 1134 w 3266"/>
                  <a:gd name="T5" fmla="*/ 91 h 227"/>
                  <a:gd name="T6" fmla="*/ 2177 w 3266"/>
                  <a:gd name="T7" fmla="*/ 181 h 227"/>
                  <a:gd name="T8" fmla="*/ 3266 w 3266"/>
                  <a:gd name="T9" fmla="*/ 227 h 227"/>
                  <a:gd name="T10" fmla="*/ 0 60000 65536"/>
                  <a:gd name="T11" fmla="*/ 0 60000 65536"/>
                  <a:gd name="T12" fmla="*/ 0 60000 65536"/>
                  <a:gd name="T13" fmla="*/ 0 60000 65536"/>
                  <a:gd name="T14" fmla="*/ 0 60000 65536"/>
                  <a:gd name="T15" fmla="*/ 0 w 3266"/>
                  <a:gd name="T16" fmla="*/ 0 h 227"/>
                  <a:gd name="T17" fmla="*/ 3266 w 3266"/>
                  <a:gd name="T18" fmla="*/ 227 h 227"/>
                </a:gdLst>
                <a:ahLst/>
                <a:cxnLst>
                  <a:cxn ang="T10">
                    <a:pos x="T0" y="T1"/>
                  </a:cxn>
                  <a:cxn ang="T11">
                    <a:pos x="T2" y="T3"/>
                  </a:cxn>
                  <a:cxn ang="T12">
                    <a:pos x="T4" y="T5"/>
                  </a:cxn>
                  <a:cxn ang="T13">
                    <a:pos x="T6" y="T7"/>
                  </a:cxn>
                  <a:cxn ang="T14">
                    <a:pos x="T8" y="T9"/>
                  </a:cxn>
                </a:cxnLst>
                <a:rect l="T15" t="T16" r="T17" b="T18"/>
                <a:pathLst>
                  <a:path w="3266" h="227">
                    <a:moveTo>
                      <a:pt x="0" y="181"/>
                    </a:moveTo>
                    <a:lnTo>
                      <a:pt x="590" y="0"/>
                    </a:lnTo>
                    <a:lnTo>
                      <a:pt x="1134" y="91"/>
                    </a:lnTo>
                    <a:lnTo>
                      <a:pt x="2177" y="181"/>
                    </a:lnTo>
                    <a:lnTo>
                      <a:pt x="3266" y="227"/>
                    </a:lnTo>
                  </a:path>
                </a:pathLst>
              </a:custGeom>
              <a:noFill/>
              <a:ln w="28575">
                <a:solidFill>
                  <a:srgbClr val="000099"/>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260" name="Oval 65"/>
              <p:cNvSpPr>
                <a:spLocks noChangeAspect="1" noChangeArrowheads="1"/>
              </p:cNvSpPr>
              <p:nvPr/>
            </p:nvSpPr>
            <p:spPr bwMode="auto">
              <a:xfrm>
                <a:off x="1927" y="2999"/>
                <a:ext cx="68" cy="68"/>
              </a:xfrm>
              <a:prstGeom prst="ellipse">
                <a:avLst/>
              </a:prstGeom>
              <a:solidFill>
                <a:srgbClr val="FFFFFF"/>
              </a:solidFill>
              <a:ln w="38100" algn="ctr">
                <a:solidFill>
                  <a:schemeClr val="hlink"/>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61" name="Oval 66"/>
              <p:cNvSpPr>
                <a:spLocks noChangeAspect="1" noChangeArrowheads="1"/>
              </p:cNvSpPr>
              <p:nvPr/>
            </p:nvSpPr>
            <p:spPr bwMode="auto">
              <a:xfrm>
                <a:off x="2467" y="3080"/>
                <a:ext cx="68" cy="68"/>
              </a:xfrm>
              <a:prstGeom prst="ellipse">
                <a:avLst/>
              </a:prstGeom>
              <a:solidFill>
                <a:srgbClr val="FFFFFF"/>
              </a:solidFill>
              <a:ln w="38100" algn="ctr">
                <a:solidFill>
                  <a:schemeClr val="hlink"/>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62" name="Oval 67"/>
              <p:cNvSpPr>
                <a:spLocks noChangeAspect="1" noChangeArrowheads="1"/>
              </p:cNvSpPr>
              <p:nvPr/>
            </p:nvSpPr>
            <p:spPr bwMode="auto">
              <a:xfrm>
                <a:off x="3551" y="3158"/>
                <a:ext cx="68" cy="68"/>
              </a:xfrm>
              <a:prstGeom prst="ellipse">
                <a:avLst/>
              </a:prstGeom>
              <a:solidFill>
                <a:srgbClr val="FFFFFF"/>
              </a:solidFill>
              <a:ln w="38100" algn="ctr">
                <a:solidFill>
                  <a:schemeClr val="hlink"/>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63" name="Oval 68"/>
              <p:cNvSpPr>
                <a:spLocks noChangeAspect="1" noChangeArrowheads="1"/>
              </p:cNvSpPr>
              <p:nvPr/>
            </p:nvSpPr>
            <p:spPr bwMode="auto">
              <a:xfrm>
                <a:off x="4635" y="3208"/>
                <a:ext cx="68" cy="68"/>
              </a:xfrm>
              <a:prstGeom prst="ellipse">
                <a:avLst/>
              </a:prstGeom>
              <a:solidFill>
                <a:srgbClr val="FFFFFF"/>
              </a:solidFill>
              <a:ln w="38100" algn="ctr">
                <a:solidFill>
                  <a:schemeClr val="hlink"/>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sp>
          <p:nvSpPr>
            <p:cNvPr id="138258" name="Text Box 69"/>
            <p:cNvSpPr txBox="1">
              <a:spLocks noChangeArrowheads="1"/>
            </p:cNvSpPr>
            <p:nvPr/>
          </p:nvSpPr>
          <p:spPr bwMode="auto">
            <a:xfrm>
              <a:off x="3787" y="2976"/>
              <a:ext cx="18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solidFill>
                    <a:srgbClr val="000099"/>
                  </a:solidFill>
                </a:rPr>
                <a:t>肾上腺皮质功能减退</a:t>
              </a:r>
              <a:endParaRPr kumimoji="1" lang="zh-CN" altLang="en-US" sz="2400">
                <a:solidFill>
                  <a:srgbClr val="000099"/>
                </a:solidFill>
              </a:endParaRPr>
            </a:p>
          </p:txBody>
        </p:sp>
      </p:grpSp>
      <p:grpSp>
        <p:nvGrpSpPr>
          <p:cNvPr id="13" name="Group 70"/>
          <p:cNvGrpSpPr/>
          <p:nvPr/>
        </p:nvGrpSpPr>
        <p:grpSpPr bwMode="auto">
          <a:xfrm>
            <a:off x="3287713" y="5106988"/>
            <a:ext cx="7561262" cy="508000"/>
            <a:chOff x="1111" y="3217"/>
            <a:chExt cx="4763" cy="320"/>
          </a:xfrm>
        </p:grpSpPr>
        <p:grpSp>
          <p:nvGrpSpPr>
            <p:cNvPr id="138250" name="Group 71"/>
            <p:cNvGrpSpPr/>
            <p:nvPr/>
          </p:nvGrpSpPr>
          <p:grpSpPr bwMode="auto">
            <a:xfrm>
              <a:off x="1111" y="3217"/>
              <a:ext cx="3325" cy="213"/>
              <a:chOff x="1383" y="3208"/>
              <a:chExt cx="3325" cy="213"/>
            </a:xfrm>
          </p:grpSpPr>
          <p:sp>
            <p:nvSpPr>
              <p:cNvPr id="138252" name="Freeform 72"/>
              <p:cNvSpPr/>
              <p:nvPr/>
            </p:nvSpPr>
            <p:spPr bwMode="auto">
              <a:xfrm>
                <a:off x="1383" y="3249"/>
                <a:ext cx="3311" cy="136"/>
              </a:xfrm>
              <a:custGeom>
                <a:avLst/>
                <a:gdLst>
                  <a:gd name="T0" fmla="*/ 0 w 3311"/>
                  <a:gd name="T1" fmla="*/ 136 h 136"/>
                  <a:gd name="T2" fmla="*/ 590 w 3311"/>
                  <a:gd name="T3" fmla="*/ 0 h 136"/>
                  <a:gd name="T4" fmla="*/ 1134 w 3311"/>
                  <a:gd name="T5" fmla="*/ 45 h 136"/>
                  <a:gd name="T6" fmla="*/ 3311 w 3311"/>
                  <a:gd name="T7" fmla="*/ 136 h 136"/>
                  <a:gd name="T8" fmla="*/ 0 60000 65536"/>
                  <a:gd name="T9" fmla="*/ 0 60000 65536"/>
                  <a:gd name="T10" fmla="*/ 0 60000 65536"/>
                  <a:gd name="T11" fmla="*/ 0 60000 65536"/>
                  <a:gd name="T12" fmla="*/ 0 w 3311"/>
                  <a:gd name="T13" fmla="*/ 0 h 136"/>
                  <a:gd name="T14" fmla="*/ 3311 w 3311"/>
                  <a:gd name="T15" fmla="*/ 136 h 136"/>
                </a:gdLst>
                <a:ahLst/>
                <a:cxnLst>
                  <a:cxn ang="T8">
                    <a:pos x="T0" y="T1"/>
                  </a:cxn>
                  <a:cxn ang="T9">
                    <a:pos x="T2" y="T3"/>
                  </a:cxn>
                  <a:cxn ang="T10">
                    <a:pos x="T4" y="T5"/>
                  </a:cxn>
                  <a:cxn ang="T11">
                    <a:pos x="T6" y="T7"/>
                  </a:cxn>
                </a:cxnLst>
                <a:rect l="T12" t="T13" r="T14" b="T15"/>
                <a:pathLst>
                  <a:path w="3311" h="136">
                    <a:moveTo>
                      <a:pt x="0" y="136"/>
                    </a:moveTo>
                    <a:lnTo>
                      <a:pt x="590" y="0"/>
                    </a:lnTo>
                    <a:lnTo>
                      <a:pt x="1134" y="45"/>
                    </a:lnTo>
                    <a:lnTo>
                      <a:pt x="3311" y="136"/>
                    </a:lnTo>
                  </a:path>
                </a:pathLst>
              </a:custGeom>
              <a:noFill/>
              <a:ln w="28575">
                <a:solidFill>
                  <a:schemeClr val="accent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8253" name="Oval 73"/>
              <p:cNvSpPr>
                <a:spLocks noChangeAspect="1" noChangeArrowheads="1"/>
              </p:cNvSpPr>
              <p:nvPr/>
            </p:nvSpPr>
            <p:spPr bwMode="auto">
              <a:xfrm>
                <a:off x="1927" y="3208"/>
                <a:ext cx="68" cy="68"/>
              </a:xfrm>
              <a:prstGeom prst="ellipse">
                <a:avLst/>
              </a:prstGeom>
              <a:solidFill>
                <a:srgbClr val="66FF33"/>
              </a:solidFill>
              <a:ln w="38100" algn="ctr">
                <a:solidFill>
                  <a:schemeClr val="tx2"/>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54" name="Oval 74"/>
              <p:cNvSpPr>
                <a:spLocks noChangeAspect="1" noChangeArrowheads="1"/>
              </p:cNvSpPr>
              <p:nvPr/>
            </p:nvSpPr>
            <p:spPr bwMode="auto">
              <a:xfrm>
                <a:off x="2463" y="3252"/>
                <a:ext cx="68" cy="68"/>
              </a:xfrm>
              <a:prstGeom prst="ellipse">
                <a:avLst/>
              </a:prstGeom>
              <a:solidFill>
                <a:srgbClr val="66FF33"/>
              </a:solidFill>
              <a:ln w="38100" algn="ctr">
                <a:solidFill>
                  <a:schemeClr val="tx2"/>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55" name="Oval 75"/>
              <p:cNvSpPr>
                <a:spLocks noChangeAspect="1" noChangeArrowheads="1"/>
              </p:cNvSpPr>
              <p:nvPr/>
            </p:nvSpPr>
            <p:spPr bwMode="auto">
              <a:xfrm>
                <a:off x="3560" y="3294"/>
                <a:ext cx="68" cy="68"/>
              </a:xfrm>
              <a:prstGeom prst="ellipse">
                <a:avLst/>
              </a:prstGeom>
              <a:solidFill>
                <a:srgbClr val="66FF33"/>
              </a:solidFill>
              <a:ln w="38100" algn="ctr">
                <a:solidFill>
                  <a:schemeClr val="tx2"/>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38256" name="Oval 76"/>
              <p:cNvSpPr>
                <a:spLocks noChangeAspect="1" noChangeArrowheads="1"/>
              </p:cNvSpPr>
              <p:nvPr/>
            </p:nvSpPr>
            <p:spPr bwMode="auto">
              <a:xfrm>
                <a:off x="4640" y="3353"/>
                <a:ext cx="68" cy="68"/>
              </a:xfrm>
              <a:prstGeom prst="ellipse">
                <a:avLst/>
              </a:prstGeom>
              <a:solidFill>
                <a:srgbClr val="66FF33"/>
              </a:solidFill>
              <a:ln w="38100" algn="ctr">
                <a:solidFill>
                  <a:schemeClr val="tx2"/>
                </a:solidFill>
                <a:round/>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grpSp>
        <p:sp>
          <p:nvSpPr>
            <p:cNvPr id="138251" name="Text Box 77"/>
            <p:cNvSpPr txBox="1">
              <a:spLocks noChangeArrowheads="1"/>
            </p:cNvSpPr>
            <p:nvPr/>
          </p:nvSpPr>
          <p:spPr bwMode="auto">
            <a:xfrm>
              <a:off x="4377" y="3249"/>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50000"/>
                </a:spcBef>
                <a:buClrTx/>
                <a:buSzTx/>
                <a:buFontTx/>
                <a:buNone/>
              </a:pPr>
              <a:r>
                <a:rPr kumimoji="1" lang="zh-CN" altLang="en-US" sz="2400">
                  <a:solidFill>
                    <a:srgbClr val="000099"/>
                  </a:solidFill>
                </a:rPr>
                <a:t>高胰岛素血症</a:t>
              </a:r>
              <a:endParaRPr kumimoji="1" lang="zh-CN" altLang="en-US" sz="2400">
                <a:solidFill>
                  <a:srgbClr val="000099"/>
                </a:solidFill>
              </a:endParaRPr>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2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8226" name="Text Box 2"/>
          <p:cNvSpPr txBox="1">
            <a:spLocks noChangeArrowheads="1"/>
          </p:cNvSpPr>
          <p:nvPr/>
        </p:nvSpPr>
        <p:spPr bwMode="auto">
          <a:xfrm>
            <a:off x="1848258" y="1221288"/>
            <a:ext cx="7794699"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431925" indent="-143192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dirty="0"/>
              <a:t>正常人</a:t>
            </a:r>
            <a:r>
              <a:rPr kumimoji="1" lang="zh-CN" altLang="en-US" sz="2400" b="0" dirty="0"/>
              <a:t>： 空腹血糖浓度正常，服糖后1/2~1</a:t>
            </a:r>
            <a:r>
              <a:rPr kumimoji="1" lang="en-US" altLang="zh-CN" sz="2400" b="0" dirty="0"/>
              <a:t>h</a:t>
            </a:r>
            <a:r>
              <a:rPr kumimoji="1" lang="zh-CN" altLang="en-US" sz="2400" b="0" dirty="0"/>
              <a:t>达到高峰，但</a:t>
            </a:r>
            <a:r>
              <a:rPr kumimoji="1" lang="zh-CN" altLang="en-US" sz="2400" b="0" dirty="0">
                <a:solidFill>
                  <a:srgbClr val="0000FF"/>
                </a:solidFill>
              </a:rPr>
              <a:t>不会超过肾糖阈</a:t>
            </a:r>
            <a:r>
              <a:rPr kumimoji="1" lang="zh-CN" altLang="en-US" sz="2400" b="0" dirty="0"/>
              <a:t>，然后逐渐降低， </a:t>
            </a:r>
            <a:r>
              <a:rPr kumimoji="1" lang="zh-CN" altLang="en-US" sz="2400" b="0" dirty="0">
                <a:solidFill>
                  <a:srgbClr val="C00000"/>
                </a:solidFill>
              </a:rPr>
              <a:t>一般2</a:t>
            </a:r>
            <a:r>
              <a:rPr kumimoji="1" lang="en-US" altLang="zh-CN" sz="2400" b="0" dirty="0">
                <a:solidFill>
                  <a:srgbClr val="C00000"/>
                </a:solidFill>
              </a:rPr>
              <a:t>h</a:t>
            </a:r>
            <a:r>
              <a:rPr kumimoji="1" lang="zh-CN" altLang="en-US" sz="2400" b="0" dirty="0">
                <a:solidFill>
                  <a:srgbClr val="C00000"/>
                </a:solidFill>
              </a:rPr>
              <a:t>左右恢复正常值</a:t>
            </a:r>
            <a:r>
              <a:rPr kumimoji="1" lang="zh-CN" altLang="en-US" sz="2400" b="0" dirty="0"/>
              <a:t>。</a:t>
            </a:r>
            <a:endParaRPr kumimoji="1" lang="zh-CN" altLang="en-US" sz="2400" b="0" dirty="0"/>
          </a:p>
        </p:txBody>
      </p:sp>
      <p:sp>
        <p:nvSpPr>
          <p:cNvPr id="308227" name="Text Box 3"/>
          <p:cNvSpPr txBox="1">
            <a:spLocks noChangeArrowheads="1"/>
          </p:cNvSpPr>
          <p:nvPr/>
        </p:nvSpPr>
        <p:spPr bwMode="auto">
          <a:xfrm>
            <a:off x="1847850" y="2733224"/>
            <a:ext cx="8496300" cy="944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6300" indent="-21463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800" b="0" dirty="0">
                <a:solidFill>
                  <a:srgbClr val="000099"/>
                </a:solidFill>
              </a:rPr>
              <a:t>糖尿病患者：</a:t>
            </a:r>
            <a:r>
              <a:rPr kumimoji="1" lang="zh-CN" altLang="en-US" sz="2400" b="0" dirty="0"/>
              <a:t>空腹血糖高于正常值，服糖后血糖浓度急剧升高，并超过肾糖阈，</a:t>
            </a:r>
            <a:r>
              <a:rPr kumimoji="1" lang="zh-CN" altLang="en-US" sz="2400" dirty="0"/>
              <a:t>2</a:t>
            </a:r>
            <a:r>
              <a:rPr kumimoji="1" lang="en-US" altLang="zh-CN" sz="2400" dirty="0"/>
              <a:t>h</a:t>
            </a:r>
            <a:r>
              <a:rPr kumimoji="1" lang="zh-CN" altLang="en-US" sz="2400" dirty="0"/>
              <a:t>后仍可高于正常</a:t>
            </a:r>
            <a:r>
              <a:rPr kumimoji="1" lang="zh-CN" altLang="en-US" sz="2400" b="0" dirty="0"/>
              <a:t>。</a:t>
            </a:r>
            <a:endParaRPr kumimoji="1" lang="zh-CN" altLang="en-US" sz="2400" b="0" dirty="0"/>
          </a:p>
        </p:txBody>
      </p:sp>
      <p:sp>
        <p:nvSpPr>
          <p:cNvPr id="308228" name="Text Box 4"/>
          <p:cNvSpPr txBox="1">
            <a:spLocks noChangeArrowheads="1"/>
          </p:cNvSpPr>
          <p:nvPr/>
        </p:nvSpPr>
        <p:spPr bwMode="auto">
          <a:xfrm>
            <a:off x="1703513" y="4493637"/>
            <a:ext cx="3311401" cy="845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lnSpc>
                <a:spcPct val="70000"/>
              </a:lnSpc>
              <a:spcBef>
                <a:spcPct val="50000"/>
              </a:spcBef>
              <a:buClrTx/>
              <a:buSzTx/>
              <a:buFontTx/>
              <a:buNone/>
            </a:pPr>
            <a:r>
              <a:rPr kumimoji="1" lang="zh-CN" altLang="en-US" sz="2800" b="0" dirty="0">
                <a:solidFill>
                  <a:srgbClr val="000099"/>
                </a:solidFill>
              </a:rPr>
              <a:t>阿狄森病患者：</a:t>
            </a:r>
            <a:endParaRPr kumimoji="1" lang="zh-CN" altLang="en-US" sz="2800" b="0" dirty="0">
              <a:solidFill>
                <a:srgbClr val="000099"/>
              </a:solidFill>
            </a:endParaRPr>
          </a:p>
          <a:p>
            <a:pPr algn="ctr" eaLnBrk="1" hangingPunct="1">
              <a:lnSpc>
                <a:spcPct val="70000"/>
              </a:lnSpc>
              <a:spcBef>
                <a:spcPct val="50000"/>
              </a:spcBef>
              <a:buClrTx/>
              <a:buSzTx/>
              <a:buFontTx/>
              <a:buNone/>
            </a:pPr>
            <a:r>
              <a:rPr kumimoji="1" lang="zh-CN" altLang="en-US" sz="2400" b="0" dirty="0">
                <a:solidFill>
                  <a:srgbClr val="000099"/>
                </a:solidFill>
              </a:rPr>
              <a:t>（肾上腺皮质功能减退）</a:t>
            </a:r>
            <a:endParaRPr kumimoji="1" lang="zh-CN" altLang="en-US" sz="2400" b="0" dirty="0">
              <a:solidFill>
                <a:srgbClr val="000099"/>
              </a:solidFill>
            </a:endParaRPr>
          </a:p>
        </p:txBody>
      </p:sp>
      <p:sp>
        <p:nvSpPr>
          <p:cNvPr id="308229" name="Text Box 5"/>
          <p:cNvSpPr txBox="1">
            <a:spLocks noChangeArrowheads="1"/>
          </p:cNvSpPr>
          <p:nvPr/>
        </p:nvSpPr>
        <p:spPr bwMode="auto">
          <a:xfrm>
            <a:off x="5014914" y="4388912"/>
            <a:ext cx="53292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b="0" dirty="0"/>
              <a:t>空腹血糖浓度低于正常，进食后血糖浓度升高不明显，且短时间内恢复到原有水平</a:t>
            </a:r>
            <a:endParaRPr kumimoji="1" lang="zh-CN" altLang="en-US" sz="24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08226"/>
                                        </p:tgtEl>
                                        <p:attrNameLst>
                                          <p:attrName>style.visibility</p:attrName>
                                        </p:attrNameLst>
                                      </p:cBhvr>
                                      <p:to>
                                        <p:strVal val="visible"/>
                                      </p:to>
                                    </p:set>
                                    <p:animEffect transition="in" filter="strips(downRight)">
                                      <p:cBhvr>
                                        <p:cTn id="7" dur="500"/>
                                        <p:tgtEl>
                                          <p:spTgt spid="3082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08227"/>
                                        </p:tgtEl>
                                        <p:attrNameLst>
                                          <p:attrName>style.visibility</p:attrName>
                                        </p:attrNameLst>
                                      </p:cBhvr>
                                      <p:to>
                                        <p:strVal val="visible"/>
                                      </p:to>
                                    </p:set>
                                    <p:animEffect transition="in" filter="checkerboard(across)">
                                      <p:cBhvr>
                                        <p:cTn id="12" dur="500"/>
                                        <p:tgtEl>
                                          <p:spTgt spid="3082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8228"/>
                                        </p:tgtEl>
                                        <p:attrNameLst>
                                          <p:attrName>style.visibility</p:attrName>
                                        </p:attrNameLst>
                                      </p:cBhvr>
                                      <p:to>
                                        <p:strVal val="visible"/>
                                      </p:to>
                                    </p:set>
                                    <p:animEffect transition="in" filter="dissolve">
                                      <p:cBhvr>
                                        <p:cTn id="17" dur="500"/>
                                        <p:tgtEl>
                                          <p:spTgt spid="308228"/>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308229"/>
                                        </p:tgtEl>
                                        <p:attrNameLst>
                                          <p:attrName>style.visibility</p:attrName>
                                        </p:attrNameLst>
                                      </p:cBhvr>
                                      <p:to>
                                        <p:strVal val="visible"/>
                                      </p:to>
                                    </p:set>
                                    <p:animEffect transition="in" filter="wipe(up)">
                                      <p:cBhvr>
                                        <p:cTn id="21" dur="1000"/>
                                        <p:tgtEl>
                                          <p:spTgt spid="308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6" grpId="0" autoUpdateAnimBg="0"/>
      <p:bldP spid="308227" grpId="0" autoUpdateAnimBg="0"/>
      <p:bldP spid="308228" grpId="0"/>
      <p:bldP spid="308229"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3000375" y="692151"/>
            <a:ext cx="6337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eaLnBrk="1" hangingPunct="1">
              <a:spcBef>
                <a:spcPct val="0"/>
              </a:spcBef>
              <a:buClrTx/>
              <a:buSzTx/>
              <a:buFontTx/>
              <a:buNone/>
            </a:pPr>
            <a:r>
              <a:rPr kumimoji="1" lang="zh-CN" altLang="en-US" sz="3600" dirty="0">
                <a:solidFill>
                  <a:srgbClr val="7030A0"/>
                </a:solidFill>
              </a:rPr>
              <a:t>（二）低血糖(</a:t>
            </a:r>
            <a:r>
              <a:rPr kumimoji="1" lang="en-US" altLang="zh-CN" sz="3600" dirty="0">
                <a:solidFill>
                  <a:srgbClr val="7030A0"/>
                </a:solidFill>
              </a:rPr>
              <a:t>hypoglycemia) </a:t>
            </a:r>
            <a:endParaRPr kumimoji="1" lang="zh-CN" altLang="en-US" sz="3600" dirty="0">
              <a:solidFill>
                <a:srgbClr val="7030A0"/>
              </a:solidFill>
            </a:endParaRPr>
          </a:p>
        </p:txBody>
      </p:sp>
      <p:sp>
        <p:nvSpPr>
          <p:cNvPr id="309253" name="Text Box 5"/>
          <p:cNvSpPr txBox="1">
            <a:spLocks noChangeArrowheads="1"/>
          </p:cNvSpPr>
          <p:nvPr/>
        </p:nvSpPr>
        <p:spPr bwMode="auto">
          <a:xfrm>
            <a:off x="2063750" y="1981201"/>
            <a:ext cx="8135938"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800" b="0" dirty="0">
                <a:solidFill>
                  <a:srgbClr val="0000CC"/>
                </a:solidFill>
              </a:rPr>
              <a:t>正常人低血糖标准：</a:t>
            </a:r>
            <a:r>
              <a:rPr kumimoji="1" lang="en-US" altLang="zh-CN" sz="2800" b="0" dirty="0">
                <a:solidFill>
                  <a:srgbClr val="0000CC"/>
                </a:solidFill>
              </a:rPr>
              <a:t> </a:t>
            </a:r>
            <a:r>
              <a:rPr kumimoji="1" lang="zh-CN" altLang="en-US" sz="2800" b="0" dirty="0">
                <a:solidFill>
                  <a:srgbClr val="0000CC"/>
                </a:solidFill>
              </a:rPr>
              <a:t>空腹血糖 </a:t>
            </a:r>
            <a:r>
              <a:rPr kumimoji="1" lang="en-US" altLang="zh-CN" sz="2800" b="0" dirty="0">
                <a:solidFill>
                  <a:srgbClr val="0000CC"/>
                </a:solidFill>
              </a:rPr>
              <a:t>&lt;  </a:t>
            </a:r>
            <a:r>
              <a:rPr kumimoji="1" lang="en-US" altLang="zh-CN" sz="2800" b="0" dirty="0">
                <a:solidFill>
                  <a:srgbClr val="C00000"/>
                </a:solidFill>
              </a:rPr>
              <a:t>2</a:t>
            </a:r>
            <a:r>
              <a:rPr kumimoji="1" lang="zh-CN" altLang="en-US" sz="2800" b="0" dirty="0">
                <a:solidFill>
                  <a:srgbClr val="C00000"/>
                </a:solidFill>
              </a:rPr>
              <a:t>.</a:t>
            </a:r>
            <a:r>
              <a:rPr kumimoji="1" lang="en-US" altLang="zh-CN" sz="2800" b="0" dirty="0">
                <a:solidFill>
                  <a:srgbClr val="C00000"/>
                </a:solidFill>
              </a:rPr>
              <a:t>8mM</a:t>
            </a:r>
            <a:endParaRPr kumimoji="1" lang="en-US" altLang="zh-CN" sz="2800" b="0" dirty="0">
              <a:solidFill>
                <a:srgbClr val="C00000"/>
              </a:solidFill>
            </a:endParaRPr>
          </a:p>
        </p:txBody>
      </p:sp>
      <p:sp>
        <p:nvSpPr>
          <p:cNvPr id="309254" name="Text Box 6"/>
          <p:cNvSpPr txBox="1">
            <a:spLocks noChangeArrowheads="1"/>
          </p:cNvSpPr>
          <p:nvPr/>
        </p:nvSpPr>
        <p:spPr bwMode="auto">
          <a:xfrm>
            <a:off x="2423592" y="3861049"/>
            <a:ext cx="7920880" cy="177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indent="0" algn="just" eaLnBrk="1" hangingPunct="1">
              <a:lnSpc>
                <a:spcPct val="130000"/>
              </a:lnSpc>
              <a:spcBef>
                <a:spcPct val="0"/>
              </a:spcBef>
              <a:buClrTx/>
              <a:buSzTx/>
            </a:pPr>
            <a:r>
              <a:rPr kumimoji="1" lang="zh-CN" altLang="en-US" sz="2800" b="0" dirty="0"/>
              <a:t>   血糖水平过低，影响脑细胞的功能，从而出现头晕、倦怠无力、心悸等症状，严重时出现昏迷，称为</a:t>
            </a:r>
            <a:r>
              <a:rPr kumimoji="1" lang="zh-CN" altLang="en-US" sz="2800" b="0" dirty="0">
                <a:solidFill>
                  <a:srgbClr val="FF0066"/>
                </a:solidFill>
              </a:rPr>
              <a:t>低血糖休克</a:t>
            </a:r>
            <a:r>
              <a:rPr kumimoji="1" lang="zh-CN" altLang="en-US" sz="2800" b="0" dirty="0"/>
              <a:t>。           </a:t>
            </a:r>
            <a:endParaRPr kumimoji="1" lang="zh-CN" altLang="en-US" sz="2800" b="0" dirty="0"/>
          </a:p>
        </p:txBody>
      </p:sp>
      <p:sp>
        <p:nvSpPr>
          <p:cNvPr id="7" name="Text Box 5"/>
          <p:cNvSpPr txBox="1">
            <a:spLocks noChangeArrowheads="1"/>
          </p:cNvSpPr>
          <p:nvPr/>
        </p:nvSpPr>
        <p:spPr bwMode="auto">
          <a:xfrm>
            <a:off x="2087564" y="2740026"/>
            <a:ext cx="8137525" cy="53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1755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800" b="0"/>
              <a:t>糖尿病患者低血糖标准：</a:t>
            </a:r>
            <a:r>
              <a:rPr kumimoji="1" lang="en-US" altLang="zh-CN" sz="2800" b="0"/>
              <a:t> </a:t>
            </a:r>
            <a:r>
              <a:rPr kumimoji="1" lang="zh-CN" altLang="en-US" sz="2800" b="0"/>
              <a:t>空腹血糖 </a:t>
            </a:r>
            <a:r>
              <a:rPr kumimoji="1" lang="en-US" altLang="zh-CN" sz="2800" b="0"/>
              <a:t>&lt;  </a:t>
            </a:r>
            <a:r>
              <a:rPr kumimoji="1" lang="en-US" altLang="zh-CN" sz="2800" b="0">
                <a:solidFill>
                  <a:srgbClr val="C00000"/>
                </a:solidFill>
              </a:rPr>
              <a:t>3.9mM</a:t>
            </a:r>
            <a:endParaRPr kumimoji="1" lang="en-US" altLang="zh-CN" sz="2800" b="0">
              <a:solidFill>
                <a:srgbClr val="C00000"/>
              </a:solidFill>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09253"/>
                                        </p:tgtEl>
                                        <p:attrNameLst>
                                          <p:attrName>style.visibility</p:attrName>
                                        </p:attrNameLst>
                                      </p:cBhvr>
                                      <p:to>
                                        <p:strVal val="visible"/>
                                      </p:to>
                                    </p:set>
                                    <p:animEffect transition="in" filter="box(in)">
                                      <p:cBhvr>
                                        <p:cTn id="7" dur="500"/>
                                        <p:tgtEl>
                                          <p:spTgt spid="309253"/>
                                        </p:tgtEl>
                                      </p:cBhvr>
                                    </p:animEffect>
                                  </p:childTnLst>
                                </p:cTn>
                              </p:par>
                            </p:childTnLst>
                          </p:cTn>
                        </p:par>
                        <p:par>
                          <p:cTn id="8" fill="hold">
                            <p:stCondLst>
                              <p:cond delay="500"/>
                            </p:stCondLst>
                            <p:childTnLst>
                              <p:par>
                                <p:cTn id="9" presetID="4" presetClass="entr" presetSubtype="16" fill="hold" grpId="0" nodeType="afterEffect">
                                  <p:stCondLst>
                                    <p:cond delay="0"/>
                                  </p:stCondLst>
                                  <p:childTnLst>
                                    <p:set>
                                      <p:cBhvr>
                                        <p:cTn id="10" dur="1" fill="hold">
                                          <p:stCondLst>
                                            <p:cond delay="0"/>
                                          </p:stCondLst>
                                        </p:cTn>
                                        <p:tgtEl>
                                          <p:spTgt spid="309254"/>
                                        </p:tgtEl>
                                        <p:attrNameLst>
                                          <p:attrName>style.visibility</p:attrName>
                                        </p:attrNameLst>
                                      </p:cBhvr>
                                      <p:to>
                                        <p:strVal val="visible"/>
                                      </p:to>
                                    </p:set>
                                    <p:animEffect transition="in" filter="box(in)">
                                      <p:cBhvr>
                                        <p:cTn id="11" dur="500"/>
                                        <p:tgtEl>
                                          <p:spTgt spid="309254"/>
                                        </p:tgtEl>
                                      </p:cBhvr>
                                    </p:animEffect>
                                  </p:childTnLst>
                                </p:cTn>
                              </p:par>
                            </p:childTnLst>
                          </p:cTn>
                        </p:par>
                        <p:par>
                          <p:cTn id="12" fill="hold">
                            <p:stCondLst>
                              <p:cond delay="1000"/>
                            </p:stCondLst>
                            <p:childTnLst>
                              <p:par>
                                <p:cTn id="13" presetID="4" presetClass="entr" presetSubtype="16"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in)">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3" grpId="0" autoUpdateAnimBg="0"/>
      <p:bldP spid="309254" grpId="0" autoUpdateAnimBg="0"/>
      <p:bldP spid="7" grpId="0" autoUpdateAnimBg="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标题 2"/>
          <p:cNvSpPr>
            <a:spLocks noGrp="1" noChangeArrowheads="1"/>
          </p:cNvSpPr>
          <p:nvPr>
            <p:ph type="title"/>
          </p:nvPr>
        </p:nvSpPr>
        <p:spPr/>
        <p:txBody>
          <a:bodyPr/>
          <a:lstStyle/>
          <a:p>
            <a:r>
              <a:rPr lang="zh-CN" altLang="en-US" dirty="0">
                <a:solidFill>
                  <a:srgbClr val="800000"/>
                </a:solidFill>
              </a:rPr>
              <a:t>低血糖临床症状</a:t>
            </a:r>
            <a:endParaRPr lang="zh-CN" altLang="en-US" dirty="0">
              <a:solidFill>
                <a:srgbClr val="800000"/>
              </a:solidFill>
            </a:endParaRPr>
          </a:p>
        </p:txBody>
      </p:sp>
      <p:pic>
        <p:nvPicPr>
          <p:cNvPr id="16179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95500" y="1700214"/>
            <a:ext cx="8077200"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1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0274" name="Text Box 2"/>
          <p:cNvSpPr txBox="1">
            <a:spLocks noChangeArrowheads="1"/>
          </p:cNvSpPr>
          <p:nvPr/>
        </p:nvSpPr>
        <p:spPr bwMode="auto">
          <a:xfrm>
            <a:off x="2566988" y="765175"/>
            <a:ext cx="4248150" cy="595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dirty="0">
                <a:solidFill>
                  <a:srgbClr val="990000"/>
                </a:solidFill>
              </a:rPr>
              <a:t>    低血糖病因 </a:t>
            </a:r>
            <a:endParaRPr kumimoji="1" lang="zh-CN" altLang="en-US" dirty="0">
              <a:solidFill>
                <a:srgbClr val="990000"/>
              </a:solidFill>
            </a:endParaRPr>
          </a:p>
        </p:txBody>
      </p:sp>
      <p:sp>
        <p:nvSpPr>
          <p:cNvPr id="310275" name="Rectangle 3"/>
          <p:cNvSpPr>
            <a:spLocks noGrp="1" noChangeArrowheads="1"/>
          </p:cNvSpPr>
          <p:nvPr>
            <p:ph type="body" idx="1"/>
          </p:nvPr>
        </p:nvSpPr>
        <p:spPr>
          <a:xfrm>
            <a:off x="1775520" y="2204369"/>
            <a:ext cx="8856984" cy="3888456"/>
          </a:xfrm>
          <a:noFill/>
        </p:spPr>
        <p:txBody>
          <a:bodyPr/>
          <a:lstStyle/>
          <a:p>
            <a:pPr marL="446405" indent="-446405" eaLnBrk="1" hangingPunct="1">
              <a:lnSpc>
                <a:spcPct val="110000"/>
              </a:lnSpc>
              <a:buNone/>
            </a:pPr>
            <a:r>
              <a:rPr lang="zh-CN" altLang="en-US" sz="2800" b="0" dirty="0"/>
              <a:t>① 胰性（胰岛</a:t>
            </a:r>
            <a:r>
              <a:rPr lang="el-GR" altLang="zh-CN" sz="2800" b="0" dirty="0"/>
              <a:t>β</a:t>
            </a:r>
            <a:r>
              <a:rPr lang="en-US" altLang="zh-CN" sz="2800" b="0" dirty="0"/>
              <a:t>-</a:t>
            </a:r>
            <a:r>
              <a:rPr lang="zh-CN" altLang="en-US" sz="2800" b="0" dirty="0"/>
              <a:t>细胞功能亢进、胰岛</a:t>
            </a:r>
            <a:r>
              <a:rPr lang="el-GR" altLang="zh-CN" sz="2800" b="0" dirty="0"/>
              <a:t>α</a:t>
            </a:r>
            <a:r>
              <a:rPr lang="en-US" altLang="zh-CN" sz="2800" b="0" dirty="0"/>
              <a:t>-</a:t>
            </a:r>
            <a:r>
              <a:rPr lang="zh-CN" altLang="en-US" sz="2800" b="0" dirty="0"/>
              <a:t>细胞功能低下等）</a:t>
            </a:r>
            <a:endParaRPr lang="zh-CN" altLang="el-GR" sz="2800" b="0" dirty="0"/>
          </a:p>
          <a:p>
            <a:pPr marL="446405" indent="-446405" eaLnBrk="1" hangingPunct="1">
              <a:lnSpc>
                <a:spcPct val="150000"/>
              </a:lnSpc>
              <a:buNone/>
            </a:pPr>
            <a:r>
              <a:rPr lang="zh-CN" altLang="en-US" sz="2800" b="0" dirty="0"/>
              <a:t>② 肝性（肝癌、糖原积累病等）</a:t>
            </a:r>
            <a:endParaRPr lang="zh-CN" altLang="en-US" sz="2800" b="0" dirty="0"/>
          </a:p>
          <a:p>
            <a:pPr marL="446405" indent="-446405" eaLnBrk="1" hangingPunct="1">
              <a:lnSpc>
                <a:spcPct val="110000"/>
              </a:lnSpc>
              <a:buNone/>
            </a:pPr>
            <a:r>
              <a:rPr lang="zh-CN" altLang="en-US" sz="2800" b="0" dirty="0"/>
              <a:t>③ 内分泌异常（垂体功能低下、肾上腺皮质功能低下等）</a:t>
            </a:r>
            <a:endParaRPr lang="zh-CN" altLang="en-US" sz="2800" b="0" dirty="0"/>
          </a:p>
          <a:p>
            <a:pPr marL="446405" indent="-446405" eaLnBrk="1" hangingPunct="1">
              <a:lnSpc>
                <a:spcPct val="150000"/>
              </a:lnSpc>
              <a:buNone/>
            </a:pPr>
            <a:r>
              <a:rPr lang="zh-CN" altLang="en-US" sz="2800" b="0" dirty="0"/>
              <a:t>④ 肿瘤（胃癌等）</a:t>
            </a:r>
            <a:endParaRPr lang="zh-CN" altLang="en-US" sz="2800" b="0" dirty="0"/>
          </a:p>
          <a:p>
            <a:pPr marL="446405" indent="-446405" eaLnBrk="1" hangingPunct="1">
              <a:lnSpc>
                <a:spcPct val="150000"/>
              </a:lnSpc>
              <a:buNone/>
            </a:pPr>
            <a:r>
              <a:rPr lang="zh-CN" altLang="en-US" sz="2800" b="0" dirty="0"/>
              <a:t>⑤ 饥饿或不能进食</a:t>
            </a:r>
            <a:endParaRPr lang="zh-CN" altLang="en-US" sz="28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10274"/>
                                        </p:tgtEl>
                                        <p:attrNameLst>
                                          <p:attrName>style.visibility</p:attrName>
                                        </p:attrNameLst>
                                      </p:cBhvr>
                                      <p:to>
                                        <p:strVal val="visible"/>
                                      </p:to>
                                    </p:set>
                                    <p:animEffect transition="in" filter="box(in)">
                                      <p:cBhvr>
                                        <p:cTn id="7" dur="500"/>
                                        <p:tgtEl>
                                          <p:spTgt spid="31027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0275"/>
                                        </p:tgtEl>
                                        <p:attrNameLst>
                                          <p:attrName>style.visibility</p:attrName>
                                        </p:attrNameLst>
                                      </p:cBhvr>
                                      <p:to>
                                        <p:strVal val="visible"/>
                                      </p:to>
                                    </p:set>
                                    <p:animEffect transition="in" filter="checkerboard(across)">
                                      <p:cBhvr>
                                        <p:cTn id="12" dur="500"/>
                                        <p:tgtEl>
                                          <p:spTgt spid="310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4" grpId="0" autoUpdateAnimBg="0"/>
      <p:bldP spid="310275" grpId="0" autoUpdateAnimBg="0"/>
    </p:bldLst>
  </p:timing>
</p:sld>
</file>

<file path=ppt/slides/slide1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2"/>
          <p:cNvSpPr txBox="1"/>
          <p:nvPr/>
        </p:nvSpPr>
        <p:spPr bwMode="auto">
          <a:xfrm>
            <a:off x="1055440" y="260648"/>
            <a:ext cx="9865096" cy="6480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SzPct val="75000"/>
              <a:buFont typeface="Wingdings" panose="05000000000000000000" pitchFamily="2" charset="2"/>
              <a:buChar char="v"/>
              <a:defRPr sz="3200" b="1">
                <a:solidFill>
                  <a:schemeClr val="tx1"/>
                </a:solidFill>
                <a:latin typeface="+mn-lt"/>
                <a:ea typeface="+mn-ea"/>
                <a:cs typeface="楷体_GB2312"/>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
              <a:defRPr sz="2800" b="1">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SzPct val="75000"/>
              <a:buChar char="•"/>
              <a:defRPr sz="2600" b="1">
                <a:solidFill>
                  <a:schemeClr val="tx1"/>
                </a:solidFill>
                <a:latin typeface="+mn-lt"/>
                <a:ea typeface="+mn-ea"/>
                <a:cs typeface="楷体_GB2312"/>
              </a:defRPr>
            </a:lvl3pPr>
            <a:lvl4pPr marL="16002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4pPr>
            <a:lvl5pPr marL="2057400" indent="-228600" algn="l" rtl="0" eaLnBrk="0" fontAlgn="base" hangingPunct="0">
              <a:spcBef>
                <a:spcPct val="20000"/>
              </a:spcBef>
              <a:spcAft>
                <a:spcPct val="0"/>
              </a:spcAft>
              <a:buSzPct val="75000"/>
              <a:buChar char="»"/>
              <a:defRPr sz="2400" b="1">
                <a:solidFill>
                  <a:schemeClr val="tx1"/>
                </a:solidFill>
                <a:latin typeface="+mn-lt"/>
                <a:ea typeface="+mn-ea"/>
                <a:cs typeface="楷体_GB2312"/>
              </a:defRPr>
            </a:lvl5pPr>
            <a:lvl6pPr marL="2514600" indent="-228600" algn="l" rtl="0" fontAlgn="base">
              <a:spcBef>
                <a:spcPct val="20000"/>
              </a:spcBef>
              <a:spcAft>
                <a:spcPct val="0"/>
              </a:spcAft>
              <a:buSzPct val="75000"/>
              <a:buChar char="»"/>
              <a:defRPr sz="2400" b="1">
                <a:solidFill>
                  <a:schemeClr val="tx1"/>
                </a:solidFill>
                <a:latin typeface="+mn-lt"/>
                <a:ea typeface="+mn-ea"/>
              </a:defRPr>
            </a:lvl6pPr>
            <a:lvl7pPr marL="2971800" indent="-228600" algn="l" rtl="0" fontAlgn="base">
              <a:spcBef>
                <a:spcPct val="20000"/>
              </a:spcBef>
              <a:spcAft>
                <a:spcPct val="0"/>
              </a:spcAft>
              <a:buSzPct val="75000"/>
              <a:buChar char="»"/>
              <a:defRPr sz="2400" b="1">
                <a:solidFill>
                  <a:schemeClr val="tx1"/>
                </a:solidFill>
                <a:latin typeface="+mn-lt"/>
                <a:ea typeface="+mn-ea"/>
              </a:defRPr>
            </a:lvl7pPr>
            <a:lvl8pPr marL="3429000" indent="-228600" algn="l" rtl="0" fontAlgn="base">
              <a:spcBef>
                <a:spcPct val="20000"/>
              </a:spcBef>
              <a:spcAft>
                <a:spcPct val="0"/>
              </a:spcAft>
              <a:buSzPct val="75000"/>
              <a:buChar char="»"/>
              <a:defRPr sz="2400" b="1">
                <a:solidFill>
                  <a:schemeClr val="tx1"/>
                </a:solidFill>
                <a:latin typeface="+mn-lt"/>
                <a:ea typeface="+mn-ea"/>
              </a:defRPr>
            </a:lvl8pPr>
            <a:lvl9pPr marL="3886200" indent="-228600" algn="l" rtl="0" fontAlgn="base">
              <a:spcBef>
                <a:spcPct val="20000"/>
              </a:spcBef>
              <a:spcAft>
                <a:spcPct val="0"/>
              </a:spcAft>
              <a:buSzPct val="75000"/>
              <a:buChar char="»"/>
              <a:defRPr sz="2400" b="1">
                <a:solidFill>
                  <a:schemeClr val="tx1"/>
                </a:solidFill>
                <a:latin typeface="+mn-lt"/>
                <a:ea typeface="+mn-ea"/>
              </a:defRPr>
            </a:lvl9pPr>
          </a:lstStyle>
          <a:p>
            <a:pPr marL="0" indent="0" algn="ctr">
              <a:lnSpc>
                <a:spcPct val="130000"/>
              </a:lnSpc>
              <a:spcBef>
                <a:spcPts val="0"/>
              </a:spcBef>
              <a:buNone/>
            </a:pPr>
            <a:r>
              <a:rPr lang="zh-CN" altLang="en-US" sz="2800" kern="0" dirty="0">
                <a:solidFill>
                  <a:srgbClr val="0000FF"/>
                </a:solidFill>
              </a:rPr>
              <a:t>酒精诱导的低血糖</a:t>
            </a:r>
            <a:endParaRPr lang="en-US" altLang="zh-CN" sz="2800" kern="0" dirty="0">
              <a:solidFill>
                <a:srgbClr val="0000FF"/>
              </a:solidFill>
            </a:endParaRPr>
          </a:p>
          <a:p>
            <a:pPr>
              <a:lnSpc>
                <a:spcPct val="130000"/>
              </a:lnSpc>
              <a:spcBef>
                <a:spcPts val="0"/>
              </a:spcBef>
            </a:pPr>
            <a:endParaRPr lang="en-US" altLang="zh-CN" sz="2200" kern="0" dirty="0">
              <a:solidFill>
                <a:srgbClr val="0000FF"/>
              </a:solidFill>
            </a:endParaRPr>
          </a:p>
          <a:p>
            <a:pPr>
              <a:lnSpc>
                <a:spcPct val="130000"/>
              </a:lnSpc>
              <a:spcBef>
                <a:spcPts val="0"/>
              </a:spcBef>
            </a:pPr>
            <a:r>
              <a:rPr lang="zh-CN" altLang="en-US" sz="2200" b="0" kern="0" dirty="0"/>
              <a:t>多见于长时间空腹（缺肝糖原储备）饮酒者</a:t>
            </a:r>
            <a:endParaRPr lang="en-US" altLang="zh-CN" sz="2200" b="0" kern="0" dirty="0"/>
          </a:p>
          <a:p>
            <a:pPr>
              <a:lnSpc>
                <a:spcPct val="130000"/>
              </a:lnSpc>
              <a:spcBef>
                <a:spcPts val="0"/>
              </a:spcBef>
            </a:pPr>
            <a:r>
              <a:rPr lang="zh-CN" altLang="en-US" sz="2200" kern="0" dirty="0"/>
              <a:t>机制：  </a:t>
            </a:r>
            <a:r>
              <a:rPr lang="zh-CN" altLang="en-US" sz="2200" b="0" kern="0" dirty="0"/>
              <a:t>空腹大量饮酒后，酒精在肝内氧化，</a:t>
            </a:r>
            <a:r>
              <a:rPr lang="zh-CN" altLang="en-US" sz="2200" b="0" kern="0" dirty="0">
                <a:solidFill>
                  <a:srgbClr val="0000FF"/>
                </a:solidFill>
              </a:rPr>
              <a:t>消耗过多</a:t>
            </a:r>
            <a:r>
              <a:rPr lang="en-US" altLang="zh-CN" sz="2200" b="0" kern="0" dirty="0">
                <a:solidFill>
                  <a:srgbClr val="0000FF"/>
                </a:solidFill>
              </a:rPr>
              <a:t>NAD</a:t>
            </a:r>
            <a:r>
              <a:rPr lang="en-US" altLang="zh-CN" sz="2200" b="0" kern="0" baseline="30000" dirty="0">
                <a:solidFill>
                  <a:srgbClr val="0000FF"/>
                </a:solidFill>
              </a:rPr>
              <a:t>+</a:t>
            </a:r>
            <a:r>
              <a:rPr lang="zh-CN" altLang="en-US" sz="2200" b="0" kern="0" dirty="0">
                <a:solidFill>
                  <a:srgbClr val="0000FF"/>
                </a:solidFill>
              </a:rPr>
              <a:t>生成</a:t>
            </a:r>
            <a:r>
              <a:rPr lang="en-US" altLang="zh-CN" sz="2200" b="0" kern="0" dirty="0">
                <a:solidFill>
                  <a:srgbClr val="0000FF"/>
                </a:solidFill>
              </a:rPr>
              <a:t>NADH</a:t>
            </a:r>
            <a:r>
              <a:rPr lang="zh-CN" altLang="en-US" sz="2200" b="0" kern="0" dirty="0">
                <a:solidFill>
                  <a:srgbClr val="0000FF"/>
                </a:solidFill>
              </a:rPr>
              <a:t>，胞质内</a:t>
            </a:r>
            <a:r>
              <a:rPr lang="en-US" altLang="zh-CN" sz="2200" b="0" kern="0" dirty="0">
                <a:solidFill>
                  <a:srgbClr val="0000FF"/>
                </a:solidFill>
              </a:rPr>
              <a:t>NADH/NAD</a:t>
            </a:r>
            <a:r>
              <a:rPr lang="en-US" altLang="zh-CN" sz="2200" b="0" kern="0" baseline="30000" dirty="0">
                <a:solidFill>
                  <a:srgbClr val="0000FF"/>
                </a:solidFill>
              </a:rPr>
              <a:t>+</a:t>
            </a:r>
            <a:r>
              <a:rPr lang="zh-CN" altLang="en-US" sz="2200" b="0" kern="0" dirty="0">
                <a:solidFill>
                  <a:srgbClr val="0000FF"/>
                </a:solidFill>
              </a:rPr>
              <a:t>升高会抑制乳酸转变为丙酮酸（以乳酸为原料时糖异生的第一步反应）</a:t>
            </a:r>
            <a:r>
              <a:rPr lang="zh-CN" altLang="en-US" sz="2200" b="0" kern="0" dirty="0"/>
              <a:t>，</a:t>
            </a:r>
            <a:r>
              <a:rPr lang="zh-CN" altLang="en-US" sz="2200" b="0" kern="0" dirty="0">
                <a:solidFill>
                  <a:srgbClr val="0000FF"/>
                </a:solidFill>
              </a:rPr>
              <a:t>抑制糖异生</a:t>
            </a:r>
            <a:r>
              <a:rPr lang="zh-CN" altLang="en-US" sz="2200" b="0" kern="0" dirty="0"/>
              <a:t>； 高</a:t>
            </a:r>
            <a:r>
              <a:rPr lang="en-US" altLang="zh-CN" sz="2200" b="0" kern="0" dirty="0"/>
              <a:t>NADH/NAD</a:t>
            </a:r>
            <a:r>
              <a:rPr lang="en-US" altLang="zh-CN" sz="2200" b="0" kern="0" baseline="30000" dirty="0"/>
              <a:t>+</a:t>
            </a:r>
            <a:r>
              <a:rPr lang="zh-CN" altLang="en-US" sz="2200" b="0" kern="0" dirty="0"/>
              <a:t>还会抑制苹果酸脱氢生成草酰乙酸，也会抑制糖异生。</a:t>
            </a:r>
            <a:endParaRPr lang="en-US" altLang="zh-CN" sz="2200" b="0" kern="0" dirty="0"/>
          </a:p>
          <a:p>
            <a:pPr>
              <a:lnSpc>
                <a:spcPct val="130000"/>
              </a:lnSpc>
              <a:spcBef>
                <a:spcPts val="0"/>
              </a:spcBef>
            </a:pPr>
            <a:endParaRPr lang="zh-CN" altLang="en-US" sz="2200" b="0" kern="0" dirty="0"/>
          </a:p>
          <a:p>
            <a:pPr>
              <a:lnSpc>
                <a:spcPct val="130000"/>
              </a:lnSpc>
              <a:spcBef>
                <a:spcPts val="0"/>
              </a:spcBef>
            </a:pPr>
            <a:r>
              <a:rPr lang="zh-CN" altLang="en-US" sz="2200" b="0" kern="0" dirty="0"/>
              <a:t>酒精对血糖水平的影响取决于饮酒量和个体的潜在营养状况。研究表明，对于糖原储备正常的正常健康人来说，酒精很少在 </a:t>
            </a:r>
            <a:r>
              <a:rPr lang="en-US" altLang="zh-CN" sz="2200" b="0" kern="0" dirty="0"/>
              <a:t>8-12 </a:t>
            </a:r>
            <a:r>
              <a:rPr lang="zh-CN" altLang="en-US" sz="2200" b="0" kern="0" dirty="0"/>
              <a:t>小时内（禁食过夜）导致低血糖 。然而，</a:t>
            </a:r>
            <a:r>
              <a:rPr lang="zh-CN" altLang="en-US" sz="2200" kern="0" dirty="0"/>
              <a:t>如果禁食 </a:t>
            </a:r>
            <a:r>
              <a:rPr lang="en-US" altLang="zh-CN" sz="2200" kern="0" dirty="0"/>
              <a:t>3 </a:t>
            </a:r>
            <a:r>
              <a:rPr lang="zh-CN" altLang="en-US" sz="2200" kern="0" dirty="0"/>
              <a:t>至 </a:t>
            </a:r>
            <a:r>
              <a:rPr lang="en-US" altLang="zh-CN" sz="2200" kern="0" dirty="0"/>
              <a:t>4 </a:t>
            </a:r>
            <a:r>
              <a:rPr lang="zh-CN" altLang="en-US" sz="2200" kern="0" dirty="0"/>
              <a:t>天后急性饮酒，健康人也可能出现严重且长时间的低血糖。</a:t>
            </a:r>
            <a:r>
              <a:rPr lang="zh-CN" altLang="en-US" sz="2200" b="0" kern="0" dirty="0"/>
              <a:t>患有糖尿病、肝功能受损和营养不良的人风险更高 。</a:t>
            </a:r>
            <a:endParaRPr lang="en-US" altLang="zh-CN" sz="2200" b="0" kern="0" dirty="0"/>
          </a:p>
          <a:p>
            <a:pPr>
              <a:lnSpc>
                <a:spcPct val="130000"/>
              </a:lnSpc>
              <a:spcBef>
                <a:spcPts val="0"/>
              </a:spcBef>
            </a:pPr>
            <a:endParaRPr lang="en-US" altLang="zh-CN" sz="2200" b="0" kern="0" dirty="0">
              <a:solidFill>
                <a:srgbClr val="C00000"/>
              </a:solidFill>
            </a:endParaRPr>
          </a:p>
          <a:p>
            <a:pPr>
              <a:lnSpc>
                <a:spcPct val="130000"/>
              </a:lnSpc>
              <a:spcBef>
                <a:spcPts val="0"/>
              </a:spcBef>
            </a:pPr>
            <a:r>
              <a:rPr lang="zh-CN" altLang="en-US" sz="2200" b="0" kern="0" dirty="0">
                <a:solidFill>
                  <a:srgbClr val="C00000"/>
                </a:solidFill>
              </a:rPr>
              <a:t>勿在剧烈运动后大量饮酒，或者饮酒后剧烈运动。</a:t>
            </a:r>
            <a:endParaRPr lang="zh-CN" altLang="en-US" sz="2200" b="0" kern="0" dirty="0">
              <a:solidFill>
                <a:srgbClr val="C00000"/>
              </a:solidFill>
            </a:endParaRPr>
          </a:p>
          <a:p>
            <a:pPr>
              <a:lnSpc>
                <a:spcPct val="130000"/>
              </a:lnSpc>
              <a:spcBef>
                <a:spcPts val="0"/>
              </a:spcBef>
            </a:pPr>
            <a:endParaRPr lang="en-US" altLang="zh-CN" sz="2200" b="0" kern="0" dirty="0"/>
          </a:p>
        </p:txBody>
      </p:sp>
    </p:spTree>
  </p:cSld>
  <p:clrMapOvr>
    <a:masterClrMapping/>
  </p:clrMapOvr>
  <p:transition spd="med">
    <p:zoom/>
  </p:transition>
</p:sld>
</file>

<file path=ppt/slides/slide1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0514" name="Text Box 2"/>
          <p:cNvSpPr>
            <a:spLocks noGrp="1" noChangeArrowheads="1"/>
          </p:cNvSpPr>
          <p:nvPr>
            <p:ph type="body" idx="4294967295"/>
          </p:nvPr>
        </p:nvSpPr>
        <p:spPr>
          <a:xfrm>
            <a:off x="2200276" y="665387"/>
            <a:ext cx="7957616" cy="720725"/>
          </a:xfrm>
          <a:noFill/>
        </p:spPr>
        <p:txBody>
          <a:bodyPr/>
          <a:lstStyle/>
          <a:p>
            <a:pPr eaLnBrk="1" hangingPunct="1">
              <a:lnSpc>
                <a:spcPct val="120000"/>
              </a:lnSpc>
              <a:spcBef>
                <a:spcPct val="0"/>
              </a:spcBef>
              <a:buNone/>
            </a:pPr>
            <a:r>
              <a:rPr lang="zh-CN" altLang="en-US" dirty="0">
                <a:solidFill>
                  <a:srgbClr val="7030A0"/>
                </a:solidFill>
              </a:rPr>
              <a:t>（三）高血糖是指空腹血糖高于</a:t>
            </a:r>
            <a:r>
              <a:rPr lang="en-US" altLang="zh-CN" dirty="0">
                <a:solidFill>
                  <a:srgbClr val="7030A0"/>
                </a:solidFill>
              </a:rPr>
              <a:t>7mmol/L</a:t>
            </a:r>
            <a:endParaRPr lang="zh-CN" altLang="en-US" dirty="0">
              <a:solidFill>
                <a:srgbClr val="7030A0"/>
              </a:solidFill>
            </a:endParaRPr>
          </a:p>
        </p:txBody>
      </p:sp>
      <p:sp>
        <p:nvSpPr>
          <p:cNvPr id="320515" name="Rectangle 3"/>
          <p:cNvSpPr>
            <a:spLocks noChangeArrowheads="1"/>
          </p:cNvSpPr>
          <p:nvPr/>
        </p:nvSpPr>
        <p:spPr bwMode="auto">
          <a:xfrm>
            <a:off x="1631504" y="1844825"/>
            <a:ext cx="9361040" cy="52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pPr>
            <a:r>
              <a:rPr kumimoji="1" lang="zh-CN" altLang="en-US" sz="2400" b="0" dirty="0"/>
              <a:t>持续性高血糖和糖尿，主要见于</a:t>
            </a:r>
            <a:r>
              <a:rPr kumimoji="1" lang="zh-CN" altLang="en-US" sz="2400" b="0" dirty="0">
                <a:solidFill>
                  <a:srgbClr val="0000FF"/>
                </a:solidFill>
              </a:rPr>
              <a:t>糖尿病(</a:t>
            </a:r>
            <a:r>
              <a:rPr kumimoji="1" lang="en-US" altLang="zh-CN" sz="2400" b="0" dirty="0">
                <a:solidFill>
                  <a:srgbClr val="0000FF"/>
                </a:solidFill>
              </a:rPr>
              <a:t>diabetes mellitus, DM)。</a:t>
            </a:r>
            <a:endParaRPr kumimoji="1" lang="en-US" altLang="zh-CN" sz="2400" b="0" dirty="0">
              <a:solidFill>
                <a:srgbClr val="0000FF"/>
              </a:solidFill>
            </a:endParaRPr>
          </a:p>
        </p:txBody>
      </p:sp>
      <p:sp>
        <p:nvSpPr>
          <p:cNvPr id="320516" name="Rectangle 4"/>
          <p:cNvSpPr>
            <a:spLocks noChangeArrowheads="1"/>
          </p:cNvSpPr>
          <p:nvPr/>
        </p:nvSpPr>
        <p:spPr bwMode="auto">
          <a:xfrm>
            <a:off x="1631504" y="2780928"/>
            <a:ext cx="9289032"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47675" indent="-447675">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40000"/>
              </a:lnSpc>
              <a:spcBef>
                <a:spcPct val="0"/>
              </a:spcBef>
              <a:buClrTx/>
              <a:buSzTx/>
            </a:pPr>
            <a:r>
              <a:rPr kumimoji="1" lang="zh-CN" altLang="en-US" sz="2400" b="0" dirty="0"/>
              <a:t>血糖正常而出现糖尿，见于慢性肾炎、肾病综合征等引起肾对糖的吸收障碍。</a:t>
            </a:r>
            <a:endParaRPr kumimoji="1" lang="zh-CN" altLang="en-US" sz="2400" b="0" dirty="0"/>
          </a:p>
        </p:txBody>
      </p:sp>
      <p:sp>
        <p:nvSpPr>
          <p:cNvPr id="320517" name="Rectangle 5"/>
          <p:cNvSpPr>
            <a:spLocks noChangeArrowheads="1"/>
          </p:cNvSpPr>
          <p:nvPr/>
        </p:nvSpPr>
        <p:spPr bwMode="auto">
          <a:xfrm>
            <a:off x="1631504" y="3991917"/>
            <a:ext cx="7154863"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342900" indent="-342900" eaLnBrk="1" hangingPunct="1">
              <a:lnSpc>
                <a:spcPct val="160000"/>
              </a:lnSpc>
              <a:spcBef>
                <a:spcPct val="0"/>
              </a:spcBef>
              <a:buClrTx/>
              <a:buSzTx/>
            </a:pPr>
            <a:r>
              <a:rPr kumimoji="1" lang="zh-CN" altLang="en-US" sz="2400" b="0" dirty="0">
                <a:solidFill>
                  <a:srgbClr val="0000FF"/>
                </a:solidFill>
              </a:rPr>
              <a:t>生理性高血糖和糖尿可因情绪激动而出现</a:t>
            </a:r>
            <a:r>
              <a:rPr kumimoji="1" lang="zh-CN" altLang="en-US" sz="2400" b="0" dirty="0"/>
              <a:t>。 </a:t>
            </a:r>
            <a:endParaRPr kumimoji="1" lang="zh-CN" altLang="en-US" sz="2400" b="0" dirty="0"/>
          </a:p>
        </p:txBody>
      </p:sp>
      <p:sp>
        <p:nvSpPr>
          <p:cNvPr id="320518" name="Rectangle 6"/>
          <p:cNvSpPr>
            <a:spLocks noChangeArrowheads="1"/>
          </p:cNvSpPr>
          <p:nvPr/>
        </p:nvSpPr>
        <p:spPr bwMode="auto">
          <a:xfrm>
            <a:off x="1631504" y="4624536"/>
            <a:ext cx="9073008"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4330" indent="-35433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60000"/>
              </a:lnSpc>
              <a:spcBef>
                <a:spcPct val="0"/>
              </a:spcBef>
              <a:buClrTx/>
              <a:buSzTx/>
            </a:pPr>
            <a:r>
              <a:rPr kumimoji="1" lang="zh-CN" altLang="en-US" sz="2400" b="0" dirty="0"/>
              <a:t>进食大量糖后，由于血糖浓度大幅度升高，可出现一时性糖尿，称为</a:t>
            </a:r>
            <a:r>
              <a:rPr kumimoji="1" lang="zh-CN" altLang="en-US" sz="2400" b="0" dirty="0">
                <a:solidFill>
                  <a:srgbClr val="0000FF"/>
                </a:solidFill>
              </a:rPr>
              <a:t>饮食性糖尿</a:t>
            </a:r>
            <a:r>
              <a:rPr kumimoji="1" lang="zh-CN" altLang="en-US" sz="2400" b="0" dirty="0"/>
              <a:t>。 </a:t>
            </a:r>
            <a:endParaRPr kumimoji="1" lang="zh-CN" altLang="en-US" sz="24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320514"/>
                                        </p:tgtEl>
                                        <p:attrNameLst>
                                          <p:attrName>style.visibility</p:attrName>
                                        </p:attrNameLst>
                                      </p:cBhvr>
                                      <p:to>
                                        <p:strVal val="visible"/>
                                      </p:to>
                                    </p:set>
                                    <p:animEffect transition="in" filter="strips(downRight)">
                                      <p:cBhvr>
                                        <p:cTn id="7" dur="500"/>
                                        <p:tgtEl>
                                          <p:spTgt spid="32051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0515"/>
                                        </p:tgtEl>
                                        <p:attrNameLst>
                                          <p:attrName>style.visibility</p:attrName>
                                        </p:attrNameLst>
                                      </p:cBhvr>
                                      <p:to>
                                        <p:strVal val="visible"/>
                                      </p:to>
                                    </p:set>
                                    <p:animEffect transition="in" filter="checkerboard(across)">
                                      <p:cBhvr>
                                        <p:cTn id="12" dur="500"/>
                                        <p:tgtEl>
                                          <p:spTgt spid="3205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20516"/>
                                        </p:tgtEl>
                                        <p:attrNameLst>
                                          <p:attrName>style.visibility</p:attrName>
                                        </p:attrNameLst>
                                      </p:cBhvr>
                                      <p:to>
                                        <p:strVal val="visible"/>
                                      </p:to>
                                    </p:set>
                                    <p:animEffect transition="in" filter="strips(downRight)">
                                      <p:cBhvr>
                                        <p:cTn id="17" dur="500"/>
                                        <p:tgtEl>
                                          <p:spTgt spid="3205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20517"/>
                                        </p:tgtEl>
                                        <p:attrNameLst>
                                          <p:attrName>style.visibility</p:attrName>
                                        </p:attrNameLst>
                                      </p:cBhvr>
                                      <p:to>
                                        <p:strVal val="visible"/>
                                      </p:to>
                                    </p:set>
                                    <p:anim calcmode="lin" valueType="num">
                                      <p:cBhvr additive="base">
                                        <p:cTn id="22" dur="500" fill="hold"/>
                                        <p:tgtEl>
                                          <p:spTgt spid="320517"/>
                                        </p:tgtEl>
                                        <p:attrNameLst>
                                          <p:attrName>ppt_x</p:attrName>
                                        </p:attrNameLst>
                                      </p:cBhvr>
                                      <p:tavLst>
                                        <p:tav tm="0">
                                          <p:val>
                                            <p:strVal val="#ppt_x"/>
                                          </p:val>
                                        </p:tav>
                                        <p:tav tm="100000">
                                          <p:val>
                                            <p:strVal val="#ppt_x"/>
                                          </p:val>
                                        </p:tav>
                                      </p:tavLst>
                                    </p:anim>
                                    <p:anim calcmode="lin" valueType="num">
                                      <p:cBhvr additive="base">
                                        <p:cTn id="23" dur="500" fill="hold"/>
                                        <p:tgtEl>
                                          <p:spTgt spid="32051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20518"/>
                                        </p:tgtEl>
                                        <p:attrNameLst>
                                          <p:attrName>style.visibility</p:attrName>
                                        </p:attrNameLst>
                                      </p:cBhvr>
                                      <p:to>
                                        <p:strVal val="visible"/>
                                      </p:to>
                                    </p:set>
                                    <p:anim calcmode="lin" valueType="num">
                                      <p:cBhvr additive="base">
                                        <p:cTn id="28" dur="500" fill="hold"/>
                                        <p:tgtEl>
                                          <p:spTgt spid="320518"/>
                                        </p:tgtEl>
                                        <p:attrNameLst>
                                          <p:attrName>ppt_x</p:attrName>
                                        </p:attrNameLst>
                                      </p:cBhvr>
                                      <p:tavLst>
                                        <p:tav tm="0">
                                          <p:val>
                                            <p:strVal val="#ppt_x"/>
                                          </p:val>
                                        </p:tav>
                                        <p:tav tm="100000">
                                          <p:val>
                                            <p:strVal val="#ppt_x"/>
                                          </p:val>
                                        </p:tav>
                                      </p:tavLst>
                                    </p:anim>
                                    <p:anim calcmode="lin" valueType="num">
                                      <p:cBhvr additive="base">
                                        <p:cTn id="29" dur="500" fill="hold"/>
                                        <p:tgtEl>
                                          <p:spTgt spid="3205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4" grpId="0" autoUpdateAnimBg="0"/>
      <p:bldP spid="320515" grpId="0" autoUpdateAnimBg="0"/>
      <p:bldP spid="320516" grpId="0" autoUpdateAnimBg="0"/>
      <p:bldP spid="320517" grpId="0" autoUpdateAnimBg="0"/>
      <p:bldP spid="320518" grpId="0" autoUpdateAnimBg="0"/>
    </p:bldLst>
  </p:timing>
</p:sld>
</file>

<file path=ppt/slides/slide1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1538" name="Rectangle 2"/>
          <p:cNvSpPr>
            <a:spLocks noChangeArrowheads="1"/>
          </p:cNvSpPr>
          <p:nvPr/>
        </p:nvSpPr>
        <p:spPr bwMode="auto">
          <a:xfrm>
            <a:off x="2510970" y="1711687"/>
            <a:ext cx="7905510"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30000"/>
              </a:lnSpc>
              <a:spcBef>
                <a:spcPct val="0"/>
              </a:spcBef>
              <a:buClrTx/>
              <a:buSzTx/>
              <a:buFontTx/>
              <a:buNone/>
            </a:pPr>
            <a:r>
              <a:rPr kumimoji="1" lang="zh-CN" altLang="en-US" sz="2800" b="0" dirty="0"/>
              <a:t>表现：</a:t>
            </a:r>
            <a:r>
              <a:rPr kumimoji="1" lang="zh-CN" altLang="en-US" sz="2800" b="0" dirty="0">
                <a:solidFill>
                  <a:srgbClr val="0033CC"/>
                </a:solidFill>
              </a:rPr>
              <a:t>持续性高血糖</a:t>
            </a:r>
            <a:r>
              <a:rPr kumimoji="1" lang="en-US" altLang="zh-CN" sz="2800" b="0" dirty="0">
                <a:solidFill>
                  <a:srgbClr val="0033CC"/>
                </a:solidFill>
              </a:rPr>
              <a:t>(hyperglycemia)</a:t>
            </a:r>
            <a:r>
              <a:rPr kumimoji="1" lang="zh-CN" altLang="en-US" sz="2800" b="0" dirty="0"/>
              <a:t>和</a:t>
            </a:r>
            <a:r>
              <a:rPr kumimoji="1" lang="zh-CN" altLang="en-US" sz="2800" b="0" dirty="0">
                <a:solidFill>
                  <a:srgbClr val="0033CC"/>
                </a:solidFill>
              </a:rPr>
              <a:t>糖尿</a:t>
            </a:r>
            <a:endParaRPr kumimoji="1" lang="en-US" altLang="zh-CN" sz="2800" b="0" dirty="0">
              <a:solidFill>
                <a:srgbClr val="0033CC"/>
              </a:solidFill>
            </a:endParaRPr>
          </a:p>
        </p:txBody>
      </p:sp>
      <p:sp>
        <p:nvSpPr>
          <p:cNvPr id="321539" name="Rectangle 3"/>
          <p:cNvSpPr>
            <a:spLocks noChangeArrowheads="1"/>
          </p:cNvSpPr>
          <p:nvPr/>
        </p:nvSpPr>
        <p:spPr bwMode="auto">
          <a:xfrm>
            <a:off x="3490912" y="4390246"/>
            <a:ext cx="7177088" cy="1827360"/>
          </a:xfrm>
          <a:prstGeom prst="rect">
            <a:avLst/>
          </a:prstGeom>
          <a:noFill/>
          <a:ln>
            <a:noFill/>
          </a:ln>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marL="457200" indent="-457200" eaLnBrk="1" hangingPunct="1">
              <a:lnSpc>
                <a:spcPct val="120000"/>
              </a:lnSpc>
              <a:spcBef>
                <a:spcPct val="0"/>
              </a:spcBef>
              <a:buClrTx/>
              <a:buSzTx/>
              <a:defRPr/>
            </a:pPr>
            <a:r>
              <a:rPr kumimoji="1" lang="en-US" altLang="zh-CN" sz="2400" b="0" dirty="0">
                <a:solidFill>
                  <a:schemeClr val="tx1">
                    <a:lumMod val="95000"/>
                    <a:lumOff val="5000"/>
                  </a:schemeClr>
                </a:solidFill>
              </a:rPr>
              <a:t>1</a:t>
            </a:r>
            <a:r>
              <a:rPr kumimoji="1" lang="zh-CN" altLang="en-US" sz="2400" b="0" dirty="0">
                <a:solidFill>
                  <a:schemeClr val="tx1">
                    <a:lumMod val="95000"/>
                    <a:lumOff val="5000"/>
                  </a:schemeClr>
                </a:solidFill>
              </a:rPr>
              <a:t>型糖尿病（</a:t>
            </a:r>
            <a:r>
              <a:rPr kumimoji="1" lang="en-US" altLang="zh-CN" sz="2400" b="0" dirty="0">
                <a:solidFill>
                  <a:schemeClr val="tx1">
                    <a:lumMod val="95000"/>
                    <a:lumOff val="5000"/>
                  </a:schemeClr>
                </a:solidFill>
              </a:rPr>
              <a:t>type 1 diabetes mellitus, </a:t>
            </a:r>
            <a:r>
              <a:rPr kumimoji="1" lang="en-US" altLang="zh-CN" sz="2400" b="0" dirty="0">
                <a:solidFill>
                  <a:srgbClr val="0033CC"/>
                </a:solidFill>
              </a:rPr>
              <a:t>T1DM</a:t>
            </a:r>
            <a:r>
              <a:rPr kumimoji="1" lang="zh-CN" altLang="en-US" sz="2400" b="0" dirty="0">
                <a:solidFill>
                  <a:schemeClr val="tx1">
                    <a:lumMod val="95000"/>
                    <a:lumOff val="5000"/>
                  </a:schemeClr>
                </a:solidFill>
              </a:rPr>
              <a:t>）</a:t>
            </a:r>
            <a:endParaRPr kumimoji="1" lang="en-US" altLang="zh-CN" sz="2400" b="0" dirty="0">
              <a:solidFill>
                <a:schemeClr val="tx1">
                  <a:lumMod val="95000"/>
                  <a:lumOff val="5000"/>
                </a:schemeClr>
              </a:solidFill>
            </a:endParaRPr>
          </a:p>
          <a:p>
            <a:pPr marL="457200" indent="-457200" eaLnBrk="1" hangingPunct="1">
              <a:lnSpc>
                <a:spcPct val="120000"/>
              </a:lnSpc>
              <a:spcBef>
                <a:spcPct val="0"/>
              </a:spcBef>
              <a:buClrTx/>
              <a:buSzTx/>
              <a:defRPr/>
            </a:pPr>
            <a:r>
              <a:rPr kumimoji="1" lang="en-US" altLang="zh-CN" sz="2400" b="0" dirty="0">
                <a:solidFill>
                  <a:schemeClr val="tx2"/>
                </a:solidFill>
              </a:rPr>
              <a:t>2</a:t>
            </a:r>
            <a:r>
              <a:rPr kumimoji="1" lang="zh-CN" altLang="en-US" sz="2400" b="0" dirty="0">
                <a:solidFill>
                  <a:schemeClr val="tx2"/>
                </a:solidFill>
              </a:rPr>
              <a:t>型糖尿病（</a:t>
            </a:r>
            <a:r>
              <a:rPr kumimoji="1" lang="en-US" altLang="zh-CN" sz="2400" b="0" dirty="0">
                <a:solidFill>
                  <a:schemeClr val="tx2"/>
                </a:solidFill>
              </a:rPr>
              <a:t>T2DM</a:t>
            </a:r>
            <a:r>
              <a:rPr kumimoji="1" lang="zh-CN" altLang="en-US" sz="2400" b="0" dirty="0">
                <a:solidFill>
                  <a:schemeClr val="tx2"/>
                </a:solidFill>
              </a:rPr>
              <a:t>），</a:t>
            </a:r>
            <a:r>
              <a:rPr kumimoji="1" lang="en-US" altLang="zh-CN" sz="2400" b="0" dirty="0">
                <a:solidFill>
                  <a:schemeClr val="tx2"/>
                </a:solidFill>
              </a:rPr>
              <a:t>90%</a:t>
            </a:r>
            <a:r>
              <a:rPr kumimoji="1" lang="zh-CN" altLang="en-US" sz="2400" b="0" dirty="0">
                <a:solidFill>
                  <a:schemeClr val="tx2"/>
                </a:solidFill>
              </a:rPr>
              <a:t>以上</a:t>
            </a:r>
            <a:endParaRPr kumimoji="1" lang="en-US" altLang="zh-CN" sz="2400" b="0" dirty="0">
              <a:solidFill>
                <a:schemeClr val="tx2"/>
              </a:solidFill>
            </a:endParaRPr>
          </a:p>
          <a:p>
            <a:pPr marL="457200" indent="-457200" eaLnBrk="1" hangingPunct="1">
              <a:lnSpc>
                <a:spcPct val="120000"/>
              </a:lnSpc>
              <a:spcBef>
                <a:spcPct val="0"/>
              </a:spcBef>
              <a:buClrTx/>
              <a:buSzTx/>
              <a:defRPr/>
            </a:pPr>
            <a:r>
              <a:rPr kumimoji="1" lang="zh-CN" altLang="en-US" sz="2400" b="0" dirty="0"/>
              <a:t>妊娠糖尿病（</a:t>
            </a:r>
            <a:r>
              <a:rPr kumimoji="1" lang="en-US" altLang="zh-CN" sz="2400" b="0" dirty="0"/>
              <a:t>gestational diabetes)</a:t>
            </a:r>
            <a:endParaRPr kumimoji="1" lang="zh-CN" altLang="en-US" sz="2400" b="0" dirty="0"/>
          </a:p>
          <a:p>
            <a:pPr marL="457200" indent="-457200" eaLnBrk="1" hangingPunct="1">
              <a:lnSpc>
                <a:spcPct val="120000"/>
              </a:lnSpc>
              <a:spcBef>
                <a:spcPct val="0"/>
              </a:spcBef>
              <a:buClrTx/>
              <a:buSzTx/>
              <a:defRPr/>
            </a:pPr>
            <a:r>
              <a:rPr kumimoji="1" lang="zh-CN" altLang="en-US" sz="2400" b="0" dirty="0"/>
              <a:t>特殊类型糖尿病</a:t>
            </a:r>
            <a:r>
              <a:rPr kumimoji="1" lang="en-US" altLang="zh-CN" sz="2400" b="0" dirty="0"/>
              <a:t>(special diabetes</a:t>
            </a:r>
            <a:r>
              <a:rPr kumimoji="1" lang="zh-CN" altLang="en-US" sz="2400" b="0" dirty="0"/>
              <a:t>）</a:t>
            </a:r>
            <a:endParaRPr kumimoji="1" lang="zh-CN" altLang="en-US" sz="2400" b="0" dirty="0"/>
          </a:p>
        </p:txBody>
      </p:sp>
      <p:sp>
        <p:nvSpPr>
          <p:cNvPr id="321540" name="Rectangle 4"/>
          <p:cNvSpPr>
            <a:spLocks noChangeArrowheads="1"/>
          </p:cNvSpPr>
          <p:nvPr/>
        </p:nvSpPr>
        <p:spPr bwMode="auto">
          <a:xfrm>
            <a:off x="2495550" y="4667251"/>
            <a:ext cx="1619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dirty="0">
                <a:solidFill>
                  <a:srgbClr val="C00000"/>
                </a:solidFill>
              </a:rPr>
              <a:t>分型: </a:t>
            </a:r>
            <a:endParaRPr kumimoji="1" lang="zh-CN" altLang="en-US" sz="2800" b="0" dirty="0">
              <a:solidFill>
                <a:srgbClr val="C00000"/>
              </a:solidFill>
            </a:endParaRPr>
          </a:p>
        </p:txBody>
      </p:sp>
      <p:sp>
        <p:nvSpPr>
          <p:cNvPr id="146437" name="Rectangle 5"/>
          <p:cNvSpPr>
            <a:spLocks noGrp="1" noChangeArrowheads="1"/>
          </p:cNvSpPr>
          <p:nvPr>
            <p:ph type="body" idx="1"/>
          </p:nvPr>
        </p:nvSpPr>
        <p:spPr>
          <a:xfrm>
            <a:off x="2279650" y="333375"/>
            <a:ext cx="7524750" cy="1582738"/>
          </a:xfrm>
          <a:noFill/>
        </p:spPr>
        <p:txBody>
          <a:bodyPr/>
          <a:lstStyle/>
          <a:p>
            <a:pPr marL="0" indent="0" algn="ctr" eaLnBrk="1" hangingPunct="1">
              <a:lnSpc>
                <a:spcPct val="120000"/>
              </a:lnSpc>
              <a:spcBef>
                <a:spcPct val="0"/>
              </a:spcBef>
              <a:buNone/>
            </a:pPr>
            <a:r>
              <a:rPr lang="zh-CN" altLang="en-US" sz="3600" dirty="0">
                <a:solidFill>
                  <a:srgbClr val="000099"/>
                </a:solidFill>
                <a:latin typeface="黑体" panose="02010609060101010101" pitchFamily="2" charset="-122"/>
                <a:ea typeface="黑体" panose="02010609060101010101" pitchFamily="2" charset="-122"/>
              </a:rPr>
              <a:t> </a:t>
            </a:r>
            <a:r>
              <a:rPr lang="zh-CN" altLang="en-US" sz="3600" b="0" dirty="0">
                <a:solidFill>
                  <a:srgbClr val="C00000"/>
                </a:solidFill>
                <a:latin typeface="黑体" panose="02010609060101010101" pitchFamily="2" charset="-122"/>
                <a:ea typeface="黑体" panose="02010609060101010101" pitchFamily="2" charset="-122"/>
              </a:rPr>
              <a:t>糖尿病（</a:t>
            </a:r>
            <a:r>
              <a:rPr lang="en-US" altLang="zh-CN" sz="3600" b="0" dirty="0">
                <a:solidFill>
                  <a:srgbClr val="C00000"/>
                </a:solidFill>
                <a:latin typeface="黑体" panose="02010609060101010101" pitchFamily="2" charset="-122"/>
                <a:ea typeface="黑体" panose="02010609060101010101" pitchFamily="2" charset="-122"/>
              </a:rPr>
              <a:t>diabetes mellitus)</a:t>
            </a:r>
            <a:endParaRPr lang="en-US" altLang="zh-CN" sz="3600" b="0" dirty="0">
              <a:solidFill>
                <a:srgbClr val="C00000"/>
              </a:solidFill>
              <a:latin typeface="黑体" panose="02010609060101010101" pitchFamily="2" charset="-122"/>
              <a:ea typeface="黑体" panose="02010609060101010101" pitchFamily="2" charset="-122"/>
            </a:endParaRPr>
          </a:p>
          <a:p>
            <a:pPr marL="0" indent="0" algn="ctr" eaLnBrk="1" hangingPunct="1">
              <a:lnSpc>
                <a:spcPct val="120000"/>
              </a:lnSpc>
              <a:spcBef>
                <a:spcPct val="0"/>
              </a:spcBef>
              <a:buNone/>
            </a:pPr>
            <a:r>
              <a:rPr lang="en-US" altLang="zh-CN" b="0" dirty="0">
                <a:solidFill>
                  <a:srgbClr val="C00000"/>
                </a:solidFill>
                <a:latin typeface="黑体" panose="02010609060101010101" pitchFamily="2" charset="-122"/>
                <a:ea typeface="黑体" panose="02010609060101010101" pitchFamily="2" charset="-122"/>
              </a:rPr>
              <a:t>    ---</a:t>
            </a:r>
            <a:r>
              <a:rPr lang="zh-CN" altLang="en-US" b="0" dirty="0">
                <a:solidFill>
                  <a:srgbClr val="C00000"/>
                </a:solidFill>
                <a:latin typeface="黑体" panose="02010609060101010101" pitchFamily="2" charset="-122"/>
                <a:ea typeface="黑体" panose="02010609060101010101" pitchFamily="2" charset="-122"/>
              </a:rPr>
              <a:t>最常见的糖代谢紊乱</a:t>
            </a:r>
            <a:endParaRPr lang="zh-CN" altLang="en-US" b="0" dirty="0">
              <a:solidFill>
                <a:srgbClr val="C00000"/>
              </a:solidFill>
              <a:latin typeface="黑体" panose="02010609060101010101" pitchFamily="2" charset="-122"/>
              <a:ea typeface="黑体" panose="02010609060101010101" pitchFamily="2" charset="-122"/>
            </a:endParaRPr>
          </a:p>
        </p:txBody>
      </p:sp>
      <p:sp>
        <p:nvSpPr>
          <p:cNvPr id="321542" name="Text Box 6"/>
          <p:cNvSpPr txBox="1">
            <a:spLocks noChangeArrowheads="1"/>
          </p:cNvSpPr>
          <p:nvPr/>
        </p:nvSpPr>
        <p:spPr bwMode="auto">
          <a:xfrm>
            <a:off x="2495551" y="2484006"/>
            <a:ext cx="1539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400" b="0" dirty="0"/>
              <a:t>病因：</a:t>
            </a:r>
            <a:endParaRPr kumimoji="1" lang="zh-CN" altLang="en-US" sz="2400" b="0" dirty="0"/>
          </a:p>
        </p:txBody>
      </p:sp>
      <p:sp>
        <p:nvSpPr>
          <p:cNvPr id="321543" name="Text Box 7"/>
          <p:cNvSpPr txBox="1">
            <a:spLocks noChangeArrowheads="1"/>
          </p:cNvSpPr>
          <p:nvPr/>
        </p:nvSpPr>
        <p:spPr bwMode="auto">
          <a:xfrm>
            <a:off x="3529788" y="2454275"/>
            <a:ext cx="5545138" cy="1761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lnSpc>
                <a:spcPct val="110000"/>
              </a:lnSpc>
              <a:spcBef>
                <a:spcPct val="0"/>
              </a:spcBef>
              <a:buClrTx/>
              <a:buSzTx/>
              <a:buFontTx/>
              <a:buNone/>
            </a:pPr>
            <a:r>
              <a:rPr kumimoji="1" lang="zh-CN" altLang="en-US" sz="2000" b="0" dirty="0"/>
              <a:t>胰岛</a:t>
            </a:r>
            <a:r>
              <a:rPr kumimoji="1" lang="en-US" altLang="zh-CN" sz="2000" b="0" dirty="0">
                <a:latin typeface="Symbol" panose="05050102010706020507" pitchFamily="18" charset="2"/>
              </a:rPr>
              <a:t>b</a:t>
            </a:r>
            <a:r>
              <a:rPr kumimoji="1" lang="zh-CN" altLang="en-US" sz="2000" b="0" dirty="0"/>
              <a:t>细胞功能减低</a:t>
            </a:r>
            <a:endParaRPr kumimoji="1" lang="zh-CN" altLang="en-US" sz="2000" b="0" dirty="0"/>
          </a:p>
          <a:p>
            <a:pPr eaLnBrk="1" hangingPunct="1">
              <a:lnSpc>
                <a:spcPct val="110000"/>
              </a:lnSpc>
              <a:spcBef>
                <a:spcPct val="0"/>
              </a:spcBef>
              <a:buClrTx/>
              <a:buSzTx/>
              <a:buFontTx/>
              <a:buNone/>
            </a:pPr>
            <a:r>
              <a:rPr kumimoji="1" lang="zh-CN" altLang="en-US" sz="2000" b="0" dirty="0"/>
              <a:t>胰岛素分泌量绝对或相对不足</a:t>
            </a:r>
            <a:endParaRPr kumimoji="1" lang="zh-CN" altLang="en-US" sz="2000" b="0" dirty="0"/>
          </a:p>
          <a:p>
            <a:pPr eaLnBrk="1" hangingPunct="1">
              <a:lnSpc>
                <a:spcPct val="110000"/>
              </a:lnSpc>
              <a:spcBef>
                <a:spcPct val="0"/>
              </a:spcBef>
              <a:buClrTx/>
              <a:buSzTx/>
              <a:buFontTx/>
              <a:buNone/>
            </a:pPr>
            <a:r>
              <a:rPr kumimoji="1" lang="zh-CN" altLang="en-US" sz="2000" b="0" dirty="0"/>
              <a:t>靶细胞膜上受体数量不足</a:t>
            </a:r>
            <a:endParaRPr kumimoji="1" lang="zh-CN" altLang="en-US" sz="2000" b="0" dirty="0"/>
          </a:p>
          <a:p>
            <a:pPr eaLnBrk="1" hangingPunct="1">
              <a:lnSpc>
                <a:spcPct val="110000"/>
              </a:lnSpc>
              <a:spcBef>
                <a:spcPct val="0"/>
              </a:spcBef>
              <a:buClrTx/>
              <a:buSzTx/>
              <a:buFontTx/>
              <a:buNone/>
            </a:pPr>
            <a:r>
              <a:rPr kumimoji="1" lang="zh-CN" altLang="en-US" sz="2000" b="0" dirty="0"/>
              <a:t>激素与受体的亲和力降低</a:t>
            </a:r>
            <a:endParaRPr kumimoji="1" lang="zh-CN" altLang="en-US" sz="2000" b="0" dirty="0"/>
          </a:p>
          <a:p>
            <a:pPr eaLnBrk="1" hangingPunct="1">
              <a:lnSpc>
                <a:spcPct val="110000"/>
              </a:lnSpc>
              <a:spcBef>
                <a:spcPct val="0"/>
              </a:spcBef>
              <a:buClrTx/>
              <a:buSzTx/>
              <a:buFontTx/>
              <a:buNone/>
            </a:pPr>
            <a:r>
              <a:rPr kumimoji="1" lang="zh-CN" altLang="en-US" sz="2000" b="0" dirty="0"/>
              <a:t>胰高血糖素分泌过量</a:t>
            </a:r>
            <a:endParaRPr kumimoji="1" lang="zh-CN" altLang="en-US" sz="2000" b="0"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1538"/>
                                        </p:tgtEl>
                                        <p:attrNameLst>
                                          <p:attrName>style.visibility</p:attrName>
                                        </p:attrNameLst>
                                      </p:cBhvr>
                                      <p:to>
                                        <p:strVal val="visible"/>
                                      </p:to>
                                    </p:set>
                                    <p:animEffect transition="in" filter="checkerboard(across)">
                                      <p:cBhvr>
                                        <p:cTn id="7" dur="500"/>
                                        <p:tgtEl>
                                          <p:spTgt spid="3215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1542"/>
                                        </p:tgtEl>
                                        <p:attrNameLst>
                                          <p:attrName>style.visibility</p:attrName>
                                        </p:attrNameLst>
                                      </p:cBhvr>
                                      <p:to>
                                        <p:strVal val="visible"/>
                                      </p:to>
                                    </p:set>
                                    <p:animEffect transition="in" filter="dissolve">
                                      <p:cBhvr>
                                        <p:cTn id="12" dur="500"/>
                                        <p:tgtEl>
                                          <p:spTgt spid="321542"/>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21543"/>
                                        </p:tgtEl>
                                        <p:attrNameLst>
                                          <p:attrName>style.visibility</p:attrName>
                                        </p:attrNameLst>
                                      </p:cBhvr>
                                      <p:to>
                                        <p:strVal val="visible"/>
                                      </p:to>
                                    </p:set>
                                    <p:animEffect transition="in" filter="wipe(up)">
                                      <p:cBhvr>
                                        <p:cTn id="16" dur="1000"/>
                                        <p:tgtEl>
                                          <p:spTgt spid="321543"/>
                                        </p:tgtEl>
                                      </p:cBhvr>
                                    </p:animEffect>
                                  </p:childTnLst>
                                </p:cTn>
                              </p:par>
                            </p:childTnLst>
                          </p:cTn>
                        </p:par>
                      </p:childTnLst>
                    </p:cTn>
                  </p:par>
                  <p:par>
                    <p:cTn id="17" fill="hold">
                      <p:stCondLst>
                        <p:cond delay="indefinite"/>
                      </p:stCondLst>
                      <p:childTnLst>
                        <p:par>
                          <p:cTn id="18" fill="hold">
                            <p:stCondLst>
                              <p:cond delay="0"/>
                            </p:stCondLst>
                            <p:childTnLst>
                              <p:par>
                                <p:cTn id="19" presetID="17" presetClass="entr" presetSubtype="4" fill="hold" grpId="0" nodeType="clickEffect">
                                  <p:stCondLst>
                                    <p:cond delay="0"/>
                                  </p:stCondLst>
                                  <p:childTnLst>
                                    <p:set>
                                      <p:cBhvr>
                                        <p:cTn id="20" dur="1" fill="hold">
                                          <p:stCondLst>
                                            <p:cond delay="0"/>
                                          </p:stCondLst>
                                        </p:cTn>
                                        <p:tgtEl>
                                          <p:spTgt spid="321540"/>
                                        </p:tgtEl>
                                        <p:attrNameLst>
                                          <p:attrName>style.visibility</p:attrName>
                                        </p:attrNameLst>
                                      </p:cBhvr>
                                      <p:to>
                                        <p:strVal val="visible"/>
                                      </p:to>
                                    </p:set>
                                    <p:anim calcmode="lin" valueType="num">
                                      <p:cBhvr>
                                        <p:cTn id="21" dur="500" fill="hold"/>
                                        <p:tgtEl>
                                          <p:spTgt spid="321540"/>
                                        </p:tgtEl>
                                        <p:attrNameLst>
                                          <p:attrName>ppt_x</p:attrName>
                                        </p:attrNameLst>
                                      </p:cBhvr>
                                      <p:tavLst>
                                        <p:tav tm="0">
                                          <p:val>
                                            <p:strVal val="#ppt_x"/>
                                          </p:val>
                                        </p:tav>
                                        <p:tav tm="100000">
                                          <p:val>
                                            <p:strVal val="#ppt_x"/>
                                          </p:val>
                                        </p:tav>
                                      </p:tavLst>
                                    </p:anim>
                                    <p:anim calcmode="lin" valueType="num">
                                      <p:cBhvr>
                                        <p:cTn id="22" dur="500" fill="hold"/>
                                        <p:tgtEl>
                                          <p:spTgt spid="321540"/>
                                        </p:tgtEl>
                                        <p:attrNameLst>
                                          <p:attrName>ppt_y</p:attrName>
                                        </p:attrNameLst>
                                      </p:cBhvr>
                                      <p:tavLst>
                                        <p:tav tm="0">
                                          <p:val>
                                            <p:strVal val="#ppt_y+#ppt_h/2"/>
                                          </p:val>
                                        </p:tav>
                                        <p:tav tm="100000">
                                          <p:val>
                                            <p:strVal val="#ppt_y"/>
                                          </p:val>
                                        </p:tav>
                                      </p:tavLst>
                                    </p:anim>
                                    <p:anim calcmode="lin" valueType="num">
                                      <p:cBhvr>
                                        <p:cTn id="23" dur="500" fill="hold"/>
                                        <p:tgtEl>
                                          <p:spTgt spid="321540"/>
                                        </p:tgtEl>
                                        <p:attrNameLst>
                                          <p:attrName>ppt_w</p:attrName>
                                        </p:attrNameLst>
                                      </p:cBhvr>
                                      <p:tavLst>
                                        <p:tav tm="0">
                                          <p:val>
                                            <p:strVal val="#ppt_w"/>
                                          </p:val>
                                        </p:tav>
                                        <p:tav tm="100000">
                                          <p:val>
                                            <p:strVal val="#ppt_w"/>
                                          </p:val>
                                        </p:tav>
                                      </p:tavLst>
                                    </p:anim>
                                    <p:anim calcmode="lin" valueType="num">
                                      <p:cBhvr>
                                        <p:cTn id="24" dur="500" fill="hold"/>
                                        <p:tgtEl>
                                          <p:spTgt spid="321540"/>
                                        </p:tgtEl>
                                        <p:attrNameLst>
                                          <p:attrName>ppt_h</p:attrName>
                                        </p:attrNameLst>
                                      </p:cBhvr>
                                      <p:tavLst>
                                        <p:tav tm="0">
                                          <p:val>
                                            <p:fltVal val="0"/>
                                          </p:val>
                                        </p:tav>
                                        <p:tav tm="100000">
                                          <p:val>
                                            <p:strVal val="#ppt_h"/>
                                          </p:val>
                                        </p:tav>
                                      </p:tavLst>
                                    </p:anim>
                                  </p:childTnLst>
                                </p:cTn>
                              </p:par>
                            </p:childTnLst>
                          </p:cTn>
                        </p:par>
                        <p:par>
                          <p:cTn id="25" fill="hold">
                            <p:stCondLst>
                              <p:cond delay="500"/>
                            </p:stCondLst>
                            <p:childTnLst>
                              <p:par>
                                <p:cTn id="26" presetID="4" presetClass="entr" presetSubtype="32" fill="hold" grpId="0" nodeType="afterEffect">
                                  <p:stCondLst>
                                    <p:cond delay="0"/>
                                  </p:stCondLst>
                                  <p:childTnLst>
                                    <p:set>
                                      <p:cBhvr>
                                        <p:cTn id="27" dur="1" fill="hold">
                                          <p:stCondLst>
                                            <p:cond delay="0"/>
                                          </p:stCondLst>
                                        </p:cTn>
                                        <p:tgtEl>
                                          <p:spTgt spid="321539"/>
                                        </p:tgtEl>
                                        <p:attrNameLst>
                                          <p:attrName>style.visibility</p:attrName>
                                        </p:attrNameLst>
                                      </p:cBhvr>
                                      <p:to>
                                        <p:strVal val="visible"/>
                                      </p:to>
                                    </p:set>
                                    <p:animEffect transition="in" filter="box(out)">
                                      <p:cBhvr>
                                        <p:cTn id="28" dur="500"/>
                                        <p:tgtEl>
                                          <p:spTgt spid="321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8" grpId="0" autoUpdateAnimBg="0"/>
      <p:bldP spid="321539" grpId="0" autoUpdateAnimBg="0"/>
      <p:bldP spid="321540" grpId="0" autoUpdateAnimBg="0"/>
      <p:bldP spid="321542" grpId="0"/>
      <p:bldP spid="321543" grpId="0"/>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Text Box 2"/>
          <p:cNvSpPr txBox="1">
            <a:spLocks noChangeArrowheads="1"/>
          </p:cNvSpPr>
          <p:nvPr/>
        </p:nvSpPr>
        <p:spPr bwMode="auto">
          <a:xfrm>
            <a:off x="2324712" y="869237"/>
            <a:ext cx="83169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3600" dirty="0">
                <a:solidFill>
                  <a:srgbClr val="000099"/>
                </a:solidFill>
              </a:rPr>
              <a:t>重度高血糖的典型症状：</a:t>
            </a:r>
            <a:r>
              <a:rPr kumimoji="1" lang="zh-CN" altLang="en-US" sz="3600" dirty="0">
                <a:solidFill>
                  <a:srgbClr val="C00000"/>
                </a:solidFill>
              </a:rPr>
              <a:t>“三多一少”</a:t>
            </a:r>
            <a:endParaRPr kumimoji="1" lang="zh-CN" altLang="en-US" sz="3600" dirty="0">
              <a:solidFill>
                <a:srgbClr val="C00000"/>
              </a:solidFill>
            </a:endParaRPr>
          </a:p>
        </p:txBody>
      </p:sp>
      <p:sp>
        <p:nvSpPr>
          <p:cNvPr id="322563" name="Text Box 3"/>
          <p:cNvSpPr txBox="1">
            <a:spLocks noChangeArrowheads="1"/>
          </p:cNvSpPr>
          <p:nvPr/>
        </p:nvSpPr>
        <p:spPr bwMode="auto">
          <a:xfrm>
            <a:off x="1703512" y="2116346"/>
            <a:ext cx="7200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solidFill>
                  <a:srgbClr val="000099"/>
                </a:solidFill>
              </a:rPr>
              <a:t>多食</a:t>
            </a:r>
            <a:r>
              <a:rPr kumimoji="1" lang="zh-CN" altLang="en-US" sz="2800" b="0" dirty="0"/>
              <a:t>： 糖氧化障碍，机体所需能量不足</a:t>
            </a:r>
            <a:endParaRPr kumimoji="1" lang="zh-CN" altLang="en-US" sz="2800" b="0" dirty="0"/>
          </a:p>
        </p:txBody>
      </p:sp>
      <p:sp>
        <p:nvSpPr>
          <p:cNvPr id="322564" name="Text Box 4"/>
          <p:cNvSpPr txBox="1">
            <a:spLocks noChangeArrowheads="1"/>
          </p:cNvSpPr>
          <p:nvPr/>
        </p:nvSpPr>
        <p:spPr bwMode="auto">
          <a:xfrm>
            <a:off x="2794570" y="3049796"/>
            <a:ext cx="8413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血糖过高，经肾脏排出引起糖尿，并产生</a:t>
            </a:r>
            <a:r>
              <a:rPr kumimoji="1" lang="zh-CN" altLang="en-US" sz="2800" b="0" dirty="0">
                <a:solidFill>
                  <a:srgbClr val="0000FF"/>
                </a:solidFill>
              </a:rPr>
              <a:t>渗透性利尿</a:t>
            </a:r>
            <a:endParaRPr kumimoji="1" lang="zh-CN" altLang="en-US" sz="2800" b="0" dirty="0">
              <a:solidFill>
                <a:srgbClr val="0000FF"/>
              </a:solidFill>
            </a:endParaRPr>
          </a:p>
        </p:txBody>
      </p:sp>
      <p:sp>
        <p:nvSpPr>
          <p:cNvPr id="322565" name="Text Box 5"/>
          <p:cNvSpPr txBox="1">
            <a:spLocks noChangeArrowheads="1"/>
          </p:cNvSpPr>
          <p:nvPr/>
        </p:nvSpPr>
        <p:spPr bwMode="auto">
          <a:xfrm>
            <a:off x="2938586" y="4057908"/>
            <a:ext cx="74778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多尿致脱水，刺激机体产生口渴感又导致多饮</a:t>
            </a:r>
            <a:endParaRPr kumimoji="1" lang="zh-CN" altLang="en-US" sz="2800" b="0" dirty="0"/>
          </a:p>
        </p:txBody>
      </p:sp>
      <p:sp>
        <p:nvSpPr>
          <p:cNvPr id="322566" name="Text Box 6"/>
          <p:cNvSpPr txBox="1">
            <a:spLocks noChangeArrowheads="1"/>
          </p:cNvSpPr>
          <p:nvPr/>
        </p:nvSpPr>
        <p:spPr bwMode="auto">
          <a:xfrm>
            <a:off x="2930669" y="5157192"/>
            <a:ext cx="81259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kumimoji="1" lang="zh-CN" altLang="en-US" sz="2800" b="0" dirty="0"/>
              <a:t>大量蛋白质和脂肪的分解以及脱水使病人体重减轻</a:t>
            </a:r>
            <a:endParaRPr kumimoji="1" lang="zh-CN" altLang="en-US" sz="2800" b="0" dirty="0"/>
          </a:p>
        </p:txBody>
      </p:sp>
      <p:sp>
        <p:nvSpPr>
          <p:cNvPr id="322567" name="Rectangle 7"/>
          <p:cNvSpPr>
            <a:spLocks noChangeArrowheads="1"/>
          </p:cNvSpPr>
          <p:nvPr/>
        </p:nvSpPr>
        <p:spPr bwMode="auto">
          <a:xfrm>
            <a:off x="1703512" y="3049796"/>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000099"/>
                </a:solidFill>
              </a:rPr>
              <a:t>多尿</a:t>
            </a:r>
            <a:r>
              <a:rPr kumimoji="1" lang="zh-CN" altLang="en-US" sz="2800" b="0"/>
              <a:t>：</a:t>
            </a:r>
            <a:endParaRPr kumimoji="1" lang="zh-CN" altLang="en-US" sz="2800" b="0"/>
          </a:p>
        </p:txBody>
      </p:sp>
      <p:sp>
        <p:nvSpPr>
          <p:cNvPr id="322568" name="Rectangle 8"/>
          <p:cNvSpPr>
            <a:spLocks noChangeArrowheads="1"/>
          </p:cNvSpPr>
          <p:nvPr/>
        </p:nvSpPr>
        <p:spPr bwMode="auto">
          <a:xfrm>
            <a:off x="1703512" y="4045419"/>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000099"/>
                </a:solidFill>
              </a:rPr>
              <a:t>多饮</a:t>
            </a:r>
            <a:r>
              <a:rPr kumimoji="1" lang="zh-CN" altLang="en-US" sz="2800" b="0"/>
              <a:t>：</a:t>
            </a:r>
            <a:endParaRPr kumimoji="1" lang="zh-CN" altLang="en-US" sz="2800" b="0"/>
          </a:p>
        </p:txBody>
      </p:sp>
      <p:sp>
        <p:nvSpPr>
          <p:cNvPr id="322569" name="Rectangle 9"/>
          <p:cNvSpPr>
            <a:spLocks noChangeArrowheads="1"/>
          </p:cNvSpPr>
          <p:nvPr/>
        </p:nvSpPr>
        <p:spPr bwMode="auto">
          <a:xfrm>
            <a:off x="1703512" y="5154613"/>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zh-CN" altLang="en-US" sz="2800" b="0">
                <a:solidFill>
                  <a:srgbClr val="000099"/>
                </a:solidFill>
              </a:rPr>
              <a:t>消瘦</a:t>
            </a:r>
            <a:r>
              <a:rPr kumimoji="1" lang="zh-CN" altLang="en-US" sz="2800" b="0"/>
              <a:t>：</a:t>
            </a:r>
            <a:endParaRPr kumimoji="1" lang="zh-CN" altLang="en-US" sz="2800" b="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22562"/>
                                        </p:tgtEl>
                                        <p:attrNameLst>
                                          <p:attrName>style.visibility</p:attrName>
                                        </p:attrNameLst>
                                      </p:cBhvr>
                                      <p:to>
                                        <p:strVal val="visible"/>
                                      </p:to>
                                    </p:set>
                                    <p:animEffect transition="in" filter="dissolve">
                                      <p:cBhvr>
                                        <p:cTn id="7" dur="500"/>
                                        <p:tgtEl>
                                          <p:spTgt spid="3225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2563"/>
                                        </p:tgtEl>
                                        <p:attrNameLst>
                                          <p:attrName>style.visibility</p:attrName>
                                        </p:attrNameLst>
                                      </p:cBhvr>
                                      <p:to>
                                        <p:strVal val="visible"/>
                                      </p:to>
                                    </p:set>
                                    <p:animEffect transition="in" filter="wipe(left)">
                                      <p:cBhvr>
                                        <p:cTn id="12" dur="500"/>
                                        <p:tgtEl>
                                          <p:spTgt spid="32256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2567"/>
                                        </p:tgtEl>
                                        <p:attrNameLst>
                                          <p:attrName>style.visibility</p:attrName>
                                        </p:attrNameLst>
                                      </p:cBhvr>
                                      <p:to>
                                        <p:strVal val="visible"/>
                                      </p:to>
                                    </p:set>
                                    <p:animEffect transition="in" filter="wipe(left)">
                                      <p:cBhvr>
                                        <p:cTn id="17" dur="500"/>
                                        <p:tgtEl>
                                          <p:spTgt spid="322567"/>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22564"/>
                                        </p:tgtEl>
                                        <p:attrNameLst>
                                          <p:attrName>style.visibility</p:attrName>
                                        </p:attrNameLst>
                                      </p:cBhvr>
                                      <p:to>
                                        <p:strVal val="visible"/>
                                      </p:to>
                                    </p:set>
                                    <p:animEffect transition="in" filter="wipe(left)">
                                      <p:cBhvr>
                                        <p:cTn id="21" dur="1000"/>
                                        <p:tgtEl>
                                          <p:spTgt spid="32256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22568"/>
                                        </p:tgtEl>
                                        <p:attrNameLst>
                                          <p:attrName>style.visibility</p:attrName>
                                        </p:attrNameLst>
                                      </p:cBhvr>
                                      <p:to>
                                        <p:strVal val="visible"/>
                                      </p:to>
                                    </p:set>
                                    <p:animEffect transition="in" filter="wipe(left)">
                                      <p:cBhvr>
                                        <p:cTn id="26" dur="1000"/>
                                        <p:tgtEl>
                                          <p:spTgt spid="32256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322565"/>
                                        </p:tgtEl>
                                        <p:attrNameLst>
                                          <p:attrName>style.visibility</p:attrName>
                                        </p:attrNameLst>
                                      </p:cBhvr>
                                      <p:to>
                                        <p:strVal val="visible"/>
                                      </p:to>
                                    </p:set>
                                    <p:animEffect transition="in" filter="wipe(left)">
                                      <p:cBhvr>
                                        <p:cTn id="30" dur="1000"/>
                                        <p:tgtEl>
                                          <p:spTgt spid="32256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22569"/>
                                        </p:tgtEl>
                                        <p:attrNameLst>
                                          <p:attrName>style.visibility</p:attrName>
                                        </p:attrNameLst>
                                      </p:cBhvr>
                                      <p:to>
                                        <p:strVal val="visible"/>
                                      </p:to>
                                    </p:set>
                                    <p:animEffect transition="in" filter="wipe(left)">
                                      <p:cBhvr>
                                        <p:cTn id="35" dur="1000"/>
                                        <p:tgtEl>
                                          <p:spTgt spid="322569"/>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322566"/>
                                        </p:tgtEl>
                                        <p:attrNameLst>
                                          <p:attrName>style.visibility</p:attrName>
                                        </p:attrNameLst>
                                      </p:cBhvr>
                                      <p:to>
                                        <p:strVal val="visible"/>
                                      </p:to>
                                    </p:set>
                                    <p:animEffect transition="in" filter="wipe(left)">
                                      <p:cBhvr>
                                        <p:cTn id="39" dur="1000"/>
                                        <p:tgtEl>
                                          <p:spTgt spid="322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2" grpId="0"/>
      <p:bldP spid="322563" grpId="0"/>
      <p:bldP spid="322564" grpId="0"/>
      <p:bldP spid="322565" grpId="0"/>
      <p:bldP spid="322566" grpId="0"/>
      <p:bldP spid="322567" grpId="0"/>
      <p:bldP spid="322568" grpId="0"/>
      <p:bldP spid="322569" grpId="0"/>
    </p:bldLst>
  </p:timing>
</p:sld>
</file>

<file path=ppt/slides/slide1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6674" name="标题 1"/>
          <p:cNvSpPr>
            <a:spLocks noGrp="1" noChangeArrowheads="1"/>
          </p:cNvSpPr>
          <p:nvPr>
            <p:ph type="title" idx="4294967295"/>
          </p:nvPr>
        </p:nvSpPr>
        <p:spPr>
          <a:xfrm>
            <a:off x="2400300" y="260351"/>
            <a:ext cx="7391400" cy="563563"/>
          </a:xfrm>
        </p:spPr>
        <p:txBody>
          <a:bodyPr/>
          <a:lstStyle/>
          <a:p>
            <a:r>
              <a:rPr lang="zh-CN" altLang="en-US">
                <a:solidFill>
                  <a:srgbClr val="990000"/>
                </a:solidFill>
              </a:rPr>
              <a:t>病 例</a:t>
            </a:r>
            <a:endParaRPr lang="zh-CN" altLang="en-US">
              <a:solidFill>
                <a:srgbClr val="990000"/>
              </a:solidFill>
            </a:endParaRPr>
          </a:p>
        </p:txBody>
      </p:sp>
      <p:sp>
        <p:nvSpPr>
          <p:cNvPr id="156675" name="内容占位符 2"/>
          <p:cNvSpPr>
            <a:spLocks noGrp="1" noChangeArrowheads="1"/>
          </p:cNvSpPr>
          <p:nvPr>
            <p:ph idx="4294967295"/>
          </p:nvPr>
        </p:nvSpPr>
        <p:spPr>
          <a:xfrm>
            <a:off x="911424" y="1023939"/>
            <a:ext cx="10513168" cy="5501405"/>
          </a:xfrm>
        </p:spPr>
        <p:txBody>
          <a:bodyPr/>
          <a:lstStyle/>
          <a:p>
            <a:r>
              <a:rPr lang="zh-CN" altLang="en-US" sz="2400" b="0" dirty="0"/>
              <a:t>患者，男性，</a:t>
            </a:r>
            <a:r>
              <a:rPr lang="en-US" altLang="zh-CN" sz="2400" b="0" dirty="0">
                <a:solidFill>
                  <a:srgbClr val="0000CC"/>
                </a:solidFill>
              </a:rPr>
              <a:t>59</a:t>
            </a:r>
            <a:r>
              <a:rPr lang="zh-CN" altLang="en-US" sz="2400" b="0" dirty="0">
                <a:solidFill>
                  <a:srgbClr val="0000CC"/>
                </a:solidFill>
              </a:rPr>
              <a:t>岁</a:t>
            </a:r>
            <a:r>
              <a:rPr lang="zh-CN" altLang="en-US" sz="2400" b="0" dirty="0"/>
              <a:t>，于</a:t>
            </a:r>
            <a:r>
              <a:rPr lang="en-US" altLang="zh-CN" sz="2400" b="0" dirty="0"/>
              <a:t>4</a:t>
            </a:r>
            <a:r>
              <a:rPr lang="zh-CN" altLang="en-US" sz="2400" b="0" dirty="0"/>
              <a:t>个月前开始觉得</a:t>
            </a:r>
            <a:r>
              <a:rPr lang="zh-CN" altLang="en-US" sz="2400" b="0" dirty="0">
                <a:solidFill>
                  <a:srgbClr val="0000CC"/>
                </a:solidFill>
              </a:rPr>
              <a:t>口渴多饮</a:t>
            </a:r>
            <a:r>
              <a:rPr lang="zh-CN" altLang="en-US" sz="2400" b="0" dirty="0"/>
              <a:t>，每日饮水量达</a:t>
            </a:r>
            <a:r>
              <a:rPr lang="en-US" altLang="zh-CN" sz="2400" b="0" dirty="0"/>
              <a:t>4000ml</a:t>
            </a:r>
            <a:r>
              <a:rPr lang="zh-CN" altLang="en-US" sz="2400" b="0" dirty="0"/>
              <a:t>，</a:t>
            </a:r>
            <a:r>
              <a:rPr lang="zh-CN" altLang="en-US" sz="2400" b="0" dirty="0">
                <a:solidFill>
                  <a:srgbClr val="0000CC"/>
                </a:solidFill>
              </a:rPr>
              <a:t>多尿</a:t>
            </a:r>
            <a:r>
              <a:rPr lang="zh-CN" altLang="en-US" sz="2400" b="0" dirty="0"/>
              <a:t>，每日</a:t>
            </a:r>
            <a:r>
              <a:rPr lang="en-US" altLang="zh-CN" sz="2400" b="0" dirty="0"/>
              <a:t>10</a:t>
            </a:r>
            <a:r>
              <a:rPr lang="zh-CN" altLang="en-US" sz="2400" b="0" dirty="0"/>
              <a:t>余次，无尿急，尿痛及血尿，无明显多食，也无饥饿感，当时未注意，近一个月来发现症状开始加重，并出现</a:t>
            </a:r>
            <a:r>
              <a:rPr lang="zh-CN" altLang="en-US" sz="2400" b="0" dirty="0">
                <a:solidFill>
                  <a:srgbClr val="0000CC"/>
                </a:solidFill>
              </a:rPr>
              <a:t>严重乏力，消瘦</a:t>
            </a:r>
            <a:r>
              <a:rPr lang="zh-CN" altLang="en-US" sz="2400" b="0" dirty="0"/>
              <a:t>，体重在</a:t>
            </a:r>
            <a:r>
              <a:rPr lang="en-US" altLang="zh-CN" sz="2400" b="0" dirty="0">
                <a:solidFill>
                  <a:srgbClr val="0000FF"/>
                </a:solidFill>
              </a:rPr>
              <a:t>2</a:t>
            </a:r>
            <a:r>
              <a:rPr lang="zh-CN" altLang="en-US" sz="2400" b="0" dirty="0">
                <a:solidFill>
                  <a:srgbClr val="0000FF"/>
                </a:solidFill>
              </a:rPr>
              <a:t>个月内轻</a:t>
            </a:r>
            <a:r>
              <a:rPr lang="en-US" altLang="zh-CN" sz="2400" b="0" dirty="0">
                <a:solidFill>
                  <a:srgbClr val="0000FF"/>
                </a:solidFill>
              </a:rPr>
              <a:t>10KG</a:t>
            </a:r>
            <a:r>
              <a:rPr lang="zh-CN" altLang="en-US" sz="2400" b="0" dirty="0"/>
              <a:t>。</a:t>
            </a:r>
            <a:endParaRPr lang="zh-CN" altLang="en-US" sz="2400" b="0" dirty="0"/>
          </a:p>
          <a:p>
            <a:r>
              <a:rPr lang="zh-CN" altLang="en-US" sz="2400" dirty="0"/>
              <a:t>体格检查</a:t>
            </a:r>
            <a:r>
              <a:rPr lang="zh-CN" altLang="en-US" sz="2400" b="0" dirty="0"/>
              <a:t>：体温</a:t>
            </a:r>
            <a:r>
              <a:rPr lang="en-US" altLang="zh-CN" sz="2400" b="0" dirty="0"/>
              <a:t>36.5℃,</a:t>
            </a:r>
            <a:r>
              <a:rPr lang="zh-CN" altLang="en-US" sz="2400" b="0" dirty="0"/>
              <a:t>呼吸</a:t>
            </a:r>
            <a:r>
              <a:rPr lang="en-US" altLang="zh-CN" sz="2400" b="0" dirty="0"/>
              <a:t>20</a:t>
            </a:r>
            <a:r>
              <a:rPr lang="zh-CN" altLang="en-US" sz="2400" b="0" dirty="0"/>
              <a:t>次</a:t>
            </a:r>
            <a:r>
              <a:rPr lang="en-US" altLang="zh-CN" sz="2400" b="0" dirty="0"/>
              <a:t>/</a:t>
            </a:r>
            <a:r>
              <a:rPr lang="zh-CN" altLang="en-US" sz="2400" b="0" dirty="0"/>
              <a:t>分，脉搏</a:t>
            </a:r>
            <a:r>
              <a:rPr lang="en-US" altLang="zh-CN" sz="2400" b="0" dirty="0"/>
              <a:t>89</a:t>
            </a:r>
            <a:r>
              <a:rPr lang="zh-CN" altLang="en-US" sz="2400" b="0" dirty="0"/>
              <a:t>次</a:t>
            </a:r>
            <a:r>
              <a:rPr lang="en-US" altLang="zh-CN" sz="2400" b="0" dirty="0"/>
              <a:t>/</a:t>
            </a:r>
            <a:r>
              <a:rPr lang="zh-CN" altLang="en-US" sz="2400" b="0" dirty="0"/>
              <a:t>分，血压</a:t>
            </a:r>
            <a:r>
              <a:rPr lang="en-US" altLang="zh-CN" sz="2400" b="0" dirty="0"/>
              <a:t>120/80mmHg</a:t>
            </a:r>
            <a:r>
              <a:rPr lang="zh-CN" altLang="en-US" sz="2400" b="0" dirty="0"/>
              <a:t>，一般状态尚可，神志清楚，消瘦体质，自动体位，皮肤弹性佳，心肺未听到杂音，腹软，无压痛，肝脾未触及，移动性浊音阴性，双肾区无叩击痛，双下肢无水肿。</a:t>
            </a:r>
            <a:endParaRPr lang="zh-CN" altLang="en-US" sz="2400" b="0" dirty="0"/>
          </a:p>
          <a:p>
            <a:r>
              <a:rPr lang="zh-CN" altLang="en-US" sz="2400" dirty="0"/>
              <a:t>实验室检查</a:t>
            </a:r>
            <a:r>
              <a:rPr lang="zh-CN" altLang="en-US" sz="2400" b="0" dirty="0"/>
              <a:t>：尿常规：</a:t>
            </a:r>
            <a:r>
              <a:rPr lang="zh-CN" altLang="en-US" sz="2400" b="0" dirty="0">
                <a:solidFill>
                  <a:srgbClr val="0000CC"/>
                </a:solidFill>
              </a:rPr>
              <a:t>糖</a:t>
            </a:r>
            <a:r>
              <a:rPr lang="en-US" altLang="zh-CN" sz="2400" b="0" dirty="0">
                <a:solidFill>
                  <a:srgbClr val="0000CC"/>
                </a:solidFill>
              </a:rPr>
              <a:t>+</a:t>
            </a:r>
            <a:r>
              <a:rPr lang="zh-CN" altLang="en-US" sz="2400" b="0" dirty="0"/>
              <a:t>，酮体</a:t>
            </a:r>
            <a:r>
              <a:rPr lang="en-US" altLang="zh-CN" sz="2400" b="0" dirty="0"/>
              <a:t>-</a:t>
            </a:r>
            <a:r>
              <a:rPr lang="zh-CN" altLang="en-US" sz="2400" b="0" dirty="0"/>
              <a:t>，蛋白</a:t>
            </a:r>
            <a:r>
              <a:rPr lang="en-US" altLang="zh-CN" sz="2400" b="0" dirty="0"/>
              <a:t>-</a:t>
            </a:r>
            <a:r>
              <a:rPr lang="zh-CN" altLang="en-US" sz="2400" b="0" dirty="0"/>
              <a:t>，隐血</a:t>
            </a:r>
            <a:r>
              <a:rPr lang="en-US" altLang="zh-CN" sz="2400" b="0" dirty="0"/>
              <a:t>-</a:t>
            </a:r>
            <a:r>
              <a:rPr lang="zh-CN" altLang="en-US" sz="2400" b="0" dirty="0"/>
              <a:t>，尿相对比重</a:t>
            </a:r>
            <a:r>
              <a:rPr lang="en-US" altLang="zh-CN" sz="2400" b="0" dirty="0"/>
              <a:t>1.020</a:t>
            </a:r>
            <a:r>
              <a:rPr lang="zh-CN" altLang="en-US" sz="2400" b="0" dirty="0"/>
              <a:t>，尿沉渣镜检白细胞</a:t>
            </a:r>
            <a:r>
              <a:rPr lang="en-US" altLang="zh-CN" sz="2400" b="0" dirty="0"/>
              <a:t>WBC2-3</a:t>
            </a:r>
            <a:r>
              <a:rPr lang="zh-CN" altLang="en-US" sz="2400" b="0" dirty="0"/>
              <a:t>个</a:t>
            </a:r>
            <a:r>
              <a:rPr lang="en-US" altLang="zh-CN" sz="2400" b="0" dirty="0"/>
              <a:t>/HP</a:t>
            </a:r>
            <a:r>
              <a:rPr lang="zh-CN" altLang="en-US" sz="2400" b="0" dirty="0"/>
              <a:t>，</a:t>
            </a:r>
            <a:r>
              <a:rPr lang="zh-CN" altLang="en-US" sz="2400" b="0" dirty="0">
                <a:solidFill>
                  <a:srgbClr val="0000CC"/>
                </a:solidFill>
              </a:rPr>
              <a:t>空腹血糖</a:t>
            </a:r>
            <a:r>
              <a:rPr lang="en-US" altLang="zh-CN" sz="2400" b="0" dirty="0">
                <a:solidFill>
                  <a:srgbClr val="0000CC"/>
                </a:solidFill>
              </a:rPr>
              <a:t>7.0mmol/L</a:t>
            </a:r>
            <a:r>
              <a:rPr lang="zh-CN" altLang="en-US" sz="2400" b="0" dirty="0"/>
              <a:t>。</a:t>
            </a:r>
            <a:endParaRPr lang="zh-CN" altLang="en-US" sz="2400" b="0" dirty="0"/>
          </a:p>
          <a:p>
            <a:r>
              <a:rPr lang="zh-CN" altLang="en-US" sz="2400" dirty="0"/>
              <a:t>问题讨论</a:t>
            </a:r>
            <a:r>
              <a:rPr lang="zh-CN" altLang="en-US" sz="2400" b="0" dirty="0"/>
              <a:t>：</a:t>
            </a:r>
            <a:endParaRPr lang="zh-CN" altLang="en-US" sz="2400" b="0" dirty="0"/>
          </a:p>
          <a:p>
            <a:r>
              <a:rPr lang="en-US" altLang="zh-CN" sz="2400" b="0" dirty="0"/>
              <a:t>1.	</a:t>
            </a:r>
            <a:r>
              <a:rPr lang="zh-CN" altLang="en-US" sz="2400" b="0" dirty="0"/>
              <a:t>该患者为何种疾病？</a:t>
            </a:r>
            <a:endParaRPr lang="zh-CN" altLang="en-US" sz="2400" b="0" dirty="0"/>
          </a:p>
          <a:p>
            <a:r>
              <a:rPr lang="en-US" altLang="zh-CN" sz="2400" b="0" dirty="0"/>
              <a:t>2.	</a:t>
            </a:r>
            <a:r>
              <a:rPr lang="zh-CN" altLang="en-US" sz="2400" b="0" dirty="0"/>
              <a:t>出现糖尿病典型症状的机制是什么？</a:t>
            </a:r>
            <a:endParaRPr lang="zh-CN" altLang="en-US" sz="2400" b="0" dirty="0"/>
          </a:p>
        </p:txBody>
      </p:sp>
    </p:spTree>
  </p:cSld>
  <p:clrMapOvr>
    <a:masterClrMapping/>
  </p:clrMapOvr>
  <p:transition spd="med">
    <p:zoom/>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559496" y="2492896"/>
            <a:ext cx="9324522" cy="2592287"/>
          </a:xfrm>
          <a:prstGeom prst="rect">
            <a:avLst/>
          </a:prstGeom>
        </p:spPr>
      </p:pic>
      <p:sp>
        <p:nvSpPr>
          <p:cNvPr id="4" name="标题 3"/>
          <p:cNvSpPr>
            <a:spLocks noGrp="1"/>
          </p:cNvSpPr>
          <p:nvPr>
            <p:ph type="title"/>
          </p:nvPr>
        </p:nvSpPr>
        <p:spPr>
          <a:xfrm>
            <a:off x="2279576" y="1124744"/>
            <a:ext cx="7391400" cy="563562"/>
          </a:xfrm>
        </p:spPr>
        <p:txBody>
          <a:bodyPr/>
          <a:lstStyle/>
          <a:p>
            <a:r>
              <a:rPr lang="zh-CN" altLang="en-US" dirty="0">
                <a:solidFill>
                  <a:srgbClr val="0000FF"/>
                </a:solidFill>
              </a:rPr>
              <a:t>糖尿病非典型症状</a:t>
            </a:r>
            <a:endParaRPr lang="zh-CN" altLang="en-US" dirty="0">
              <a:solidFill>
                <a:srgbClr val="0000FF"/>
              </a:solidFill>
            </a:endParaRPr>
          </a:p>
        </p:txBody>
      </p:sp>
      <p:sp>
        <p:nvSpPr>
          <p:cNvPr id="5" name="文本框 4"/>
          <p:cNvSpPr txBox="1"/>
          <p:nvPr/>
        </p:nvSpPr>
        <p:spPr>
          <a:xfrm>
            <a:off x="3359696" y="5542239"/>
            <a:ext cx="7272808" cy="523220"/>
          </a:xfrm>
          <a:prstGeom prst="rect">
            <a:avLst/>
          </a:prstGeom>
          <a:noFill/>
        </p:spPr>
        <p:txBody>
          <a:bodyPr wrap="square">
            <a:spAutoFit/>
          </a:bodyPr>
          <a:lstStyle/>
          <a:p>
            <a:r>
              <a:rPr lang="zh-CN" altLang="en-US" sz="2800" b="0" dirty="0">
                <a:solidFill>
                  <a:srgbClr val="0000CC"/>
                </a:solidFill>
                <a:latin typeface="+mj-ea"/>
                <a:ea typeface="+mj-ea"/>
              </a:rPr>
              <a:t>早期</a:t>
            </a:r>
            <a:r>
              <a:rPr lang="en-US" altLang="zh-CN" sz="2800" b="0" dirty="0">
                <a:solidFill>
                  <a:srgbClr val="0000CC"/>
                </a:solidFill>
                <a:latin typeface="+mj-ea"/>
                <a:ea typeface="+mj-ea"/>
              </a:rPr>
              <a:t>T2DM</a:t>
            </a:r>
            <a:r>
              <a:rPr lang="zh-CN" altLang="en-US" sz="2800" b="0" dirty="0">
                <a:solidFill>
                  <a:srgbClr val="0000CC"/>
                </a:solidFill>
                <a:latin typeface="+mj-ea"/>
                <a:ea typeface="+mj-ea"/>
              </a:rPr>
              <a:t>约半数人无任何症状</a:t>
            </a:r>
            <a:endParaRPr lang="zh-CN" altLang="en-US" sz="2800" b="0" dirty="0">
              <a:solidFill>
                <a:srgbClr val="0000CC"/>
              </a:solidFill>
              <a:latin typeface="+mj-ea"/>
              <a:ea typeface="+mj-ea"/>
            </a:endParaRPr>
          </a:p>
        </p:txBody>
      </p:sp>
    </p:spTree>
  </p:cSld>
  <p:clrMapOvr>
    <a:masterClrMapping/>
  </p:clrMapOvr>
  <p:transition spd="med">
    <p:zoom/>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3432" y="1603363"/>
            <a:ext cx="10225136" cy="4680520"/>
          </a:xfrm>
        </p:spPr>
        <p:txBody>
          <a:bodyPr/>
          <a:lstStyle/>
          <a:p>
            <a:pPr>
              <a:lnSpc>
                <a:spcPct val="130000"/>
              </a:lnSpc>
            </a:pPr>
            <a:r>
              <a:rPr lang="zh-CN" altLang="en-US" sz="2600" b="0" dirty="0">
                <a:solidFill>
                  <a:srgbClr val="C00000"/>
                </a:solidFill>
              </a:rPr>
              <a:t>晚期糖化终末产物 </a:t>
            </a:r>
            <a:r>
              <a:rPr lang="en-US" altLang="zh-CN" sz="2600" b="0" dirty="0">
                <a:solidFill>
                  <a:srgbClr val="C00000"/>
                </a:solidFill>
              </a:rPr>
              <a:t>(advanced glycation end products</a:t>
            </a:r>
            <a:r>
              <a:rPr lang="zh-CN" altLang="en-US" sz="2600" b="0" dirty="0">
                <a:solidFill>
                  <a:srgbClr val="C00000"/>
                </a:solidFill>
              </a:rPr>
              <a:t>，</a:t>
            </a:r>
            <a:r>
              <a:rPr lang="en-US" altLang="zh-CN" sz="2600" dirty="0">
                <a:solidFill>
                  <a:srgbClr val="C00000"/>
                </a:solidFill>
              </a:rPr>
              <a:t>AGEs</a:t>
            </a:r>
            <a:r>
              <a:rPr lang="zh-CN" altLang="en-US" sz="2600" b="0" dirty="0">
                <a:solidFill>
                  <a:srgbClr val="C00000"/>
                </a:solidFill>
              </a:rPr>
              <a:t>）</a:t>
            </a:r>
            <a:r>
              <a:rPr lang="zh-CN" altLang="en-US" sz="2600" b="0" dirty="0"/>
              <a:t>： 是一组在</a:t>
            </a:r>
            <a:r>
              <a:rPr lang="zh-CN" altLang="en-US" sz="2600" dirty="0"/>
              <a:t>蛋白质 、脂肪酸</a:t>
            </a:r>
            <a:r>
              <a:rPr lang="zh-CN" altLang="en-US" sz="2600" b="0" dirty="0"/>
              <a:t>或</a:t>
            </a:r>
            <a:r>
              <a:rPr lang="zh-CN" altLang="en-US" sz="2600" dirty="0"/>
              <a:t>核酸</a:t>
            </a:r>
            <a:r>
              <a:rPr lang="zh-CN" altLang="en-US" sz="2600" b="0" dirty="0"/>
              <a:t>的基团与还原糖的醛基之间发生</a:t>
            </a:r>
            <a:r>
              <a:rPr lang="zh-CN" altLang="en-US" sz="2600" b="0" dirty="0">
                <a:solidFill>
                  <a:srgbClr val="0000FF"/>
                </a:solidFill>
              </a:rPr>
              <a:t>非酶性糖基化反应 </a:t>
            </a:r>
            <a:r>
              <a:rPr lang="en-US" altLang="zh-CN" sz="2600" b="0" dirty="0"/>
              <a:t>(</a:t>
            </a:r>
            <a:r>
              <a:rPr lang="zh-CN" altLang="en-US" sz="2600" b="0" dirty="0"/>
              <a:t>又称 </a:t>
            </a:r>
            <a:r>
              <a:rPr lang="en-US" altLang="zh-CN" sz="2600" b="0" dirty="0"/>
              <a:t>Maillard</a:t>
            </a:r>
            <a:r>
              <a:rPr lang="zh-CN" altLang="en-US" sz="2600" b="0" dirty="0"/>
              <a:t>反应）所形成的一系列具有高度反应活性的终产物的总称 ，其结构</a:t>
            </a:r>
            <a:r>
              <a:rPr lang="zh-CN" altLang="en-US" sz="2600" b="0" dirty="0">
                <a:solidFill>
                  <a:schemeClr val="tx1">
                    <a:lumMod val="95000"/>
                    <a:lumOff val="5000"/>
                  </a:schemeClr>
                </a:solidFill>
              </a:rPr>
              <a:t>具有</a:t>
            </a:r>
            <a:r>
              <a:rPr lang="zh-CN" altLang="en-US" sz="2600" b="0" dirty="0">
                <a:solidFill>
                  <a:srgbClr val="0000FF"/>
                </a:solidFill>
              </a:rPr>
              <a:t>高度异质性</a:t>
            </a:r>
            <a:r>
              <a:rPr lang="zh-CN" altLang="en-US" sz="2600" b="0" dirty="0"/>
              <a:t>。  比如</a:t>
            </a:r>
            <a:r>
              <a:rPr lang="zh-CN" altLang="en-US" sz="2600" dirty="0"/>
              <a:t>糖化血红蛋白</a:t>
            </a:r>
            <a:r>
              <a:rPr lang="zh-CN" altLang="en-US" sz="2600" b="0" dirty="0"/>
              <a:t>（</a:t>
            </a:r>
            <a:r>
              <a:rPr lang="en-US" altLang="zh-CN" sz="2600" b="0" dirty="0"/>
              <a:t>glycated hemoglobin</a:t>
            </a:r>
            <a:r>
              <a:rPr lang="zh-CN" altLang="en-US" sz="2600" b="0" dirty="0"/>
              <a:t>，</a:t>
            </a:r>
            <a:r>
              <a:rPr lang="en-US" altLang="zh-CN" sz="2600" dirty="0"/>
              <a:t>GHB</a:t>
            </a:r>
            <a:r>
              <a:rPr lang="zh-CN" altLang="en-US" sz="2600" b="0" dirty="0"/>
              <a:t>）</a:t>
            </a:r>
            <a:endParaRPr lang="en-US" altLang="zh-CN" sz="2600" b="0" dirty="0"/>
          </a:p>
          <a:p>
            <a:pPr marL="457200" lvl="1" indent="0">
              <a:lnSpc>
                <a:spcPct val="130000"/>
              </a:lnSpc>
              <a:buNone/>
            </a:pPr>
            <a:r>
              <a:rPr lang="zh-CN" altLang="en-US" sz="2400" b="0" dirty="0"/>
              <a:t>①</a:t>
            </a:r>
            <a:r>
              <a:rPr lang="en-US" altLang="zh-CN" sz="2400" b="0" dirty="0"/>
              <a:t>AGE </a:t>
            </a:r>
            <a:r>
              <a:rPr lang="zh-CN" altLang="en-US" sz="2400" b="0" dirty="0"/>
              <a:t>与体内多种蛋白质发生广泛的共价交联，对肾、视网膜、心血管等造成损伤。</a:t>
            </a:r>
            <a:endParaRPr lang="zh-CN" altLang="en-US" sz="2400" b="0" dirty="0"/>
          </a:p>
          <a:p>
            <a:pPr marL="457200" lvl="1" indent="0">
              <a:lnSpc>
                <a:spcPct val="130000"/>
              </a:lnSpc>
              <a:buNone/>
            </a:pPr>
            <a:r>
              <a:rPr lang="zh-CN" altLang="en-US" sz="2400" b="0" dirty="0"/>
              <a:t>②</a:t>
            </a:r>
            <a:r>
              <a:rPr lang="en-US" altLang="zh-CN" sz="2400" b="0" dirty="0"/>
              <a:t>AGE </a:t>
            </a:r>
            <a:r>
              <a:rPr lang="zh-CN" altLang="en-US" sz="2400" b="0" dirty="0"/>
              <a:t>被其细胞膜受体（</a:t>
            </a:r>
            <a:r>
              <a:rPr lang="en-US" altLang="zh-CN" sz="2400" b="0" dirty="0"/>
              <a:t>RAGE</a:t>
            </a:r>
            <a:r>
              <a:rPr lang="zh-CN" altLang="en-US" sz="2400" b="0" dirty="0"/>
              <a:t>）识别，激活转录因子</a:t>
            </a:r>
            <a:r>
              <a:rPr lang="en-US" altLang="zh-CN" sz="2400" b="0" dirty="0"/>
              <a:t>NF-</a:t>
            </a:r>
            <a:r>
              <a:rPr lang="en-US" altLang="zh-CN" sz="2400" b="0" dirty="0" err="1"/>
              <a:t>κB</a:t>
            </a:r>
            <a:r>
              <a:rPr lang="zh-CN" altLang="en-US" sz="2400" b="0" dirty="0"/>
              <a:t>，促进炎性因子表达。</a:t>
            </a:r>
            <a:endParaRPr lang="en-US" altLang="zh-CN" sz="2400" b="0" dirty="0"/>
          </a:p>
        </p:txBody>
      </p:sp>
      <p:sp>
        <p:nvSpPr>
          <p:cNvPr id="4" name="文本框 3"/>
          <p:cNvSpPr txBox="1"/>
          <p:nvPr/>
        </p:nvSpPr>
        <p:spPr>
          <a:xfrm>
            <a:off x="2999656" y="589385"/>
            <a:ext cx="6696744" cy="646331"/>
          </a:xfrm>
          <a:prstGeom prst="rect">
            <a:avLst/>
          </a:prstGeom>
          <a:noFill/>
        </p:spPr>
        <p:txBody>
          <a:bodyPr wrap="square">
            <a:spAutoFit/>
          </a:bodyPr>
          <a:lstStyle/>
          <a:p>
            <a:r>
              <a:rPr lang="zh-CN" altLang="en-US" sz="3600" dirty="0">
                <a:solidFill>
                  <a:srgbClr val="7030A0"/>
                </a:solidFill>
                <a:latin typeface="微软雅黑" panose="020B0503020204020204" pitchFamily="34" charset="-122"/>
                <a:ea typeface="微软雅黑" panose="020B0503020204020204" pitchFamily="34" charset="-122"/>
              </a:rPr>
              <a:t>四、高糖对细胞具有损伤效应</a:t>
            </a:r>
            <a:endParaRPr lang="zh-CN" altLang="en-US" sz="3600" dirty="0">
              <a:solidFill>
                <a:srgbClr val="7030A0"/>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55938" y="2146301"/>
            <a:ext cx="5848350"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79" name="矩形 2"/>
          <p:cNvSpPr>
            <a:spLocks noChangeArrowheads="1"/>
          </p:cNvSpPr>
          <p:nvPr/>
        </p:nvSpPr>
        <p:spPr bwMode="auto">
          <a:xfrm>
            <a:off x="1991991" y="5701694"/>
            <a:ext cx="84604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0"/>
              </a:spcBef>
              <a:buClrTx/>
              <a:buSzTx/>
              <a:buFontTx/>
              <a:buNone/>
            </a:pPr>
            <a:r>
              <a:rPr lang="en-US" altLang="zh-CN" sz="2000" dirty="0">
                <a:latin typeface="Arial" panose="020B0604020202020204" pitchFamily="34" charset="0"/>
              </a:rPr>
              <a:t>the profile of an individual with a normal level of HbA1c (5.9%)</a:t>
            </a:r>
            <a:endParaRPr lang="zh-CN" altLang="en-US" sz="2000" dirty="0">
              <a:latin typeface="Arial" panose="020B0604020202020204" pitchFamily="34" charset="0"/>
            </a:endParaRPr>
          </a:p>
        </p:txBody>
      </p:sp>
      <p:sp>
        <p:nvSpPr>
          <p:cNvPr id="5" name="内容占位符 4"/>
          <p:cNvSpPr>
            <a:spLocks noGrp="1"/>
          </p:cNvSpPr>
          <p:nvPr>
            <p:ph idx="4294967295"/>
          </p:nvPr>
        </p:nvSpPr>
        <p:spPr>
          <a:xfrm>
            <a:off x="2225676" y="514351"/>
            <a:ext cx="7993063" cy="1539875"/>
          </a:xfrm>
        </p:spPr>
        <p:txBody>
          <a:bodyPr/>
          <a:lstStyle/>
          <a:p>
            <a:pPr>
              <a:lnSpc>
                <a:spcPct val="120000"/>
              </a:lnSpc>
              <a:spcBef>
                <a:spcPts val="600"/>
              </a:spcBef>
              <a:defRPr/>
            </a:pPr>
            <a:r>
              <a:rPr lang="zh-CN" altLang="en-US" sz="2400" b="0" dirty="0">
                <a:latin typeface="微软雅黑" panose="020B0503020204020204" pitchFamily="34" charset="-122"/>
                <a:ea typeface="微软雅黑" panose="020B0503020204020204" pitchFamily="34" charset="-122"/>
              </a:rPr>
              <a:t>正常人的</a:t>
            </a:r>
            <a:r>
              <a:rPr lang="zh-CN" altLang="en-US" sz="2400" b="0" dirty="0">
                <a:solidFill>
                  <a:srgbClr val="C00000"/>
                </a:solidFill>
                <a:latin typeface="微软雅黑" panose="020B0503020204020204" pitchFamily="34" charset="-122"/>
                <a:ea typeface="微软雅黑" panose="020B0503020204020204" pitchFamily="34" charset="-122"/>
              </a:rPr>
              <a:t>糖化血红蛋白</a:t>
            </a:r>
            <a:r>
              <a:rPr lang="en-US" altLang="zh-CN" sz="2400" b="0" dirty="0">
                <a:solidFill>
                  <a:srgbClr val="C00000"/>
                </a:solidFill>
                <a:latin typeface="微软雅黑" panose="020B0503020204020204" pitchFamily="34" charset="-122"/>
                <a:ea typeface="微软雅黑" panose="020B0503020204020204" pitchFamily="34" charset="-122"/>
              </a:rPr>
              <a:t>HbA1c</a:t>
            </a:r>
            <a:r>
              <a:rPr lang="zh-CN" altLang="en-US" sz="2400" b="0" dirty="0">
                <a:latin typeface="微软雅黑" panose="020B0503020204020204" pitchFamily="34" charset="-122"/>
                <a:ea typeface="微软雅黑" panose="020B0503020204020204" pitchFamily="34" charset="-122"/>
              </a:rPr>
              <a:t>只占总</a:t>
            </a:r>
            <a:r>
              <a:rPr lang="en-US" altLang="zh-CN" sz="2400" b="0" dirty="0">
                <a:latin typeface="微软雅黑" panose="020B0503020204020204" pitchFamily="34" charset="-122"/>
                <a:ea typeface="微软雅黑" panose="020B0503020204020204" pitchFamily="34" charset="-122"/>
              </a:rPr>
              <a:t>Hb</a:t>
            </a:r>
            <a:r>
              <a:rPr lang="zh-CN" altLang="en-US" sz="2400" b="0" dirty="0">
                <a:latin typeface="微软雅黑" panose="020B0503020204020204" pitchFamily="34" charset="-122"/>
                <a:ea typeface="微软雅黑" panose="020B0503020204020204" pitchFamily="34" charset="-122"/>
              </a:rPr>
              <a:t>的</a:t>
            </a:r>
            <a:r>
              <a:rPr lang="en-US" altLang="zh-CN" sz="2400" b="0" dirty="0">
                <a:solidFill>
                  <a:srgbClr val="C00000"/>
                </a:solidFill>
                <a:latin typeface="微软雅黑" panose="020B0503020204020204" pitchFamily="34" charset="-122"/>
                <a:ea typeface="微软雅黑" panose="020B0503020204020204" pitchFamily="34" charset="-122"/>
              </a:rPr>
              <a:t>4%~6%</a:t>
            </a:r>
            <a:r>
              <a:rPr lang="zh-CN" altLang="en-US" sz="2400" b="0" dirty="0">
                <a:latin typeface="微软雅黑" panose="020B0503020204020204" pitchFamily="34" charset="-122"/>
                <a:ea typeface="微软雅黑" panose="020B0503020204020204" pitchFamily="34" charset="-122"/>
              </a:rPr>
              <a:t>，</a:t>
            </a:r>
            <a:endParaRPr lang="en-US" altLang="zh-CN" sz="2400" b="0" dirty="0">
              <a:latin typeface="微软雅黑" panose="020B0503020204020204" pitchFamily="34" charset="-122"/>
              <a:ea typeface="微软雅黑" panose="020B0503020204020204" pitchFamily="34" charset="-122"/>
            </a:endParaRPr>
          </a:p>
          <a:p>
            <a:pPr>
              <a:lnSpc>
                <a:spcPct val="120000"/>
              </a:lnSpc>
              <a:spcBef>
                <a:spcPts val="600"/>
              </a:spcBef>
              <a:defRPr/>
            </a:pPr>
            <a:r>
              <a:rPr lang="zh-CN" altLang="en-US" sz="2400" b="0" dirty="0">
                <a:latin typeface="微软雅黑" panose="020B0503020204020204" pitchFamily="34" charset="-122"/>
                <a:ea typeface="微软雅黑" panose="020B0503020204020204" pitchFamily="34" charset="-122"/>
              </a:rPr>
              <a:t>严重糖尿病患者的</a:t>
            </a:r>
            <a:r>
              <a:rPr lang="en-US" altLang="zh-CN" sz="2400" b="0" dirty="0">
                <a:latin typeface="微软雅黑" panose="020B0503020204020204" pitchFamily="34" charset="-122"/>
                <a:ea typeface="微软雅黑" panose="020B0503020204020204" pitchFamily="34" charset="-122"/>
              </a:rPr>
              <a:t>HbA1c</a:t>
            </a:r>
            <a:r>
              <a:rPr lang="zh-CN" altLang="en-US" sz="2400" b="0" dirty="0">
                <a:latin typeface="微软雅黑" panose="020B0503020204020204" pitchFamily="34" charset="-122"/>
                <a:ea typeface="微软雅黑" panose="020B0503020204020204" pitchFamily="34" charset="-122"/>
              </a:rPr>
              <a:t>的比例可高达</a:t>
            </a:r>
            <a:r>
              <a:rPr lang="en-US" altLang="zh-CN" sz="2400" b="0" dirty="0">
                <a:latin typeface="微软雅黑" panose="020B0503020204020204" pitchFamily="34" charset="-122"/>
                <a:ea typeface="微软雅黑" panose="020B0503020204020204" pitchFamily="34" charset="-122"/>
              </a:rPr>
              <a:t>13%</a:t>
            </a:r>
            <a:r>
              <a:rPr lang="zh-CN" altLang="en-US" sz="2400" b="0" dirty="0">
                <a:latin typeface="微软雅黑" panose="020B0503020204020204" pitchFamily="34" charset="-122"/>
                <a:ea typeface="微软雅黑" panose="020B0503020204020204" pitchFamily="34" charset="-122"/>
              </a:rPr>
              <a:t>左右</a:t>
            </a:r>
            <a:endParaRPr lang="en-US" altLang="zh-CN" sz="2400" b="0" dirty="0">
              <a:latin typeface="微软雅黑" panose="020B0503020204020204" pitchFamily="34" charset="-122"/>
              <a:ea typeface="微软雅黑" panose="020B0503020204020204" pitchFamily="34" charset="-122"/>
            </a:endParaRPr>
          </a:p>
          <a:p>
            <a:pPr marL="0" indent="0">
              <a:lnSpc>
                <a:spcPct val="120000"/>
              </a:lnSpc>
              <a:spcBef>
                <a:spcPts val="600"/>
              </a:spcBef>
              <a:buNone/>
              <a:defRPr/>
            </a:pPr>
            <a:r>
              <a:rPr lang="zh-CN" altLang="en-US" sz="2400" b="0" dirty="0">
                <a:latin typeface="微软雅黑" panose="020B0503020204020204" pitchFamily="34" charset="-122"/>
                <a:ea typeface="微软雅黑" panose="020B0503020204020204" pitchFamily="34" charset="-122"/>
              </a:rPr>
              <a:t>    对这类患者应用胰岛素的目标是</a:t>
            </a:r>
            <a:r>
              <a:rPr lang="zh-CN" altLang="en-US" sz="2400" b="0" dirty="0">
                <a:solidFill>
                  <a:srgbClr val="0033CC"/>
                </a:solidFill>
                <a:latin typeface="微软雅黑" panose="020B0503020204020204" pitchFamily="34" charset="-122"/>
                <a:ea typeface="微软雅黑" panose="020B0503020204020204" pitchFamily="34" charset="-122"/>
              </a:rPr>
              <a:t>控制</a:t>
            </a:r>
            <a:r>
              <a:rPr lang="en-US" altLang="zh-CN" sz="2400" b="0" dirty="0">
                <a:solidFill>
                  <a:srgbClr val="0033CC"/>
                </a:solidFill>
                <a:latin typeface="微软雅黑" panose="020B0503020204020204" pitchFamily="34" charset="-122"/>
                <a:ea typeface="微软雅黑" panose="020B0503020204020204" pitchFamily="34" charset="-122"/>
              </a:rPr>
              <a:t>HbA1c </a:t>
            </a:r>
            <a:r>
              <a:rPr lang="zh-CN" altLang="en-US" sz="2400" b="0" dirty="0">
                <a:solidFill>
                  <a:srgbClr val="0033CC"/>
                </a:solidFill>
                <a:latin typeface="微软雅黑" panose="020B0503020204020204" pitchFamily="34" charset="-122"/>
                <a:ea typeface="微软雅黑" panose="020B0503020204020204" pitchFamily="34" charset="-122"/>
              </a:rPr>
              <a:t>≤ </a:t>
            </a:r>
            <a:r>
              <a:rPr lang="en-US" altLang="zh-CN" sz="2400" b="0" dirty="0">
                <a:solidFill>
                  <a:srgbClr val="0033CC"/>
                </a:solidFill>
                <a:latin typeface="微软雅黑" panose="020B0503020204020204" pitchFamily="34" charset="-122"/>
                <a:ea typeface="微软雅黑" panose="020B0503020204020204" pitchFamily="34" charset="-122"/>
              </a:rPr>
              <a:t>7%</a:t>
            </a:r>
            <a:endParaRPr lang="zh-CN" altLang="en-US" sz="2400" b="0" dirty="0">
              <a:solidFill>
                <a:srgbClr val="0033CC"/>
              </a:solidFill>
              <a:latin typeface="微软雅黑" panose="020B0503020204020204" pitchFamily="34" charset="-122"/>
              <a:ea typeface="微软雅黑" panose="020B0503020204020204" pitchFamily="34" charset="-122"/>
            </a:endParaRPr>
          </a:p>
        </p:txBody>
      </p:sp>
    </p:spTree>
  </p:cSld>
  <p:clrMapOvr>
    <a:masterClrMapping/>
  </p:clrMapOvr>
  <p:transition spd="med">
    <p:zoom/>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Text Box 2"/>
          <p:cNvSpPr txBox="1">
            <a:spLocks noChangeArrowheads="1"/>
          </p:cNvSpPr>
          <p:nvPr/>
        </p:nvSpPr>
        <p:spPr bwMode="auto">
          <a:xfrm>
            <a:off x="3070026" y="228600"/>
            <a:ext cx="1447800" cy="4699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50000"/>
              </a:spcBef>
              <a:buClrTx/>
              <a:buSzTx/>
              <a:buFontTx/>
              <a:buNone/>
            </a:pPr>
            <a:r>
              <a:rPr kumimoji="1" lang="zh-CN" altLang="en-US" sz="2400">
                <a:solidFill>
                  <a:srgbClr val="FF0000"/>
                </a:solidFill>
                <a:ea typeface="黑体" panose="02010609060101010101" pitchFamily="2" charset="-122"/>
              </a:rPr>
              <a:t>糖原合成</a:t>
            </a:r>
            <a:endParaRPr kumimoji="1" lang="zh-CN" altLang="en-US" sz="2400">
              <a:solidFill>
                <a:srgbClr val="FF0000"/>
              </a:solidFill>
              <a:ea typeface="黑体" panose="02010609060101010101" pitchFamily="2" charset="-122"/>
            </a:endParaRPr>
          </a:p>
        </p:txBody>
      </p:sp>
      <p:sp>
        <p:nvSpPr>
          <p:cNvPr id="325635" name="Text Box 3"/>
          <p:cNvSpPr txBox="1">
            <a:spLocks noChangeArrowheads="1"/>
          </p:cNvSpPr>
          <p:nvPr/>
        </p:nvSpPr>
        <p:spPr bwMode="auto">
          <a:xfrm>
            <a:off x="3050976" y="838200"/>
            <a:ext cx="1447800" cy="46990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50000"/>
              </a:spcBef>
              <a:buClrTx/>
              <a:buSzTx/>
              <a:buFontTx/>
              <a:buNone/>
            </a:pPr>
            <a:r>
              <a:rPr kumimoji="1" lang="zh-CN" altLang="en-US" sz="2400">
                <a:solidFill>
                  <a:srgbClr val="FF0000"/>
                </a:solidFill>
                <a:ea typeface="黑体" panose="02010609060101010101" pitchFamily="2" charset="-122"/>
              </a:rPr>
              <a:t>糖原分解</a:t>
            </a:r>
            <a:endParaRPr kumimoji="1" lang="zh-CN" altLang="en-US" sz="2400">
              <a:solidFill>
                <a:srgbClr val="FF0000"/>
              </a:solidFill>
              <a:ea typeface="黑体" panose="02010609060101010101" pitchFamily="2" charset="-122"/>
            </a:endParaRPr>
          </a:p>
        </p:txBody>
      </p:sp>
      <p:sp>
        <p:nvSpPr>
          <p:cNvPr id="325636" name="Text Box 4"/>
          <p:cNvSpPr txBox="1">
            <a:spLocks noChangeArrowheads="1"/>
          </p:cNvSpPr>
          <p:nvPr/>
        </p:nvSpPr>
        <p:spPr bwMode="auto">
          <a:xfrm>
            <a:off x="2198489" y="533400"/>
            <a:ext cx="835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400">
                <a:ea typeface="宋体" panose="02010600030101010101" pitchFamily="2" charset="-122"/>
              </a:rPr>
              <a:t>糖原</a:t>
            </a:r>
            <a:endParaRPr kumimoji="1" lang="zh-CN" altLang="en-US" sz="2400">
              <a:ea typeface="宋体" panose="02010600030101010101" pitchFamily="2" charset="-122"/>
            </a:endParaRPr>
          </a:p>
        </p:txBody>
      </p:sp>
      <p:sp>
        <p:nvSpPr>
          <p:cNvPr id="325637" name="Text Box 5"/>
          <p:cNvSpPr txBox="1">
            <a:spLocks noChangeArrowheads="1"/>
          </p:cNvSpPr>
          <p:nvPr/>
        </p:nvSpPr>
        <p:spPr bwMode="auto">
          <a:xfrm>
            <a:off x="4517826" y="504826"/>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800">
                <a:ea typeface="宋体" panose="02010600030101010101" pitchFamily="2" charset="-122"/>
              </a:rPr>
              <a:t>G-1-P</a:t>
            </a:r>
            <a:endParaRPr kumimoji="1" lang="zh-CN" altLang="en-US" sz="2800">
              <a:ea typeface="宋体" panose="02010600030101010101" pitchFamily="2" charset="-122"/>
            </a:endParaRPr>
          </a:p>
        </p:txBody>
      </p:sp>
      <p:sp>
        <p:nvSpPr>
          <p:cNvPr id="325638" name="Text Box 6"/>
          <p:cNvSpPr txBox="1">
            <a:spLocks noChangeArrowheads="1"/>
          </p:cNvSpPr>
          <p:nvPr/>
        </p:nvSpPr>
        <p:spPr bwMode="auto">
          <a:xfrm>
            <a:off x="2274689" y="1828801"/>
            <a:ext cx="5000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800">
                <a:ea typeface="宋体" panose="02010600030101010101" pitchFamily="2" charset="-122"/>
              </a:rPr>
              <a:t>G</a:t>
            </a:r>
            <a:endParaRPr kumimoji="1" lang="en-US" altLang="zh-CN" sz="2800">
              <a:ea typeface="宋体" panose="02010600030101010101" pitchFamily="2" charset="-122"/>
            </a:endParaRPr>
          </a:p>
        </p:txBody>
      </p:sp>
      <p:sp>
        <p:nvSpPr>
          <p:cNvPr id="325639" name="Text Box 7"/>
          <p:cNvSpPr txBox="1">
            <a:spLocks noChangeArrowheads="1"/>
          </p:cNvSpPr>
          <p:nvPr/>
        </p:nvSpPr>
        <p:spPr bwMode="auto">
          <a:xfrm>
            <a:off x="4484489" y="1814513"/>
            <a:ext cx="13065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800">
                <a:ea typeface="宋体" panose="02010600030101010101" pitchFamily="2" charset="-122"/>
              </a:rPr>
              <a:t>G-6-P</a:t>
            </a:r>
            <a:endParaRPr kumimoji="1" lang="zh-CN" altLang="en-US" sz="2800">
              <a:ea typeface="宋体" panose="02010600030101010101" pitchFamily="2" charset="-122"/>
            </a:endParaRPr>
          </a:p>
        </p:txBody>
      </p:sp>
      <p:sp>
        <p:nvSpPr>
          <p:cNvPr id="325640" name="Text Box 8"/>
          <p:cNvSpPr txBox="1">
            <a:spLocks noChangeArrowheads="1"/>
          </p:cNvSpPr>
          <p:nvPr/>
        </p:nvSpPr>
        <p:spPr bwMode="auto">
          <a:xfrm>
            <a:off x="6389488" y="1219201"/>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800">
                <a:ea typeface="宋体" panose="02010600030101010101" pitchFamily="2" charset="-122"/>
              </a:rPr>
              <a:t>F-6-P</a:t>
            </a:r>
            <a:endParaRPr kumimoji="1" lang="zh-CN" altLang="en-US" sz="2800">
              <a:ea typeface="宋体" panose="02010600030101010101" pitchFamily="2" charset="-122"/>
            </a:endParaRPr>
          </a:p>
        </p:txBody>
      </p:sp>
      <p:sp>
        <p:nvSpPr>
          <p:cNvPr id="325641" name="Text Box 9"/>
          <p:cNvSpPr txBox="1">
            <a:spLocks noChangeArrowheads="1"/>
          </p:cNvSpPr>
          <p:nvPr/>
        </p:nvSpPr>
        <p:spPr bwMode="auto">
          <a:xfrm>
            <a:off x="8218289" y="447676"/>
            <a:ext cx="1501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800">
                <a:ea typeface="宋体" panose="02010600030101010101" pitchFamily="2" charset="-122"/>
              </a:rPr>
              <a:t>F-1,6-2P</a:t>
            </a:r>
            <a:endParaRPr kumimoji="1" lang="zh-CN" altLang="en-US" sz="2800">
              <a:ea typeface="宋体" panose="02010600030101010101" pitchFamily="2" charset="-122"/>
            </a:endParaRPr>
          </a:p>
        </p:txBody>
      </p:sp>
      <p:sp>
        <p:nvSpPr>
          <p:cNvPr id="325642" name="Text Box 10"/>
          <p:cNvSpPr txBox="1">
            <a:spLocks noChangeArrowheads="1"/>
          </p:cNvSpPr>
          <p:nvPr/>
        </p:nvSpPr>
        <p:spPr bwMode="auto">
          <a:xfrm>
            <a:off x="4117776" y="30480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50000"/>
              </a:spcBef>
              <a:buClrTx/>
              <a:buSzTx/>
              <a:buFontTx/>
              <a:buNone/>
            </a:pPr>
            <a:r>
              <a:rPr kumimoji="1" lang="en-US" altLang="zh-CN" sz="2400">
                <a:ea typeface="宋体" panose="02010600030101010101" pitchFamily="2" charset="-122"/>
              </a:rPr>
              <a:t>5-</a:t>
            </a:r>
            <a:r>
              <a:rPr kumimoji="1" lang="zh-CN" altLang="en-US" sz="2400">
                <a:ea typeface="宋体" panose="02010600030101010101" pitchFamily="2" charset="-122"/>
              </a:rPr>
              <a:t>磷酸核糖</a:t>
            </a:r>
            <a:endParaRPr kumimoji="1" lang="zh-CN" altLang="en-US" sz="2400">
              <a:ea typeface="宋体" panose="02010600030101010101" pitchFamily="2" charset="-122"/>
            </a:endParaRPr>
          </a:p>
        </p:txBody>
      </p:sp>
      <p:sp>
        <p:nvSpPr>
          <p:cNvPr id="325643" name="Text Box 11"/>
          <p:cNvSpPr txBox="1">
            <a:spLocks noChangeArrowheads="1"/>
          </p:cNvSpPr>
          <p:nvPr/>
        </p:nvSpPr>
        <p:spPr bwMode="auto">
          <a:xfrm>
            <a:off x="5856088" y="5715001"/>
            <a:ext cx="1836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乙酰</a:t>
            </a:r>
            <a:r>
              <a:rPr kumimoji="1" lang="en-US" altLang="zh-CN" sz="2000">
                <a:ea typeface="宋体" panose="02010600030101010101" pitchFamily="2" charset="-122"/>
              </a:rPr>
              <a:t>CoA</a:t>
            </a:r>
            <a:endParaRPr kumimoji="1" lang="en-US" altLang="zh-CN" sz="2000">
              <a:ea typeface="宋体" panose="02010600030101010101" pitchFamily="2" charset="-122"/>
            </a:endParaRPr>
          </a:p>
        </p:txBody>
      </p:sp>
      <p:grpSp>
        <p:nvGrpSpPr>
          <p:cNvPr id="2" name="Group 12"/>
          <p:cNvGrpSpPr/>
          <p:nvPr/>
        </p:nvGrpSpPr>
        <p:grpSpPr bwMode="auto">
          <a:xfrm>
            <a:off x="3776464" y="5181600"/>
            <a:ext cx="1357313" cy="1295400"/>
            <a:chOff x="1138" y="3264"/>
            <a:chExt cx="855" cy="816"/>
          </a:xfrm>
        </p:grpSpPr>
        <p:sp>
          <p:nvSpPr>
            <p:cNvPr id="171070" name="Oval 13"/>
            <p:cNvSpPr>
              <a:spLocks noChangeArrowheads="1"/>
            </p:cNvSpPr>
            <p:nvPr/>
          </p:nvSpPr>
          <p:spPr bwMode="auto">
            <a:xfrm>
              <a:off x="1138" y="3264"/>
              <a:ext cx="841" cy="816"/>
            </a:xfrm>
            <a:prstGeom prst="ellipse">
              <a:avLst/>
            </a:prstGeom>
            <a:noFill/>
            <a:ln w="38100">
              <a:solidFill>
                <a:schemeClr val="tx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171071" name="Text Box 14"/>
            <p:cNvSpPr txBox="1">
              <a:spLocks noChangeArrowheads="1"/>
            </p:cNvSpPr>
            <p:nvPr/>
          </p:nvSpPr>
          <p:spPr bwMode="auto">
            <a:xfrm>
              <a:off x="1152" y="3456"/>
              <a:ext cx="84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50000"/>
                </a:spcBef>
                <a:buClrTx/>
                <a:buSzTx/>
                <a:buFontTx/>
                <a:buNone/>
              </a:pPr>
              <a:r>
                <a:rPr kumimoji="1" lang="zh-CN" altLang="en-US" sz="2400">
                  <a:ea typeface="黑体" panose="02010609060101010101" pitchFamily="2" charset="-122"/>
                </a:rPr>
                <a:t>三羧酸循环</a:t>
              </a:r>
              <a:endParaRPr kumimoji="1" lang="zh-CN" altLang="en-US" sz="2400">
                <a:ea typeface="黑体" panose="02010609060101010101" pitchFamily="2" charset="-122"/>
              </a:endParaRPr>
            </a:p>
          </p:txBody>
        </p:sp>
      </p:grpSp>
      <p:sp>
        <p:nvSpPr>
          <p:cNvPr id="325647" name="AutoShape 15"/>
          <p:cNvSpPr>
            <a:spLocks noChangeArrowheads="1"/>
          </p:cNvSpPr>
          <p:nvPr/>
        </p:nvSpPr>
        <p:spPr bwMode="auto">
          <a:xfrm>
            <a:off x="2917626" y="685800"/>
            <a:ext cx="1668462" cy="152400"/>
          </a:xfrm>
          <a:prstGeom prst="leftRightArrow">
            <a:avLst>
              <a:gd name="adj1" fmla="val 50000"/>
              <a:gd name="adj2" fmla="val 218958"/>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0"/>
              </a:spcBef>
              <a:buClrTx/>
              <a:buSzTx/>
              <a:buFontTx/>
              <a:buNone/>
            </a:pPr>
            <a:endParaRPr lang="zh-CN" altLang="en-US" sz="1800">
              <a:latin typeface="Arial" panose="020B0604020202020204" pitchFamily="34" charset="0"/>
            </a:endParaRPr>
          </a:p>
        </p:txBody>
      </p:sp>
      <p:sp>
        <p:nvSpPr>
          <p:cNvPr id="325648" name="Line 16"/>
          <p:cNvSpPr>
            <a:spLocks noChangeShapeType="1"/>
          </p:cNvSpPr>
          <p:nvPr/>
        </p:nvSpPr>
        <p:spPr bwMode="auto">
          <a:xfrm>
            <a:off x="5055988" y="2286000"/>
            <a:ext cx="1588" cy="7620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3" name="Group 17"/>
          <p:cNvGrpSpPr/>
          <p:nvPr/>
        </p:nvGrpSpPr>
        <p:grpSpPr bwMode="auto">
          <a:xfrm>
            <a:off x="9589888" y="2438401"/>
            <a:ext cx="1335088" cy="1616075"/>
            <a:chOff x="4800" y="1536"/>
            <a:chExt cx="841" cy="1018"/>
          </a:xfrm>
        </p:grpSpPr>
        <p:sp>
          <p:nvSpPr>
            <p:cNvPr id="171066" name="Text Box 18"/>
            <p:cNvSpPr txBox="1">
              <a:spLocks noChangeArrowheads="1"/>
            </p:cNvSpPr>
            <p:nvPr/>
          </p:nvSpPr>
          <p:spPr bwMode="auto">
            <a:xfrm>
              <a:off x="4800" y="1824"/>
              <a:ext cx="8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磷酸甘油</a:t>
              </a:r>
              <a:endParaRPr kumimoji="1" lang="zh-CN" altLang="en-US" sz="2000">
                <a:ea typeface="宋体" panose="02010600030101010101" pitchFamily="2" charset="-122"/>
              </a:endParaRPr>
            </a:p>
          </p:txBody>
        </p:sp>
        <p:sp>
          <p:nvSpPr>
            <p:cNvPr id="171067" name="Text Box 19"/>
            <p:cNvSpPr txBox="1">
              <a:spLocks noChangeArrowheads="1"/>
            </p:cNvSpPr>
            <p:nvPr/>
          </p:nvSpPr>
          <p:spPr bwMode="auto">
            <a:xfrm>
              <a:off x="4944" y="2304"/>
              <a:ext cx="52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甘油</a:t>
              </a:r>
              <a:endParaRPr kumimoji="1" lang="zh-CN" altLang="en-US" sz="2000">
                <a:ea typeface="宋体" panose="02010600030101010101" pitchFamily="2" charset="-122"/>
              </a:endParaRPr>
            </a:p>
          </p:txBody>
        </p:sp>
        <p:sp>
          <p:nvSpPr>
            <p:cNvPr id="171068" name="Line 20"/>
            <p:cNvSpPr>
              <a:spLocks noChangeShapeType="1"/>
            </p:cNvSpPr>
            <p:nvPr/>
          </p:nvSpPr>
          <p:spPr bwMode="auto">
            <a:xfrm flipV="1">
              <a:off x="5184" y="1536"/>
              <a:ext cx="1" cy="33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69" name="Line 21"/>
            <p:cNvSpPr>
              <a:spLocks noChangeShapeType="1"/>
            </p:cNvSpPr>
            <p:nvPr/>
          </p:nvSpPr>
          <p:spPr bwMode="auto">
            <a:xfrm flipV="1">
              <a:off x="5184" y="2112"/>
              <a:ext cx="1" cy="24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25654" name="Text Box 22"/>
          <p:cNvSpPr txBox="1">
            <a:spLocks noChangeArrowheads="1"/>
          </p:cNvSpPr>
          <p:nvPr/>
        </p:nvSpPr>
        <p:spPr bwMode="auto">
          <a:xfrm>
            <a:off x="5322689" y="4876801"/>
            <a:ext cx="1419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草酰乙酸</a:t>
            </a:r>
            <a:endParaRPr kumimoji="1" lang="zh-CN" altLang="en-US" sz="2000">
              <a:ea typeface="宋体" panose="02010600030101010101" pitchFamily="2" charset="-122"/>
            </a:endParaRPr>
          </a:p>
        </p:txBody>
      </p:sp>
      <p:sp>
        <p:nvSpPr>
          <p:cNvPr id="325655" name="Line 23"/>
          <p:cNvSpPr>
            <a:spLocks noChangeShapeType="1"/>
          </p:cNvSpPr>
          <p:nvPr/>
        </p:nvSpPr>
        <p:spPr bwMode="auto">
          <a:xfrm flipH="1" flipV="1">
            <a:off x="6313289" y="5257800"/>
            <a:ext cx="917575" cy="152400"/>
          </a:xfrm>
          <a:prstGeom prst="line">
            <a:avLst/>
          </a:prstGeom>
          <a:noFill/>
          <a:ln w="38100">
            <a:solidFill>
              <a:srgbClr val="FF0066"/>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56" name="Line 24"/>
          <p:cNvSpPr>
            <a:spLocks noChangeShapeType="1"/>
          </p:cNvSpPr>
          <p:nvPr/>
        </p:nvSpPr>
        <p:spPr bwMode="auto">
          <a:xfrm flipV="1">
            <a:off x="6389489" y="4724400"/>
            <a:ext cx="500063" cy="228600"/>
          </a:xfrm>
          <a:prstGeom prst="line">
            <a:avLst/>
          </a:prstGeom>
          <a:noFill/>
          <a:ln w="38100">
            <a:solidFill>
              <a:srgbClr val="FF0066"/>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57" name="Line 25"/>
          <p:cNvSpPr>
            <a:spLocks noChangeShapeType="1"/>
          </p:cNvSpPr>
          <p:nvPr/>
        </p:nvSpPr>
        <p:spPr bwMode="auto">
          <a:xfrm flipH="1">
            <a:off x="6951464" y="5534025"/>
            <a:ext cx="417513" cy="304800"/>
          </a:xfrm>
          <a:prstGeom prst="line">
            <a:avLst/>
          </a:prstGeom>
          <a:noFill/>
          <a:ln w="38100">
            <a:solidFill>
              <a:srgbClr val="FF0066"/>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58" name="Line 26"/>
          <p:cNvSpPr>
            <a:spLocks noChangeShapeType="1"/>
          </p:cNvSpPr>
          <p:nvPr/>
        </p:nvSpPr>
        <p:spPr bwMode="auto">
          <a:xfrm flipH="1">
            <a:off x="5094089" y="5943600"/>
            <a:ext cx="85566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4" name="Group 27"/>
          <p:cNvGrpSpPr/>
          <p:nvPr/>
        </p:nvGrpSpPr>
        <p:grpSpPr bwMode="auto">
          <a:xfrm>
            <a:off x="8199239" y="5181601"/>
            <a:ext cx="1960563" cy="396875"/>
            <a:chOff x="3936" y="3273"/>
            <a:chExt cx="1235" cy="250"/>
          </a:xfrm>
        </p:grpSpPr>
        <p:sp>
          <p:nvSpPr>
            <p:cNvPr id="171064" name="Text Box 28"/>
            <p:cNvSpPr txBox="1">
              <a:spLocks noChangeArrowheads="1"/>
            </p:cNvSpPr>
            <p:nvPr/>
          </p:nvSpPr>
          <p:spPr bwMode="auto">
            <a:xfrm>
              <a:off x="4488" y="3273"/>
              <a:ext cx="6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丙氨酸</a:t>
              </a:r>
              <a:endParaRPr kumimoji="1" lang="zh-CN" altLang="en-US" sz="2000">
                <a:ea typeface="宋体" panose="02010600030101010101" pitchFamily="2" charset="-122"/>
              </a:endParaRPr>
            </a:p>
          </p:txBody>
        </p:sp>
        <p:sp>
          <p:nvSpPr>
            <p:cNvPr id="171065" name="Line 29"/>
            <p:cNvSpPr>
              <a:spLocks noChangeShapeType="1"/>
            </p:cNvSpPr>
            <p:nvPr/>
          </p:nvSpPr>
          <p:spPr bwMode="auto">
            <a:xfrm flipH="1">
              <a:off x="3936" y="3408"/>
              <a:ext cx="578" cy="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325662" name="Text Box 30"/>
          <p:cNvSpPr txBox="1">
            <a:spLocks noChangeArrowheads="1"/>
          </p:cNvSpPr>
          <p:nvPr/>
        </p:nvSpPr>
        <p:spPr bwMode="auto">
          <a:xfrm>
            <a:off x="1969888" y="62484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400">
                <a:ea typeface="宋体" panose="02010600030101010101" pitchFamily="2" charset="-122"/>
              </a:rPr>
              <a:t>H</a:t>
            </a:r>
            <a:r>
              <a:rPr kumimoji="1" lang="en-US" altLang="zh-CN" sz="2400" baseline="-25000">
                <a:ea typeface="宋体" panose="02010600030101010101" pitchFamily="2" charset="-122"/>
              </a:rPr>
              <a:t>2</a:t>
            </a:r>
            <a:r>
              <a:rPr kumimoji="1" lang="en-US" altLang="zh-CN" sz="2400">
                <a:ea typeface="宋体" panose="02010600030101010101" pitchFamily="2" charset="-122"/>
              </a:rPr>
              <a:t>O + CO</a:t>
            </a:r>
            <a:r>
              <a:rPr kumimoji="1" lang="en-US" altLang="zh-CN" sz="2400" baseline="-25000">
                <a:ea typeface="宋体" panose="02010600030101010101" pitchFamily="2" charset="-122"/>
              </a:rPr>
              <a:t>2</a:t>
            </a:r>
            <a:endParaRPr kumimoji="1" lang="en-US" altLang="zh-CN" sz="2400" baseline="-25000">
              <a:ea typeface="宋体" panose="02010600030101010101" pitchFamily="2" charset="-122"/>
            </a:endParaRPr>
          </a:p>
        </p:txBody>
      </p:sp>
      <p:sp>
        <p:nvSpPr>
          <p:cNvPr id="325663" name="Text Box 31"/>
          <p:cNvSpPr txBox="1">
            <a:spLocks noChangeArrowheads="1"/>
          </p:cNvSpPr>
          <p:nvPr/>
        </p:nvSpPr>
        <p:spPr bwMode="auto">
          <a:xfrm>
            <a:off x="3570089" y="3733801"/>
            <a:ext cx="2390775" cy="5318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50000"/>
              </a:spcBef>
              <a:buClrTx/>
              <a:buSzTx/>
              <a:buFontTx/>
              <a:buNone/>
            </a:pPr>
            <a:r>
              <a:rPr kumimoji="1" lang="zh-CN" altLang="en-US" sz="2800">
                <a:solidFill>
                  <a:srgbClr val="FF0000"/>
                </a:solidFill>
                <a:ea typeface="黑体" panose="02010609060101010101" pitchFamily="2" charset="-122"/>
              </a:rPr>
              <a:t>磷酸戊糖途径</a:t>
            </a:r>
            <a:endParaRPr kumimoji="1" lang="zh-CN" altLang="en-US" sz="2800">
              <a:solidFill>
                <a:srgbClr val="FF0000"/>
              </a:solidFill>
              <a:ea typeface="黑体" panose="02010609060101010101" pitchFamily="2" charset="-122"/>
            </a:endParaRPr>
          </a:p>
        </p:txBody>
      </p:sp>
      <p:sp>
        <p:nvSpPr>
          <p:cNvPr id="325664" name="Text Box 32"/>
          <p:cNvSpPr txBox="1">
            <a:spLocks noChangeArrowheads="1"/>
          </p:cNvSpPr>
          <p:nvPr/>
        </p:nvSpPr>
        <p:spPr bwMode="auto">
          <a:xfrm>
            <a:off x="5475088" y="6249988"/>
            <a:ext cx="2438400" cy="53181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lgn="ctr">
              <a:spcBef>
                <a:spcPct val="50000"/>
              </a:spcBef>
              <a:buClrTx/>
              <a:buSzTx/>
              <a:buFontTx/>
              <a:buNone/>
            </a:pPr>
            <a:r>
              <a:rPr kumimoji="1" lang="zh-CN" altLang="en-US" sz="2800">
                <a:solidFill>
                  <a:srgbClr val="FF0000"/>
                </a:solidFill>
                <a:ea typeface="黑体" panose="02010609060101010101" pitchFamily="2" charset="-122"/>
              </a:rPr>
              <a:t>糖的有氧氧化</a:t>
            </a:r>
            <a:endParaRPr kumimoji="1" lang="zh-CN" altLang="en-US" sz="2800">
              <a:solidFill>
                <a:srgbClr val="FF0000"/>
              </a:solidFill>
              <a:ea typeface="黑体" panose="02010609060101010101" pitchFamily="2" charset="-122"/>
            </a:endParaRPr>
          </a:p>
        </p:txBody>
      </p:sp>
      <p:sp>
        <p:nvSpPr>
          <p:cNvPr id="325665" name="Text Box 33"/>
          <p:cNvSpPr txBox="1">
            <a:spLocks noChangeArrowheads="1"/>
          </p:cNvSpPr>
          <p:nvPr/>
        </p:nvSpPr>
        <p:spPr bwMode="auto">
          <a:xfrm>
            <a:off x="9042202" y="6097589"/>
            <a:ext cx="2071687" cy="5238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800">
                <a:solidFill>
                  <a:srgbClr val="FF0000"/>
                </a:solidFill>
                <a:ea typeface="黑体" panose="02010609060101010101" pitchFamily="2" charset="-122"/>
              </a:rPr>
              <a:t>糖无氧氧化</a:t>
            </a:r>
            <a:endParaRPr kumimoji="1" lang="zh-CN" altLang="en-US" sz="2800">
              <a:solidFill>
                <a:srgbClr val="FF0000"/>
              </a:solidFill>
              <a:ea typeface="黑体" panose="02010609060101010101" pitchFamily="2" charset="-122"/>
            </a:endParaRPr>
          </a:p>
        </p:txBody>
      </p:sp>
      <p:sp>
        <p:nvSpPr>
          <p:cNvPr id="325666" name="Text Box 34"/>
          <p:cNvSpPr txBox="1">
            <a:spLocks noChangeArrowheads="1"/>
          </p:cNvSpPr>
          <p:nvPr/>
        </p:nvSpPr>
        <p:spPr bwMode="auto">
          <a:xfrm>
            <a:off x="9589888" y="4419601"/>
            <a:ext cx="1295400" cy="5318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800">
                <a:solidFill>
                  <a:srgbClr val="FF0000"/>
                </a:solidFill>
                <a:ea typeface="黑体" panose="02010609060101010101" pitchFamily="2" charset="-122"/>
              </a:rPr>
              <a:t>糖异生</a:t>
            </a:r>
            <a:endParaRPr kumimoji="1" lang="zh-CN" altLang="en-US" sz="2800">
              <a:solidFill>
                <a:srgbClr val="FF0000"/>
              </a:solidFill>
              <a:ea typeface="黑体" panose="02010609060101010101" pitchFamily="2" charset="-122"/>
            </a:endParaRPr>
          </a:p>
        </p:txBody>
      </p:sp>
      <p:sp>
        <p:nvSpPr>
          <p:cNvPr id="325667" name="Line 35"/>
          <p:cNvSpPr>
            <a:spLocks noChangeShapeType="1"/>
          </p:cNvSpPr>
          <p:nvPr/>
        </p:nvSpPr>
        <p:spPr bwMode="auto">
          <a:xfrm>
            <a:off x="2831901" y="2043113"/>
            <a:ext cx="1655762" cy="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68" name="Line 36"/>
          <p:cNvSpPr>
            <a:spLocks noChangeShapeType="1"/>
          </p:cNvSpPr>
          <p:nvPr/>
        </p:nvSpPr>
        <p:spPr bwMode="auto">
          <a:xfrm flipV="1">
            <a:off x="5089326" y="990600"/>
            <a:ext cx="0" cy="8382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69" name="Line 37"/>
          <p:cNvSpPr>
            <a:spLocks noChangeShapeType="1"/>
          </p:cNvSpPr>
          <p:nvPr/>
        </p:nvSpPr>
        <p:spPr bwMode="auto">
          <a:xfrm flipV="1">
            <a:off x="5551288" y="1676400"/>
            <a:ext cx="1295400" cy="45720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70" name="Line 38"/>
          <p:cNvSpPr>
            <a:spLocks noChangeShapeType="1"/>
          </p:cNvSpPr>
          <p:nvPr/>
        </p:nvSpPr>
        <p:spPr bwMode="auto">
          <a:xfrm flipV="1">
            <a:off x="6999088" y="762000"/>
            <a:ext cx="1219200" cy="5334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71" name="Line 39"/>
          <p:cNvSpPr>
            <a:spLocks noChangeShapeType="1"/>
          </p:cNvSpPr>
          <p:nvPr/>
        </p:nvSpPr>
        <p:spPr bwMode="auto">
          <a:xfrm>
            <a:off x="2808088" y="2176463"/>
            <a:ext cx="1600200" cy="0"/>
          </a:xfrm>
          <a:prstGeom prst="line">
            <a:avLst/>
          </a:prstGeom>
          <a:noFill/>
          <a:ln w="38100">
            <a:solidFill>
              <a:srgbClr val="FF0066"/>
            </a:solidFill>
            <a:round/>
            <a:head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5672" name="Line 40"/>
          <p:cNvSpPr>
            <a:spLocks noChangeShapeType="1"/>
          </p:cNvSpPr>
          <p:nvPr/>
        </p:nvSpPr>
        <p:spPr bwMode="auto">
          <a:xfrm flipH="1">
            <a:off x="7337226" y="885825"/>
            <a:ext cx="990600" cy="4572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nvGrpSpPr>
          <p:cNvPr id="5" name="Group 41"/>
          <p:cNvGrpSpPr/>
          <p:nvPr/>
        </p:nvGrpSpPr>
        <p:grpSpPr bwMode="auto">
          <a:xfrm>
            <a:off x="5856088" y="1752600"/>
            <a:ext cx="1143000" cy="1447800"/>
            <a:chOff x="2448" y="1104"/>
            <a:chExt cx="720" cy="912"/>
          </a:xfrm>
        </p:grpSpPr>
        <p:sp>
          <p:nvSpPr>
            <p:cNvPr id="171062" name="Line 42"/>
            <p:cNvSpPr>
              <a:spLocks noChangeShapeType="1"/>
            </p:cNvSpPr>
            <p:nvPr/>
          </p:nvSpPr>
          <p:spPr bwMode="auto">
            <a:xfrm flipV="1">
              <a:off x="2496" y="1104"/>
              <a:ext cx="576" cy="912"/>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63" name="Line 43"/>
            <p:cNvSpPr>
              <a:spLocks noChangeShapeType="1"/>
            </p:cNvSpPr>
            <p:nvPr/>
          </p:nvSpPr>
          <p:spPr bwMode="auto">
            <a:xfrm flipV="1">
              <a:off x="2448" y="1488"/>
              <a:ext cx="720" cy="528"/>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 name="Group 44"/>
          <p:cNvGrpSpPr/>
          <p:nvPr/>
        </p:nvGrpSpPr>
        <p:grpSpPr bwMode="auto">
          <a:xfrm>
            <a:off x="6846688" y="914400"/>
            <a:ext cx="4433888" cy="5334000"/>
            <a:chOff x="3072" y="576"/>
            <a:chExt cx="2793" cy="3360"/>
          </a:xfrm>
        </p:grpSpPr>
        <p:sp>
          <p:nvSpPr>
            <p:cNvPr id="171047" name="Text Box 46"/>
            <p:cNvSpPr txBox="1">
              <a:spLocks noChangeArrowheads="1"/>
            </p:cNvSpPr>
            <p:nvPr/>
          </p:nvSpPr>
          <p:spPr bwMode="auto">
            <a:xfrm>
              <a:off x="4656" y="1296"/>
              <a:ext cx="1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磷酸二羟丙酮</a:t>
              </a:r>
              <a:endParaRPr kumimoji="1" lang="zh-CN" altLang="en-US" sz="2000">
                <a:ea typeface="宋体" panose="02010600030101010101" pitchFamily="2" charset="-122"/>
              </a:endParaRPr>
            </a:p>
          </p:txBody>
        </p:sp>
        <p:sp>
          <p:nvSpPr>
            <p:cNvPr id="171048" name="Text Box 47"/>
            <p:cNvSpPr txBox="1">
              <a:spLocks noChangeArrowheads="1"/>
            </p:cNvSpPr>
            <p:nvPr/>
          </p:nvSpPr>
          <p:spPr bwMode="auto">
            <a:xfrm>
              <a:off x="3120" y="1296"/>
              <a:ext cx="11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000">
                  <a:ea typeface="宋体" panose="02010600030101010101" pitchFamily="2" charset="-122"/>
                </a:rPr>
                <a:t>3-</a:t>
              </a:r>
              <a:r>
                <a:rPr kumimoji="1" lang="zh-CN" altLang="en-US" sz="2000">
                  <a:ea typeface="宋体" panose="02010600030101010101" pitchFamily="2" charset="-122"/>
                </a:rPr>
                <a:t>磷酸甘油醛</a:t>
              </a:r>
              <a:endParaRPr kumimoji="1" lang="zh-CN" altLang="en-US" sz="2000">
                <a:ea typeface="宋体" panose="02010600030101010101" pitchFamily="2" charset="-122"/>
              </a:endParaRPr>
            </a:p>
          </p:txBody>
        </p:sp>
        <p:sp>
          <p:nvSpPr>
            <p:cNvPr id="171049" name="Text Box 48"/>
            <p:cNvSpPr txBox="1">
              <a:spLocks noChangeArrowheads="1"/>
            </p:cNvSpPr>
            <p:nvPr/>
          </p:nvSpPr>
          <p:spPr bwMode="auto">
            <a:xfrm>
              <a:off x="3168" y="2400"/>
              <a:ext cx="11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000">
                  <a:ea typeface="宋体" panose="02010600030101010101" pitchFamily="2" charset="-122"/>
                </a:rPr>
                <a:t>2-</a:t>
              </a:r>
              <a:r>
                <a:rPr kumimoji="1" lang="zh-CN" altLang="en-US" sz="2000">
                  <a:ea typeface="宋体" panose="02010600030101010101" pitchFamily="2" charset="-122"/>
                </a:rPr>
                <a:t>磷酸甘油酸</a:t>
              </a:r>
              <a:endParaRPr kumimoji="1" lang="zh-CN" altLang="en-US" sz="2000">
                <a:ea typeface="宋体" panose="02010600030101010101" pitchFamily="2" charset="-122"/>
              </a:endParaRPr>
            </a:p>
          </p:txBody>
        </p:sp>
        <p:sp>
          <p:nvSpPr>
            <p:cNvPr id="171050" name="Text Box 49"/>
            <p:cNvSpPr txBox="1">
              <a:spLocks noChangeArrowheads="1"/>
            </p:cNvSpPr>
            <p:nvPr/>
          </p:nvSpPr>
          <p:spPr bwMode="auto">
            <a:xfrm>
              <a:off x="3072" y="2832"/>
              <a:ext cx="163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磷酸烯醇式丙酮酸</a:t>
              </a:r>
              <a:endParaRPr kumimoji="1" lang="zh-CN" altLang="en-US" sz="2000">
                <a:ea typeface="宋体" panose="02010600030101010101" pitchFamily="2" charset="-122"/>
              </a:endParaRPr>
            </a:p>
          </p:txBody>
        </p:sp>
        <p:sp>
          <p:nvSpPr>
            <p:cNvPr id="171051" name="Text Box 50"/>
            <p:cNvSpPr txBox="1">
              <a:spLocks noChangeArrowheads="1"/>
            </p:cNvSpPr>
            <p:nvPr/>
          </p:nvSpPr>
          <p:spPr bwMode="auto">
            <a:xfrm>
              <a:off x="3360" y="3264"/>
              <a:ext cx="68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000">
                  <a:ea typeface="宋体" panose="02010600030101010101" pitchFamily="2" charset="-122"/>
                </a:rPr>
                <a:t>丙酮酸</a:t>
              </a:r>
              <a:endParaRPr kumimoji="1" lang="zh-CN" altLang="en-US" sz="2000">
                <a:ea typeface="宋体" panose="02010600030101010101" pitchFamily="2" charset="-122"/>
              </a:endParaRPr>
            </a:p>
          </p:txBody>
        </p:sp>
        <p:sp>
          <p:nvSpPr>
            <p:cNvPr id="171052" name="Text Box 51"/>
            <p:cNvSpPr txBox="1">
              <a:spLocks noChangeArrowheads="1"/>
            </p:cNvSpPr>
            <p:nvPr/>
          </p:nvSpPr>
          <p:spPr bwMode="auto">
            <a:xfrm>
              <a:off x="3072" y="1680"/>
              <a:ext cx="1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000" dirty="0">
                  <a:ea typeface="宋体" panose="02010600030101010101" pitchFamily="2" charset="-122"/>
                </a:rPr>
                <a:t>1,3-2</a:t>
              </a:r>
              <a:r>
                <a:rPr kumimoji="1" lang="zh-CN" altLang="en-US" sz="2000" dirty="0">
                  <a:ea typeface="宋体" panose="02010600030101010101" pitchFamily="2" charset="-122"/>
                </a:rPr>
                <a:t>磷酸甘油酸</a:t>
              </a:r>
              <a:endParaRPr kumimoji="1" lang="zh-CN" altLang="en-US" sz="2000" dirty="0">
                <a:ea typeface="宋体" panose="02010600030101010101" pitchFamily="2" charset="-122"/>
              </a:endParaRPr>
            </a:p>
          </p:txBody>
        </p:sp>
        <p:sp>
          <p:nvSpPr>
            <p:cNvPr id="171053" name="Text Box 52"/>
            <p:cNvSpPr txBox="1">
              <a:spLocks noChangeArrowheads="1"/>
            </p:cNvSpPr>
            <p:nvPr/>
          </p:nvSpPr>
          <p:spPr bwMode="auto">
            <a:xfrm>
              <a:off x="3133" y="2073"/>
              <a:ext cx="11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en-US" altLang="zh-CN" sz="2000" dirty="0">
                  <a:ea typeface="宋体" panose="02010600030101010101" pitchFamily="2" charset="-122"/>
                </a:rPr>
                <a:t>3-</a:t>
              </a:r>
              <a:r>
                <a:rPr kumimoji="1" lang="zh-CN" altLang="en-US" sz="2000" dirty="0">
                  <a:ea typeface="宋体" panose="02010600030101010101" pitchFamily="2" charset="-122"/>
                </a:rPr>
                <a:t>磷酸甘油酸</a:t>
              </a:r>
              <a:endParaRPr kumimoji="1" lang="zh-CN" altLang="en-US" sz="2000" dirty="0">
                <a:ea typeface="宋体" panose="02010600030101010101" pitchFamily="2" charset="-122"/>
              </a:endParaRPr>
            </a:p>
          </p:txBody>
        </p:sp>
        <p:sp>
          <p:nvSpPr>
            <p:cNvPr id="171054" name="Text Box 53"/>
            <p:cNvSpPr txBox="1">
              <a:spLocks noChangeArrowheads="1"/>
            </p:cNvSpPr>
            <p:nvPr/>
          </p:nvSpPr>
          <p:spPr bwMode="auto">
            <a:xfrm>
              <a:off x="4032" y="3648"/>
              <a:ext cx="5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a:spcBef>
                  <a:spcPct val="50000"/>
                </a:spcBef>
                <a:buClrTx/>
                <a:buSzTx/>
                <a:buFontTx/>
                <a:buNone/>
              </a:pPr>
              <a:r>
                <a:rPr kumimoji="1" lang="zh-CN" altLang="en-US" sz="2400">
                  <a:ea typeface="宋体" panose="02010600030101010101" pitchFamily="2" charset="-122"/>
                </a:rPr>
                <a:t>乳酸</a:t>
              </a:r>
              <a:endParaRPr kumimoji="1" lang="en-US" altLang="zh-CN" sz="2400">
                <a:ea typeface="宋体" panose="02010600030101010101" pitchFamily="2" charset="-122"/>
              </a:endParaRPr>
            </a:p>
          </p:txBody>
        </p:sp>
        <p:grpSp>
          <p:nvGrpSpPr>
            <p:cNvPr id="171055" name="Group 54"/>
            <p:cNvGrpSpPr/>
            <p:nvPr/>
          </p:nvGrpSpPr>
          <p:grpSpPr bwMode="auto">
            <a:xfrm>
              <a:off x="3696" y="576"/>
              <a:ext cx="1513" cy="720"/>
              <a:chOff x="3696" y="576"/>
              <a:chExt cx="1513" cy="720"/>
            </a:xfrm>
          </p:grpSpPr>
          <p:sp>
            <p:nvSpPr>
              <p:cNvPr id="171059" name="Line 55"/>
              <p:cNvSpPr>
                <a:spLocks noChangeShapeType="1"/>
              </p:cNvSpPr>
              <p:nvPr/>
            </p:nvSpPr>
            <p:spPr bwMode="auto">
              <a:xfrm flipV="1">
                <a:off x="4397" y="576"/>
                <a:ext cx="1" cy="33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60" name="Line 56"/>
              <p:cNvSpPr>
                <a:spLocks noChangeShapeType="1"/>
              </p:cNvSpPr>
              <p:nvPr/>
            </p:nvSpPr>
            <p:spPr bwMode="auto">
              <a:xfrm flipH="1">
                <a:off x="3696" y="912"/>
                <a:ext cx="736" cy="38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61" name="Line 57"/>
              <p:cNvSpPr>
                <a:spLocks noChangeShapeType="1"/>
              </p:cNvSpPr>
              <p:nvPr/>
            </p:nvSpPr>
            <p:spPr bwMode="auto">
              <a:xfrm>
                <a:off x="4368" y="912"/>
                <a:ext cx="841" cy="38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171056" name="Line 58"/>
            <p:cNvSpPr>
              <a:spLocks noChangeShapeType="1"/>
            </p:cNvSpPr>
            <p:nvPr/>
          </p:nvSpPr>
          <p:spPr bwMode="auto">
            <a:xfrm>
              <a:off x="3648" y="3072"/>
              <a:ext cx="1" cy="240"/>
            </a:xfrm>
            <a:prstGeom prst="line">
              <a:avLst/>
            </a:prstGeom>
            <a:noFill/>
            <a:ln w="38100">
              <a:solidFill>
                <a:srgbClr val="FF0066"/>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57" name="Line 59"/>
            <p:cNvSpPr>
              <a:spLocks noChangeShapeType="1"/>
            </p:cNvSpPr>
            <p:nvPr/>
          </p:nvSpPr>
          <p:spPr bwMode="auto">
            <a:xfrm>
              <a:off x="4158" y="1419"/>
              <a:ext cx="528"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58" name="Line 60"/>
            <p:cNvSpPr>
              <a:spLocks noChangeShapeType="1"/>
            </p:cNvSpPr>
            <p:nvPr/>
          </p:nvSpPr>
          <p:spPr bwMode="auto">
            <a:xfrm>
              <a:off x="3648" y="3504"/>
              <a:ext cx="432" cy="288"/>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8" name="Group 61"/>
          <p:cNvGrpSpPr/>
          <p:nvPr/>
        </p:nvGrpSpPr>
        <p:grpSpPr bwMode="auto">
          <a:xfrm>
            <a:off x="2227063" y="5470526"/>
            <a:ext cx="1727200" cy="777875"/>
            <a:chOff x="162" y="3446"/>
            <a:chExt cx="1088" cy="490"/>
          </a:xfrm>
        </p:grpSpPr>
        <p:sp>
          <p:nvSpPr>
            <p:cNvPr id="171044" name="Line 62"/>
            <p:cNvSpPr>
              <a:spLocks noChangeShapeType="1"/>
            </p:cNvSpPr>
            <p:nvPr/>
          </p:nvSpPr>
          <p:spPr bwMode="auto">
            <a:xfrm flipH="1">
              <a:off x="432" y="3600"/>
              <a:ext cx="720" cy="33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1045" name="Text Box 63"/>
            <p:cNvSpPr txBox="1">
              <a:spLocks noChangeArrowheads="1"/>
            </p:cNvSpPr>
            <p:nvPr/>
          </p:nvSpPr>
          <p:spPr bwMode="auto">
            <a:xfrm rot="-1506450">
              <a:off x="162" y="3446"/>
              <a:ext cx="10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anose="05000000000000000000" pitchFamily="2" charset="2"/>
                <a:buChar char="v"/>
                <a:defRPr sz="32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accent1"/>
                </a:buClr>
                <a:buSzPct val="75000"/>
                <a:buFont typeface="Wingdings" panose="05000000000000000000" pitchFamily="2" charset="2"/>
                <a:buChar char="§"/>
                <a:defRPr sz="2800" b="1">
                  <a:solidFill>
                    <a:schemeClr val="tx1"/>
                  </a:solidFill>
                  <a:latin typeface="Times New Roman" panose="02020603050405020304" pitchFamily="18" charset="0"/>
                  <a:ea typeface="楷体_GB2312" pitchFamily="49" charset="-122"/>
                </a:defRPr>
              </a:lvl2pPr>
              <a:lvl3pPr marL="1143000" indent="-228600">
                <a:spcBef>
                  <a:spcPct val="20000"/>
                </a:spcBef>
                <a:buClr>
                  <a:schemeClr val="tx1"/>
                </a:buClr>
                <a:buSzPct val="75000"/>
                <a:buChar char="•"/>
                <a:defRPr sz="2600" b="1">
                  <a:solidFill>
                    <a:schemeClr val="tx1"/>
                  </a:solidFill>
                  <a:latin typeface="Times New Roman" panose="02020603050405020304" pitchFamily="18" charset="0"/>
                  <a:ea typeface="楷体_GB2312" pitchFamily="49" charset="-122"/>
                </a:defRPr>
              </a:lvl3pPr>
              <a:lvl4pPr marL="16002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4pPr>
              <a:lvl5pPr marL="2057400" indent="-228600">
                <a:spcBef>
                  <a:spcPct val="20000"/>
                </a:spcBef>
                <a:buSzPct val="75000"/>
                <a:buChar char="»"/>
                <a:defRPr sz="2400" b="1">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SzPct val="75000"/>
                <a:buChar char="»"/>
                <a:defRPr sz="2400" b="1">
                  <a:solidFill>
                    <a:schemeClr val="tx1"/>
                  </a:solidFill>
                  <a:latin typeface="Times New Roman" panose="02020603050405020304" pitchFamily="18" charset="0"/>
                  <a:ea typeface="楷体_GB2312" pitchFamily="49" charset="-122"/>
                </a:defRPr>
              </a:lvl9pPr>
            </a:lstStyle>
            <a:p>
              <a:pPr eaLnBrk="1" hangingPunct="1">
                <a:spcBef>
                  <a:spcPct val="50000"/>
                </a:spcBef>
                <a:buClrTx/>
                <a:buSzTx/>
                <a:buFontTx/>
                <a:buNone/>
              </a:pPr>
              <a:r>
                <a:rPr lang="zh-CN" altLang="en-US" sz="2400">
                  <a:latin typeface="黑体" panose="02010609060101010101" pitchFamily="2" charset="-122"/>
                  <a:ea typeface="黑体" panose="02010609060101010101" pitchFamily="2" charset="-122"/>
                </a:rPr>
                <a:t>氧化磷酸化</a:t>
              </a:r>
              <a:endParaRPr lang="zh-CN" altLang="en-US" sz="2400">
                <a:latin typeface="黑体" panose="02010609060101010101" pitchFamily="2" charset="-122"/>
                <a:ea typeface="黑体" panose="02010609060101010101" pitchFamily="2" charset="-122"/>
              </a:endParaRPr>
            </a:p>
          </p:txBody>
        </p:sp>
      </p:grpSp>
      <p:cxnSp>
        <p:nvCxnSpPr>
          <p:cNvPr id="9" name="直接箭头连接符 8"/>
          <p:cNvCxnSpPr/>
          <p:nvPr/>
        </p:nvCxnSpPr>
        <p:spPr bwMode="auto">
          <a:xfrm>
            <a:off x="7983636" y="2420889"/>
            <a:ext cx="0" cy="324867"/>
          </a:xfrm>
          <a:prstGeom prst="straightConnector1">
            <a:avLst/>
          </a:prstGeom>
          <a:solidFill>
            <a:schemeClr val="accent1"/>
          </a:solidFill>
          <a:ln w="28575" cap="flat" cmpd="sng" algn="ctr">
            <a:solidFill>
              <a:schemeClr val="tx1"/>
            </a:solidFill>
            <a:prstDash val="solid"/>
            <a:round/>
            <a:headEnd type="triangle"/>
            <a:tailEnd type="triangle"/>
          </a:ln>
          <a:effectLst/>
        </p:spPr>
      </p:cxnSp>
      <p:cxnSp>
        <p:nvCxnSpPr>
          <p:cNvPr id="17" name="直接箭头连接符 16"/>
          <p:cNvCxnSpPr/>
          <p:nvPr/>
        </p:nvCxnSpPr>
        <p:spPr bwMode="auto">
          <a:xfrm>
            <a:off x="7982048" y="2971801"/>
            <a:ext cx="0" cy="324867"/>
          </a:xfrm>
          <a:prstGeom prst="straightConnector1">
            <a:avLst/>
          </a:prstGeom>
          <a:solidFill>
            <a:schemeClr val="accent1"/>
          </a:solidFill>
          <a:ln w="28575" cap="flat" cmpd="sng" algn="ctr">
            <a:solidFill>
              <a:schemeClr val="tx1"/>
            </a:solidFill>
            <a:prstDash val="solid"/>
            <a:round/>
            <a:headEnd type="triangle"/>
            <a:tailEnd type="triangle"/>
          </a:ln>
          <a:effectLst/>
        </p:spPr>
      </p:cxnSp>
      <p:cxnSp>
        <p:nvCxnSpPr>
          <p:cNvPr id="18" name="直接箭头连接符 17"/>
          <p:cNvCxnSpPr/>
          <p:nvPr/>
        </p:nvCxnSpPr>
        <p:spPr bwMode="auto">
          <a:xfrm>
            <a:off x="7980758" y="3573016"/>
            <a:ext cx="1290" cy="289682"/>
          </a:xfrm>
          <a:prstGeom prst="straightConnector1">
            <a:avLst/>
          </a:prstGeom>
          <a:solidFill>
            <a:schemeClr val="accent1"/>
          </a:solidFill>
          <a:ln w="28575" cap="flat" cmpd="sng" algn="ctr">
            <a:solidFill>
              <a:schemeClr val="tx1"/>
            </a:solidFill>
            <a:prstDash val="solid"/>
            <a:round/>
            <a:headEnd type="triangle"/>
            <a:tailEnd type="triangle"/>
          </a:ln>
          <a:effectLst/>
        </p:spPr>
      </p:cxnSp>
      <p:cxnSp>
        <p:nvCxnSpPr>
          <p:cNvPr id="19" name="直接箭头连接符 18"/>
          <p:cNvCxnSpPr/>
          <p:nvPr/>
        </p:nvCxnSpPr>
        <p:spPr bwMode="auto">
          <a:xfrm>
            <a:off x="7982048" y="4221089"/>
            <a:ext cx="0" cy="324867"/>
          </a:xfrm>
          <a:prstGeom prst="straightConnector1">
            <a:avLst/>
          </a:prstGeom>
          <a:solidFill>
            <a:schemeClr val="accent1"/>
          </a:solidFill>
          <a:ln w="28575" cap="flat" cmpd="sng" algn="ctr">
            <a:solidFill>
              <a:schemeClr val="tx1"/>
            </a:solidFill>
            <a:prstDash val="solid"/>
            <a:round/>
            <a:headEnd type="triangle"/>
            <a:tailEnd type="triangle"/>
          </a:ln>
          <a:effectLst/>
        </p:spPr>
      </p:cxnSp>
      <p:sp>
        <p:nvSpPr>
          <p:cNvPr id="10" name="文本框 9"/>
          <p:cNvSpPr txBox="1"/>
          <p:nvPr/>
        </p:nvSpPr>
        <p:spPr>
          <a:xfrm>
            <a:off x="503159" y="2043113"/>
            <a:ext cx="917752" cy="3214687"/>
          </a:xfrm>
          <a:prstGeom prst="rect">
            <a:avLst/>
          </a:prstGeom>
          <a:noFill/>
        </p:spPr>
        <p:txBody>
          <a:bodyPr vert="eaVert" wrap="square" rtlCol="0">
            <a:spAutoFit/>
          </a:bodyPr>
          <a:lstStyle/>
          <a:p>
            <a:pPr algn="dist">
              <a:lnSpc>
                <a:spcPct val="150000"/>
              </a:lnSpc>
            </a:pPr>
            <a:r>
              <a:rPr lang="zh-CN" altLang="en-US" sz="3600" dirty="0">
                <a:latin typeface="微软雅黑" panose="020B0503020204020204" pitchFamily="34" charset="-122"/>
                <a:ea typeface="微软雅黑" panose="020B0503020204020204" pitchFamily="34" charset="-122"/>
              </a:rPr>
              <a:t>糖代谢小结</a:t>
            </a:r>
            <a:endParaRPr lang="zh-CN" altLang="en-US" sz="3600" dirty="0">
              <a:latin typeface="微软雅黑" panose="020B0503020204020204" pitchFamily="34" charset="-122"/>
              <a:ea typeface="微软雅黑" panose="020B0503020204020204" pitchFamily="34" charset="-122"/>
            </a:endParaRP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25638"/>
                                        </p:tgtEl>
                                        <p:attrNameLst>
                                          <p:attrName>style.visibility</p:attrName>
                                        </p:attrNameLst>
                                      </p:cBhvr>
                                      <p:to>
                                        <p:strVal val="visible"/>
                                      </p:to>
                                    </p:set>
                                    <p:animEffect transition="in" filter="dissolve">
                                      <p:cBhvr>
                                        <p:cTn id="7" dur="500"/>
                                        <p:tgtEl>
                                          <p:spTgt spid="32563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25667"/>
                                        </p:tgtEl>
                                        <p:attrNameLst>
                                          <p:attrName>style.visibility</p:attrName>
                                        </p:attrNameLst>
                                      </p:cBhvr>
                                      <p:to>
                                        <p:strVal val="visible"/>
                                      </p:to>
                                    </p:set>
                                    <p:animEffect transition="in" filter="wipe(left)">
                                      <p:cBhvr>
                                        <p:cTn id="11" dur="500"/>
                                        <p:tgtEl>
                                          <p:spTgt spid="32566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25639"/>
                                        </p:tgtEl>
                                        <p:attrNameLst>
                                          <p:attrName>style.visibility</p:attrName>
                                        </p:attrNameLst>
                                      </p:cBhvr>
                                      <p:to>
                                        <p:strVal val="visible"/>
                                      </p:to>
                                    </p:set>
                                    <p:animEffect transition="in" filter="dissolve">
                                      <p:cBhvr>
                                        <p:cTn id="15" dur="500"/>
                                        <p:tgtEl>
                                          <p:spTgt spid="32563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25669"/>
                                        </p:tgtEl>
                                        <p:attrNameLst>
                                          <p:attrName>style.visibility</p:attrName>
                                        </p:attrNameLst>
                                      </p:cBhvr>
                                      <p:to>
                                        <p:strVal val="visible"/>
                                      </p:to>
                                    </p:set>
                                    <p:animEffect transition="in" filter="wipe(left)">
                                      <p:cBhvr>
                                        <p:cTn id="19" dur="500"/>
                                        <p:tgtEl>
                                          <p:spTgt spid="32566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325640"/>
                                        </p:tgtEl>
                                        <p:attrNameLst>
                                          <p:attrName>style.visibility</p:attrName>
                                        </p:attrNameLst>
                                      </p:cBhvr>
                                      <p:to>
                                        <p:strVal val="visible"/>
                                      </p:to>
                                    </p:set>
                                    <p:animEffect transition="in" filter="dissolve">
                                      <p:cBhvr>
                                        <p:cTn id="23" dur="500"/>
                                        <p:tgtEl>
                                          <p:spTgt spid="325640"/>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25670"/>
                                        </p:tgtEl>
                                        <p:attrNameLst>
                                          <p:attrName>style.visibility</p:attrName>
                                        </p:attrNameLst>
                                      </p:cBhvr>
                                      <p:to>
                                        <p:strVal val="visible"/>
                                      </p:to>
                                    </p:set>
                                    <p:animEffect transition="in" filter="wipe(left)">
                                      <p:cBhvr>
                                        <p:cTn id="27" dur="500"/>
                                        <p:tgtEl>
                                          <p:spTgt spid="325670"/>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325641"/>
                                        </p:tgtEl>
                                        <p:attrNameLst>
                                          <p:attrName>style.visibility</p:attrName>
                                        </p:attrNameLst>
                                      </p:cBhvr>
                                      <p:to>
                                        <p:strVal val="visible"/>
                                      </p:to>
                                    </p:set>
                                    <p:animEffect transition="in" filter="dissolve">
                                      <p:cBhvr>
                                        <p:cTn id="31" dur="500"/>
                                        <p:tgtEl>
                                          <p:spTgt spid="32564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325665"/>
                                        </p:tgtEl>
                                        <p:attrNameLst>
                                          <p:attrName>style.visibility</p:attrName>
                                        </p:attrNameLst>
                                      </p:cBhvr>
                                      <p:to>
                                        <p:strVal val="visible"/>
                                      </p:to>
                                    </p:set>
                                    <p:animEffect transition="in" filter="dissolve">
                                      <p:cBhvr>
                                        <p:cTn id="39" dur="500"/>
                                        <p:tgtEl>
                                          <p:spTgt spid="325665"/>
                                        </p:tgtEl>
                                      </p:cBhvr>
                                    </p:animEffect>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childTnLst>
                          </p:cTn>
                        </p:par>
                        <p:par>
                          <p:cTn id="46" fill="hold">
                            <p:stCondLst>
                              <p:cond delay="500"/>
                            </p:stCondLst>
                            <p:childTnLst>
                              <p:par>
                                <p:cTn id="47" presetID="1" presetClass="entr" presetSubtype="0"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par>
                          <p:cTn id="49" fill="hold">
                            <p:stCondLst>
                              <p:cond delay="500"/>
                            </p:stCondLst>
                            <p:childTnLst>
                              <p:par>
                                <p:cTn id="50" presetID="1" presetClass="entr" presetSubtype="0" fill="hold" nodeType="after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325657"/>
                                        </p:tgtEl>
                                        <p:attrNameLst>
                                          <p:attrName>style.visibility</p:attrName>
                                        </p:attrNameLst>
                                      </p:cBhvr>
                                      <p:to>
                                        <p:strVal val="visible"/>
                                      </p:to>
                                    </p:set>
                                    <p:animEffect transition="in" filter="wipe(up)">
                                      <p:cBhvr>
                                        <p:cTn id="56" dur="500"/>
                                        <p:tgtEl>
                                          <p:spTgt spid="325657"/>
                                        </p:tgtEl>
                                      </p:cBhvr>
                                    </p:animEffect>
                                  </p:childTnLst>
                                </p:cTn>
                              </p:par>
                            </p:childTnLst>
                          </p:cTn>
                        </p:par>
                        <p:par>
                          <p:cTn id="57" fill="hold">
                            <p:stCondLst>
                              <p:cond delay="500"/>
                            </p:stCondLst>
                            <p:childTnLst>
                              <p:par>
                                <p:cTn id="58" presetID="9" presetClass="entr" presetSubtype="0" fill="hold" grpId="0" nodeType="afterEffect">
                                  <p:stCondLst>
                                    <p:cond delay="0"/>
                                  </p:stCondLst>
                                  <p:childTnLst>
                                    <p:set>
                                      <p:cBhvr>
                                        <p:cTn id="59" dur="1" fill="hold">
                                          <p:stCondLst>
                                            <p:cond delay="0"/>
                                          </p:stCondLst>
                                        </p:cTn>
                                        <p:tgtEl>
                                          <p:spTgt spid="325643"/>
                                        </p:tgtEl>
                                        <p:attrNameLst>
                                          <p:attrName>style.visibility</p:attrName>
                                        </p:attrNameLst>
                                      </p:cBhvr>
                                      <p:to>
                                        <p:strVal val="visible"/>
                                      </p:to>
                                    </p:set>
                                    <p:animEffect transition="in" filter="dissolve">
                                      <p:cBhvr>
                                        <p:cTn id="60" dur="500"/>
                                        <p:tgtEl>
                                          <p:spTgt spid="325643"/>
                                        </p:tgtEl>
                                      </p:cBhvr>
                                    </p:animEffect>
                                  </p:childTnLst>
                                </p:cTn>
                              </p:par>
                            </p:childTnLst>
                          </p:cTn>
                        </p:par>
                        <p:par>
                          <p:cTn id="61" fill="hold">
                            <p:stCondLst>
                              <p:cond delay="1000"/>
                            </p:stCondLst>
                            <p:childTnLst>
                              <p:par>
                                <p:cTn id="62" presetID="22" presetClass="entr" presetSubtype="2" fill="hold" nodeType="afterEffect">
                                  <p:stCondLst>
                                    <p:cond delay="0"/>
                                  </p:stCondLst>
                                  <p:childTnLst>
                                    <p:set>
                                      <p:cBhvr>
                                        <p:cTn id="63" dur="1" fill="hold">
                                          <p:stCondLst>
                                            <p:cond delay="0"/>
                                          </p:stCondLst>
                                        </p:cTn>
                                        <p:tgtEl>
                                          <p:spTgt spid="325658"/>
                                        </p:tgtEl>
                                        <p:attrNameLst>
                                          <p:attrName>style.visibility</p:attrName>
                                        </p:attrNameLst>
                                      </p:cBhvr>
                                      <p:to>
                                        <p:strVal val="visible"/>
                                      </p:to>
                                    </p:set>
                                    <p:animEffect transition="in" filter="wipe(right)">
                                      <p:cBhvr>
                                        <p:cTn id="64" dur="500"/>
                                        <p:tgtEl>
                                          <p:spTgt spid="325658"/>
                                        </p:tgtEl>
                                      </p:cBhvr>
                                    </p:animEffect>
                                  </p:childTnLst>
                                </p:cTn>
                              </p:par>
                            </p:childTnLst>
                          </p:cTn>
                        </p:par>
                        <p:par>
                          <p:cTn id="65" fill="hold">
                            <p:stCondLst>
                              <p:cond delay="1500"/>
                            </p:stCondLst>
                            <p:childTnLst>
                              <p:par>
                                <p:cTn id="66" presetID="16" presetClass="entr" presetSubtype="42" fill="hold" nodeType="after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barn(outHorizontal)">
                                      <p:cBhvr>
                                        <p:cTn id="68" dur="500"/>
                                        <p:tgtEl>
                                          <p:spTgt spid="2"/>
                                        </p:tgtEl>
                                      </p:cBhvr>
                                    </p:animEffect>
                                  </p:childTnLst>
                                </p:cTn>
                              </p:par>
                            </p:childTnLst>
                          </p:cTn>
                        </p:par>
                        <p:par>
                          <p:cTn id="69" fill="hold">
                            <p:stCondLst>
                              <p:cond delay="2000"/>
                            </p:stCondLst>
                            <p:childTnLst>
                              <p:par>
                                <p:cTn id="70" presetID="22" presetClass="entr" presetSubtype="1" fill="hold" nodeType="after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up)">
                                      <p:cBhvr>
                                        <p:cTn id="72" dur="500"/>
                                        <p:tgtEl>
                                          <p:spTgt spid="8"/>
                                        </p:tgtEl>
                                      </p:cBhvr>
                                    </p:animEffect>
                                  </p:childTnLst>
                                </p:cTn>
                              </p:par>
                            </p:childTnLst>
                          </p:cTn>
                        </p:par>
                        <p:par>
                          <p:cTn id="73" fill="hold">
                            <p:stCondLst>
                              <p:cond delay="2500"/>
                            </p:stCondLst>
                            <p:childTnLst>
                              <p:par>
                                <p:cTn id="74" presetID="9" presetClass="entr" presetSubtype="0" fill="hold" grpId="0" nodeType="afterEffect">
                                  <p:stCondLst>
                                    <p:cond delay="0"/>
                                  </p:stCondLst>
                                  <p:childTnLst>
                                    <p:set>
                                      <p:cBhvr>
                                        <p:cTn id="75" dur="1" fill="hold">
                                          <p:stCondLst>
                                            <p:cond delay="0"/>
                                          </p:stCondLst>
                                        </p:cTn>
                                        <p:tgtEl>
                                          <p:spTgt spid="325662"/>
                                        </p:tgtEl>
                                        <p:attrNameLst>
                                          <p:attrName>style.visibility</p:attrName>
                                        </p:attrNameLst>
                                      </p:cBhvr>
                                      <p:to>
                                        <p:strVal val="visible"/>
                                      </p:to>
                                    </p:set>
                                    <p:animEffect transition="in" filter="dissolve">
                                      <p:cBhvr>
                                        <p:cTn id="76" dur="500"/>
                                        <p:tgtEl>
                                          <p:spTgt spid="325662"/>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325664"/>
                                        </p:tgtEl>
                                        <p:attrNameLst>
                                          <p:attrName>style.visibility</p:attrName>
                                        </p:attrNameLst>
                                      </p:cBhvr>
                                      <p:to>
                                        <p:strVal val="visible"/>
                                      </p:to>
                                    </p:set>
                                    <p:animEffect transition="in" filter="dissolve">
                                      <p:cBhvr>
                                        <p:cTn id="79" dur="500"/>
                                        <p:tgtEl>
                                          <p:spTgt spid="32566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nodeType="clickEffect">
                                  <p:stCondLst>
                                    <p:cond delay="0"/>
                                  </p:stCondLst>
                                  <p:childTnLst>
                                    <p:set>
                                      <p:cBhvr>
                                        <p:cTn id="83" dur="1" fill="hold">
                                          <p:stCondLst>
                                            <p:cond delay="0"/>
                                          </p:stCondLst>
                                        </p:cTn>
                                        <p:tgtEl>
                                          <p:spTgt spid="325648"/>
                                        </p:tgtEl>
                                        <p:attrNameLst>
                                          <p:attrName>style.visibility</p:attrName>
                                        </p:attrNameLst>
                                      </p:cBhvr>
                                      <p:to>
                                        <p:strVal val="visible"/>
                                      </p:to>
                                    </p:set>
                                    <p:animEffect transition="in" filter="wipe(up)">
                                      <p:cBhvr>
                                        <p:cTn id="84" dur="500"/>
                                        <p:tgtEl>
                                          <p:spTgt spid="325648"/>
                                        </p:tgtEl>
                                      </p:cBhvr>
                                    </p:animEffect>
                                  </p:childTnLst>
                                </p:cTn>
                              </p:par>
                            </p:childTnLst>
                          </p:cTn>
                        </p:par>
                        <p:par>
                          <p:cTn id="85" fill="hold">
                            <p:stCondLst>
                              <p:cond delay="500"/>
                            </p:stCondLst>
                            <p:childTnLst>
                              <p:par>
                                <p:cTn id="86" presetID="9" presetClass="entr" presetSubtype="0" fill="hold" grpId="0" nodeType="afterEffect">
                                  <p:stCondLst>
                                    <p:cond delay="0"/>
                                  </p:stCondLst>
                                  <p:childTnLst>
                                    <p:set>
                                      <p:cBhvr>
                                        <p:cTn id="87" dur="1" fill="hold">
                                          <p:stCondLst>
                                            <p:cond delay="0"/>
                                          </p:stCondLst>
                                        </p:cTn>
                                        <p:tgtEl>
                                          <p:spTgt spid="325642"/>
                                        </p:tgtEl>
                                        <p:attrNameLst>
                                          <p:attrName>style.visibility</p:attrName>
                                        </p:attrNameLst>
                                      </p:cBhvr>
                                      <p:to>
                                        <p:strVal val="visible"/>
                                      </p:to>
                                    </p:set>
                                    <p:animEffect transition="in" filter="dissolve">
                                      <p:cBhvr>
                                        <p:cTn id="88" dur="500"/>
                                        <p:tgtEl>
                                          <p:spTgt spid="325642"/>
                                        </p:tgtEl>
                                      </p:cBhvr>
                                    </p:animEffect>
                                  </p:childTnLst>
                                </p:cTn>
                              </p:par>
                            </p:childTnLst>
                          </p:cTn>
                        </p:par>
                        <p:par>
                          <p:cTn id="89" fill="hold">
                            <p:stCondLst>
                              <p:cond delay="1000"/>
                            </p:stCondLst>
                            <p:childTnLst>
                              <p:par>
                                <p:cTn id="90" presetID="22" presetClass="entr" presetSubtype="4" fill="hold" nodeType="after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wipe(down)">
                                      <p:cBhvr>
                                        <p:cTn id="92" dur="500"/>
                                        <p:tgtEl>
                                          <p:spTgt spid="5"/>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325663"/>
                                        </p:tgtEl>
                                        <p:attrNameLst>
                                          <p:attrName>style.visibility</p:attrName>
                                        </p:attrNameLst>
                                      </p:cBhvr>
                                      <p:to>
                                        <p:strVal val="visible"/>
                                      </p:to>
                                    </p:set>
                                    <p:animEffect transition="in" filter="dissolve">
                                      <p:cBhvr>
                                        <p:cTn id="97" dur="500"/>
                                        <p:tgtEl>
                                          <p:spTgt spid="32566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325668"/>
                                        </p:tgtEl>
                                        <p:attrNameLst>
                                          <p:attrName>style.visibility</p:attrName>
                                        </p:attrNameLst>
                                      </p:cBhvr>
                                      <p:to>
                                        <p:strVal val="visible"/>
                                      </p:to>
                                    </p:set>
                                    <p:animEffect transition="in" filter="wipe(down)">
                                      <p:cBhvr>
                                        <p:cTn id="102" dur="500"/>
                                        <p:tgtEl>
                                          <p:spTgt spid="325668"/>
                                        </p:tgtEl>
                                      </p:cBhvr>
                                    </p:animEffect>
                                  </p:childTnLst>
                                </p:cTn>
                              </p:par>
                            </p:childTnLst>
                          </p:cTn>
                        </p:par>
                        <p:par>
                          <p:cTn id="103" fill="hold">
                            <p:stCondLst>
                              <p:cond delay="500"/>
                            </p:stCondLst>
                            <p:childTnLst>
                              <p:par>
                                <p:cTn id="104" presetID="9" presetClass="entr" presetSubtype="0" fill="hold" grpId="0" nodeType="afterEffect">
                                  <p:stCondLst>
                                    <p:cond delay="0"/>
                                  </p:stCondLst>
                                  <p:childTnLst>
                                    <p:set>
                                      <p:cBhvr>
                                        <p:cTn id="105" dur="1" fill="hold">
                                          <p:stCondLst>
                                            <p:cond delay="0"/>
                                          </p:stCondLst>
                                        </p:cTn>
                                        <p:tgtEl>
                                          <p:spTgt spid="325637"/>
                                        </p:tgtEl>
                                        <p:attrNameLst>
                                          <p:attrName>style.visibility</p:attrName>
                                        </p:attrNameLst>
                                      </p:cBhvr>
                                      <p:to>
                                        <p:strVal val="visible"/>
                                      </p:to>
                                    </p:set>
                                    <p:animEffect transition="in" filter="dissolve">
                                      <p:cBhvr>
                                        <p:cTn id="106" dur="500"/>
                                        <p:tgtEl>
                                          <p:spTgt spid="325637"/>
                                        </p:tgtEl>
                                      </p:cBhvr>
                                    </p:animEffect>
                                  </p:childTnLst>
                                </p:cTn>
                              </p:par>
                            </p:childTnLst>
                          </p:cTn>
                        </p:par>
                        <p:par>
                          <p:cTn id="107" fill="hold">
                            <p:stCondLst>
                              <p:cond delay="1000"/>
                            </p:stCondLst>
                            <p:childTnLst>
                              <p:par>
                                <p:cTn id="108" presetID="16" presetClass="entr" presetSubtype="37" fill="hold" grpId="0" nodeType="afterEffect">
                                  <p:stCondLst>
                                    <p:cond delay="0"/>
                                  </p:stCondLst>
                                  <p:childTnLst>
                                    <p:set>
                                      <p:cBhvr>
                                        <p:cTn id="109" dur="1" fill="hold">
                                          <p:stCondLst>
                                            <p:cond delay="0"/>
                                          </p:stCondLst>
                                        </p:cTn>
                                        <p:tgtEl>
                                          <p:spTgt spid="325647"/>
                                        </p:tgtEl>
                                        <p:attrNameLst>
                                          <p:attrName>style.visibility</p:attrName>
                                        </p:attrNameLst>
                                      </p:cBhvr>
                                      <p:to>
                                        <p:strVal val="visible"/>
                                      </p:to>
                                    </p:set>
                                    <p:animEffect transition="in" filter="barn(outVertical)">
                                      <p:cBhvr>
                                        <p:cTn id="110" dur="500"/>
                                        <p:tgtEl>
                                          <p:spTgt spid="325647"/>
                                        </p:tgtEl>
                                      </p:cBhvr>
                                    </p:animEffect>
                                  </p:childTnLst>
                                </p:cTn>
                              </p:par>
                            </p:childTnLst>
                          </p:cTn>
                        </p:par>
                        <p:par>
                          <p:cTn id="111" fill="hold">
                            <p:stCondLst>
                              <p:cond delay="1500"/>
                            </p:stCondLst>
                            <p:childTnLst>
                              <p:par>
                                <p:cTn id="112" presetID="9" presetClass="entr" presetSubtype="0" fill="hold" grpId="0" nodeType="afterEffect">
                                  <p:stCondLst>
                                    <p:cond delay="0"/>
                                  </p:stCondLst>
                                  <p:childTnLst>
                                    <p:set>
                                      <p:cBhvr>
                                        <p:cTn id="113" dur="1" fill="hold">
                                          <p:stCondLst>
                                            <p:cond delay="0"/>
                                          </p:stCondLst>
                                        </p:cTn>
                                        <p:tgtEl>
                                          <p:spTgt spid="325636"/>
                                        </p:tgtEl>
                                        <p:attrNameLst>
                                          <p:attrName>style.visibility</p:attrName>
                                        </p:attrNameLst>
                                      </p:cBhvr>
                                      <p:to>
                                        <p:strVal val="visible"/>
                                      </p:to>
                                    </p:set>
                                    <p:animEffect transition="in" filter="dissolve">
                                      <p:cBhvr>
                                        <p:cTn id="114" dur="500"/>
                                        <p:tgtEl>
                                          <p:spTgt spid="325636"/>
                                        </p:tgtEl>
                                      </p:cBhvr>
                                    </p:animEffect>
                                  </p:childTnLst>
                                </p:cTn>
                              </p:par>
                            </p:childTnLst>
                          </p:cTn>
                        </p:par>
                        <p:par>
                          <p:cTn id="115" fill="hold">
                            <p:stCondLst>
                              <p:cond delay="2000"/>
                            </p:stCondLst>
                            <p:childTnLst>
                              <p:par>
                                <p:cTn id="116" presetID="9" presetClass="entr" presetSubtype="0" fill="hold" grpId="0" nodeType="afterEffect">
                                  <p:stCondLst>
                                    <p:cond delay="0"/>
                                  </p:stCondLst>
                                  <p:childTnLst>
                                    <p:set>
                                      <p:cBhvr>
                                        <p:cTn id="117" dur="1" fill="hold">
                                          <p:stCondLst>
                                            <p:cond delay="0"/>
                                          </p:stCondLst>
                                        </p:cTn>
                                        <p:tgtEl>
                                          <p:spTgt spid="325634"/>
                                        </p:tgtEl>
                                        <p:attrNameLst>
                                          <p:attrName>style.visibility</p:attrName>
                                        </p:attrNameLst>
                                      </p:cBhvr>
                                      <p:to>
                                        <p:strVal val="visible"/>
                                      </p:to>
                                    </p:set>
                                    <p:animEffect transition="in" filter="dissolve">
                                      <p:cBhvr>
                                        <p:cTn id="118" dur="500"/>
                                        <p:tgtEl>
                                          <p:spTgt spid="325634"/>
                                        </p:tgtEl>
                                      </p:cBhvr>
                                    </p:animEffect>
                                  </p:childTnLst>
                                </p:cTn>
                              </p:par>
                            </p:childTnLst>
                          </p:cTn>
                        </p:par>
                        <p:par>
                          <p:cTn id="119" fill="hold">
                            <p:stCondLst>
                              <p:cond delay="2500"/>
                            </p:stCondLst>
                            <p:childTnLst>
                              <p:par>
                                <p:cTn id="120" presetID="9" presetClass="entr" presetSubtype="0" fill="hold" grpId="0" nodeType="afterEffect">
                                  <p:stCondLst>
                                    <p:cond delay="0"/>
                                  </p:stCondLst>
                                  <p:childTnLst>
                                    <p:set>
                                      <p:cBhvr>
                                        <p:cTn id="121" dur="1" fill="hold">
                                          <p:stCondLst>
                                            <p:cond delay="0"/>
                                          </p:stCondLst>
                                        </p:cTn>
                                        <p:tgtEl>
                                          <p:spTgt spid="325635"/>
                                        </p:tgtEl>
                                        <p:attrNameLst>
                                          <p:attrName>style.visibility</p:attrName>
                                        </p:attrNameLst>
                                      </p:cBhvr>
                                      <p:to>
                                        <p:strVal val="visible"/>
                                      </p:to>
                                    </p:set>
                                    <p:animEffect transition="in" filter="dissolve">
                                      <p:cBhvr>
                                        <p:cTn id="122" dur="500"/>
                                        <p:tgtEl>
                                          <p:spTgt spid="32563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325655"/>
                                        </p:tgtEl>
                                        <p:attrNameLst>
                                          <p:attrName>style.visibility</p:attrName>
                                        </p:attrNameLst>
                                      </p:cBhvr>
                                      <p:to>
                                        <p:strVal val="visible"/>
                                      </p:to>
                                    </p:set>
                                    <p:animEffect transition="in" filter="wipe(down)">
                                      <p:cBhvr>
                                        <p:cTn id="127" dur="500"/>
                                        <p:tgtEl>
                                          <p:spTgt spid="325655"/>
                                        </p:tgtEl>
                                      </p:cBhvr>
                                    </p:animEffect>
                                  </p:childTnLst>
                                </p:cTn>
                              </p:par>
                            </p:childTnLst>
                          </p:cTn>
                        </p:par>
                        <p:par>
                          <p:cTn id="128" fill="hold">
                            <p:stCondLst>
                              <p:cond delay="500"/>
                            </p:stCondLst>
                            <p:childTnLst>
                              <p:par>
                                <p:cTn id="129" presetID="9" presetClass="entr" presetSubtype="0" fill="hold" grpId="0" nodeType="afterEffect">
                                  <p:stCondLst>
                                    <p:cond delay="0"/>
                                  </p:stCondLst>
                                  <p:childTnLst>
                                    <p:set>
                                      <p:cBhvr>
                                        <p:cTn id="130" dur="1" fill="hold">
                                          <p:stCondLst>
                                            <p:cond delay="0"/>
                                          </p:stCondLst>
                                        </p:cTn>
                                        <p:tgtEl>
                                          <p:spTgt spid="325654"/>
                                        </p:tgtEl>
                                        <p:attrNameLst>
                                          <p:attrName>style.visibility</p:attrName>
                                        </p:attrNameLst>
                                      </p:cBhvr>
                                      <p:to>
                                        <p:strVal val="visible"/>
                                      </p:to>
                                    </p:set>
                                    <p:animEffect transition="in" filter="dissolve">
                                      <p:cBhvr>
                                        <p:cTn id="131" dur="500"/>
                                        <p:tgtEl>
                                          <p:spTgt spid="325654"/>
                                        </p:tgtEl>
                                      </p:cBhvr>
                                    </p:animEffect>
                                  </p:childTnLst>
                                </p:cTn>
                              </p:par>
                            </p:childTnLst>
                          </p:cTn>
                        </p:par>
                        <p:par>
                          <p:cTn id="132" fill="hold">
                            <p:stCondLst>
                              <p:cond delay="1000"/>
                            </p:stCondLst>
                            <p:childTnLst>
                              <p:par>
                                <p:cTn id="133" presetID="22" presetClass="entr" presetSubtype="4" fill="hold" nodeType="afterEffect">
                                  <p:stCondLst>
                                    <p:cond delay="0"/>
                                  </p:stCondLst>
                                  <p:childTnLst>
                                    <p:set>
                                      <p:cBhvr>
                                        <p:cTn id="134" dur="1" fill="hold">
                                          <p:stCondLst>
                                            <p:cond delay="0"/>
                                          </p:stCondLst>
                                        </p:cTn>
                                        <p:tgtEl>
                                          <p:spTgt spid="325656"/>
                                        </p:tgtEl>
                                        <p:attrNameLst>
                                          <p:attrName>style.visibility</p:attrName>
                                        </p:attrNameLst>
                                      </p:cBhvr>
                                      <p:to>
                                        <p:strVal val="visible"/>
                                      </p:to>
                                    </p:set>
                                    <p:animEffect transition="in" filter="wipe(down)">
                                      <p:cBhvr>
                                        <p:cTn id="135" dur="500"/>
                                        <p:tgtEl>
                                          <p:spTgt spid="325656"/>
                                        </p:tgtEl>
                                      </p:cBhvr>
                                    </p:animEffect>
                                  </p:childTnLst>
                                </p:cTn>
                              </p:par>
                            </p:childTnLst>
                          </p:cTn>
                        </p:par>
                        <p:par>
                          <p:cTn id="136" fill="hold">
                            <p:stCondLst>
                              <p:cond delay="1500"/>
                            </p:stCondLst>
                            <p:childTnLst>
                              <p:par>
                                <p:cTn id="137" presetID="22" presetClass="entr" presetSubtype="1" fill="hold" nodeType="afterEffect">
                                  <p:stCondLst>
                                    <p:cond delay="0"/>
                                  </p:stCondLst>
                                  <p:childTnLst>
                                    <p:set>
                                      <p:cBhvr>
                                        <p:cTn id="138" dur="1" fill="hold">
                                          <p:stCondLst>
                                            <p:cond delay="0"/>
                                          </p:stCondLst>
                                        </p:cTn>
                                        <p:tgtEl>
                                          <p:spTgt spid="325672"/>
                                        </p:tgtEl>
                                        <p:attrNameLst>
                                          <p:attrName>style.visibility</p:attrName>
                                        </p:attrNameLst>
                                      </p:cBhvr>
                                      <p:to>
                                        <p:strVal val="visible"/>
                                      </p:to>
                                    </p:set>
                                    <p:animEffect transition="in" filter="wipe(up)">
                                      <p:cBhvr>
                                        <p:cTn id="139" dur="500"/>
                                        <p:tgtEl>
                                          <p:spTgt spid="325672"/>
                                        </p:tgtEl>
                                      </p:cBhvr>
                                    </p:animEffect>
                                  </p:childTnLst>
                                </p:cTn>
                              </p:par>
                            </p:childTnLst>
                          </p:cTn>
                        </p:par>
                        <p:par>
                          <p:cTn id="140" fill="hold">
                            <p:stCondLst>
                              <p:cond delay="2000"/>
                            </p:stCondLst>
                            <p:childTnLst>
                              <p:par>
                                <p:cTn id="141" presetID="22" presetClass="entr" presetSubtype="2" fill="hold" nodeType="afterEffect">
                                  <p:stCondLst>
                                    <p:cond delay="0"/>
                                  </p:stCondLst>
                                  <p:childTnLst>
                                    <p:set>
                                      <p:cBhvr>
                                        <p:cTn id="142" dur="1" fill="hold">
                                          <p:stCondLst>
                                            <p:cond delay="0"/>
                                          </p:stCondLst>
                                        </p:cTn>
                                        <p:tgtEl>
                                          <p:spTgt spid="325671"/>
                                        </p:tgtEl>
                                        <p:attrNameLst>
                                          <p:attrName>style.visibility</p:attrName>
                                        </p:attrNameLst>
                                      </p:cBhvr>
                                      <p:to>
                                        <p:strVal val="visible"/>
                                      </p:to>
                                    </p:set>
                                    <p:animEffect transition="in" filter="wipe(right)">
                                      <p:cBhvr>
                                        <p:cTn id="143" dur="500"/>
                                        <p:tgtEl>
                                          <p:spTgt spid="325671"/>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2" fill="hold" nodeType="clickEffect">
                                  <p:stCondLst>
                                    <p:cond delay="0"/>
                                  </p:stCondLst>
                                  <p:childTnLst>
                                    <p:set>
                                      <p:cBhvr>
                                        <p:cTn id="147" dur="1" fill="hold">
                                          <p:stCondLst>
                                            <p:cond delay="0"/>
                                          </p:stCondLst>
                                        </p:cTn>
                                        <p:tgtEl>
                                          <p:spTgt spid="4"/>
                                        </p:tgtEl>
                                        <p:attrNameLst>
                                          <p:attrName>style.visibility</p:attrName>
                                        </p:attrNameLst>
                                      </p:cBhvr>
                                      <p:to>
                                        <p:strVal val="visible"/>
                                      </p:to>
                                    </p:set>
                                    <p:animEffect transition="in" filter="wipe(right)">
                                      <p:cBhvr>
                                        <p:cTn id="148" dur="500"/>
                                        <p:tgtEl>
                                          <p:spTgt spid="4"/>
                                        </p:tgtEl>
                                      </p:cBhvr>
                                    </p:animEffect>
                                  </p:childTnLst>
                                </p:cTn>
                              </p:par>
                            </p:childTnLst>
                          </p:cTn>
                        </p:par>
                        <p:par>
                          <p:cTn id="149" fill="hold">
                            <p:stCondLst>
                              <p:cond delay="500"/>
                            </p:stCondLst>
                            <p:childTnLst>
                              <p:par>
                                <p:cTn id="150" presetID="22" presetClass="entr" presetSubtype="4" fill="hold" nodeType="afterEffect">
                                  <p:stCondLst>
                                    <p:cond delay="0"/>
                                  </p:stCondLst>
                                  <p:childTnLst>
                                    <p:set>
                                      <p:cBhvr>
                                        <p:cTn id="151" dur="1" fill="hold">
                                          <p:stCondLst>
                                            <p:cond delay="0"/>
                                          </p:stCondLst>
                                        </p:cTn>
                                        <p:tgtEl>
                                          <p:spTgt spid="3"/>
                                        </p:tgtEl>
                                        <p:attrNameLst>
                                          <p:attrName>style.visibility</p:attrName>
                                        </p:attrNameLst>
                                      </p:cBhvr>
                                      <p:to>
                                        <p:strVal val="visible"/>
                                      </p:to>
                                    </p:set>
                                    <p:animEffect transition="in" filter="wipe(down)">
                                      <p:cBhvr>
                                        <p:cTn id="152" dur="500"/>
                                        <p:tgtEl>
                                          <p:spTgt spid="3"/>
                                        </p:tgtEl>
                                      </p:cBhvr>
                                    </p:animEffect>
                                  </p:childTnLst>
                                </p:cTn>
                              </p:par>
                              <p:par>
                                <p:cTn id="153" presetID="9" presetClass="entr" presetSubtype="0" fill="hold" grpId="0" nodeType="withEffect">
                                  <p:stCondLst>
                                    <p:cond delay="0"/>
                                  </p:stCondLst>
                                  <p:childTnLst>
                                    <p:set>
                                      <p:cBhvr>
                                        <p:cTn id="154" dur="1" fill="hold">
                                          <p:stCondLst>
                                            <p:cond delay="0"/>
                                          </p:stCondLst>
                                        </p:cTn>
                                        <p:tgtEl>
                                          <p:spTgt spid="325666"/>
                                        </p:tgtEl>
                                        <p:attrNameLst>
                                          <p:attrName>style.visibility</p:attrName>
                                        </p:attrNameLst>
                                      </p:cBhvr>
                                      <p:to>
                                        <p:strVal val="visible"/>
                                      </p:to>
                                    </p:set>
                                    <p:animEffect transition="in" filter="dissolve">
                                      <p:cBhvr>
                                        <p:cTn id="155" dur="500"/>
                                        <p:tgtEl>
                                          <p:spTgt spid="325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4" grpId="0" animBg="1"/>
      <p:bldP spid="325635" grpId="0" animBg="1"/>
      <p:bldP spid="325636" grpId="0" autoUpdateAnimBg="0"/>
      <p:bldP spid="325637" grpId="0" autoUpdateAnimBg="0"/>
      <p:bldP spid="325638" grpId="0" autoUpdateAnimBg="0"/>
      <p:bldP spid="325639" grpId="0" autoUpdateAnimBg="0"/>
      <p:bldP spid="325640" grpId="0" autoUpdateAnimBg="0"/>
      <p:bldP spid="325641" grpId="0" autoUpdateAnimBg="0"/>
      <p:bldP spid="325642" grpId="0" autoUpdateAnimBg="0"/>
      <p:bldP spid="325643" grpId="0" autoUpdateAnimBg="0"/>
      <p:bldP spid="325647" grpId="0" animBg="1"/>
      <p:bldP spid="325654" grpId="0" autoUpdateAnimBg="0"/>
      <p:bldP spid="325662" grpId="0" autoUpdateAnimBg="0"/>
      <p:bldP spid="325663" grpId="0" animBg="1"/>
      <p:bldP spid="325664" grpId="0" animBg="1"/>
      <p:bldP spid="325665" grpId="0" animBg="1" autoUpdateAnimBg="0"/>
      <p:bldP spid="325666" grpId="0" animBg="1" autoUpdateAnimBg="0"/>
    </p:bldLst>
  </p:timing>
</p:sld>
</file>

<file path=ppt/slides/slide2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99456" y="1988840"/>
            <a:ext cx="10225136" cy="3600400"/>
          </a:xfrm>
        </p:spPr>
        <p:txBody>
          <a:bodyPr/>
          <a:lstStyle/>
          <a:p>
            <a:pPr>
              <a:lnSpc>
                <a:spcPct val="130000"/>
              </a:lnSpc>
              <a:defRPr/>
            </a:pPr>
            <a:r>
              <a:rPr lang="zh-CN" altLang="en-US" sz="2800" b="0" dirty="0">
                <a:latin typeface="+mj-ea"/>
                <a:ea typeface="+mj-ea"/>
              </a:rPr>
              <a:t>草酰乙酸、乙酰</a:t>
            </a:r>
            <a:r>
              <a:rPr lang="en-US" altLang="zh-CN" sz="2800" b="0" dirty="0">
                <a:latin typeface="+mj-ea"/>
                <a:ea typeface="+mj-ea"/>
              </a:rPr>
              <a:t>CoA</a:t>
            </a:r>
            <a:r>
              <a:rPr lang="zh-CN" altLang="en-US" sz="2800" b="0" dirty="0">
                <a:latin typeface="+mj-ea"/>
                <a:ea typeface="+mj-ea"/>
              </a:rPr>
              <a:t>在线粒体内膜上没有转运载体，不能直接出线粒体。</a:t>
            </a:r>
            <a:endParaRPr lang="en-US" altLang="zh-CN" sz="2800" b="0" dirty="0">
              <a:latin typeface="+mj-ea"/>
              <a:ea typeface="+mj-ea"/>
            </a:endParaRPr>
          </a:p>
          <a:p>
            <a:pPr>
              <a:lnSpc>
                <a:spcPct val="130000"/>
              </a:lnSpc>
              <a:defRPr/>
            </a:pPr>
            <a:r>
              <a:rPr lang="zh-CN" altLang="en-US" sz="2800" b="0" dirty="0">
                <a:solidFill>
                  <a:srgbClr val="0000CC"/>
                </a:solidFill>
                <a:latin typeface="+mj-ea"/>
                <a:ea typeface="+mj-ea"/>
              </a:rPr>
              <a:t>草酰乙酸</a:t>
            </a:r>
            <a:r>
              <a:rPr lang="zh-CN" altLang="en-US" sz="2800" b="0" dirty="0">
                <a:latin typeface="+mj-ea"/>
                <a:ea typeface="+mj-ea"/>
              </a:rPr>
              <a:t>以苹果酸或天冬氨酸的形式出线粒体</a:t>
            </a:r>
            <a:endParaRPr lang="en-US" altLang="zh-CN" sz="2800" b="0" dirty="0">
              <a:latin typeface="+mj-ea"/>
              <a:ea typeface="+mj-ea"/>
            </a:endParaRPr>
          </a:p>
          <a:p>
            <a:pPr>
              <a:lnSpc>
                <a:spcPct val="130000"/>
              </a:lnSpc>
              <a:defRPr/>
            </a:pPr>
            <a:r>
              <a:rPr lang="zh-CN" altLang="en-US" sz="2800" b="0" dirty="0">
                <a:solidFill>
                  <a:srgbClr val="0000CC"/>
                </a:solidFill>
                <a:latin typeface="+mj-ea"/>
                <a:ea typeface="+mj-ea"/>
              </a:rPr>
              <a:t>乙酰</a:t>
            </a:r>
            <a:r>
              <a:rPr lang="en-US" altLang="zh-CN" sz="2800" b="0" dirty="0">
                <a:solidFill>
                  <a:srgbClr val="0000CC"/>
                </a:solidFill>
                <a:latin typeface="+mj-ea"/>
                <a:ea typeface="+mj-ea"/>
              </a:rPr>
              <a:t>CoA</a:t>
            </a:r>
            <a:r>
              <a:rPr lang="zh-CN" altLang="en-US" sz="2800" b="0" dirty="0">
                <a:latin typeface="+mj-ea"/>
                <a:ea typeface="+mj-ea"/>
              </a:rPr>
              <a:t>以柠檬酸</a:t>
            </a:r>
            <a:r>
              <a:rPr lang="en-US" altLang="zh-CN" sz="2800" b="0" dirty="0">
                <a:latin typeface="+mj-ea"/>
                <a:ea typeface="+mj-ea"/>
              </a:rPr>
              <a:t>-</a:t>
            </a:r>
            <a:r>
              <a:rPr lang="zh-CN" altLang="en-US" sz="2800" b="0" dirty="0">
                <a:latin typeface="+mj-ea"/>
                <a:ea typeface="+mj-ea"/>
              </a:rPr>
              <a:t>丙酮酸循环出线粒体（详见第八章脂代谢）</a:t>
            </a:r>
            <a:endParaRPr lang="zh-CN" altLang="en-US" sz="2800" b="0" dirty="0">
              <a:latin typeface="+mj-ea"/>
              <a:ea typeface="+mj-ea"/>
            </a:endParaRPr>
          </a:p>
        </p:txBody>
      </p:sp>
    </p:spTree>
  </p:cSld>
  <p:clrMapOvr>
    <a:masterClrMapping/>
  </p:clrMapOvr>
  <p:transition spd="med">
    <p:zoom/>
  </p:transition>
</p:sld>
</file>

<file path=ppt/theme/theme1.xml><?xml version="1.0" encoding="utf-8"?>
<a:theme xmlns:a="http://schemas.openxmlformats.org/drawingml/2006/main" name="169TGp_arrow_light">
  <a:themeElements>
    <a:clrScheme name="169TGp_arrow_light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169TGp_arrow_light">
      <a:majorFont>
        <a:latin typeface="黑体"/>
        <a:ea typeface="黑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69TGp_arrow_light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169TGp_arrow_light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69TGp_arrow_light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169TGp_arrow_light</Template>
  <TotalTime>0</TotalTime>
  <Words>27930</Words>
  <Application>WPS 演示</Application>
  <PresentationFormat>宽屏</PresentationFormat>
  <Paragraphs>3735</Paragraphs>
  <Slides>204</Slides>
  <Notes>197</Notes>
  <HiddenSlides>50</HiddenSlides>
  <MMClips>0</MMClips>
  <ScaleCrop>false</ScaleCrop>
  <HeadingPairs>
    <vt:vector size="8" baseType="variant">
      <vt:variant>
        <vt:lpstr>已用的字体</vt:lpstr>
      </vt:variant>
      <vt:variant>
        <vt:i4>29</vt:i4>
      </vt:variant>
      <vt:variant>
        <vt:lpstr>主题</vt:lpstr>
      </vt:variant>
      <vt:variant>
        <vt:i4>1</vt:i4>
      </vt:variant>
      <vt:variant>
        <vt:lpstr>嵌入 OLE 服务器</vt:lpstr>
      </vt:variant>
      <vt:variant>
        <vt:i4>0</vt:i4>
      </vt:variant>
      <vt:variant>
        <vt:lpstr>幻灯片标题</vt:lpstr>
      </vt:variant>
      <vt:variant>
        <vt:i4>204</vt:i4>
      </vt:variant>
    </vt:vector>
  </HeadingPairs>
  <TitlesOfParts>
    <vt:vector size="234" baseType="lpstr">
      <vt:lpstr>Arial</vt:lpstr>
      <vt:lpstr>宋体</vt:lpstr>
      <vt:lpstr>Wingdings</vt:lpstr>
      <vt:lpstr>楷体_GB2312</vt:lpstr>
      <vt:lpstr>黑体</vt:lpstr>
      <vt:lpstr>楷体_GB2312</vt:lpstr>
      <vt:lpstr>新宋体</vt:lpstr>
      <vt:lpstr>Verdana</vt:lpstr>
      <vt:lpstr>Times New Roman</vt:lpstr>
      <vt:lpstr>微软雅黑</vt:lpstr>
      <vt:lpstr>Arial Unicode MS</vt:lpstr>
      <vt:lpstr>华文楷体</vt:lpstr>
      <vt:lpstr>Antique Olive</vt:lpstr>
      <vt:lpstr>Segoe Print</vt:lpstr>
      <vt:lpstr>Monotype Sorts</vt:lpstr>
      <vt:lpstr>Roboto</vt:lpstr>
      <vt:lpstr>Symbol</vt:lpstr>
      <vt:lpstr>Arial Black</vt:lpstr>
      <vt:lpstr>华文新魏</vt:lpstr>
      <vt:lpstr>Tahoma</vt:lpstr>
      <vt:lpstr>华文中宋</vt:lpstr>
      <vt:lpstr>隶书</vt:lpstr>
      <vt:lpstr>Antique Olive</vt:lpstr>
      <vt:lpstr>微软雅黑 Light</vt:lpstr>
      <vt:lpstr>Times New Roman</vt:lpstr>
      <vt:lpstr>等线</vt:lpstr>
      <vt:lpstr>Garamond</vt:lpstr>
      <vt:lpstr>-apple-system</vt:lpstr>
      <vt:lpstr>Wingdings</vt:lpstr>
      <vt:lpstr>169TGp_arrow_light</vt:lpstr>
      <vt:lpstr>第 二 篇 代谢及其调节</vt:lpstr>
      <vt:lpstr>PowerPoint 演示文稿</vt:lpstr>
      <vt:lpstr>物质代谢（metabolism)</vt:lpstr>
      <vt:lpstr>PowerPoint 演示文稿</vt:lpstr>
      <vt:lpstr>PowerPoint 演示文稿</vt:lpstr>
      <vt:lpstr>学习“物质代谢”的关键点</vt:lpstr>
      <vt:lpstr>本篇内容概要</vt:lpstr>
      <vt:lpstr>第 七 章 糖  代  谢</vt:lpstr>
      <vt:lpstr>本章内容</vt:lpstr>
      <vt:lpstr>要    求</vt:lpstr>
      <vt:lpstr>PowerPoint 演示文稿</vt:lpstr>
      <vt:lpstr>PowerPoint 演示文稿</vt:lpstr>
      <vt:lpstr>糖的功能</vt:lpstr>
      <vt:lpstr>第一节  糖的摄取和利用</vt:lpstr>
      <vt:lpstr>人类膳食中的常见糖类</vt:lpstr>
      <vt:lpstr>PowerPoint 演示文稿</vt:lpstr>
      <vt:lpstr>PowerPoint 演示文稿</vt:lpstr>
      <vt:lpstr>半缩醛或半缩酮的生成</vt:lpstr>
      <vt:lpstr>葡萄糖成环</vt:lpstr>
      <vt:lpstr>一、糖消化后以单体形式吸收</vt:lpstr>
      <vt:lpstr>PowerPoint 演示文稿</vt:lpstr>
      <vt:lpstr>PowerPoint 演示文稿</vt:lpstr>
      <vt:lpstr>PowerPoint 演示文稿</vt:lpstr>
      <vt:lpstr>PowerPoint 演示文稿</vt:lpstr>
      <vt:lpstr>PowerPoint 演示文稿</vt:lpstr>
      <vt:lpstr>细胞摄取葡萄糖需要葡萄糖转运蛋白(GLUT)</vt:lpstr>
      <vt:lpstr>PowerPoint 演示文稿</vt:lpstr>
      <vt:lpstr>第二节  糖的无氧氧化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NAD和NADP的氧化态及还原态写法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自然界的糖无氧氧化有两种形式</vt:lpstr>
      <vt:lpstr>PowerPoint 演示文稿</vt:lpstr>
      <vt:lpstr>PowerPoint 演示文稿</vt:lpstr>
      <vt:lpstr>PowerPoint 演示文稿</vt:lpstr>
      <vt:lpstr>记忆糖酵解十步反应口诀</vt:lpstr>
      <vt:lpstr>代谢方程和化学反应方程式不完全相同</vt:lpstr>
      <vt:lpstr>糖酵解的意义</vt:lpstr>
      <vt:lpstr>PowerPoint 演示文稿</vt:lpstr>
      <vt:lpstr>PowerPoint 演示文稿</vt:lpstr>
      <vt:lpstr>PowerPoint 演示文稿</vt:lpstr>
      <vt:lpstr>糖酵解的调节在肝脏及肝外组织不同</vt:lpstr>
      <vt:lpstr>PowerPoint 演示文稿</vt:lpstr>
      <vt:lpstr> 糖的无氧氧化小结</vt:lpstr>
      <vt:lpstr>终产物乳酸的去路</vt:lpstr>
      <vt:lpstr>延迟性肌肉酸痛非乳酸堆积所致</vt:lpstr>
      <vt:lpstr>课堂练习</vt:lpstr>
      <vt:lpstr>PowerPoint 演示文稿</vt:lpstr>
      <vt:lpstr>PowerPoint 演示文稿</vt:lpstr>
      <vt:lpstr>PowerPoint 演示文稿</vt:lpstr>
      <vt:lpstr>PowerPoint 演示文稿</vt:lpstr>
      <vt:lpstr>PowerPoint 演示文稿</vt:lpstr>
      <vt:lpstr>第三节  糖的有氧氧化</vt:lpstr>
      <vt:lpstr>PowerPoint 演示文稿</vt:lpstr>
      <vt:lpstr>PowerPoint 演示文稿</vt:lpstr>
      <vt:lpstr>一、丙酮酸进入线粒体氧化脱羧生成乙酰CoA</vt:lpstr>
      <vt:lpstr>PowerPoint 演示文稿</vt:lpstr>
      <vt:lpstr>PowerPoint 演示文稿</vt:lpstr>
      <vt:lpstr>PowerPoint 演示文稿</vt:lpstr>
      <vt:lpstr>PowerPoint 演示文稿</vt:lpstr>
      <vt:lpstr>乙酰CoA是糖、脂类、蛋白质代谢的共同中间产物</vt:lpstr>
      <vt:lpstr>二、三羧酸循环将乙酰CoA彻底氧化</vt:lpstr>
      <vt:lpstr>PowerPoint 演示文稿</vt:lpstr>
      <vt:lpstr>PowerPoint 演示文稿</vt:lpstr>
      <vt:lpstr>总反应方程式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为保证三羧酸循环的正常运转，失去的中间产物必须及时补充，其中最重要的是草酰乙酸的添补！ </vt:lpstr>
      <vt:lpstr>PowerPoint 演示文稿</vt:lpstr>
      <vt:lpstr>* 乙酰CoA的来源</vt:lpstr>
      <vt:lpstr>膳食中三大营养素含量对三羧酸循环的影响</vt:lpstr>
      <vt:lpstr>三羧酸循环的生理意义</vt:lpstr>
      <vt:lpstr>PowerPoint 演示文稿</vt:lpstr>
      <vt:lpstr>PowerPoint 演示文稿</vt:lpstr>
      <vt:lpstr>三、有氧氧化是糖分解供能的主要方式</vt:lpstr>
      <vt:lpstr>有氧氧化生成的ATP</vt:lpstr>
      <vt:lpstr>PowerPoint 演示文稿</vt:lpstr>
      <vt:lpstr>PowerPoint 演示文稿</vt:lpstr>
      <vt:lpstr>PowerPoint 演示文稿</vt:lpstr>
      <vt:lpstr>PowerPoint 演示文稿</vt:lpstr>
      <vt:lpstr>PowerPoint 演示文稿</vt:lpstr>
      <vt:lpstr>PowerPoint 演示文稿</vt:lpstr>
      <vt:lpstr>3.糖的有氧氧化各阶段相互协调</vt:lpstr>
      <vt:lpstr>五、糖氧化产能方式有组织偏好性</vt:lpstr>
      <vt:lpstr>巴斯德效应（Pasteur Effect)</vt:lpstr>
      <vt:lpstr>瓦尔堡效应（Warburg Effect)</vt:lpstr>
      <vt:lpstr>PowerPoint 演示文稿</vt:lpstr>
      <vt:lpstr>糖的有氧氧化与糖无氧氧化的区别</vt:lpstr>
      <vt:lpstr>第四节  戊糖磷酸途径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相关病例</vt:lpstr>
      <vt:lpstr>G6PD缺陷为什么常见？</vt:lpstr>
      <vt:lpstr>PowerPoint 演示文稿</vt:lpstr>
      <vt:lpstr>PowerPoint 演示文稿</vt:lpstr>
      <vt:lpstr>PowerPoint 演示文稿</vt:lpstr>
      <vt:lpstr>第五节  糖原的合成与分解</vt:lpstr>
      <vt:lpstr>糖 原 (glycogen) </vt:lpstr>
      <vt:lpstr>PowerPoint 演示文稿</vt:lpstr>
      <vt:lpstr>PowerPoint 演示文稿</vt:lpstr>
      <vt:lpstr>糖原蛋白是糖原引物</vt:lpstr>
      <vt:lpstr>PowerPoint 演示文稿</vt:lpstr>
      <vt:lpstr>糖原的结构</vt:lpstr>
      <vt:lpstr>PowerPoint 演示文稿</vt:lpstr>
      <vt:lpstr>糖原合成反应的特点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第六节  糖 异 生</vt:lpstr>
      <vt:lpstr>糖异生</vt:lpstr>
      <vt:lpstr>一、糖异生不完全是糖酵解的逆反应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三、糖异生的主要生理意义是维持血糖恒定</vt:lpstr>
      <vt:lpstr>PowerPoint 演示文稿</vt:lpstr>
      <vt:lpstr>四、乳酸循环（Cori  cycle）</vt:lpstr>
      <vt:lpstr>科研路上的和谐伉俪---Cori夫妇</vt:lpstr>
      <vt:lpstr>PowerPoint 演示文稿</vt:lpstr>
      <vt:lpstr>第 七 节  葡萄糖的其他代谢途径</vt:lpstr>
      <vt:lpstr>一、糖醛酸途径生成葡萄糖醛酸</vt:lpstr>
      <vt:lpstr>多元醇途径可生成木糖醇、山梨醇</vt:lpstr>
      <vt:lpstr>第八节 血糖及其调节</vt:lpstr>
      <vt:lpstr>PowerPoint 演示文稿</vt:lpstr>
      <vt:lpstr>一、血糖的来源和去路</vt:lpstr>
      <vt:lpstr>PowerPoint 演示文稿</vt:lpstr>
      <vt:lpstr>PowerPoint 演示文稿</vt:lpstr>
      <vt:lpstr>PowerPoint 演示文稿</vt:lpstr>
      <vt:lpstr>PowerPoint 演示文稿</vt:lpstr>
      <vt:lpstr>二、血糖稳态主要受激素调节</vt:lpstr>
      <vt:lpstr>PowerPoint 演示文稿</vt:lpstr>
      <vt:lpstr>PowerPoint 演示文稿</vt:lpstr>
      <vt:lpstr>PowerPoint 演示文稿</vt:lpstr>
      <vt:lpstr>PowerPoint 演示文稿</vt:lpstr>
      <vt:lpstr>胰岛素分泌的调节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低血糖临床症状</vt:lpstr>
      <vt:lpstr>PowerPoint 演示文稿</vt:lpstr>
      <vt:lpstr>PowerPoint 演示文稿</vt:lpstr>
      <vt:lpstr>PowerPoint 演示文稿</vt:lpstr>
      <vt:lpstr>PowerPoint 演示文稿</vt:lpstr>
      <vt:lpstr>PowerPoint 演示文稿</vt:lpstr>
      <vt:lpstr>病 例</vt:lpstr>
      <vt:lpstr>糖尿病非典型症状</vt:lpstr>
      <vt:lpstr>PowerPoint 演示文稿</vt:lpstr>
      <vt:lpstr>PowerPoint 演示文稿</vt:lpstr>
      <vt:lpstr>PowerPoint 演示文稿</vt:lpstr>
      <vt:lpstr>PowerPoint 演示文稿</vt:lpstr>
    </vt:vector>
  </TitlesOfParts>
  <Company>999宝藏网</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999宝藏网</dc:creator>
  <cp:lastModifiedBy>Administrator</cp:lastModifiedBy>
  <cp:revision>966</cp:revision>
  <dcterms:created xsi:type="dcterms:W3CDTF">2009-04-03T02:25:00Z</dcterms:created>
  <dcterms:modified xsi:type="dcterms:W3CDTF">2026-09-29T07:45:18Z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669EF06CE1644CE8BDC11A3F28A0EFE9_12</vt:lpwstr>
  </property>
  <property fmtid="{D5CDD505-2E9C-101B-9397-08002B2CF9AE}" pid="3" name="KSOProductBuildVer">
    <vt:lpwstr>2052-12.1.0.20305</vt:lpwstr>
  </property>
</Properties>
</file>