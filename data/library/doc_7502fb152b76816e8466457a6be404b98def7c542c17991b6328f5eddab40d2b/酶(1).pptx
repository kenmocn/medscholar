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05"/>
  </p:notesMasterIdLst>
  <p:handoutMasterIdLst>
    <p:handoutMasterId r:id="rId206"/>
  </p:handoutMasterIdLst>
  <p:sldIdLst>
    <p:sldId id="257" r:id="rId2"/>
    <p:sldId id="506" r:id="rId3"/>
    <p:sldId id="267" r:id="rId4"/>
    <p:sldId id="258" r:id="rId5"/>
    <p:sldId id="261" r:id="rId6"/>
    <p:sldId id="263" r:id="rId7"/>
    <p:sldId id="706" r:id="rId8"/>
    <p:sldId id="273" r:id="rId9"/>
    <p:sldId id="274" r:id="rId10"/>
    <p:sldId id="293" r:id="rId11"/>
    <p:sldId id="294" r:id="rId12"/>
    <p:sldId id="295" r:id="rId13"/>
    <p:sldId id="298" r:id="rId14"/>
    <p:sldId id="304" r:id="rId15"/>
    <p:sldId id="302" r:id="rId16"/>
    <p:sldId id="303" r:id="rId17"/>
    <p:sldId id="299" r:id="rId18"/>
    <p:sldId id="300" r:id="rId19"/>
    <p:sldId id="1051" r:id="rId20"/>
    <p:sldId id="719" r:id="rId21"/>
    <p:sldId id="714" r:id="rId22"/>
    <p:sldId id="526" r:id="rId23"/>
    <p:sldId id="534" r:id="rId24"/>
    <p:sldId id="530" r:id="rId25"/>
    <p:sldId id="535" r:id="rId26"/>
    <p:sldId id="528" r:id="rId27"/>
    <p:sldId id="539" r:id="rId28"/>
    <p:sldId id="537" r:id="rId29"/>
    <p:sldId id="568" r:id="rId30"/>
    <p:sldId id="318" r:id="rId31"/>
    <p:sldId id="320" r:id="rId32"/>
    <p:sldId id="540" r:id="rId33"/>
    <p:sldId id="324" r:id="rId34"/>
    <p:sldId id="326" r:id="rId35"/>
    <p:sldId id="321" r:id="rId36"/>
    <p:sldId id="323" r:id="rId37"/>
    <p:sldId id="569" r:id="rId38"/>
    <p:sldId id="471" r:id="rId39"/>
    <p:sldId id="327" r:id="rId40"/>
    <p:sldId id="328" r:id="rId41"/>
    <p:sldId id="329" r:id="rId42"/>
    <p:sldId id="1055" r:id="rId43"/>
    <p:sldId id="331" r:id="rId44"/>
    <p:sldId id="333" r:id="rId45"/>
    <p:sldId id="335" r:id="rId46"/>
    <p:sldId id="725" r:id="rId47"/>
    <p:sldId id="334" r:id="rId48"/>
    <p:sldId id="336" r:id="rId49"/>
    <p:sldId id="337" r:id="rId50"/>
    <p:sldId id="716" r:id="rId51"/>
    <p:sldId id="343" r:id="rId52"/>
    <p:sldId id="677" r:id="rId53"/>
    <p:sldId id="676" r:id="rId54"/>
    <p:sldId id="341" r:id="rId55"/>
    <p:sldId id="708" r:id="rId56"/>
    <p:sldId id="1052" r:id="rId57"/>
    <p:sldId id="345" r:id="rId58"/>
    <p:sldId id="347" r:id="rId59"/>
    <p:sldId id="348" r:id="rId60"/>
    <p:sldId id="664" r:id="rId61"/>
    <p:sldId id="488" r:id="rId62"/>
    <p:sldId id="683" r:id="rId63"/>
    <p:sldId id="666" r:id="rId64"/>
    <p:sldId id="562" r:id="rId65"/>
    <p:sldId id="548" r:id="rId66"/>
    <p:sldId id="560" r:id="rId67"/>
    <p:sldId id="561" r:id="rId68"/>
    <p:sldId id="1054" r:id="rId69"/>
    <p:sldId id="662" r:id="rId70"/>
    <p:sldId id="567" r:id="rId71"/>
    <p:sldId id="663" r:id="rId72"/>
    <p:sldId id="566" r:id="rId73"/>
    <p:sldId id="684" r:id="rId74"/>
    <p:sldId id="700" r:id="rId75"/>
    <p:sldId id="694" r:id="rId76"/>
    <p:sldId id="349" r:id="rId77"/>
    <p:sldId id="350" r:id="rId78"/>
    <p:sldId id="351" r:id="rId79"/>
    <p:sldId id="352" r:id="rId80"/>
    <p:sldId id="354" r:id="rId81"/>
    <p:sldId id="355" r:id="rId82"/>
    <p:sldId id="356" r:id="rId83"/>
    <p:sldId id="357" r:id="rId84"/>
    <p:sldId id="359" r:id="rId85"/>
    <p:sldId id="360" r:id="rId86"/>
    <p:sldId id="361" r:id="rId87"/>
    <p:sldId id="362" r:id="rId88"/>
    <p:sldId id="363" r:id="rId89"/>
    <p:sldId id="364" r:id="rId90"/>
    <p:sldId id="365" r:id="rId91"/>
    <p:sldId id="702" r:id="rId92"/>
    <p:sldId id="366" r:id="rId93"/>
    <p:sldId id="670" r:id="rId94"/>
    <p:sldId id="369" r:id="rId95"/>
    <p:sldId id="575" r:id="rId96"/>
    <p:sldId id="370" r:id="rId97"/>
    <p:sldId id="576" r:id="rId98"/>
    <p:sldId id="671" r:id="rId99"/>
    <p:sldId id="672" r:id="rId100"/>
    <p:sldId id="373" r:id="rId101"/>
    <p:sldId id="374" r:id="rId102"/>
    <p:sldId id="545" r:id="rId103"/>
    <p:sldId id="675" r:id="rId104"/>
    <p:sldId id="375" r:id="rId105"/>
    <p:sldId id="379" r:id="rId106"/>
    <p:sldId id="380" r:id="rId107"/>
    <p:sldId id="717" r:id="rId108"/>
    <p:sldId id="707" r:id="rId109"/>
    <p:sldId id="381" r:id="rId110"/>
    <p:sldId id="383" r:id="rId111"/>
    <p:sldId id="384" r:id="rId112"/>
    <p:sldId id="718" r:id="rId113"/>
    <p:sldId id="385" r:id="rId114"/>
    <p:sldId id="387" r:id="rId115"/>
    <p:sldId id="390" r:id="rId116"/>
    <p:sldId id="712" r:id="rId117"/>
    <p:sldId id="391" r:id="rId118"/>
    <p:sldId id="392" r:id="rId119"/>
    <p:sldId id="713" r:id="rId120"/>
    <p:sldId id="393" r:id="rId121"/>
    <p:sldId id="396" r:id="rId122"/>
    <p:sldId id="397" r:id="rId123"/>
    <p:sldId id="648" r:id="rId124"/>
    <p:sldId id="408" r:id="rId125"/>
    <p:sldId id="673" r:id="rId126"/>
    <p:sldId id="402" r:id="rId127"/>
    <p:sldId id="711" r:id="rId128"/>
    <p:sldId id="404" r:id="rId129"/>
    <p:sldId id="403" r:id="rId130"/>
    <p:sldId id="703" r:id="rId131"/>
    <p:sldId id="558" r:id="rId132"/>
    <p:sldId id="411" r:id="rId133"/>
    <p:sldId id="573" r:id="rId134"/>
    <p:sldId id="409" r:id="rId135"/>
    <p:sldId id="414" r:id="rId136"/>
    <p:sldId id="415" r:id="rId137"/>
    <p:sldId id="416" r:id="rId138"/>
    <p:sldId id="417" r:id="rId139"/>
    <p:sldId id="418" r:id="rId140"/>
    <p:sldId id="419" r:id="rId141"/>
    <p:sldId id="422" r:id="rId142"/>
    <p:sldId id="423" r:id="rId143"/>
    <p:sldId id="424" r:id="rId144"/>
    <p:sldId id="434" r:id="rId145"/>
    <p:sldId id="686" r:id="rId146"/>
    <p:sldId id="687" r:id="rId147"/>
    <p:sldId id="485" r:id="rId148"/>
    <p:sldId id="570" r:id="rId149"/>
    <p:sldId id="571" r:id="rId150"/>
    <p:sldId id="709" r:id="rId151"/>
    <p:sldId id="457" r:id="rId152"/>
    <p:sldId id="441" r:id="rId153"/>
    <p:sldId id="442" r:id="rId154"/>
    <p:sldId id="443" r:id="rId155"/>
    <p:sldId id="444" r:id="rId156"/>
    <p:sldId id="445" r:id="rId157"/>
    <p:sldId id="446" r:id="rId158"/>
    <p:sldId id="726" r:id="rId159"/>
    <p:sldId id="720" r:id="rId160"/>
    <p:sldId id="722" r:id="rId161"/>
    <p:sldId id="546" r:id="rId162"/>
    <p:sldId id="550" r:id="rId163"/>
    <p:sldId id="582" r:id="rId164"/>
    <p:sldId id="547" r:id="rId165"/>
    <p:sldId id="553" r:id="rId166"/>
    <p:sldId id="552" r:id="rId167"/>
    <p:sldId id="583" r:id="rId168"/>
    <p:sldId id="554" r:id="rId169"/>
    <p:sldId id="555" r:id="rId170"/>
    <p:sldId id="721" r:id="rId171"/>
    <p:sldId id="447" r:id="rId172"/>
    <p:sldId id="1053" r:id="rId173"/>
    <p:sldId id="448" r:id="rId174"/>
    <p:sldId id="525" r:id="rId175"/>
    <p:sldId id="695" r:id="rId176"/>
    <p:sldId id="698" r:id="rId177"/>
    <p:sldId id="508" r:id="rId178"/>
    <p:sldId id="509" r:id="rId179"/>
    <p:sldId id="510" r:id="rId180"/>
    <p:sldId id="511" r:id="rId181"/>
    <p:sldId id="512" r:id="rId182"/>
    <p:sldId id="513" r:id="rId183"/>
    <p:sldId id="514" r:id="rId184"/>
    <p:sldId id="515" r:id="rId185"/>
    <p:sldId id="516" r:id="rId186"/>
    <p:sldId id="697" r:id="rId187"/>
    <p:sldId id="517" r:id="rId188"/>
    <p:sldId id="518" r:id="rId189"/>
    <p:sldId id="521" r:id="rId190"/>
    <p:sldId id="522" r:id="rId191"/>
    <p:sldId id="523" r:id="rId192"/>
    <p:sldId id="524" r:id="rId193"/>
    <p:sldId id="479" r:id="rId194"/>
    <p:sldId id="480" r:id="rId195"/>
    <p:sldId id="481" r:id="rId196"/>
    <p:sldId id="482" r:id="rId197"/>
    <p:sldId id="483" r:id="rId198"/>
    <p:sldId id="484" r:id="rId199"/>
    <p:sldId id="452" r:id="rId200"/>
    <p:sldId id="454" r:id="rId201"/>
    <p:sldId id="455" r:id="rId202"/>
    <p:sldId id="456" r:id="rId203"/>
    <p:sldId id="496" r:id="rId204"/>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5pPr>
    <a:lvl6pPr marL="22860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6pPr>
    <a:lvl7pPr marL="27432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7pPr>
    <a:lvl8pPr marL="32004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8pPr>
    <a:lvl9pPr marL="36576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FF"/>
    <a:srgbClr val="0423A8"/>
    <a:srgbClr val="FFFFCC"/>
    <a:srgbClr val="C9E8FF"/>
    <a:srgbClr val="FFFFFF"/>
    <a:srgbClr val="000066"/>
    <a:srgbClr val="006600"/>
    <a:srgbClr val="0033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3" autoAdjust="0"/>
    <p:restoredTop sz="73925" autoAdjust="0"/>
  </p:normalViewPr>
  <p:slideViewPr>
    <p:cSldViewPr>
      <p:cViewPr varScale="1">
        <p:scale>
          <a:sx n="69" d="100"/>
          <a:sy n="69" d="100"/>
        </p:scale>
        <p:origin x="76" y="132"/>
      </p:cViewPr>
      <p:guideLst>
        <p:guide orient="horz" pos="2160"/>
        <p:guide pos="3840"/>
      </p:guideLst>
    </p:cSldViewPr>
  </p:slideViewPr>
  <p:outlineViewPr>
    <p:cViewPr>
      <p:scale>
        <a:sx n="33" d="100"/>
        <a:sy n="33" d="100"/>
      </p:scale>
      <p:origin x="0" y="-68408"/>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67" d="100"/>
          <a:sy n="67" d="100"/>
        </p:scale>
        <p:origin x="-288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handoutMaster" Target="handoutMasters/handout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theme" Target="theme/theme1.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s>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3F96FB-F9D5-4354-AC24-81C85786FBAD}" type="doc">
      <dgm:prSet loTypeId="urn:microsoft.com/office/officeart/2005/8/layout/chevron2" loCatId="list" qsTypeId="urn:microsoft.com/office/officeart/2005/8/quickstyle/simple1" qsCatId="simple" csTypeId="urn:microsoft.com/office/officeart/2005/8/colors/accent6_4" csCatId="accent6" phldr="1"/>
      <dgm:spPr/>
      <dgm:t>
        <a:bodyPr/>
        <a:lstStyle/>
        <a:p>
          <a:endParaRPr lang="zh-CN" altLang="en-US"/>
        </a:p>
      </dgm:t>
    </dgm:pt>
    <dgm:pt modelId="{64C6F624-EAC8-437E-8A90-6A4C2A2CB1E4}">
      <dgm:prSet phldrT="[文本]" custT="1"/>
      <dgm:spPr>
        <a:solidFill>
          <a:srgbClr val="006600"/>
        </a:solidFill>
      </dgm:spPr>
      <dgm:t>
        <a:bodyPr/>
        <a:lstStyle/>
        <a:p>
          <a:r>
            <a:rPr lang="zh-CN" altLang="en-US" sz="3200" b="1" dirty="0"/>
            <a:t>１</a:t>
          </a:r>
        </a:p>
      </dgm:t>
    </dgm:pt>
    <dgm:pt modelId="{F7FECC1A-AB7E-4A54-88DB-E6C56E95B1C3}" type="parTrans" cxnId="{D49E8491-1B74-4F3A-873D-5C5C1306368D}">
      <dgm:prSet/>
      <dgm:spPr/>
      <dgm:t>
        <a:bodyPr/>
        <a:lstStyle/>
        <a:p>
          <a:endParaRPr lang="zh-CN" altLang="en-US" sz="3200" b="1"/>
        </a:p>
      </dgm:t>
    </dgm:pt>
    <dgm:pt modelId="{D217D51B-9285-492E-BBEA-C493E5EC94CC}" type="sibTrans" cxnId="{D49E8491-1B74-4F3A-873D-5C5C1306368D}">
      <dgm:prSet/>
      <dgm:spPr/>
      <dgm:t>
        <a:bodyPr/>
        <a:lstStyle/>
        <a:p>
          <a:endParaRPr lang="zh-CN" altLang="en-US" sz="3200" b="1"/>
        </a:p>
      </dgm:t>
    </dgm:pt>
    <dgm:pt modelId="{6E9A8454-FFBF-43AF-AAD6-AE5E6039EDD1}">
      <dgm:prSet phldrT="[文本]" custT="1"/>
      <dgm:spPr/>
      <dgm:t>
        <a:bodyPr/>
        <a:lstStyle/>
        <a:p>
          <a:r>
            <a:rPr lang="zh-CN" altLang="en-US" sz="3200" b="1" dirty="0"/>
            <a:t>酶的分子结构与功能</a:t>
          </a:r>
        </a:p>
      </dgm:t>
    </dgm:pt>
    <dgm:pt modelId="{0FDE4C66-58EC-4FF0-BDE7-F493B7CFC9A5}" type="parTrans" cxnId="{061BD29F-18D2-4830-9774-C86B893ED56D}">
      <dgm:prSet/>
      <dgm:spPr/>
      <dgm:t>
        <a:bodyPr/>
        <a:lstStyle/>
        <a:p>
          <a:endParaRPr lang="zh-CN" altLang="en-US" sz="3200" b="1"/>
        </a:p>
      </dgm:t>
    </dgm:pt>
    <dgm:pt modelId="{E65D1C59-4CBB-4B75-9B3C-D6BD81689560}" type="sibTrans" cxnId="{061BD29F-18D2-4830-9774-C86B893ED56D}">
      <dgm:prSet/>
      <dgm:spPr/>
      <dgm:t>
        <a:bodyPr/>
        <a:lstStyle/>
        <a:p>
          <a:endParaRPr lang="zh-CN" altLang="en-US" sz="3200" b="1"/>
        </a:p>
      </dgm:t>
    </dgm:pt>
    <dgm:pt modelId="{99FC7E1F-A6F2-4900-A5AF-2B4A505F761E}">
      <dgm:prSet phldrT="[文本]" custT="1"/>
      <dgm:spPr>
        <a:solidFill>
          <a:srgbClr val="006600"/>
        </a:solidFill>
      </dgm:spPr>
      <dgm:t>
        <a:bodyPr/>
        <a:lstStyle/>
        <a:p>
          <a:r>
            <a:rPr lang="zh-CN" altLang="en-US" sz="3200" b="1" dirty="0"/>
            <a:t>２</a:t>
          </a:r>
        </a:p>
      </dgm:t>
    </dgm:pt>
    <dgm:pt modelId="{16478FB8-118C-47B3-AA2F-D31BF0252250}" type="parTrans" cxnId="{429B4F75-3F1E-4744-AA39-A87E0F5A09ED}">
      <dgm:prSet/>
      <dgm:spPr/>
      <dgm:t>
        <a:bodyPr/>
        <a:lstStyle/>
        <a:p>
          <a:endParaRPr lang="zh-CN" altLang="en-US" sz="3200" b="1"/>
        </a:p>
      </dgm:t>
    </dgm:pt>
    <dgm:pt modelId="{667A2C65-D1D4-4A71-B7D9-C19F521C905D}" type="sibTrans" cxnId="{429B4F75-3F1E-4744-AA39-A87E0F5A09ED}">
      <dgm:prSet/>
      <dgm:spPr/>
      <dgm:t>
        <a:bodyPr/>
        <a:lstStyle/>
        <a:p>
          <a:endParaRPr lang="zh-CN" altLang="en-US" sz="3200" b="1"/>
        </a:p>
      </dgm:t>
    </dgm:pt>
    <dgm:pt modelId="{0FFA7772-9F43-46BC-8DD4-47939E88FBB9}">
      <dgm:prSet phldrT="[文本]" custT="1"/>
      <dgm:spPr>
        <a:solidFill>
          <a:srgbClr val="CCECFF">
            <a:alpha val="90000"/>
          </a:srgbClr>
        </a:solidFill>
      </dgm:spPr>
      <dgm:t>
        <a:bodyPr/>
        <a:lstStyle/>
        <a:p>
          <a:r>
            <a:rPr lang="zh-CN" altLang="en-US" sz="3200" b="1" dirty="0">
              <a:solidFill>
                <a:srgbClr val="FF0000"/>
              </a:solidFill>
            </a:rPr>
            <a:t>酶的作用机制</a:t>
          </a:r>
        </a:p>
      </dgm:t>
    </dgm:pt>
    <dgm:pt modelId="{1A050A6D-EB84-4862-B8E6-3E1175C140BE}" type="parTrans" cxnId="{0DC2CFD1-9026-4D10-B864-50F48D40906D}">
      <dgm:prSet/>
      <dgm:spPr/>
      <dgm:t>
        <a:bodyPr/>
        <a:lstStyle/>
        <a:p>
          <a:endParaRPr lang="zh-CN" altLang="en-US" sz="3200" b="1"/>
        </a:p>
      </dgm:t>
    </dgm:pt>
    <dgm:pt modelId="{4F6AF6D1-C4E3-45FE-8973-F3DD0A9BDA74}" type="sibTrans" cxnId="{0DC2CFD1-9026-4D10-B864-50F48D40906D}">
      <dgm:prSet/>
      <dgm:spPr/>
      <dgm:t>
        <a:bodyPr/>
        <a:lstStyle/>
        <a:p>
          <a:endParaRPr lang="zh-CN" altLang="en-US" sz="3200" b="1"/>
        </a:p>
      </dgm:t>
    </dgm:pt>
    <dgm:pt modelId="{5783DB41-FC72-4602-83DA-0F3BCCCCA766}">
      <dgm:prSet phldrT="[文本]" custT="1"/>
      <dgm:spPr>
        <a:solidFill>
          <a:srgbClr val="006600"/>
        </a:solidFill>
      </dgm:spPr>
      <dgm:t>
        <a:bodyPr/>
        <a:lstStyle/>
        <a:p>
          <a:r>
            <a:rPr lang="zh-CN" altLang="en-US" sz="3200" b="1" dirty="0"/>
            <a:t>３</a:t>
          </a:r>
        </a:p>
      </dgm:t>
    </dgm:pt>
    <dgm:pt modelId="{A77104DC-EF87-4E88-BE64-AAF35022A427}" type="parTrans" cxnId="{9FE0654F-5F58-4E4E-90D7-BE2FF2B6BDD5}">
      <dgm:prSet/>
      <dgm:spPr/>
      <dgm:t>
        <a:bodyPr/>
        <a:lstStyle/>
        <a:p>
          <a:endParaRPr lang="zh-CN" altLang="en-US" sz="3200" b="1"/>
        </a:p>
      </dgm:t>
    </dgm:pt>
    <dgm:pt modelId="{9E5D91C4-1D54-4B3F-A7C7-9370B1DDE163}" type="sibTrans" cxnId="{9FE0654F-5F58-4E4E-90D7-BE2FF2B6BDD5}">
      <dgm:prSet/>
      <dgm:spPr/>
      <dgm:t>
        <a:bodyPr/>
        <a:lstStyle/>
        <a:p>
          <a:endParaRPr lang="zh-CN" altLang="en-US" sz="3200" b="1"/>
        </a:p>
      </dgm:t>
    </dgm:pt>
    <dgm:pt modelId="{4217AD88-E6F4-47F7-AB4B-E782B5B869F2}">
      <dgm:prSet phldrT="[文本]" custT="1"/>
      <dgm:spPr/>
      <dgm:t>
        <a:bodyPr/>
        <a:lstStyle/>
        <a:p>
          <a:r>
            <a:rPr lang="zh-CN" altLang="en-US" sz="3200" b="1" dirty="0">
              <a:solidFill>
                <a:srgbClr val="FF0000"/>
              </a:solidFill>
            </a:rPr>
            <a:t>酶促反应动力学</a:t>
          </a:r>
        </a:p>
      </dgm:t>
    </dgm:pt>
    <dgm:pt modelId="{65316D54-1503-45E4-85D7-7346170BA228}" type="parTrans" cxnId="{B412D59A-6168-4B61-ABF8-690E185ECEA4}">
      <dgm:prSet/>
      <dgm:spPr/>
      <dgm:t>
        <a:bodyPr/>
        <a:lstStyle/>
        <a:p>
          <a:endParaRPr lang="zh-CN" altLang="en-US" sz="3200" b="1"/>
        </a:p>
      </dgm:t>
    </dgm:pt>
    <dgm:pt modelId="{A012ADC5-8839-479D-819C-BC9D36E7CFDA}" type="sibTrans" cxnId="{B412D59A-6168-4B61-ABF8-690E185ECEA4}">
      <dgm:prSet/>
      <dgm:spPr/>
      <dgm:t>
        <a:bodyPr/>
        <a:lstStyle/>
        <a:p>
          <a:endParaRPr lang="zh-CN" altLang="en-US" sz="3200" b="1"/>
        </a:p>
      </dgm:t>
    </dgm:pt>
    <dgm:pt modelId="{5085AC10-745F-4DA9-A6F5-FE81D3574405}">
      <dgm:prSet custT="1"/>
      <dgm:spPr>
        <a:solidFill>
          <a:srgbClr val="006600"/>
        </a:solidFill>
      </dgm:spPr>
      <dgm:t>
        <a:bodyPr/>
        <a:lstStyle/>
        <a:p>
          <a:r>
            <a:rPr lang="zh-CN" altLang="en-US" sz="3200" b="1" dirty="0"/>
            <a:t>４</a:t>
          </a:r>
        </a:p>
      </dgm:t>
    </dgm:pt>
    <dgm:pt modelId="{844A8580-1821-4633-9F64-3FCFAC7DDAA7}" type="parTrans" cxnId="{B7B4D6FC-D70D-40DC-AA5B-5B2DBDD6AFE0}">
      <dgm:prSet/>
      <dgm:spPr/>
      <dgm:t>
        <a:bodyPr/>
        <a:lstStyle/>
        <a:p>
          <a:endParaRPr lang="zh-CN" altLang="en-US" sz="3200" b="1"/>
        </a:p>
      </dgm:t>
    </dgm:pt>
    <dgm:pt modelId="{4F6962DA-CC78-4CEB-AF85-AE419776D8EF}" type="sibTrans" cxnId="{B7B4D6FC-D70D-40DC-AA5B-5B2DBDD6AFE0}">
      <dgm:prSet/>
      <dgm:spPr/>
      <dgm:t>
        <a:bodyPr/>
        <a:lstStyle/>
        <a:p>
          <a:endParaRPr lang="zh-CN" altLang="en-US" sz="3200" b="1"/>
        </a:p>
      </dgm:t>
    </dgm:pt>
    <dgm:pt modelId="{A38D81BD-4F1E-44DD-9985-4297D4BB757B}">
      <dgm:prSet custT="1"/>
      <dgm:spPr>
        <a:solidFill>
          <a:srgbClr val="006600"/>
        </a:solidFill>
      </dgm:spPr>
      <dgm:t>
        <a:bodyPr/>
        <a:lstStyle/>
        <a:p>
          <a:r>
            <a:rPr lang="zh-CN" altLang="en-US" sz="3200" b="1" dirty="0"/>
            <a:t>５</a:t>
          </a:r>
        </a:p>
      </dgm:t>
    </dgm:pt>
    <dgm:pt modelId="{A0C5C551-AE48-496A-A269-1E24A3F48EE3}" type="parTrans" cxnId="{568D1CFF-9141-4561-B1A2-07ABC6DB3D50}">
      <dgm:prSet/>
      <dgm:spPr/>
      <dgm:t>
        <a:bodyPr/>
        <a:lstStyle/>
        <a:p>
          <a:endParaRPr lang="zh-CN" altLang="en-US" sz="3200" b="1"/>
        </a:p>
      </dgm:t>
    </dgm:pt>
    <dgm:pt modelId="{61F27FC2-90DD-4281-8A9A-06608C65810C}" type="sibTrans" cxnId="{568D1CFF-9141-4561-B1A2-07ABC6DB3D50}">
      <dgm:prSet/>
      <dgm:spPr/>
      <dgm:t>
        <a:bodyPr/>
        <a:lstStyle/>
        <a:p>
          <a:endParaRPr lang="zh-CN" altLang="en-US" sz="3200" b="1"/>
        </a:p>
      </dgm:t>
    </dgm:pt>
    <dgm:pt modelId="{5DB33B2C-C860-4365-9AF9-108EFB785C71}">
      <dgm:prSet custT="1"/>
      <dgm:spPr>
        <a:solidFill>
          <a:srgbClr val="006600"/>
        </a:solidFill>
      </dgm:spPr>
      <dgm:t>
        <a:bodyPr/>
        <a:lstStyle/>
        <a:p>
          <a:r>
            <a:rPr lang="zh-CN" altLang="en-US" sz="3200" b="1" dirty="0"/>
            <a:t>６</a:t>
          </a:r>
        </a:p>
      </dgm:t>
    </dgm:pt>
    <dgm:pt modelId="{59AB40BD-8159-4A4B-8C8B-8174227717C2}" type="parTrans" cxnId="{D3AF082D-C200-4F05-A66A-36A454522907}">
      <dgm:prSet/>
      <dgm:spPr/>
      <dgm:t>
        <a:bodyPr/>
        <a:lstStyle/>
        <a:p>
          <a:endParaRPr lang="zh-CN" altLang="en-US" sz="3200" b="1"/>
        </a:p>
      </dgm:t>
    </dgm:pt>
    <dgm:pt modelId="{BABF51B5-113E-4B15-905D-005F6BA0BA8C}" type="sibTrans" cxnId="{D3AF082D-C200-4F05-A66A-36A454522907}">
      <dgm:prSet/>
      <dgm:spPr/>
      <dgm:t>
        <a:bodyPr/>
        <a:lstStyle/>
        <a:p>
          <a:endParaRPr lang="zh-CN" altLang="en-US" sz="3200" b="1"/>
        </a:p>
      </dgm:t>
    </dgm:pt>
    <dgm:pt modelId="{4290EA6D-C4C9-4F83-9636-34E1D45C289F}">
      <dgm:prSet custT="1"/>
      <dgm:spPr>
        <a:solidFill>
          <a:srgbClr val="CCECFF">
            <a:alpha val="90000"/>
          </a:srgbClr>
        </a:solidFill>
      </dgm:spPr>
      <dgm:t>
        <a:bodyPr/>
        <a:lstStyle/>
        <a:p>
          <a:r>
            <a:rPr lang="zh-CN" altLang="en-US" sz="3200" b="1" dirty="0">
              <a:solidFill>
                <a:srgbClr val="FF0000"/>
              </a:solidFill>
            </a:rPr>
            <a:t>酶的调节</a:t>
          </a:r>
        </a:p>
      </dgm:t>
    </dgm:pt>
    <dgm:pt modelId="{9A056C05-55F2-44C1-B818-EFC705AF30F4}" type="parTrans" cxnId="{0F7D421A-9E42-45A5-BE0A-431523104859}">
      <dgm:prSet/>
      <dgm:spPr/>
      <dgm:t>
        <a:bodyPr/>
        <a:lstStyle/>
        <a:p>
          <a:endParaRPr lang="zh-CN" altLang="en-US" sz="3200" b="1"/>
        </a:p>
      </dgm:t>
    </dgm:pt>
    <dgm:pt modelId="{7CF5B48A-06B5-42B4-A416-892D02D02586}" type="sibTrans" cxnId="{0F7D421A-9E42-45A5-BE0A-431523104859}">
      <dgm:prSet/>
      <dgm:spPr/>
      <dgm:t>
        <a:bodyPr/>
        <a:lstStyle/>
        <a:p>
          <a:endParaRPr lang="zh-CN" altLang="en-US" sz="3200" b="1"/>
        </a:p>
      </dgm:t>
    </dgm:pt>
    <dgm:pt modelId="{8DAFE051-36CC-430C-90D0-F76690937AB5}">
      <dgm:prSet custT="1"/>
      <dgm:spPr/>
      <dgm:t>
        <a:bodyPr/>
        <a:lstStyle/>
        <a:p>
          <a:r>
            <a:rPr lang="zh-CN" altLang="en-US" sz="3200" b="1" dirty="0"/>
            <a:t>酶的分类与命名</a:t>
          </a:r>
        </a:p>
      </dgm:t>
    </dgm:pt>
    <dgm:pt modelId="{AFF85E26-B603-429F-A0F4-F05A843107FC}" type="parTrans" cxnId="{0737500F-AE62-4D18-80E3-F6A29D3014F6}">
      <dgm:prSet/>
      <dgm:spPr/>
      <dgm:t>
        <a:bodyPr/>
        <a:lstStyle/>
        <a:p>
          <a:endParaRPr lang="zh-CN" altLang="en-US" sz="3200" b="1"/>
        </a:p>
      </dgm:t>
    </dgm:pt>
    <dgm:pt modelId="{4CDE129D-7D2C-4148-B6A7-1C9231EC22DD}" type="sibTrans" cxnId="{0737500F-AE62-4D18-80E3-F6A29D3014F6}">
      <dgm:prSet/>
      <dgm:spPr/>
      <dgm:t>
        <a:bodyPr/>
        <a:lstStyle/>
        <a:p>
          <a:endParaRPr lang="zh-CN" altLang="en-US" sz="3200" b="1"/>
        </a:p>
      </dgm:t>
    </dgm:pt>
    <dgm:pt modelId="{2F3FA49A-C20C-4414-8ACE-F4E65ED2498C}">
      <dgm:prSet custT="1"/>
      <dgm:spPr>
        <a:solidFill>
          <a:srgbClr val="CCECFF">
            <a:alpha val="90000"/>
          </a:srgbClr>
        </a:solidFill>
      </dgm:spPr>
      <dgm:t>
        <a:bodyPr/>
        <a:lstStyle/>
        <a:p>
          <a:r>
            <a:rPr lang="zh-CN" altLang="en-US" sz="3200" b="1" dirty="0"/>
            <a:t>酶在医学中的应用</a:t>
          </a:r>
        </a:p>
      </dgm:t>
    </dgm:pt>
    <dgm:pt modelId="{FADECF01-EB46-4F7C-8D1C-B4C2A8182845}" type="parTrans" cxnId="{406F01AA-4AC3-413C-8F48-41A5877F5F2E}">
      <dgm:prSet/>
      <dgm:spPr/>
      <dgm:t>
        <a:bodyPr/>
        <a:lstStyle/>
        <a:p>
          <a:endParaRPr lang="zh-CN" altLang="en-US" sz="3200" b="1"/>
        </a:p>
      </dgm:t>
    </dgm:pt>
    <dgm:pt modelId="{E7062237-C64D-4FCC-AA49-721F2A9076D1}" type="sibTrans" cxnId="{406F01AA-4AC3-413C-8F48-41A5877F5F2E}">
      <dgm:prSet/>
      <dgm:spPr/>
      <dgm:t>
        <a:bodyPr/>
        <a:lstStyle/>
        <a:p>
          <a:endParaRPr lang="zh-CN" altLang="en-US" sz="3200" b="1"/>
        </a:p>
      </dgm:t>
    </dgm:pt>
    <dgm:pt modelId="{53EAA110-2370-45F0-85DA-F0AC8548EACD}" type="pres">
      <dgm:prSet presAssocID="{2B3F96FB-F9D5-4354-AC24-81C85786FBAD}" presName="linearFlow" presStyleCnt="0">
        <dgm:presLayoutVars>
          <dgm:dir/>
          <dgm:animLvl val="lvl"/>
          <dgm:resizeHandles val="exact"/>
        </dgm:presLayoutVars>
      </dgm:prSet>
      <dgm:spPr/>
    </dgm:pt>
    <dgm:pt modelId="{116580E9-55D1-4298-AC88-9F3C1F5105F6}" type="pres">
      <dgm:prSet presAssocID="{64C6F624-EAC8-437E-8A90-6A4C2A2CB1E4}" presName="composite" presStyleCnt="0"/>
      <dgm:spPr/>
    </dgm:pt>
    <dgm:pt modelId="{37A7E05B-5A4B-4AFE-A1F8-91024C932691}" type="pres">
      <dgm:prSet presAssocID="{64C6F624-EAC8-437E-8A90-6A4C2A2CB1E4}" presName="parentText" presStyleLbl="alignNode1" presStyleIdx="0" presStyleCnt="6">
        <dgm:presLayoutVars>
          <dgm:chMax val="1"/>
          <dgm:bulletEnabled val="1"/>
        </dgm:presLayoutVars>
      </dgm:prSet>
      <dgm:spPr/>
    </dgm:pt>
    <dgm:pt modelId="{B1C92AB3-26E9-4DE2-AA99-B7E85388B852}" type="pres">
      <dgm:prSet presAssocID="{64C6F624-EAC8-437E-8A90-6A4C2A2CB1E4}" presName="descendantText" presStyleLbl="alignAcc1" presStyleIdx="0" presStyleCnt="6">
        <dgm:presLayoutVars>
          <dgm:bulletEnabled val="1"/>
        </dgm:presLayoutVars>
      </dgm:prSet>
      <dgm:spPr/>
    </dgm:pt>
    <dgm:pt modelId="{BDA1F489-7E13-45D4-B625-8EC1932FB0FE}" type="pres">
      <dgm:prSet presAssocID="{D217D51B-9285-492E-BBEA-C493E5EC94CC}" presName="sp" presStyleCnt="0"/>
      <dgm:spPr/>
    </dgm:pt>
    <dgm:pt modelId="{F0F7C4BA-B1A9-414D-8321-E6BECCAD0D6D}" type="pres">
      <dgm:prSet presAssocID="{99FC7E1F-A6F2-4900-A5AF-2B4A505F761E}" presName="composite" presStyleCnt="0"/>
      <dgm:spPr/>
    </dgm:pt>
    <dgm:pt modelId="{B470ACE6-65F8-488B-8C9C-929315FFD262}" type="pres">
      <dgm:prSet presAssocID="{99FC7E1F-A6F2-4900-A5AF-2B4A505F761E}" presName="parentText" presStyleLbl="alignNode1" presStyleIdx="1" presStyleCnt="6">
        <dgm:presLayoutVars>
          <dgm:chMax val="1"/>
          <dgm:bulletEnabled val="1"/>
        </dgm:presLayoutVars>
      </dgm:prSet>
      <dgm:spPr/>
    </dgm:pt>
    <dgm:pt modelId="{34D81B61-48AD-4BF4-91CA-A89A01E5FF47}" type="pres">
      <dgm:prSet presAssocID="{99FC7E1F-A6F2-4900-A5AF-2B4A505F761E}" presName="descendantText" presStyleLbl="alignAcc1" presStyleIdx="1" presStyleCnt="6">
        <dgm:presLayoutVars>
          <dgm:bulletEnabled val="1"/>
        </dgm:presLayoutVars>
      </dgm:prSet>
      <dgm:spPr/>
    </dgm:pt>
    <dgm:pt modelId="{AACF673B-1752-4C3B-A6F3-1A81F29DDCAD}" type="pres">
      <dgm:prSet presAssocID="{667A2C65-D1D4-4A71-B7D9-C19F521C905D}" presName="sp" presStyleCnt="0"/>
      <dgm:spPr/>
    </dgm:pt>
    <dgm:pt modelId="{17FFDDA3-ECC4-4D29-A461-D752A58FE709}" type="pres">
      <dgm:prSet presAssocID="{5783DB41-FC72-4602-83DA-0F3BCCCCA766}" presName="composite" presStyleCnt="0"/>
      <dgm:spPr/>
    </dgm:pt>
    <dgm:pt modelId="{D3445DAB-B767-4565-8F98-DBB36B5CC268}" type="pres">
      <dgm:prSet presAssocID="{5783DB41-FC72-4602-83DA-0F3BCCCCA766}" presName="parentText" presStyleLbl="alignNode1" presStyleIdx="2" presStyleCnt="6">
        <dgm:presLayoutVars>
          <dgm:chMax val="1"/>
          <dgm:bulletEnabled val="1"/>
        </dgm:presLayoutVars>
      </dgm:prSet>
      <dgm:spPr/>
    </dgm:pt>
    <dgm:pt modelId="{2CB71A2C-733B-423D-A9AB-95B7CBE63BEC}" type="pres">
      <dgm:prSet presAssocID="{5783DB41-FC72-4602-83DA-0F3BCCCCA766}" presName="descendantText" presStyleLbl="alignAcc1" presStyleIdx="2" presStyleCnt="6" custLinFactNeighborY="0">
        <dgm:presLayoutVars>
          <dgm:bulletEnabled val="1"/>
        </dgm:presLayoutVars>
      </dgm:prSet>
      <dgm:spPr/>
    </dgm:pt>
    <dgm:pt modelId="{B6FB12ED-5372-4B75-9B07-23087C12A804}" type="pres">
      <dgm:prSet presAssocID="{9E5D91C4-1D54-4B3F-A7C7-9370B1DDE163}" presName="sp" presStyleCnt="0"/>
      <dgm:spPr/>
    </dgm:pt>
    <dgm:pt modelId="{FF82AEC3-4265-4214-946A-81CC78A5057B}" type="pres">
      <dgm:prSet presAssocID="{5085AC10-745F-4DA9-A6F5-FE81D3574405}" presName="composite" presStyleCnt="0"/>
      <dgm:spPr/>
    </dgm:pt>
    <dgm:pt modelId="{565F8F9A-5462-493F-A336-75DB992944A3}" type="pres">
      <dgm:prSet presAssocID="{5085AC10-745F-4DA9-A6F5-FE81D3574405}" presName="parentText" presStyleLbl="alignNode1" presStyleIdx="3" presStyleCnt="6">
        <dgm:presLayoutVars>
          <dgm:chMax val="1"/>
          <dgm:bulletEnabled val="1"/>
        </dgm:presLayoutVars>
      </dgm:prSet>
      <dgm:spPr/>
    </dgm:pt>
    <dgm:pt modelId="{FA9CCBA5-DDEC-4746-8523-3144A123D576}" type="pres">
      <dgm:prSet presAssocID="{5085AC10-745F-4DA9-A6F5-FE81D3574405}" presName="descendantText" presStyleLbl="alignAcc1" presStyleIdx="3" presStyleCnt="6">
        <dgm:presLayoutVars>
          <dgm:bulletEnabled val="1"/>
        </dgm:presLayoutVars>
      </dgm:prSet>
      <dgm:spPr/>
    </dgm:pt>
    <dgm:pt modelId="{4B2B5783-C821-4FAB-BA26-1B8BD8059C9E}" type="pres">
      <dgm:prSet presAssocID="{4F6962DA-CC78-4CEB-AF85-AE419776D8EF}" presName="sp" presStyleCnt="0"/>
      <dgm:spPr/>
    </dgm:pt>
    <dgm:pt modelId="{384F6F5F-83BD-4E34-ACC7-FD4717C23684}" type="pres">
      <dgm:prSet presAssocID="{A38D81BD-4F1E-44DD-9985-4297D4BB757B}" presName="composite" presStyleCnt="0"/>
      <dgm:spPr/>
    </dgm:pt>
    <dgm:pt modelId="{D553ECD6-6E13-4989-A913-5EF97C759FD8}" type="pres">
      <dgm:prSet presAssocID="{A38D81BD-4F1E-44DD-9985-4297D4BB757B}" presName="parentText" presStyleLbl="alignNode1" presStyleIdx="4" presStyleCnt="6">
        <dgm:presLayoutVars>
          <dgm:chMax val="1"/>
          <dgm:bulletEnabled val="1"/>
        </dgm:presLayoutVars>
      </dgm:prSet>
      <dgm:spPr/>
    </dgm:pt>
    <dgm:pt modelId="{4D2FC30A-477C-447B-93D3-D2D8F6EFC280}" type="pres">
      <dgm:prSet presAssocID="{A38D81BD-4F1E-44DD-9985-4297D4BB757B}" presName="descendantText" presStyleLbl="alignAcc1" presStyleIdx="4" presStyleCnt="6">
        <dgm:presLayoutVars>
          <dgm:bulletEnabled val="1"/>
        </dgm:presLayoutVars>
      </dgm:prSet>
      <dgm:spPr/>
    </dgm:pt>
    <dgm:pt modelId="{F2B56A00-888A-42F5-9D95-96D488832875}" type="pres">
      <dgm:prSet presAssocID="{61F27FC2-90DD-4281-8A9A-06608C65810C}" presName="sp" presStyleCnt="0"/>
      <dgm:spPr/>
    </dgm:pt>
    <dgm:pt modelId="{23BF47E9-9446-42C1-9E64-A39EE5528F17}" type="pres">
      <dgm:prSet presAssocID="{5DB33B2C-C860-4365-9AF9-108EFB785C71}" presName="composite" presStyleCnt="0"/>
      <dgm:spPr/>
    </dgm:pt>
    <dgm:pt modelId="{7C7F3EAE-3281-4B7B-934B-F08362E4B089}" type="pres">
      <dgm:prSet presAssocID="{5DB33B2C-C860-4365-9AF9-108EFB785C71}" presName="parentText" presStyleLbl="alignNode1" presStyleIdx="5" presStyleCnt="6">
        <dgm:presLayoutVars>
          <dgm:chMax val="1"/>
          <dgm:bulletEnabled val="1"/>
        </dgm:presLayoutVars>
      </dgm:prSet>
      <dgm:spPr/>
    </dgm:pt>
    <dgm:pt modelId="{9E10CF16-A967-434C-B65D-1C5BC0C5D1FA}" type="pres">
      <dgm:prSet presAssocID="{5DB33B2C-C860-4365-9AF9-108EFB785C71}" presName="descendantText" presStyleLbl="alignAcc1" presStyleIdx="5" presStyleCnt="6">
        <dgm:presLayoutVars>
          <dgm:bulletEnabled val="1"/>
        </dgm:presLayoutVars>
      </dgm:prSet>
      <dgm:spPr/>
    </dgm:pt>
  </dgm:ptLst>
  <dgm:cxnLst>
    <dgm:cxn modelId="{DA30A00C-4425-4574-80FA-310A297D7DAB}" type="presOf" srcId="{5085AC10-745F-4DA9-A6F5-FE81D3574405}" destId="{565F8F9A-5462-493F-A336-75DB992944A3}" srcOrd="0" destOrd="0" presId="urn:microsoft.com/office/officeart/2005/8/layout/chevron2"/>
    <dgm:cxn modelId="{0737500F-AE62-4D18-80E3-F6A29D3014F6}" srcId="{A38D81BD-4F1E-44DD-9985-4297D4BB757B}" destId="{8DAFE051-36CC-430C-90D0-F76690937AB5}" srcOrd="0" destOrd="0" parTransId="{AFF85E26-B603-429F-A0F4-F05A843107FC}" sibTransId="{4CDE129D-7D2C-4148-B6A7-1C9231EC22DD}"/>
    <dgm:cxn modelId="{4F354911-AE34-4F98-A176-9E5B6F3219F0}" type="presOf" srcId="{4217AD88-E6F4-47F7-AB4B-E782B5B869F2}" destId="{2CB71A2C-733B-423D-A9AB-95B7CBE63BEC}" srcOrd="0" destOrd="0" presId="urn:microsoft.com/office/officeart/2005/8/layout/chevron2"/>
    <dgm:cxn modelId="{0F7D421A-9E42-45A5-BE0A-431523104859}" srcId="{5085AC10-745F-4DA9-A6F5-FE81D3574405}" destId="{4290EA6D-C4C9-4F83-9636-34E1D45C289F}" srcOrd="0" destOrd="0" parTransId="{9A056C05-55F2-44C1-B818-EFC705AF30F4}" sibTransId="{7CF5B48A-06B5-42B4-A416-892D02D02586}"/>
    <dgm:cxn modelId="{D3AF082D-C200-4F05-A66A-36A454522907}" srcId="{2B3F96FB-F9D5-4354-AC24-81C85786FBAD}" destId="{5DB33B2C-C860-4365-9AF9-108EFB785C71}" srcOrd="5" destOrd="0" parTransId="{59AB40BD-8159-4A4B-8C8B-8174227717C2}" sibTransId="{BABF51B5-113E-4B15-905D-005F6BA0BA8C}"/>
    <dgm:cxn modelId="{E3B30832-B216-4B85-B9EC-1AF9258C8D21}" type="presOf" srcId="{64C6F624-EAC8-437E-8A90-6A4C2A2CB1E4}" destId="{37A7E05B-5A4B-4AFE-A1F8-91024C932691}" srcOrd="0" destOrd="0" presId="urn:microsoft.com/office/officeart/2005/8/layout/chevron2"/>
    <dgm:cxn modelId="{F627FE61-23C3-4A20-AEA2-510CCB2C1885}" type="presOf" srcId="{A38D81BD-4F1E-44DD-9985-4297D4BB757B}" destId="{D553ECD6-6E13-4989-A913-5EF97C759FD8}" srcOrd="0" destOrd="0" presId="urn:microsoft.com/office/officeart/2005/8/layout/chevron2"/>
    <dgm:cxn modelId="{2E53206D-4E12-4F26-82E4-2EA9C4A973CF}" type="presOf" srcId="{5783DB41-FC72-4602-83DA-0F3BCCCCA766}" destId="{D3445DAB-B767-4565-8F98-DBB36B5CC268}" srcOrd="0" destOrd="0" presId="urn:microsoft.com/office/officeart/2005/8/layout/chevron2"/>
    <dgm:cxn modelId="{9FE0654F-5F58-4E4E-90D7-BE2FF2B6BDD5}" srcId="{2B3F96FB-F9D5-4354-AC24-81C85786FBAD}" destId="{5783DB41-FC72-4602-83DA-0F3BCCCCA766}" srcOrd="2" destOrd="0" parTransId="{A77104DC-EF87-4E88-BE64-AAF35022A427}" sibTransId="{9E5D91C4-1D54-4B3F-A7C7-9370B1DDE163}"/>
    <dgm:cxn modelId="{36CE3670-EA4C-410C-86A4-0E9758A6CB2F}" type="presOf" srcId="{0FFA7772-9F43-46BC-8DD4-47939E88FBB9}" destId="{34D81B61-48AD-4BF4-91CA-A89A01E5FF47}" srcOrd="0" destOrd="0" presId="urn:microsoft.com/office/officeart/2005/8/layout/chevron2"/>
    <dgm:cxn modelId="{429B4F75-3F1E-4744-AA39-A87E0F5A09ED}" srcId="{2B3F96FB-F9D5-4354-AC24-81C85786FBAD}" destId="{99FC7E1F-A6F2-4900-A5AF-2B4A505F761E}" srcOrd="1" destOrd="0" parTransId="{16478FB8-118C-47B3-AA2F-D31BF0252250}" sibTransId="{667A2C65-D1D4-4A71-B7D9-C19F521C905D}"/>
    <dgm:cxn modelId="{B608EB82-5C0F-43D2-B530-5493A8B06E0B}" type="presOf" srcId="{99FC7E1F-A6F2-4900-A5AF-2B4A505F761E}" destId="{B470ACE6-65F8-488B-8C9C-929315FFD262}" srcOrd="0" destOrd="0" presId="urn:microsoft.com/office/officeart/2005/8/layout/chevron2"/>
    <dgm:cxn modelId="{D49E8491-1B74-4F3A-873D-5C5C1306368D}" srcId="{2B3F96FB-F9D5-4354-AC24-81C85786FBAD}" destId="{64C6F624-EAC8-437E-8A90-6A4C2A2CB1E4}" srcOrd="0" destOrd="0" parTransId="{F7FECC1A-AB7E-4A54-88DB-E6C56E95B1C3}" sibTransId="{D217D51B-9285-492E-BBEA-C493E5EC94CC}"/>
    <dgm:cxn modelId="{B412D59A-6168-4B61-ABF8-690E185ECEA4}" srcId="{5783DB41-FC72-4602-83DA-0F3BCCCCA766}" destId="{4217AD88-E6F4-47F7-AB4B-E782B5B869F2}" srcOrd="0" destOrd="0" parTransId="{65316D54-1503-45E4-85D7-7346170BA228}" sibTransId="{A012ADC5-8839-479D-819C-BC9D36E7CFDA}"/>
    <dgm:cxn modelId="{061BD29F-18D2-4830-9774-C86B893ED56D}" srcId="{64C6F624-EAC8-437E-8A90-6A4C2A2CB1E4}" destId="{6E9A8454-FFBF-43AF-AAD6-AE5E6039EDD1}" srcOrd="0" destOrd="0" parTransId="{0FDE4C66-58EC-4FF0-BDE7-F493B7CFC9A5}" sibTransId="{E65D1C59-4CBB-4B75-9B3C-D6BD81689560}"/>
    <dgm:cxn modelId="{C34503A7-378D-469D-BE35-7F8E4CC3C065}" type="presOf" srcId="{2B3F96FB-F9D5-4354-AC24-81C85786FBAD}" destId="{53EAA110-2370-45F0-85DA-F0AC8548EACD}" srcOrd="0" destOrd="0" presId="urn:microsoft.com/office/officeart/2005/8/layout/chevron2"/>
    <dgm:cxn modelId="{406F01AA-4AC3-413C-8F48-41A5877F5F2E}" srcId="{5DB33B2C-C860-4365-9AF9-108EFB785C71}" destId="{2F3FA49A-C20C-4414-8ACE-F4E65ED2498C}" srcOrd="0" destOrd="0" parTransId="{FADECF01-EB46-4F7C-8D1C-B4C2A8182845}" sibTransId="{E7062237-C64D-4FCC-AA49-721F2A9076D1}"/>
    <dgm:cxn modelId="{F61E3BAB-2191-4E56-8806-00D27A722250}" type="presOf" srcId="{4290EA6D-C4C9-4F83-9636-34E1D45C289F}" destId="{FA9CCBA5-DDEC-4746-8523-3144A123D576}" srcOrd="0" destOrd="0" presId="urn:microsoft.com/office/officeart/2005/8/layout/chevron2"/>
    <dgm:cxn modelId="{4CE8C2C9-C44A-43BD-982F-126C2AC069D3}" type="presOf" srcId="{5DB33B2C-C860-4365-9AF9-108EFB785C71}" destId="{7C7F3EAE-3281-4B7B-934B-F08362E4B089}" srcOrd="0" destOrd="0" presId="urn:microsoft.com/office/officeart/2005/8/layout/chevron2"/>
    <dgm:cxn modelId="{0DC2CFD1-9026-4D10-B864-50F48D40906D}" srcId="{99FC7E1F-A6F2-4900-A5AF-2B4A505F761E}" destId="{0FFA7772-9F43-46BC-8DD4-47939E88FBB9}" srcOrd="0" destOrd="0" parTransId="{1A050A6D-EB84-4862-B8E6-3E1175C140BE}" sibTransId="{4F6AF6D1-C4E3-45FE-8973-F3DD0A9BDA74}"/>
    <dgm:cxn modelId="{FF02AAD7-7081-42CE-9EBE-E9D03FB36BF5}" type="presOf" srcId="{6E9A8454-FFBF-43AF-AAD6-AE5E6039EDD1}" destId="{B1C92AB3-26E9-4DE2-AA99-B7E85388B852}" srcOrd="0" destOrd="0" presId="urn:microsoft.com/office/officeart/2005/8/layout/chevron2"/>
    <dgm:cxn modelId="{659A3FDE-B8CD-49D1-A147-F011DED53FFD}" type="presOf" srcId="{2F3FA49A-C20C-4414-8ACE-F4E65ED2498C}" destId="{9E10CF16-A967-434C-B65D-1C5BC0C5D1FA}" srcOrd="0" destOrd="0" presId="urn:microsoft.com/office/officeart/2005/8/layout/chevron2"/>
    <dgm:cxn modelId="{5AEED1F1-601F-4479-9059-BE73487C7D89}" type="presOf" srcId="{8DAFE051-36CC-430C-90D0-F76690937AB5}" destId="{4D2FC30A-477C-447B-93D3-D2D8F6EFC280}" srcOrd="0" destOrd="0" presId="urn:microsoft.com/office/officeart/2005/8/layout/chevron2"/>
    <dgm:cxn modelId="{B7B4D6FC-D70D-40DC-AA5B-5B2DBDD6AFE0}" srcId="{2B3F96FB-F9D5-4354-AC24-81C85786FBAD}" destId="{5085AC10-745F-4DA9-A6F5-FE81D3574405}" srcOrd="3" destOrd="0" parTransId="{844A8580-1821-4633-9F64-3FCFAC7DDAA7}" sibTransId="{4F6962DA-CC78-4CEB-AF85-AE419776D8EF}"/>
    <dgm:cxn modelId="{568D1CFF-9141-4561-B1A2-07ABC6DB3D50}" srcId="{2B3F96FB-F9D5-4354-AC24-81C85786FBAD}" destId="{A38D81BD-4F1E-44DD-9985-4297D4BB757B}" srcOrd="4" destOrd="0" parTransId="{A0C5C551-AE48-496A-A269-1E24A3F48EE3}" sibTransId="{61F27FC2-90DD-4281-8A9A-06608C65810C}"/>
    <dgm:cxn modelId="{5978BD2E-3D78-4AAA-8525-9934055D746F}" type="presParOf" srcId="{53EAA110-2370-45F0-85DA-F0AC8548EACD}" destId="{116580E9-55D1-4298-AC88-9F3C1F5105F6}" srcOrd="0" destOrd="0" presId="urn:microsoft.com/office/officeart/2005/8/layout/chevron2"/>
    <dgm:cxn modelId="{82A8F776-2344-4BD5-AC1F-156EA6610CCE}" type="presParOf" srcId="{116580E9-55D1-4298-AC88-9F3C1F5105F6}" destId="{37A7E05B-5A4B-4AFE-A1F8-91024C932691}" srcOrd="0" destOrd="0" presId="urn:microsoft.com/office/officeart/2005/8/layout/chevron2"/>
    <dgm:cxn modelId="{E76430F2-1A23-45A5-B04D-5CDBC81F979B}" type="presParOf" srcId="{116580E9-55D1-4298-AC88-9F3C1F5105F6}" destId="{B1C92AB3-26E9-4DE2-AA99-B7E85388B852}" srcOrd="1" destOrd="0" presId="urn:microsoft.com/office/officeart/2005/8/layout/chevron2"/>
    <dgm:cxn modelId="{944879F0-A84C-4DF0-8A73-FDDA4CDE8D9C}" type="presParOf" srcId="{53EAA110-2370-45F0-85DA-F0AC8548EACD}" destId="{BDA1F489-7E13-45D4-B625-8EC1932FB0FE}" srcOrd="1" destOrd="0" presId="urn:microsoft.com/office/officeart/2005/8/layout/chevron2"/>
    <dgm:cxn modelId="{C7BC0844-478C-4A67-BD98-D7AAC67D29F3}" type="presParOf" srcId="{53EAA110-2370-45F0-85DA-F0AC8548EACD}" destId="{F0F7C4BA-B1A9-414D-8321-E6BECCAD0D6D}" srcOrd="2" destOrd="0" presId="urn:microsoft.com/office/officeart/2005/8/layout/chevron2"/>
    <dgm:cxn modelId="{7BBC6132-C779-4615-8961-A119A58DA238}" type="presParOf" srcId="{F0F7C4BA-B1A9-414D-8321-E6BECCAD0D6D}" destId="{B470ACE6-65F8-488B-8C9C-929315FFD262}" srcOrd="0" destOrd="0" presId="urn:microsoft.com/office/officeart/2005/8/layout/chevron2"/>
    <dgm:cxn modelId="{1A475161-DAD9-4135-8B81-A39F3879E2B0}" type="presParOf" srcId="{F0F7C4BA-B1A9-414D-8321-E6BECCAD0D6D}" destId="{34D81B61-48AD-4BF4-91CA-A89A01E5FF47}" srcOrd="1" destOrd="0" presId="urn:microsoft.com/office/officeart/2005/8/layout/chevron2"/>
    <dgm:cxn modelId="{A1DCE1CE-455A-4737-94DB-105D768EA4AD}" type="presParOf" srcId="{53EAA110-2370-45F0-85DA-F0AC8548EACD}" destId="{AACF673B-1752-4C3B-A6F3-1A81F29DDCAD}" srcOrd="3" destOrd="0" presId="urn:microsoft.com/office/officeart/2005/8/layout/chevron2"/>
    <dgm:cxn modelId="{1FC89B5F-97D4-4E16-AADE-9515861CA97F}" type="presParOf" srcId="{53EAA110-2370-45F0-85DA-F0AC8548EACD}" destId="{17FFDDA3-ECC4-4D29-A461-D752A58FE709}" srcOrd="4" destOrd="0" presId="urn:microsoft.com/office/officeart/2005/8/layout/chevron2"/>
    <dgm:cxn modelId="{FAD7563A-B71A-44C9-BCAF-6A0C3983471D}" type="presParOf" srcId="{17FFDDA3-ECC4-4D29-A461-D752A58FE709}" destId="{D3445DAB-B767-4565-8F98-DBB36B5CC268}" srcOrd="0" destOrd="0" presId="urn:microsoft.com/office/officeart/2005/8/layout/chevron2"/>
    <dgm:cxn modelId="{3C6F466A-4F39-4343-AC4D-7C044477C0A8}" type="presParOf" srcId="{17FFDDA3-ECC4-4D29-A461-D752A58FE709}" destId="{2CB71A2C-733B-423D-A9AB-95B7CBE63BEC}" srcOrd="1" destOrd="0" presId="urn:microsoft.com/office/officeart/2005/8/layout/chevron2"/>
    <dgm:cxn modelId="{5F76F3B4-70B1-470C-B15C-F86272FA96ED}" type="presParOf" srcId="{53EAA110-2370-45F0-85DA-F0AC8548EACD}" destId="{B6FB12ED-5372-4B75-9B07-23087C12A804}" srcOrd="5" destOrd="0" presId="urn:microsoft.com/office/officeart/2005/8/layout/chevron2"/>
    <dgm:cxn modelId="{99C0DF07-DA10-4B00-ABE5-D4BC303C6EEC}" type="presParOf" srcId="{53EAA110-2370-45F0-85DA-F0AC8548EACD}" destId="{FF82AEC3-4265-4214-946A-81CC78A5057B}" srcOrd="6" destOrd="0" presId="urn:microsoft.com/office/officeart/2005/8/layout/chevron2"/>
    <dgm:cxn modelId="{24AFDA52-1A90-4668-BEA2-4D3697433522}" type="presParOf" srcId="{FF82AEC3-4265-4214-946A-81CC78A5057B}" destId="{565F8F9A-5462-493F-A336-75DB992944A3}" srcOrd="0" destOrd="0" presId="urn:microsoft.com/office/officeart/2005/8/layout/chevron2"/>
    <dgm:cxn modelId="{7F5B20E3-8A7E-46B1-84A3-070F4157F57E}" type="presParOf" srcId="{FF82AEC3-4265-4214-946A-81CC78A5057B}" destId="{FA9CCBA5-DDEC-4746-8523-3144A123D576}" srcOrd="1" destOrd="0" presId="urn:microsoft.com/office/officeart/2005/8/layout/chevron2"/>
    <dgm:cxn modelId="{B72D2871-536E-4363-8D67-E2C2747A1B77}" type="presParOf" srcId="{53EAA110-2370-45F0-85DA-F0AC8548EACD}" destId="{4B2B5783-C821-4FAB-BA26-1B8BD8059C9E}" srcOrd="7" destOrd="0" presId="urn:microsoft.com/office/officeart/2005/8/layout/chevron2"/>
    <dgm:cxn modelId="{82129947-202C-4722-8519-2DC790C21313}" type="presParOf" srcId="{53EAA110-2370-45F0-85DA-F0AC8548EACD}" destId="{384F6F5F-83BD-4E34-ACC7-FD4717C23684}" srcOrd="8" destOrd="0" presId="urn:microsoft.com/office/officeart/2005/8/layout/chevron2"/>
    <dgm:cxn modelId="{40EAE894-8F45-4794-8AD0-C246930A7864}" type="presParOf" srcId="{384F6F5F-83BD-4E34-ACC7-FD4717C23684}" destId="{D553ECD6-6E13-4989-A913-5EF97C759FD8}" srcOrd="0" destOrd="0" presId="urn:microsoft.com/office/officeart/2005/8/layout/chevron2"/>
    <dgm:cxn modelId="{9468080C-683E-4B14-BCDB-802B6D9A4A47}" type="presParOf" srcId="{384F6F5F-83BD-4E34-ACC7-FD4717C23684}" destId="{4D2FC30A-477C-447B-93D3-D2D8F6EFC280}" srcOrd="1" destOrd="0" presId="urn:microsoft.com/office/officeart/2005/8/layout/chevron2"/>
    <dgm:cxn modelId="{339E9E44-D46A-4291-8D1B-B1AC7A87F7E9}" type="presParOf" srcId="{53EAA110-2370-45F0-85DA-F0AC8548EACD}" destId="{F2B56A00-888A-42F5-9D95-96D488832875}" srcOrd="9" destOrd="0" presId="urn:microsoft.com/office/officeart/2005/8/layout/chevron2"/>
    <dgm:cxn modelId="{BC2D1928-36E5-4495-B3B7-EC0270F3F8A7}" type="presParOf" srcId="{53EAA110-2370-45F0-85DA-F0AC8548EACD}" destId="{23BF47E9-9446-42C1-9E64-A39EE5528F17}" srcOrd="10" destOrd="0" presId="urn:microsoft.com/office/officeart/2005/8/layout/chevron2"/>
    <dgm:cxn modelId="{6896F073-AE42-4F74-BE13-71C46C80AFC7}" type="presParOf" srcId="{23BF47E9-9446-42C1-9E64-A39EE5528F17}" destId="{7C7F3EAE-3281-4B7B-934B-F08362E4B089}" srcOrd="0" destOrd="0" presId="urn:microsoft.com/office/officeart/2005/8/layout/chevron2"/>
    <dgm:cxn modelId="{927F1128-C3ED-4CA0-B70E-8E31F80B9A40}" type="presParOf" srcId="{23BF47E9-9446-42C1-9E64-A39EE5528F17}" destId="{9E10CF16-A967-434C-B65D-1C5BC0C5D1FA}" srcOrd="1" destOrd="0" presId="urn:microsoft.com/office/officeart/2005/8/layout/chevron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A7E05B-5A4B-4AFE-A1F8-91024C932691}">
      <dsp:nvSpPr>
        <dsp:cNvPr id="0" name=""/>
        <dsp:cNvSpPr/>
      </dsp:nvSpPr>
      <dsp:spPr>
        <a:xfrm rot="5400000">
          <a:off x="-124518" y="129434"/>
          <a:ext cx="830123" cy="581086"/>
        </a:xfrm>
        <a:prstGeom prst="chevron">
          <a:avLst/>
        </a:prstGeom>
        <a:solidFill>
          <a:srgbClr val="006600"/>
        </a:solidFill>
        <a:ln w="25400" cap="flat" cmpd="sng" algn="ctr">
          <a:solidFill>
            <a:schemeClr val="accent6">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zh-CN" altLang="en-US" sz="3200" b="1" kern="1200" dirty="0"/>
            <a:t>１</a:t>
          </a:r>
        </a:p>
      </dsp:txBody>
      <dsp:txXfrm rot="-5400000">
        <a:off x="1" y="295458"/>
        <a:ext cx="581086" cy="249037"/>
      </dsp:txXfrm>
    </dsp:sp>
    <dsp:sp modelId="{B1C92AB3-26E9-4DE2-AA99-B7E85388B852}">
      <dsp:nvSpPr>
        <dsp:cNvPr id="0" name=""/>
        <dsp:cNvSpPr/>
      </dsp:nvSpPr>
      <dsp:spPr>
        <a:xfrm rot="5400000">
          <a:off x="2864927" y="-2278924"/>
          <a:ext cx="539863" cy="5107545"/>
        </a:xfrm>
        <a:prstGeom prst="round2SameRect">
          <a:avLst/>
        </a:prstGeom>
        <a:solidFill>
          <a:schemeClr val="lt1">
            <a:alpha val="90000"/>
            <a:hueOff val="0"/>
            <a:satOff val="0"/>
            <a:lumOff val="0"/>
            <a:alphaOff val="0"/>
          </a:schemeClr>
        </a:solidFill>
        <a:ln w="25400" cap="flat" cmpd="sng" algn="ctr">
          <a:solidFill>
            <a:schemeClr val="accent6">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zh-CN" altLang="en-US" sz="3200" b="1" kern="1200" dirty="0"/>
            <a:t>酶的分子结构与功能</a:t>
          </a:r>
        </a:p>
      </dsp:txBody>
      <dsp:txXfrm rot="-5400000">
        <a:off x="581086" y="31271"/>
        <a:ext cx="5081191" cy="487155"/>
      </dsp:txXfrm>
    </dsp:sp>
    <dsp:sp modelId="{B470ACE6-65F8-488B-8C9C-929315FFD262}">
      <dsp:nvSpPr>
        <dsp:cNvPr id="0" name=""/>
        <dsp:cNvSpPr/>
      </dsp:nvSpPr>
      <dsp:spPr>
        <a:xfrm rot="5400000">
          <a:off x="-124518" y="860653"/>
          <a:ext cx="830123" cy="581086"/>
        </a:xfrm>
        <a:prstGeom prst="chevron">
          <a:avLst/>
        </a:prstGeom>
        <a:solidFill>
          <a:srgbClr val="006600"/>
        </a:solidFill>
        <a:ln w="25400" cap="flat" cmpd="sng" algn="ctr">
          <a:solidFill>
            <a:schemeClr val="accent6">
              <a:shade val="50000"/>
              <a:hueOff val="0"/>
              <a:satOff val="0"/>
              <a:lumOff val="2338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zh-CN" altLang="en-US" sz="3200" b="1" kern="1200" dirty="0"/>
            <a:t>２</a:t>
          </a:r>
        </a:p>
      </dsp:txBody>
      <dsp:txXfrm rot="-5400000">
        <a:off x="1" y="1026677"/>
        <a:ext cx="581086" cy="249037"/>
      </dsp:txXfrm>
    </dsp:sp>
    <dsp:sp modelId="{34D81B61-48AD-4BF4-91CA-A89A01E5FF47}">
      <dsp:nvSpPr>
        <dsp:cNvPr id="0" name=""/>
        <dsp:cNvSpPr/>
      </dsp:nvSpPr>
      <dsp:spPr>
        <a:xfrm rot="5400000">
          <a:off x="2865069" y="-1547848"/>
          <a:ext cx="539580" cy="5107545"/>
        </a:xfrm>
        <a:prstGeom prst="round2SameRect">
          <a:avLst/>
        </a:prstGeom>
        <a:solidFill>
          <a:srgbClr val="CCECFF">
            <a:alpha val="90000"/>
          </a:srgbClr>
        </a:solidFill>
        <a:ln w="25400" cap="flat" cmpd="sng" algn="ctr">
          <a:solidFill>
            <a:schemeClr val="accent6">
              <a:shade val="50000"/>
              <a:hueOff val="0"/>
              <a:satOff val="0"/>
              <a:lumOff val="2338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zh-CN" altLang="en-US" sz="3200" b="1" kern="1200" dirty="0">
              <a:solidFill>
                <a:srgbClr val="FF0000"/>
              </a:solidFill>
            </a:rPr>
            <a:t>酶的作用机制</a:t>
          </a:r>
        </a:p>
      </dsp:txBody>
      <dsp:txXfrm rot="-5400000">
        <a:off x="581087" y="762474"/>
        <a:ext cx="5081205" cy="486900"/>
      </dsp:txXfrm>
    </dsp:sp>
    <dsp:sp modelId="{D3445DAB-B767-4565-8F98-DBB36B5CC268}">
      <dsp:nvSpPr>
        <dsp:cNvPr id="0" name=""/>
        <dsp:cNvSpPr/>
      </dsp:nvSpPr>
      <dsp:spPr>
        <a:xfrm rot="5400000">
          <a:off x="-124518" y="1591871"/>
          <a:ext cx="830123" cy="581086"/>
        </a:xfrm>
        <a:prstGeom prst="chevron">
          <a:avLst/>
        </a:prstGeom>
        <a:solidFill>
          <a:srgbClr val="006600"/>
        </a:solidFill>
        <a:ln w="25400" cap="flat" cmpd="sng" algn="ctr">
          <a:solidFill>
            <a:schemeClr val="accent6">
              <a:shade val="50000"/>
              <a:hueOff val="0"/>
              <a:satOff val="0"/>
              <a:lumOff val="4676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zh-CN" altLang="en-US" sz="3200" b="1" kern="1200" dirty="0"/>
            <a:t>３</a:t>
          </a:r>
        </a:p>
      </dsp:txBody>
      <dsp:txXfrm rot="-5400000">
        <a:off x="1" y="1757895"/>
        <a:ext cx="581086" cy="249037"/>
      </dsp:txXfrm>
    </dsp:sp>
    <dsp:sp modelId="{2CB71A2C-733B-423D-A9AB-95B7CBE63BEC}">
      <dsp:nvSpPr>
        <dsp:cNvPr id="0" name=""/>
        <dsp:cNvSpPr/>
      </dsp:nvSpPr>
      <dsp:spPr>
        <a:xfrm rot="5400000">
          <a:off x="2865069" y="-816629"/>
          <a:ext cx="539580" cy="5107545"/>
        </a:xfrm>
        <a:prstGeom prst="round2SameRect">
          <a:avLst/>
        </a:prstGeom>
        <a:solidFill>
          <a:schemeClr val="lt1">
            <a:alpha val="90000"/>
            <a:hueOff val="0"/>
            <a:satOff val="0"/>
            <a:lumOff val="0"/>
            <a:alphaOff val="0"/>
          </a:schemeClr>
        </a:solidFill>
        <a:ln w="25400" cap="flat" cmpd="sng" algn="ctr">
          <a:solidFill>
            <a:schemeClr val="accent6">
              <a:shade val="50000"/>
              <a:hueOff val="0"/>
              <a:satOff val="0"/>
              <a:lumOff val="467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zh-CN" altLang="en-US" sz="3200" b="1" kern="1200" dirty="0">
              <a:solidFill>
                <a:srgbClr val="FF0000"/>
              </a:solidFill>
            </a:rPr>
            <a:t>酶促反应动力学</a:t>
          </a:r>
        </a:p>
      </dsp:txBody>
      <dsp:txXfrm rot="-5400000">
        <a:off x="581087" y="1493693"/>
        <a:ext cx="5081205" cy="486900"/>
      </dsp:txXfrm>
    </dsp:sp>
    <dsp:sp modelId="{565F8F9A-5462-493F-A336-75DB992944A3}">
      <dsp:nvSpPr>
        <dsp:cNvPr id="0" name=""/>
        <dsp:cNvSpPr/>
      </dsp:nvSpPr>
      <dsp:spPr>
        <a:xfrm rot="5400000">
          <a:off x="-124518" y="2323090"/>
          <a:ext cx="830123" cy="581086"/>
        </a:xfrm>
        <a:prstGeom prst="chevron">
          <a:avLst/>
        </a:prstGeom>
        <a:solidFill>
          <a:srgbClr val="006600"/>
        </a:solidFill>
        <a:ln w="25400" cap="flat" cmpd="sng" algn="ctr">
          <a:solidFill>
            <a:schemeClr val="accent6">
              <a:shade val="50000"/>
              <a:hueOff val="0"/>
              <a:satOff val="0"/>
              <a:lumOff val="7014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zh-CN" altLang="en-US" sz="3200" b="1" kern="1200" dirty="0"/>
            <a:t>４</a:t>
          </a:r>
        </a:p>
      </dsp:txBody>
      <dsp:txXfrm rot="-5400000">
        <a:off x="1" y="2489114"/>
        <a:ext cx="581086" cy="249037"/>
      </dsp:txXfrm>
    </dsp:sp>
    <dsp:sp modelId="{FA9CCBA5-DDEC-4746-8523-3144A123D576}">
      <dsp:nvSpPr>
        <dsp:cNvPr id="0" name=""/>
        <dsp:cNvSpPr/>
      </dsp:nvSpPr>
      <dsp:spPr>
        <a:xfrm rot="5400000">
          <a:off x="2865069" y="-85411"/>
          <a:ext cx="539580" cy="5107545"/>
        </a:xfrm>
        <a:prstGeom prst="round2SameRect">
          <a:avLst/>
        </a:prstGeom>
        <a:solidFill>
          <a:srgbClr val="CCECFF">
            <a:alpha val="90000"/>
          </a:srgbClr>
        </a:solidFill>
        <a:ln w="25400" cap="flat" cmpd="sng" algn="ctr">
          <a:solidFill>
            <a:schemeClr val="accent6">
              <a:shade val="50000"/>
              <a:hueOff val="0"/>
              <a:satOff val="0"/>
              <a:lumOff val="7014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zh-CN" altLang="en-US" sz="3200" b="1" kern="1200" dirty="0">
              <a:solidFill>
                <a:srgbClr val="FF0000"/>
              </a:solidFill>
            </a:rPr>
            <a:t>酶的调节</a:t>
          </a:r>
        </a:p>
      </dsp:txBody>
      <dsp:txXfrm rot="-5400000">
        <a:off x="581087" y="2224911"/>
        <a:ext cx="5081205" cy="486900"/>
      </dsp:txXfrm>
    </dsp:sp>
    <dsp:sp modelId="{D553ECD6-6E13-4989-A913-5EF97C759FD8}">
      <dsp:nvSpPr>
        <dsp:cNvPr id="0" name=""/>
        <dsp:cNvSpPr/>
      </dsp:nvSpPr>
      <dsp:spPr>
        <a:xfrm rot="5400000">
          <a:off x="-124518" y="3054308"/>
          <a:ext cx="830123" cy="581086"/>
        </a:xfrm>
        <a:prstGeom prst="chevron">
          <a:avLst/>
        </a:prstGeom>
        <a:solidFill>
          <a:srgbClr val="006600"/>
        </a:solidFill>
        <a:ln w="25400" cap="flat" cmpd="sng" algn="ctr">
          <a:solidFill>
            <a:schemeClr val="accent6">
              <a:shade val="50000"/>
              <a:hueOff val="0"/>
              <a:satOff val="0"/>
              <a:lumOff val="4676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zh-CN" altLang="en-US" sz="3200" b="1" kern="1200" dirty="0"/>
            <a:t>５</a:t>
          </a:r>
        </a:p>
      </dsp:txBody>
      <dsp:txXfrm rot="-5400000">
        <a:off x="1" y="3220332"/>
        <a:ext cx="581086" cy="249037"/>
      </dsp:txXfrm>
    </dsp:sp>
    <dsp:sp modelId="{4D2FC30A-477C-447B-93D3-D2D8F6EFC280}">
      <dsp:nvSpPr>
        <dsp:cNvPr id="0" name=""/>
        <dsp:cNvSpPr/>
      </dsp:nvSpPr>
      <dsp:spPr>
        <a:xfrm rot="5400000">
          <a:off x="2865069" y="645807"/>
          <a:ext cx="539580" cy="5107545"/>
        </a:xfrm>
        <a:prstGeom prst="round2SameRect">
          <a:avLst/>
        </a:prstGeom>
        <a:solidFill>
          <a:schemeClr val="lt1">
            <a:alpha val="90000"/>
            <a:hueOff val="0"/>
            <a:satOff val="0"/>
            <a:lumOff val="0"/>
            <a:alphaOff val="0"/>
          </a:schemeClr>
        </a:solidFill>
        <a:ln w="25400" cap="flat" cmpd="sng" algn="ctr">
          <a:solidFill>
            <a:schemeClr val="accent6">
              <a:shade val="50000"/>
              <a:hueOff val="0"/>
              <a:satOff val="0"/>
              <a:lumOff val="467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zh-CN" altLang="en-US" sz="3200" b="1" kern="1200" dirty="0"/>
            <a:t>酶的分类与命名</a:t>
          </a:r>
        </a:p>
      </dsp:txBody>
      <dsp:txXfrm rot="-5400000">
        <a:off x="581087" y="2956129"/>
        <a:ext cx="5081205" cy="486900"/>
      </dsp:txXfrm>
    </dsp:sp>
    <dsp:sp modelId="{7C7F3EAE-3281-4B7B-934B-F08362E4B089}">
      <dsp:nvSpPr>
        <dsp:cNvPr id="0" name=""/>
        <dsp:cNvSpPr/>
      </dsp:nvSpPr>
      <dsp:spPr>
        <a:xfrm rot="5400000">
          <a:off x="-124518" y="3785527"/>
          <a:ext cx="830123" cy="581086"/>
        </a:xfrm>
        <a:prstGeom prst="chevron">
          <a:avLst/>
        </a:prstGeom>
        <a:solidFill>
          <a:srgbClr val="006600"/>
        </a:solidFill>
        <a:ln w="25400" cap="flat" cmpd="sng" algn="ctr">
          <a:solidFill>
            <a:schemeClr val="accent6">
              <a:shade val="50000"/>
              <a:hueOff val="0"/>
              <a:satOff val="0"/>
              <a:lumOff val="2338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zh-CN" altLang="en-US" sz="3200" b="1" kern="1200" dirty="0"/>
            <a:t>６</a:t>
          </a:r>
        </a:p>
      </dsp:txBody>
      <dsp:txXfrm rot="-5400000">
        <a:off x="1" y="3951551"/>
        <a:ext cx="581086" cy="249037"/>
      </dsp:txXfrm>
    </dsp:sp>
    <dsp:sp modelId="{9E10CF16-A967-434C-B65D-1C5BC0C5D1FA}">
      <dsp:nvSpPr>
        <dsp:cNvPr id="0" name=""/>
        <dsp:cNvSpPr/>
      </dsp:nvSpPr>
      <dsp:spPr>
        <a:xfrm rot="5400000">
          <a:off x="2865069" y="1377025"/>
          <a:ext cx="539580" cy="5107545"/>
        </a:xfrm>
        <a:prstGeom prst="round2SameRect">
          <a:avLst/>
        </a:prstGeom>
        <a:solidFill>
          <a:srgbClr val="CCECFF">
            <a:alpha val="90000"/>
          </a:srgbClr>
        </a:solidFill>
        <a:ln w="25400" cap="flat" cmpd="sng" algn="ctr">
          <a:solidFill>
            <a:schemeClr val="accent6">
              <a:shade val="50000"/>
              <a:hueOff val="0"/>
              <a:satOff val="0"/>
              <a:lumOff val="2338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zh-CN" altLang="en-US" sz="3200" b="1" kern="1200" dirty="0"/>
            <a:t>酶在医学中的应用</a:t>
          </a:r>
        </a:p>
      </dsp:txBody>
      <dsp:txXfrm rot="-5400000">
        <a:off x="581087" y="3687347"/>
        <a:ext cx="5081205" cy="48690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FAACD524-E64F-4570-A5FF-400353063F79}"/>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a:extLst>
              <a:ext uri="{FF2B5EF4-FFF2-40B4-BE49-F238E27FC236}">
                <a16:creationId xmlns:a16="http://schemas.microsoft.com/office/drawing/2014/main" id="{D8D1AF19-5AF6-44BB-92F4-45960753A58F}"/>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26F5D5BA-6CB8-47BF-8AF8-7702D527CBF0}" type="datetimeFigureOut">
              <a:rPr lang="zh-CN" altLang="en-US"/>
              <a:pPr>
                <a:defRPr/>
              </a:pPr>
              <a:t>2026/9/16</a:t>
            </a:fld>
            <a:endParaRPr lang="zh-CN" altLang="en-US"/>
          </a:p>
        </p:txBody>
      </p:sp>
      <p:sp>
        <p:nvSpPr>
          <p:cNvPr id="4" name="页脚占位符 3">
            <a:extLst>
              <a:ext uri="{FF2B5EF4-FFF2-40B4-BE49-F238E27FC236}">
                <a16:creationId xmlns:a16="http://schemas.microsoft.com/office/drawing/2014/main" id="{799E9870-7927-4018-8F77-764138BA8DF2}"/>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5" name="灯片编号占位符 4">
            <a:extLst>
              <a:ext uri="{FF2B5EF4-FFF2-40B4-BE49-F238E27FC236}">
                <a16:creationId xmlns:a16="http://schemas.microsoft.com/office/drawing/2014/main" id="{A19A4705-B28A-4657-A373-92FA5AA27CDB}"/>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ADD0FCF9-B4A4-456F-B5DF-2D685BA7F185}"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6A22EC7-3BE5-4F55-BB41-E9826543BCE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pPr>
              <a:defRPr/>
            </a:pPr>
            <a:endParaRPr lang="en-US" altLang="zh-CN"/>
          </a:p>
        </p:txBody>
      </p:sp>
      <p:sp>
        <p:nvSpPr>
          <p:cNvPr id="4099" name="Rectangle 3">
            <a:extLst>
              <a:ext uri="{FF2B5EF4-FFF2-40B4-BE49-F238E27FC236}">
                <a16:creationId xmlns:a16="http://schemas.microsoft.com/office/drawing/2014/main" id="{DD8F323B-B850-460E-98B2-EADF882C1F88}"/>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pPr>
              <a:defRPr/>
            </a:pPr>
            <a:endParaRPr lang="en-US" altLang="zh-CN"/>
          </a:p>
        </p:txBody>
      </p:sp>
      <p:sp>
        <p:nvSpPr>
          <p:cNvPr id="13316" name="Rectangle 4">
            <a:extLst>
              <a:ext uri="{FF2B5EF4-FFF2-40B4-BE49-F238E27FC236}">
                <a16:creationId xmlns:a16="http://schemas.microsoft.com/office/drawing/2014/main" id="{4FF73D2F-ECC8-427C-B808-0D0D63BA39F6}"/>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E618E68E-805B-4762-829D-F153018B7BD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a:extLst>
              <a:ext uri="{FF2B5EF4-FFF2-40B4-BE49-F238E27FC236}">
                <a16:creationId xmlns:a16="http://schemas.microsoft.com/office/drawing/2014/main" id="{021AD072-FD60-4AF7-852D-FABFBD33EE8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pPr>
              <a:defRPr/>
            </a:pPr>
            <a:endParaRPr lang="en-US" altLang="zh-CN"/>
          </a:p>
        </p:txBody>
      </p:sp>
      <p:sp>
        <p:nvSpPr>
          <p:cNvPr id="4103" name="Rectangle 7">
            <a:extLst>
              <a:ext uri="{FF2B5EF4-FFF2-40B4-BE49-F238E27FC236}">
                <a16:creationId xmlns:a16="http://schemas.microsoft.com/office/drawing/2014/main" id="{65475DF6-57E0-49F0-8DBC-F1C3A8F21E8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5BA13EFE-004E-48EB-BFFD-87CE39A761E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3" Type="http://schemas.openxmlformats.org/officeDocument/2006/relationships/hyperlink" Target="https://en.wikipedia.org/wiki/Lineweaver%E2%80%93Burk_plot" TargetMode="External"/><Relationship Id="rId2" Type="http://schemas.openxmlformats.org/officeDocument/2006/relationships/slide" Target="../slides/slide132.xml"/><Relationship Id="rId1" Type="http://schemas.openxmlformats.org/officeDocument/2006/relationships/notesMaster" Target="../notesMasters/notesMaster1.xml"/><Relationship Id="rId4" Type="http://schemas.openxmlformats.org/officeDocument/2006/relationships/hyperlink" Target="https://en.wikipedia.org/wiki/Acetylcholinesterase" TargetMode="Externa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FAEC60DB-609B-485D-9FE8-05DDE914BD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AABEEBA-6A7C-4D83-8BDE-52402DE983EE}" type="slidenum">
              <a:rPr lang="en-US" altLang="zh-CN" smtClean="0">
                <a:latin typeface="Arial" panose="020B0604020202020204" pitchFamily="34" charset="0"/>
              </a:rPr>
              <a:pPr/>
              <a:t>1</a:t>
            </a:fld>
            <a:endParaRPr lang="en-US" altLang="zh-CN">
              <a:latin typeface="Arial" panose="020B0604020202020204" pitchFamily="34" charset="0"/>
            </a:endParaRPr>
          </a:p>
        </p:txBody>
      </p:sp>
      <p:sp>
        <p:nvSpPr>
          <p:cNvPr id="16387" name="Rectangle 2">
            <a:extLst>
              <a:ext uri="{FF2B5EF4-FFF2-40B4-BE49-F238E27FC236}">
                <a16:creationId xmlns:a16="http://schemas.microsoft.com/office/drawing/2014/main" id="{AEEBFA09-2206-4E9E-8565-EACD048ADC6C}"/>
              </a:ext>
            </a:extLst>
          </p:cNvPr>
          <p:cNvSpPr>
            <a:spLocks noGrp="1" noRot="1" noChangeAspect="1" noChangeArrowheads="1" noTextEdit="1"/>
          </p:cNvSpPr>
          <p:nvPr>
            <p:ph type="sldImg"/>
          </p:nvPr>
        </p:nvSpPr>
        <p:spPr>
          <a:xfrm>
            <a:off x="381000" y="685800"/>
            <a:ext cx="6096000" cy="3429000"/>
          </a:xfrm>
          <a:ln/>
        </p:spPr>
      </p:sp>
      <p:sp>
        <p:nvSpPr>
          <p:cNvPr id="16388" name="Rectangle 3">
            <a:extLst>
              <a:ext uri="{FF2B5EF4-FFF2-40B4-BE49-F238E27FC236}">
                <a16:creationId xmlns:a16="http://schemas.microsoft.com/office/drawing/2014/main" id="{CDCF2042-5FB0-4748-A639-35AD412122A1}"/>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图示为</a:t>
            </a:r>
            <a:r>
              <a:rPr lang="en-US" altLang="zh-CN" dirty="0"/>
              <a:t>: </a:t>
            </a:r>
            <a:r>
              <a:rPr lang="zh-CN" altLang="en-US" dirty="0"/>
              <a:t> 限制性核酸内切酶</a:t>
            </a:r>
            <a:r>
              <a:rPr lang="en-US" altLang="zh-CN" dirty="0" err="1"/>
              <a:t>EcoR</a:t>
            </a:r>
            <a:r>
              <a:rPr lang="en-US" altLang="zh-CN" dirty="0"/>
              <a:t> I </a:t>
            </a:r>
            <a:r>
              <a:rPr lang="zh-CN" altLang="en-US" dirty="0"/>
              <a:t>同二聚体结构。    棕色为</a:t>
            </a:r>
            <a:r>
              <a:rPr lang="en-US" altLang="zh-CN" dirty="0"/>
              <a:t>DNA</a:t>
            </a:r>
            <a:r>
              <a:rPr lang="zh-CN" altLang="en-US" dirty="0"/>
              <a:t>， 紫色为</a:t>
            </a:r>
            <a:r>
              <a:rPr lang="en-US" altLang="zh-CN" dirty="0"/>
              <a:t>Mg</a:t>
            </a:r>
            <a:r>
              <a:rPr lang="en-US" altLang="zh-CN" baseline="30000" dirty="0"/>
              <a:t>2+</a:t>
            </a:r>
          </a:p>
          <a:p>
            <a:r>
              <a:rPr lang="zh-CN" altLang="en-US" sz="1400" dirty="0"/>
              <a:t>酶数据库： </a:t>
            </a:r>
            <a:r>
              <a:rPr lang="en-US" altLang="zh-CN" sz="1400" dirty="0"/>
              <a:t>http://www.brenda-enzymes.org/index.php         </a:t>
            </a:r>
            <a:r>
              <a:rPr lang="zh-CN" altLang="en-US" sz="1400" dirty="0"/>
              <a:t>其中收录的酶</a:t>
            </a:r>
            <a:r>
              <a:rPr lang="en-US" altLang="zh-CN" sz="1400" dirty="0"/>
              <a:t>6877</a:t>
            </a:r>
            <a:r>
              <a:rPr lang="zh-CN" altLang="en-US" sz="1400" dirty="0"/>
              <a:t>种（</a:t>
            </a:r>
            <a:r>
              <a:rPr lang="en-US" altLang="zh-CN" sz="2000" b="0" i="0" dirty="0">
                <a:solidFill>
                  <a:srgbClr val="000000"/>
                </a:solidFill>
                <a:effectLst/>
                <a:latin typeface="arial" panose="020B0604020202020204" pitchFamily="34" charset="0"/>
              </a:rPr>
              <a:t> Enzymes from 6877 different EC numbers are covered..</a:t>
            </a:r>
            <a:r>
              <a:rPr lang="zh-CN" altLang="en-US" sz="2000" b="0" i="0" dirty="0">
                <a:solidFill>
                  <a:srgbClr val="000000"/>
                </a:solidFill>
                <a:effectLst/>
                <a:latin typeface="arial" panose="020B0604020202020204" pitchFamily="34" charset="0"/>
              </a:rPr>
              <a:t>）</a:t>
            </a:r>
            <a:endParaRPr lang="en-US" altLang="zh-CN" sz="1400" dirty="0"/>
          </a:p>
          <a:p>
            <a:endParaRPr lang="en-US" altLang="zh-CN" sz="1400" b="1" dirty="0">
              <a:latin typeface="楷体_GB2312" pitchFamily="49" charset="-122"/>
              <a:ea typeface="楷体_GB2312" pitchFamily="49" charset="-122"/>
            </a:endParaRPr>
          </a:p>
          <a:p>
            <a:r>
              <a:rPr lang="zh-CN" altLang="en-US" sz="1400" b="1" dirty="0">
                <a:latin typeface="楷体_GB2312" pitchFamily="49" charset="-122"/>
                <a:ea typeface="楷体_GB2312" pitchFamily="49" charset="-122"/>
              </a:rPr>
              <a:t>本章大纲：</a:t>
            </a:r>
            <a:endParaRPr lang="en-US" altLang="zh-CN" sz="1400" b="1" dirty="0">
              <a:latin typeface="楷体_GB2312" pitchFamily="49" charset="-122"/>
              <a:ea typeface="楷体_GB2312" pitchFamily="49" charset="-122"/>
            </a:endParaRPr>
          </a:p>
          <a:p>
            <a:r>
              <a:rPr lang="en-US" altLang="zh-CN" sz="1400" b="1" dirty="0">
                <a:latin typeface="楷体_GB2312" pitchFamily="49" charset="-122"/>
                <a:ea typeface="楷体_GB2312" pitchFamily="49" charset="-122"/>
              </a:rPr>
              <a:t>【</a:t>
            </a:r>
            <a:r>
              <a:rPr lang="zh-CN" altLang="en-US" sz="1400" b="1" dirty="0">
                <a:latin typeface="楷体_GB2312" pitchFamily="49" charset="-122"/>
                <a:ea typeface="楷体_GB2312" pitchFamily="49" charset="-122"/>
              </a:rPr>
              <a:t>掌握</a:t>
            </a:r>
            <a:r>
              <a:rPr lang="en-US" altLang="zh-CN" sz="1400" b="1" dirty="0">
                <a:latin typeface="楷体_GB2312" pitchFamily="49" charset="-122"/>
                <a:ea typeface="楷体_GB2312" pitchFamily="49" charset="-122"/>
              </a:rPr>
              <a:t>】</a:t>
            </a:r>
          </a:p>
          <a:p>
            <a:r>
              <a:rPr lang="en-US" altLang="zh-CN" sz="1400" b="0" dirty="0">
                <a:latin typeface="楷体_GB2312" pitchFamily="49" charset="-122"/>
                <a:ea typeface="楷体_GB2312" pitchFamily="49" charset="-122"/>
              </a:rPr>
              <a:t>1</a:t>
            </a:r>
            <a:r>
              <a:rPr lang="zh-CN" altLang="en-US" sz="1400" b="0" dirty="0">
                <a:latin typeface="楷体_GB2312" pitchFamily="49" charset="-122"/>
                <a:ea typeface="楷体_GB2312" pitchFamily="49" charset="-122"/>
              </a:rPr>
              <a:t>．酶的概念，酶的化学本质；</a:t>
            </a:r>
          </a:p>
          <a:p>
            <a:r>
              <a:rPr lang="en-US" altLang="zh-CN" sz="1400" b="0" dirty="0">
                <a:latin typeface="楷体_GB2312" pitchFamily="49" charset="-122"/>
                <a:ea typeface="楷体_GB2312" pitchFamily="49" charset="-122"/>
              </a:rPr>
              <a:t>2</a:t>
            </a:r>
            <a:r>
              <a:rPr lang="zh-CN" altLang="en-US" sz="1400" b="0" dirty="0">
                <a:latin typeface="楷体_GB2312" pitchFamily="49" charset="-122"/>
                <a:ea typeface="楷体_GB2312" pitchFamily="49" charset="-122"/>
              </a:rPr>
              <a:t>．酶的分子组成，单纯酶和全酶；</a:t>
            </a:r>
          </a:p>
          <a:p>
            <a:r>
              <a:rPr lang="en-US" altLang="zh-CN" sz="1400" b="0" dirty="0">
                <a:latin typeface="楷体_GB2312" pitchFamily="49" charset="-122"/>
                <a:ea typeface="楷体_GB2312" pitchFamily="49" charset="-122"/>
              </a:rPr>
              <a:t>3</a:t>
            </a:r>
            <a:r>
              <a:rPr lang="zh-CN" altLang="en-US" sz="1400" b="0" dirty="0">
                <a:latin typeface="楷体_GB2312" pitchFamily="49" charset="-122"/>
                <a:ea typeface="楷体_GB2312" pitchFamily="49" charset="-122"/>
              </a:rPr>
              <a:t>．酶的活性中心的概念，必需基团的分类及其作用；</a:t>
            </a:r>
          </a:p>
          <a:p>
            <a:r>
              <a:rPr lang="en-US" altLang="zh-CN" sz="1400" b="0" dirty="0">
                <a:latin typeface="楷体_GB2312" pitchFamily="49" charset="-122"/>
                <a:ea typeface="楷体_GB2312" pitchFamily="49" charset="-122"/>
              </a:rPr>
              <a:t>4</a:t>
            </a:r>
            <a:r>
              <a:rPr lang="zh-CN" altLang="en-US" sz="1400" b="0" dirty="0">
                <a:latin typeface="楷体_GB2312" pitchFamily="49" charset="-122"/>
                <a:ea typeface="楷体_GB2312" pitchFamily="49" charset="-122"/>
              </a:rPr>
              <a:t>．酶促反应的特点：高效性、高特异性、可调节性、不稳定性</a:t>
            </a:r>
          </a:p>
          <a:p>
            <a:r>
              <a:rPr lang="en-US" altLang="zh-CN" sz="1400" b="0" dirty="0">
                <a:latin typeface="楷体_GB2312" pitchFamily="49" charset="-122"/>
                <a:ea typeface="楷体_GB2312" pitchFamily="49" charset="-122"/>
              </a:rPr>
              <a:t>5</a:t>
            </a:r>
            <a:r>
              <a:rPr lang="zh-CN" altLang="en-US" sz="1400" b="0" dirty="0">
                <a:latin typeface="楷体_GB2312" pitchFamily="49" charset="-122"/>
                <a:ea typeface="楷体_GB2312" pitchFamily="49" charset="-122"/>
              </a:rPr>
              <a:t>．底物浓度对酶促反应的影响：米</a:t>
            </a:r>
            <a:r>
              <a:rPr lang="en-US" altLang="zh-CN" sz="1400" b="0" dirty="0">
                <a:latin typeface="楷体_GB2312" pitchFamily="49" charset="-122"/>
                <a:ea typeface="楷体_GB2312" pitchFamily="49" charset="-122"/>
              </a:rPr>
              <a:t>-</a:t>
            </a:r>
            <a:r>
              <a:rPr lang="zh-CN" altLang="en-US" sz="1400" b="0" dirty="0">
                <a:latin typeface="楷体_GB2312" pitchFamily="49" charset="-122"/>
                <a:ea typeface="楷体_GB2312" pitchFamily="49" charset="-122"/>
              </a:rPr>
              <a:t>曼氏方程，</a:t>
            </a:r>
            <a:r>
              <a:rPr lang="en-US" altLang="zh-CN" sz="1400" b="0" dirty="0">
                <a:latin typeface="楷体_GB2312" pitchFamily="49" charset="-122"/>
                <a:ea typeface="楷体_GB2312" pitchFamily="49" charset="-122"/>
              </a:rPr>
              <a:t>Km</a:t>
            </a:r>
            <a:r>
              <a:rPr lang="zh-CN" altLang="en-US" sz="1400" b="0" dirty="0">
                <a:latin typeface="楷体_GB2312" pitchFamily="49" charset="-122"/>
                <a:ea typeface="楷体_GB2312" pitchFamily="49" charset="-122"/>
              </a:rPr>
              <a:t>与</a:t>
            </a:r>
            <a:r>
              <a:rPr lang="en-US" altLang="zh-CN" sz="1400" b="0" dirty="0">
                <a:latin typeface="楷体_GB2312" pitchFamily="49" charset="-122"/>
                <a:ea typeface="楷体_GB2312" pitchFamily="49" charset="-122"/>
              </a:rPr>
              <a:t>Vmax</a:t>
            </a:r>
            <a:r>
              <a:rPr lang="zh-CN" altLang="en-US" sz="1400" b="0" dirty="0">
                <a:latin typeface="楷体_GB2312" pitchFamily="49" charset="-122"/>
                <a:ea typeface="楷体_GB2312" pitchFamily="49" charset="-122"/>
              </a:rPr>
              <a:t>值的概念和意义；</a:t>
            </a:r>
          </a:p>
          <a:p>
            <a:r>
              <a:rPr lang="en-US" altLang="zh-CN" sz="1400" b="0" dirty="0">
                <a:latin typeface="楷体_GB2312" pitchFamily="49" charset="-122"/>
                <a:ea typeface="楷体_GB2312" pitchFamily="49" charset="-122"/>
              </a:rPr>
              <a:t>6</a:t>
            </a:r>
            <a:r>
              <a:rPr lang="zh-CN" altLang="en-US" sz="1400" b="0" dirty="0">
                <a:latin typeface="楷体_GB2312" pitchFamily="49" charset="-122"/>
                <a:ea typeface="楷体_GB2312" pitchFamily="49" charset="-122"/>
              </a:rPr>
              <a:t>．抑制剂对酶促反应的影响：不可逆抑制的作用，可逆性抑制包括竞争性抑制、非竞争性抑制、反竞争性抑制的动力学特征及其生理学意义；</a:t>
            </a:r>
          </a:p>
          <a:p>
            <a:r>
              <a:rPr lang="en-US" altLang="zh-CN" sz="1400" b="0" dirty="0">
                <a:latin typeface="楷体_GB2312" pitchFamily="49" charset="-122"/>
                <a:ea typeface="楷体_GB2312" pitchFamily="49" charset="-122"/>
              </a:rPr>
              <a:t>7</a:t>
            </a:r>
            <a:r>
              <a:rPr lang="zh-CN" altLang="en-US" sz="1400" b="0" dirty="0">
                <a:latin typeface="楷体_GB2312" pitchFamily="49" charset="-122"/>
                <a:ea typeface="楷体_GB2312" pitchFamily="49" charset="-122"/>
              </a:rPr>
              <a:t>．酶原与酶原激活的过程与生理意义；</a:t>
            </a:r>
          </a:p>
          <a:p>
            <a:r>
              <a:rPr lang="en-US" altLang="zh-CN" sz="1400" b="0" dirty="0">
                <a:latin typeface="楷体_GB2312" pitchFamily="49" charset="-122"/>
                <a:ea typeface="楷体_GB2312" pitchFamily="49" charset="-122"/>
              </a:rPr>
              <a:t>8</a:t>
            </a:r>
            <a:r>
              <a:rPr lang="zh-CN" altLang="en-US" sz="1400" b="0" dirty="0">
                <a:latin typeface="楷体_GB2312" pitchFamily="49" charset="-122"/>
                <a:ea typeface="楷体_GB2312" pitchFamily="49" charset="-122"/>
              </a:rPr>
              <a:t>．别构酶和别构调节的概念、机理和动力学特征。</a:t>
            </a:r>
          </a:p>
          <a:p>
            <a:r>
              <a:rPr lang="en-US" altLang="zh-CN" sz="1400" b="0" dirty="0">
                <a:latin typeface="楷体_GB2312" pitchFamily="49" charset="-122"/>
                <a:ea typeface="楷体_GB2312" pitchFamily="49" charset="-122"/>
              </a:rPr>
              <a:t>9.   </a:t>
            </a:r>
            <a:r>
              <a:rPr lang="zh-CN" altLang="en-US" sz="1400" b="0" dirty="0">
                <a:latin typeface="楷体_GB2312" pitchFamily="49" charset="-122"/>
                <a:ea typeface="楷体_GB2312" pitchFamily="49" charset="-122"/>
              </a:rPr>
              <a:t>酶的共价修饰的概念和作用特点；</a:t>
            </a:r>
          </a:p>
          <a:p>
            <a:r>
              <a:rPr lang="en-US" altLang="zh-CN" sz="1400" b="0" dirty="0">
                <a:latin typeface="楷体_GB2312" pitchFamily="49" charset="-122"/>
                <a:ea typeface="楷体_GB2312" pitchFamily="49" charset="-122"/>
              </a:rPr>
              <a:t>10</a:t>
            </a:r>
            <a:r>
              <a:rPr lang="zh-CN" altLang="en-US" sz="1400" b="0" dirty="0">
                <a:latin typeface="楷体_GB2312" pitchFamily="49" charset="-122"/>
                <a:ea typeface="楷体_GB2312" pitchFamily="49" charset="-122"/>
              </a:rPr>
              <a:t>．同工酶的概念和生理意义。</a:t>
            </a:r>
          </a:p>
          <a:p>
            <a:r>
              <a:rPr lang="en-US" altLang="zh-CN" sz="1400" b="1" dirty="0">
                <a:latin typeface="楷体_GB2312" pitchFamily="49" charset="-122"/>
                <a:ea typeface="楷体_GB2312" pitchFamily="49" charset="-122"/>
              </a:rPr>
              <a:t>【</a:t>
            </a:r>
            <a:r>
              <a:rPr lang="zh-CN" altLang="en-US" sz="1400" b="1" dirty="0">
                <a:latin typeface="楷体_GB2312" pitchFamily="49" charset="-122"/>
                <a:ea typeface="楷体_GB2312" pitchFamily="49" charset="-122"/>
              </a:rPr>
              <a:t>熟悉</a:t>
            </a:r>
            <a:r>
              <a:rPr lang="en-US" altLang="zh-CN" sz="1400" b="1" dirty="0">
                <a:latin typeface="楷体_GB2312" pitchFamily="49" charset="-122"/>
                <a:ea typeface="楷体_GB2312" pitchFamily="49" charset="-122"/>
              </a:rPr>
              <a:t>】</a:t>
            </a:r>
          </a:p>
          <a:p>
            <a:r>
              <a:rPr lang="en-US" altLang="zh-CN" sz="1400" b="0" dirty="0">
                <a:latin typeface="楷体_GB2312" pitchFamily="49" charset="-122"/>
                <a:ea typeface="楷体_GB2312" pitchFamily="49" charset="-122"/>
              </a:rPr>
              <a:t>1</a:t>
            </a:r>
            <a:r>
              <a:rPr lang="zh-CN" altLang="en-US" sz="1400" b="0" dirty="0">
                <a:latin typeface="楷体_GB2312" pitchFamily="49" charset="-122"/>
                <a:ea typeface="楷体_GB2312" pitchFamily="49" charset="-122"/>
              </a:rPr>
              <a:t>．酶促反应的机理，酶与底物复合物的形成，即中间产物学说；</a:t>
            </a:r>
          </a:p>
          <a:p>
            <a:r>
              <a:rPr lang="en-US" altLang="zh-CN" sz="1400" b="0" dirty="0">
                <a:latin typeface="楷体_GB2312" pitchFamily="49" charset="-122"/>
                <a:ea typeface="楷体_GB2312" pitchFamily="49" charset="-122"/>
              </a:rPr>
              <a:t>2</a:t>
            </a:r>
            <a:r>
              <a:rPr lang="zh-CN" altLang="en-US" sz="1400" b="0" dirty="0">
                <a:latin typeface="楷体_GB2312" pitchFamily="49" charset="-122"/>
                <a:ea typeface="楷体_GB2312" pitchFamily="49" charset="-122"/>
              </a:rPr>
              <a:t>．酶浓度、温度、</a:t>
            </a:r>
            <a:r>
              <a:rPr lang="en-US" altLang="zh-CN" sz="1400" b="0" dirty="0">
                <a:latin typeface="楷体_GB2312" pitchFamily="49" charset="-122"/>
                <a:ea typeface="楷体_GB2312" pitchFamily="49" charset="-122"/>
              </a:rPr>
              <a:t>pH</a:t>
            </a:r>
            <a:r>
              <a:rPr lang="zh-CN" altLang="en-US" sz="1400" b="0" dirty="0">
                <a:latin typeface="楷体_GB2312" pitchFamily="49" charset="-122"/>
                <a:ea typeface="楷体_GB2312" pitchFamily="49" charset="-122"/>
              </a:rPr>
              <a:t>、激活剂对酶促反应的影响；</a:t>
            </a:r>
          </a:p>
          <a:p>
            <a:r>
              <a:rPr lang="en-US" altLang="zh-CN" sz="1400" b="0" dirty="0">
                <a:latin typeface="楷体_GB2312" pitchFamily="49" charset="-122"/>
                <a:ea typeface="楷体_GB2312" pitchFamily="49" charset="-122"/>
              </a:rPr>
              <a:t>3</a:t>
            </a:r>
            <a:r>
              <a:rPr lang="zh-CN" altLang="en-US" sz="1400" b="0" dirty="0">
                <a:latin typeface="楷体_GB2312" pitchFamily="49" charset="-122"/>
                <a:ea typeface="楷体_GB2312" pitchFamily="49" charset="-122"/>
              </a:rPr>
              <a:t>．酶活性的测定与酶活性单位概念；</a:t>
            </a:r>
          </a:p>
          <a:p>
            <a:r>
              <a:rPr lang="en-US" altLang="zh-CN" sz="1400" b="0" dirty="0">
                <a:latin typeface="楷体_GB2312" pitchFamily="49" charset="-122"/>
                <a:ea typeface="楷体_GB2312" pitchFamily="49" charset="-122"/>
              </a:rPr>
              <a:t>4</a:t>
            </a:r>
            <a:r>
              <a:rPr lang="zh-CN" altLang="en-US" sz="1400" b="0" dirty="0">
                <a:latin typeface="楷体_GB2312" pitchFamily="49" charset="-122"/>
                <a:ea typeface="楷体_GB2312" pitchFamily="49" charset="-122"/>
              </a:rPr>
              <a:t>．酶含量的调节特点和调控。</a:t>
            </a:r>
          </a:p>
          <a:p>
            <a:r>
              <a:rPr lang="en-US" altLang="zh-CN" sz="1400" b="1" dirty="0">
                <a:latin typeface="楷体_GB2312" pitchFamily="49" charset="-122"/>
                <a:ea typeface="楷体_GB2312" pitchFamily="49" charset="-122"/>
              </a:rPr>
              <a:t>【</a:t>
            </a:r>
            <a:r>
              <a:rPr lang="zh-CN" altLang="en-US" sz="1400" b="1" dirty="0">
                <a:latin typeface="楷体_GB2312" pitchFamily="49" charset="-122"/>
                <a:ea typeface="楷体_GB2312" pitchFamily="49" charset="-122"/>
              </a:rPr>
              <a:t>了解</a:t>
            </a:r>
            <a:r>
              <a:rPr lang="en-US" altLang="zh-CN" sz="1400" b="1" dirty="0">
                <a:latin typeface="楷体_GB2312" pitchFamily="49" charset="-122"/>
                <a:ea typeface="楷体_GB2312" pitchFamily="49" charset="-122"/>
              </a:rPr>
              <a:t>】</a:t>
            </a:r>
          </a:p>
          <a:p>
            <a:r>
              <a:rPr lang="en-US" altLang="zh-CN" sz="1400" b="0" dirty="0">
                <a:latin typeface="楷体_GB2312" pitchFamily="49" charset="-122"/>
                <a:ea typeface="楷体_GB2312" pitchFamily="49" charset="-122"/>
              </a:rPr>
              <a:t>1</a:t>
            </a:r>
            <a:r>
              <a:rPr lang="zh-CN" altLang="en-US" sz="1400" b="0" dirty="0">
                <a:latin typeface="楷体_GB2312" pitchFamily="49" charset="-122"/>
                <a:ea typeface="楷体_GB2312" pitchFamily="49" charset="-122"/>
              </a:rPr>
              <a:t>．酶的作用原理：诱导契合学说、邻近反应及定向排列、多元催化、表面效应；</a:t>
            </a:r>
          </a:p>
          <a:p>
            <a:r>
              <a:rPr lang="en-US" altLang="zh-CN" sz="1400" b="0" dirty="0">
                <a:latin typeface="楷体_GB2312" pitchFamily="49" charset="-122"/>
                <a:ea typeface="楷体_GB2312" pitchFamily="49" charset="-122"/>
              </a:rPr>
              <a:t>2</a:t>
            </a:r>
            <a:r>
              <a:rPr lang="zh-CN" altLang="en-US" sz="1400" b="0" dirty="0">
                <a:latin typeface="楷体_GB2312" pitchFamily="49" charset="-122"/>
                <a:ea typeface="楷体_GB2312" pitchFamily="49" charset="-122"/>
              </a:rPr>
              <a:t>．酶的分类与命名的原则；</a:t>
            </a:r>
          </a:p>
          <a:p>
            <a:r>
              <a:rPr lang="en-US" altLang="zh-CN" sz="1400" b="0" dirty="0">
                <a:latin typeface="楷体_GB2312" pitchFamily="49" charset="-122"/>
                <a:ea typeface="楷体_GB2312" pitchFamily="49" charset="-122"/>
              </a:rPr>
              <a:t>3</a:t>
            </a:r>
            <a:r>
              <a:rPr lang="zh-CN" altLang="en-US" sz="1400" b="0" dirty="0">
                <a:latin typeface="楷体_GB2312" pitchFamily="49" charset="-122"/>
                <a:ea typeface="楷体_GB2312" pitchFamily="49" charset="-122"/>
              </a:rPr>
              <a:t>．酶在疾病发生、疾病诊断、疾病治疗中的应用</a:t>
            </a:r>
            <a:endParaRPr lang="zh-CN" altLang="zh-CN" sz="1400" b="0" dirty="0">
              <a:latin typeface="楷体_GB2312" pitchFamily="49" charset="-122"/>
              <a:ea typeface="楷体_GB2312" pitchFamily="49"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95834E9C-117F-40A3-9432-5C08499ED94B}"/>
              </a:ext>
            </a:extLst>
          </p:cNvPr>
          <p:cNvSpPr>
            <a:spLocks noGrp="1" noRot="1" noChangeAspect="1" noChangeArrowheads="1" noTextEdit="1"/>
          </p:cNvSpPr>
          <p:nvPr>
            <p:ph type="sldImg"/>
          </p:nvPr>
        </p:nvSpPr>
        <p:spPr>
          <a:xfrm>
            <a:off x="381000" y="685800"/>
            <a:ext cx="6096000" cy="3429000"/>
          </a:xfrm>
          <a:ln/>
        </p:spPr>
      </p:sp>
      <p:sp>
        <p:nvSpPr>
          <p:cNvPr id="18435" name="备注占位符 2">
            <a:extLst>
              <a:ext uri="{FF2B5EF4-FFF2-40B4-BE49-F238E27FC236}">
                <a16:creationId xmlns:a16="http://schemas.microsoft.com/office/drawing/2014/main" id="{B806A6F1-431A-42D2-A1C6-92F1CF7C2B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8436" name="灯片编号占位符 3">
            <a:extLst>
              <a:ext uri="{FF2B5EF4-FFF2-40B4-BE49-F238E27FC236}">
                <a16:creationId xmlns:a16="http://schemas.microsoft.com/office/drawing/2014/main" id="{C6534F01-418A-4D16-BDB7-A2ED191307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64B00E9-5F71-4994-B04C-187469C93092}" type="slidenum">
              <a:rPr lang="en-US" altLang="zh-CN" smtClean="0">
                <a:latin typeface="Arial" panose="020B0604020202020204" pitchFamily="34" charset="0"/>
              </a:rPr>
              <a:pPr/>
              <a:t>2</a:t>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2B3098D2-4809-4A74-9BA7-E64D143559D3}"/>
              </a:ext>
            </a:extLst>
          </p:cNvPr>
          <p:cNvSpPr>
            <a:spLocks noGrp="1" noRot="1" noChangeAspect="1" noChangeArrowheads="1" noTextEdit="1"/>
          </p:cNvSpPr>
          <p:nvPr>
            <p:ph type="sldImg"/>
          </p:nvPr>
        </p:nvSpPr>
        <p:spPr>
          <a:xfrm>
            <a:off x="381000" y="685800"/>
            <a:ext cx="6096000" cy="3429000"/>
          </a:xfrm>
          <a:ln/>
        </p:spPr>
      </p:sp>
      <p:sp>
        <p:nvSpPr>
          <p:cNvPr id="20483" name="备注占位符 2">
            <a:extLst>
              <a:ext uri="{FF2B5EF4-FFF2-40B4-BE49-F238E27FC236}">
                <a16:creationId xmlns:a16="http://schemas.microsoft.com/office/drawing/2014/main" id="{0527BA32-281B-4FDB-A9DC-3865EA20378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0484" name="灯片编号占位符 3">
            <a:extLst>
              <a:ext uri="{FF2B5EF4-FFF2-40B4-BE49-F238E27FC236}">
                <a16:creationId xmlns:a16="http://schemas.microsoft.com/office/drawing/2014/main" id="{DAA8BDD0-865C-4754-9EC6-CD8E76CD597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4B84FC8-C9CF-4513-A2A9-50C4EFBA9F0B}" type="slidenum">
              <a:rPr lang="en-US" altLang="zh-CN" smtClean="0">
                <a:latin typeface="Arial" panose="020B0604020202020204" pitchFamily="34" charset="0"/>
              </a:rPr>
              <a:pPr/>
              <a:t>3</a:t>
            </a:fld>
            <a:endParaRPr lang="en-US"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681A540B-70DF-4F72-9B63-955F070356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33611F9-B41C-4849-928D-E3DBB9AADB84}" type="slidenum">
              <a:rPr lang="en-US" altLang="zh-CN" smtClean="0">
                <a:latin typeface="Arial" panose="020B0604020202020204" pitchFamily="34" charset="0"/>
              </a:rPr>
              <a:pPr/>
              <a:t>4</a:t>
            </a:fld>
            <a:endParaRPr lang="en-US" altLang="zh-CN">
              <a:latin typeface="Arial" panose="020B0604020202020204" pitchFamily="34" charset="0"/>
            </a:endParaRPr>
          </a:p>
        </p:txBody>
      </p:sp>
      <p:sp>
        <p:nvSpPr>
          <p:cNvPr id="24579" name="Rectangle 2">
            <a:extLst>
              <a:ext uri="{FF2B5EF4-FFF2-40B4-BE49-F238E27FC236}">
                <a16:creationId xmlns:a16="http://schemas.microsoft.com/office/drawing/2014/main" id="{44ECDFE5-0C52-436E-A729-E4746510E31F}"/>
              </a:ext>
            </a:extLst>
          </p:cNvPr>
          <p:cNvSpPr>
            <a:spLocks noGrp="1" noRot="1" noChangeAspect="1" noChangeArrowheads="1" noTextEdit="1"/>
          </p:cNvSpPr>
          <p:nvPr>
            <p:ph type="sldImg"/>
          </p:nvPr>
        </p:nvSpPr>
        <p:spPr>
          <a:xfrm>
            <a:off x="381000" y="685800"/>
            <a:ext cx="6096000" cy="3429000"/>
          </a:xfrm>
          <a:ln/>
        </p:spPr>
      </p:sp>
      <p:sp>
        <p:nvSpPr>
          <p:cNvPr id="24580" name="Rectangle 3">
            <a:extLst>
              <a:ext uri="{FF2B5EF4-FFF2-40B4-BE49-F238E27FC236}">
                <a16:creationId xmlns:a16="http://schemas.microsoft.com/office/drawing/2014/main" id="{4C8E3E41-C57E-4AD4-8E0D-013C7E4343B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生物化学的历史很大程度上就是酶学研究史。</a:t>
            </a:r>
            <a:endParaRPr lang="en-US" altLang="zh-CN" dirty="0"/>
          </a:p>
          <a:p>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305EECAA-2BAE-402D-BD2C-257660EE94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0ECC6E0-99A9-4950-9A95-F681EF354B7C}" type="slidenum">
              <a:rPr lang="en-US" altLang="zh-CN" smtClean="0">
                <a:latin typeface="Arial" panose="020B0604020202020204" pitchFamily="34" charset="0"/>
              </a:rPr>
              <a:pPr/>
              <a:t>5</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BE37A076-E0C4-440C-AF3E-53D5584C09BE}"/>
              </a:ext>
            </a:extLst>
          </p:cNvPr>
          <p:cNvSpPr>
            <a:spLocks noGrp="1" noRot="1" noChangeAspect="1" noChangeArrowheads="1" noTextEdit="1"/>
          </p:cNvSpPr>
          <p:nvPr>
            <p:ph type="sldImg"/>
          </p:nvPr>
        </p:nvSpPr>
        <p:spPr>
          <a:xfrm>
            <a:off x="381000" y="685800"/>
            <a:ext cx="6096000" cy="3429000"/>
          </a:xfrm>
          <a:ln/>
        </p:spPr>
      </p:sp>
      <p:sp>
        <p:nvSpPr>
          <p:cNvPr id="28676" name="Rectangle 3">
            <a:extLst>
              <a:ext uri="{FF2B5EF4-FFF2-40B4-BE49-F238E27FC236}">
                <a16:creationId xmlns:a16="http://schemas.microsoft.com/office/drawing/2014/main" id="{E15F0665-8C59-45C1-A8F3-6A033A3CA7F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4511640F-AB26-4755-86ED-3234F9B62FCC}"/>
              </a:ext>
            </a:extLst>
          </p:cNvPr>
          <p:cNvSpPr>
            <a:spLocks noGrp="1" noRot="1" noChangeAspect="1" noChangeArrowheads="1" noTextEdit="1"/>
          </p:cNvSpPr>
          <p:nvPr>
            <p:ph type="sldImg"/>
          </p:nvPr>
        </p:nvSpPr>
        <p:spPr>
          <a:xfrm>
            <a:off x="381000" y="685800"/>
            <a:ext cx="6096000" cy="3429000"/>
          </a:xfrm>
          <a:ln/>
        </p:spPr>
      </p:sp>
      <p:sp>
        <p:nvSpPr>
          <p:cNvPr id="36867" name="备注占位符 2">
            <a:extLst>
              <a:ext uri="{FF2B5EF4-FFF2-40B4-BE49-F238E27FC236}">
                <a16:creationId xmlns:a16="http://schemas.microsoft.com/office/drawing/2014/main" id="{8254A92B-4DA5-4ABF-A1C1-CA032B7E19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酶学发展早期阶段，多个实验证实了酶的化学本质，</a:t>
            </a:r>
          </a:p>
        </p:txBody>
      </p:sp>
      <p:sp>
        <p:nvSpPr>
          <p:cNvPr id="36868" name="灯片编号占位符 3">
            <a:extLst>
              <a:ext uri="{FF2B5EF4-FFF2-40B4-BE49-F238E27FC236}">
                <a16:creationId xmlns:a16="http://schemas.microsoft.com/office/drawing/2014/main" id="{9D6FB531-6929-46F0-8E61-13EB32A2843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A62BBCF-D33F-43E0-93D1-30797E0261A0}" type="slidenum">
              <a:rPr lang="en-US" altLang="zh-CN" smtClean="0">
                <a:latin typeface="Arial" panose="020B0604020202020204" pitchFamily="34" charset="0"/>
              </a:rPr>
              <a:pPr/>
              <a:t>6</a:t>
            </a:fld>
            <a:endParaRPr lang="en-US"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DB100F99-95F0-4045-85AF-A985D24F98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73FC727-805C-4748-84F7-38AED61EF13E}" type="slidenum">
              <a:rPr lang="en-US" altLang="zh-CN" smtClean="0">
                <a:latin typeface="Arial" panose="020B0604020202020204" pitchFamily="34" charset="0"/>
              </a:rPr>
              <a:pPr/>
              <a:t>7</a:t>
            </a:fld>
            <a:endParaRPr lang="en-US" altLang="zh-CN">
              <a:latin typeface="Arial" panose="020B0604020202020204" pitchFamily="34" charset="0"/>
            </a:endParaRPr>
          </a:p>
        </p:txBody>
      </p:sp>
      <p:sp>
        <p:nvSpPr>
          <p:cNvPr id="38915" name="Rectangle 2">
            <a:extLst>
              <a:ext uri="{FF2B5EF4-FFF2-40B4-BE49-F238E27FC236}">
                <a16:creationId xmlns:a16="http://schemas.microsoft.com/office/drawing/2014/main" id="{EF5F81E2-21F8-4334-9645-0847C4E67343}"/>
              </a:ext>
            </a:extLst>
          </p:cNvPr>
          <p:cNvSpPr>
            <a:spLocks noGrp="1" noRot="1" noChangeAspect="1" noChangeArrowheads="1" noTextEdit="1"/>
          </p:cNvSpPr>
          <p:nvPr>
            <p:ph type="sldImg"/>
          </p:nvPr>
        </p:nvSpPr>
        <p:spPr>
          <a:xfrm>
            <a:off x="381000" y="685800"/>
            <a:ext cx="6096000" cy="3429000"/>
          </a:xfrm>
          <a:ln/>
        </p:spPr>
      </p:sp>
      <p:sp>
        <p:nvSpPr>
          <p:cNvPr id="38916" name="Rectangle 3">
            <a:extLst>
              <a:ext uri="{FF2B5EF4-FFF2-40B4-BE49-F238E27FC236}">
                <a16:creationId xmlns:a16="http://schemas.microsoft.com/office/drawing/2014/main" id="{78FABB33-F93A-461C-B9AA-1DF69BB91F4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注意这与后面讲到的不可逆反应并不矛盾。   </a:t>
            </a:r>
            <a:endParaRPr lang="en-US" altLang="zh-CN" dirty="0"/>
          </a:p>
          <a:p>
            <a:pPr eaLnBrk="1" hangingPunct="1"/>
            <a:r>
              <a:rPr lang="zh-CN" altLang="en-US" dirty="0"/>
              <a:t>不可逆是有条件的，指在生理条件下（意味着底物、产物的浓度在一定范围）只能向某一方向进行。 </a:t>
            </a:r>
            <a:endParaRPr lang="en-US" altLang="zh-CN" dirty="0"/>
          </a:p>
          <a:p>
            <a:pPr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8849A8E9-5B41-4F5B-B6EE-0B08315686C4}"/>
              </a:ext>
            </a:extLst>
          </p:cNvPr>
          <p:cNvSpPr>
            <a:spLocks noGrp="1" noRot="1" noChangeAspect="1" noChangeArrowheads="1" noTextEdit="1"/>
          </p:cNvSpPr>
          <p:nvPr>
            <p:ph type="sldImg"/>
          </p:nvPr>
        </p:nvSpPr>
        <p:spPr>
          <a:xfrm>
            <a:off x="381000" y="685800"/>
            <a:ext cx="6096000" cy="3429000"/>
          </a:xfrm>
          <a:ln/>
        </p:spPr>
      </p:sp>
      <p:sp>
        <p:nvSpPr>
          <p:cNvPr id="40963" name="备注占位符 2">
            <a:extLst>
              <a:ext uri="{FF2B5EF4-FFF2-40B4-BE49-F238E27FC236}">
                <a16:creationId xmlns:a16="http://schemas.microsoft.com/office/drawing/2014/main" id="{F95221A1-F9CD-428A-AC0E-ED778EC579D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重点掌握二、三、四节，熟悉第一节（其中有些概念很重要，比如同工酶），了解第五，六节</a:t>
            </a:r>
          </a:p>
        </p:txBody>
      </p:sp>
      <p:sp>
        <p:nvSpPr>
          <p:cNvPr id="40964" name="灯片编号占位符 3">
            <a:extLst>
              <a:ext uri="{FF2B5EF4-FFF2-40B4-BE49-F238E27FC236}">
                <a16:creationId xmlns:a16="http://schemas.microsoft.com/office/drawing/2014/main" id="{205D4922-0F0B-486D-9BCF-85864B1504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FE75BED-0E1C-4F79-BEF2-D1FB7475F019}" type="slidenum">
              <a:rPr lang="en-US" altLang="zh-CN" smtClean="0">
                <a:latin typeface="Arial" panose="020B0604020202020204" pitchFamily="34" charset="0"/>
              </a:rPr>
              <a:pPr/>
              <a:t>8</a:t>
            </a:fld>
            <a:endParaRPr lang="en-US" altLang="zh-CN">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a:extLst>
              <a:ext uri="{FF2B5EF4-FFF2-40B4-BE49-F238E27FC236}">
                <a16:creationId xmlns:a16="http://schemas.microsoft.com/office/drawing/2014/main" id="{19B2672A-23DF-49F7-9480-8D1F47B794D2}"/>
              </a:ext>
            </a:extLst>
          </p:cNvPr>
          <p:cNvSpPr>
            <a:spLocks noGrp="1" noRot="1" noChangeAspect="1" noChangeArrowheads="1" noTextEdit="1"/>
          </p:cNvSpPr>
          <p:nvPr>
            <p:ph type="sldImg"/>
          </p:nvPr>
        </p:nvSpPr>
        <p:spPr>
          <a:xfrm>
            <a:off x="381000" y="685800"/>
            <a:ext cx="6096000" cy="3429000"/>
          </a:xfrm>
          <a:ln/>
        </p:spPr>
      </p:sp>
      <p:sp>
        <p:nvSpPr>
          <p:cNvPr id="43011" name="备注占位符 2">
            <a:extLst>
              <a:ext uri="{FF2B5EF4-FFF2-40B4-BE49-F238E27FC236}">
                <a16:creationId xmlns:a16="http://schemas.microsoft.com/office/drawing/2014/main" id="{459374B9-7447-42D8-848F-04161225E5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3012" name="灯片编号占位符 3">
            <a:extLst>
              <a:ext uri="{FF2B5EF4-FFF2-40B4-BE49-F238E27FC236}">
                <a16:creationId xmlns:a16="http://schemas.microsoft.com/office/drawing/2014/main" id="{68521C60-F9C7-4A05-9729-BD5B0B384F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B6E50FF-46D4-42AC-BFB7-758595DAD160}" type="slidenum">
              <a:rPr lang="en-US" altLang="zh-CN" smtClean="0">
                <a:latin typeface="Arial" panose="020B0604020202020204" pitchFamily="34" charset="0"/>
              </a:rPr>
              <a:pPr/>
              <a:t>9</a:t>
            </a:fld>
            <a:endParaRPr lang="en-US" altLang="zh-C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C8E57E7A-ACB1-4DD3-9143-B68E5C3E9A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6C18FF2-4FEB-42E5-98FC-F3AB4D2EBD44}" type="slidenum">
              <a:rPr lang="en-US" altLang="zh-CN" smtClean="0">
                <a:latin typeface="Arial" panose="020B0604020202020204" pitchFamily="34" charset="0"/>
              </a:rPr>
              <a:pPr/>
              <a:t>10</a:t>
            </a:fld>
            <a:endParaRPr lang="en-US" altLang="zh-CN">
              <a:latin typeface="Arial" panose="020B0604020202020204" pitchFamily="34" charset="0"/>
            </a:endParaRPr>
          </a:p>
        </p:txBody>
      </p:sp>
      <p:sp>
        <p:nvSpPr>
          <p:cNvPr id="45059" name="Rectangle 2">
            <a:extLst>
              <a:ext uri="{FF2B5EF4-FFF2-40B4-BE49-F238E27FC236}">
                <a16:creationId xmlns:a16="http://schemas.microsoft.com/office/drawing/2014/main" id="{0684B952-6018-4E34-BEF2-EEEF6D855BE3}"/>
              </a:ext>
            </a:extLst>
          </p:cNvPr>
          <p:cNvSpPr>
            <a:spLocks noGrp="1" noRot="1" noChangeAspect="1" noChangeArrowheads="1" noTextEdit="1"/>
          </p:cNvSpPr>
          <p:nvPr>
            <p:ph type="sldImg"/>
          </p:nvPr>
        </p:nvSpPr>
        <p:spPr>
          <a:xfrm>
            <a:off x="381000" y="685800"/>
            <a:ext cx="6096000" cy="3429000"/>
          </a:xfrm>
          <a:ln/>
        </p:spPr>
      </p:sp>
      <p:sp>
        <p:nvSpPr>
          <p:cNvPr id="45060" name="Rectangle 3">
            <a:extLst>
              <a:ext uri="{FF2B5EF4-FFF2-40B4-BE49-F238E27FC236}">
                <a16:creationId xmlns:a16="http://schemas.microsoft.com/office/drawing/2014/main" id="{1F123635-2FC1-4B75-9753-3F689C1DD972}"/>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体内更多寡聚酶，单体酶较少，且多为水解酶，比如多种消化酶。</a:t>
            </a:r>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19027F77-72AE-4603-A898-77B74666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F740569-3D82-4D54-A574-A465BB93D054}" type="slidenum">
              <a:rPr lang="en-US" altLang="zh-CN" smtClean="0">
                <a:latin typeface="Arial" panose="020B0604020202020204" pitchFamily="34" charset="0"/>
              </a:rPr>
              <a:pPr/>
              <a:t>11</a:t>
            </a:fld>
            <a:endParaRPr lang="en-US" altLang="zh-CN">
              <a:latin typeface="Arial" panose="020B0604020202020204" pitchFamily="34" charset="0"/>
            </a:endParaRPr>
          </a:p>
        </p:txBody>
      </p:sp>
      <p:sp>
        <p:nvSpPr>
          <p:cNvPr id="47107" name="Rectangle 2">
            <a:extLst>
              <a:ext uri="{FF2B5EF4-FFF2-40B4-BE49-F238E27FC236}">
                <a16:creationId xmlns:a16="http://schemas.microsoft.com/office/drawing/2014/main" id="{BF833CC1-B94C-48F6-B5F1-62B6280D75FB}"/>
              </a:ext>
            </a:extLst>
          </p:cNvPr>
          <p:cNvSpPr>
            <a:spLocks noGrp="1" noRot="1" noChangeAspect="1" noChangeArrowheads="1" noTextEdit="1"/>
          </p:cNvSpPr>
          <p:nvPr>
            <p:ph type="sldImg"/>
          </p:nvPr>
        </p:nvSpPr>
        <p:spPr>
          <a:xfrm>
            <a:off x="381000" y="685800"/>
            <a:ext cx="6096000" cy="3429000"/>
          </a:xfrm>
          <a:ln/>
        </p:spPr>
      </p:sp>
      <p:sp>
        <p:nvSpPr>
          <p:cNvPr id="47108" name="Rectangle 3">
            <a:extLst>
              <a:ext uri="{FF2B5EF4-FFF2-40B4-BE49-F238E27FC236}">
                <a16:creationId xmlns:a16="http://schemas.microsoft.com/office/drawing/2014/main" id="{347C086F-0D1B-46C9-B853-6459FB229BE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BB228068-2E19-454A-8139-65D82904E4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97EA538-0366-4CA6-A27E-203DE9B35845}" type="slidenum">
              <a:rPr lang="en-US" altLang="zh-CN" smtClean="0">
                <a:latin typeface="Arial" panose="020B0604020202020204" pitchFamily="34" charset="0"/>
              </a:rPr>
              <a:pPr/>
              <a:t>12</a:t>
            </a:fld>
            <a:endParaRPr lang="en-US" altLang="zh-CN">
              <a:latin typeface="Arial" panose="020B0604020202020204" pitchFamily="34" charset="0"/>
            </a:endParaRPr>
          </a:p>
        </p:txBody>
      </p:sp>
      <p:sp>
        <p:nvSpPr>
          <p:cNvPr id="49155" name="Rectangle 2">
            <a:extLst>
              <a:ext uri="{FF2B5EF4-FFF2-40B4-BE49-F238E27FC236}">
                <a16:creationId xmlns:a16="http://schemas.microsoft.com/office/drawing/2014/main" id="{F7A85301-6F0E-4B7D-A6DE-1AC199300BDE}"/>
              </a:ext>
            </a:extLst>
          </p:cNvPr>
          <p:cNvSpPr>
            <a:spLocks noGrp="1" noRot="1" noChangeAspect="1" noChangeArrowheads="1" noTextEdit="1"/>
          </p:cNvSpPr>
          <p:nvPr>
            <p:ph type="sldImg"/>
          </p:nvPr>
        </p:nvSpPr>
        <p:spPr>
          <a:xfrm>
            <a:off x="381000" y="685800"/>
            <a:ext cx="6096000" cy="3429000"/>
          </a:xfrm>
          <a:ln/>
        </p:spPr>
      </p:sp>
      <p:sp>
        <p:nvSpPr>
          <p:cNvPr id="388099" name="Rectangle 3">
            <a:extLst>
              <a:ext uri="{FF2B5EF4-FFF2-40B4-BE49-F238E27FC236}">
                <a16:creationId xmlns:a16="http://schemas.microsoft.com/office/drawing/2014/main" id="{CBC466C0-409E-4E33-9768-4EAF3CF497A7}"/>
              </a:ext>
            </a:extLst>
          </p:cNvPr>
          <p:cNvSpPr>
            <a:spLocks noGrp="1" noChangeArrowheads="1"/>
          </p:cNvSpPr>
          <p:nvPr>
            <p:ph type="body" idx="1"/>
          </p:nvPr>
        </p:nvSpPr>
        <p:spPr>
          <a:xfrm>
            <a:off x="914400" y="4343400"/>
            <a:ext cx="5029200" cy="4114800"/>
          </a:xfrm>
        </p:spPr>
        <p:txBody>
          <a:bodyPr/>
          <a:lstStyle/>
          <a:p>
            <a:pPr eaLnBrk="1" hangingPunct="1">
              <a:defRPr/>
            </a:pPr>
            <a:r>
              <a:rPr lang="zh-CN" altLang="en-US" sz="2800" dirty="0">
                <a:solidFill>
                  <a:srgbClr val="000000"/>
                </a:solidFill>
                <a:effectLst>
                  <a:outerShdw blurRad="38100" dist="38100" dir="2700000" algn="tl">
                    <a:srgbClr val="C0C0C0"/>
                  </a:outerShdw>
                </a:effectLst>
                <a:latin typeface="Verdana" pitchFamily="34" charset="0"/>
                <a:ea typeface="楷体_GB2312" pitchFamily="49" charset="-122"/>
              </a:rPr>
              <a:t>单纯酶如淀粉酶、脂酶、牛核糖核酸酶等。</a:t>
            </a:r>
            <a:endParaRPr lang="en-US" altLang="zh-CN" sz="2800" dirty="0">
              <a:solidFill>
                <a:srgbClr val="000000"/>
              </a:solidFill>
              <a:effectLst>
                <a:outerShdw blurRad="38100" dist="38100" dir="2700000" algn="tl">
                  <a:srgbClr val="C0C0C0"/>
                </a:outerShdw>
              </a:effectLst>
              <a:latin typeface="Verdana" pitchFamily="34" charset="0"/>
              <a:ea typeface="楷体_GB2312" pitchFamily="49" charset="-122"/>
            </a:endParaRPr>
          </a:p>
          <a:p>
            <a:pPr eaLnBrk="1" hangingPunct="1">
              <a:defRPr/>
            </a:pPr>
            <a:endParaRPr lang="en-US" altLang="zh-CN" sz="2800" dirty="0">
              <a:solidFill>
                <a:srgbClr val="000000"/>
              </a:solidFill>
              <a:effectLst>
                <a:outerShdw blurRad="38100" dist="38100" dir="2700000" algn="tl">
                  <a:srgbClr val="C0C0C0"/>
                </a:outerShdw>
              </a:effectLst>
              <a:latin typeface="Verdana" pitchFamily="34" charset="0"/>
              <a:ea typeface="楷体_GB2312" pitchFamily="49" charset="-122"/>
            </a:endParaRPr>
          </a:p>
          <a:p>
            <a:pPr eaLnBrk="1" hangingPunct="1">
              <a:defRPr/>
            </a:pPr>
            <a:endParaRPr lang="en-US" altLang="zh-CN" sz="4000" b="0" i="0" dirty="0">
              <a:solidFill>
                <a:srgbClr val="202122"/>
              </a:solidFill>
              <a:effectLst/>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5EBB77C0-D614-4FED-892E-9A5282992F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AAAFB67-9F13-4991-BB67-E4FB074DC2AA}" type="slidenum">
              <a:rPr lang="en-US" altLang="zh-CN" smtClean="0">
                <a:latin typeface="Arial" panose="020B0604020202020204" pitchFamily="34" charset="0"/>
              </a:rPr>
              <a:pPr/>
              <a:t>13</a:t>
            </a:fld>
            <a:endParaRPr lang="en-US" altLang="zh-CN">
              <a:latin typeface="Arial" panose="020B0604020202020204" pitchFamily="34" charset="0"/>
            </a:endParaRPr>
          </a:p>
        </p:txBody>
      </p:sp>
      <p:sp>
        <p:nvSpPr>
          <p:cNvPr id="53251" name="Rectangle 2">
            <a:extLst>
              <a:ext uri="{FF2B5EF4-FFF2-40B4-BE49-F238E27FC236}">
                <a16:creationId xmlns:a16="http://schemas.microsoft.com/office/drawing/2014/main" id="{6FB45663-9EFD-4478-AA03-9E5EE44CA331}"/>
              </a:ext>
            </a:extLst>
          </p:cNvPr>
          <p:cNvSpPr>
            <a:spLocks noGrp="1" noRot="1" noChangeAspect="1" noChangeArrowheads="1" noTextEdit="1"/>
          </p:cNvSpPr>
          <p:nvPr>
            <p:ph type="sldImg"/>
          </p:nvPr>
        </p:nvSpPr>
        <p:spPr>
          <a:xfrm>
            <a:off x="381000" y="685800"/>
            <a:ext cx="6096000" cy="3429000"/>
          </a:xfrm>
          <a:ln/>
        </p:spPr>
      </p:sp>
      <p:sp>
        <p:nvSpPr>
          <p:cNvPr id="53252" name="Rectangle 3">
            <a:extLst>
              <a:ext uri="{FF2B5EF4-FFF2-40B4-BE49-F238E27FC236}">
                <a16:creationId xmlns:a16="http://schemas.microsoft.com/office/drawing/2014/main" id="{53587384-6B35-426F-8ACA-DD93294F80A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spcBef>
                <a:spcPct val="0"/>
              </a:spcBef>
            </a:pPr>
            <a:endParaRPr lang="en-US" altLang="zh-CN" sz="2800" dirty="0"/>
          </a:p>
          <a:p>
            <a:pPr eaLnBrk="1" hangingPunct="1">
              <a:lnSpc>
                <a:spcPct val="120000"/>
              </a:lnSpc>
              <a:spcBef>
                <a:spcPct val="0"/>
              </a:spcBef>
            </a:pPr>
            <a:endParaRPr lang="en-US" altLang="zh-CN" sz="28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09A5B392-03B0-43B8-9936-E8465100A2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4A8F7DD-E00E-4920-939B-78EB55878432}" type="slidenum">
              <a:rPr lang="en-US" altLang="zh-CN" smtClean="0">
                <a:latin typeface="Arial" panose="020B0604020202020204" pitchFamily="34" charset="0"/>
              </a:rPr>
              <a:pPr/>
              <a:t>14</a:t>
            </a:fld>
            <a:endParaRPr lang="en-US" altLang="zh-CN">
              <a:latin typeface="Arial" panose="020B0604020202020204" pitchFamily="34" charset="0"/>
            </a:endParaRPr>
          </a:p>
        </p:txBody>
      </p:sp>
      <p:sp>
        <p:nvSpPr>
          <p:cNvPr id="68611" name="Rectangle 2">
            <a:extLst>
              <a:ext uri="{FF2B5EF4-FFF2-40B4-BE49-F238E27FC236}">
                <a16:creationId xmlns:a16="http://schemas.microsoft.com/office/drawing/2014/main" id="{7DC681D5-454D-4D29-884E-33744F7BD681}"/>
              </a:ext>
            </a:extLst>
          </p:cNvPr>
          <p:cNvSpPr>
            <a:spLocks noGrp="1" noRot="1" noChangeAspect="1" noChangeArrowheads="1" noTextEdit="1"/>
          </p:cNvSpPr>
          <p:nvPr>
            <p:ph type="sldImg"/>
          </p:nvPr>
        </p:nvSpPr>
        <p:spPr>
          <a:xfrm>
            <a:off x="381000" y="685800"/>
            <a:ext cx="6096000" cy="3429000"/>
          </a:xfrm>
          <a:ln/>
        </p:spPr>
      </p:sp>
      <p:sp>
        <p:nvSpPr>
          <p:cNvPr id="68612" name="Rectangle 3">
            <a:extLst>
              <a:ext uri="{FF2B5EF4-FFF2-40B4-BE49-F238E27FC236}">
                <a16:creationId xmlns:a16="http://schemas.microsoft.com/office/drawing/2014/main" id="{8AB32647-A06E-4211-B39E-465C482F069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2400" dirty="0">
                <a:latin typeface="华文楷体" panose="02010600040101010101" pitchFamily="2" charset="-122"/>
                <a:ea typeface="华文楷体" panose="02010600040101010101" pitchFamily="2" charset="-122"/>
              </a:rPr>
              <a:t>含</a:t>
            </a:r>
            <a:r>
              <a:rPr lang="en-US" altLang="zh-CN" sz="2400" dirty="0">
                <a:latin typeface="华文楷体" panose="02010600040101010101" pitchFamily="2" charset="-122"/>
                <a:ea typeface="华文楷体" panose="02010600040101010101" pitchFamily="2" charset="-122"/>
              </a:rPr>
              <a:t>FMN </a:t>
            </a:r>
            <a:r>
              <a:rPr lang="zh-CN" altLang="en-US" sz="2400" dirty="0">
                <a:latin typeface="华文楷体" panose="02010600040101010101" pitchFamily="2" charset="-122"/>
                <a:ea typeface="华文楷体" panose="02010600040101010101" pitchFamily="2" charset="-122"/>
              </a:rPr>
              <a:t>和</a:t>
            </a:r>
            <a:r>
              <a:rPr lang="en-US" altLang="zh-CN" sz="2400" dirty="0">
                <a:latin typeface="华文楷体" panose="02010600040101010101" pitchFamily="2" charset="-122"/>
                <a:ea typeface="华文楷体" panose="02010600040101010101" pitchFamily="2" charset="-122"/>
              </a:rPr>
              <a:t> FAD </a:t>
            </a:r>
            <a:r>
              <a:rPr lang="zh-CN" altLang="en-US" sz="2400" dirty="0">
                <a:latin typeface="华文楷体" panose="02010600040101010101" pitchFamily="2" charset="-122"/>
                <a:ea typeface="华文楷体" panose="02010600040101010101" pitchFamily="2" charset="-122"/>
              </a:rPr>
              <a:t>的蛋白通常称为黄素蛋白。 </a:t>
            </a:r>
            <a:endParaRPr lang="en-US" altLang="zh-CN" sz="2400" dirty="0">
              <a:latin typeface="华文楷体" panose="02010600040101010101" pitchFamily="2" charset="-122"/>
              <a:ea typeface="华文楷体" panose="02010600040101010101" pitchFamily="2" charset="-122"/>
            </a:endParaRPr>
          </a:p>
          <a:p>
            <a:pPr eaLnBrk="1" hangingPunct="1"/>
            <a:r>
              <a:rPr lang="zh-CN" altLang="en-US" sz="2400" dirty="0">
                <a:latin typeface="华文楷体" panose="02010600040101010101" pitchFamily="2" charset="-122"/>
                <a:ea typeface="华文楷体" panose="02010600040101010101" pitchFamily="2" charset="-122"/>
              </a:rPr>
              <a:t>金属离子是否也分辅酶辅基，有两种说法。 </a:t>
            </a:r>
            <a:endParaRPr lang="en-US" altLang="zh-CN" sz="2400" dirty="0">
              <a:latin typeface="华文楷体" panose="02010600040101010101" pitchFamily="2" charset="-122"/>
              <a:ea typeface="华文楷体" panose="02010600040101010101" pitchFamily="2" charset="-122"/>
            </a:endParaRPr>
          </a:p>
          <a:p>
            <a:pPr eaLnBrk="1" hangingPunct="1"/>
            <a:endParaRPr lang="en-US" altLang="zh-CN" sz="2400" dirty="0">
              <a:latin typeface="华文楷体" panose="02010600040101010101" pitchFamily="2" charset="-122"/>
              <a:ea typeface="华文楷体" panose="02010600040101010101" pitchFamily="2" charset="-122"/>
            </a:endParaRPr>
          </a:p>
          <a:p>
            <a:pPr eaLnBrk="1" hangingPunct="1"/>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469750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113FDF7A-3348-446F-94DF-9BCFF7980A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38D8BFD-DC85-4A24-80C8-DBE89A3983D4}" type="slidenum">
              <a:rPr lang="en-US" altLang="zh-CN" smtClean="0">
                <a:latin typeface="Arial" panose="020B0604020202020204" pitchFamily="34" charset="0"/>
              </a:rPr>
              <a:pPr/>
              <a:t>15</a:t>
            </a:fld>
            <a:endParaRPr lang="en-US" altLang="zh-CN">
              <a:latin typeface="Arial" panose="020B0604020202020204" pitchFamily="34" charset="0"/>
            </a:endParaRPr>
          </a:p>
        </p:txBody>
      </p:sp>
      <p:sp>
        <p:nvSpPr>
          <p:cNvPr id="62467" name="Rectangle 2">
            <a:extLst>
              <a:ext uri="{FF2B5EF4-FFF2-40B4-BE49-F238E27FC236}">
                <a16:creationId xmlns:a16="http://schemas.microsoft.com/office/drawing/2014/main" id="{12D815B3-217D-4D73-89E0-DEAA1F3404E2}"/>
              </a:ext>
            </a:extLst>
          </p:cNvPr>
          <p:cNvSpPr>
            <a:spLocks noGrp="1" noRot="1" noChangeAspect="1" noChangeArrowheads="1" noTextEdit="1"/>
          </p:cNvSpPr>
          <p:nvPr>
            <p:ph type="sldImg"/>
          </p:nvPr>
        </p:nvSpPr>
        <p:spPr>
          <a:xfrm>
            <a:off x="381000" y="685800"/>
            <a:ext cx="6096000" cy="3429000"/>
          </a:xfrm>
          <a:ln/>
        </p:spPr>
      </p:sp>
      <p:sp>
        <p:nvSpPr>
          <p:cNvPr id="62468" name="Rectangle 3">
            <a:extLst>
              <a:ext uri="{FF2B5EF4-FFF2-40B4-BE49-F238E27FC236}">
                <a16:creationId xmlns:a16="http://schemas.microsoft.com/office/drawing/2014/main" id="{4940A3CA-BDA7-406C-A4C7-841737545CDB}"/>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比如含血红素的细胞色素</a:t>
            </a:r>
            <a:r>
              <a:rPr lang="en-US" altLang="zh-CN" dirty="0"/>
              <a:t>C</a:t>
            </a:r>
            <a:r>
              <a:rPr lang="zh-CN" altLang="en-US" dirty="0"/>
              <a:t>氧化酶、细胞色素</a:t>
            </a:r>
            <a:r>
              <a:rPr lang="en-US" altLang="zh-CN" dirty="0"/>
              <a:t>P450</a:t>
            </a:r>
            <a:r>
              <a:rPr lang="zh-CN" altLang="en-US" dirty="0"/>
              <a:t>单加氧酶等，比如含铁硫簇的呼吸链复合体</a:t>
            </a:r>
            <a:r>
              <a:rPr lang="en-US" altLang="zh-CN" dirty="0"/>
              <a:t>I</a:t>
            </a:r>
            <a:r>
              <a:rPr lang="zh-CN" altLang="en-US" dirty="0"/>
              <a:t>、</a:t>
            </a:r>
            <a:r>
              <a:rPr lang="en-US" altLang="zh-CN" dirty="0"/>
              <a:t>II</a:t>
            </a:r>
            <a:r>
              <a:rPr lang="zh-CN" altLang="en-US" dirty="0"/>
              <a:t>、</a:t>
            </a:r>
            <a:r>
              <a:rPr lang="en-US" altLang="zh-CN" dirty="0"/>
              <a:t>III</a:t>
            </a:r>
            <a:r>
              <a:rPr lang="zh-CN" altLang="en-US" dirty="0"/>
              <a:t>（参见第十章生物氧化）</a:t>
            </a:r>
            <a:endParaRPr lang="zh-CN" altLang="zh-CN" dirty="0"/>
          </a:p>
        </p:txBody>
      </p:sp>
    </p:spTree>
    <p:extLst>
      <p:ext uri="{BB962C8B-B14F-4D97-AF65-F5344CB8AC3E}">
        <p14:creationId xmlns:p14="http://schemas.microsoft.com/office/powerpoint/2010/main" val="2229826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F2CB25DC-C188-43CB-A7E7-64C9982F8F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59CBF0E-21FA-40EC-B94D-AFD77F961A0B}" type="slidenum">
              <a:rPr lang="en-US" altLang="zh-CN" smtClean="0">
                <a:latin typeface="Arial" panose="020B0604020202020204" pitchFamily="34" charset="0"/>
              </a:rPr>
              <a:pPr/>
              <a:t>16</a:t>
            </a:fld>
            <a:endParaRPr lang="en-US" altLang="zh-CN">
              <a:latin typeface="Arial" panose="020B0604020202020204" pitchFamily="34" charset="0"/>
            </a:endParaRPr>
          </a:p>
        </p:txBody>
      </p:sp>
      <p:sp>
        <p:nvSpPr>
          <p:cNvPr id="64515" name="Rectangle 2">
            <a:extLst>
              <a:ext uri="{FF2B5EF4-FFF2-40B4-BE49-F238E27FC236}">
                <a16:creationId xmlns:a16="http://schemas.microsoft.com/office/drawing/2014/main" id="{E6B507AB-9840-47A9-A63C-24C697AF3B25}"/>
              </a:ext>
            </a:extLst>
          </p:cNvPr>
          <p:cNvSpPr>
            <a:spLocks noGrp="1" noRot="1" noChangeAspect="1" noChangeArrowheads="1" noTextEdit="1"/>
          </p:cNvSpPr>
          <p:nvPr>
            <p:ph type="sldImg"/>
          </p:nvPr>
        </p:nvSpPr>
        <p:spPr>
          <a:xfrm>
            <a:off x="381000" y="685800"/>
            <a:ext cx="6096000" cy="3429000"/>
          </a:xfrm>
          <a:ln/>
        </p:spPr>
      </p:sp>
      <p:sp>
        <p:nvSpPr>
          <p:cNvPr id="64516" name="Rectangle 3">
            <a:extLst>
              <a:ext uri="{FF2B5EF4-FFF2-40B4-BE49-F238E27FC236}">
                <a16:creationId xmlns:a16="http://schemas.microsoft.com/office/drawing/2014/main" id="{E5FC7425-0D73-4257-8F89-D35FDAA053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dirty="0"/>
              <a:t>本表很重要，要求记住每种维生素体内活性形式，以及主要参与的反应， 比如辅酶</a:t>
            </a:r>
            <a:r>
              <a:rPr kumimoji="1" lang="en-US" altLang="zh-CN" dirty="0"/>
              <a:t>I</a:t>
            </a:r>
            <a:r>
              <a:rPr kumimoji="1" lang="zh-CN" altLang="en-US" dirty="0"/>
              <a:t>、</a:t>
            </a:r>
            <a:r>
              <a:rPr kumimoji="1" lang="en-US" altLang="zh-CN" dirty="0"/>
              <a:t>II</a:t>
            </a:r>
            <a:r>
              <a:rPr kumimoji="1" lang="zh-CN" altLang="en-US" dirty="0"/>
              <a:t>和</a:t>
            </a:r>
            <a:r>
              <a:rPr kumimoji="1" lang="en-US" altLang="zh-CN" dirty="0"/>
              <a:t>FAD</a:t>
            </a:r>
            <a:r>
              <a:rPr kumimoji="1" lang="zh-CN" altLang="en-US" dirty="0"/>
              <a:t>参与氧化还原反应，作为反应中的受氢体； 磷酸吡哆醛（</a:t>
            </a:r>
            <a:r>
              <a:rPr kumimoji="1" lang="en-US" altLang="zh-CN" dirty="0"/>
              <a:t>PLP</a:t>
            </a:r>
            <a:r>
              <a:rPr kumimoji="1" lang="zh-CN" altLang="en-US" dirty="0"/>
              <a:t>）参与氨基酸代谢（转氨基反应和脱羧反应）； 生物素参与羧化反应； </a:t>
            </a:r>
            <a:r>
              <a:rPr kumimoji="1" lang="en-US" altLang="zh-CN" dirty="0"/>
              <a:t>FH4</a:t>
            </a:r>
            <a:r>
              <a:rPr kumimoji="1" lang="zh-CN" altLang="en-US" dirty="0"/>
              <a:t>参与一碳单位的转移 </a:t>
            </a:r>
            <a:endParaRPr kumimoji="1" lang="en-US" altLang="zh-CN" dirty="0"/>
          </a:p>
        </p:txBody>
      </p:sp>
    </p:spTree>
    <p:extLst>
      <p:ext uri="{BB962C8B-B14F-4D97-AF65-F5344CB8AC3E}">
        <p14:creationId xmlns:p14="http://schemas.microsoft.com/office/powerpoint/2010/main" val="32047441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B3033A7A-42C4-4E89-94E8-9DA7C653C9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922989F-D2C7-4118-B9B9-9268A855AA16}" type="slidenum">
              <a:rPr lang="en-US" altLang="zh-CN" smtClean="0">
                <a:latin typeface="Arial" panose="020B0604020202020204" pitchFamily="34" charset="0"/>
              </a:rPr>
              <a:pPr/>
              <a:t>17</a:t>
            </a:fld>
            <a:endParaRPr lang="en-US" altLang="zh-CN">
              <a:latin typeface="Arial" panose="020B0604020202020204" pitchFamily="34" charset="0"/>
            </a:endParaRPr>
          </a:p>
        </p:txBody>
      </p:sp>
      <p:sp>
        <p:nvSpPr>
          <p:cNvPr id="55299" name="Rectangle 2">
            <a:extLst>
              <a:ext uri="{FF2B5EF4-FFF2-40B4-BE49-F238E27FC236}">
                <a16:creationId xmlns:a16="http://schemas.microsoft.com/office/drawing/2014/main" id="{C6D9539F-877B-4C26-A6FD-A680BE21B31A}"/>
              </a:ext>
            </a:extLst>
          </p:cNvPr>
          <p:cNvSpPr>
            <a:spLocks noGrp="1" noRot="1" noChangeAspect="1" noChangeArrowheads="1" noTextEdit="1"/>
          </p:cNvSpPr>
          <p:nvPr>
            <p:ph type="sldImg"/>
          </p:nvPr>
        </p:nvSpPr>
        <p:spPr>
          <a:xfrm>
            <a:off x="381000" y="685800"/>
            <a:ext cx="6096000" cy="3429000"/>
          </a:xfrm>
          <a:ln/>
        </p:spPr>
      </p:sp>
      <p:sp>
        <p:nvSpPr>
          <p:cNvPr id="55300" name="Rectangle 3">
            <a:extLst>
              <a:ext uri="{FF2B5EF4-FFF2-40B4-BE49-F238E27FC236}">
                <a16:creationId xmlns:a16="http://schemas.microsoft.com/office/drawing/2014/main" id="{BAF2617C-B514-463B-8C9E-F9E1678AEFA1}"/>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约</a:t>
            </a:r>
            <a:r>
              <a:rPr lang="en-US" altLang="zh-CN" dirty="0"/>
              <a:t>2/3 </a:t>
            </a:r>
            <a:r>
              <a:rPr lang="zh-CN" altLang="en-US" dirty="0"/>
              <a:t>的酶含有金属离子</a:t>
            </a:r>
            <a:endParaRPr lang="en-US" altLang="zh-CN" dirty="0"/>
          </a:p>
          <a:p>
            <a:endParaRPr lang="en-US" altLang="zh-CN" dirty="0"/>
          </a:p>
          <a:p>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a:extLst>
              <a:ext uri="{FF2B5EF4-FFF2-40B4-BE49-F238E27FC236}">
                <a16:creationId xmlns:a16="http://schemas.microsoft.com/office/drawing/2014/main" id="{96F1CC9D-BEFC-4D33-9DA8-5BCB100B3555}"/>
              </a:ext>
            </a:extLst>
          </p:cNvPr>
          <p:cNvSpPr>
            <a:spLocks noGrp="1" noRot="1" noChangeAspect="1" noChangeArrowheads="1" noTextEdit="1"/>
          </p:cNvSpPr>
          <p:nvPr>
            <p:ph type="sldImg"/>
          </p:nvPr>
        </p:nvSpPr>
        <p:spPr>
          <a:xfrm>
            <a:off x="381000" y="685800"/>
            <a:ext cx="6096000" cy="3429000"/>
          </a:xfrm>
          <a:ln/>
        </p:spPr>
      </p:sp>
      <p:sp>
        <p:nvSpPr>
          <p:cNvPr id="57347" name="备注占位符 2">
            <a:extLst>
              <a:ext uri="{FF2B5EF4-FFF2-40B4-BE49-F238E27FC236}">
                <a16:creationId xmlns:a16="http://schemas.microsoft.com/office/drawing/2014/main" id="{7D119D07-A1A8-456A-8CF4-32C86565C8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哪些酶是金属激活酶，哪些是金属酶不重要 ，做实验需要提取酶时才要注意。 </a:t>
            </a:r>
            <a:endParaRPr lang="en-US" altLang="zh-CN" dirty="0"/>
          </a:p>
          <a:p>
            <a:endParaRPr lang="en-US" altLang="zh-CN" dirty="0"/>
          </a:p>
          <a:p>
            <a:endParaRPr lang="zh-CN" altLang="en-US" dirty="0"/>
          </a:p>
        </p:txBody>
      </p:sp>
      <p:sp>
        <p:nvSpPr>
          <p:cNvPr id="57348" name="灯片编号占位符 3">
            <a:extLst>
              <a:ext uri="{FF2B5EF4-FFF2-40B4-BE49-F238E27FC236}">
                <a16:creationId xmlns:a16="http://schemas.microsoft.com/office/drawing/2014/main" id="{EA973402-5825-45F2-9659-B47168DD96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1A8B46B-8D02-4557-81A9-8DAF7D8E8950}" type="slidenum">
              <a:rPr lang="en-US" altLang="zh-CN" smtClean="0">
                <a:latin typeface="Arial" panose="020B0604020202020204" pitchFamily="34" charset="0"/>
              </a:rPr>
              <a:pPr/>
              <a:t>18</a:t>
            </a:fld>
            <a:endParaRPr lang="en-US"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有些酶同时含多种不同类型的辅因子，如细胞色素氧化酶既含有血红素又含有</a:t>
            </a:r>
            <a:r>
              <a:rPr lang="en-US" altLang="zh-CN" dirty="0"/>
              <a:t>Cu</a:t>
            </a:r>
            <a:r>
              <a:rPr lang="en-US" altLang="zh-CN" baseline="30000" dirty="0"/>
              <a:t>+</a:t>
            </a:r>
            <a:r>
              <a:rPr lang="en-US" altLang="zh-CN" dirty="0"/>
              <a:t>/Cu</a:t>
            </a:r>
            <a:r>
              <a:rPr lang="en-US" altLang="zh-CN" baseline="30000" dirty="0"/>
              <a:t>2+ </a:t>
            </a:r>
            <a:r>
              <a:rPr lang="en-US" altLang="zh-CN" dirty="0"/>
              <a:t>,   </a:t>
            </a:r>
            <a:r>
              <a:rPr lang="zh-CN" altLang="en-US" dirty="0"/>
              <a:t>琥珀酸脱氢酶同时含有</a:t>
            </a:r>
            <a:r>
              <a:rPr lang="en-US" altLang="zh-CN" dirty="0"/>
              <a:t>Fe</a:t>
            </a:r>
            <a:r>
              <a:rPr lang="en-US" altLang="zh-CN" baseline="30000" dirty="0"/>
              <a:t>2+ </a:t>
            </a:r>
            <a:r>
              <a:rPr lang="zh-CN" altLang="en-US" dirty="0"/>
              <a:t>和</a:t>
            </a:r>
            <a:r>
              <a:rPr lang="en-US" altLang="zh-CN" dirty="0"/>
              <a:t>FAD</a:t>
            </a:r>
            <a:r>
              <a:rPr lang="zh-CN" altLang="en-US" dirty="0"/>
              <a:t>。</a:t>
            </a:r>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19</a:t>
            </a:fld>
            <a:endParaRPr lang="en-US" altLang="zh-CN"/>
          </a:p>
        </p:txBody>
      </p:sp>
    </p:spTree>
    <p:extLst>
      <p:ext uri="{BB962C8B-B14F-4D97-AF65-F5344CB8AC3E}">
        <p14:creationId xmlns:p14="http://schemas.microsoft.com/office/powerpoint/2010/main" val="12572507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上述三种为常见形式 </a:t>
            </a:r>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20</a:t>
            </a:fld>
            <a:endParaRPr lang="en-US" altLang="zh-CN"/>
          </a:p>
        </p:txBody>
      </p:sp>
    </p:spTree>
    <p:extLst>
      <p:ext uri="{BB962C8B-B14F-4D97-AF65-F5344CB8AC3E}">
        <p14:creationId xmlns:p14="http://schemas.microsoft.com/office/powerpoint/2010/main" val="13553410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21</a:t>
            </a:fld>
            <a:endParaRPr lang="en-US" altLang="zh-CN"/>
          </a:p>
        </p:txBody>
      </p:sp>
    </p:spTree>
    <p:extLst>
      <p:ext uri="{BB962C8B-B14F-4D97-AF65-F5344CB8AC3E}">
        <p14:creationId xmlns:p14="http://schemas.microsoft.com/office/powerpoint/2010/main" val="29458186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6CECCC4A-E6E2-4C50-B939-5A812AB763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4396A5E-D2A3-4B72-9118-20387BF32E09}" type="slidenum">
              <a:rPr lang="en-US" altLang="zh-CN" smtClean="0">
                <a:latin typeface="Arial" panose="020B0604020202020204" pitchFamily="34" charset="0"/>
              </a:rPr>
              <a:pPr/>
              <a:t>22</a:t>
            </a:fld>
            <a:endParaRPr lang="en-US" altLang="zh-CN">
              <a:latin typeface="Arial" panose="020B0604020202020204" pitchFamily="34" charset="0"/>
            </a:endParaRPr>
          </a:p>
        </p:txBody>
      </p:sp>
      <p:sp>
        <p:nvSpPr>
          <p:cNvPr id="72707" name="Rectangle 2">
            <a:extLst>
              <a:ext uri="{FF2B5EF4-FFF2-40B4-BE49-F238E27FC236}">
                <a16:creationId xmlns:a16="http://schemas.microsoft.com/office/drawing/2014/main" id="{C68D62B7-02AF-4D5D-BB4C-DF6D93849C07}"/>
              </a:ext>
            </a:extLst>
          </p:cNvPr>
          <p:cNvSpPr>
            <a:spLocks noGrp="1" noRot="1" noChangeAspect="1" noChangeArrowheads="1" noTextEdit="1"/>
          </p:cNvSpPr>
          <p:nvPr>
            <p:ph type="sldImg"/>
          </p:nvPr>
        </p:nvSpPr>
        <p:spPr>
          <a:xfrm>
            <a:off x="381000" y="685800"/>
            <a:ext cx="6096000" cy="3429000"/>
          </a:xfrm>
          <a:ln/>
        </p:spPr>
      </p:sp>
      <p:sp>
        <p:nvSpPr>
          <p:cNvPr id="72708" name="Rectangle 3">
            <a:extLst>
              <a:ext uri="{FF2B5EF4-FFF2-40B4-BE49-F238E27FC236}">
                <a16:creationId xmlns:a16="http://schemas.microsoft.com/office/drawing/2014/main" id="{12E37733-F333-4E9A-8C5C-E978F298AE2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活性中心 是非常重要的概念</a:t>
            </a:r>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D42704E4-FFE4-4C9A-A51E-4EE56FD81C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017F2B9-DDFF-4992-9501-6E7B65FDCC5B}" type="slidenum">
              <a:rPr lang="en-US" altLang="zh-CN" smtClean="0">
                <a:latin typeface="Arial" panose="020B0604020202020204" pitchFamily="34" charset="0"/>
              </a:rPr>
              <a:pPr/>
              <a:t>23</a:t>
            </a:fld>
            <a:endParaRPr lang="en-US" altLang="zh-CN">
              <a:latin typeface="Arial" panose="020B0604020202020204" pitchFamily="34" charset="0"/>
            </a:endParaRPr>
          </a:p>
        </p:txBody>
      </p:sp>
      <p:sp>
        <p:nvSpPr>
          <p:cNvPr id="74755" name="Rectangle 2">
            <a:extLst>
              <a:ext uri="{FF2B5EF4-FFF2-40B4-BE49-F238E27FC236}">
                <a16:creationId xmlns:a16="http://schemas.microsoft.com/office/drawing/2014/main" id="{CDE35C8A-C0F9-41A5-9615-DC27CD3906A6}"/>
              </a:ext>
            </a:extLst>
          </p:cNvPr>
          <p:cNvSpPr>
            <a:spLocks noGrp="1" noRot="1" noChangeAspect="1" noChangeArrowheads="1" noTextEdit="1"/>
          </p:cNvSpPr>
          <p:nvPr>
            <p:ph type="sldImg"/>
          </p:nvPr>
        </p:nvSpPr>
        <p:spPr>
          <a:xfrm>
            <a:off x="381000" y="685800"/>
            <a:ext cx="6096000" cy="3429000"/>
          </a:xfrm>
          <a:ln/>
        </p:spPr>
      </p:sp>
      <p:sp>
        <p:nvSpPr>
          <p:cNvPr id="74756" name="Rectangle 3">
            <a:extLst>
              <a:ext uri="{FF2B5EF4-FFF2-40B4-BE49-F238E27FC236}">
                <a16:creationId xmlns:a16="http://schemas.microsoft.com/office/drawing/2014/main" id="{95205C73-375A-476F-BF08-08C29602BC2B}"/>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pPr>
            <a:r>
              <a:rPr lang="zh-CN" altLang="en-US" dirty="0">
                <a:ea typeface="楷体_GB2312" pitchFamily="49" charset="-122"/>
              </a:rPr>
              <a:t>一般亲水侧链基团是催化基团</a:t>
            </a:r>
            <a:endParaRPr lang="en-US" altLang="zh-CN" dirty="0">
              <a:ea typeface="楷体_GB2312" pitchFamily="49" charset="-122"/>
            </a:endParaRPr>
          </a:p>
          <a:p>
            <a:pPr eaLnBrk="1" hangingPunct="1">
              <a:lnSpc>
                <a:spcPct val="110000"/>
              </a:lnSpc>
            </a:pPr>
            <a:endParaRPr lang="en-US" altLang="zh-CN" dirty="0">
              <a:ea typeface="楷体_GB2312" pitchFamily="49" charset="-122"/>
            </a:endParaRPr>
          </a:p>
          <a:p>
            <a:pPr eaLnBrk="1" hangingPunct="1">
              <a:lnSpc>
                <a:spcPct val="110000"/>
              </a:lnSpc>
            </a:pPr>
            <a:r>
              <a:rPr lang="zh-CN" altLang="en-US" dirty="0">
                <a:ea typeface="楷体_GB2312" pitchFamily="49" charset="-122"/>
              </a:rPr>
              <a:t>也有基团身兼结合基团与催化基团</a:t>
            </a:r>
            <a:endParaRPr lang="zh-CN" altLang="zh-CN" dirty="0">
              <a:ea typeface="楷体_GB2312" pitchFamily="49"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8F407F90-F437-45F5-A7E2-16BE76A7C714}"/>
              </a:ext>
            </a:extLst>
          </p:cNvPr>
          <p:cNvSpPr>
            <a:spLocks noGrp="1" noRot="1" noChangeAspect="1" noChangeArrowheads="1" noTextEdit="1"/>
          </p:cNvSpPr>
          <p:nvPr>
            <p:ph type="sldImg"/>
          </p:nvPr>
        </p:nvSpPr>
        <p:spPr>
          <a:xfrm>
            <a:off x="381000" y="685800"/>
            <a:ext cx="6096000" cy="3429000"/>
          </a:xfrm>
          <a:ln/>
        </p:spPr>
      </p:sp>
      <p:sp>
        <p:nvSpPr>
          <p:cNvPr id="78851" name="备注占位符 2">
            <a:extLst>
              <a:ext uri="{FF2B5EF4-FFF2-40B4-BE49-F238E27FC236}">
                <a16:creationId xmlns:a16="http://schemas.microsoft.com/office/drawing/2014/main" id="{6372F591-2D58-4530-93D7-AF9481CE88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78852" name="灯片编号占位符 3">
            <a:extLst>
              <a:ext uri="{FF2B5EF4-FFF2-40B4-BE49-F238E27FC236}">
                <a16:creationId xmlns:a16="http://schemas.microsoft.com/office/drawing/2014/main" id="{5933C0C9-DF25-4F9E-8349-699B388A10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86E09FA-312E-4EA3-A0CA-7AB72B1020CC}" type="slidenum">
              <a:rPr lang="en-US" altLang="zh-CN" smtClean="0">
                <a:latin typeface="Arial" panose="020B0604020202020204" pitchFamily="34" charset="0"/>
              </a:rPr>
              <a:pPr/>
              <a:t>24</a:t>
            </a:fld>
            <a:endParaRPr lang="en-US" altLang="zh-CN">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A3FAED81-8003-4F10-BEAD-9CB7771516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03477C7-EFA2-45B3-A719-1BB15C1CB763}" type="slidenum">
              <a:rPr lang="en-US" altLang="zh-CN" smtClean="0">
                <a:latin typeface="Arial" panose="020B0604020202020204" pitchFamily="34" charset="0"/>
              </a:rPr>
              <a:pPr/>
              <a:t>25</a:t>
            </a:fld>
            <a:endParaRPr lang="en-US" altLang="zh-CN">
              <a:latin typeface="Arial" panose="020B0604020202020204" pitchFamily="34" charset="0"/>
            </a:endParaRPr>
          </a:p>
        </p:txBody>
      </p:sp>
      <p:sp>
        <p:nvSpPr>
          <p:cNvPr id="86019" name="Rectangle 2">
            <a:extLst>
              <a:ext uri="{FF2B5EF4-FFF2-40B4-BE49-F238E27FC236}">
                <a16:creationId xmlns:a16="http://schemas.microsoft.com/office/drawing/2014/main" id="{97378E68-AFB9-4BEF-8E86-9A02AAE8EB8C}"/>
              </a:ext>
            </a:extLst>
          </p:cNvPr>
          <p:cNvSpPr>
            <a:spLocks noGrp="1" noRot="1" noChangeAspect="1" noChangeArrowheads="1" noTextEdit="1"/>
          </p:cNvSpPr>
          <p:nvPr>
            <p:ph type="sldImg"/>
          </p:nvPr>
        </p:nvSpPr>
        <p:spPr>
          <a:xfrm>
            <a:off x="381000" y="685800"/>
            <a:ext cx="6096000" cy="3429000"/>
          </a:xfrm>
          <a:ln/>
        </p:spPr>
      </p:sp>
      <p:sp>
        <p:nvSpPr>
          <p:cNvPr id="86020" name="Rectangle 3">
            <a:extLst>
              <a:ext uri="{FF2B5EF4-FFF2-40B4-BE49-F238E27FC236}">
                <a16:creationId xmlns:a16="http://schemas.microsoft.com/office/drawing/2014/main" id="{9D0284EC-BAF8-4478-A4C1-87796A77299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307A128E-E11D-4AE9-BDA6-DBBFBBF37E35}"/>
              </a:ext>
            </a:extLst>
          </p:cNvPr>
          <p:cNvSpPr>
            <a:spLocks noGrp="1" noRot="1" noChangeAspect="1" noChangeArrowheads="1" noTextEdit="1"/>
          </p:cNvSpPr>
          <p:nvPr>
            <p:ph type="sldImg"/>
          </p:nvPr>
        </p:nvSpPr>
        <p:spPr>
          <a:xfrm>
            <a:off x="381000" y="685800"/>
            <a:ext cx="6096000" cy="3429000"/>
          </a:xfrm>
          <a:ln/>
        </p:spPr>
      </p:sp>
      <p:sp>
        <p:nvSpPr>
          <p:cNvPr id="76803" name="备注占位符 2">
            <a:extLst>
              <a:ext uri="{FF2B5EF4-FFF2-40B4-BE49-F238E27FC236}">
                <a16:creationId xmlns:a16="http://schemas.microsoft.com/office/drawing/2014/main" id="{0979D7EE-8DCB-4A77-9419-0785521165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溶菌酶是第一个被解析出三维结构的酶（</a:t>
            </a:r>
            <a:r>
              <a:rPr lang="en-US" altLang="zh-CN" dirty="0"/>
              <a:t>1965</a:t>
            </a:r>
            <a:r>
              <a:rPr lang="zh-CN" altLang="en-US" dirty="0"/>
              <a:t>）</a:t>
            </a:r>
          </a:p>
          <a:p>
            <a:endParaRPr lang="en-US" altLang="zh-CN" dirty="0"/>
          </a:p>
          <a:p>
            <a:r>
              <a:rPr lang="zh-CN" altLang="en-US" dirty="0"/>
              <a:t>从鸡蛋清中提取分离的溶菌酶可分解溶壁微球菌、巨大芽孢杆菌、黄色八叠球菌等</a:t>
            </a:r>
            <a:r>
              <a:rPr lang="zh-CN" altLang="en-US" b="1" dirty="0"/>
              <a:t>革兰氏阳性菌</a:t>
            </a:r>
            <a:r>
              <a:rPr lang="zh-CN" altLang="en-US" dirty="0"/>
              <a:t>。</a:t>
            </a:r>
          </a:p>
        </p:txBody>
      </p:sp>
      <p:sp>
        <p:nvSpPr>
          <p:cNvPr id="76804" name="灯片编号占位符 3">
            <a:extLst>
              <a:ext uri="{FF2B5EF4-FFF2-40B4-BE49-F238E27FC236}">
                <a16:creationId xmlns:a16="http://schemas.microsoft.com/office/drawing/2014/main" id="{62792CC8-CF95-4636-919B-9AAA5DDE37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0F7B8CB-F30C-4D91-A76D-C58F22FFEFB6}" type="slidenum">
              <a:rPr lang="en-US" altLang="zh-CN" smtClean="0">
                <a:latin typeface="Arial" panose="020B0604020202020204" pitchFamily="34" charset="0"/>
              </a:rPr>
              <a:pPr/>
              <a:t>26</a:t>
            </a:fld>
            <a:endParaRPr lang="en-US" altLang="zh-CN">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F951F1AF-72A8-43B3-8E90-C13731D3AD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81493D9-B836-4A8A-854F-EC451E66A706}" type="slidenum">
              <a:rPr lang="en-US" altLang="zh-CN" smtClean="0">
                <a:latin typeface="Arial" panose="020B0604020202020204" pitchFamily="34" charset="0"/>
              </a:rPr>
              <a:pPr/>
              <a:t>27</a:t>
            </a:fld>
            <a:endParaRPr lang="en-US" altLang="zh-CN">
              <a:latin typeface="Arial" panose="020B0604020202020204" pitchFamily="34" charset="0"/>
            </a:endParaRPr>
          </a:p>
        </p:txBody>
      </p:sp>
      <p:sp>
        <p:nvSpPr>
          <p:cNvPr id="83971" name="Rectangle 2">
            <a:extLst>
              <a:ext uri="{FF2B5EF4-FFF2-40B4-BE49-F238E27FC236}">
                <a16:creationId xmlns:a16="http://schemas.microsoft.com/office/drawing/2014/main" id="{F3F2A3BD-97B7-4BA8-ABDC-55776E504B9E}"/>
              </a:ext>
            </a:extLst>
          </p:cNvPr>
          <p:cNvSpPr>
            <a:spLocks noGrp="1" noRot="1" noChangeAspect="1" noChangeArrowheads="1" noTextEdit="1"/>
          </p:cNvSpPr>
          <p:nvPr>
            <p:ph type="sldImg"/>
          </p:nvPr>
        </p:nvSpPr>
        <p:spPr>
          <a:xfrm>
            <a:off x="381000" y="685800"/>
            <a:ext cx="6096000" cy="3429000"/>
          </a:xfrm>
          <a:ln/>
        </p:spPr>
      </p:sp>
      <p:sp>
        <p:nvSpPr>
          <p:cNvPr id="83972" name="Rectangle 3">
            <a:extLst>
              <a:ext uri="{FF2B5EF4-FFF2-40B4-BE49-F238E27FC236}">
                <a16:creationId xmlns:a16="http://schemas.microsoft.com/office/drawing/2014/main" id="{87BC81B1-C9B9-42FC-881E-D9F720192FC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组成酶活性中心的必需基团在一级结构上可能相距很远，但在形成三级结构时相互接近。</a:t>
            </a:r>
          </a:p>
          <a:p>
            <a:endParaRPr lang="en-US" altLang="zh-CN" dirty="0"/>
          </a:p>
          <a:p>
            <a:r>
              <a:rPr lang="en-US" altLang="zh-CN" dirty="0"/>
              <a:t>Lysozyme cleaves the (β1→4) glycosidic C-O bond</a:t>
            </a:r>
          </a:p>
          <a:p>
            <a:endParaRPr kumimoji="1" lang="en-US" altLang="zh-CN" dirty="0"/>
          </a:p>
          <a:p>
            <a:endParaRPr kumimoji="1" lang="en-US"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E4AACB08-5FF3-4400-B620-F64127A694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89B80D4-D324-4127-BAD0-17FA22F5B05A}" type="slidenum">
              <a:rPr lang="en-US" altLang="zh-CN" smtClean="0">
                <a:latin typeface="Arial" panose="020B0604020202020204" pitchFamily="34" charset="0"/>
              </a:rPr>
              <a:pPr/>
              <a:t>28</a:t>
            </a:fld>
            <a:endParaRPr lang="en-US" altLang="zh-CN">
              <a:latin typeface="Arial" panose="020B0604020202020204" pitchFamily="34" charset="0"/>
            </a:endParaRPr>
          </a:p>
        </p:txBody>
      </p:sp>
      <p:sp>
        <p:nvSpPr>
          <p:cNvPr id="88067" name="Rectangle 2">
            <a:extLst>
              <a:ext uri="{FF2B5EF4-FFF2-40B4-BE49-F238E27FC236}">
                <a16:creationId xmlns:a16="http://schemas.microsoft.com/office/drawing/2014/main" id="{0AA92326-6D0F-4B14-9B62-1600E2D0078A}"/>
              </a:ext>
            </a:extLst>
          </p:cNvPr>
          <p:cNvSpPr>
            <a:spLocks noGrp="1" noRot="1" noChangeAspect="1" noChangeArrowheads="1" noTextEdit="1"/>
          </p:cNvSpPr>
          <p:nvPr>
            <p:ph type="sldImg"/>
          </p:nvPr>
        </p:nvSpPr>
        <p:spPr>
          <a:xfrm>
            <a:off x="381000" y="685800"/>
            <a:ext cx="6096000" cy="3429000"/>
          </a:xfrm>
          <a:ln/>
        </p:spPr>
      </p:sp>
      <p:sp>
        <p:nvSpPr>
          <p:cNvPr id="88068" name="Rectangle 3">
            <a:extLst>
              <a:ext uri="{FF2B5EF4-FFF2-40B4-BE49-F238E27FC236}">
                <a16:creationId xmlns:a16="http://schemas.microsoft.com/office/drawing/2014/main" id="{7AEA2168-F5CF-429F-87A7-21C1D6E795A9}"/>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b="1"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a:extLst>
              <a:ext uri="{FF2B5EF4-FFF2-40B4-BE49-F238E27FC236}">
                <a16:creationId xmlns:a16="http://schemas.microsoft.com/office/drawing/2014/main" id="{4B90EBFC-C3CE-4245-AFBD-318E2D7FCEDF}"/>
              </a:ext>
            </a:extLst>
          </p:cNvPr>
          <p:cNvSpPr>
            <a:spLocks noGrp="1" noRot="1" noChangeAspect="1" noChangeArrowheads="1" noTextEdit="1"/>
          </p:cNvSpPr>
          <p:nvPr>
            <p:ph type="sldImg"/>
          </p:nvPr>
        </p:nvSpPr>
        <p:spPr>
          <a:xfrm>
            <a:off x="381000" y="685800"/>
            <a:ext cx="6096000" cy="3429000"/>
          </a:xfrm>
          <a:ln/>
        </p:spPr>
      </p:sp>
      <p:sp>
        <p:nvSpPr>
          <p:cNvPr id="90115" name="备注占位符 2">
            <a:extLst>
              <a:ext uri="{FF2B5EF4-FFF2-40B4-BE49-F238E27FC236}">
                <a16:creationId xmlns:a16="http://schemas.microsoft.com/office/drawing/2014/main" id="{5E3A3694-13B3-4D0E-B34E-DCB5D5A5D6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0116" name="灯片编号占位符 3">
            <a:extLst>
              <a:ext uri="{FF2B5EF4-FFF2-40B4-BE49-F238E27FC236}">
                <a16:creationId xmlns:a16="http://schemas.microsoft.com/office/drawing/2014/main" id="{6475B657-74BD-47B8-8B41-9DA7C1D3FB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100AC4A-25B6-4613-8B17-19332E55DF8A}" type="slidenum">
              <a:rPr lang="en-US" altLang="zh-CN" smtClean="0">
                <a:latin typeface="Arial" panose="020B0604020202020204" pitchFamily="34" charset="0"/>
              </a:rPr>
              <a:pPr/>
              <a:t>29</a:t>
            </a:fld>
            <a:endParaRPr lang="en-US" altLang="zh-CN">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AFCCE077-0E11-4969-B8C8-4CA99FA11F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CDACFE5-E62E-4B86-97DD-697A189CEDD5}" type="slidenum">
              <a:rPr lang="en-US" altLang="zh-CN" smtClean="0">
                <a:latin typeface="Arial" panose="020B0604020202020204" pitchFamily="34" charset="0"/>
              </a:rPr>
              <a:pPr/>
              <a:t>30</a:t>
            </a:fld>
            <a:endParaRPr lang="en-US" altLang="zh-CN">
              <a:latin typeface="Arial" panose="020B0604020202020204" pitchFamily="34" charset="0"/>
            </a:endParaRPr>
          </a:p>
        </p:txBody>
      </p:sp>
      <p:sp>
        <p:nvSpPr>
          <p:cNvPr id="92163" name="Rectangle 2">
            <a:extLst>
              <a:ext uri="{FF2B5EF4-FFF2-40B4-BE49-F238E27FC236}">
                <a16:creationId xmlns:a16="http://schemas.microsoft.com/office/drawing/2014/main" id="{D901B2DB-33B7-4A5D-A6BB-3F67E446A3AF}"/>
              </a:ext>
            </a:extLst>
          </p:cNvPr>
          <p:cNvSpPr>
            <a:spLocks noGrp="1" noRot="1" noChangeAspect="1" noChangeArrowheads="1" noTextEdit="1"/>
          </p:cNvSpPr>
          <p:nvPr>
            <p:ph type="sldImg"/>
          </p:nvPr>
        </p:nvSpPr>
        <p:spPr>
          <a:xfrm>
            <a:off x="381000" y="685800"/>
            <a:ext cx="6096000" cy="3429000"/>
          </a:xfrm>
          <a:ln/>
        </p:spPr>
      </p:sp>
      <p:sp>
        <p:nvSpPr>
          <p:cNvPr id="92164" name="Rectangle 3">
            <a:extLst>
              <a:ext uri="{FF2B5EF4-FFF2-40B4-BE49-F238E27FC236}">
                <a16:creationId xmlns:a16="http://schemas.microsoft.com/office/drawing/2014/main" id="{8DF4525A-9106-4AD3-9D02-64898FB2D7F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ea typeface="楷体_GB2312" pitchFamily="49" charset="-122"/>
              </a:rPr>
              <a:t>重要概念</a:t>
            </a:r>
            <a:endParaRPr lang="en-US" altLang="zh-CN" dirty="0">
              <a:ea typeface="楷体_GB2312" pitchFamily="49" charset="-122"/>
            </a:endParaRPr>
          </a:p>
          <a:p>
            <a:pPr eaLnBrk="1" hangingPunct="1"/>
            <a:endParaRPr lang="en-US" altLang="zh-CN" dirty="0">
              <a:ea typeface="楷体_GB2312" pitchFamily="49" charset="-122"/>
            </a:endParaRPr>
          </a:p>
          <a:p>
            <a:r>
              <a:rPr lang="zh-CN" altLang="en-US" dirty="0">
                <a:ea typeface="楷体_GB2312" pitchFamily="49" charset="-122"/>
              </a:rPr>
              <a:t>要求熟悉同工酶的特点    </a:t>
            </a:r>
          </a:p>
          <a:p>
            <a:endParaRPr lang="zh-CN" altLang="en-US" dirty="0">
              <a:ea typeface="楷体_GB2312" pitchFamily="49" charset="-122"/>
            </a:endParaRPr>
          </a:p>
          <a:p>
            <a:r>
              <a:rPr lang="zh-CN" altLang="en-US" dirty="0">
                <a:ea typeface="楷体_GB2312" pitchFamily="49" charset="-122"/>
              </a:rPr>
              <a:t>同工酶可以分布在不同组织细胞，甚至同一细胞的不同部位</a:t>
            </a:r>
          </a:p>
          <a:p>
            <a:r>
              <a:rPr lang="zh-CN" altLang="en-US" dirty="0">
                <a:ea typeface="楷体_GB2312" pitchFamily="49" charset="-122"/>
              </a:rPr>
              <a:t>同工酶多由同源基因编码，也可是同一基因的不同剪接产物。</a:t>
            </a:r>
            <a:endParaRPr lang="zh-CN" altLang="zh-CN" dirty="0">
              <a:ea typeface="楷体_GB2312" pitchFamily="49"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753E8D5B-0812-462B-A156-EBBFA3CA43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C704700-B516-43BB-8248-462FC16A096D}" type="slidenum">
              <a:rPr lang="en-US" altLang="zh-CN" smtClean="0">
                <a:latin typeface="Arial" panose="020B0604020202020204" pitchFamily="34" charset="0"/>
              </a:rPr>
              <a:pPr/>
              <a:t>31</a:t>
            </a:fld>
            <a:endParaRPr lang="en-US" altLang="zh-CN">
              <a:latin typeface="Arial" panose="020B0604020202020204" pitchFamily="34" charset="0"/>
            </a:endParaRPr>
          </a:p>
        </p:txBody>
      </p:sp>
      <p:sp>
        <p:nvSpPr>
          <p:cNvPr id="96259" name="Rectangle 2">
            <a:extLst>
              <a:ext uri="{FF2B5EF4-FFF2-40B4-BE49-F238E27FC236}">
                <a16:creationId xmlns:a16="http://schemas.microsoft.com/office/drawing/2014/main" id="{9C9BA2D2-B558-495D-BC10-6A9682541F93}"/>
              </a:ext>
            </a:extLst>
          </p:cNvPr>
          <p:cNvSpPr>
            <a:spLocks noGrp="1" noRot="1" noChangeAspect="1" noChangeArrowheads="1" noTextEdit="1"/>
          </p:cNvSpPr>
          <p:nvPr>
            <p:ph type="sldImg"/>
          </p:nvPr>
        </p:nvSpPr>
        <p:spPr>
          <a:xfrm>
            <a:off x="381000" y="685800"/>
            <a:ext cx="6096000" cy="3429000"/>
          </a:xfrm>
          <a:ln/>
        </p:spPr>
      </p:sp>
      <p:sp>
        <p:nvSpPr>
          <p:cNvPr id="96260" name="Rectangle 3">
            <a:extLst>
              <a:ext uri="{FF2B5EF4-FFF2-40B4-BE49-F238E27FC236}">
                <a16:creationId xmlns:a16="http://schemas.microsoft.com/office/drawing/2014/main" id="{06AC7586-FE57-4A19-AA32-55EDD772DC9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sz="1000" dirty="0">
              <a:latin typeface="宋体" panose="02010600030101010101" pitchFamily="2" charset="-122"/>
            </a:endParaRPr>
          </a:p>
          <a:p>
            <a:r>
              <a:rPr lang="en-US" altLang="zh-CN" sz="1000" dirty="0">
                <a:latin typeface="宋体" panose="02010600030101010101" pitchFamily="2" charset="-122"/>
              </a:rPr>
              <a:t>M </a:t>
            </a:r>
            <a:r>
              <a:rPr lang="zh-CN" altLang="en-US" sz="1000" dirty="0">
                <a:latin typeface="宋体" panose="02010600030101010101" pitchFamily="2" charset="-122"/>
              </a:rPr>
              <a:t>型亚基的</a:t>
            </a:r>
            <a:r>
              <a:rPr lang="en-US" altLang="zh-CN" sz="1000" dirty="0">
                <a:latin typeface="宋体" panose="02010600030101010101" pitchFamily="2" charset="-122"/>
              </a:rPr>
              <a:t>30 </a:t>
            </a:r>
            <a:r>
              <a:rPr lang="zh-CN" altLang="en-US" sz="1000" dirty="0">
                <a:latin typeface="宋体" panose="02010600030101010101" pitchFamily="2" charset="-122"/>
              </a:rPr>
              <a:t>位为丙氨酸残基，</a:t>
            </a:r>
            <a:r>
              <a:rPr lang="en-US" altLang="zh-CN" sz="1000" dirty="0">
                <a:latin typeface="宋体" panose="02010600030101010101" pitchFamily="2" charset="-122"/>
              </a:rPr>
              <a:t>H </a:t>
            </a:r>
            <a:r>
              <a:rPr lang="zh-CN" altLang="en-US" sz="1000" dirty="0">
                <a:latin typeface="宋体" panose="02010600030101010101" pitchFamily="2" charset="-122"/>
              </a:rPr>
              <a:t>亚基则为谷氨酰胺残基，且</a:t>
            </a:r>
            <a:r>
              <a:rPr lang="en-US" altLang="zh-CN" sz="1000" dirty="0">
                <a:latin typeface="宋体" panose="02010600030101010101" pitchFamily="2" charset="-122"/>
              </a:rPr>
              <a:t>H </a:t>
            </a:r>
            <a:r>
              <a:rPr lang="zh-CN" altLang="en-US" sz="1000" dirty="0">
                <a:latin typeface="宋体" panose="02010600030101010101" pitchFamily="2" charset="-122"/>
              </a:rPr>
              <a:t>亚基中的酸性氨基酸残基较多。</a:t>
            </a:r>
            <a:endParaRPr lang="en-US" altLang="zh-CN" sz="1000" dirty="0">
              <a:latin typeface="宋体" panose="02010600030101010101" pitchFamily="2" charset="-122"/>
            </a:endParaRPr>
          </a:p>
          <a:p>
            <a:endParaRPr lang="en-US" altLang="zh-CN" sz="1000" dirty="0">
              <a:latin typeface="宋体" panose="02010600030101010101" pitchFamily="2" charset="-122"/>
            </a:endParaRPr>
          </a:p>
          <a:p>
            <a:r>
              <a:rPr lang="en-US" altLang="zh-CN" sz="1000" dirty="0">
                <a:latin typeface="宋体" panose="02010600030101010101" pitchFamily="2" charset="-122"/>
              </a:rPr>
              <a:t>The M and H subunits are encoded by two different genes.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a:extLst>
              <a:ext uri="{FF2B5EF4-FFF2-40B4-BE49-F238E27FC236}">
                <a16:creationId xmlns:a16="http://schemas.microsoft.com/office/drawing/2014/main" id="{244BEF43-914F-4565-B525-9DF0CE5F61B4}"/>
              </a:ext>
            </a:extLst>
          </p:cNvPr>
          <p:cNvSpPr>
            <a:spLocks noGrp="1" noRot="1" noChangeAspect="1" noChangeArrowheads="1" noTextEdit="1"/>
          </p:cNvSpPr>
          <p:nvPr>
            <p:ph type="sldImg"/>
          </p:nvPr>
        </p:nvSpPr>
        <p:spPr>
          <a:xfrm>
            <a:off x="381000" y="685800"/>
            <a:ext cx="6096000" cy="3429000"/>
          </a:xfrm>
          <a:ln/>
        </p:spPr>
      </p:sp>
      <p:sp>
        <p:nvSpPr>
          <p:cNvPr id="98307" name="备注占位符 2">
            <a:extLst>
              <a:ext uri="{FF2B5EF4-FFF2-40B4-BE49-F238E27FC236}">
                <a16:creationId xmlns:a16="http://schemas.microsoft.com/office/drawing/2014/main" id="{0F02697B-2693-49B7-AE4F-10F77FF1EAE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不同的</a:t>
            </a:r>
            <a:r>
              <a:rPr lang="en-US" altLang="zh-CN" dirty="0"/>
              <a:t>LDH</a:t>
            </a:r>
            <a:r>
              <a:rPr lang="zh-CN" altLang="en-US" dirty="0"/>
              <a:t>同工酶的</a:t>
            </a:r>
            <a:r>
              <a:rPr lang="en-US" altLang="zh-CN" dirty="0"/>
              <a:t>Vmax</a:t>
            </a:r>
            <a:r>
              <a:rPr lang="zh-CN" altLang="en-US" dirty="0"/>
              <a:t>和</a:t>
            </a:r>
            <a:r>
              <a:rPr lang="en-US" altLang="zh-CN" dirty="0"/>
              <a:t>Km</a:t>
            </a:r>
            <a:r>
              <a:rPr lang="zh-CN" altLang="en-US" dirty="0"/>
              <a:t>差异很大</a:t>
            </a:r>
            <a:r>
              <a:rPr lang="en-US" altLang="zh-CN" dirty="0"/>
              <a:t>.   </a:t>
            </a:r>
          </a:p>
          <a:p>
            <a:endParaRPr lang="en-US" altLang="zh-CN" dirty="0"/>
          </a:p>
          <a:p>
            <a:r>
              <a:rPr lang="en-US" altLang="zh-CN" dirty="0"/>
              <a:t>LDH</a:t>
            </a:r>
            <a:r>
              <a:rPr lang="en-US" altLang="zh-CN" baseline="-25000" dirty="0"/>
              <a:t>1</a:t>
            </a:r>
            <a:r>
              <a:rPr lang="zh-CN" altLang="en-US" dirty="0"/>
              <a:t>对乳酸的亲和力较大</a:t>
            </a:r>
            <a:r>
              <a:rPr lang="en-US" altLang="zh-CN" dirty="0"/>
              <a:t>(Km =4. 1 xl0</a:t>
            </a:r>
            <a:r>
              <a:rPr lang="en-US" altLang="zh-CN" baseline="30000" dirty="0"/>
              <a:t>-3</a:t>
            </a:r>
            <a:r>
              <a:rPr lang="en-US" altLang="zh-CN" dirty="0"/>
              <a:t>mol/L), </a:t>
            </a:r>
            <a:r>
              <a:rPr lang="zh-CN" altLang="en-US" dirty="0"/>
              <a:t>而</a:t>
            </a:r>
            <a:r>
              <a:rPr lang="en-US" altLang="zh-CN" dirty="0"/>
              <a:t>LDH5 </a:t>
            </a:r>
            <a:r>
              <a:rPr lang="zh-CN" altLang="en-US" dirty="0"/>
              <a:t>对乳酸的亲和力较小</a:t>
            </a:r>
            <a:r>
              <a:rPr lang="en-US" altLang="zh-CN" dirty="0"/>
              <a:t>(Km= 14. 3xl0</a:t>
            </a:r>
            <a:r>
              <a:rPr lang="en-US" altLang="zh-CN" baseline="30000" dirty="0"/>
              <a:t>-3</a:t>
            </a:r>
            <a:r>
              <a:rPr lang="en-US" altLang="zh-CN" dirty="0"/>
              <a:t>mol/L)</a:t>
            </a:r>
            <a:r>
              <a:rPr lang="zh-CN" altLang="en-US" dirty="0"/>
              <a:t>。</a:t>
            </a:r>
            <a:endParaRPr lang="en-US" altLang="zh-CN" dirty="0"/>
          </a:p>
          <a:p>
            <a:endParaRPr lang="en-US" altLang="zh-CN" dirty="0"/>
          </a:p>
          <a:p>
            <a:r>
              <a:rPr lang="zh-CN" altLang="en-US" dirty="0"/>
              <a:t>骨骼肌中，丙酮酸浓度很低时，</a:t>
            </a:r>
            <a:r>
              <a:rPr lang="en-US" altLang="zh-CN" dirty="0"/>
              <a:t>LDH</a:t>
            </a:r>
            <a:r>
              <a:rPr lang="en-US" altLang="zh-CN" baseline="-25000" dirty="0"/>
              <a:t>5</a:t>
            </a:r>
            <a:r>
              <a:rPr lang="zh-CN" altLang="en-US" dirty="0"/>
              <a:t>就能迅速地将其转变为乳酸，而心肌中的</a:t>
            </a:r>
            <a:r>
              <a:rPr lang="en-US" altLang="zh-CN" dirty="0"/>
              <a:t>LDH</a:t>
            </a:r>
            <a:r>
              <a:rPr lang="en-US" altLang="zh-CN" baseline="-25000" dirty="0"/>
              <a:t>1</a:t>
            </a:r>
            <a:r>
              <a:rPr lang="zh-CN" altLang="en-US" dirty="0"/>
              <a:t>则迅速地氧化乳酸生成丙酮酸。 </a:t>
            </a:r>
            <a:endParaRPr lang="en-US" altLang="zh-CN" dirty="0"/>
          </a:p>
          <a:p>
            <a:endParaRPr lang="en-US" altLang="zh-CN" dirty="0"/>
          </a:p>
        </p:txBody>
      </p:sp>
      <p:sp>
        <p:nvSpPr>
          <p:cNvPr id="98308" name="灯片编号占位符 3">
            <a:extLst>
              <a:ext uri="{FF2B5EF4-FFF2-40B4-BE49-F238E27FC236}">
                <a16:creationId xmlns:a16="http://schemas.microsoft.com/office/drawing/2014/main" id="{9F2202A7-DBAA-4536-A6B5-7959C5C3BC8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A9511DA-3D11-4EDA-AB65-4B7FAA885208}" type="slidenum">
              <a:rPr lang="en-US" altLang="zh-CN" smtClean="0">
                <a:latin typeface="Arial" panose="020B0604020202020204" pitchFamily="34" charset="0"/>
              </a:rPr>
              <a:pPr/>
              <a:t>32</a:t>
            </a:fld>
            <a:endParaRPr lang="en-US" altLang="zh-CN">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40AADBC5-45B6-45F0-8FEA-BFAF976EB0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55227E9-ECBD-46D5-A539-1F16C9178EFB}" type="slidenum">
              <a:rPr lang="en-US" altLang="zh-CN" smtClean="0">
                <a:latin typeface="Arial" panose="020B0604020202020204" pitchFamily="34" charset="0"/>
              </a:rPr>
              <a:pPr/>
              <a:t>33</a:t>
            </a:fld>
            <a:endParaRPr lang="en-US" altLang="zh-CN">
              <a:latin typeface="Arial" panose="020B0604020202020204" pitchFamily="34" charset="0"/>
            </a:endParaRPr>
          </a:p>
        </p:txBody>
      </p:sp>
      <p:sp>
        <p:nvSpPr>
          <p:cNvPr id="102403" name="Rectangle 2">
            <a:extLst>
              <a:ext uri="{FF2B5EF4-FFF2-40B4-BE49-F238E27FC236}">
                <a16:creationId xmlns:a16="http://schemas.microsoft.com/office/drawing/2014/main" id="{81411283-2A8A-4CC8-9C7E-F7B798E234DA}"/>
              </a:ext>
            </a:extLst>
          </p:cNvPr>
          <p:cNvSpPr>
            <a:spLocks noGrp="1" noRot="1" noChangeAspect="1" noChangeArrowheads="1" noTextEdit="1"/>
          </p:cNvSpPr>
          <p:nvPr>
            <p:ph type="sldImg"/>
          </p:nvPr>
        </p:nvSpPr>
        <p:spPr>
          <a:xfrm>
            <a:off x="381000" y="685800"/>
            <a:ext cx="6096000" cy="3429000"/>
          </a:xfrm>
          <a:ln/>
        </p:spPr>
      </p:sp>
      <p:sp>
        <p:nvSpPr>
          <p:cNvPr id="102404" name="Rectangle 3">
            <a:extLst>
              <a:ext uri="{FF2B5EF4-FFF2-40B4-BE49-F238E27FC236}">
                <a16:creationId xmlns:a16="http://schemas.microsoft.com/office/drawing/2014/main" id="{36804C09-40CA-4F37-B504-1A74268738F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不同资料来源数据略有别。   </a:t>
            </a:r>
            <a:endParaRPr lang="en-US"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21B78EB5-A90E-47A6-B1DE-5C3974D29C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B1E2E02-D7F1-4847-B52C-16E37C59946C}" type="slidenum">
              <a:rPr lang="en-US" altLang="zh-CN" smtClean="0">
                <a:latin typeface="Arial" panose="020B0604020202020204" pitchFamily="34" charset="0"/>
              </a:rPr>
              <a:pPr/>
              <a:t>34</a:t>
            </a:fld>
            <a:endParaRPr lang="en-US" altLang="zh-CN">
              <a:latin typeface="Arial" panose="020B0604020202020204" pitchFamily="34" charset="0"/>
            </a:endParaRPr>
          </a:p>
        </p:txBody>
      </p:sp>
      <p:sp>
        <p:nvSpPr>
          <p:cNvPr id="104451" name="Rectangle 2">
            <a:extLst>
              <a:ext uri="{FF2B5EF4-FFF2-40B4-BE49-F238E27FC236}">
                <a16:creationId xmlns:a16="http://schemas.microsoft.com/office/drawing/2014/main" id="{66FC945E-12F2-4D25-B92D-6C38F52D31B7}"/>
              </a:ext>
            </a:extLst>
          </p:cNvPr>
          <p:cNvSpPr>
            <a:spLocks noGrp="1" noRot="1" noChangeAspect="1" noChangeArrowheads="1" noTextEdit="1"/>
          </p:cNvSpPr>
          <p:nvPr>
            <p:ph type="sldImg"/>
          </p:nvPr>
        </p:nvSpPr>
        <p:spPr>
          <a:xfrm>
            <a:off x="381000" y="685800"/>
            <a:ext cx="6096000" cy="3429000"/>
          </a:xfrm>
          <a:ln/>
        </p:spPr>
      </p:sp>
      <p:sp>
        <p:nvSpPr>
          <p:cNvPr id="104452" name="Rectangle 3">
            <a:extLst>
              <a:ext uri="{FF2B5EF4-FFF2-40B4-BE49-F238E27FC236}">
                <a16:creationId xmlns:a16="http://schemas.microsoft.com/office/drawing/2014/main" id="{EB7855CB-81CE-4879-A010-3E5F22900F5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2400" b="1" dirty="0">
                <a:latin typeface="华文楷体" panose="02010600040101010101" pitchFamily="2" charset="-122"/>
                <a:ea typeface="华文楷体" panose="02010600040101010101" pitchFamily="2" charset="-122"/>
              </a:rPr>
              <a:t>对心梗的早期诊断，</a:t>
            </a:r>
            <a:r>
              <a:rPr lang="en-US" altLang="zh-CN" sz="2400" b="1" dirty="0">
                <a:latin typeface="华文楷体" panose="02010600040101010101" pitchFamily="2" charset="-122"/>
                <a:ea typeface="华文楷体" panose="02010600040101010101" pitchFamily="2" charset="-122"/>
              </a:rPr>
              <a:t>LDH1</a:t>
            </a:r>
            <a:r>
              <a:rPr lang="zh-CN" altLang="en-US" sz="2400" b="1" dirty="0">
                <a:latin typeface="华文楷体" panose="02010600040101010101" pitchFamily="2" charset="-122"/>
                <a:ea typeface="华文楷体" panose="02010600040101010101" pitchFamily="2" charset="-122"/>
              </a:rPr>
              <a:t>不及</a:t>
            </a:r>
            <a:r>
              <a:rPr lang="en-US" altLang="zh-CN" sz="2400" b="1" dirty="0">
                <a:latin typeface="华文楷体" panose="02010600040101010101" pitchFamily="2" charset="-122"/>
                <a:ea typeface="华文楷体" panose="02010600040101010101" pitchFamily="2" charset="-122"/>
              </a:rPr>
              <a:t>CPK</a:t>
            </a:r>
            <a:r>
              <a:rPr lang="en-US" altLang="zh-CN" sz="2400" b="1" baseline="-25000" dirty="0">
                <a:latin typeface="华文楷体" panose="02010600040101010101" pitchFamily="2" charset="-122"/>
                <a:ea typeface="华文楷体" panose="02010600040101010101" pitchFamily="2" charset="-122"/>
              </a:rPr>
              <a:t>2</a:t>
            </a:r>
            <a:r>
              <a:rPr lang="zh-CN" altLang="en-US" sz="2400" b="1" dirty="0">
                <a:latin typeface="华文楷体" panose="02010600040101010101" pitchFamily="2" charset="-122"/>
                <a:ea typeface="华文楷体" panose="02010600040101010101" pitchFamily="2" charset="-122"/>
              </a:rPr>
              <a:t>敏感， </a:t>
            </a:r>
            <a:r>
              <a:rPr lang="zh-CN" altLang="en-US" sz="2400" dirty="0">
                <a:latin typeface="华文楷体" panose="02010600040101010101" pitchFamily="2" charset="-122"/>
                <a:ea typeface="华文楷体" panose="02010600040101010101" pitchFamily="2" charset="-122"/>
              </a:rPr>
              <a:t>因为</a:t>
            </a:r>
            <a:r>
              <a:rPr lang="en-US" altLang="zh-CN" sz="2400" dirty="0">
                <a:latin typeface="华文楷体" panose="02010600040101010101" pitchFamily="2" charset="-122"/>
                <a:ea typeface="华文楷体" panose="02010600040101010101" pitchFamily="2" charset="-122"/>
              </a:rPr>
              <a:t>LDH</a:t>
            </a:r>
            <a:r>
              <a:rPr lang="zh-CN" altLang="en-US" sz="2400" dirty="0">
                <a:latin typeface="华文楷体" panose="02010600040101010101" pitchFamily="2" charset="-122"/>
                <a:ea typeface="华文楷体" panose="02010600040101010101" pitchFamily="2" charset="-122"/>
              </a:rPr>
              <a:t>的释放比</a:t>
            </a:r>
            <a:r>
              <a:rPr lang="en-US" altLang="zh-CN" sz="2400" dirty="0">
                <a:latin typeface="华文楷体" panose="02010600040101010101" pitchFamily="2" charset="-122"/>
                <a:ea typeface="华文楷体" panose="02010600040101010101" pitchFamily="2" charset="-122"/>
              </a:rPr>
              <a:t>CPK</a:t>
            </a:r>
            <a:r>
              <a:rPr lang="zh-CN" altLang="en-US" sz="2400" dirty="0">
                <a:latin typeface="华文楷体" panose="02010600040101010101" pitchFamily="2" charset="-122"/>
                <a:ea typeface="华文楷体" panose="02010600040101010101" pitchFamily="2" charset="-122"/>
              </a:rPr>
              <a:t>迟</a:t>
            </a: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到</a:t>
            </a: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天。 两者结合对诊断近期心梗有极强的价值</a:t>
            </a:r>
            <a:endParaRPr lang="en-US" altLang="zh-CN" sz="2400" dirty="0">
              <a:latin typeface="华文楷体" panose="02010600040101010101" pitchFamily="2" charset="-122"/>
              <a:ea typeface="华文楷体" panose="02010600040101010101" pitchFamily="2" charset="-122"/>
            </a:endParaRPr>
          </a:p>
          <a:p>
            <a:pPr eaLnBrk="1" hangingPunct="1"/>
            <a:endParaRPr lang="en-US" altLang="zh-CN" sz="2400" dirty="0">
              <a:latin typeface="华文楷体" panose="02010600040101010101" pitchFamily="2" charset="-122"/>
              <a:ea typeface="华文楷体" panose="0201060004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a:extLst>
              <a:ext uri="{FF2B5EF4-FFF2-40B4-BE49-F238E27FC236}">
                <a16:creationId xmlns:a16="http://schemas.microsoft.com/office/drawing/2014/main" id="{E87EC050-9C2A-4F05-AA9D-56B641AA6F8C}"/>
              </a:ext>
            </a:extLst>
          </p:cNvPr>
          <p:cNvSpPr>
            <a:spLocks noGrp="1" noRot="1" noChangeAspect="1" noChangeArrowheads="1" noTextEdit="1"/>
          </p:cNvSpPr>
          <p:nvPr>
            <p:ph type="sldImg"/>
          </p:nvPr>
        </p:nvSpPr>
        <p:spPr>
          <a:xfrm>
            <a:off x="381000" y="685800"/>
            <a:ext cx="6096000" cy="3429000"/>
          </a:xfrm>
          <a:ln/>
        </p:spPr>
      </p:sp>
      <p:sp>
        <p:nvSpPr>
          <p:cNvPr id="100355" name="备注占位符 2">
            <a:extLst>
              <a:ext uri="{FF2B5EF4-FFF2-40B4-BE49-F238E27FC236}">
                <a16:creationId xmlns:a16="http://schemas.microsoft.com/office/drawing/2014/main" id="{C36D0026-458F-471A-8D84-570023A2D5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CK2 </a:t>
            </a:r>
            <a:r>
              <a:rPr lang="zh-CN" altLang="en-US" dirty="0"/>
              <a:t>在诊断心肌梗死上有较高价值，其诊断敏感性和特异性均极高，分别达到</a:t>
            </a:r>
            <a:r>
              <a:rPr lang="en-US" altLang="zh-CN" dirty="0"/>
              <a:t>100%</a:t>
            </a:r>
            <a:r>
              <a:rPr lang="zh-CN" altLang="en-US" dirty="0"/>
              <a:t>和</a:t>
            </a:r>
            <a:r>
              <a:rPr lang="en-US" altLang="zh-CN" dirty="0"/>
              <a:t>99%</a:t>
            </a:r>
            <a:r>
              <a:rPr lang="zh-CN" altLang="en-US" dirty="0"/>
              <a:t>，它升高的幅度和持续的时间常用于判定梗塞的范围和严重性。</a:t>
            </a:r>
            <a:endParaRPr lang="en-US" altLang="zh-CN" dirty="0"/>
          </a:p>
          <a:p>
            <a:endParaRPr lang="en-US" altLang="zh-CN" dirty="0"/>
          </a:p>
          <a:p>
            <a:r>
              <a:rPr lang="zh-CN" altLang="en-US" b="1" i="0" dirty="0">
                <a:solidFill>
                  <a:srgbClr val="121212"/>
                </a:solidFill>
                <a:effectLst/>
                <a:latin typeface="-apple-system"/>
              </a:rPr>
              <a:t>生理性增高：</a:t>
            </a:r>
            <a:r>
              <a:rPr lang="zh-CN" altLang="en-US" b="0" i="0" dirty="0">
                <a:solidFill>
                  <a:srgbClr val="121212"/>
                </a:solidFill>
                <a:effectLst/>
                <a:latin typeface="-apple-system"/>
              </a:rPr>
              <a:t>运动后可导致肌酸激酶明显增高，且运动越剧烈、时间越长，肌酸激酶升高越明显；</a:t>
            </a:r>
            <a:endParaRPr lang="zh-CN" altLang="en-US" dirty="0"/>
          </a:p>
        </p:txBody>
      </p:sp>
      <p:sp>
        <p:nvSpPr>
          <p:cNvPr id="100356" name="灯片编号占位符 3">
            <a:extLst>
              <a:ext uri="{FF2B5EF4-FFF2-40B4-BE49-F238E27FC236}">
                <a16:creationId xmlns:a16="http://schemas.microsoft.com/office/drawing/2014/main" id="{7D62BD79-7BFB-4B69-A2D2-12E22643C79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8A10ADC-DF83-4F1D-8F43-7FF3B566995C}" type="slidenum">
              <a:rPr lang="en-US" altLang="zh-CN" smtClean="0">
                <a:latin typeface="Arial" panose="020B0604020202020204" pitchFamily="34" charset="0"/>
              </a:rPr>
              <a:pPr/>
              <a:t>35</a:t>
            </a:fld>
            <a:endParaRPr lang="en-US" altLang="zh-CN">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E9B0430-7464-4F40-B153-A89C9C1ECB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237E786-5F10-46B8-BAFE-F5AB54B54DE0}" type="slidenum">
              <a:rPr lang="en-US" altLang="zh-CN" smtClean="0">
                <a:latin typeface="Arial" panose="020B0604020202020204" pitchFamily="34" charset="0"/>
              </a:rPr>
              <a:pPr/>
              <a:t>36</a:t>
            </a:fld>
            <a:endParaRPr lang="en-US" altLang="zh-CN">
              <a:latin typeface="Arial" panose="020B0604020202020204" pitchFamily="34" charset="0"/>
            </a:endParaRPr>
          </a:p>
        </p:txBody>
      </p:sp>
      <p:sp>
        <p:nvSpPr>
          <p:cNvPr id="106499" name="Rectangle 2">
            <a:extLst>
              <a:ext uri="{FF2B5EF4-FFF2-40B4-BE49-F238E27FC236}">
                <a16:creationId xmlns:a16="http://schemas.microsoft.com/office/drawing/2014/main" id="{52620CDB-8796-4114-B53B-8CC12946C887}"/>
              </a:ext>
            </a:extLst>
          </p:cNvPr>
          <p:cNvSpPr>
            <a:spLocks noGrp="1" noRot="1" noChangeAspect="1" noChangeArrowheads="1" noTextEdit="1"/>
          </p:cNvSpPr>
          <p:nvPr>
            <p:ph type="sldImg"/>
          </p:nvPr>
        </p:nvSpPr>
        <p:spPr>
          <a:xfrm>
            <a:off x="381000" y="685800"/>
            <a:ext cx="6096000" cy="3429000"/>
          </a:xfrm>
          <a:ln/>
        </p:spPr>
      </p:sp>
      <p:sp>
        <p:nvSpPr>
          <p:cNvPr id="106500" name="Rectangle 3">
            <a:extLst>
              <a:ext uri="{FF2B5EF4-FFF2-40B4-BE49-F238E27FC236}">
                <a16:creationId xmlns:a16="http://schemas.microsoft.com/office/drawing/2014/main" id="{29886C4D-17F7-4255-BEF3-F4BB47FF96E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latin typeface="黑体" panose="02010609060101010101" pitchFamily="49" charset="-122"/>
              <a:ea typeface="黑体" panose="02010609060101010101" pitchFamily="49"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a:extLst>
              <a:ext uri="{FF2B5EF4-FFF2-40B4-BE49-F238E27FC236}">
                <a16:creationId xmlns:a16="http://schemas.microsoft.com/office/drawing/2014/main" id="{8847FF37-B9F1-4819-BFAB-5266FBC5E21F}"/>
              </a:ext>
            </a:extLst>
          </p:cNvPr>
          <p:cNvSpPr>
            <a:spLocks noGrp="1" noRot="1" noChangeAspect="1" noChangeArrowheads="1" noTextEdit="1"/>
          </p:cNvSpPr>
          <p:nvPr>
            <p:ph type="sldImg"/>
          </p:nvPr>
        </p:nvSpPr>
        <p:spPr>
          <a:xfrm>
            <a:off x="381000" y="685800"/>
            <a:ext cx="6096000" cy="3429000"/>
          </a:xfrm>
          <a:ln/>
        </p:spPr>
      </p:sp>
      <p:sp>
        <p:nvSpPr>
          <p:cNvPr id="108547" name="备注占位符 2">
            <a:extLst>
              <a:ext uri="{FF2B5EF4-FFF2-40B4-BE49-F238E27FC236}">
                <a16:creationId xmlns:a16="http://schemas.microsoft.com/office/drawing/2014/main" id="{E196FA2E-74D4-4AD2-A6D1-623F38E1D27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8548" name="灯片编号占位符 3">
            <a:extLst>
              <a:ext uri="{FF2B5EF4-FFF2-40B4-BE49-F238E27FC236}">
                <a16:creationId xmlns:a16="http://schemas.microsoft.com/office/drawing/2014/main" id="{5B09A62A-EEC3-4287-9DDC-9561A4BF4A2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300F4E2-AB3D-4AB5-ACCC-197E7F41D798}" type="slidenum">
              <a:rPr lang="en-US" altLang="zh-CN" smtClean="0">
                <a:latin typeface="Arial" panose="020B0604020202020204" pitchFamily="34" charset="0"/>
              </a:rPr>
              <a:pPr/>
              <a:t>37</a:t>
            </a:fld>
            <a:endParaRPr lang="en-US" altLang="zh-CN">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a:extLst>
              <a:ext uri="{FF2B5EF4-FFF2-40B4-BE49-F238E27FC236}">
                <a16:creationId xmlns:a16="http://schemas.microsoft.com/office/drawing/2014/main" id="{F1F68ADA-2DBA-47BF-9686-89134B23A4E2}"/>
              </a:ext>
            </a:extLst>
          </p:cNvPr>
          <p:cNvSpPr>
            <a:spLocks noGrp="1" noRot="1" noChangeAspect="1" noChangeArrowheads="1" noTextEdit="1"/>
          </p:cNvSpPr>
          <p:nvPr>
            <p:ph type="sldImg"/>
          </p:nvPr>
        </p:nvSpPr>
        <p:spPr>
          <a:xfrm>
            <a:off x="381000" y="685800"/>
            <a:ext cx="6096000" cy="3429000"/>
          </a:xfrm>
          <a:ln/>
        </p:spPr>
      </p:sp>
      <p:sp>
        <p:nvSpPr>
          <p:cNvPr id="110595" name="备注占位符 2">
            <a:extLst>
              <a:ext uri="{FF2B5EF4-FFF2-40B4-BE49-F238E27FC236}">
                <a16:creationId xmlns:a16="http://schemas.microsoft.com/office/drawing/2014/main" id="{2A68FE63-0A3E-4C42-B4C1-03ABC3D016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10596" name="灯片编号占位符 3">
            <a:extLst>
              <a:ext uri="{FF2B5EF4-FFF2-40B4-BE49-F238E27FC236}">
                <a16:creationId xmlns:a16="http://schemas.microsoft.com/office/drawing/2014/main" id="{01976A82-DD95-4E75-B4E3-3174E7E62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77A1809-E83D-4CA6-ABAF-33CA29474401}" type="slidenum">
              <a:rPr lang="en-US" altLang="zh-CN" smtClean="0">
                <a:latin typeface="Arial" panose="020B0604020202020204" pitchFamily="34" charset="0"/>
              </a:rPr>
              <a:pPr/>
              <a:t>38</a:t>
            </a:fld>
            <a:endParaRPr lang="en-US" altLang="zh-CN">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39</a:t>
            </a:fld>
            <a:endParaRPr lang="en-US" altLang="zh-CN"/>
          </a:p>
        </p:txBody>
      </p:sp>
    </p:spTree>
    <p:extLst>
      <p:ext uri="{BB962C8B-B14F-4D97-AF65-F5344CB8AC3E}">
        <p14:creationId xmlns:p14="http://schemas.microsoft.com/office/powerpoint/2010/main" val="37057678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a:extLst>
              <a:ext uri="{FF2B5EF4-FFF2-40B4-BE49-F238E27FC236}">
                <a16:creationId xmlns:a16="http://schemas.microsoft.com/office/drawing/2014/main" id="{2BD60952-0663-4801-A937-1FF902D45505}"/>
              </a:ext>
            </a:extLst>
          </p:cNvPr>
          <p:cNvSpPr>
            <a:spLocks noGrp="1" noRot="1" noChangeAspect="1" noChangeArrowheads="1" noTextEdit="1"/>
          </p:cNvSpPr>
          <p:nvPr>
            <p:ph type="sldImg"/>
          </p:nvPr>
        </p:nvSpPr>
        <p:spPr>
          <a:xfrm>
            <a:off x="381000" y="685800"/>
            <a:ext cx="6096000" cy="3429000"/>
          </a:xfrm>
          <a:ln/>
        </p:spPr>
      </p:sp>
      <p:sp>
        <p:nvSpPr>
          <p:cNvPr id="113667" name="备注占位符 2">
            <a:extLst>
              <a:ext uri="{FF2B5EF4-FFF2-40B4-BE49-F238E27FC236}">
                <a16:creationId xmlns:a16="http://schemas.microsoft.com/office/drawing/2014/main" id="{6FB52054-FCEC-4AD8-BB22-B51B256456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3668" name="灯片编号占位符 3">
            <a:extLst>
              <a:ext uri="{FF2B5EF4-FFF2-40B4-BE49-F238E27FC236}">
                <a16:creationId xmlns:a16="http://schemas.microsoft.com/office/drawing/2014/main" id="{BA8686C3-D4BF-4CBA-BE42-8BF5F8828B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181267E-D2D2-4C60-9FA7-0FFAB2280A9E}" type="slidenum">
              <a:rPr lang="en-US" altLang="zh-CN" smtClean="0">
                <a:latin typeface="Arial" panose="020B0604020202020204" pitchFamily="34" charset="0"/>
              </a:rPr>
              <a:pPr/>
              <a:t>40</a:t>
            </a:fld>
            <a:endParaRPr lang="en-US" altLang="zh-CN">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DAE35300-7806-401D-99D7-D8F1F87749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D09CE61-5340-4979-9CF6-3EE1916491A9}" type="slidenum">
              <a:rPr lang="en-US" altLang="zh-CN" smtClean="0">
                <a:latin typeface="Arial" panose="020B0604020202020204" pitchFamily="34" charset="0"/>
              </a:rPr>
              <a:pPr/>
              <a:t>41</a:t>
            </a:fld>
            <a:endParaRPr lang="en-US" altLang="zh-CN">
              <a:latin typeface="Arial" panose="020B0604020202020204" pitchFamily="34" charset="0"/>
            </a:endParaRPr>
          </a:p>
        </p:txBody>
      </p:sp>
      <p:sp>
        <p:nvSpPr>
          <p:cNvPr id="115715" name="Rectangle 2">
            <a:extLst>
              <a:ext uri="{FF2B5EF4-FFF2-40B4-BE49-F238E27FC236}">
                <a16:creationId xmlns:a16="http://schemas.microsoft.com/office/drawing/2014/main" id="{990E7F13-9C7A-4E0A-A477-BB79A36F22D0}"/>
              </a:ext>
            </a:extLst>
          </p:cNvPr>
          <p:cNvSpPr>
            <a:spLocks noGrp="1" noRot="1" noChangeAspect="1" noChangeArrowheads="1" noTextEdit="1"/>
          </p:cNvSpPr>
          <p:nvPr>
            <p:ph type="sldImg"/>
          </p:nvPr>
        </p:nvSpPr>
        <p:spPr>
          <a:xfrm>
            <a:off x="381000" y="685800"/>
            <a:ext cx="6096000" cy="3429000"/>
          </a:xfrm>
          <a:ln/>
        </p:spPr>
      </p:sp>
      <p:sp>
        <p:nvSpPr>
          <p:cNvPr id="115716" name="Rectangle 3">
            <a:extLst>
              <a:ext uri="{FF2B5EF4-FFF2-40B4-BE49-F238E27FC236}">
                <a16:creationId xmlns:a16="http://schemas.microsoft.com/office/drawing/2014/main" id="{7FB94FCA-E62F-4602-B045-CC5BB884D70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表中数据是对比非催化反应</a:t>
            </a:r>
            <a:endParaRPr lang="en-US" altLang="zh-CN" dirty="0"/>
          </a:p>
          <a:p>
            <a:r>
              <a:rPr lang="zh-CN" altLang="en-US" dirty="0"/>
              <a:t>不同的资料关于高多少数量级有不完全一致的数据，略不同，可能源引资料有别。</a:t>
            </a:r>
            <a:endParaRPr lang="en-US" altLang="zh-CN" dirty="0"/>
          </a:p>
          <a:p>
            <a:r>
              <a:rPr lang="en-US" altLang="zh-CN" dirty="0"/>
              <a:t>Orotidine monophosphate decarboxylase</a:t>
            </a:r>
            <a:r>
              <a:rPr lang="zh-CN" altLang="en-US" dirty="0"/>
              <a:t>  乳清酸脱羧酶，催化乳清酸脱羧生成尿苷酸（</a:t>
            </a:r>
            <a:r>
              <a:rPr lang="en-US" altLang="zh-CN" dirty="0"/>
              <a:t>UMP</a:t>
            </a:r>
            <a:r>
              <a:rPr lang="zh-CN" altLang="en-US" dirty="0"/>
              <a:t>）。</a:t>
            </a:r>
            <a:endParaRPr lang="en-US" altLang="zh-CN" dirty="0"/>
          </a:p>
          <a:p>
            <a:endParaRPr lang="en-US" altLang="zh-CN" dirty="0"/>
          </a:p>
          <a:p>
            <a:endParaRPr lang="en-US" altLang="zh-CN" dirty="0">
              <a:cs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42</a:t>
            </a:fld>
            <a:endParaRPr lang="en-US" altLang="zh-CN"/>
          </a:p>
        </p:txBody>
      </p:sp>
    </p:spTree>
    <p:extLst>
      <p:ext uri="{BB962C8B-B14F-4D97-AF65-F5344CB8AC3E}">
        <p14:creationId xmlns:p14="http://schemas.microsoft.com/office/powerpoint/2010/main" val="34270644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8A6B3CB1-6D08-4CED-9C80-492EF94115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A49747F-80F6-44A8-B483-6C29B6EF6EDC}" type="slidenum">
              <a:rPr lang="en-US" altLang="zh-CN" smtClean="0">
                <a:latin typeface="Arial" panose="020B0604020202020204" pitchFamily="34" charset="0"/>
              </a:rPr>
              <a:pPr/>
              <a:t>43</a:t>
            </a:fld>
            <a:endParaRPr lang="en-US" altLang="zh-CN">
              <a:latin typeface="Arial" panose="020B0604020202020204" pitchFamily="34" charset="0"/>
            </a:endParaRPr>
          </a:p>
        </p:txBody>
      </p:sp>
      <p:sp>
        <p:nvSpPr>
          <p:cNvPr id="117763" name="Rectangle 2">
            <a:extLst>
              <a:ext uri="{FF2B5EF4-FFF2-40B4-BE49-F238E27FC236}">
                <a16:creationId xmlns:a16="http://schemas.microsoft.com/office/drawing/2014/main" id="{0FA11532-7D44-4440-ACD1-A8ACFA72EB64}"/>
              </a:ext>
            </a:extLst>
          </p:cNvPr>
          <p:cNvSpPr>
            <a:spLocks noGrp="1" noRot="1" noChangeAspect="1" noChangeArrowheads="1" noTextEdit="1"/>
          </p:cNvSpPr>
          <p:nvPr>
            <p:ph type="sldImg"/>
          </p:nvPr>
        </p:nvSpPr>
        <p:spPr>
          <a:xfrm>
            <a:off x="381000" y="685800"/>
            <a:ext cx="6096000" cy="3429000"/>
          </a:xfrm>
          <a:ln/>
        </p:spPr>
      </p:sp>
      <p:sp>
        <p:nvSpPr>
          <p:cNvPr id="531459" name="Rectangle 3">
            <a:extLst>
              <a:ext uri="{FF2B5EF4-FFF2-40B4-BE49-F238E27FC236}">
                <a16:creationId xmlns:a16="http://schemas.microsoft.com/office/drawing/2014/main" id="{9DF52C4C-5BEA-4545-9A67-57C67FC3E376}"/>
              </a:ext>
            </a:extLst>
          </p:cNvPr>
          <p:cNvSpPr>
            <a:spLocks noGrp="1" noChangeArrowheads="1"/>
          </p:cNvSpPr>
          <p:nvPr>
            <p:ph type="body" idx="1"/>
          </p:nvPr>
        </p:nvSpPr>
        <p:spPr>
          <a:xfrm>
            <a:off x="914400" y="4343400"/>
            <a:ext cx="5029200" cy="4114800"/>
          </a:xfrm>
        </p:spPr>
        <p:txBody>
          <a:bodyPr/>
          <a:lstStyle/>
          <a:p>
            <a:pPr eaLnBrk="1" hangingPunct="1">
              <a:defRPr/>
            </a:pPr>
            <a:endParaRPr lang="zh-CN" altLang="en-US" sz="2800" dirty="0">
              <a:effectLst>
                <a:outerShdw blurRad="38100" dist="38100" dir="2700000" algn="tl">
                  <a:srgbClr val="C0C0C0"/>
                </a:outerShdw>
              </a:effectLst>
              <a:ea typeface="华文楷体"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a:extLst>
              <a:ext uri="{FF2B5EF4-FFF2-40B4-BE49-F238E27FC236}">
                <a16:creationId xmlns:a16="http://schemas.microsoft.com/office/drawing/2014/main" id="{6B0B1FEC-D6E6-42C0-BDB5-4DB36BF077BA}"/>
              </a:ext>
            </a:extLst>
          </p:cNvPr>
          <p:cNvSpPr>
            <a:spLocks noGrp="1" noRot="1" noChangeAspect="1" noChangeArrowheads="1" noTextEdit="1"/>
          </p:cNvSpPr>
          <p:nvPr>
            <p:ph type="sldImg"/>
          </p:nvPr>
        </p:nvSpPr>
        <p:spPr>
          <a:xfrm>
            <a:off x="381000" y="685800"/>
            <a:ext cx="6096000" cy="3429000"/>
          </a:xfrm>
          <a:ln/>
        </p:spPr>
      </p:sp>
      <p:sp>
        <p:nvSpPr>
          <p:cNvPr id="121859" name="备注占位符 2">
            <a:extLst>
              <a:ext uri="{FF2B5EF4-FFF2-40B4-BE49-F238E27FC236}">
                <a16:creationId xmlns:a16="http://schemas.microsoft.com/office/drawing/2014/main" id="{53BD7EE4-E8DD-4454-B0DC-1C5489A2AB7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脲酶就是尿素酶 </a:t>
            </a:r>
          </a:p>
        </p:txBody>
      </p:sp>
      <p:sp>
        <p:nvSpPr>
          <p:cNvPr id="121860" name="灯片编号占位符 3">
            <a:extLst>
              <a:ext uri="{FF2B5EF4-FFF2-40B4-BE49-F238E27FC236}">
                <a16:creationId xmlns:a16="http://schemas.microsoft.com/office/drawing/2014/main" id="{57561EAB-EB23-4D00-A5D9-725D6B25C78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B569CA0-0151-4433-97DD-5E78EB0A8001}" type="slidenum">
              <a:rPr lang="en-US" altLang="zh-CN" smtClean="0">
                <a:latin typeface="Arial" panose="020B0604020202020204" pitchFamily="34" charset="0"/>
              </a:rPr>
              <a:pPr/>
              <a:t>44</a:t>
            </a:fld>
            <a:endParaRPr lang="en-US" altLang="zh-CN">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8C23216E-EDF4-4CDA-8B80-9BDA99C39C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2B7B65F-543B-4925-9292-2A20CCAE24E9}" type="slidenum">
              <a:rPr lang="en-US" altLang="zh-CN" smtClean="0">
                <a:latin typeface="Arial" panose="020B0604020202020204" pitchFamily="34" charset="0"/>
              </a:rPr>
              <a:pPr/>
              <a:t>45</a:t>
            </a:fld>
            <a:endParaRPr lang="en-US" altLang="zh-CN">
              <a:latin typeface="Arial" panose="020B0604020202020204" pitchFamily="34" charset="0"/>
            </a:endParaRPr>
          </a:p>
        </p:txBody>
      </p:sp>
      <p:sp>
        <p:nvSpPr>
          <p:cNvPr id="125955" name="Rectangle 2">
            <a:extLst>
              <a:ext uri="{FF2B5EF4-FFF2-40B4-BE49-F238E27FC236}">
                <a16:creationId xmlns:a16="http://schemas.microsoft.com/office/drawing/2014/main" id="{167D4CB6-5027-4132-8E1B-2A3FC6BB8BF3}"/>
              </a:ext>
            </a:extLst>
          </p:cNvPr>
          <p:cNvSpPr>
            <a:spLocks noGrp="1" noRot="1" noChangeAspect="1" noChangeArrowheads="1" noTextEdit="1"/>
          </p:cNvSpPr>
          <p:nvPr>
            <p:ph type="sldImg"/>
          </p:nvPr>
        </p:nvSpPr>
        <p:spPr>
          <a:xfrm>
            <a:off x="381000" y="685800"/>
            <a:ext cx="6096000" cy="3429000"/>
          </a:xfrm>
          <a:ln/>
        </p:spPr>
      </p:sp>
      <p:sp>
        <p:nvSpPr>
          <p:cNvPr id="125956" name="Rectangle 3">
            <a:extLst>
              <a:ext uri="{FF2B5EF4-FFF2-40B4-BE49-F238E27FC236}">
                <a16:creationId xmlns:a16="http://schemas.microsoft.com/office/drawing/2014/main" id="{C4A6AA37-6CE7-46F9-919A-8DED362163D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pPr>
            <a:endParaRPr lang="zh-CN" altLang="en-US" dirty="0">
              <a:solidFill>
                <a:srgbClr val="FF99CC"/>
              </a:solidFill>
              <a:ea typeface="仿宋_GB2312" pitchFamily="49" charset="-122"/>
            </a:endParaRPr>
          </a:p>
          <a:p>
            <a:pPr eaLnBrk="1" hangingPunct="1">
              <a:spcBef>
                <a:spcPct val="50000"/>
              </a:spcBef>
            </a:pPr>
            <a:endParaRPr lang="en-US" altLang="zh-CN" dirty="0">
              <a:solidFill>
                <a:srgbClr val="FF99CC"/>
              </a:solidFill>
              <a:ea typeface="仿宋_GB2312" pitchFamily="49" charset="-122"/>
            </a:endParaRPr>
          </a:p>
          <a:p>
            <a:pPr eaLnBrk="1" hangingPunct="1">
              <a:spcBef>
                <a:spcPct val="50000"/>
              </a:spcBef>
            </a:pPr>
            <a:endParaRPr lang="en-US" altLang="zh-CN" dirty="0">
              <a:solidFill>
                <a:srgbClr val="FF99CC"/>
              </a:solidFill>
              <a:ea typeface="仿宋_GB2312" pitchFamily="49" charset="-122"/>
            </a:endParaRPr>
          </a:p>
          <a:p>
            <a:pPr eaLnBrk="1" hangingPunct="1">
              <a:spcBef>
                <a:spcPct val="50000"/>
              </a:spcBef>
            </a:pPr>
            <a:endParaRPr lang="zh-CN" altLang="en-US" dirty="0">
              <a:solidFill>
                <a:srgbClr val="FF99CC"/>
              </a:solidFill>
              <a:ea typeface="仿宋_GB2312" pitchFamily="49"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46</a:t>
            </a:fld>
            <a:endParaRPr lang="en-US" altLang="zh-CN"/>
          </a:p>
        </p:txBody>
      </p:sp>
    </p:spTree>
    <p:extLst>
      <p:ext uri="{BB962C8B-B14F-4D97-AF65-F5344CB8AC3E}">
        <p14:creationId xmlns:p14="http://schemas.microsoft.com/office/powerpoint/2010/main" val="2807797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0B771D68-77E4-4F5A-896E-BBC7C871E9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CBBFDD9-0838-4D57-BE66-7AC2E70C7CA7}" type="slidenum">
              <a:rPr lang="en-US" altLang="zh-CN" smtClean="0">
                <a:latin typeface="Arial" panose="020B0604020202020204" pitchFamily="34" charset="0"/>
              </a:rPr>
              <a:pPr/>
              <a:t>47</a:t>
            </a:fld>
            <a:endParaRPr lang="en-US" altLang="zh-CN">
              <a:latin typeface="Arial" panose="020B0604020202020204" pitchFamily="34" charset="0"/>
            </a:endParaRPr>
          </a:p>
        </p:txBody>
      </p:sp>
      <p:sp>
        <p:nvSpPr>
          <p:cNvPr id="130051" name="Rectangle 2">
            <a:extLst>
              <a:ext uri="{FF2B5EF4-FFF2-40B4-BE49-F238E27FC236}">
                <a16:creationId xmlns:a16="http://schemas.microsoft.com/office/drawing/2014/main" id="{67464DAE-9892-46A4-A025-B14F7CE3C3B7}"/>
              </a:ext>
            </a:extLst>
          </p:cNvPr>
          <p:cNvSpPr>
            <a:spLocks noGrp="1" noRot="1" noChangeAspect="1" noChangeArrowheads="1" noTextEdit="1"/>
          </p:cNvSpPr>
          <p:nvPr>
            <p:ph type="sldImg"/>
          </p:nvPr>
        </p:nvSpPr>
        <p:spPr>
          <a:xfrm>
            <a:off x="381000" y="685800"/>
            <a:ext cx="6096000" cy="3429000"/>
          </a:xfrm>
          <a:ln/>
        </p:spPr>
      </p:sp>
      <p:sp>
        <p:nvSpPr>
          <p:cNvPr id="536579" name="Rectangle 3">
            <a:extLst>
              <a:ext uri="{FF2B5EF4-FFF2-40B4-BE49-F238E27FC236}">
                <a16:creationId xmlns:a16="http://schemas.microsoft.com/office/drawing/2014/main" id="{548C989C-004D-48AF-AAF0-99C604C0D897}"/>
              </a:ext>
            </a:extLst>
          </p:cNvPr>
          <p:cNvSpPr>
            <a:spLocks noGrp="1" noChangeArrowheads="1"/>
          </p:cNvSpPr>
          <p:nvPr>
            <p:ph type="body" idx="1"/>
          </p:nvPr>
        </p:nvSpPr>
        <p:spPr>
          <a:xfrm>
            <a:off x="914400" y="4343400"/>
            <a:ext cx="5029200" cy="4114800"/>
          </a:xfrm>
        </p:spPr>
        <p:txBody>
          <a:bodyPr/>
          <a:lstStyle/>
          <a:p>
            <a:pPr eaLnBrk="1" hangingPunct="1">
              <a:lnSpc>
                <a:spcPct val="120000"/>
              </a:lnSpc>
              <a:spcBef>
                <a:spcPct val="0"/>
              </a:spcBef>
              <a:defRPr/>
            </a:pPr>
            <a:r>
              <a:rPr lang="zh-CN" altLang="en-US" sz="1000" dirty="0">
                <a:effectLst>
                  <a:outerShdw blurRad="38100" dist="38100" dir="2700000" algn="tl">
                    <a:srgbClr val="C0C0C0"/>
                  </a:outerShdw>
                </a:effectLst>
                <a:latin typeface="楷体_GB2312" pitchFamily="49" charset="-122"/>
                <a:ea typeface="楷体_GB2312" pitchFamily="49" charset="-122"/>
              </a:rPr>
              <a:t>包括键专一性和基团专一性</a:t>
            </a:r>
            <a:endParaRPr lang="en-US" altLang="zh-CN" sz="1000" dirty="0">
              <a:effectLst>
                <a:outerShdw blurRad="38100" dist="38100" dir="2700000" algn="tl">
                  <a:srgbClr val="C0C0C0"/>
                </a:outerShdw>
              </a:effectLst>
              <a:latin typeface="楷体_GB2312" pitchFamily="49" charset="-122"/>
              <a:ea typeface="楷体_GB2312" pitchFamily="49" charset="-122"/>
            </a:endParaRPr>
          </a:p>
          <a:p>
            <a:pPr eaLnBrk="1" hangingPunct="1">
              <a:lnSpc>
                <a:spcPct val="120000"/>
              </a:lnSpc>
              <a:spcBef>
                <a:spcPct val="0"/>
              </a:spcBef>
              <a:defRPr/>
            </a:pPr>
            <a:endParaRPr lang="zh-CN" altLang="en-US" sz="1000" b="1" dirty="0">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B2159477-78DD-44D4-A6EA-F766C8D421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690881F-8FE2-499B-942F-358E152921C1}" type="slidenum">
              <a:rPr lang="en-US" altLang="zh-CN" smtClean="0">
                <a:latin typeface="Arial" panose="020B0604020202020204" pitchFamily="34" charset="0"/>
              </a:rPr>
              <a:pPr/>
              <a:t>48</a:t>
            </a:fld>
            <a:endParaRPr lang="en-US" altLang="zh-CN">
              <a:latin typeface="Arial" panose="020B0604020202020204" pitchFamily="34" charset="0"/>
            </a:endParaRPr>
          </a:p>
        </p:txBody>
      </p:sp>
      <p:sp>
        <p:nvSpPr>
          <p:cNvPr id="132099" name="Rectangle 2">
            <a:extLst>
              <a:ext uri="{FF2B5EF4-FFF2-40B4-BE49-F238E27FC236}">
                <a16:creationId xmlns:a16="http://schemas.microsoft.com/office/drawing/2014/main" id="{4C72836C-8E51-4752-9223-C39119FA857C}"/>
              </a:ext>
            </a:extLst>
          </p:cNvPr>
          <p:cNvSpPr>
            <a:spLocks noGrp="1" noRot="1" noChangeAspect="1" noChangeArrowheads="1" noTextEdit="1"/>
          </p:cNvSpPr>
          <p:nvPr>
            <p:ph type="sldImg"/>
          </p:nvPr>
        </p:nvSpPr>
        <p:spPr>
          <a:xfrm>
            <a:off x="381000" y="685800"/>
            <a:ext cx="6096000" cy="3429000"/>
          </a:xfrm>
          <a:ln/>
        </p:spPr>
      </p:sp>
      <p:sp>
        <p:nvSpPr>
          <p:cNvPr id="132100" name="Rectangle 3">
            <a:extLst>
              <a:ext uri="{FF2B5EF4-FFF2-40B4-BE49-F238E27FC236}">
                <a16:creationId xmlns:a16="http://schemas.microsoft.com/office/drawing/2014/main" id="{1AF11E50-30BD-4869-AEDB-D781B3C67AE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400" dirty="0">
                <a:solidFill>
                  <a:srgbClr val="000000"/>
                </a:solidFill>
                <a:latin typeface="宋体" panose="02010600030101010101" pitchFamily="2" charset="-122"/>
                <a:ea typeface="楷体_GB2312" pitchFamily="49" charset="-122"/>
              </a:rPr>
              <a:t>酶的调控使生命活动中的各个反应得以有条不紊地进行。</a:t>
            </a:r>
          </a:p>
          <a:p>
            <a:pPr eaLnBrk="1" hangingPunct="1"/>
            <a:endParaRPr lang="en-US" altLang="zh-CN" sz="1400" dirty="0">
              <a:solidFill>
                <a:srgbClr val="000000"/>
              </a:solidFill>
              <a:latin typeface="宋体" panose="02010600030101010101" pitchFamily="2" charset="-122"/>
              <a:ea typeface="楷体_GB2312" pitchFamily="49"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6C64DCCE-B0D8-41D5-9476-9181265A97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A72D187-1E55-4E96-A99F-1648D8410C88}" type="slidenum">
              <a:rPr lang="en-US" altLang="zh-CN" smtClean="0">
                <a:latin typeface="Arial" panose="020B0604020202020204" pitchFamily="34" charset="0"/>
              </a:rPr>
              <a:pPr/>
              <a:t>49</a:t>
            </a:fld>
            <a:endParaRPr lang="en-US" altLang="zh-CN">
              <a:latin typeface="Arial" panose="020B0604020202020204" pitchFamily="34" charset="0"/>
            </a:endParaRPr>
          </a:p>
        </p:txBody>
      </p:sp>
      <p:sp>
        <p:nvSpPr>
          <p:cNvPr id="134147" name="Rectangle 2">
            <a:extLst>
              <a:ext uri="{FF2B5EF4-FFF2-40B4-BE49-F238E27FC236}">
                <a16:creationId xmlns:a16="http://schemas.microsoft.com/office/drawing/2014/main" id="{34A849EC-B36E-4B1E-B8EA-521B4594DF89}"/>
              </a:ext>
            </a:extLst>
          </p:cNvPr>
          <p:cNvSpPr>
            <a:spLocks noGrp="1" noRot="1" noChangeAspect="1" noChangeArrowheads="1" noTextEdit="1"/>
          </p:cNvSpPr>
          <p:nvPr>
            <p:ph type="sldImg"/>
          </p:nvPr>
        </p:nvSpPr>
        <p:spPr>
          <a:xfrm>
            <a:off x="381000" y="685800"/>
            <a:ext cx="6096000" cy="3429000"/>
          </a:xfrm>
          <a:ln/>
        </p:spPr>
      </p:sp>
      <p:sp>
        <p:nvSpPr>
          <p:cNvPr id="542723" name="Rectangle 3">
            <a:extLst>
              <a:ext uri="{FF2B5EF4-FFF2-40B4-BE49-F238E27FC236}">
                <a16:creationId xmlns:a16="http://schemas.microsoft.com/office/drawing/2014/main" id="{BB1D4C33-0ACD-4F7A-8662-37DB3A873494}"/>
              </a:ext>
            </a:extLst>
          </p:cNvPr>
          <p:cNvSpPr>
            <a:spLocks noGrp="1" noChangeArrowheads="1"/>
          </p:cNvSpPr>
          <p:nvPr>
            <p:ph type="body" idx="1"/>
          </p:nvPr>
        </p:nvSpPr>
        <p:spPr>
          <a:xfrm>
            <a:off x="914400" y="4343400"/>
            <a:ext cx="5029200" cy="4114800"/>
          </a:xfrm>
        </p:spPr>
        <p:txBody>
          <a:bodyPr/>
          <a:lstStyle/>
          <a:p>
            <a:pPr algn="just" eaLnBrk="1" hangingPunct="1">
              <a:lnSpc>
                <a:spcPct val="170000"/>
              </a:lnSpc>
              <a:spcBef>
                <a:spcPct val="20000"/>
              </a:spcBef>
              <a:buClr>
                <a:srgbClr val="0000FF"/>
              </a:buClr>
              <a:buSzPct val="75000"/>
              <a:buFont typeface="Wingdings" pitchFamily="2" charset="2"/>
              <a:buNone/>
              <a:defRPr/>
            </a:pPr>
            <a:r>
              <a:rPr lang="zh-CN" altLang="en-US" sz="2800" dirty="0">
                <a:solidFill>
                  <a:srgbClr val="99CCFF"/>
                </a:solidFill>
                <a:effectLst>
                  <a:outerShdw blurRad="38100" dist="38100" dir="2700000" algn="tl">
                    <a:srgbClr val="C0C0C0"/>
                  </a:outerShdw>
                </a:effectLst>
                <a:latin typeface="Verdana" pitchFamily="34" charset="0"/>
                <a:ea typeface="华文楷体" pitchFamily="2" charset="-122"/>
              </a:rPr>
              <a:t>反应速度与活化能直接相关，而</a:t>
            </a:r>
            <a:r>
              <a:rPr lang="en-US" altLang="zh-CN" sz="2800" dirty="0">
                <a:solidFill>
                  <a:srgbClr val="99CCFF"/>
                </a:solidFill>
                <a:effectLst>
                  <a:outerShdw blurRad="38100" dist="38100" dir="2700000" algn="tl">
                    <a:srgbClr val="C0C0C0"/>
                  </a:outerShdw>
                </a:effectLst>
                <a:latin typeface="Verdana" pitchFamily="34" charset="0"/>
                <a:ea typeface="华文楷体" pitchFamily="2" charset="-122"/>
              </a:rPr>
              <a:t>(</a:t>
            </a:r>
            <a:r>
              <a:rPr lang="zh-CN" altLang="en-US" sz="2800" dirty="0">
                <a:solidFill>
                  <a:srgbClr val="99CCFF"/>
                </a:solidFill>
                <a:effectLst>
                  <a:outerShdw blurRad="38100" dist="38100" dir="2700000" algn="tl">
                    <a:srgbClr val="C0C0C0"/>
                  </a:outerShdw>
                </a:effectLst>
                <a:latin typeface="Verdana" pitchFamily="34" charset="0"/>
                <a:ea typeface="华文楷体" pitchFamily="2" charset="-122"/>
              </a:rPr>
              <a:t>底物与产物）自由能的变化与反应平衡常数相关，注意区别。</a:t>
            </a:r>
            <a:endParaRPr lang="en-US" altLang="zh-CN" sz="2800" dirty="0">
              <a:solidFill>
                <a:srgbClr val="99CCFF"/>
              </a:solidFill>
              <a:effectLst>
                <a:outerShdw blurRad="38100" dist="38100" dir="2700000" algn="tl">
                  <a:srgbClr val="C0C0C0"/>
                </a:outerShdw>
              </a:effectLst>
              <a:latin typeface="Verdana" pitchFamily="34" charset="0"/>
              <a:ea typeface="华文楷体" pitchFamily="2" charset="-122"/>
            </a:endParaRPr>
          </a:p>
          <a:p>
            <a:pPr algn="just" eaLnBrk="1" hangingPunct="1">
              <a:lnSpc>
                <a:spcPct val="170000"/>
              </a:lnSpc>
              <a:spcBef>
                <a:spcPct val="20000"/>
              </a:spcBef>
              <a:buClr>
                <a:srgbClr val="0000FF"/>
              </a:buClr>
              <a:buSzPct val="75000"/>
              <a:buFont typeface="Wingdings" pitchFamily="2" charset="2"/>
              <a:buNone/>
              <a:defRPr/>
            </a:pPr>
            <a:endParaRPr lang="en-US" altLang="zh-CN" sz="2800" dirty="0">
              <a:solidFill>
                <a:srgbClr val="99CCFF"/>
              </a:solidFill>
              <a:effectLst>
                <a:outerShdw blurRad="38100" dist="38100" dir="2700000" algn="tl">
                  <a:srgbClr val="C0C0C0"/>
                </a:outerShdw>
              </a:effectLst>
              <a:latin typeface="Verdana" pitchFamily="34" charset="0"/>
              <a:ea typeface="华文楷体" pitchFamily="2" charset="-122"/>
            </a:endParaRPr>
          </a:p>
          <a:p>
            <a:pPr algn="just" eaLnBrk="1" hangingPunct="1">
              <a:lnSpc>
                <a:spcPct val="170000"/>
              </a:lnSpc>
              <a:spcBef>
                <a:spcPct val="20000"/>
              </a:spcBef>
              <a:buClr>
                <a:srgbClr val="0000FF"/>
              </a:buClr>
              <a:buSzPct val="75000"/>
              <a:buFont typeface="Wingdings" pitchFamily="2" charset="2"/>
              <a:buNone/>
              <a:defRPr/>
            </a:pPr>
            <a:r>
              <a:rPr lang="zh-CN" altLang="en-US" sz="2800" dirty="0">
                <a:solidFill>
                  <a:srgbClr val="99CCFF"/>
                </a:solidFill>
                <a:effectLst>
                  <a:outerShdw blurRad="38100" dist="38100" dir="2700000" algn="tl">
                    <a:srgbClr val="C0C0C0"/>
                  </a:outerShdw>
                </a:effectLst>
                <a:latin typeface="Verdana" pitchFamily="34" charset="0"/>
                <a:ea typeface="华文楷体" pitchFamily="2" charset="-122"/>
              </a:rPr>
              <a:t>活化能的存在对生命是必要的。 如果没有这样的能障，复杂的大分子物质将会很容易地自发地变为小分子物质， 细胞内复杂而有序的结构将不可能存在。 而酶正是在长期的生命演化过程中形成的能够有选择性地降低特定反应活化能的物质，以满足细胞生存的需要。 </a:t>
            </a:r>
          </a:p>
          <a:p>
            <a:pPr algn="just" eaLnBrk="1" hangingPunct="1">
              <a:lnSpc>
                <a:spcPct val="170000"/>
              </a:lnSpc>
              <a:spcBef>
                <a:spcPct val="20000"/>
              </a:spcBef>
              <a:buClr>
                <a:srgbClr val="0000FF"/>
              </a:buClr>
              <a:buSzPct val="75000"/>
              <a:buFont typeface="Wingdings" pitchFamily="2" charset="2"/>
              <a:buNone/>
              <a:defRPr/>
            </a:pPr>
            <a:endParaRPr lang="zh-CN" altLang="en-US" sz="2800" dirty="0">
              <a:solidFill>
                <a:srgbClr val="99CCFF"/>
              </a:solidFill>
              <a:effectLst>
                <a:outerShdw blurRad="38100" dist="38100" dir="2700000" algn="tl">
                  <a:srgbClr val="C0C0C0"/>
                </a:outerShdw>
              </a:effectLst>
              <a:latin typeface="Verdana" pitchFamily="34" charset="0"/>
              <a:ea typeface="华文楷体"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了解</a:t>
            </a:r>
            <a:endParaRPr lang="en-US" altLang="zh-CN" dirty="0"/>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50</a:t>
            </a:fld>
            <a:endParaRPr lang="en-US" altLang="zh-CN"/>
          </a:p>
        </p:txBody>
      </p:sp>
    </p:spTree>
    <p:extLst>
      <p:ext uri="{BB962C8B-B14F-4D97-AF65-F5344CB8AC3E}">
        <p14:creationId xmlns:p14="http://schemas.microsoft.com/office/powerpoint/2010/main" val="24585177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588449C3-8667-461A-83F2-AB50649F6A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C761F50-5ABF-4B46-90F0-5972D2290A14}" type="slidenum">
              <a:rPr lang="en-US" altLang="zh-CN" smtClean="0">
                <a:latin typeface="Arial" panose="020B0604020202020204" pitchFamily="34" charset="0"/>
              </a:rPr>
              <a:pPr/>
              <a:t>51</a:t>
            </a:fld>
            <a:endParaRPr lang="en-US" altLang="zh-CN">
              <a:latin typeface="Arial" panose="020B0604020202020204" pitchFamily="34" charset="0"/>
            </a:endParaRPr>
          </a:p>
        </p:txBody>
      </p:sp>
      <p:sp>
        <p:nvSpPr>
          <p:cNvPr id="146435" name="Rectangle 2">
            <a:extLst>
              <a:ext uri="{FF2B5EF4-FFF2-40B4-BE49-F238E27FC236}">
                <a16:creationId xmlns:a16="http://schemas.microsoft.com/office/drawing/2014/main" id="{241B3470-9207-4ED6-B487-BE00950A2D6C}"/>
              </a:ext>
            </a:extLst>
          </p:cNvPr>
          <p:cNvSpPr>
            <a:spLocks noGrp="1" noRot="1" noChangeAspect="1" noChangeArrowheads="1" noTextEdit="1"/>
          </p:cNvSpPr>
          <p:nvPr>
            <p:ph type="sldImg"/>
          </p:nvPr>
        </p:nvSpPr>
        <p:spPr>
          <a:xfrm>
            <a:off x="381000" y="685800"/>
            <a:ext cx="6096000" cy="3429000"/>
          </a:xfrm>
          <a:ln/>
        </p:spPr>
      </p:sp>
      <p:sp>
        <p:nvSpPr>
          <p:cNvPr id="146436" name="Rectangle 3">
            <a:extLst>
              <a:ext uri="{FF2B5EF4-FFF2-40B4-BE49-F238E27FC236}">
                <a16:creationId xmlns:a16="http://schemas.microsoft.com/office/drawing/2014/main" id="{335DC835-E7D1-498A-B50E-C247931F34B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酶是柔性分子，有可塑性。 结合底物过程中，酶会变形，而底物一旦被结合上，酶就能使底物形变或扭曲。 </a:t>
            </a:r>
          </a:p>
          <a:p>
            <a:pPr eaLnBrk="1" hangingPunct="1"/>
            <a:r>
              <a:rPr lang="zh-CN" altLang="en-US" b="1" dirty="0"/>
              <a:t>底物形变主要是指电子的重新分配</a:t>
            </a:r>
            <a:r>
              <a:rPr lang="zh-CN" altLang="en-US" dirty="0"/>
              <a:t>，产生所谓电子张力，使旧键弱化，并促进新键形成。 </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a:extLst>
              <a:ext uri="{FF2B5EF4-FFF2-40B4-BE49-F238E27FC236}">
                <a16:creationId xmlns:a16="http://schemas.microsoft.com/office/drawing/2014/main" id="{060D796F-8686-4BC4-ABA8-B3E7EC0C9E1E}"/>
              </a:ext>
            </a:extLst>
          </p:cNvPr>
          <p:cNvSpPr>
            <a:spLocks noGrp="1" noRot="1" noChangeAspect="1" noChangeArrowheads="1" noTextEdit="1"/>
          </p:cNvSpPr>
          <p:nvPr>
            <p:ph type="sldImg"/>
          </p:nvPr>
        </p:nvSpPr>
        <p:spPr>
          <a:xfrm>
            <a:off x="381000" y="685800"/>
            <a:ext cx="6096000" cy="3429000"/>
          </a:xfrm>
          <a:ln/>
        </p:spPr>
      </p:sp>
      <p:sp>
        <p:nvSpPr>
          <p:cNvPr id="148483" name="备注占位符 2">
            <a:extLst>
              <a:ext uri="{FF2B5EF4-FFF2-40B4-BE49-F238E27FC236}">
                <a16:creationId xmlns:a16="http://schemas.microsoft.com/office/drawing/2014/main" id="{54C9CA59-57C0-498E-BE5D-186E075AE1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注意看图中结合葡萄糖前后己糖激酶活性中心构象的区别。       这一步反应是糖分解代谢的第一步反应（参见糖代谢），也是第一个关键反应。 </a:t>
            </a:r>
          </a:p>
        </p:txBody>
      </p:sp>
      <p:sp>
        <p:nvSpPr>
          <p:cNvPr id="148484" name="灯片编号占位符 3">
            <a:extLst>
              <a:ext uri="{FF2B5EF4-FFF2-40B4-BE49-F238E27FC236}">
                <a16:creationId xmlns:a16="http://schemas.microsoft.com/office/drawing/2014/main" id="{57FF83CB-E2E5-45B5-885B-E34AE868A6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24338CD-50BB-4BB9-9670-1F6E5B436BC9}" type="slidenum">
              <a:rPr lang="en-US" altLang="zh-CN" smtClean="0">
                <a:latin typeface="Arial" panose="020B0604020202020204" pitchFamily="34" charset="0"/>
              </a:rPr>
              <a:pPr/>
              <a:t>52</a:t>
            </a:fld>
            <a:endParaRPr lang="en-US" altLang="zh-CN">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a:extLst>
              <a:ext uri="{FF2B5EF4-FFF2-40B4-BE49-F238E27FC236}">
                <a16:creationId xmlns:a16="http://schemas.microsoft.com/office/drawing/2014/main" id="{B2AB38FC-8C0C-4D77-8402-1A2AFF8B9A40}"/>
              </a:ext>
            </a:extLst>
          </p:cNvPr>
          <p:cNvSpPr>
            <a:spLocks noGrp="1" noRot="1" noChangeAspect="1" noChangeArrowheads="1" noTextEdit="1"/>
          </p:cNvSpPr>
          <p:nvPr>
            <p:ph type="sldImg"/>
          </p:nvPr>
        </p:nvSpPr>
        <p:spPr>
          <a:xfrm>
            <a:off x="381000" y="685800"/>
            <a:ext cx="6096000" cy="3429000"/>
          </a:xfrm>
          <a:ln/>
        </p:spPr>
      </p:sp>
      <p:sp>
        <p:nvSpPr>
          <p:cNvPr id="152579" name="备注占位符 2">
            <a:extLst>
              <a:ext uri="{FF2B5EF4-FFF2-40B4-BE49-F238E27FC236}">
                <a16:creationId xmlns:a16="http://schemas.microsoft.com/office/drawing/2014/main" id="{B7D794E4-A215-4F45-8359-1341E00782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An imaginary enzyme (</a:t>
            </a:r>
            <a:r>
              <a:rPr lang="en-US" altLang="zh-CN" dirty="0" err="1"/>
              <a:t>stickase</a:t>
            </a:r>
            <a:r>
              <a:rPr lang="en-US" altLang="zh-CN" dirty="0"/>
              <a:t>) designed to catalyze breakage of a metal stick.   </a:t>
            </a:r>
            <a:r>
              <a:rPr lang="zh-CN" altLang="en-US" dirty="0"/>
              <a:t>假想的能断裂金属棒的金属棒酶（且称为</a:t>
            </a:r>
            <a:r>
              <a:rPr lang="en-US" altLang="zh-CN" dirty="0" err="1"/>
              <a:t>stickase</a:t>
            </a:r>
            <a:r>
              <a:rPr lang="en-US" altLang="zh-CN" dirty="0"/>
              <a:t>)</a:t>
            </a:r>
            <a:r>
              <a:rPr lang="zh-CN" altLang="en-US" dirty="0"/>
              <a:t>的作用机制。 </a:t>
            </a:r>
            <a:endParaRPr lang="en-US" altLang="zh-CN" dirty="0"/>
          </a:p>
          <a:p>
            <a:r>
              <a:rPr lang="zh-CN" altLang="en-US" dirty="0"/>
              <a:t>很显然， 如果是图</a:t>
            </a:r>
            <a:r>
              <a:rPr lang="en-US" altLang="zh-CN" dirty="0"/>
              <a:t>b</a:t>
            </a:r>
            <a:r>
              <a:rPr lang="zh-CN" altLang="en-US" dirty="0"/>
              <a:t>中的酶，它与金属棒的结合太完美，反而阻碍了金属棒的断裂（</a:t>
            </a:r>
            <a:r>
              <a:rPr lang="en-US" altLang="zh-CN" dirty="0"/>
              <a:t>ES</a:t>
            </a:r>
            <a:r>
              <a:rPr lang="zh-CN" altLang="en-US" dirty="0"/>
              <a:t>复合物很稳定，其自由能反而比</a:t>
            </a:r>
            <a:r>
              <a:rPr lang="en-US" altLang="zh-CN" dirty="0"/>
              <a:t>S</a:t>
            </a:r>
            <a:r>
              <a:rPr lang="zh-CN" altLang="en-US" dirty="0"/>
              <a:t>的自由能更低，从</a:t>
            </a:r>
            <a:r>
              <a:rPr lang="en-US" altLang="zh-CN" dirty="0"/>
              <a:t>ES</a:t>
            </a:r>
            <a:r>
              <a:rPr lang="zh-CN" altLang="en-US" dirty="0"/>
              <a:t>到相应活化态的活化能反而更高了）。   只有图</a:t>
            </a:r>
            <a:r>
              <a:rPr lang="en-US" altLang="zh-CN" dirty="0"/>
              <a:t>c</a:t>
            </a:r>
            <a:r>
              <a:rPr lang="zh-CN" altLang="en-US" dirty="0"/>
              <a:t>中的酶，结构与金属棒并不能完美契合，但能诱导金属棒的断裂。  </a:t>
            </a:r>
            <a:endParaRPr lang="en-US" altLang="zh-CN" dirty="0"/>
          </a:p>
          <a:p>
            <a:r>
              <a:rPr lang="zh-CN" altLang="en-US" dirty="0"/>
              <a:t>左侧图分别与右侧的活化能图对应。  </a:t>
            </a:r>
            <a:r>
              <a:rPr lang="en-US" altLang="zh-CN" b="1" dirty="0"/>
              <a:t>V</a:t>
            </a:r>
            <a:r>
              <a:rPr lang="zh-CN" altLang="en-US" b="1" dirty="0"/>
              <a:t>形弯曲的金属棒代表过渡态</a:t>
            </a:r>
            <a:r>
              <a:rPr lang="zh-CN" altLang="en-US" dirty="0"/>
              <a:t>。 </a:t>
            </a:r>
          </a:p>
          <a:p>
            <a:endParaRPr lang="en-US" altLang="zh-CN" dirty="0"/>
          </a:p>
        </p:txBody>
      </p:sp>
      <p:sp>
        <p:nvSpPr>
          <p:cNvPr id="152580" name="灯片编号占位符 3">
            <a:extLst>
              <a:ext uri="{FF2B5EF4-FFF2-40B4-BE49-F238E27FC236}">
                <a16:creationId xmlns:a16="http://schemas.microsoft.com/office/drawing/2014/main" id="{9F99BAA7-0855-48A7-A56C-BFF6D823849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63C8B6C-683B-4EE8-8DE3-3FF871FCDAE0}" type="slidenum">
              <a:rPr lang="en-US" altLang="zh-CN" smtClean="0">
                <a:latin typeface="Arial" panose="020B0604020202020204" pitchFamily="34" charset="0"/>
              </a:rPr>
              <a:pPr/>
              <a:t>53</a:t>
            </a:fld>
            <a:endParaRPr lang="en-US" altLang="zh-CN">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F21314EE-0FBE-433F-BC6B-B4F1B7CC23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1B46AD6-C3F7-491A-81BA-D91DAA4B315B}" type="slidenum">
              <a:rPr lang="en-US" altLang="zh-CN" smtClean="0">
                <a:latin typeface="Arial" panose="020B0604020202020204" pitchFamily="34" charset="0"/>
              </a:rPr>
              <a:pPr/>
              <a:t>54</a:t>
            </a:fld>
            <a:endParaRPr lang="en-US" altLang="zh-CN">
              <a:latin typeface="Arial" panose="020B0604020202020204" pitchFamily="34" charset="0"/>
            </a:endParaRPr>
          </a:p>
        </p:txBody>
      </p:sp>
      <p:sp>
        <p:nvSpPr>
          <p:cNvPr id="140291" name="Rectangle 2">
            <a:extLst>
              <a:ext uri="{FF2B5EF4-FFF2-40B4-BE49-F238E27FC236}">
                <a16:creationId xmlns:a16="http://schemas.microsoft.com/office/drawing/2014/main" id="{CEE4B45F-D00A-445C-AD1A-2093467F1133}"/>
              </a:ext>
            </a:extLst>
          </p:cNvPr>
          <p:cNvSpPr>
            <a:spLocks noGrp="1" noRot="1" noChangeAspect="1" noChangeArrowheads="1" noTextEdit="1"/>
          </p:cNvSpPr>
          <p:nvPr>
            <p:ph type="sldImg"/>
          </p:nvPr>
        </p:nvSpPr>
        <p:spPr>
          <a:xfrm>
            <a:off x="381000" y="685800"/>
            <a:ext cx="6096000" cy="3429000"/>
          </a:xfrm>
          <a:ln/>
        </p:spPr>
      </p:sp>
      <p:sp>
        <p:nvSpPr>
          <p:cNvPr id="140292" name="Rectangle 3">
            <a:extLst>
              <a:ext uri="{FF2B5EF4-FFF2-40B4-BE49-F238E27FC236}">
                <a16:creationId xmlns:a16="http://schemas.microsoft.com/office/drawing/2014/main" id="{9FF30732-3822-4812-AEEA-5CB8A802BC95}"/>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过渡态理论认为化学反应</a:t>
            </a:r>
            <a:r>
              <a:rPr lang="zh-CN" altLang="en-US" b="1" dirty="0"/>
              <a:t>不仅需要碰撞</a:t>
            </a:r>
            <a:r>
              <a:rPr lang="zh-CN" altLang="en-US" dirty="0"/>
              <a:t>而且</a:t>
            </a:r>
            <a:r>
              <a:rPr lang="zh-CN" altLang="en-US" b="1" dirty="0"/>
              <a:t>必须经过一个短暂的过渡态或活化复合体</a:t>
            </a:r>
            <a:r>
              <a:rPr lang="zh-CN" altLang="en-US" dirty="0"/>
              <a:t>（</a:t>
            </a:r>
            <a:r>
              <a:rPr lang="en-US" altLang="zh-CN" dirty="0"/>
              <a:t>activated complex)</a:t>
            </a:r>
            <a:r>
              <a:rPr lang="zh-CN" altLang="en-US" dirty="0"/>
              <a:t>才能形成产物。 </a:t>
            </a:r>
          </a:p>
          <a:p>
            <a:endParaRPr lang="en-US" altLang="zh-CN" dirty="0"/>
          </a:p>
          <a:p>
            <a:r>
              <a:rPr lang="zh-CN" altLang="en-US" dirty="0"/>
              <a:t>过渡态理论中，</a:t>
            </a:r>
            <a:r>
              <a:rPr lang="en-US" altLang="zh-CN" dirty="0"/>
              <a:t>EX</a:t>
            </a:r>
            <a:r>
              <a:rPr lang="zh-CN" altLang="en-US" dirty="0"/>
              <a:t>是过渡态复合体，</a:t>
            </a:r>
            <a:r>
              <a:rPr lang="en-US" altLang="zh-CN" dirty="0"/>
              <a:t>ES</a:t>
            </a:r>
            <a:r>
              <a:rPr lang="zh-CN" altLang="en-US" dirty="0"/>
              <a:t>和</a:t>
            </a:r>
            <a:r>
              <a:rPr lang="en-US" altLang="zh-CN" dirty="0"/>
              <a:t>EP</a:t>
            </a:r>
            <a:r>
              <a:rPr lang="zh-CN" altLang="en-US" dirty="0"/>
              <a:t>都属中间复合体（</a:t>
            </a:r>
            <a:r>
              <a:rPr lang="en-US" altLang="zh-CN" dirty="0"/>
              <a:t>intermediate complex), </a:t>
            </a:r>
          </a:p>
          <a:p>
            <a:endParaRPr lang="en-US" altLang="zh-CN" dirty="0"/>
          </a:p>
          <a:p>
            <a:r>
              <a:rPr lang="zh-CN" altLang="en-US" dirty="0"/>
              <a:t>注意， 不要把中间复合体（寿命为</a:t>
            </a:r>
            <a:r>
              <a:rPr lang="en-US" altLang="zh-CN" dirty="0"/>
              <a:t>10</a:t>
            </a:r>
            <a:r>
              <a:rPr lang="en-US" altLang="zh-CN" baseline="30000" dirty="0"/>
              <a:t>-13</a:t>
            </a:r>
            <a:r>
              <a:rPr lang="en-US" altLang="zh-CN" dirty="0"/>
              <a:t>~10</a:t>
            </a:r>
            <a:r>
              <a:rPr lang="en-US" altLang="zh-CN" baseline="30000" dirty="0"/>
              <a:t>-3</a:t>
            </a:r>
            <a:r>
              <a:rPr lang="en-US" altLang="zh-CN" dirty="0"/>
              <a:t>s)</a:t>
            </a:r>
            <a:r>
              <a:rPr lang="zh-CN" altLang="en-US" dirty="0"/>
              <a:t>和过渡态复合体</a:t>
            </a:r>
            <a:r>
              <a:rPr lang="en-US" altLang="zh-CN" dirty="0"/>
              <a:t>(</a:t>
            </a:r>
            <a:r>
              <a:rPr lang="zh-CN" altLang="en-US" dirty="0"/>
              <a:t>寿命为</a:t>
            </a:r>
            <a:r>
              <a:rPr lang="en-US" altLang="zh-CN" dirty="0"/>
              <a:t>10</a:t>
            </a:r>
            <a:r>
              <a:rPr lang="en-US" altLang="zh-CN" baseline="30000" dirty="0"/>
              <a:t>-13</a:t>
            </a:r>
            <a:r>
              <a:rPr lang="en-US" altLang="zh-CN" dirty="0"/>
              <a:t>s)</a:t>
            </a:r>
            <a:r>
              <a:rPr lang="zh-CN" altLang="en-US" dirty="0"/>
              <a:t>等同起来，前者是相对稳定的分子形式，而过渡态很难捕捉。</a:t>
            </a:r>
          </a:p>
          <a:p>
            <a:endParaRPr lang="en-US" altLang="zh-CN" dirty="0"/>
          </a:p>
          <a:p>
            <a:endParaRPr lang="en-US" altLang="zh-CN" dirty="0"/>
          </a:p>
        </p:txBody>
      </p:sp>
    </p:spTree>
    <p:extLst>
      <p:ext uri="{BB962C8B-B14F-4D97-AF65-F5344CB8AC3E}">
        <p14:creationId xmlns:p14="http://schemas.microsoft.com/office/powerpoint/2010/main" val="35981059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a:extLst>
              <a:ext uri="{FF2B5EF4-FFF2-40B4-BE49-F238E27FC236}">
                <a16:creationId xmlns:a16="http://schemas.microsoft.com/office/drawing/2014/main" id="{1B9CE07A-DF28-40F4-8FEA-284DB192E8CE}"/>
              </a:ext>
            </a:extLst>
          </p:cNvPr>
          <p:cNvSpPr>
            <a:spLocks noGrp="1" noRot="1" noChangeAspect="1" noChangeArrowheads="1" noTextEdit="1"/>
          </p:cNvSpPr>
          <p:nvPr>
            <p:ph type="sldImg"/>
          </p:nvPr>
        </p:nvSpPr>
        <p:spPr>
          <a:xfrm>
            <a:off x="381000" y="685800"/>
            <a:ext cx="6096000" cy="3429000"/>
          </a:xfrm>
          <a:ln/>
        </p:spPr>
      </p:sp>
      <p:sp>
        <p:nvSpPr>
          <p:cNvPr id="142339" name="备注占位符 2">
            <a:extLst>
              <a:ext uri="{FF2B5EF4-FFF2-40B4-BE49-F238E27FC236}">
                <a16:creationId xmlns:a16="http://schemas.microsoft.com/office/drawing/2014/main" id="{57ADF409-9CFF-4CB5-ACB2-9FBC7984437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New pharmaceutical agents are almost always designed to inhibit an enzyme</a:t>
            </a:r>
            <a:r>
              <a:rPr lang="zh-CN" altLang="en-US" dirty="0"/>
              <a:t>。</a:t>
            </a:r>
            <a:endParaRPr lang="en-US" altLang="zh-CN" dirty="0"/>
          </a:p>
          <a:p>
            <a:endParaRPr lang="en-US" altLang="zh-CN" dirty="0"/>
          </a:p>
          <a:p>
            <a:endParaRPr lang="en-US" altLang="zh-CN" b="1" dirty="0"/>
          </a:p>
        </p:txBody>
      </p:sp>
      <p:sp>
        <p:nvSpPr>
          <p:cNvPr id="142340" name="灯片编号占位符 3">
            <a:extLst>
              <a:ext uri="{FF2B5EF4-FFF2-40B4-BE49-F238E27FC236}">
                <a16:creationId xmlns:a16="http://schemas.microsoft.com/office/drawing/2014/main" id="{651A86F5-31AF-4138-8ACC-254D1A53621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3A47467-E25E-4C06-9149-02818FA23119}" type="slidenum">
              <a:rPr lang="en-US" altLang="zh-CN" smtClean="0">
                <a:latin typeface="Arial" panose="020B0604020202020204" pitchFamily="34" charset="0"/>
              </a:rPr>
              <a:pPr/>
              <a:t>55</a:t>
            </a:fld>
            <a:endParaRPr lang="en-US" altLang="zh-CN">
              <a:latin typeface="Arial" panose="020B0604020202020204" pitchFamily="34" charset="0"/>
            </a:endParaRPr>
          </a:p>
        </p:txBody>
      </p:sp>
    </p:spTree>
    <p:extLst>
      <p:ext uri="{BB962C8B-B14F-4D97-AF65-F5344CB8AC3E}">
        <p14:creationId xmlns:p14="http://schemas.microsoft.com/office/powerpoint/2010/main" val="26708839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D22F860E-8198-4533-B238-2173D3C9F5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96DE744-D6E6-4C8C-925B-3C8EDC128345}" type="slidenum">
              <a:rPr lang="en-US" altLang="zh-CN" smtClean="0">
                <a:latin typeface="Arial" panose="020B0604020202020204" pitchFamily="34" charset="0"/>
              </a:rPr>
              <a:pPr/>
              <a:t>57</a:t>
            </a:fld>
            <a:endParaRPr lang="en-US" altLang="zh-CN">
              <a:latin typeface="Arial" panose="020B0604020202020204" pitchFamily="34" charset="0"/>
            </a:endParaRPr>
          </a:p>
        </p:txBody>
      </p:sp>
      <p:sp>
        <p:nvSpPr>
          <p:cNvPr id="154627" name="Rectangle 2">
            <a:extLst>
              <a:ext uri="{FF2B5EF4-FFF2-40B4-BE49-F238E27FC236}">
                <a16:creationId xmlns:a16="http://schemas.microsoft.com/office/drawing/2014/main" id="{CF91CAB8-D364-4853-885B-EFD8F83B7BE8}"/>
              </a:ext>
            </a:extLst>
          </p:cNvPr>
          <p:cNvSpPr>
            <a:spLocks noGrp="1" noRot="1" noChangeAspect="1" noChangeArrowheads="1" noTextEdit="1"/>
          </p:cNvSpPr>
          <p:nvPr>
            <p:ph type="sldImg"/>
          </p:nvPr>
        </p:nvSpPr>
        <p:spPr>
          <a:xfrm>
            <a:off x="381000" y="685800"/>
            <a:ext cx="6096000" cy="3429000"/>
          </a:xfrm>
          <a:ln/>
        </p:spPr>
      </p:sp>
      <p:sp>
        <p:nvSpPr>
          <p:cNvPr id="579587" name="Rectangle 3">
            <a:extLst>
              <a:ext uri="{FF2B5EF4-FFF2-40B4-BE49-F238E27FC236}">
                <a16:creationId xmlns:a16="http://schemas.microsoft.com/office/drawing/2014/main" id="{03068814-8B9C-44A1-B2D0-D4D2B9416B7E}"/>
              </a:ext>
            </a:extLst>
          </p:cNvPr>
          <p:cNvSpPr>
            <a:spLocks noGrp="1" noChangeArrowheads="1"/>
          </p:cNvSpPr>
          <p:nvPr>
            <p:ph type="body" idx="1"/>
          </p:nvPr>
        </p:nvSpPr>
        <p:spPr>
          <a:xfrm>
            <a:off x="914400" y="4343400"/>
            <a:ext cx="5029200" cy="4114800"/>
          </a:xfrm>
        </p:spPr>
        <p:txBody>
          <a:bodyPr/>
          <a:lstStyle/>
          <a:p>
            <a:pPr eaLnBrk="1" hangingPunct="1">
              <a:lnSpc>
                <a:spcPct val="145000"/>
              </a:lnSpc>
              <a:spcBef>
                <a:spcPct val="20000"/>
              </a:spcBef>
              <a:buClr>
                <a:schemeClr val="tx2"/>
              </a:buClr>
              <a:buSzPct val="75000"/>
              <a:buFont typeface="Wingdings" pitchFamily="2" charset="2"/>
              <a:buNone/>
              <a:defRPr/>
            </a:pPr>
            <a:r>
              <a:rPr lang="zh-CN" altLang="en-US" sz="2800" dirty="0">
                <a:latin typeface="华文楷体" pitchFamily="2" charset="-122"/>
                <a:ea typeface="华文楷体" pitchFamily="2" charset="-122"/>
              </a:rPr>
              <a:t>定向效应也称为轨道导向（</a:t>
            </a:r>
            <a:r>
              <a:rPr lang="en-US" altLang="zh-CN" sz="2800" dirty="0">
                <a:latin typeface="华文楷体" pitchFamily="2" charset="-122"/>
                <a:ea typeface="华文楷体" pitchFamily="2" charset="-122"/>
              </a:rPr>
              <a:t>orbital steering)</a:t>
            </a:r>
          </a:p>
          <a:p>
            <a:pPr eaLnBrk="1" hangingPunct="1">
              <a:lnSpc>
                <a:spcPct val="145000"/>
              </a:lnSpc>
              <a:spcBef>
                <a:spcPct val="20000"/>
              </a:spcBef>
              <a:buClr>
                <a:schemeClr val="tx2"/>
              </a:buClr>
              <a:buSzPct val="75000"/>
              <a:buFont typeface="Wingdings" pitchFamily="2" charset="2"/>
              <a:buNone/>
              <a:defRPr/>
            </a:pPr>
            <a:endParaRPr lang="en-US" altLang="zh-CN" sz="2800" dirty="0">
              <a:latin typeface="华文楷体" pitchFamily="2" charset="-122"/>
              <a:ea typeface="华文楷体" pitchFamily="2" charset="-122"/>
            </a:endParaRPr>
          </a:p>
          <a:p>
            <a:pPr eaLnBrk="1" hangingPunct="1">
              <a:lnSpc>
                <a:spcPct val="145000"/>
              </a:lnSpc>
              <a:spcBef>
                <a:spcPct val="20000"/>
              </a:spcBef>
              <a:buClr>
                <a:schemeClr val="tx2"/>
              </a:buClr>
              <a:buSzPct val="75000"/>
              <a:buFont typeface="Wingdings" pitchFamily="2" charset="2"/>
              <a:buNone/>
              <a:defRPr/>
            </a:pPr>
            <a:r>
              <a:rPr lang="zh-CN" altLang="en-US" sz="2800" dirty="0">
                <a:latin typeface="华文楷体" pitchFamily="2" charset="-122"/>
                <a:ea typeface="华文楷体" pitchFamily="2" charset="-122"/>
              </a:rPr>
              <a:t>定向效应有利底物形变（</a:t>
            </a:r>
            <a:r>
              <a:rPr lang="en-US" altLang="zh-CN" sz="2800" dirty="0">
                <a:latin typeface="华文楷体" pitchFamily="2" charset="-122"/>
                <a:ea typeface="华文楷体" pitchFamily="2" charset="-122"/>
              </a:rPr>
              <a:t>substrate strain</a:t>
            </a:r>
            <a:r>
              <a:rPr lang="zh-CN" altLang="en-US"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a:p>
            <a:pPr eaLnBrk="1" hangingPunct="1">
              <a:lnSpc>
                <a:spcPct val="145000"/>
              </a:lnSpc>
              <a:spcBef>
                <a:spcPct val="20000"/>
              </a:spcBef>
              <a:buClr>
                <a:schemeClr val="tx2"/>
              </a:buClr>
              <a:buSzPct val="75000"/>
              <a:buFont typeface="Wingdings" pitchFamily="2" charset="2"/>
              <a:buNone/>
              <a:defRPr/>
            </a:pPr>
            <a:endParaRPr lang="zh-CN" altLang="zh-CN" sz="2800" b="1" dirty="0">
              <a:effectLst>
                <a:outerShdw blurRad="38100" dist="38100" dir="2700000" algn="tl">
                  <a:srgbClr val="C0C0C0"/>
                </a:outerShdw>
              </a:effectLst>
              <a:latin typeface="华文楷体" pitchFamily="2" charset="-122"/>
              <a:ea typeface="华文楷体"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a:extLst>
              <a:ext uri="{FF2B5EF4-FFF2-40B4-BE49-F238E27FC236}">
                <a16:creationId xmlns:a16="http://schemas.microsoft.com/office/drawing/2014/main" id="{4CE2255D-8708-4436-951B-1C9CB946B2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8899A31-A145-48D7-96FF-DE706CEF7A26}" type="slidenum">
              <a:rPr lang="en-US" altLang="zh-CN" smtClean="0">
                <a:latin typeface="Arial" panose="020B0604020202020204" pitchFamily="34" charset="0"/>
              </a:rPr>
              <a:pPr/>
              <a:t>58</a:t>
            </a:fld>
            <a:endParaRPr lang="en-US" altLang="zh-CN">
              <a:latin typeface="Arial" panose="020B0604020202020204" pitchFamily="34" charset="0"/>
            </a:endParaRPr>
          </a:p>
        </p:txBody>
      </p:sp>
      <p:sp>
        <p:nvSpPr>
          <p:cNvPr id="156675" name="Rectangle 2">
            <a:extLst>
              <a:ext uri="{FF2B5EF4-FFF2-40B4-BE49-F238E27FC236}">
                <a16:creationId xmlns:a16="http://schemas.microsoft.com/office/drawing/2014/main" id="{5ADE087F-FCD7-40C4-85B4-38188E28EFDF}"/>
              </a:ext>
            </a:extLst>
          </p:cNvPr>
          <p:cNvSpPr>
            <a:spLocks noGrp="1" noRot="1" noChangeAspect="1" noChangeArrowheads="1" noTextEdit="1"/>
          </p:cNvSpPr>
          <p:nvPr>
            <p:ph type="sldImg"/>
          </p:nvPr>
        </p:nvSpPr>
        <p:spPr>
          <a:xfrm>
            <a:off x="381000" y="685800"/>
            <a:ext cx="6096000" cy="3429000"/>
          </a:xfrm>
          <a:ln/>
        </p:spPr>
      </p:sp>
      <p:sp>
        <p:nvSpPr>
          <p:cNvPr id="583683" name="Rectangle 3">
            <a:extLst>
              <a:ext uri="{FF2B5EF4-FFF2-40B4-BE49-F238E27FC236}">
                <a16:creationId xmlns:a16="http://schemas.microsoft.com/office/drawing/2014/main" id="{D8A89B68-3CEF-427B-BEAC-E8C462E809AF}"/>
              </a:ext>
            </a:extLst>
          </p:cNvPr>
          <p:cNvSpPr>
            <a:spLocks noGrp="1" noChangeArrowheads="1"/>
          </p:cNvSpPr>
          <p:nvPr>
            <p:ph type="body" idx="1"/>
          </p:nvPr>
        </p:nvSpPr>
        <p:spPr>
          <a:xfrm>
            <a:off x="914400" y="4343400"/>
            <a:ext cx="5029200" cy="4114800"/>
          </a:xfrm>
        </p:spPr>
        <p:txBody>
          <a:bodyPr/>
          <a:lstStyle/>
          <a:p>
            <a:pPr eaLnBrk="1" hangingPunct="1">
              <a:lnSpc>
                <a:spcPct val="145000"/>
              </a:lnSpc>
              <a:spcBef>
                <a:spcPct val="20000"/>
              </a:spcBef>
              <a:buClr>
                <a:schemeClr val="tx2"/>
              </a:buClr>
              <a:buSzPct val="75000"/>
              <a:buFont typeface="Wingdings" pitchFamily="2" charset="2"/>
              <a:buNone/>
              <a:defRPr/>
            </a:pPr>
            <a:endParaRPr lang="zh-CN" altLang="zh-CN" sz="2800" b="1" dirty="0">
              <a:effectLst>
                <a:outerShdw blurRad="38100" dist="38100" dir="2700000" algn="tl">
                  <a:srgbClr val="C0C0C0"/>
                </a:outerShdw>
              </a:effectLst>
              <a:latin typeface="华文楷体" pitchFamily="2" charset="-122"/>
              <a:ea typeface="华文楷体"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F09A85DD-7225-4210-8279-C182A98B4C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C422D3F-E875-4971-B475-9A5872424022}" type="slidenum">
              <a:rPr lang="en-US" altLang="zh-CN" smtClean="0">
                <a:latin typeface="Arial" panose="020B0604020202020204" pitchFamily="34" charset="0"/>
              </a:rPr>
              <a:pPr/>
              <a:t>59</a:t>
            </a:fld>
            <a:endParaRPr lang="en-US" altLang="zh-CN">
              <a:latin typeface="Arial" panose="020B0604020202020204" pitchFamily="34" charset="0"/>
            </a:endParaRPr>
          </a:p>
        </p:txBody>
      </p:sp>
      <p:sp>
        <p:nvSpPr>
          <p:cNvPr id="158723" name="Rectangle 2">
            <a:extLst>
              <a:ext uri="{FF2B5EF4-FFF2-40B4-BE49-F238E27FC236}">
                <a16:creationId xmlns:a16="http://schemas.microsoft.com/office/drawing/2014/main" id="{2A04C66B-4039-4EE1-829D-F286889A0E4A}"/>
              </a:ext>
            </a:extLst>
          </p:cNvPr>
          <p:cNvSpPr>
            <a:spLocks noGrp="1" noRot="1" noChangeAspect="1" noChangeArrowheads="1" noTextEdit="1"/>
          </p:cNvSpPr>
          <p:nvPr>
            <p:ph type="sldImg"/>
          </p:nvPr>
        </p:nvSpPr>
        <p:spPr>
          <a:xfrm>
            <a:off x="381000" y="685800"/>
            <a:ext cx="6096000" cy="3429000"/>
          </a:xfrm>
          <a:ln/>
        </p:spPr>
      </p:sp>
      <p:sp>
        <p:nvSpPr>
          <p:cNvPr id="772099" name="Rectangle 3">
            <a:extLst>
              <a:ext uri="{FF2B5EF4-FFF2-40B4-BE49-F238E27FC236}">
                <a16:creationId xmlns:a16="http://schemas.microsoft.com/office/drawing/2014/main" id="{6E25A491-25C0-41F6-ADB1-76DD314B9258}"/>
              </a:ext>
            </a:extLst>
          </p:cNvPr>
          <p:cNvSpPr>
            <a:spLocks noGrp="1" noChangeArrowheads="1"/>
          </p:cNvSpPr>
          <p:nvPr>
            <p:ph type="body" idx="1"/>
          </p:nvPr>
        </p:nvSpPr>
        <p:spPr>
          <a:xfrm>
            <a:off x="914400" y="4343400"/>
            <a:ext cx="5029200" cy="4114800"/>
          </a:xfrm>
        </p:spPr>
        <p:txBody>
          <a:bodyPr/>
          <a:lstStyle/>
          <a:p>
            <a:pPr eaLnBrk="1" hangingPunct="1">
              <a:lnSpc>
                <a:spcPct val="145000"/>
              </a:lnSpc>
              <a:spcBef>
                <a:spcPct val="20000"/>
              </a:spcBef>
              <a:buClr>
                <a:schemeClr val="tx2"/>
              </a:buClr>
              <a:buSzPct val="75000"/>
              <a:buFont typeface="Wingdings" pitchFamily="2" charset="2"/>
              <a:buNone/>
              <a:defRPr/>
            </a:pPr>
            <a:endParaRPr kumimoji="1" lang="en-US" altLang="zh-CN" dirty="0">
              <a:effectLst>
                <a:outerShdw blurRad="38100" dist="38100" dir="2700000" algn="tl">
                  <a:srgbClr val="C0C0C0"/>
                </a:outerShdw>
              </a:effectLst>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a:extLst>
              <a:ext uri="{FF2B5EF4-FFF2-40B4-BE49-F238E27FC236}">
                <a16:creationId xmlns:a16="http://schemas.microsoft.com/office/drawing/2014/main" id="{7BE8AF9D-2D80-4A1F-9842-471E0B7F20D4}"/>
              </a:ext>
            </a:extLst>
          </p:cNvPr>
          <p:cNvSpPr>
            <a:spLocks noGrp="1" noRot="1" noChangeAspect="1" noChangeArrowheads="1" noTextEdit="1"/>
          </p:cNvSpPr>
          <p:nvPr>
            <p:ph type="sldImg"/>
          </p:nvPr>
        </p:nvSpPr>
        <p:spPr>
          <a:xfrm>
            <a:off x="381000" y="685800"/>
            <a:ext cx="6096000" cy="3429000"/>
          </a:xfrm>
          <a:ln/>
        </p:spPr>
      </p:sp>
      <p:sp>
        <p:nvSpPr>
          <p:cNvPr id="160771" name="备注占位符 2">
            <a:extLst>
              <a:ext uri="{FF2B5EF4-FFF2-40B4-BE49-F238E27FC236}">
                <a16:creationId xmlns:a16="http://schemas.microsoft.com/office/drawing/2014/main" id="{21A3F6E9-8B9C-4B61-A26E-43C83ADE0EB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60772" name="灯片编号占位符 3">
            <a:extLst>
              <a:ext uri="{FF2B5EF4-FFF2-40B4-BE49-F238E27FC236}">
                <a16:creationId xmlns:a16="http://schemas.microsoft.com/office/drawing/2014/main" id="{87FA225F-C01A-4BDE-BE4D-6E82FF2925B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6C0E3BE-284B-4CB7-9499-847A990FB797}" type="slidenum">
              <a:rPr lang="en-US" altLang="zh-CN" smtClean="0">
                <a:latin typeface="Arial" panose="020B0604020202020204" pitchFamily="34" charset="0"/>
              </a:rPr>
              <a:pPr/>
              <a:t>60</a:t>
            </a:fld>
            <a:endParaRPr lang="en-US" altLang="zh-CN">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a:extLst>
              <a:ext uri="{FF2B5EF4-FFF2-40B4-BE49-F238E27FC236}">
                <a16:creationId xmlns:a16="http://schemas.microsoft.com/office/drawing/2014/main" id="{D5BA5449-4232-4A2F-A2B1-9C2C644011B6}"/>
              </a:ext>
            </a:extLst>
          </p:cNvPr>
          <p:cNvSpPr>
            <a:spLocks noGrp="1" noRot="1" noChangeAspect="1" noChangeArrowheads="1" noTextEdit="1"/>
          </p:cNvSpPr>
          <p:nvPr>
            <p:ph type="sldImg"/>
          </p:nvPr>
        </p:nvSpPr>
        <p:spPr>
          <a:xfrm>
            <a:off x="381000" y="685800"/>
            <a:ext cx="6096000" cy="3429000"/>
          </a:xfrm>
          <a:ln/>
        </p:spPr>
      </p:sp>
      <p:sp>
        <p:nvSpPr>
          <p:cNvPr id="162819" name="备注占位符 2">
            <a:extLst>
              <a:ext uri="{FF2B5EF4-FFF2-40B4-BE49-F238E27FC236}">
                <a16:creationId xmlns:a16="http://schemas.microsoft.com/office/drawing/2014/main" id="{E349A6CC-0F97-4079-8478-9FE8B91B5E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a:p>
            <a:endParaRPr lang="en-US" altLang="zh-CN" dirty="0"/>
          </a:p>
        </p:txBody>
      </p:sp>
      <p:sp>
        <p:nvSpPr>
          <p:cNvPr id="162820" name="灯片编号占位符 3">
            <a:extLst>
              <a:ext uri="{FF2B5EF4-FFF2-40B4-BE49-F238E27FC236}">
                <a16:creationId xmlns:a16="http://schemas.microsoft.com/office/drawing/2014/main" id="{90F6971C-4395-400D-AEA8-8142B85A1A0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F6BD007-D926-49F7-93D6-AC4050229ED3}" type="slidenum">
              <a:rPr lang="en-US" altLang="zh-CN" smtClean="0">
                <a:latin typeface="Arial" panose="020B0604020202020204" pitchFamily="34" charset="0"/>
              </a:rPr>
              <a:pPr/>
              <a:t>61</a:t>
            </a:fld>
            <a:endParaRPr lang="en-US" altLang="zh-CN">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a:extLst>
              <a:ext uri="{FF2B5EF4-FFF2-40B4-BE49-F238E27FC236}">
                <a16:creationId xmlns:a16="http://schemas.microsoft.com/office/drawing/2014/main" id="{B6A6F390-508C-4B12-B4BB-2811F67B4FEF}"/>
              </a:ext>
            </a:extLst>
          </p:cNvPr>
          <p:cNvSpPr>
            <a:spLocks noGrp="1" noRot="1" noChangeAspect="1" noChangeArrowheads="1" noTextEdit="1"/>
          </p:cNvSpPr>
          <p:nvPr>
            <p:ph type="sldImg"/>
          </p:nvPr>
        </p:nvSpPr>
        <p:spPr>
          <a:xfrm>
            <a:off x="381000" y="685800"/>
            <a:ext cx="6096000" cy="3429000"/>
          </a:xfrm>
          <a:ln/>
        </p:spPr>
      </p:sp>
      <p:sp>
        <p:nvSpPr>
          <p:cNvPr id="164867" name="备注占位符 2">
            <a:extLst>
              <a:ext uri="{FF2B5EF4-FFF2-40B4-BE49-F238E27FC236}">
                <a16:creationId xmlns:a16="http://schemas.microsoft.com/office/drawing/2014/main" id="{05DD4938-673B-4B6B-B416-AA26B9FDE66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64868" name="灯片编号占位符 3">
            <a:extLst>
              <a:ext uri="{FF2B5EF4-FFF2-40B4-BE49-F238E27FC236}">
                <a16:creationId xmlns:a16="http://schemas.microsoft.com/office/drawing/2014/main" id="{E069494F-BFC8-4366-BF7E-9265ED9ABD3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62EBB5C-0CD0-464A-AA8E-CCAE2DA9FE38}" type="slidenum">
              <a:rPr lang="en-US" altLang="zh-CN" smtClean="0">
                <a:latin typeface="Arial" panose="020B0604020202020204" pitchFamily="34" charset="0"/>
              </a:rPr>
              <a:pPr/>
              <a:t>62</a:t>
            </a:fld>
            <a:endParaRPr lang="en-US" altLang="zh-CN">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a:extLst>
              <a:ext uri="{FF2B5EF4-FFF2-40B4-BE49-F238E27FC236}">
                <a16:creationId xmlns:a16="http://schemas.microsoft.com/office/drawing/2014/main" id="{5E2DEBCD-7503-4390-A8CD-0D7775117B4E}"/>
              </a:ext>
            </a:extLst>
          </p:cNvPr>
          <p:cNvSpPr>
            <a:spLocks noGrp="1" noRot="1" noChangeAspect="1" noChangeArrowheads="1" noTextEdit="1"/>
          </p:cNvSpPr>
          <p:nvPr>
            <p:ph type="sldImg"/>
          </p:nvPr>
        </p:nvSpPr>
        <p:spPr>
          <a:xfrm>
            <a:off x="381000" y="685800"/>
            <a:ext cx="6096000" cy="3429000"/>
          </a:xfrm>
          <a:ln/>
        </p:spPr>
      </p:sp>
      <p:sp>
        <p:nvSpPr>
          <p:cNvPr id="166915" name="备注占位符 2">
            <a:extLst>
              <a:ext uri="{FF2B5EF4-FFF2-40B4-BE49-F238E27FC236}">
                <a16:creationId xmlns:a16="http://schemas.microsoft.com/office/drawing/2014/main" id="{1D0566F1-A848-42DC-BB1E-952D6854CC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66916" name="灯片编号占位符 3">
            <a:extLst>
              <a:ext uri="{FF2B5EF4-FFF2-40B4-BE49-F238E27FC236}">
                <a16:creationId xmlns:a16="http://schemas.microsoft.com/office/drawing/2014/main" id="{40762DA8-D34F-4D61-97BD-10B1005D74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366AF69-CA60-41D8-839C-084F4583E839}" type="slidenum">
              <a:rPr lang="en-US" altLang="zh-CN" smtClean="0">
                <a:latin typeface="Arial" panose="020B0604020202020204" pitchFamily="34" charset="0"/>
              </a:rPr>
              <a:pPr/>
              <a:t>63</a:t>
            </a:fld>
            <a:endParaRPr lang="en-US" altLang="zh-CN">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a:extLst>
              <a:ext uri="{FF2B5EF4-FFF2-40B4-BE49-F238E27FC236}">
                <a16:creationId xmlns:a16="http://schemas.microsoft.com/office/drawing/2014/main" id="{A74B4753-9021-4F4A-AC26-71B9B41566AE}"/>
              </a:ext>
            </a:extLst>
          </p:cNvPr>
          <p:cNvSpPr>
            <a:spLocks noGrp="1" noRot="1" noChangeAspect="1" noChangeArrowheads="1" noTextEdit="1"/>
          </p:cNvSpPr>
          <p:nvPr>
            <p:ph type="sldImg"/>
          </p:nvPr>
        </p:nvSpPr>
        <p:spPr>
          <a:xfrm>
            <a:off x="381000" y="685800"/>
            <a:ext cx="6096000" cy="3429000"/>
          </a:xfrm>
          <a:ln/>
        </p:spPr>
      </p:sp>
      <p:sp>
        <p:nvSpPr>
          <p:cNvPr id="168963" name="备注占位符 2">
            <a:extLst>
              <a:ext uri="{FF2B5EF4-FFF2-40B4-BE49-F238E27FC236}">
                <a16:creationId xmlns:a16="http://schemas.microsoft.com/office/drawing/2014/main" id="{C510BB51-BBA9-4C67-AD48-D77912473C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吸电子能力从强到弱： </a:t>
            </a:r>
            <a:r>
              <a:rPr lang="en-US" altLang="zh-CN" dirty="0"/>
              <a:t> F &gt; O &gt; N &gt; C</a:t>
            </a:r>
            <a:r>
              <a:rPr lang="zh-CN" altLang="en-US" dirty="0"/>
              <a:t>≈</a:t>
            </a:r>
            <a:r>
              <a:rPr lang="en-US" altLang="zh-CN" dirty="0"/>
              <a:t> S &gt; P</a:t>
            </a:r>
            <a:r>
              <a:rPr lang="zh-CN" altLang="en-US" dirty="0"/>
              <a:t>≈</a:t>
            </a:r>
            <a:r>
              <a:rPr lang="en-US" altLang="zh-CN" dirty="0"/>
              <a:t> H</a:t>
            </a:r>
          </a:p>
          <a:p>
            <a:endParaRPr lang="en-US" altLang="zh-CN" dirty="0"/>
          </a:p>
          <a:p>
            <a:endParaRPr lang="zh-CN" altLang="en-US" dirty="0"/>
          </a:p>
        </p:txBody>
      </p:sp>
      <p:sp>
        <p:nvSpPr>
          <p:cNvPr id="168964" name="灯片编号占位符 3">
            <a:extLst>
              <a:ext uri="{FF2B5EF4-FFF2-40B4-BE49-F238E27FC236}">
                <a16:creationId xmlns:a16="http://schemas.microsoft.com/office/drawing/2014/main" id="{0A77CD83-5C4C-49AA-B609-2EBE472CD0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F09FA11-5B5C-4FD0-AC84-B103168002BE}" type="slidenum">
              <a:rPr lang="en-US" altLang="zh-CN" smtClean="0">
                <a:latin typeface="Arial" panose="020B0604020202020204" pitchFamily="34" charset="0"/>
              </a:rPr>
              <a:pPr/>
              <a:t>64</a:t>
            </a:fld>
            <a:endParaRPr lang="en-US" altLang="zh-CN">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a:extLst>
              <a:ext uri="{FF2B5EF4-FFF2-40B4-BE49-F238E27FC236}">
                <a16:creationId xmlns:a16="http://schemas.microsoft.com/office/drawing/2014/main" id="{36753D12-8D80-437C-8CAC-A5740CB3E844}"/>
              </a:ext>
            </a:extLst>
          </p:cNvPr>
          <p:cNvSpPr>
            <a:spLocks noGrp="1" noRot="1" noChangeAspect="1" noChangeArrowheads="1" noTextEdit="1"/>
          </p:cNvSpPr>
          <p:nvPr>
            <p:ph type="sldImg"/>
          </p:nvPr>
        </p:nvSpPr>
        <p:spPr>
          <a:xfrm>
            <a:off x="381000" y="685800"/>
            <a:ext cx="6096000" cy="3429000"/>
          </a:xfrm>
          <a:ln/>
        </p:spPr>
      </p:sp>
      <p:sp>
        <p:nvSpPr>
          <p:cNvPr id="171011" name="备注占位符 2">
            <a:extLst>
              <a:ext uri="{FF2B5EF4-FFF2-40B4-BE49-F238E27FC236}">
                <a16:creationId xmlns:a16="http://schemas.microsoft.com/office/drawing/2014/main" id="{69469B62-930B-4F72-9BCD-CAE4549966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丝氨酸蛋白酶家族成员：</a:t>
            </a:r>
            <a:r>
              <a:rPr lang="zh-CN" altLang="en-US" b="1" dirty="0"/>
              <a:t>胰蛋白酶</a:t>
            </a:r>
            <a:r>
              <a:rPr lang="en-US" altLang="zh-CN" b="1" dirty="0"/>
              <a:t>trypsin</a:t>
            </a:r>
            <a:r>
              <a:rPr lang="zh-CN" altLang="en-US" b="1" dirty="0"/>
              <a:t>、胰凝乳蛋白酶</a:t>
            </a:r>
            <a:r>
              <a:rPr lang="en-US" altLang="zh-CN" b="1" dirty="0"/>
              <a:t>chymotrypsin</a:t>
            </a:r>
            <a:r>
              <a:rPr lang="zh-CN" altLang="en-US" b="1" dirty="0"/>
              <a:t>、弹性蛋白酶</a:t>
            </a:r>
            <a:r>
              <a:rPr lang="en-US" altLang="zh-CN" b="1" dirty="0"/>
              <a:t>elastase</a:t>
            </a:r>
            <a:r>
              <a:rPr lang="zh-CN" altLang="en-US" b="1" dirty="0"/>
              <a:t>、凝血酶</a:t>
            </a:r>
            <a:r>
              <a:rPr lang="en-US" altLang="zh-CN" b="1" dirty="0"/>
              <a:t>thrombin</a:t>
            </a:r>
            <a:r>
              <a:rPr lang="zh-CN" altLang="en-US" b="1" dirty="0"/>
              <a:t>、纤溶酶</a:t>
            </a:r>
            <a:r>
              <a:rPr lang="zh-CN" altLang="en-US" dirty="0"/>
              <a:t>，</a:t>
            </a:r>
            <a:r>
              <a:rPr lang="zh-CN" altLang="en-US" b="0" i="0" dirty="0">
                <a:solidFill>
                  <a:srgbClr val="3C4043"/>
                </a:solidFill>
                <a:effectLst/>
                <a:latin typeface="Roboto" panose="02000000000000000000" pitchFamily="2" charset="0"/>
              </a:rPr>
              <a:t>枯草杆菌蛋白酶</a:t>
            </a:r>
            <a:r>
              <a:rPr lang="en-US" altLang="zh-CN" dirty="0"/>
              <a:t>subtilisin</a:t>
            </a:r>
            <a:r>
              <a:rPr lang="zh-CN" altLang="en-US" b="1" dirty="0"/>
              <a:t>等</a:t>
            </a:r>
            <a:endParaRPr lang="zh-CN" altLang="en-US" dirty="0"/>
          </a:p>
          <a:p>
            <a:endParaRPr lang="zh-CN" altLang="en-US" dirty="0"/>
          </a:p>
          <a:p>
            <a:r>
              <a:rPr lang="zh-CN" altLang="en-US" dirty="0"/>
              <a:t>催化三联体在功能上起转移电荷的作用，也称为</a:t>
            </a:r>
            <a:r>
              <a:rPr lang="zh-CN" altLang="en-US" b="1" dirty="0"/>
              <a:t>电荷转移系统</a:t>
            </a:r>
            <a:r>
              <a:rPr lang="zh-CN" altLang="en-US" dirty="0"/>
              <a:t>（</a:t>
            </a:r>
            <a:r>
              <a:rPr lang="en-US" altLang="zh-CN" dirty="0"/>
              <a:t>charge transfer system)</a:t>
            </a:r>
            <a:r>
              <a:rPr lang="zh-CN" altLang="en-US" dirty="0"/>
              <a:t>或电荷中继网（</a:t>
            </a:r>
            <a:r>
              <a:rPr lang="en-US" altLang="zh-CN" dirty="0"/>
              <a:t>charge relay network) </a:t>
            </a:r>
          </a:p>
          <a:p>
            <a:endParaRPr lang="zh-CN" altLang="en-US" dirty="0"/>
          </a:p>
          <a:p>
            <a:r>
              <a:rPr lang="zh-CN" altLang="en-US" dirty="0"/>
              <a:t>蛋白酶根据作用机制可分为四个家族。胃蛋白酶属于天冬氨酸蛋白酶家族。</a:t>
            </a:r>
          </a:p>
        </p:txBody>
      </p:sp>
      <p:sp>
        <p:nvSpPr>
          <p:cNvPr id="171012" name="灯片编号占位符 3">
            <a:extLst>
              <a:ext uri="{FF2B5EF4-FFF2-40B4-BE49-F238E27FC236}">
                <a16:creationId xmlns:a16="http://schemas.microsoft.com/office/drawing/2014/main" id="{98697163-EB1E-411A-9AD5-A73A539DDA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90C053F-EC13-4DC8-9563-2EBEE32B1E1C}" type="slidenum">
              <a:rPr lang="en-US" altLang="zh-CN" smtClean="0">
                <a:latin typeface="Arial" panose="020B0604020202020204" pitchFamily="34" charset="0"/>
              </a:rPr>
              <a:pPr/>
              <a:t>65</a:t>
            </a:fld>
            <a:endParaRPr lang="en-US" altLang="zh-CN">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a:extLst>
              <a:ext uri="{FF2B5EF4-FFF2-40B4-BE49-F238E27FC236}">
                <a16:creationId xmlns:a16="http://schemas.microsoft.com/office/drawing/2014/main" id="{5E38E761-E08E-4F8F-9F45-188044A7B9A7}"/>
              </a:ext>
            </a:extLst>
          </p:cNvPr>
          <p:cNvSpPr>
            <a:spLocks noGrp="1" noRot="1" noChangeAspect="1" noChangeArrowheads="1" noTextEdit="1"/>
          </p:cNvSpPr>
          <p:nvPr>
            <p:ph type="sldImg"/>
          </p:nvPr>
        </p:nvSpPr>
        <p:spPr>
          <a:xfrm>
            <a:off x="381000" y="685800"/>
            <a:ext cx="6096000" cy="3429000"/>
          </a:xfrm>
          <a:ln/>
        </p:spPr>
      </p:sp>
      <p:sp>
        <p:nvSpPr>
          <p:cNvPr id="173059" name="备注占位符 2">
            <a:extLst>
              <a:ext uri="{FF2B5EF4-FFF2-40B4-BE49-F238E27FC236}">
                <a16:creationId xmlns:a16="http://schemas.microsoft.com/office/drawing/2014/main" id="{A386A3BB-7067-49C6-BE0C-4C9E057430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The hydrophobic pocket in which the aromatic amino acid side chain of the substrate is bound is shown in yellow.  </a:t>
            </a:r>
            <a:r>
              <a:rPr lang="en-US" altLang="zh-CN" b="1" dirty="0"/>
              <a:t>Key active site residues, including Ser195, His57, and Asp102, are red.</a:t>
            </a:r>
            <a:endParaRPr lang="zh-CN" altLang="en-US" b="1" dirty="0"/>
          </a:p>
        </p:txBody>
      </p:sp>
      <p:sp>
        <p:nvSpPr>
          <p:cNvPr id="173060" name="灯片编号占位符 3">
            <a:extLst>
              <a:ext uri="{FF2B5EF4-FFF2-40B4-BE49-F238E27FC236}">
                <a16:creationId xmlns:a16="http://schemas.microsoft.com/office/drawing/2014/main" id="{FA7A4390-0600-4ED4-9F6F-7792762636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CFFCEFB-04C0-49BA-9804-ACA5AD18A1C3}" type="slidenum">
              <a:rPr lang="en-US" altLang="zh-CN" smtClean="0">
                <a:latin typeface="Arial" panose="020B0604020202020204" pitchFamily="34" charset="0"/>
              </a:rPr>
              <a:pPr/>
              <a:t>66</a:t>
            </a:fld>
            <a:endParaRPr lang="en-US" altLang="zh-CN">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幻灯片图像占位符 1">
            <a:extLst>
              <a:ext uri="{FF2B5EF4-FFF2-40B4-BE49-F238E27FC236}">
                <a16:creationId xmlns:a16="http://schemas.microsoft.com/office/drawing/2014/main" id="{70275568-BBC3-4830-B926-A5D03DD4ED9C}"/>
              </a:ext>
            </a:extLst>
          </p:cNvPr>
          <p:cNvSpPr>
            <a:spLocks noGrp="1" noRot="1" noChangeAspect="1" noChangeArrowheads="1" noTextEdit="1"/>
          </p:cNvSpPr>
          <p:nvPr>
            <p:ph type="sldImg"/>
          </p:nvPr>
        </p:nvSpPr>
        <p:spPr>
          <a:xfrm>
            <a:off x="381000" y="685800"/>
            <a:ext cx="6096000" cy="3429000"/>
          </a:xfrm>
          <a:ln/>
        </p:spPr>
      </p:sp>
      <p:sp>
        <p:nvSpPr>
          <p:cNvPr id="175107" name="备注占位符 2">
            <a:extLst>
              <a:ext uri="{FF2B5EF4-FFF2-40B4-BE49-F238E27FC236}">
                <a16:creationId xmlns:a16="http://schemas.microsoft.com/office/drawing/2014/main" id="{E8B8F11D-795F-46F9-8DC8-252694EB4C6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 close-up of the active site with a substrate (white and yellow) bound. The hydroxyl of Ser195 attacks the carbonyl group of the substrate </a:t>
            </a:r>
            <a:r>
              <a:rPr lang="en-US" altLang="zh-CN" b="1" dirty="0"/>
              <a:t>(the oxygens are red)</a:t>
            </a:r>
            <a:r>
              <a:rPr lang="en-US" altLang="zh-CN" dirty="0"/>
              <a:t>; the developing negative charge on the oxygen is stabilized by the oxyanion hole (</a:t>
            </a:r>
            <a:r>
              <a:rPr lang="en-US" altLang="zh-CN" b="1" dirty="0"/>
              <a:t>amide </a:t>
            </a:r>
            <a:r>
              <a:rPr lang="en-US" altLang="zh-CN" b="1" dirty="0" err="1"/>
              <a:t>nitrogens</a:t>
            </a:r>
            <a:r>
              <a:rPr lang="en-US" altLang="zh-CN" b="1" dirty="0"/>
              <a:t> from Ser195 and Gly193, in blue)</a:t>
            </a:r>
            <a:r>
              <a:rPr lang="en-US" altLang="zh-CN" dirty="0"/>
              <a:t>, as explained in Figure 6–22. The aromatic amino acid side chain of the substrate (yellow) sits in the hydrophobic pocket. The amide nitrogen of the peptide bond to be cleaved (protruding toward the viewer and projecting the path of the rest of the substrate polypeptide chain) is shown in white.</a:t>
            </a:r>
            <a:endParaRPr lang="zh-CN" altLang="en-US" dirty="0"/>
          </a:p>
        </p:txBody>
      </p:sp>
      <p:sp>
        <p:nvSpPr>
          <p:cNvPr id="175108" name="灯片编号占位符 3">
            <a:extLst>
              <a:ext uri="{FF2B5EF4-FFF2-40B4-BE49-F238E27FC236}">
                <a16:creationId xmlns:a16="http://schemas.microsoft.com/office/drawing/2014/main" id="{B12906D2-57FE-4F45-8855-E42257B594C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A289F54-9319-4E8B-851E-5E67DB504F85}" type="slidenum">
              <a:rPr lang="en-US" altLang="zh-CN" smtClean="0">
                <a:latin typeface="Arial" panose="020B0604020202020204" pitchFamily="34" charset="0"/>
              </a:rPr>
              <a:pPr/>
              <a:t>67</a:t>
            </a:fld>
            <a:endParaRPr lang="en-US" altLang="zh-CN">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68</a:t>
            </a:fld>
            <a:endParaRPr lang="en-US" altLang="zh-CN"/>
          </a:p>
        </p:txBody>
      </p:sp>
    </p:spTree>
    <p:extLst>
      <p:ext uri="{BB962C8B-B14F-4D97-AF65-F5344CB8AC3E}">
        <p14:creationId xmlns:p14="http://schemas.microsoft.com/office/powerpoint/2010/main" val="136008058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幻灯片图像占位符 1">
            <a:extLst>
              <a:ext uri="{FF2B5EF4-FFF2-40B4-BE49-F238E27FC236}">
                <a16:creationId xmlns:a16="http://schemas.microsoft.com/office/drawing/2014/main" id="{EF342053-26E6-4576-A02A-A44F853B2942}"/>
              </a:ext>
            </a:extLst>
          </p:cNvPr>
          <p:cNvSpPr>
            <a:spLocks noGrp="1" noRot="1" noChangeAspect="1" noChangeArrowheads="1" noTextEdit="1"/>
          </p:cNvSpPr>
          <p:nvPr>
            <p:ph type="sldImg"/>
          </p:nvPr>
        </p:nvSpPr>
        <p:spPr>
          <a:xfrm>
            <a:off x="381000" y="685800"/>
            <a:ext cx="6096000" cy="3429000"/>
          </a:xfrm>
          <a:ln/>
        </p:spPr>
      </p:sp>
      <p:sp>
        <p:nvSpPr>
          <p:cNvPr id="177155" name="备注占位符 2">
            <a:extLst>
              <a:ext uri="{FF2B5EF4-FFF2-40B4-BE49-F238E27FC236}">
                <a16:creationId xmlns:a16="http://schemas.microsoft.com/office/drawing/2014/main" id="{974EDDCB-FBA6-4542-AC0C-AC2BC96850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CenturyStd-Light"/>
              </a:rPr>
              <a:t>Oxyanion hole:  </a:t>
            </a:r>
            <a:r>
              <a:rPr lang="zh-CN" altLang="en-US" dirty="0">
                <a:latin typeface="CenturyStd-Light"/>
              </a:rPr>
              <a:t>氧阴离子洞 </a:t>
            </a:r>
            <a:endParaRPr lang="en-US" altLang="zh-CN" dirty="0">
              <a:latin typeface="CenturyStd-Light"/>
            </a:endParaRPr>
          </a:p>
          <a:p>
            <a:r>
              <a:rPr lang="en-US" altLang="zh-CN" dirty="0">
                <a:latin typeface="CenturyStd-Light"/>
              </a:rPr>
              <a:t>Asp</a:t>
            </a:r>
            <a:r>
              <a:rPr lang="en-US" altLang="zh-CN" baseline="30000" dirty="0">
                <a:latin typeface="CenturyStd-Light"/>
              </a:rPr>
              <a:t>102</a:t>
            </a:r>
            <a:r>
              <a:rPr lang="zh-CN" altLang="en-US" dirty="0">
                <a:latin typeface="CenturyStd-Light"/>
              </a:rPr>
              <a:t>的作用使得</a:t>
            </a:r>
            <a:r>
              <a:rPr lang="en-US" altLang="zh-CN" dirty="0">
                <a:latin typeface="CenturyStd-Light"/>
              </a:rPr>
              <a:t>His</a:t>
            </a:r>
            <a:r>
              <a:rPr lang="en-US" altLang="zh-CN" sz="800" baseline="30000" dirty="0">
                <a:latin typeface="CenturyStd-Light"/>
              </a:rPr>
              <a:t>57</a:t>
            </a:r>
            <a:r>
              <a:rPr lang="zh-CN" altLang="en-US" sz="800" dirty="0">
                <a:latin typeface="CenturyStd-Light"/>
              </a:rPr>
              <a:t>的</a:t>
            </a:r>
            <a:r>
              <a:rPr lang="en-US" altLang="zh-CN" sz="800" dirty="0" err="1">
                <a:latin typeface="CenturyStd-Light"/>
              </a:rPr>
              <a:t>p</a:t>
            </a:r>
            <a:r>
              <a:rPr lang="en-US" altLang="zh-CN" sz="800" i="1" dirty="0" err="1">
                <a:latin typeface="CenturyStd-LightItalic"/>
              </a:rPr>
              <a:t>K</a:t>
            </a:r>
            <a:r>
              <a:rPr lang="en-US" altLang="zh-CN" sz="300" dirty="0" err="1">
                <a:latin typeface="CenturyStd-Light"/>
              </a:rPr>
              <a:t>a</a:t>
            </a:r>
            <a:r>
              <a:rPr lang="en-US" altLang="zh-CN" sz="300" dirty="0">
                <a:latin typeface="CenturyStd-Light"/>
              </a:rPr>
              <a:t> </a:t>
            </a:r>
            <a:r>
              <a:rPr lang="en-US" altLang="zh-CN" sz="800" dirty="0">
                <a:latin typeface="CenturyStd-Light"/>
              </a:rPr>
              <a:t> </a:t>
            </a:r>
            <a:r>
              <a:rPr lang="zh-CN" altLang="en-US" sz="800" dirty="0">
                <a:latin typeface="CenturyStd-Light"/>
              </a:rPr>
              <a:t>从</a:t>
            </a:r>
            <a:r>
              <a:rPr lang="en-US" altLang="zh-CN" dirty="0">
                <a:latin typeface="CenturyStd-Light"/>
              </a:rPr>
              <a:t>7 (6</a:t>
            </a:r>
            <a:r>
              <a:rPr lang="zh-CN" altLang="en-US" dirty="0">
                <a:latin typeface="CenturyStd-Light"/>
              </a:rPr>
              <a:t>？ 游离的</a:t>
            </a:r>
            <a:r>
              <a:rPr lang="en-US" altLang="zh-CN" dirty="0">
                <a:latin typeface="CenturyStd-Light"/>
              </a:rPr>
              <a:t>His</a:t>
            </a:r>
            <a:r>
              <a:rPr lang="zh-CN" altLang="en-US" dirty="0">
                <a:latin typeface="CenturyStd-Light"/>
              </a:rPr>
              <a:t>中</a:t>
            </a:r>
            <a:r>
              <a:rPr lang="en-US" altLang="zh-CN" dirty="0">
                <a:latin typeface="CenturyStd-Light"/>
              </a:rPr>
              <a:t>) </a:t>
            </a:r>
            <a:r>
              <a:rPr lang="zh-CN" altLang="en-US" dirty="0">
                <a:latin typeface="CenturyStd-Light"/>
              </a:rPr>
              <a:t>变为</a:t>
            </a:r>
            <a:r>
              <a:rPr lang="en-US" altLang="zh-CN" dirty="0">
                <a:latin typeface="CenturyStd-Light"/>
              </a:rPr>
              <a:t>12, </a:t>
            </a:r>
            <a:r>
              <a:rPr lang="zh-CN" altLang="en-US" dirty="0">
                <a:latin typeface="CenturyStd-Light"/>
              </a:rPr>
              <a:t>这样，其</a:t>
            </a:r>
            <a:r>
              <a:rPr lang="zh-CN" altLang="en-US" b="1" dirty="0">
                <a:latin typeface="CenturyStd-Light"/>
              </a:rPr>
              <a:t>咪唑基团可以在局部作为一个强化的碱</a:t>
            </a:r>
            <a:r>
              <a:rPr lang="zh-CN" altLang="en-US" dirty="0">
                <a:latin typeface="CenturyStd-Light"/>
              </a:rPr>
              <a:t>，吸取</a:t>
            </a:r>
            <a:r>
              <a:rPr lang="en-US" altLang="zh-CN" dirty="0">
                <a:latin typeface="CenturyStd-Light"/>
              </a:rPr>
              <a:t>Ser</a:t>
            </a:r>
            <a:r>
              <a:rPr lang="en-US" altLang="zh-CN" sz="800" dirty="0">
                <a:latin typeface="CenturyStd-Light"/>
              </a:rPr>
              <a:t>195 </a:t>
            </a:r>
            <a:r>
              <a:rPr lang="zh-CN" altLang="en-US" sz="800" dirty="0">
                <a:latin typeface="CenturyStd-Light"/>
              </a:rPr>
              <a:t>中羟基里的质子。 </a:t>
            </a:r>
            <a:endParaRPr lang="en-US" altLang="zh-CN" sz="800" dirty="0">
              <a:latin typeface="CenturyStd-Light"/>
            </a:endParaRPr>
          </a:p>
          <a:p>
            <a:endParaRPr lang="en-US" altLang="zh-CN" sz="800" dirty="0">
              <a:latin typeface="CenturyStd-Light"/>
            </a:endParaRPr>
          </a:p>
          <a:p>
            <a:r>
              <a:rPr lang="zh-CN" altLang="en-US" dirty="0"/>
              <a:t>该酶的催化涉及酸碱催化、共价催化、静电催化</a:t>
            </a:r>
          </a:p>
          <a:p>
            <a:endParaRPr lang="zh-CN" altLang="en-US" dirty="0"/>
          </a:p>
        </p:txBody>
      </p:sp>
      <p:sp>
        <p:nvSpPr>
          <p:cNvPr id="177156" name="灯片编号占位符 3">
            <a:extLst>
              <a:ext uri="{FF2B5EF4-FFF2-40B4-BE49-F238E27FC236}">
                <a16:creationId xmlns:a16="http://schemas.microsoft.com/office/drawing/2014/main" id="{67D78659-A1FD-45DE-A8DC-9F939C2869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3D7412C-88F6-4AB6-8055-FBF884B81CD8}" type="slidenum">
              <a:rPr lang="en-US" altLang="zh-CN" smtClean="0">
                <a:latin typeface="Arial" panose="020B0604020202020204" pitchFamily="34" charset="0"/>
              </a:rPr>
              <a:pPr/>
              <a:t>69</a:t>
            </a:fld>
            <a:endParaRPr lang="en-US" altLang="zh-CN">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幻灯片图像占位符 1">
            <a:extLst>
              <a:ext uri="{FF2B5EF4-FFF2-40B4-BE49-F238E27FC236}">
                <a16:creationId xmlns:a16="http://schemas.microsoft.com/office/drawing/2014/main" id="{16BA0607-0CAC-4A43-BBBB-2C542317D292}"/>
              </a:ext>
            </a:extLst>
          </p:cNvPr>
          <p:cNvSpPr>
            <a:spLocks noGrp="1" noRot="1" noChangeAspect="1" noChangeArrowheads="1" noTextEdit="1"/>
          </p:cNvSpPr>
          <p:nvPr>
            <p:ph type="sldImg"/>
          </p:nvPr>
        </p:nvSpPr>
        <p:spPr>
          <a:xfrm>
            <a:off x="381000" y="685800"/>
            <a:ext cx="6096000" cy="3429000"/>
          </a:xfrm>
          <a:ln/>
        </p:spPr>
      </p:sp>
      <p:sp>
        <p:nvSpPr>
          <p:cNvPr id="179203" name="备注占位符 2">
            <a:extLst>
              <a:ext uri="{FF2B5EF4-FFF2-40B4-BE49-F238E27FC236}">
                <a16:creationId xmlns:a16="http://schemas.microsoft.com/office/drawing/2014/main" id="{4AE5F74F-61E3-4109-8640-0315CBB22D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胰凝乳蛋白酶的催化机制</a:t>
            </a:r>
            <a:endParaRPr lang="en-US" altLang="zh-CN" dirty="0"/>
          </a:p>
          <a:p>
            <a:r>
              <a:rPr lang="zh-CN" altLang="en-US" dirty="0"/>
              <a:t>右下角图：  生成不稳定的中间复合物</a:t>
            </a:r>
            <a:r>
              <a:rPr lang="zh-CN" altLang="en-US" b="1" dirty="0"/>
              <a:t>酰基化酶</a:t>
            </a:r>
            <a:r>
              <a:rPr lang="zh-CN" altLang="en-US" dirty="0"/>
              <a:t>，    释放被降解蛋白的羧基段肽链（产物</a:t>
            </a:r>
            <a:r>
              <a:rPr lang="en-US" altLang="zh-CN" dirty="0"/>
              <a:t>1</a:t>
            </a:r>
            <a:r>
              <a:rPr lang="zh-CN" altLang="en-US" dirty="0"/>
              <a:t>）</a:t>
            </a:r>
            <a:endParaRPr lang="en-US" altLang="zh-CN" dirty="0"/>
          </a:p>
          <a:p>
            <a:endParaRPr lang="en-US" altLang="zh-CN" dirty="0"/>
          </a:p>
          <a:p>
            <a:r>
              <a:rPr lang="zh-CN" altLang="en-US" dirty="0"/>
              <a:t>反应分两个阶段， 第一阶段生成共价结合的</a:t>
            </a:r>
            <a:r>
              <a:rPr lang="zh-CN" altLang="en-US" b="1" dirty="0"/>
              <a:t>酰基化酶</a:t>
            </a:r>
            <a:r>
              <a:rPr lang="zh-CN" altLang="en-US" dirty="0"/>
              <a:t>中间产物，伴有肽键的断裂；  第二阶段是脱酰基化， 酶恢复原样。   在酰基化阶段发动攻击的亲核基团是 </a:t>
            </a:r>
            <a:r>
              <a:rPr lang="en-US" altLang="zh-CN" dirty="0"/>
              <a:t>Ser195</a:t>
            </a:r>
            <a:r>
              <a:rPr lang="zh-CN" altLang="en-US" dirty="0"/>
              <a:t>中的氧原子， 含有类似作用机制丝氨酸的蛋白酶就被称为丝氨酸蛋白酶。 </a:t>
            </a:r>
            <a:endParaRPr lang="en-US" altLang="zh-CN" dirty="0"/>
          </a:p>
          <a:p>
            <a:endParaRPr lang="en-US" altLang="zh-CN" dirty="0"/>
          </a:p>
          <a:p>
            <a:r>
              <a:rPr lang="zh-CN" altLang="en-US" dirty="0"/>
              <a:t>图</a:t>
            </a:r>
            <a:r>
              <a:rPr lang="en-US" altLang="zh-CN" dirty="0"/>
              <a:t>1</a:t>
            </a:r>
            <a:r>
              <a:rPr lang="zh-CN" altLang="en-US" dirty="0"/>
              <a:t>图</a:t>
            </a:r>
            <a:r>
              <a:rPr lang="en-US" altLang="zh-CN" dirty="0"/>
              <a:t>2   </a:t>
            </a:r>
            <a:r>
              <a:rPr lang="zh-CN" altLang="en-US" dirty="0"/>
              <a:t>因为</a:t>
            </a:r>
            <a:r>
              <a:rPr lang="en-US" altLang="zh-CN" dirty="0"/>
              <a:t>His57 </a:t>
            </a:r>
            <a:r>
              <a:rPr lang="zh-CN" altLang="en-US" dirty="0"/>
              <a:t>对</a:t>
            </a:r>
            <a:r>
              <a:rPr lang="en-US" altLang="zh-CN" dirty="0"/>
              <a:t>Ser195</a:t>
            </a:r>
            <a:r>
              <a:rPr lang="zh-CN" altLang="en-US" dirty="0"/>
              <a:t> 中</a:t>
            </a:r>
            <a:r>
              <a:rPr lang="en-US" altLang="zh-CN" dirty="0"/>
              <a:t>-OH</a:t>
            </a:r>
            <a:r>
              <a:rPr lang="zh-CN" altLang="en-US" dirty="0"/>
              <a:t>的强烈吸质子作用，使得</a:t>
            </a:r>
            <a:r>
              <a:rPr lang="en-US" altLang="zh-CN" dirty="0"/>
              <a:t>-OH</a:t>
            </a:r>
            <a:r>
              <a:rPr lang="zh-CN" altLang="en-US" dirty="0"/>
              <a:t>里的氧原子具有更强的亲核性，对待降解蛋白的羰基</a:t>
            </a:r>
            <a:r>
              <a:rPr lang="en-US" altLang="zh-CN" dirty="0"/>
              <a:t>C</a:t>
            </a:r>
            <a:r>
              <a:rPr lang="zh-CN" altLang="en-US" dirty="0"/>
              <a:t>（作为亲电中心）发动亲核攻击，生成暂时的共价键，从而形成底物</a:t>
            </a:r>
            <a:r>
              <a:rPr lang="en-US" altLang="zh-CN" dirty="0"/>
              <a:t>-</a:t>
            </a:r>
            <a:r>
              <a:rPr lang="zh-CN" altLang="en-US" dirty="0"/>
              <a:t>酶中间复合物，（由于</a:t>
            </a:r>
            <a:r>
              <a:rPr lang="en-US" altLang="zh-CN" dirty="0"/>
              <a:t>C</a:t>
            </a:r>
            <a:r>
              <a:rPr lang="zh-CN" altLang="en-US" dirty="0"/>
              <a:t>原子最多只能共享</a:t>
            </a:r>
            <a:r>
              <a:rPr lang="en-US" altLang="zh-CN" dirty="0"/>
              <a:t>4</a:t>
            </a:r>
            <a:r>
              <a:rPr lang="zh-CN" altLang="en-US" dirty="0"/>
              <a:t>对电子，即最多只能同时生成四个共价单键，故一个新的</a:t>
            </a:r>
            <a:r>
              <a:rPr lang="en-US" altLang="zh-CN" dirty="0"/>
              <a:t>C-O</a:t>
            </a:r>
            <a:r>
              <a:rPr lang="zh-CN" altLang="en-US" dirty="0"/>
              <a:t>键的生成促使原羰基</a:t>
            </a:r>
            <a:r>
              <a:rPr lang="en-US" altLang="zh-CN" dirty="0"/>
              <a:t>C=O</a:t>
            </a:r>
            <a:r>
              <a:rPr lang="zh-CN" altLang="en-US" dirty="0"/>
              <a:t>双键变为单键，其中的氧带负电荷，并通过与</a:t>
            </a:r>
            <a:r>
              <a:rPr lang="en-US" altLang="zh-CN" dirty="0"/>
              <a:t>Ser195</a:t>
            </a:r>
            <a:r>
              <a:rPr lang="zh-CN" altLang="en-US" dirty="0"/>
              <a:t>和</a:t>
            </a:r>
            <a:r>
              <a:rPr lang="en-US" altLang="zh-CN" dirty="0"/>
              <a:t>Gly193</a:t>
            </a:r>
            <a:r>
              <a:rPr lang="zh-CN" altLang="en-US" dirty="0"/>
              <a:t>中的氨基氢形成氢键而得以暂时地稳定</a:t>
            </a:r>
            <a:r>
              <a:rPr lang="zh-CN" altLang="en-US" b="1" dirty="0"/>
              <a:t>（这就是氧离子穴的作用）</a:t>
            </a:r>
            <a:r>
              <a:rPr lang="zh-CN" altLang="en-US" dirty="0"/>
              <a:t>。  而被</a:t>
            </a:r>
            <a:r>
              <a:rPr lang="en-US" altLang="zh-CN" dirty="0"/>
              <a:t>His57 </a:t>
            </a:r>
            <a:r>
              <a:rPr lang="zh-CN" altLang="en-US" dirty="0"/>
              <a:t>吸取的</a:t>
            </a:r>
            <a:r>
              <a:rPr lang="en-US" altLang="zh-CN" dirty="0"/>
              <a:t>H</a:t>
            </a:r>
            <a:r>
              <a:rPr lang="zh-CN" altLang="en-US" dirty="0"/>
              <a:t>随之正好与待降解蛋白肽腱中的氨基</a:t>
            </a:r>
            <a:r>
              <a:rPr lang="en-US" altLang="zh-CN" dirty="0"/>
              <a:t>N</a:t>
            </a:r>
            <a:r>
              <a:rPr lang="zh-CN" altLang="en-US" dirty="0"/>
              <a:t>生成氢键 。 </a:t>
            </a:r>
            <a:endParaRPr lang="en-US" altLang="zh-CN" dirty="0"/>
          </a:p>
          <a:p>
            <a:r>
              <a:rPr lang="zh-CN" altLang="en-US" dirty="0"/>
              <a:t>图</a:t>
            </a:r>
            <a:r>
              <a:rPr lang="en-US" altLang="zh-CN" dirty="0"/>
              <a:t>3   </a:t>
            </a:r>
            <a:r>
              <a:rPr lang="zh-CN" altLang="en-US" dirty="0"/>
              <a:t>上述中间产物并不稳定， 处于氧阴离子穴中的带负电荷的氧原子与羰基</a:t>
            </a:r>
            <a:r>
              <a:rPr lang="en-US" altLang="zh-CN" dirty="0"/>
              <a:t>C</a:t>
            </a:r>
            <a:r>
              <a:rPr lang="zh-CN" altLang="en-US" dirty="0"/>
              <a:t>重新生成双键，迫使待降解蛋白质的肽键断裂，而</a:t>
            </a:r>
            <a:r>
              <a:rPr lang="en-US" altLang="zh-CN" dirty="0"/>
              <a:t>His57</a:t>
            </a:r>
            <a:r>
              <a:rPr lang="zh-CN" altLang="en-US" dirty="0"/>
              <a:t>提供的</a:t>
            </a:r>
            <a:r>
              <a:rPr lang="en-US" altLang="zh-CN" dirty="0"/>
              <a:t>H</a:t>
            </a:r>
            <a:r>
              <a:rPr lang="zh-CN" altLang="en-US" dirty="0"/>
              <a:t>加速这个肽键的断裂，肽键中的氨基氮原子可以与这个氢原子成键，从而与羰基碳断开， 成为第一个产物（一个寡肽）的氨基端（注意，氨基上那个红色的氢原子源自酶分子中</a:t>
            </a:r>
            <a:r>
              <a:rPr lang="en-US" altLang="zh-CN" dirty="0"/>
              <a:t>Ser195</a:t>
            </a:r>
            <a:r>
              <a:rPr lang="zh-CN" altLang="en-US" dirty="0"/>
              <a:t>中的羟基） 。 而酶与底物生成</a:t>
            </a:r>
            <a:r>
              <a:rPr lang="zh-CN" altLang="en-US" b="1" dirty="0"/>
              <a:t>酰基</a:t>
            </a:r>
            <a:r>
              <a:rPr lang="en-US" altLang="zh-CN" b="1" dirty="0"/>
              <a:t>-</a:t>
            </a:r>
            <a:r>
              <a:rPr lang="zh-CN" altLang="en-US" b="1" dirty="0"/>
              <a:t>酶中间产物，即酰基化酶</a:t>
            </a:r>
            <a:r>
              <a:rPr lang="zh-CN" altLang="en-US" dirty="0"/>
              <a:t>。  </a:t>
            </a:r>
            <a:endParaRPr lang="en-US" altLang="zh-CN" dirty="0"/>
          </a:p>
          <a:p>
            <a:r>
              <a:rPr lang="zh-CN" altLang="en-US" dirty="0"/>
              <a:t>图</a:t>
            </a:r>
            <a:r>
              <a:rPr lang="en-US" altLang="zh-CN" dirty="0"/>
              <a:t>4</a:t>
            </a:r>
            <a:r>
              <a:rPr lang="zh-CN" altLang="en-US" dirty="0"/>
              <a:t>图</a:t>
            </a:r>
            <a:r>
              <a:rPr lang="en-US" altLang="zh-CN" dirty="0"/>
              <a:t>5</a:t>
            </a:r>
            <a:r>
              <a:rPr lang="zh-CN" altLang="en-US" dirty="0"/>
              <a:t>：   </a:t>
            </a:r>
            <a:r>
              <a:rPr lang="en-US" altLang="zh-CN" dirty="0"/>
              <a:t>His57</a:t>
            </a:r>
            <a:r>
              <a:rPr lang="zh-CN" altLang="en-US" dirty="0"/>
              <a:t>强烈吸引质子的能力使得一个进入到活性中心的水分子脱质子化，从而产生一个强亲核性的羟基负离子，后者攻击酰基化酶中的羰基</a:t>
            </a:r>
            <a:r>
              <a:rPr lang="en-US" altLang="zh-CN" dirty="0"/>
              <a:t>C</a:t>
            </a:r>
            <a:r>
              <a:rPr lang="zh-CN" altLang="en-US" dirty="0"/>
              <a:t>， 产生一个类似于图</a:t>
            </a:r>
            <a:r>
              <a:rPr lang="en-US" altLang="zh-CN" dirty="0"/>
              <a:t>2</a:t>
            </a:r>
            <a:r>
              <a:rPr lang="zh-CN" altLang="en-US" dirty="0"/>
              <a:t>中的中间产物，羰基氧又带上负电荷被稳定在氧阴离子穴中</a:t>
            </a:r>
            <a:endParaRPr lang="en-US" altLang="zh-CN" dirty="0"/>
          </a:p>
        </p:txBody>
      </p:sp>
      <p:sp>
        <p:nvSpPr>
          <p:cNvPr id="179204" name="灯片编号占位符 3">
            <a:extLst>
              <a:ext uri="{FF2B5EF4-FFF2-40B4-BE49-F238E27FC236}">
                <a16:creationId xmlns:a16="http://schemas.microsoft.com/office/drawing/2014/main" id="{E69680AB-5181-45C0-ACFC-07E837BBBA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C6DD294-A530-444A-860D-D11284A9A65B}" type="slidenum">
              <a:rPr lang="en-US" altLang="zh-CN" smtClean="0">
                <a:latin typeface="Arial" panose="020B0604020202020204" pitchFamily="34" charset="0"/>
              </a:rPr>
              <a:pPr/>
              <a:t>70</a:t>
            </a:fld>
            <a:endParaRPr lang="en-US" altLang="zh-CN">
              <a:latin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幻灯片图像占位符 1">
            <a:extLst>
              <a:ext uri="{FF2B5EF4-FFF2-40B4-BE49-F238E27FC236}">
                <a16:creationId xmlns:a16="http://schemas.microsoft.com/office/drawing/2014/main" id="{98DBBB4E-A77B-422C-964F-AD76B1DF22E6}"/>
              </a:ext>
            </a:extLst>
          </p:cNvPr>
          <p:cNvSpPr>
            <a:spLocks noGrp="1" noRot="1" noChangeAspect="1" noChangeArrowheads="1" noTextEdit="1"/>
          </p:cNvSpPr>
          <p:nvPr>
            <p:ph type="sldImg"/>
          </p:nvPr>
        </p:nvSpPr>
        <p:spPr>
          <a:xfrm>
            <a:off x="381000" y="685800"/>
            <a:ext cx="6096000" cy="3429000"/>
          </a:xfrm>
          <a:ln/>
        </p:spPr>
      </p:sp>
      <p:sp>
        <p:nvSpPr>
          <p:cNvPr id="181251" name="备注占位符 2">
            <a:extLst>
              <a:ext uri="{FF2B5EF4-FFF2-40B4-BE49-F238E27FC236}">
                <a16:creationId xmlns:a16="http://schemas.microsoft.com/office/drawing/2014/main" id="{9193F7D1-B76F-4A14-939C-14BD1FDD11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图</a:t>
            </a:r>
            <a:r>
              <a:rPr lang="en-US" altLang="zh-CN" dirty="0"/>
              <a:t>5</a:t>
            </a:r>
            <a:r>
              <a:rPr lang="zh-CN" altLang="en-US" dirty="0"/>
              <a:t>图</a:t>
            </a:r>
            <a:r>
              <a:rPr lang="en-US" altLang="zh-CN" dirty="0"/>
              <a:t>6  </a:t>
            </a:r>
            <a:r>
              <a:rPr lang="zh-CN" altLang="en-US" dirty="0"/>
              <a:t>  处于氧阴离子穴中的带负电荷的氧原子重新和羰基</a:t>
            </a:r>
            <a:r>
              <a:rPr lang="en-US" altLang="zh-CN" dirty="0"/>
              <a:t>C</a:t>
            </a:r>
            <a:r>
              <a:rPr lang="zh-CN" altLang="en-US" dirty="0"/>
              <a:t>生成双键，迫使</a:t>
            </a:r>
            <a:r>
              <a:rPr lang="en-US" altLang="zh-CN" dirty="0"/>
              <a:t>Ser195</a:t>
            </a:r>
            <a:r>
              <a:rPr lang="zh-CN" altLang="en-US" dirty="0"/>
              <a:t>中的</a:t>
            </a:r>
            <a:r>
              <a:rPr lang="en-US" altLang="zh-CN" dirty="0"/>
              <a:t>O</a:t>
            </a:r>
            <a:r>
              <a:rPr lang="zh-CN" altLang="en-US" dirty="0"/>
              <a:t>与</a:t>
            </a:r>
            <a:r>
              <a:rPr lang="en-US" altLang="zh-CN" dirty="0"/>
              <a:t>C</a:t>
            </a:r>
            <a:r>
              <a:rPr lang="zh-CN" altLang="en-US" dirty="0"/>
              <a:t>的单键断裂，</a:t>
            </a:r>
            <a:r>
              <a:rPr lang="en-US" altLang="zh-CN" dirty="0"/>
              <a:t>His57</a:t>
            </a:r>
            <a:r>
              <a:rPr lang="zh-CN" altLang="en-US" dirty="0"/>
              <a:t>提供的</a:t>
            </a:r>
            <a:r>
              <a:rPr lang="en-US" altLang="zh-CN" dirty="0"/>
              <a:t>H</a:t>
            </a:r>
            <a:r>
              <a:rPr lang="zh-CN" altLang="en-US" dirty="0"/>
              <a:t>促进了这个单键的断裂，因为该氧原子可以重新与这个氢原子生成共价键。 随后第二个产物（底物蛋白质氨基侧肽段形成的寡肽）释放。</a:t>
            </a:r>
            <a:endParaRPr lang="en-US" altLang="zh-CN" dirty="0"/>
          </a:p>
          <a:p>
            <a:endParaRPr lang="en-US" altLang="zh-CN" dirty="0"/>
          </a:p>
        </p:txBody>
      </p:sp>
      <p:sp>
        <p:nvSpPr>
          <p:cNvPr id="181252" name="灯片编号占位符 3">
            <a:extLst>
              <a:ext uri="{FF2B5EF4-FFF2-40B4-BE49-F238E27FC236}">
                <a16:creationId xmlns:a16="http://schemas.microsoft.com/office/drawing/2014/main" id="{F6D21A73-24DD-4E18-A5F1-110725D051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F4E981B-25C3-4B3F-A7D1-A67D696297D2}" type="slidenum">
              <a:rPr lang="en-US" altLang="zh-CN" smtClean="0">
                <a:latin typeface="Arial" panose="020B0604020202020204" pitchFamily="34" charset="0"/>
              </a:rPr>
              <a:pPr/>
              <a:t>71</a:t>
            </a:fld>
            <a:endParaRPr lang="en-US" altLang="zh-CN">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1">
            <a:extLst>
              <a:ext uri="{FF2B5EF4-FFF2-40B4-BE49-F238E27FC236}">
                <a16:creationId xmlns:a16="http://schemas.microsoft.com/office/drawing/2014/main" id="{B1582420-0E38-4C9B-BC1A-E91BEA657BBC}"/>
              </a:ext>
            </a:extLst>
          </p:cNvPr>
          <p:cNvSpPr>
            <a:spLocks noGrp="1" noRot="1" noChangeAspect="1" noChangeArrowheads="1" noTextEdit="1"/>
          </p:cNvSpPr>
          <p:nvPr>
            <p:ph type="sldImg"/>
          </p:nvPr>
        </p:nvSpPr>
        <p:spPr>
          <a:xfrm>
            <a:off x="381000" y="685800"/>
            <a:ext cx="6096000" cy="3429000"/>
          </a:xfrm>
          <a:ln/>
        </p:spPr>
      </p:sp>
      <p:sp>
        <p:nvSpPr>
          <p:cNvPr id="183299" name="备注占位符 2">
            <a:extLst>
              <a:ext uri="{FF2B5EF4-FFF2-40B4-BE49-F238E27FC236}">
                <a16:creationId xmlns:a16="http://schemas.microsoft.com/office/drawing/2014/main" id="{AB20AB4D-9F3D-4E72-96FA-D7E17504D99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83300" name="灯片编号占位符 3">
            <a:extLst>
              <a:ext uri="{FF2B5EF4-FFF2-40B4-BE49-F238E27FC236}">
                <a16:creationId xmlns:a16="http://schemas.microsoft.com/office/drawing/2014/main" id="{03193265-630E-4AC3-B5B9-82986AA9A2D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E85888D-4312-471E-B89A-548D2089AC6F}" type="slidenum">
              <a:rPr lang="en-US" altLang="zh-CN" smtClean="0">
                <a:latin typeface="Arial" panose="020B0604020202020204" pitchFamily="34" charset="0"/>
              </a:rPr>
              <a:pPr/>
              <a:t>72</a:t>
            </a:fld>
            <a:endParaRPr lang="en-US" altLang="zh-CN">
              <a:latin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幻灯片图像占位符 1">
            <a:extLst>
              <a:ext uri="{FF2B5EF4-FFF2-40B4-BE49-F238E27FC236}">
                <a16:creationId xmlns:a16="http://schemas.microsoft.com/office/drawing/2014/main" id="{FAD4A3DF-E984-4FA9-ABC2-4009BE821820}"/>
              </a:ext>
            </a:extLst>
          </p:cNvPr>
          <p:cNvSpPr>
            <a:spLocks noGrp="1" noRot="1" noChangeAspect="1" noChangeArrowheads="1" noTextEdit="1"/>
          </p:cNvSpPr>
          <p:nvPr>
            <p:ph type="sldImg"/>
          </p:nvPr>
        </p:nvSpPr>
        <p:spPr>
          <a:xfrm>
            <a:off x="381000" y="685800"/>
            <a:ext cx="6096000" cy="3429000"/>
          </a:xfrm>
          <a:ln/>
        </p:spPr>
      </p:sp>
      <p:sp>
        <p:nvSpPr>
          <p:cNvPr id="185347" name="备注占位符 2">
            <a:extLst>
              <a:ext uri="{FF2B5EF4-FFF2-40B4-BE49-F238E27FC236}">
                <a16:creationId xmlns:a16="http://schemas.microsoft.com/office/drawing/2014/main" id="{BD98A024-DA34-4E31-B457-6AC55842C1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How Enzymes Work.mp4</a:t>
            </a:r>
          </a:p>
          <a:p>
            <a:endParaRPr lang="zh-CN" altLang="en-US" dirty="0"/>
          </a:p>
        </p:txBody>
      </p:sp>
      <p:sp>
        <p:nvSpPr>
          <p:cNvPr id="185348" name="灯片编号占位符 3">
            <a:extLst>
              <a:ext uri="{FF2B5EF4-FFF2-40B4-BE49-F238E27FC236}">
                <a16:creationId xmlns:a16="http://schemas.microsoft.com/office/drawing/2014/main" id="{90ED8DC7-D05C-45D0-917A-1393568EEC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620A68B-B200-432A-83C7-BAD715AE67D8}" type="slidenum">
              <a:rPr lang="en-US" altLang="zh-CN" smtClean="0">
                <a:latin typeface="Arial" panose="020B0604020202020204" pitchFamily="34" charset="0"/>
              </a:rPr>
              <a:pPr/>
              <a:t>73</a:t>
            </a:fld>
            <a:endParaRPr lang="en-US" altLang="zh-CN">
              <a:latin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幻灯片图像占位符 1">
            <a:extLst>
              <a:ext uri="{FF2B5EF4-FFF2-40B4-BE49-F238E27FC236}">
                <a16:creationId xmlns:a16="http://schemas.microsoft.com/office/drawing/2014/main" id="{650ED6D6-E5DA-4876-89FD-80A8121B5C22}"/>
              </a:ext>
            </a:extLst>
          </p:cNvPr>
          <p:cNvSpPr>
            <a:spLocks noGrp="1" noRot="1" noChangeAspect="1" noChangeArrowheads="1" noTextEdit="1"/>
          </p:cNvSpPr>
          <p:nvPr>
            <p:ph type="sldImg"/>
          </p:nvPr>
        </p:nvSpPr>
        <p:spPr>
          <a:xfrm>
            <a:off x="381000" y="685800"/>
            <a:ext cx="6096000" cy="3429000"/>
          </a:xfrm>
          <a:ln/>
        </p:spPr>
      </p:sp>
      <p:sp>
        <p:nvSpPr>
          <p:cNvPr id="187395" name="备注占位符 2">
            <a:extLst>
              <a:ext uri="{FF2B5EF4-FFF2-40B4-BE49-F238E27FC236}">
                <a16:creationId xmlns:a16="http://schemas.microsoft.com/office/drawing/2014/main" id="{A2708233-CB4F-4B4B-925C-ADBDD7D4CB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Aconitase </a:t>
            </a:r>
            <a:r>
              <a:rPr lang="zh-CN" altLang="en-US" dirty="0"/>
              <a:t>顺乌头酸酶</a:t>
            </a:r>
            <a:endParaRPr lang="en-US" altLang="zh-CN" dirty="0"/>
          </a:p>
          <a:p>
            <a:r>
              <a:rPr lang="en-US" altLang="zh-CN" dirty="0"/>
              <a:t>The enzyme aconitase is a key player in the central pathway of energy production. As part of the citric acid cycle, it converts citrate into isocitrate.</a:t>
            </a:r>
          </a:p>
          <a:p>
            <a:endParaRPr lang="en-US" altLang="zh-CN" dirty="0"/>
          </a:p>
          <a:p>
            <a:r>
              <a:rPr lang="en-US" altLang="zh-CN" dirty="0"/>
              <a:t>The animation shows </a:t>
            </a:r>
            <a:r>
              <a:rPr lang="en-US" altLang="zh-CN" b="1" dirty="0"/>
              <a:t>histidine acting as an acid </a:t>
            </a:r>
            <a:r>
              <a:rPr lang="en-US" altLang="zh-CN" dirty="0"/>
              <a:t>protonates the hydroxyl on the substrate, allowing it to leave as a water molecule. </a:t>
            </a:r>
            <a:r>
              <a:rPr lang="en-US" altLang="zh-CN" b="1" dirty="0"/>
              <a:t>Serine then acts as a base </a:t>
            </a:r>
            <a:r>
              <a:rPr lang="en-US" altLang="zh-CN" dirty="0"/>
              <a:t>by extracting a hydrogen atom from the opposite side of the substrate, forming the intermediate cis-aconitate. Cis-aconitate then flips upside down, and the complementary hydration reaction is performed.</a:t>
            </a:r>
          </a:p>
          <a:p>
            <a:endParaRPr lang="en-US" altLang="zh-CN" dirty="0"/>
          </a:p>
          <a:p>
            <a:r>
              <a:rPr lang="en-US" altLang="zh-CN" dirty="0" err="1"/>
              <a:t>Histindine</a:t>
            </a:r>
            <a:r>
              <a:rPr lang="en-US" altLang="zh-CN" dirty="0"/>
              <a:t> grabs a hydrogen atom from a passing water molecule, placing the resulting hydroxyl group back onto the substrate. Serine then returns its hydrogen atom and the final product isocitrate is released.</a:t>
            </a:r>
            <a:endParaRPr lang="zh-CN" altLang="en-US" dirty="0"/>
          </a:p>
        </p:txBody>
      </p:sp>
      <p:sp>
        <p:nvSpPr>
          <p:cNvPr id="187396" name="灯片编号占位符 3">
            <a:extLst>
              <a:ext uri="{FF2B5EF4-FFF2-40B4-BE49-F238E27FC236}">
                <a16:creationId xmlns:a16="http://schemas.microsoft.com/office/drawing/2014/main" id="{4A4A92EC-4063-424B-914D-E2F71A2DFF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D034A6C-2283-4877-85B8-4DC9B0B2EC5C}" type="slidenum">
              <a:rPr lang="en-US" altLang="zh-CN" smtClean="0">
                <a:latin typeface="Arial" panose="020B0604020202020204" pitchFamily="34" charset="0"/>
              </a:rPr>
              <a:pPr/>
              <a:t>74</a:t>
            </a:fld>
            <a:endParaRPr lang="en-US" altLang="zh-CN">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a:extLst>
              <a:ext uri="{FF2B5EF4-FFF2-40B4-BE49-F238E27FC236}">
                <a16:creationId xmlns:a16="http://schemas.microsoft.com/office/drawing/2014/main" id="{CDE761A5-8572-428A-BBBF-524F23CA2986}"/>
              </a:ext>
            </a:extLst>
          </p:cNvPr>
          <p:cNvSpPr>
            <a:spLocks noGrp="1" noRot="1" noChangeAspect="1" noChangeArrowheads="1" noTextEdit="1"/>
          </p:cNvSpPr>
          <p:nvPr>
            <p:ph type="sldImg"/>
          </p:nvPr>
        </p:nvSpPr>
        <p:spPr>
          <a:xfrm>
            <a:off x="381000" y="685800"/>
            <a:ext cx="6096000" cy="3429000"/>
          </a:xfrm>
          <a:ln/>
        </p:spPr>
      </p:sp>
      <p:sp>
        <p:nvSpPr>
          <p:cNvPr id="189443" name="备注占位符 2">
            <a:extLst>
              <a:ext uri="{FF2B5EF4-FFF2-40B4-BE49-F238E27FC236}">
                <a16:creationId xmlns:a16="http://schemas.microsoft.com/office/drawing/2014/main" id="{5E43E1A2-B050-4535-ADA9-D73C89B85F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视频中的酶都是三羧酸循环（</a:t>
            </a:r>
            <a:r>
              <a:rPr lang="en-US" altLang="zh-CN" dirty="0"/>
              <a:t>TCA cycle)</a:t>
            </a:r>
            <a:r>
              <a:rPr lang="zh-CN" altLang="en-US" dirty="0"/>
              <a:t>中的酶，视频前面画面展现出了整个</a:t>
            </a:r>
            <a:r>
              <a:rPr lang="en-US" altLang="zh-CN" dirty="0"/>
              <a:t>TCA cycle. </a:t>
            </a:r>
          </a:p>
          <a:p>
            <a:endParaRPr lang="en-US" altLang="zh-CN" dirty="0"/>
          </a:p>
          <a:p>
            <a:r>
              <a:rPr lang="en-US" altLang="zh-CN" dirty="0"/>
              <a:t>https://www.bilibili.com/video/av68557996</a:t>
            </a:r>
          </a:p>
          <a:p>
            <a:endParaRPr lang="zh-CN" altLang="en-US" dirty="0"/>
          </a:p>
        </p:txBody>
      </p:sp>
      <p:sp>
        <p:nvSpPr>
          <p:cNvPr id="189444" name="灯片编号占位符 3">
            <a:extLst>
              <a:ext uri="{FF2B5EF4-FFF2-40B4-BE49-F238E27FC236}">
                <a16:creationId xmlns:a16="http://schemas.microsoft.com/office/drawing/2014/main" id="{94385E27-39B6-4F5A-A29A-95EAFFA238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658D95B-8028-4571-9F1A-C98DD4C237E6}" type="slidenum">
              <a:rPr lang="en-US" altLang="zh-CN" smtClean="0">
                <a:latin typeface="Arial" panose="020B0604020202020204" pitchFamily="34" charset="0"/>
              </a:rPr>
              <a:pPr/>
              <a:t>75</a:t>
            </a:fld>
            <a:endParaRPr lang="en-US" altLang="zh-CN">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a:extLst>
              <a:ext uri="{FF2B5EF4-FFF2-40B4-BE49-F238E27FC236}">
                <a16:creationId xmlns:a16="http://schemas.microsoft.com/office/drawing/2014/main" id="{A4F32778-23E9-41A9-9626-BA29254FDE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5BB4EED-191D-4AED-9626-67B95521B90C}" type="slidenum">
              <a:rPr lang="en-US" altLang="zh-CN" smtClean="0">
                <a:latin typeface="Arial" panose="020B0604020202020204" pitchFamily="34" charset="0"/>
              </a:rPr>
              <a:pPr/>
              <a:t>76</a:t>
            </a:fld>
            <a:endParaRPr lang="en-US" altLang="zh-CN">
              <a:latin typeface="Arial" panose="020B0604020202020204" pitchFamily="34" charset="0"/>
            </a:endParaRPr>
          </a:p>
        </p:txBody>
      </p:sp>
      <p:sp>
        <p:nvSpPr>
          <p:cNvPr id="193539" name="Rectangle 2">
            <a:extLst>
              <a:ext uri="{FF2B5EF4-FFF2-40B4-BE49-F238E27FC236}">
                <a16:creationId xmlns:a16="http://schemas.microsoft.com/office/drawing/2014/main" id="{958C19E1-06AB-4E8F-B74F-00EED7D4216A}"/>
              </a:ext>
            </a:extLst>
          </p:cNvPr>
          <p:cNvSpPr>
            <a:spLocks noGrp="1" noRot="1" noChangeAspect="1" noChangeArrowheads="1" noTextEdit="1"/>
          </p:cNvSpPr>
          <p:nvPr>
            <p:ph type="sldImg"/>
          </p:nvPr>
        </p:nvSpPr>
        <p:spPr>
          <a:xfrm>
            <a:off x="381000" y="685800"/>
            <a:ext cx="6096000" cy="3429000"/>
          </a:xfrm>
          <a:ln/>
        </p:spPr>
      </p:sp>
      <p:sp>
        <p:nvSpPr>
          <p:cNvPr id="193540" name="Rectangle 3">
            <a:extLst>
              <a:ext uri="{FF2B5EF4-FFF2-40B4-BE49-F238E27FC236}">
                <a16:creationId xmlns:a16="http://schemas.microsoft.com/office/drawing/2014/main" id="{E2F9A090-F104-48FF-A6D6-BB056AF71821}"/>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本节重点介绍米氏酶的动力学，酶抑制剂作用的动力学。 </a:t>
            </a:r>
            <a:endParaRPr lang="zh-CN" altLang="zh-CN"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a:extLst>
              <a:ext uri="{FF2B5EF4-FFF2-40B4-BE49-F238E27FC236}">
                <a16:creationId xmlns:a16="http://schemas.microsoft.com/office/drawing/2014/main" id="{82236D02-919B-4D17-8A57-6992ECBB1C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DCA7208-963B-43DC-8D73-89793E89D06E}" type="slidenum">
              <a:rPr lang="en-US" altLang="zh-CN" smtClean="0">
                <a:latin typeface="Arial" panose="020B0604020202020204" pitchFamily="34" charset="0"/>
              </a:rPr>
              <a:pPr/>
              <a:t>77</a:t>
            </a:fld>
            <a:endParaRPr lang="en-US" altLang="zh-CN">
              <a:latin typeface="Arial" panose="020B0604020202020204" pitchFamily="34" charset="0"/>
            </a:endParaRPr>
          </a:p>
        </p:txBody>
      </p:sp>
      <p:sp>
        <p:nvSpPr>
          <p:cNvPr id="195587" name="Rectangle 2">
            <a:extLst>
              <a:ext uri="{FF2B5EF4-FFF2-40B4-BE49-F238E27FC236}">
                <a16:creationId xmlns:a16="http://schemas.microsoft.com/office/drawing/2014/main" id="{EDE3A63C-8069-4945-BA0D-8420D0E4DB1A}"/>
              </a:ext>
            </a:extLst>
          </p:cNvPr>
          <p:cNvSpPr>
            <a:spLocks noGrp="1" noRot="1" noChangeAspect="1" noChangeArrowheads="1" noTextEdit="1"/>
          </p:cNvSpPr>
          <p:nvPr>
            <p:ph type="sldImg"/>
          </p:nvPr>
        </p:nvSpPr>
        <p:spPr>
          <a:xfrm>
            <a:off x="381000" y="685800"/>
            <a:ext cx="6096000" cy="3429000"/>
          </a:xfrm>
          <a:ln/>
        </p:spPr>
      </p:sp>
      <p:sp>
        <p:nvSpPr>
          <p:cNvPr id="195588" name="Rectangle 3">
            <a:extLst>
              <a:ext uri="{FF2B5EF4-FFF2-40B4-BE49-F238E27FC236}">
                <a16:creationId xmlns:a16="http://schemas.microsoft.com/office/drawing/2014/main" id="{0AB1B02B-1ABC-42DD-8216-F3536278F4E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对生物体来说，通常前两种因素的影响最大， 是内因，但细胞内，一定时间内酶浓度的变化较小，而底物浓度却可能瞬息万变。 我们重点探讨底物浓度对反应速度的影响。</a:t>
            </a:r>
            <a:endParaRPr lang="en-US" altLang="zh-CN" dirty="0"/>
          </a:p>
          <a:p>
            <a:pPr eaLnBrk="1" hangingPunct="1"/>
            <a:endParaRPr lang="en-US" altLang="zh-CN" dirty="0"/>
          </a:p>
          <a:p>
            <a:pPr eaLnBrk="1" hangingPunct="1"/>
            <a:r>
              <a:rPr lang="zh-CN" altLang="en-US" dirty="0"/>
              <a:t>抑制剂涉及影响酶活性的中间代谢物，也涉及一些药物、毒物，颇有临床意义。</a:t>
            </a:r>
            <a:endParaRPr lang="zh-CN" altLang="zh-CN"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a:extLst>
              <a:ext uri="{FF2B5EF4-FFF2-40B4-BE49-F238E27FC236}">
                <a16:creationId xmlns:a16="http://schemas.microsoft.com/office/drawing/2014/main" id="{589EEDAC-A574-49B6-846B-9D8CB876A6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E4D6DB6-9356-4F65-AB22-BB0490778422}" type="slidenum">
              <a:rPr lang="en-US" altLang="zh-CN" smtClean="0">
                <a:latin typeface="Arial" panose="020B0604020202020204" pitchFamily="34" charset="0"/>
              </a:rPr>
              <a:pPr/>
              <a:t>78</a:t>
            </a:fld>
            <a:endParaRPr lang="en-US" altLang="zh-CN">
              <a:latin typeface="Arial" panose="020B0604020202020204" pitchFamily="34" charset="0"/>
            </a:endParaRPr>
          </a:p>
        </p:txBody>
      </p:sp>
      <p:sp>
        <p:nvSpPr>
          <p:cNvPr id="197635" name="Rectangle 2">
            <a:extLst>
              <a:ext uri="{FF2B5EF4-FFF2-40B4-BE49-F238E27FC236}">
                <a16:creationId xmlns:a16="http://schemas.microsoft.com/office/drawing/2014/main" id="{38A76214-B0FA-4707-BC82-88A2BE0534EB}"/>
              </a:ext>
            </a:extLst>
          </p:cNvPr>
          <p:cNvSpPr>
            <a:spLocks noGrp="1" noRot="1" noChangeAspect="1" noChangeArrowheads="1" noTextEdit="1"/>
          </p:cNvSpPr>
          <p:nvPr>
            <p:ph type="sldImg"/>
          </p:nvPr>
        </p:nvSpPr>
        <p:spPr>
          <a:xfrm>
            <a:off x="381000" y="685800"/>
            <a:ext cx="6096000" cy="3429000"/>
          </a:xfrm>
          <a:ln/>
        </p:spPr>
      </p:sp>
      <p:sp>
        <p:nvSpPr>
          <p:cNvPr id="197636" name="Rectangle 3">
            <a:extLst>
              <a:ext uri="{FF2B5EF4-FFF2-40B4-BE49-F238E27FC236}">
                <a16:creationId xmlns:a16="http://schemas.microsoft.com/office/drawing/2014/main" id="{1B20A387-C085-467D-80CF-DC22F7655C3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测定溶液中反应物或产物浓度最方便的方法是分光光度法或者荧光测定法，因为它们不干扰反应的进行，可以连续测定浓度的变化。</a:t>
            </a:r>
            <a:endParaRPr lang="en-US" altLang="zh-CN" dirty="0"/>
          </a:p>
          <a:p>
            <a:pPr eaLnBrk="1" hangingPunct="1"/>
            <a:endParaRPr lang="en-US" altLang="zh-CN" dirty="0"/>
          </a:p>
          <a:p>
            <a:pPr eaLnBrk="1" hangingPunct="1"/>
            <a:r>
              <a:rPr lang="zh-CN" altLang="en-US" dirty="0"/>
              <a:t>随着时间延长，底物消耗，反应速度肯定会发生变化，最理想的情况是测定反应开始瞬间的反应速度，但受仪器测量精度的限制，不可能测定这个开始瞬间的反应速度。 另一方面，大量实验表明，在底物消耗量</a:t>
            </a:r>
            <a:r>
              <a:rPr lang="en-US" altLang="zh-CN" dirty="0"/>
              <a:t>5%</a:t>
            </a:r>
            <a:r>
              <a:rPr lang="zh-CN" altLang="en-US" dirty="0"/>
              <a:t>以内的范围，反应速度变化很小，接近反应开始瞬间的速度 ， 所以，默认这个范围内任意时间点测定的速度都是相同的，都代表着</a:t>
            </a:r>
            <a:r>
              <a:rPr lang="zh-CN" altLang="en-US" b="1" dirty="0"/>
              <a:t>反应初速度</a:t>
            </a:r>
            <a:r>
              <a:rPr lang="zh-CN" altLang="en-US" dirty="0"/>
              <a:t>。 </a:t>
            </a:r>
            <a:endParaRPr lang="en-US" altLang="zh-CN"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a:extLst>
              <a:ext uri="{FF2B5EF4-FFF2-40B4-BE49-F238E27FC236}">
                <a16:creationId xmlns:a16="http://schemas.microsoft.com/office/drawing/2014/main" id="{B324CA2C-F157-48F7-B2DD-AFDFC50D12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924898F-2F2D-4898-B0B5-C13912BADE1E}" type="slidenum">
              <a:rPr lang="en-US" altLang="zh-CN" smtClean="0">
                <a:latin typeface="Arial" panose="020B0604020202020204" pitchFamily="34" charset="0"/>
              </a:rPr>
              <a:pPr/>
              <a:t>79</a:t>
            </a:fld>
            <a:endParaRPr lang="en-US" altLang="zh-CN">
              <a:latin typeface="Arial" panose="020B0604020202020204" pitchFamily="34" charset="0"/>
            </a:endParaRPr>
          </a:p>
        </p:txBody>
      </p:sp>
      <p:sp>
        <p:nvSpPr>
          <p:cNvPr id="199683" name="Rectangle 2">
            <a:extLst>
              <a:ext uri="{FF2B5EF4-FFF2-40B4-BE49-F238E27FC236}">
                <a16:creationId xmlns:a16="http://schemas.microsoft.com/office/drawing/2014/main" id="{68449D08-6887-499B-91E6-5265590CB371}"/>
              </a:ext>
            </a:extLst>
          </p:cNvPr>
          <p:cNvSpPr>
            <a:spLocks noGrp="1" noRot="1" noChangeAspect="1" noChangeArrowheads="1" noTextEdit="1"/>
          </p:cNvSpPr>
          <p:nvPr>
            <p:ph type="sldImg"/>
          </p:nvPr>
        </p:nvSpPr>
        <p:spPr>
          <a:xfrm>
            <a:off x="381000" y="685800"/>
            <a:ext cx="6096000" cy="3429000"/>
          </a:xfrm>
          <a:ln/>
        </p:spPr>
      </p:sp>
      <p:sp>
        <p:nvSpPr>
          <p:cNvPr id="199684" name="Rectangle 3">
            <a:extLst>
              <a:ext uri="{FF2B5EF4-FFF2-40B4-BE49-F238E27FC236}">
                <a16:creationId xmlns:a16="http://schemas.microsoft.com/office/drawing/2014/main" id="{0C72636A-128D-4164-A990-B2F1551473B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04800" indent="-304800" eaLnBrk="1" hangingPunct="1"/>
            <a:r>
              <a:rPr lang="zh-CN" altLang="en-US" dirty="0"/>
              <a:t>矩形双曲线（</a:t>
            </a:r>
            <a:r>
              <a:rPr lang="en-US" altLang="zh-CN" dirty="0"/>
              <a:t>Hyperbolic curve</a:t>
            </a:r>
            <a:r>
              <a:rPr lang="zh-CN" altLang="en-US" dirty="0"/>
              <a:t>）</a:t>
            </a:r>
          </a:p>
          <a:p>
            <a:pPr marL="304800" indent="-304800" eaLnBrk="1" hangingPunct="1"/>
            <a:endParaRPr lang="en-US" altLang="zh-CN" dirty="0"/>
          </a:p>
          <a:p>
            <a:pPr marL="304800" indent="-304800" eaLnBrk="1" hangingPunct="1"/>
            <a:r>
              <a:rPr lang="zh-CN" altLang="en-US" dirty="0"/>
              <a:t>酶含量特定（不变）的情况下，测不同底物浓度时的反应初速度，得此曲线。 </a:t>
            </a:r>
            <a:endParaRPr lang="zh-CN" altLang="zh-CN"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a:extLst>
              <a:ext uri="{FF2B5EF4-FFF2-40B4-BE49-F238E27FC236}">
                <a16:creationId xmlns:a16="http://schemas.microsoft.com/office/drawing/2014/main" id="{7D12F4E9-F327-4239-BD9A-0584FDF54E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D61C60E-9434-4837-91E5-9BA44F5CEE0F}" type="slidenum">
              <a:rPr lang="en-US" altLang="zh-CN" smtClean="0">
                <a:latin typeface="Arial" panose="020B0604020202020204" pitchFamily="34" charset="0"/>
              </a:rPr>
              <a:pPr/>
              <a:t>80</a:t>
            </a:fld>
            <a:endParaRPr lang="en-US" altLang="zh-CN">
              <a:latin typeface="Arial" panose="020B0604020202020204" pitchFamily="34" charset="0"/>
            </a:endParaRPr>
          </a:p>
        </p:txBody>
      </p:sp>
      <p:sp>
        <p:nvSpPr>
          <p:cNvPr id="201731" name="Rectangle 2">
            <a:extLst>
              <a:ext uri="{FF2B5EF4-FFF2-40B4-BE49-F238E27FC236}">
                <a16:creationId xmlns:a16="http://schemas.microsoft.com/office/drawing/2014/main" id="{5D3B73F8-9F8B-4C9F-BD56-565DC2B207A9}"/>
              </a:ext>
            </a:extLst>
          </p:cNvPr>
          <p:cNvSpPr>
            <a:spLocks noGrp="1" noRot="1" noChangeAspect="1" noChangeArrowheads="1" noTextEdit="1"/>
          </p:cNvSpPr>
          <p:nvPr>
            <p:ph type="sldImg"/>
          </p:nvPr>
        </p:nvSpPr>
        <p:spPr>
          <a:xfrm>
            <a:off x="381000" y="685800"/>
            <a:ext cx="6096000" cy="3429000"/>
          </a:xfrm>
          <a:ln/>
        </p:spPr>
      </p:sp>
      <p:sp>
        <p:nvSpPr>
          <p:cNvPr id="201732" name="Rectangle 3">
            <a:extLst>
              <a:ext uri="{FF2B5EF4-FFF2-40B4-BE49-F238E27FC236}">
                <a16:creationId xmlns:a16="http://schemas.microsoft.com/office/drawing/2014/main" id="{2D1514BF-191C-42CE-801D-9D2E6F3786C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dirty="0"/>
              <a:t>反应速度实际是取决于反应体系中酶</a:t>
            </a:r>
            <a:r>
              <a:rPr lang="en-US" altLang="zh-CN" b="1" dirty="0"/>
              <a:t>-</a:t>
            </a:r>
            <a:r>
              <a:rPr lang="zh-CN" altLang="en-US" b="1" dirty="0"/>
              <a:t>底物复合物的浓度</a:t>
            </a:r>
            <a:r>
              <a:rPr lang="zh-CN" altLang="en-US" dirty="0"/>
              <a:t>。 底物浓度较低（远低于酶的浓度），底物浓度的增加意味着酶</a:t>
            </a:r>
            <a:r>
              <a:rPr lang="en-US" altLang="zh-CN" dirty="0"/>
              <a:t>-</a:t>
            </a:r>
            <a:r>
              <a:rPr lang="zh-CN" altLang="en-US" dirty="0"/>
              <a:t>底物复合物浓度成正比例地增加</a:t>
            </a:r>
            <a:endParaRPr lang="zh-CN" altLang="zh-CN"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a:extLst>
              <a:ext uri="{FF2B5EF4-FFF2-40B4-BE49-F238E27FC236}">
                <a16:creationId xmlns:a16="http://schemas.microsoft.com/office/drawing/2014/main" id="{B3341B2F-1BE4-49F0-A7A1-3DFC59B555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CA00DA4-C764-46DE-A7FD-D64B296ECABA}" type="slidenum">
              <a:rPr lang="en-US" altLang="zh-CN" smtClean="0">
                <a:latin typeface="Arial" panose="020B0604020202020204" pitchFamily="34" charset="0"/>
              </a:rPr>
              <a:pPr/>
              <a:t>81</a:t>
            </a:fld>
            <a:endParaRPr lang="en-US" altLang="zh-CN">
              <a:latin typeface="Arial" panose="020B0604020202020204" pitchFamily="34" charset="0"/>
            </a:endParaRPr>
          </a:p>
        </p:txBody>
      </p:sp>
      <p:sp>
        <p:nvSpPr>
          <p:cNvPr id="203779" name="Rectangle 2">
            <a:extLst>
              <a:ext uri="{FF2B5EF4-FFF2-40B4-BE49-F238E27FC236}">
                <a16:creationId xmlns:a16="http://schemas.microsoft.com/office/drawing/2014/main" id="{EB120F61-FECC-426E-B5A7-462E7B206098}"/>
              </a:ext>
            </a:extLst>
          </p:cNvPr>
          <p:cNvSpPr>
            <a:spLocks noGrp="1" noRot="1" noChangeAspect="1" noChangeArrowheads="1" noTextEdit="1"/>
          </p:cNvSpPr>
          <p:nvPr>
            <p:ph type="sldImg"/>
          </p:nvPr>
        </p:nvSpPr>
        <p:spPr>
          <a:xfrm>
            <a:off x="381000" y="685800"/>
            <a:ext cx="6096000" cy="3429000"/>
          </a:xfrm>
          <a:ln/>
        </p:spPr>
      </p:sp>
      <p:sp>
        <p:nvSpPr>
          <p:cNvPr id="203780" name="Rectangle 3">
            <a:extLst>
              <a:ext uri="{FF2B5EF4-FFF2-40B4-BE49-F238E27FC236}">
                <a16:creationId xmlns:a16="http://schemas.microsoft.com/office/drawing/2014/main" id="{B5523AFC-919B-41EA-AAF6-B8A0C793B2E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a:extLst>
              <a:ext uri="{FF2B5EF4-FFF2-40B4-BE49-F238E27FC236}">
                <a16:creationId xmlns:a16="http://schemas.microsoft.com/office/drawing/2014/main" id="{11A44243-39F4-425B-80D9-E662D6A745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8201670-35BD-4CA8-BE13-33CB78298552}" type="slidenum">
              <a:rPr lang="en-US" altLang="zh-CN" smtClean="0">
                <a:latin typeface="Arial" panose="020B0604020202020204" pitchFamily="34" charset="0"/>
              </a:rPr>
              <a:pPr/>
              <a:t>82</a:t>
            </a:fld>
            <a:endParaRPr lang="en-US" altLang="zh-CN">
              <a:latin typeface="Arial" panose="020B0604020202020204" pitchFamily="34" charset="0"/>
            </a:endParaRPr>
          </a:p>
        </p:txBody>
      </p:sp>
      <p:sp>
        <p:nvSpPr>
          <p:cNvPr id="205827" name="Rectangle 2">
            <a:extLst>
              <a:ext uri="{FF2B5EF4-FFF2-40B4-BE49-F238E27FC236}">
                <a16:creationId xmlns:a16="http://schemas.microsoft.com/office/drawing/2014/main" id="{AE79A5AE-EB80-41BF-A0F0-BF3604DB6C61}"/>
              </a:ext>
            </a:extLst>
          </p:cNvPr>
          <p:cNvSpPr>
            <a:spLocks noGrp="1" noRot="1" noChangeAspect="1" noChangeArrowheads="1" noTextEdit="1"/>
          </p:cNvSpPr>
          <p:nvPr>
            <p:ph type="sldImg"/>
          </p:nvPr>
        </p:nvSpPr>
        <p:spPr>
          <a:xfrm>
            <a:off x="381000" y="685800"/>
            <a:ext cx="6096000" cy="3429000"/>
          </a:xfrm>
          <a:ln/>
        </p:spPr>
      </p:sp>
      <p:sp>
        <p:nvSpPr>
          <p:cNvPr id="205828" name="Rectangle 3">
            <a:extLst>
              <a:ext uri="{FF2B5EF4-FFF2-40B4-BE49-F238E27FC236}">
                <a16:creationId xmlns:a16="http://schemas.microsoft.com/office/drawing/2014/main" id="{280BE028-B820-4F03-BDE7-3C1F7375072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酶已被饱和时，增加底物浓度不会增大酶</a:t>
            </a:r>
            <a:r>
              <a:rPr lang="en-US" altLang="zh-CN" dirty="0"/>
              <a:t>-</a:t>
            </a:r>
            <a:r>
              <a:rPr lang="zh-CN" altLang="en-US" dirty="0"/>
              <a:t>底物复合物的浓度。   此时为零级反应，。 </a:t>
            </a:r>
            <a:endParaRPr lang="zh-CN" altLang="zh-CN"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a:extLst>
              <a:ext uri="{FF2B5EF4-FFF2-40B4-BE49-F238E27FC236}">
                <a16:creationId xmlns:a16="http://schemas.microsoft.com/office/drawing/2014/main" id="{62DABC59-AEF6-4796-8513-073715F4AD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47AEDB6-EACD-467A-AFCE-81F456909DC1}" type="slidenum">
              <a:rPr lang="en-US" altLang="zh-CN" smtClean="0">
                <a:latin typeface="Arial" panose="020B0604020202020204" pitchFamily="34" charset="0"/>
              </a:rPr>
              <a:pPr/>
              <a:t>83</a:t>
            </a:fld>
            <a:endParaRPr lang="en-US" altLang="zh-CN">
              <a:latin typeface="Arial" panose="020B0604020202020204" pitchFamily="34" charset="0"/>
            </a:endParaRPr>
          </a:p>
        </p:txBody>
      </p:sp>
      <p:sp>
        <p:nvSpPr>
          <p:cNvPr id="207875" name="Rectangle 2">
            <a:extLst>
              <a:ext uri="{FF2B5EF4-FFF2-40B4-BE49-F238E27FC236}">
                <a16:creationId xmlns:a16="http://schemas.microsoft.com/office/drawing/2014/main" id="{D8C01F8D-B466-4EE9-9351-E0B3F33F2234}"/>
              </a:ext>
            </a:extLst>
          </p:cNvPr>
          <p:cNvSpPr>
            <a:spLocks noGrp="1" noRot="1" noChangeAspect="1" noChangeArrowheads="1" noTextEdit="1"/>
          </p:cNvSpPr>
          <p:nvPr>
            <p:ph type="sldImg"/>
          </p:nvPr>
        </p:nvSpPr>
        <p:spPr>
          <a:xfrm>
            <a:off x="381000" y="685800"/>
            <a:ext cx="6096000" cy="3429000"/>
          </a:xfrm>
          <a:ln/>
        </p:spPr>
      </p:sp>
      <p:sp>
        <p:nvSpPr>
          <p:cNvPr id="207876" name="Rectangle 3">
            <a:extLst>
              <a:ext uri="{FF2B5EF4-FFF2-40B4-BE49-F238E27FC236}">
                <a16:creationId xmlns:a16="http://schemas.microsoft.com/office/drawing/2014/main" id="{1898DF8E-AB6D-48F9-88AE-96F143E37C49}"/>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1913</a:t>
            </a:r>
            <a:r>
              <a:rPr lang="zh-CN" altLang="en-US" dirty="0"/>
              <a:t>年</a:t>
            </a:r>
            <a:r>
              <a:rPr lang="en-US" altLang="zh-CN" dirty="0"/>
              <a:t>Michaelis</a:t>
            </a:r>
            <a:r>
              <a:rPr lang="zh-CN" altLang="en-US" dirty="0"/>
              <a:t>和</a:t>
            </a:r>
            <a:r>
              <a:rPr lang="en-US" altLang="zh-CN" dirty="0"/>
              <a:t>Menten</a:t>
            </a:r>
            <a:r>
              <a:rPr lang="zh-CN" altLang="en-US" dirty="0"/>
              <a:t>推导出反应速度与单底物浓度关系的数学方程式</a:t>
            </a:r>
            <a:endParaRPr lang="en-US" altLang="zh-CN" dirty="0"/>
          </a:p>
          <a:p>
            <a:pPr eaLnBrk="1" hangingPunct="1"/>
            <a:endParaRPr lang="en-US" altLang="zh-CN" dirty="0"/>
          </a:p>
          <a:p>
            <a:pPr eaLnBrk="1" hangingPunct="1"/>
            <a:r>
              <a:rPr lang="zh-CN" altLang="en-US" dirty="0"/>
              <a:t>虽然方程推导是基于单底物反应</a:t>
            </a:r>
            <a:r>
              <a:rPr lang="en-US" altLang="zh-CN" dirty="0"/>
              <a:t>, </a:t>
            </a:r>
            <a:r>
              <a:rPr lang="zh-CN" altLang="en-US" dirty="0"/>
              <a:t>但该方程也适用于双底物或多底物催化反应。 （但不适合别构酶催化的反应）</a:t>
            </a:r>
          </a:p>
          <a:p>
            <a:pPr eaLnBrk="1" hangingPunct="1"/>
            <a:endParaRPr lang="en-US" altLang="zh-CN" dirty="0"/>
          </a:p>
          <a:p>
            <a:pPr eaLnBrk="1" hangingPunct="1"/>
            <a:r>
              <a:rPr lang="en-US" altLang="zh-CN" dirty="0"/>
              <a:t>In a typical reaction, the enzyme may be present in nanomolar quantities, whereas [S] may be five or six orders of magnitude higher.</a:t>
            </a:r>
          </a:p>
          <a:p>
            <a:pPr eaLnBrk="1" hangingPunct="1"/>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a:extLst>
              <a:ext uri="{FF2B5EF4-FFF2-40B4-BE49-F238E27FC236}">
                <a16:creationId xmlns:a16="http://schemas.microsoft.com/office/drawing/2014/main" id="{4528CE54-B75A-41A9-8386-73C2654CBE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CE15A9E-04A6-49E9-BF4A-00DB94CE6187}" type="slidenum">
              <a:rPr lang="en-US" altLang="zh-CN" smtClean="0">
                <a:latin typeface="Arial" panose="020B0604020202020204" pitchFamily="34" charset="0"/>
              </a:rPr>
              <a:pPr/>
              <a:t>84</a:t>
            </a:fld>
            <a:endParaRPr lang="en-US" altLang="zh-CN">
              <a:latin typeface="Arial" panose="020B0604020202020204" pitchFamily="34" charset="0"/>
            </a:endParaRPr>
          </a:p>
        </p:txBody>
      </p:sp>
      <p:sp>
        <p:nvSpPr>
          <p:cNvPr id="211971" name="Rectangle 2">
            <a:extLst>
              <a:ext uri="{FF2B5EF4-FFF2-40B4-BE49-F238E27FC236}">
                <a16:creationId xmlns:a16="http://schemas.microsoft.com/office/drawing/2014/main" id="{D648B6E6-AC7C-4996-9D16-7213A2A89C77}"/>
              </a:ext>
            </a:extLst>
          </p:cNvPr>
          <p:cNvSpPr>
            <a:spLocks noGrp="1" noRot="1" noChangeAspect="1" noChangeArrowheads="1" noTextEdit="1"/>
          </p:cNvSpPr>
          <p:nvPr>
            <p:ph type="sldImg"/>
          </p:nvPr>
        </p:nvSpPr>
        <p:spPr>
          <a:xfrm>
            <a:off x="381000" y="685800"/>
            <a:ext cx="6096000" cy="3429000"/>
          </a:xfrm>
          <a:ln/>
        </p:spPr>
      </p:sp>
      <p:sp>
        <p:nvSpPr>
          <p:cNvPr id="211972" name="Rectangle 3">
            <a:extLst>
              <a:ext uri="{FF2B5EF4-FFF2-40B4-BE49-F238E27FC236}">
                <a16:creationId xmlns:a16="http://schemas.microsoft.com/office/drawing/2014/main" id="{01CB4E5C-5263-436F-8EDC-98CB0EA6EE3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kumimoji="1" lang="zh-CN" alt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幻灯片图像占位符 1">
            <a:extLst>
              <a:ext uri="{FF2B5EF4-FFF2-40B4-BE49-F238E27FC236}">
                <a16:creationId xmlns:a16="http://schemas.microsoft.com/office/drawing/2014/main" id="{2E6B36A5-8ED7-4B02-9F22-E5C6446F0687}"/>
              </a:ext>
            </a:extLst>
          </p:cNvPr>
          <p:cNvSpPr>
            <a:spLocks noGrp="1" noRot="1" noChangeAspect="1" noChangeArrowheads="1" noTextEdit="1"/>
          </p:cNvSpPr>
          <p:nvPr>
            <p:ph type="sldImg"/>
          </p:nvPr>
        </p:nvSpPr>
        <p:spPr>
          <a:xfrm>
            <a:off x="381000" y="685800"/>
            <a:ext cx="6096000" cy="3429000"/>
          </a:xfrm>
          <a:ln/>
        </p:spPr>
      </p:sp>
      <p:sp>
        <p:nvSpPr>
          <p:cNvPr id="214019" name="备注占位符 2">
            <a:extLst>
              <a:ext uri="{FF2B5EF4-FFF2-40B4-BE49-F238E27FC236}">
                <a16:creationId xmlns:a16="http://schemas.microsoft.com/office/drawing/2014/main" id="{12B96A78-3395-4A74-9BD7-A92FC81F9A1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为了准确、真实地反应一种酶的活性，最好是测定酶促反应的初速率。</a:t>
            </a:r>
            <a:endParaRPr lang="en-US" altLang="zh-CN" dirty="0"/>
          </a:p>
          <a:p>
            <a:endParaRPr lang="en-US" altLang="zh-CN" dirty="0"/>
          </a:p>
          <a:p>
            <a:endParaRPr lang="en-US" altLang="zh-CN" dirty="0"/>
          </a:p>
        </p:txBody>
      </p:sp>
      <p:sp>
        <p:nvSpPr>
          <p:cNvPr id="214020" name="灯片编号占位符 3">
            <a:extLst>
              <a:ext uri="{FF2B5EF4-FFF2-40B4-BE49-F238E27FC236}">
                <a16:creationId xmlns:a16="http://schemas.microsoft.com/office/drawing/2014/main" id="{F7239DC1-6536-4807-8127-80B24447D96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8448392-9E65-4C16-8DBA-BB00EEBFB0CA}" type="slidenum">
              <a:rPr lang="en-US" altLang="zh-CN" smtClean="0">
                <a:latin typeface="Arial" panose="020B0604020202020204" pitchFamily="34" charset="0"/>
              </a:rPr>
              <a:pPr/>
              <a:t>85</a:t>
            </a:fld>
            <a:endParaRPr lang="en-US" altLang="zh-CN">
              <a:latin typeface="Arial" panose="020B060402020202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幻灯片图像占位符 1">
            <a:extLst>
              <a:ext uri="{FF2B5EF4-FFF2-40B4-BE49-F238E27FC236}">
                <a16:creationId xmlns:a16="http://schemas.microsoft.com/office/drawing/2014/main" id="{534F5609-EC8B-46BF-9824-2E6B151576ED}"/>
              </a:ext>
            </a:extLst>
          </p:cNvPr>
          <p:cNvSpPr>
            <a:spLocks noGrp="1" noRot="1" noChangeAspect="1" noChangeArrowheads="1" noTextEdit="1"/>
          </p:cNvSpPr>
          <p:nvPr>
            <p:ph type="sldImg"/>
          </p:nvPr>
        </p:nvSpPr>
        <p:spPr>
          <a:xfrm>
            <a:off x="381000" y="685800"/>
            <a:ext cx="6096000" cy="3429000"/>
          </a:xfrm>
          <a:ln/>
        </p:spPr>
      </p:sp>
      <p:sp>
        <p:nvSpPr>
          <p:cNvPr id="216067" name="备注占位符 2">
            <a:extLst>
              <a:ext uri="{FF2B5EF4-FFF2-40B4-BE49-F238E27FC236}">
                <a16:creationId xmlns:a16="http://schemas.microsoft.com/office/drawing/2014/main" id="{888BC3F1-4E87-4529-ACF7-6F629E434E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E</a:t>
            </a:r>
            <a:r>
              <a:rPr lang="en-US" altLang="zh-CN" baseline="-25000" dirty="0"/>
              <a:t>t</a:t>
            </a:r>
            <a:r>
              <a:rPr lang="en-US" altLang="zh-CN" dirty="0"/>
              <a:t> : total enzyme</a:t>
            </a:r>
          </a:p>
          <a:p>
            <a:r>
              <a:rPr lang="en-US" altLang="zh-CN" dirty="0"/>
              <a:t>Steady-state assumption</a:t>
            </a:r>
            <a:r>
              <a:rPr lang="zh-CN" altLang="en-US" dirty="0"/>
              <a:t>稳态假说</a:t>
            </a:r>
            <a:r>
              <a:rPr lang="en-US" altLang="zh-CN" dirty="0"/>
              <a:t>: [ES] does not change with time, that is, the rate of formation of ES is equal to that of the breakdown of ES (to E + S and to E + P).  </a:t>
            </a:r>
          </a:p>
          <a:p>
            <a:r>
              <a:rPr lang="zh-CN" altLang="en-US" dirty="0"/>
              <a:t>稳态（</a:t>
            </a:r>
            <a:r>
              <a:rPr lang="en-US" altLang="zh-CN" dirty="0"/>
              <a:t>steady state)</a:t>
            </a:r>
            <a:r>
              <a:rPr lang="zh-CN" altLang="en-US" dirty="0"/>
              <a:t>可瞬间建立     </a:t>
            </a:r>
            <a:r>
              <a:rPr lang="en-US" altLang="zh-CN" dirty="0"/>
              <a:t>(pre-steady state period </a:t>
            </a:r>
            <a:r>
              <a:rPr lang="zh-CN" altLang="en-US" dirty="0"/>
              <a:t>非常短暂，</a:t>
            </a:r>
            <a:r>
              <a:rPr lang="en-US" altLang="zh-CN" dirty="0"/>
              <a:t>lasting just microseconds.) </a:t>
            </a:r>
          </a:p>
          <a:p>
            <a:endParaRPr lang="en-US" altLang="zh-CN" dirty="0"/>
          </a:p>
          <a:p>
            <a:r>
              <a:rPr lang="zh-CN" altLang="en-US" dirty="0"/>
              <a:t>通常，一个连续代谢反应中的中间产物是处于稳态的， 也就是说，其合成速度等于其分解速度。 </a:t>
            </a:r>
          </a:p>
          <a:p>
            <a:endParaRPr lang="zh-CN" altLang="en-US" dirty="0"/>
          </a:p>
        </p:txBody>
      </p:sp>
      <p:sp>
        <p:nvSpPr>
          <p:cNvPr id="216068" name="灯片编号占位符 3">
            <a:extLst>
              <a:ext uri="{FF2B5EF4-FFF2-40B4-BE49-F238E27FC236}">
                <a16:creationId xmlns:a16="http://schemas.microsoft.com/office/drawing/2014/main" id="{E2EB40F7-E14D-43BF-9BA3-549C76286E7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4B4393D-F042-4F26-A1BD-11FB251B1EF5}" type="slidenum">
              <a:rPr lang="en-US" altLang="zh-CN" smtClean="0">
                <a:latin typeface="Arial" panose="020B0604020202020204" pitchFamily="34" charset="0"/>
              </a:rPr>
              <a:pPr/>
              <a:t>86</a:t>
            </a:fld>
            <a:endParaRPr lang="en-US" altLang="zh-CN">
              <a:latin typeface="Arial" panose="020B0604020202020204"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幻灯片图像占位符 1">
            <a:extLst>
              <a:ext uri="{FF2B5EF4-FFF2-40B4-BE49-F238E27FC236}">
                <a16:creationId xmlns:a16="http://schemas.microsoft.com/office/drawing/2014/main" id="{37412C89-616F-43FC-8B25-6FF90AF17F03}"/>
              </a:ext>
            </a:extLst>
          </p:cNvPr>
          <p:cNvSpPr>
            <a:spLocks noGrp="1" noRot="1" noChangeAspect="1" noChangeArrowheads="1" noTextEdit="1"/>
          </p:cNvSpPr>
          <p:nvPr>
            <p:ph type="sldImg"/>
          </p:nvPr>
        </p:nvSpPr>
        <p:spPr>
          <a:xfrm>
            <a:off x="381000" y="685800"/>
            <a:ext cx="6096000" cy="3429000"/>
          </a:xfrm>
          <a:ln/>
        </p:spPr>
      </p:sp>
      <p:sp>
        <p:nvSpPr>
          <p:cNvPr id="218115" name="备注占位符 2">
            <a:extLst>
              <a:ext uri="{FF2B5EF4-FFF2-40B4-BE49-F238E27FC236}">
                <a16:creationId xmlns:a16="http://schemas.microsoft.com/office/drawing/2014/main" id="{40D429C3-ED44-4567-A8E7-3A1FFEF087B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Michaelis-Menten kinetics is also called </a:t>
            </a:r>
            <a:r>
              <a:rPr lang="en-US" altLang="zh-CN" b="1" dirty="0"/>
              <a:t>steady-state kinetics</a:t>
            </a:r>
            <a:r>
              <a:rPr lang="en-US" altLang="zh-CN" dirty="0"/>
              <a:t>.</a:t>
            </a:r>
            <a:endParaRPr lang="zh-CN" altLang="en-US" dirty="0"/>
          </a:p>
        </p:txBody>
      </p:sp>
      <p:sp>
        <p:nvSpPr>
          <p:cNvPr id="218116" name="灯片编号占位符 3">
            <a:extLst>
              <a:ext uri="{FF2B5EF4-FFF2-40B4-BE49-F238E27FC236}">
                <a16:creationId xmlns:a16="http://schemas.microsoft.com/office/drawing/2014/main" id="{69A05004-6528-45D9-93DA-0E046DD4F60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7910BED-6FD4-4DB8-A256-D330DAAA61EB}" type="slidenum">
              <a:rPr lang="en-US" altLang="zh-CN" smtClean="0">
                <a:latin typeface="Arial" panose="020B0604020202020204" pitchFamily="34" charset="0"/>
              </a:rPr>
              <a:pPr/>
              <a:t>87</a:t>
            </a:fld>
            <a:endParaRPr lang="en-US" altLang="zh-CN">
              <a:latin typeface="Arial" panose="020B0604020202020204"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a:extLst>
              <a:ext uri="{FF2B5EF4-FFF2-40B4-BE49-F238E27FC236}">
                <a16:creationId xmlns:a16="http://schemas.microsoft.com/office/drawing/2014/main" id="{97639D98-7833-47EB-8A50-76EE633B03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387DDE0-19F8-4A9B-B978-24C9ADAC42D3}" type="slidenum">
              <a:rPr lang="en-US" altLang="zh-CN" smtClean="0">
                <a:latin typeface="Arial" panose="020B0604020202020204" pitchFamily="34" charset="0"/>
              </a:rPr>
              <a:pPr/>
              <a:t>88</a:t>
            </a:fld>
            <a:endParaRPr lang="en-US" altLang="zh-CN">
              <a:latin typeface="Arial" panose="020B0604020202020204" pitchFamily="34" charset="0"/>
            </a:endParaRPr>
          </a:p>
        </p:txBody>
      </p:sp>
      <p:sp>
        <p:nvSpPr>
          <p:cNvPr id="220163" name="Rectangle 2">
            <a:extLst>
              <a:ext uri="{FF2B5EF4-FFF2-40B4-BE49-F238E27FC236}">
                <a16:creationId xmlns:a16="http://schemas.microsoft.com/office/drawing/2014/main" id="{8A8E6D92-638F-4927-A956-4A8DC68222F2}"/>
              </a:ext>
            </a:extLst>
          </p:cNvPr>
          <p:cNvSpPr>
            <a:spLocks noGrp="1" noRot="1" noChangeAspect="1" noChangeArrowheads="1" noTextEdit="1"/>
          </p:cNvSpPr>
          <p:nvPr>
            <p:ph type="sldImg"/>
          </p:nvPr>
        </p:nvSpPr>
        <p:spPr>
          <a:xfrm>
            <a:off x="381000" y="685800"/>
            <a:ext cx="6096000" cy="3429000"/>
          </a:xfrm>
          <a:ln/>
        </p:spPr>
      </p:sp>
      <p:sp>
        <p:nvSpPr>
          <p:cNvPr id="220164" name="Rectangle 3">
            <a:extLst>
              <a:ext uri="{FF2B5EF4-FFF2-40B4-BE49-F238E27FC236}">
                <a16:creationId xmlns:a16="http://schemas.microsoft.com/office/drawing/2014/main" id="{5F1AB578-F793-401D-80E1-7CB1A2D1EE3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推导过程不要求， 米氏方程要记住</a:t>
            </a:r>
            <a:endParaRPr lang="en-US" altLang="zh-CN"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a:extLst>
              <a:ext uri="{FF2B5EF4-FFF2-40B4-BE49-F238E27FC236}">
                <a16:creationId xmlns:a16="http://schemas.microsoft.com/office/drawing/2014/main" id="{2B6668E4-02B7-4FC4-AEE1-DBD681175D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B7D989A-542C-490C-AB71-21E8760B00B5}" type="slidenum">
              <a:rPr lang="en-US" altLang="zh-CN" smtClean="0">
                <a:latin typeface="Arial" panose="020B0604020202020204" pitchFamily="34" charset="0"/>
              </a:rPr>
              <a:pPr/>
              <a:t>89</a:t>
            </a:fld>
            <a:endParaRPr lang="en-US" altLang="zh-CN">
              <a:latin typeface="Arial" panose="020B0604020202020204" pitchFamily="34" charset="0"/>
            </a:endParaRPr>
          </a:p>
        </p:txBody>
      </p:sp>
      <p:sp>
        <p:nvSpPr>
          <p:cNvPr id="222211" name="Rectangle 2">
            <a:extLst>
              <a:ext uri="{FF2B5EF4-FFF2-40B4-BE49-F238E27FC236}">
                <a16:creationId xmlns:a16="http://schemas.microsoft.com/office/drawing/2014/main" id="{B166D087-C997-4011-B614-A01492E20996}"/>
              </a:ext>
            </a:extLst>
          </p:cNvPr>
          <p:cNvSpPr>
            <a:spLocks noGrp="1" noRot="1" noChangeAspect="1" noChangeArrowheads="1" noTextEdit="1"/>
          </p:cNvSpPr>
          <p:nvPr>
            <p:ph type="sldImg"/>
          </p:nvPr>
        </p:nvSpPr>
        <p:spPr>
          <a:xfrm>
            <a:off x="381000" y="685800"/>
            <a:ext cx="6096000" cy="3429000"/>
          </a:xfrm>
          <a:ln/>
        </p:spPr>
      </p:sp>
      <p:sp>
        <p:nvSpPr>
          <p:cNvPr id="222212" name="Rectangle 3">
            <a:extLst>
              <a:ext uri="{FF2B5EF4-FFF2-40B4-BE49-F238E27FC236}">
                <a16:creationId xmlns:a16="http://schemas.microsoft.com/office/drawing/2014/main" id="{9945BA33-20DF-4E73-9AC6-53200F55EDAB}"/>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z="2800" dirty="0">
                <a:solidFill>
                  <a:srgbClr val="FFFF00"/>
                </a:solidFill>
                <a:ea typeface="华文楷体" panose="02010600040101010101" pitchFamily="2" charset="-122"/>
              </a:rPr>
              <a:t>Km</a:t>
            </a:r>
            <a:r>
              <a:rPr lang="zh-CN" altLang="en-US" sz="2800" dirty="0">
                <a:solidFill>
                  <a:srgbClr val="FFFF00"/>
                </a:solidFill>
                <a:ea typeface="华文楷体" panose="02010600040101010101" pitchFamily="2" charset="-122"/>
              </a:rPr>
              <a:t>的意义是重点，几条都要记住。 </a:t>
            </a:r>
            <a:endParaRPr lang="en-US" altLang="zh-CN" sz="2800" dirty="0">
              <a:solidFill>
                <a:srgbClr val="FFFF00"/>
              </a:solidFill>
              <a:ea typeface="华文楷体" panose="02010600040101010101" pitchFamily="2" charset="-122"/>
            </a:endParaRPr>
          </a:p>
          <a:p>
            <a:pPr eaLnBrk="1" hangingPunct="1"/>
            <a:endParaRPr lang="en-US" altLang="zh-CN" sz="2800" dirty="0">
              <a:solidFill>
                <a:srgbClr val="FFFF00"/>
              </a:solidFill>
              <a:ea typeface="华文楷体" panose="02010600040101010101" pitchFamily="2" charset="-122"/>
            </a:endParaRPr>
          </a:p>
          <a:p>
            <a:pPr eaLnBrk="1" hangingPunct="1"/>
            <a:r>
              <a:rPr lang="en-US" altLang="zh-CN" sz="2800" dirty="0">
                <a:solidFill>
                  <a:srgbClr val="FFFF00"/>
                </a:solidFill>
                <a:ea typeface="华文楷体" panose="02010600040101010101" pitchFamily="2" charset="-122"/>
              </a:rPr>
              <a:t>The relationship between [S] and Km is important because </a:t>
            </a:r>
            <a:r>
              <a:rPr lang="en-US" altLang="zh-CN" sz="2800" b="1" dirty="0">
                <a:solidFill>
                  <a:srgbClr val="FFFF00"/>
                </a:solidFill>
                <a:ea typeface="华文楷体" panose="02010600040101010101" pitchFamily="2" charset="-122"/>
              </a:rPr>
              <a:t>intracellular concentrations of substrate are often in the same range as, or lower than Km.</a:t>
            </a:r>
            <a:endParaRPr lang="zh-CN" altLang="zh-CN" sz="2800" b="1" dirty="0">
              <a:solidFill>
                <a:srgbClr val="FFFF00"/>
              </a:solidFill>
              <a:ea typeface="华文楷体" panose="02010600040101010101" pitchFamily="2" charset="-122"/>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a:extLst>
              <a:ext uri="{FF2B5EF4-FFF2-40B4-BE49-F238E27FC236}">
                <a16:creationId xmlns:a16="http://schemas.microsoft.com/office/drawing/2014/main" id="{FA6A87C0-435E-4FD7-ADE6-096E11B35E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6549015-1246-47A0-A5CE-498B0374E7AF}" type="slidenum">
              <a:rPr lang="en-US" altLang="zh-CN" smtClean="0">
                <a:latin typeface="Arial" panose="020B0604020202020204" pitchFamily="34" charset="0"/>
              </a:rPr>
              <a:pPr/>
              <a:t>90</a:t>
            </a:fld>
            <a:endParaRPr lang="en-US" altLang="zh-CN">
              <a:latin typeface="Arial" panose="020B0604020202020204" pitchFamily="34" charset="0"/>
            </a:endParaRPr>
          </a:p>
        </p:txBody>
      </p:sp>
      <p:sp>
        <p:nvSpPr>
          <p:cNvPr id="224259" name="Rectangle 2">
            <a:extLst>
              <a:ext uri="{FF2B5EF4-FFF2-40B4-BE49-F238E27FC236}">
                <a16:creationId xmlns:a16="http://schemas.microsoft.com/office/drawing/2014/main" id="{7FDD6D56-812B-45A0-9977-72DE09A02AC4}"/>
              </a:ext>
            </a:extLst>
          </p:cNvPr>
          <p:cNvSpPr>
            <a:spLocks noGrp="1" noRot="1" noChangeAspect="1" noChangeArrowheads="1" noTextEdit="1"/>
          </p:cNvSpPr>
          <p:nvPr>
            <p:ph type="sldImg"/>
          </p:nvPr>
        </p:nvSpPr>
        <p:spPr>
          <a:xfrm>
            <a:off x="381000" y="685800"/>
            <a:ext cx="6096000" cy="3429000"/>
          </a:xfrm>
          <a:ln/>
        </p:spPr>
      </p:sp>
      <p:sp>
        <p:nvSpPr>
          <p:cNvPr id="224260" name="Rectangle 3">
            <a:extLst>
              <a:ext uri="{FF2B5EF4-FFF2-40B4-BE49-F238E27FC236}">
                <a16:creationId xmlns:a16="http://schemas.microsoft.com/office/drawing/2014/main" id="{C7075011-4BEE-4EE3-9BE1-74B1AA576F6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000" dirty="0">
                <a:solidFill>
                  <a:schemeClr val="accent2"/>
                </a:solidFill>
                <a:ea typeface="楷体_GB2312" pitchFamily="49" charset="-122"/>
              </a:rPr>
              <a:t>通常在最适温度、最适</a:t>
            </a:r>
            <a:r>
              <a:rPr lang="en-US" altLang="zh-CN" sz="1000" dirty="0">
                <a:solidFill>
                  <a:schemeClr val="accent2"/>
                </a:solidFill>
                <a:ea typeface="楷体_GB2312" pitchFamily="49" charset="-122"/>
              </a:rPr>
              <a:t>pH</a:t>
            </a:r>
            <a:r>
              <a:rPr lang="zh-CN" altLang="en-US" sz="1000" dirty="0">
                <a:solidFill>
                  <a:schemeClr val="accent2"/>
                </a:solidFill>
                <a:ea typeface="楷体_GB2312" pitchFamily="49" charset="-122"/>
              </a:rPr>
              <a:t>及合适离子强度下测定酶的</a:t>
            </a:r>
            <a:r>
              <a:rPr lang="en-US" altLang="zh-CN" sz="1000" dirty="0">
                <a:solidFill>
                  <a:schemeClr val="accent2"/>
                </a:solidFill>
                <a:ea typeface="楷体_GB2312" pitchFamily="49" charset="-122"/>
              </a:rPr>
              <a:t>Km</a:t>
            </a:r>
            <a:endParaRPr lang="zh-CN" altLang="en-US" sz="1000" dirty="0">
              <a:solidFill>
                <a:schemeClr val="accent2"/>
              </a:solidFill>
              <a:ea typeface="楷体_GB2312" pitchFamily="49"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a:extLst>
              <a:ext uri="{FF2B5EF4-FFF2-40B4-BE49-F238E27FC236}">
                <a16:creationId xmlns:a16="http://schemas.microsoft.com/office/drawing/2014/main" id="{BE2299CE-9725-4CAB-BA56-DF2D7EB8B7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86ADC91-EAF4-4336-A948-A92FAC3CCD36}" type="slidenum">
              <a:rPr lang="en-US" altLang="zh-CN" smtClean="0">
                <a:latin typeface="Arial" panose="020B0604020202020204" pitchFamily="34" charset="0"/>
              </a:rPr>
              <a:pPr/>
              <a:t>92</a:t>
            </a:fld>
            <a:endParaRPr lang="en-US" altLang="zh-CN">
              <a:latin typeface="Arial" panose="020B0604020202020204" pitchFamily="34" charset="0"/>
            </a:endParaRPr>
          </a:p>
        </p:txBody>
      </p:sp>
      <p:sp>
        <p:nvSpPr>
          <p:cNvPr id="227331" name="Rectangle 2">
            <a:extLst>
              <a:ext uri="{FF2B5EF4-FFF2-40B4-BE49-F238E27FC236}">
                <a16:creationId xmlns:a16="http://schemas.microsoft.com/office/drawing/2014/main" id="{452D2FB1-D6D8-407C-B20A-DA23F04FF243}"/>
              </a:ext>
            </a:extLst>
          </p:cNvPr>
          <p:cNvSpPr>
            <a:spLocks noGrp="1" noRot="1" noChangeAspect="1" noChangeArrowheads="1" noTextEdit="1"/>
          </p:cNvSpPr>
          <p:nvPr>
            <p:ph type="sldImg"/>
          </p:nvPr>
        </p:nvSpPr>
        <p:spPr>
          <a:xfrm>
            <a:off x="381000" y="685800"/>
            <a:ext cx="6096000" cy="3429000"/>
          </a:xfrm>
          <a:ln/>
        </p:spPr>
      </p:sp>
      <p:sp>
        <p:nvSpPr>
          <p:cNvPr id="227332" name="Rectangle 3">
            <a:extLst>
              <a:ext uri="{FF2B5EF4-FFF2-40B4-BE49-F238E27FC236}">
                <a16:creationId xmlns:a16="http://schemas.microsoft.com/office/drawing/2014/main" id="{F0BA6E9C-0BB9-4681-B15F-138362FA8CB2}"/>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但大多数情况下并不会</a:t>
            </a:r>
            <a:r>
              <a:rPr lang="en-US" altLang="zh-CN" dirty="0">
                <a:latin typeface="宋体" panose="02010600030101010101" pitchFamily="2" charset="-122"/>
              </a:rPr>
              <a:t>K</a:t>
            </a:r>
            <a:r>
              <a:rPr lang="en-US" altLang="zh-CN" baseline="-25000" dirty="0">
                <a:latin typeface="宋体" panose="02010600030101010101" pitchFamily="2" charset="-122"/>
              </a:rPr>
              <a:t>2</a:t>
            </a:r>
            <a:r>
              <a:rPr kumimoji="1" lang="en-US" altLang="zh-CN" dirty="0">
                <a:solidFill>
                  <a:schemeClr val="accent2"/>
                </a:solidFill>
                <a:latin typeface="Times New Roman" panose="02020603050405020304" pitchFamily="18" charset="0"/>
                <a:ea typeface="黑体" panose="02010609060101010101" pitchFamily="49" charset="-122"/>
              </a:rPr>
              <a:t>&gt;&gt;k</a:t>
            </a:r>
            <a:r>
              <a:rPr kumimoji="1" lang="en-US" altLang="zh-CN" baseline="-25000" dirty="0">
                <a:solidFill>
                  <a:schemeClr val="accent2"/>
                </a:solidFill>
                <a:latin typeface="Times New Roman" panose="02020603050405020304" pitchFamily="18" charset="0"/>
                <a:ea typeface="黑体" panose="02010609060101010101" pitchFamily="49" charset="-122"/>
              </a:rPr>
              <a:t>3</a:t>
            </a:r>
            <a:r>
              <a:rPr kumimoji="1" lang="en-US" altLang="zh-CN" dirty="0">
                <a:solidFill>
                  <a:schemeClr val="accent2"/>
                </a:solidFill>
                <a:latin typeface="Times New Roman" panose="02020603050405020304" pitchFamily="18" charset="0"/>
                <a:ea typeface="黑体" panose="02010609060101010101" pitchFamily="49" charset="-122"/>
              </a:rPr>
              <a:t>, </a:t>
            </a:r>
            <a:r>
              <a:rPr kumimoji="1" lang="zh-CN" altLang="en-US" dirty="0">
                <a:solidFill>
                  <a:schemeClr val="accent2"/>
                </a:solidFill>
                <a:latin typeface="Times New Roman" panose="02020603050405020304" pitchFamily="18" charset="0"/>
                <a:ea typeface="黑体" panose="02010609060101010101" pitchFamily="49" charset="-122"/>
              </a:rPr>
              <a:t>有时甚至</a:t>
            </a:r>
            <a:r>
              <a:rPr kumimoji="1" lang="en-US" altLang="zh-CN" dirty="0">
                <a:solidFill>
                  <a:schemeClr val="accent2"/>
                </a:solidFill>
                <a:latin typeface="Times New Roman" panose="02020603050405020304" pitchFamily="18" charset="0"/>
                <a:ea typeface="黑体" panose="02010609060101010101" pitchFamily="49" charset="-122"/>
              </a:rPr>
              <a:t>K</a:t>
            </a:r>
            <a:r>
              <a:rPr kumimoji="1" lang="en-US" altLang="zh-CN" baseline="-25000" dirty="0">
                <a:solidFill>
                  <a:schemeClr val="accent2"/>
                </a:solidFill>
                <a:latin typeface="Times New Roman" panose="02020603050405020304" pitchFamily="18" charset="0"/>
                <a:ea typeface="黑体" panose="02010609060101010101" pitchFamily="49" charset="-122"/>
              </a:rPr>
              <a:t>3</a:t>
            </a:r>
            <a:r>
              <a:rPr kumimoji="1" lang="zh-CN" altLang="en-US" dirty="0">
                <a:solidFill>
                  <a:schemeClr val="accent2"/>
                </a:solidFill>
                <a:latin typeface="Times New Roman" panose="02020603050405020304" pitchFamily="18" charset="0"/>
                <a:ea typeface="黑体" panose="02010609060101010101" pitchFamily="49" charset="-122"/>
              </a:rPr>
              <a:t>大得多。 </a:t>
            </a:r>
            <a:endParaRPr kumimoji="1" lang="en-US" altLang="zh-CN" dirty="0">
              <a:solidFill>
                <a:schemeClr val="accent2"/>
              </a:solidFill>
              <a:latin typeface="Times New Roman" panose="02020603050405020304" pitchFamily="18" charset="0"/>
              <a:ea typeface="黑体" panose="02010609060101010101" pitchFamily="49" charset="-122"/>
            </a:endParaRPr>
          </a:p>
          <a:p>
            <a:pPr eaLnBrk="1" hangingPunct="1"/>
            <a:endParaRPr kumimoji="1" lang="en-US" altLang="zh-CN" dirty="0">
              <a:solidFill>
                <a:schemeClr val="accent2"/>
              </a:solidFill>
              <a:latin typeface="Times New Roman" panose="02020603050405020304" pitchFamily="18" charset="0"/>
              <a:ea typeface="黑体" panose="02010609060101010101" pitchFamily="49" charset="-122"/>
            </a:endParaRPr>
          </a:p>
          <a:p>
            <a:pPr eaLnBrk="1" hangingPunct="1"/>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幻灯片图像占位符 1">
            <a:extLst>
              <a:ext uri="{FF2B5EF4-FFF2-40B4-BE49-F238E27FC236}">
                <a16:creationId xmlns:a16="http://schemas.microsoft.com/office/drawing/2014/main" id="{45A4FCCD-8300-4266-8086-E33F3C0BB30F}"/>
              </a:ext>
            </a:extLst>
          </p:cNvPr>
          <p:cNvSpPr>
            <a:spLocks noGrp="1" noRot="1" noChangeAspect="1" noChangeArrowheads="1" noTextEdit="1"/>
          </p:cNvSpPr>
          <p:nvPr>
            <p:ph type="sldImg"/>
          </p:nvPr>
        </p:nvSpPr>
        <p:spPr>
          <a:xfrm>
            <a:off x="381000" y="685800"/>
            <a:ext cx="6096000" cy="3429000"/>
          </a:xfrm>
          <a:ln/>
        </p:spPr>
      </p:sp>
      <p:sp>
        <p:nvSpPr>
          <p:cNvPr id="230403" name="备注占位符 2">
            <a:extLst>
              <a:ext uri="{FF2B5EF4-FFF2-40B4-BE49-F238E27FC236}">
                <a16:creationId xmlns:a16="http://schemas.microsoft.com/office/drawing/2014/main" id="{A73E3560-A56C-4C56-A315-92846A49FF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dirty="0"/>
              <a:t>Km</a:t>
            </a:r>
            <a:r>
              <a:rPr lang="zh-CN" altLang="en-US" b="1" dirty="0"/>
              <a:t>还可用于判断反应级数：</a:t>
            </a:r>
            <a:endParaRPr lang="en-US" altLang="zh-CN" b="1" dirty="0"/>
          </a:p>
          <a:p>
            <a:r>
              <a:rPr lang="zh-CN" altLang="en-US" dirty="0"/>
              <a:t>当</a:t>
            </a:r>
            <a:r>
              <a:rPr lang="en-US" altLang="zh-CN" dirty="0"/>
              <a:t>[S]&lt;0.01Km</a:t>
            </a:r>
            <a:r>
              <a:rPr lang="zh-CN" altLang="en-US" dirty="0"/>
              <a:t>时，反应为一级反应</a:t>
            </a:r>
            <a:endParaRPr lang="en-US" altLang="zh-CN" dirty="0"/>
          </a:p>
          <a:p>
            <a:r>
              <a:rPr lang="zh-CN" altLang="en-US" dirty="0"/>
              <a:t>当</a:t>
            </a:r>
            <a:r>
              <a:rPr lang="en-US" altLang="zh-CN" dirty="0"/>
              <a:t>[S] &gt;100Km</a:t>
            </a:r>
            <a:r>
              <a:rPr lang="zh-CN" altLang="en-US" dirty="0"/>
              <a:t>时，</a:t>
            </a:r>
            <a:r>
              <a:rPr lang="en-US" altLang="zh-CN" dirty="0"/>
              <a:t>V=Vmax</a:t>
            </a:r>
            <a:r>
              <a:rPr lang="zh-CN" altLang="en-US" dirty="0"/>
              <a:t>，反应为零级反应        这种底物浓度下，实验中已观察不到反应速度有明显变化</a:t>
            </a:r>
            <a:endParaRPr lang="en-US" altLang="zh-CN" dirty="0"/>
          </a:p>
          <a:p>
            <a:r>
              <a:rPr lang="zh-CN" altLang="en-US" dirty="0"/>
              <a:t>当</a:t>
            </a:r>
            <a:r>
              <a:rPr lang="en-US" altLang="zh-CN" dirty="0"/>
              <a:t>0.01Km&lt;[S] &lt; 100Km</a:t>
            </a:r>
            <a:r>
              <a:rPr lang="zh-CN" altLang="en-US" dirty="0"/>
              <a:t>时， 为混合级反应</a:t>
            </a:r>
            <a:endParaRPr lang="en-US" altLang="zh-CN" dirty="0"/>
          </a:p>
          <a:p>
            <a:endParaRPr lang="zh-CN" altLang="en-US" dirty="0"/>
          </a:p>
        </p:txBody>
      </p:sp>
      <p:sp>
        <p:nvSpPr>
          <p:cNvPr id="230404" name="灯片编号占位符 3">
            <a:extLst>
              <a:ext uri="{FF2B5EF4-FFF2-40B4-BE49-F238E27FC236}">
                <a16:creationId xmlns:a16="http://schemas.microsoft.com/office/drawing/2014/main" id="{36BBA2E7-8A24-486C-8EA1-186F3B6671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0F069C9-05B1-435A-A139-5F94CAB4DC92}" type="slidenum">
              <a:rPr lang="en-US" altLang="zh-CN" smtClean="0">
                <a:latin typeface="Arial" panose="020B0604020202020204" pitchFamily="34" charset="0"/>
              </a:rPr>
              <a:pPr/>
              <a:t>94</a:t>
            </a:fld>
            <a:endParaRPr lang="en-US" altLang="zh-CN">
              <a:latin typeface="Arial" panose="020B0604020202020204"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幻灯片图像占位符 1">
            <a:extLst>
              <a:ext uri="{FF2B5EF4-FFF2-40B4-BE49-F238E27FC236}">
                <a16:creationId xmlns:a16="http://schemas.microsoft.com/office/drawing/2014/main" id="{D8F5FB30-4CBF-4AFE-9870-01F8B945B188}"/>
              </a:ext>
            </a:extLst>
          </p:cNvPr>
          <p:cNvSpPr>
            <a:spLocks noGrp="1" noRot="1" noChangeAspect="1" noChangeArrowheads="1" noTextEdit="1"/>
          </p:cNvSpPr>
          <p:nvPr>
            <p:ph type="sldImg"/>
          </p:nvPr>
        </p:nvSpPr>
        <p:spPr>
          <a:xfrm>
            <a:off x="381000" y="685800"/>
            <a:ext cx="6096000" cy="3429000"/>
          </a:xfrm>
          <a:ln/>
        </p:spPr>
      </p:sp>
      <p:sp>
        <p:nvSpPr>
          <p:cNvPr id="232451" name="备注占位符 2">
            <a:extLst>
              <a:ext uri="{FF2B5EF4-FFF2-40B4-BE49-F238E27FC236}">
                <a16:creationId xmlns:a16="http://schemas.microsoft.com/office/drawing/2014/main" id="{7A5D8A9B-4C42-4050-A10C-6D225486C5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注意已糖激酶对葡萄糖的</a:t>
            </a:r>
            <a:r>
              <a:rPr lang="en-US" altLang="zh-CN" dirty="0"/>
              <a:t>Km</a:t>
            </a:r>
            <a:r>
              <a:rPr lang="zh-CN" altLang="en-US" dirty="0"/>
              <a:t>远低于血糖水平，且比对果糖的</a:t>
            </a:r>
            <a:r>
              <a:rPr lang="en-US" altLang="zh-CN" dirty="0"/>
              <a:t>Km</a:t>
            </a:r>
            <a:r>
              <a:rPr lang="zh-CN" altLang="en-US" dirty="0"/>
              <a:t>小很多， 可见脑细胞对葡萄糖的充分利用。 </a:t>
            </a:r>
            <a:endParaRPr lang="en-US" altLang="zh-CN" dirty="0"/>
          </a:p>
          <a:p>
            <a:endParaRPr lang="en-US" altLang="zh-CN" dirty="0"/>
          </a:p>
          <a:p>
            <a:r>
              <a:rPr lang="zh-CN" altLang="en-US" dirty="0"/>
              <a:t>一个酶的底物如果在细胞内的浓度通常很低，该酶对这种底物通常有较低的</a:t>
            </a:r>
            <a:r>
              <a:rPr lang="en-US" altLang="zh-CN" dirty="0"/>
              <a:t>Km, </a:t>
            </a:r>
            <a:r>
              <a:rPr lang="zh-CN" altLang="en-US" dirty="0"/>
              <a:t>而如果底物在细胞内浓度相对较高，则酶对这个底物的</a:t>
            </a:r>
            <a:r>
              <a:rPr lang="en-US" altLang="zh-CN" dirty="0"/>
              <a:t>Km</a:t>
            </a:r>
            <a:r>
              <a:rPr lang="zh-CN" altLang="en-US" dirty="0"/>
              <a:t>通常更高。 </a:t>
            </a:r>
            <a:endParaRPr lang="en-US" altLang="zh-CN" dirty="0"/>
          </a:p>
        </p:txBody>
      </p:sp>
      <p:sp>
        <p:nvSpPr>
          <p:cNvPr id="232452" name="灯片编号占位符 3">
            <a:extLst>
              <a:ext uri="{FF2B5EF4-FFF2-40B4-BE49-F238E27FC236}">
                <a16:creationId xmlns:a16="http://schemas.microsoft.com/office/drawing/2014/main" id="{81897DA4-1499-4B5A-B862-BEF444EA58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AC21171-6C30-4F4A-96ED-A5AE554D865A}" type="slidenum">
              <a:rPr lang="en-US" altLang="zh-CN" smtClean="0">
                <a:latin typeface="Arial" panose="020B0604020202020204" pitchFamily="34" charset="0"/>
              </a:rPr>
              <a:pPr/>
              <a:t>95</a:t>
            </a:fld>
            <a:endParaRPr lang="en-US" altLang="zh-CN">
              <a:latin typeface="Arial" panose="020B0604020202020204"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a:extLst>
              <a:ext uri="{FF2B5EF4-FFF2-40B4-BE49-F238E27FC236}">
                <a16:creationId xmlns:a16="http://schemas.microsoft.com/office/drawing/2014/main" id="{3F81C5C9-F5A1-4562-8D7A-B2A2E6DD86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C920EE7-05BE-4CAF-AC0A-ECB3BED2988A}" type="slidenum">
              <a:rPr lang="en-US" altLang="zh-CN" smtClean="0">
                <a:latin typeface="Arial" panose="020B0604020202020204" pitchFamily="34" charset="0"/>
              </a:rPr>
              <a:pPr/>
              <a:t>96</a:t>
            </a:fld>
            <a:endParaRPr lang="en-US" altLang="zh-CN">
              <a:latin typeface="Arial" panose="020B0604020202020204" pitchFamily="34" charset="0"/>
            </a:endParaRPr>
          </a:p>
        </p:txBody>
      </p:sp>
      <p:sp>
        <p:nvSpPr>
          <p:cNvPr id="234499" name="Rectangle 2">
            <a:extLst>
              <a:ext uri="{FF2B5EF4-FFF2-40B4-BE49-F238E27FC236}">
                <a16:creationId xmlns:a16="http://schemas.microsoft.com/office/drawing/2014/main" id="{A9808C11-F6CD-4C57-86FB-3BDF77D8208A}"/>
              </a:ext>
            </a:extLst>
          </p:cNvPr>
          <p:cNvSpPr>
            <a:spLocks noGrp="1" noRot="1" noChangeAspect="1" noChangeArrowheads="1" noTextEdit="1"/>
          </p:cNvSpPr>
          <p:nvPr>
            <p:ph type="sldImg"/>
          </p:nvPr>
        </p:nvSpPr>
        <p:spPr>
          <a:xfrm>
            <a:off x="381000" y="685800"/>
            <a:ext cx="6096000" cy="3429000"/>
          </a:xfrm>
          <a:ln/>
        </p:spPr>
      </p:sp>
      <p:sp>
        <p:nvSpPr>
          <p:cNvPr id="234500" name="Rectangle 3">
            <a:extLst>
              <a:ext uri="{FF2B5EF4-FFF2-40B4-BE49-F238E27FC236}">
                <a16:creationId xmlns:a16="http://schemas.microsoft.com/office/drawing/2014/main" id="{F7EE4B8C-2D14-4406-9DD7-F5C1B62C2A8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Vmax is the theoretical maximal rate of the reaction - but it is NEVER achieved in reality </a:t>
            </a:r>
          </a:p>
          <a:p>
            <a:pPr eaLnBrk="1" hangingPunct="1"/>
            <a:endParaRPr lang="en-US" altLang="zh-CN"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幻灯片图像占位符 1">
            <a:extLst>
              <a:ext uri="{FF2B5EF4-FFF2-40B4-BE49-F238E27FC236}">
                <a16:creationId xmlns:a16="http://schemas.microsoft.com/office/drawing/2014/main" id="{1AACAE97-D05B-49D3-8F63-5D4838CEFDB7}"/>
              </a:ext>
            </a:extLst>
          </p:cNvPr>
          <p:cNvSpPr>
            <a:spLocks noGrp="1" noRot="1" noChangeAspect="1" noChangeArrowheads="1" noTextEdit="1"/>
          </p:cNvSpPr>
          <p:nvPr>
            <p:ph type="sldImg"/>
          </p:nvPr>
        </p:nvSpPr>
        <p:spPr>
          <a:xfrm>
            <a:off x="381000" y="685800"/>
            <a:ext cx="6096000" cy="3429000"/>
          </a:xfrm>
          <a:ln/>
        </p:spPr>
      </p:sp>
      <p:sp>
        <p:nvSpPr>
          <p:cNvPr id="236547" name="备注占位符 2">
            <a:extLst>
              <a:ext uri="{FF2B5EF4-FFF2-40B4-BE49-F238E27FC236}">
                <a16:creationId xmlns:a16="http://schemas.microsoft.com/office/drawing/2014/main" id="{A9C33A7B-8EAF-419C-BF54-138417DB747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不同的酶并不完全适合直接比较转换数来判断催化能力高低，因为不同酶所催化的反应在没有催化剂情况下的反应速度很可能不同，甚至可能差异较大， 即起点不同。 </a:t>
            </a:r>
            <a:endParaRPr lang="en-US" altLang="zh-CN" dirty="0"/>
          </a:p>
          <a:p>
            <a:r>
              <a:rPr lang="zh-CN" altLang="en-US" dirty="0"/>
              <a:t>几近上限的酶相当于有完美的催化活性。但大多数酶远不完美。 </a:t>
            </a:r>
          </a:p>
          <a:p>
            <a:endParaRPr lang="en-US" altLang="zh-CN" dirty="0"/>
          </a:p>
          <a:p>
            <a:r>
              <a:rPr lang="zh-CN" altLang="en-US" dirty="0"/>
              <a:t>对于生理性底物来说，大多数酶的转换数在</a:t>
            </a:r>
            <a:r>
              <a:rPr lang="en-US" altLang="zh-CN" dirty="0"/>
              <a:t>1</a:t>
            </a:r>
            <a:r>
              <a:rPr lang="zh-CN" altLang="en-US" dirty="0"/>
              <a:t>～</a:t>
            </a:r>
            <a:r>
              <a:rPr lang="en-US" altLang="zh-CN" dirty="0"/>
              <a:t>10</a:t>
            </a:r>
            <a:r>
              <a:rPr lang="en-US" altLang="zh-CN" baseline="30000" dirty="0"/>
              <a:t>4</a:t>
            </a:r>
            <a:r>
              <a:rPr lang="en-US" altLang="zh-CN" dirty="0"/>
              <a:t>/s </a:t>
            </a:r>
            <a:r>
              <a:rPr lang="zh-CN" altLang="en-US" dirty="0"/>
              <a:t>之间</a:t>
            </a:r>
            <a:endParaRPr lang="en-US" altLang="zh-CN" dirty="0"/>
          </a:p>
        </p:txBody>
      </p:sp>
      <p:sp>
        <p:nvSpPr>
          <p:cNvPr id="236548" name="灯片编号占位符 3">
            <a:extLst>
              <a:ext uri="{FF2B5EF4-FFF2-40B4-BE49-F238E27FC236}">
                <a16:creationId xmlns:a16="http://schemas.microsoft.com/office/drawing/2014/main" id="{723E932C-9297-4CC7-81F5-053DC5ADBF3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2CAD200-B239-4FDC-817A-B921253D8645}" type="slidenum">
              <a:rPr lang="en-US" altLang="zh-CN" smtClean="0">
                <a:latin typeface="Arial" panose="020B0604020202020204" pitchFamily="34" charset="0"/>
              </a:rPr>
              <a:pPr/>
              <a:t>97</a:t>
            </a:fld>
            <a:endParaRPr lang="en-US" altLang="zh-CN">
              <a:latin typeface="Arial" panose="020B0604020202020204" pitchFamily="34"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a:extLst>
              <a:ext uri="{FF2B5EF4-FFF2-40B4-BE49-F238E27FC236}">
                <a16:creationId xmlns:a16="http://schemas.microsoft.com/office/drawing/2014/main" id="{F59494A5-4C34-424E-9CCC-4920956476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A4342FC-62AB-4DB0-8107-E8790E89464A}" type="slidenum">
              <a:rPr lang="en-US" altLang="zh-CN" smtClean="0">
                <a:latin typeface="Arial" panose="020B0604020202020204" pitchFamily="34" charset="0"/>
              </a:rPr>
              <a:pPr/>
              <a:t>98</a:t>
            </a:fld>
            <a:endParaRPr lang="en-US" altLang="zh-CN">
              <a:latin typeface="Arial" panose="020B0604020202020204" pitchFamily="34" charset="0"/>
            </a:endParaRPr>
          </a:p>
        </p:txBody>
      </p:sp>
      <p:sp>
        <p:nvSpPr>
          <p:cNvPr id="242691" name="Rectangle 2">
            <a:extLst>
              <a:ext uri="{FF2B5EF4-FFF2-40B4-BE49-F238E27FC236}">
                <a16:creationId xmlns:a16="http://schemas.microsoft.com/office/drawing/2014/main" id="{0DE4DDB4-DB05-4887-BC6D-B30F9868F1D5}"/>
              </a:ext>
            </a:extLst>
          </p:cNvPr>
          <p:cNvSpPr>
            <a:spLocks noGrp="1" noRot="1" noChangeAspect="1" noChangeArrowheads="1" noTextEdit="1"/>
          </p:cNvSpPr>
          <p:nvPr>
            <p:ph type="sldImg"/>
          </p:nvPr>
        </p:nvSpPr>
        <p:spPr>
          <a:xfrm>
            <a:off x="381000" y="685800"/>
            <a:ext cx="6096000" cy="3429000"/>
          </a:xfrm>
          <a:ln/>
        </p:spPr>
      </p:sp>
      <p:sp>
        <p:nvSpPr>
          <p:cNvPr id="973827" name="Rectangle 3">
            <a:extLst>
              <a:ext uri="{FF2B5EF4-FFF2-40B4-BE49-F238E27FC236}">
                <a16:creationId xmlns:a16="http://schemas.microsoft.com/office/drawing/2014/main" id="{944FC0F0-9E96-4147-976B-2FA49DC8C4DF}"/>
              </a:ext>
            </a:extLst>
          </p:cNvPr>
          <p:cNvSpPr>
            <a:spLocks noGrp="1" noChangeArrowheads="1"/>
          </p:cNvSpPr>
          <p:nvPr>
            <p:ph type="body" idx="1"/>
          </p:nvPr>
        </p:nvSpPr>
        <p:spPr>
          <a:xfrm>
            <a:off x="914400" y="4343400"/>
            <a:ext cx="5029200" cy="4114800"/>
          </a:xfrm>
        </p:spPr>
        <p:txBody>
          <a:bodyPr/>
          <a:lstStyle/>
          <a:p>
            <a:pPr eaLnBrk="1" hangingPunct="1">
              <a:defRPr/>
            </a:pPr>
            <a:r>
              <a:rPr lang="zh-CN" altLang="en-US" sz="2800" dirty="0">
                <a:solidFill>
                  <a:srgbClr val="FFFF00"/>
                </a:solidFill>
                <a:effectLst>
                  <a:outerShdw blurRad="38100" dist="38100" dir="2700000" algn="tl">
                    <a:srgbClr val="C0C0C0"/>
                  </a:outerShdw>
                </a:effectLst>
                <a:latin typeface="华文楷体" pitchFamily="2" charset="-122"/>
                <a:ea typeface="华文楷体" pitchFamily="2" charset="-122"/>
              </a:rPr>
              <a:t>多数遵循米氏动力学的酶都有十分复杂的反应机制，但有多步催化反应的酶通常表现出同样的稳态动力学行为。 </a:t>
            </a:r>
            <a:endParaRPr lang="en-US" altLang="zh-CN" sz="2800" dirty="0">
              <a:solidFill>
                <a:srgbClr val="FFFF00"/>
              </a:solidFill>
              <a:effectLst>
                <a:outerShdw blurRad="38100" dist="38100" dir="2700000" algn="tl">
                  <a:srgbClr val="C0C0C0"/>
                </a:outerShdw>
              </a:effectLst>
              <a:latin typeface="华文楷体" pitchFamily="2" charset="-122"/>
              <a:ea typeface="华文楷体" pitchFamily="2" charset="-12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幻灯片图像占位符 1">
            <a:extLst>
              <a:ext uri="{FF2B5EF4-FFF2-40B4-BE49-F238E27FC236}">
                <a16:creationId xmlns:a16="http://schemas.microsoft.com/office/drawing/2014/main" id="{BCC81DC5-9965-408F-82DE-AC0BD0D1834B}"/>
              </a:ext>
            </a:extLst>
          </p:cNvPr>
          <p:cNvSpPr>
            <a:spLocks noGrp="1" noRot="1" noChangeAspect="1" noChangeArrowheads="1" noTextEdit="1"/>
          </p:cNvSpPr>
          <p:nvPr>
            <p:ph type="sldImg"/>
          </p:nvPr>
        </p:nvSpPr>
        <p:spPr>
          <a:xfrm>
            <a:off x="381000" y="685800"/>
            <a:ext cx="6096000" cy="3429000"/>
          </a:xfrm>
          <a:ln/>
        </p:spPr>
      </p:sp>
      <p:sp>
        <p:nvSpPr>
          <p:cNvPr id="244739" name="备注占位符 2">
            <a:extLst>
              <a:ext uri="{FF2B5EF4-FFF2-40B4-BE49-F238E27FC236}">
                <a16:creationId xmlns:a16="http://schemas.microsoft.com/office/drawing/2014/main" id="{8611FF83-1F51-4B66-994B-08EA58B1463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米氏酶的双曲线类似肌红蛋白的氧解离曲线，而别构酶的</a:t>
            </a:r>
            <a:r>
              <a:rPr lang="en-US" altLang="zh-CN" dirty="0"/>
              <a:t>S</a:t>
            </a:r>
            <a:r>
              <a:rPr lang="zh-CN" altLang="en-US" dirty="0"/>
              <a:t>形曲线类似血红蛋白的氧解离曲线。 </a:t>
            </a:r>
            <a:endParaRPr lang="en-US" altLang="zh-CN" dirty="0"/>
          </a:p>
          <a:p>
            <a:endParaRPr lang="en-US" altLang="zh-CN" dirty="0"/>
          </a:p>
          <a:p>
            <a:r>
              <a:rPr lang="zh-CN" altLang="en-US" dirty="0"/>
              <a:t>多底物酶，可能对一种底物有正协同性，对其他的底物没有。 也存在负协同性（较少见）。 </a:t>
            </a:r>
          </a:p>
        </p:txBody>
      </p:sp>
      <p:sp>
        <p:nvSpPr>
          <p:cNvPr id="244740" name="灯片编号占位符 3">
            <a:extLst>
              <a:ext uri="{FF2B5EF4-FFF2-40B4-BE49-F238E27FC236}">
                <a16:creationId xmlns:a16="http://schemas.microsoft.com/office/drawing/2014/main" id="{805C2D31-1949-48BB-ADFC-53871E6CF20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1E6F9C3-6041-4EC2-AC89-16C7958D697D}" type="slidenum">
              <a:rPr lang="en-US" altLang="zh-CN" smtClean="0">
                <a:latin typeface="Arial" panose="020B0604020202020204" pitchFamily="34" charset="0"/>
              </a:rPr>
              <a:pPr/>
              <a:t>99</a:t>
            </a:fld>
            <a:endParaRPr lang="en-US" altLang="zh-CN">
              <a:latin typeface="Arial" panose="020B0604020202020204" pitchFamily="34"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a:extLst>
              <a:ext uri="{FF2B5EF4-FFF2-40B4-BE49-F238E27FC236}">
                <a16:creationId xmlns:a16="http://schemas.microsoft.com/office/drawing/2014/main" id="{8E93ECE9-2B40-4E2F-9775-28466F188C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2056F38-156F-4B6C-992B-8592FAACB2DA}" type="slidenum">
              <a:rPr lang="en-US" altLang="zh-CN" smtClean="0">
                <a:latin typeface="Arial" panose="020B0604020202020204" pitchFamily="34" charset="0"/>
              </a:rPr>
              <a:pPr/>
              <a:t>100</a:t>
            </a:fld>
            <a:endParaRPr lang="en-US" altLang="zh-CN">
              <a:latin typeface="Arial" panose="020B0604020202020204" pitchFamily="34" charset="0"/>
            </a:endParaRPr>
          </a:p>
        </p:txBody>
      </p:sp>
      <p:sp>
        <p:nvSpPr>
          <p:cNvPr id="246787" name="Rectangle 2">
            <a:extLst>
              <a:ext uri="{FF2B5EF4-FFF2-40B4-BE49-F238E27FC236}">
                <a16:creationId xmlns:a16="http://schemas.microsoft.com/office/drawing/2014/main" id="{E5C7F65D-511E-415B-9FB7-89FAFA7BECAC}"/>
              </a:ext>
            </a:extLst>
          </p:cNvPr>
          <p:cNvSpPr>
            <a:spLocks noGrp="1" noRot="1" noChangeAspect="1" noChangeArrowheads="1" noTextEdit="1"/>
          </p:cNvSpPr>
          <p:nvPr>
            <p:ph type="sldImg"/>
          </p:nvPr>
        </p:nvSpPr>
        <p:spPr>
          <a:xfrm>
            <a:off x="381000" y="685800"/>
            <a:ext cx="6096000" cy="3429000"/>
          </a:xfrm>
          <a:ln/>
        </p:spPr>
      </p:sp>
      <p:sp>
        <p:nvSpPr>
          <p:cNvPr id="246788" name="Rectangle 3">
            <a:extLst>
              <a:ext uri="{FF2B5EF4-FFF2-40B4-BE49-F238E27FC236}">
                <a16:creationId xmlns:a16="http://schemas.microsoft.com/office/drawing/2014/main" id="{20E6CFD1-8AA7-45EF-97FB-D5A104FD8A1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dirty="0">
              <a:ea typeface="楷体_GB2312" pitchFamily="49" charset="-122"/>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幻灯片图像占位符 1">
            <a:extLst>
              <a:ext uri="{FF2B5EF4-FFF2-40B4-BE49-F238E27FC236}">
                <a16:creationId xmlns:a16="http://schemas.microsoft.com/office/drawing/2014/main" id="{3124565C-D801-4123-9C08-9980DAC355D3}"/>
              </a:ext>
            </a:extLst>
          </p:cNvPr>
          <p:cNvSpPr>
            <a:spLocks noGrp="1" noRot="1" noChangeAspect="1" noChangeArrowheads="1" noTextEdit="1"/>
          </p:cNvSpPr>
          <p:nvPr>
            <p:ph type="sldImg"/>
          </p:nvPr>
        </p:nvSpPr>
        <p:spPr>
          <a:xfrm>
            <a:off x="381000" y="685800"/>
            <a:ext cx="6096000" cy="3429000"/>
          </a:xfrm>
          <a:ln/>
        </p:spPr>
      </p:sp>
      <p:sp>
        <p:nvSpPr>
          <p:cNvPr id="249859" name="备注占位符 2">
            <a:extLst>
              <a:ext uri="{FF2B5EF4-FFF2-40B4-BE49-F238E27FC236}">
                <a16:creationId xmlns:a16="http://schemas.microsoft.com/office/drawing/2014/main" id="{D0B57896-16D4-4656-8F09-F1A6BE28705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9860" name="灯片编号占位符 3">
            <a:extLst>
              <a:ext uri="{FF2B5EF4-FFF2-40B4-BE49-F238E27FC236}">
                <a16:creationId xmlns:a16="http://schemas.microsoft.com/office/drawing/2014/main" id="{07D037FC-0F6C-472E-9844-99B550DD0E1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E276F50-1084-40C4-A009-73E4FDA166A3}" type="slidenum">
              <a:rPr lang="en-US" altLang="zh-CN" smtClean="0">
                <a:latin typeface="Arial" panose="020B0604020202020204" pitchFamily="34" charset="0"/>
              </a:rPr>
              <a:pPr/>
              <a:t>102</a:t>
            </a:fld>
            <a:endParaRPr lang="en-US" altLang="zh-CN">
              <a:latin typeface="Arial" panose="020B0604020202020204" pitchFamily="34"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a:extLst>
              <a:ext uri="{FF2B5EF4-FFF2-40B4-BE49-F238E27FC236}">
                <a16:creationId xmlns:a16="http://schemas.microsoft.com/office/drawing/2014/main" id="{96BC460A-E345-4B60-830B-4A42EE1F0204}"/>
              </a:ext>
            </a:extLst>
          </p:cNvPr>
          <p:cNvSpPr>
            <a:spLocks noGrp="1" noRot="1" noChangeAspect="1" noChangeArrowheads="1" noTextEdit="1"/>
          </p:cNvSpPr>
          <p:nvPr>
            <p:ph type="sldImg"/>
          </p:nvPr>
        </p:nvSpPr>
        <p:spPr>
          <a:xfrm>
            <a:off x="381000" y="685800"/>
            <a:ext cx="6096000" cy="3429000"/>
          </a:xfrm>
          <a:ln/>
        </p:spPr>
      </p:sp>
      <p:sp>
        <p:nvSpPr>
          <p:cNvPr id="251907" name="备注占位符 2">
            <a:extLst>
              <a:ext uri="{FF2B5EF4-FFF2-40B4-BE49-F238E27FC236}">
                <a16:creationId xmlns:a16="http://schemas.microsoft.com/office/drawing/2014/main" id="{C9531BA3-CED6-4516-8505-804A651D6B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1908" name="灯片编号占位符 3">
            <a:extLst>
              <a:ext uri="{FF2B5EF4-FFF2-40B4-BE49-F238E27FC236}">
                <a16:creationId xmlns:a16="http://schemas.microsoft.com/office/drawing/2014/main" id="{47BF58AF-FC88-45BC-A1B5-BEA516A9E4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A15E2C7-75DB-47AB-94F5-7CDCA9B2BAD1}" type="slidenum">
              <a:rPr lang="en-US" altLang="zh-CN" smtClean="0">
                <a:latin typeface="Arial" panose="020B0604020202020204" pitchFamily="34" charset="0"/>
              </a:rPr>
              <a:pPr/>
              <a:t>103</a:t>
            </a:fld>
            <a:endParaRPr lang="en-US" altLang="zh-CN">
              <a:latin typeface="Arial" panose="020B0604020202020204"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a:extLst>
              <a:ext uri="{FF2B5EF4-FFF2-40B4-BE49-F238E27FC236}">
                <a16:creationId xmlns:a16="http://schemas.microsoft.com/office/drawing/2014/main" id="{36DEC1CB-2021-489F-A9BD-1AD088A084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72FC9FD-3D91-4677-89B3-E6F8A59B0163}" type="slidenum">
              <a:rPr lang="en-US" altLang="zh-CN" smtClean="0">
                <a:latin typeface="Arial" panose="020B0604020202020204" pitchFamily="34" charset="0"/>
              </a:rPr>
              <a:pPr/>
              <a:t>104</a:t>
            </a:fld>
            <a:endParaRPr lang="en-US" altLang="zh-CN">
              <a:latin typeface="Arial" panose="020B0604020202020204" pitchFamily="34" charset="0"/>
            </a:endParaRPr>
          </a:p>
        </p:txBody>
      </p:sp>
      <p:sp>
        <p:nvSpPr>
          <p:cNvPr id="253955" name="Rectangle 2">
            <a:extLst>
              <a:ext uri="{FF2B5EF4-FFF2-40B4-BE49-F238E27FC236}">
                <a16:creationId xmlns:a16="http://schemas.microsoft.com/office/drawing/2014/main" id="{C0355F1E-3669-4731-9D09-FEE027D5E5BF}"/>
              </a:ext>
            </a:extLst>
          </p:cNvPr>
          <p:cNvSpPr>
            <a:spLocks noGrp="1" noRot="1" noChangeAspect="1" noChangeArrowheads="1" noTextEdit="1"/>
          </p:cNvSpPr>
          <p:nvPr>
            <p:ph type="sldImg"/>
          </p:nvPr>
        </p:nvSpPr>
        <p:spPr>
          <a:xfrm>
            <a:off x="381000" y="685800"/>
            <a:ext cx="6096000" cy="3429000"/>
          </a:xfrm>
          <a:ln/>
        </p:spPr>
      </p:sp>
      <p:sp>
        <p:nvSpPr>
          <p:cNvPr id="253956" name="Rectangle 3">
            <a:extLst>
              <a:ext uri="{FF2B5EF4-FFF2-40B4-BE49-F238E27FC236}">
                <a16:creationId xmlns:a16="http://schemas.microsoft.com/office/drawing/2014/main" id="{701B5EDE-9096-4D58-8D46-989412CC336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Lineweaver-Burk plot</a:t>
            </a:r>
            <a:endParaRPr lang="zh-CN" altLang="zh-CN"/>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a:extLst>
              <a:ext uri="{FF2B5EF4-FFF2-40B4-BE49-F238E27FC236}">
                <a16:creationId xmlns:a16="http://schemas.microsoft.com/office/drawing/2014/main" id="{B950F509-C932-4B5D-BAD4-99A8BE67B9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E2CE6C7-FE7E-4C30-B7C8-F46E0B3BB807}" type="slidenum">
              <a:rPr lang="en-US" altLang="zh-CN" smtClean="0">
                <a:latin typeface="Arial" panose="020B0604020202020204" pitchFamily="34" charset="0"/>
              </a:rPr>
              <a:pPr/>
              <a:t>105</a:t>
            </a:fld>
            <a:endParaRPr lang="en-US" altLang="zh-CN">
              <a:latin typeface="Arial" panose="020B0604020202020204" pitchFamily="34" charset="0"/>
            </a:endParaRPr>
          </a:p>
        </p:txBody>
      </p:sp>
      <p:sp>
        <p:nvSpPr>
          <p:cNvPr id="258051" name="Rectangle 2">
            <a:extLst>
              <a:ext uri="{FF2B5EF4-FFF2-40B4-BE49-F238E27FC236}">
                <a16:creationId xmlns:a16="http://schemas.microsoft.com/office/drawing/2014/main" id="{32ACDAF4-121F-4AE9-87DD-56A47D1FDE8D}"/>
              </a:ext>
            </a:extLst>
          </p:cNvPr>
          <p:cNvSpPr>
            <a:spLocks noGrp="1" noRot="1" noChangeAspect="1" noChangeArrowheads="1" noTextEdit="1"/>
          </p:cNvSpPr>
          <p:nvPr>
            <p:ph type="sldImg"/>
          </p:nvPr>
        </p:nvSpPr>
        <p:spPr>
          <a:xfrm>
            <a:off x="381000" y="685800"/>
            <a:ext cx="6096000" cy="3429000"/>
          </a:xfrm>
          <a:ln/>
        </p:spPr>
      </p:sp>
      <p:sp>
        <p:nvSpPr>
          <p:cNvPr id="258052" name="Rectangle 3">
            <a:extLst>
              <a:ext uri="{FF2B5EF4-FFF2-40B4-BE49-F238E27FC236}">
                <a16:creationId xmlns:a16="http://schemas.microsoft.com/office/drawing/2014/main" id="{4AE14813-1892-4DBA-9860-A5345F918EB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细胞内，底物的摩尔浓度可以是相应酶含量的</a:t>
            </a:r>
            <a:r>
              <a:rPr lang="en-US" altLang="zh-CN" dirty="0"/>
              <a:t>10</a:t>
            </a:r>
            <a:r>
              <a:rPr lang="en-US" altLang="zh-CN" baseline="30000" dirty="0"/>
              <a:t>5</a:t>
            </a:r>
            <a:r>
              <a:rPr lang="en-US" altLang="zh-CN" dirty="0"/>
              <a:t>~10</a:t>
            </a:r>
            <a:r>
              <a:rPr lang="en-US" altLang="zh-CN" baseline="30000" dirty="0"/>
              <a:t>6</a:t>
            </a:r>
            <a:r>
              <a:rPr lang="zh-CN" altLang="en-US" dirty="0"/>
              <a:t>倍。   </a:t>
            </a:r>
            <a:endParaRPr lang="en-US" altLang="zh-CN" dirty="0"/>
          </a:p>
          <a:p>
            <a:r>
              <a:rPr lang="zh-CN" altLang="en-US" dirty="0"/>
              <a:t>酶含量的调节虽然来得慢，但效果持久</a:t>
            </a:r>
            <a:r>
              <a:rPr lang="en-US" altLang="zh-CN" dirty="0"/>
              <a:t>.</a:t>
            </a:r>
            <a:endParaRPr lang="zh-CN" altLang="zh-CN"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a:extLst>
              <a:ext uri="{FF2B5EF4-FFF2-40B4-BE49-F238E27FC236}">
                <a16:creationId xmlns:a16="http://schemas.microsoft.com/office/drawing/2014/main" id="{CCA7A069-4362-4B63-9A17-1E8E2074C2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77C471A-5DCD-4351-B8EE-8A99B292DE48}" type="slidenum">
              <a:rPr lang="en-US" altLang="zh-CN" smtClean="0">
                <a:latin typeface="Arial" panose="020B0604020202020204" pitchFamily="34" charset="0"/>
              </a:rPr>
              <a:pPr/>
              <a:t>106</a:t>
            </a:fld>
            <a:endParaRPr lang="en-US" altLang="zh-CN">
              <a:latin typeface="Arial" panose="020B0604020202020204" pitchFamily="34" charset="0"/>
            </a:endParaRPr>
          </a:p>
        </p:txBody>
      </p:sp>
      <p:sp>
        <p:nvSpPr>
          <p:cNvPr id="260099" name="Rectangle 2">
            <a:extLst>
              <a:ext uri="{FF2B5EF4-FFF2-40B4-BE49-F238E27FC236}">
                <a16:creationId xmlns:a16="http://schemas.microsoft.com/office/drawing/2014/main" id="{7BC232EF-0A5D-418F-91CA-C7F3390F0646}"/>
              </a:ext>
            </a:extLst>
          </p:cNvPr>
          <p:cNvSpPr>
            <a:spLocks noGrp="1" noRot="1" noChangeAspect="1" noChangeArrowheads="1" noTextEdit="1"/>
          </p:cNvSpPr>
          <p:nvPr>
            <p:ph type="sldImg"/>
          </p:nvPr>
        </p:nvSpPr>
        <p:spPr>
          <a:xfrm>
            <a:off x="381000" y="685800"/>
            <a:ext cx="6096000" cy="3429000"/>
          </a:xfrm>
          <a:ln/>
        </p:spPr>
      </p:sp>
      <p:sp>
        <p:nvSpPr>
          <p:cNvPr id="260100" name="Rectangle 3">
            <a:extLst>
              <a:ext uri="{FF2B5EF4-FFF2-40B4-BE49-F238E27FC236}">
                <a16:creationId xmlns:a16="http://schemas.microsoft.com/office/drawing/2014/main" id="{2D3B73F7-73DA-4395-A2E4-130F3468F56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时间越短，最适合温度越高，时间越长，最适合温度越低。（蛋白变性需要时间，在没变性前，测出的最适温度较高）</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据此，在生化检验中，可以采取适当提高温度，缩短时间的方法，进行酶的快速检测。</a:t>
            </a:r>
            <a:endParaRPr lang="en-US" altLang="zh-CN" dirty="0"/>
          </a:p>
          <a:p>
            <a:pPr eaLnBrk="1" hangingPunct="1"/>
            <a:endParaRPr lang="en-US" altLang="zh-CN" dirty="0"/>
          </a:p>
          <a:p>
            <a:pPr eaLnBrk="1" hangingPunct="1"/>
            <a:endParaRPr lang="zh-CN" alt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107</a:t>
            </a:fld>
            <a:endParaRPr lang="en-US" altLang="zh-CN"/>
          </a:p>
        </p:txBody>
      </p:sp>
    </p:spTree>
    <p:extLst>
      <p:ext uri="{BB962C8B-B14F-4D97-AF65-F5344CB8AC3E}">
        <p14:creationId xmlns:p14="http://schemas.microsoft.com/office/powerpoint/2010/main" val="7754207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使中枢神经、脊髓、心脏等器官不致发生缺氧损害。</a:t>
            </a:r>
            <a:endParaRPr lang="en-US" altLang="zh-CN" dirty="0"/>
          </a:p>
          <a:p>
            <a:r>
              <a:rPr lang="zh-CN" altLang="en-US" dirty="0"/>
              <a:t>降温至</a:t>
            </a:r>
            <a:r>
              <a:rPr lang="en-US" altLang="zh-CN" dirty="0"/>
              <a:t>29</a:t>
            </a:r>
            <a:r>
              <a:rPr lang="zh-CN" altLang="en-US" dirty="0"/>
              <a:t>～</a:t>
            </a:r>
            <a:r>
              <a:rPr lang="en-US" altLang="zh-CN" dirty="0"/>
              <a:t>35℃</a:t>
            </a:r>
            <a:r>
              <a:rPr lang="zh-CN" altLang="en-US" dirty="0"/>
              <a:t>为浅低温麻醉</a:t>
            </a:r>
            <a:r>
              <a:rPr lang="en-US" altLang="zh-CN" dirty="0"/>
              <a:t>; 23</a:t>
            </a:r>
            <a:r>
              <a:rPr lang="zh-CN" altLang="en-US" dirty="0"/>
              <a:t>～</a:t>
            </a:r>
            <a:r>
              <a:rPr lang="en-US" altLang="zh-CN" dirty="0"/>
              <a:t>28℃</a:t>
            </a:r>
            <a:r>
              <a:rPr lang="zh-CN" altLang="en-US" dirty="0"/>
              <a:t>为中低温麻醉</a:t>
            </a:r>
            <a:r>
              <a:rPr lang="en-US" altLang="zh-CN" dirty="0"/>
              <a:t>; 22℃</a:t>
            </a:r>
            <a:r>
              <a:rPr lang="zh-CN" altLang="en-US" dirty="0"/>
              <a:t>以下为深低温麻醉。由于低温引起的生理变化很大，实施技术也较为复杂，术中渗血较多，降温过低又可出现严重并发症，临床上</a:t>
            </a:r>
            <a:r>
              <a:rPr lang="zh-CN" altLang="en-US" b="1" dirty="0"/>
              <a:t>多用于较复杂的心血管和颅脑手术</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108</a:t>
            </a:fld>
            <a:endParaRPr lang="en-US" altLang="zh-CN"/>
          </a:p>
        </p:txBody>
      </p:sp>
    </p:spTree>
    <p:extLst>
      <p:ext uri="{BB962C8B-B14F-4D97-AF65-F5344CB8AC3E}">
        <p14:creationId xmlns:p14="http://schemas.microsoft.com/office/powerpoint/2010/main" val="49140948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a:extLst>
              <a:ext uri="{FF2B5EF4-FFF2-40B4-BE49-F238E27FC236}">
                <a16:creationId xmlns:a16="http://schemas.microsoft.com/office/drawing/2014/main" id="{DB5EC1B5-71B6-4593-A2F7-70429579CB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BCFFB73-77CA-4E24-AF50-4A2246E9165E}" type="slidenum">
              <a:rPr lang="en-US" altLang="zh-CN" smtClean="0">
                <a:latin typeface="Arial" panose="020B0604020202020204" pitchFamily="34" charset="0"/>
              </a:rPr>
              <a:pPr/>
              <a:t>109</a:t>
            </a:fld>
            <a:endParaRPr lang="en-US" altLang="zh-CN">
              <a:latin typeface="Arial" panose="020B0604020202020204" pitchFamily="34" charset="0"/>
            </a:endParaRPr>
          </a:p>
        </p:txBody>
      </p:sp>
      <p:sp>
        <p:nvSpPr>
          <p:cNvPr id="263171" name="Rectangle 2">
            <a:extLst>
              <a:ext uri="{FF2B5EF4-FFF2-40B4-BE49-F238E27FC236}">
                <a16:creationId xmlns:a16="http://schemas.microsoft.com/office/drawing/2014/main" id="{E47F7260-7630-4A5C-AA1D-10F0DF8DCBED}"/>
              </a:ext>
            </a:extLst>
          </p:cNvPr>
          <p:cNvSpPr>
            <a:spLocks noGrp="1" noRot="1" noChangeAspect="1" noChangeArrowheads="1" noTextEdit="1"/>
          </p:cNvSpPr>
          <p:nvPr>
            <p:ph type="sldImg"/>
          </p:nvPr>
        </p:nvSpPr>
        <p:spPr>
          <a:xfrm>
            <a:off x="381000" y="685800"/>
            <a:ext cx="6096000" cy="3429000"/>
          </a:xfrm>
          <a:ln/>
        </p:spPr>
      </p:sp>
      <p:sp>
        <p:nvSpPr>
          <p:cNvPr id="263172" name="Rectangle 3">
            <a:extLst>
              <a:ext uri="{FF2B5EF4-FFF2-40B4-BE49-F238E27FC236}">
                <a16:creationId xmlns:a16="http://schemas.microsoft.com/office/drawing/2014/main" id="{BB92A4EE-3DA4-4BBA-A71C-65B940E9FF99}"/>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pH</a:t>
            </a:r>
            <a:r>
              <a:rPr lang="zh-CN" altLang="en-US" dirty="0"/>
              <a:t>影响解离状态解离程度，最适合</a:t>
            </a:r>
            <a:r>
              <a:rPr lang="en-US" altLang="zh-CN" dirty="0"/>
              <a:t>pH</a:t>
            </a:r>
            <a:r>
              <a:rPr lang="zh-CN" altLang="en-US" dirty="0"/>
              <a:t>和酶的最稳定</a:t>
            </a:r>
            <a:r>
              <a:rPr lang="en-US" altLang="zh-CN" dirty="0"/>
              <a:t>pH</a:t>
            </a:r>
            <a:r>
              <a:rPr lang="zh-CN" altLang="en-US" dirty="0"/>
              <a:t>不一定相同，和体内环境</a:t>
            </a:r>
            <a:r>
              <a:rPr lang="en-US" altLang="zh-CN" dirty="0"/>
              <a:t>pH</a:t>
            </a:r>
            <a:r>
              <a:rPr lang="zh-CN" altLang="en-US" dirty="0"/>
              <a:t>也不一定相同</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幻灯片图像占位符 1">
            <a:extLst>
              <a:ext uri="{FF2B5EF4-FFF2-40B4-BE49-F238E27FC236}">
                <a16:creationId xmlns:a16="http://schemas.microsoft.com/office/drawing/2014/main" id="{498A8E9F-AB21-48CE-A87C-5D6EA9FC4456}"/>
              </a:ext>
            </a:extLst>
          </p:cNvPr>
          <p:cNvSpPr>
            <a:spLocks noGrp="1" noRot="1" noChangeAspect="1" noChangeArrowheads="1" noTextEdit="1"/>
          </p:cNvSpPr>
          <p:nvPr>
            <p:ph type="sldImg"/>
          </p:nvPr>
        </p:nvSpPr>
        <p:spPr>
          <a:xfrm>
            <a:off x="381000" y="685800"/>
            <a:ext cx="6096000" cy="3429000"/>
          </a:xfrm>
          <a:ln/>
        </p:spPr>
      </p:sp>
      <p:sp>
        <p:nvSpPr>
          <p:cNvPr id="265219" name="备注占位符 2">
            <a:extLst>
              <a:ext uri="{FF2B5EF4-FFF2-40B4-BE49-F238E27FC236}">
                <a16:creationId xmlns:a16="http://schemas.microsoft.com/office/drawing/2014/main" id="{BABC2BA8-990D-4320-AED5-49C3546117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溶酶体内各种水解酶的最适</a:t>
            </a:r>
            <a:r>
              <a:rPr lang="en-US" altLang="zh-CN" dirty="0"/>
              <a:t>pH</a:t>
            </a:r>
            <a:r>
              <a:rPr lang="zh-CN" altLang="en-US" dirty="0"/>
              <a:t>偏酸性</a:t>
            </a:r>
            <a:endParaRPr lang="en-US" altLang="zh-CN" dirty="0"/>
          </a:p>
          <a:p>
            <a:endParaRPr lang="en-US" altLang="zh-CN" dirty="0"/>
          </a:p>
        </p:txBody>
      </p:sp>
      <p:sp>
        <p:nvSpPr>
          <p:cNvPr id="265220" name="灯片编号占位符 3">
            <a:extLst>
              <a:ext uri="{FF2B5EF4-FFF2-40B4-BE49-F238E27FC236}">
                <a16:creationId xmlns:a16="http://schemas.microsoft.com/office/drawing/2014/main" id="{2F512007-CC26-49B2-81CC-ABBD47BDF79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3BAF4C2-CD71-4101-AF07-9F1A633E5ED5}" type="slidenum">
              <a:rPr lang="en-US" altLang="zh-CN" smtClean="0">
                <a:latin typeface="Arial" panose="020B0604020202020204" pitchFamily="34" charset="0"/>
              </a:rPr>
              <a:pPr/>
              <a:t>110</a:t>
            </a:fld>
            <a:endParaRPr lang="en-US" altLang="zh-CN">
              <a:latin typeface="Arial" panose="020B0604020202020204" pitchFamily="34" charset="0"/>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a:extLst>
              <a:ext uri="{FF2B5EF4-FFF2-40B4-BE49-F238E27FC236}">
                <a16:creationId xmlns:a16="http://schemas.microsoft.com/office/drawing/2014/main" id="{186ACBFA-FEDB-4CAF-B54A-290AB0A2D9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C0D9ABB-AAB5-4DD0-89F1-1608D12EA74D}" type="slidenum">
              <a:rPr lang="en-US" altLang="zh-CN" smtClean="0">
                <a:latin typeface="Arial" panose="020B0604020202020204" pitchFamily="34" charset="0"/>
              </a:rPr>
              <a:pPr/>
              <a:t>111</a:t>
            </a:fld>
            <a:endParaRPr lang="en-US" altLang="zh-CN">
              <a:latin typeface="Arial" panose="020B0604020202020204" pitchFamily="34" charset="0"/>
            </a:endParaRPr>
          </a:p>
        </p:txBody>
      </p:sp>
      <p:sp>
        <p:nvSpPr>
          <p:cNvPr id="267267" name="Rectangle 2">
            <a:extLst>
              <a:ext uri="{FF2B5EF4-FFF2-40B4-BE49-F238E27FC236}">
                <a16:creationId xmlns:a16="http://schemas.microsoft.com/office/drawing/2014/main" id="{4811006D-0B02-43DF-84CE-241BD3B23553}"/>
              </a:ext>
            </a:extLst>
          </p:cNvPr>
          <p:cNvSpPr>
            <a:spLocks noGrp="1" noRot="1" noChangeAspect="1" noChangeArrowheads="1" noTextEdit="1"/>
          </p:cNvSpPr>
          <p:nvPr>
            <p:ph type="sldImg"/>
          </p:nvPr>
        </p:nvSpPr>
        <p:spPr>
          <a:xfrm>
            <a:off x="381000" y="685800"/>
            <a:ext cx="6096000" cy="3429000"/>
          </a:xfrm>
          <a:ln/>
        </p:spPr>
      </p:sp>
      <p:sp>
        <p:nvSpPr>
          <p:cNvPr id="267268" name="Rectangle 3">
            <a:extLst>
              <a:ext uri="{FF2B5EF4-FFF2-40B4-BE49-F238E27FC236}">
                <a16:creationId xmlns:a16="http://schemas.microsoft.com/office/drawing/2014/main" id="{5A8A9101-0C11-416D-A3FC-AD0D4F9EF8F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a:p>
            <a:pPr eaLnBrk="1" hangingPunct="1"/>
            <a:endParaRPr lang="en-US" altLang="zh-CN"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比如抗癌药物</a:t>
            </a:r>
            <a:r>
              <a:rPr lang="zh-CN" altLang="en-US" b="1" dirty="0"/>
              <a:t>格列卫（</a:t>
            </a:r>
            <a:r>
              <a:rPr lang="en-US" altLang="zh-CN" b="1" dirty="0"/>
              <a:t>Gleevec)</a:t>
            </a:r>
            <a:r>
              <a:rPr lang="zh-CN" altLang="en-US" dirty="0"/>
              <a:t>特异性抑制某个激酶的活性，是慢性粒细胞白血病的特效药。 </a:t>
            </a:r>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112</a:t>
            </a:fld>
            <a:endParaRPr lang="en-US" altLang="zh-CN"/>
          </a:p>
        </p:txBody>
      </p:sp>
    </p:spTree>
    <p:extLst>
      <p:ext uri="{BB962C8B-B14F-4D97-AF65-F5344CB8AC3E}">
        <p14:creationId xmlns:p14="http://schemas.microsoft.com/office/powerpoint/2010/main" val="191308550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a:extLst>
              <a:ext uri="{FF2B5EF4-FFF2-40B4-BE49-F238E27FC236}">
                <a16:creationId xmlns:a16="http://schemas.microsoft.com/office/drawing/2014/main" id="{E511C0C1-A458-4BC3-8202-32E6EFB2F2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A4B29E7-4867-418B-93C7-46E23EA28A47}" type="slidenum">
              <a:rPr lang="en-US" altLang="zh-CN" smtClean="0">
                <a:latin typeface="Arial" panose="020B0604020202020204" pitchFamily="34" charset="0"/>
              </a:rPr>
              <a:pPr/>
              <a:t>113</a:t>
            </a:fld>
            <a:endParaRPr lang="en-US" altLang="zh-CN">
              <a:latin typeface="Arial" panose="020B0604020202020204" pitchFamily="34" charset="0"/>
            </a:endParaRPr>
          </a:p>
        </p:txBody>
      </p:sp>
      <p:sp>
        <p:nvSpPr>
          <p:cNvPr id="269315" name="Rectangle 2">
            <a:extLst>
              <a:ext uri="{FF2B5EF4-FFF2-40B4-BE49-F238E27FC236}">
                <a16:creationId xmlns:a16="http://schemas.microsoft.com/office/drawing/2014/main" id="{80CC4D5D-9269-41D3-8812-C8B5C6582722}"/>
              </a:ext>
            </a:extLst>
          </p:cNvPr>
          <p:cNvSpPr>
            <a:spLocks noGrp="1" noRot="1" noChangeAspect="1" noChangeArrowheads="1" noTextEdit="1"/>
          </p:cNvSpPr>
          <p:nvPr>
            <p:ph type="sldImg"/>
          </p:nvPr>
        </p:nvSpPr>
        <p:spPr>
          <a:xfrm>
            <a:off x="381000" y="685800"/>
            <a:ext cx="6096000" cy="3429000"/>
          </a:xfrm>
          <a:ln/>
        </p:spPr>
      </p:sp>
      <p:sp>
        <p:nvSpPr>
          <p:cNvPr id="269316" name="Rectangle 3">
            <a:extLst>
              <a:ext uri="{FF2B5EF4-FFF2-40B4-BE49-F238E27FC236}">
                <a16:creationId xmlns:a16="http://schemas.microsoft.com/office/drawing/2014/main" id="{7B4EE06B-41D4-4303-839D-9A8B36972969}"/>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dirty="0"/>
              <a:t>不施加外力的话，不可逆抑制不会自动逆转，人为加入解毒剂或药物才可能逆转。</a:t>
            </a:r>
            <a:endParaRPr lang="en-US" altLang="zh-CN" dirty="0"/>
          </a:p>
          <a:p>
            <a:pPr eaLnBrk="1" hangingPunct="1">
              <a:spcBef>
                <a:spcPct val="0"/>
              </a:spcBef>
            </a:pPr>
            <a:endParaRPr lang="en-US" altLang="zh-CN" dirty="0"/>
          </a:p>
          <a:p>
            <a:pPr eaLnBrk="1" hangingPunct="1">
              <a:spcBef>
                <a:spcPct val="0"/>
              </a:spcBef>
            </a:pPr>
            <a:r>
              <a:rPr lang="zh-CN" altLang="en-US" dirty="0"/>
              <a:t>不可逆抑制作用是酶研究和药学研究的重要工具。     比如有些抗</a:t>
            </a:r>
            <a:r>
              <a:rPr lang="en-US" altLang="zh-CN" dirty="0"/>
              <a:t>HIV</a:t>
            </a:r>
            <a:r>
              <a:rPr lang="zh-CN" altLang="en-US" dirty="0"/>
              <a:t>的药物是</a:t>
            </a:r>
            <a:r>
              <a:rPr lang="en-US" altLang="zh-CN" dirty="0"/>
              <a:t>HIV</a:t>
            </a:r>
            <a:r>
              <a:rPr lang="zh-CN" altLang="en-US" dirty="0"/>
              <a:t>蛋白酶的</a:t>
            </a:r>
            <a:r>
              <a:rPr lang="zh-CN" altLang="en-US" b="1" dirty="0"/>
              <a:t>过渡态类似物</a:t>
            </a:r>
            <a:r>
              <a:rPr lang="zh-CN" altLang="en-US" dirty="0"/>
              <a:t>，虽然与酶是非共价结合，但结合紧密，是</a:t>
            </a:r>
            <a:r>
              <a:rPr lang="en-US" altLang="zh-CN" dirty="0"/>
              <a:t>HIV</a:t>
            </a:r>
            <a:r>
              <a:rPr lang="zh-CN" altLang="en-US" dirty="0"/>
              <a:t>蛋白酶的不可逆抑制剂。 </a:t>
            </a:r>
          </a:p>
          <a:p>
            <a:pPr eaLnBrk="1" hangingPunct="1">
              <a:spcBef>
                <a:spcPct val="0"/>
              </a:spcBef>
            </a:pPr>
            <a:endParaRPr lang="en-US" altLang="zh-CN" dirty="0"/>
          </a:p>
          <a:p>
            <a:pPr eaLnBrk="1" hangingPunct="1">
              <a:spcBef>
                <a:spcPct val="0"/>
              </a:spcBef>
            </a:pPr>
            <a:endParaRPr lang="en-US" altLang="zh-CN"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幻灯片图像占位符 1">
            <a:extLst>
              <a:ext uri="{FF2B5EF4-FFF2-40B4-BE49-F238E27FC236}">
                <a16:creationId xmlns:a16="http://schemas.microsoft.com/office/drawing/2014/main" id="{95F2CBCB-7F48-4BB4-8A1B-FCE0030917EC}"/>
              </a:ext>
            </a:extLst>
          </p:cNvPr>
          <p:cNvSpPr>
            <a:spLocks noGrp="1" noRot="1" noChangeAspect="1" noChangeArrowheads="1" noTextEdit="1"/>
          </p:cNvSpPr>
          <p:nvPr>
            <p:ph type="sldImg"/>
          </p:nvPr>
        </p:nvSpPr>
        <p:spPr>
          <a:xfrm>
            <a:off x="381000" y="685800"/>
            <a:ext cx="6096000" cy="3429000"/>
          </a:xfrm>
          <a:ln/>
        </p:spPr>
      </p:sp>
      <p:sp>
        <p:nvSpPr>
          <p:cNvPr id="271363" name="备注占位符 2">
            <a:extLst>
              <a:ext uri="{FF2B5EF4-FFF2-40B4-BE49-F238E27FC236}">
                <a16:creationId xmlns:a16="http://schemas.microsoft.com/office/drawing/2014/main" id="{1A3336B5-2FCA-4AE3-903A-4CE39A1898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主要经呼吸道及皮肤进入体内，误服、自服或食用被污染的食物及水也可引起中毒。</a:t>
            </a:r>
            <a:endParaRPr lang="en-US" altLang="zh-CN" dirty="0"/>
          </a:p>
          <a:p>
            <a:pPr eaLnBrk="1" hangingPunct="1"/>
            <a:endParaRPr lang="en-US" altLang="zh-CN" dirty="0"/>
          </a:p>
          <a:p>
            <a:pPr eaLnBrk="1" hangingPunct="1"/>
            <a:endParaRPr lang="en-US" altLang="zh-CN" dirty="0"/>
          </a:p>
          <a:p>
            <a:pPr eaLnBrk="1" hangingPunct="1"/>
            <a:endParaRPr lang="zh-CN" altLang="en-US" dirty="0"/>
          </a:p>
        </p:txBody>
      </p:sp>
      <p:sp>
        <p:nvSpPr>
          <p:cNvPr id="271364" name="灯片编号占位符 3">
            <a:extLst>
              <a:ext uri="{FF2B5EF4-FFF2-40B4-BE49-F238E27FC236}">
                <a16:creationId xmlns:a16="http://schemas.microsoft.com/office/drawing/2014/main" id="{4F5FB6DE-AD92-4629-A070-983E82A75F5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AD9CEC4-3177-4927-B266-A1EB1E7AACEE}" type="slidenum">
              <a:rPr lang="en-US" altLang="zh-CN" smtClean="0">
                <a:latin typeface="Arial" panose="020B0604020202020204" pitchFamily="34" charset="0"/>
              </a:rPr>
              <a:pPr/>
              <a:t>114</a:t>
            </a:fld>
            <a:endParaRPr lang="en-US" altLang="zh-CN">
              <a:latin typeface="Arial" panose="020B0604020202020204" pitchFamily="34" charset="0"/>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a:extLst>
              <a:ext uri="{FF2B5EF4-FFF2-40B4-BE49-F238E27FC236}">
                <a16:creationId xmlns:a16="http://schemas.microsoft.com/office/drawing/2014/main" id="{0D17F73D-040A-4490-AF8F-BE61DCE677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286795C-C44B-40CD-BDB7-7AD2EB3479D6}" type="slidenum">
              <a:rPr lang="en-US" altLang="zh-CN" smtClean="0">
                <a:latin typeface="Arial" panose="020B0604020202020204" pitchFamily="34" charset="0"/>
              </a:rPr>
              <a:pPr/>
              <a:t>115</a:t>
            </a:fld>
            <a:endParaRPr lang="en-US" altLang="zh-CN">
              <a:latin typeface="Arial" panose="020B0604020202020204" pitchFamily="34" charset="0"/>
            </a:endParaRPr>
          </a:p>
        </p:txBody>
      </p:sp>
      <p:sp>
        <p:nvSpPr>
          <p:cNvPr id="276483" name="Rectangle 2">
            <a:extLst>
              <a:ext uri="{FF2B5EF4-FFF2-40B4-BE49-F238E27FC236}">
                <a16:creationId xmlns:a16="http://schemas.microsoft.com/office/drawing/2014/main" id="{0F45B053-2641-49E7-8905-2FD6DB2C75DC}"/>
              </a:ext>
            </a:extLst>
          </p:cNvPr>
          <p:cNvSpPr>
            <a:spLocks noGrp="1" noRot="1" noChangeAspect="1" noChangeArrowheads="1" noTextEdit="1"/>
          </p:cNvSpPr>
          <p:nvPr>
            <p:ph type="sldImg"/>
          </p:nvPr>
        </p:nvSpPr>
        <p:spPr>
          <a:xfrm>
            <a:off x="381000" y="685800"/>
            <a:ext cx="6096000" cy="3429000"/>
          </a:xfrm>
          <a:ln/>
        </p:spPr>
      </p:sp>
      <p:sp>
        <p:nvSpPr>
          <p:cNvPr id="276484" name="Rectangle 3">
            <a:extLst>
              <a:ext uri="{FF2B5EF4-FFF2-40B4-BE49-F238E27FC236}">
                <a16:creationId xmlns:a16="http://schemas.microsoft.com/office/drawing/2014/main" id="{C41F20EB-4595-42C0-AB2D-3ECD1296AE1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lnSpc>
                <a:spcPct val="120000"/>
              </a:lnSpc>
            </a:pPr>
            <a:endParaRPr lang="zh-CN" altLang="en-US" dirty="0">
              <a:ea typeface="楷体_GB2312" pitchFamily="49" charset="-122"/>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阿托品阻断乙酰胆碱对副交感神经和中枢神经系统毒蕈碱受体的作用</a:t>
            </a:r>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116</a:t>
            </a:fld>
            <a:endParaRPr lang="en-US" altLang="zh-CN"/>
          </a:p>
        </p:txBody>
      </p:sp>
    </p:spTree>
    <p:extLst>
      <p:ext uri="{BB962C8B-B14F-4D97-AF65-F5344CB8AC3E}">
        <p14:creationId xmlns:p14="http://schemas.microsoft.com/office/powerpoint/2010/main" val="18049020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a:extLst>
              <a:ext uri="{FF2B5EF4-FFF2-40B4-BE49-F238E27FC236}">
                <a16:creationId xmlns:a16="http://schemas.microsoft.com/office/drawing/2014/main" id="{ECAB2DDB-CF52-4D50-B0F9-8934DD40A3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4520ABA-4507-40A1-8D4D-E56868FE6A20}" type="slidenum">
              <a:rPr lang="en-US" altLang="zh-CN" smtClean="0">
                <a:latin typeface="Arial" panose="020B0604020202020204" pitchFamily="34" charset="0"/>
              </a:rPr>
              <a:pPr/>
              <a:t>117</a:t>
            </a:fld>
            <a:endParaRPr lang="en-US" altLang="zh-CN">
              <a:latin typeface="Arial" panose="020B0604020202020204" pitchFamily="34" charset="0"/>
            </a:endParaRPr>
          </a:p>
        </p:txBody>
      </p:sp>
      <p:sp>
        <p:nvSpPr>
          <p:cNvPr id="280579" name="Rectangle 2">
            <a:extLst>
              <a:ext uri="{FF2B5EF4-FFF2-40B4-BE49-F238E27FC236}">
                <a16:creationId xmlns:a16="http://schemas.microsoft.com/office/drawing/2014/main" id="{92812C4F-8828-4C24-84E4-DFC77ECEFAA5}"/>
              </a:ext>
            </a:extLst>
          </p:cNvPr>
          <p:cNvSpPr>
            <a:spLocks noGrp="1" noRot="1" noChangeAspect="1" noChangeArrowheads="1" noTextEdit="1"/>
          </p:cNvSpPr>
          <p:nvPr>
            <p:ph type="sldImg"/>
          </p:nvPr>
        </p:nvSpPr>
        <p:spPr>
          <a:xfrm>
            <a:off x="381000" y="685800"/>
            <a:ext cx="6096000" cy="3429000"/>
          </a:xfrm>
          <a:ln/>
        </p:spPr>
      </p:sp>
      <p:sp>
        <p:nvSpPr>
          <p:cNvPr id="280580" name="Rectangle 3">
            <a:extLst>
              <a:ext uri="{FF2B5EF4-FFF2-40B4-BE49-F238E27FC236}">
                <a16:creationId xmlns:a16="http://schemas.microsoft.com/office/drawing/2014/main" id="{D3BA5BBF-BF7B-4B57-A993-7BC5DF51319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zh-CN" altLang="en-US" dirty="0"/>
              <a:t>碘解磷定类仅对形成不久的磷酰化胆碱酯酶有作用，但如经过数小时，磷酰化胆碱酯酶已“老化”，酶活性极难恢复。 </a:t>
            </a:r>
          </a:p>
          <a:p>
            <a:pPr>
              <a:lnSpc>
                <a:spcPct val="90000"/>
              </a:lnSpc>
            </a:pPr>
            <a:endParaRPr lang="zh-CN" altLang="en-US" dirty="0"/>
          </a:p>
          <a:p>
            <a:pPr>
              <a:lnSpc>
                <a:spcPct val="90000"/>
              </a:lnSpc>
            </a:pPr>
            <a:r>
              <a:rPr lang="zh-CN" altLang="en-US" dirty="0">
                <a:latin typeface="宋体" panose="02010600030101010101" pitchFamily="2" charset="-122"/>
              </a:rPr>
              <a:t>解磷定性质不稳定，在碱性环境中很容易解离并生成氰根离子，所以</a:t>
            </a:r>
            <a:r>
              <a:rPr lang="zh-CN" altLang="en-US" b="1" dirty="0">
                <a:latin typeface="宋体" panose="02010600030101010101" pitchFamily="2" charset="-122"/>
              </a:rPr>
              <a:t>解磷定一定不能和碳酸氢钠等碱性药物混合使用。</a:t>
            </a:r>
            <a:r>
              <a:rPr lang="zh-CN" altLang="en-US" b="1" dirty="0"/>
              <a:t> </a:t>
            </a:r>
          </a:p>
          <a:p>
            <a:pPr>
              <a:lnSpc>
                <a:spcPct val="90000"/>
              </a:lnSpc>
            </a:pPr>
            <a:endParaRPr lang="zh-CN" altLang="en-US" u="sng" dirty="0"/>
          </a:p>
          <a:p>
            <a:pPr eaLnBrk="1" hangingPunct="1"/>
            <a:endParaRPr lang="zh-CN" altLang="zh-CN"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幻灯片图像占位符 1">
            <a:extLst>
              <a:ext uri="{FF2B5EF4-FFF2-40B4-BE49-F238E27FC236}">
                <a16:creationId xmlns:a16="http://schemas.microsoft.com/office/drawing/2014/main" id="{03506662-8661-455E-9790-1A2237182746}"/>
              </a:ext>
            </a:extLst>
          </p:cNvPr>
          <p:cNvSpPr>
            <a:spLocks noGrp="1" noRot="1" noChangeAspect="1" noChangeArrowheads="1" noTextEdit="1"/>
          </p:cNvSpPr>
          <p:nvPr>
            <p:ph type="sldImg"/>
          </p:nvPr>
        </p:nvSpPr>
        <p:spPr>
          <a:xfrm>
            <a:off x="381000" y="685800"/>
            <a:ext cx="6096000" cy="3429000"/>
          </a:xfrm>
          <a:ln/>
        </p:spPr>
      </p:sp>
      <p:sp>
        <p:nvSpPr>
          <p:cNvPr id="282627" name="备注占位符 2">
            <a:extLst>
              <a:ext uri="{FF2B5EF4-FFF2-40B4-BE49-F238E27FC236}">
                <a16:creationId xmlns:a16="http://schemas.microsoft.com/office/drawing/2014/main" id="{5645F7AC-13A4-41EF-8869-A6E6D3F67E7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0" i="0" dirty="0">
                <a:solidFill>
                  <a:srgbClr val="202122"/>
                </a:solidFill>
                <a:effectLst/>
                <a:latin typeface="Arial" panose="020B0604020202020204" pitchFamily="34" charset="0"/>
              </a:rPr>
              <a:t>砷中毒的主要基础是天然含有高浓度砷的地下水</a:t>
            </a:r>
            <a:endParaRPr lang="en-US" altLang="zh-CN" b="0" i="0" dirty="0">
              <a:solidFill>
                <a:srgbClr val="202122"/>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dirty="0"/>
              <a:t>氰化物、硫化物、叠氮化物等可与金属离子形成络合物，“毒害” 金属酶。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b="0" dirty="0"/>
          </a:p>
        </p:txBody>
      </p:sp>
      <p:sp>
        <p:nvSpPr>
          <p:cNvPr id="282628" name="灯片编号占位符 3">
            <a:extLst>
              <a:ext uri="{FF2B5EF4-FFF2-40B4-BE49-F238E27FC236}">
                <a16:creationId xmlns:a16="http://schemas.microsoft.com/office/drawing/2014/main" id="{E7E0C786-EF86-4A28-A76C-ACFDC7D905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9DA60BE-DDF4-4476-801B-548EB2D63FF0}" type="slidenum">
              <a:rPr lang="en-US" altLang="zh-CN" smtClean="0">
                <a:latin typeface="Arial" panose="020B0604020202020204" pitchFamily="34" charset="0"/>
              </a:rPr>
              <a:pPr/>
              <a:t>118</a:t>
            </a:fld>
            <a:endParaRPr lang="en-US" altLang="zh-CN">
              <a:latin typeface="Arial" panose="020B0604020202020204" pitchFamily="34" charset="0"/>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幻灯片图像占位符 1">
            <a:extLst>
              <a:ext uri="{FF2B5EF4-FFF2-40B4-BE49-F238E27FC236}">
                <a16:creationId xmlns:a16="http://schemas.microsoft.com/office/drawing/2014/main" id="{86952741-C9B5-4297-B924-8457EB311D10}"/>
              </a:ext>
            </a:extLst>
          </p:cNvPr>
          <p:cNvSpPr>
            <a:spLocks noGrp="1" noRot="1" noChangeAspect="1" noChangeArrowheads="1" noTextEdit="1"/>
          </p:cNvSpPr>
          <p:nvPr>
            <p:ph type="sldImg"/>
          </p:nvPr>
        </p:nvSpPr>
        <p:spPr>
          <a:xfrm>
            <a:off x="381000" y="685800"/>
            <a:ext cx="6096000" cy="3429000"/>
          </a:xfrm>
          <a:ln/>
        </p:spPr>
      </p:sp>
      <p:sp>
        <p:nvSpPr>
          <p:cNvPr id="284675" name="备注占位符 2">
            <a:extLst>
              <a:ext uri="{FF2B5EF4-FFF2-40B4-BE49-F238E27FC236}">
                <a16:creationId xmlns:a16="http://schemas.microsoft.com/office/drawing/2014/main" id="{C40830B3-EEE6-4BE4-9064-5620E6EB25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国家药监局发布的通知中明确指出：自</a:t>
            </a:r>
            <a:r>
              <a:rPr lang="en-US" altLang="zh-CN" dirty="0"/>
              <a:t>2026</a:t>
            </a:r>
            <a:r>
              <a:rPr lang="zh-CN" altLang="en-US" dirty="0"/>
              <a:t>年</a:t>
            </a:r>
            <a:r>
              <a:rPr lang="en-US" altLang="zh-CN" dirty="0"/>
              <a:t>1</a:t>
            </a:r>
            <a:r>
              <a:rPr lang="zh-CN" altLang="en-US" dirty="0"/>
              <a:t>月</a:t>
            </a:r>
            <a:r>
              <a:rPr lang="en-US" altLang="zh-CN" dirty="0"/>
              <a:t>1</a:t>
            </a:r>
            <a:r>
              <a:rPr lang="zh-CN" altLang="en-US" dirty="0"/>
              <a:t>日起，禁止生产含汞体温计和含汞血压计。</a:t>
            </a:r>
          </a:p>
          <a:p>
            <a:endParaRPr lang="en-US" altLang="zh-CN" dirty="0"/>
          </a:p>
          <a:p>
            <a:r>
              <a:rPr lang="zh-CN" altLang="en-US" dirty="0"/>
              <a:t>水银对光滑表面的吸附性比较差，可以用表面光滑的硬纸板或塑料板，把散落的水银珠刮在一起，然后收集在玻璃瓶里密封起来，交到疾控中心或者有关实验室。不建议用水冲到下水道里，因为这样会污染环境。</a:t>
            </a:r>
          </a:p>
          <a:p>
            <a:r>
              <a:rPr lang="zh-CN" altLang="en-US" dirty="0">
                <a:solidFill>
                  <a:srgbClr val="121212"/>
                </a:solidFill>
                <a:latin typeface="-apple-system"/>
              </a:rPr>
              <a:t>或用湿棉签一点点清理干净洒出来的水银，放进封口的塑料瓶中，在里面加点水就可以丢在合适的垃圾桶里了。</a:t>
            </a:r>
            <a:endParaRPr lang="en-US" altLang="zh-CN" dirty="0">
              <a:solidFill>
                <a:srgbClr val="121212"/>
              </a:solidFill>
              <a:latin typeface="-apple-system"/>
            </a:endParaRPr>
          </a:p>
          <a:p>
            <a:endParaRPr lang="en-US" altLang="zh-CN" dirty="0">
              <a:solidFill>
                <a:srgbClr val="121212"/>
              </a:solidFill>
              <a:latin typeface="-apple-system"/>
            </a:endParaRPr>
          </a:p>
          <a:p>
            <a:r>
              <a:rPr lang="zh-CN" altLang="en-US" dirty="0"/>
              <a:t>水银很容易吸附到织物表面，因此需要将污染房间内的衣物在阳光下晾晒，让水银充分挥散掉，</a:t>
            </a:r>
            <a:r>
              <a:rPr lang="zh-CN" altLang="en-US" b="1" dirty="0">
                <a:solidFill>
                  <a:srgbClr val="121212"/>
                </a:solidFill>
                <a:latin typeface="-apple-system"/>
              </a:rPr>
              <a:t>记得打开窗户通风</a:t>
            </a:r>
            <a:r>
              <a:rPr lang="zh-CN" altLang="en-US" dirty="0">
                <a:solidFill>
                  <a:srgbClr val="121212"/>
                </a:solidFill>
                <a:latin typeface="-apple-system"/>
              </a:rPr>
              <a:t>。</a:t>
            </a:r>
            <a:endParaRPr lang="zh-CN" altLang="en-US" dirty="0"/>
          </a:p>
          <a:p>
            <a:endParaRPr lang="en-US" altLang="zh-CN" dirty="0"/>
          </a:p>
        </p:txBody>
      </p:sp>
      <p:sp>
        <p:nvSpPr>
          <p:cNvPr id="284676" name="灯片编号占位符 3">
            <a:extLst>
              <a:ext uri="{FF2B5EF4-FFF2-40B4-BE49-F238E27FC236}">
                <a16:creationId xmlns:a16="http://schemas.microsoft.com/office/drawing/2014/main" id="{32B7C430-91CF-499A-90A5-79D08C2E8F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35ACD15-C56E-46A5-AEFF-3EF66F603592}" type="slidenum">
              <a:rPr lang="en-US" altLang="zh-CN" smtClean="0">
                <a:latin typeface="Arial" panose="020B0604020202020204" pitchFamily="34" charset="0"/>
              </a:rPr>
              <a:pPr/>
              <a:t>119</a:t>
            </a:fld>
            <a:endParaRPr lang="en-US" altLang="zh-CN">
              <a:latin typeface="Arial" panose="020B0604020202020204" pitchFamily="34" charset="0"/>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a:extLst>
              <a:ext uri="{FF2B5EF4-FFF2-40B4-BE49-F238E27FC236}">
                <a16:creationId xmlns:a16="http://schemas.microsoft.com/office/drawing/2014/main" id="{796057CF-B949-4CA2-95D3-7C7E806413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4853B46-224E-48A8-8CE1-80D3C132751B}" type="slidenum">
              <a:rPr lang="en-US" altLang="zh-CN" smtClean="0">
                <a:latin typeface="Arial" panose="020B0604020202020204" pitchFamily="34" charset="0"/>
              </a:rPr>
              <a:pPr/>
              <a:t>120</a:t>
            </a:fld>
            <a:endParaRPr lang="en-US" altLang="zh-CN">
              <a:latin typeface="Arial" panose="020B0604020202020204" pitchFamily="34" charset="0"/>
            </a:endParaRPr>
          </a:p>
        </p:txBody>
      </p:sp>
      <p:sp>
        <p:nvSpPr>
          <p:cNvPr id="286723" name="Rectangle 2">
            <a:extLst>
              <a:ext uri="{FF2B5EF4-FFF2-40B4-BE49-F238E27FC236}">
                <a16:creationId xmlns:a16="http://schemas.microsoft.com/office/drawing/2014/main" id="{5830DF7D-C4ED-46D3-939F-635BFDF4B90F}"/>
              </a:ext>
            </a:extLst>
          </p:cNvPr>
          <p:cNvSpPr>
            <a:spLocks noGrp="1" noRot="1" noChangeAspect="1" noChangeArrowheads="1" noTextEdit="1"/>
          </p:cNvSpPr>
          <p:nvPr>
            <p:ph type="sldImg"/>
          </p:nvPr>
        </p:nvSpPr>
        <p:spPr>
          <a:xfrm>
            <a:off x="381000" y="685800"/>
            <a:ext cx="6096000" cy="3429000"/>
          </a:xfrm>
          <a:ln/>
        </p:spPr>
      </p:sp>
      <p:sp>
        <p:nvSpPr>
          <p:cNvPr id="286724" name="Rectangle 3">
            <a:extLst>
              <a:ext uri="{FF2B5EF4-FFF2-40B4-BE49-F238E27FC236}">
                <a16:creationId xmlns:a16="http://schemas.microsoft.com/office/drawing/2014/main" id="{8E844814-8666-46BB-B638-FE4A9986A62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半胱氨酸，还原型谷胱甘肽、二巯基丙醇（</a:t>
            </a:r>
            <a:r>
              <a:rPr lang="en-US" altLang="zh-CN" dirty="0"/>
              <a:t>BAL）、</a:t>
            </a:r>
            <a:r>
              <a:rPr lang="zh-CN" altLang="en-US" dirty="0"/>
              <a:t>二巯基丙碘酸钠等常被称为巯基酶保护剂，</a:t>
            </a:r>
            <a:r>
              <a:rPr lang="zh-CN" altLang="en-US" b="0" dirty="0"/>
              <a:t>可被用作砷、汞、重金属等中毒的解毒剂。</a:t>
            </a:r>
          </a:p>
          <a:p>
            <a:pPr eaLnBrk="1" hangingPunct="1"/>
            <a:endParaRPr lang="en-US" altLang="zh-CN" b="0" dirty="0"/>
          </a:p>
          <a:p>
            <a:pPr eaLnBrk="1" hangingPunct="1"/>
            <a:endParaRPr lang="en-US" altLang="zh-CN"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a:extLst>
              <a:ext uri="{FF2B5EF4-FFF2-40B4-BE49-F238E27FC236}">
                <a16:creationId xmlns:a16="http://schemas.microsoft.com/office/drawing/2014/main" id="{AA878BC7-5FEE-49F4-8B93-5ACCE41DDF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C95C988-B77E-42EF-90D3-D738B218D07B}" type="slidenum">
              <a:rPr lang="en-US" altLang="zh-CN" smtClean="0">
                <a:latin typeface="Arial" panose="020B0604020202020204" pitchFamily="34" charset="0"/>
              </a:rPr>
              <a:pPr/>
              <a:t>121</a:t>
            </a:fld>
            <a:endParaRPr lang="en-US" altLang="zh-CN">
              <a:latin typeface="Arial" panose="020B0604020202020204" pitchFamily="34" charset="0"/>
            </a:endParaRPr>
          </a:p>
        </p:txBody>
      </p:sp>
      <p:sp>
        <p:nvSpPr>
          <p:cNvPr id="290819" name="Rectangle 2">
            <a:extLst>
              <a:ext uri="{FF2B5EF4-FFF2-40B4-BE49-F238E27FC236}">
                <a16:creationId xmlns:a16="http://schemas.microsoft.com/office/drawing/2014/main" id="{E00D714B-F182-4B74-9D58-06E8A6656170}"/>
              </a:ext>
            </a:extLst>
          </p:cNvPr>
          <p:cNvSpPr>
            <a:spLocks noGrp="1" noRot="1" noChangeAspect="1" noChangeArrowheads="1" noTextEdit="1"/>
          </p:cNvSpPr>
          <p:nvPr>
            <p:ph type="sldImg"/>
          </p:nvPr>
        </p:nvSpPr>
        <p:spPr>
          <a:xfrm>
            <a:off x="381000" y="685800"/>
            <a:ext cx="6096000" cy="3429000"/>
          </a:xfrm>
          <a:ln/>
        </p:spPr>
      </p:sp>
      <p:sp>
        <p:nvSpPr>
          <p:cNvPr id="1024003" name="Rectangle 3">
            <a:extLst>
              <a:ext uri="{FF2B5EF4-FFF2-40B4-BE49-F238E27FC236}">
                <a16:creationId xmlns:a16="http://schemas.microsoft.com/office/drawing/2014/main" id="{58CA58FB-C1F4-4EE7-8A35-CDBA75C062EA}"/>
              </a:ext>
            </a:extLst>
          </p:cNvPr>
          <p:cNvSpPr>
            <a:spLocks noGrp="1" noChangeArrowheads="1"/>
          </p:cNvSpPr>
          <p:nvPr>
            <p:ph type="body" idx="1"/>
          </p:nvPr>
        </p:nvSpPr>
        <p:spPr>
          <a:xfrm>
            <a:off x="914400" y="4343400"/>
            <a:ext cx="5029200" cy="4114800"/>
          </a:xfrm>
        </p:spPr>
        <p:txBody>
          <a:bodyPr/>
          <a:lstStyle/>
          <a:p>
            <a:pPr eaLnBrk="1" hangingPunct="1">
              <a:defRPr/>
            </a:pPr>
            <a:endParaRPr lang="zh-CN" altLang="en-US" sz="3200" dirty="0">
              <a:solidFill>
                <a:srgbClr val="FFFF99"/>
              </a:solidFill>
              <a:effectLst>
                <a:outerShdw blurRad="38100" dist="38100" dir="2700000" algn="tl">
                  <a:srgbClr val="C0C0C0"/>
                </a:outerShdw>
              </a:effectLst>
              <a:latin typeface="Verdana" pitchFamily="34" charset="0"/>
              <a:ea typeface="楷体_GB2312" pitchFamily="49" charset="-122"/>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a:extLst>
              <a:ext uri="{FF2B5EF4-FFF2-40B4-BE49-F238E27FC236}">
                <a16:creationId xmlns:a16="http://schemas.microsoft.com/office/drawing/2014/main" id="{9E8605DC-3230-4515-BB1D-EE185D7F8F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2209388-566A-4AE5-9835-6673B30841C0}" type="slidenum">
              <a:rPr lang="en-US" altLang="zh-CN" smtClean="0">
                <a:latin typeface="Arial" panose="020B0604020202020204" pitchFamily="34" charset="0"/>
              </a:rPr>
              <a:pPr/>
              <a:t>122</a:t>
            </a:fld>
            <a:endParaRPr lang="en-US" altLang="zh-CN">
              <a:latin typeface="Arial" panose="020B0604020202020204" pitchFamily="34" charset="0"/>
            </a:endParaRPr>
          </a:p>
        </p:txBody>
      </p:sp>
      <p:sp>
        <p:nvSpPr>
          <p:cNvPr id="292867" name="Rectangle 2">
            <a:extLst>
              <a:ext uri="{FF2B5EF4-FFF2-40B4-BE49-F238E27FC236}">
                <a16:creationId xmlns:a16="http://schemas.microsoft.com/office/drawing/2014/main" id="{5AE8022E-A6B6-4C78-BCF3-1E1681ECB730}"/>
              </a:ext>
            </a:extLst>
          </p:cNvPr>
          <p:cNvSpPr>
            <a:spLocks noGrp="1" noRot="1" noChangeAspect="1" noChangeArrowheads="1" noTextEdit="1"/>
          </p:cNvSpPr>
          <p:nvPr>
            <p:ph type="sldImg"/>
          </p:nvPr>
        </p:nvSpPr>
        <p:spPr>
          <a:xfrm>
            <a:off x="381000" y="685800"/>
            <a:ext cx="6096000" cy="3429000"/>
          </a:xfrm>
          <a:ln/>
        </p:spPr>
      </p:sp>
      <p:sp>
        <p:nvSpPr>
          <p:cNvPr id="292868" name="Rectangle 3">
            <a:extLst>
              <a:ext uri="{FF2B5EF4-FFF2-40B4-BE49-F238E27FC236}">
                <a16:creationId xmlns:a16="http://schemas.microsoft.com/office/drawing/2014/main" id="{EAC75D58-646E-4C70-B7EA-9D8C3F5ED715}"/>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这种抑制作用中， 酶要么结合抑制剂，要么结合底物，不能三者同时结合。 </a:t>
            </a:r>
          </a:p>
          <a:p>
            <a:pPr eaLnBrk="1" hangingPunct="1"/>
            <a:endParaRPr lang="en-US" altLang="zh-CN" dirty="0"/>
          </a:p>
          <a:p>
            <a:pPr eaLnBrk="1" hangingPunct="1"/>
            <a:r>
              <a:rPr lang="zh-CN" altLang="en-US" dirty="0"/>
              <a:t>说竞争性抑制剂只与酶的活性中心结合是一种简化说法，适合于大多数竞争性抑制剂，但不确切。 有的竞争性抑制剂并不竞争酶的活性中心，而是结合别的部位，引起酶构象改变，从而不能再结合底物。 </a:t>
            </a:r>
            <a:endParaRPr lang="en-US" altLang="zh-CN" dirty="0"/>
          </a:p>
          <a:p>
            <a:pPr eaLnBrk="1" hangingPunct="1"/>
            <a:endParaRPr lang="en-US" altLang="zh-CN" dirty="0"/>
          </a:p>
          <a:p>
            <a:pPr eaLnBrk="1" hangingPunct="1"/>
            <a:r>
              <a:rPr lang="zh-CN" altLang="en-US" dirty="0"/>
              <a:t>竞争性抑制剂本质上是竞争与酶的结合，但不一定是竞争活性中心。 </a:t>
            </a:r>
          </a:p>
          <a:p>
            <a:pPr eaLnBrk="1" hangingPunct="1"/>
            <a:endParaRPr lang="en-US" altLang="zh-CN" dirty="0"/>
          </a:p>
          <a:p>
            <a:pPr eaLnBrk="1" hangingPunct="1"/>
            <a:endParaRPr lang="zh-CN" altLang="zh-CN"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C3002DB7-F16F-4B44-857A-9AB95F4C5CA6}"/>
              </a:ext>
            </a:extLst>
          </p:cNvPr>
          <p:cNvSpPr>
            <a:spLocks noGrp="1" noRot="1" noChangeAspect="1" noChangeArrowheads="1" noTextEdit="1"/>
          </p:cNvSpPr>
          <p:nvPr>
            <p:ph type="sldImg"/>
          </p:nvPr>
        </p:nvSpPr>
        <p:spPr>
          <a:xfrm>
            <a:off x="381000" y="685800"/>
            <a:ext cx="6096000" cy="3429000"/>
          </a:xfrm>
          <a:ln/>
        </p:spPr>
      </p:sp>
      <p:sp>
        <p:nvSpPr>
          <p:cNvPr id="67587" name="备注占位符 2">
            <a:extLst>
              <a:ext uri="{FF2B5EF4-FFF2-40B4-BE49-F238E27FC236}">
                <a16:creationId xmlns:a16="http://schemas.microsoft.com/office/drawing/2014/main" id="{EC7D1B86-7AE3-460F-A3FD-113A5694BD1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 Examples of Competitive Inhibition where Substrate (S) and Inhibitor (I) </a:t>
            </a:r>
            <a:r>
              <a:rPr lang="en-US" altLang="zh-CN" b="1" dirty="0"/>
              <a:t>binding events are mutually exclusive</a:t>
            </a:r>
            <a:r>
              <a:rPr lang="en-US" altLang="zh-CN" dirty="0"/>
              <a:t>. (a) Classical model for competitive inhibition where S and I compete for the same precise region of the active site. (b) I does not bind to the active site, but sterically hinders S binding. (c) S and I binding sites are overlapping. (d) S and I share a common binding pocket on the enzyme. (e) I binding can result in a conformational change that prevents S binding (and vice versa). This was adapted from Segal, Enzyme Kinetics.   </a:t>
            </a:r>
          </a:p>
          <a:p>
            <a:endParaRPr lang="en-US" altLang="zh-CN" dirty="0"/>
          </a:p>
          <a:p>
            <a:r>
              <a:rPr lang="en-US" altLang="zh-CN" dirty="0"/>
              <a:t> As an enzyme’s reaction is inhibited by a competitive inhibitor, there is an increase in the local concentration of substrate. Without a mechanism to clear the substrate, a competitive inhibitor will lose potency. This is not the case for a noncompetitive inhibitor.</a:t>
            </a:r>
          </a:p>
          <a:p>
            <a:endParaRPr lang="en-US" altLang="zh-CN" dirty="0"/>
          </a:p>
        </p:txBody>
      </p:sp>
      <p:sp>
        <p:nvSpPr>
          <p:cNvPr id="67588" name="灯片编号占位符 3">
            <a:extLst>
              <a:ext uri="{FF2B5EF4-FFF2-40B4-BE49-F238E27FC236}">
                <a16:creationId xmlns:a16="http://schemas.microsoft.com/office/drawing/2014/main" id="{BF371FC1-FAF9-4657-9A10-73E117377EA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367EB3F-239D-48E8-971D-1D04FD40FFF8}" type="slidenum">
              <a:rPr lang="en-US" altLang="zh-CN" smtClean="0">
                <a:latin typeface="Arial" panose="020B0604020202020204" pitchFamily="34" charset="0"/>
              </a:rPr>
              <a:pPr/>
              <a:t>123</a:t>
            </a:fld>
            <a:endParaRPr lang="en-US" altLang="zh-CN">
              <a:latin typeface="Arial" panose="020B0604020202020204" pitchFamily="34" charset="0"/>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a:extLst>
              <a:ext uri="{FF2B5EF4-FFF2-40B4-BE49-F238E27FC236}">
                <a16:creationId xmlns:a16="http://schemas.microsoft.com/office/drawing/2014/main" id="{ED88DC56-C40A-40A5-AE31-BB5ACB76E1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E0D37AC-83AB-4FBE-80A3-8BE6870DCBBD}" type="slidenum">
              <a:rPr lang="en-US" altLang="zh-CN" smtClean="0">
                <a:latin typeface="Arial" panose="020B0604020202020204" pitchFamily="34" charset="0"/>
              </a:rPr>
              <a:pPr/>
              <a:t>124</a:t>
            </a:fld>
            <a:endParaRPr lang="en-US" altLang="zh-CN">
              <a:latin typeface="Arial" panose="020B0604020202020204" pitchFamily="34" charset="0"/>
            </a:endParaRPr>
          </a:p>
        </p:txBody>
      </p:sp>
      <p:sp>
        <p:nvSpPr>
          <p:cNvPr id="294915" name="Rectangle 2">
            <a:extLst>
              <a:ext uri="{FF2B5EF4-FFF2-40B4-BE49-F238E27FC236}">
                <a16:creationId xmlns:a16="http://schemas.microsoft.com/office/drawing/2014/main" id="{C0C90745-72C2-4329-9AE1-30781B32554C}"/>
              </a:ext>
            </a:extLst>
          </p:cNvPr>
          <p:cNvSpPr>
            <a:spLocks noGrp="1" noRot="1" noChangeAspect="1" noChangeArrowheads="1" noTextEdit="1"/>
          </p:cNvSpPr>
          <p:nvPr>
            <p:ph type="sldImg"/>
          </p:nvPr>
        </p:nvSpPr>
        <p:spPr>
          <a:xfrm>
            <a:off x="381000" y="685800"/>
            <a:ext cx="6096000" cy="3429000"/>
          </a:xfrm>
          <a:ln/>
        </p:spPr>
      </p:sp>
      <p:sp>
        <p:nvSpPr>
          <p:cNvPr id="294916" name="Rectangle 3">
            <a:extLst>
              <a:ext uri="{FF2B5EF4-FFF2-40B4-BE49-F238E27FC236}">
                <a16:creationId xmlns:a16="http://schemas.microsoft.com/office/drawing/2014/main" id="{E5F91BC0-58EF-460C-B434-36EB2AA44B72}"/>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根据中间产物学说，可推导出有抑制剂存在时的米氏方程</a:t>
            </a:r>
            <a:r>
              <a:rPr lang="en-US" altLang="zh-CN" dirty="0"/>
              <a:t>.    </a:t>
            </a:r>
          </a:p>
          <a:p>
            <a:pPr eaLnBrk="1" hangingPunct="1"/>
            <a:endParaRPr lang="zh-CN" alt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幻灯片图像占位符 1">
            <a:extLst>
              <a:ext uri="{FF2B5EF4-FFF2-40B4-BE49-F238E27FC236}">
                <a16:creationId xmlns:a16="http://schemas.microsoft.com/office/drawing/2014/main" id="{209BC09E-66C1-40AF-97CA-B2E15144A61A}"/>
              </a:ext>
            </a:extLst>
          </p:cNvPr>
          <p:cNvSpPr>
            <a:spLocks noGrp="1" noRot="1" noChangeAspect="1" noChangeArrowheads="1" noTextEdit="1"/>
          </p:cNvSpPr>
          <p:nvPr>
            <p:ph type="sldImg"/>
          </p:nvPr>
        </p:nvSpPr>
        <p:spPr>
          <a:xfrm>
            <a:off x="381000" y="685800"/>
            <a:ext cx="6096000" cy="3429000"/>
          </a:xfrm>
          <a:ln/>
        </p:spPr>
      </p:sp>
      <p:sp>
        <p:nvSpPr>
          <p:cNvPr id="296963" name="备注占位符 2">
            <a:extLst>
              <a:ext uri="{FF2B5EF4-FFF2-40B4-BE49-F238E27FC236}">
                <a16:creationId xmlns:a16="http://schemas.microsoft.com/office/drawing/2014/main" id="{AEB85BE4-3C91-4708-925E-B1F0A2ECB7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要求记住动力学特点</a:t>
            </a:r>
            <a:endParaRPr lang="en-US" altLang="zh-CN" dirty="0"/>
          </a:p>
          <a:p>
            <a:endParaRPr lang="en-US" altLang="zh-CN" dirty="0"/>
          </a:p>
          <a:p>
            <a:r>
              <a:rPr lang="zh-CN" altLang="en-US" dirty="0"/>
              <a:t>竞争性抑制剂虽然不影响最大反应速度，但体内如果存在竞争性抑制剂，由于底物浓度通常相对稳定，实际的反应速度会因之而降低。 </a:t>
            </a:r>
          </a:p>
        </p:txBody>
      </p:sp>
      <p:sp>
        <p:nvSpPr>
          <p:cNvPr id="296964" name="灯片编号占位符 3">
            <a:extLst>
              <a:ext uri="{FF2B5EF4-FFF2-40B4-BE49-F238E27FC236}">
                <a16:creationId xmlns:a16="http://schemas.microsoft.com/office/drawing/2014/main" id="{1611D6B0-BEF6-407C-B935-C2296ECEEEC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24D2041-DEF5-4D2F-8442-CE734D0C3669}" type="slidenum">
              <a:rPr lang="en-US" altLang="zh-CN" smtClean="0">
                <a:latin typeface="Arial" panose="020B0604020202020204" pitchFamily="34" charset="0"/>
              </a:rPr>
              <a:pPr/>
              <a:t>125</a:t>
            </a:fld>
            <a:endParaRPr lang="en-US" altLang="zh-CN">
              <a:latin typeface="Arial" panose="020B0604020202020204" pitchFamily="34" charset="0"/>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a:extLst>
              <a:ext uri="{FF2B5EF4-FFF2-40B4-BE49-F238E27FC236}">
                <a16:creationId xmlns:a16="http://schemas.microsoft.com/office/drawing/2014/main" id="{63435490-E0FD-4D44-AB27-8DC0A954D4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BB9B0D4-FC35-4500-BD28-3635D848A346}" type="slidenum">
              <a:rPr lang="en-US" altLang="zh-CN" smtClean="0">
                <a:latin typeface="Arial" panose="020B0604020202020204" pitchFamily="34" charset="0"/>
              </a:rPr>
              <a:pPr/>
              <a:t>126</a:t>
            </a:fld>
            <a:endParaRPr lang="en-US" altLang="zh-CN">
              <a:latin typeface="Arial" panose="020B0604020202020204" pitchFamily="34" charset="0"/>
            </a:endParaRPr>
          </a:p>
        </p:txBody>
      </p:sp>
      <p:sp>
        <p:nvSpPr>
          <p:cNvPr id="299011" name="Rectangle 2">
            <a:extLst>
              <a:ext uri="{FF2B5EF4-FFF2-40B4-BE49-F238E27FC236}">
                <a16:creationId xmlns:a16="http://schemas.microsoft.com/office/drawing/2014/main" id="{A2221B59-2FAE-4C56-AB21-E97F688FB6DE}"/>
              </a:ext>
            </a:extLst>
          </p:cNvPr>
          <p:cNvSpPr>
            <a:spLocks noGrp="1" noRot="1" noChangeAspect="1" noChangeArrowheads="1" noTextEdit="1"/>
          </p:cNvSpPr>
          <p:nvPr>
            <p:ph type="sldImg"/>
          </p:nvPr>
        </p:nvSpPr>
        <p:spPr>
          <a:xfrm>
            <a:off x="381000" y="685800"/>
            <a:ext cx="6096000" cy="3429000"/>
          </a:xfrm>
          <a:ln/>
        </p:spPr>
      </p:sp>
      <p:sp>
        <p:nvSpPr>
          <p:cNvPr id="299012" name="Rectangle 3">
            <a:extLst>
              <a:ext uri="{FF2B5EF4-FFF2-40B4-BE49-F238E27FC236}">
                <a16:creationId xmlns:a16="http://schemas.microsoft.com/office/drawing/2014/main" id="{7540BB6D-7B33-437E-BBAB-D1996170E51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记住这个典型的例子！    该反应是</a:t>
            </a:r>
            <a:r>
              <a:rPr lang="en-US" altLang="zh-CN" dirty="0">
                <a:latin typeface="宋体" panose="02010600030101010101" pitchFamily="2" charset="-122"/>
              </a:rPr>
              <a:t>TCA cycle</a:t>
            </a:r>
            <a:r>
              <a:rPr lang="zh-CN" altLang="en-US" dirty="0">
                <a:latin typeface="宋体" panose="02010600030101010101" pitchFamily="2" charset="-122"/>
              </a:rPr>
              <a:t>中的第</a:t>
            </a:r>
            <a:r>
              <a:rPr lang="en-US" altLang="zh-CN" dirty="0">
                <a:latin typeface="宋体" panose="02010600030101010101" pitchFamily="2" charset="-122"/>
              </a:rPr>
              <a:t>6</a:t>
            </a:r>
            <a:r>
              <a:rPr lang="zh-CN" altLang="en-US" dirty="0">
                <a:latin typeface="宋体" panose="02010600030101010101" pitchFamily="2" charset="-122"/>
              </a:rPr>
              <a:t>步反应</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此酶的竞争性抑制剂还有：草酸、草酰乙酸</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再比如 </a:t>
            </a:r>
            <a:r>
              <a:rPr lang="en-US" altLang="zh-CN" dirty="0">
                <a:latin typeface="宋体" panose="02010600030101010101" pitchFamily="2" charset="-122"/>
              </a:rPr>
              <a:t>NADPH</a:t>
            </a:r>
            <a:r>
              <a:rPr lang="zh-CN" altLang="en-US" dirty="0">
                <a:latin typeface="宋体" panose="02010600030101010101" pitchFamily="2" charset="-122"/>
              </a:rPr>
              <a:t>对</a:t>
            </a:r>
            <a:r>
              <a:rPr lang="en-US" altLang="zh-CN" dirty="0">
                <a:latin typeface="宋体" panose="02010600030101010101" pitchFamily="2" charset="-122"/>
              </a:rPr>
              <a:t>6-</a:t>
            </a:r>
            <a:r>
              <a:rPr lang="zh-CN" altLang="en-US" dirty="0">
                <a:latin typeface="宋体" panose="02010600030101010101" pitchFamily="2" charset="-122"/>
              </a:rPr>
              <a:t>磷酸葡萄糖脱氢酶的竞争性抑制作用</a:t>
            </a:r>
            <a:endParaRPr lang="en-US" altLang="zh-CN" dirty="0">
              <a:latin typeface="宋体" panose="02010600030101010101" pitchFamily="2" charset="-122"/>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幻灯片图像占位符 1">
            <a:extLst>
              <a:ext uri="{FF2B5EF4-FFF2-40B4-BE49-F238E27FC236}">
                <a16:creationId xmlns:a16="http://schemas.microsoft.com/office/drawing/2014/main" id="{D7694B82-F356-432D-8B6B-02D067ECD801}"/>
              </a:ext>
            </a:extLst>
          </p:cNvPr>
          <p:cNvSpPr>
            <a:spLocks noGrp="1" noRot="1" noChangeAspect="1" noChangeArrowheads="1" noTextEdit="1"/>
          </p:cNvSpPr>
          <p:nvPr>
            <p:ph type="sldImg"/>
          </p:nvPr>
        </p:nvSpPr>
        <p:spPr>
          <a:xfrm>
            <a:off x="381000" y="685800"/>
            <a:ext cx="6096000" cy="3429000"/>
          </a:xfrm>
          <a:ln/>
        </p:spPr>
      </p:sp>
      <p:sp>
        <p:nvSpPr>
          <p:cNvPr id="301059" name="备注占位符 2">
            <a:extLst>
              <a:ext uri="{FF2B5EF4-FFF2-40B4-BE49-F238E27FC236}">
                <a16:creationId xmlns:a16="http://schemas.microsoft.com/office/drawing/2014/main" id="{9D8B6315-EB66-48F3-8EAC-2C01B7F22E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植物中的叶酸含</a:t>
            </a:r>
            <a:r>
              <a:rPr lang="en-US" altLang="zh-CN" dirty="0"/>
              <a:t>7</a:t>
            </a:r>
            <a:r>
              <a:rPr lang="zh-CN" altLang="en-US" dirty="0"/>
              <a:t>个谷氨酸，肝中的叶酸一般为</a:t>
            </a:r>
            <a:r>
              <a:rPr lang="en-US" altLang="zh-CN" dirty="0"/>
              <a:t>5</a:t>
            </a:r>
            <a:r>
              <a:rPr lang="zh-CN" altLang="en-US" dirty="0"/>
              <a:t>个谷氨酸残基</a:t>
            </a:r>
          </a:p>
          <a:p>
            <a:endParaRPr lang="zh-CN" altLang="en-US" dirty="0"/>
          </a:p>
        </p:txBody>
      </p:sp>
      <p:sp>
        <p:nvSpPr>
          <p:cNvPr id="301060" name="灯片编号占位符 3">
            <a:extLst>
              <a:ext uri="{FF2B5EF4-FFF2-40B4-BE49-F238E27FC236}">
                <a16:creationId xmlns:a16="http://schemas.microsoft.com/office/drawing/2014/main" id="{A81A794E-8CE2-433D-8394-A9E1A59DA1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FD55370-8163-44E2-8448-72133A070706}" type="slidenum">
              <a:rPr lang="en-US" altLang="zh-CN" smtClean="0">
                <a:latin typeface="Arial" panose="020B0604020202020204" pitchFamily="34" charset="0"/>
              </a:rPr>
              <a:pPr/>
              <a:t>127</a:t>
            </a:fld>
            <a:endParaRPr lang="en-US" altLang="zh-CN">
              <a:latin typeface="Arial" panose="020B0604020202020204" pitchFamily="34" charset="0"/>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a:extLst>
              <a:ext uri="{FF2B5EF4-FFF2-40B4-BE49-F238E27FC236}">
                <a16:creationId xmlns:a16="http://schemas.microsoft.com/office/drawing/2014/main" id="{2DA443E6-9293-433C-8593-99B35B2CFA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6E2DBAD-D1DE-4215-8166-22B7CA07E127}" type="slidenum">
              <a:rPr lang="en-US" altLang="zh-CN" smtClean="0">
                <a:latin typeface="Arial" panose="020B0604020202020204" pitchFamily="34" charset="0"/>
              </a:rPr>
              <a:pPr/>
              <a:t>128</a:t>
            </a:fld>
            <a:endParaRPr lang="en-US" altLang="zh-CN">
              <a:latin typeface="Arial" panose="020B0604020202020204" pitchFamily="34" charset="0"/>
            </a:endParaRPr>
          </a:p>
        </p:txBody>
      </p:sp>
      <p:sp>
        <p:nvSpPr>
          <p:cNvPr id="303107" name="Rectangle 2">
            <a:extLst>
              <a:ext uri="{FF2B5EF4-FFF2-40B4-BE49-F238E27FC236}">
                <a16:creationId xmlns:a16="http://schemas.microsoft.com/office/drawing/2014/main" id="{D978497C-6498-4EFA-A033-3FC144398518}"/>
              </a:ext>
            </a:extLst>
          </p:cNvPr>
          <p:cNvSpPr>
            <a:spLocks noGrp="1" noRot="1" noChangeAspect="1" noChangeArrowheads="1" noTextEdit="1"/>
          </p:cNvSpPr>
          <p:nvPr>
            <p:ph type="sldImg"/>
          </p:nvPr>
        </p:nvSpPr>
        <p:spPr>
          <a:xfrm>
            <a:off x="381000" y="685800"/>
            <a:ext cx="6096000" cy="3429000"/>
          </a:xfrm>
          <a:ln/>
        </p:spPr>
      </p:sp>
      <p:sp>
        <p:nvSpPr>
          <p:cNvPr id="303108" name="Rectangle 3">
            <a:extLst>
              <a:ext uri="{FF2B5EF4-FFF2-40B4-BE49-F238E27FC236}">
                <a16:creationId xmlns:a16="http://schemas.microsoft.com/office/drawing/2014/main" id="{4555D56D-2F86-45B0-9E33-FC9E085899C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spcBef>
                <a:spcPct val="20000"/>
              </a:spcBef>
              <a:buClr>
                <a:schemeClr val="tx2"/>
              </a:buClr>
              <a:buSzPct val="75000"/>
              <a:buFont typeface="Wingdings" panose="05000000000000000000" pitchFamily="2" charset="2"/>
              <a:buNone/>
            </a:pPr>
            <a:r>
              <a:rPr lang="zh-CN" altLang="en-US" sz="2800" dirty="0">
                <a:latin typeface="华文楷体" panose="02010600040101010101" pitchFamily="2" charset="-122"/>
                <a:ea typeface="华文楷体" panose="02010600040101010101" pitchFamily="2" charset="-122"/>
              </a:rPr>
              <a:t>记住磺胺药作用机制！</a:t>
            </a:r>
            <a:endParaRPr lang="en-US" altLang="zh-CN" sz="2800" dirty="0">
              <a:latin typeface="华文楷体" panose="02010600040101010101" pitchFamily="2" charset="-122"/>
              <a:ea typeface="华文楷体" panose="02010600040101010101" pitchFamily="2" charset="-122"/>
            </a:endParaRPr>
          </a:p>
          <a:p>
            <a:pPr eaLnBrk="1" hangingPunct="1">
              <a:lnSpc>
                <a:spcPct val="150000"/>
              </a:lnSpc>
              <a:spcBef>
                <a:spcPct val="20000"/>
              </a:spcBef>
              <a:buClr>
                <a:schemeClr val="tx2"/>
              </a:buClr>
              <a:buSzPct val="75000"/>
              <a:buFont typeface="Wingdings" panose="05000000000000000000" pitchFamily="2" charset="2"/>
              <a:buNone/>
            </a:pPr>
            <a:endParaRPr lang="en-US" altLang="zh-CN" sz="2800" dirty="0">
              <a:latin typeface="华文楷体" panose="02010600040101010101" pitchFamily="2" charset="-122"/>
              <a:ea typeface="华文楷体" panose="02010600040101010101" pitchFamily="2" charset="-122"/>
            </a:endParaRPr>
          </a:p>
          <a:p>
            <a:pPr eaLnBrk="1" hangingPunct="1">
              <a:lnSpc>
                <a:spcPct val="150000"/>
              </a:lnSpc>
              <a:spcBef>
                <a:spcPct val="20000"/>
              </a:spcBef>
              <a:buClr>
                <a:schemeClr val="tx2"/>
              </a:buClr>
              <a:buSzPct val="75000"/>
              <a:buFont typeface="Wingdings" panose="05000000000000000000" pitchFamily="2" charset="2"/>
              <a:buNone/>
            </a:pPr>
            <a:endParaRPr lang="en-US" altLang="zh-CN" sz="2800" dirty="0">
              <a:latin typeface="华文楷体" panose="02010600040101010101" pitchFamily="2" charset="-122"/>
              <a:ea typeface="华文楷体" panose="02010600040101010101" pitchFamily="2" charset="-122"/>
            </a:endParaRPr>
          </a:p>
          <a:p>
            <a:pPr eaLnBrk="1" hangingPunct="1">
              <a:lnSpc>
                <a:spcPct val="150000"/>
              </a:lnSpc>
              <a:spcBef>
                <a:spcPct val="20000"/>
              </a:spcBef>
              <a:buClr>
                <a:schemeClr val="tx2"/>
              </a:buClr>
              <a:buSzPct val="75000"/>
              <a:buFont typeface="Wingdings" panose="05000000000000000000" pitchFamily="2" charset="2"/>
              <a:buNone/>
            </a:pPr>
            <a:r>
              <a:rPr lang="zh-CN" altLang="en-US" sz="2800" dirty="0">
                <a:latin typeface="华文楷体" panose="02010600040101010101" pitchFamily="2" charset="-122"/>
                <a:ea typeface="华文楷体" panose="02010600040101010101" pitchFamily="2" charset="-122"/>
              </a:rPr>
              <a:t>四氢叶酸（</a:t>
            </a:r>
            <a:r>
              <a:rPr lang="en-US" altLang="zh-CN" sz="2800" dirty="0">
                <a:latin typeface="华文楷体" panose="02010600040101010101" pitchFamily="2" charset="-122"/>
                <a:ea typeface="华文楷体" panose="02010600040101010101" pitchFamily="2" charset="-122"/>
              </a:rPr>
              <a:t>FH4 </a:t>
            </a:r>
            <a:r>
              <a:rPr lang="zh-CN" altLang="en-US" sz="2800" dirty="0">
                <a:latin typeface="华文楷体" panose="02010600040101010101" pitchFamily="2" charset="-122"/>
                <a:ea typeface="华文楷体" panose="02010600040101010101" pitchFamily="2" charset="-122"/>
              </a:rPr>
              <a:t>，携带一碳单位参与核苷酸的合成）合成受阻会导致</a:t>
            </a:r>
            <a:r>
              <a:rPr lang="en-US" altLang="zh-CN" sz="2800" dirty="0">
                <a:latin typeface="华文楷体" panose="02010600040101010101" pitchFamily="2" charset="-122"/>
                <a:ea typeface="华文楷体" panose="02010600040101010101" pitchFamily="2" charset="-122"/>
              </a:rPr>
              <a:t>DNA</a:t>
            </a:r>
            <a:r>
              <a:rPr lang="zh-CN" altLang="en-US" sz="2800" dirty="0">
                <a:latin typeface="华文楷体" panose="02010600040101010101" pitchFamily="2" charset="-122"/>
                <a:ea typeface="华文楷体" panose="02010600040101010101" pitchFamily="2" charset="-122"/>
              </a:rPr>
              <a:t>不能合成，抑制细菌繁殖。   细菌不能利用环境中的叶酸，需自身合成， 而人通过食物中的叶酸直接补充（但在体内，摄入的叶酸需要在二氢叶酸还原酶作用下变为四氢叶酸后起作用），故磺胺类药对人无毒害。 </a:t>
            </a:r>
            <a:endParaRPr lang="en-US" altLang="zh-CN" b="1" dirty="0"/>
          </a:p>
          <a:p>
            <a:pPr eaLnBrk="1" hangingPunct="1"/>
            <a:endParaRPr lang="en-US" altLang="zh-CN"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幻灯片图像占位符 1">
            <a:extLst>
              <a:ext uri="{FF2B5EF4-FFF2-40B4-BE49-F238E27FC236}">
                <a16:creationId xmlns:a16="http://schemas.microsoft.com/office/drawing/2014/main" id="{84E31A1D-D993-45E7-B865-40A0C7A37A7F}"/>
              </a:ext>
            </a:extLst>
          </p:cNvPr>
          <p:cNvSpPr>
            <a:spLocks noGrp="1" noRot="1" noChangeAspect="1" noChangeArrowheads="1" noTextEdit="1"/>
          </p:cNvSpPr>
          <p:nvPr>
            <p:ph type="sldImg"/>
          </p:nvPr>
        </p:nvSpPr>
        <p:spPr>
          <a:xfrm>
            <a:off x="381000" y="685800"/>
            <a:ext cx="6096000" cy="3429000"/>
          </a:xfrm>
          <a:ln/>
        </p:spPr>
      </p:sp>
      <p:sp>
        <p:nvSpPr>
          <p:cNvPr id="305155" name="备注占位符 2">
            <a:extLst>
              <a:ext uri="{FF2B5EF4-FFF2-40B4-BE49-F238E27FC236}">
                <a16:creationId xmlns:a16="http://schemas.microsoft.com/office/drawing/2014/main" id="{1DE69B1A-4F9E-407C-95D2-BF30EE017C8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a:p>
            <a:endParaRPr lang="en-US" altLang="zh-CN" dirty="0"/>
          </a:p>
        </p:txBody>
      </p:sp>
      <p:sp>
        <p:nvSpPr>
          <p:cNvPr id="305156" name="灯片编号占位符 3">
            <a:extLst>
              <a:ext uri="{FF2B5EF4-FFF2-40B4-BE49-F238E27FC236}">
                <a16:creationId xmlns:a16="http://schemas.microsoft.com/office/drawing/2014/main" id="{F7BF9A47-8744-4B49-9B4C-A8E1C42580C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538423E-3378-475A-AEAD-18303EEB350E}" type="slidenum">
              <a:rPr lang="en-US" altLang="zh-CN" smtClean="0">
                <a:latin typeface="Arial" panose="020B0604020202020204" pitchFamily="34" charset="0"/>
              </a:rPr>
              <a:pPr/>
              <a:t>129</a:t>
            </a:fld>
            <a:endParaRPr lang="en-US" altLang="zh-CN">
              <a:latin typeface="Arial" panose="020B0604020202020204" pitchFamily="34" charset="0"/>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幻灯片图像占位符 1">
            <a:extLst>
              <a:ext uri="{FF2B5EF4-FFF2-40B4-BE49-F238E27FC236}">
                <a16:creationId xmlns:a16="http://schemas.microsoft.com/office/drawing/2014/main" id="{23ADB099-C071-4E5B-8912-CF76B977BE6E}"/>
              </a:ext>
            </a:extLst>
          </p:cNvPr>
          <p:cNvSpPr>
            <a:spLocks noGrp="1" noRot="1" noChangeAspect="1" noChangeArrowheads="1" noTextEdit="1"/>
          </p:cNvSpPr>
          <p:nvPr>
            <p:ph type="sldImg"/>
          </p:nvPr>
        </p:nvSpPr>
        <p:spPr>
          <a:xfrm>
            <a:off x="381000" y="685800"/>
            <a:ext cx="6096000" cy="3429000"/>
          </a:xfrm>
          <a:ln/>
        </p:spPr>
      </p:sp>
      <p:sp>
        <p:nvSpPr>
          <p:cNvPr id="307203" name="备注占位符 2">
            <a:extLst>
              <a:ext uri="{FF2B5EF4-FFF2-40B4-BE49-F238E27FC236}">
                <a16:creationId xmlns:a16="http://schemas.microsoft.com/office/drawing/2014/main" id="{086740C5-1817-4BE4-9BED-929D3A9529B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a:t>甲吡唑是乙醇脱氢酶的竞争性抑制剂</a:t>
            </a:r>
            <a:endParaRPr lang="en-US" altLang="zh-CN" b="1" dirty="0"/>
          </a:p>
          <a:p>
            <a:endParaRPr lang="en-US" altLang="zh-CN" dirty="0"/>
          </a:p>
          <a:p>
            <a:r>
              <a:rPr lang="en-US" altLang="zh-CN" dirty="0"/>
              <a:t>2</a:t>
            </a:r>
            <a:r>
              <a:rPr lang="zh-CN" altLang="en-US" dirty="0"/>
              <a:t>号晚上误喝了假酒，</a:t>
            </a:r>
            <a:r>
              <a:rPr lang="en-US" altLang="zh-CN" dirty="0"/>
              <a:t>3</a:t>
            </a:r>
            <a:r>
              <a:rPr lang="zh-CN" altLang="en-US" dirty="0"/>
              <a:t>号感觉不适，一度失明。</a:t>
            </a:r>
            <a:r>
              <a:rPr lang="en-US" altLang="zh-CN" b="0" i="0" dirty="0">
                <a:solidFill>
                  <a:srgbClr val="121212"/>
                </a:solidFill>
                <a:effectLst/>
                <a:latin typeface="-apple-system"/>
              </a:rPr>
              <a:t>4</a:t>
            </a:r>
            <a:r>
              <a:rPr lang="zh-CN" altLang="en-US" b="0" i="0" dirty="0">
                <a:solidFill>
                  <a:srgbClr val="121212"/>
                </a:solidFill>
                <a:effectLst/>
                <a:latin typeface="-apple-system"/>
              </a:rPr>
              <a:t>号凌晨</a:t>
            </a:r>
            <a:r>
              <a:rPr lang="en-US" altLang="zh-CN" b="0" i="0" dirty="0">
                <a:solidFill>
                  <a:srgbClr val="121212"/>
                </a:solidFill>
                <a:effectLst/>
                <a:latin typeface="-apple-system"/>
              </a:rPr>
              <a:t>4</a:t>
            </a:r>
            <a:r>
              <a:rPr lang="zh-CN" altLang="en-US" b="0" i="0" dirty="0">
                <a:solidFill>
                  <a:srgbClr val="121212"/>
                </a:solidFill>
                <a:effectLst/>
                <a:latin typeface="-apple-system"/>
              </a:rPr>
              <a:t>点，傅国林被紧急转入重庆医科大学附属第二医院急救部。  </a:t>
            </a:r>
            <a:endParaRPr lang="en-US" altLang="zh-CN" b="0" i="0" dirty="0">
              <a:solidFill>
                <a:srgbClr val="121212"/>
              </a:solidFill>
              <a:effectLst/>
              <a:latin typeface="-apple-system"/>
            </a:endParaRPr>
          </a:p>
          <a:p>
            <a:r>
              <a:rPr lang="en-US" altLang="zh-CN" b="0" i="0" dirty="0">
                <a:solidFill>
                  <a:srgbClr val="121212"/>
                </a:solidFill>
                <a:effectLst/>
                <a:latin typeface="-apple-system"/>
              </a:rPr>
              <a:t>9</a:t>
            </a:r>
            <a:r>
              <a:rPr lang="zh-CN" altLang="en-US" b="0" i="0" dirty="0">
                <a:solidFill>
                  <a:srgbClr val="121212"/>
                </a:solidFill>
                <a:effectLst/>
                <a:latin typeface="-apple-system"/>
              </a:rPr>
              <a:t>日上午，傅国林血液中的</a:t>
            </a:r>
            <a:r>
              <a:rPr lang="zh-CN" altLang="en-US" b="1" i="0" dirty="0">
                <a:solidFill>
                  <a:srgbClr val="121212"/>
                </a:solidFill>
                <a:effectLst/>
                <a:latin typeface="-apple-system"/>
              </a:rPr>
              <a:t>甲醇含量从此前的</a:t>
            </a:r>
            <a:r>
              <a:rPr lang="en-US" altLang="zh-CN" b="1" i="0" dirty="0">
                <a:solidFill>
                  <a:srgbClr val="121212"/>
                </a:solidFill>
                <a:effectLst/>
                <a:latin typeface="-apple-system"/>
              </a:rPr>
              <a:t>487mg</a:t>
            </a:r>
            <a:r>
              <a:rPr lang="zh-CN" altLang="en-US" b="1" i="0" dirty="0">
                <a:solidFill>
                  <a:srgbClr val="121212"/>
                </a:solidFill>
                <a:effectLst/>
                <a:latin typeface="-apple-system"/>
              </a:rPr>
              <a:t>／</a:t>
            </a:r>
            <a:r>
              <a:rPr lang="en-US" altLang="zh-CN" b="1" i="0" dirty="0">
                <a:solidFill>
                  <a:srgbClr val="121212"/>
                </a:solidFill>
                <a:effectLst/>
                <a:latin typeface="-apple-system"/>
              </a:rPr>
              <a:t>L</a:t>
            </a:r>
            <a:r>
              <a:rPr lang="zh-CN" altLang="en-US" b="1" i="0" dirty="0">
                <a:solidFill>
                  <a:srgbClr val="121212"/>
                </a:solidFill>
                <a:effectLst/>
                <a:latin typeface="-apple-system"/>
              </a:rPr>
              <a:t>降到了</a:t>
            </a:r>
            <a:r>
              <a:rPr lang="en-US" altLang="zh-CN" b="1" i="0" dirty="0">
                <a:solidFill>
                  <a:srgbClr val="121212"/>
                </a:solidFill>
                <a:effectLst/>
                <a:latin typeface="-apple-system"/>
              </a:rPr>
              <a:t>4.6mg</a:t>
            </a:r>
            <a:r>
              <a:rPr lang="zh-CN" altLang="en-US" b="1" i="0" dirty="0">
                <a:solidFill>
                  <a:srgbClr val="121212"/>
                </a:solidFill>
                <a:effectLst/>
                <a:latin typeface="-apple-system"/>
              </a:rPr>
              <a:t>／</a:t>
            </a:r>
            <a:r>
              <a:rPr lang="en-US" altLang="zh-CN" b="1" i="0" dirty="0">
                <a:solidFill>
                  <a:srgbClr val="121212"/>
                </a:solidFill>
                <a:effectLst/>
                <a:latin typeface="-apple-system"/>
              </a:rPr>
              <a:t>L</a:t>
            </a:r>
          </a:p>
          <a:p>
            <a:endParaRPr lang="en-US" altLang="zh-CN" dirty="0"/>
          </a:p>
        </p:txBody>
      </p:sp>
      <p:sp>
        <p:nvSpPr>
          <p:cNvPr id="307204" name="灯片编号占位符 3">
            <a:extLst>
              <a:ext uri="{FF2B5EF4-FFF2-40B4-BE49-F238E27FC236}">
                <a16:creationId xmlns:a16="http://schemas.microsoft.com/office/drawing/2014/main" id="{9DC7D466-5998-4A24-AA03-2ACB6818DB2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5B86E75-C478-4A64-BEBF-2F47ED4E3D46}" type="slidenum">
              <a:rPr lang="en-US" altLang="zh-CN" smtClean="0">
                <a:latin typeface="Arial" panose="020B0604020202020204" pitchFamily="34" charset="0"/>
              </a:rPr>
              <a:pPr/>
              <a:t>130</a:t>
            </a:fld>
            <a:endParaRPr lang="en-US" altLang="zh-CN">
              <a:latin typeface="Arial" panose="020B0604020202020204" pitchFamily="34" charset="0"/>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幻灯片图像占位符 1">
            <a:extLst>
              <a:ext uri="{FF2B5EF4-FFF2-40B4-BE49-F238E27FC236}">
                <a16:creationId xmlns:a16="http://schemas.microsoft.com/office/drawing/2014/main" id="{B7FCA761-E700-4AAA-B522-B3E09D343488}"/>
              </a:ext>
            </a:extLst>
          </p:cNvPr>
          <p:cNvSpPr>
            <a:spLocks noGrp="1" noRot="1" noChangeAspect="1" noChangeArrowheads="1" noTextEdit="1"/>
          </p:cNvSpPr>
          <p:nvPr>
            <p:ph type="sldImg"/>
          </p:nvPr>
        </p:nvSpPr>
        <p:spPr>
          <a:xfrm>
            <a:off x="381000" y="685800"/>
            <a:ext cx="6096000" cy="3429000"/>
          </a:xfrm>
          <a:ln/>
        </p:spPr>
      </p:sp>
      <p:sp>
        <p:nvSpPr>
          <p:cNvPr id="309251" name="备注占位符 2">
            <a:extLst>
              <a:ext uri="{FF2B5EF4-FFF2-40B4-BE49-F238E27FC236}">
                <a16:creationId xmlns:a16="http://schemas.microsoft.com/office/drawing/2014/main" id="{ADC36F3F-09D5-4D1E-867A-6FB13A1D84E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甲醇人口服中毒最低剂量约为</a:t>
            </a:r>
            <a:r>
              <a:rPr lang="en-US" altLang="zh-CN" dirty="0"/>
              <a:t>100mg/kg</a:t>
            </a:r>
            <a:r>
              <a:rPr lang="zh-CN" altLang="en-US" dirty="0"/>
              <a:t>体重，经口摄入</a:t>
            </a:r>
            <a:r>
              <a:rPr lang="en-US" altLang="zh-CN" dirty="0"/>
              <a:t>0.3</a:t>
            </a:r>
            <a:r>
              <a:rPr lang="zh-CN" altLang="en-US" dirty="0"/>
              <a:t>～</a:t>
            </a:r>
            <a:r>
              <a:rPr lang="en-US" altLang="zh-CN" dirty="0"/>
              <a:t>1g/kg</a:t>
            </a:r>
            <a:r>
              <a:rPr lang="zh-CN" altLang="en-US" dirty="0"/>
              <a:t>可致死。</a:t>
            </a:r>
            <a:endParaRPr lang="en-US" altLang="zh-CN" dirty="0"/>
          </a:p>
          <a:p>
            <a:endParaRPr lang="en-US" altLang="zh-CN" dirty="0"/>
          </a:p>
          <a:p>
            <a:r>
              <a:rPr lang="zh-CN" altLang="en-US" dirty="0"/>
              <a:t>工业酒精使用原煤或石油裂解制得，大约含</a:t>
            </a:r>
            <a:r>
              <a:rPr lang="en-US" altLang="zh-CN" dirty="0"/>
              <a:t>95%</a:t>
            </a:r>
            <a:r>
              <a:rPr lang="zh-CN" altLang="en-US" dirty="0"/>
              <a:t>的乙醇，还有</a:t>
            </a:r>
            <a:r>
              <a:rPr lang="en-US" altLang="zh-CN" dirty="0"/>
              <a:t>5%</a:t>
            </a:r>
            <a:r>
              <a:rPr lang="zh-CN" altLang="en-US" dirty="0"/>
              <a:t>的甲醇，甲醛等杂质，不易分离出，故只能工业用； 但有不法分子用工业酒精兑成假酒售卖。  另外，如果私自酿酒也可能技术不过关而酒中甲醇含量过高。</a:t>
            </a:r>
            <a:endParaRPr lang="en-US" altLang="zh-CN" dirty="0"/>
          </a:p>
          <a:p>
            <a:endParaRPr lang="en-US" altLang="zh-CN" dirty="0"/>
          </a:p>
          <a:p>
            <a:r>
              <a:rPr lang="zh-CN" altLang="en-US" b="1" dirty="0"/>
              <a:t>医用和药用酒精都是以玉米或其它粮食以糖化酶法发酵制得，杂质很少</a:t>
            </a:r>
            <a:r>
              <a:rPr lang="zh-CN" altLang="en-US" dirty="0"/>
              <a:t>。</a:t>
            </a:r>
            <a:endParaRPr lang="en-US" altLang="zh-CN" dirty="0"/>
          </a:p>
          <a:p>
            <a:r>
              <a:rPr lang="zh-CN" altLang="en-US" dirty="0"/>
              <a:t>汽油抗冻剂里也有甲醇，还有乙二醇， 后者也会经醇脱氢酶代谢，产生有毒的草酸， 输入乙醇也可解乙二醇（乙二醇可直接排出）之毒。 </a:t>
            </a:r>
            <a:endParaRPr lang="en-US" altLang="zh-CN" dirty="0"/>
          </a:p>
          <a:p>
            <a:endParaRPr lang="en-US" altLang="zh-CN" dirty="0"/>
          </a:p>
          <a:p>
            <a:endParaRPr lang="en-US" altLang="zh-CN" dirty="0"/>
          </a:p>
        </p:txBody>
      </p:sp>
      <p:sp>
        <p:nvSpPr>
          <p:cNvPr id="309252" name="灯片编号占位符 3">
            <a:extLst>
              <a:ext uri="{FF2B5EF4-FFF2-40B4-BE49-F238E27FC236}">
                <a16:creationId xmlns:a16="http://schemas.microsoft.com/office/drawing/2014/main" id="{50D392DC-3337-47A2-92FB-990D8D7CA0F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2EA7261-3C8F-40B1-B332-682183C996DB}" type="slidenum">
              <a:rPr lang="en-US" altLang="zh-CN" smtClean="0">
                <a:latin typeface="Arial" panose="020B0604020202020204" pitchFamily="34" charset="0"/>
              </a:rPr>
              <a:pPr/>
              <a:t>131</a:t>
            </a:fld>
            <a:endParaRPr lang="en-US" altLang="zh-CN">
              <a:latin typeface="Arial" panose="020B0604020202020204" pitchFamily="34" charset="0"/>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a:extLst>
              <a:ext uri="{FF2B5EF4-FFF2-40B4-BE49-F238E27FC236}">
                <a16:creationId xmlns:a16="http://schemas.microsoft.com/office/drawing/2014/main" id="{722EEDE9-C8FE-4BAF-B007-4D8C84176C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2C3CA6E-4CAB-4402-BFB0-7F4DA9B4C55D}" type="slidenum">
              <a:rPr lang="en-US" altLang="zh-CN" smtClean="0">
                <a:latin typeface="Arial" panose="020B0604020202020204" pitchFamily="34" charset="0"/>
              </a:rPr>
              <a:pPr/>
              <a:t>132</a:t>
            </a:fld>
            <a:endParaRPr lang="en-US" altLang="zh-CN">
              <a:latin typeface="Arial" panose="020B0604020202020204" pitchFamily="34" charset="0"/>
            </a:endParaRPr>
          </a:p>
        </p:txBody>
      </p:sp>
      <p:sp>
        <p:nvSpPr>
          <p:cNvPr id="311299" name="Rectangle 2">
            <a:extLst>
              <a:ext uri="{FF2B5EF4-FFF2-40B4-BE49-F238E27FC236}">
                <a16:creationId xmlns:a16="http://schemas.microsoft.com/office/drawing/2014/main" id="{6164B263-8797-4BB4-84DF-101872B96A5C}"/>
              </a:ext>
            </a:extLst>
          </p:cNvPr>
          <p:cNvSpPr>
            <a:spLocks noGrp="1" noRot="1" noChangeAspect="1" noChangeArrowheads="1" noTextEdit="1"/>
          </p:cNvSpPr>
          <p:nvPr>
            <p:ph type="sldImg"/>
          </p:nvPr>
        </p:nvSpPr>
        <p:spPr>
          <a:xfrm>
            <a:off x="381000" y="685800"/>
            <a:ext cx="6096000" cy="3429000"/>
          </a:xfrm>
          <a:ln/>
        </p:spPr>
      </p:sp>
      <p:sp>
        <p:nvSpPr>
          <p:cNvPr id="311300" name="Rectangle 3">
            <a:extLst>
              <a:ext uri="{FF2B5EF4-FFF2-40B4-BE49-F238E27FC236}">
                <a16:creationId xmlns:a16="http://schemas.microsoft.com/office/drawing/2014/main" id="{13508BCB-2742-4B8A-8E23-7CCEE12E944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solidFill>
                  <a:srgbClr val="FFFFFF"/>
                </a:solidFill>
              </a:rPr>
              <a:t>顾名思义，与竞争性抑制相反。  底物浓度很低时，几乎感受不到抑制作用，而随着底物浓度的升高，抑制作用逐渐增强。</a:t>
            </a:r>
            <a:endParaRPr lang="en-US" altLang="zh-CN" dirty="0">
              <a:solidFill>
                <a:srgbClr val="FFFFFF"/>
              </a:solidFill>
            </a:endParaRPr>
          </a:p>
          <a:p>
            <a:pPr eaLnBrk="1" hangingPunct="1"/>
            <a:r>
              <a:rPr lang="zh-CN" altLang="en-US" dirty="0">
                <a:solidFill>
                  <a:srgbClr val="FFFFFF"/>
                </a:solidFill>
              </a:rPr>
              <a:t>抑制剂的存在反而促进酶与底物的结合，故表观</a:t>
            </a:r>
            <a:r>
              <a:rPr lang="en-US" altLang="zh-CN" dirty="0">
                <a:solidFill>
                  <a:srgbClr val="FFFFFF"/>
                </a:solidFill>
              </a:rPr>
              <a:t>Km</a:t>
            </a:r>
            <a:r>
              <a:rPr lang="zh-CN" altLang="en-US" dirty="0">
                <a:solidFill>
                  <a:srgbClr val="FFFFFF"/>
                </a:solidFill>
              </a:rPr>
              <a:t>降低。</a:t>
            </a:r>
            <a:endParaRPr lang="en-US" altLang="zh-CN" dirty="0">
              <a:solidFill>
                <a:srgbClr val="FFFFFF"/>
              </a:solidFill>
            </a:endParaRPr>
          </a:p>
          <a:p>
            <a:pPr eaLnBrk="1" hangingPunct="1"/>
            <a:r>
              <a:rPr lang="zh-CN" altLang="en-US" dirty="0">
                <a:solidFill>
                  <a:srgbClr val="FFFFFF"/>
                </a:solidFill>
              </a:rPr>
              <a:t>反竞争性抑制剂的结合位点由底物诱导产生</a:t>
            </a:r>
            <a:r>
              <a:rPr lang="en-US" altLang="zh-CN" dirty="0">
                <a:solidFill>
                  <a:srgbClr val="FFFFFF"/>
                </a:solidFill>
              </a:rPr>
              <a:t>.</a:t>
            </a:r>
          </a:p>
          <a:p>
            <a:pPr eaLnBrk="1" hangingPunct="1"/>
            <a:endParaRPr lang="en-US" altLang="zh-CN" dirty="0">
              <a:solidFill>
                <a:srgbClr val="FFFFFF"/>
              </a:solidFill>
            </a:endParaRPr>
          </a:p>
          <a:p>
            <a:pPr eaLnBrk="1" hangingPunct="1"/>
            <a:r>
              <a:rPr lang="en-US" altLang="zh-CN" b="0" i="0" dirty="0">
                <a:solidFill>
                  <a:srgbClr val="202122"/>
                </a:solidFill>
                <a:effectLst/>
                <a:latin typeface="Arial" panose="020B0604020202020204" pitchFamily="34" charset="0"/>
              </a:rPr>
              <a:t>Uncompetitive inhibition is distinguished from competitive inhibition by two observations: first uncompetitive inhibition cannot be reversed by increasing [S] and second, as shown, the </a:t>
            </a:r>
            <a:r>
              <a:rPr lang="en-US" altLang="zh-CN" b="0" i="0" u="none" strike="noStrike" dirty="0">
                <a:solidFill>
                  <a:srgbClr val="0645AD"/>
                </a:solidFill>
                <a:effectLst/>
                <a:latin typeface="Arial" panose="020B0604020202020204" pitchFamily="34" charset="0"/>
                <a:hlinkClick r:id="rId3" tooltip="Lineweaver–Burk plot"/>
              </a:rPr>
              <a:t>Lineweaver–Burk plot</a:t>
            </a:r>
            <a:r>
              <a:rPr lang="en-US" altLang="zh-CN" b="0" i="0" dirty="0">
                <a:solidFill>
                  <a:srgbClr val="202122"/>
                </a:solidFill>
                <a:effectLst/>
                <a:latin typeface="Arial" panose="020B0604020202020204" pitchFamily="34" charset="0"/>
              </a:rPr>
              <a:t> yields parallel rather than intersecting lines. </a:t>
            </a:r>
            <a:r>
              <a:rPr lang="en-US" altLang="zh-CN" b="1" i="0" dirty="0">
                <a:solidFill>
                  <a:srgbClr val="202122"/>
                </a:solidFill>
                <a:effectLst/>
                <a:latin typeface="Arial" panose="020B0604020202020204" pitchFamily="34" charset="0"/>
              </a:rPr>
              <a:t>This behavior is found in the inhibition of </a:t>
            </a:r>
            <a:r>
              <a:rPr lang="en-US" altLang="zh-CN" b="1" i="0" u="none" strike="noStrike" dirty="0">
                <a:solidFill>
                  <a:srgbClr val="0645AD"/>
                </a:solidFill>
                <a:effectLst/>
                <a:latin typeface="Arial" panose="020B0604020202020204" pitchFamily="34" charset="0"/>
                <a:hlinkClick r:id="rId4" tooltip="Acetylcholinesterase"/>
              </a:rPr>
              <a:t>acetylcholinesterase</a:t>
            </a:r>
            <a:r>
              <a:rPr lang="en-US" altLang="zh-CN" b="1" i="0" dirty="0">
                <a:solidFill>
                  <a:srgbClr val="202122"/>
                </a:solidFill>
                <a:effectLst/>
                <a:latin typeface="Arial" panose="020B0604020202020204" pitchFamily="34" charset="0"/>
              </a:rPr>
              <a:t> by tertiary amines (R</a:t>
            </a:r>
            <a:r>
              <a:rPr lang="en-US" altLang="zh-CN" b="1" i="0" baseline="-25000" dirty="0">
                <a:solidFill>
                  <a:srgbClr val="202122"/>
                </a:solidFill>
                <a:effectLst/>
                <a:latin typeface="Arial" panose="020B0604020202020204" pitchFamily="34" charset="0"/>
              </a:rPr>
              <a:t>3</a:t>
            </a:r>
            <a:r>
              <a:rPr lang="en-US" altLang="zh-CN" b="1" i="0" dirty="0">
                <a:solidFill>
                  <a:srgbClr val="202122"/>
                </a:solidFill>
                <a:effectLst/>
                <a:latin typeface="Arial" panose="020B0604020202020204" pitchFamily="34" charset="0"/>
              </a:rPr>
              <a:t>N). </a:t>
            </a:r>
            <a:r>
              <a:rPr lang="en-US" altLang="zh-CN" b="0" i="0" dirty="0">
                <a:solidFill>
                  <a:srgbClr val="202122"/>
                </a:solidFill>
                <a:effectLst/>
                <a:latin typeface="Arial" panose="020B0604020202020204" pitchFamily="34" charset="0"/>
              </a:rPr>
              <a:t>Such compounds bind to the enzyme in its various forms, but the acyl-intermediate-amine complex cannot break down into enzyme plus product.</a:t>
            </a:r>
          </a:p>
          <a:p>
            <a:pPr eaLnBrk="1" hangingPunct="1"/>
            <a:endParaRPr lang="en-US" altLang="zh-CN" b="0" i="0" dirty="0">
              <a:solidFill>
                <a:srgbClr val="202122"/>
              </a:solidFill>
              <a:effectLst/>
              <a:latin typeface="Arial" panose="020B0604020202020204" pitchFamily="34" charset="0"/>
            </a:endParaRPr>
          </a:p>
          <a:p>
            <a:pPr eaLnBrk="1" hangingPunct="1"/>
            <a:r>
              <a:rPr lang="zh-CN" altLang="en-US" dirty="0"/>
              <a:t>反竞争性抑制少见。  苯丙氨酸对胎盘型碱性磷酸酶的抑制属于反竞争性抑制</a:t>
            </a:r>
            <a:endParaRPr lang="zh-CN" altLang="zh-CN"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幻灯片图像占位符 1">
            <a:extLst>
              <a:ext uri="{FF2B5EF4-FFF2-40B4-BE49-F238E27FC236}">
                <a16:creationId xmlns:a16="http://schemas.microsoft.com/office/drawing/2014/main" id="{197AF00D-FBD2-4005-940E-43A200FD671F}"/>
              </a:ext>
            </a:extLst>
          </p:cNvPr>
          <p:cNvSpPr>
            <a:spLocks noGrp="1" noRot="1" noChangeAspect="1" noChangeArrowheads="1" noTextEdit="1"/>
          </p:cNvSpPr>
          <p:nvPr>
            <p:ph type="sldImg"/>
          </p:nvPr>
        </p:nvSpPr>
        <p:spPr>
          <a:xfrm>
            <a:off x="381000" y="685800"/>
            <a:ext cx="6096000" cy="3429000"/>
          </a:xfrm>
          <a:ln/>
        </p:spPr>
      </p:sp>
      <p:sp>
        <p:nvSpPr>
          <p:cNvPr id="313347" name="备注占位符 2">
            <a:extLst>
              <a:ext uri="{FF2B5EF4-FFF2-40B4-BE49-F238E27FC236}">
                <a16:creationId xmlns:a16="http://schemas.microsoft.com/office/drawing/2014/main" id="{25EC6597-E2F6-47FE-BFCF-8ED8CB5126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混合性抑制是介于竞争性抑制和反竞争性抑制之间的抑制，即抑制剂既可以和游离的酶结合，也可以和酶</a:t>
            </a:r>
            <a:r>
              <a:rPr lang="en-US" altLang="zh-CN" dirty="0"/>
              <a:t>-</a:t>
            </a:r>
            <a:r>
              <a:rPr lang="zh-CN" altLang="en-US" dirty="0"/>
              <a:t>底物复合物结合。</a:t>
            </a:r>
            <a:endParaRPr lang="en-US" altLang="zh-CN" dirty="0"/>
          </a:p>
          <a:p>
            <a:endParaRPr lang="en-US" altLang="zh-CN" dirty="0"/>
          </a:p>
          <a:p>
            <a:r>
              <a:rPr lang="zh-CN" altLang="en-US" b="1" dirty="0"/>
              <a:t>非竞争性抑制是混合型抑制的一种特例， 意味着抑制剂不与底物竞争与酶的结合</a:t>
            </a:r>
            <a:r>
              <a:rPr lang="zh-CN" altLang="en-US" dirty="0"/>
              <a:t>（一方面，抑制剂与</a:t>
            </a:r>
            <a:r>
              <a:rPr lang="en-US" altLang="zh-CN" dirty="0"/>
              <a:t>E</a:t>
            </a:r>
            <a:r>
              <a:rPr lang="zh-CN" altLang="en-US" dirty="0"/>
              <a:t>的结合会影响</a:t>
            </a:r>
            <a:r>
              <a:rPr lang="en-US" altLang="zh-CN" dirty="0"/>
              <a:t>ES</a:t>
            </a:r>
            <a:r>
              <a:rPr lang="zh-CN" altLang="en-US" dirty="0"/>
              <a:t>的生成，促进</a:t>
            </a:r>
            <a:r>
              <a:rPr lang="en-US" altLang="zh-CN" dirty="0"/>
              <a:t>ES</a:t>
            </a:r>
            <a:r>
              <a:rPr lang="zh-CN" altLang="en-US" dirty="0"/>
              <a:t>的解离，另一方面，抑制剂与</a:t>
            </a:r>
            <a:r>
              <a:rPr lang="en-US" altLang="zh-CN" dirty="0"/>
              <a:t>ES</a:t>
            </a:r>
            <a:r>
              <a:rPr lang="zh-CN" altLang="en-US" dirty="0"/>
              <a:t>的结合又促进</a:t>
            </a:r>
            <a:r>
              <a:rPr lang="en-US" altLang="zh-CN" dirty="0"/>
              <a:t>ES</a:t>
            </a:r>
            <a:r>
              <a:rPr lang="zh-CN" altLang="en-US" dirty="0"/>
              <a:t>的生成， 这两种作用相同时，相当于既不促进</a:t>
            </a:r>
            <a:r>
              <a:rPr lang="en-US" altLang="zh-CN" dirty="0"/>
              <a:t>ES</a:t>
            </a:r>
            <a:r>
              <a:rPr lang="zh-CN" altLang="en-US" dirty="0"/>
              <a:t>的生成，也不抑制</a:t>
            </a:r>
            <a:r>
              <a:rPr lang="en-US" altLang="zh-CN" dirty="0"/>
              <a:t>ES</a:t>
            </a:r>
            <a:r>
              <a:rPr lang="zh-CN" altLang="en-US" dirty="0"/>
              <a:t>的生成，即不影响酶与底物的结合）</a:t>
            </a:r>
            <a:endParaRPr lang="en-US" altLang="zh-CN" dirty="0"/>
          </a:p>
          <a:p>
            <a:endParaRPr lang="en-US" altLang="zh-CN" dirty="0"/>
          </a:p>
          <a:p>
            <a:r>
              <a:rPr lang="zh-CN" altLang="en-US" dirty="0"/>
              <a:t>混合型抑制剂如果与游离酶的亲合力更高，则抑制效果类似竞争性抑制作用，除了</a:t>
            </a:r>
            <a:r>
              <a:rPr lang="en-US" altLang="zh-CN" dirty="0"/>
              <a:t>Vmax</a:t>
            </a:r>
            <a:r>
              <a:rPr lang="zh-CN" altLang="en-US" dirty="0"/>
              <a:t>降低，表观</a:t>
            </a:r>
            <a:r>
              <a:rPr lang="en-US" altLang="zh-CN" dirty="0"/>
              <a:t>Km</a:t>
            </a:r>
            <a:r>
              <a:rPr lang="zh-CN" altLang="en-US" dirty="0"/>
              <a:t>会增大，</a:t>
            </a:r>
            <a:endParaRPr lang="en-US" altLang="zh-CN" dirty="0"/>
          </a:p>
          <a:p>
            <a:r>
              <a:rPr lang="zh-CN" altLang="en-US" dirty="0"/>
              <a:t>混合型抑制剂如果与酶底物复合物的亲合力更高， 则抑制效果类似反竞争性抑制作用，除了</a:t>
            </a:r>
            <a:r>
              <a:rPr lang="en-US" altLang="zh-CN" dirty="0"/>
              <a:t>Vmax</a:t>
            </a:r>
            <a:r>
              <a:rPr lang="zh-CN" altLang="en-US" dirty="0"/>
              <a:t>降低，表观</a:t>
            </a:r>
            <a:r>
              <a:rPr lang="en-US" altLang="zh-CN" dirty="0"/>
              <a:t>Km</a:t>
            </a:r>
            <a:r>
              <a:rPr lang="zh-CN" altLang="en-US" dirty="0"/>
              <a:t>也会降低。</a:t>
            </a:r>
            <a:endParaRPr lang="en-US" altLang="zh-CN" dirty="0"/>
          </a:p>
          <a:p>
            <a:endParaRPr lang="en-US" altLang="zh-CN" dirty="0"/>
          </a:p>
          <a:p>
            <a:r>
              <a:rPr lang="en-US" altLang="zh-CN" dirty="0" err="1"/>
              <a:t>Lehninger</a:t>
            </a:r>
            <a:r>
              <a:rPr lang="en-US" altLang="zh-CN" dirty="0"/>
              <a:t> Principles of Biochemistry</a:t>
            </a:r>
            <a:r>
              <a:rPr lang="zh-CN" altLang="en-US" dirty="0"/>
              <a:t> 将可逆性抑制分为竞争性、反竞争性与混合性三类。 </a:t>
            </a:r>
            <a:endParaRPr lang="en-US" altLang="zh-CN" dirty="0"/>
          </a:p>
        </p:txBody>
      </p:sp>
      <p:sp>
        <p:nvSpPr>
          <p:cNvPr id="313348" name="灯片编号占位符 3">
            <a:extLst>
              <a:ext uri="{FF2B5EF4-FFF2-40B4-BE49-F238E27FC236}">
                <a16:creationId xmlns:a16="http://schemas.microsoft.com/office/drawing/2014/main" id="{5E93653C-8677-4443-A9D0-C3A4F1E4F5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61942C7-0D3A-41EB-A63F-B3130EF0EF2E}" type="slidenum">
              <a:rPr lang="en-US" altLang="zh-CN" smtClean="0">
                <a:latin typeface="Arial" panose="020B0604020202020204" pitchFamily="34" charset="0"/>
              </a:rPr>
              <a:pPr/>
              <a:t>133</a:t>
            </a:fld>
            <a:endParaRPr lang="en-US" altLang="zh-CN">
              <a:latin typeface="Arial" panose="020B0604020202020204" pitchFamily="34" charset="0"/>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a:extLst>
              <a:ext uri="{FF2B5EF4-FFF2-40B4-BE49-F238E27FC236}">
                <a16:creationId xmlns:a16="http://schemas.microsoft.com/office/drawing/2014/main" id="{DB36E76C-66C3-4793-A48D-7BE611695E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9A00E73-13B1-4309-AB4A-CEBE34A138B1}" type="slidenum">
              <a:rPr lang="en-US" altLang="zh-CN" smtClean="0">
                <a:latin typeface="Arial" panose="020B0604020202020204" pitchFamily="34" charset="0"/>
              </a:rPr>
              <a:pPr/>
              <a:t>134</a:t>
            </a:fld>
            <a:endParaRPr lang="en-US" altLang="zh-CN">
              <a:latin typeface="Arial" panose="020B0604020202020204" pitchFamily="34" charset="0"/>
            </a:endParaRPr>
          </a:p>
        </p:txBody>
      </p:sp>
      <p:sp>
        <p:nvSpPr>
          <p:cNvPr id="315395" name="Rectangle 2">
            <a:extLst>
              <a:ext uri="{FF2B5EF4-FFF2-40B4-BE49-F238E27FC236}">
                <a16:creationId xmlns:a16="http://schemas.microsoft.com/office/drawing/2014/main" id="{934B838D-D079-40EF-B02E-C682131EB1C7}"/>
              </a:ext>
            </a:extLst>
          </p:cNvPr>
          <p:cNvSpPr>
            <a:spLocks noGrp="1" noRot="1" noChangeAspect="1" noChangeArrowheads="1" noTextEdit="1"/>
          </p:cNvSpPr>
          <p:nvPr>
            <p:ph type="sldImg"/>
          </p:nvPr>
        </p:nvSpPr>
        <p:spPr>
          <a:xfrm>
            <a:off x="381000" y="685800"/>
            <a:ext cx="6096000" cy="3429000"/>
          </a:xfrm>
          <a:ln/>
        </p:spPr>
      </p:sp>
      <p:sp>
        <p:nvSpPr>
          <p:cNvPr id="315396" name="Rectangle 3">
            <a:extLst>
              <a:ext uri="{FF2B5EF4-FFF2-40B4-BE49-F238E27FC236}">
                <a16:creationId xmlns:a16="http://schemas.microsoft.com/office/drawing/2014/main" id="{BB02FF56-B464-4E05-8769-3F4D68C4CCF5}"/>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幻灯片图像占位符 1">
            <a:extLst>
              <a:ext uri="{FF2B5EF4-FFF2-40B4-BE49-F238E27FC236}">
                <a16:creationId xmlns:a16="http://schemas.microsoft.com/office/drawing/2014/main" id="{1F821FC7-D67A-4C9A-9EBB-FACE75347F09}"/>
              </a:ext>
            </a:extLst>
          </p:cNvPr>
          <p:cNvSpPr>
            <a:spLocks noGrp="1" noRot="1" noChangeAspect="1" noChangeArrowheads="1" noTextEdit="1"/>
          </p:cNvSpPr>
          <p:nvPr>
            <p:ph type="sldImg"/>
          </p:nvPr>
        </p:nvSpPr>
        <p:spPr>
          <a:xfrm>
            <a:off x="381000" y="685800"/>
            <a:ext cx="6096000" cy="3429000"/>
          </a:xfrm>
          <a:ln/>
        </p:spPr>
      </p:sp>
      <p:sp>
        <p:nvSpPr>
          <p:cNvPr id="319491" name="备注占位符 2">
            <a:extLst>
              <a:ext uri="{FF2B5EF4-FFF2-40B4-BE49-F238E27FC236}">
                <a16:creationId xmlns:a16="http://schemas.microsoft.com/office/drawing/2014/main" id="{580CA738-94DE-4A90-9309-12771A297B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a:p>
            <a:endParaRPr lang="en-US" altLang="zh-CN" dirty="0"/>
          </a:p>
        </p:txBody>
      </p:sp>
      <p:sp>
        <p:nvSpPr>
          <p:cNvPr id="319492" name="灯片编号占位符 3">
            <a:extLst>
              <a:ext uri="{FF2B5EF4-FFF2-40B4-BE49-F238E27FC236}">
                <a16:creationId xmlns:a16="http://schemas.microsoft.com/office/drawing/2014/main" id="{740E5D99-EE60-48F3-8CF4-D2B99C8B4F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0D95DE6-0191-47D2-BED4-4DA05A5446FD}" type="slidenum">
              <a:rPr lang="en-US" altLang="zh-CN" smtClean="0">
                <a:latin typeface="Arial" panose="020B0604020202020204" pitchFamily="34" charset="0"/>
              </a:rPr>
              <a:pPr/>
              <a:t>135</a:t>
            </a:fld>
            <a:endParaRPr lang="en-US" altLang="zh-CN">
              <a:latin typeface="Arial" panose="020B0604020202020204" pitchFamily="34" charset="0"/>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幻灯片图像占位符 1">
            <a:extLst>
              <a:ext uri="{FF2B5EF4-FFF2-40B4-BE49-F238E27FC236}">
                <a16:creationId xmlns:a16="http://schemas.microsoft.com/office/drawing/2014/main" id="{9ED0E8E0-1B26-4A57-8D6D-8F8931E3496E}"/>
              </a:ext>
            </a:extLst>
          </p:cNvPr>
          <p:cNvSpPr>
            <a:spLocks noGrp="1" noRot="1" noChangeAspect="1" noChangeArrowheads="1" noTextEdit="1"/>
          </p:cNvSpPr>
          <p:nvPr>
            <p:ph type="sldImg"/>
          </p:nvPr>
        </p:nvSpPr>
        <p:spPr>
          <a:xfrm>
            <a:off x="381000" y="685800"/>
            <a:ext cx="6096000" cy="3429000"/>
          </a:xfrm>
          <a:ln/>
        </p:spPr>
      </p:sp>
      <p:sp>
        <p:nvSpPr>
          <p:cNvPr id="321539" name="备注占位符 2">
            <a:extLst>
              <a:ext uri="{FF2B5EF4-FFF2-40B4-BE49-F238E27FC236}">
                <a16:creationId xmlns:a16="http://schemas.microsoft.com/office/drawing/2014/main" id="{0D4623A6-686E-442C-B3B6-1C1F0E3DB5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1540" name="灯片编号占位符 3">
            <a:extLst>
              <a:ext uri="{FF2B5EF4-FFF2-40B4-BE49-F238E27FC236}">
                <a16:creationId xmlns:a16="http://schemas.microsoft.com/office/drawing/2014/main" id="{4DB44786-7E8D-407A-AA68-DAFB011067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EB7BBEC-EC0F-439E-A20B-FCD2EFE22CA5}" type="slidenum">
              <a:rPr lang="en-US" altLang="zh-CN" smtClean="0">
                <a:latin typeface="Arial" panose="020B0604020202020204" pitchFamily="34" charset="0"/>
              </a:rPr>
              <a:pPr/>
              <a:t>136</a:t>
            </a:fld>
            <a:endParaRPr lang="en-US" altLang="zh-CN">
              <a:latin typeface="Arial" panose="020B0604020202020204" pitchFamily="34" charset="0"/>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a:extLst>
              <a:ext uri="{FF2B5EF4-FFF2-40B4-BE49-F238E27FC236}">
                <a16:creationId xmlns:a16="http://schemas.microsoft.com/office/drawing/2014/main" id="{89D48201-0C5B-4DAB-8623-AEFD6AFD56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658077A-5BFB-4C16-BA26-5616C1ED0033}" type="slidenum">
              <a:rPr lang="en-US" altLang="zh-CN" smtClean="0">
                <a:latin typeface="Arial" panose="020B0604020202020204" pitchFamily="34" charset="0"/>
              </a:rPr>
              <a:pPr/>
              <a:t>137</a:t>
            </a:fld>
            <a:endParaRPr lang="en-US" altLang="zh-CN">
              <a:latin typeface="Arial" panose="020B0604020202020204" pitchFamily="34" charset="0"/>
            </a:endParaRPr>
          </a:p>
        </p:txBody>
      </p:sp>
      <p:sp>
        <p:nvSpPr>
          <p:cNvPr id="323587" name="Rectangle 2">
            <a:extLst>
              <a:ext uri="{FF2B5EF4-FFF2-40B4-BE49-F238E27FC236}">
                <a16:creationId xmlns:a16="http://schemas.microsoft.com/office/drawing/2014/main" id="{1CC63C8F-4797-448B-8DC7-3BB8E7554E44}"/>
              </a:ext>
            </a:extLst>
          </p:cNvPr>
          <p:cNvSpPr>
            <a:spLocks noGrp="1" noRot="1" noChangeAspect="1" noChangeArrowheads="1" noTextEdit="1"/>
          </p:cNvSpPr>
          <p:nvPr>
            <p:ph type="sldImg"/>
          </p:nvPr>
        </p:nvSpPr>
        <p:spPr>
          <a:xfrm>
            <a:off x="381000" y="685800"/>
            <a:ext cx="6096000" cy="3429000"/>
          </a:xfrm>
          <a:ln/>
        </p:spPr>
      </p:sp>
      <p:sp>
        <p:nvSpPr>
          <p:cNvPr id="323588" name="Rectangle 3">
            <a:extLst>
              <a:ext uri="{FF2B5EF4-FFF2-40B4-BE49-F238E27FC236}">
                <a16:creationId xmlns:a16="http://schemas.microsoft.com/office/drawing/2014/main" id="{790EDF50-711B-46A8-A4A0-940299F1284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答案</a:t>
            </a:r>
            <a:r>
              <a:rPr lang="en-US" altLang="zh-CN"/>
              <a:t>D</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a:extLst>
              <a:ext uri="{FF2B5EF4-FFF2-40B4-BE49-F238E27FC236}">
                <a16:creationId xmlns:a16="http://schemas.microsoft.com/office/drawing/2014/main" id="{7580F306-92D2-4012-99D9-133482E458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1B5D755-0EE5-41CB-94C4-7199BB6DB040}" type="slidenum">
              <a:rPr lang="en-US" altLang="zh-CN" smtClean="0">
                <a:latin typeface="Arial" panose="020B0604020202020204" pitchFamily="34" charset="0"/>
              </a:rPr>
              <a:pPr/>
              <a:t>138</a:t>
            </a:fld>
            <a:endParaRPr lang="en-US" altLang="zh-CN">
              <a:latin typeface="Arial" panose="020B0604020202020204" pitchFamily="34" charset="0"/>
            </a:endParaRPr>
          </a:p>
        </p:txBody>
      </p:sp>
      <p:sp>
        <p:nvSpPr>
          <p:cNvPr id="325635" name="Rectangle 2">
            <a:extLst>
              <a:ext uri="{FF2B5EF4-FFF2-40B4-BE49-F238E27FC236}">
                <a16:creationId xmlns:a16="http://schemas.microsoft.com/office/drawing/2014/main" id="{1606F790-BC8A-45A4-B47E-34F03FF9CC36}"/>
              </a:ext>
            </a:extLst>
          </p:cNvPr>
          <p:cNvSpPr>
            <a:spLocks noGrp="1" noRot="1" noChangeAspect="1" noChangeArrowheads="1" noTextEdit="1"/>
          </p:cNvSpPr>
          <p:nvPr>
            <p:ph type="sldImg"/>
          </p:nvPr>
        </p:nvSpPr>
        <p:spPr>
          <a:xfrm>
            <a:off x="381000" y="685800"/>
            <a:ext cx="6096000" cy="3429000"/>
          </a:xfrm>
          <a:ln/>
        </p:spPr>
      </p:sp>
      <p:sp>
        <p:nvSpPr>
          <p:cNvPr id="325636" name="Rectangle 3">
            <a:extLst>
              <a:ext uri="{FF2B5EF4-FFF2-40B4-BE49-F238E27FC236}">
                <a16:creationId xmlns:a16="http://schemas.microsoft.com/office/drawing/2014/main" id="{B9DD36FA-3E9E-461D-8DB1-0B5AB606CAC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关于别构酶激活剂的作用放在“酶的调节”这一节，涉及别构酶的动力学。 </a:t>
            </a:r>
            <a:endParaRPr lang="en-US" altLang="zh-CN" dirty="0"/>
          </a:p>
          <a:p>
            <a:pPr eaLnBrk="1" hangingPunct="1"/>
            <a:endParaRPr lang="en-US" altLang="zh-CN" dirty="0"/>
          </a:p>
          <a:p>
            <a:pPr eaLnBrk="1" hangingPunct="1"/>
            <a:endParaRPr lang="en-US" altLang="zh-CN"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幻灯片图像占位符 1">
            <a:extLst>
              <a:ext uri="{FF2B5EF4-FFF2-40B4-BE49-F238E27FC236}">
                <a16:creationId xmlns:a16="http://schemas.microsoft.com/office/drawing/2014/main" id="{5A94EF31-D084-4A53-95B3-843FE6C37C65}"/>
              </a:ext>
            </a:extLst>
          </p:cNvPr>
          <p:cNvSpPr>
            <a:spLocks noGrp="1" noRot="1" noChangeAspect="1" noChangeArrowheads="1" noTextEdit="1"/>
          </p:cNvSpPr>
          <p:nvPr>
            <p:ph type="sldImg"/>
          </p:nvPr>
        </p:nvSpPr>
        <p:spPr>
          <a:xfrm>
            <a:off x="381000" y="685800"/>
            <a:ext cx="6096000" cy="3429000"/>
          </a:xfrm>
          <a:ln/>
        </p:spPr>
      </p:sp>
      <p:sp>
        <p:nvSpPr>
          <p:cNvPr id="327683" name="备注占位符 2">
            <a:extLst>
              <a:ext uri="{FF2B5EF4-FFF2-40B4-BE49-F238E27FC236}">
                <a16:creationId xmlns:a16="http://schemas.microsoft.com/office/drawing/2014/main" id="{0626F6A4-1CBA-497E-B7E1-373502CC1D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记住这</a:t>
            </a:r>
            <a:r>
              <a:rPr lang="en-US" altLang="zh-CN" dirty="0"/>
              <a:t>6</a:t>
            </a:r>
            <a:r>
              <a:rPr lang="zh-CN" altLang="en-US" dirty="0"/>
              <a:t>个因素及其具体影响 </a:t>
            </a:r>
          </a:p>
        </p:txBody>
      </p:sp>
      <p:sp>
        <p:nvSpPr>
          <p:cNvPr id="327684" name="灯片编号占位符 3">
            <a:extLst>
              <a:ext uri="{FF2B5EF4-FFF2-40B4-BE49-F238E27FC236}">
                <a16:creationId xmlns:a16="http://schemas.microsoft.com/office/drawing/2014/main" id="{446F5EB8-3BD9-48A0-ACA8-8AC7ADC28F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96D7204-4250-44D1-B90C-8D7215C41C6D}" type="slidenum">
              <a:rPr lang="en-US" altLang="zh-CN" smtClean="0">
                <a:latin typeface="Arial" panose="020B0604020202020204" pitchFamily="34" charset="0"/>
              </a:rPr>
              <a:pPr/>
              <a:t>139</a:t>
            </a:fld>
            <a:endParaRPr lang="en-US" altLang="zh-CN">
              <a:latin typeface="Arial" panose="020B0604020202020204" pitchFamily="34" charset="0"/>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a:extLst>
              <a:ext uri="{FF2B5EF4-FFF2-40B4-BE49-F238E27FC236}">
                <a16:creationId xmlns:a16="http://schemas.microsoft.com/office/drawing/2014/main" id="{C59BEF88-4FFC-46DA-84D9-BCC7FC2DA1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4C8BAB9-4071-4676-86A6-26A765F45E75}" type="slidenum">
              <a:rPr lang="en-US" altLang="zh-CN" smtClean="0">
                <a:latin typeface="Arial" panose="020B0604020202020204" pitchFamily="34" charset="0"/>
              </a:rPr>
              <a:pPr/>
              <a:t>140</a:t>
            </a:fld>
            <a:endParaRPr lang="en-US" altLang="zh-CN">
              <a:latin typeface="Arial" panose="020B0604020202020204" pitchFamily="34" charset="0"/>
            </a:endParaRPr>
          </a:p>
        </p:txBody>
      </p:sp>
      <p:sp>
        <p:nvSpPr>
          <p:cNvPr id="329731" name="Rectangle 2">
            <a:extLst>
              <a:ext uri="{FF2B5EF4-FFF2-40B4-BE49-F238E27FC236}">
                <a16:creationId xmlns:a16="http://schemas.microsoft.com/office/drawing/2014/main" id="{389E31EB-9928-4A5D-829A-1C6167E778C4}"/>
              </a:ext>
            </a:extLst>
          </p:cNvPr>
          <p:cNvSpPr>
            <a:spLocks noGrp="1" noRot="1" noChangeAspect="1" noChangeArrowheads="1" noTextEdit="1"/>
          </p:cNvSpPr>
          <p:nvPr>
            <p:ph type="sldImg"/>
          </p:nvPr>
        </p:nvSpPr>
        <p:spPr>
          <a:xfrm>
            <a:off x="381000" y="685800"/>
            <a:ext cx="6096000" cy="3429000"/>
          </a:xfrm>
          <a:ln/>
        </p:spPr>
      </p:sp>
      <p:sp>
        <p:nvSpPr>
          <p:cNvPr id="329732" name="Rectangle 3">
            <a:extLst>
              <a:ext uri="{FF2B5EF4-FFF2-40B4-BE49-F238E27FC236}">
                <a16:creationId xmlns:a16="http://schemas.microsoft.com/office/drawing/2014/main" id="{48D74EBA-D979-4EAA-933C-E263F6A2F81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pPr>
            <a:r>
              <a:rPr lang="zh-CN" altLang="en-US" sz="1200" b="0" dirty="0">
                <a:latin typeface="微软雅黑" panose="020B0503020204020204" pitchFamily="34" charset="-122"/>
                <a:ea typeface="微软雅黑" panose="020B0503020204020204" pitchFamily="34" charset="-122"/>
              </a:rPr>
              <a:t>在细胞里，大多数蛋白质和酶不需要持续或全速起作用， 它们的活性以一种协调的方式被调控， 通过</a:t>
            </a:r>
            <a:r>
              <a:rPr lang="zh-CN" altLang="en-US" sz="1200" b="0" dirty="0">
                <a:solidFill>
                  <a:srgbClr val="0000CC"/>
                </a:solidFill>
                <a:latin typeface="微软雅黑" panose="020B0503020204020204" pitchFamily="34" charset="-122"/>
                <a:ea typeface="微软雅黑" panose="020B0503020204020204" pitchFamily="34" charset="-122"/>
              </a:rPr>
              <a:t>调整蛋白质在适当的时候恰如其分地发挥作用，细胞才能确保自身不会耗尽能量，也不会积累不需要的分子或者浪费重要的底物储备</a:t>
            </a:r>
            <a:r>
              <a:rPr lang="zh-CN" altLang="en-US" sz="1200" b="0" dirty="0">
                <a:latin typeface="微软雅黑" panose="020B0503020204020204" pitchFamily="34" charset="-122"/>
                <a:ea typeface="微软雅黑" panose="020B0503020204020204" pitchFamily="34" charset="-122"/>
              </a:rPr>
              <a:t>。 </a:t>
            </a:r>
            <a:endParaRPr lang="en-US" altLang="zh-CN" sz="1200" b="0" dirty="0">
              <a:latin typeface="微软雅黑" panose="020B0503020204020204" pitchFamily="34" charset="-122"/>
              <a:ea typeface="微软雅黑" panose="020B0503020204020204" pitchFamily="34" charset="-122"/>
            </a:endParaRPr>
          </a:p>
          <a:p>
            <a:pPr>
              <a:lnSpc>
                <a:spcPct val="150000"/>
              </a:lnSpc>
            </a:pPr>
            <a:r>
              <a:rPr lang="zh-CN" altLang="en-US" sz="1200" b="0" dirty="0">
                <a:solidFill>
                  <a:srgbClr val="C00000"/>
                </a:solidFill>
                <a:latin typeface="微软雅黑" panose="020B0503020204020204" pitchFamily="34" charset="-122"/>
                <a:ea typeface="微软雅黑" panose="020B0503020204020204" pitchFamily="34" charset="-122"/>
              </a:rPr>
              <a:t>对酶活性的精细调节使得细胞能够维持在一个最佳状态，仅仅产生那些在当前条件下需要的小分子。 </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a:extLst>
              <a:ext uri="{FF2B5EF4-FFF2-40B4-BE49-F238E27FC236}">
                <a16:creationId xmlns:a16="http://schemas.microsoft.com/office/drawing/2014/main" id="{5053C095-BB53-44EC-AA22-26DE7A1334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3749374-7ADC-4F71-80D3-FA9CE1669533}" type="slidenum">
              <a:rPr lang="en-US" altLang="zh-CN" smtClean="0">
                <a:latin typeface="Arial" panose="020B0604020202020204" pitchFamily="34" charset="0"/>
              </a:rPr>
              <a:pPr/>
              <a:t>141</a:t>
            </a:fld>
            <a:endParaRPr lang="en-US" altLang="zh-CN">
              <a:latin typeface="Arial" panose="020B0604020202020204" pitchFamily="34" charset="0"/>
            </a:endParaRPr>
          </a:p>
        </p:txBody>
      </p:sp>
      <p:sp>
        <p:nvSpPr>
          <p:cNvPr id="331779" name="Rectangle 2">
            <a:extLst>
              <a:ext uri="{FF2B5EF4-FFF2-40B4-BE49-F238E27FC236}">
                <a16:creationId xmlns:a16="http://schemas.microsoft.com/office/drawing/2014/main" id="{427FECE6-6A57-4446-AE22-6913CF1C0F31}"/>
              </a:ext>
            </a:extLst>
          </p:cNvPr>
          <p:cNvSpPr>
            <a:spLocks noGrp="1" noRot="1" noChangeAspect="1" noChangeArrowheads="1" noTextEdit="1"/>
          </p:cNvSpPr>
          <p:nvPr>
            <p:ph type="sldImg"/>
          </p:nvPr>
        </p:nvSpPr>
        <p:spPr>
          <a:xfrm>
            <a:off x="381000" y="685800"/>
            <a:ext cx="6096000" cy="3429000"/>
          </a:xfrm>
          <a:ln/>
        </p:spPr>
      </p:sp>
      <p:sp>
        <p:nvSpPr>
          <p:cNvPr id="331780" name="Rectangle 3">
            <a:extLst>
              <a:ext uri="{FF2B5EF4-FFF2-40B4-BE49-F238E27FC236}">
                <a16:creationId xmlns:a16="http://schemas.microsoft.com/office/drawing/2014/main" id="{EE289DD1-AA24-4873-820B-30291DFBB0F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000" dirty="0"/>
              <a:t>调节某些关键酶的活性是细胞代谢调节（有多个层次，参见第十二章 代谢的整合与调节）的一种重要方式。</a:t>
            </a:r>
          </a:p>
          <a:p>
            <a:pPr eaLnBrk="1" hangingPunct="1"/>
            <a:endParaRPr lang="en-US" altLang="zh-CN" sz="1000"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a:extLst>
              <a:ext uri="{FF2B5EF4-FFF2-40B4-BE49-F238E27FC236}">
                <a16:creationId xmlns:a16="http://schemas.microsoft.com/office/drawing/2014/main" id="{8FA1486E-E777-4482-933F-249DA8F34F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C3E6C1B-B373-42D5-B6DA-2B0DEDF8BD5D}" type="slidenum">
              <a:rPr lang="en-US" altLang="zh-CN" smtClean="0">
                <a:latin typeface="Arial" panose="020B0604020202020204" pitchFamily="34" charset="0"/>
              </a:rPr>
              <a:pPr/>
              <a:t>142</a:t>
            </a:fld>
            <a:endParaRPr lang="en-US" altLang="zh-CN">
              <a:latin typeface="Arial" panose="020B0604020202020204" pitchFamily="34" charset="0"/>
            </a:endParaRPr>
          </a:p>
        </p:txBody>
      </p:sp>
      <p:sp>
        <p:nvSpPr>
          <p:cNvPr id="333827" name="Rectangle 2">
            <a:extLst>
              <a:ext uri="{FF2B5EF4-FFF2-40B4-BE49-F238E27FC236}">
                <a16:creationId xmlns:a16="http://schemas.microsoft.com/office/drawing/2014/main" id="{DFCB0E50-AEF8-4C39-90D8-AF5079ED4038}"/>
              </a:ext>
            </a:extLst>
          </p:cNvPr>
          <p:cNvSpPr>
            <a:spLocks noGrp="1" noRot="1" noChangeAspect="1" noChangeArrowheads="1" noTextEdit="1"/>
          </p:cNvSpPr>
          <p:nvPr>
            <p:ph type="sldImg"/>
          </p:nvPr>
        </p:nvSpPr>
        <p:spPr>
          <a:xfrm>
            <a:off x="381000" y="685800"/>
            <a:ext cx="6096000" cy="3429000"/>
          </a:xfrm>
          <a:ln/>
        </p:spPr>
      </p:sp>
      <p:sp>
        <p:nvSpPr>
          <p:cNvPr id="333828" name="Rectangle 3">
            <a:extLst>
              <a:ext uri="{FF2B5EF4-FFF2-40B4-BE49-F238E27FC236}">
                <a16:creationId xmlns:a16="http://schemas.microsoft.com/office/drawing/2014/main" id="{15EC4816-B690-4027-AA1A-04E415BFCE4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marR="0" lvl="0" indent="-228600" algn="just" defTabSz="914400" rtl="0" eaLnBrk="1" fontAlgn="base" latinLnBrk="0" hangingPunct="1">
              <a:lnSpc>
                <a:spcPct val="120000"/>
              </a:lnSpc>
              <a:spcBef>
                <a:spcPct val="30000"/>
              </a:spcBef>
              <a:spcAft>
                <a:spcPct val="0"/>
              </a:spcAft>
              <a:buClrTx/>
              <a:buSzTx/>
              <a:buFontTx/>
              <a:buNone/>
              <a:tabLst/>
              <a:defRPr/>
            </a:pPr>
            <a:r>
              <a:rPr lang="zh-CN" altLang="en-US" sz="1200" dirty="0">
                <a:latin typeface="楷体_GB2312" pitchFamily="49" charset="-122"/>
                <a:ea typeface="楷体_GB2312" pitchFamily="49" charset="-122"/>
              </a:rPr>
              <a:t>大多数连续反应的第一步就是限速步骤</a:t>
            </a:r>
          </a:p>
          <a:p>
            <a:pPr marL="228600" indent="-228600" algn="just" eaLnBrk="1" hangingPunct="1">
              <a:lnSpc>
                <a:spcPct val="120000"/>
              </a:lnSpc>
            </a:pPr>
            <a:endParaRPr lang="en-US" altLang="zh-CN" dirty="0">
              <a:solidFill>
                <a:srgbClr val="FFFF00"/>
              </a:solidFill>
              <a:ea typeface="华文楷体" panose="02010600040101010101" pitchFamily="2" charset="-122"/>
            </a:endParaRPr>
          </a:p>
          <a:p>
            <a:pPr marL="228600" indent="-228600" algn="just" eaLnBrk="1" hangingPunct="1">
              <a:lnSpc>
                <a:spcPct val="120000"/>
              </a:lnSpc>
            </a:pPr>
            <a:r>
              <a:rPr lang="zh-CN" altLang="en-US" dirty="0">
                <a:solidFill>
                  <a:srgbClr val="FFFF00"/>
                </a:solidFill>
                <a:ea typeface="华文楷体" panose="02010600040101010101" pitchFamily="2" charset="-122"/>
              </a:rPr>
              <a:t>限速酶</a:t>
            </a:r>
            <a:r>
              <a:rPr lang="en-US" altLang="zh-CN" dirty="0">
                <a:solidFill>
                  <a:srgbClr val="FFFF00"/>
                </a:solidFill>
                <a:ea typeface="华文楷体" panose="02010600040101010101" pitchFamily="2" charset="-122"/>
              </a:rPr>
              <a:t>(limiting velocity enzymes)</a:t>
            </a:r>
            <a:endParaRPr lang="en-US" altLang="zh-CN" sz="1600" dirty="0">
              <a:ea typeface="华文楷体" panose="02010600040101010101" pitchFamily="2" charset="-122"/>
            </a:endParaRPr>
          </a:p>
          <a:p>
            <a:pPr marL="228600" indent="-228600" eaLnBrk="1" hangingPunct="1"/>
            <a:endParaRPr lang="en-US" altLang="zh-CN" sz="1600" dirty="0">
              <a:ea typeface="华文楷体" panose="02010600040101010101" pitchFamily="2" charset="-122"/>
            </a:endParaRPr>
          </a:p>
          <a:p>
            <a:pPr marL="228600" indent="-228600" eaLnBrk="1" hangingPunct="1"/>
            <a:endParaRPr lang="en-US" altLang="zh-CN" sz="1600" b="1" dirty="0">
              <a:latin typeface="楷体_GB2312" pitchFamily="49" charset="-122"/>
              <a:ea typeface="楷体_GB2312" pitchFamily="49" charset="-122"/>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a:extLst>
              <a:ext uri="{FF2B5EF4-FFF2-40B4-BE49-F238E27FC236}">
                <a16:creationId xmlns:a16="http://schemas.microsoft.com/office/drawing/2014/main" id="{C2B5DB1E-5E03-4A98-83CE-0A7DEB4C6C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EF2106C-1632-4B25-B16A-2B588DF61D3E}" type="slidenum">
              <a:rPr lang="en-US" altLang="zh-CN" smtClean="0">
                <a:latin typeface="Arial" panose="020B0604020202020204" pitchFamily="34" charset="0"/>
              </a:rPr>
              <a:pPr/>
              <a:t>143</a:t>
            </a:fld>
            <a:endParaRPr lang="en-US" altLang="zh-CN">
              <a:latin typeface="Arial" panose="020B0604020202020204" pitchFamily="34" charset="0"/>
            </a:endParaRPr>
          </a:p>
        </p:txBody>
      </p:sp>
      <p:sp>
        <p:nvSpPr>
          <p:cNvPr id="335875" name="Rectangle 2">
            <a:extLst>
              <a:ext uri="{FF2B5EF4-FFF2-40B4-BE49-F238E27FC236}">
                <a16:creationId xmlns:a16="http://schemas.microsoft.com/office/drawing/2014/main" id="{54C934B7-2578-4C6C-88BA-D1E990089A92}"/>
              </a:ext>
            </a:extLst>
          </p:cNvPr>
          <p:cNvSpPr>
            <a:spLocks noGrp="1" noRot="1" noChangeAspect="1" noChangeArrowheads="1" noTextEdit="1"/>
          </p:cNvSpPr>
          <p:nvPr>
            <p:ph type="sldImg"/>
          </p:nvPr>
        </p:nvSpPr>
        <p:spPr>
          <a:xfrm>
            <a:off x="381000" y="685800"/>
            <a:ext cx="6096000" cy="3429000"/>
          </a:xfrm>
          <a:ln/>
        </p:spPr>
      </p:sp>
      <p:sp>
        <p:nvSpPr>
          <p:cNvPr id="335876" name="Rectangle 3">
            <a:extLst>
              <a:ext uri="{FF2B5EF4-FFF2-40B4-BE49-F238E27FC236}">
                <a16:creationId xmlns:a16="http://schemas.microsoft.com/office/drawing/2014/main" id="{6079EFEE-4077-4D68-8DE1-B3934759D80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600" dirty="0">
                <a:latin typeface="楷体_GB2312" pitchFamily="49" charset="-122"/>
                <a:ea typeface="楷体_GB2312" pitchFamily="49" charset="-122"/>
              </a:rPr>
              <a:t>除了上述两个层次， 酶在细胞内的区隔分布是另一层次的调控，避免不同代谢路径的相互干扰。  同工酶的存在也是一种调节方式</a:t>
            </a:r>
            <a:endParaRPr lang="en-US" altLang="zh-CN" sz="1600" dirty="0">
              <a:latin typeface="楷体_GB2312" pitchFamily="49" charset="-122"/>
              <a:ea typeface="楷体_GB2312" pitchFamily="49" charset="-122"/>
            </a:endParaRPr>
          </a:p>
          <a:p>
            <a:endParaRPr lang="en-US" altLang="zh-CN" sz="1600" dirty="0">
              <a:latin typeface="楷体_GB2312" pitchFamily="49" charset="-122"/>
              <a:ea typeface="楷体_GB2312" pitchFamily="49" charset="-122"/>
            </a:endParaRPr>
          </a:p>
          <a:p>
            <a:r>
              <a:rPr lang="zh-CN" altLang="en-US" sz="1600" dirty="0">
                <a:latin typeface="楷体_GB2312" pitchFamily="49" charset="-122"/>
                <a:ea typeface="楷体_GB2312" pitchFamily="49" charset="-122"/>
              </a:rPr>
              <a:t>另外，快速调节还有一种方式： </a:t>
            </a:r>
            <a:r>
              <a:rPr lang="en-US" altLang="zh-CN" sz="1600" dirty="0">
                <a:latin typeface="楷体_GB2312" pitchFamily="49" charset="-122"/>
                <a:ea typeface="楷体_GB2312" pitchFamily="49" charset="-122"/>
              </a:rPr>
              <a:t>Some enzymes are stimulated or inhibited when they are bound by separate regulatory proteins.</a:t>
            </a: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幻灯片图像占位符 1">
            <a:extLst>
              <a:ext uri="{FF2B5EF4-FFF2-40B4-BE49-F238E27FC236}">
                <a16:creationId xmlns:a16="http://schemas.microsoft.com/office/drawing/2014/main" id="{DE209523-D384-4978-951B-C6080C9740EE}"/>
              </a:ext>
            </a:extLst>
          </p:cNvPr>
          <p:cNvSpPr>
            <a:spLocks noGrp="1" noRot="1" noChangeAspect="1" noChangeArrowheads="1" noTextEdit="1"/>
          </p:cNvSpPr>
          <p:nvPr>
            <p:ph type="sldImg"/>
          </p:nvPr>
        </p:nvSpPr>
        <p:spPr>
          <a:xfrm>
            <a:off x="381000" y="685800"/>
            <a:ext cx="6096000" cy="3429000"/>
          </a:xfrm>
          <a:ln/>
        </p:spPr>
      </p:sp>
      <p:sp>
        <p:nvSpPr>
          <p:cNvPr id="337923" name="备注占位符 2">
            <a:extLst>
              <a:ext uri="{FF2B5EF4-FFF2-40B4-BE49-F238E27FC236}">
                <a16:creationId xmlns:a16="http://schemas.microsoft.com/office/drawing/2014/main" id="{6FF3BE24-6A76-4B48-BACF-396732E695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大多数催化不可逆反应的酶是别构酶</a:t>
            </a:r>
            <a:endParaRPr lang="en-US" altLang="zh-CN" dirty="0"/>
          </a:p>
          <a:p>
            <a:endParaRPr lang="en-US" altLang="zh-CN" dirty="0"/>
          </a:p>
          <a:p>
            <a:endParaRPr lang="zh-CN" altLang="en-US" dirty="0"/>
          </a:p>
        </p:txBody>
      </p:sp>
      <p:sp>
        <p:nvSpPr>
          <p:cNvPr id="337924" name="灯片编号占位符 3">
            <a:extLst>
              <a:ext uri="{FF2B5EF4-FFF2-40B4-BE49-F238E27FC236}">
                <a16:creationId xmlns:a16="http://schemas.microsoft.com/office/drawing/2014/main" id="{901E02E7-9A9E-4C1A-9ADD-0A625F3215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F737373-549F-4F60-AB39-E9072BA4C8D4}" type="slidenum">
              <a:rPr lang="en-US" altLang="zh-CN" smtClean="0">
                <a:latin typeface="Arial" panose="020B0604020202020204" pitchFamily="34" charset="0"/>
              </a:rPr>
              <a:pPr/>
              <a:t>144</a:t>
            </a:fld>
            <a:endParaRPr lang="en-US" altLang="zh-CN">
              <a:latin typeface="Arial" panose="020B0604020202020204" pitchFamily="34" charset="0"/>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幻灯片图像占位符 1">
            <a:extLst>
              <a:ext uri="{FF2B5EF4-FFF2-40B4-BE49-F238E27FC236}">
                <a16:creationId xmlns:a16="http://schemas.microsoft.com/office/drawing/2014/main" id="{564883BC-AA04-491D-9D7F-05981F6198FC}"/>
              </a:ext>
            </a:extLst>
          </p:cNvPr>
          <p:cNvSpPr>
            <a:spLocks noGrp="1" noRot="1" noChangeAspect="1" noChangeArrowheads="1" noTextEdit="1"/>
          </p:cNvSpPr>
          <p:nvPr>
            <p:ph type="sldImg"/>
          </p:nvPr>
        </p:nvSpPr>
        <p:spPr>
          <a:xfrm>
            <a:off x="381000" y="685800"/>
            <a:ext cx="6096000" cy="3429000"/>
          </a:xfrm>
          <a:ln/>
        </p:spPr>
      </p:sp>
      <p:sp>
        <p:nvSpPr>
          <p:cNvPr id="339971" name="备注占位符 2">
            <a:extLst>
              <a:ext uri="{FF2B5EF4-FFF2-40B4-BE49-F238E27FC236}">
                <a16:creationId xmlns:a16="http://schemas.microsoft.com/office/drawing/2014/main" id="{E715BCF4-EDB0-478A-82C3-39AABF7BF7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别构调节物可以是代谢途径的终产物、中间产物、酶的底物或其他物质。</a:t>
            </a:r>
            <a:endParaRPr lang="en-US" altLang="zh-CN" dirty="0"/>
          </a:p>
          <a:p>
            <a:endParaRPr lang="en-US" altLang="zh-CN" dirty="0"/>
          </a:p>
          <a:p>
            <a:r>
              <a:rPr lang="zh-CN" altLang="en-US" dirty="0"/>
              <a:t>正反馈少见，比如分娩。 </a:t>
            </a:r>
          </a:p>
        </p:txBody>
      </p:sp>
      <p:sp>
        <p:nvSpPr>
          <p:cNvPr id="339972" name="灯片编号占位符 3">
            <a:extLst>
              <a:ext uri="{FF2B5EF4-FFF2-40B4-BE49-F238E27FC236}">
                <a16:creationId xmlns:a16="http://schemas.microsoft.com/office/drawing/2014/main" id="{0239A2A6-3260-4CBC-86CF-70DF4C4240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AA9ADF4-7F32-4238-8582-43612EDDC402}" type="slidenum">
              <a:rPr lang="en-US" altLang="zh-CN" smtClean="0">
                <a:latin typeface="Arial" panose="020B0604020202020204" pitchFamily="34" charset="0"/>
              </a:rPr>
              <a:pPr/>
              <a:t>145</a:t>
            </a:fld>
            <a:endParaRPr lang="en-US" altLang="zh-CN">
              <a:latin typeface="Arial" panose="020B0604020202020204" pitchFamily="34" charset="0"/>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7">
            <a:extLst>
              <a:ext uri="{FF2B5EF4-FFF2-40B4-BE49-F238E27FC236}">
                <a16:creationId xmlns:a16="http://schemas.microsoft.com/office/drawing/2014/main" id="{ACC1EF58-6B4C-46D3-AF78-10CF983502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F0E0F99-8A94-4167-9CF0-3BE82A2040A1}" type="slidenum">
              <a:rPr lang="en-US" altLang="zh-CN" smtClean="0">
                <a:latin typeface="Arial" panose="020B0604020202020204" pitchFamily="34" charset="0"/>
              </a:rPr>
              <a:pPr/>
              <a:t>147</a:t>
            </a:fld>
            <a:endParaRPr lang="en-US" altLang="zh-CN">
              <a:latin typeface="Arial" panose="020B0604020202020204" pitchFamily="34" charset="0"/>
            </a:endParaRPr>
          </a:p>
        </p:txBody>
      </p:sp>
      <p:sp>
        <p:nvSpPr>
          <p:cNvPr id="343043" name="Rectangle 2">
            <a:extLst>
              <a:ext uri="{FF2B5EF4-FFF2-40B4-BE49-F238E27FC236}">
                <a16:creationId xmlns:a16="http://schemas.microsoft.com/office/drawing/2014/main" id="{59AD9F47-7AA8-4EFE-BA19-9891360EB3C1}"/>
              </a:ext>
            </a:extLst>
          </p:cNvPr>
          <p:cNvSpPr>
            <a:spLocks noGrp="1" noRot="1" noChangeAspect="1" noChangeArrowheads="1" noTextEdit="1"/>
          </p:cNvSpPr>
          <p:nvPr>
            <p:ph type="sldImg"/>
          </p:nvPr>
        </p:nvSpPr>
        <p:spPr>
          <a:xfrm>
            <a:off x="381000" y="685800"/>
            <a:ext cx="6096000" cy="3429000"/>
          </a:xfrm>
          <a:ln/>
        </p:spPr>
      </p:sp>
      <p:sp>
        <p:nvSpPr>
          <p:cNvPr id="1361923" name="Rectangle 3">
            <a:extLst>
              <a:ext uri="{FF2B5EF4-FFF2-40B4-BE49-F238E27FC236}">
                <a16:creationId xmlns:a16="http://schemas.microsoft.com/office/drawing/2014/main" id="{9F94466E-521F-4642-AC42-B1A700CF2457}"/>
              </a:ext>
            </a:extLst>
          </p:cNvPr>
          <p:cNvSpPr>
            <a:spLocks noGrp="1" noChangeArrowheads="1"/>
          </p:cNvSpPr>
          <p:nvPr>
            <p:ph type="body" idx="1"/>
          </p:nvPr>
        </p:nvSpPr>
        <p:spPr>
          <a:xfrm>
            <a:off x="914400" y="4343400"/>
            <a:ext cx="5029200" cy="4114800"/>
          </a:xfrm>
        </p:spPr>
        <p:txBody>
          <a:bodyPr/>
          <a:lstStyle/>
          <a:p>
            <a:pPr eaLnBrk="1" hangingPunct="1">
              <a:defRPr/>
            </a:pPr>
            <a:r>
              <a:rPr kumimoji="1" lang="zh-CN" altLang="en-US" dirty="0">
                <a:effectLst>
                  <a:outerShdw blurRad="38100" dist="38100" dir="2700000" algn="tl">
                    <a:srgbClr val="C0C0C0"/>
                  </a:outerShdw>
                </a:effectLst>
              </a:rPr>
              <a:t>双中心：活性中心、调节中心</a:t>
            </a:r>
            <a:endParaRPr kumimoji="1" lang="en-US" altLang="zh-CN" dirty="0">
              <a:effectLst>
                <a:outerShdw blurRad="38100" dist="38100" dir="2700000" algn="tl">
                  <a:srgbClr val="C0C0C0"/>
                </a:outerShdw>
              </a:effectLst>
            </a:endParaRPr>
          </a:p>
          <a:p>
            <a:pPr eaLnBrk="1" hangingPunct="1">
              <a:defRPr/>
            </a:pPr>
            <a:endParaRPr kumimoji="1" lang="en-US" altLang="zh-CN" dirty="0">
              <a:effectLst>
                <a:outerShdw blurRad="38100" dist="38100" dir="2700000" algn="tl">
                  <a:srgbClr val="C0C0C0"/>
                </a:outerShdw>
              </a:effectLst>
            </a:endParaRPr>
          </a:p>
          <a:p>
            <a:pPr eaLnBrk="1" hangingPunct="1">
              <a:defRPr/>
            </a:pPr>
            <a:r>
              <a:rPr kumimoji="1" lang="zh-CN" altLang="en-US" dirty="0">
                <a:effectLst>
                  <a:outerShdw blurRad="38100" dist="38100" dir="2700000" algn="tl">
                    <a:srgbClr val="C0C0C0"/>
                  </a:outerShdw>
                </a:effectLst>
              </a:rPr>
              <a:t>如果一个别构酶催化多底物反应，有可能对不同底物的动力学曲线不同，有的是</a:t>
            </a:r>
            <a:r>
              <a:rPr kumimoji="1" lang="en-US" altLang="zh-CN" dirty="0">
                <a:effectLst>
                  <a:outerShdw blurRad="38100" dist="38100" dir="2700000" algn="tl">
                    <a:srgbClr val="C0C0C0"/>
                  </a:outerShdw>
                </a:effectLst>
              </a:rPr>
              <a:t>S</a:t>
            </a:r>
            <a:r>
              <a:rPr kumimoji="1" lang="zh-CN" altLang="en-US" dirty="0">
                <a:effectLst>
                  <a:outerShdw blurRad="38100" dist="38100" dir="2700000" algn="tl">
                    <a:srgbClr val="C0C0C0"/>
                  </a:outerShdw>
                </a:effectLst>
              </a:rPr>
              <a:t>形，有的是双曲线。 </a:t>
            </a:r>
            <a:endParaRPr kumimoji="1" lang="en-US" altLang="zh-CN" dirty="0">
              <a:effectLst>
                <a:outerShdw blurRad="38100" dist="38100" dir="2700000" algn="tl">
                  <a:srgbClr val="C0C0C0"/>
                </a:outerShdw>
              </a:effectLst>
            </a:endParaRPr>
          </a:p>
          <a:p>
            <a:pPr eaLnBrk="1" hangingPunct="1">
              <a:defRPr/>
            </a:pPr>
            <a:endParaRPr kumimoji="1" lang="en-US" altLang="zh-CN" dirty="0">
              <a:effectLst>
                <a:outerShdw blurRad="38100" dist="38100" dir="2700000" algn="tl">
                  <a:srgbClr val="C0C0C0"/>
                </a:outerShdw>
              </a:effectLst>
            </a:endParaRPr>
          </a:p>
          <a:p>
            <a:pPr eaLnBrk="1" hangingPunct="1">
              <a:defRPr/>
            </a:pPr>
            <a:r>
              <a:rPr kumimoji="1" lang="zh-CN" altLang="en-US" dirty="0">
                <a:effectLst>
                  <a:outerShdw blurRad="38100" dist="38100" dir="2700000" algn="tl">
                    <a:srgbClr val="C0C0C0"/>
                  </a:outerShdw>
                </a:effectLst>
              </a:rPr>
              <a:t>极少数别构酶只含一条肽链，是比较长的肽链。 </a:t>
            </a:r>
            <a:endParaRPr kumimoji="1" lang="en-US" altLang="zh-CN" dirty="0">
              <a:effectLst>
                <a:outerShdw blurRad="38100" dist="38100" dir="2700000" algn="tl">
                  <a:srgbClr val="C0C0C0"/>
                </a:outerShdw>
              </a:effectLst>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幻灯片图像占位符 1">
            <a:extLst>
              <a:ext uri="{FF2B5EF4-FFF2-40B4-BE49-F238E27FC236}">
                <a16:creationId xmlns:a16="http://schemas.microsoft.com/office/drawing/2014/main" id="{CD1BD061-E445-4B97-8334-FEC6347A9995}"/>
              </a:ext>
            </a:extLst>
          </p:cNvPr>
          <p:cNvSpPr>
            <a:spLocks noGrp="1" noRot="1" noChangeAspect="1" noChangeArrowheads="1" noTextEdit="1"/>
          </p:cNvSpPr>
          <p:nvPr>
            <p:ph type="sldImg"/>
          </p:nvPr>
        </p:nvSpPr>
        <p:spPr>
          <a:xfrm>
            <a:off x="381000" y="685800"/>
            <a:ext cx="6096000" cy="3429000"/>
          </a:xfrm>
          <a:ln/>
        </p:spPr>
      </p:sp>
      <p:sp>
        <p:nvSpPr>
          <p:cNvPr id="347139" name="备注占位符 2">
            <a:extLst>
              <a:ext uri="{FF2B5EF4-FFF2-40B4-BE49-F238E27FC236}">
                <a16:creationId xmlns:a16="http://schemas.microsoft.com/office/drawing/2014/main" id="{192716A4-53B0-4282-B193-047F40FDF80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如果调节物是底物本身，正协同效应的反应速率</a:t>
            </a:r>
            <a:r>
              <a:rPr lang="en-US" altLang="zh-CN" dirty="0"/>
              <a:t>- </a:t>
            </a:r>
            <a:r>
              <a:rPr lang="zh-CN" altLang="en-US" dirty="0"/>
              <a:t>底物浓度曲线呈</a:t>
            </a:r>
            <a:r>
              <a:rPr lang="en-US" altLang="zh-CN" dirty="0"/>
              <a:t>S</a:t>
            </a:r>
            <a:r>
              <a:rPr lang="zh-CN" altLang="en-US" dirty="0"/>
              <a:t>形。</a:t>
            </a:r>
            <a:endParaRPr lang="en-US" altLang="zh-CN" dirty="0"/>
          </a:p>
          <a:p>
            <a:endParaRPr lang="en-US" altLang="zh-CN" dirty="0"/>
          </a:p>
          <a:p>
            <a:r>
              <a:rPr lang="zh-CN" altLang="en-US" dirty="0"/>
              <a:t>中间的</a:t>
            </a:r>
            <a:r>
              <a:rPr lang="en-US" altLang="zh-CN" dirty="0"/>
              <a:t>S</a:t>
            </a:r>
            <a:r>
              <a:rPr lang="zh-CN" altLang="en-US" dirty="0"/>
              <a:t>形曲线实际是一个“杂交”曲线，是因为别构酶在底物浓度较底时主要为无活性或低活性的</a:t>
            </a:r>
            <a:r>
              <a:rPr lang="en-US" altLang="zh-CN" dirty="0"/>
              <a:t>T</a:t>
            </a:r>
            <a:r>
              <a:rPr lang="zh-CN" altLang="en-US" dirty="0"/>
              <a:t>态，而底物浓度较高时多为有活性或高活性的</a:t>
            </a:r>
            <a:r>
              <a:rPr lang="en-US" altLang="zh-CN" dirty="0"/>
              <a:t>R</a:t>
            </a:r>
            <a:r>
              <a:rPr lang="zh-CN" altLang="en-US" dirty="0"/>
              <a:t>态。 </a:t>
            </a:r>
            <a:endParaRPr lang="en-US" altLang="zh-CN" dirty="0"/>
          </a:p>
          <a:p>
            <a:endParaRPr lang="en-US" altLang="zh-CN" dirty="0"/>
          </a:p>
          <a:p>
            <a:r>
              <a:rPr lang="zh-CN" altLang="en-US" dirty="0"/>
              <a:t>别构效应的机制有两种（参见第十二章 代谢的整合与调节）， </a:t>
            </a:r>
            <a:r>
              <a:rPr lang="en-US" altLang="zh-CN" dirty="0"/>
              <a:t>R</a:t>
            </a:r>
            <a:r>
              <a:rPr lang="zh-CN" altLang="en-US" dirty="0"/>
              <a:t>态和</a:t>
            </a:r>
            <a:r>
              <a:rPr lang="en-US" altLang="zh-CN" dirty="0"/>
              <a:t>T</a:t>
            </a:r>
            <a:r>
              <a:rPr lang="zh-CN" altLang="en-US" dirty="0"/>
              <a:t>态的互变是其中的一种机制，另一种的典型例子就是蛋白激酶</a:t>
            </a:r>
            <a:r>
              <a:rPr lang="en-US" altLang="zh-CN" dirty="0"/>
              <a:t>A</a:t>
            </a:r>
            <a:r>
              <a:rPr lang="zh-CN" altLang="en-US" dirty="0"/>
              <a:t>。 </a:t>
            </a:r>
            <a:endParaRPr lang="en-US" altLang="zh-CN" dirty="0"/>
          </a:p>
          <a:p>
            <a:endParaRPr lang="en-US" altLang="zh-CN" dirty="0"/>
          </a:p>
          <a:p>
            <a:r>
              <a:rPr lang="zh-CN" altLang="en-US" dirty="0"/>
              <a:t>图为同促正协同效应别构酶的动力学特点</a:t>
            </a:r>
          </a:p>
        </p:txBody>
      </p:sp>
      <p:sp>
        <p:nvSpPr>
          <p:cNvPr id="347140" name="灯片编号占位符 3">
            <a:extLst>
              <a:ext uri="{FF2B5EF4-FFF2-40B4-BE49-F238E27FC236}">
                <a16:creationId xmlns:a16="http://schemas.microsoft.com/office/drawing/2014/main" id="{2C69DEAB-3ECC-42C4-AC7B-F8DF5A7644A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A920854-0E2C-41A1-9214-2C26A6FAA0EE}" type="slidenum">
              <a:rPr lang="en-US" altLang="zh-CN" smtClean="0">
                <a:latin typeface="Arial" panose="020B0604020202020204" pitchFamily="34" charset="0"/>
              </a:rPr>
              <a:pPr/>
              <a:t>148</a:t>
            </a:fld>
            <a:endParaRPr lang="en-US" altLang="zh-CN">
              <a:latin typeface="Arial" panose="020B0604020202020204" pitchFamily="34" charset="0"/>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幻灯片图像占位符 1">
            <a:extLst>
              <a:ext uri="{FF2B5EF4-FFF2-40B4-BE49-F238E27FC236}">
                <a16:creationId xmlns:a16="http://schemas.microsoft.com/office/drawing/2014/main" id="{F21B74BE-5159-4B1C-B40A-46983C648ADB}"/>
              </a:ext>
            </a:extLst>
          </p:cNvPr>
          <p:cNvSpPr>
            <a:spLocks noGrp="1" noRot="1" noChangeAspect="1" noChangeArrowheads="1" noTextEdit="1"/>
          </p:cNvSpPr>
          <p:nvPr>
            <p:ph type="sldImg"/>
          </p:nvPr>
        </p:nvSpPr>
        <p:spPr>
          <a:xfrm>
            <a:off x="381000" y="685800"/>
            <a:ext cx="6096000" cy="3429000"/>
          </a:xfrm>
          <a:ln/>
        </p:spPr>
      </p:sp>
      <p:sp>
        <p:nvSpPr>
          <p:cNvPr id="349187" name="备注占位符 2">
            <a:extLst>
              <a:ext uri="{FF2B5EF4-FFF2-40B4-BE49-F238E27FC236}">
                <a16:creationId xmlns:a16="http://schemas.microsoft.com/office/drawing/2014/main" id="{303046F1-F519-43EF-9D17-A09F047C95A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中间黑线是没有别构效应剂时的动力学曲线</a:t>
            </a:r>
            <a:r>
              <a:rPr lang="en-US" altLang="zh-CN" dirty="0"/>
              <a:t> </a:t>
            </a:r>
            <a:r>
              <a:rPr lang="zh-CN" altLang="en-US" dirty="0"/>
              <a:t>。 </a:t>
            </a:r>
            <a:r>
              <a:rPr lang="en-US" altLang="zh-CN" dirty="0"/>
              <a:t>                                      positive modulator (+)     negative modulator (-) </a:t>
            </a:r>
          </a:p>
          <a:p>
            <a:endParaRPr lang="en-US" altLang="zh-CN" b="1" dirty="0"/>
          </a:p>
          <a:p>
            <a:endParaRPr lang="en-US" altLang="zh-CN" dirty="0"/>
          </a:p>
          <a:p>
            <a:r>
              <a:rPr lang="zh-CN" altLang="en-US" dirty="0"/>
              <a:t>这种别构抑制类似竞争性抑制（</a:t>
            </a:r>
            <a:r>
              <a:rPr lang="en-US" altLang="zh-CN" dirty="0"/>
              <a:t>K</a:t>
            </a:r>
            <a:r>
              <a:rPr lang="en-US" altLang="zh-CN" baseline="-25000" dirty="0"/>
              <a:t>0.5</a:t>
            </a:r>
            <a:r>
              <a:rPr lang="zh-CN" altLang="en-US" dirty="0"/>
              <a:t>增大）</a:t>
            </a:r>
          </a:p>
        </p:txBody>
      </p:sp>
      <p:sp>
        <p:nvSpPr>
          <p:cNvPr id="349188" name="灯片编号占位符 3">
            <a:extLst>
              <a:ext uri="{FF2B5EF4-FFF2-40B4-BE49-F238E27FC236}">
                <a16:creationId xmlns:a16="http://schemas.microsoft.com/office/drawing/2014/main" id="{409374F9-7393-40D6-ACBA-277A6F80B0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6A669DB-8426-4F77-A663-B10B1162C210}" type="slidenum">
              <a:rPr lang="en-US" altLang="zh-CN" smtClean="0">
                <a:latin typeface="Arial" panose="020B0604020202020204" pitchFamily="34" charset="0"/>
              </a:rPr>
              <a:pPr/>
              <a:t>149</a:t>
            </a:fld>
            <a:endParaRPr lang="en-US" altLang="zh-CN">
              <a:latin typeface="Arial" panose="020B0604020202020204" pitchFamily="34" charset="0"/>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幻灯片图像占位符 1">
            <a:extLst>
              <a:ext uri="{FF2B5EF4-FFF2-40B4-BE49-F238E27FC236}">
                <a16:creationId xmlns:a16="http://schemas.microsoft.com/office/drawing/2014/main" id="{9D51E782-B8C5-495D-BB8B-92EE43F40EEA}"/>
              </a:ext>
            </a:extLst>
          </p:cNvPr>
          <p:cNvSpPr>
            <a:spLocks noGrp="1" noRot="1" noChangeAspect="1" noChangeArrowheads="1" noTextEdit="1"/>
          </p:cNvSpPr>
          <p:nvPr>
            <p:ph type="sldImg"/>
          </p:nvPr>
        </p:nvSpPr>
        <p:spPr>
          <a:xfrm>
            <a:off x="381000" y="685800"/>
            <a:ext cx="6096000" cy="3429000"/>
          </a:xfrm>
          <a:ln/>
        </p:spPr>
      </p:sp>
      <p:sp>
        <p:nvSpPr>
          <p:cNvPr id="345091" name="备注占位符 2">
            <a:extLst>
              <a:ext uri="{FF2B5EF4-FFF2-40B4-BE49-F238E27FC236}">
                <a16:creationId xmlns:a16="http://schemas.microsoft.com/office/drawing/2014/main" id="{E3135582-5EF1-4389-8FA3-D8A897CA97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别构抑制： 别构效应剂结合在别构酶活性中心以外的部位，抑制酶的活性。 </a:t>
            </a:r>
            <a:endParaRPr lang="en-US" altLang="zh-CN" dirty="0"/>
          </a:p>
          <a:p>
            <a:endParaRPr lang="en-US" altLang="zh-CN" dirty="0"/>
          </a:p>
          <a:p>
            <a:r>
              <a:rPr lang="zh-CN" altLang="en-US" dirty="0"/>
              <a:t>图</a:t>
            </a:r>
            <a:r>
              <a:rPr lang="en-US" altLang="zh-CN" dirty="0"/>
              <a:t>1 </a:t>
            </a:r>
            <a:r>
              <a:rPr lang="zh-CN" altLang="en-US" dirty="0"/>
              <a:t>： 竞争性抑制                   图</a:t>
            </a:r>
            <a:r>
              <a:rPr lang="en-US" altLang="zh-CN" dirty="0"/>
              <a:t>2</a:t>
            </a:r>
            <a:r>
              <a:rPr lang="zh-CN" altLang="en-US" dirty="0"/>
              <a:t>： 非竞争性抑制</a:t>
            </a:r>
            <a:endParaRPr lang="en-US" altLang="zh-CN" dirty="0"/>
          </a:p>
          <a:p>
            <a:endParaRPr lang="en-US" altLang="zh-CN" dirty="0"/>
          </a:p>
        </p:txBody>
      </p:sp>
      <p:sp>
        <p:nvSpPr>
          <p:cNvPr id="345092" name="灯片编号占位符 3">
            <a:extLst>
              <a:ext uri="{FF2B5EF4-FFF2-40B4-BE49-F238E27FC236}">
                <a16:creationId xmlns:a16="http://schemas.microsoft.com/office/drawing/2014/main" id="{3CB5BF90-82EF-4A7B-803B-0146AC22B5C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F1DC148-CC4F-4D35-9B7B-662C677AD019}" type="slidenum">
              <a:rPr lang="en-US" altLang="zh-CN" smtClean="0">
                <a:latin typeface="Arial" panose="020B0604020202020204" pitchFamily="34" charset="0"/>
              </a:rPr>
              <a:pPr/>
              <a:t>150</a:t>
            </a:fld>
            <a:endParaRPr lang="en-US" altLang="zh-CN">
              <a:latin typeface="Arial" panose="020B0604020202020204" pitchFamily="34" charset="0"/>
            </a:endParaRPr>
          </a:p>
        </p:txBody>
      </p:sp>
    </p:spTree>
    <p:extLst>
      <p:ext uri="{BB962C8B-B14F-4D97-AF65-F5344CB8AC3E}">
        <p14:creationId xmlns:p14="http://schemas.microsoft.com/office/powerpoint/2010/main" val="213368922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幻灯片图像占位符 1">
            <a:extLst>
              <a:ext uri="{FF2B5EF4-FFF2-40B4-BE49-F238E27FC236}">
                <a16:creationId xmlns:a16="http://schemas.microsoft.com/office/drawing/2014/main" id="{7D29F7A3-38A2-4656-880F-7C43B95B045E}"/>
              </a:ext>
            </a:extLst>
          </p:cNvPr>
          <p:cNvSpPr>
            <a:spLocks noGrp="1" noRot="1" noChangeAspect="1" noChangeArrowheads="1" noTextEdit="1"/>
          </p:cNvSpPr>
          <p:nvPr>
            <p:ph type="sldImg"/>
          </p:nvPr>
        </p:nvSpPr>
        <p:spPr>
          <a:xfrm>
            <a:off x="381000" y="685800"/>
            <a:ext cx="6096000" cy="3429000"/>
          </a:xfrm>
          <a:ln/>
        </p:spPr>
      </p:sp>
      <p:sp>
        <p:nvSpPr>
          <p:cNvPr id="351235" name="备注占位符 2">
            <a:extLst>
              <a:ext uri="{FF2B5EF4-FFF2-40B4-BE49-F238E27FC236}">
                <a16:creationId xmlns:a16="http://schemas.microsoft.com/office/drawing/2014/main" id="{40DD329A-BE06-4E8A-95CA-FE5C69A4A75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51236" name="灯片编号占位符 3">
            <a:extLst>
              <a:ext uri="{FF2B5EF4-FFF2-40B4-BE49-F238E27FC236}">
                <a16:creationId xmlns:a16="http://schemas.microsoft.com/office/drawing/2014/main" id="{DA582FB0-16AF-45AE-AD88-9A0E016CD42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D07DEFF-0363-4F0F-99D2-D36AB27AB1FD}" type="slidenum">
              <a:rPr lang="en-US" altLang="zh-CN" smtClean="0">
                <a:latin typeface="Arial" panose="020B0604020202020204" pitchFamily="34" charset="0"/>
              </a:rPr>
              <a:pPr/>
              <a:t>151</a:t>
            </a:fld>
            <a:endParaRPr lang="en-US" altLang="zh-CN">
              <a:latin typeface="Arial" panose="020B0604020202020204" pitchFamily="34" charset="0"/>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1">
            <a:extLst>
              <a:ext uri="{FF2B5EF4-FFF2-40B4-BE49-F238E27FC236}">
                <a16:creationId xmlns:a16="http://schemas.microsoft.com/office/drawing/2014/main" id="{18DEC120-12C7-4CE0-BFBE-58379E535282}"/>
              </a:ext>
            </a:extLst>
          </p:cNvPr>
          <p:cNvSpPr>
            <a:spLocks noGrp="1" noRot="1" noChangeAspect="1" noChangeArrowheads="1" noTextEdit="1"/>
          </p:cNvSpPr>
          <p:nvPr>
            <p:ph type="sldImg"/>
          </p:nvPr>
        </p:nvSpPr>
        <p:spPr>
          <a:xfrm>
            <a:off x="381000" y="685800"/>
            <a:ext cx="6096000" cy="3429000"/>
          </a:xfrm>
          <a:ln/>
        </p:spPr>
      </p:sp>
      <p:sp>
        <p:nvSpPr>
          <p:cNvPr id="353283" name="备注占位符 2">
            <a:extLst>
              <a:ext uri="{FF2B5EF4-FFF2-40B4-BE49-F238E27FC236}">
                <a16:creationId xmlns:a16="http://schemas.microsoft.com/office/drawing/2014/main" id="{02E9C09D-A3DE-47C0-BE4D-2775BBEA611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353284" name="灯片编号占位符 3">
            <a:extLst>
              <a:ext uri="{FF2B5EF4-FFF2-40B4-BE49-F238E27FC236}">
                <a16:creationId xmlns:a16="http://schemas.microsoft.com/office/drawing/2014/main" id="{CD20F357-770A-455E-82B9-32EB814563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523AA04-201C-43DD-B6FD-46C60A575761}" type="slidenum">
              <a:rPr lang="en-US" altLang="zh-CN" smtClean="0">
                <a:latin typeface="Arial" panose="020B0604020202020204" pitchFamily="34" charset="0"/>
              </a:rPr>
              <a:pPr/>
              <a:t>152</a:t>
            </a:fld>
            <a:endParaRPr lang="en-US" altLang="zh-CN">
              <a:latin typeface="Arial" panose="020B0604020202020204" pitchFamily="34" charset="0"/>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7">
            <a:extLst>
              <a:ext uri="{FF2B5EF4-FFF2-40B4-BE49-F238E27FC236}">
                <a16:creationId xmlns:a16="http://schemas.microsoft.com/office/drawing/2014/main" id="{6112B45F-24AC-4BFB-A46A-383A4855D0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EF3D041-CCCF-4ECE-9E2F-B5C3004BCEA4}" type="slidenum">
              <a:rPr lang="en-US" altLang="zh-CN" smtClean="0">
                <a:latin typeface="Arial" panose="020B0604020202020204" pitchFamily="34" charset="0"/>
              </a:rPr>
              <a:pPr/>
              <a:t>153</a:t>
            </a:fld>
            <a:endParaRPr lang="en-US" altLang="zh-CN">
              <a:latin typeface="Arial" panose="020B0604020202020204" pitchFamily="34" charset="0"/>
            </a:endParaRPr>
          </a:p>
        </p:txBody>
      </p:sp>
      <p:sp>
        <p:nvSpPr>
          <p:cNvPr id="355331" name="Rectangle 2">
            <a:extLst>
              <a:ext uri="{FF2B5EF4-FFF2-40B4-BE49-F238E27FC236}">
                <a16:creationId xmlns:a16="http://schemas.microsoft.com/office/drawing/2014/main" id="{8305856D-3C6E-4F00-B11B-BB1BE6DD3538}"/>
              </a:ext>
            </a:extLst>
          </p:cNvPr>
          <p:cNvSpPr>
            <a:spLocks noGrp="1" noRot="1" noChangeAspect="1" noChangeArrowheads="1" noTextEdit="1"/>
          </p:cNvSpPr>
          <p:nvPr>
            <p:ph type="sldImg"/>
          </p:nvPr>
        </p:nvSpPr>
        <p:spPr>
          <a:xfrm>
            <a:off x="381000" y="685800"/>
            <a:ext cx="6096000" cy="3429000"/>
          </a:xfrm>
          <a:ln/>
        </p:spPr>
      </p:sp>
      <p:sp>
        <p:nvSpPr>
          <p:cNvPr id="355332" name="Rectangle 3">
            <a:extLst>
              <a:ext uri="{FF2B5EF4-FFF2-40B4-BE49-F238E27FC236}">
                <a16:creationId xmlns:a16="http://schemas.microsoft.com/office/drawing/2014/main" id="{485BEC2A-4AF5-4D58-995B-3417AD668AE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称为</a:t>
            </a:r>
            <a:r>
              <a:rPr lang="zh-CN" altLang="en-US" b="1" dirty="0"/>
              <a:t>可逆</a:t>
            </a:r>
            <a:r>
              <a:rPr lang="zh-CN" altLang="en-US" dirty="0"/>
              <a:t>共价修饰是</a:t>
            </a:r>
            <a:r>
              <a:rPr lang="zh-CN" altLang="en-US" dirty="0">
                <a:solidFill>
                  <a:srgbClr val="FFFF00"/>
                </a:solidFill>
                <a:latin typeface="华文楷体" panose="02010600040101010101" pitchFamily="2" charset="-122"/>
                <a:ea typeface="华文楷体" panose="02010600040101010101" pitchFamily="2" charset="-122"/>
              </a:rPr>
              <a:t>区别于酶原激活（切除酶原中部分肽段）这种</a:t>
            </a:r>
            <a:r>
              <a:rPr lang="zh-CN" altLang="en-US" b="1" dirty="0">
                <a:solidFill>
                  <a:srgbClr val="FFFF00"/>
                </a:solidFill>
                <a:latin typeface="华文楷体" panose="02010600040101010101" pitchFamily="2" charset="-122"/>
                <a:ea typeface="华文楷体" panose="02010600040101010101" pitchFamily="2" charset="-122"/>
              </a:rPr>
              <a:t>不可逆的</a:t>
            </a:r>
            <a:r>
              <a:rPr lang="zh-CN" altLang="en-US" dirty="0">
                <a:solidFill>
                  <a:srgbClr val="FFFF00"/>
                </a:solidFill>
                <a:latin typeface="华文楷体" panose="02010600040101010101" pitchFamily="2" charset="-122"/>
                <a:ea typeface="华文楷体" panose="02010600040101010101" pitchFamily="2" charset="-122"/>
              </a:rPr>
              <a:t>激活方式。　</a:t>
            </a:r>
            <a:endParaRPr lang="en-US" altLang="zh-CN" dirty="0">
              <a:solidFill>
                <a:srgbClr val="FFFF00"/>
              </a:solidFill>
              <a:latin typeface="华文楷体" panose="02010600040101010101" pitchFamily="2" charset="-122"/>
              <a:ea typeface="华文楷体" panose="02010600040101010101" pitchFamily="2" charset="-122"/>
            </a:endParaRPr>
          </a:p>
          <a:p>
            <a:endParaRPr lang="en-US" altLang="zh-CN" dirty="0"/>
          </a:p>
          <a:p>
            <a:r>
              <a:rPr lang="zh-CN" altLang="en-US" dirty="0"/>
              <a:t>通过共价修饰调节酶的活性通常在数秒至数分钟内产生效应（略慢于别构调节，通过别构效应改变酶的活性只需要别构酶对局部代谢物浓度变化作出反应，这种速度极快（毫秒级））</a:t>
            </a:r>
            <a:endParaRPr lang="en-US" altLang="zh-CN" dirty="0"/>
          </a:p>
          <a:p>
            <a:endParaRPr lang="en-US" altLang="zh-CN" dirty="0"/>
          </a:p>
          <a:p>
            <a:endParaRPr lang="en-US" altLang="zh-CN"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7">
            <a:extLst>
              <a:ext uri="{FF2B5EF4-FFF2-40B4-BE49-F238E27FC236}">
                <a16:creationId xmlns:a16="http://schemas.microsoft.com/office/drawing/2014/main" id="{ADFF12C8-DE4E-4C7F-8CC1-7C895B95F6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D3C38F4-C081-4C80-B0A3-1BF4C1A878F0}" type="slidenum">
              <a:rPr lang="en-US" altLang="zh-CN" smtClean="0">
                <a:latin typeface="Arial" panose="020B0604020202020204" pitchFamily="34" charset="0"/>
              </a:rPr>
              <a:pPr/>
              <a:t>154</a:t>
            </a:fld>
            <a:endParaRPr lang="en-US" altLang="zh-CN">
              <a:latin typeface="Arial" panose="020B0604020202020204" pitchFamily="34" charset="0"/>
            </a:endParaRPr>
          </a:p>
        </p:txBody>
      </p:sp>
      <p:sp>
        <p:nvSpPr>
          <p:cNvPr id="357379" name="Rectangle 2">
            <a:extLst>
              <a:ext uri="{FF2B5EF4-FFF2-40B4-BE49-F238E27FC236}">
                <a16:creationId xmlns:a16="http://schemas.microsoft.com/office/drawing/2014/main" id="{67B0842A-8F01-458F-A06A-DEBD2C260EE8}"/>
              </a:ext>
            </a:extLst>
          </p:cNvPr>
          <p:cNvSpPr>
            <a:spLocks noGrp="1" noRot="1" noChangeAspect="1" noChangeArrowheads="1" noTextEdit="1"/>
          </p:cNvSpPr>
          <p:nvPr>
            <p:ph type="sldImg"/>
          </p:nvPr>
        </p:nvSpPr>
        <p:spPr>
          <a:xfrm>
            <a:off x="381000" y="685800"/>
            <a:ext cx="6096000" cy="3429000"/>
          </a:xfrm>
          <a:ln/>
        </p:spPr>
      </p:sp>
      <p:sp>
        <p:nvSpPr>
          <p:cNvPr id="357380" name="Rectangle 3">
            <a:extLst>
              <a:ext uri="{FF2B5EF4-FFF2-40B4-BE49-F238E27FC236}">
                <a16:creationId xmlns:a16="http://schemas.microsoft.com/office/drawing/2014/main" id="{1B49885C-28CE-4590-BEA5-8D1FE056A3B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solidFill>
                  <a:srgbClr val="FFFF00"/>
                </a:solidFill>
                <a:latin typeface="华文楷体" panose="02010600040101010101" pitchFamily="2" charset="-122"/>
                <a:ea typeface="华文楷体" panose="02010600040101010101" pitchFamily="2" charset="-122"/>
              </a:rPr>
              <a:t>以</a:t>
            </a:r>
            <a:r>
              <a:rPr lang="en-US" altLang="zh-CN" dirty="0">
                <a:solidFill>
                  <a:srgbClr val="FFFF00"/>
                </a:solidFill>
                <a:latin typeface="华文楷体" panose="02010600040101010101" pitchFamily="2" charset="-122"/>
                <a:ea typeface="华文楷体" panose="02010600040101010101" pitchFamily="2" charset="-122"/>
              </a:rPr>
              <a:t>Ser</a:t>
            </a:r>
            <a:r>
              <a:rPr lang="zh-CN" altLang="en-US" dirty="0">
                <a:solidFill>
                  <a:srgbClr val="FFFF00"/>
                </a:solidFill>
                <a:latin typeface="华文楷体" panose="02010600040101010101" pitchFamily="2" charset="-122"/>
                <a:ea typeface="华文楷体" panose="02010600040101010101" pitchFamily="2" charset="-122"/>
              </a:rPr>
              <a:t>和</a:t>
            </a:r>
            <a:r>
              <a:rPr lang="en-US" altLang="zh-CN" dirty="0" err="1">
                <a:solidFill>
                  <a:srgbClr val="FFFF00"/>
                </a:solidFill>
                <a:latin typeface="华文楷体" panose="02010600040101010101" pitchFamily="2" charset="-122"/>
                <a:ea typeface="华文楷体" panose="02010600040101010101" pitchFamily="2" charset="-122"/>
              </a:rPr>
              <a:t>Thr</a:t>
            </a:r>
            <a:r>
              <a:rPr lang="zh-CN" altLang="en-US" dirty="0">
                <a:solidFill>
                  <a:srgbClr val="FFFF00"/>
                </a:solidFill>
                <a:latin typeface="华文楷体" panose="02010600040101010101" pitchFamily="2" charset="-122"/>
                <a:ea typeface="华文楷体" panose="02010600040101010101" pitchFamily="2" charset="-122"/>
              </a:rPr>
              <a:t>的磷酸化最多见，但</a:t>
            </a:r>
            <a:r>
              <a:rPr lang="en-US" altLang="zh-CN" dirty="0">
                <a:solidFill>
                  <a:srgbClr val="FFFF00"/>
                </a:solidFill>
                <a:latin typeface="华文楷体" panose="02010600040101010101" pitchFamily="2" charset="-122"/>
                <a:ea typeface="华文楷体" panose="02010600040101010101" pitchFamily="2" charset="-122"/>
              </a:rPr>
              <a:t>Tyr</a:t>
            </a:r>
            <a:r>
              <a:rPr lang="zh-CN" altLang="en-US" dirty="0">
                <a:solidFill>
                  <a:srgbClr val="FFFF00"/>
                </a:solidFill>
                <a:latin typeface="华文楷体" panose="02010600040101010101" pitchFamily="2" charset="-122"/>
                <a:ea typeface="华文楷体" panose="02010600040101010101" pitchFamily="2" charset="-122"/>
              </a:rPr>
              <a:t>的磷酸化是许多调控机制中的关键部分（参见第二十章 细胞信号转导与疾病）    偶见</a:t>
            </a:r>
            <a:r>
              <a:rPr lang="en-US" altLang="zh-CN" dirty="0">
                <a:solidFill>
                  <a:srgbClr val="FFFF00"/>
                </a:solidFill>
                <a:latin typeface="华文楷体" panose="02010600040101010101" pitchFamily="2" charset="-122"/>
                <a:ea typeface="华文楷体" panose="02010600040101010101" pitchFamily="2" charset="-122"/>
              </a:rPr>
              <a:t>His</a:t>
            </a:r>
            <a:r>
              <a:rPr lang="zh-CN" altLang="en-US" dirty="0">
                <a:solidFill>
                  <a:srgbClr val="FFFF00"/>
                </a:solidFill>
                <a:latin typeface="华文楷体" panose="02010600040101010101" pitchFamily="2" charset="-122"/>
                <a:ea typeface="华文楷体" panose="02010600040101010101" pitchFamily="2" charset="-122"/>
              </a:rPr>
              <a:t>部位的磷酸化</a:t>
            </a:r>
            <a:endParaRPr lang="en-US" altLang="zh-CN" dirty="0">
              <a:solidFill>
                <a:srgbClr val="FFFF00"/>
              </a:solidFill>
              <a:latin typeface="华文楷体" panose="02010600040101010101" pitchFamily="2" charset="-122"/>
              <a:ea typeface="华文楷体" panose="02010600040101010101" pitchFamily="2" charset="-122"/>
            </a:endParaRPr>
          </a:p>
          <a:p>
            <a:pPr eaLnBrk="1" hangingPunct="1"/>
            <a:endParaRPr lang="en-US" altLang="zh-CN" dirty="0">
              <a:solidFill>
                <a:srgbClr val="FFFF00"/>
              </a:solidFill>
              <a:latin typeface="华文楷体" panose="02010600040101010101" pitchFamily="2" charset="-122"/>
              <a:ea typeface="华文楷体" panose="02010600040101010101" pitchFamily="2" charset="-122"/>
            </a:endParaRPr>
          </a:p>
          <a:p>
            <a:pPr eaLnBrk="1" hangingPunct="1"/>
            <a:r>
              <a:rPr lang="zh-CN" altLang="en-US" dirty="0">
                <a:solidFill>
                  <a:srgbClr val="FFFF00"/>
                </a:solidFill>
                <a:latin typeface="华文楷体" panose="02010600040101010101" pitchFamily="2" charset="-122"/>
                <a:ea typeface="华文楷体" panose="02010600040101010101" pitchFamily="2" charset="-122"/>
              </a:rPr>
              <a:t>已发现的人体蛋白激酶５００种以上，蛋白磷酸酶１００种以上</a:t>
            </a:r>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注意：分解糖原的关键酶糖原磷酸化酶催化生成</a:t>
            </a:r>
            <a:r>
              <a:rPr lang="en-US" altLang="zh-CN" dirty="0">
                <a:latin typeface="宋体" panose="02010600030101010101" pitchFamily="2" charset="-122"/>
              </a:rPr>
              <a:t>1-</a:t>
            </a:r>
            <a:r>
              <a:rPr lang="zh-CN" altLang="en-US" dirty="0">
                <a:latin typeface="宋体" panose="02010600030101010101" pitchFamily="2" charset="-122"/>
              </a:rPr>
              <a:t>磷酸葡萄糖，它利用的是无机磷酸，而不是</a:t>
            </a:r>
            <a:r>
              <a:rPr lang="en-US" altLang="zh-CN" dirty="0">
                <a:latin typeface="宋体" panose="02010600030101010101" pitchFamily="2" charset="-122"/>
              </a:rPr>
              <a:t>ATP</a:t>
            </a:r>
            <a:r>
              <a:rPr lang="zh-CN" altLang="en-US" dirty="0">
                <a:latin typeface="宋体" panose="02010600030101010101" pitchFamily="2" charset="-122"/>
              </a:rPr>
              <a:t>（或者其它核苷三磷酸）中的磷酸基团，不属于激酶。 </a:t>
            </a: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幻灯片图像占位符 1">
            <a:extLst>
              <a:ext uri="{FF2B5EF4-FFF2-40B4-BE49-F238E27FC236}">
                <a16:creationId xmlns:a16="http://schemas.microsoft.com/office/drawing/2014/main" id="{7CE7F705-CA01-4784-B352-DF0E47DC496B}"/>
              </a:ext>
            </a:extLst>
          </p:cNvPr>
          <p:cNvSpPr>
            <a:spLocks noGrp="1" noRot="1" noChangeAspect="1" noChangeArrowheads="1" noTextEdit="1"/>
          </p:cNvSpPr>
          <p:nvPr>
            <p:ph type="sldImg"/>
          </p:nvPr>
        </p:nvSpPr>
        <p:spPr>
          <a:xfrm>
            <a:off x="381000" y="685800"/>
            <a:ext cx="6096000" cy="3429000"/>
          </a:xfrm>
          <a:ln/>
        </p:spPr>
      </p:sp>
      <p:sp>
        <p:nvSpPr>
          <p:cNvPr id="359427" name="备注占位符 2">
            <a:extLst>
              <a:ext uri="{FF2B5EF4-FFF2-40B4-BE49-F238E27FC236}">
                <a16:creationId xmlns:a16="http://schemas.microsoft.com/office/drawing/2014/main" id="{A73A0926-8BE1-4464-BE96-04374EAD0C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59428" name="灯片编号占位符 3">
            <a:extLst>
              <a:ext uri="{FF2B5EF4-FFF2-40B4-BE49-F238E27FC236}">
                <a16:creationId xmlns:a16="http://schemas.microsoft.com/office/drawing/2014/main" id="{7C5EE6B9-D8D6-4CCF-A89B-AA59BA0B2CE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62789C9-0039-4D71-9AE7-50584F7DF628}" type="slidenum">
              <a:rPr lang="en-US" altLang="zh-CN" smtClean="0">
                <a:latin typeface="Arial" panose="020B0604020202020204" pitchFamily="34" charset="0"/>
              </a:rPr>
              <a:pPr/>
              <a:t>155</a:t>
            </a:fld>
            <a:endParaRPr lang="en-US" altLang="zh-CN">
              <a:latin typeface="Arial" panose="020B0604020202020204" pitchFamily="34" charset="0"/>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幻灯片图像占位符 1">
            <a:extLst>
              <a:ext uri="{FF2B5EF4-FFF2-40B4-BE49-F238E27FC236}">
                <a16:creationId xmlns:a16="http://schemas.microsoft.com/office/drawing/2014/main" id="{C1E5CCA9-F76D-43FC-B42B-60017B9EFAB4}"/>
              </a:ext>
            </a:extLst>
          </p:cNvPr>
          <p:cNvSpPr>
            <a:spLocks noGrp="1" noRot="1" noChangeAspect="1" noChangeArrowheads="1" noTextEdit="1"/>
          </p:cNvSpPr>
          <p:nvPr>
            <p:ph type="sldImg"/>
          </p:nvPr>
        </p:nvSpPr>
        <p:spPr>
          <a:xfrm>
            <a:off x="381000" y="685800"/>
            <a:ext cx="6096000" cy="3429000"/>
          </a:xfrm>
          <a:ln/>
        </p:spPr>
      </p:sp>
      <p:sp>
        <p:nvSpPr>
          <p:cNvPr id="361475" name="备注占位符 2">
            <a:extLst>
              <a:ext uri="{FF2B5EF4-FFF2-40B4-BE49-F238E27FC236}">
                <a16:creationId xmlns:a16="http://schemas.microsoft.com/office/drawing/2014/main" id="{74A1FEDD-D06E-4F38-9B70-AF87AC88ABC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磷酸基团带负电荷， 其中的氧原子可以和蛋白质中的某些带正电荷的基团有相互作用，磷酸基团的引入必然会改变蛋白质的构象。 </a:t>
            </a:r>
            <a:endParaRPr lang="en-US" altLang="zh-CN" dirty="0"/>
          </a:p>
          <a:p>
            <a:endParaRPr lang="en-US" altLang="zh-CN" dirty="0"/>
          </a:p>
          <a:p>
            <a:r>
              <a:rPr lang="zh-CN" altLang="en-US" dirty="0"/>
              <a:t>调控酶的数量及共价修饰状态的信号通常来自于细胞外，即来自激素或生长因子等。 </a:t>
            </a:r>
          </a:p>
          <a:p>
            <a:endParaRPr lang="en-US" altLang="zh-CN" dirty="0"/>
          </a:p>
        </p:txBody>
      </p:sp>
      <p:sp>
        <p:nvSpPr>
          <p:cNvPr id="361476" name="灯片编号占位符 3">
            <a:extLst>
              <a:ext uri="{FF2B5EF4-FFF2-40B4-BE49-F238E27FC236}">
                <a16:creationId xmlns:a16="http://schemas.microsoft.com/office/drawing/2014/main" id="{2B21CF9C-D157-4CB1-9DB5-0AA5D65D458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5DF641A-0E8F-4863-A4C5-A3FA88B794D6}" type="slidenum">
              <a:rPr lang="en-US" altLang="zh-CN" smtClean="0">
                <a:latin typeface="Arial" panose="020B0604020202020204" pitchFamily="34" charset="0"/>
              </a:rPr>
              <a:pPr/>
              <a:t>156</a:t>
            </a:fld>
            <a:endParaRPr lang="en-US" altLang="zh-CN">
              <a:latin typeface="Arial" panose="020B0604020202020204" pitchFamily="34" charset="0"/>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幻灯片图像占位符 1">
            <a:extLst>
              <a:ext uri="{FF2B5EF4-FFF2-40B4-BE49-F238E27FC236}">
                <a16:creationId xmlns:a16="http://schemas.microsoft.com/office/drawing/2014/main" id="{42DCCA9A-E30E-41E7-9DE9-AFE3EC62EBDF}"/>
              </a:ext>
            </a:extLst>
          </p:cNvPr>
          <p:cNvSpPr>
            <a:spLocks noGrp="1" noRot="1" noChangeAspect="1" noChangeArrowheads="1" noTextEdit="1"/>
          </p:cNvSpPr>
          <p:nvPr>
            <p:ph type="sldImg"/>
          </p:nvPr>
        </p:nvSpPr>
        <p:spPr>
          <a:xfrm>
            <a:off x="381000" y="685800"/>
            <a:ext cx="6096000" cy="3429000"/>
          </a:xfrm>
          <a:ln/>
        </p:spPr>
      </p:sp>
      <p:sp>
        <p:nvSpPr>
          <p:cNvPr id="363523" name="备注占位符 2">
            <a:extLst>
              <a:ext uri="{FF2B5EF4-FFF2-40B4-BE49-F238E27FC236}">
                <a16:creationId xmlns:a16="http://schemas.microsoft.com/office/drawing/2014/main" id="{EFDCC8D8-CF6F-4908-B354-A671CB80363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上图数字只是保守的粗略估算，极可能低估了放大倍数。 </a:t>
            </a:r>
            <a:r>
              <a:rPr lang="en-US" altLang="zh-CN" dirty="0"/>
              <a:t>   </a:t>
            </a:r>
            <a:r>
              <a:rPr lang="zh-CN" altLang="en-US" dirty="0"/>
              <a:t>以此保守估算，一个肾上腺素分子最终能促使一个肝细胞分解产生</a:t>
            </a:r>
            <a:r>
              <a:rPr lang="en-US" altLang="zh-CN" dirty="0"/>
              <a:t>10</a:t>
            </a:r>
            <a:r>
              <a:rPr lang="zh-CN" altLang="en-US" dirty="0"/>
              <a:t>万个葡萄糖分子释放入血。 </a:t>
            </a:r>
            <a:endParaRPr lang="en-US" altLang="zh-CN" dirty="0"/>
          </a:p>
          <a:p>
            <a:endParaRPr lang="zh-CN" altLang="en-US" dirty="0"/>
          </a:p>
          <a:p>
            <a:endParaRPr lang="en-US" altLang="zh-CN" dirty="0"/>
          </a:p>
          <a:p>
            <a:endParaRPr lang="en-US" altLang="zh-CN" dirty="0"/>
          </a:p>
        </p:txBody>
      </p:sp>
      <p:sp>
        <p:nvSpPr>
          <p:cNvPr id="363524" name="灯片编号占位符 3">
            <a:extLst>
              <a:ext uri="{FF2B5EF4-FFF2-40B4-BE49-F238E27FC236}">
                <a16:creationId xmlns:a16="http://schemas.microsoft.com/office/drawing/2014/main" id="{344A11F5-79D1-42AC-A6D1-7FBF02F7E2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D9C6D4B-1F09-4532-9CF9-3D7B49488A6A}" type="slidenum">
              <a:rPr lang="en-US" altLang="zh-CN" smtClean="0">
                <a:latin typeface="Arial" panose="020B0604020202020204" pitchFamily="34" charset="0"/>
              </a:rPr>
              <a:pPr/>
              <a:t>157</a:t>
            </a:fld>
            <a:endParaRPr lang="en-US" altLang="zh-CN">
              <a:latin typeface="Arial" panose="020B0604020202020204" pitchFamily="34" charset="0"/>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158</a:t>
            </a:fld>
            <a:endParaRPr lang="en-US" altLang="zh-CN"/>
          </a:p>
        </p:txBody>
      </p:sp>
    </p:spTree>
    <p:extLst>
      <p:ext uri="{BB962C8B-B14F-4D97-AF65-F5344CB8AC3E}">
        <p14:creationId xmlns:p14="http://schemas.microsoft.com/office/powerpoint/2010/main" val="1386934962"/>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a:extLst>
              <a:ext uri="{FF2B5EF4-FFF2-40B4-BE49-F238E27FC236}">
                <a16:creationId xmlns:a16="http://schemas.microsoft.com/office/drawing/2014/main" id="{C5D63DC6-F31F-4CF6-B9C5-CA499D88695E}"/>
              </a:ext>
            </a:extLst>
          </p:cNvPr>
          <p:cNvSpPr>
            <a:spLocks noGrp="1" noRot="1" noChangeAspect="1" noChangeArrowheads="1" noTextEdit="1"/>
          </p:cNvSpPr>
          <p:nvPr>
            <p:ph type="sldImg"/>
          </p:nvPr>
        </p:nvSpPr>
        <p:spPr>
          <a:xfrm>
            <a:off x="381000" y="685800"/>
            <a:ext cx="6096000" cy="3429000"/>
          </a:xfrm>
          <a:ln/>
        </p:spPr>
      </p:sp>
      <p:sp>
        <p:nvSpPr>
          <p:cNvPr id="95235" name="备注占位符 2">
            <a:extLst>
              <a:ext uri="{FF2B5EF4-FFF2-40B4-BE49-F238E27FC236}">
                <a16:creationId xmlns:a16="http://schemas.microsoft.com/office/drawing/2014/main" id="{3C3F9220-661C-42C0-9E48-3D175F9BD6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dirty="0"/>
              <a:t>The Ser (S), </a:t>
            </a:r>
            <a:r>
              <a:rPr lang="en-US" altLang="zh-CN" b="1" dirty="0" err="1"/>
              <a:t>Thr</a:t>
            </a:r>
            <a:r>
              <a:rPr lang="en-US" altLang="zh-CN" b="1" dirty="0"/>
              <a:t> (T), or Tyr (Y) residue that undergoes phosphorylation is in red; </a:t>
            </a:r>
            <a:r>
              <a:rPr lang="en-US" altLang="zh-CN" dirty="0"/>
              <a:t>all amino acid residues are shown as their one-letter abbreviations (see Table 3–1). </a:t>
            </a:r>
            <a:r>
              <a:rPr lang="en-US" altLang="zh-CN" b="1" dirty="0"/>
              <a:t>x represents any amino acid; B, any hydrophobic amino acid</a:t>
            </a:r>
            <a:r>
              <a:rPr lang="en-US" altLang="zh-CN" dirty="0"/>
              <a:t>. </a:t>
            </a:r>
            <a:r>
              <a:rPr lang="en-US" altLang="zh-CN" dirty="0" err="1"/>
              <a:t>Sp</a:t>
            </a:r>
            <a:r>
              <a:rPr lang="en-US" altLang="zh-CN" dirty="0"/>
              <a:t>, </a:t>
            </a:r>
            <a:r>
              <a:rPr lang="en-US" altLang="zh-CN" dirty="0" err="1"/>
              <a:t>Tp</a:t>
            </a:r>
            <a:r>
              <a:rPr lang="en-US" altLang="zh-CN" dirty="0"/>
              <a:t>, and </a:t>
            </a:r>
            <a:r>
              <a:rPr lang="en-US" altLang="zh-CN" dirty="0" err="1"/>
              <a:t>Yp</a:t>
            </a:r>
            <a:r>
              <a:rPr lang="en-US" altLang="zh-CN" dirty="0"/>
              <a:t> are Ser, </a:t>
            </a:r>
            <a:r>
              <a:rPr lang="en-US" altLang="zh-CN" dirty="0" err="1"/>
              <a:t>Thr</a:t>
            </a:r>
            <a:r>
              <a:rPr lang="en-US" altLang="zh-CN" dirty="0"/>
              <a:t>, and Tyr residues that must already be phosphorylated for the kinase to recognize the site.</a:t>
            </a:r>
          </a:p>
          <a:p>
            <a:r>
              <a:rPr lang="en-US" altLang="zh-CN" dirty="0"/>
              <a:t>*The best target site has two amino acid residues separating the phosphorylated and target Ser/</a:t>
            </a:r>
            <a:r>
              <a:rPr lang="en-US" altLang="zh-CN" dirty="0" err="1"/>
              <a:t>Thr</a:t>
            </a:r>
            <a:r>
              <a:rPr lang="en-US" altLang="zh-CN" dirty="0"/>
              <a:t> residues; target sites with one or three intervening residues function at a reduced level.</a:t>
            </a:r>
          </a:p>
          <a:p>
            <a:endParaRPr lang="en-US" altLang="zh-CN" dirty="0"/>
          </a:p>
          <a:p>
            <a:r>
              <a:rPr lang="zh-CN" altLang="en-US" dirty="0"/>
              <a:t>近些年的研究表明，真核细胞内可能大部分蛋白存在磷酸化修饰</a:t>
            </a:r>
            <a:r>
              <a:rPr lang="en-US" altLang="zh-CN" dirty="0"/>
              <a:t>.  </a:t>
            </a:r>
            <a:r>
              <a:rPr lang="zh-CN" altLang="en-US" dirty="0"/>
              <a:t>有的蛋白只一个磷酸化位点，有的有几个磷酸化位点，少数蛋白有几十个磷酸化位点。</a:t>
            </a:r>
          </a:p>
          <a:p>
            <a:endParaRPr lang="en-US" altLang="zh-CN" dirty="0"/>
          </a:p>
          <a:p>
            <a:r>
              <a:rPr lang="en-US" altLang="zh-CN" b="1" dirty="0"/>
              <a:t>Phosphorylation</a:t>
            </a:r>
            <a:r>
              <a:rPr lang="en-US" altLang="zh-CN" dirty="0"/>
              <a:t> is the reversible addition of a phosphate group to a serine, threonine or tyrosine residue of a substrate protein. This modification was </a:t>
            </a:r>
            <a:r>
              <a:rPr lang="en-US" altLang="zh-CN" b="1" dirty="0"/>
              <a:t>discovered in the mid-1950s</a:t>
            </a:r>
            <a:r>
              <a:rPr lang="en-US" altLang="zh-CN" dirty="0"/>
              <a:t>, and was soon recognized to be a principal novel way to regulate enzyme function. </a:t>
            </a:r>
            <a:r>
              <a:rPr lang="en-US" altLang="zh-CN" b="1" dirty="0"/>
              <a:t>In 1992, Edmond Fischer and Edwin Krebs received the Nobel Prize in Physiology and Medicine for this discovery </a:t>
            </a:r>
            <a:r>
              <a:rPr lang="en-US" altLang="zh-CN" dirty="0"/>
              <a:t>[1]. Recent data indicate that the majority of the mammalian cellular protein content may be phosphorylated [2]. Phosphorylation itself changes the electrostatic properties of proteins, enabling conformational changes that can allosterically regulate the modified protein. Alternatively, phosphorylation can induce protein interaction, as it is sensed by specialized protein domains [3]. </a:t>
            </a:r>
            <a:r>
              <a:rPr lang="en-US" altLang="zh-CN" b="1" dirty="0"/>
              <a:t>Phosphorylation is performed by 518 protein kinases in human cells </a:t>
            </a:r>
            <a:r>
              <a:rPr lang="en-US" altLang="zh-CN" dirty="0"/>
              <a:t>[4], </a:t>
            </a:r>
            <a:r>
              <a:rPr lang="en-US" altLang="zh-CN" b="1" dirty="0"/>
              <a:t>whereas ∼120 protein phosphatases remove phosphate groups</a:t>
            </a:r>
            <a:r>
              <a:rPr lang="en-US" altLang="zh-CN" dirty="0"/>
              <a:t>. Recent decades have seen an explosion of data as more kinase cascades and networks have been studied genetically, biochemically and structurally.</a:t>
            </a:r>
          </a:p>
          <a:p>
            <a:endParaRPr lang="en-US" altLang="zh-CN" dirty="0"/>
          </a:p>
        </p:txBody>
      </p:sp>
      <p:sp>
        <p:nvSpPr>
          <p:cNvPr id="95236" name="灯片编号占位符 3">
            <a:extLst>
              <a:ext uri="{FF2B5EF4-FFF2-40B4-BE49-F238E27FC236}">
                <a16:creationId xmlns:a16="http://schemas.microsoft.com/office/drawing/2014/main" id="{6575FB7D-90F0-4D37-93D7-7AC86F74ED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85EC88A-9AD6-47B9-96FB-5DE8F148DE5D}" type="slidenum">
              <a:rPr lang="en-US" altLang="zh-CN" smtClean="0">
                <a:latin typeface="Arial" panose="020B0604020202020204" pitchFamily="34" charset="0"/>
              </a:rPr>
              <a:pPr/>
              <a:t>159</a:t>
            </a:fld>
            <a:endParaRPr lang="en-US" altLang="zh-CN">
              <a:latin typeface="Arial" panose="020B0604020202020204" pitchFamily="34" charset="0"/>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a:extLst>
              <a:ext uri="{FF2B5EF4-FFF2-40B4-BE49-F238E27FC236}">
                <a16:creationId xmlns:a16="http://schemas.microsoft.com/office/drawing/2014/main" id="{2C256503-A596-4913-B47E-0A9B99DC3951}"/>
              </a:ext>
            </a:extLst>
          </p:cNvPr>
          <p:cNvSpPr>
            <a:spLocks noGrp="1" noRot="1" noChangeAspect="1" noChangeArrowheads="1" noTextEdit="1"/>
          </p:cNvSpPr>
          <p:nvPr>
            <p:ph type="sldImg"/>
          </p:nvPr>
        </p:nvSpPr>
        <p:spPr>
          <a:xfrm>
            <a:off x="381000" y="685800"/>
            <a:ext cx="6096000" cy="3429000"/>
          </a:xfrm>
          <a:ln/>
        </p:spPr>
      </p:sp>
      <p:sp>
        <p:nvSpPr>
          <p:cNvPr id="128003" name="备注占位符 2">
            <a:extLst>
              <a:ext uri="{FF2B5EF4-FFF2-40B4-BE49-F238E27FC236}">
                <a16:creationId xmlns:a16="http://schemas.microsoft.com/office/drawing/2014/main" id="{F7333BA0-F908-4121-9A3F-CB8C3A3E83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本例是糖酵解代谢途径中关键酶之一的磷酸果糖激酶</a:t>
            </a:r>
            <a:r>
              <a:rPr lang="en-US" altLang="zh-CN" dirty="0">
                <a:latin typeface="Arial" panose="020B0604020202020204" pitchFamily="34" charset="0"/>
              </a:rPr>
              <a:t>-1</a:t>
            </a:r>
            <a:r>
              <a:rPr lang="zh-CN" altLang="en-US" dirty="0">
                <a:latin typeface="Arial" panose="020B0604020202020204" pitchFamily="34" charset="0"/>
              </a:rPr>
              <a:t>的调节过程， 参见糖代谢一章。 </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dirty="0">
                <a:latin typeface="Arial" panose="020B0604020202020204" pitchFamily="34" charset="0"/>
              </a:rPr>
              <a:t>PFK-1</a:t>
            </a:r>
            <a:r>
              <a:rPr lang="zh-CN" altLang="en-US" dirty="0">
                <a:latin typeface="Arial" panose="020B0604020202020204" pitchFamily="34" charset="0"/>
              </a:rPr>
              <a:t>（</a:t>
            </a:r>
            <a:r>
              <a:rPr lang="en-US" altLang="zh-CN" dirty="0">
                <a:latin typeface="Arial" panose="020B0604020202020204" pitchFamily="34" charset="0"/>
              </a:rPr>
              <a:t>phosphofructokinase-I) </a:t>
            </a:r>
            <a:r>
              <a:rPr lang="zh-CN" altLang="en-US" dirty="0">
                <a:latin typeface="Arial" panose="020B0604020202020204" pitchFamily="34" charset="0"/>
              </a:rPr>
              <a:t>有二个结合</a:t>
            </a:r>
            <a:r>
              <a:rPr lang="en-US" altLang="zh-CN" dirty="0">
                <a:latin typeface="Arial" panose="020B0604020202020204" pitchFamily="34" charset="0"/>
              </a:rPr>
              <a:t>ATP</a:t>
            </a:r>
            <a:r>
              <a:rPr lang="zh-CN" altLang="en-US" dirty="0">
                <a:latin typeface="Arial" panose="020B0604020202020204" pitchFamily="34" charset="0"/>
              </a:rPr>
              <a:t>的部位：</a:t>
            </a:r>
          </a:p>
          <a:p>
            <a:r>
              <a:rPr lang="zh-CN" altLang="en-US" dirty="0">
                <a:latin typeface="Arial" panose="020B0604020202020204" pitchFamily="34" charset="0"/>
              </a:rPr>
              <a:t>① 活性中心（低浓度时作为底物），高亲和力</a:t>
            </a:r>
          </a:p>
          <a:p>
            <a:r>
              <a:rPr lang="zh-CN" altLang="en-US" dirty="0">
                <a:latin typeface="Arial" panose="020B0604020202020204" pitchFamily="34" charset="0"/>
              </a:rPr>
              <a:t>② 活性中心外别构调节部位（高浓度时），低亲和力</a:t>
            </a:r>
          </a:p>
          <a:p>
            <a:endParaRPr lang="en-US" altLang="zh-CN" dirty="0">
              <a:latin typeface="Arial" panose="020B0604020202020204" pitchFamily="34" charset="0"/>
            </a:endParaRPr>
          </a:p>
          <a:p>
            <a:r>
              <a:rPr lang="zh-CN" altLang="en-US" dirty="0">
                <a:latin typeface="Arial" panose="020B0604020202020204" pitchFamily="34" charset="0"/>
              </a:rPr>
              <a:t>缺乏</a:t>
            </a:r>
            <a:r>
              <a:rPr kumimoji="1" lang="en-US" altLang="zh-CN" dirty="0">
                <a:latin typeface="Arial" panose="020B0604020202020204" pitchFamily="34" charset="0"/>
              </a:rPr>
              <a:t>F-2,6-2P</a:t>
            </a:r>
            <a:r>
              <a:rPr kumimoji="1" lang="zh-CN" altLang="en-US" dirty="0">
                <a:latin typeface="Arial" panose="020B0604020202020204" pitchFamily="34" charset="0"/>
              </a:rPr>
              <a:t>时，其它激活剂对</a:t>
            </a:r>
            <a:r>
              <a:rPr kumimoji="1" lang="en-US" altLang="zh-CN" dirty="0">
                <a:latin typeface="Arial" panose="020B0604020202020204" pitchFamily="34" charset="0"/>
              </a:rPr>
              <a:t>PFK-1</a:t>
            </a:r>
            <a:r>
              <a:rPr kumimoji="1" lang="zh-CN" altLang="en-US" dirty="0">
                <a:latin typeface="Arial" panose="020B0604020202020204" pitchFamily="34" charset="0"/>
              </a:rPr>
              <a:t>几乎不起作用，而极少量的</a:t>
            </a:r>
            <a:r>
              <a:rPr kumimoji="1" lang="en-US" altLang="zh-CN" dirty="0">
                <a:latin typeface="Arial" panose="020B0604020202020204" pitchFamily="34" charset="0"/>
              </a:rPr>
              <a:t>F-2,6-2P</a:t>
            </a:r>
            <a:r>
              <a:rPr kumimoji="1" lang="zh-CN" altLang="en-US" dirty="0">
                <a:latin typeface="Arial" panose="020B0604020202020204" pitchFamily="34" charset="0"/>
              </a:rPr>
              <a:t>就能极大地促进</a:t>
            </a:r>
            <a:r>
              <a:rPr kumimoji="1" lang="en-US" altLang="zh-CN" dirty="0">
                <a:latin typeface="Arial" panose="020B0604020202020204" pitchFamily="34" charset="0"/>
              </a:rPr>
              <a:t>PFK-1</a:t>
            </a:r>
            <a:r>
              <a:rPr kumimoji="1" lang="zh-CN" altLang="en-US" dirty="0">
                <a:latin typeface="Arial" panose="020B0604020202020204" pitchFamily="34" charset="0"/>
              </a:rPr>
              <a:t>对底物的亲合力。</a:t>
            </a:r>
            <a:endParaRPr lang="zh-CN" altLang="en-US" dirty="0">
              <a:latin typeface="Arial" panose="020B0604020202020204" pitchFamily="34" charset="0"/>
            </a:endParaRPr>
          </a:p>
        </p:txBody>
      </p:sp>
      <p:sp>
        <p:nvSpPr>
          <p:cNvPr id="128004" name="灯片编号占位符 3">
            <a:extLst>
              <a:ext uri="{FF2B5EF4-FFF2-40B4-BE49-F238E27FC236}">
                <a16:creationId xmlns:a16="http://schemas.microsoft.com/office/drawing/2014/main" id="{524023A2-ECBA-427D-9D89-C1980715411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A9AC9D6-4F4F-4EE3-85E1-29D6457CCC9C}" type="slidenum">
              <a:rPr lang="zh-CN" altLang="en-US" b="0" smtClean="0"/>
              <a:pPr/>
              <a:t>160</a:t>
            </a:fld>
            <a:endParaRPr lang="en-US" altLang="zh-CN" b="0"/>
          </a:p>
        </p:txBody>
      </p:sp>
    </p:spTree>
    <p:extLst>
      <p:ext uri="{BB962C8B-B14F-4D97-AF65-F5344CB8AC3E}">
        <p14:creationId xmlns:p14="http://schemas.microsoft.com/office/powerpoint/2010/main" val="2898293884"/>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7">
            <a:extLst>
              <a:ext uri="{FF2B5EF4-FFF2-40B4-BE49-F238E27FC236}">
                <a16:creationId xmlns:a16="http://schemas.microsoft.com/office/drawing/2014/main" id="{4396D82E-2BEB-4367-B097-DD7FC21776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4623DD0-F006-4E79-AD07-C1E2047B9549}" type="slidenum">
              <a:rPr lang="en-US" altLang="zh-CN" smtClean="0">
                <a:latin typeface="Arial" panose="020B0604020202020204" pitchFamily="34" charset="0"/>
              </a:rPr>
              <a:pPr/>
              <a:t>161</a:t>
            </a:fld>
            <a:endParaRPr lang="en-US" altLang="zh-CN">
              <a:latin typeface="Arial" panose="020B0604020202020204" pitchFamily="34" charset="0"/>
            </a:endParaRPr>
          </a:p>
        </p:txBody>
      </p:sp>
      <p:sp>
        <p:nvSpPr>
          <p:cNvPr id="365571" name="Rectangle 2">
            <a:extLst>
              <a:ext uri="{FF2B5EF4-FFF2-40B4-BE49-F238E27FC236}">
                <a16:creationId xmlns:a16="http://schemas.microsoft.com/office/drawing/2014/main" id="{2C83D555-1B90-4B00-9748-64CDDF94E653}"/>
              </a:ext>
            </a:extLst>
          </p:cNvPr>
          <p:cNvSpPr>
            <a:spLocks noGrp="1" noRot="1" noChangeAspect="1" noChangeArrowheads="1" noTextEdit="1"/>
          </p:cNvSpPr>
          <p:nvPr>
            <p:ph type="sldImg"/>
          </p:nvPr>
        </p:nvSpPr>
        <p:spPr>
          <a:xfrm>
            <a:off x="381000" y="685800"/>
            <a:ext cx="6096000" cy="3429000"/>
          </a:xfrm>
          <a:ln/>
        </p:spPr>
      </p:sp>
      <p:sp>
        <p:nvSpPr>
          <p:cNvPr id="365572" name="Rectangle 3">
            <a:extLst>
              <a:ext uri="{FF2B5EF4-FFF2-40B4-BE49-F238E27FC236}">
                <a16:creationId xmlns:a16="http://schemas.microsoft.com/office/drawing/2014/main" id="{C3A83FF4-5FE7-4808-8807-33AA500653B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胰液中有羧肽酶，肠粘膜分泌氨肽酶，都属外肽酶。 </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酶原激活见于： 消化酶原的激活、凝血纤溶系统中酶原的激活、细胞凋亡时胱天酶（</a:t>
            </a:r>
            <a:r>
              <a:rPr lang="en-US" altLang="zh-CN" dirty="0">
                <a:latin typeface="宋体" panose="02010600030101010101" pitchFamily="2" charset="-122"/>
              </a:rPr>
              <a:t>caspases)</a:t>
            </a:r>
            <a:r>
              <a:rPr lang="zh-CN" altLang="en-US" dirty="0">
                <a:latin typeface="宋体" panose="02010600030101010101" pitchFamily="2" charset="-122"/>
              </a:rPr>
              <a:t>的激活。 </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endParaRPr lang="zh-CN" altLang="zh-CN" dirty="0">
              <a:latin typeface="宋体" panose="02010600030101010101" pitchFamily="2" charset="-122"/>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幻灯片图像占位符 1">
            <a:extLst>
              <a:ext uri="{FF2B5EF4-FFF2-40B4-BE49-F238E27FC236}">
                <a16:creationId xmlns:a16="http://schemas.microsoft.com/office/drawing/2014/main" id="{3D12AE6F-9DCB-4EA7-8B3D-2E200C464172}"/>
              </a:ext>
            </a:extLst>
          </p:cNvPr>
          <p:cNvSpPr>
            <a:spLocks noGrp="1" noRot="1" noChangeAspect="1" noChangeArrowheads="1" noTextEdit="1"/>
          </p:cNvSpPr>
          <p:nvPr>
            <p:ph type="sldImg"/>
          </p:nvPr>
        </p:nvSpPr>
        <p:spPr>
          <a:xfrm>
            <a:off x="381000" y="685800"/>
            <a:ext cx="6096000" cy="3429000"/>
          </a:xfrm>
          <a:ln/>
        </p:spPr>
      </p:sp>
      <p:sp>
        <p:nvSpPr>
          <p:cNvPr id="371715" name="备注占位符 2">
            <a:extLst>
              <a:ext uri="{FF2B5EF4-FFF2-40B4-BE49-F238E27FC236}">
                <a16:creationId xmlns:a16="http://schemas.microsoft.com/office/drawing/2014/main" id="{81A41DF8-8F62-4A5D-AD8F-47F1D9EA51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HCL</a:t>
            </a:r>
            <a:r>
              <a:rPr lang="zh-CN" altLang="en-US"/>
              <a:t>激活</a:t>
            </a:r>
          </a:p>
          <a:p>
            <a:endParaRPr lang="zh-CN" altLang="en-US"/>
          </a:p>
        </p:txBody>
      </p:sp>
      <p:sp>
        <p:nvSpPr>
          <p:cNvPr id="371716" name="灯片编号占位符 3">
            <a:extLst>
              <a:ext uri="{FF2B5EF4-FFF2-40B4-BE49-F238E27FC236}">
                <a16:creationId xmlns:a16="http://schemas.microsoft.com/office/drawing/2014/main" id="{8A9BE112-5275-47DA-A8BA-358B7813B40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62D580B-197F-4BA6-A407-84EDC5723452}" type="slidenum">
              <a:rPr lang="en-US" altLang="zh-CN" smtClean="0">
                <a:latin typeface="Arial" panose="020B0604020202020204" pitchFamily="34" charset="0"/>
              </a:rPr>
              <a:pPr/>
              <a:t>162</a:t>
            </a:fld>
            <a:endParaRPr lang="en-US" altLang="zh-CN">
              <a:latin typeface="Arial" panose="020B0604020202020204" pitchFamily="34" charset="0"/>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幻灯片图像占位符 1">
            <a:extLst>
              <a:ext uri="{FF2B5EF4-FFF2-40B4-BE49-F238E27FC236}">
                <a16:creationId xmlns:a16="http://schemas.microsoft.com/office/drawing/2014/main" id="{4A789A34-50B2-498B-9EB4-288E087EDFCE}"/>
              </a:ext>
            </a:extLst>
          </p:cNvPr>
          <p:cNvSpPr>
            <a:spLocks noGrp="1" noRot="1" noChangeAspect="1" noChangeArrowheads="1" noTextEdit="1"/>
          </p:cNvSpPr>
          <p:nvPr>
            <p:ph type="sldImg"/>
          </p:nvPr>
        </p:nvSpPr>
        <p:spPr>
          <a:xfrm>
            <a:off x="381000" y="685800"/>
            <a:ext cx="6096000" cy="3429000"/>
          </a:xfrm>
          <a:ln/>
        </p:spPr>
      </p:sp>
      <p:sp>
        <p:nvSpPr>
          <p:cNvPr id="369667" name="备注占位符 2">
            <a:extLst>
              <a:ext uri="{FF2B5EF4-FFF2-40B4-BE49-F238E27FC236}">
                <a16:creationId xmlns:a16="http://schemas.microsoft.com/office/drawing/2014/main" id="{964964C9-3FAC-4FB9-9687-74C8675F82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去掉氨基端一个六肽</a:t>
            </a:r>
            <a:endParaRPr lang="en-US" altLang="zh-CN" dirty="0"/>
          </a:p>
          <a:p>
            <a:endParaRPr lang="en-US" altLang="zh-CN" dirty="0"/>
          </a:p>
          <a:p>
            <a:r>
              <a:rPr lang="zh-CN" altLang="en-US" dirty="0"/>
              <a:t>肠激酶主要由十二指肠和空肠黏膜分泌</a:t>
            </a:r>
          </a:p>
        </p:txBody>
      </p:sp>
      <p:sp>
        <p:nvSpPr>
          <p:cNvPr id="369668" name="灯片编号占位符 3">
            <a:extLst>
              <a:ext uri="{FF2B5EF4-FFF2-40B4-BE49-F238E27FC236}">
                <a16:creationId xmlns:a16="http://schemas.microsoft.com/office/drawing/2014/main" id="{43F90556-4861-4B20-BE9E-51172254399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232196B-018D-483A-8E08-573C72295778}" type="slidenum">
              <a:rPr lang="en-US" altLang="zh-CN" smtClean="0">
                <a:latin typeface="Arial" panose="020B0604020202020204" pitchFamily="34" charset="0"/>
              </a:rPr>
              <a:pPr/>
              <a:t>163</a:t>
            </a:fld>
            <a:endParaRPr lang="en-US" altLang="zh-CN">
              <a:latin typeface="Arial" panose="020B0604020202020204" pitchFamily="34" charset="0"/>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7">
            <a:extLst>
              <a:ext uri="{FF2B5EF4-FFF2-40B4-BE49-F238E27FC236}">
                <a16:creationId xmlns:a16="http://schemas.microsoft.com/office/drawing/2014/main" id="{6467A0DE-E50F-43F1-B71A-F81313D705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CCB467F-BE9D-408A-BF73-82D6224067BC}" type="slidenum">
              <a:rPr lang="en-US" altLang="zh-CN" smtClean="0">
                <a:latin typeface="Arial" panose="020B0604020202020204" pitchFamily="34" charset="0"/>
              </a:rPr>
              <a:pPr/>
              <a:t>164</a:t>
            </a:fld>
            <a:endParaRPr lang="en-US" altLang="zh-CN">
              <a:latin typeface="Arial" panose="020B0604020202020204" pitchFamily="34" charset="0"/>
            </a:endParaRPr>
          </a:p>
        </p:txBody>
      </p:sp>
      <p:sp>
        <p:nvSpPr>
          <p:cNvPr id="367619" name="Rectangle 2">
            <a:extLst>
              <a:ext uri="{FF2B5EF4-FFF2-40B4-BE49-F238E27FC236}">
                <a16:creationId xmlns:a16="http://schemas.microsoft.com/office/drawing/2014/main" id="{B47031F3-45FA-44E5-9B9A-1C13433D986E}"/>
              </a:ext>
            </a:extLst>
          </p:cNvPr>
          <p:cNvSpPr>
            <a:spLocks noGrp="1" noRot="1" noChangeAspect="1" noChangeArrowheads="1" noTextEdit="1"/>
          </p:cNvSpPr>
          <p:nvPr>
            <p:ph type="sldImg"/>
          </p:nvPr>
        </p:nvSpPr>
        <p:spPr>
          <a:xfrm>
            <a:off x="381000" y="685800"/>
            <a:ext cx="6096000" cy="3429000"/>
          </a:xfrm>
          <a:ln/>
        </p:spPr>
      </p:sp>
      <p:sp>
        <p:nvSpPr>
          <p:cNvPr id="367620" name="Rectangle 3">
            <a:extLst>
              <a:ext uri="{FF2B5EF4-FFF2-40B4-BE49-F238E27FC236}">
                <a16:creationId xmlns:a16="http://schemas.microsoft.com/office/drawing/2014/main" id="{0646868B-92D0-497F-9C2D-3D7DD297A6C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solidFill>
                  <a:srgbClr val="0000CC"/>
                </a:solidFill>
              </a:rPr>
              <a:t>胰凝乳蛋白酶 又称 胰糜蛋白酶</a:t>
            </a:r>
            <a:endParaRPr lang="en-US" altLang="zh-CN" dirty="0">
              <a:solidFill>
                <a:srgbClr val="0000CC"/>
              </a:solidFill>
            </a:endParaRPr>
          </a:p>
          <a:p>
            <a:pPr eaLnBrk="1" hangingPunct="1"/>
            <a:endParaRPr lang="en-US" altLang="zh-CN" dirty="0"/>
          </a:p>
          <a:p>
            <a:pPr eaLnBrk="1" hangingPunct="1"/>
            <a:r>
              <a:rPr lang="zh-CN" altLang="en-US" dirty="0"/>
              <a:t>酶原激活具有级联反应性质。 激活的胰蛋白酶还可以激活更多的胰蛋白酶原，并可激活胰凝乳蛋白酶原、弹性蛋白酶原和羧肽酶原。</a:t>
            </a:r>
          </a:p>
          <a:p>
            <a:pPr eaLnBrk="1" hangingPunct="1"/>
            <a:endParaRPr lang="zh-CN" alt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7">
            <a:extLst>
              <a:ext uri="{FF2B5EF4-FFF2-40B4-BE49-F238E27FC236}">
                <a16:creationId xmlns:a16="http://schemas.microsoft.com/office/drawing/2014/main" id="{3AABD1E8-BADB-4B6F-A97F-7B14EA9BE7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3EAC8FD-DF9E-4F8A-A816-505821E8D9D1}" type="slidenum">
              <a:rPr lang="en-US" altLang="zh-CN" smtClean="0">
                <a:latin typeface="Arial" panose="020B0604020202020204" pitchFamily="34" charset="0"/>
              </a:rPr>
              <a:pPr/>
              <a:t>165</a:t>
            </a:fld>
            <a:endParaRPr lang="en-US" altLang="zh-CN">
              <a:latin typeface="Arial" panose="020B0604020202020204" pitchFamily="34" charset="0"/>
            </a:endParaRPr>
          </a:p>
        </p:txBody>
      </p:sp>
      <p:sp>
        <p:nvSpPr>
          <p:cNvPr id="375811" name="Rectangle 2">
            <a:extLst>
              <a:ext uri="{FF2B5EF4-FFF2-40B4-BE49-F238E27FC236}">
                <a16:creationId xmlns:a16="http://schemas.microsoft.com/office/drawing/2014/main" id="{DB48F542-7895-49AA-B53C-872371D3AE51}"/>
              </a:ext>
            </a:extLst>
          </p:cNvPr>
          <p:cNvSpPr>
            <a:spLocks noGrp="1" noRot="1" noChangeAspect="1" noChangeArrowheads="1" noTextEdit="1"/>
          </p:cNvSpPr>
          <p:nvPr>
            <p:ph type="sldImg"/>
          </p:nvPr>
        </p:nvSpPr>
        <p:spPr>
          <a:xfrm>
            <a:off x="381000" y="685800"/>
            <a:ext cx="6096000" cy="3429000"/>
          </a:xfrm>
          <a:ln/>
        </p:spPr>
      </p:sp>
      <p:sp>
        <p:nvSpPr>
          <p:cNvPr id="375812" name="Rectangle 3">
            <a:extLst>
              <a:ext uri="{FF2B5EF4-FFF2-40B4-BE49-F238E27FC236}">
                <a16:creationId xmlns:a16="http://schemas.microsoft.com/office/drawing/2014/main" id="{2CB4AB81-A2E7-42A7-8A48-44C0B6781C4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7">
            <a:extLst>
              <a:ext uri="{FF2B5EF4-FFF2-40B4-BE49-F238E27FC236}">
                <a16:creationId xmlns:a16="http://schemas.microsoft.com/office/drawing/2014/main" id="{5E5D79F3-685C-40E3-B611-300DF5F979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EC448B6-3391-4084-B33A-D41B1AB8129B}" type="slidenum">
              <a:rPr lang="en-US" altLang="zh-CN" smtClean="0">
                <a:latin typeface="Arial" panose="020B0604020202020204" pitchFamily="34" charset="0"/>
              </a:rPr>
              <a:pPr/>
              <a:t>166</a:t>
            </a:fld>
            <a:endParaRPr lang="en-US" altLang="zh-CN">
              <a:latin typeface="Arial" panose="020B0604020202020204" pitchFamily="34" charset="0"/>
            </a:endParaRPr>
          </a:p>
        </p:txBody>
      </p:sp>
      <p:sp>
        <p:nvSpPr>
          <p:cNvPr id="377859" name="Rectangle 2">
            <a:extLst>
              <a:ext uri="{FF2B5EF4-FFF2-40B4-BE49-F238E27FC236}">
                <a16:creationId xmlns:a16="http://schemas.microsoft.com/office/drawing/2014/main" id="{1E03A853-0C5A-424C-8563-8F4A7F822C24}"/>
              </a:ext>
            </a:extLst>
          </p:cNvPr>
          <p:cNvSpPr>
            <a:spLocks noGrp="1" noRot="1" noChangeAspect="1" noChangeArrowheads="1" noTextEdit="1"/>
          </p:cNvSpPr>
          <p:nvPr>
            <p:ph type="sldImg"/>
          </p:nvPr>
        </p:nvSpPr>
        <p:spPr>
          <a:xfrm>
            <a:off x="381000" y="685800"/>
            <a:ext cx="6096000" cy="3429000"/>
          </a:xfrm>
          <a:ln/>
        </p:spPr>
      </p:sp>
      <p:sp>
        <p:nvSpPr>
          <p:cNvPr id="377860" name="Rectangle 3">
            <a:extLst>
              <a:ext uri="{FF2B5EF4-FFF2-40B4-BE49-F238E27FC236}">
                <a16:creationId xmlns:a16="http://schemas.microsoft.com/office/drawing/2014/main" id="{219788EA-DE4B-44D6-8F66-2D4EABAE90F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幻灯片图像占位符 1">
            <a:extLst>
              <a:ext uri="{FF2B5EF4-FFF2-40B4-BE49-F238E27FC236}">
                <a16:creationId xmlns:a16="http://schemas.microsoft.com/office/drawing/2014/main" id="{23EA5B32-7FFB-40D1-A22F-BEA25B0AA57B}"/>
              </a:ext>
            </a:extLst>
          </p:cNvPr>
          <p:cNvSpPr>
            <a:spLocks noGrp="1" noRot="1" noChangeAspect="1" noChangeArrowheads="1" noTextEdit="1"/>
          </p:cNvSpPr>
          <p:nvPr>
            <p:ph type="sldImg"/>
          </p:nvPr>
        </p:nvSpPr>
        <p:spPr>
          <a:xfrm>
            <a:off x="381000" y="685800"/>
            <a:ext cx="6096000" cy="3429000"/>
          </a:xfrm>
          <a:ln/>
        </p:spPr>
      </p:sp>
      <p:sp>
        <p:nvSpPr>
          <p:cNvPr id="379907" name="备注占位符 2">
            <a:extLst>
              <a:ext uri="{FF2B5EF4-FFF2-40B4-BE49-F238E27FC236}">
                <a16:creationId xmlns:a16="http://schemas.microsoft.com/office/drawing/2014/main" id="{0C1126CC-2A7B-4A70-8403-6CFE80F8A0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括号内的</a:t>
            </a:r>
            <a:r>
              <a:rPr lang="en-US" altLang="zh-CN" dirty="0"/>
              <a:t>C</a:t>
            </a:r>
            <a:r>
              <a:rPr lang="zh-CN" altLang="en-US" dirty="0"/>
              <a:t>表示切点是所识别的相应</a:t>
            </a:r>
            <a:r>
              <a:rPr lang="en-US" altLang="zh-CN" dirty="0"/>
              <a:t>AA</a:t>
            </a:r>
            <a:r>
              <a:rPr lang="zh-CN" altLang="en-US" dirty="0"/>
              <a:t>残基羧基一侧的肽键， </a:t>
            </a:r>
            <a:r>
              <a:rPr lang="en-US" altLang="zh-CN" dirty="0"/>
              <a:t>N</a:t>
            </a:r>
            <a:r>
              <a:rPr lang="zh-CN" altLang="en-US" dirty="0"/>
              <a:t>表示氨基一侧的肽键</a:t>
            </a:r>
            <a:endParaRPr lang="en-US" altLang="zh-CN" dirty="0"/>
          </a:p>
          <a:p>
            <a:endParaRPr lang="en-US" altLang="zh-CN" dirty="0"/>
          </a:p>
          <a:p>
            <a:r>
              <a:rPr lang="en-US" altLang="zh-CN" dirty="0"/>
              <a:t>Elastase</a:t>
            </a:r>
            <a:r>
              <a:rPr lang="zh-CN" altLang="en-US" dirty="0"/>
              <a:t>弹性蛋白酶切割相对较小的疏水性氨基酸残基如</a:t>
            </a:r>
            <a:r>
              <a:rPr lang="en-US" altLang="zh-CN" dirty="0"/>
              <a:t>glycine, alanine, valine</a:t>
            </a:r>
            <a:r>
              <a:rPr lang="zh-CN" altLang="en-US" dirty="0"/>
              <a:t>羧基侧的肽键。</a:t>
            </a:r>
          </a:p>
          <a:p>
            <a:endParaRPr lang="zh-CN" altLang="en-US" dirty="0"/>
          </a:p>
        </p:txBody>
      </p:sp>
      <p:sp>
        <p:nvSpPr>
          <p:cNvPr id="379908" name="日期占位符 3">
            <a:extLst>
              <a:ext uri="{FF2B5EF4-FFF2-40B4-BE49-F238E27FC236}">
                <a16:creationId xmlns:a16="http://schemas.microsoft.com/office/drawing/2014/main" id="{2E5D18CC-23D5-4885-A37F-61E8DF7E88D3}"/>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BDF4F84-454A-4578-8E0A-457F81978753}" type="datetime1">
              <a:rPr lang="zh-CN" altLang="en-US" smtClean="0">
                <a:latin typeface="Tahoma" panose="020B0604030504040204" pitchFamily="34" charset="0"/>
              </a:rPr>
              <a:pPr/>
              <a:t>2026/9/16</a:t>
            </a:fld>
            <a:endParaRPr lang="en-US" altLang="zh-CN">
              <a:latin typeface="Tahoma" panose="020B0604030504040204" pitchFamily="34" charset="0"/>
            </a:endParaRPr>
          </a:p>
        </p:txBody>
      </p:sp>
      <p:sp>
        <p:nvSpPr>
          <p:cNvPr id="379909" name="灯片编号占位符 4">
            <a:extLst>
              <a:ext uri="{FF2B5EF4-FFF2-40B4-BE49-F238E27FC236}">
                <a16:creationId xmlns:a16="http://schemas.microsoft.com/office/drawing/2014/main" id="{916D36A8-CAC2-43F9-8A9D-771283376AE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EE9B9AE-329D-4922-8F99-DFA5AABA47DC}" type="slidenum">
              <a:rPr lang="en-US" altLang="zh-CN" smtClean="0">
                <a:latin typeface="Tahoma" panose="020B0604030504040204" pitchFamily="34" charset="0"/>
              </a:rPr>
              <a:pPr/>
              <a:t>167</a:t>
            </a:fld>
            <a:endParaRPr lang="en-US" altLang="zh-CN">
              <a:latin typeface="Tahoma" panose="020B0604030504040204" pitchFamily="34" charset="0"/>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7">
            <a:extLst>
              <a:ext uri="{FF2B5EF4-FFF2-40B4-BE49-F238E27FC236}">
                <a16:creationId xmlns:a16="http://schemas.microsoft.com/office/drawing/2014/main" id="{0B3FB867-D23C-43C1-859F-B4910531D5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4556962-8AAC-438B-AD6F-5B9210F663BA}" type="slidenum">
              <a:rPr lang="en-US" altLang="zh-CN" smtClean="0">
                <a:latin typeface="Arial" panose="020B0604020202020204" pitchFamily="34" charset="0"/>
              </a:rPr>
              <a:pPr/>
              <a:t>168</a:t>
            </a:fld>
            <a:endParaRPr lang="en-US" altLang="zh-CN">
              <a:latin typeface="Arial" panose="020B0604020202020204" pitchFamily="34" charset="0"/>
            </a:endParaRPr>
          </a:p>
        </p:txBody>
      </p:sp>
      <p:sp>
        <p:nvSpPr>
          <p:cNvPr id="381955" name="Rectangle 2">
            <a:extLst>
              <a:ext uri="{FF2B5EF4-FFF2-40B4-BE49-F238E27FC236}">
                <a16:creationId xmlns:a16="http://schemas.microsoft.com/office/drawing/2014/main" id="{F9D7DEC9-6562-456F-9A4A-04F8B2D342BD}"/>
              </a:ext>
            </a:extLst>
          </p:cNvPr>
          <p:cNvSpPr>
            <a:spLocks noGrp="1" noRot="1" noChangeAspect="1" noChangeArrowheads="1" noTextEdit="1"/>
          </p:cNvSpPr>
          <p:nvPr>
            <p:ph type="sldImg"/>
          </p:nvPr>
        </p:nvSpPr>
        <p:spPr>
          <a:xfrm>
            <a:off x="381000" y="685800"/>
            <a:ext cx="6096000" cy="3429000"/>
          </a:xfrm>
          <a:ln/>
        </p:spPr>
      </p:sp>
      <p:sp>
        <p:nvSpPr>
          <p:cNvPr id="381956" name="Rectangle 3">
            <a:extLst>
              <a:ext uri="{FF2B5EF4-FFF2-40B4-BE49-F238E27FC236}">
                <a16:creationId xmlns:a16="http://schemas.microsoft.com/office/drawing/2014/main" id="{996AD1AB-B24F-44CE-A9B1-BF1501FA60D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幻灯片图像占位符 1">
            <a:extLst>
              <a:ext uri="{FF2B5EF4-FFF2-40B4-BE49-F238E27FC236}">
                <a16:creationId xmlns:a16="http://schemas.microsoft.com/office/drawing/2014/main" id="{886C686F-A6CF-4471-8F0E-67D1E99AB24E}"/>
              </a:ext>
            </a:extLst>
          </p:cNvPr>
          <p:cNvSpPr>
            <a:spLocks noGrp="1" noRot="1" noChangeAspect="1" noChangeArrowheads="1" noTextEdit="1"/>
          </p:cNvSpPr>
          <p:nvPr>
            <p:ph type="sldImg"/>
          </p:nvPr>
        </p:nvSpPr>
        <p:spPr>
          <a:xfrm>
            <a:off x="381000" y="685800"/>
            <a:ext cx="6096000" cy="3429000"/>
          </a:xfrm>
          <a:ln/>
        </p:spPr>
      </p:sp>
      <p:sp>
        <p:nvSpPr>
          <p:cNvPr id="384003" name="备注占位符 2">
            <a:extLst>
              <a:ext uri="{FF2B5EF4-FFF2-40B4-BE49-F238E27FC236}">
                <a16:creationId xmlns:a16="http://schemas.microsoft.com/office/drawing/2014/main" id="{5F86F63A-DBC0-4B87-99A7-CF1DF04899C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Because this type of activation is irreversible, other mechanisms are needed to inactivate these enzymes. Proteases are inactivated by inhibitor proteins that </a:t>
            </a:r>
            <a:r>
              <a:rPr lang="en-US" altLang="zh-CN" b="1" dirty="0"/>
              <a:t>bind very tightly to the enzyme active site</a:t>
            </a:r>
            <a:r>
              <a:rPr lang="en-US" altLang="zh-CN" dirty="0"/>
              <a:t>. For example, </a:t>
            </a:r>
            <a:r>
              <a:rPr lang="en-US" altLang="zh-CN" b="1" dirty="0"/>
              <a:t>pancreatic trypsin inhibitor </a:t>
            </a:r>
            <a:r>
              <a:rPr lang="en-US" altLang="zh-CN" dirty="0"/>
              <a:t>(</a:t>
            </a:r>
            <a:r>
              <a:rPr lang="en-US" altLang="zh-CN" dirty="0" err="1"/>
              <a:t>Mr</a:t>
            </a:r>
            <a:r>
              <a:rPr lang="en-US" altLang="zh-CN" dirty="0"/>
              <a:t> 6,000) binds to and inhibits trypsin; </a:t>
            </a:r>
            <a:r>
              <a:rPr lang="en-US" altLang="zh-CN" b="1" dirty="0"/>
              <a:t>1-antiproteinase </a:t>
            </a:r>
            <a:r>
              <a:rPr lang="en-US" altLang="zh-CN" dirty="0"/>
              <a:t>(</a:t>
            </a:r>
            <a:r>
              <a:rPr lang="en-US" altLang="zh-CN" dirty="0" err="1"/>
              <a:t>Mr</a:t>
            </a:r>
            <a:r>
              <a:rPr lang="en-US" altLang="zh-CN" dirty="0"/>
              <a:t> 53,000) primarily inhibits neutrophil elastase </a:t>
            </a:r>
            <a:r>
              <a:rPr lang="zh-CN" altLang="en-US" dirty="0"/>
              <a:t>弹性蛋白酶</a:t>
            </a:r>
          </a:p>
          <a:p>
            <a:endParaRPr lang="en-US" altLang="zh-CN" dirty="0"/>
          </a:p>
          <a:p>
            <a:r>
              <a:rPr lang="zh-CN" altLang="en-US" dirty="0"/>
              <a:t>胰蛋白酶抑制剂 </a:t>
            </a:r>
            <a:r>
              <a:rPr lang="en-US" altLang="zh-CN" dirty="0"/>
              <a:t>(trypsin </a:t>
            </a:r>
            <a:r>
              <a:rPr lang="en-US" altLang="zh-CN" dirty="0" err="1"/>
              <a:t>inhibitor,TI</a:t>
            </a:r>
            <a:r>
              <a:rPr lang="en-US" altLang="zh-CN" dirty="0"/>
              <a:t>)</a:t>
            </a:r>
            <a:r>
              <a:rPr lang="zh-CN" altLang="en-US" dirty="0"/>
              <a:t>或称抗胰蛋白酶因子 </a:t>
            </a:r>
            <a:r>
              <a:rPr lang="en-US" altLang="zh-CN" dirty="0"/>
              <a:t>(antitrypsin),</a:t>
            </a:r>
            <a:r>
              <a:rPr lang="zh-CN" altLang="en-US" dirty="0"/>
              <a:t>是大豆以及其它一些植物性饲料中存在的重要的抗营养因子。 胰蛋白酶抑制剂广泛存在于豆类、谷类、油料作物等植物中。   故制备大豆类食物时（比如豆浆）要确保灭活其中的胰蛋白酶抑制剂，以免抑制消化道内的胰蛋白酶而影响对食物中蛋白质的消化。 </a:t>
            </a:r>
          </a:p>
        </p:txBody>
      </p:sp>
      <p:sp>
        <p:nvSpPr>
          <p:cNvPr id="384004" name="灯片编号占位符 3">
            <a:extLst>
              <a:ext uri="{FF2B5EF4-FFF2-40B4-BE49-F238E27FC236}">
                <a16:creationId xmlns:a16="http://schemas.microsoft.com/office/drawing/2014/main" id="{25178B02-53F8-4A48-914C-8E4BC26D59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C11615D-4649-4B1A-93EA-A776087A04A1}" type="slidenum">
              <a:rPr lang="en-US" altLang="zh-CN" smtClean="0">
                <a:latin typeface="Arial" panose="020B0604020202020204" pitchFamily="34" charset="0"/>
              </a:rPr>
              <a:pPr/>
              <a:t>169</a:t>
            </a:fld>
            <a:endParaRPr lang="en-US" altLang="zh-CN">
              <a:latin typeface="Arial" panose="020B0604020202020204" pitchFamily="34" charset="0"/>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这也是一种酶活性快速调节方式，虽然教材中未提及。 </a:t>
            </a:r>
            <a:endParaRPr lang="en-US" altLang="zh-CN" dirty="0"/>
          </a:p>
          <a:p>
            <a:endParaRPr lang="en-US" altLang="zh-CN" dirty="0"/>
          </a:p>
          <a:p>
            <a:r>
              <a:rPr lang="el-GR" altLang="zh-CN" dirty="0"/>
              <a:t>α1-</a:t>
            </a:r>
            <a:r>
              <a:rPr lang="zh-CN" altLang="en-US" dirty="0"/>
              <a:t>抗胰蛋白酶（</a:t>
            </a:r>
            <a:r>
              <a:rPr lang="el-GR" altLang="zh-CN" dirty="0"/>
              <a:t>α1-</a:t>
            </a:r>
            <a:r>
              <a:rPr lang="en-US" altLang="zh-CN" dirty="0"/>
              <a:t>antitrypsin</a:t>
            </a:r>
            <a:r>
              <a:rPr lang="zh-CN" altLang="en-US" dirty="0"/>
              <a:t>， </a:t>
            </a:r>
            <a:r>
              <a:rPr lang="en-US" altLang="zh-CN" dirty="0"/>
              <a:t>A1AT</a:t>
            </a:r>
            <a:r>
              <a:rPr lang="zh-CN" altLang="en-US" dirty="0"/>
              <a:t>）不止抗胰蛋白酶，可以抗多种蛋白酶，包括弹性蛋白酶（</a:t>
            </a:r>
            <a:r>
              <a:rPr lang="en-US" altLang="zh-CN" dirty="0"/>
              <a:t>elastase)</a:t>
            </a:r>
            <a:r>
              <a:rPr lang="zh-CN" altLang="en-US" dirty="0"/>
              <a:t>（主要来自中性粒细胞）</a:t>
            </a:r>
            <a:endParaRPr lang="en-US" altLang="zh-CN" dirty="0"/>
          </a:p>
          <a:p>
            <a:endParaRPr lang="en-US" altLang="zh-CN" dirty="0"/>
          </a:p>
          <a:p>
            <a:r>
              <a:rPr lang="zh-CN" altLang="en-US" dirty="0"/>
              <a:t>弹性蛋白酶会水解肺泡壁上的弹性蛋白，诱发肺气肿。 </a:t>
            </a:r>
            <a:endParaRPr lang="en-US" altLang="zh-CN" dirty="0"/>
          </a:p>
          <a:p>
            <a:r>
              <a:rPr lang="en-US" altLang="zh-CN" b="1" dirty="0"/>
              <a:t>α1-</a:t>
            </a:r>
            <a:r>
              <a:rPr lang="zh-CN" altLang="en-US" b="1" dirty="0"/>
              <a:t>抗胰蛋白酶缺乏症是一种遗传性疾病</a:t>
            </a:r>
            <a:r>
              <a:rPr lang="zh-CN" altLang="en-US" dirty="0"/>
              <a:t>，即使在不吸烟的情况下也会引起肺气肿。  白人中不少见，亚洲罕见。</a:t>
            </a:r>
            <a:endParaRPr lang="en-US" altLang="zh-CN" dirty="0"/>
          </a:p>
          <a:p>
            <a:r>
              <a:rPr lang="en-US" altLang="zh-CN" dirty="0"/>
              <a:t>α1-</a:t>
            </a:r>
            <a:r>
              <a:rPr lang="zh-CN" altLang="en-US" dirty="0"/>
              <a:t>抗胰蛋白酶血清水平越低</a:t>
            </a:r>
            <a:r>
              <a:rPr lang="en-US" altLang="zh-CN" dirty="0"/>
              <a:t>,</a:t>
            </a:r>
            <a:r>
              <a:rPr lang="zh-CN" altLang="en-US" dirty="0"/>
              <a:t>肺气肿越易发生</a:t>
            </a:r>
            <a:r>
              <a:rPr lang="en-US" altLang="zh-CN" dirty="0"/>
              <a:t>,</a:t>
            </a:r>
            <a:r>
              <a:rPr lang="zh-CN" altLang="en-US" dirty="0"/>
              <a:t>尤其是当与环境因素如吸烟等合并存在时</a:t>
            </a:r>
            <a:r>
              <a:rPr lang="en-US" altLang="zh-CN" dirty="0"/>
              <a:t>,</a:t>
            </a:r>
            <a:r>
              <a:rPr lang="zh-CN" altLang="en-US" dirty="0"/>
              <a:t>肺部症状多在病人</a:t>
            </a:r>
            <a:r>
              <a:rPr lang="en-US" altLang="zh-CN" dirty="0"/>
              <a:t>30</a:t>
            </a:r>
            <a:r>
              <a:rPr lang="zh-CN" altLang="en-US" dirty="0"/>
              <a:t>岁左右时发生</a:t>
            </a:r>
            <a:r>
              <a:rPr lang="en-US" altLang="zh-CN" dirty="0"/>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0" dirty="0"/>
              <a:t>Because A1AT is expressed in the liver, certain mutations in the gene encoding the protein can cause misfolding and impaired secretion, which can lead to </a:t>
            </a:r>
            <a:r>
              <a:rPr lang="en-US" altLang="zh-CN" b="1" dirty="0"/>
              <a:t>liver cirrhosis.</a:t>
            </a:r>
          </a:p>
          <a:p>
            <a:endParaRPr lang="en-US" altLang="zh-CN" dirty="0"/>
          </a:p>
          <a:p>
            <a:r>
              <a:rPr lang="zh-CN" altLang="en-US" dirty="0"/>
              <a:t>在肝脏，葡萄糖激酶和调节蛋白结合，呆在细胞核内，当血糖浓度升高，葡萄糖进入细胞核内与调节蛋白结合，释放出葡萄糖激酶进入到细胞质中发挥作用。 </a:t>
            </a:r>
            <a:endParaRPr lang="en-US" altLang="zh-CN" dirty="0"/>
          </a:p>
          <a:p>
            <a:endParaRPr lang="en-US" altLang="zh-CN" dirty="0"/>
          </a:p>
          <a:p>
            <a:r>
              <a:rPr lang="zh-CN" altLang="en-US" b="0" i="0" dirty="0">
                <a:solidFill>
                  <a:srgbClr val="111111"/>
                </a:solidFill>
                <a:effectLst/>
                <a:latin typeface="Microsoft YaHei" panose="020B0503020204020204" pitchFamily="34" charset="-122"/>
                <a:ea typeface="Microsoft YaHei" panose="020B0503020204020204" pitchFamily="34" charset="-122"/>
              </a:rPr>
              <a:t>各种</a:t>
            </a:r>
            <a:r>
              <a:rPr lang="en-US" altLang="zh-CN" b="0" i="0" dirty="0">
                <a:solidFill>
                  <a:srgbClr val="111111"/>
                </a:solidFill>
                <a:effectLst/>
                <a:latin typeface="Microsoft YaHei" panose="020B0503020204020204" pitchFamily="34" charset="-122"/>
                <a:ea typeface="Microsoft YaHei" panose="020B0503020204020204" pitchFamily="34" charset="-122"/>
              </a:rPr>
              <a:t>CDK</a:t>
            </a:r>
            <a:r>
              <a:rPr lang="zh-CN" altLang="en-US" b="0" i="0" dirty="0">
                <a:solidFill>
                  <a:srgbClr val="111111"/>
                </a:solidFill>
                <a:effectLst/>
                <a:latin typeface="Microsoft YaHei" panose="020B0503020204020204" pitchFamily="34" charset="-122"/>
                <a:ea typeface="Microsoft YaHei" panose="020B0503020204020204" pitchFamily="34" charset="-122"/>
              </a:rPr>
              <a:t>随细胞周期时相交替活化， 磷酸化相应底物，使细胞周期事件有条不紊地进行下去。</a:t>
            </a:r>
            <a:endParaRPr lang="zh-CN" altLang="en-US" dirty="0"/>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170</a:t>
            </a:fld>
            <a:endParaRPr lang="en-US" altLang="zh-CN"/>
          </a:p>
        </p:txBody>
      </p:sp>
    </p:spTree>
    <p:extLst>
      <p:ext uri="{BB962C8B-B14F-4D97-AF65-F5344CB8AC3E}">
        <p14:creationId xmlns:p14="http://schemas.microsoft.com/office/powerpoint/2010/main" val="2885071989"/>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7">
            <a:extLst>
              <a:ext uri="{FF2B5EF4-FFF2-40B4-BE49-F238E27FC236}">
                <a16:creationId xmlns:a16="http://schemas.microsoft.com/office/drawing/2014/main" id="{A03913FA-8038-450A-AF44-AF7F1546C7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AC81DFB-B84A-4964-911F-0C3A12C15D2B}" type="slidenum">
              <a:rPr lang="en-US" altLang="zh-CN" smtClean="0">
                <a:latin typeface="Arial" panose="020B0604020202020204" pitchFamily="34" charset="0"/>
              </a:rPr>
              <a:pPr/>
              <a:t>171</a:t>
            </a:fld>
            <a:endParaRPr lang="en-US" altLang="zh-CN">
              <a:latin typeface="Arial" panose="020B0604020202020204" pitchFamily="34" charset="0"/>
            </a:endParaRPr>
          </a:p>
        </p:txBody>
      </p:sp>
      <p:sp>
        <p:nvSpPr>
          <p:cNvPr id="386051" name="Rectangle 2">
            <a:extLst>
              <a:ext uri="{FF2B5EF4-FFF2-40B4-BE49-F238E27FC236}">
                <a16:creationId xmlns:a16="http://schemas.microsoft.com/office/drawing/2014/main" id="{57479FCE-2BCA-48E0-B8B3-899868D32E35}"/>
              </a:ext>
            </a:extLst>
          </p:cNvPr>
          <p:cNvSpPr>
            <a:spLocks noGrp="1" noRot="1" noChangeAspect="1" noChangeArrowheads="1" noTextEdit="1"/>
          </p:cNvSpPr>
          <p:nvPr>
            <p:ph type="sldImg"/>
          </p:nvPr>
        </p:nvSpPr>
        <p:spPr>
          <a:xfrm>
            <a:off x="381000" y="685800"/>
            <a:ext cx="6096000" cy="3429000"/>
          </a:xfrm>
          <a:ln/>
        </p:spPr>
      </p:sp>
      <p:sp>
        <p:nvSpPr>
          <p:cNvPr id="386052" name="Rectangle 3">
            <a:extLst>
              <a:ext uri="{FF2B5EF4-FFF2-40B4-BE49-F238E27FC236}">
                <a16:creationId xmlns:a16="http://schemas.microsoft.com/office/drawing/2014/main" id="{E787CE10-85EE-4663-A0E3-5D296563271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pPr>
            <a:r>
              <a:rPr lang="zh-CN" altLang="en-US" sz="900" dirty="0">
                <a:solidFill>
                  <a:srgbClr val="FFCC00"/>
                </a:solidFill>
              </a:rPr>
              <a:t>诱导与阻遏参见基因表达调控一章  ，泛素介导的蛋白酶降解 参见氨基酸代谢</a:t>
            </a:r>
            <a:endParaRPr lang="en-US" altLang="zh-CN" sz="900" dirty="0">
              <a:solidFill>
                <a:srgbClr val="FFCC00"/>
              </a:solidFill>
            </a:endParaRPr>
          </a:p>
          <a:p>
            <a:pPr eaLnBrk="1" hangingPunct="1">
              <a:lnSpc>
                <a:spcPct val="120000"/>
              </a:lnSpc>
            </a:pPr>
            <a:endParaRPr lang="en-US" altLang="zh-CN" sz="900" dirty="0">
              <a:solidFill>
                <a:srgbClr val="FFCC00"/>
              </a:solidFill>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幻灯片图像占位符 1">
            <a:extLst>
              <a:ext uri="{FF2B5EF4-FFF2-40B4-BE49-F238E27FC236}">
                <a16:creationId xmlns:a16="http://schemas.microsoft.com/office/drawing/2014/main" id="{BAF148E4-1257-432B-945B-BB3BA4AA5BC9}"/>
              </a:ext>
            </a:extLst>
          </p:cNvPr>
          <p:cNvSpPr>
            <a:spLocks noGrp="1" noRot="1" noChangeAspect="1" noChangeArrowheads="1" noTextEdit="1"/>
          </p:cNvSpPr>
          <p:nvPr>
            <p:ph type="sldImg"/>
          </p:nvPr>
        </p:nvSpPr>
        <p:spPr>
          <a:xfrm>
            <a:off x="381000" y="685800"/>
            <a:ext cx="6096000" cy="3429000"/>
          </a:xfrm>
          <a:ln/>
        </p:spPr>
      </p:sp>
      <p:sp>
        <p:nvSpPr>
          <p:cNvPr id="388099" name="备注占位符 2">
            <a:extLst>
              <a:ext uri="{FF2B5EF4-FFF2-40B4-BE49-F238E27FC236}">
                <a16:creationId xmlns:a16="http://schemas.microsoft.com/office/drawing/2014/main" id="{622B3E2A-6450-4211-A8BD-E5A0B76F027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a:p>
            <a:endParaRPr lang="en-US" altLang="zh-CN" dirty="0"/>
          </a:p>
        </p:txBody>
      </p:sp>
      <p:sp>
        <p:nvSpPr>
          <p:cNvPr id="388100" name="灯片编号占位符 3">
            <a:extLst>
              <a:ext uri="{FF2B5EF4-FFF2-40B4-BE49-F238E27FC236}">
                <a16:creationId xmlns:a16="http://schemas.microsoft.com/office/drawing/2014/main" id="{BDB604DE-A75E-4650-A765-5EA10ADD3AF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E72E492-51C0-4C01-A78C-EF62F57DAEA4}" type="slidenum">
              <a:rPr lang="en-US" altLang="zh-CN" smtClean="0">
                <a:latin typeface="Arial" panose="020B0604020202020204" pitchFamily="34" charset="0"/>
              </a:rPr>
              <a:pPr/>
              <a:t>173</a:t>
            </a:fld>
            <a:endParaRPr lang="en-US" altLang="zh-CN">
              <a:latin typeface="Arial" panose="020B0604020202020204" pitchFamily="34" charset="0"/>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7">
            <a:extLst>
              <a:ext uri="{FF2B5EF4-FFF2-40B4-BE49-F238E27FC236}">
                <a16:creationId xmlns:a16="http://schemas.microsoft.com/office/drawing/2014/main" id="{13E7CAC9-12B7-423C-B45E-35B845C02F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6FACB70-7B7B-431F-98D0-6793933A23B1}" type="slidenum">
              <a:rPr lang="en-US" altLang="zh-CN" smtClean="0">
                <a:latin typeface="Arial" panose="020B0604020202020204" pitchFamily="34" charset="0"/>
              </a:rPr>
              <a:pPr/>
              <a:t>174</a:t>
            </a:fld>
            <a:endParaRPr lang="en-US" altLang="zh-CN">
              <a:latin typeface="Arial" panose="020B0604020202020204" pitchFamily="34" charset="0"/>
            </a:endParaRPr>
          </a:p>
        </p:txBody>
      </p:sp>
      <p:sp>
        <p:nvSpPr>
          <p:cNvPr id="399363" name="Rectangle 2">
            <a:extLst>
              <a:ext uri="{FF2B5EF4-FFF2-40B4-BE49-F238E27FC236}">
                <a16:creationId xmlns:a16="http://schemas.microsoft.com/office/drawing/2014/main" id="{5AA1AD3D-4D6E-4075-8F9B-2AA2394EAA86}"/>
              </a:ext>
            </a:extLst>
          </p:cNvPr>
          <p:cNvSpPr>
            <a:spLocks noGrp="1" noRot="1" noChangeAspect="1" noChangeArrowheads="1" noTextEdit="1"/>
          </p:cNvSpPr>
          <p:nvPr>
            <p:ph type="sldImg"/>
          </p:nvPr>
        </p:nvSpPr>
        <p:spPr>
          <a:xfrm>
            <a:off x="381000" y="685800"/>
            <a:ext cx="6096000" cy="3429000"/>
          </a:xfrm>
          <a:ln/>
        </p:spPr>
      </p:sp>
      <p:sp>
        <p:nvSpPr>
          <p:cNvPr id="399364" name="Rectangle 3">
            <a:extLst>
              <a:ext uri="{FF2B5EF4-FFF2-40B4-BE49-F238E27FC236}">
                <a16:creationId xmlns:a16="http://schemas.microsoft.com/office/drawing/2014/main" id="{B4CD4045-8592-47ED-A9BA-30A6F7A4B8D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本节了解即可。</a:t>
            </a:r>
            <a:endParaRPr lang="en-US" altLang="zh-CN" dirty="0"/>
          </a:p>
          <a:p>
            <a:pPr eaLnBrk="1" hangingPunct="1"/>
            <a:r>
              <a:rPr lang="zh-CN" altLang="en-US" dirty="0"/>
              <a:t>目前命名委员会总共收录了 ７ ４００ 多种酶</a:t>
            </a:r>
          </a:p>
          <a:p>
            <a:pPr eaLnBrk="1" hangingPunct="1"/>
            <a:r>
              <a:rPr lang="en-US" altLang="zh-CN" dirty="0"/>
              <a:t>https://www.enzyme-database.org/advice.php</a:t>
            </a:r>
            <a:endParaRPr lang="zh-CN" alt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7">
            <a:extLst>
              <a:ext uri="{FF2B5EF4-FFF2-40B4-BE49-F238E27FC236}">
                <a16:creationId xmlns:a16="http://schemas.microsoft.com/office/drawing/2014/main" id="{551CA638-84C9-465E-85EB-845A067D07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5C2DA8D-8FDE-4C6E-A2BF-E6A27A097E03}" type="slidenum">
              <a:rPr lang="en-US" altLang="zh-CN" smtClean="0">
                <a:latin typeface="Arial" panose="020B0604020202020204" pitchFamily="34" charset="0"/>
              </a:rPr>
              <a:pPr/>
              <a:t>175</a:t>
            </a:fld>
            <a:endParaRPr lang="en-US" altLang="zh-CN">
              <a:latin typeface="Arial" panose="020B0604020202020204" pitchFamily="34" charset="0"/>
            </a:endParaRPr>
          </a:p>
        </p:txBody>
      </p:sp>
      <p:sp>
        <p:nvSpPr>
          <p:cNvPr id="401411" name="Rectangle 2">
            <a:extLst>
              <a:ext uri="{FF2B5EF4-FFF2-40B4-BE49-F238E27FC236}">
                <a16:creationId xmlns:a16="http://schemas.microsoft.com/office/drawing/2014/main" id="{7D7ADE6D-6B41-45A1-B055-D91264853866}"/>
              </a:ext>
            </a:extLst>
          </p:cNvPr>
          <p:cNvSpPr>
            <a:spLocks noGrp="1" noRot="1" noChangeAspect="1" noChangeArrowheads="1" noTextEdit="1"/>
          </p:cNvSpPr>
          <p:nvPr>
            <p:ph type="sldImg"/>
          </p:nvPr>
        </p:nvSpPr>
        <p:spPr>
          <a:xfrm>
            <a:off x="381000" y="685800"/>
            <a:ext cx="6096000" cy="3429000"/>
          </a:xfrm>
          <a:ln/>
        </p:spPr>
      </p:sp>
      <p:sp>
        <p:nvSpPr>
          <p:cNvPr id="401412" name="Rectangle 3">
            <a:extLst>
              <a:ext uri="{FF2B5EF4-FFF2-40B4-BE49-F238E27FC236}">
                <a16:creationId xmlns:a16="http://schemas.microsoft.com/office/drawing/2014/main" id="{9CDCE185-A6E3-4361-8A8D-7AD3C92251E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dirty="0"/>
              <a:t>这七类酶是严格的这个顺序，不要错位。因为顺序与每个酶的系统命名对应。</a:t>
            </a:r>
            <a:endParaRPr kumimoji="1" lang="en-US" altLang="zh-CN" dirty="0"/>
          </a:p>
          <a:p>
            <a:pPr eaLnBrk="1" hangingPunct="1"/>
            <a:endParaRPr kumimoji="1" lang="en-US" altLang="zh-CN" dirty="0"/>
          </a:p>
          <a:p>
            <a:pPr eaLnBrk="1" hangingPunct="1"/>
            <a:r>
              <a:rPr kumimoji="1" lang="en-US" altLang="zh-CN" dirty="0"/>
              <a:t>https://www.qmul.ac.uk/sbcs/iubmb/ </a:t>
            </a:r>
          </a:p>
          <a:p>
            <a:pPr eaLnBrk="1" hangingPunct="1"/>
            <a:r>
              <a:rPr kumimoji="1" lang="zh-CN" altLang="en-US" dirty="0"/>
              <a:t>国际酶学委员会（</a:t>
            </a:r>
            <a:r>
              <a:rPr lang="en-US" altLang="zh-CN" dirty="0"/>
              <a:t>Nomenclature Committee of the International Union of Biochemistry and Molecular Biology </a:t>
            </a:r>
            <a:r>
              <a:rPr kumimoji="1" lang="en-US" altLang="zh-CN" dirty="0"/>
              <a:t>, Enzyme Committee, EC</a:t>
            </a:r>
            <a:r>
              <a:rPr kumimoji="1" lang="zh-CN" altLang="en-US" dirty="0"/>
              <a:t>）</a:t>
            </a:r>
            <a:endParaRPr kumimoji="1" lang="en-US" altLang="zh-CN" dirty="0"/>
          </a:p>
          <a:p>
            <a:pPr eaLnBrk="1" hangingPunct="1"/>
            <a:endParaRPr kumimoji="1" lang="en-US" altLang="zh-CN" b="1" dirty="0"/>
          </a:p>
          <a:p>
            <a:pPr eaLnBrk="1" hangingPunct="1"/>
            <a:endParaRPr kumimoji="1" lang="en-US" altLang="zh-CN" b="1" dirty="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176</a:t>
            </a:fld>
            <a:endParaRPr lang="en-US" altLang="zh-CN"/>
          </a:p>
        </p:txBody>
      </p:sp>
    </p:spTree>
    <p:extLst>
      <p:ext uri="{BB962C8B-B14F-4D97-AF65-F5344CB8AC3E}">
        <p14:creationId xmlns:p14="http://schemas.microsoft.com/office/powerpoint/2010/main" val="620812804"/>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幻灯片图像占位符 1">
            <a:extLst>
              <a:ext uri="{FF2B5EF4-FFF2-40B4-BE49-F238E27FC236}">
                <a16:creationId xmlns:a16="http://schemas.microsoft.com/office/drawing/2014/main" id="{F47A67AA-58D0-4E1B-8ECF-359C029CCF5B}"/>
              </a:ext>
            </a:extLst>
          </p:cNvPr>
          <p:cNvSpPr>
            <a:spLocks noGrp="1" noRot="1" noChangeAspect="1" noChangeArrowheads="1" noTextEdit="1"/>
          </p:cNvSpPr>
          <p:nvPr>
            <p:ph type="sldImg"/>
          </p:nvPr>
        </p:nvSpPr>
        <p:spPr>
          <a:xfrm>
            <a:off x="381000" y="685800"/>
            <a:ext cx="6096000" cy="3429000"/>
          </a:xfrm>
          <a:ln/>
        </p:spPr>
      </p:sp>
      <p:sp>
        <p:nvSpPr>
          <p:cNvPr id="406531" name="备注占位符 2">
            <a:extLst>
              <a:ext uri="{FF2B5EF4-FFF2-40B4-BE49-F238E27FC236}">
                <a16:creationId xmlns:a16="http://schemas.microsoft.com/office/drawing/2014/main" id="{D5B2A4FA-3E4E-43A4-B4E7-D25F79B82AD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6532" name="灯片编号占位符 3">
            <a:extLst>
              <a:ext uri="{FF2B5EF4-FFF2-40B4-BE49-F238E27FC236}">
                <a16:creationId xmlns:a16="http://schemas.microsoft.com/office/drawing/2014/main" id="{A007363D-3F58-41CD-9D61-2BC95108D54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7170B96-3B1B-4051-9D63-DB9D549D06A5}" type="slidenum">
              <a:rPr lang="en-US" altLang="zh-CN" smtClean="0">
                <a:latin typeface="Arial" panose="020B0604020202020204" pitchFamily="34" charset="0"/>
              </a:rPr>
              <a:pPr/>
              <a:t>178</a:t>
            </a:fld>
            <a:endParaRPr lang="en-US" altLang="zh-CN">
              <a:latin typeface="Arial" panose="020B0604020202020204" pitchFamily="34" charset="0"/>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幻灯片图像占位符 1">
            <a:extLst>
              <a:ext uri="{FF2B5EF4-FFF2-40B4-BE49-F238E27FC236}">
                <a16:creationId xmlns:a16="http://schemas.microsoft.com/office/drawing/2014/main" id="{EF637F4B-04EB-4406-81E5-51137EDC7F65}"/>
              </a:ext>
            </a:extLst>
          </p:cNvPr>
          <p:cNvSpPr>
            <a:spLocks noGrp="1" noRot="1" noChangeAspect="1" noChangeArrowheads="1" noTextEdit="1"/>
          </p:cNvSpPr>
          <p:nvPr>
            <p:ph type="sldImg"/>
          </p:nvPr>
        </p:nvSpPr>
        <p:spPr>
          <a:xfrm>
            <a:off x="381000" y="685800"/>
            <a:ext cx="6096000" cy="3429000"/>
          </a:xfrm>
          <a:ln/>
        </p:spPr>
      </p:sp>
      <p:sp>
        <p:nvSpPr>
          <p:cNvPr id="409603" name="备注占位符 2">
            <a:extLst>
              <a:ext uri="{FF2B5EF4-FFF2-40B4-BE49-F238E27FC236}">
                <a16:creationId xmlns:a16="http://schemas.microsoft.com/office/drawing/2014/main" id="{786176BE-65F4-4626-8D8C-7290D6EE74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Wikipedia:    citrate synthase [E.C. 2.3.3.1 (previously 4.1.3.7)]  </a:t>
            </a:r>
          </a:p>
          <a:p>
            <a:r>
              <a:rPr lang="en-US" altLang="zh-CN"/>
              <a:t>DNA pol </a:t>
            </a:r>
            <a:r>
              <a:rPr lang="zh-CN" altLang="en-US"/>
              <a:t>及</a:t>
            </a:r>
            <a:r>
              <a:rPr lang="en-US" altLang="zh-CN"/>
              <a:t>RNA pol </a:t>
            </a:r>
            <a:r>
              <a:rPr lang="zh-CN" altLang="en-US"/>
              <a:t>等也属于第二类酶 </a:t>
            </a:r>
            <a:r>
              <a:rPr lang="en-US" altLang="zh-CN"/>
              <a:t>transferase</a:t>
            </a:r>
          </a:p>
          <a:p>
            <a:endParaRPr lang="zh-CN" altLang="en-US"/>
          </a:p>
        </p:txBody>
      </p:sp>
      <p:sp>
        <p:nvSpPr>
          <p:cNvPr id="409604" name="灯片编号占位符 3">
            <a:extLst>
              <a:ext uri="{FF2B5EF4-FFF2-40B4-BE49-F238E27FC236}">
                <a16:creationId xmlns:a16="http://schemas.microsoft.com/office/drawing/2014/main" id="{BCBE22EA-D55A-4DE5-90FD-778C5654EC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E6A6194-5157-40B0-90B6-816EBA5D3BA0}" type="slidenum">
              <a:rPr lang="en-US" altLang="zh-CN" smtClean="0">
                <a:latin typeface="Arial" panose="020B0604020202020204" pitchFamily="34" charset="0"/>
              </a:rPr>
              <a:pPr/>
              <a:t>180</a:t>
            </a:fld>
            <a:endParaRPr lang="en-US" altLang="zh-CN">
              <a:latin typeface="Arial" panose="020B0604020202020204" pitchFamily="34" charset="0"/>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幻灯片图像占位符 1">
            <a:extLst>
              <a:ext uri="{FF2B5EF4-FFF2-40B4-BE49-F238E27FC236}">
                <a16:creationId xmlns:a16="http://schemas.microsoft.com/office/drawing/2014/main" id="{18A63FE1-2E6C-435A-AA7C-CF3BE983CF63}"/>
              </a:ext>
            </a:extLst>
          </p:cNvPr>
          <p:cNvSpPr>
            <a:spLocks noGrp="1" noRot="1" noChangeAspect="1" noChangeArrowheads="1" noTextEdit="1"/>
          </p:cNvSpPr>
          <p:nvPr>
            <p:ph type="sldImg"/>
          </p:nvPr>
        </p:nvSpPr>
        <p:spPr>
          <a:xfrm>
            <a:off x="381000" y="685800"/>
            <a:ext cx="6096000" cy="3429000"/>
          </a:xfrm>
          <a:ln/>
        </p:spPr>
      </p:sp>
      <p:sp>
        <p:nvSpPr>
          <p:cNvPr id="411651" name="备注占位符 2">
            <a:extLst>
              <a:ext uri="{FF2B5EF4-FFF2-40B4-BE49-F238E27FC236}">
                <a16:creationId xmlns:a16="http://schemas.microsoft.com/office/drawing/2014/main" id="{DFDE23EF-3A9F-4A61-9911-A2C57D3B200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1652" name="灯片编号占位符 3">
            <a:extLst>
              <a:ext uri="{FF2B5EF4-FFF2-40B4-BE49-F238E27FC236}">
                <a16:creationId xmlns:a16="http://schemas.microsoft.com/office/drawing/2014/main" id="{5C9E5CAE-2EE7-4F30-BAD7-BA28B00F9F5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80CFF2E-F211-438F-8DDF-BFC5DF25A72D}" type="slidenum">
              <a:rPr lang="en-US" altLang="zh-CN" smtClean="0">
                <a:latin typeface="Arial" panose="020B0604020202020204" pitchFamily="34" charset="0"/>
              </a:rPr>
              <a:pPr/>
              <a:t>181</a:t>
            </a:fld>
            <a:endParaRPr lang="en-US" altLang="zh-CN">
              <a:latin typeface="Arial" panose="020B0604020202020204" pitchFamily="34" charset="0"/>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幻灯片图像占位符 1">
            <a:extLst>
              <a:ext uri="{FF2B5EF4-FFF2-40B4-BE49-F238E27FC236}">
                <a16:creationId xmlns:a16="http://schemas.microsoft.com/office/drawing/2014/main" id="{C8DD4E4C-07C1-4910-8130-E74FEB2894E2}"/>
              </a:ext>
            </a:extLst>
          </p:cNvPr>
          <p:cNvSpPr>
            <a:spLocks noGrp="1" noRot="1" noChangeAspect="1" noChangeArrowheads="1" noTextEdit="1"/>
          </p:cNvSpPr>
          <p:nvPr>
            <p:ph type="sldImg"/>
          </p:nvPr>
        </p:nvSpPr>
        <p:spPr>
          <a:xfrm>
            <a:off x="381000" y="685800"/>
            <a:ext cx="6096000" cy="3429000"/>
          </a:xfrm>
          <a:ln/>
        </p:spPr>
      </p:sp>
      <p:sp>
        <p:nvSpPr>
          <p:cNvPr id="414723" name="备注占位符 2">
            <a:extLst>
              <a:ext uri="{FF2B5EF4-FFF2-40B4-BE49-F238E27FC236}">
                <a16:creationId xmlns:a16="http://schemas.microsoft.com/office/drawing/2014/main" id="{99F8DA97-8418-4C76-A0DC-C3E5F3FC73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Lyases differ from other enzymes in that they require only one substrate for the reaction in one direction, but two substrates for the reverse reaction. </a:t>
            </a:r>
          </a:p>
          <a:p>
            <a:endParaRPr lang="en-US" altLang="zh-CN"/>
          </a:p>
          <a:p>
            <a:endParaRPr lang="zh-CN" altLang="en-US"/>
          </a:p>
        </p:txBody>
      </p:sp>
      <p:sp>
        <p:nvSpPr>
          <p:cNvPr id="414724" name="灯片编号占位符 3">
            <a:extLst>
              <a:ext uri="{FF2B5EF4-FFF2-40B4-BE49-F238E27FC236}">
                <a16:creationId xmlns:a16="http://schemas.microsoft.com/office/drawing/2014/main" id="{653ACC07-5CCA-4192-BF9B-EC02CAF2B06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88D808F-11A7-4C6C-A070-93C9C43FA885}" type="slidenum">
              <a:rPr lang="en-US" altLang="zh-CN" smtClean="0">
                <a:latin typeface="Arial" panose="020B0604020202020204" pitchFamily="34" charset="0"/>
              </a:rPr>
              <a:pPr/>
              <a:t>183</a:t>
            </a:fld>
            <a:endParaRPr lang="en-US" altLang="zh-CN">
              <a:latin typeface="Arial" panose="020B0604020202020204" pitchFamily="34" charset="0"/>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7">
            <a:extLst>
              <a:ext uri="{FF2B5EF4-FFF2-40B4-BE49-F238E27FC236}">
                <a16:creationId xmlns:a16="http://schemas.microsoft.com/office/drawing/2014/main" id="{E0E3E633-B852-439B-AE96-881F0BDF82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B79B801-E7AB-4091-977B-A168CDBFF970}" type="slidenum">
              <a:rPr lang="en-US" altLang="zh-CN" smtClean="0">
                <a:latin typeface="Arial" panose="020B0604020202020204" pitchFamily="34" charset="0"/>
              </a:rPr>
              <a:pPr/>
              <a:t>184</a:t>
            </a:fld>
            <a:endParaRPr lang="en-US" altLang="zh-CN">
              <a:latin typeface="Arial" panose="020B0604020202020204" pitchFamily="34" charset="0"/>
            </a:endParaRPr>
          </a:p>
        </p:txBody>
      </p:sp>
      <p:sp>
        <p:nvSpPr>
          <p:cNvPr id="416771" name="Rectangle 2">
            <a:extLst>
              <a:ext uri="{FF2B5EF4-FFF2-40B4-BE49-F238E27FC236}">
                <a16:creationId xmlns:a16="http://schemas.microsoft.com/office/drawing/2014/main" id="{D8DAD248-AE21-4285-89A6-D04381095BC2}"/>
              </a:ext>
            </a:extLst>
          </p:cNvPr>
          <p:cNvSpPr>
            <a:spLocks noGrp="1" noRot="1" noChangeAspect="1" noChangeArrowheads="1" noTextEdit="1"/>
          </p:cNvSpPr>
          <p:nvPr>
            <p:ph type="sldImg"/>
          </p:nvPr>
        </p:nvSpPr>
        <p:spPr>
          <a:xfrm>
            <a:off x="381000" y="685800"/>
            <a:ext cx="6096000" cy="3429000"/>
          </a:xfrm>
          <a:ln/>
        </p:spPr>
      </p:sp>
      <p:sp>
        <p:nvSpPr>
          <p:cNvPr id="416772" name="Rectangle 3">
            <a:extLst>
              <a:ext uri="{FF2B5EF4-FFF2-40B4-BE49-F238E27FC236}">
                <a16:creationId xmlns:a16="http://schemas.microsoft.com/office/drawing/2014/main" id="{3E599817-D318-4082-99B9-A459EEF2B3D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MS Sans Serif"/>
                <a:ea typeface="楷体_GB2312" pitchFamily="49" charset="-122"/>
              </a:rPr>
              <a:t>即底物分子内基团或原子的重排过程。</a:t>
            </a:r>
          </a:p>
          <a:p>
            <a:pPr eaLnBrk="1" hangingPunct="1"/>
            <a:endParaRPr lang="zh-CN" altLang="en-US">
              <a:latin typeface="MS Sans Serif"/>
              <a:ea typeface="楷体_GB2312" pitchFamily="49" charset="-122"/>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7">
            <a:extLst>
              <a:ext uri="{FF2B5EF4-FFF2-40B4-BE49-F238E27FC236}">
                <a16:creationId xmlns:a16="http://schemas.microsoft.com/office/drawing/2014/main" id="{F823A54E-1CFC-48CD-B5AE-6B13348772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5910424-28DB-4A8B-BE38-4865010380D3}" type="slidenum">
              <a:rPr lang="en-US" altLang="zh-CN" smtClean="0">
                <a:latin typeface="Arial" panose="020B0604020202020204" pitchFamily="34" charset="0"/>
              </a:rPr>
              <a:pPr/>
              <a:t>185</a:t>
            </a:fld>
            <a:endParaRPr lang="en-US" altLang="zh-CN">
              <a:latin typeface="Arial" panose="020B0604020202020204" pitchFamily="34" charset="0"/>
            </a:endParaRPr>
          </a:p>
        </p:txBody>
      </p:sp>
      <p:sp>
        <p:nvSpPr>
          <p:cNvPr id="418819" name="Rectangle 2">
            <a:extLst>
              <a:ext uri="{FF2B5EF4-FFF2-40B4-BE49-F238E27FC236}">
                <a16:creationId xmlns:a16="http://schemas.microsoft.com/office/drawing/2014/main" id="{0976C78A-1442-4F1C-825A-ABA7C9ED76FF}"/>
              </a:ext>
            </a:extLst>
          </p:cNvPr>
          <p:cNvSpPr>
            <a:spLocks noGrp="1" noRot="1" noChangeAspect="1" noChangeArrowheads="1" noTextEdit="1"/>
          </p:cNvSpPr>
          <p:nvPr>
            <p:ph type="sldImg"/>
          </p:nvPr>
        </p:nvSpPr>
        <p:spPr>
          <a:xfrm>
            <a:off x="381000" y="685800"/>
            <a:ext cx="6096000" cy="3429000"/>
          </a:xfrm>
          <a:ln/>
        </p:spPr>
      </p:sp>
      <p:sp>
        <p:nvSpPr>
          <p:cNvPr id="418820" name="Rectangle 3">
            <a:extLst>
              <a:ext uri="{FF2B5EF4-FFF2-40B4-BE49-F238E27FC236}">
                <a16:creationId xmlns:a16="http://schemas.microsoft.com/office/drawing/2014/main" id="{929B9FD5-565A-4731-8B18-F6C69DA6353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楷体_GB2312" pitchFamily="49" charset="-122"/>
                <a:ea typeface="楷体_GB2312" pitchFamily="49" charset="-122"/>
              </a:rPr>
              <a:t>能够催化</a:t>
            </a:r>
            <a:r>
              <a:rPr lang="en-US" altLang="zh-CN">
                <a:latin typeface="楷体_GB2312" pitchFamily="49" charset="-122"/>
                <a:ea typeface="楷体_GB2312" pitchFamily="49" charset="-122"/>
              </a:rPr>
              <a:t>C-C</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C-O</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C-N </a:t>
            </a:r>
            <a:r>
              <a:rPr lang="zh-CN" altLang="en-US">
                <a:latin typeface="楷体_GB2312" pitchFamily="49" charset="-122"/>
                <a:ea typeface="楷体_GB2312" pitchFamily="49" charset="-122"/>
              </a:rPr>
              <a:t>以及</a:t>
            </a:r>
            <a:r>
              <a:rPr lang="en-US" altLang="zh-CN">
                <a:latin typeface="楷体_GB2312" pitchFamily="49" charset="-122"/>
                <a:ea typeface="楷体_GB2312" pitchFamily="49" charset="-122"/>
              </a:rPr>
              <a:t>C-S </a:t>
            </a:r>
            <a:r>
              <a:rPr lang="zh-CN" altLang="en-US">
                <a:latin typeface="楷体_GB2312" pitchFamily="49" charset="-122"/>
                <a:ea typeface="楷体_GB2312" pitchFamily="49" charset="-122"/>
              </a:rPr>
              <a:t>键形成的反应。这类反应必须与</a:t>
            </a:r>
            <a:r>
              <a:rPr lang="en-US" altLang="zh-CN">
                <a:latin typeface="楷体_GB2312" pitchFamily="49" charset="-122"/>
                <a:ea typeface="楷体_GB2312" pitchFamily="49" charset="-122"/>
              </a:rPr>
              <a:t>ATP</a:t>
            </a:r>
            <a:r>
              <a:rPr lang="zh-CN" altLang="en-US">
                <a:latin typeface="楷体_GB2312" pitchFamily="49" charset="-122"/>
                <a:ea typeface="楷体_GB2312" pitchFamily="49" charset="-122"/>
              </a:rPr>
              <a:t>分解反应相互偶联。</a:t>
            </a:r>
            <a:endParaRPr lang="en-US" altLang="zh-CN">
              <a:latin typeface="楷体_GB2312" pitchFamily="49" charset="-122"/>
              <a:ea typeface="楷体_GB2312" pitchFamily="49" charset="-122"/>
            </a:endParaRPr>
          </a:p>
          <a:p>
            <a:pPr eaLnBrk="1" hangingPunct="1"/>
            <a:endParaRPr lang="en-US" altLang="zh-CN"/>
          </a:p>
          <a:p>
            <a:pPr eaLnBrk="1" hangingPunct="1"/>
            <a:endParaRPr lang="en-US" altLang="zh-CN"/>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幻灯片图像占位符 1">
            <a:extLst>
              <a:ext uri="{FF2B5EF4-FFF2-40B4-BE49-F238E27FC236}">
                <a16:creationId xmlns:a16="http://schemas.microsoft.com/office/drawing/2014/main" id="{C706A2A1-74EA-400C-9163-C7D46F55D238}"/>
              </a:ext>
            </a:extLst>
          </p:cNvPr>
          <p:cNvSpPr>
            <a:spLocks noGrp="1" noRot="1" noChangeAspect="1" noChangeArrowheads="1" noTextEdit="1"/>
          </p:cNvSpPr>
          <p:nvPr>
            <p:ph type="sldImg"/>
          </p:nvPr>
        </p:nvSpPr>
        <p:spPr>
          <a:xfrm>
            <a:off x="381000" y="685800"/>
            <a:ext cx="6096000" cy="3429000"/>
          </a:xfrm>
          <a:ln/>
        </p:spPr>
      </p:sp>
      <p:sp>
        <p:nvSpPr>
          <p:cNvPr id="420867" name="备注占位符 2">
            <a:extLst>
              <a:ext uri="{FF2B5EF4-FFF2-40B4-BE49-F238E27FC236}">
                <a16:creationId xmlns:a16="http://schemas.microsoft.com/office/drawing/2014/main" id="{43D5C295-F1A0-4623-9908-8DDA873FD4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https://www.qmul.ac.uk/sbcs/iubmb/enzyme/EC7/</a:t>
            </a:r>
          </a:p>
          <a:p>
            <a:endParaRPr lang="en-US" altLang="zh-CN" dirty="0">
              <a:latin typeface="FZSSK--GBK1-0"/>
            </a:endParaRPr>
          </a:p>
          <a:p>
            <a:r>
              <a:rPr lang="zh-CN" altLang="en-US" dirty="0">
                <a:latin typeface="FZSSK--GBK1-0"/>
              </a:rPr>
              <a:t>不依赖酶催化的交换转运体如离子跨膜交换的转运体不包括在这第七大类酶之中</a:t>
            </a:r>
            <a:r>
              <a:rPr lang="zh-CN" altLang="en-US" dirty="0">
                <a:latin typeface="E-BZ"/>
              </a:rPr>
              <a:t> 。 另外，</a:t>
            </a:r>
            <a:r>
              <a:rPr lang="zh-CN" altLang="en-US" dirty="0">
                <a:latin typeface="FZSSK--GBK1-0"/>
              </a:rPr>
              <a:t>由磷酸化反应或其他催化反应而在</a:t>
            </a:r>
            <a:r>
              <a:rPr lang="zh-CN" altLang="en-US" dirty="0">
                <a:latin typeface="E-BZ"/>
              </a:rPr>
              <a:t>“</a:t>
            </a:r>
            <a:r>
              <a:rPr lang="zh-CN" altLang="en-US" dirty="0">
                <a:latin typeface="FZSSK--GBK1-0"/>
              </a:rPr>
              <a:t>打开</a:t>
            </a:r>
            <a:r>
              <a:rPr lang="zh-CN" altLang="en-US" dirty="0">
                <a:latin typeface="E-BZ"/>
              </a:rPr>
              <a:t>”</a:t>
            </a:r>
            <a:r>
              <a:rPr lang="zh-CN" altLang="en-US" dirty="0">
                <a:latin typeface="FZSSK--GBK1-0"/>
              </a:rPr>
              <a:t>和</a:t>
            </a:r>
            <a:r>
              <a:rPr lang="zh-CN" altLang="en-US" dirty="0">
                <a:latin typeface="E-BZ"/>
              </a:rPr>
              <a:t>“</a:t>
            </a:r>
            <a:r>
              <a:rPr lang="zh-CN" altLang="en-US" dirty="0">
                <a:latin typeface="FZSSK--GBK1-0"/>
              </a:rPr>
              <a:t>关闭</a:t>
            </a:r>
            <a:r>
              <a:rPr lang="zh-CN" altLang="en-US" dirty="0">
                <a:latin typeface="E-BZ"/>
              </a:rPr>
              <a:t>”</a:t>
            </a:r>
            <a:r>
              <a:rPr lang="zh-CN" altLang="en-US" dirty="0">
                <a:latin typeface="FZSSK--GBK1-0"/>
              </a:rPr>
              <a:t>两种构象状态之间转变的孔道被归为异构酶类</a:t>
            </a:r>
            <a:r>
              <a:rPr lang="en-US" altLang="zh-CN" dirty="0">
                <a:latin typeface="E-BZ"/>
              </a:rPr>
              <a:t>(</a:t>
            </a:r>
            <a:r>
              <a:rPr lang="en-US" altLang="zh-CN" dirty="0"/>
              <a:t>EC 5.6</a:t>
            </a:r>
            <a:r>
              <a:rPr lang="zh-CN" altLang="en-US" dirty="0"/>
              <a:t>，</a:t>
            </a:r>
            <a:r>
              <a:rPr lang="zh-CN" altLang="en-US" dirty="0">
                <a:latin typeface="FZSSK--GBK1-0"/>
              </a:rPr>
              <a:t>属大分子构象异构酶</a:t>
            </a:r>
            <a:r>
              <a:rPr lang="en-US" altLang="zh-CN" dirty="0">
                <a:latin typeface="E-BZ"/>
              </a:rPr>
              <a:t>)</a:t>
            </a:r>
            <a:endParaRPr lang="en-US" altLang="zh-CN" dirty="0"/>
          </a:p>
          <a:p>
            <a:endParaRPr lang="en-US" altLang="zh-CN" dirty="0"/>
          </a:p>
          <a:p>
            <a:endParaRPr lang="zh-CN" altLang="en-US" dirty="0"/>
          </a:p>
        </p:txBody>
      </p:sp>
      <p:sp>
        <p:nvSpPr>
          <p:cNvPr id="420868" name="灯片编号占位符 3">
            <a:extLst>
              <a:ext uri="{FF2B5EF4-FFF2-40B4-BE49-F238E27FC236}">
                <a16:creationId xmlns:a16="http://schemas.microsoft.com/office/drawing/2014/main" id="{6D769D6F-10E5-4489-9876-B54B5DF8479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82B5C42-F9B9-401E-98AD-94651D2E4EE4}" type="slidenum">
              <a:rPr lang="en-US" altLang="zh-CN" smtClean="0">
                <a:latin typeface="Arial" panose="020B0604020202020204" pitchFamily="34" charset="0"/>
              </a:rPr>
              <a:pPr/>
              <a:t>186</a:t>
            </a:fld>
            <a:endParaRPr lang="en-US" altLang="zh-CN">
              <a:latin typeface="Arial" panose="020B0604020202020204" pitchFamily="34" charset="0"/>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7">
            <a:extLst>
              <a:ext uri="{FF2B5EF4-FFF2-40B4-BE49-F238E27FC236}">
                <a16:creationId xmlns:a16="http://schemas.microsoft.com/office/drawing/2014/main" id="{20673312-FE2A-4F5B-B87E-27C094BE61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443D2D7-2EDC-4240-AD8C-4C0D65123AC3}" type="slidenum">
              <a:rPr lang="en-US" altLang="zh-CN" smtClean="0">
                <a:latin typeface="Arial" panose="020B0604020202020204" pitchFamily="34" charset="0"/>
              </a:rPr>
              <a:pPr/>
              <a:t>187</a:t>
            </a:fld>
            <a:endParaRPr lang="en-US" altLang="zh-CN">
              <a:latin typeface="Arial" panose="020B0604020202020204" pitchFamily="34" charset="0"/>
            </a:endParaRPr>
          </a:p>
        </p:txBody>
      </p:sp>
      <p:sp>
        <p:nvSpPr>
          <p:cNvPr id="422915" name="Rectangle 2">
            <a:extLst>
              <a:ext uri="{FF2B5EF4-FFF2-40B4-BE49-F238E27FC236}">
                <a16:creationId xmlns:a16="http://schemas.microsoft.com/office/drawing/2014/main" id="{8517A5AD-DA43-406A-92E8-7794217734D2}"/>
              </a:ext>
            </a:extLst>
          </p:cNvPr>
          <p:cNvSpPr>
            <a:spLocks noGrp="1" noRot="1" noChangeAspect="1" noChangeArrowheads="1" noTextEdit="1"/>
          </p:cNvSpPr>
          <p:nvPr>
            <p:ph type="sldImg"/>
          </p:nvPr>
        </p:nvSpPr>
        <p:spPr>
          <a:xfrm>
            <a:off x="381000" y="685800"/>
            <a:ext cx="6096000" cy="3429000"/>
          </a:xfrm>
          <a:ln/>
        </p:spPr>
      </p:sp>
      <p:sp>
        <p:nvSpPr>
          <p:cNvPr id="422916" name="Rectangle 3">
            <a:extLst>
              <a:ext uri="{FF2B5EF4-FFF2-40B4-BE49-F238E27FC236}">
                <a16:creationId xmlns:a16="http://schemas.microsoft.com/office/drawing/2014/main" id="{0BC196DB-5EBC-4E27-A180-294B48F310C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书上的酶一般都用习惯命名法</a:t>
            </a:r>
            <a:endParaRPr lang="zh-CN" altLang="zh-CN"/>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7">
            <a:extLst>
              <a:ext uri="{FF2B5EF4-FFF2-40B4-BE49-F238E27FC236}">
                <a16:creationId xmlns:a16="http://schemas.microsoft.com/office/drawing/2014/main" id="{883284F6-6001-4330-9C63-0ABA15D0BD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DE5E05E-B170-41C9-A7EA-9C4615BA2188}" type="slidenum">
              <a:rPr lang="en-US" altLang="zh-CN" smtClean="0">
                <a:latin typeface="Arial" panose="020B0604020202020204" pitchFamily="34" charset="0"/>
              </a:rPr>
              <a:pPr/>
              <a:t>188</a:t>
            </a:fld>
            <a:endParaRPr lang="en-US" altLang="zh-CN">
              <a:latin typeface="Arial" panose="020B0604020202020204" pitchFamily="34" charset="0"/>
            </a:endParaRPr>
          </a:p>
        </p:txBody>
      </p:sp>
      <p:sp>
        <p:nvSpPr>
          <p:cNvPr id="424963" name="Rectangle 2">
            <a:extLst>
              <a:ext uri="{FF2B5EF4-FFF2-40B4-BE49-F238E27FC236}">
                <a16:creationId xmlns:a16="http://schemas.microsoft.com/office/drawing/2014/main" id="{7A4A4786-8E85-43E7-AFB0-98FD26C6387F}"/>
              </a:ext>
            </a:extLst>
          </p:cNvPr>
          <p:cNvSpPr>
            <a:spLocks noGrp="1" noRot="1" noChangeAspect="1" noChangeArrowheads="1" noTextEdit="1"/>
          </p:cNvSpPr>
          <p:nvPr>
            <p:ph type="sldImg"/>
          </p:nvPr>
        </p:nvSpPr>
        <p:spPr>
          <a:xfrm>
            <a:off x="381000" y="685800"/>
            <a:ext cx="6096000" cy="3429000"/>
          </a:xfrm>
          <a:ln/>
        </p:spPr>
      </p:sp>
      <p:sp>
        <p:nvSpPr>
          <p:cNvPr id="424964" name="Rectangle 3">
            <a:extLst>
              <a:ext uri="{FF2B5EF4-FFF2-40B4-BE49-F238E27FC236}">
                <a16:creationId xmlns:a16="http://schemas.microsoft.com/office/drawing/2014/main" id="{46B8056D-E259-440D-8910-C77706B87CF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10000"/>
              </a:lnSpc>
              <a:spcBef>
                <a:spcPct val="0"/>
              </a:spcBef>
            </a:pPr>
            <a:endParaRPr lang="zh-CN" altLang="zh-CN" sz="2800" b="1" dirty="0">
              <a:ea typeface="黑体" panose="02010609060101010101" pitchFamily="49" charset="-122"/>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为了适应酶学发展的新情况，国际酶学会议于</a:t>
            </a:r>
            <a:r>
              <a:rPr lang="en-US" altLang="zh-CN" dirty="0"/>
              <a:t>1961</a:t>
            </a:r>
            <a:r>
              <a:rPr lang="zh-CN" altLang="en-US" dirty="0"/>
              <a:t>年提出一个新的系统命名法及分类原则，已被国际生化协会采用。</a:t>
            </a:r>
          </a:p>
          <a:p>
            <a:endParaRPr lang="zh-CN" altLang="en-US" dirty="0"/>
          </a:p>
        </p:txBody>
      </p:sp>
      <p:sp>
        <p:nvSpPr>
          <p:cNvPr id="4" name="灯片编号占位符 3"/>
          <p:cNvSpPr>
            <a:spLocks noGrp="1"/>
          </p:cNvSpPr>
          <p:nvPr>
            <p:ph type="sldNum" sz="quarter" idx="5"/>
          </p:nvPr>
        </p:nvSpPr>
        <p:spPr/>
        <p:txBody>
          <a:bodyPr/>
          <a:lstStyle/>
          <a:p>
            <a:pPr>
              <a:defRPr/>
            </a:pPr>
            <a:fld id="{5BA13EFE-004E-48EB-BFFD-87CE39A761E0}" type="slidenum">
              <a:rPr lang="en-US" altLang="zh-CN" smtClean="0"/>
              <a:pPr>
                <a:defRPr/>
              </a:pPr>
              <a:t>189</a:t>
            </a:fld>
            <a:endParaRPr lang="en-US" altLang="zh-CN"/>
          </a:p>
        </p:txBody>
      </p:sp>
    </p:spTree>
    <p:extLst>
      <p:ext uri="{BB962C8B-B14F-4D97-AF65-F5344CB8AC3E}">
        <p14:creationId xmlns:p14="http://schemas.microsoft.com/office/powerpoint/2010/main" val="1688585116"/>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7">
            <a:extLst>
              <a:ext uri="{FF2B5EF4-FFF2-40B4-BE49-F238E27FC236}">
                <a16:creationId xmlns:a16="http://schemas.microsoft.com/office/drawing/2014/main" id="{9E8DB91D-913D-4322-8A92-E68EC1B42A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8BF4327-714F-4EA9-95AD-CA78FBE79D65}" type="slidenum">
              <a:rPr lang="en-US" altLang="zh-CN" smtClean="0">
                <a:latin typeface="Arial" panose="020B0604020202020204" pitchFamily="34" charset="0"/>
              </a:rPr>
              <a:pPr/>
              <a:t>191</a:t>
            </a:fld>
            <a:endParaRPr lang="en-US" altLang="zh-CN">
              <a:latin typeface="Arial" panose="020B0604020202020204" pitchFamily="34" charset="0"/>
            </a:endParaRPr>
          </a:p>
        </p:txBody>
      </p:sp>
      <p:sp>
        <p:nvSpPr>
          <p:cNvPr id="431107" name="Rectangle 2">
            <a:extLst>
              <a:ext uri="{FF2B5EF4-FFF2-40B4-BE49-F238E27FC236}">
                <a16:creationId xmlns:a16="http://schemas.microsoft.com/office/drawing/2014/main" id="{E0A295DC-F6E4-4F42-A260-19BDF0390654}"/>
              </a:ext>
            </a:extLst>
          </p:cNvPr>
          <p:cNvSpPr>
            <a:spLocks noGrp="1" noRot="1" noChangeAspect="1" noChangeArrowheads="1" noTextEdit="1"/>
          </p:cNvSpPr>
          <p:nvPr>
            <p:ph type="sldImg"/>
          </p:nvPr>
        </p:nvSpPr>
        <p:spPr>
          <a:xfrm>
            <a:off x="381000" y="685800"/>
            <a:ext cx="6096000" cy="3429000"/>
          </a:xfrm>
          <a:ln/>
        </p:spPr>
      </p:sp>
      <p:sp>
        <p:nvSpPr>
          <p:cNvPr id="431108" name="Rectangle 3">
            <a:extLst>
              <a:ext uri="{FF2B5EF4-FFF2-40B4-BE49-F238E27FC236}">
                <a16:creationId xmlns:a16="http://schemas.microsoft.com/office/drawing/2014/main" id="{27DF22B8-A2E4-418F-95A9-8596565F747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kumimoji="1" lang="zh-CN" altLang="en-US"/>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7">
            <a:extLst>
              <a:ext uri="{FF2B5EF4-FFF2-40B4-BE49-F238E27FC236}">
                <a16:creationId xmlns:a16="http://schemas.microsoft.com/office/drawing/2014/main" id="{FDA18B18-3966-4CDD-9E68-3EE1AACBCD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2954F10-9BC7-4331-91CC-20A6FF91062F}" type="slidenum">
              <a:rPr lang="en-US" altLang="zh-CN" smtClean="0">
                <a:latin typeface="Arial" panose="020B0604020202020204" pitchFamily="34" charset="0"/>
              </a:rPr>
              <a:pPr/>
              <a:t>193</a:t>
            </a:fld>
            <a:endParaRPr lang="en-US" altLang="zh-CN">
              <a:latin typeface="Arial" panose="020B0604020202020204" pitchFamily="34" charset="0"/>
            </a:endParaRPr>
          </a:p>
        </p:txBody>
      </p:sp>
      <p:sp>
        <p:nvSpPr>
          <p:cNvPr id="434179" name="Rectangle 2">
            <a:extLst>
              <a:ext uri="{FF2B5EF4-FFF2-40B4-BE49-F238E27FC236}">
                <a16:creationId xmlns:a16="http://schemas.microsoft.com/office/drawing/2014/main" id="{6CAC6954-35A9-42A4-8564-8F68FB28DDE1}"/>
              </a:ext>
            </a:extLst>
          </p:cNvPr>
          <p:cNvSpPr>
            <a:spLocks noGrp="1" noRot="1" noChangeAspect="1" noChangeArrowheads="1" noTextEdit="1"/>
          </p:cNvSpPr>
          <p:nvPr>
            <p:ph type="sldImg"/>
          </p:nvPr>
        </p:nvSpPr>
        <p:spPr>
          <a:xfrm>
            <a:off x="381000" y="685800"/>
            <a:ext cx="6096000" cy="3429000"/>
          </a:xfrm>
          <a:ln/>
        </p:spPr>
      </p:sp>
      <p:sp>
        <p:nvSpPr>
          <p:cNvPr id="434180" name="Rectangle 3">
            <a:extLst>
              <a:ext uri="{FF2B5EF4-FFF2-40B4-BE49-F238E27FC236}">
                <a16:creationId xmlns:a16="http://schemas.microsoft.com/office/drawing/2014/main" id="{79679199-7FF0-4CD2-9C58-6E90D77FEBC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本节自学 </a:t>
            </a: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幻灯片图像占位符 1">
            <a:extLst>
              <a:ext uri="{FF2B5EF4-FFF2-40B4-BE49-F238E27FC236}">
                <a16:creationId xmlns:a16="http://schemas.microsoft.com/office/drawing/2014/main" id="{2345728E-DEC9-49B2-BFCB-1E64A1F83462}"/>
              </a:ext>
            </a:extLst>
          </p:cNvPr>
          <p:cNvSpPr>
            <a:spLocks noGrp="1" noRot="1" noChangeAspect="1" noChangeArrowheads="1" noTextEdit="1"/>
          </p:cNvSpPr>
          <p:nvPr>
            <p:ph type="sldImg"/>
          </p:nvPr>
        </p:nvSpPr>
        <p:spPr>
          <a:xfrm>
            <a:off x="381000" y="685800"/>
            <a:ext cx="6096000" cy="3429000"/>
          </a:xfrm>
          <a:ln/>
        </p:spPr>
      </p:sp>
      <p:sp>
        <p:nvSpPr>
          <p:cNvPr id="436227" name="备注占位符 2">
            <a:extLst>
              <a:ext uri="{FF2B5EF4-FFF2-40B4-BE49-F238E27FC236}">
                <a16:creationId xmlns:a16="http://schemas.microsoft.com/office/drawing/2014/main" id="{23022D41-28CC-4CEF-AAA0-40757748F7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6228" name="灯片编号占位符 3">
            <a:extLst>
              <a:ext uri="{FF2B5EF4-FFF2-40B4-BE49-F238E27FC236}">
                <a16:creationId xmlns:a16="http://schemas.microsoft.com/office/drawing/2014/main" id="{92ED6504-3523-41B3-AC54-3DF9963372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6777D43-1428-4832-A659-3029CA0FD18A}" type="slidenum">
              <a:rPr lang="en-US" altLang="zh-CN" smtClean="0">
                <a:latin typeface="Arial" panose="020B0604020202020204" pitchFamily="34" charset="0"/>
              </a:rPr>
              <a:pPr/>
              <a:t>194</a:t>
            </a:fld>
            <a:endParaRPr lang="en-US" altLang="zh-CN">
              <a:latin typeface="Arial" panose="020B0604020202020204" pitchFamily="34" charset="0"/>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7">
            <a:extLst>
              <a:ext uri="{FF2B5EF4-FFF2-40B4-BE49-F238E27FC236}">
                <a16:creationId xmlns:a16="http://schemas.microsoft.com/office/drawing/2014/main" id="{04307436-9455-40F7-BF39-CB47AB8B97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BD8542B-881F-4F32-A374-7C9F011F4E8C}" type="slidenum">
              <a:rPr lang="en-US" altLang="zh-CN" smtClean="0">
                <a:latin typeface="Arial" panose="020B0604020202020204" pitchFamily="34" charset="0"/>
              </a:rPr>
              <a:pPr/>
              <a:t>195</a:t>
            </a:fld>
            <a:endParaRPr lang="en-US" altLang="zh-CN">
              <a:latin typeface="Arial" panose="020B0604020202020204" pitchFamily="34" charset="0"/>
            </a:endParaRPr>
          </a:p>
        </p:txBody>
      </p:sp>
      <p:sp>
        <p:nvSpPr>
          <p:cNvPr id="438275" name="Rectangle 2">
            <a:extLst>
              <a:ext uri="{FF2B5EF4-FFF2-40B4-BE49-F238E27FC236}">
                <a16:creationId xmlns:a16="http://schemas.microsoft.com/office/drawing/2014/main" id="{0150532B-7FAE-4CB0-AC26-07A9F447A94C}"/>
              </a:ext>
            </a:extLst>
          </p:cNvPr>
          <p:cNvSpPr>
            <a:spLocks noGrp="1" noRot="1" noChangeAspect="1" noChangeArrowheads="1" noTextEdit="1"/>
          </p:cNvSpPr>
          <p:nvPr>
            <p:ph type="sldImg"/>
          </p:nvPr>
        </p:nvSpPr>
        <p:spPr>
          <a:xfrm>
            <a:off x="381000" y="685800"/>
            <a:ext cx="6096000" cy="3429000"/>
          </a:xfrm>
          <a:ln/>
        </p:spPr>
      </p:sp>
      <p:sp>
        <p:nvSpPr>
          <p:cNvPr id="438276" name="Rectangle 3">
            <a:extLst>
              <a:ext uri="{FF2B5EF4-FFF2-40B4-BE49-F238E27FC236}">
                <a16:creationId xmlns:a16="http://schemas.microsoft.com/office/drawing/2014/main" id="{5DADFD2F-F6CA-4F84-9AD0-DABC84BA72E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1</a:t>
            </a:r>
            <a:r>
              <a:rPr lang="zh-CN" altLang="en-US" dirty="0"/>
              <a:t>、至少</a:t>
            </a:r>
            <a:r>
              <a:rPr lang="en-US" altLang="zh-CN" dirty="0"/>
              <a:t>140</a:t>
            </a:r>
            <a:r>
              <a:rPr lang="zh-CN" altLang="en-US" dirty="0"/>
              <a:t>种先天代谢缺陷病与酶缺陷有关。如白化病</a:t>
            </a:r>
            <a:r>
              <a:rPr lang="en-US" altLang="zh-CN" dirty="0"/>
              <a:t>——</a:t>
            </a:r>
            <a:r>
              <a:rPr lang="zh-CN" altLang="en-US" dirty="0"/>
              <a:t>酪氨酸酶先天缺乏。</a:t>
            </a:r>
            <a:br>
              <a:rPr lang="zh-CN" altLang="en-US" dirty="0"/>
            </a:br>
            <a:r>
              <a:rPr lang="en-US" altLang="zh-CN" dirty="0"/>
              <a:t>2</a:t>
            </a:r>
            <a:r>
              <a:rPr lang="zh-CN" altLang="en-US" dirty="0"/>
              <a:t>、许多疾病引起酶异常，酶异常又加重病情。如；胰腺炎。</a:t>
            </a:r>
            <a:br>
              <a:rPr lang="zh-CN" altLang="en-US" dirty="0"/>
            </a:br>
            <a:r>
              <a:rPr lang="en-US" altLang="zh-CN" dirty="0"/>
              <a:t>3</a:t>
            </a:r>
            <a:r>
              <a:rPr lang="zh-CN" altLang="en-US" dirty="0"/>
              <a:t>、激素代谢障碍或维生素缺乏会引起酶异常。</a:t>
            </a:r>
            <a:br>
              <a:rPr lang="zh-CN" altLang="en-US" dirty="0"/>
            </a:br>
            <a:r>
              <a:rPr lang="en-US" altLang="zh-CN" dirty="0"/>
              <a:t>4</a:t>
            </a:r>
            <a:r>
              <a:rPr lang="zh-CN" altLang="en-US" dirty="0"/>
              <a:t>、中毒性疾病会使酶活性受抑制。</a:t>
            </a:r>
            <a:r>
              <a:rPr kumimoji="1" lang="zh-CN" altLang="en-US" dirty="0"/>
              <a:t> </a:t>
            </a: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7">
            <a:extLst>
              <a:ext uri="{FF2B5EF4-FFF2-40B4-BE49-F238E27FC236}">
                <a16:creationId xmlns:a16="http://schemas.microsoft.com/office/drawing/2014/main" id="{E587F71E-CA34-4547-A5E5-AA9995476B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02F4A61-A557-4BEB-833A-D0FEE4D2DD4E}" type="slidenum">
              <a:rPr lang="en-US" altLang="zh-CN" smtClean="0">
                <a:latin typeface="Arial" panose="020B0604020202020204" pitchFamily="34" charset="0"/>
              </a:rPr>
              <a:pPr/>
              <a:t>196</a:t>
            </a:fld>
            <a:endParaRPr lang="en-US" altLang="zh-CN">
              <a:latin typeface="Arial" panose="020B0604020202020204" pitchFamily="34" charset="0"/>
            </a:endParaRPr>
          </a:p>
        </p:txBody>
      </p:sp>
      <p:sp>
        <p:nvSpPr>
          <p:cNvPr id="440323" name="Rectangle 2">
            <a:extLst>
              <a:ext uri="{FF2B5EF4-FFF2-40B4-BE49-F238E27FC236}">
                <a16:creationId xmlns:a16="http://schemas.microsoft.com/office/drawing/2014/main" id="{195E7751-0696-4845-B238-570953B3090E}"/>
              </a:ext>
            </a:extLst>
          </p:cNvPr>
          <p:cNvSpPr>
            <a:spLocks noGrp="1" noRot="1" noChangeAspect="1" noChangeArrowheads="1" noTextEdit="1"/>
          </p:cNvSpPr>
          <p:nvPr>
            <p:ph type="sldImg"/>
          </p:nvPr>
        </p:nvSpPr>
        <p:spPr>
          <a:xfrm>
            <a:off x="381000" y="685800"/>
            <a:ext cx="6096000" cy="3429000"/>
          </a:xfrm>
          <a:ln/>
        </p:spPr>
      </p:sp>
      <p:sp>
        <p:nvSpPr>
          <p:cNvPr id="440324" name="Rectangle 3">
            <a:extLst>
              <a:ext uri="{FF2B5EF4-FFF2-40B4-BE49-F238E27FC236}">
                <a16:creationId xmlns:a16="http://schemas.microsoft.com/office/drawing/2014/main" id="{B84677D5-9BDC-43EF-9047-E7F2CC1B439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endParaRPr lang="en-US" altLang="zh-CN"/>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幻灯片图像占位符 1">
            <a:extLst>
              <a:ext uri="{FF2B5EF4-FFF2-40B4-BE49-F238E27FC236}">
                <a16:creationId xmlns:a16="http://schemas.microsoft.com/office/drawing/2014/main" id="{345DD1D0-8A6B-4F99-A09E-4289DBCCBFA2}"/>
              </a:ext>
            </a:extLst>
          </p:cNvPr>
          <p:cNvSpPr>
            <a:spLocks noGrp="1" noRot="1" noChangeAspect="1" noChangeArrowheads="1" noTextEdit="1"/>
          </p:cNvSpPr>
          <p:nvPr>
            <p:ph type="sldImg"/>
          </p:nvPr>
        </p:nvSpPr>
        <p:spPr>
          <a:xfrm>
            <a:off x="381000" y="685800"/>
            <a:ext cx="6096000" cy="3429000"/>
          </a:xfrm>
          <a:ln/>
        </p:spPr>
      </p:sp>
      <p:sp>
        <p:nvSpPr>
          <p:cNvPr id="442371" name="备注占位符 2">
            <a:extLst>
              <a:ext uri="{FF2B5EF4-FFF2-40B4-BE49-F238E27FC236}">
                <a16:creationId xmlns:a16="http://schemas.microsoft.com/office/drawing/2014/main" id="{B9B8A7D2-9590-4966-BDE0-C2B35D2BA4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2372" name="灯片编号占位符 3">
            <a:extLst>
              <a:ext uri="{FF2B5EF4-FFF2-40B4-BE49-F238E27FC236}">
                <a16:creationId xmlns:a16="http://schemas.microsoft.com/office/drawing/2014/main" id="{0690FC24-2CE2-4DB7-A44A-B41C9007D2B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B70CB8B-CE8A-4741-A547-94A046900250}" type="slidenum">
              <a:rPr lang="en-US" altLang="zh-CN" smtClean="0">
                <a:latin typeface="Arial" panose="020B0604020202020204" pitchFamily="34" charset="0"/>
              </a:rPr>
              <a:pPr/>
              <a:t>197</a:t>
            </a:fld>
            <a:endParaRPr lang="en-US" altLang="zh-CN">
              <a:latin typeface="Arial" panose="020B0604020202020204" pitchFamily="34" charset="0"/>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7">
            <a:extLst>
              <a:ext uri="{FF2B5EF4-FFF2-40B4-BE49-F238E27FC236}">
                <a16:creationId xmlns:a16="http://schemas.microsoft.com/office/drawing/2014/main" id="{661C1AF0-8EB0-41F5-A6DE-360C4DF748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03547DA-393D-4167-9594-BBC006B55108}" type="slidenum">
              <a:rPr lang="en-US" altLang="zh-CN" smtClean="0">
                <a:latin typeface="Arial" panose="020B0604020202020204" pitchFamily="34" charset="0"/>
              </a:rPr>
              <a:pPr/>
              <a:t>198</a:t>
            </a:fld>
            <a:endParaRPr lang="en-US" altLang="zh-CN">
              <a:latin typeface="Arial" panose="020B0604020202020204" pitchFamily="34" charset="0"/>
            </a:endParaRPr>
          </a:p>
        </p:txBody>
      </p:sp>
      <p:sp>
        <p:nvSpPr>
          <p:cNvPr id="444419" name="Rectangle 2">
            <a:extLst>
              <a:ext uri="{FF2B5EF4-FFF2-40B4-BE49-F238E27FC236}">
                <a16:creationId xmlns:a16="http://schemas.microsoft.com/office/drawing/2014/main" id="{E7D9F7A6-7991-4E01-862A-8D11C48F86D8}"/>
              </a:ext>
            </a:extLst>
          </p:cNvPr>
          <p:cNvSpPr>
            <a:spLocks noGrp="1" noRot="1" noChangeAspect="1" noChangeArrowheads="1" noTextEdit="1"/>
          </p:cNvSpPr>
          <p:nvPr>
            <p:ph type="sldImg"/>
          </p:nvPr>
        </p:nvSpPr>
        <p:spPr>
          <a:xfrm>
            <a:off x="381000" y="685800"/>
            <a:ext cx="6096000" cy="3429000"/>
          </a:xfrm>
          <a:ln/>
        </p:spPr>
      </p:sp>
      <p:sp>
        <p:nvSpPr>
          <p:cNvPr id="444420" name="Rectangle 3">
            <a:extLst>
              <a:ext uri="{FF2B5EF4-FFF2-40B4-BE49-F238E27FC236}">
                <a16:creationId xmlns:a16="http://schemas.microsoft.com/office/drawing/2014/main" id="{A3E2EB27-D2CD-4C1E-BA50-117BDA776C7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7">
            <a:extLst>
              <a:ext uri="{FF2B5EF4-FFF2-40B4-BE49-F238E27FC236}">
                <a16:creationId xmlns:a16="http://schemas.microsoft.com/office/drawing/2014/main" id="{FDD3E589-1DA3-4956-9DC5-2790DA71FA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CBC0A49-334F-4345-9223-234CDE627CE9}" type="slidenum">
              <a:rPr lang="en-US" altLang="zh-CN" smtClean="0">
                <a:latin typeface="Arial" panose="020B0604020202020204" pitchFamily="34" charset="0"/>
              </a:rPr>
              <a:pPr/>
              <a:t>199</a:t>
            </a:fld>
            <a:endParaRPr lang="en-US" altLang="zh-CN">
              <a:latin typeface="Arial" panose="020B0604020202020204" pitchFamily="34" charset="0"/>
            </a:endParaRPr>
          </a:p>
        </p:txBody>
      </p:sp>
      <p:sp>
        <p:nvSpPr>
          <p:cNvPr id="446467" name="Rectangle 2">
            <a:extLst>
              <a:ext uri="{FF2B5EF4-FFF2-40B4-BE49-F238E27FC236}">
                <a16:creationId xmlns:a16="http://schemas.microsoft.com/office/drawing/2014/main" id="{13582362-7584-43BB-B5C4-43EB34E5AAE0}"/>
              </a:ext>
            </a:extLst>
          </p:cNvPr>
          <p:cNvSpPr>
            <a:spLocks noGrp="1" noRot="1" noChangeAspect="1" noChangeArrowheads="1" noTextEdit="1"/>
          </p:cNvSpPr>
          <p:nvPr>
            <p:ph type="sldImg"/>
          </p:nvPr>
        </p:nvSpPr>
        <p:spPr>
          <a:xfrm>
            <a:off x="381000" y="685800"/>
            <a:ext cx="6096000" cy="3429000"/>
          </a:xfrm>
          <a:ln/>
        </p:spPr>
      </p:sp>
      <p:sp>
        <p:nvSpPr>
          <p:cNvPr id="446468" name="Rectangle 3">
            <a:extLst>
              <a:ext uri="{FF2B5EF4-FFF2-40B4-BE49-F238E27FC236}">
                <a16:creationId xmlns:a16="http://schemas.microsoft.com/office/drawing/2014/main" id="{182F0B76-EBAB-4E40-AFCD-889C6DAFF435}"/>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7">
            <a:extLst>
              <a:ext uri="{FF2B5EF4-FFF2-40B4-BE49-F238E27FC236}">
                <a16:creationId xmlns:a16="http://schemas.microsoft.com/office/drawing/2014/main" id="{EC166C3A-BD56-4202-9B5C-75E823BD53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4BE10F9-F389-46BA-A722-691536C86E1D}" type="slidenum">
              <a:rPr lang="en-US" altLang="zh-CN" smtClean="0">
                <a:latin typeface="Arial" panose="020B0604020202020204" pitchFamily="34" charset="0"/>
              </a:rPr>
              <a:pPr/>
              <a:t>200</a:t>
            </a:fld>
            <a:endParaRPr lang="en-US" altLang="zh-CN">
              <a:latin typeface="Arial" panose="020B0604020202020204" pitchFamily="34" charset="0"/>
            </a:endParaRPr>
          </a:p>
        </p:txBody>
      </p:sp>
      <p:sp>
        <p:nvSpPr>
          <p:cNvPr id="448515" name="Rectangle 2">
            <a:extLst>
              <a:ext uri="{FF2B5EF4-FFF2-40B4-BE49-F238E27FC236}">
                <a16:creationId xmlns:a16="http://schemas.microsoft.com/office/drawing/2014/main" id="{CDD9087B-45A7-4BF1-9FA0-A564C0F51DE0}"/>
              </a:ext>
            </a:extLst>
          </p:cNvPr>
          <p:cNvSpPr>
            <a:spLocks noGrp="1" noRot="1" noChangeAspect="1" noChangeArrowheads="1" noTextEdit="1"/>
          </p:cNvSpPr>
          <p:nvPr>
            <p:ph type="sldImg"/>
          </p:nvPr>
        </p:nvSpPr>
        <p:spPr>
          <a:xfrm>
            <a:off x="381000" y="685800"/>
            <a:ext cx="6096000" cy="3429000"/>
          </a:xfrm>
          <a:ln/>
        </p:spPr>
      </p:sp>
      <p:sp>
        <p:nvSpPr>
          <p:cNvPr id="448516" name="Rectangle 3">
            <a:extLst>
              <a:ext uri="{FF2B5EF4-FFF2-40B4-BE49-F238E27FC236}">
                <a16:creationId xmlns:a16="http://schemas.microsoft.com/office/drawing/2014/main" id="{63F357B0-457A-442F-8F44-544850C5404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7">
            <a:extLst>
              <a:ext uri="{FF2B5EF4-FFF2-40B4-BE49-F238E27FC236}">
                <a16:creationId xmlns:a16="http://schemas.microsoft.com/office/drawing/2014/main" id="{88AE7C75-E2E0-41EF-A491-FBFD4CB8A9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AB3BD64-6771-41E1-942D-C4C232AF6551}" type="slidenum">
              <a:rPr lang="en-US" altLang="zh-CN" smtClean="0">
                <a:latin typeface="Arial" panose="020B0604020202020204" pitchFamily="34" charset="0"/>
              </a:rPr>
              <a:pPr/>
              <a:t>201</a:t>
            </a:fld>
            <a:endParaRPr lang="en-US" altLang="zh-CN">
              <a:latin typeface="Arial" panose="020B0604020202020204" pitchFamily="34" charset="0"/>
            </a:endParaRPr>
          </a:p>
        </p:txBody>
      </p:sp>
      <p:sp>
        <p:nvSpPr>
          <p:cNvPr id="450563" name="Rectangle 2">
            <a:extLst>
              <a:ext uri="{FF2B5EF4-FFF2-40B4-BE49-F238E27FC236}">
                <a16:creationId xmlns:a16="http://schemas.microsoft.com/office/drawing/2014/main" id="{C5931239-FA83-4528-AF34-238B04CD4A59}"/>
              </a:ext>
            </a:extLst>
          </p:cNvPr>
          <p:cNvSpPr>
            <a:spLocks noGrp="1" noRot="1" noChangeAspect="1" noChangeArrowheads="1" noTextEdit="1"/>
          </p:cNvSpPr>
          <p:nvPr>
            <p:ph type="sldImg"/>
          </p:nvPr>
        </p:nvSpPr>
        <p:spPr>
          <a:xfrm>
            <a:off x="381000" y="685800"/>
            <a:ext cx="6096000" cy="3429000"/>
          </a:xfrm>
          <a:ln/>
        </p:spPr>
      </p:sp>
      <p:sp>
        <p:nvSpPr>
          <p:cNvPr id="450564" name="Rectangle 3">
            <a:extLst>
              <a:ext uri="{FF2B5EF4-FFF2-40B4-BE49-F238E27FC236}">
                <a16:creationId xmlns:a16="http://schemas.microsoft.com/office/drawing/2014/main" id="{ABC232E7-D934-4BE8-BD88-36748C7DA75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7">
            <a:extLst>
              <a:ext uri="{FF2B5EF4-FFF2-40B4-BE49-F238E27FC236}">
                <a16:creationId xmlns:a16="http://schemas.microsoft.com/office/drawing/2014/main" id="{30E968E4-96E3-4224-AB81-36AA16FBAE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884C86F-B4F1-4491-B6CF-522C84B6F311}" type="slidenum">
              <a:rPr lang="en-US" altLang="zh-CN" smtClean="0">
                <a:latin typeface="Arial" panose="020B0604020202020204" pitchFamily="34" charset="0"/>
              </a:rPr>
              <a:pPr/>
              <a:t>202</a:t>
            </a:fld>
            <a:endParaRPr lang="en-US" altLang="zh-CN">
              <a:latin typeface="Arial" panose="020B0604020202020204" pitchFamily="34" charset="0"/>
            </a:endParaRPr>
          </a:p>
        </p:txBody>
      </p:sp>
      <p:sp>
        <p:nvSpPr>
          <p:cNvPr id="452611" name="Rectangle 2">
            <a:extLst>
              <a:ext uri="{FF2B5EF4-FFF2-40B4-BE49-F238E27FC236}">
                <a16:creationId xmlns:a16="http://schemas.microsoft.com/office/drawing/2014/main" id="{75403ADC-94BA-4B5A-BCF7-BF2C73A6EAEB}"/>
              </a:ext>
            </a:extLst>
          </p:cNvPr>
          <p:cNvSpPr>
            <a:spLocks noGrp="1" noRot="1" noChangeAspect="1" noChangeArrowheads="1" noTextEdit="1"/>
          </p:cNvSpPr>
          <p:nvPr>
            <p:ph type="sldImg"/>
          </p:nvPr>
        </p:nvSpPr>
        <p:spPr>
          <a:xfrm>
            <a:off x="381000" y="685800"/>
            <a:ext cx="6096000" cy="3429000"/>
          </a:xfrm>
          <a:ln/>
        </p:spPr>
      </p:sp>
      <p:sp>
        <p:nvSpPr>
          <p:cNvPr id="452612" name="Rectangle 3">
            <a:extLst>
              <a:ext uri="{FF2B5EF4-FFF2-40B4-BE49-F238E27FC236}">
                <a16:creationId xmlns:a16="http://schemas.microsoft.com/office/drawing/2014/main" id="{1FE47B8D-6C88-4C8E-8C09-E877BCF304B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幻灯片图像占位符 1">
            <a:extLst>
              <a:ext uri="{FF2B5EF4-FFF2-40B4-BE49-F238E27FC236}">
                <a16:creationId xmlns:a16="http://schemas.microsoft.com/office/drawing/2014/main" id="{D0099F17-741A-4B10-843F-3A97789D640D}"/>
              </a:ext>
            </a:extLst>
          </p:cNvPr>
          <p:cNvSpPr>
            <a:spLocks noGrp="1" noRot="1" noChangeAspect="1" noChangeArrowheads="1" noTextEdit="1"/>
          </p:cNvSpPr>
          <p:nvPr>
            <p:ph type="sldImg"/>
          </p:nvPr>
        </p:nvSpPr>
        <p:spPr>
          <a:xfrm>
            <a:off x="381000" y="685800"/>
            <a:ext cx="6096000" cy="3429000"/>
          </a:xfrm>
          <a:ln/>
        </p:spPr>
      </p:sp>
      <p:sp>
        <p:nvSpPr>
          <p:cNvPr id="454659" name="备注占位符 2">
            <a:extLst>
              <a:ext uri="{FF2B5EF4-FFF2-40B4-BE49-F238E27FC236}">
                <a16:creationId xmlns:a16="http://schemas.microsoft.com/office/drawing/2014/main" id="{884CA018-BEB3-4DD8-A68F-FCEFA90092B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54660" name="灯片编号占位符 3">
            <a:extLst>
              <a:ext uri="{FF2B5EF4-FFF2-40B4-BE49-F238E27FC236}">
                <a16:creationId xmlns:a16="http://schemas.microsoft.com/office/drawing/2014/main" id="{4FFDBCBC-212B-4420-BC5D-1CA4D7A513D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95DEF0A-EB31-4DAF-8C50-271118792F03}" type="slidenum">
              <a:rPr lang="en-US" altLang="zh-CN" smtClean="0">
                <a:latin typeface="Arial" panose="020B0604020202020204" pitchFamily="34" charset="0"/>
              </a:rPr>
              <a:pPr/>
              <a:t>203</a:t>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5">
            <a:extLst>
              <a:ext uri="{FF2B5EF4-FFF2-40B4-BE49-F238E27FC236}">
                <a16:creationId xmlns:a16="http://schemas.microsoft.com/office/drawing/2014/main" id="{01225B88-5982-4C14-8888-32C574DBF8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26318" y="2370138"/>
            <a:ext cx="5717116"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E927BB2F-DD3A-492C-89F8-166D7D86A278}"/>
              </a:ext>
            </a:extLst>
          </p:cNvPr>
          <p:cNvSpPr txBox="1">
            <a:spLocks noChangeArrowheads="1"/>
          </p:cNvSpPr>
          <p:nvPr userDrawn="1"/>
        </p:nvSpPr>
        <p:spPr bwMode="auto">
          <a:xfrm>
            <a:off x="10513484" y="6526214"/>
            <a:ext cx="1809749" cy="307975"/>
          </a:xfrm>
          <a:prstGeom prst="rect">
            <a:avLst/>
          </a:prstGeom>
          <a:noFill/>
          <a:ln>
            <a:noFill/>
          </a:ln>
        </p:spPr>
        <p:txBody>
          <a:bodyPr>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defRPr/>
            </a:pPr>
            <a:fld id="{C56AD4E3-0A2A-4CC6-8324-29D9888F0402}" type="datetime1">
              <a:rPr lang="zh-CN" altLang="en-US" sz="1400" smtClean="0"/>
              <a:pPr>
                <a:defRPr/>
              </a:pPr>
              <a:t>2026/9/16</a:t>
            </a:fld>
            <a:endParaRPr lang="zh-CN" altLang="en-US" sz="1400" dirty="0"/>
          </a:p>
        </p:txBody>
      </p:sp>
      <p:sp>
        <p:nvSpPr>
          <p:cNvPr id="339971" name="Rectangle 3"/>
          <p:cNvSpPr>
            <a:spLocks noGrp="1" noChangeArrowheads="1"/>
          </p:cNvSpPr>
          <p:nvPr>
            <p:ph type="ctrTitle"/>
          </p:nvPr>
        </p:nvSpPr>
        <p:spPr>
          <a:xfrm>
            <a:off x="1295468" y="492160"/>
            <a:ext cx="9517675" cy="1635056"/>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r>
              <a:rPr lang="zh-CN" altLang="en-US" dirty="0"/>
              <a:t>单击此处编辑母版标题样式</a:t>
            </a:r>
          </a:p>
        </p:txBody>
      </p:sp>
      <p:sp>
        <p:nvSpPr>
          <p:cNvPr id="339972" name="Rectangle 4"/>
          <p:cNvSpPr>
            <a:spLocks noGrp="1" noChangeArrowheads="1"/>
          </p:cNvSpPr>
          <p:nvPr>
            <p:ph type="subTitle" idx="1"/>
          </p:nvPr>
        </p:nvSpPr>
        <p:spPr>
          <a:xfrm>
            <a:off x="2769055" y="5733256"/>
            <a:ext cx="6432715" cy="1003300"/>
          </a:xfrm>
        </p:spPr>
        <p:txBody>
          <a:bodyPr/>
          <a:lstStyle>
            <a:lvl1pPr marL="0" indent="0" algn="ctr">
              <a:buFontTx/>
              <a:buNone/>
              <a:defRPr sz="2800">
                <a:effectLst>
                  <a:outerShdw blurRad="38100" dist="38100" dir="2700000" algn="tl">
                    <a:srgbClr val="C0C0C0"/>
                  </a:outerShdw>
                </a:effectLst>
              </a:defRPr>
            </a:lvl1pPr>
          </a:lstStyle>
          <a:p>
            <a:r>
              <a:rPr lang="zh-CN" altLang="en-US" dirty="0"/>
              <a:t>单击此处编辑母版副标题样式</a:t>
            </a:r>
          </a:p>
        </p:txBody>
      </p:sp>
    </p:spTree>
    <p:extLst>
      <p:ext uri="{BB962C8B-B14F-4D97-AF65-F5344CB8AC3E}">
        <p14:creationId xmlns:p14="http://schemas.microsoft.com/office/powerpoint/2010/main" val="430243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199456" y="152400"/>
            <a:ext cx="9409045" cy="925512"/>
          </a:xfrm>
        </p:spPr>
        <p:txBody>
          <a:bodyPr/>
          <a:lstStyle>
            <a:lvl1pPr>
              <a:defRPr b="1"/>
            </a:lvl1pPr>
          </a:lstStyle>
          <a:p>
            <a:r>
              <a:rPr lang="zh-CN" altLang="en-US" dirty="0"/>
              <a:t>单击此处编辑母版标题样式</a:t>
            </a:r>
          </a:p>
        </p:txBody>
      </p:sp>
      <p:sp>
        <p:nvSpPr>
          <p:cNvPr id="3" name="内容占位符 2"/>
          <p:cNvSpPr>
            <a:spLocks noGrp="1"/>
          </p:cNvSpPr>
          <p:nvPr>
            <p:ph idx="1"/>
          </p:nvPr>
        </p:nvSpPr>
        <p:spPr>
          <a:xfrm>
            <a:off x="914400" y="1556792"/>
            <a:ext cx="10261600" cy="3929608"/>
          </a:xfrm>
        </p:spPr>
        <p:txBody>
          <a:bodyPr/>
          <a:lstStyle>
            <a:lvl1pPr>
              <a:defRPr b="1"/>
            </a:lvl1pPr>
            <a:lvl2pPr>
              <a:defRPr b="1"/>
            </a:lvl2pPr>
            <a:lvl3pPr>
              <a:defRPr b="1"/>
            </a:lvl3pPr>
            <a:lvl4pPr>
              <a:defRPr b="1"/>
            </a:lvl4pPr>
            <a:lvl5pPr>
              <a:defRPr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6">
            <a:extLst>
              <a:ext uri="{FF2B5EF4-FFF2-40B4-BE49-F238E27FC236}">
                <a16:creationId xmlns:a16="http://schemas.microsoft.com/office/drawing/2014/main" id="{AE132D7E-B24B-4E57-B1EE-320FD98681C4}"/>
              </a:ext>
            </a:extLst>
          </p:cNvPr>
          <p:cNvSpPr>
            <a:spLocks noGrp="1" noChangeArrowheads="1"/>
          </p:cNvSpPr>
          <p:nvPr>
            <p:ph type="ftr" sz="quarter" idx="10"/>
          </p:nvPr>
        </p:nvSpPr>
        <p:spPr>
          <a:xfrm>
            <a:off x="4751917" y="6237288"/>
            <a:ext cx="3860800" cy="457200"/>
          </a:xfrm>
        </p:spPr>
        <p:txBody>
          <a:bodyPr/>
          <a:lstStyle>
            <a:lvl1pPr>
              <a:defRPr/>
            </a:lvl1pPr>
          </a:lstStyle>
          <a:p>
            <a:pPr>
              <a:defRPr/>
            </a:pPr>
            <a:endParaRPr lang="en-US" altLang="zh-CN"/>
          </a:p>
        </p:txBody>
      </p:sp>
    </p:spTree>
    <p:extLst>
      <p:ext uri="{BB962C8B-B14F-4D97-AF65-F5344CB8AC3E}">
        <p14:creationId xmlns:p14="http://schemas.microsoft.com/office/powerpoint/2010/main" val="970493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23392" y="476672"/>
            <a:ext cx="11041227" cy="5976664"/>
          </a:xfrm>
        </p:spPr>
        <p:txBody>
          <a:bodyPr/>
          <a:lstStyle>
            <a:lvl1pPr>
              <a:defRPr b="1"/>
            </a:lvl1pPr>
            <a:lvl2pPr>
              <a:defRPr b="1"/>
            </a:lvl2pPr>
            <a:lvl3pPr>
              <a:defRPr b="1"/>
            </a:lvl3pPr>
            <a:lvl4pPr>
              <a:defRPr b="1"/>
            </a:lvl4pPr>
            <a:lvl5pPr>
              <a:defRPr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418254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828800"/>
            <a:ext cx="5029200" cy="365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828800"/>
            <a:ext cx="5029200" cy="365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13923517-4D72-4623-9DEA-4AD5E69696A4}"/>
              </a:ext>
            </a:extLst>
          </p:cNvPr>
          <p:cNvSpPr>
            <a:spLocks noGrp="1" noChangeArrowheads="1"/>
          </p:cNvSpPr>
          <p:nvPr>
            <p:ph type="ftr" sz="quarter" idx="10"/>
          </p:nvPr>
        </p:nvSpPr>
        <p:spPr>
          <a:xfrm>
            <a:off x="4751917" y="6237288"/>
            <a:ext cx="3860800" cy="457200"/>
          </a:xfrm>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58C9D49A-E480-4EE5-AC68-2C1FEEF8739E}"/>
              </a:ext>
            </a:extLst>
          </p:cNvPr>
          <p:cNvSpPr>
            <a:spLocks noGrp="1" noChangeArrowheads="1"/>
          </p:cNvSpPr>
          <p:nvPr>
            <p:ph type="sldNum" sz="quarter" idx="11"/>
          </p:nvPr>
        </p:nvSpPr>
        <p:spPr>
          <a:xfrm>
            <a:off x="8976785" y="6381750"/>
            <a:ext cx="2880783" cy="312738"/>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A455760-D4C2-45DD-B573-81377A13C4ED}" type="slidenum">
              <a:rPr lang="en-US" altLang="zh-CN"/>
              <a:pPr>
                <a:defRPr/>
              </a:pPr>
              <a:t>‹#›</a:t>
            </a:fld>
            <a:endParaRPr lang="en-US" altLang="zh-CN"/>
          </a:p>
        </p:txBody>
      </p:sp>
    </p:spTree>
    <p:extLst>
      <p:ext uri="{BB962C8B-B14F-4D97-AF65-F5344CB8AC3E}">
        <p14:creationId xmlns:p14="http://schemas.microsoft.com/office/powerpoint/2010/main" val="2792219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AF0DBF86-3A60-4853-A0C2-1BB00F2A6167}"/>
              </a:ext>
            </a:extLst>
          </p:cNvPr>
          <p:cNvSpPr>
            <a:spLocks noGrp="1" noChangeArrowheads="1"/>
          </p:cNvSpPr>
          <p:nvPr>
            <p:ph type="ftr" sz="quarter" idx="10"/>
          </p:nvPr>
        </p:nvSpPr>
        <p:spPr>
          <a:xfrm>
            <a:off x="4751917" y="6237288"/>
            <a:ext cx="3860800" cy="457200"/>
          </a:xfrm>
        </p:spPr>
        <p:txBody>
          <a:bodyPr/>
          <a:lstStyle>
            <a:lvl1pPr>
              <a:defRPr/>
            </a:lvl1pPr>
          </a:lstStyle>
          <a:p>
            <a:pPr>
              <a:defRPr/>
            </a:pPr>
            <a:endParaRPr lang="en-US" altLang="zh-CN"/>
          </a:p>
        </p:txBody>
      </p:sp>
      <p:sp>
        <p:nvSpPr>
          <p:cNvPr id="4" name="Rectangle 7">
            <a:extLst>
              <a:ext uri="{FF2B5EF4-FFF2-40B4-BE49-F238E27FC236}">
                <a16:creationId xmlns:a16="http://schemas.microsoft.com/office/drawing/2014/main" id="{4DFF0805-2CC0-4DB5-A2F7-5C936E281EC7}"/>
              </a:ext>
            </a:extLst>
          </p:cNvPr>
          <p:cNvSpPr>
            <a:spLocks noGrp="1" noChangeArrowheads="1"/>
          </p:cNvSpPr>
          <p:nvPr>
            <p:ph type="sldNum" sz="quarter" idx="11"/>
          </p:nvPr>
        </p:nvSpPr>
        <p:spPr>
          <a:xfrm>
            <a:off x="8976785" y="6381750"/>
            <a:ext cx="2880783" cy="312738"/>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55E1180-B86F-4881-896F-CFA1E03E7B65}" type="slidenum">
              <a:rPr lang="en-US" altLang="zh-CN"/>
              <a:pPr>
                <a:defRPr/>
              </a:pPr>
              <a:t>‹#›</a:t>
            </a:fld>
            <a:endParaRPr lang="en-US" altLang="zh-CN"/>
          </a:p>
        </p:txBody>
      </p:sp>
    </p:spTree>
    <p:extLst>
      <p:ext uri="{BB962C8B-B14F-4D97-AF65-F5344CB8AC3E}">
        <p14:creationId xmlns:p14="http://schemas.microsoft.com/office/powerpoint/2010/main" val="3339047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21A70CFF-6213-4B99-9D4D-92E815C02FD0}"/>
              </a:ext>
            </a:extLst>
          </p:cNvPr>
          <p:cNvSpPr>
            <a:spLocks noGrp="1" noChangeArrowheads="1"/>
          </p:cNvSpPr>
          <p:nvPr>
            <p:ph type="ftr" sz="quarter" idx="10"/>
          </p:nvPr>
        </p:nvSpPr>
        <p:spPr>
          <a:xfrm>
            <a:off x="4751917" y="6237288"/>
            <a:ext cx="3860800" cy="457200"/>
          </a:xfrm>
        </p:spPr>
        <p:txBody>
          <a:bodyPr/>
          <a:lstStyle>
            <a:lvl1pPr>
              <a:defRPr/>
            </a:lvl1pPr>
          </a:lstStyle>
          <a:p>
            <a:pPr>
              <a:defRPr/>
            </a:pPr>
            <a:endParaRPr lang="en-US" altLang="zh-CN"/>
          </a:p>
        </p:txBody>
      </p:sp>
      <p:sp>
        <p:nvSpPr>
          <p:cNvPr id="3" name="Rectangle 7">
            <a:extLst>
              <a:ext uri="{FF2B5EF4-FFF2-40B4-BE49-F238E27FC236}">
                <a16:creationId xmlns:a16="http://schemas.microsoft.com/office/drawing/2014/main" id="{1409E558-C117-4F68-9C35-167BB22304D1}"/>
              </a:ext>
            </a:extLst>
          </p:cNvPr>
          <p:cNvSpPr>
            <a:spLocks noGrp="1" noChangeArrowheads="1"/>
          </p:cNvSpPr>
          <p:nvPr>
            <p:ph type="sldNum" sz="quarter" idx="11"/>
          </p:nvPr>
        </p:nvSpPr>
        <p:spPr>
          <a:xfrm>
            <a:off x="8976785" y="6381750"/>
            <a:ext cx="2880783" cy="312738"/>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D0050AD-95DC-4E4C-9F72-F57803B908F7}" type="slidenum">
              <a:rPr lang="en-US" altLang="zh-CN"/>
              <a:pPr>
                <a:defRPr/>
              </a:pPr>
              <a:t>‹#›</a:t>
            </a:fld>
            <a:endParaRPr lang="en-US" altLang="zh-CN"/>
          </a:p>
        </p:txBody>
      </p:sp>
    </p:spTree>
    <p:extLst>
      <p:ext uri="{BB962C8B-B14F-4D97-AF65-F5344CB8AC3E}">
        <p14:creationId xmlns:p14="http://schemas.microsoft.com/office/powerpoint/2010/main" val="3800765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152400"/>
            <a:ext cx="9160933"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828800"/>
            <a:ext cx="50292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46800" y="1828800"/>
            <a:ext cx="50292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46800" y="3733800"/>
            <a:ext cx="50292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a:extLst>
              <a:ext uri="{FF2B5EF4-FFF2-40B4-BE49-F238E27FC236}">
                <a16:creationId xmlns:a16="http://schemas.microsoft.com/office/drawing/2014/main" id="{FB63C510-0EE6-4059-A0AF-33F5E638D2F3}"/>
              </a:ext>
            </a:extLst>
          </p:cNvPr>
          <p:cNvSpPr>
            <a:spLocks noGrp="1" noChangeArrowheads="1"/>
          </p:cNvSpPr>
          <p:nvPr>
            <p:ph type="ftr" sz="quarter" idx="10"/>
          </p:nvPr>
        </p:nvSpPr>
        <p:spPr>
          <a:xfrm>
            <a:off x="4751917" y="6237288"/>
            <a:ext cx="3860800" cy="457200"/>
          </a:xfrm>
        </p:spPr>
        <p:txBody>
          <a:bodyPr/>
          <a:lstStyle>
            <a:lvl1pPr>
              <a:defRPr/>
            </a:lvl1pPr>
          </a:lstStyle>
          <a:p>
            <a:pPr>
              <a:defRPr/>
            </a:pPr>
            <a:endParaRPr lang="en-US" altLang="zh-CN"/>
          </a:p>
        </p:txBody>
      </p:sp>
      <p:sp>
        <p:nvSpPr>
          <p:cNvPr id="7" name="Rectangle 7">
            <a:extLst>
              <a:ext uri="{FF2B5EF4-FFF2-40B4-BE49-F238E27FC236}">
                <a16:creationId xmlns:a16="http://schemas.microsoft.com/office/drawing/2014/main" id="{33796C52-3616-4BE9-B2C4-FCFF5C47B544}"/>
              </a:ext>
            </a:extLst>
          </p:cNvPr>
          <p:cNvSpPr>
            <a:spLocks noGrp="1" noChangeArrowheads="1"/>
          </p:cNvSpPr>
          <p:nvPr>
            <p:ph type="sldNum" sz="quarter" idx="11"/>
          </p:nvPr>
        </p:nvSpPr>
        <p:spPr>
          <a:xfrm>
            <a:off x="8976785" y="6381750"/>
            <a:ext cx="2880783" cy="312738"/>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47B125A-B820-4655-969D-25A63C1B3E4C}" type="slidenum">
              <a:rPr lang="en-US" altLang="zh-CN"/>
              <a:pPr>
                <a:defRPr/>
              </a:pPr>
              <a:t>‹#›</a:t>
            </a:fld>
            <a:endParaRPr lang="en-US" altLang="zh-CN"/>
          </a:p>
        </p:txBody>
      </p:sp>
    </p:spTree>
    <p:extLst>
      <p:ext uri="{BB962C8B-B14F-4D97-AF65-F5344CB8AC3E}">
        <p14:creationId xmlns:p14="http://schemas.microsoft.com/office/powerpoint/2010/main" val="1994676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914400" y="152400"/>
            <a:ext cx="9160933"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828800"/>
            <a:ext cx="102616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914400" y="3733800"/>
            <a:ext cx="102616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D89550FD-878F-43C1-B66E-7B20620F8F9C}"/>
              </a:ext>
            </a:extLst>
          </p:cNvPr>
          <p:cNvSpPr>
            <a:spLocks noGrp="1" noChangeArrowheads="1"/>
          </p:cNvSpPr>
          <p:nvPr>
            <p:ph type="ftr" sz="quarter" idx="10"/>
          </p:nvPr>
        </p:nvSpPr>
        <p:spPr>
          <a:xfrm>
            <a:off x="4751917" y="6237288"/>
            <a:ext cx="3860800" cy="457200"/>
          </a:xfrm>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B6C3D732-F702-4B80-9009-5B1595203AEA}"/>
              </a:ext>
            </a:extLst>
          </p:cNvPr>
          <p:cNvSpPr>
            <a:spLocks noGrp="1" noChangeArrowheads="1"/>
          </p:cNvSpPr>
          <p:nvPr>
            <p:ph type="sldNum" sz="quarter" idx="11"/>
          </p:nvPr>
        </p:nvSpPr>
        <p:spPr>
          <a:xfrm>
            <a:off x="8976785" y="6381750"/>
            <a:ext cx="2880783" cy="312738"/>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04AC74B-E21A-43E4-A73B-9DB01B27539D}" type="slidenum">
              <a:rPr lang="en-US" altLang="zh-CN"/>
              <a:pPr>
                <a:defRPr/>
              </a:pPr>
              <a:t>‹#›</a:t>
            </a:fld>
            <a:endParaRPr lang="en-US" altLang="zh-CN"/>
          </a:p>
        </p:txBody>
      </p:sp>
    </p:spTree>
    <p:extLst>
      <p:ext uri="{BB962C8B-B14F-4D97-AF65-F5344CB8AC3E}">
        <p14:creationId xmlns:p14="http://schemas.microsoft.com/office/powerpoint/2010/main" val="497259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152400"/>
            <a:ext cx="9160933"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828800"/>
            <a:ext cx="50292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828800"/>
            <a:ext cx="50292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0B3053F0-7BA8-4009-941A-D49C2A132751}"/>
              </a:ext>
            </a:extLst>
          </p:cNvPr>
          <p:cNvSpPr>
            <a:spLocks noGrp="1" noChangeArrowheads="1"/>
          </p:cNvSpPr>
          <p:nvPr>
            <p:ph type="ftr" sz="quarter" idx="10"/>
          </p:nvPr>
        </p:nvSpPr>
        <p:spPr>
          <a:xfrm>
            <a:off x="4751917" y="6237288"/>
            <a:ext cx="3860800" cy="457200"/>
          </a:xfrm>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372F052D-E79D-4D98-8B5D-83299C2B9D3F}"/>
              </a:ext>
            </a:extLst>
          </p:cNvPr>
          <p:cNvSpPr>
            <a:spLocks noGrp="1" noChangeArrowheads="1"/>
          </p:cNvSpPr>
          <p:nvPr>
            <p:ph type="sldNum" sz="quarter" idx="11"/>
          </p:nvPr>
        </p:nvSpPr>
        <p:spPr>
          <a:xfrm>
            <a:off x="8976785" y="6381750"/>
            <a:ext cx="2880783" cy="312738"/>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FFED345-E44B-4C6E-A7CB-45C398F64CD0}" type="slidenum">
              <a:rPr lang="en-US" altLang="zh-CN"/>
              <a:pPr>
                <a:defRPr/>
              </a:pPr>
              <a:t>‹#›</a:t>
            </a:fld>
            <a:endParaRPr lang="en-US" altLang="zh-CN"/>
          </a:p>
        </p:txBody>
      </p:sp>
    </p:spTree>
    <p:extLst>
      <p:ext uri="{BB962C8B-B14F-4D97-AF65-F5344CB8AC3E}">
        <p14:creationId xmlns:p14="http://schemas.microsoft.com/office/powerpoint/2010/main" val="2731218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914400" y="152400"/>
            <a:ext cx="9160933"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828800"/>
            <a:ext cx="50292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6146800" y="1828800"/>
            <a:ext cx="5029200" cy="3657600"/>
          </a:xfrm>
        </p:spPr>
        <p:txBody>
          <a:bodyPr/>
          <a:lstStyle/>
          <a:p>
            <a:pPr lvl="0"/>
            <a:endParaRPr lang="zh-CN" altLang="en-US" noProof="0"/>
          </a:p>
        </p:txBody>
      </p:sp>
      <p:sp>
        <p:nvSpPr>
          <p:cNvPr id="5" name="Rectangle 6">
            <a:extLst>
              <a:ext uri="{FF2B5EF4-FFF2-40B4-BE49-F238E27FC236}">
                <a16:creationId xmlns:a16="http://schemas.microsoft.com/office/drawing/2014/main" id="{501BFAFC-5606-4D66-B0FC-1F4021D05077}"/>
              </a:ext>
            </a:extLst>
          </p:cNvPr>
          <p:cNvSpPr>
            <a:spLocks noGrp="1" noChangeArrowheads="1"/>
          </p:cNvSpPr>
          <p:nvPr>
            <p:ph type="ftr" sz="quarter" idx="10"/>
          </p:nvPr>
        </p:nvSpPr>
        <p:spPr>
          <a:xfrm>
            <a:off x="4751917" y="6237288"/>
            <a:ext cx="3860800" cy="457200"/>
          </a:xfrm>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21483B8F-CC14-452B-90F4-69E862978DFA}"/>
              </a:ext>
            </a:extLst>
          </p:cNvPr>
          <p:cNvSpPr>
            <a:spLocks noGrp="1" noChangeArrowheads="1"/>
          </p:cNvSpPr>
          <p:nvPr>
            <p:ph type="sldNum" sz="quarter" idx="11"/>
          </p:nvPr>
        </p:nvSpPr>
        <p:spPr>
          <a:xfrm>
            <a:off x="8976785" y="6381750"/>
            <a:ext cx="2880783" cy="312738"/>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F1A46AA-8057-4DE5-9EDB-B3B1DB413B9E}" type="slidenum">
              <a:rPr lang="en-US" altLang="zh-CN"/>
              <a:pPr>
                <a:defRPr/>
              </a:pPr>
              <a:t>‹#›</a:t>
            </a:fld>
            <a:endParaRPr lang="en-US" altLang="zh-CN"/>
          </a:p>
        </p:txBody>
      </p:sp>
    </p:spTree>
    <p:extLst>
      <p:ext uri="{BB962C8B-B14F-4D97-AF65-F5344CB8AC3E}">
        <p14:creationId xmlns:p14="http://schemas.microsoft.com/office/powerpoint/2010/main" val="807965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152400"/>
            <a:ext cx="10261600" cy="5334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6">
            <a:extLst>
              <a:ext uri="{FF2B5EF4-FFF2-40B4-BE49-F238E27FC236}">
                <a16:creationId xmlns:a16="http://schemas.microsoft.com/office/drawing/2014/main" id="{9668C2B9-7C97-46DE-8E16-5956CD0E3775}"/>
              </a:ext>
            </a:extLst>
          </p:cNvPr>
          <p:cNvSpPr>
            <a:spLocks noGrp="1" noChangeArrowheads="1"/>
          </p:cNvSpPr>
          <p:nvPr>
            <p:ph type="ftr" sz="quarter" idx="10"/>
          </p:nvPr>
        </p:nvSpPr>
        <p:spPr>
          <a:xfrm>
            <a:off x="4751917" y="6237288"/>
            <a:ext cx="3860800" cy="457200"/>
          </a:xfrm>
        </p:spPr>
        <p:txBody>
          <a:bodyPr/>
          <a:lstStyle>
            <a:lvl1pPr>
              <a:defRPr/>
            </a:lvl1pPr>
          </a:lstStyle>
          <a:p>
            <a:pPr>
              <a:defRPr/>
            </a:pPr>
            <a:endParaRPr lang="en-US" altLang="zh-CN"/>
          </a:p>
        </p:txBody>
      </p:sp>
      <p:sp>
        <p:nvSpPr>
          <p:cNvPr id="4" name="Rectangle 7">
            <a:extLst>
              <a:ext uri="{FF2B5EF4-FFF2-40B4-BE49-F238E27FC236}">
                <a16:creationId xmlns:a16="http://schemas.microsoft.com/office/drawing/2014/main" id="{02E3A46B-062E-4D20-B5F9-FDB75F54CC0B}"/>
              </a:ext>
            </a:extLst>
          </p:cNvPr>
          <p:cNvSpPr>
            <a:spLocks noGrp="1" noChangeArrowheads="1"/>
          </p:cNvSpPr>
          <p:nvPr>
            <p:ph type="sldNum" sz="quarter" idx="11"/>
          </p:nvPr>
        </p:nvSpPr>
        <p:spPr>
          <a:xfrm>
            <a:off x="8976785" y="6381750"/>
            <a:ext cx="2880783" cy="312738"/>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DBFE6A9-7BC1-4AD0-8378-629ECA2839A1}" type="slidenum">
              <a:rPr lang="en-US" altLang="zh-CN"/>
              <a:pPr>
                <a:defRPr/>
              </a:pPr>
              <a:t>‹#›</a:t>
            </a:fld>
            <a:endParaRPr lang="en-US" altLang="zh-CN"/>
          </a:p>
        </p:txBody>
      </p:sp>
    </p:spTree>
    <p:extLst>
      <p:ext uri="{BB962C8B-B14F-4D97-AF65-F5344CB8AC3E}">
        <p14:creationId xmlns:p14="http://schemas.microsoft.com/office/powerpoint/2010/main" val="2911173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2">
            <a:extLst>
              <a:ext uri="{FF2B5EF4-FFF2-40B4-BE49-F238E27FC236}">
                <a16:creationId xmlns:a16="http://schemas.microsoft.com/office/drawing/2014/main" id="{437AD3BB-1997-4364-9382-A825111F2111}"/>
              </a:ext>
            </a:extLst>
          </p:cNvPr>
          <p:cNvSpPr>
            <a:spLocks/>
          </p:cNvSpPr>
          <p:nvPr/>
        </p:nvSpPr>
        <p:spPr bwMode="auto">
          <a:xfrm rot="-3172564">
            <a:off x="10966979" y="133880"/>
            <a:ext cx="1196975" cy="1761067"/>
          </a:xfrm>
          <a:custGeom>
            <a:avLst/>
            <a:gdLst>
              <a:gd name="T0" fmla="*/ 2147483646 w 2903"/>
              <a:gd name="T1" fmla="*/ 2147483646 h 3686"/>
              <a:gd name="T2" fmla="*/ 2147483646 w 2903"/>
              <a:gd name="T3" fmla="*/ 2147483646 h 3686"/>
              <a:gd name="T4" fmla="*/ 2147483646 w 2903"/>
              <a:gd name="T5" fmla="*/ 0 h 3686"/>
              <a:gd name="T6" fmla="*/ 2147483646 w 2903"/>
              <a:gd name="T7" fmla="*/ 2147483646 h 3686"/>
              <a:gd name="T8" fmla="*/ 2147483646 w 2903"/>
              <a:gd name="T9" fmla="*/ 2147483646 h 3686"/>
              <a:gd name="T10" fmla="*/ 0 w 2903"/>
              <a:gd name="T11" fmla="*/ 2147483646 h 3686"/>
              <a:gd name="T12" fmla="*/ 2147483646 w 2903"/>
              <a:gd name="T13" fmla="*/ 2147483646 h 3686"/>
              <a:gd name="T14" fmla="*/ 2147483646 w 2903"/>
              <a:gd name="T15" fmla="*/ 2147483646 h 3686"/>
              <a:gd name="T16" fmla="*/ 2147483646 w 2903"/>
              <a:gd name="T17" fmla="*/ 2147483646 h 3686"/>
              <a:gd name="T18" fmla="*/ 2147483646 w 2903"/>
              <a:gd name="T19" fmla="*/ 2147483646 h 3686"/>
              <a:gd name="T20" fmla="*/ 2147483646 w 2903"/>
              <a:gd name="T21" fmla="*/ 2147483646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 name="Rectangle 3">
            <a:extLst>
              <a:ext uri="{FF2B5EF4-FFF2-40B4-BE49-F238E27FC236}">
                <a16:creationId xmlns:a16="http://schemas.microsoft.com/office/drawing/2014/main" id="{5F2C85C4-C90A-4D64-99E1-E2BF6930C767}"/>
              </a:ext>
            </a:extLst>
          </p:cNvPr>
          <p:cNvSpPr>
            <a:spLocks noGrp="1" noChangeArrowheads="1"/>
          </p:cNvSpPr>
          <p:nvPr>
            <p:ph type="title"/>
          </p:nvPr>
        </p:nvSpPr>
        <p:spPr bwMode="auto">
          <a:xfrm>
            <a:off x="914401" y="152400"/>
            <a:ext cx="9886951"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8" name="Rectangle 4">
            <a:extLst>
              <a:ext uri="{FF2B5EF4-FFF2-40B4-BE49-F238E27FC236}">
                <a16:creationId xmlns:a16="http://schemas.microsoft.com/office/drawing/2014/main" id="{DFB18541-EDE4-4AD1-BFEB-7499F05DA1A9}"/>
              </a:ext>
            </a:extLst>
          </p:cNvPr>
          <p:cNvSpPr>
            <a:spLocks noGrp="1" noChangeArrowheads="1"/>
          </p:cNvSpPr>
          <p:nvPr>
            <p:ph type="body" idx="1"/>
          </p:nvPr>
        </p:nvSpPr>
        <p:spPr bwMode="auto">
          <a:xfrm>
            <a:off x="914400" y="1828800"/>
            <a:ext cx="102616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4" name="页脚占位符 53">
            <a:extLst>
              <a:ext uri="{FF2B5EF4-FFF2-40B4-BE49-F238E27FC236}">
                <a16:creationId xmlns:a16="http://schemas.microsoft.com/office/drawing/2014/main" id="{F54532B1-15F3-4D36-87B0-34DB83275DBF}"/>
              </a:ext>
            </a:extLst>
          </p:cNvPr>
          <p:cNvSpPr>
            <a:spLocks noGrp="1"/>
          </p:cNvSpPr>
          <p:nvPr>
            <p:ph type="ftr" sz="quarter" idx="3"/>
          </p:nvPr>
        </p:nvSpPr>
        <p:spPr>
          <a:xfrm>
            <a:off x="-1297517" y="6492876"/>
            <a:ext cx="3860801"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5473" r:id="rId1"/>
    <p:sldLayoutId id="2147485474" r:id="rId2"/>
    <p:sldLayoutId id="2147485475" r:id="rId3"/>
    <p:sldLayoutId id="2147485476" r:id="rId4"/>
    <p:sldLayoutId id="2147485477" r:id="rId5"/>
    <p:sldLayoutId id="2147485478" r:id="rId6"/>
    <p:sldLayoutId id="2147485479" r:id="rId7"/>
    <p:sldLayoutId id="2147485480" r:id="rId8"/>
    <p:sldLayoutId id="2147485481" r:id="rId9"/>
    <p:sldLayoutId id="2147485482" r:id="rId10"/>
    <p:sldLayoutId id="2147485483" r:id="rId11"/>
  </p:sldLayoutIdLst>
  <p:hf sldNum="0" hdr="0" ftr="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itchFamily="66" charset="0"/>
          <a:ea typeface="宋体" pitchFamily="2" charset="-122"/>
        </a:defRPr>
      </a:lvl2pPr>
      <a:lvl3pPr algn="ctr" rtl="0" eaLnBrk="0" fontAlgn="base" hangingPunct="0">
        <a:spcBef>
          <a:spcPct val="0"/>
        </a:spcBef>
        <a:spcAft>
          <a:spcPct val="0"/>
        </a:spcAft>
        <a:defRPr sz="4400">
          <a:solidFill>
            <a:schemeClr val="tx1"/>
          </a:solidFill>
          <a:latin typeface="Comic Sans MS" pitchFamily="66" charset="0"/>
          <a:ea typeface="宋体" pitchFamily="2" charset="-122"/>
        </a:defRPr>
      </a:lvl3pPr>
      <a:lvl4pPr algn="ctr" rtl="0" eaLnBrk="0" fontAlgn="base" hangingPunct="0">
        <a:spcBef>
          <a:spcPct val="0"/>
        </a:spcBef>
        <a:spcAft>
          <a:spcPct val="0"/>
        </a:spcAft>
        <a:defRPr sz="4400">
          <a:solidFill>
            <a:schemeClr val="tx1"/>
          </a:solidFill>
          <a:latin typeface="Comic Sans MS" pitchFamily="66" charset="0"/>
          <a:ea typeface="宋体" pitchFamily="2" charset="-122"/>
        </a:defRPr>
      </a:lvl4pPr>
      <a:lvl5pPr algn="ctr" rtl="0" eaLnBrk="0" fontAlgn="base" hangingPunct="0">
        <a:spcBef>
          <a:spcPct val="0"/>
        </a:spcBef>
        <a:spcAft>
          <a:spcPct val="0"/>
        </a:spcAft>
        <a:defRPr sz="4400">
          <a:solidFill>
            <a:schemeClr val="tx1"/>
          </a:solidFill>
          <a:latin typeface="Comic Sans MS" pitchFamily="66" charset="0"/>
          <a:ea typeface="宋体" pitchFamily="2" charset="-122"/>
        </a:defRPr>
      </a:lvl5pPr>
      <a:lvl6pPr marL="457200" algn="ctr" rtl="0" fontAlgn="base">
        <a:spcBef>
          <a:spcPct val="0"/>
        </a:spcBef>
        <a:spcAft>
          <a:spcPct val="0"/>
        </a:spcAft>
        <a:defRPr sz="4400">
          <a:solidFill>
            <a:schemeClr val="tx1"/>
          </a:solidFill>
          <a:latin typeface="Comic Sans MS" pitchFamily="66" charset="0"/>
          <a:ea typeface="宋体" pitchFamily="2" charset="-122"/>
        </a:defRPr>
      </a:lvl6pPr>
      <a:lvl7pPr marL="914400" algn="ctr" rtl="0" fontAlgn="base">
        <a:spcBef>
          <a:spcPct val="0"/>
        </a:spcBef>
        <a:spcAft>
          <a:spcPct val="0"/>
        </a:spcAft>
        <a:defRPr sz="4400">
          <a:solidFill>
            <a:schemeClr val="tx1"/>
          </a:solidFill>
          <a:latin typeface="Comic Sans MS" pitchFamily="66" charset="0"/>
          <a:ea typeface="宋体" pitchFamily="2" charset="-122"/>
        </a:defRPr>
      </a:lvl7pPr>
      <a:lvl8pPr marL="1371600" algn="ctr" rtl="0" fontAlgn="base">
        <a:spcBef>
          <a:spcPct val="0"/>
        </a:spcBef>
        <a:spcAft>
          <a:spcPct val="0"/>
        </a:spcAft>
        <a:defRPr sz="4400">
          <a:solidFill>
            <a:schemeClr val="tx1"/>
          </a:solidFill>
          <a:latin typeface="Comic Sans MS" pitchFamily="66" charset="0"/>
          <a:ea typeface="宋体" pitchFamily="2" charset="-122"/>
        </a:defRPr>
      </a:lvl8pPr>
      <a:lvl9pPr marL="1828800" algn="ctr" rtl="0" fontAlgn="base">
        <a:spcBef>
          <a:spcPct val="0"/>
        </a:spcBef>
        <a:spcAft>
          <a:spcPct val="0"/>
        </a:spcAft>
        <a:defRPr sz="4400">
          <a:solidFill>
            <a:schemeClr val="tx1"/>
          </a:solidFill>
          <a:latin typeface="Comic Sans MS" pitchFamily="66"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4.xml"/><Relationship Id="rId1" Type="http://schemas.openxmlformats.org/officeDocument/2006/relationships/slideLayout" Target="../slideLayouts/slideLayout9.xml"/><Relationship Id="rId4" Type="http://schemas.openxmlformats.org/officeDocument/2006/relationships/image" Target="../media/image19.wmf"/></Relationships>
</file>

<file path=ppt/slides/_rels/slide4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7.xml"/><Relationship Id="rId1" Type="http://schemas.openxmlformats.org/officeDocument/2006/relationships/slideLayout" Target="../slideLayouts/slideLayout9.xml"/><Relationship Id="rId4" Type="http://schemas.openxmlformats.org/officeDocument/2006/relationships/image" Target="../media/image21.w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69.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7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0.xml"/><Relationship Id="rId1" Type="http://schemas.openxmlformats.org/officeDocument/2006/relationships/slideLayout" Target="../slideLayouts/slideLayout6.xml"/><Relationship Id="rId5" Type="http://schemas.openxmlformats.org/officeDocument/2006/relationships/image" Target="../media/image44.png"/><Relationship Id="rId4" Type="http://schemas.openxmlformats.org/officeDocument/2006/relationships/image" Target="../media/image43.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6.gif"/><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file:///D:\teaching\03&#37238;&#19982;&#32500;&#29983;&#32032;\&#25945;&#36741;&#35270;&#39057;&#38899;&#39057;\How%20Enzymes%20Work&#65288;&#20013;&#33521;&#25991;&#23383;&#24149;&#65289;.mp4" TargetMode="External"/><Relationship Id="rId1" Type="http://schemas.microsoft.com/office/2007/relationships/media" Target="file:///D:\teaching\03&#37238;&#19982;&#32500;&#29983;&#32032;\&#25945;&#36741;&#35270;&#39057;&#38899;&#39057;\How%20Enzymes%20Work&#65288;&#20013;&#33521;&#25991;&#23383;&#24149;&#65289;.mp4" TargetMode="External"/><Relationship Id="rId5" Type="http://schemas.openxmlformats.org/officeDocument/2006/relationships/image" Target="../media/image47.png"/><Relationship Id="rId4"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99.xml"/><Relationship Id="rId1" Type="http://schemas.openxmlformats.org/officeDocument/2006/relationships/slideLayout" Target="../slideLayouts/slideLayout9.xml"/><Relationship Id="rId4" Type="http://schemas.openxmlformats.org/officeDocument/2006/relationships/image" Target="../media/image58.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13.xml"/><Relationship Id="rId1" Type="http://schemas.openxmlformats.org/officeDocument/2006/relationships/slideLayout" Target="../slideLayouts/slideLayout2.xml"/><Relationship Id="rId4" Type="http://schemas.openxmlformats.org/officeDocument/2006/relationships/image" Target="../media/image62.wmf"/></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16.xml"/><Relationship Id="rId1" Type="http://schemas.openxmlformats.org/officeDocument/2006/relationships/slideLayout" Target="../slideLayouts/slideLayout6.xml"/><Relationship Id="rId6" Type="http://schemas.openxmlformats.org/officeDocument/2006/relationships/image" Target="../media/image64.wmf"/><Relationship Id="rId5" Type="http://schemas.openxmlformats.org/officeDocument/2006/relationships/oleObject" Target="../embeddings/oleObject7.bin"/><Relationship Id="rId4" Type="http://schemas.openxmlformats.org/officeDocument/2006/relationships/image" Target="../media/image63.wmf"/></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8.xml"/></Relationships>
</file>

<file path=ppt/slides/_rels/slide12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19.xml"/><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20.xml"/><Relationship Id="rId1" Type="http://schemas.openxmlformats.org/officeDocument/2006/relationships/slideLayout" Target="../slideLayouts/slideLayout6.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jpeg"/></Relationships>
</file>

<file path=ppt/slides/_rels/slide12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1.xml"/><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2.xml"/><Relationship Id="rId1" Type="http://schemas.openxmlformats.org/officeDocument/2006/relationships/slideLayout" Target="../slideLayouts/slideLayout6.xml"/><Relationship Id="rId4" Type="http://schemas.openxmlformats.org/officeDocument/2006/relationships/image" Target="../media/image72.png"/></Relationships>
</file>

<file path=ppt/slides/_rels/slide12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23.xml"/><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24.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26.xml"/><Relationship Id="rId1" Type="http://schemas.openxmlformats.org/officeDocument/2006/relationships/slideLayout" Target="../slideLayouts/slideLayout6.xml"/><Relationship Id="rId4" Type="http://schemas.openxmlformats.org/officeDocument/2006/relationships/image" Target="../media/image76.png"/></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8.xml"/><Relationship Id="rId1" Type="http://schemas.openxmlformats.org/officeDocument/2006/relationships/slideLayout" Target="../slideLayouts/slideLayout6.xml"/><Relationship Id="rId5" Type="http://schemas.openxmlformats.org/officeDocument/2006/relationships/image" Target="../media/image79.png"/><Relationship Id="rId4" Type="http://schemas.openxmlformats.org/officeDocument/2006/relationships/image" Target="../media/image78.png"/></Relationships>
</file>

<file path=ppt/slides/_rels/slide1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29.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13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30.xml"/><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31.xml"/><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32.xml"/><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45.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1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46.xml"/><Relationship Id="rId1" Type="http://schemas.openxmlformats.org/officeDocument/2006/relationships/slideLayout" Target="../slideLayouts/slideLayout9.xml"/><Relationship Id="rId4" Type="http://schemas.openxmlformats.org/officeDocument/2006/relationships/image" Target="../media/image89.emf"/></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9.xml"/></Relationships>
</file>

<file path=ppt/slides/_rels/slide15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52.xml"/><Relationship Id="rId1" Type="http://schemas.openxmlformats.org/officeDocument/2006/relationships/slideLayout" Target="../slideLayouts/slideLayout9.xml"/><Relationship Id="rId4" Type="http://schemas.microsoft.com/office/2007/relationships/hdphoto" Target="../media/hdphoto1.wdp"/></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5.xml"/></Relationships>
</file>

<file path=ppt/slides/_rels/slide16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57.xml"/><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58.xml"/><Relationship Id="rId1" Type="http://schemas.openxmlformats.org/officeDocument/2006/relationships/slideLayout" Target="../slideLayouts/slideLayout11.xml"/></Relationships>
</file>

<file path=ppt/slides/_rels/slide16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59.xml"/><Relationship Id="rId1" Type="http://schemas.openxmlformats.org/officeDocument/2006/relationships/slideLayout" Target="../slideLayouts/slideLayout1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62.xml"/><Relationship Id="rId1" Type="http://schemas.openxmlformats.org/officeDocument/2006/relationships/slideLayout" Target="../slideLayouts/slideLayout5.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64.xml"/><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5.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70.xml"/><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oleObject" Target="../embeddings/oleObject9.bin"/><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17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71.xml"/><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00.png"/><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72.xml"/><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01.wmf"/></Relationships>
</file>

<file path=ppt/slides/_rels/slide18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73.xml"/><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103.wmf"/></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74.xml"/><Relationship Id="rId1" Type="http://schemas.openxmlformats.org/officeDocument/2006/relationships/slideLayout" Target="../slideLayouts/slideLayout2.xml"/><Relationship Id="rId4" Type="http://schemas.openxmlformats.org/officeDocument/2006/relationships/image" Target="../media/image104.wmf"/></Relationships>
</file>

<file path=ppt/slides/_rels/slide18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75.xml"/><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18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81.xml"/><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5.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84.xml"/><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6.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A6FC1C2F-00BD-4C7A-8DBF-31DD6A34E9F2}"/>
              </a:ext>
            </a:extLst>
          </p:cNvPr>
          <p:cNvSpPr>
            <a:spLocks noGrp="1" noChangeArrowheads="1"/>
          </p:cNvSpPr>
          <p:nvPr>
            <p:ph type="ctrTitle"/>
          </p:nvPr>
        </p:nvSpPr>
        <p:spPr>
          <a:xfrm>
            <a:off x="3287689" y="157164"/>
            <a:ext cx="5740426" cy="2192337"/>
          </a:xfrm>
          <a:effectLst/>
        </p:spPr>
        <p:txBody>
          <a:bodyPr/>
          <a:lstStyle/>
          <a:p>
            <a:pPr eaLnBrk="1" hangingPunct="1">
              <a:lnSpc>
                <a:spcPct val="110000"/>
              </a:lnSpc>
              <a:defRPr/>
            </a:pPr>
            <a:r>
              <a:rPr lang="zh-CN" altLang="en-US" sz="5400" b="1" dirty="0">
                <a:solidFill>
                  <a:srgbClr val="C00000"/>
                </a:solidFill>
                <a:effectLst/>
                <a:latin typeface="黑体" panose="02010609060101010101" pitchFamily="49" charset="-122"/>
                <a:ea typeface="黑体" panose="02010609060101010101" pitchFamily="49" charset="-122"/>
              </a:rPr>
              <a:t>第  三  章</a:t>
            </a:r>
            <a:br>
              <a:rPr lang="zh-CN" altLang="en-US" sz="5400" b="1" dirty="0">
                <a:solidFill>
                  <a:srgbClr val="C00000"/>
                </a:solidFill>
                <a:effectLst/>
                <a:latin typeface="Arial Rounded MT Bold" panose="020F0704030504030204" pitchFamily="34" charset="0"/>
                <a:ea typeface="+mn-ea"/>
              </a:rPr>
            </a:br>
            <a:r>
              <a:rPr lang="zh-CN" altLang="en-US" sz="5400" b="1" dirty="0">
                <a:solidFill>
                  <a:srgbClr val="C00000"/>
                </a:solidFill>
                <a:effectLst/>
                <a:latin typeface="Arial Rounded MT Bold" panose="020F0704030504030204" pitchFamily="34" charset="0"/>
                <a:ea typeface="+mn-ea"/>
              </a:rPr>
              <a:t>酶</a:t>
            </a:r>
            <a:r>
              <a:rPr lang="en-US" altLang="zh-CN" sz="5400" b="1" dirty="0">
                <a:solidFill>
                  <a:srgbClr val="C00000"/>
                </a:solidFill>
                <a:effectLst/>
                <a:latin typeface="Arial Rounded MT Bold" panose="020F0704030504030204" pitchFamily="34" charset="0"/>
                <a:ea typeface="+mn-ea"/>
              </a:rPr>
              <a:t>(Enzyme)</a:t>
            </a:r>
          </a:p>
        </p:txBody>
      </p:sp>
      <p:sp>
        <p:nvSpPr>
          <p:cNvPr id="15363" name="Text Box 3">
            <a:extLst>
              <a:ext uri="{FF2B5EF4-FFF2-40B4-BE49-F238E27FC236}">
                <a16:creationId xmlns:a16="http://schemas.microsoft.com/office/drawing/2014/main" id="{B6DB3A49-40DC-4215-BD53-03F03AE544B1}"/>
              </a:ext>
            </a:extLst>
          </p:cNvPr>
          <p:cNvSpPr txBox="1">
            <a:spLocks noChangeArrowheads="1"/>
          </p:cNvSpPr>
          <p:nvPr/>
        </p:nvSpPr>
        <p:spPr bwMode="auto">
          <a:xfrm>
            <a:off x="3787776" y="5692776"/>
            <a:ext cx="5453063" cy="933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30000"/>
              </a:lnSpc>
              <a:spcBef>
                <a:spcPct val="0"/>
              </a:spcBef>
              <a:buFontTx/>
              <a:buNone/>
            </a:pPr>
            <a:r>
              <a:rPr lang="zh-CN" altLang="en-US" sz="2400" b="1" dirty="0">
                <a:latin typeface="楷体_GB2312" pitchFamily="49" charset="-122"/>
                <a:ea typeface="楷体_GB2312" pitchFamily="49" charset="-122"/>
              </a:rPr>
              <a:t>彭翼飞</a:t>
            </a:r>
            <a:r>
              <a:rPr lang="en-US" altLang="zh-CN" sz="2400" b="1" dirty="0">
                <a:latin typeface="楷体_GB2312" pitchFamily="49" charset="-122"/>
                <a:ea typeface="楷体_GB2312" pitchFamily="49" charset="-122"/>
              </a:rPr>
              <a:t>    yvettegz@163.com</a:t>
            </a:r>
          </a:p>
          <a:p>
            <a:pPr algn="ctr" eaLnBrk="1" hangingPunct="1">
              <a:lnSpc>
                <a:spcPct val="130000"/>
              </a:lnSpc>
              <a:spcBef>
                <a:spcPct val="0"/>
              </a:spcBef>
              <a:buFontTx/>
              <a:buNone/>
            </a:pPr>
            <a:r>
              <a:rPr lang="zh-CN" altLang="en-US" sz="2000" b="1" dirty="0">
                <a:latin typeface="楷体_GB2312" pitchFamily="49" charset="-122"/>
                <a:ea typeface="楷体_GB2312" pitchFamily="49" charset="-122"/>
              </a:rPr>
              <a:t>生物化学与分子生物学教研室</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DDF5F47-DE45-438C-BC47-7DB5364E70A9}"/>
              </a:ext>
            </a:extLst>
          </p:cNvPr>
          <p:cNvSpPr>
            <a:spLocks noGrp="1" noChangeArrowheads="1"/>
          </p:cNvSpPr>
          <p:nvPr>
            <p:ph idx="1"/>
          </p:nvPr>
        </p:nvSpPr>
        <p:spPr>
          <a:xfrm>
            <a:off x="1847528" y="692150"/>
            <a:ext cx="8856984" cy="5905500"/>
          </a:xfrm>
        </p:spPr>
        <p:txBody>
          <a:bodyPr/>
          <a:lstStyle/>
          <a:p>
            <a:r>
              <a:rPr lang="zh-CN" altLang="en-US" b="0" dirty="0">
                <a:solidFill>
                  <a:srgbClr val="C00000"/>
                </a:solidFill>
                <a:latin typeface="黑体" panose="02010609060101010101" pitchFamily="49" charset="-122"/>
                <a:ea typeface="黑体" panose="02010609060101010101" pitchFamily="49" charset="-122"/>
              </a:rPr>
              <a:t>酶（</a:t>
            </a:r>
            <a:r>
              <a:rPr lang="en-US" altLang="zh-CN" b="0" dirty="0">
                <a:solidFill>
                  <a:srgbClr val="C00000"/>
                </a:solidFill>
                <a:latin typeface="黑体" panose="02010609060101010101" pitchFamily="49" charset="-122"/>
                <a:ea typeface="黑体" panose="02010609060101010101" pitchFamily="49" charset="-122"/>
              </a:rPr>
              <a:t>enzyme</a:t>
            </a:r>
            <a:r>
              <a:rPr lang="zh-CN" altLang="en-US" b="0" dirty="0">
                <a:solidFill>
                  <a:srgbClr val="C00000"/>
                </a:solidFill>
                <a:latin typeface="黑体" panose="02010609060101010101" pitchFamily="49" charset="-122"/>
                <a:ea typeface="黑体" panose="02010609060101010101" pitchFamily="49" charset="-122"/>
              </a:rPr>
              <a:t>）的定义：　</a:t>
            </a:r>
            <a:endParaRPr lang="en-US" altLang="zh-CN" b="0" dirty="0">
              <a:solidFill>
                <a:srgbClr val="C00000"/>
              </a:solidFill>
              <a:latin typeface="黑体" panose="02010609060101010101" pitchFamily="49" charset="-122"/>
              <a:ea typeface="黑体" panose="02010609060101010101" pitchFamily="49" charset="-122"/>
            </a:endParaRPr>
          </a:p>
          <a:p>
            <a:pPr marL="0" indent="0">
              <a:lnSpc>
                <a:spcPct val="150000"/>
              </a:lnSpc>
              <a:buNone/>
            </a:pPr>
            <a:r>
              <a:rPr lang="zh-CN" altLang="en-US" b="0" dirty="0">
                <a:latin typeface="黑体" panose="02010609060101010101" pitchFamily="49" charset="-122"/>
                <a:ea typeface="黑体" panose="02010609060101010101" pitchFamily="49" charset="-122"/>
              </a:rPr>
              <a:t>活细胞产生的或人工合成的、对特异底物起高效催化作用的</a:t>
            </a:r>
            <a:r>
              <a:rPr lang="zh-CN" altLang="en-US" b="0" dirty="0">
                <a:solidFill>
                  <a:srgbClr val="0000CC"/>
                </a:solidFill>
                <a:latin typeface="黑体" panose="02010609060101010101" pitchFamily="49" charset="-122"/>
                <a:ea typeface="黑体" panose="02010609060101010101" pitchFamily="49" charset="-122"/>
              </a:rPr>
              <a:t>蛋白质和</a:t>
            </a:r>
            <a:r>
              <a:rPr lang="en-US" altLang="zh-CN" b="0" dirty="0">
                <a:solidFill>
                  <a:srgbClr val="0000CC"/>
                </a:solidFill>
                <a:latin typeface="黑体" panose="02010609060101010101" pitchFamily="49" charset="-122"/>
                <a:ea typeface="黑体" panose="02010609060101010101" pitchFamily="49" charset="-122"/>
              </a:rPr>
              <a:t>RNA</a:t>
            </a:r>
            <a:r>
              <a:rPr lang="zh-CN" altLang="en-US" b="0" dirty="0">
                <a:latin typeface="黑体" panose="02010609060101010101" pitchFamily="49" charset="-122"/>
                <a:ea typeface="黑体" panose="02010609060101010101" pitchFamily="49" charset="-122"/>
              </a:rPr>
              <a:t>。</a:t>
            </a:r>
            <a:endParaRPr lang="en-US" altLang="zh-CN" b="0" dirty="0">
              <a:latin typeface="黑体" panose="02010609060101010101" pitchFamily="49" charset="-122"/>
              <a:ea typeface="黑体" panose="02010609060101010101" pitchFamily="49" charset="-122"/>
            </a:endParaRPr>
          </a:p>
          <a:p>
            <a:pPr marL="0" indent="0">
              <a:lnSpc>
                <a:spcPct val="125000"/>
              </a:lnSpc>
              <a:spcBef>
                <a:spcPct val="0"/>
              </a:spcBef>
              <a:buNone/>
            </a:pPr>
            <a:endParaRPr lang="en-US" altLang="zh-CN" sz="2800" b="0" dirty="0">
              <a:latin typeface="黑体" panose="02010609060101010101" pitchFamily="49" charset="-122"/>
              <a:ea typeface="黑体" panose="02010609060101010101" pitchFamily="49" charset="-122"/>
            </a:endParaRPr>
          </a:p>
          <a:p>
            <a:pPr>
              <a:lnSpc>
                <a:spcPct val="125000"/>
              </a:lnSpc>
              <a:spcBef>
                <a:spcPct val="0"/>
              </a:spcBef>
            </a:pPr>
            <a:r>
              <a:rPr lang="en-US" altLang="zh-CN" sz="2800" b="0" dirty="0">
                <a:latin typeface="黑体" panose="02010609060101010101" pitchFamily="49" charset="-122"/>
                <a:ea typeface="黑体" panose="02010609060101010101" pitchFamily="49" charset="-122"/>
              </a:rPr>
              <a:t>1878</a:t>
            </a:r>
            <a:r>
              <a:rPr lang="zh-CN" altLang="en-US" sz="2800" b="0" dirty="0">
                <a:latin typeface="黑体" panose="02010609060101010101" pitchFamily="49" charset="-122"/>
                <a:ea typeface="黑体" panose="02010609060101010101" pitchFamily="49" charset="-122"/>
              </a:rPr>
              <a:t>年，酶被定名为</a:t>
            </a:r>
            <a:r>
              <a:rPr lang="en-US" altLang="zh-CN" sz="2800" b="0" dirty="0">
                <a:latin typeface="黑体" panose="02010609060101010101" pitchFamily="49" charset="-122"/>
                <a:ea typeface="黑体" panose="02010609060101010101" pitchFamily="49" charset="-122"/>
              </a:rPr>
              <a:t>enzyme ("in yeast”  </a:t>
            </a:r>
            <a:r>
              <a:rPr lang="zh-CN" altLang="en-US" sz="2800" b="0" dirty="0">
                <a:latin typeface="黑体" panose="02010609060101010101" pitchFamily="49" charset="-122"/>
                <a:ea typeface="黑体" panose="02010609060101010101" pitchFamily="49" charset="-122"/>
              </a:rPr>
              <a:t>希腊文 </a:t>
            </a:r>
            <a:r>
              <a:rPr lang="en-US" altLang="zh-CN" sz="2800" b="0" dirty="0" err="1">
                <a:latin typeface="黑体" panose="02010609060101010101" pitchFamily="49" charset="-122"/>
                <a:ea typeface="黑体" panose="02010609060101010101" pitchFamily="49" charset="-122"/>
              </a:rPr>
              <a:t>en</a:t>
            </a:r>
            <a:r>
              <a:rPr lang="en-US" altLang="zh-CN" sz="2800" b="0" dirty="0">
                <a:latin typeface="黑体" panose="02010609060101010101" pitchFamily="49" charset="-122"/>
                <a:ea typeface="黑体" panose="02010609060101010101" pitchFamily="49" charset="-122"/>
              </a:rPr>
              <a:t> = in </a:t>
            </a:r>
            <a:r>
              <a:rPr lang="zh-CN" altLang="en-US" sz="2800" b="0" dirty="0">
                <a:latin typeface="黑体" panose="02010609060101010101" pitchFamily="49" charset="-122"/>
                <a:ea typeface="黑体" panose="02010609060101010101" pitchFamily="49" charset="-122"/>
              </a:rPr>
              <a:t>， </a:t>
            </a:r>
            <a:r>
              <a:rPr lang="en-US" altLang="zh-CN" sz="2800" b="0" dirty="0">
                <a:latin typeface="黑体" panose="02010609060101010101" pitchFamily="49" charset="-122"/>
                <a:ea typeface="黑体" panose="02010609060101010101" pitchFamily="49" charset="-122"/>
              </a:rPr>
              <a:t>zyme = yeast)</a:t>
            </a:r>
            <a:endParaRPr lang="en-US" altLang="zh-CN" dirty="0"/>
          </a:p>
          <a:p>
            <a:pPr marL="0" indent="0">
              <a:lnSpc>
                <a:spcPct val="150000"/>
              </a:lnSpc>
              <a:buNone/>
            </a:pPr>
            <a:endParaRPr lang="en-US" altLang="zh-CN" dirty="0"/>
          </a:p>
          <a:p>
            <a:pPr>
              <a:lnSpc>
                <a:spcPct val="150000"/>
              </a:lnSpc>
            </a:pPr>
            <a:r>
              <a:rPr lang="zh-CN" altLang="en-US" dirty="0"/>
              <a:t>本章提及的酶都是蛋白质。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4FCE577-9B0C-447E-963C-82B996A28CBF}"/>
              </a:ext>
            </a:extLst>
          </p:cNvPr>
          <p:cNvSpPr>
            <a:spLocks noChangeArrowheads="1"/>
          </p:cNvSpPr>
          <p:nvPr/>
        </p:nvSpPr>
        <p:spPr bwMode="auto">
          <a:xfrm>
            <a:off x="1559496" y="2060575"/>
            <a:ext cx="8928992" cy="313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60000"/>
              </a:lnSpc>
              <a:spcBef>
                <a:spcPct val="0"/>
              </a:spcBef>
              <a:buFontTx/>
              <a:buNone/>
            </a:pPr>
            <a:r>
              <a:rPr kumimoji="1" lang="en-US" altLang="zh-CN" b="1" dirty="0">
                <a:latin typeface="Times New Roman" panose="02020603050405020304" pitchFamily="18" charset="0"/>
                <a:ea typeface="黑体" panose="02010609060101010101" pitchFamily="49" charset="-122"/>
              </a:rPr>
              <a:t>         </a:t>
            </a:r>
            <a:r>
              <a:rPr kumimoji="1" lang="zh-CN" altLang="en-US" b="1" dirty="0">
                <a:latin typeface="Times New Roman" panose="02020603050405020304" pitchFamily="18" charset="0"/>
                <a:ea typeface="黑体" panose="02010609060101010101" pitchFamily="49" charset="-122"/>
              </a:rPr>
              <a:t>酶在机体中十分</a:t>
            </a:r>
            <a:r>
              <a:rPr kumimoji="1" lang="zh-CN" altLang="en-US" b="1" dirty="0">
                <a:solidFill>
                  <a:srgbClr val="0000CC"/>
                </a:solidFill>
                <a:latin typeface="Times New Roman" panose="02020603050405020304" pitchFamily="18" charset="0"/>
                <a:ea typeface="黑体" panose="02010609060101010101" pitchFamily="49" charset="-122"/>
              </a:rPr>
              <a:t>温和的条件</a:t>
            </a:r>
            <a:r>
              <a:rPr kumimoji="1" lang="zh-CN" altLang="en-US" b="1" dirty="0">
                <a:latin typeface="Times New Roman" panose="02020603050405020304" pitchFamily="18" charset="0"/>
                <a:ea typeface="黑体" panose="02010609060101010101" pitchFamily="49" charset="-122"/>
              </a:rPr>
              <a:t>下有</a:t>
            </a:r>
            <a:r>
              <a:rPr kumimoji="1" lang="zh-CN" altLang="en-US" b="1" dirty="0">
                <a:solidFill>
                  <a:schemeClr val="tx2"/>
                </a:solidFill>
                <a:latin typeface="Times New Roman" panose="02020603050405020304" pitchFamily="18" charset="0"/>
                <a:ea typeface="黑体" panose="02010609060101010101" pitchFamily="49" charset="-122"/>
              </a:rPr>
              <a:t>高效率催化作用</a:t>
            </a:r>
            <a:r>
              <a:rPr kumimoji="1" lang="zh-CN" altLang="en-US" b="1" dirty="0">
                <a:latin typeface="Times New Roman" panose="02020603050405020304" pitchFamily="18" charset="0"/>
                <a:ea typeface="黑体" panose="02010609060101010101" pitchFamily="49" charset="-122"/>
              </a:rPr>
              <a:t>；并在多种因素的影响下对代谢发挥着巧妙的</a:t>
            </a:r>
            <a:r>
              <a:rPr kumimoji="1" lang="zh-CN" altLang="en-US" b="1" dirty="0">
                <a:solidFill>
                  <a:schemeClr val="tx2"/>
                </a:solidFill>
                <a:latin typeface="Times New Roman" panose="02020603050405020304" pitchFamily="18" charset="0"/>
                <a:ea typeface="黑体" panose="02010609060101010101" pitchFamily="49" charset="-122"/>
              </a:rPr>
              <a:t>调节</a:t>
            </a:r>
            <a:r>
              <a:rPr kumimoji="1" lang="zh-CN" altLang="en-US" b="1" dirty="0">
                <a:solidFill>
                  <a:srgbClr val="FF0000"/>
                </a:solidFill>
                <a:latin typeface="Times New Roman" panose="02020603050405020304" pitchFamily="18" charset="0"/>
                <a:ea typeface="黑体" panose="02010609060101010101" pitchFamily="49" charset="-122"/>
              </a:rPr>
              <a:t>作用</a:t>
            </a:r>
            <a:r>
              <a:rPr kumimoji="1" lang="zh-CN" altLang="en-US" b="1" dirty="0">
                <a:latin typeface="Times New Roman" panose="02020603050405020304" pitchFamily="18" charset="0"/>
                <a:ea typeface="黑体" panose="02010609060101010101" pitchFamily="49" charset="-122"/>
              </a:rPr>
              <a:t>，使得生物体内的</a:t>
            </a:r>
            <a:r>
              <a:rPr kumimoji="1" lang="zh-CN" altLang="en-US" b="1" dirty="0">
                <a:solidFill>
                  <a:srgbClr val="0000CC"/>
                </a:solidFill>
                <a:latin typeface="Times New Roman" panose="02020603050405020304" pitchFamily="18" charset="0"/>
                <a:ea typeface="黑体" panose="02010609060101010101" pitchFamily="49" charset="-122"/>
              </a:rPr>
              <a:t>物质代谢有条不紊地进行</a:t>
            </a:r>
            <a:r>
              <a:rPr kumimoji="1" lang="zh-CN" altLang="en-US" b="1" dirty="0">
                <a:latin typeface="Times New Roman" panose="02020603050405020304" pitchFamily="18" charset="0"/>
                <a:ea typeface="黑体" panose="02010609060101010101" pitchFamily="49" charset="-122"/>
              </a:rPr>
              <a:t> 。</a:t>
            </a:r>
          </a:p>
        </p:txBody>
      </p:sp>
      <p:sp>
        <p:nvSpPr>
          <p:cNvPr id="19459" name="Rectangle 3">
            <a:extLst>
              <a:ext uri="{FF2B5EF4-FFF2-40B4-BE49-F238E27FC236}">
                <a16:creationId xmlns:a16="http://schemas.microsoft.com/office/drawing/2014/main" id="{E970F74E-B488-4AE8-AF4F-A941D8618BF5}"/>
              </a:ext>
            </a:extLst>
          </p:cNvPr>
          <p:cNvSpPr>
            <a:spLocks noChangeArrowheads="1"/>
          </p:cNvSpPr>
          <p:nvPr/>
        </p:nvSpPr>
        <p:spPr bwMode="auto">
          <a:xfrm>
            <a:off x="1415480" y="980728"/>
            <a:ext cx="3743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b="1" dirty="0">
                <a:solidFill>
                  <a:srgbClr val="FF0000"/>
                </a:solidFill>
                <a:latin typeface="Arial" panose="020B0604020202020204" pitchFamily="34" charset="0"/>
                <a:ea typeface="黑体" panose="02010609060101010101" pitchFamily="49" charset="-122"/>
              </a:rPr>
              <a:t>酶的生物学意义：</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8CAB9234-6A8E-4201-9A15-7F1142EE4327}"/>
              </a:ext>
            </a:extLst>
          </p:cNvPr>
          <p:cNvSpPr>
            <a:spLocks noGrp="1" noChangeArrowheads="1"/>
          </p:cNvSpPr>
          <p:nvPr>
            <p:ph type="body" idx="1"/>
          </p:nvPr>
        </p:nvSpPr>
        <p:spPr>
          <a:xfrm>
            <a:off x="1055440" y="1341438"/>
            <a:ext cx="10297144" cy="4967882"/>
          </a:xfrm>
        </p:spPr>
        <p:txBody>
          <a:bodyPr/>
          <a:lstStyle/>
          <a:p>
            <a:pPr algn="just" eaLnBrk="1" hangingPunct="1">
              <a:lnSpc>
                <a:spcPct val="120000"/>
              </a:lnSpc>
            </a:pPr>
            <a:r>
              <a:rPr lang="en-US" altLang="zh-CN" sz="2800" dirty="0">
                <a:latin typeface="Arial" panose="020B0604020202020204" pitchFamily="34" charset="0"/>
                <a:cs typeface="Arial" panose="020B0604020202020204" pitchFamily="34" charset="0"/>
              </a:rPr>
              <a:t>1857</a:t>
            </a:r>
            <a:r>
              <a:rPr lang="zh-CN" altLang="en-US" sz="2800" dirty="0">
                <a:latin typeface="Arial" panose="020B0604020202020204" pitchFamily="34" charset="0"/>
                <a:cs typeface="Arial" panose="020B0604020202020204" pitchFamily="34" charset="0"/>
              </a:rPr>
              <a:t>年，</a:t>
            </a:r>
            <a:r>
              <a:rPr lang="en-US" altLang="zh-CN" sz="2800" dirty="0">
                <a:latin typeface="Arial" panose="020B0604020202020204" pitchFamily="34" charset="0"/>
                <a:cs typeface="Arial" panose="020B0604020202020204" pitchFamily="34" charset="0"/>
              </a:rPr>
              <a:t>Pasteur</a:t>
            </a:r>
            <a:r>
              <a:rPr lang="zh-CN" altLang="en-US" sz="2800" dirty="0">
                <a:latin typeface="Arial" panose="020B0604020202020204" pitchFamily="34" charset="0"/>
                <a:cs typeface="Arial" panose="020B0604020202020204" pitchFamily="34" charset="0"/>
              </a:rPr>
              <a:t>认为发酵需要活的酵母细胞</a:t>
            </a:r>
            <a:endParaRPr lang="en-US" altLang="zh-CN" sz="2800" dirty="0">
              <a:latin typeface="Arial" panose="020B0604020202020204" pitchFamily="34" charset="0"/>
              <a:cs typeface="Arial" panose="020B0604020202020204" pitchFamily="34" charset="0"/>
            </a:endParaRPr>
          </a:p>
          <a:p>
            <a:pPr>
              <a:lnSpc>
                <a:spcPct val="120000"/>
              </a:lnSpc>
            </a:pPr>
            <a:r>
              <a:rPr lang="en-US" altLang="zh-CN" sz="2800" dirty="0">
                <a:latin typeface="Arial" panose="020B0604020202020204" pitchFamily="34" charset="0"/>
                <a:cs typeface="Arial" panose="020B0604020202020204" pitchFamily="34" charset="0"/>
              </a:rPr>
              <a:t>1878</a:t>
            </a:r>
            <a:r>
              <a:rPr lang="zh-CN" altLang="en-US" sz="2800" dirty="0">
                <a:latin typeface="Arial" panose="020B0604020202020204" pitchFamily="34" charset="0"/>
                <a:cs typeface="Arial" panose="020B0604020202020204" pitchFamily="34" charset="0"/>
              </a:rPr>
              <a:t>年 酶被定名为</a:t>
            </a:r>
            <a:r>
              <a:rPr lang="en-US" altLang="zh-CN" sz="2800" dirty="0">
                <a:solidFill>
                  <a:schemeClr val="tx2"/>
                </a:solidFill>
                <a:latin typeface="Arial" panose="020B0604020202020204" pitchFamily="34" charset="0"/>
                <a:cs typeface="Arial" panose="020B0604020202020204" pitchFamily="34" charset="0"/>
              </a:rPr>
              <a:t>enzyme ("in yeast”  </a:t>
            </a:r>
            <a:r>
              <a:rPr lang="zh-CN" altLang="en-US" sz="2800" dirty="0">
                <a:solidFill>
                  <a:schemeClr val="tx2"/>
                </a:solidFill>
                <a:latin typeface="Arial" panose="020B0604020202020204" pitchFamily="34" charset="0"/>
                <a:cs typeface="Arial" panose="020B0604020202020204" pitchFamily="34" charset="0"/>
              </a:rPr>
              <a:t>希腊文 </a:t>
            </a:r>
            <a:r>
              <a:rPr lang="en-US" altLang="zh-CN" sz="2800" dirty="0" err="1">
                <a:solidFill>
                  <a:schemeClr val="tx2"/>
                </a:solidFill>
                <a:latin typeface="Arial" panose="020B0604020202020204" pitchFamily="34" charset="0"/>
                <a:cs typeface="Arial" panose="020B0604020202020204" pitchFamily="34" charset="0"/>
              </a:rPr>
              <a:t>en</a:t>
            </a:r>
            <a:r>
              <a:rPr lang="en-US" altLang="zh-CN" sz="2800" dirty="0">
                <a:solidFill>
                  <a:schemeClr val="tx2"/>
                </a:solidFill>
                <a:latin typeface="Arial" panose="020B0604020202020204" pitchFamily="34" charset="0"/>
                <a:cs typeface="Arial" panose="020B0604020202020204" pitchFamily="34" charset="0"/>
              </a:rPr>
              <a:t> = in </a:t>
            </a:r>
            <a:r>
              <a:rPr lang="zh-CN" altLang="en-US" sz="2800" dirty="0">
                <a:solidFill>
                  <a:schemeClr val="tx2"/>
                </a:solidFill>
                <a:latin typeface="Arial" panose="020B0604020202020204" pitchFamily="34" charset="0"/>
                <a:cs typeface="Arial" panose="020B0604020202020204" pitchFamily="34" charset="0"/>
              </a:rPr>
              <a:t>， </a:t>
            </a:r>
            <a:r>
              <a:rPr lang="en-US" altLang="zh-CN" sz="2800" dirty="0">
                <a:solidFill>
                  <a:schemeClr val="tx2"/>
                </a:solidFill>
                <a:latin typeface="Arial" panose="020B0604020202020204" pitchFamily="34" charset="0"/>
                <a:cs typeface="Arial" panose="020B0604020202020204" pitchFamily="34" charset="0"/>
              </a:rPr>
              <a:t>zyme = yeast)</a:t>
            </a:r>
          </a:p>
          <a:p>
            <a:pPr>
              <a:lnSpc>
                <a:spcPct val="120000"/>
              </a:lnSpc>
            </a:pPr>
            <a:r>
              <a:rPr lang="en-US" altLang="zh-CN" sz="2800" dirty="0">
                <a:latin typeface="Arial" panose="020B0604020202020204" pitchFamily="34" charset="0"/>
                <a:cs typeface="Arial" panose="020B0604020202020204" pitchFamily="34" charset="0"/>
              </a:rPr>
              <a:t>1894</a:t>
            </a:r>
            <a:r>
              <a:rPr lang="zh-CN" altLang="en-US" sz="2800" dirty="0">
                <a:latin typeface="Arial" panose="020B0604020202020204" pitchFamily="34" charset="0"/>
                <a:cs typeface="Arial" panose="020B0604020202020204" pitchFamily="34" charset="0"/>
              </a:rPr>
              <a:t>年  “锁</a:t>
            </a:r>
            <a:r>
              <a:rPr lang="en-US" altLang="zh-CN" sz="2800" dirty="0">
                <a:latin typeface="Arial" panose="020B0604020202020204" pitchFamily="34" charset="0"/>
                <a:cs typeface="Arial" panose="020B0604020202020204" pitchFamily="34" charset="0"/>
              </a:rPr>
              <a:t>-</a:t>
            </a:r>
            <a:r>
              <a:rPr lang="zh-CN" altLang="en-US" sz="2800" dirty="0">
                <a:latin typeface="Arial" panose="020B0604020202020204" pitchFamily="34" charset="0"/>
                <a:cs typeface="Arial" panose="020B0604020202020204" pitchFamily="34" charset="0"/>
              </a:rPr>
              <a:t>匙”学说，解释酶作用的专一性</a:t>
            </a:r>
          </a:p>
          <a:p>
            <a:pPr algn="just" eaLnBrk="1" hangingPunct="1">
              <a:lnSpc>
                <a:spcPct val="120000"/>
              </a:lnSpc>
            </a:pPr>
            <a:r>
              <a:rPr lang="en-US" altLang="zh-CN" sz="2800" dirty="0">
                <a:latin typeface="Arial" panose="020B0604020202020204" pitchFamily="34" charset="0"/>
                <a:cs typeface="Arial" panose="020B0604020202020204" pitchFamily="34" charset="0"/>
              </a:rPr>
              <a:t>1897</a:t>
            </a:r>
            <a:r>
              <a:rPr lang="zh-CN" altLang="en-US" sz="2800" dirty="0">
                <a:latin typeface="Arial" panose="020B0604020202020204" pitchFamily="34" charset="0"/>
                <a:cs typeface="Arial" panose="020B0604020202020204" pitchFamily="34" charset="0"/>
              </a:rPr>
              <a:t>年，布希奈（</a:t>
            </a:r>
            <a:r>
              <a:rPr lang="en-US" altLang="zh-CN" sz="2800" dirty="0">
                <a:latin typeface="Arial" panose="020B0604020202020204" pitchFamily="34" charset="0"/>
                <a:cs typeface="Arial" panose="020B0604020202020204" pitchFamily="34" charset="0"/>
              </a:rPr>
              <a:t>Buchner</a:t>
            </a:r>
            <a:r>
              <a:rPr lang="zh-CN" altLang="en-US" sz="2800" dirty="0">
                <a:latin typeface="Arial" panose="020B0604020202020204" pitchFamily="34" charset="0"/>
                <a:cs typeface="Arial" panose="020B0604020202020204" pitchFamily="34" charset="0"/>
              </a:rPr>
              <a:t>）兄弟用不含细胞的酵母提取液，实现了发酵。其中，</a:t>
            </a:r>
            <a:r>
              <a:rPr lang="en-US" altLang="zh-CN" sz="2800" dirty="0">
                <a:latin typeface="Arial" panose="020B0604020202020204" pitchFamily="34" charset="0"/>
                <a:cs typeface="Arial" panose="020B0604020202020204" pitchFamily="34" charset="0"/>
              </a:rPr>
              <a:t>Eduard Buchner</a:t>
            </a:r>
            <a:r>
              <a:rPr lang="zh-CN" altLang="en-US" sz="2800" dirty="0">
                <a:latin typeface="Arial" panose="020B0604020202020204" pitchFamily="34" charset="0"/>
                <a:cs typeface="Arial" panose="020B0604020202020204" pitchFamily="34" charset="0"/>
              </a:rPr>
              <a:t>因此获</a:t>
            </a:r>
            <a:r>
              <a:rPr lang="en-US" altLang="zh-CN" sz="2800" dirty="0">
                <a:latin typeface="Arial" panose="020B0604020202020204" pitchFamily="34" charset="0"/>
                <a:cs typeface="Arial" panose="020B0604020202020204" pitchFamily="34" charset="0"/>
              </a:rPr>
              <a:t>1907</a:t>
            </a:r>
            <a:r>
              <a:rPr lang="zh-CN" altLang="en-US" sz="2800" dirty="0">
                <a:latin typeface="Arial" panose="020B0604020202020204" pitchFamily="34" charset="0"/>
                <a:cs typeface="Arial" panose="020B0604020202020204" pitchFamily="34" charset="0"/>
              </a:rPr>
              <a:t>年诺贝尔奖。</a:t>
            </a:r>
            <a:endParaRPr lang="en-US" altLang="zh-CN" sz="2800" dirty="0">
              <a:latin typeface="Arial" panose="020B0604020202020204" pitchFamily="34" charset="0"/>
              <a:cs typeface="Arial" panose="020B0604020202020204" pitchFamily="34" charset="0"/>
            </a:endParaRPr>
          </a:p>
          <a:p>
            <a:pPr>
              <a:lnSpc>
                <a:spcPct val="120000"/>
              </a:lnSpc>
            </a:pPr>
            <a:r>
              <a:rPr lang="en-US" altLang="zh-CN" sz="2800" dirty="0">
                <a:latin typeface="Arial" panose="020B0604020202020204" pitchFamily="34" charset="0"/>
                <a:cs typeface="Arial" panose="020B0604020202020204" pitchFamily="34" charset="0"/>
              </a:rPr>
              <a:t>1903</a:t>
            </a:r>
            <a:r>
              <a:rPr lang="zh-CN" altLang="en-US" sz="2800" dirty="0">
                <a:latin typeface="Arial" panose="020B0604020202020204" pitchFamily="34" charset="0"/>
                <a:cs typeface="Arial" panose="020B0604020202020204" pitchFamily="34" charset="0"/>
              </a:rPr>
              <a:t>年  酶与底物作用的</a:t>
            </a:r>
            <a:r>
              <a:rPr lang="zh-CN" altLang="en-US" sz="2800" dirty="0">
                <a:solidFill>
                  <a:srgbClr val="C00000"/>
                </a:solidFill>
                <a:latin typeface="Arial" panose="020B0604020202020204" pitchFamily="34" charset="0"/>
                <a:cs typeface="Arial" panose="020B0604020202020204" pitchFamily="34" charset="0"/>
              </a:rPr>
              <a:t>中间复合物学说</a:t>
            </a:r>
          </a:p>
          <a:p>
            <a:pPr>
              <a:lnSpc>
                <a:spcPct val="120000"/>
              </a:lnSpc>
            </a:pPr>
            <a:r>
              <a:rPr lang="en-US" altLang="zh-CN" sz="2800" dirty="0">
                <a:latin typeface="Arial" panose="020B0604020202020204" pitchFamily="34" charset="0"/>
                <a:cs typeface="Arial" panose="020B0604020202020204" pitchFamily="34" charset="0"/>
              </a:rPr>
              <a:t>1913</a:t>
            </a:r>
            <a:r>
              <a:rPr lang="zh-CN" altLang="en-US" sz="2800" dirty="0">
                <a:latin typeface="Arial" panose="020B0604020202020204" pitchFamily="34" charset="0"/>
                <a:cs typeface="Arial" panose="020B0604020202020204" pitchFamily="34" charset="0"/>
              </a:rPr>
              <a:t>年  </a:t>
            </a:r>
            <a:r>
              <a:rPr lang="zh-CN" altLang="en-US" sz="2800" dirty="0">
                <a:solidFill>
                  <a:srgbClr val="C00000"/>
                </a:solidFill>
                <a:latin typeface="Arial" panose="020B0604020202020204" pitchFamily="34" charset="0"/>
                <a:cs typeface="Arial" panose="020B0604020202020204" pitchFamily="34" charset="0"/>
              </a:rPr>
              <a:t>米氏方程</a:t>
            </a:r>
            <a:r>
              <a:rPr lang="zh-CN" altLang="en-US" sz="2800" dirty="0">
                <a:latin typeface="Arial" panose="020B0604020202020204" pitchFamily="34" charset="0"/>
                <a:cs typeface="Arial" panose="020B0604020202020204" pitchFamily="34" charset="0"/>
              </a:rPr>
              <a:t>  解释酶反应机制</a:t>
            </a:r>
          </a:p>
          <a:p>
            <a:pPr algn="just" eaLnBrk="1" hangingPunct="1">
              <a:lnSpc>
                <a:spcPct val="120000"/>
              </a:lnSpc>
              <a:buFontTx/>
              <a:buNone/>
            </a:pPr>
            <a:endParaRPr lang="zh-CN" altLang="en-US" sz="2800" dirty="0">
              <a:latin typeface="Arial" panose="020B0604020202020204" pitchFamily="34" charset="0"/>
              <a:cs typeface="Arial" panose="020B0604020202020204" pitchFamily="34" charset="0"/>
            </a:endParaRPr>
          </a:p>
        </p:txBody>
      </p:sp>
      <p:sp>
        <p:nvSpPr>
          <p:cNvPr id="23555" name="AutoShape 3">
            <a:extLst>
              <a:ext uri="{FF2B5EF4-FFF2-40B4-BE49-F238E27FC236}">
                <a16:creationId xmlns:a16="http://schemas.microsoft.com/office/drawing/2014/main" id="{AFA84F29-FD5E-4901-AD20-F2AAEA976CA4}"/>
              </a:ext>
            </a:extLst>
          </p:cNvPr>
          <p:cNvSpPr>
            <a:spLocks noChangeArrowheads="1"/>
          </p:cNvSpPr>
          <p:nvPr/>
        </p:nvSpPr>
        <p:spPr bwMode="auto">
          <a:xfrm>
            <a:off x="4079875" y="260350"/>
            <a:ext cx="3887788" cy="719138"/>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b="1">
                <a:solidFill>
                  <a:schemeClr val="bg1"/>
                </a:solidFill>
                <a:latin typeface="Times New Roman" panose="02020603050405020304" pitchFamily="18" charset="0"/>
                <a:ea typeface="黑体" panose="02010609060101010101" pitchFamily="49" charset="-122"/>
              </a:rPr>
              <a:t>酶学研究简史</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A471744-7777-46FC-91F3-55B15C4429B4}"/>
              </a:ext>
            </a:extLst>
          </p:cNvPr>
          <p:cNvSpPr>
            <a:spLocks noChangeArrowheads="1"/>
          </p:cNvSpPr>
          <p:nvPr/>
        </p:nvSpPr>
        <p:spPr bwMode="auto">
          <a:xfrm>
            <a:off x="1271973" y="1484784"/>
            <a:ext cx="9721079" cy="4037067"/>
          </a:xfrm>
          <a:prstGeom prst="rect">
            <a:avLst/>
          </a:prstGeom>
          <a:noFill/>
          <a:ln>
            <a:noFill/>
          </a:ln>
        </p:spPr>
        <p:txBody>
          <a:bodyPr wrap="squar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marL="457200" indent="-457200" algn="just" eaLnBrk="1" hangingPunct="1">
              <a:lnSpc>
                <a:spcPct val="120000"/>
              </a:lnSpc>
              <a:buFont typeface="Wingdings" panose="05000000000000000000" pitchFamily="2" charset="2"/>
              <a:buChar char="u"/>
              <a:defRPr/>
            </a:pPr>
            <a:r>
              <a:rPr lang="en-US" altLang="zh-CN" sz="2400" b="1" dirty="0">
                <a:latin typeface="Arial" panose="020B0604020202020204" pitchFamily="34" charset="0"/>
                <a:ea typeface="+mn-ea"/>
                <a:cs typeface="Arial" panose="020B0604020202020204" pitchFamily="34" charset="0"/>
              </a:rPr>
              <a:t>1926</a:t>
            </a:r>
            <a:r>
              <a:rPr lang="zh-CN" altLang="en-US" sz="2400" b="1" dirty="0">
                <a:latin typeface="Arial" panose="020B0604020202020204" pitchFamily="34" charset="0"/>
                <a:ea typeface="+mn-ea"/>
                <a:cs typeface="Arial" panose="020B0604020202020204" pitchFamily="34" charset="0"/>
              </a:rPr>
              <a:t>年，</a:t>
            </a:r>
            <a:r>
              <a:rPr lang="en-US" altLang="zh-CN" sz="2400" b="1" dirty="0">
                <a:latin typeface="Arial" panose="020B0604020202020204" pitchFamily="34" charset="0"/>
                <a:ea typeface="+mn-ea"/>
                <a:cs typeface="Arial" panose="020B0604020202020204" pitchFamily="34" charset="0"/>
              </a:rPr>
              <a:t>Sumner</a:t>
            </a:r>
            <a:r>
              <a:rPr lang="zh-CN" altLang="en-US" sz="2400" b="1" dirty="0">
                <a:latin typeface="Arial" panose="020B0604020202020204" pitchFamily="34" charset="0"/>
                <a:ea typeface="+mn-ea"/>
                <a:cs typeface="Arial" panose="020B0604020202020204" pitchFamily="34" charset="0"/>
              </a:rPr>
              <a:t>首次从刀豆中提纯出脲酶结晶，</a:t>
            </a:r>
            <a:r>
              <a:rPr kumimoji="1" lang="zh-CN" altLang="en-US" sz="2400" b="1" dirty="0">
                <a:latin typeface="Arial" panose="020B0604020202020204" pitchFamily="34" charset="0"/>
                <a:ea typeface="+mn-ea"/>
                <a:cs typeface="Arial" panose="020B0604020202020204" pitchFamily="34" charset="0"/>
              </a:rPr>
              <a:t>并指出</a:t>
            </a:r>
            <a:r>
              <a:rPr kumimoji="1" lang="zh-CN" altLang="en-US" sz="2400" b="1" dirty="0">
                <a:solidFill>
                  <a:srgbClr val="C00000"/>
                </a:solidFill>
                <a:latin typeface="Arial" panose="020B0604020202020204" pitchFamily="34" charset="0"/>
                <a:ea typeface="+mn-ea"/>
                <a:cs typeface="Arial" panose="020B0604020202020204" pitchFamily="34" charset="0"/>
              </a:rPr>
              <a:t>酶是蛋白质</a:t>
            </a:r>
            <a:r>
              <a:rPr kumimoji="1" lang="zh-CN" altLang="en-US" sz="2400" dirty="0">
                <a:solidFill>
                  <a:srgbClr val="C00000"/>
                </a:solidFill>
                <a:latin typeface="Arial" panose="020B0604020202020204" pitchFamily="34" charset="0"/>
                <a:ea typeface="+mn-ea"/>
                <a:cs typeface="Arial" panose="020B0604020202020204" pitchFamily="34" charset="0"/>
              </a:rPr>
              <a:t> </a:t>
            </a:r>
            <a:r>
              <a:rPr lang="zh-CN" altLang="en-US" sz="2400" b="1" dirty="0">
                <a:latin typeface="Arial" panose="020B0604020202020204" pitchFamily="34" charset="0"/>
                <a:ea typeface="+mn-ea"/>
                <a:cs typeface="Arial" panose="020B0604020202020204" pitchFamily="34" charset="0"/>
              </a:rPr>
              <a:t>。他与另两位科学家共享</a:t>
            </a:r>
            <a:r>
              <a:rPr lang="en-US" altLang="zh-CN" sz="2400" b="1" dirty="0">
                <a:latin typeface="Arial" panose="020B0604020202020204" pitchFamily="34" charset="0"/>
                <a:ea typeface="+mn-ea"/>
                <a:cs typeface="Arial" panose="020B0604020202020204" pitchFamily="34" charset="0"/>
              </a:rPr>
              <a:t>1946</a:t>
            </a:r>
            <a:r>
              <a:rPr lang="zh-CN" altLang="en-US" sz="2400" b="1" dirty="0">
                <a:latin typeface="Arial" panose="020B0604020202020204" pitchFamily="34" charset="0"/>
                <a:ea typeface="+mn-ea"/>
                <a:cs typeface="Arial" panose="020B0604020202020204" pitchFamily="34" charset="0"/>
              </a:rPr>
              <a:t>年诺贝尔化学奖。</a:t>
            </a:r>
            <a:endParaRPr lang="en-US" altLang="zh-CN" sz="2400" b="1" dirty="0">
              <a:latin typeface="Arial" panose="020B0604020202020204" pitchFamily="34" charset="0"/>
              <a:ea typeface="+mn-ea"/>
              <a:cs typeface="Arial" panose="020B0604020202020204" pitchFamily="34" charset="0"/>
            </a:endParaRPr>
          </a:p>
          <a:p>
            <a:pPr marL="457200" indent="-457200" algn="just" eaLnBrk="1" hangingPunct="1">
              <a:lnSpc>
                <a:spcPct val="120000"/>
              </a:lnSpc>
              <a:buFont typeface="Wingdings" panose="05000000000000000000" pitchFamily="2" charset="2"/>
              <a:buChar char="u"/>
              <a:defRPr/>
            </a:pPr>
            <a:r>
              <a:rPr lang="zh-CN" altLang="en-US" sz="2400" b="1" dirty="0">
                <a:latin typeface="Arial" panose="020B0604020202020204" pitchFamily="34" charset="0"/>
                <a:ea typeface="+mn-ea"/>
                <a:cs typeface="Arial" panose="020B0604020202020204" pitchFamily="34" charset="0"/>
              </a:rPr>
              <a:t>分子生物学的出现大大加速了酶学的研究。</a:t>
            </a:r>
            <a:endParaRPr lang="en-US" altLang="zh-CN" sz="2400" b="1" dirty="0">
              <a:latin typeface="Arial" panose="020B0604020202020204" pitchFamily="34" charset="0"/>
              <a:ea typeface="+mn-ea"/>
              <a:cs typeface="Arial" panose="020B0604020202020204" pitchFamily="34" charset="0"/>
            </a:endParaRPr>
          </a:p>
          <a:p>
            <a:pPr lvl="1" algn="just" eaLnBrk="1" hangingPunct="1">
              <a:lnSpc>
                <a:spcPct val="120000"/>
              </a:lnSpc>
              <a:defRPr/>
            </a:pPr>
            <a:r>
              <a:rPr lang="en-US" altLang="zh-CN" sz="2400" b="1" dirty="0">
                <a:latin typeface="Arial" panose="020B0604020202020204" pitchFamily="34" charset="0"/>
                <a:ea typeface="+mn-ea"/>
                <a:cs typeface="Arial" panose="020B0604020202020204" pitchFamily="34" charset="0"/>
              </a:rPr>
              <a:t>1965</a:t>
            </a:r>
            <a:r>
              <a:rPr lang="zh-CN" altLang="en-US" sz="2400" b="1" dirty="0">
                <a:latin typeface="Arial" panose="020B0604020202020204" pitchFamily="34" charset="0"/>
                <a:ea typeface="+mn-ea"/>
                <a:cs typeface="Arial" panose="020B0604020202020204" pitchFamily="34" charset="0"/>
              </a:rPr>
              <a:t>年，利用</a:t>
            </a:r>
            <a:r>
              <a:rPr lang="en-US" altLang="zh-CN" sz="2400" b="1" dirty="0">
                <a:latin typeface="Arial" panose="020B0604020202020204" pitchFamily="34" charset="0"/>
                <a:ea typeface="+mn-ea"/>
                <a:cs typeface="Arial" panose="020B0604020202020204" pitchFamily="34" charset="0"/>
              </a:rPr>
              <a:t>X</a:t>
            </a:r>
            <a:r>
              <a:rPr lang="zh-CN" altLang="en-US" sz="2400" b="1" dirty="0">
                <a:latin typeface="Arial" panose="020B0604020202020204" pitchFamily="34" charset="0"/>
                <a:ea typeface="+mn-ea"/>
                <a:cs typeface="Arial" panose="020B0604020202020204" pitchFamily="34" charset="0"/>
              </a:rPr>
              <a:t>射线衍射技术，</a:t>
            </a:r>
            <a:r>
              <a:rPr lang="zh-CN" altLang="en-US" sz="2400" b="1" dirty="0">
                <a:solidFill>
                  <a:srgbClr val="0000CC"/>
                </a:solidFill>
                <a:latin typeface="Arial" panose="020B0604020202020204" pitchFamily="34" charset="0"/>
                <a:ea typeface="+mn-ea"/>
                <a:cs typeface="Arial" panose="020B0604020202020204" pitchFamily="34" charset="0"/>
              </a:rPr>
              <a:t>第一个酶（溶菌酶）的三维结构被解析出来。</a:t>
            </a:r>
            <a:endParaRPr lang="en-US" altLang="zh-CN" sz="2400" b="1" dirty="0">
              <a:solidFill>
                <a:srgbClr val="0000CC"/>
              </a:solidFill>
              <a:latin typeface="Arial" panose="020B0604020202020204" pitchFamily="34" charset="0"/>
              <a:ea typeface="+mn-ea"/>
              <a:cs typeface="Arial" panose="020B0604020202020204" pitchFamily="34" charset="0"/>
            </a:endParaRPr>
          </a:p>
          <a:p>
            <a:pPr marL="457200" indent="-457200" algn="just" eaLnBrk="1" hangingPunct="1">
              <a:lnSpc>
                <a:spcPct val="120000"/>
              </a:lnSpc>
              <a:buFont typeface="Wingdings" panose="05000000000000000000" pitchFamily="2" charset="2"/>
              <a:buChar char="u"/>
              <a:defRPr/>
            </a:pPr>
            <a:r>
              <a:rPr lang="en-US" altLang="zh-CN" sz="2400" b="1" dirty="0">
                <a:latin typeface="Arial" panose="020B0604020202020204" pitchFamily="34" charset="0"/>
                <a:ea typeface="+mn-ea"/>
                <a:cs typeface="Arial" panose="020B0604020202020204" pitchFamily="34" charset="0"/>
              </a:rPr>
              <a:t>1982</a:t>
            </a:r>
            <a:r>
              <a:rPr lang="zh-CN" altLang="en-US" sz="2400" b="1" dirty="0">
                <a:latin typeface="Arial" panose="020B0604020202020204" pitchFamily="34" charset="0"/>
                <a:ea typeface="+mn-ea"/>
                <a:cs typeface="Arial" panose="020B0604020202020204" pitchFamily="34" charset="0"/>
              </a:rPr>
              <a:t>年，</a:t>
            </a:r>
            <a:r>
              <a:rPr lang="en-US" altLang="zh-CN" sz="2400" b="1" dirty="0" err="1">
                <a:latin typeface="Arial" panose="020B0604020202020204" pitchFamily="34" charset="0"/>
                <a:ea typeface="+mn-ea"/>
                <a:cs typeface="Arial" panose="020B0604020202020204" pitchFamily="34" charset="0"/>
              </a:rPr>
              <a:t>T.R.Cech</a:t>
            </a:r>
            <a:r>
              <a:rPr lang="en-US" altLang="zh-CN" sz="2400" b="1" dirty="0">
                <a:latin typeface="Arial" panose="020B0604020202020204" pitchFamily="34" charset="0"/>
                <a:ea typeface="+mn-ea"/>
                <a:cs typeface="Arial" panose="020B0604020202020204" pitchFamily="34" charset="0"/>
              </a:rPr>
              <a:t>(</a:t>
            </a:r>
            <a:r>
              <a:rPr lang="zh-CN" altLang="en-US" sz="2400" b="1" dirty="0">
                <a:latin typeface="Arial" panose="020B0604020202020204" pitchFamily="34" charset="0"/>
                <a:ea typeface="+mn-ea"/>
                <a:cs typeface="Arial" panose="020B0604020202020204" pitchFamily="34" charset="0"/>
              </a:rPr>
              <a:t>切赫）首次发现</a:t>
            </a:r>
            <a:r>
              <a:rPr lang="en-US" altLang="zh-CN" sz="2400" b="1" dirty="0">
                <a:latin typeface="Arial" panose="020B0604020202020204" pitchFamily="34" charset="0"/>
                <a:ea typeface="+mn-ea"/>
                <a:cs typeface="Arial" panose="020B0604020202020204" pitchFamily="34" charset="0"/>
              </a:rPr>
              <a:t>RNA</a:t>
            </a:r>
            <a:r>
              <a:rPr lang="zh-CN" altLang="en-US" sz="2400" b="1" dirty="0">
                <a:latin typeface="Arial" panose="020B0604020202020204" pitchFamily="34" charset="0"/>
                <a:ea typeface="+mn-ea"/>
                <a:cs typeface="Arial" panose="020B0604020202020204" pitchFamily="34" charset="0"/>
              </a:rPr>
              <a:t>也具有酶的催化活性，提出</a:t>
            </a:r>
            <a:r>
              <a:rPr lang="zh-CN" altLang="en-US" sz="2400" b="1" dirty="0">
                <a:solidFill>
                  <a:srgbClr val="0000FF"/>
                </a:solidFill>
                <a:latin typeface="Arial" panose="020B0604020202020204" pitchFamily="34" charset="0"/>
                <a:ea typeface="+mn-ea"/>
                <a:cs typeface="Arial" panose="020B0604020202020204" pitchFamily="34" charset="0"/>
              </a:rPr>
              <a:t>核酶</a:t>
            </a:r>
            <a:r>
              <a:rPr lang="en-US" altLang="zh-CN" sz="2400" b="1" dirty="0">
                <a:solidFill>
                  <a:srgbClr val="0000FF"/>
                </a:solidFill>
                <a:latin typeface="Arial" panose="020B0604020202020204" pitchFamily="34" charset="0"/>
                <a:ea typeface="+mn-ea"/>
                <a:cs typeface="Arial" panose="020B0604020202020204" pitchFamily="34" charset="0"/>
              </a:rPr>
              <a:t>(ribozyme)</a:t>
            </a:r>
            <a:r>
              <a:rPr lang="zh-CN" altLang="en-US" sz="2400" b="1" dirty="0">
                <a:latin typeface="Arial" panose="020B0604020202020204" pitchFamily="34" charset="0"/>
                <a:ea typeface="+mn-ea"/>
                <a:cs typeface="Arial" panose="020B0604020202020204" pitchFamily="34" charset="0"/>
              </a:rPr>
              <a:t>概念。他与</a:t>
            </a:r>
            <a:r>
              <a:rPr lang="en-US" altLang="zh-CN" sz="2400" b="1" dirty="0" err="1">
                <a:latin typeface="Arial" panose="020B0604020202020204" pitchFamily="34" charset="0"/>
                <a:ea typeface="+mn-ea"/>
                <a:cs typeface="Arial" panose="020B0604020202020204" pitchFamily="34" charset="0"/>
              </a:rPr>
              <a:t>S.Altman</a:t>
            </a:r>
            <a:r>
              <a:rPr lang="zh-CN" altLang="en-US" sz="2400" b="1" dirty="0">
                <a:latin typeface="Arial" panose="020B0604020202020204" pitchFamily="34" charset="0"/>
                <a:ea typeface="+mn-ea"/>
                <a:cs typeface="Arial" panose="020B0604020202020204" pitchFamily="34" charset="0"/>
              </a:rPr>
              <a:t>分享了</a:t>
            </a:r>
            <a:r>
              <a:rPr lang="en-US" altLang="zh-CN" sz="2400" b="1" dirty="0">
                <a:latin typeface="Arial" panose="020B0604020202020204" pitchFamily="34" charset="0"/>
                <a:ea typeface="+mn-ea"/>
                <a:cs typeface="Arial" panose="020B0604020202020204" pitchFamily="34" charset="0"/>
              </a:rPr>
              <a:t>1989</a:t>
            </a:r>
            <a:r>
              <a:rPr lang="zh-CN" altLang="en-US" sz="2400" b="1" dirty="0">
                <a:latin typeface="Arial" panose="020B0604020202020204" pitchFamily="34" charset="0"/>
                <a:ea typeface="+mn-ea"/>
                <a:cs typeface="Arial" panose="020B0604020202020204" pitchFamily="34" charset="0"/>
              </a:rPr>
              <a:t>年诺贝尔化学奖。</a:t>
            </a:r>
          </a:p>
          <a:p>
            <a:pPr marL="457200" indent="-457200" algn="just" eaLnBrk="1" hangingPunct="1">
              <a:lnSpc>
                <a:spcPct val="120000"/>
              </a:lnSpc>
              <a:buFont typeface="Wingdings" panose="05000000000000000000" pitchFamily="2" charset="2"/>
              <a:buChar char="u"/>
              <a:defRPr/>
            </a:pPr>
            <a:r>
              <a:rPr lang="en-US" altLang="zh-CN" sz="2400" b="1" dirty="0">
                <a:latin typeface="Arial" panose="020B0604020202020204" pitchFamily="34" charset="0"/>
                <a:ea typeface="+mn-ea"/>
                <a:cs typeface="Arial" panose="020B0604020202020204" pitchFamily="34" charset="0"/>
              </a:rPr>
              <a:t>1995</a:t>
            </a:r>
            <a:r>
              <a:rPr lang="zh-CN" altLang="en-US" sz="2400" b="1" dirty="0">
                <a:latin typeface="Arial" panose="020B0604020202020204" pitchFamily="34" charset="0"/>
                <a:ea typeface="+mn-ea"/>
                <a:cs typeface="Arial" panose="020B0604020202020204" pitchFamily="34" charset="0"/>
              </a:rPr>
              <a:t>年，</a:t>
            </a:r>
            <a:r>
              <a:rPr lang="en-US" altLang="zh-CN" sz="2400" b="1" dirty="0">
                <a:latin typeface="Arial" panose="020B0604020202020204" pitchFamily="34" charset="0"/>
                <a:ea typeface="+mn-ea"/>
                <a:cs typeface="Arial" panose="020B0604020202020204" pitchFamily="34" charset="0"/>
              </a:rPr>
              <a:t>Jack </a:t>
            </a:r>
            <a:r>
              <a:rPr lang="en-US" altLang="zh-CN" sz="2400" b="1" dirty="0" err="1">
                <a:latin typeface="Arial" panose="020B0604020202020204" pitchFamily="34" charset="0"/>
                <a:ea typeface="+mn-ea"/>
                <a:cs typeface="Arial" panose="020B0604020202020204" pitchFamily="34" charset="0"/>
              </a:rPr>
              <a:t>W.Szostak</a:t>
            </a:r>
            <a:r>
              <a:rPr lang="zh-CN" altLang="en-US" sz="2400" b="1" dirty="0">
                <a:latin typeface="Arial" panose="020B0604020202020204" pitchFamily="34" charset="0"/>
                <a:ea typeface="+mn-ea"/>
                <a:cs typeface="Arial" panose="020B0604020202020204" pitchFamily="34" charset="0"/>
              </a:rPr>
              <a:t>研究室首先报道了具有</a:t>
            </a:r>
            <a:r>
              <a:rPr lang="en-US" altLang="zh-CN" sz="2400" b="1" dirty="0">
                <a:latin typeface="Arial" panose="020B0604020202020204" pitchFamily="34" charset="0"/>
                <a:ea typeface="+mn-ea"/>
                <a:cs typeface="Arial" panose="020B0604020202020204" pitchFamily="34" charset="0"/>
              </a:rPr>
              <a:t>DNA</a:t>
            </a:r>
            <a:r>
              <a:rPr lang="zh-CN" altLang="en-US" sz="2400" b="1" dirty="0">
                <a:latin typeface="Arial" panose="020B0604020202020204" pitchFamily="34" charset="0"/>
                <a:ea typeface="+mn-ea"/>
                <a:cs typeface="Arial" panose="020B0604020202020204" pitchFamily="34" charset="0"/>
              </a:rPr>
              <a:t>连接酶活性</a:t>
            </a:r>
            <a:r>
              <a:rPr lang="en-US" altLang="zh-CN" sz="2400" b="1" dirty="0">
                <a:latin typeface="Arial" panose="020B0604020202020204" pitchFamily="34" charset="0"/>
                <a:ea typeface="+mn-ea"/>
                <a:cs typeface="Arial" panose="020B0604020202020204" pitchFamily="34" charset="0"/>
              </a:rPr>
              <a:t>DNA</a:t>
            </a:r>
            <a:r>
              <a:rPr lang="zh-CN" altLang="en-US" sz="2400" b="1" dirty="0">
                <a:latin typeface="Arial" panose="020B0604020202020204" pitchFamily="34" charset="0"/>
                <a:ea typeface="+mn-ea"/>
                <a:cs typeface="Arial" panose="020B0604020202020204" pitchFamily="34" charset="0"/>
              </a:rPr>
              <a:t>片段，称为</a:t>
            </a:r>
            <a:r>
              <a:rPr lang="zh-CN" altLang="en-US" sz="2400" b="1" dirty="0">
                <a:solidFill>
                  <a:srgbClr val="0000FF"/>
                </a:solidFill>
                <a:latin typeface="Arial" panose="020B0604020202020204" pitchFamily="34" charset="0"/>
                <a:ea typeface="+mn-ea"/>
                <a:cs typeface="Arial" panose="020B0604020202020204" pitchFamily="34" charset="0"/>
              </a:rPr>
              <a:t>脱氧核酶</a:t>
            </a:r>
            <a:r>
              <a:rPr lang="en-US" altLang="zh-CN" sz="2400" b="1" dirty="0">
                <a:solidFill>
                  <a:srgbClr val="0000FF"/>
                </a:solidFill>
                <a:latin typeface="Arial" panose="020B0604020202020204" pitchFamily="34" charset="0"/>
                <a:ea typeface="+mn-ea"/>
                <a:cs typeface="Arial" panose="020B0604020202020204" pitchFamily="34" charset="0"/>
              </a:rPr>
              <a:t>(</a:t>
            </a:r>
            <a:r>
              <a:rPr lang="en-US" altLang="zh-CN" sz="2400" b="1" dirty="0" err="1">
                <a:solidFill>
                  <a:srgbClr val="0000FF"/>
                </a:solidFill>
                <a:latin typeface="Arial" panose="020B0604020202020204" pitchFamily="34" charset="0"/>
                <a:ea typeface="+mn-ea"/>
                <a:cs typeface="Arial" panose="020B0604020202020204" pitchFamily="34" charset="0"/>
              </a:rPr>
              <a:t>deoxyribozyme</a:t>
            </a:r>
            <a:r>
              <a:rPr lang="zh-CN" altLang="en-US" sz="2400" b="1" dirty="0">
                <a:solidFill>
                  <a:srgbClr val="0000FF"/>
                </a:solidFill>
                <a:latin typeface="Arial" panose="020B0604020202020204" pitchFamily="34" charset="0"/>
                <a:ea typeface="+mn-ea"/>
                <a:cs typeface="Arial" panose="020B0604020202020204" pitchFamily="34" charset="0"/>
              </a:rPr>
              <a:t>）</a:t>
            </a:r>
            <a:endParaRPr lang="zh-CN" altLang="en-US" sz="2400" b="1" dirty="0">
              <a:latin typeface="Arial" panose="020B0604020202020204" pitchFamily="34" charset="0"/>
              <a:ea typeface="+mn-ea"/>
              <a:cs typeface="Arial" panose="020B0604020202020204" pitchFamily="34" charset="0"/>
            </a:endParaRPr>
          </a:p>
        </p:txBody>
      </p:sp>
      <p:sp>
        <p:nvSpPr>
          <p:cNvPr id="27651" name="AutoShape 3">
            <a:extLst>
              <a:ext uri="{FF2B5EF4-FFF2-40B4-BE49-F238E27FC236}">
                <a16:creationId xmlns:a16="http://schemas.microsoft.com/office/drawing/2014/main" id="{90F8187A-ACE3-4F94-B752-1BBCAD1459CF}"/>
              </a:ext>
            </a:extLst>
          </p:cNvPr>
          <p:cNvSpPr>
            <a:spLocks noChangeArrowheads="1"/>
          </p:cNvSpPr>
          <p:nvPr/>
        </p:nvSpPr>
        <p:spPr bwMode="auto">
          <a:xfrm>
            <a:off x="4440238" y="331788"/>
            <a:ext cx="3384550" cy="576262"/>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Clr>
                <a:schemeClr val="tx2"/>
              </a:buClr>
              <a:buSzPct val="75000"/>
              <a:buFont typeface="Wingdings" panose="05000000000000000000" pitchFamily="2" charset="2"/>
              <a:buNone/>
            </a:pPr>
            <a:r>
              <a:rPr kumimoji="1" lang="zh-CN" altLang="en-US" b="1">
                <a:solidFill>
                  <a:schemeClr val="bg1"/>
                </a:solidFill>
                <a:latin typeface="Times New Roman" panose="02020603050405020304" pitchFamily="18" charset="0"/>
                <a:ea typeface="黑体" panose="02010609060101010101" pitchFamily="49" charset="-122"/>
              </a:rPr>
              <a:t>酶学研究简史</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8EFA48F-7BF5-4551-80A8-15A340B76368}"/>
              </a:ext>
            </a:extLst>
          </p:cNvPr>
          <p:cNvSpPr>
            <a:spLocks noGrp="1" noChangeArrowheads="1"/>
          </p:cNvSpPr>
          <p:nvPr>
            <p:ph type="title"/>
          </p:nvPr>
        </p:nvSpPr>
        <p:spPr>
          <a:xfrm>
            <a:off x="2782889" y="908050"/>
            <a:ext cx="6192837" cy="782638"/>
          </a:xfrm>
        </p:spPr>
        <p:txBody>
          <a:bodyPr vert="horz" wrap="square" lIns="92075" tIns="46038" rIns="92075" bIns="46038" numCol="1" anchor="ctr" anchorCtr="0" compatLnSpc="1">
            <a:prstTxWarp prst="textNoShape">
              <a:avLst/>
            </a:prstTxWarp>
          </a:bodyPr>
          <a:lstStyle/>
          <a:p>
            <a:pPr eaLnBrk="1" hangingPunct="1"/>
            <a:r>
              <a:rPr kumimoji="1" lang="zh-CN" altLang="en-US" sz="3600">
                <a:solidFill>
                  <a:srgbClr val="FF3300"/>
                </a:solidFill>
                <a:latin typeface="Times New Roman" panose="02020603050405020304" pitchFamily="18" charset="0"/>
                <a:ea typeface="黑体" panose="02010609060101010101" pitchFamily="49" charset="-122"/>
              </a:rPr>
              <a:t>酶的化学本质是蛋白质</a:t>
            </a:r>
          </a:p>
        </p:txBody>
      </p:sp>
      <p:sp>
        <p:nvSpPr>
          <p:cNvPr id="16387" name="Rectangle 3">
            <a:extLst>
              <a:ext uri="{FF2B5EF4-FFF2-40B4-BE49-F238E27FC236}">
                <a16:creationId xmlns:a16="http://schemas.microsoft.com/office/drawing/2014/main" id="{38031CC4-D150-4D01-B5C3-8D62C27A1A00}"/>
              </a:ext>
            </a:extLst>
          </p:cNvPr>
          <p:cNvSpPr>
            <a:spLocks noGrp="1" noChangeArrowheads="1"/>
          </p:cNvSpPr>
          <p:nvPr>
            <p:ph type="body" idx="1"/>
          </p:nvPr>
        </p:nvSpPr>
        <p:spPr>
          <a:xfrm>
            <a:off x="3143251" y="1989138"/>
            <a:ext cx="5832475" cy="3816350"/>
          </a:xfrm>
        </p:spPr>
        <p:txBody>
          <a:bodyPr vert="horz" wrap="square" lIns="92075" tIns="46038" rIns="92075" bIns="46038" numCol="1" anchor="t" anchorCtr="0" compatLnSpc="1">
            <a:prstTxWarp prst="textNoShape">
              <a:avLst/>
            </a:prstTxWarp>
          </a:bodyPr>
          <a:lstStyle/>
          <a:p>
            <a:pPr eaLnBrk="1" hangingPunct="1">
              <a:lnSpc>
                <a:spcPct val="120000"/>
              </a:lnSpc>
              <a:buFontTx/>
              <a:buNone/>
            </a:pPr>
            <a:r>
              <a:rPr kumimoji="1" lang="en-US" altLang="zh-CN" sz="2800" b="0" dirty="0">
                <a:latin typeface="Times New Roman" panose="02020603050405020304" pitchFamily="18" charset="0"/>
                <a:ea typeface="黑体" panose="02010609060101010101" pitchFamily="49" charset="-122"/>
              </a:rPr>
              <a:t>①</a:t>
            </a:r>
            <a:r>
              <a:rPr kumimoji="1" lang="zh-CN" altLang="en-US" sz="2800" b="0" dirty="0">
                <a:latin typeface="Times New Roman" panose="02020603050405020304" pitchFamily="18" charset="0"/>
                <a:ea typeface="黑体" panose="02010609060101010101" pitchFamily="49" charset="-122"/>
              </a:rPr>
              <a:t>经酸碱水解终产物是氨基酸</a:t>
            </a:r>
            <a:endParaRPr kumimoji="1" lang="en-US" altLang="zh-CN" sz="2800" b="0" dirty="0">
              <a:latin typeface="Times New Roman" panose="02020603050405020304" pitchFamily="18" charset="0"/>
              <a:ea typeface="黑体" panose="02010609060101010101" pitchFamily="49" charset="-122"/>
            </a:endParaRPr>
          </a:p>
          <a:p>
            <a:pPr eaLnBrk="1" hangingPunct="1">
              <a:lnSpc>
                <a:spcPct val="120000"/>
              </a:lnSpc>
              <a:buFontTx/>
              <a:buNone/>
            </a:pPr>
            <a:r>
              <a:rPr kumimoji="1" lang="en-US" altLang="zh-CN" sz="2800" b="0" dirty="0">
                <a:latin typeface="Times New Roman" panose="02020603050405020304" pitchFamily="18" charset="0"/>
                <a:ea typeface="黑体" panose="02010609060101010101" pitchFamily="49" charset="-122"/>
              </a:rPr>
              <a:t>②</a:t>
            </a:r>
            <a:r>
              <a:rPr kumimoji="1" lang="zh-CN" altLang="en-US" sz="2800" b="0" dirty="0">
                <a:latin typeface="Times New Roman" panose="02020603050405020304" pitchFamily="18" charset="0"/>
                <a:ea typeface="黑体" panose="02010609060101010101" pitchFamily="49" charset="-122"/>
              </a:rPr>
              <a:t>能被蛋白酶水解而失活</a:t>
            </a:r>
          </a:p>
          <a:p>
            <a:pPr eaLnBrk="1" hangingPunct="1">
              <a:lnSpc>
                <a:spcPct val="120000"/>
              </a:lnSpc>
              <a:buFontTx/>
              <a:buNone/>
            </a:pPr>
            <a:r>
              <a:rPr kumimoji="1" lang="zh-CN" altLang="en-US" sz="2800" b="0" dirty="0">
                <a:latin typeface="Times New Roman" panose="02020603050405020304" pitchFamily="18" charset="0"/>
                <a:ea typeface="黑体" panose="02010609060101010101" pitchFamily="49" charset="-122"/>
              </a:rPr>
              <a:t>③酶可变性失活</a:t>
            </a:r>
          </a:p>
          <a:p>
            <a:pPr eaLnBrk="1" hangingPunct="1">
              <a:lnSpc>
                <a:spcPct val="120000"/>
              </a:lnSpc>
              <a:buFontTx/>
              <a:buNone/>
            </a:pPr>
            <a:r>
              <a:rPr kumimoji="1" lang="zh-CN" altLang="en-US" sz="2800" b="0" dirty="0">
                <a:latin typeface="Times New Roman" panose="02020603050405020304" pitchFamily="18" charset="0"/>
                <a:ea typeface="黑体" panose="02010609060101010101" pitchFamily="49" charset="-122"/>
              </a:rPr>
              <a:t>④酶是两性电解质</a:t>
            </a:r>
          </a:p>
          <a:p>
            <a:pPr eaLnBrk="1" hangingPunct="1">
              <a:lnSpc>
                <a:spcPct val="120000"/>
              </a:lnSpc>
              <a:buFontTx/>
              <a:buNone/>
            </a:pPr>
            <a:r>
              <a:rPr kumimoji="1" lang="zh-CN" altLang="en-US" sz="2800" b="0" dirty="0">
                <a:latin typeface="Times New Roman" panose="02020603050405020304" pitchFamily="18" charset="0"/>
                <a:ea typeface="黑体" panose="02010609060101010101" pitchFamily="49" charset="-122"/>
              </a:rPr>
              <a:t>⑤具有不能通过半透膜等胶体性质</a:t>
            </a:r>
          </a:p>
          <a:p>
            <a:pPr eaLnBrk="1" hangingPunct="1">
              <a:lnSpc>
                <a:spcPct val="120000"/>
              </a:lnSpc>
              <a:buFontTx/>
              <a:buNone/>
            </a:pPr>
            <a:r>
              <a:rPr kumimoji="1" lang="zh-CN" altLang="en-US" sz="2800" b="0" dirty="0">
                <a:latin typeface="Times New Roman" panose="02020603050405020304" pitchFamily="18" charset="0"/>
                <a:ea typeface="黑体" panose="02010609060101010101" pitchFamily="49" charset="-122"/>
              </a:rPr>
              <a:t>⑥具有蛋白质的化学呈色反应</a:t>
            </a:r>
            <a:endParaRPr lang="zh-CN" altLang="en-US" sz="2800" b="0" dirty="0">
              <a:solidFill>
                <a:schemeClr val="accent1"/>
              </a:solidFill>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3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3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3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38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38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63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5090" name="Rectangle 2">
            <a:extLst>
              <a:ext uri="{FF2B5EF4-FFF2-40B4-BE49-F238E27FC236}">
                <a16:creationId xmlns:a16="http://schemas.microsoft.com/office/drawing/2014/main" id="{62F622C0-002E-4131-8722-926FFEEAEECC}"/>
              </a:ext>
            </a:extLst>
          </p:cNvPr>
          <p:cNvSpPr>
            <a:spLocks noChangeArrowheads="1"/>
          </p:cNvSpPr>
          <p:nvPr/>
        </p:nvSpPr>
        <p:spPr bwMode="auto">
          <a:xfrm>
            <a:off x="2351088" y="620714"/>
            <a:ext cx="6985000" cy="585787"/>
          </a:xfrm>
          <a:prstGeom prst="rect">
            <a:avLst/>
          </a:prstGeom>
          <a:noFill/>
          <a:ln w="9525">
            <a:noFill/>
            <a:miter lim="800000"/>
            <a:headEnd/>
            <a:tailEnd/>
          </a:ln>
          <a:effectLst/>
        </p:spPr>
        <p:txBody>
          <a:bodyPr>
            <a:spAutoFit/>
          </a:bodyPr>
          <a:lstStyle/>
          <a:p>
            <a:pPr marL="609600" indent="-609600" eaLnBrk="1" hangingPunct="1">
              <a:lnSpc>
                <a:spcPct val="90000"/>
              </a:lnSpc>
              <a:spcBef>
                <a:spcPct val="20000"/>
              </a:spcBef>
              <a:buClr>
                <a:schemeClr val="tx2"/>
              </a:buClr>
              <a:buSzPct val="75000"/>
              <a:defRPr/>
            </a:pPr>
            <a:r>
              <a:rPr kumimoji="1" lang="en-US" altLang="zh-CN" sz="3200" b="1" dirty="0">
                <a:solidFill>
                  <a:srgbClr val="FFFF00"/>
                </a:solidFill>
                <a:effectLst>
                  <a:outerShdw blurRad="38100" dist="38100" dir="2700000" algn="tl">
                    <a:srgbClr val="C0C0C0"/>
                  </a:outerShdw>
                </a:effectLst>
                <a:latin typeface="Times New Roman" pitchFamily="18" charset="0"/>
                <a:ea typeface="黑体" pitchFamily="49" charset="-122"/>
              </a:rPr>
              <a:t> </a:t>
            </a:r>
            <a:r>
              <a:rPr kumimoji="1" lang="zh-CN" altLang="en-US" sz="3200" b="1" dirty="0">
                <a:latin typeface="Times New Roman" pitchFamily="18" charset="0"/>
                <a:ea typeface="黑体" pitchFamily="49" charset="-122"/>
              </a:rPr>
              <a:t>酶催化进行的化学反应：</a:t>
            </a:r>
            <a:r>
              <a:rPr kumimoji="1" lang="zh-CN" altLang="en-US" sz="3600" b="1" dirty="0">
                <a:solidFill>
                  <a:srgbClr val="FF3300"/>
                </a:solidFill>
                <a:latin typeface="Times New Roman" pitchFamily="18" charset="0"/>
                <a:ea typeface="黑体" pitchFamily="49" charset="-122"/>
              </a:rPr>
              <a:t>酶促反应</a:t>
            </a:r>
          </a:p>
        </p:txBody>
      </p:sp>
      <p:sp>
        <p:nvSpPr>
          <p:cNvPr id="37891" name="Text Box 3">
            <a:extLst>
              <a:ext uri="{FF2B5EF4-FFF2-40B4-BE49-F238E27FC236}">
                <a16:creationId xmlns:a16="http://schemas.microsoft.com/office/drawing/2014/main" id="{4E984C7B-1DD9-473B-BB94-D6F9D470732E}"/>
              </a:ext>
            </a:extLst>
          </p:cNvPr>
          <p:cNvSpPr txBox="1">
            <a:spLocks noChangeArrowheads="1"/>
          </p:cNvSpPr>
          <p:nvPr/>
        </p:nvSpPr>
        <p:spPr bwMode="auto">
          <a:xfrm>
            <a:off x="2640014" y="2420939"/>
            <a:ext cx="237648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sz="3600" b="1" dirty="0">
                <a:solidFill>
                  <a:srgbClr val="FF3300"/>
                </a:solidFill>
                <a:latin typeface="Times New Roman" panose="02020603050405020304" pitchFamily="18" charset="0"/>
                <a:ea typeface="黑体" panose="02010609060101010101" pitchFamily="49" charset="-122"/>
              </a:rPr>
              <a:t>S </a:t>
            </a:r>
            <a:r>
              <a:rPr kumimoji="1" lang="en-US" altLang="zh-CN" sz="2800" b="1" dirty="0">
                <a:latin typeface="Times New Roman" panose="02020603050405020304" pitchFamily="18" charset="0"/>
                <a:ea typeface="黑体" panose="02010609060101010101" pitchFamily="49" charset="-122"/>
              </a:rPr>
              <a:t>(substrate)</a:t>
            </a:r>
          </a:p>
        </p:txBody>
      </p:sp>
      <p:sp>
        <p:nvSpPr>
          <p:cNvPr id="37892" name="Text Box 4">
            <a:extLst>
              <a:ext uri="{FF2B5EF4-FFF2-40B4-BE49-F238E27FC236}">
                <a16:creationId xmlns:a16="http://schemas.microsoft.com/office/drawing/2014/main" id="{B1921F6F-FE66-43CA-A9C0-F735273A0BF5}"/>
              </a:ext>
            </a:extLst>
          </p:cNvPr>
          <p:cNvSpPr txBox="1">
            <a:spLocks noChangeArrowheads="1"/>
          </p:cNvSpPr>
          <p:nvPr/>
        </p:nvSpPr>
        <p:spPr bwMode="auto">
          <a:xfrm>
            <a:off x="7751763" y="2420939"/>
            <a:ext cx="21955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sz="3600" b="1">
                <a:solidFill>
                  <a:srgbClr val="FF3300"/>
                </a:solidFill>
                <a:latin typeface="Times New Roman" panose="02020603050405020304" pitchFamily="18" charset="0"/>
                <a:ea typeface="黑体" panose="02010609060101010101" pitchFamily="49" charset="-122"/>
              </a:rPr>
              <a:t>P </a:t>
            </a:r>
            <a:r>
              <a:rPr kumimoji="1" lang="en-US" altLang="zh-CN" sz="2800" b="1">
                <a:latin typeface="Times New Roman" panose="02020603050405020304" pitchFamily="18" charset="0"/>
                <a:ea typeface="黑体" panose="02010609060101010101" pitchFamily="49" charset="-122"/>
              </a:rPr>
              <a:t>(product)</a:t>
            </a:r>
          </a:p>
        </p:txBody>
      </p:sp>
      <p:sp>
        <p:nvSpPr>
          <p:cNvPr id="37893" name="Rectangle 6">
            <a:extLst>
              <a:ext uri="{FF2B5EF4-FFF2-40B4-BE49-F238E27FC236}">
                <a16:creationId xmlns:a16="http://schemas.microsoft.com/office/drawing/2014/main" id="{D3824EFD-9773-4147-BE77-F6AE59BC0101}"/>
              </a:ext>
            </a:extLst>
          </p:cNvPr>
          <p:cNvSpPr>
            <a:spLocks noChangeArrowheads="1"/>
          </p:cNvSpPr>
          <p:nvPr/>
        </p:nvSpPr>
        <p:spPr bwMode="auto">
          <a:xfrm>
            <a:off x="3143251" y="2997200"/>
            <a:ext cx="13684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zh-CN" altLang="en-US" b="1">
                <a:solidFill>
                  <a:srgbClr val="0000FF"/>
                </a:solidFill>
                <a:latin typeface="Times New Roman" panose="02020603050405020304" pitchFamily="18" charset="0"/>
                <a:ea typeface="黑体" panose="02010609060101010101" pitchFamily="49" charset="-122"/>
              </a:rPr>
              <a:t>底物</a:t>
            </a:r>
          </a:p>
        </p:txBody>
      </p:sp>
      <p:sp>
        <p:nvSpPr>
          <p:cNvPr id="37894" name="Rectangle 7">
            <a:extLst>
              <a:ext uri="{FF2B5EF4-FFF2-40B4-BE49-F238E27FC236}">
                <a16:creationId xmlns:a16="http://schemas.microsoft.com/office/drawing/2014/main" id="{2CC55E4C-4D61-464A-AF41-A36A8F59A774}"/>
              </a:ext>
            </a:extLst>
          </p:cNvPr>
          <p:cNvSpPr>
            <a:spLocks noChangeArrowheads="1"/>
          </p:cNvSpPr>
          <p:nvPr/>
        </p:nvSpPr>
        <p:spPr bwMode="auto">
          <a:xfrm>
            <a:off x="8112125" y="3049589"/>
            <a:ext cx="12969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zh-CN" altLang="en-US" b="1">
                <a:solidFill>
                  <a:srgbClr val="0000FF"/>
                </a:solidFill>
                <a:latin typeface="Times New Roman" panose="02020603050405020304" pitchFamily="18" charset="0"/>
                <a:ea typeface="黑体" panose="02010609060101010101" pitchFamily="49" charset="-122"/>
              </a:rPr>
              <a:t>产物</a:t>
            </a:r>
          </a:p>
        </p:txBody>
      </p:sp>
      <p:sp>
        <p:nvSpPr>
          <p:cNvPr id="37895" name="Rectangle 8">
            <a:extLst>
              <a:ext uri="{FF2B5EF4-FFF2-40B4-BE49-F238E27FC236}">
                <a16:creationId xmlns:a16="http://schemas.microsoft.com/office/drawing/2014/main" id="{CFF95B61-5884-4EAC-8B21-6C742C894D60}"/>
              </a:ext>
            </a:extLst>
          </p:cNvPr>
          <p:cNvSpPr>
            <a:spLocks noChangeArrowheads="1"/>
          </p:cNvSpPr>
          <p:nvPr/>
        </p:nvSpPr>
        <p:spPr bwMode="auto">
          <a:xfrm>
            <a:off x="5080001" y="1412875"/>
            <a:ext cx="2087563"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3600" b="1">
                <a:solidFill>
                  <a:srgbClr val="FF3300"/>
                </a:solidFill>
                <a:latin typeface="Times New Roman" panose="02020603050405020304" pitchFamily="18" charset="0"/>
                <a:ea typeface="黑体" panose="02010609060101010101" pitchFamily="49" charset="-122"/>
              </a:rPr>
              <a:t>E</a:t>
            </a:r>
            <a:r>
              <a:rPr kumimoji="1" lang="en-US" altLang="zh-CN" b="1">
                <a:latin typeface="Times New Roman" panose="02020603050405020304" pitchFamily="18" charset="0"/>
                <a:ea typeface="黑体" panose="02010609060101010101" pitchFamily="49" charset="-122"/>
              </a:rPr>
              <a:t>(enzyme)</a:t>
            </a:r>
          </a:p>
          <a:p>
            <a:pPr algn="ctr" eaLnBrk="1" hangingPunct="1">
              <a:spcBef>
                <a:spcPct val="0"/>
              </a:spcBef>
              <a:buFontTx/>
              <a:buNone/>
            </a:pPr>
            <a:r>
              <a:rPr kumimoji="1" lang="zh-CN" altLang="en-US" b="1">
                <a:solidFill>
                  <a:srgbClr val="0000FF"/>
                </a:solidFill>
                <a:latin typeface="Times New Roman" panose="02020603050405020304" pitchFamily="18" charset="0"/>
                <a:ea typeface="黑体" panose="02010609060101010101" pitchFamily="49" charset="-122"/>
              </a:rPr>
              <a:t>酶</a:t>
            </a:r>
          </a:p>
        </p:txBody>
      </p:sp>
      <p:sp>
        <p:nvSpPr>
          <p:cNvPr id="2" name="左右箭头 1">
            <a:extLst>
              <a:ext uri="{FF2B5EF4-FFF2-40B4-BE49-F238E27FC236}">
                <a16:creationId xmlns:a16="http://schemas.microsoft.com/office/drawing/2014/main" id="{DC724BF3-3B60-46B0-8F82-CA6B0623BC9C}"/>
              </a:ext>
            </a:extLst>
          </p:cNvPr>
          <p:cNvSpPr/>
          <p:nvPr/>
        </p:nvSpPr>
        <p:spPr>
          <a:xfrm>
            <a:off x="5087939" y="2638425"/>
            <a:ext cx="2447925" cy="287338"/>
          </a:xfrm>
          <a:prstGeom prst="leftRight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7897" name="文本框 2">
            <a:extLst>
              <a:ext uri="{FF2B5EF4-FFF2-40B4-BE49-F238E27FC236}">
                <a16:creationId xmlns:a16="http://schemas.microsoft.com/office/drawing/2014/main" id="{47CABEAD-32EC-4F27-864C-9E430E354A5B}"/>
              </a:ext>
            </a:extLst>
          </p:cNvPr>
          <p:cNvSpPr txBox="1">
            <a:spLocks noChangeArrowheads="1"/>
          </p:cNvSpPr>
          <p:nvPr/>
        </p:nvSpPr>
        <p:spPr bwMode="auto">
          <a:xfrm>
            <a:off x="2640014" y="4733135"/>
            <a:ext cx="8137400" cy="1308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800" dirty="0">
                <a:latin typeface="微软雅黑" panose="020B0503020204020204" pitchFamily="34" charset="-122"/>
                <a:ea typeface="微软雅黑" panose="020B0503020204020204" pitchFamily="34" charset="-122"/>
              </a:rPr>
              <a:t>酶同时催化正向反应和逆反应，</a:t>
            </a:r>
            <a:r>
              <a:rPr lang="zh-CN" altLang="en-US" sz="2800" b="1" dirty="0">
                <a:latin typeface="微软雅黑" panose="020B0503020204020204" pitchFamily="34" charset="-122"/>
                <a:ea typeface="微软雅黑" panose="020B0503020204020204" pitchFamily="34" charset="-122"/>
              </a:rPr>
              <a:t>加快反应速度 </a:t>
            </a:r>
            <a:endParaRPr lang="en-US" altLang="zh-CN" sz="2800" b="1" dirty="0">
              <a:latin typeface="微软雅黑" panose="020B0503020204020204" pitchFamily="34" charset="-122"/>
              <a:ea typeface="微软雅黑" panose="020B0503020204020204" pitchFamily="34" charset="-122"/>
            </a:endParaRPr>
          </a:p>
          <a:p>
            <a:pPr>
              <a:lnSpc>
                <a:spcPct val="150000"/>
              </a:lnSpc>
              <a:spcBef>
                <a:spcPct val="0"/>
              </a:spcBef>
              <a:buFontTx/>
              <a:buNone/>
            </a:pPr>
            <a:r>
              <a:rPr lang="zh-CN" altLang="en-US" sz="2800" dirty="0">
                <a:latin typeface="微软雅黑" panose="020B0503020204020204" pitchFamily="34" charset="-122"/>
                <a:ea typeface="微软雅黑" panose="020B0503020204020204" pitchFamily="34" charset="-122"/>
              </a:rPr>
              <a:t>酶</a:t>
            </a:r>
            <a:r>
              <a:rPr lang="zh-CN" altLang="en-US" sz="2800" b="1" dirty="0">
                <a:latin typeface="微软雅黑" panose="020B0503020204020204" pitchFamily="34" charset="-122"/>
                <a:ea typeface="微软雅黑" panose="020B0503020204020204" pitchFamily="34" charset="-122"/>
              </a:rPr>
              <a:t>不改变反应平衡常数</a:t>
            </a:r>
          </a:p>
        </p:txBody>
      </p:sp>
      <p:pic>
        <p:nvPicPr>
          <p:cNvPr id="37898" name="图片 3">
            <a:extLst>
              <a:ext uri="{FF2B5EF4-FFF2-40B4-BE49-F238E27FC236}">
                <a16:creationId xmlns:a16="http://schemas.microsoft.com/office/drawing/2014/main" id="{3C005D84-F99A-40CD-8BDB-FF0F715CE0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5914" y="3868738"/>
            <a:ext cx="6700837"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33">
            <a:extLst>
              <a:ext uri="{FF2B5EF4-FFF2-40B4-BE49-F238E27FC236}">
                <a16:creationId xmlns:a16="http://schemas.microsoft.com/office/drawing/2014/main" id="{85412C07-B932-4A42-A5D9-0EC2C807E49E}"/>
              </a:ext>
            </a:extLst>
          </p:cNvPr>
          <p:cNvSpPr>
            <a:spLocks noChangeArrowheads="1"/>
          </p:cNvSpPr>
          <p:nvPr/>
        </p:nvSpPr>
        <p:spPr bwMode="auto">
          <a:xfrm>
            <a:off x="4224339" y="357189"/>
            <a:ext cx="3959225" cy="846137"/>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sz="3600" b="1" dirty="0">
                <a:solidFill>
                  <a:schemeClr val="bg1"/>
                </a:solidFill>
                <a:latin typeface="Times New Roman" panose="02020603050405020304" pitchFamily="18" charset="0"/>
                <a:ea typeface="黑体" panose="02010609060101010101" pitchFamily="49" charset="-122"/>
              </a:rPr>
              <a:t>本 章 内 容</a:t>
            </a:r>
          </a:p>
        </p:txBody>
      </p:sp>
      <p:graphicFrame>
        <p:nvGraphicFramePr>
          <p:cNvPr id="4" name="图示 3">
            <a:extLst>
              <a:ext uri="{FF2B5EF4-FFF2-40B4-BE49-F238E27FC236}">
                <a16:creationId xmlns:a16="http://schemas.microsoft.com/office/drawing/2014/main" id="{FEF8C9FB-395F-4E94-8E6E-E2A8BE84AFC4}"/>
              </a:ext>
            </a:extLst>
          </p:cNvPr>
          <p:cNvGraphicFramePr/>
          <p:nvPr>
            <p:extLst>
              <p:ext uri="{D42A27DB-BD31-4B8C-83A1-F6EECF244321}">
                <p14:modId xmlns:p14="http://schemas.microsoft.com/office/powerpoint/2010/main" val="2778562093"/>
              </p:ext>
            </p:extLst>
          </p:nvPr>
        </p:nvGraphicFramePr>
        <p:xfrm>
          <a:off x="3503712" y="1741264"/>
          <a:ext cx="5688632" cy="44960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7378" name="Rectangle 2">
            <a:extLst>
              <a:ext uri="{FF2B5EF4-FFF2-40B4-BE49-F238E27FC236}">
                <a16:creationId xmlns:a16="http://schemas.microsoft.com/office/drawing/2014/main" id="{30E477A5-66AB-4267-B7B2-27D2D2D0812B}"/>
              </a:ext>
            </a:extLst>
          </p:cNvPr>
          <p:cNvSpPr>
            <a:spLocks noGrp="1" noChangeArrowheads="1"/>
          </p:cNvSpPr>
          <p:nvPr>
            <p:ph type="title"/>
          </p:nvPr>
        </p:nvSpPr>
        <p:spPr>
          <a:xfrm>
            <a:off x="2208213" y="981076"/>
            <a:ext cx="8064500" cy="4392613"/>
          </a:xfrm>
        </p:spPr>
        <p:txBody>
          <a:bodyPr/>
          <a:lstStyle/>
          <a:p>
            <a:pPr eaLnBrk="1" hangingPunct="1">
              <a:defRPr/>
            </a:pPr>
            <a:r>
              <a:rPr lang="zh-CN" altLang="en-US" sz="5400" dirty="0">
                <a:solidFill>
                  <a:srgbClr val="FF3300"/>
                </a:solidFill>
                <a:latin typeface="Times New Roman" pitchFamily="18" charset="0"/>
                <a:ea typeface="黑体" pitchFamily="49" charset="-122"/>
              </a:rPr>
              <a:t>第一节</a:t>
            </a:r>
            <a:br>
              <a:rPr lang="zh-CN" altLang="en-US" sz="5400" dirty="0">
                <a:solidFill>
                  <a:srgbClr val="FF3300"/>
                </a:solidFill>
                <a:latin typeface="Times New Roman" pitchFamily="18" charset="0"/>
                <a:ea typeface="黑体" pitchFamily="49" charset="-122"/>
              </a:rPr>
            </a:br>
            <a:br>
              <a:rPr lang="zh-CN" altLang="en-US" sz="5400" dirty="0">
                <a:solidFill>
                  <a:srgbClr val="FF3300"/>
                </a:solidFill>
                <a:latin typeface="Times New Roman" pitchFamily="18" charset="0"/>
                <a:ea typeface="黑体" pitchFamily="49" charset="-122"/>
              </a:rPr>
            </a:br>
            <a:r>
              <a:rPr lang="zh-CN" altLang="en-US" dirty="0">
                <a:solidFill>
                  <a:srgbClr val="FF3300"/>
                </a:solidFill>
                <a:latin typeface="Times New Roman" pitchFamily="18" charset="0"/>
                <a:ea typeface="黑体" pitchFamily="49" charset="-122"/>
              </a:rPr>
              <a:t>酶的分子结构与功能</a:t>
            </a:r>
            <a:br>
              <a:rPr lang="zh-CN" altLang="en-US" dirty="0">
                <a:solidFill>
                  <a:srgbClr val="FF3300"/>
                </a:solidFill>
                <a:latin typeface="Times New Roman" pitchFamily="18" charset="0"/>
                <a:ea typeface="黑体" pitchFamily="49" charset="-122"/>
              </a:rPr>
            </a:br>
            <a:r>
              <a:rPr lang="en-US" altLang="zh-CN" sz="4000" dirty="0">
                <a:solidFill>
                  <a:srgbClr val="000066"/>
                </a:solidFill>
                <a:latin typeface="Arial" panose="020B0604020202020204" pitchFamily="34" charset="0"/>
                <a:ea typeface="黑体" pitchFamily="49" charset="-122"/>
                <a:cs typeface="Arial" panose="020B0604020202020204" pitchFamily="34" charset="0"/>
              </a:rPr>
              <a:t>Molecular Structure and Function of Enzymes</a:t>
            </a:r>
            <a:br>
              <a:rPr lang="en-US" altLang="zh-CN" sz="4000" dirty="0">
                <a:solidFill>
                  <a:srgbClr val="0000CC"/>
                </a:solidFill>
                <a:effectLst>
                  <a:outerShdw blurRad="38100" dist="38100" dir="2700000" algn="tl">
                    <a:srgbClr val="C0C0C0"/>
                  </a:outerShdw>
                </a:effectLst>
                <a:latin typeface="Times New Roman" pitchFamily="18" charset="0"/>
                <a:ea typeface="黑体" pitchFamily="49" charset="-122"/>
              </a:rPr>
            </a:br>
            <a:endParaRPr lang="en-US" altLang="zh-CN" sz="4000" dirty="0">
              <a:solidFill>
                <a:srgbClr val="0000CC"/>
              </a:solidFill>
              <a:effectLst>
                <a:outerShdw blurRad="38100" dist="38100" dir="2700000" algn="tl">
                  <a:srgbClr val="C0C0C0"/>
                </a:outerShdw>
              </a:effectLst>
              <a:latin typeface="Times New Roman" pitchFamily="18" charset="0"/>
              <a:ea typeface="黑体" pitchFamily="49" charset="-122"/>
            </a:endParaRPr>
          </a:p>
        </p:txBody>
      </p:sp>
    </p:spTree>
  </p:cSld>
  <p:clrMapOvr>
    <a:masterClrMapping/>
  </p:clrMapOvr>
  <p:transition spd="slow">
    <p:circle/>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2978" name="Rectangle 2">
            <a:extLst>
              <a:ext uri="{FF2B5EF4-FFF2-40B4-BE49-F238E27FC236}">
                <a16:creationId xmlns:a16="http://schemas.microsoft.com/office/drawing/2014/main" id="{ED27BF13-9751-4BA4-BF8E-B98E1F4463E3}"/>
              </a:ext>
            </a:extLst>
          </p:cNvPr>
          <p:cNvSpPr>
            <a:spLocks noGrp="1" noChangeArrowheads="1"/>
          </p:cNvSpPr>
          <p:nvPr>
            <p:ph type="body" sz="half" idx="1"/>
          </p:nvPr>
        </p:nvSpPr>
        <p:spPr>
          <a:xfrm>
            <a:off x="1487488" y="4005064"/>
            <a:ext cx="4968875" cy="1728787"/>
          </a:xfrm>
        </p:spPr>
        <p:txBody>
          <a:bodyPr/>
          <a:lstStyle/>
          <a:p>
            <a:pPr eaLnBrk="1" hangingPunct="1">
              <a:lnSpc>
                <a:spcPct val="110000"/>
              </a:lnSpc>
            </a:pPr>
            <a:r>
              <a:rPr lang="zh-CN" altLang="en-US" sz="2800" b="1">
                <a:solidFill>
                  <a:srgbClr val="0000FF"/>
                </a:solidFill>
                <a:latin typeface="Times New Roman" panose="02020603050405020304" pitchFamily="18" charset="0"/>
                <a:ea typeface="黑体" panose="02010609060101010101" pitchFamily="49" charset="-122"/>
              </a:rPr>
              <a:t>寡聚酶（</a:t>
            </a:r>
            <a:r>
              <a:rPr lang="en-US" altLang="zh-CN" sz="2800" b="1">
                <a:solidFill>
                  <a:srgbClr val="0000FF"/>
                </a:solidFill>
                <a:latin typeface="Times New Roman" panose="02020603050405020304" pitchFamily="18" charset="0"/>
                <a:ea typeface="黑体" panose="02010609060101010101" pitchFamily="49" charset="-122"/>
              </a:rPr>
              <a:t>oligomeric enzyme</a:t>
            </a:r>
            <a:r>
              <a:rPr lang="zh-CN" altLang="en-US" sz="2800" b="1">
                <a:solidFill>
                  <a:srgbClr val="0000FF"/>
                </a:solidFill>
                <a:latin typeface="Times New Roman" panose="02020603050405020304" pitchFamily="18" charset="0"/>
                <a:ea typeface="黑体" panose="02010609060101010101" pitchFamily="49" charset="-122"/>
              </a:rPr>
              <a:t>）</a:t>
            </a:r>
          </a:p>
          <a:p>
            <a:pPr eaLnBrk="1" hangingPunct="1">
              <a:lnSpc>
                <a:spcPct val="110000"/>
              </a:lnSpc>
              <a:buFontTx/>
              <a:buNone/>
            </a:pPr>
            <a:r>
              <a:rPr lang="zh-CN" altLang="en-US" sz="2800" b="1">
                <a:latin typeface="Times New Roman" panose="02020603050405020304" pitchFamily="18" charset="0"/>
                <a:ea typeface="黑体" panose="02010609060101010101" pitchFamily="49" charset="-122"/>
              </a:rPr>
              <a:t>    由多个相同或不同亚基以非共价键连接组成的酶。</a:t>
            </a:r>
          </a:p>
        </p:txBody>
      </p:sp>
      <p:sp>
        <p:nvSpPr>
          <p:cNvPr id="44035" name="Rectangle 4">
            <a:extLst>
              <a:ext uri="{FF2B5EF4-FFF2-40B4-BE49-F238E27FC236}">
                <a16:creationId xmlns:a16="http://schemas.microsoft.com/office/drawing/2014/main" id="{A8F033BD-FA62-4867-AF27-8511E066BF5E}"/>
              </a:ext>
            </a:extLst>
          </p:cNvPr>
          <p:cNvSpPr>
            <a:spLocks noChangeArrowheads="1"/>
          </p:cNvSpPr>
          <p:nvPr/>
        </p:nvSpPr>
        <p:spPr bwMode="auto">
          <a:xfrm>
            <a:off x="1558924" y="1988938"/>
            <a:ext cx="48260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10000"/>
              </a:lnSpc>
            </a:pPr>
            <a:r>
              <a:rPr lang="zh-CN" altLang="en-US" sz="2800" b="1" dirty="0">
                <a:solidFill>
                  <a:srgbClr val="0000FF"/>
                </a:solidFill>
                <a:latin typeface="Times New Roman" panose="02020603050405020304" pitchFamily="18" charset="0"/>
                <a:ea typeface="黑体" panose="02010609060101010101" pitchFamily="49" charset="-122"/>
              </a:rPr>
              <a:t>单体酶</a:t>
            </a:r>
            <a:r>
              <a:rPr lang="en-US" altLang="zh-CN" sz="2800" b="1" dirty="0">
                <a:solidFill>
                  <a:srgbClr val="0000FF"/>
                </a:solidFill>
                <a:latin typeface="Times New Roman" panose="02020603050405020304" pitchFamily="18" charset="0"/>
                <a:ea typeface="黑体" panose="02010609060101010101" pitchFamily="49" charset="-122"/>
              </a:rPr>
              <a:t>(monomeric enzyme)</a:t>
            </a:r>
            <a:endParaRPr lang="zh-CN" altLang="en-US" sz="2800" b="1" dirty="0">
              <a:solidFill>
                <a:srgbClr val="0000FF"/>
              </a:solidFill>
              <a:latin typeface="Times New Roman" panose="02020603050405020304" pitchFamily="18" charset="0"/>
              <a:ea typeface="黑体" panose="02010609060101010101" pitchFamily="49" charset="-122"/>
            </a:endParaRPr>
          </a:p>
          <a:p>
            <a:pPr eaLnBrk="1" hangingPunct="1">
              <a:lnSpc>
                <a:spcPct val="110000"/>
              </a:lnSpc>
              <a:buFontTx/>
              <a:buNone/>
            </a:pPr>
            <a:r>
              <a:rPr lang="zh-CN" altLang="en-US" sz="2800" b="1" dirty="0">
                <a:latin typeface="Times New Roman" panose="02020603050405020304" pitchFamily="18" charset="0"/>
                <a:ea typeface="黑体" panose="02010609060101010101" pitchFamily="49" charset="-122"/>
              </a:rPr>
              <a:t>    仅具有三级结构的酶。</a:t>
            </a:r>
          </a:p>
        </p:txBody>
      </p:sp>
      <p:sp>
        <p:nvSpPr>
          <p:cNvPr id="44036" name="AutoShape 6">
            <a:extLst>
              <a:ext uri="{FF2B5EF4-FFF2-40B4-BE49-F238E27FC236}">
                <a16:creationId xmlns:a16="http://schemas.microsoft.com/office/drawing/2014/main" id="{F5B14D37-6DA5-468C-82A2-07FA2E80B437}"/>
              </a:ext>
            </a:extLst>
          </p:cNvPr>
          <p:cNvSpPr>
            <a:spLocks noChangeArrowheads="1"/>
          </p:cNvSpPr>
          <p:nvPr/>
        </p:nvSpPr>
        <p:spPr bwMode="auto">
          <a:xfrm>
            <a:off x="3719513" y="476251"/>
            <a:ext cx="4392612" cy="792163"/>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b="1">
                <a:solidFill>
                  <a:schemeClr val="bg1"/>
                </a:solidFill>
                <a:latin typeface="Times New Roman" panose="02020603050405020304" pitchFamily="18" charset="0"/>
                <a:ea typeface="黑体" panose="02010609060101010101" pitchFamily="49" charset="-122"/>
              </a:rPr>
              <a:t>一、 酶有不同结构形式</a:t>
            </a:r>
          </a:p>
        </p:txBody>
      </p:sp>
      <p:pic>
        <p:nvPicPr>
          <p:cNvPr id="44037" name="图片 1">
            <a:extLst>
              <a:ext uri="{FF2B5EF4-FFF2-40B4-BE49-F238E27FC236}">
                <a16:creationId xmlns:a16="http://schemas.microsoft.com/office/drawing/2014/main" id="{5E8BF797-7F5A-44D0-9354-13AB43A450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35864" y="1395413"/>
            <a:ext cx="2409825"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D5FB16A1-4E78-4209-A779-E6DA73BBA7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8739" y="3789364"/>
            <a:ext cx="2497137" cy="22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531BE913-AFC5-9ADD-C523-340430830E32}"/>
              </a:ext>
            </a:extLst>
          </p:cNvPr>
          <p:cNvSpPr txBox="1"/>
          <p:nvPr/>
        </p:nvSpPr>
        <p:spPr>
          <a:xfrm>
            <a:off x="9268475" y="3019981"/>
            <a:ext cx="1148005" cy="400110"/>
          </a:xfrm>
          <a:prstGeom prst="rect">
            <a:avLst/>
          </a:prstGeom>
          <a:noFill/>
        </p:spPr>
        <p:txBody>
          <a:bodyPr wrap="square">
            <a:spAutoFit/>
          </a:bodyPr>
          <a:lstStyle/>
          <a:p>
            <a:r>
              <a:rPr lang="zh-CN" altLang="en-US" sz="2000" dirty="0"/>
              <a:t>溶菌酶</a:t>
            </a:r>
          </a:p>
        </p:txBody>
      </p:sp>
      <p:sp>
        <p:nvSpPr>
          <p:cNvPr id="6" name="文本框 5">
            <a:extLst>
              <a:ext uri="{FF2B5EF4-FFF2-40B4-BE49-F238E27FC236}">
                <a16:creationId xmlns:a16="http://schemas.microsoft.com/office/drawing/2014/main" id="{2004193C-E44F-67A5-F248-DD4CB61B8249}"/>
              </a:ext>
            </a:extLst>
          </p:cNvPr>
          <p:cNvSpPr txBox="1"/>
          <p:nvPr/>
        </p:nvSpPr>
        <p:spPr>
          <a:xfrm>
            <a:off x="7954531" y="6123394"/>
            <a:ext cx="2790056" cy="369332"/>
          </a:xfrm>
          <a:prstGeom prst="rect">
            <a:avLst/>
          </a:prstGeom>
          <a:noFill/>
        </p:spPr>
        <p:txBody>
          <a:bodyPr wrap="square">
            <a:spAutoFit/>
          </a:bodyPr>
          <a:lstStyle/>
          <a:p>
            <a:r>
              <a:rPr lang="zh-CN" altLang="en-US" dirty="0"/>
              <a:t>乳酸脱氢酶（</a:t>
            </a:r>
            <a:r>
              <a:rPr lang="en-US" altLang="zh-CN" dirty="0"/>
              <a:t>4</a:t>
            </a:r>
            <a:r>
              <a:rPr lang="zh-CN" altLang="en-US" dirty="0"/>
              <a:t>个亚基）</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297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2978">
                                            <p:txEl>
                                              <p:pRg st="1" end="1"/>
                                            </p:txEl>
                                          </p:spTgt>
                                        </p:tgtEl>
                                        <p:attrNameLst>
                                          <p:attrName>style.visibility</p:attrName>
                                        </p:attrNameLst>
                                      </p:cBhvr>
                                      <p:to>
                                        <p:strVal val="visible"/>
                                      </p:to>
                                    </p:se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78" grpId="0" build="p"/>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811441C-99E9-49F0-8D37-40F43F29B30B}"/>
              </a:ext>
            </a:extLst>
          </p:cNvPr>
          <p:cNvGrpSpPr>
            <a:grpSpLocks/>
          </p:cNvGrpSpPr>
          <p:nvPr/>
        </p:nvGrpSpPr>
        <p:grpSpPr bwMode="auto">
          <a:xfrm>
            <a:off x="7320136" y="1127795"/>
            <a:ext cx="3419475" cy="2690812"/>
            <a:chOff x="3470" y="1071"/>
            <a:chExt cx="2154" cy="1695"/>
          </a:xfrm>
        </p:grpSpPr>
        <p:grpSp>
          <p:nvGrpSpPr>
            <p:cNvPr id="46085" name="Group 3">
              <a:extLst>
                <a:ext uri="{FF2B5EF4-FFF2-40B4-BE49-F238E27FC236}">
                  <a16:creationId xmlns:a16="http://schemas.microsoft.com/office/drawing/2014/main" id="{4624F8DC-5D81-4E8A-A234-19DC78E32ECB}"/>
                </a:ext>
              </a:extLst>
            </p:cNvPr>
            <p:cNvGrpSpPr>
              <a:grpSpLocks/>
            </p:cNvGrpSpPr>
            <p:nvPr/>
          </p:nvGrpSpPr>
          <p:grpSpPr bwMode="auto">
            <a:xfrm>
              <a:off x="3470" y="1071"/>
              <a:ext cx="2154" cy="1298"/>
              <a:chOff x="3561" y="164"/>
              <a:chExt cx="2154" cy="1298"/>
            </a:xfrm>
          </p:grpSpPr>
          <p:pic>
            <p:nvPicPr>
              <p:cNvPr id="46087" name="Picture 4" descr="脱氢酶1">
                <a:extLst>
                  <a:ext uri="{FF2B5EF4-FFF2-40B4-BE49-F238E27FC236}">
                    <a16:creationId xmlns:a16="http://schemas.microsoft.com/office/drawing/2014/main" id="{A7640961-20A4-4A66-9083-05CCDCD15F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1" y="164"/>
                <a:ext cx="2154" cy="1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8" name="Rectangle 5">
                <a:extLst>
                  <a:ext uri="{FF2B5EF4-FFF2-40B4-BE49-F238E27FC236}">
                    <a16:creationId xmlns:a16="http://schemas.microsoft.com/office/drawing/2014/main" id="{71361B73-04F5-4B63-9139-4CA286AB4EFA}"/>
                  </a:ext>
                </a:extLst>
              </p:cNvPr>
              <p:cNvSpPr>
                <a:spLocks noChangeArrowheads="1"/>
              </p:cNvSpPr>
              <p:nvPr/>
            </p:nvSpPr>
            <p:spPr bwMode="auto">
              <a:xfrm>
                <a:off x="4740" y="302"/>
                <a:ext cx="6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000" b="1">
                    <a:solidFill>
                      <a:srgbClr val="0000CC"/>
                    </a:solidFill>
                    <a:latin typeface="Times New Roman" panose="02020603050405020304" pitchFamily="18" charset="0"/>
                    <a:ea typeface="黑体" panose="02010609060101010101" pitchFamily="49" charset="-122"/>
                  </a:rPr>
                  <a:t>HSCoA</a:t>
                </a:r>
              </a:p>
            </p:txBody>
          </p:sp>
          <p:sp>
            <p:nvSpPr>
              <p:cNvPr id="46089" name="Rectangle 6">
                <a:extLst>
                  <a:ext uri="{FF2B5EF4-FFF2-40B4-BE49-F238E27FC236}">
                    <a16:creationId xmlns:a16="http://schemas.microsoft.com/office/drawing/2014/main" id="{61240772-BA55-40B7-A185-3BDFF83BA935}"/>
                  </a:ext>
                </a:extLst>
              </p:cNvPr>
              <p:cNvSpPr>
                <a:spLocks noChangeArrowheads="1"/>
              </p:cNvSpPr>
              <p:nvPr/>
            </p:nvSpPr>
            <p:spPr bwMode="auto">
              <a:xfrm>
                <a:off x="5165" y="1073"/>
                <a:ext cx="52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000" b="1">
                    <a:solidFill>
                      <a:srgbClr val="0000CC"/>
                    </a:solidFill>
                    <a:latin typeface="Times New Roman" panose="02020603050405020304" pitchFamily="18" charset="0"/>
                    <a:ea typeface="黑体" panose="02010609060101010101" pitchFamily="49" charset="-122"/>
                  </a:rPr>
                  <a:t>NAD</a:t>
                </a:r>
                <a:r>
                  <a:rPr kumimoji="1" lang="en-US" altLang="zh-CN" sz="2000" b="1" baseline="30000">
                    <a:solidFill>
                      <a:srgbClr val="0000CC"/>
                    </a:solidFill>
                    <a:latin typeface="Times New Roman" panose="02020603050405020304" pitchFamily="18" charset="0"/>
                    <a:ea typeface="黑体" panose="02010609060101010101" pitchFamily="49" charset="-122"/>
                  </a:rPr>
                  <a:t>+</a:t>
                </a:r>
              </a:p>
            </p:txBody>
          </p:sp>
        </p:grpSp>
        <p:sp>
          <p:nvSpPr>
            <p:cNvPr id="46086" name="Text Box 7">
              <a:extLst>
                <a:ext uri="{FF2B5EF4-FFF2-40B4-BE49-F238E27FC236}">
                  <a16:creationId xmlns:a16="http://schemas.microsoft.com/office/drawing/2014/main" id="{9157C5DF-9006-4520-894B-A5E7813A9B8B}"/>
                </a:ext>
              </a:extLst>
            </p:cNvPr>
            <p:cNvSpPr txBox="1">
              <a:spLocks noChangeArrowheads="1"/>
            </p:cNvSpPr>
            <p:nvPr/>
          </p:nvSpPr>
          <p:spPr bwMode="auto">
            <a:xfrm>
              <a:off x="3696" y="2478"/>
              <a:ext cx="18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50000"/>
                </a:spcBef>
                <a:buFontTx/>
                <a:buNone/>
              </a:pPr>
              <a:r>
                <a:rPr kumimoji="1" lang="zh-CN" altLang="en-US" sz="2400" b="1">
                  <a:solidFill>
                    <a:srgbClr val="FF0000"/>
                  </a:solidFill>
                  <a:latin typeface="Times New Roman" panose="02020603050405020304" pitchFamily="18" charset="0"/>
                  <a:ea typeface="黑体" panose="02010609060101010101" pitchFamily="49" charset="-122"/>
                </a:rPr>
                <a:t>丙酮酸脱氢酶复合体</a:t>
              </a:r>
            </a:p>
          </p:txBody>
        </p:sp>
      </p:grpSp>
      <p:sp>
        <p:nvSpPr>
          <p:cNvPr id="46083" name="Rectangle 8">
            <a:extLst>
              <a:ext uri="{FF2B5EF4-FFF2-40B4-BE49-F238E27FC236}">
                <a16:creationId xmlns:a16="http://schemas.microsoft.com/office/drawing/2014/main" id="{81CAE1E7-3CDD-478F-8893-6A6C871C0B28}"/>
              </a:ext>
            </a:extLst>
          </p:cNvPr>
          <p:cNvSpPr>
            <a:spLocks noGrp="1" noChangeArrowheads="1"/>
          </p:cNvSpPr>
          <p:nvPr>
            <p:ph type="body" idx="1"/>
          </p:nvPr>
        </p:nvSpPr>
        <p:spPr>
          <a:xfrm>
            <a:off x="1668588" y="1340668"/>
            <a:ext cx="5291508" cy="1522412"/>
          </a:xfrm>
        </p:spPr>
        <p:txBody>
          <a:bodyPr/>
          <a:lstStyle/>
          <a:p>
            <a:pPr eaLnBrk="1" hangingPunct="1">
              <a:lnSpc>
                <a:spcPct val="110000"/>
              </a:lnSpc>
            </a:pPr>
            <a:r>
              <a:rPr lang="zh-CN" altLang="en-US" sz="2800" dirty="0">
                <a:solidFill>
                  <a:srgbClr val="0000FF"/>
                </a:solidFill>
                <a:latin typeface="Times New Roman" panose="02020603050405020304" pitchFamily="18" charset="0"/>
                <a:ea typeface="黑体" panose="02010609060101010101" pitchFamily="49" charset="-122"/>
              </a:rPr>
              <a:t>多酶体系（多酶复合体）</a:t>
            </a:r>
          </a:p>
          <a:p>
            <a:pPr eaLnBrk="1" hangingPunct="1">
              <a:lnSpc>
                <a:spcPct val="110000"/>
              </a:lnSpc>
              <a:buFontTx/>
              <a:buNone/>
            </a:pPr>
            <a:r>
              <a:rPr lang="zh-CN" altLang="en-US" sz="2800" dirty="0">
                <a:latin typeface="Times New Roman" panose="02020603050405020304" pitchFamily="18" charset="0"/>
                <a:ea typeface="黑体" panose="02010609060101010101" pitchFamily="49" charset="-122"/>
              </a:rPr>
              <a:t>    由几种不同功能的酶彼此聚合形成的多酶复合物。</a:t>
            </a:r>
          </a:p>
        </p:txBody>
      </p:sp>
      <p:sp>
        <p:nvSpPr>
          <p:cNvPr id="385033" name="Rectangle 9">
            <a:extLst>
              <a:ext uri="{FF2B5EF4-FFF2-40B4-BE49-F238E27FC236}">
                <a16:creationId xmlns:a16="http://schemas.microsoft.com/office/drawing/2014/main" id="{6370E5CF-7485-4D02-B7EA-824F76DEDC42}"/>
              </a:ext>
            </a:extLst>
          </p:cNvPr>
          <p:cNvSpPr>
            <a:spLocks noChangeArrowheads="1"/>
          </p:cNvSpPr>
          <p:nvPr/>
        </p:nvSpPr>
        <p:spPr bwMode="auto">
          <a:xfrm>
            <a:off x="1653044" y="3929980"/>
            <a:ext cx="8763436"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10000"/>
              </a:lnSpc>
            </a:pPr>
            <a:r>
              <a:rPr lang="zh-CN" altLang="en-US" sz="2800" b="1" dirty="0">
                <a:solidFill>
                  <a:srgbClr val="0000FF"/>
                </a:solidFill>
                <a:latin typeface="Times New Roman" panose="02020603050405020304" pitchFamily="18" charset="0"/>
                <a:ea typeface="黑体" panose="02010609060101010101" pitchFamily="49" charset="-122"/>
              </a:rPr>
              <a:t>多功能酶或串联酶</a:t>
            </a:r>
          </a:p>
          <a:p>
            <a:pPr eaLnBrk="1" hangingPunct="1">
              <a:lnSpc>
                <a:spcPct val="110000"/>
              </a:lnSpc>
              <a:buFontTx/>
              <a:buNone/>
            </a:pPr>
            <a:r>
              <a:rPr lang="zh-CN" altLang="en-US" sz="2800" b="1" dirty="0">
                <a:latin typeface="Times New Roman" panose="02020603050405020304" pitchFamily="18" charset="0"/>
                <a:ea typeface="黑体" panose="02010609060101010101" pitchFamily="49" charset="-122"/>
              </a:rPr>
              <a:t>    多种不同催化功能存在于一条多肽链中，这类酶称为多功能酶。比如脂肪酸合酶</a:t>
            </a:r>
            <a:endParaRPr lang="zh-CN" altLang="en-US" sz="2400" b="1" dirty="0">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50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6D14D5AB-20EE-4C54-9B7E-3D04690459FB}"/>
              </a:ext>
            </a:extLst>
          </p:cNvPr>
          <p:cNvSpPr>
            <a:spLocks noGrp="1" noChangeArrowheads="1"/>
          </p:cNvSpPr>
          <p:nvPr>
            <p:ph type="body" idx="1"/>
          </p:nvPr>
        </p:nvSpPr>
        <p:spPr>
          <a:xfrm>
            <a:off x="2208214" y="2708276"/>
            <a:ext cx="8066087" cy="968375"/>
          </a:xfrm>
        </p:spPr>
        <p:txBody>
          <a:bodyPr/>
          <a:lstStyle/>
          <a:p>
            <a:pPr marL="182563" indent="-182563" eaLnBrk="1" hangingPunct="1">
              <a:lnSpc>
                <a:spcPct val="130000"/>
              </a:lnSpc>
              <a:buClr>
                <a:srgbClr val="FF0000"/>
              </a:buClr>
              <a:buFont typeface="Wingdings" panose="05000000000000000000" pitchFamily="2" charset="2"/>
              <a:buChar char="n"/>
            </a:pPr>
            <a:r>
              <a:rPr lang="en-US" altLang="zh-CN" sz="2000" dirty="0">
                <a:solidFill>
                  <a:srgbClr val="0000FF"/>
                </a:solidFill>
                <a:latin typeface="Times New Roman" panose="02020603050405020304" pitchFamily="18" charset="0"/>
                <a:ea typeface="黑体" panose="02010609060101010101" pitchFamily="49" charset="-122"/>
              </a:rPr>
              <a:t>  </a:t>
            </a:r>
            <a:r>
              <a:rPr lang="zh-CN" altLang="en-US" sz="2800" dirty="0">
                <a:solidFill>
                  <a:srgbClr val="0000FF"/>
                </a:solidFill>
                <a:latin typeface="Times New Roman" panose="02020603050405020304" pitchFamily="18" charset="0"/>
                <a:ea typeface="黑体" panose="02010609060101010101" pitchFamily="49" charset="-122"/>
              </a:rPr>
              <a:t>结合酶</a:t>
            </a:r>
            <a:r>
              <a:rPr lang="en-US" altLang="zh-CN" sz="2800" dirty="0">
                <a:solidFill>
                  <a:srgbClr val="0000FF"/>
                </a:solidFill>
                <a:latin typeface="Times New Roman" panose="02020603050405020304" pitchFamily="18" charset="0"/>
                <a:ea typeface="黑体" panose="02010609060101010101" pitchFamily="49" charset="-122"/>
              </a:rPr>
              <a:t>(conjugated enzyme)</a:t>
            </a:r>
            <a:r>
              <a:rPr lang="zh-CN" altLang="en-US" sz="2800" dirty="0">
                <a:solidFill>
                  <a:srgbClr val="0000FF"/>
                </a:solidFill>
                <a:latin typeface="Times New Roman" panose="02020603050405020304" pitchFamily="18" charset="0"/>
                <a:ea typeface="黑体" panose="02010609060101010101" pitchFamily="49" charset="-122"/>
              </a:rPr>
              <a:t> ：</a:t>
            </a:r>
            <a:endParaRPr lang="zh-CN" altLang="en-US" dirty="0">
              <a:latin typeface="Times New Roman" panose="02020603050405020304" pitchFamily="18" charset="0"/>
              <a:ea typeface="黑体" panose="02010609060101010101" pitchFamily="49" charset="-122"/>
            </a:endParaRPr>
          </a:p>
        </p:txBody>
      </p:sp>
      <p:sp>
        <p:nvSpPr>
          <p:cNvPr id="48131" name="Rectangle 3">
            <a:extLst>
              <a:ext uri="{FF2B5EF4-FFF2-40B4-BE49-F238E27FC236}">
                <a16:creationId xmlns:a16="http://schemas.microsoft.com/office/drawing/2014/main" id="{5393E261-51D1-45A2-8429-2356790B4B9A}"/>
              </a:ext>
            </a:extLst>
          </p:cNvPr>
          <p:cNvSpPr>
            <a:spLocks noChangeArrowheads="1"/>
          </p:cNvSpPr>
          <p:nvPr/>
        </p:nvSpPr>
        <p:spPr bwMode="auto">
          <a:xfrm>
            <a:off x="2208213" y="1773239"/>
            <a:ext cx="7848600" cy="5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buClr>
                <a:schemeClr val="tx2"/>
              </a:buClr>
              <a:buSzPct val="75000"/>
              <a:buFont typeface="Wingdings" panose="05000000000000000000" pitchFamily="2" charset="2"/>
              <a:buChar char="n"/>
            </a:pPr>
            <a:r>
              <a:rPr kumimoji="1" lang="en-US" altLang="zh-CN" sz="2800" b="1" dirty="0">
                <a:solidFill>
                  <a:srgbClr val="FFFF00"/>
                </a:solidFill>
                <a:latin typeface="Times New Roman" panose="02020603050405020304" pitchFamily="18" charset="0"/>
                <a:ea typeface="黑体" panose="02010609060101010101" pitchFamily="49" charset="-122"/>
              </a:rPr>
              <a:t> </a:t>
            </a:r>
            <a:r>
              <a:rPr kumimoji="1" lang="zh-CN" altLang="en-US" sz="2800" b="1" dirty="0">
                <a:solidFill>
                  <a:srgbClr val="0000FF"/>
                </a:solidFill>
                <a:latin typeface="Times New Roman" panose="02020603050405020304" pitchFamily="18" charset="0"/>
                <a:ea typeface="黑体" panose="02010609060101010101" pitchFamily="49" charset="-122"/>
              </a:rPr>
              <a:t>单纯酶</a:t>
            </a:r>
            <a:r>
              <a:rPr kumimoji="1" lang="zh-CN" altLang="en-US" sz="2400" b="1" dirty="0">
                <a:solidFill>
                  <a:srgbClr val="0000FF"/>
                </a:solidFill>
                <a:latin typeface="Times New Roman" panose="02020603050405020304" pitchFamily="18" charset="0"/>
                <a:ea typeface="黑体" panose="02010609060101010101" pitchFamily="49" charset="-122"/>
              </a:rPr>
              <a:t>（</a:t>
            </a:r>
            <a:r>
              <a:rPr kumimoji="1" lang="en-US" altLang="zh-CN" sz="2400" b="1" dirty="0">
                <a:solidFill>
                  <a:srgbClr val="0000FF"/>
                </a:solidFill>
                <a:latin typeface="Times New Roman" panose="02020603050405020304" pitchFamily="18" charset="0"/>
                <a:ea typeface="黑体" panose="02010609060101010101" pitchFamily="49" charset="-122"/>
              </a:rPr>
              <a:t>simple enzyme)</a:t>
            </a:r>
            <a:r>
              <a:rPr kumimoji="1" lang="zh-CN" altLang="en-US" sz="2400" b="1" dirty="0">
                <a:solidFill>
                  <a:srgbClr val="0000FF"/>
                </a:solidFill>
                <a:latin typeface="Times New Roman" panose="02020603050405020304" pitchFamily="18" charset="0"/>
                <a:ea typeface="黑体" panose="02010609060101010101" pitchFamily="49" charset="-122"/>
              </a:rPr>
              <a:t> </a:t>
            </a:r>
            <a:r>
              <a:rPr kumimoji="1" lang="zh-CN" altLang="en-US" sz="2800" b="1" dirty="0">
                <a:solidFill>
                  <a:srgbClr val="0000FF"/>
                </a:solidFill>
                <a:latin typeface="Times New Roman" panose="02020603050405020304" pitchFamily="18" charset="0"/>
                <a:ea typeface="黑体" panose="02010609060101010101" pitchFamily="49" charset="-122"/>
              </a:rPr>
              <a:t>：</a:t>
            </a:r>
            <a:r>
              <a:rPr lang="zh-CN" altLang="en-US" sz="2800" b="1" dirty="0">
                <a:latin typeface="Times New Roman" panose="02020603050405020304" pitchFamily="18" charset="0"/>
                <a:ea typeface="黑体" panose="02010609060101010101" pitchFamily="49" charset="-122"/>
              </a:rPr>
              <a:t>仅由氨基酸构成的酶。</a:t>
            </a:r>
          </a:p>
        </p:txBody>
      </p:sp>
      <p:sp>
        <p:nvSpPr>
          <p:cNvPr id="48132" name="AutoShape 4">
            <a:extLst>
              <a:ext uri="{FF2B5EF4-FFF2-40B4-BE49-F238E27FC236}">
                <a16:creationId xmlns:a16="http://schemas.microsoft.com/office/drawing/2014/main" id="{DC3A2E38-801D-47BC-B98F-B3C3672EE60E}"/>
              </a:ext>
            </a:extLst>
          </p:cNvPr>
          <p:cNvSpPr>
            <a:spLocks noChangeArrowheads="1"/>
          </p:cNvSpPr>
          <p:nvPr/>
        </p:nvSpPr>
        <p:spPr bwMode="auto">
          <a:xfrm>
            <a:off x="3575051" y="549276"/>
            <a:ext cx="5400675" cy="792163"/>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b="1">
                <a:solidFill>
                  <a:schemeClr val="bg1"/>
                </a:solidFill>
                <a:latin typeface="Times New Roman" panose="02020603050405020304" pitchFamily="18" charset="0"/>
                <a:ea typeface="黑体" panose="02010609060101010101" pitchFamily="49" charset="-122"/>
              </a:rPr>
              <a:t>二、 酶分子中常含辅助因子</a:t>
            </a:r>
          </a:p>
        </p:txBody>
      </p:sp>
      <p:sp>
        <p:nvSpPr>
          <p:cNvPr id="387077" name="Rectangle 5">
            <a:extLst>
              <a:ext uri="{FF2B5EF4-FFF2-40B4-BE49-F238E27FC236}">
                <a16:creationId xmlns:a16="http://schemas.microsoft.com/office/drawing/2014/main" id="{74570B6A-E146-4606-87D0-CBA8B1F4655E}"/>
              </a:ext>
            </a:extLst>
          </p:cNvPr>
          <p:cNvSpPr>
            <a:spLocks noChangeArrowheads="1"/>
          </p:cNvSpPr>
          <p:nvPr/>
        </p:nvSpPr>
        <p:spPr bwMode="auto">
          <a:xfrm>
            <a:off x="2639616" y="3676651"/>
            <a:ext cx="55737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zh-CN" altLang="en-US" sz="2800" b="1" dirty="0">
                <a:latin typeface="Times New Roman" panose="02020603050405020304" pitchFamily="18" charset="0"/>
                <a:ea typeface="黑体" panose="02010609060101010101" pitchFamily="49" charset="-122"/>
              </a:rPr>
              <a:t>蛋白质部分：</a:t>
            </a:r>
            <a:r>
              <a:rPr lang="zh-CN" altLang="en-US" sz="2800" b="1" dirty="0">
                <a:solidFill>
                  <a:schemeClr val="tx2"/>
                </a:solidFill>
                <a:latin typeface="Times New Roman" panose="02020603050405020304" pitchFamily="18" charset="0"/>
                <a:ea typeface="黑体" panose="02010609060101010101" pitchFamily="49" charset="-122"/>
              </a:rPr>
              <a:t>酶蛋白</a:t>
            </a:r>
            <a:r>
              <a:rPr lang="zh-CN" altLang="en-US" sz="2800" b="1" dirty="0">
                <a:latin typeface="Times New Roman" panose="02020603050405020304" pitchFamily="18" charset="0"/>
                <a:ea typeface="黑体" panose="02010609060101010101" pitchFamily="49" charset="-122"/>
              </a:rPr>
              <a:t>（</a:t>
            </a:r>
            <a:r>
              <a:rPr lang="en-US" altLang="zh-CN" sz="2800" b="1" dirty="0">
                <a:latin typeface="Times New Roman" panose="02020603050405020304" pitchFamily="18" charset="0"/>
                <a:ea typeface="黑体" panose="02010609060101010101" pitchFamily="49" charset="-122"/>
              </a:rPr>
              <a:t>apoenzyme)</a:t>
            </a:r>
          </a:p>
        </p:txBody>
      </p:sp>
      <p:sp>
        <p:nvSpPr>
          <p:cNvPr id="387078" name="Rectangle 6">
            <a:extLst>
              <a:ext uri="{FF2B5EF4-FFF2-40B4-BE49-F238E27FC236}">
                <a16:creationId xmlns:a16="http://schemas.microsoft.com/office/drawing/2014/main" id="{5A39D447-44C7-4E79-97F1-A5737146E100}"/>
              </a:ext>
            </a:extLst>
          </p:cNvPr>
          <p:cNvSpPr>
            <a:spLocks noChangeArrowheads="1"/>
          </p:cNvSpPr>
          <p:nvPr/>
        </p:nvSpPr>
        <p:spPr bwMode="auto">
          <a:xfrm>
            <a:off x="2639616" y="4541838"/>
            <a:ext cx="5594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ea typeface="黑体" panose="02010609060101010101" pitchFamily="49" charset="-122"/>
              </a:rPr>
              <a:t>非蛋白质部分：</a:t>
            </a:r>
            <a:r>
              <a:rPr lang="zh-CN" altLang="en-US" sz="2800" b="1">
                <a:solidFill>
                  <a:schemeClr val="tx2"/>
                </a:solidFill>
                <a:latin typeface="Times New Roman" panose="02020603050405020304" pitchFamily="18" charset="0"/>
                <a:ea typeface="黑体" panose="02010609060101010101" pitchFamily="49" charset="-122"/>
              </a:rPr>
              <a:t>辅助因子</a:t>
            </a:r>
            <a:r>
              <a:rPr lang="en-US" altLang="zh-CN" sz="2800" b="1">
                <a:latin typeface="Times New Roman" panose="02020603050405020304" pitchFamily="18" charset="0"/>
                <a:ea typeface="黑体" panose="02010609060101010101" pitchFamily="49" charset="-122"/>
              </a:rPr>
              <a:t>(cofactor)</a:t>
            </a:r>
          </a:p>
        </p:txBody>
      </p:sp>
      <p:grpSp>
        <p:nvGrpSpPr>
          <p:cNvPr id="2" name="Group 7">
            <a:extLst>
              <a:ext uri="{FF2B5EF4-FFF2-40B4-BE49-F238E27FC236}">
                <a16:creationId xmlns:a16="http://schemas.microsoft.com/office/drawing/2014/main" id="{AB5D11B3-48B4-4C35-90E2-F6E52D4CFAC7}"/>
              </a:ext>
            </a:extLst>
          </p:cNvPr>
          <p:cNvGrpSpPr>
            <a:grpSpLocks/>
          </p:cNvGrpSpPr>
          <p:nvPr/>
        </p:nvGrpSpPr>
        <p:grpSpPr bwMode="auto">
          <a:xfrm>
            <a:off x="8183167" y="3814763"/>
            <a:ext cx="2270125" cy="1281112"/>
            <a:chOff x="4195" y="3063"/>
            <a:chExt cx="1430" cy="807"/>
          </a:xfrm>
        </p:grpSpPr>
        <p:sp>
          <p:nvSpPr>
            <p:cNvPr id="48136" name="Rectangle 8">
              <a:extLst>
                <a:ext uri="{FF2B5EF4-FFF2-40B4-BE49-F238E27FC236}">
                  <a16:creationId xmlns:a16="http://schemas.microsoft.com/office/drawing/2014/main" id="{75FACBD0-633C-4E1B-A1FA-B404104C1467}"/>
                </a:ext>
              </a:extLst>
            </p:cNvPr>
            <p:cNvSpPr>
              <a:spLocks noChangeArrowheads="1"/>
            </p:cNvSpPr>
            <p:nvPr/>
          </p:nvSpPr>
          <p:spPr bwMode="auto">
            <a:xfrm>
              <a:off x="4377" y="3063"/>
              <a:ext cx="1248" cy="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30000"/>
                </a:lnSpc>
                <a:spcBef>
                  <a:spcPct val="0"/>
                </a:spcBef>
                <a:buFontTx/>
                <a:buNone/>
              </a:pPr>
              <a:r>
                <a:rPr lang="zh-CN" altLang="en-US" b="1">
                  <a:solidFill>
                    <a:srgbClr val="FF3300"/>
                  </a:solidFill>
                  <a:latin typeface="Times New Roman" panose="02020603050405020304" pitchFamily="18" charset="0"/>
                  <a:ea typeface="黑体" panose="02010609060101010101" pitchFamily="49" charset="-122"/>
                </a:rPr>
                <a:t>全 酶</a:t>
              </a:r>
            </a:p>
            <a:p>
              <a:pPr algn="ctr" eaLnBrk="1" hangingPunct="1">
                <a:lnSpc>
                  <a:spcPct val="130000"/>
                </a:lnSpc>
                <a:spcBef>
                  <a:spcPct val="0"/>
                </a:spcBef>
                <a:buFontTx/>
                <a:buNone/>
              </a:pPr>
              <a:r>
                <a:rPr lang="en-US" altLang="zh-CN" sz="2800" b="1">
                  <a:latin typeface="Times New Roman" panose="02020603050405020304" pitchFamily="18" charset="0"/>
                  <a:ea typeface="黑体" panose="02010609060101010101" pitchFamily="49" charset="-122"/>
                </a:rPr>
                <a:t>holoenzyme</a:t>
              </a:r>
            </a:p>
          </p:txBody>
        </p:sp>
        <p:sp>
          <p:nvSpPr>
            <p:cNvPr id="48137" name="AutoShape 9">
              <a:extLst>
                <a:ext uri="{FF2B5EF4-FFF2-40B4-BE49-F238E27FC236}">
                  <a16:creationId xmlns:a16="http://schemas.microsoft.com/office/drawing/2014/main" id="{3CCC8C91-C625-408A-AEDD-37B531B08D28}"/>
                </a:ext>
              </a:extLst>
            </p:cNvPr>
            <p:cNvSpPr>
              <a:spLocks/>
            </p:cNvSpPr>
            <p:nvPr/>
          </p:nvSpPr>
          <p:spPr bwMode="auto">
            <a:xfrm>
              <a:off x="4195" y="3067"/>
              <a:ext cx="181" cy="726"/>
            </a:xfrm>
            <a:prstGeom prst="rightBrace">
              <a:avLst>
                <a:gd name="adj1" fmla="val 33425"/>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grpSp>
      <p:sp>
        <p:nvSpPr>
          <p:cNvPr id="4" name="文本框 3">
            <a:extLst>
              <a:ext uri="{FF2B5EF4-FFF2-40B4-BE49-F238E27FC236}">
                <a16:creationId xmlns:a16="http://schemas.microsoft.com/office/drawing/2014/main" id="{B50AD5C1-D5C7-AB83-F301-DD45722A1C53}"/>
              </a:ext>
            </a:extLst>
          </p:cNvPr>
          <p:cNvSpPr txBox="1"/>
          <p:nvPr/>
        </p:nvSpPr>
        <p:spPr>
          <a:xfrm>
            <a:off x="2184797" y="5463530"/>
            <a:ext cx="8928347" cy="461665"/>
          </a:xfrm>
          <a:prstGeom prst="rect">
            <a:avLst/>
          </a:prstGeom>
          <a:noFill/>
        </p:spPr>
        <p:txBody>
          <a:bodyPr wrap="square">
            <a:spAutoFit/>
          </a:bodyPr>
          <a:lstStyle/>
          <a:p>
            <a:r>
              <a:rPr lang="zh-CN" altLang="en-US" sz="2400" b="0" i="0" dirty="0">
                <a:solidFill>
                  <a:srgbClr val="0000CC"/>
                </a:solidFill>
                <a:effectLst/>
                <a:latin typeface="微软雅黑" panose="020B0503020204020204" pitchFamily="34" charset="-122"/>
                <a:ea typeface="微软雅黑" panose="020B0503020204020204" pitchFamily="34" charset="-122"/>
              </a:rPr>
              <a:t>单独酶蛋白或辅助因子没有催化活性，只有全酶才有催化作用</a:t>
            </a:r>
            <a:endParaRPr lang="zh-CN" altLang="en-US" sz="2400" dirty="0">
              <a:solidFill>
                <a:srgbClr val="0000CC"/>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7077"/>
                                        </p:tgtEl>
                                        <p:attrNameLst>
                                          <p:attrName>style.visibility</p:attrName>
                                        </p:attrNameLst>
                                      </p:cBhvr>
                                      <p:to>
                                        <p:strVal val="visible"/>
                                      </p:to>
                                    </p:set>
                                    <p:animEffect transition="in" filter="dissolve">
                                      <p:cBhvr>
                                        <p:cTn id="7" dur="500"/>
                                        <p:tgtEl>
                                          <p:spTgt spid="3870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7078"/>
                                        </p:tgtEl>
                                        <p:attrNameLst>
                                          <p:attrName>style.visibility</p:attrName>
                                        </p:attrNameLst>
                                      </p:cBhvr>
                                      <p:to>
                                        <p:strVal val="visible"/>
                                      </p:to>
                                    </p:set>
                                    <p:animEffect transition="in" filter="dissolve">
                                      <p:cBhvr>
                                        <p:cTn id="12" dur="500"/>
                                        <p:tgtEl>
                                          <p:spTgt spid="3870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7" grpId="0"/>
      <p:bldP spid="387078"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2195" name="Rectangle 3">
            <a:extLst>
              <a:ext uri="{FF2B5EF4-FFF2-40B4-BE49-F238E27FC236}">
                <a16:creationId xmlns:a16="http://schemas.microsoft.com/office/drawing/2014/main" id="{9915902C-5893-42AD-8B4B-57B3F73AF0E5}"/>
              </a:ext>
            </a:extLst>
          </p:cNvPr>
          <p:cNvSpPr>
            <a:spLocks noGrp="1" noChangeArrowheads="1"/>
          </p:cNvSpPr>
          <p:nvPr>
            <p:ph type="body" sz="half" idx="1"/>
          </p:nvPr>
        </p:nvSpPr>
        <p:spPr>
          <a:xfrm>
            <a:off x="2063552" y="692696"/>
            <a:ext cx="9073008" cy="1584325"/>
          </a:xfrm>
        </p:spPr>
        <p:txBody>
          <a:bodyPr/>
          <a:lstStyle/>
          <a:p>
            <a:pPr eaLnBrk="1" hangingPunct="1">
              <a:lnSpc>
                <a:spcPct val="150000"/>
              </a:lnSpc>
              <a:buClr>
                <a:srgbClr val="FF3300"/>
              </a:buClr>
              <a:buFont typeface="Wingdings" panose="05000000000000000000" pitchFamily="2" charset="2"/>
              <a:buChar char="l"/>
            </a:pPr>
            <a:r>
              <a:rPr lang="zh-CN" altLang="en-US" sz="2800" b="1" dirty="0">
                <a:solidFill>
                  <a:srgbClr val="0000FF"/>
                </a:solidFill>
                <a:latin typeface="Times New Roman" panose="02020603050405020304" pitchFamily="18" charset="0"/>
                <a:ea typeface="黑体" panose="02010609060101010101" pitchFamily="49" charset="-122"/>
              </a:rPr>
              <a:t>酶蛋白</a:t>
            </a:r>
            <a:r>
              <a:rPr lang="zh-CN" altLang="en-US" sz="2800" b="1" dirty="0">
                <a:solidFill>
                  <a:schemeClr val="tx2"/>
                </a:solidFill>
                <a:latin typeface="Times New Roman" panose="02020603050405020304" pitchFamily="18" charset="0"/>
                <a:ea typeface="黑体" panose="02010609060101010101" pitchFamily="49" charset="-122"/>
              </a:rPr>
              <a:t>决定反应的特异性及催化机制</a:t>
            </a:r>
            <a:endParaRPr lang="en-US" altLang="zh-CN" sz="2800" b="1" dirty="0">
              <a:solidFill>
                <a:schemeClr val="tx2"/>
              </a:solidFill>
              <a:latin typeface="Times New Roman" panose="02020603050405020304" pitchFamily="18" charset="0"/>
              <a:ea typeface="黑体" panose="02010609060101010101" pitchFamily="49" charset="-122"/>
            </a:endParaRPr>
          </a:p>
          <a:p>
            <a:pPr marL="400050" lvl="1" indent="0" eaLnBrk="1" hangingPunct="1">
              <a:lnSpc>
                <a:spcPct val="120000"/>
              </a:lnSpc>
              <a:buClr>
                <a:srgbClr val="FF3300"/>
              </a:buClr>
              <a:buNone/>
            </a:pPr>
            <a:r>
              <a:rPr lang="zh-CN" altLang="en-US" sz="2400" dirty="0">
                <a:latin typeface="微软雅黑" panose="020B0503020204020204" pitchFamily="34" charset="-122"/>
                <a:ea typeface="微软雅黑" panose="020B0503020204020204" pitchFamily="34" charset="-122"/>
              </a:rPr>
              <a:t>反应的特异性即</a:t>
            </a:r>
            <a:r>
              <a:rPr lang="zh-CN" altLang="en-US" sz="2400" b="1" dirty="0">
                <a:latin typeface="微软雅黑" panose="020B0503020204020204" pitchFamily="34" charset="-122"/>
                <a:ea typeface="微软雅黑" panose="020B0503020204020204" pitchFamily="34" charset="-122"/>
              </a:rPr>
              <a:t>底物特异性</a:t>
            </a:r>
            <a:r>
              <a:rPr lang="zh-CN" altLang="en-US" sz="2400" dirty="0">
                <a:latin typeface="微软雅黑" panose="020B0503020204020204" pitchFamily="34" charset="-122"/>
                <a:ea typeface="微软雅黑" panose="020B0503020204020204" pitchFamily="34" charset="-122"/>
              </a:rPr>
              <a:t>，酶蛋白决定其催化哪种或哪类底物生成相应产物。  </a:t>
            </a:r>
            <a:endParaRPr lang="zh-CN" altLang="en-US" sz="2400" b="1" dirty="0">
              <a:solidFill>
                <a:schemeClr val="tx2"/>
              </a:solidFill>
              <a:latin typeface="微软雅黑" panose="020B0503020204020204" pitchFamily="34" charset="-122"/>
              <a:ea typeface="微软雅黑" panose="020B0503020204020204" pitchFamily="34" charset="-122"/>
            </a:endParaRPr>
          </a:p>
          <a:p>
            <a:pPr eaLnBrk="1" hangingPunct="1">
              <a:lnSpc>
                <a:spcPct val="150000"/>
              </a:lnSpc>
              <a:buClr>
                <a:srgbClr val="FF3300"/>
              </a:buClr>
              <a:buFont typeface="Wingdings" panose="05000000000000000000" pitchFamily="2" charset="2"/>
              <a:buChar char="l"/>
            </a:pPr>
            <a:r>
              <a:rPr lang="zh-CN" altLang="en-US" sz="2800" b="1" dirty="0">
                <a:solidFill>
                  <a:srgbClr val="0000FF"/>
                </a:solidFill>
                <a:latin typeface="Times New Roman" panose="02020603050405020304" pitchFamily="18" charset="0"/>
                <a:ea typeface="黑体" panose="02010609060101010101" pitchFamily="49" charset="-122"/>
              </a:rPr>
              <a:t>辅助因子</a:t>
            </a:r>
            <a:r>
              <a:rPr lang="zh-CN" altLang="en-US" sz="2800" b="1" dirty="0">
                <a:solidFill>
                  <a:schemeClr val="tx2"/>
                </a:solidFill>
                <a:latin typeface="Times New Roman" panose="02020603050405020304" pitchFamily="18" charset="0"/>
                <a:ea typeface="黑体" panose="02010609060101010101" pitchFamily="49" charset="-122"/>
              </a:rPr>
              <a:t>决定反应的类型</a:t>
            </a:r>
            <a:endParaRPr lang="en-US" altLang="zh-CN" sz="2800" b="1" dirty="0">
              <a:solidFill>
                <a:schemeClr val="tx2"/>
              </a:solidFill>
              <a:latin typeface="Times New Roman" panose="02020603050405020304" pitchFamily="18" charset="0"/>
              <a:ea typeface="黑体" panose="02010609060101010101" pitchFamily="49" charset="-122"/>
            </a:endParaRPr>
          </a:p>
          <a:p>
            <a:pPr marL="400050" lvl="1" indent="0" eaLnBrk="1" hangingPunct="1">
              <a:lnSpc>
                <a:spcPct val="130000"/>
              </a:lnSpc>
              <a:buClr>
                <a:srgbClr val="FF3300"/>
              </a:buClr>
              <a:buNone/>
            </a:pPr>
            <a:r>
              <a:rPr lang="zh-CN" altLang="en-US" sz="2400" dirty="0">
                <a:latin typeface="微软雅黑" panose="020B0503020204020204" pitchFamily="34" charset="-122"/>
                <a:ea typeface="微软雅黑" panose="020B0503020204020204" pitchFamily="34" charset="-122"/>
              </a:rPr>
              <a:t>催化同一类反应的不同酶蛋白结合的可能是同一种</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类辅助因子</a:t>
            </a:r>
          </a:p>
        </p:txBody>
      </p:sp>
      <p:sp>
        <p:nvSpPr>
          <p:cNvPr id="392196" name="Rectangle 4">
            <a:extLst>
              <a:ext uri="{FF2B5EF4-FFF2-40B4-BE49-F238E27FC236}">
                <a16:creationId xmlns:a16="http://schemas.microsoft.com/office/drawing/2014/main" id="{0310BDE6-FFC8-406A-9118-F59BD7684690}"/>
              </a:ext>
            </a:extLst>
          </p:cNvPr>
          <p:cNvSpPr>
            <a:spLocks noChangeArrowheads="1"/>
          </p:cNvSpPr>
          <p:nvPr/>
        </p:nvSpPr>
        <p:spPr bwMode="auto">
          <a:xfrm>
            <a:off x="1847528" y="4005064"/>
            <a:ext cx="8712968" cy="1863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55600" indent="-355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30000"/>
              </a:spcBef>
              <a:buFontTx/>
              <a:buNone/>
            </a:pPr>
            <a:r>
              <a:rPr kumimoji="1" lang="zh-CN" altLang="en-US" sz="2800" b="1" dirty="0">
                <a:solidFill>
                  <a:srgbClr val="0000FF"/>
                </a:solidFill>
                <a:latin typeface="Times New Roman" panose="02020603050405020304" pitchFamily="18" charset="0"/>
                <a:ea typeface="黑体" panose="02010609060101010101" pitchFamily="49" charset="-122"/>
              </a:rPr>
              <a:t>例：</a:t>
            </a:r>
            <a:r>
              <a:rPr kumimoji="1" lang="zh-CN" altLang="en-US" sz="2800" b="1" dirty="0">
                <a:latin typeface="Times New Roman" panose="02020603050405020304" pitchFamily="18" charset="0"/>
                <a:ea typeface="黑体" panose="02010609060101010101" pitchFamily="49" charset="-122"/>
              </a:rPr>
              <a:t>  以</a:t>
            </a:r>
            <a:r>
              <a:rPr kumimoji="1" lang="en-US" altLang="zh-CN" sz="2800" b="1" dirty="0">
                <a:latin typeface="Times New Roman" panose="02020603050405020304" pitchFamily="18" charset="0"/>
                <a:ea typeface="黑体" panose="02010609060101010101" pitchFamily="49" charset="-122"/>
              </a:rPr>
              <a:t>NAD</a:t>
            </a:r>
            <a:r>
              <a:rPr kumimoji="1" lang="zh-CN" altLang="en-US" sz="2800" b="1" dirty="0">
                <a:latin typeface="Times New Roman" panose="02020603050405020304" pitchFamily="18" charset="0"/>
                <a:ea typeface="黑体" panose="02010609060101010101" pitchFamily="49" charset="-122"/>
              </a:rPr>
              <a:t>（辅酶</a:t>
            </a:r>
            <a:r>
              <a:rPr kumimoji="1" lang="en-US" altLang="zh-CN" sz="2800" b="1" dirty="0">
                <a:latin typeface="Times New Roman" panose="02020603050405020304" pitchFamily="18" charset="0"/>
                <a:ea typeface="黑体" panose="02010609060101010101" pitchFamily="49" charset="-122"/>
              </a:rPr>
              <a:t>I</a:t>
            </a:r>
            <a:r>
              <a:rPr kumimoji="1" lang="zh-CN" altLang="en-US" sz="2800" b="1" dirty="0">
                <a:latin typeface="Times New Roman" panose="02020603050405020304" pitchFamily="18" charset="0"/>
                <a:ea typeface="黑体" panose="02010609060101010101" pitchFamily="49" charset="-122"/>
              </a:rPr>
              <a:t>）为辅酶的脱氢酶：</a:t>
            </a:r>
            <a:endParaRPr kumimoji="1" lang="en-US" altLang="zh-CN" sz="2800" b="1" dirty="0">
              <a:latin typeface="Times New Roman" panose="02020603050405020304" pitchFamily="18" charset="0"/>
              <a:ea typeface="黑体" panose="02010609060101010101" pitchFamily="49" charset="-122"/>
            </a:endParaRPr>
          </a:p>
          <a:p>
            <a:pPr eaLnBrk="1" hangingPunct="1">
              <a:lnSpc>
                <a:spcPct val="150000"/>
              </a:lnSpc>
              <a:spcBef>
                <a:spcPct val="30000"/>
              </a:spcBef>
              <a:buFontTx/>
              <a:buNone/>
            </a:pPr>
            <a:r>
              <a:rPr kumimoji="1" lang="zh-CN" altLang="en-US" sz="2800" b="1"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乳酸脱氢酶、异柠檬酸脱氢酶、</a:t>
            </a:r>
            <a:r>
              <a:rPr kumimoji="1" lang="zh-CN" altLang="en-US" sz="28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800" dirty="0">
                <a:latin typeface="Times New Roman" panose="02020603050405020304" pitchFamily="18" charset="0"/>
                <a:ea typeface="黑体" panose="02010609060101010101" pitchFamily="49" charset="-122"/>
                <a:sym typeface="Symbol" panose="05050102010706020507" pitchFamily="18" charset="2"/>
              </a:rPr>
              <a:t>-</a:t>
            </a:r>
            <a:r>
              <a:rPr kumimoji="1" lang="zh-CN" altLang="en-US" sz="2800" dirty="0">
                <a:latin typeface="Times New Roman" panose="02020603050405020304" pitchFamily="18" charset="0"/>
                <a:ea typeface="黑体" panose="02010609060101010101" pitchFamily="49" charset="-122"/>
              </a:rPr>
              <a:t>酮戊二酸脱氢酶、苹果酸脱氢酶</a:t>
            </a:r>
            <a:r>
              <a:rPr kumimoji="1" lang="en-US" altLang="zh-CN" sz="2800" dirty="0">
                <a:latin typeface="Times New Roman" panose="02020603050405020304" pitchFamily="18" charset="0"/>
                <a:ea typeface="黑体" panose="02010609060101010101" pitchFamily="49" charset="-122"/>
              </a:rPr>
              <a:t>……</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21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92195">
                                            <p:txEl>
                                              <p:pRg st="3" end="3"/>
                                            </p:txEl>
                                          </p:spTgt>
                                        </p:tgtEl>
                                        <p:attrNameLst>
                                          <p:attrName>style.visibility</p:attrName>
                                        </p:attrNameLst>
                                      </p:cBhvr>
                                      <p:to>
                                        <p:strVal val="visible"/>
                                      </p:to>
                                    </p:set>
                                    <p:animEffect transition="in" filter="wipe(left)">
                                      <p:cBhvr>
                                        <p:cTn id="11" dur="500"/>
                                        <p:tgtEl>
                                          <p:spTgt spid="392195">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42" fill="hold" grpId="0" nodeType="clickEffect">
                                  <p:stCondLst>
                                    <p:cond delay="0"/>
                                  </p:stCondLst>
                                  <p:childTnLst>
                                    <p:set>
                                      <p:cBhvr>
                                        <p:cTn id="15" dur="1" fill="hold">
                                          <p:stCondLst>
                                            <p:cond delay="0"/>
                                          </p:stCondLst>
                                        </p:cTn>
                                        <p:tgtEl>
                                          <p:spTgt spid="392196"/>
                                        </p:tgtEl>
                                        <p:attrNameLst>
                                          <p:attrName>style.visibility</p:attrName>
                                        </p:attrNameLst>
                                      </p:cBhvr>
                                      <p:to>
                                        <p:strVal val="visible"/>
                                      </p:to>
                                    </p:set>
                                    <p:animEffect transition="in" filter="barn(outHorizontal)">
                                      <p:cBhvr>
                                        <p:cTn id="16" dur="500"/>
                                        <p:tgtEl>
                                          <p:spTgt spid="392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9F0B3484-BDDD-4F4F-9101-7FEDCA0E910E}"/>
              </a:ext>
            </a:extLst>
          </p:cNvPr>
          <p:cNvSpPr txBox="1">
            <a:spLocks noChangeArrowheads="1"/>
          </p:cNvSpPr>
          <p:nvPr/>
        </p:nvSpPr>
        <p:spPr bwMode="auto">
          <a:xfrm>
            <a:off x="2287625" y="764704"/>
            <a:ext cx="7848600" cy="1227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58763">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457200" indent="-457200" eaLnBrk="1" hangingPunct="1">
              <a:lnSpc>
                <a:spcPct val="140000"/>
              </a:lnSpc>
              <a:spcBef>
                <a:spcPct val="0"/>
              </a:spcBef>
            </a:pPr>
            <a:r>
              <a:rPr kumimoji="1" lang="zh-CN" altLang="en-US" sz="2800" b="1" dirty="0">
                <a:latin typeface="Times New Roman" panose="02020603050405020304" pitchFamily="18" charset="0"/>
                <a:ea typeface="黑体" panose="02010609060101010101" pitchFamily="49" charset="-122"/>
              </a:rPr>
              <a:t>按其</a:t>
            </a:r>
            <a:r>
              <a:rPr kumimoji="1" lang="zh-CN" altLang="en-US" sz="2800" b="1" dirty="0">
                <a:solidFill>
                  <a:srgbClr val="0000CC"/>
                </a:solidFill>
                <a:latin typeface="Times New Roman" panose="02020603050405020304" pitchFamily="18" charset="0"/>
                <a:ea typeface="黑体" panose="02010609060101010101" pitchFamily="49" charset="-122"/>
              </a:rPr>
              <a:t>与酶蛋白结合的紧密程度</a:t>
            </a:r>
            <a:r>
              <a:rPr kumimoji="1" lang="zh-CN" altLang="en-US" sz="2800" b="1" dirty="0">
                <a:latin typeface="Times New Roman" panose="02020603050405020304" pitchFamily="18" charset="0"/>
                <a:ea typeface="黑体" panose="02010609060101010101" pitchFamily="49" charset="-122"/>
              </a:rPr>
              <a:t>，酶的辅助因子可分为辅酶和辅基两类：</a:t>
            </a:r>
          </a:p>
        </p:txBody>
      </p:sp>
      <p:sp>
        <p:nvSpPr>
          <p:cNvPr id="401412" name="Text Box 4">
            <a:extLst>
              <a:ext uri="{FF2B5EF4-FFF2-40B4-BE49-F238E27FC236}">
                <a16:creationId xmlns:a16="http://schemas.microsoft.com/office/drawing/2014/main" id="{D2FF1E40-3A26-4A36-8274-046C2B1CF447}"/>
              </a:ext>
            </a:extLst>
          </p:cNvPr>
          <p:cNvSpPr txBox="1">
            <a:spLocks noChangeArrowheads="1"/>
          </p:cNvSpPr>
          <p:nvPr/>
        </p:nvSpPr>
        <p:spPr bwMode="auto">
          <a:xfrm>
            <a:off x="1847528" y="2132856"/>
            <a:ext cx="8712968" cy="1597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1258888">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514350" indent="-216000" eaLnBrk="1" hangingPunct="1">
              <a:lnSpc>
                <a:spcPct val="120000"/>
              </a:lnSpc>
              <a:spcBef>
                <a:spcPct val="0"/>
              </a:spcBef>
              <a:buFont typeface="+mj-lt"/>
              <a:buAutoNum type="arabicPeriod"/>
            </a:pPr>
            <a:r>
              <a:rPr kumimoji="1" lang="en-US" altLang="zh-CN" b="1" dirty="0">
                <a:solidFill>
                  <a:schemeClr val="tx2"/>
                </a:solidFill>
                <a:latin typeface="Times New Roman" panose="02020603050405020304" pitchFamily="18" charset="0"/>
                <a:ea typeface="黑体" panose="02010609060101010101" pitchFamily="49" charset="-122"/>
              </a:rPr>
              <a:t>  </a:t>
            </a:r>
            <a:r>
              <a:rPr kumimoji="1" lang="zh-CN" altLang="en-US" sz="2800" b="1" dirty="0">
                <a:solidFill>
                  <a:schemeClr val="tx2"/>
                </a:solidFill>
                <a:latin typeface="Times New Roman" panose="02020603050405020304" pitchFamily="18" charset="0"/>
                <a:ea typeface="黑体" panose="02010609060101010101" pitchFamily="49" charset="-122"/>
              </a:rPr>
              <a:t>辅酶 </a:t>
            </a:r>
            <a:r>
              <a:rPr kumimoji="1" lang="en-US" altLang="zh-CN" sz="2800" b="1" dirty="0">
                <a:solidFill>
                  <a:schemeClr val="tx2"/>
                </a:solidFill>
                <a:latin typeface="Times New Roman" panose="02020603050405020304" pitchFamily="18" charset="0"/>
                <a:ea typeface="黑体" panose="02010609060101010101" pitchFamily="49" charset="-122"/>
              </a:rPr>
              <a:t>(coenzyme):</a:t>
            </a:r>
          </a:p>
          <a:p>
            <a:pPr marL="792000" lvl="1" eaLnBrk="1" hangingPunct="1">
              <a:lnSpc>
                <a:spcPct val="120000"/>
              </a:lnSpc>
              <a:spcBef>
                <a:spcPct val="0"/>
              </a:spcBef>
              <a:buNone/>
            </a:pPr>
            <a:r>
              <a:rPr kumimoji="1" lang="zh-CN" altLang="en-US" sz="2600" dirty="0">
                <a:latin typeface="Times New Roman" panose="02020603050405020304" pitchFamily="18" charset="0"/>
                <a:ea typeface="黑体" panose="02010609060101010101" pitchFamily="49" charset="-122"/>
              </a:rPr>
              <a:t>与酶蛋白结合</a:t>
            </a:r>
            <a:r>
              <a:rPr kumimoji="1" lang="zh-CN" altLang="en-US" sz="2600" dirty="0">
                <a:solidFill>
                  <a:srgbClr val="0000FF"/>
                </a:solidFill>
                <a:latin typeface="Times New Roman" panose="02020603050405020304" pitchFamily="18" charset="0"/>
                <a:ea typeface="黑体" panose="02010609060101010101" pitchFamily="49" charset="-122"/>
              </a:rPr>
              <a:t>疏松</a:t>
            </a:r>
            <a:r>
              <a:rPr kumimoji="1" lang="en-US" altLang="zh-CN" sz="2600" dirty="0">
                <a:solidFill>
                  <a:srgbClr val="0000FF"/>
                </a:solidFill>
                <a:latin typeface="Times New Roman" panose="02020603050405020304" pitchFamily="18" charset="0"/>
                <a:ea typeface="黑体" panose="02010609060101010101" pitchFamily="49" charset="-122"/>
              </a:rPr>
              <a:t>(</a:t>
            </a:r>
            <a:r>
              <a:rPr kumimoji="1" lang="zh-CN" altLang="en-US" sz="2600" dirty="0">
                <a:solidFill>
                  <a:srgbClr val="0000FF"/>
                </a:solidFill>
                <a:latin typeface="Times New Roman" panose="02020603050405020304" pitchFamily="18" charset="0"/>
                <a:ea typeface="黑体" panose="02010609060101010101" pitchFamily="49" charset="-122"/>
              </a:rPr>
              <a:t>不形成共价键</a:t>
            </a:r>
            <a:r>
              <a:rPr kumimoji="1" lang="en-US" altLang="zh-CN" sz="2600" dirty="0">
                <a:solidFill>
                  <a:srgbClr val="0000FF"/>
                </a:solidFill>
                <a:latin typeface="Times New Roman" panose="02020603050405020304" pitchFamily="18" charset="0"/>
                <a:ea typeface="黑体" panose="02010609060101010101" pitchFamily="49" charset="-122"/>
              </a:rPr>
              <a:t>)</a:t>
            </a:r>
            <a:r>
              <a:rPr kumimoji="1" lang="zh-CN" altLang="en-US" sz="2600" dirty="0">
                <a:solidFill>
                  <a:srgbClr val="0000FF"/>
                </a:solidFill>
                <a:latin typeface="Times New Roman" panose="02020603050405020304" pitchFamily="18" charset="0"/>
                <a:ea typeface="黑体" panose="02010609060101010101" pitchFamily="49" charset="-122"/>
              </a:rPr>
              <a:t>，</a:t>
            </a:r>
            <a:r>
              <a:rPr kumimoji="1" lang="zh-CN" altLang="en-US" sz="2600" dirty="0">
                <a:solidFill>
                  <a:srgbClr val="0000CC"/>
                </a:solidFill>
                <a:latin typeface="Times New Roman" panose="02020603050405020304" pitchFamily="18" charset="0"/>
                <a:ea typeface="黑体" panose="02010609060101010101" pitchFamily="49" charset="-122"/>
              </a:rPr>
              <a:t>可用透析</a:t>
            </a:r>
            <a:r>
              <a:rPr kumimoji="1" lang="zh-CN" altLang="en-US" sz="2600" dirty="0">
                <a:latin typeface="Times New Roman" panose="02020603050405020304" pitchFamily="18" charset="0"/>
                <a:ea typeface="黑体" panose="02010609060101010101" pitchFamily="49" charset="-122"/>
              </a:rPr>
              <a:t>或</a:t>
            </a:r>
            <a:r>
              <a:rPr kumimoji="1" lang="zh-CN" altLang="en-US" sz="2600" dirty="0">
                <a:solidFill>
                  <a:srgbClr val="0000CC"/>
                </a:solidFill>
                <a:latin typeface="Times New Roman" panose="02020603050405020304" pitchFamily="18" charset="0"/>
                <a:ea typeface="黑体" panose="02010609060101010101" pitchFamily="49" charset="-122"/>
              </a:rPr>
              <a:t>超滤</a:t>
            </a:r>
            <a:r>
              <a:rPr kumimoji="1" lang="zh-CN" altLang="en-US" sz="2600" dirty="0">
                <a:latin typeface="Times New Roman" panose="02020603050405020304" pitchFamily="18" charset="0"/>
                <a:ea typeface="黑体" panose="02010609060101010101" pitchFamily="49" charset="-122"/>
              </a:rPr>
              <a:t>的方法除去。 比如 </a:t>
            </a:r>
            <a:r>
              <a:rPr kumimoji="1" lang="en-US" altLang="zh-CN" sz="2600" dirty="0">
                <a:latin typeface="Times New Roman" panose="02020603050405020304" pitchFamily="18" charset="0"/>
                <a:ea typeface="黑体" panose="02010609060101010101" pitchFamily="49" charset="-122"/>
              </a:rPr>
              <a:t>NAD, NADP</a:t>
            </a:r>
            <a:endParaRPr kumimoji="1" lang="zh-CN" altLang="en-US" sz="2600" dirty="0">
              <a:latin typeface="Times New Roman" panose="02020603050405020304" pitchFamily="18" charset="0"/>
              <a:ea typeface="黑体" panose="02010609060101010101" pitchFamily="49" charset="-122"/>
            </a:endParaRPr>
          </a:p>
        </p:txBody>
      </p:sp>
      <p:sp>
        <p:nvSpPr>
          <p:cNvPr id="401413" name="Text Box 5">
            <a:extLst>
              <a:ext uri="{FF2B5EF4-FFF2-40B4-BE49-F238E27FC236}">
                <a16:creationId xmlns:a16="http://schemas.microsoft.com/office/drawing/2014/main" id="{5ED962B2-781D-4769-8637-8D5075E63FF5}"/>
              </a:ext>
            </a:extLst>
          </p:cNvPr>
          <p:cNvSpPr txBox="1">
            <a:spLocks noChangeArrowheads="1"/>
          </p:cNvSpPr>
          <p:nvPr/>
        </p:nvSpPr>
        <p:spPr bwMode="auto">
          <a:xfrm>
            <a:off x="2135560" y="4005064"/>
            <a:ext cx="8712968" cy="1636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900113" indent="-900113">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1347788">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0" indent="-540000" eaLnBrk="1" hangingPunct="1">
              <a:lnSpc>
                <a:spcPct val="130000"/>
              </a:lnSpc>
              <a:spcBef>
                <a:spcPct val="0"/>
              </a:spcBef>
              <a:buFont typeface="+mj-lt"/>
              <a:buAutoNum type="arabicPeriod" startAt="2"/>
            </a:pPr>
            <a:r>
              <a:rPr kumimoji="1" lang="zh-CN" altLang="en-US" sz="2800" b="1" dirty="0">
                <a:solidFill>
                  <a:schemeClr val="tx2"/>
                </a:solidFill>
                <a:latin typeface="Times New Roman" panose="02020603050405020304" pitchFamily="18" charset="0"/>
                <a:ea typeface="黑体" panose="02010609060101010101" pitchFamily="49" charset="-122"/>
              </a:rPr>
              <a:t>辅基 </a:t>
            </a:r>
            <a:r>
              <a:rPr kumimoji="1" lang="en-US" altLang="zh-CN" sz="2800" b="1" dirty="0">
                <a:solidFill>
                  <a:schemeClr val="tx2"/>
                </a:solidFill>
                <a:latin typeface="Times New Roman" panose="02020603050405020304" pitchFamily="18" charset="0"/>
                <a:ea typeface="黑体" panose="02010609060101010101" pitchFamily="49" charset="-122"/>
              </a:rPr>
              <a:t>(prosthetic  group):</a:t>
            </a:r>
          </a:p>
          <a:p>
            <a:pPr marL="540000" lvl="1" eaLnBrk="1" hangingPunct="1">
              <a:lnSpc>
                <a:spcPct val="130000"/>
              </a:lnSpc>
              <a:spcBef>
                <a:spcPct val="0"/>
              </a:spcBef>
              <a:buNone/>
            </a:pPr>
            <a:r>
              <a:rPr kumimoji="1" lang="zh-CN" altLang="en-US" sz="2600" dirty="0">
                <a:latin typeface="Times New Roman" panose="02020603050405020304" pitchFamily="18" charset="0"/>
                <a:ea typeface="黑体" panose="02010609060101010101" pitchFamily="49" charset="-122"/>
              </a:rPr>
              <a:t>与酶蛋白结合</a:t>
            </a:r>
            <a:r>
              <a:rPr kumimoji="1" lang="zh-CN" altLang="en-US" sz="2600" dirty="0">
                <a:solidFill>
                  <a:srgbClr val="0000FF"/>
                </a:solidFill>
                <a:latin typeface="Times New Roman" panose="02020603050405020304" pitchFamily="18" charset="0"/>
                <a:ea typeface="黑体" panose="02010609060101010101" pitchFamily="49" charset="-122"/>
              </a:rPr>
              <a:t>紧密</a:t>
            </a:r>
            <a:r>
              <a:rPr kumimoji="1" lang="en-US" altLang="zh-CN" sz="2600" dirty="0">
                <a:solidFill>
                  <a:srgbClr val="0000FF"/>
                </a:solidFill>
                <a:latin typeface="Times New Roman" panose="02020603050405020304" pitchFamily="18" charset="0"/>
                <a:ea typeface="黑体" panose="02010609060101010101" pitchFamily="49" charset="-122"/>
              </a:rPr>
              <a:t>(</a:t>
            </a:r>
            <a:r>
              <a:rPr kumimoji="1" lang="zh-CN" altLang="en-US" sz="2600" dirty="0">
                <a:solidFill>
                  <a:srgbClr val="0000FF"/>
                </a:solidFill>
                <a:latin typeface="Times New Roman" panose="02020603050405020304" pitchFamily="18" charset="0"/>
                <a:ea typeface="黑体" panose="02010609060101010101" pitchFamily="49" charset="-122"/>
              </a:rPr>
              <a:t>常形成共价键</a:t>
            </a:r>
            <a:r>
              <a:rPr kumimoji="1" lang="en-US" altLang="zh-CN" sz="2600" dirty="0">
                <a:solidFill>
                  <a:srgbClr val="0000FF"/>
                </a:solidFill>
                <a:latin typeface="Times New Roman" panose="02020603050405020304" pitchFamily="18" charset="0"/>
                <a:ea typeface="黑体" panose="02010609060101010101" pitchFamily="49" charset="-122"/>
              </a:rPr>
              <a:t>) </a:t>
            </a:r>
            <a:r>
              <a:rPr kumimoji="1" lang="zh-CN" altLang="en-US" sz="2600" dirty="0">
                <a:solidFill>
                  <a:srgbClr val="0000FF"/>
                </a:solidFill>
                <a:latin typeface="Times New Roman" panose="02020603050405020304" pitchFamily="18" charset="0"/>
                <a:ea typeface="黑体" panose="02010609060101010101" pitchFamily="49" charset="-122"/>
              </a:rPr>
              <a:t>，</a:t>
            </a:r>
            <a:r>
              <a:rPr kumimoji="1" lang="zh-CN" altLang="en-US" sz="2600" dirty="0">
                <a:solidFill>
                  <a:srgbClr val="0000CC"/>
                </a:solidFill>
                <a:latin typeface="Times New Roman" panose="02020603050405020304" pitchFamily="18" charset="0"/>
                <a:ea typeface="黑体" panose="02010609060101010101" pitchFamily="49" charset="-122"/>
              </a:rPr>
              <a:t>不能用透析</a:t>
            </a:r>
            <a:r>
              <a:rPr kumimoji="1" lang="zh-CN" altLang="en-US" sz="2600" dirty="0">
                <a:latin typeface="Times New Roman" panose="02020603050405020304" pitchFamily="18" charset="0"/>
                <a:ea typeface="黑体" panose="02010609060101010101" pitchFamily="49" charset="-122"/>
              </a:rPr>
              <a:t>或</a:t>
            </a:r>
            <a:r>
              <a:rPr kumimoji="1" lang="zh-CN" altLang="en-US" sz="2600" dirty="0">
                <a:solidFill>
                  <a:srgbClr val="0000CC"/>
                </a:solidFill>
                <a:latin typeface="Times New Roman" panose="02020603050405020304" pitchFamily="18" charset="0"/>
                <a:ea typeface="黑体" panose="02010609060101010101" pitchFamily="49" charset="-122"/>
              </a:rPr>
              <a:t>超滤</a:t>
            </a:r>
            <a:r>
              <a:rPr kumimoji="1" lang="zh-CN" altLang="en-US" sz="2600" dirty="0">
                <a:latin typeface="Times New Roman" panose="02020603050405020304" pitchFamily="18" charset="0"/>
                <a:ea typeface="黑体" panose="02010609060101010101" pitchFamily="49" charset="-122"/>
              </a:rPr>
              <a:t>的方法除去。比如</a:t>
            </a:r>
            <a:r>
              <a:rPr kumimoji="1" lang="en-US" altLang="zh-CN" sz="2600" dirty="0">
                <a:latin typeface="Times New Roman" panose="02020603050405020304" pitchFamily="18" charset="0"/>
                <a:ea typeface="黑体" panose="02010609060101010101" pitchFamily="49" charset="-122"/>
              </a:rPr>
              <a:t>FMN</a:t>
            </a:r>
            <a:r>
              <a:rPr kumimoji="1" lang="zh-CN" altLang="en-US" sz="2600" dirty="0">
                <a:latin typeface="Times New Roman" panose="02020603050405020304" pitchFamily="18" charset="0"/>
                <a:ea typeface="黑体" panose="02010609060101010101" pitchFamily="49" charset="-122"/>
              </a:rPr>
              <a:t>，</a:t>
            </a:r>
            <a:r>
              <a:rPr kumimoji="1" lang="en-US" altLang="zh-CN" sz="2600" dirty="0">
                <a:latin typeface="Times New Roman" panose="02020603050405020304" pitchFamily="18" charset="0"/>
                <a:ea typeface="黑体" panose="02010609060101010101" pitchFamily="49" charset="-122"/>
              </a:rPr>
              <a:t>FAD</a:t>
            </a:r>
            <a:endParaRPr kumimoji="1" lang="zh-CN" altLang="en-US" sz="2600" dirty="0">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10930898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1412">
                                            <p:txEl>
                                              <p:pRg st="1" end="1"/>
                                            </p:txEl>
                                          </p:spTgt>
                                        </p:tgtEl>
                                        <p:attrNameLst>
                                          <p:attrName>style.visibility</p:attrName>
                                        </p:attrNameLst>
                                      </p:cBhvr>
                                      <p:to>
                                        <p:strVal val="visible"/>
                                      </p:to>
                                    </p:set>
                                    <p:animEffect transition="in" filter="box(in)">
                                      <p:cBhvr>
                                        <p:cTn id="7" dur="500"/>
                                        <p:tgtEl>
                                          <p:spTgt spid="40141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01413">
                                            <p:txEl>
                                              <p:pRg st="1" end="1"/>
                                            </p:txEl>
                                          </p:spTgt>
                                        </p:tgtEl>
                                        <p:attrNameLst>
                                          <p:attrName>style.visibility</p:attrName>
                                        </p:attrNameLst>
                                      </p:cBhvr>
                                      <p:to>
                                        <p:strVal val="visible"/>
                                      </p:to>
                                    </p:set>
                                    <p:animEffect transition="in" filter="dissolve">
                                      <p:cBhvr>
                                        <p:cTn id="12" dur="500"/>
                                        <p:tgtEl>
                                          <p:spTgt spid="4014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9" name="Rectangle 3">
            <a:extLst>
              <a:ext uri="{FF2B5EF4-FFF2-40B4-BE49-F238E27FC236}">
                <a16:creationId xmlns:a16="http://schemas.microsoft.com/office/drawing/2014/main" id="{43F21157-9E57-469B-B681-F2DE4C6974F9}"/>
              </a:ext>
            </a:extLst>
          </p:cNvPr>
          <p:cNvSpPr>
            <a:spLocks noChangeArrowheads="1"/>
          </p:cNvSpPr>
          <p:nvPr/>
        </p:nvSpPr>
        <p:spPr bwMode="auto">
          <a:xfrm>
            <a:off x="1882664" y="2060848"/>
            <a:ext cx="8280919" cy="4320480"/>
          </a:xfrm>
          <a:prstGeom prst="rect">
            <a:avLst/>
          </a:prstGeom>
          <a:noFill/>
          <a:ln w="9525">
            <a:noFill/>
            <a:miter lim="800000"/>
            <a:headEnd/>
            <a:tailEnd/>
          </a:ln>
          <a:effectLst/>
        </p:spPr>
        <p:txBody>
          <a:bodyPr/>
          <a:lstStyle/>
          <a:p>
            <a:pPr marL="324000" indent="-360000" eaLnBrk="1" hangingPunct="1">
              <a:lnSpc>
                <a:spcPct val="150000"/>
              </a:lnSpc>
              <a:spcBef>
                <a:spcPts val="600"/>
              </a:spcBef>
              <a:buClr>
                <a:schemeClr val="tx2"/>
              </a:buClr>
              <a:buSzPct val="75000"/>
              <a:defRPr/>
            </a:pPr>
            <a:r>
              <a:rPr kumimoji="1" lang="en-US" altLang="zh-CN" sz="2800" b="1" dirty="0">
                <a:effectLst>
                  <a:outerShdw blurRad="38100" dist="38100" dir="2700000" algn="tl">
                    <a:srgbClr val="C0C0C0"/>
                  </a:outerShdw>
                </a:effectLst>
                <a:latin typeface="Times New Roman" pitchFamily="18" charset="0"/>
                <a:ea typeface="黑体" pitchFamily="49" charset="-122"/>
              </a:rPr>
              <a:t>1. </a:t>
            </a:r>
            <a:r>
              <a:rPr kumimoji="1" lang="zh-CN" altLang="en-US" sz="2800" b="1" dirty="0">
                <a:solidFill>
                  <a:srgbClr val="0000FF"/>
                </a:solidFill>
                <a:latin typeface="Times New Roman" pitchFamily="18" charset="0"/>
                <a:ea typeface="黑体" pitchFamily="49" charset="-122"/>
              </a:rPr>
              <a:t>小分子有机化合物</a:t>
            </a:r>
            <a:r>
              <a:rPr kumimoji="1" lang="zh-CN" altLang="en-US" sz="2800" b="1" dirty="0">
                <a:latin typeface="Times New Roman" pitchFamily="18" charset="0"/>
                <a:ea typeface="黑体" pitchFamily="49" charset="-122"/>
              </a:rPr>
              <a:t>：</a:t>
            </a:r>
            <a:r>
              <a:rPr kumimoji="1" lang="zh-CN" altLang="en-US" sz="2800" b="1" dirty="0">
                <a:effectLst>
                  <a:outerShdw blurRad="38100" dist="38100" dir="2700000" algn="tl">
                    <a:srgbClr val="C0C0C0"/>
                  </a:outerShdw>
                </a:effectLst>
                <a:latin typeface="Times New Roman" pitchFamily="18" charset="0"/>
                <a:ea typeface="黑体" pitchFamily="49" charset="-122"/>
              </a:rPr>
              <a:t> </a:t>
            </a:r>
            <a:r>
              <a:rPr kumimoji="1" lang="zh-CN" altLang="en-US" sz="2800" b="1" dirty="0">
                <a:latin typeface="Times New Roman" pitchFamily="18" charset="0"/>
                <a:ea typeface="黑体" pitchFamily="49" charset="-122"/>
              </a:rPr>
              <a:t>主要是</a:t>
            </a:r>
            <a:r>
              <a:rPr kumimoji="1" lang="en-US" altLang="zh-CN" sz="2800" b="1" dirty="0">
                <a:solidFill>
                  <a:srgbClr val="FF3300"/>
                </a:solidFill>
                <a:latin typeface="Times New Roman" pitchFamily="18" charset="0"/>
                <a:ea typeface="黑体" pitchFamily="49" charset="-122"/>
              </a:rPr>
              <a:t>B</a:t>
            </a:r>
            <a:r>
              <a:rPr kumimoji="1" lang="zh-CN" altLang="en-US" sz="2800" b="1" dirty="0">
                <a:solidFill>
                  <a:srgbClr val="FF3300"/>
                </a:solidFill>
                <a:latin typeface="Times New Roman" pitchFamily="18" charset="0"/>
                <a:ea typeface="黑体" pitchFamily="49" charset="-122"/>
              </a:rPr>
              <a:t>族维生素衍生物、血红素、铁硫簇 </a:t>
            </a:r>
            <a:endParaRPr kumimoji="1" lang="en-US" altLang="zh-CN" sz="2800" b="1" dirty="0">
              <a:solidFill>
                <a:srgbClr val="FF3300"/>
              </a:solidFill>
              <a:latin typeface="Times New Roman" pitchFamily="18" charset="0"/>
              <a:ea typeface="黑体" pitchFamily="49" charset="-122"/>
            </a:endParaRPr>
          </a:p>
          <a:p>
            <a:pPr marL="324000" indent="-360000" eaLnBrk="1" hangingPunct="1">
              <a:lnSpc>
                <a:spcPct val="150000"/>
              </a:lnSpc>
              <a:spcBef>
                <a:spcPts val="600"/>
              </a:spcBef>
              <a:buClr>
                <a:schemeClr val="tx2"/>
              </a:buClr>
              <a:buSzPct val="75000"/>
              <a:defRPr/>
            </a:pPr>
            <a:r>
              <a:rPr kumimoji="1" lang="zh-CN" altLang="en-US" sz="2800" b="1" dirty="0">
                <a:latin typeface="Times New Roman" pitchFamily="18" charset="0"/>
                <a:ea typeface="黑体" pitchFamily="49" charset="-122"/>
              </a:rPr>
              <a:t>   </a:t>
            </a:r>
            <a:r>
              <a:rPr kumimoji="1" lang="zh-CN" altLang="en-US" sz="2600" b="1" dirty="0">
                <a:latin typeface="Times New Roman" pitchFamily="18" charset="0"/>
                <a:ea typeface="黑体" pitchFamily="49" charset="-122"/>
              </a:rPr>
              <a:t>它们在酶促反应中主要</a:t>
            </a:r>
            <a:r>
              <a:rPr kumimoji="1" lang="zh-CN" altLang="en-US" sz="2600" b="1" dirty="0">
                <a:solidFill>
                  <a:srgbClr val="0000CC"/>
                </a:solidFill>
                <a:latin typeface="Times New Roman" pitchFamily="18" charset="0"/>
                <a:ea typeface="黑体" pitchFamily="49" charset="-122"/>
              </a:rPr>
              <a:t>参与传递电子、质子（或基团）或起运载体作用。</a:t>
            </a:r>
            <a:endParaRPr kumimoji="1" lang="en-US" altLang="zh-CN" sz="2600" b="1" dirty="0">
              <a:solidFill>
                <a:srgbClr val="0000CC"/>
              </a:solidFill>
              <a:latin typeface="Times New Roman" pitchFamily="18" charset="0"/>
              <a:ea typeface="黑体" pitchFamily="49" charset="-122"/>
            </a:endParaRPr>
          </a:p>
          <a:p>
            <a:pPr marL="324000" indent="-360000" eaLnBrk="1" hangingPunct="1">
              <a:lnSpc>
                <a:spcPct val="150000"/>
              </a:lnSpc>
              <a:spcBef>
                <a:spcPts val="600"/>
              </a:spcBef>
              <a:buClr>
                <a:schemeClr val="tx2"/>
              </a:buClr>
              <a:buSzPct val="75000"/>
              <a:defRPr/>
            </a:pPr>
            <a:r>
              <a:rPr kumimoji="1" lang="en-US" altLang="zh-CN" sz="2800" b="1" dirty="0">
                <a:solidFill>
                  <a:srgbClr val="0000CC"/>
                </a:solidFill>
                <a:latin typeface="Times New Roman" pitchFamily="18" charset="0"/>
                <a:ea typeface="黑体" pitchFamily="49" charset="-122"/>
              </a:rPr>
              <a:t>2. </a:t>
            </a:r>
            <a:r>
              <a:rPr kumimoji="1" lang="zh-CN" altLang="en-US" sz="2800" b="1" dirty="0">
                <a:solidFill>
                  <a:srgbClr val="0000CC"/>
                </a:solidFill>
                <a:latin typeface="Times New Roman" pitchFamily="18" charset="0"/>
                <a:ea typeface="黑体" pitchFamily="49" charset="-122"/>
              </a:rPr>
              <a:t>金属离子</a:t>
            </a:r>
            <a:endParaRPr kumimoji="1" lang="zh-CN" altLang="en-US" sz="2800" b="1" dirty="0">
              <a:latin typeface="Times New Roman" pitchFamily="18" charset="0"/>
              <a:ea typeface="黑体" pitchFamily="49" charset="-122"/>
            </a:endParaRPr>
          </a:p>
        </p:txBody>
      </p:sp>
      <p:sp>
        <p:nvSpPr>
          <p:cNvPr id="61444" name="Text Box 3">
            <a:extLst>
              <a:ext uri="{FF2B5EF4-FFF2-40B4-BE49-F238E27FC236}">
                <a16:creationId xmlns:a16="http://schemas.microsoft.com/office/drawing/2014/main" id="{A1103450-2979-40A0-950D-24BAF432A050}"/>
              </a:ext>
            </a:extLst>
          </p:cNvPr>
          <p:cNvSpPr txBox="1">
            <a:spLocks noChangeArrowheads="1"/>
          </p:cNvSpPr>
          <p:nvPr/>
        </p:nvSpPr>
        <p:spPr bwMode="auto">
          <a:xfrm>
            <a:off x="2207568" y="831176"/>
            <a:ext cx="7631112"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40000"/>
              </a:lnSpc>
              <a:spcBef>
                <a:spcPct val="0"/>
              </a:spcBef>
              <a:buFontTx/>
              <a:buNone/>
            </a:pPr>
            <a:r>
              <a:rPr kumimoji="1" lang="zh-CN" altLang="en-US" b="1" dirty="0">
                <a:solidFill>
                  <a:srgbClr val="FF3300"/>
                </a:solidFill>
                <a:latin typeface="Times New Roman" panose="02020603050405020304" pitchFamily="18" charset="0"/>
                <a:ea typeface="黑体" panose="02010609060101010101" pitchFamily="49" charset="-122"/>
              </a:rPr>
              <a:t>辅助因子分类</a:t>
            </a:r>
            <a:r>
              <a:rPr kumimoji="1" lang="zh-CN" altLang="en-US" sz="2800" b="1" dirty="0">
                <a:latin typeface="Times New Roman" panose="02020603050405020304" pitchFamily="18" charset="0"/>
                <a:ea typeface="黑体" panose="02010609060101010101" pitchFamily="49" charset="-122"/>
              </a:rPr>
              <a:t>（按其化学本质）</a:t>
            </a:r>
          </a:p>
        </p:txBody>
      </p:sp>
    </p:spTree>
    <p:extLst>
      <p:ext uri="{BB962C8B-B14F-4D97-AF65-F5344CB8AC3E}">
        <p14:creationId xmlns:p14="http://schemas.microsoft.com/office/powerpoint/2010/main" val="40666855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83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0798CC9B-1826-BAC5-5A5E-CE78496A3C87}"/>
              </a:ext>
            </a:extLst>
          </p:cNvPr>
          <p:cNvGrpSpPr/>
          <p:nvPr/>
        </p:nvGrpSpPr>
        <p:grpSpPr>
          <a:xfrm>
            <a:off x="839416" y="260648"/>
            <a:ext cx="11161240" cy="5970082"/>
            <a:chOff x="839416" y="260648"/>
            <a:chExt cx="11161240" cy="5970082"/>
          </a:xfrm>
        </p:grpSpPr>
        <p:pic>
          <p:nvPicPr>
            <p:cNvPr id="6" name="图片 5">
              <a:extLst>
                <a:ext uri="{FF2B5EF4-FFF2-40B4-BE49-F238E27FC236}">
                  <a16:creationId xmlns:a16="http://schemas.microsoft.com/office/drawing/2014/main" id="{074BE404-EEC3-9BFE-DBF9-F56C1689451D}"/>
                </a:ext>
              </a:extLst>
            </p:cNvPr>
            <p:cNvPicPr>
              <a:picLocks noChangeAspect="1"/>
            </p:cNvPicPr>
            <p:nvPr/>
          </p:nvPicPr>
          <p:blipFill>
            <a:blip r:embed="rId3"/>
            <a:stretch>
              <a:fillRect/>
            </a:stretch>
          </p:blipFill>
          <p:spPr>
            <a:xfrm>
              <a:off x="839416" y="260648"/>
              <a:ext cx="10513168" cy="5970082"/>
            </a:xfrm>
            <a:prstGeom prst="rect">
              <a:avLst/>
            </a:prstGeom>
          </p:spPr>
        </p:pic>
        <p:sp>
          <p:nvSpPr>
            <p:cNvPr id="2" name="文本框 1">
              <a:extLst>
                <a:ext uri="{FF2B5EF4-FFF2-40B4-BE49-F238E27FC236}">
                  <a16:creationId xmlns:a16="http://schemas.microsoft.com/office/drawing/2014/main" id="{1E6E3CEA-3037-368F-E86E-DD37923ECDE9}"/>
                </a:ext>
              </a:extLst>
            </p:cNvPr>
            <p:cNvSpPr txBox="1"/>
            <p:nvPr/>
          </p:nvSpPr>
          <p:spPr>
            <a:xfrm>
              <a:off x="10056440" y="3789040"/>
              <a:ext cx="792088" cy="369332"/>
            </a:xfrm>
            <a:prstGeom prst="rect">
              <a:avLst/>
            </a:prstGeom>
            <a:noFill/>
          </p:spPr>
          <p:txBody>
            <a:bodyPr wrap="square" rtlCol="0">
              <a:spAutoFit/>
            </a:bodyPr>
            <a:lstStyle/>
            <a:p>
              <a:r>
                <a:rPr lang="en-US" altLang="zh-CN" dirty="0">
                  <a:latin typeface="Arial Narrow" panose="020B0606020202030204" pitchFamily="34" charset="0"/>
                </a:rPr>
                <a:t>B</a:t>
              </a:r>
              <a:r>
                <a:rPr lang="en-US" altLang="zh-CN" baseline="-25000" dirty="0">
                  <a:latin typeface="Arial Narrow" panose="020B0606020202030204" pitchFamily="34" charset="0"/>
                </a:rPr>
                <a:t>5</a:t>
              </a:r>
              <a:endParaRPr lang="zh-CN" altLang="en-US" baseline="-25000" dirty="0">
                <a:latin typeface="Arial Narrow" panose="020B0606020202030204" pitchFamily="34" charset="0"/>
              </a:endParaRPr>
            </a:p>
          </p:txBody>
        </p:sp>
        <p:sp>
          <p:nvSpPr>
            <p:cNvPr id="3" name="文本框 2">
              <a:extLst>
                <a:ext uri="{FF2B5EF4-FFF2-40B4-BE49-F238E27FC236}">
                  <a16:creationId xmlns:a16="http://schemas.microsoft.com/office/drawing/2014/main" id="{6468CBBE-2C9C-D2D2-CCF5-8C82682C963C}"/>
                </a:ext>
              </a:extLst>
            </p:cNvPr>
            <p:cNvSpPr txBox="1"/>
            <p:nvPr/>
          </p:nvSpPr>
          <p:spPr>
            <a:xfrm>
              <a:off x="10056440" y="4221088"/>
              <a:ext cx="792088" cy="369332"/>
            </a:xfrm>
            <a:prstGeom prst="rect">
              <a:avLst/>
            </a:prstGeom>
            <a:noFill/>
          </p:spPr>
          <p:txBody>
            <a:bodyPr wrap="square" rtlCol="0">
              <a:spAutoFit/>
            </a:bodyPr>
            <a:lstStyle/>
            <a:p>
              <a:r>
                <a:rPr lang="en-US" altLang="zh-CN" dirty="0">
                  <a:latin typeface="Arial Narrow" panose="020B0606020202030204" pitchFamily="34" charset="0"/>
                </a:rPr>
                <a:t>B</a:t>
              </a:r>
              <a:r>
                <a:rPr lang="en-US" altLang="zh-CN" baseline="-25000" dirty="0">
                  <a:latin typeface="Arial Narrow" panose="020B0606020202030204" pitchFamily="34" charset="0"/>
                </a:rPr>
                <a:t>7</a:t>
              </a:r>
              <a:endParaRPr lang="zh-CN" altLang="en-US" baseline="-25000" dirty="0">
                <a:latin typeface="Arial Narrow" panose="020B0606020202030204" pitchFamily="34" charset="0"/>
              </a:endParaRPr>
            </a:p>
          </p:txBody>
        </p:sp>
        <p:sp>
          <p:nvSpPr>
            <p:cNvPr id="4" name="文本框 3">
              <a:extLst>
                <a:ext uri="{FF2B5EF4-FFF2-40B4-BE49-F238E27FC236}">
                  <a16:creationId xmlns:a16="http://schemas.microsoft.com/office/drawing/2014/main" id="{79454E2A-E4C8-BB42-09ED-C4C6ACEDDCD4}"/>
                </a:ext>
              </a:extLst>
            </p:cNvPr>
            <p:cNvSpPr txBox="1"/>
            <p:nvPr/>
          </p:nvSpPr>
          <p:spPr>
            <a:xfrm>
              <a:off x="10056440" y="4603152"/>
              <a:ext cx="792088" cy="369332"/>
            </a:xfrm>
            <a:prstGeom prst="rect">
              <a:avLst/>
            </a:prstGeom>
            <a:noFill/>
          </p:spPr>
          <p:txBody>
            <a:bodyPr wrap="square" rtlCol="0">
              <a:spAutoFit/>
            </a:bodyPr>
            <a:lstStyle/>
            <a:p>
              <a:r>
                <a:rPr lang="en-US" altLang="zh-CN" dirty="0">
                  <a:latin typeface="Arial Narrow" panose="020B0606020202030204" pitchFamily="34" charset="0"/>
                </a:rPr>
                <a:t>B</a:t>
              </a:r>
              <a:r>
                <a:rPr lang="en-US" altLang="zh-CN" baseline="-25000" dirty="0">
                  <a:latin typeface="Arial Narrow" panose="020B0606020202030204" pitchFamily="34" charset="0"/>
                </a:rPr>
                <a:t>9</a:t>
              </a:r>
              <a:endParaRPr lang="zh-CN" altLang="en-US" baseline="-25000" dirty="0">
                <a:latin typeface="Arial Narrow" panose="020B0606020202030204" pitchFamily="34" charset="0"/>
              </a:endParaRPr>
            </a:p>
          </p:txBody>
        </p:sp>
        <p:sp>
          <p:nvSpPr>
            <p:cNvPr id="5" name="文本框 4">
              <a:extLst>
                <a:ext uri="{FF2B5EF4-FFF2-40B4-BE49-F238E27FC236}">
                  <a16:creationId xmlns:a16="http://schemas.microsoft.com/office/drawing/2014/main" id="{1C82F288-9AC7-F5A2-C9E8-BE7E18D4DA13}"/>
                </a:ext>
              </a:extLst>
            </p:cNvPr>
            <p:cNvSpPr txBox="1"/>
            <p:nvPr/>
          </p:nvSpPr>
          <p:spPr>
            <a:xfrm>
              <a:off x="11208568" y="1196752"/>
              <a:ext cx="792088" cy="369332"/>
            </a:xfrm>
            <a:prstGeom prst="rect">
              <a:avLst/>
            </a:prstGeom>
            <a:noFill/>
          </p:spPr>
          <p:txBody>
            <a:bodyPr wrap="square" rtlCol="0">
              <a:spAutoFit/>
            </a:bodyPr>
            <a:lstStyle/>
            <a:p>
              <a:r>
                <a:rPr lang="en-US" altLang="zh-CN" dirty="0">
                  <a:latin typeface="Arial Narrow" panose="020B0606020202030204" pitchFamily="34" charset="0"/>
                </a:rPr>
                <a:t>B</a:t>
              </a:r>
              <a:r>
                <a:rPr lang="en-US" altLang="zh-CN" baseline="-25000" dirty="0">
                  <a:latin typeface="Arial Narrow" panose="020B0606020202030204" pitchFamily="34" charset="0"/>
                </a:rPr>
                <a:t>3</a:t>
              </a:r>
              <a:endParaRPr lang="zh-CN" altLang="en-US" baseline="-25000" dirty="0">
                <a:latin typeface="Arial Narrow" panose="020B0606020202030204" pitchFamily="34" charset="0"/>
              </a:endParaRPr>
            </a:p>
          </p:txBody>
        </p:sp>
      </p:grpSp>
    </p:spTree>
    <p:extLst>
      <p:ext uri="{BB962C8B-B14F-4D97-AF65-F5344CB8AC3E}">
        <p14:creationId xmlns:p14="http://schemas.microsoft.com/office/powerpoint/2010/main" val="404244469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a:extLst>
              <a:ext uri="{FF2B5EF4-FFF2-40B4-BE49-F238E27FC236}">
                <a16:creationId xmlns:a16="http://schemas.microsoft.com/office/drawing/2014/main" id="{95CCBCE8-4BDB-4B6E-9118-E35B434F5A2B}"/>
              </a:ext>
            </a:extLst>
          </p:cNvPr>
          <p:cNvSpPr>
            <a:spLocks noChangeArrowheads="1"/>
          </p:cNvSpPr>
          <p:nvPr/>
        </p:nvSpPr>
        <p:spPr bwMode="auto">
          <a:xfrm>
            <a:off x="2063751" y="1268413"/>
            <a:ext cx="8280721" cy="2089150"/>
          </a:xfrm>
          <a:prstGeom prst="rect">
            <a:avLst/>
          </a:prstGeom>
          <a:noFill/>
          <a:ln w="9525">
            <a:noFill/>
            <a:miter lim="800000"/>
            <a:headEnd/>
            <a:tailEnd/>
          </a:ln>
          <a:effectLst/>
        </p:spPr>
        <p:txBody>
          <a:bodyPr/>
          <a:lstStyle/>
          <a:p>
            <a:pPr eaLnBrk="1" hangingPunct="1">
              <a:lnSpc>
                <a:spcPct val="150000"/>
              </a:lnSpc>
              <a:spcBef>
                <a:spcPct val="20000"/>
              </a:spcBef>
              <a:buClr>
                <a:schemeClr val="tx2"/>
              </a:buClr>
              <a:defRPr/>
            </a:pPr>
            <a:r>
              <a:rPr kumimoji="1" lang="en-US" altLang="zh-CN" sz="2600" b="1" dirty="0">
                <a:latin typeface="Times New Roman" pitchFamily="18" charset="0"/>
                <a:ea typeface="黑体" pitchFamily="49" charset="-122"/>
              </a:rPr>
              <a:t>2. </a:t>
            </a:r>
            <a:r>
              <a:rPr kumimoji="1" lang="zh-CN" altLang="en-US" sz="2600" b="1" dirty="0">
                <a:solidFill>
                  <a:srgbClr val="0000FF"/>
                </a:solidFill>
                <a:latin typeface="Times New Roman" pitchFamily="18" charset="0"/>
                <a:ea typeface="黑体" pitchFamily="49" charset="-122"/>
              </a:rPr>
              <a:t>金属离子</a:t>
            </a:r>
            <a:r>
              <a:rPr kumimoji="1" lang="zh-CN" altLang="en-US" sz="2600" b="1" dirty="0">
                <a:effectLst>
                  <a:outerShdw blurRad="38100" dist="38100" dir="2700000" algn="tl">
                    <a:srgbClr val="C0C0C0"/>
                  </a:outerShdw>
                </a:effectLst>
                <a:latin typeface="Times New Roman" pitchFamily="18" charset="0"/>
                <a:ea typeface="黑体" pitchFamily="49" charset="-122"/>
              </a:rPr>
              <a:t>：</a:t>
            </a:r>
            <a:endParaRPr kumimoji="1" lang="en-US" altLang="zh-CN" sz="2600" b="1" dirty="0">
              <a:effectLst>
                <a:outerShdw blurRad="38100" dist="38100" dir="2700000" algn="tl">
                  <a:srgbClr val="C0C0C0"/>
                </a:outerShdw>
              </a:effectLst>
              <a:latin typeface="Times New Roman" pitchFamily="18" charset="0"/>
              <a:ea typeface="黑体" pitchFamily="49" charset="-122"/>
            </a:endParaRPr>
          </a:p>
          <a:p>
            <a:pPr marL="360000" eaLnBrk="1" hangingPunct="1">
              <a:lnSpc>
                <a:spcPct val="150000"/>
              </a:lnSpc>
              <a:spcBef>
                <a:spcPct val="20000"/>
              </a:spcBef>
              <a:buClr>
                <a:schemeClr val="tx2"/>
              </a:buClr>
              <a:defRPr/>
            </a:pPr>
            <a:r>
              <a:rPr kumimoji="1" lang="zh-CN" altLang="en-US" sz="2600" b="1" dirty="0">
                <a:latin typeface="Times New Roman" pitchFamily="18" charset="0"/>
                <a:ea typeface="黑体" pitchFamily="49" charset="-122"/>
              </a:rPr>
              <a:t>最多见</a:t>
            </a:r>
            <a:r>
              <a:rPr kumimoji="1" lang="zh-CN" altLang="en-US" sz="2600" dirty="0">
                <a:latin typeface="Times New Roman" pitchFamily="18" charset="0"/>
                <a:ea typeface="黑体" pitchFamily="49" charset="-122"/>
              </a:rPr>
              <a:t>的辅助因子，常见的金属离子为</a:t>
            </a:r>
            <a:r>
              <a:rPr kumimoji="1" lang="zh-CN" altLang="en-US" sz="2600" dirty="0">
                <a:solidFill>
                  <a:srgbClr val="FFFF00"/>
                </a:solidFill>
                <a:latin typeface="Times New Roman" pitchFamily="18" charset="0"/>
                <a:ea typeface="黑体" pitchFamily="49" charset="-122"/>
              </a:rPr>
              <a:t> </a:t>
            </a:r>
            <a:r>
              <a:rPr kumimoji="1" lang="en-US" altLang="zh-CN" sz="2600" dirty="0">
                <a:latin typeface="Times New Roman" pitchFamily="18" charset="0"/>
                <a:ea typeface="黑体" pitchFamily="49" charset="-122"/>
              </a:rPr>
              <a:t>K</a:t>
            </a:r>
            <a:r>
              <a:rPr kumimoji="1" lang="en-US" altLang="zh-CN" sz="2600" baseline="30000" dirty="0">
                <a:latin typeface="Times New Roman" pitchFamily="18" charset="0"/>
                <a:ea typeface="黑体" pitchFamily="49" charset="-122"/>
              </a:rPr>
              <a:t>+</a:t>
            </a:r>
            <a:r>
              <a:rPr kumimoji="1" lang="zh-CN" altLang="en-US" sz="2600" dirty="0">
                <a:latin typeface="Times New Roman" pitchFamily="18" charset="0"/>
                <a:ea typeface="黑体" pitchFamily="49" charset="-122"/>
              </a:rPr>
              <a:t>、</a:t>
            </a:r>
            <a:r>
              <a:rPr kumimoji="1" lang="en-US" altLang="zh-CN" sz="2600" dirty="0">
                <a:latin typeface="Times New Roman" pitchFamily="18" charset="0"/>
                <a:ea typeface="黑体" pitchFamily="49" charset="-122"/>
              </a:rPr>
              <a:t>Na</a:t>
            </a:r>
            <a:r>
              <a:rPr kumimoji="1" lang="en-US" altLang="zh-CN" sz="2600" baseline="30000" dirty="0">
                <a:latin typeface="Times New Roman" pitchFamily="18" charset="0"/>
                <a:ea typeface="黑体" pitchFamily="49" charset="-122"/>
              </a:rPr>
              <a:t>+</a:t>
            </a:r>
            <a:r>
              <a:rPr kumimoji="1" lang="zh-CN" altLang="en-US" sz="2600" dirty="0">
                <a:latin typeface="Times New Roman" pitchFamily="18" charset="0"/>
                <a:ea typeface="黑体" pitchFamily="49" charset="-122"/>
              </a:rPr>
              <a:t>、</a:t>
            </a:r>
            <a:r>
              <a:rPr kumimoji="1" lang="en-US" altLang="zh-CN" sz="2600" dirty="0">
                <a:latin typeface="Times New Roman" pitchFamily="18" charset="0"/>
                <a:ea typeface="黑体" pitchFamily="49" charset="-122"/>
              </a:rPr>
              <a:t>Mg</a:t>
            </a:r>
            <a:r>
              <a:rPr kumimoji="1" lang="en-US" altLang="zh-CN" sz="2600" baseline="30000" dirty="0">
                <a:latin typeface="Times New Roman" pitchFamily="18" charset="0"/>
                <a:ea typeface="黑体" pitchFamily="49" charset="-122"/>
              </a:rPr>
              <a:t>2+</a:t>
            </a:r>
            <a:r>
              <a:rPr kumimoji="1" lang="zh-CN" altLang="en-US" sz="2600" dirty="0">
                <a:latin typeface="Times New Roman" pitchFamily="18" charset="0"/>
                <a:ea typeface="黑体" pitchFamily="49" charset="-122"/>
              </a:rPr>
              <a:t>、</a:t>
            </a:r>
            <a:r>
              <a:rPr kumimoji="1" lang="en-US" altLang="zh-CN" sz="2600" dirty="0">
                <a:latin typeface="Times New Roman" pitchFamily="18" charset="0"/>
                <a:ea typeface="黑体" pitchFamily="49" charset="-122"/>
              </a:rPr>
              <a:t>Ca</a:t>
            </a:r>
            <a:r>
              <a:rPr kumimoji="1" lang="en-US" altLang="zh-CN" sz="2600" baseline="30000" dirty="0">
                <a:latin typeface="Times New Roman" pitchFamily="18" charset="0"/>
                <a:ea typeface="黑体" pitchFamily="49" charset="-122"/>
              </a:rPr>
              <a:t>2+</a:t>
            </a:r>
            <a:r>
              <a:rPr kumimoji="1" lang="zh-CN" altLang="en-US" sz="2600" dirty="0">
                <a:latin typeface="Times New Roman" pitchFamily="18" charset="0"/>
                <a:ea typeface="黑体" pitchFamily="49" charset="-122"/>
              </a:rPr>
              <a:t>、</a:t>
            </a:r>
            <a:r>
              <a:rPr kumimoji="1" lang="en-US" altLang="zh-CN" sz="2600" dirty="0">
                <a:latin typeface="Times New Roman" pitchFamily="18" charset="0"/>
                <a:ea typeface="黑体" pitchFamily="49" charset="-122"/>
              </a:rPr>
              <a:t>Cu</a:t>
            </a:r>
            <a:r>
              <a:rPr kumimoji="1" lang="en-US" altLang="zh-CN" sz="2600" baseline="30000" dirty="0">
                <a:latin typeface="Times New Roman" pitchFamily="18" charset="0"/>
                <a:ea typeface="黑体" pitchFamily="49" charset="-122"/>
              </a:rPr>
              <a:t>2+</a:t>
            </a:r>
            <a:r>
              <a:rPr kumimoji="1" lang="zh-CN" altLang="en-US" sz="2600" dirty="0">
                <a:latin typeface="Times New Roman" pitchFamily="18" charset="0"/>
                <a:ea typeface="黑体" pitchFamily="49" charset="-122"/>
              </a:rPr>
              <a:t>、 </a:t>
            </a:r>
            <a:r>
              <a:rPr kumimoji="1" lang="en-US" altLang="zh-CN" sz="2600" dirty="0">
                <a:latin typeface="Times New Roman" pitchFamily="18" charset="0"/>
                <a:ea typeface="黑体" pitchFamily="49" charset="-122"/>
              </a:rPr>
              <a:t>Cu</a:t>
            </a:r>
            <a:r>
              <a:rPr kumimoji="1" lang="en-US" altLang="zh-CN" sz="2600" baseline="30000" dirty="0">
                <a:latin typeface="Times New Roman" pitchFamily="18" charset="0"/>
                <a:ea typeface="黑体" pitchFamily="49" charset="-122"/>
              </a:rPr>
              <a:t>+</a:t>
            </a:r>
            <a:r>
              <a:rPr kumimoji="1" lang="zh-CN" altLang="en-US" sz="2600" dirty="0">
                <a:latin typeface="Times New Roman" pitchFamily="18" charset="0"/>
                <a:ea typeface="黑体" pitchFamily="49" charset="-122"/>
              </a:rPr>
              <a:t>、 </a:t>
            </a:r>
            <a:r>
              <a:rPr kumimoji="1" lang="en-US" altLang="zh-CN" sz="2600" dirty="0">
                <a:latin typeface="Times New Roman" pitchFamily="18" charset="0"/>
                <a:ea typeface="黑体" pitchFamily="49" charset="-122"/>
              </a:rPr>
              <a:t>Zn</a:t>
            </a:r>
            <a:r>
              <a:rPr kumimoji="1" lang="en-US" altLang="zh-CN" sz="2600" baseline="30000" dirty="0">
                <a:latin typeface="Times New Roman" pitchFamily="18" charset="0"/>
                <a:ea typeface="黑体" pitchFamily="49" charset="-122"/>
              </a:rPr>
              <a:t>2+</a:t>
            </a:r>
            <a:r>
              <a:rPr kumimoji="1" lang="zh-CN" altLang="en-US" sz="2600" dirty="0">
                <a:latin typeface="Times New Roman" pitchFamily="18" charset="0"/>
                <a:ea typeface="黑体" pitchFamily="49" charset="-122"/>
              </a:rPr>
              <a:t>、</a:t>
            </a:r>
            <a:r>
              <a:rPr kumimoji="1" lang="en-US" altLang="zh-CN" sz="2600" dirty="0">
                <a:latin typeface="Times New Roman" pitchFamily="18" charset="0"/>
                <a:ea typeface="黑体" pitchFamily="49" charset="-122"/>
              </a:rPr>
              <a:t>Fe</a:t>
            </a:r>
            <a:r>
              <a:rPr kumimoji="1" lang="en-US" altLang="zh-CN" sz="2600" baseline="30000" dirty="0">
                <a:latin typeface="Times New Roman" pitchFamily="18" charset="0"/>
                <a:ea typeface="黑体" pitchFamily="49" charset="-122"/>
              </a:rPr>
              <a:t>2+</a:t>
            </a:r>
            <a:r>
              <a:rPr kumimoji="1" lang="zh-CN" altLang="en-US" sz="2600" dirty="0">
                <a:latin typeface="Times New Roman" pitchFamily="18" charset="0"/>
                <a:ea typeface="黑体" pitchFamily="49" charset="-122"/>
              </a:rPr>
              <a:t>、</a:t>
            </a:r>
            <a:r>
              <a:rPr kumimoji="1" lang="en-US" altLang="zh-CN" sz="2600" dirty="0">
                <a:latin typeface="Times New Roman" pitchFamily="18" charset="0"/>
                <a:ea typeface="黑体" pitchFamily="49" charset="-122"/>
              </a:rPr>
              <a:t>Fe</a:t>
            </a:r>
            <a:r>
              <a:rPr kumimoji="1" lang="en-US" altLang="zh-CN" sz="2600" baseline="30000" dirty="0">
                <a:latin typeface="Times New Roman" pitchFamily="18" charset="0"/>
                <a:ea typeface="黑体" pitchFamily="49" charset="-122"/>
              </a:rPr>
              <a:t>3+</a:t>
            </a:r>
            <a:r>
              <a:rPr kumimoji="1" lang="zh-CN" altLang="en-US" sz="2600" dirty="0">
                <a:latin typeface="Times New Roman" pitchFamily="18" charset="0"/>
                <a:ea typeface="黑体" pitchFamily="49" charset="-122"/>
              </a:rPr>
              <a:t>等。</a:t>
            </a:r>
          </a:p>
        </p:txBody>
      </p:sp>
      <p:sp>
        <p:nvSpPr>
          <p:cNvPr id="54275" name="Text Box 3">
            <a:extLst>
              <a:ext uri="{FF2B5EF4-FFF2-40B4-BE49-F238E27FC236}">
                <a16:creationId xmlns:a16="http://schemas.microsoft.com/office/drawing/2014/main" id="{E559C027-6648-4B31-95F3-89A3A2618B0F}"/>
              </a:ext>
            </a:extLst>
          </p:cNvPr>
          <p:cNvSpPr txBox="1">
            <a:spLocks noChangeArrowheads="1"/>
          </p:cNvSpPr>
          <p:nvPr/>
        </p:nvSpPr>
        <p:spPr bwMode="auto">
          <a:xfrm>
            <a:off x="2280444" y="470124"/>
            <a:ext cx="7631112"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40000"/>
              </a:lnSpc>
              <a:spcBef>
                <a:spcPct val="0"/>
              </a:spcBef>
              <a:buFontTx/>
              <a:buNone/>
            </a:pPr>
            <a:r>
              <a:rPr kumimoji="1" lang="zh-CN" altLang="en-US" b="1" dirty="0">
                <a:solidFill>
                  <a:srgbClr val="FF3300"/>
                </a:solidFill>
                <a:latin typeface="Times New Roman" panose="02020603050405020304" pitchFamily="18" charset="0"/>
                <a:ea typeface="黑体" panose="02010609060101010101" pitchFamily="49" charset="-122"/>
              </a:rPr>
              <a:t>辅助因子分类</a:t>
            </a:r>
            <a:r>
              <a:rPr kumimoji="1" lang="zh-CN" altLang="en-US" sz="2800" b="1" dirty="0">
                <a:latin typeface="Times New Roman" panose="02020603050405020304" pitchFamily="18" charset="0"/>
                <a:ea typeface="黑体" panose="02010609060101010101" pitchFamily="49" charset="-122"/>
              </a:rPr>
              <a:t>（按其化学本质）</a:t>
            </a:r>
          </a:p>
        </p:txBody>
      </p:sp>
      <p:sp>
        <p:nvSpPr>
          <p:cNvPr id="394244" name="Text Box 4">
            <a:extLst>
              <a:ext uri="{FF2B5EF4-FFF2-40B4-BE49-F238E27FC236}">
                <a16:creationId xmlns:a16="http://schemas.microsoft.com/office/drawing/2014/main" id="{3608699B-E056-4B2E-9DD7-DF09A1EECE4E}"/>
              </a:ext>
            </a:extLst>
          </p:cNvPr>
          <p:cNvSpPr txBox="1">
            <a:spLocks noChangeArrowheads="1"/>
          </p:cNvSpPr>
          <p:nvPr/>
        </p:nvSpPr>
        <p:spPr bwMode="auto">
          <a:xfrm>
            <a:off x="2085169" y="3573016"/>
            <a:ext cx="7704137" cy="256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55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10731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Clr>
                <a:schemeClr val="tx2"/>
              </a:buClr>
              <a:buFont typeface="Wingdings" panose="05000000000000000000" pitchFamily="2" charset="2"/>
              <a:buChar char="n"/>
            </a:pPr>
            <a:r>
              <a:rPr kumimoji="1" lang="en-US" altLang="zh-CN" sz="2400" b="1" dirty="0">
                <a:solidFill>
                  <a:srgbClr val="FFFF00"/>
                </a:solidFill>
                <a:latin typeface="黑体" panose="02010609060101010101" pitchFamily="49" charset="-122"/>
                <a:ea typeface="黑体" panose="02010609060101010101" pitchFamily="49" charset="-122"/>
              </a:rPr>
              <a:t> </a:t>
            </a:r>
            <a:r>
              <a:rPr kumimoji="1" lang="zh-CN" altLang="en-US" sz="2800" b="1" dirty="0">
                <a:solidFill>
                  <a:srgbClr val="0000FF"/>
                </a:solidFill>
                <a:latin typeface="黑体" panose="02010609060101010101" pitchFamily="49" charset="-122"/>
                <a:ea typeface="黑体" panose="02010609060101010101" pitchFamily="49" charset="-122"/>
              </a:rPr>
              <a:t>金属离子对酶的作用： </a:t>
            </a:r>
          </a:p>
          <a:p>
            <a:pPr marL="654300" lvl="1" indent="-457200" eaLnBrk="1" hangingPunct="1">
              <a:lnSpc>
                <a:spcPct val="120000"/>
              </a:lnSpc>
              <a:spcBef>
                <a:spcPct val="30000"/>
              </a:spcBef>
              <a:buClr>
                <a:schemeClr val="tx2"/>
              </a:buClr>
              <a:buSzPct val="75000"/>
              <a:buFont typeface="+mj-lt"/>
              <a:buAutoNum type="arabicPeriod"/>
            </a:pPr>
            <a:r>
              <a:rPr kumimoji="1" lang="zh-CN" altLang="en-US" sz="2400" dirty="0">
                <a:latin typeface="黑体" panose="02010609060101010101" pitchFamily="49" charset="-122"/>
                <a:ea typeface="黑体" panose="02010609060101010101" pitchFamily="49" charset="-122"/>
              </a:rPr>
              <a:t>与酶的结合可以稳定酶的构象； </a:t>
            </a:r>
          </a:p>
          <a:p>
            <a:pPr marL="654300" lvl="1" indent="-457200" eaLnBrk="1" hangingPunct="1">
              <a:lnSpc>
                <a:spcPct val="120000"/>
              </a:lnSpc>
              <a:buClr>
                <a:schemeClr val="tx2"/>
              </a:buClr>
              <a:buSzPct val="75000"/>
              <a:buFont typeface="+mj-lt"/>
              <a:buAutoNum type="arabicPeriod"/>
            </a:pPr>
            <a:r>
              <a:rPr kumimoji="1" lang="zh-CN" altLang="en-US" sz="2400" dirty="0">
                <a:latin typeface="黑体" panose="02010609060101010101" pitchFamily="49" charset="-122"/>
                <a:ea typeface="黑体" panose="02010609060101010101" pitchFamily="49" charset="-122"/>
              </a:rPr>
              <a:t>参与催化反应，传递电子；</a:t>
            </a:r>
          </a:p>
          <a:p>
            <a:pPr marL="654300" lvl="1" indent="-457200" eaLnBrk="1" hangingPunct="1">
              <a:lnSpc>
                <a:spcPct val="120000"/>
              </a:lnSpc>
              <a:buClr>
                <a:schemeClr val="tx2"/>
              </a:buClr>
              <a:buSzPct val="75000"/>
              <a:buFont typeface="+mj-lt"/>
              <a:buAutoNum type="arabicPeriod"/>
            </a:pPr>
            <a:r>
              <a:rPr kumimoji="1" lang="zh-CN" altLang="en-US" sz="2400" dirty="0">
                <a:latin typeface="黑体" panose="02010609060101010101" pitchFamily="49" charset="-122"/>
                <a:ea typeface="黑体" panose="02010609060101010101" pitchFamily="49" charset="-122"/>
              </a:rPr>
              <a:t>在酶与底物间起桥梁作用；</a:t>
            </a:r>
          </a:p>
          <a:p>
            <a:pPr marL="654300" lvl="1" indent="-457200" eaLnBrk="1" hangingPunct="1">
              <a:lnSpc>
                <a:spcPct val="120000"/>
              </a:lnSpc>
              <a:buClr>
                <a:schemeClr val="tx2"/>
              </a:buClr>
              <a:buSzPct val="75000"/>
              <a:buFont typeface="+mj-lt"/>
              <a:buAutoNum type="arabicPeriod"/>
            </a:pPr>
            <a:r>
              <a:rPr kumimoji="1" lang="zh-CN" altLang="en-US" sz="2400" dirty="0">
                <a:latin typeface="黑体" panose="02010609060101010101" pitchFamily="49" charset="-122"/>
                <a:ea typeface="黑体" panose="02010609060101010101" pitchFamily="49" charset="-122"/>
              </a:rPr>
              <a:t>中和阴离子，降低静电斥力，有利底物与酶的结合</a:t>
            </a:r>
            <a:r>
              <a:rPr kumimoji="1" lang="zh-CN" altLang="en-US" sz="2400" b="1" dirty="0">
                <a:latin typeface="黑体" panose="02010609060101010101" pitchFamily="49" charset="-122"/>
                <a:ea typeface="黑体" panose="020106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94244"/>
                                        </p:tgtEl>
                                        <p:attrNameLst>
                                          <p:attrName>style.visibility</p:attrName>
                                        </p:attrNameLst>
                                      </p:cBhvr>
                                      <p:to>
                                        <p:strVal val="visible"/>
                                      </p:to>
                                    </p:set>
                                    <p:animEffect transition="in" filter="strips(downLeft)">
                                      <p:cBhvr>
                                        <p:cTn id="7" dur="2000"/>
                                        <p:tgtEl>
                                          <p:spTgt spid="394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594E51D2-55EB-4EAD-80D9-28310A91FB14}"/>
              </a:ext>
            </a:extLst>
          </p:cNvPr>
          <p:cNvSpPr>
            <a:spLocks noGrp="1" noChangeArrowheads="1"/>
          </p:cNvSpPr>
          <p:nvPr>
            <p:ph type="body" idx="1"/>
          </p:nvPr>
        </p:nvSpPr>
        <p:spPr>
          <a:xfrm>
            <a:off x="1631504" y="1484784"/>
            <a:ext cx="8928992" cy="4157662"/>
          </a:xfrm>
        </p:spPr>
        <p:txBody>
          <a:bodyPr/>
          <a:lstStyle/>
          <a:p>
            <a:pPr eaLnBrk="1" hangingPunct="1">
              <a:lnSpc>
                <a:spcPct val="130000"/>
              </a:lnSpc>
              <a:spcBef>
                <a:spcPct val="0"/>
              </a:spcBef>
              <a:buClr>
                <a:schemeClr val="tx1"/>
              </a:buClr>
              <a:buFont typeface="Wingdings" pitchFamily="2" charset="2"/>
              <a:buChar char="Ø"/>
              <a:defRPr/>
            </a:pPr>
            <a:r>
              <a:rPr lang="zh-CN" altLang="en-US" dirty="0">
                <a:solidFill>
                  <a:srgbClr val="FF3300"/>
                </a:solidFill>
                <a:latin typeface="Times New Roman" pitchFamily="18" charset="0"/>
                <a:ea typeface="黑体" pitchFamily="49" charset="-122"/>
              </a:rPr>
              <a:t>金属酶</a:t>
            </a:r>
          </a:p>
          <a:p>
            <a:pPr lvl="1" eaLnBrk="1" hangingPunct="1">
              <a:lnSpc>
                <a:spcPct val="130000"/>
              </a:lnSpc>
              <a:spcBef>
                <a:spcPct val="0"/>
              </a:spcBef>
              <a:buFontTx/>
              <a:buNone/>
              <a:defRPr/>
            </a:pPr>
            <a:r>
              <a:rPr lang="zh-CN" altLang="en-US" dirty="0">
                <a:latin typeface="Times New Roman" pitchFamily="18" charset="0"/>
                <a:ea typeface="黑体" pitchFamily="49" charset="-122"/>
              </a:rPr>
              <a:t>金属离子与酶结合</a:t>
            </a:r>
            <a:r>
              <a:rPr lang="zh-CN" altLang="en-US" dirty="0">
                <a:solidFill>
                  <a:srgbClr val="0000CC"/>
                </a:solidFill>
                <a:latin typeface="Times New Roman" pitchFamily="18" charset="0"/>
                <a:ea typeface="黑体" pitchFamily="49" charset="-122"/>
              </a:rPr>
              <a:t>紧密</a:t>
            </a:r>
            <a:r>
              <a:rPr lang="zh-CN" altLang="en-US" dirty="0">
                <a:latin typeface="Times New Roman" pitchFamily="18" charset="0"/>
                <a:ea typeface="黑体" pitchFamily="49" charset="-122"/>
              </a:rPr>
              <a:t>，提取过程中不易丢失。</a:t>
            </a:r>
          </a:p>
          <a:p>
            <a:pPr lvl="1" eaLnBrk="1" hangingPunct="1">
              <a:lnSpc>
                <a:spcPct val="130000"/>
              </a:lnSpc>
              <a:spcBef>
                <a:spcPct val="0"/>
              </a:spcBef>
              <a:buFontTx/>
              <a:buNone/>
              <a:defRPr/>
            </a:pPr>
            <a:r>
              <a:rPr lang="zh-CN" altLang="en-US" dirty="0">
                <a:effectLst>
                  <a:outerShdw blurRad="38100" dist="38100" dir="2700000" algn="tl">
                    <a:srgbClr val="C0C0C0"/>
                  </a:outerShdw>
                </a:effectLst>
                <a:latin typeface="Times New Roman" pitchFamily="18" charset="0"/>
                <a:ea typeface="黑体" pitchFamily="49" charset="-122"/>
              </a:rPr>
              <a:t> </a:t>
            </a:r>
          </a:p>
          <a:p>
            <a:pPr eaLnBrk="1" hangingPunct="1">
              <a:lnSpc>
                <a:spcPct val="130000"/>
              </a:lnSpc>
              <a:spcBef>
                <a:spcPct val="0"/>
              </a:spcBef>
              <a:buClr>
                <a:schemeClr val="tx1"/>
              </a:buClr>
              <a:buFont typeface="Wingdings" pitchFamily="2" charset="2"/>
              <a:buChar char="Ø"/>
              <a:defRPr/>
            </a:pPr>
            <a:r>
              <a:rPr lang="zh-CN" altLang="en-US" dirty="0">
                <a:solidFill>
                  <a:srgbClr val="FF3300"/>
                </a:solidFill>
                <a:latin typeface="Times New Roman" pitchFamily="18" charset="0"/>
                <a:ea typeface="黑体" pitchFamily="49" charset="-122"/>
              </a:rPr>
              <a:t>金属激活酶</a:t>
            </a:r>
          </a:p>
          <a:p>
            <a:pPr eaLnBrk="1" hangingPunct="1">
              <a:lnSpc>
                <a:spcPct val="130000"/>
              </a:lnSpc>
              <a:spcBef>
                <a:spcPct val="0"/>
              </a:spcBef>
              <a:buClr>
                <a:schemeClr val="tx1"/>
              </a:buClr>
              <a:buFont typeface="Wingdings" pitchFamily="2" charset="2"/>
              <a:buNone/>
              <a:defRPr/>
            </a:pPr>
            <a:r>
              <a:rPr lang="zh-CN" altLang="en-US" dirty="0">
                <a:latin typeface="Times New Roman" pitchFamily="18" charset="0"/>
                <a:ea typeface="黑体" pitchFamily="49" charset="-122"/>
              </a:rPr>
              <a:t>    </a:t>
            </a:r>
            <a:r>
              <a:rPr lang="zh-CN" altLang="en-US" sz="2800" dirty="0">
                <a:latin typeface="Times New Roman" pitchFamily="18" charset="0"/>
                <a:ea typeface="黑体" pitchFamily="49" charset="-122"/>
              </a:rPr>
              <a:t>金属离子为酶的活性所必需，但与酶的结合</a:t>
            </a:r>
            <a:r>
              <a:rPr lang="zh-CN" altLang="en-US" sz="2800" dirty="0">
                <a:solidFill>
                  <a:srgbClr val="0000CC"/>
                </a:solidFill>
                <a:latin typeface="Times New Roman" pitchFamily="18" charset="0"/>
                <a:ea typeface="黑体" pitchFamily="49" charset="-122"/>
              </a:rPr>
              <a:t>不甚紧密</a:t>
            </a:r>
            <a:r>
              <a:rPr lang="zh-CN" altLang="en-US" sz="2800" dirty="0">
                <a:latin typeface="Times New Roman" pitchFamily="18" charset="0"/>
                <a:ea typeface="黑体"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6290">
                                            <p:txEl>
                                              <p:pRg st="1" end="1"/>
                                            </p:txEl>
                                          </p:spTgt>
                                        </p:tgtEl>
                                        <p:attrNameLst>
                                          <p:attrName>style.visibility</p:attrName>
                                        </p:attrNameLst>
                                      </p:cBhvr>
                                      <p:to>
                                        <p:strVal val="visible"/>
                                      </p:to>
                                    </p:set>
                                    <p:animEffect transition="in" filter="dissolve">
                                      <p:cBhvr>
                                        <p:cTn id="7" dur="500"/>
                                        <p:tgtEl>
                                          <p:spTgt spid="39629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96290">
                                            <p:txEl>
                                              <p:pRg st="4" end="4"/>
                                            </p:txEl>
                                          </p:spTgt>
                                        </p:tgtEl>
                                        <p:attrNameLst>
                                          <p:attrName>style.visibility</p:attrName>
                                        </p:attrNameLst>
                                      </p:cBhvr>
                                      <p:to>
                                        <p:strVal val="visible"/>
                                      </p:to>
                                    </p:set>
                                    <p:animEffect transition="in" filter="dissolve">
                                      <p:cBhvr>
                                        <p:cTn id="12" dur="500"/>
                                        <p:tgtEl>
                                          <p:spTgt spid="39629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ADD2A16-80AB-9743-F6F7-193FDB51AE8A}"/>
              </a:ext>
            </a:extLst>
          </p:cNvPr>
          <p:cNvPicPr>
            <a:picLocks noChangeAspect="1"/>
          </p:cNvPicPr>
          <p:nvPr/>
        </p:nvPicPr>
        <p:blipFill>
          <a:blip r:embed="rId3"/>
          <a:stretch>
            <a:fillRect/>
          </a:stretch>
        </p:blipFill>
        <p:spPr>
          <a:xfrm>
            <a:off x="675163" y="836712"/>
            <a:ext cx="10841674" cy="5041873"/>
          </a:xfrm>
          <a:prstGeom prst="rect">
            <a:avLst/>
          </a:prstGeom>
        </p:spPr>
      </p:pic>
    </p:spTree>
    <p:extLst>
      <p:ext uri="{BB962C8B-B14F-4D97-AF65-F5344CB8AC3E}">
        <p14:creationId xmlns:p14="http://schemas.microsoft.com/office/powerpoint/2010/main" val="2778966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417896-8C0B-4B83-9AEB-94CE0AA4BAF2}"/>
              </a:ext>
            </a:extLst>
          </p:cNvPr>
          <p:cNvSpPr>
            <a:spLocks noGrp="1"/>
          </p:cNvSpPr>
          <p:nvPr>
            <p:ph type="title" idx="4294967295"/>
          </p:nvPr>
        </p:nvSpPr>
        <p:spPr>
          <a:xfrm>
            <a:off x="2063552" y="556605"/>
            <a:ext cx="7056438" cy="638175"/>
          </a:xfrm>
        </p:spPr>
        <p:txBody>
          <a:bodyPr/>
          <a:lstStyle/>
          <a:p>
            <a:r>
              <a:rPr lang="zh-CN" altLang="en-US" sz="2800" dirty="0">
                <a:solidFill>
                  <a:srgbClr val="0000CC"/>
                </a:solidFill>
                <a:latin typeface="微软雅黑" panose="020B0503020204020204" pitchFamily="34" charset="-122"/>
                <a:ea typeface="微软雅黑" panose="020B0503020204020204" pitchFamily="34" charset="-122"/>
              </a:rPr>
              <a:t>    铁硫簇</a:t>
            </a:r>
            <a:r>
              <a:rPr lang="en-US" altLang="zh-CN" sz="2800" dirty="0">
                <a:solidFill>
                  <a:srgbClr val="0000CC"/>
                </a:solidFill>
                <a:latin typeface="微软雅黑" panose="020B0503020204020204" pitchFamily="34" charset="-122"/>
                <a:ea typeface="微软雅黑" panose="020B0503020204020204" pitchFamily="34" charset="-122"/>
              </a:rPr>
              <a:t>(iron-sulfur cluster)</a:t>
            </a:r>
            <a:r>
              <a:rPr lang="zh-CN" altLang="en-US" sz="2800" dirty="0">
                <a:solidFill>
                  <a:srgbClr val="0000CC"/>
                </a:solidFill>
                <a:latin typeface="微软雅黑" panose="020B0503020204020204" pitchFamily="34" charset="-122"/>
                <a:ea typeface="微软雅黑" panose="020B0503020204020204" pitchFamily="34" charset="-122"/>
              </a:rPr>
              <a:t>也是</a:t>
            </a:r>
            <a:r>
              <a:rPr lang="en-US" altLang="zh-CN" sz="2800" dirty="0">
                <a:solidFill>
                  <a:srgbClr val="0000CC"/>
                </a:solidFill>
                <a:latin typeface="微软雅黑" panose="020B0503020204020204" pitchFamily="34" charset="-122"/>
                <a:ea typeface="微软雅黑" panose="020B0503020204020204" pitchFamily="34" charset="-122"/>
              </a:rPr>
              <a:t>cofactor</a:t>
            </a:r>
            <a:endParaRPr lang="zh-CN" altLang="en-US" sz="2800" dirty="0">
              <a:solidFill>
                <a:srgbClr val="0000CC"/>
              </a:solidFill>
              <a:latin typeface="微软雅黑" panose="020B0503020204020204" pitchFamily="34" charset="-122"/>
              <a:ea typeface="微软雅黑" panose="020B0503020204020204" pitchFamily="34" charset="-122"/>
            </a:endParaRPr>
          </a:p>
        </p:txBody>
      </p:sp>
      <p:sp>
        <p:nvSpPr>
          <p:cNvPr id="5" name="内容占位符 4">
            <a:extLst>
              <a:ext uri="{FF2B5EF4-FFF2-40B4-BE49-F238E27FC236}">
                <a16:creationId xmlns:a16="http://schemas.microsoft.com/office/drawing/2014/main" id="{5CB9333A-B5B1-454C-9787-661996487DB9}"/>
              </a:ext>
            </a:extLst>
          </p:cNvPr>
          <p:cNvSpPr>
            <a:spLocks noGrp="1"/>
          </p:cNvSpPr>
          <p:nvPr>
            <p:ph idx="4294967295"/>
          </p:nvPr>
        </p:nvSpPr>
        <p:spPr>
          <a:xfrm>
            <a:off x="1631504" y="1547098"/>
            <a:ext cx="9217024" cy="1366837"/>
          </a:xfrm>
        </p:spPr>
        <p:txBody>
          <a:bodyPr/>
          <a:lstStyle/>
          <a:p>
            <a:pPr>
              <a:lnSpc>
                <a:spcPct val="120000"/>
              </a:lnSpc>
            </a:pPr>
            <a:r>
              <a:rPr lang="en-US" altLang="zh-CN" sz="2400" dirty="0">
                <a:latin typeface="Times New Roman" pitchFamily="18" charset="0"/>
                <a:ea typeface="楷体_GB2312" pitchFamily="49" charset="-122"/>
              </a:rPr>
              <a:t> </a:t>
            </a:r>
            <a:r>
              <a:rPr lang="zh-CN" altLang="en-US" sz="2400" dirty="0">
                <a:latin typeface="Times New Roman" pitchFamily="18" charset="0"/>
                <a:ea typeface="楷体_GB2312" pitchFamily="49" charset="-122"/>
              </a:rPr>
              <a:t>铁硫蛋白以</a:t>
            </a:r>
            <a:r>
              <a:rPr lang="zh-CN" altLang="en-US" sz="2400" dirty="0">
                <a:solidFill>
                  <a:srgbClr val="0000CC"/>
                </a:solidFill>
                <a:latin typeface="Times New Roman" pitchFamily="18" charset="0"/>
                <a:ea typeface="楷体_GB2312" pitchFamily="49" charset="-122"/>
              </a:rPr>
              <a:t>铁硫簇（</a:t>
            </a:r>
            <a:r>
              <a:rPr lang="en-US" altLang="zh-CN" sz="2400" dirty="0">
                <a:solidFill>
                  <a:srgbClr val="0000CC"/>
                </a:solidFill>
                <a:latin typeface="Times New Roman" pitchFamily="18" charset="0"/>
                <a:ea typeface="楷体_GB2312" pitchFamily="49" charset="-122"/>
              </a:rPr>
              <a:t>Fe-S</a:t>
            </a:r>
            <a:r>
              <a:rPr lang="zh-CN" altLang="en-US" sz="2400" dirty="0">
                <a:solidFill>
                  <a:srgbClr val="0000CC"/>
                </a:solidFill>
                <a:latin typeface="Times New Roman" pitchFamily="18" charset="0"/>
                <a:ea typeface="楷体_GB2312" pitchFamily="49" charset="-122"/>
              </a:rPr>
              <a:t>）</a:t>
            </a:r>
            <a:r>
              <a:rPr lang="zh-CN" altLang="en-US" sz="2400" dirty="0">
                <a:latin typeface="Times New Roman" pitchFamily="18" charset="0"/>
                <a:ea typeface="楷体_GB2312" pitchFamily="49" charset="-122"/>
              </a:rPr>
              <a:t>为辅基，</a:t>
            </a:r>
            <a:r>
              <a:rPr lang="en-US" altLang="zh-CN" sz="2400" dirty="0">
                <a:latin typeface="Times New Roman" pitchFamily="18" charset="0"/>
                <a:ea typeface="楷体_GB2312" pitchFamily="49" charset="-122"/>
              </a:rPr>
              <a:t>Fe-S</a:t>
            </a:r>
            <a:r>
              <a:rPr lang="zh-CN" altLang="en-US" sz="2400" dirty="0">
                <a:latin typeface="Times New Roman" pitchFamily="18" charset="0"/>
                <a:ea typeface="楷体_GB2312" pitchFamily="49" charset="-122"/>
              </a:rPr>
              <a:t>含有</a:t>
            </a:r>
            <a:r>
              <a:rPr lang="zh-CN" altLang="en-US" sz="2400" dirty="0">
                <a:solidFill>
                  <a:srgbClr val="0033CC"/>
                </a:solidFill>
                <a:latin typeface="Times New Roman" pitchFamily="18" charset="0"/>
                <a:ea typeface="楷体_GB2312" pitchFamily="49" charset="-122"/>
              </a:rPr>
              <a:t>特定比例的铁原子和硫原子。  </a:t>
            </a:r>
            <a:r>
              <a:rPr lang="en-US" altLang="zh-CN" sz="2400" dirty="0">
                <a:solidFill>
                  <a:schemeClr val="tx1">
                    <a:lumMod val="95000"/>
                    <a:lumOff val="5000"/>
                  </a:schemeClr>
                </a:solidFill>
                <a:latin typeface="Times New Roman" pitchFamily="18" charset="0"/>
                <a:ea typeface="楷体_GB2312" pitchFamily="49" charset="-122"/>
              </a:rPr>
              <a:t>NADH</a:t>
            </a:r>
            <a:r>
              <a:rPr lang="zh-CN" altLang="en-US" sz="2400" dirty="0">
                <a:solidFill>
                  <a:schemeClr val="tx1">
                    <a:lumMod val="95000"/>
                    <a:lumOff val="5000"/>
                  </a:schemeClr>
                </a:solidFill>
                <a:latin typeface="Times New Roman" pitchFamily="18" charset="0"/>
                <a:ea typeface="楷体_GB2312" pitchFamily="49" charset="-122"/>
              </a:rPr>
              <a:t>脱氢酶、琥珀酸脱氢酶、顺乌头酸酶等多种酶含铁硫簇。</a:t>
            </a:r>
            <a:endParaRPr lang="zh-CN" altLang="en-US" sz="2400" dirty="0">
              <a:solidFill>
                <a:schemeClr val="tx1">
                  <a:lumMod val="95000"/>
                  <a:lumOff val="5000"/>
                </a:schemeClr>
              </a:solidFill>
            </a:endParaRPr>
          </a:p>
        </p:txBody>
      </p:sp>
      <p:pic>
        <p:nvPicPr>
          <p:cNvPr id="7" name="图片 6">
            <a:extLst>
              <a:ext uri="{FF2B5EF4-FFF2-40B4-BE49-F238E27FC236}">
                <a16:creationId xmlns:a16="http://schemas.microsoft.com/office/drawing/2014/main" id="{BB83BF97-CD6E-4BAC-82C9-AB361BCED375}"/>
              </a:ext>
            </a:extLst>
          </p:cNvPr>
          <p:cNvPicPr>
            <a:picLocks noChangeAspect="1"/>
          </p:cNvPicPr>
          <p:nvPr/>
        </p:nvPicPr>
        <p:blipFill>
          <a:blip r:embed="rId3"/>
          <a:stretch>
            <a:fillRect/>
          </a:stretch>
        </p:blipFill>
        <p:spPr>
          <a:xfrm>
            <a:off x="2750316" y="3266254"/>
            <a:ext cx="6768752" cy="2269378"/>
          </a:xfrm>
          <a:prstGeom prst="rect">
            <a:avLst/>
          </a:prstGeom>
        </p:spPr>
      </p:pic>
      <p:sp>
        <p:nvSpPr>
          <p:cNvPr id="8" name="Text Box 6">
            <a:extLst>
              <a:ext uri="{FF2B5EF4-FFF2-40B4-BE49-F238E27FC236}">
                <a16:creationId xmlns:a16="http://schemas.microsoft.com/office/drawing/2014/main" id="{B2A3E875-067D-45F1-AA24-976572FC2FAD}"/>
              </a:ext>
            </a:extLst>
          </p:cNvPr>
          <p:cNvSpPr txBox="1">
            <a:spLocks noChangeArrowheads="1"/>
          </p:cNvSpPr>
          <p:nvPr/>
        </p:nvSpPr>
        <p:spPr bwMode="auto">
          <a:xfrm>
            <a:off x="2642192" y="5659359"/>
            <a:ext cx="6985000" cy="584775"/>
          </a:xfrm>
          <a:prstGeom prst="rect">
            <a:avLst/>
          </a:prstGeom>
          <a:noFill/>
          <a:ln w="9525">
            <a:noFill/>
            <a:miter lim="800000"/>
            <a:headEnd/>
            <a:tailEnd/>
          </a:ln>
        </p:spPr>
        <p:txBody>
          <a:bodyPr>
            <a:spAutoFit/>
          </a:bodyPr>
          <a:lstStyle/>
          <a:p>
            <a:r>
              <a:rPr lang="en-US" altLang="zh-CN" sz="3200" b="1" dirty="0">
                <a:latin typeface="Times New Roman" pitchFamily="18" charset="0"/>
              </a:rPr>
              <a:t>     </a:t>
            </a:r>
            <a:r>
              <a:rPr lang="en-US" altLang="zh-CN" sz="3200" b="1" dirty="0" err="1">
                <a:latin typeface="Times New Roman" pitchFamily="18" charset="0"/>
              </a:rPr>
              <a:t>FeS</a:t>
            </a:r>
            <a:r>
              <a:rPr lang="en-US" altLang="zh-CN" sz="3200" b="1" dirty="0">
                <a:latin typeface="Times New Roman" pitchFamily="18" charset="0"/>
              </a:rPr>
              <a:t>                  Fe</a:t>
            </a:r>
            <a:r>
              <a:rPr lang="en-US" altLang="zh-CN" sz="3200" b="1" baseline="-25000" dirty="0">
                <a:latin typeface="Times New Roman" pitchFamily="18" charset="0"/>
              </a:rPr>
              <a:t>2</a:t>
            </a:r>
            <a:r>
              <a:rPr lang="en-US" altLang="zh-CN" sz="3200" b="1" dirty="0">
                <a:latin typeface="Times New Roman" pitchFamily="18" charset="0"/>
              </a:rPr>
              <a:t>S</a:t>
            </a:r>
            <a:r>
              <a:rPr lang="en-US" altLang="zh-CN" sz="3200" b="1" baseline="-25000" dirty="0">
                <a:latin typeface="Times New Roman" pitchFamily="18" charset="0"/>
              </a:rPr>
              <a:t>2                      </a:t>
            </a:r>
            <a:r>
              <a:rPr lang="en-US" altLang="zh-CN" sz="3200" b="1" dirty="0">
                <a:latin typeface="Times New Roman" pitchFamily="18" charset="0"/>
              </a:rPr>
              <a:t>Fe</a:t>
            </a:r>
            <a:r>
              <a:rPr lang="en-US" altLang="zh-CN" sz="3200" b="1" baseline="-25000" dirty="0">
                <a:latin typeface="Times New Roman" pitchFamily="18" charset="0"/>
              </a:rPr>
              <a:t>4</a:t>
            </a:r>
            <a:r>
              <a:rPr lang="en-US" altLang="zh-CN" sz="3200" b="1" dirty="0">
                <a:latin typeface="Times New Roman" pitchFamily="18" charset="0"/>
              </a:rPr>
              <a:t>S</a:t>
            </a:r>
            <a:r>
              <a:rPr lang="en-US" altLang="zh-CN" sz="3200" b="1" baseline="-25000" dirty="0">
                <a:latin typeface="Times New Roman" pitchFamily="18" charset="0"/>
              </a:rPr>
              <a:t>4</a:t>
            </a:r>
          </a:p>
        </p:txBody>
      </p:sp>
    </p:spTree>
    <p:extLst>
      <p:ext uri="{BB962C8B-B14F-4D97-AF65-F5344CB8AC3E}">
        <p14:creationId xmlns:p14="http://schemas.microsoft.com/office/powerpoint/2010/main" val="2931278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43A8A-035C-4694-90DC-F0F33DBBB32E}"/>
              </a:ext>
            </a:extLst>
          </p:cNvPr>
          <p:cNvSpPr>
            <a:spLocks noGrp="1"/>
          </p:cNvSpPr>
          <p:nvPr>
            <p:ph type="title"/>
          </p:nvPr>
        </p:nvSpPr>
        <p:spPr>
          <a:xfrm>
            <a:off x="2567608" y="332656"/>
            <a:ext cx="7056784" cy="925512"/>
          </a:xfrm>
        </p:spPr>
        <p:txBody>
          <a:bodyPr/>
          <a:lstStyle/>
          <a:p>
            <a:r>
              <a:rPr lang="zh-CN" altLang="en-US" sz="4000" dirty="0">
                <a:solidFill>
                  <a:srgbClr val="0000CC"/>
                </a:solidFill>
                <a:latin typeface="微软雅黑 Light" panose="020B0502040204020203" pitchFamily="34" charset="-122"/>
                <a:ea typeface="微软雅黑 Light" panose="020B0502040204020203" pitchFamily="34" charset="-122"/>
              </a:rPr>
              <a:t>为什么需要辅助因子？</a:t>
            </a:r>
          </a:p>
        </p:txBody>
      </p:sp>
      <p:sp>
        <p:nvSpPr>
          <p:cNvPr id="3" name="内容占位符 2">
            <a:extLst>
              <a:ext uri="{FF2B5EF4-FFF2-40B4-BE49-F238E27FC236}">
                <a16:creationId xmlns:a16="http://schemas.microsoft.com/office/drawing/2014/main" id="{A0F54BA8-4B13-4DC0-996A-BD4DA4DBC327}"/>
              </a:ext>
            </a:extLst>
          </p:cNvPr>
          <p:cNvSpPr>
            <a:spLocks noGrp="1"/>
          </p:cNvSpPr>
          <p:nvPr>
            <p:ph idx="1"/>
          </p:nvPr>
        </p:nvSpPr>
        <p:spPr>
          <a:xfrm>
            <a:off x="1487488" y="1556792"/>
            <a:ext cx="9433048" cy="4629100"/>
          </a:xfrm>
        </p:spPr>
        <p:txBody>
          <a:bodyPr/>
          <a:lstStyle/>
          <a:p>
            <a:pPr>
              <a:lnSpc>
                <a:spcPct val="120000"/>
              </a:lnSpc>
            </a:pPr>
            <a:r>
              <a:rPr lang="en-US" altLang="zh-CN" sz="2800" dirty="0">
                <a:latin typeface="微软雅黑 Light" panose="020B0502040204020203" pitchFamily="34" charset="-122"/>
                <a:ea typeface="微软雅黑 Light" panose="020B0502040204020203" pitchFamily="34" charset="-122"/>
              </a:rPr>
              <a:t>20</a:t>
            </a:r>
            <a:r>
              <a:rPr lang="zh-CN" altLang="en-US" sz="2800" dirty="0">
                <a:latin typeface="微软雅黑 Light" panose="020B0502040204020203" pitchFamily="34" charset="-122"/>
                <a:ea typeface="微软雅黑 Light" panose="020B0502040204020203" pitchFamily="34" charset="-122"/>
              </a:rPr>
              <a:t>种氨基酸残基的功能基团不足以供酶催化反应所用，</a:t>
            </a:r>
            <a:r>
              <a:rPr lang="zh-CN" altLang="en-US" sz="2800" dirty="0">
                <a:solidFill>
                  <a:srgbClr val="0000CC"/>
                </a:solidFill>
                <a:latin typeface="微软雅黑 Light" panose="020B0502040204020203" pitchFamily="34" charset="-122"/>
                <a:ea typeface="微软雅黑 Light" panose="020B0502040204020203" pitchFamily="34" charset="-122"/>
              </a:rPr>
              <a:t>辅酶或辅基提供强力反应基团。</a:t>
            </a:r>
            <a:endParaRPr lang="en-US" altLang="zh-CN" sz="2800" dirty="0">
              <a:solidFill>
                <a:srgbClr val="0000CC"/>
              </a:solidFill>
              <a:latin typeface="微软雅黑 Light" panose="020B0502040204020203" pitchFamily="34" charset="-122"/>
              <a:ea typeface="微软雅黑 Light" panose="020B0502040204020203" pitchFamily="34" charset="-122"/>
            </a:endParaRPr>
          </a:p>
          <a:p>
            <a:pPr lvl="1">
              <a:lnSpc>
                <a:spcPct val="120000"/>
              </a:lnSpc>
            </a:pPr>
            <a:r>
              <a:rPr lang="zh-CN" altLang="en-US" sz="2400" dirty="0">
                <a:latin typeface="微软雅黑 Light" panose="020B0502040204020203" pitchFamily="34" charset="-122"/>
                <a:ea typeface="微软雅黑 Light" panose="020B0502040204020203" pitchFamily="34" charset="-122"/>
              </a:rPr>
              <a:t>大多数氨基酸缺亲电基团，引入辅酶或辅基可以</a:t>
            </a:r>
            <a:r>
              <a:rPr lang="zh-CN" altLang="en-US" sz="2400" dirty="0">
                <a:solidFill>
                  <a:srgbClr val="0000CC"/>
                </a:solidFill>
                <a:latin typeface="微软雅黑 Light" panose="020B0502040204020203" pitchFamily="34" charset="-122"/>
                <a:ea typeface="微软雅黑 Light" panose="020B0502040204020203" pitchFamily="34" charset="-122"/>
              </a:rPr>
              <a:t>引入亲电基团</a:t>
            </a:r>
            <a:r>
              <a:rPr lang="zh-CN" altLang="en-US" sz="2400" dirty="0">
                <a:latin typeface="微软雅黑 Light" panose="020B0502040204020203" pitchFamily="34" charset="-122"/>
                <a:ea typeface="微软雅黑 Light" panose="020B0502040204020203" pitchFamily="34" charset="-122"/>
              </a:rPr>
              <a:t>，比如</a:t>
            </a:r>
            <a:r>
              <a:rPr lang="en-US" altLang="zh-CN" sz="2400" dirty="0">
                <a:latin typeface="微软雅黑 Light" panose="020B0502040204020203" pitchFamily="34" charset="-122"/>
                <a:ea typeface="微软雅黑 Light" panose="020B0502040204020203" pitchFamily="34" charset="-122"/>
              </a:rPr>
              <a:t>VitB</a:t>
            </a:r>
            <a:r>
              <a:rPr lang="en-US" altLang="zh-CN" sz="2400" baseline="-25000" dirty="0">
                <a:latin typeface="微软雅黑 Light" panose="020B0502040204020203" pitchFamily="34" charset="-122"/>
                <a:ea typeface="微软雅黑 Light" panose="020B0502040204020203" pitchFamily="34" charset="-122"/>
              </a:rPr>
              <a:t>6</a:t>
            </a:r>
            <a:r>
              <a:rPr lang="zh-CN" altLang="en-US" sz="2400" dirty="0">
                <a:latin typeface="微软雅黑 Light" panose="020B0502040204020203" pitchFamily="34" charset="-122"/>
                <a:ea typeface="微软雅黑 Light" panose="020B0502040204020203" pitchFamily="34" charset="-122"/>
              </a:rPr>
              <a:t>在体内的活性形式</a:t>
            </a:r>
            <a:r>
              <a:rPr lang="zh-CN" altLang="en-US" sz="2400" dirty="0">
                <a:latin typeface="微软雅黑" panose="020B0503020204020204" pitchFamily="34" charset="-122"/>
                <a:ea typeface="微软雅黑" panose="020B0503020204020204" pitchFamily="34" charset="-122"/>
              </a:rPr>
              <a:t>磷酸吡哆醛中的醛基</a:t>
            </a:r>
            <a:r>
              <a:rPr lang="zh-CN" altLang="en-US" sz="2400" dirty="0">
                <a:latin typeface="微软雅黑 Light" panose="020B0502040204020203" pitchFamily="34" charset="-122"/>
                <a:ea typeface="微软雅黑 Light" panose="020B0502040204020203" pitchFamily="34" charset="-122"/>
              </a:rPr>
              <a:t>。 </a:t>
            </a:r>
          </a:p>
          <a:p>
            <a:pPr>
              <a:lnSpc>
                <a:spcPct val="120000"/>
              </a:lnSpc>
              <a:spcBef>
                <a:spcPts val="1800"/>
              </a:spcBef>
            </a:pPr>
            <a:r>
              <a:rPr lang="zh-CN" altLang="en-US" sz="2800" dirty="0">
                <a:solidFill>
                  <a:srgbClr val="0000CC"/>
                </a:solidFill>
                <a:latin typeface="微软雅黑 Light" panose="020B0502040204020203" pitchFamily="34" charset="-122"/>
                <a:ea typeface="微软雅黑 Light" panose="020B0502040204020203" pitchFamily="34" charset="-122"/>
              </a:rPr>
              <a:t>基团转移暂存区</a:t>
            </a:r>
            <a:endParaRPr lang="en-US" altLang="zh-CN" sz="2800" dirty="0">
              <a:solidFill>
                <a:srgbClr val="0000CC"/>
              </a:solidFill>
              <a:latin typeface="微软雅黑 Light" panose="020B0502040204020203" pitchFamily="34" charset="-122"/>
              <a:ea typeface="微软雅黑 Light" panose="020B0502040204020203" pitchFamily="34" charset="-122"/>
            </a:endParaRPr>
          </a:p>
          <a:p>
            <a:pPr lvl="1">
              <a:lnSpc>
                <a:spcPct val="120000"/>
              </a:lnSpc>
              <a:spcBef>
                <a:spcPts val="1800"/>
              </a:spcBef>
            </a:pPr>
            <a:r>
              <a:rPr lang="zh-CN" altLang="en-US" sz="2400" dirty="0">
                <a:latin typeface="微软雅黑 Light" panose="020B0502040204020203" pitchFamily="34" charset="-122"/>
                <a:ea typeface="微软雅黑 Light" panose="020B0502040204020203" pitchFamily="34" charset="-122"/>
              </a:rPr>
              <a:t>比如</a:t>
            </a:r>
            <a:r>
              <a:rPr lang="en-US" altLang="zh-CN" sz="2400" dirty="0">
                <a:latin typeface="微软雅黑 Light" panose="020B0502040204020203" pitchFamily="34" charset="-122"/>
                <a:ea typeface="微软雅黑 Light" panose="020B0502040204020203" pitchFamily="34" charset="-122"/>
              </a:rPr>
              <a:t>NAD</a:t>
            </a:r>
            <a:r>
              <a:rPr lang="en-US" altLang="zh-CN" sz="2400" baseline="300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接受底物脱下的氢</a:t>
            </a:r>
            <a:endParaRPr lang="en-US" altLang="zh-CN" sz="2400" dirty="0">
              <a:latin typeface="微软雅黑 Light" panose="020B0502040204020203" pitchFamily="34" charset="-122"/>
              <a:ea typeface="微软雅黑 Light" panose="020B0502040204020203" pitchFamily="34" charset="-122"/>
            </a:endParaRPr>
          </a:p>
          <a:p>
            <a:pPr>
              <a:lnSpc>
                <a:spcPct val="120000"/>
              </a:lnSpc>
              <a:spcBef>
                <a:spcPts val="1800"/>
              </a:spcBef>
            </a:pPr>
            <a:r>
              <a:rPr lang="zh-CN" altLang="en-US" sz="2800" dirty="0">
                <a:solidFill>
                  <a:srgbClr val="0000CC"/>
                </a:solidFill>
                <a:latin typeface="微软雅黑 Light" panose="020B0502040204020203" pitchFamily="34" charset="-122"/>
                <a:ea typeface="微软雅黑 Light" panose="020B0502040204020203" pitchFamily="34" charset="-122"/>
              </a:rPr>
              <a:t>其他（比如金属离子的各种作用）</a:t>
            </a:r>
          </a:p>
        </p:txBody>
      </p:sp>
    </p:spTree>
    <p:extLst>
      <p:ext uri="{BB962C8B-B14F-4D97-AF65-F5344CB8AC3E}">
        <p14:creationId xmlns:p14="http://schemas.microsoft.com/office/powerpoint/2010/main" val="227357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42" presetClass="entr" presetSubtype="0" fill="hold" nodeType="after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000"/>
                                        <p:tgtEl>
                                          <p:spTgt spid="3">
                                            <p:txEl>
                                              <p:pRg st="1" end="1"/>
                                            </p:txEl>
                                          </p:spTgt>
                                        </p:tgtEl>
                                      </p:cBhvr>
                                    </p:animEffect>
                                    <p:anim calcmode="lin" valueType="num">
                                      <p:cBhvr>
                                        <p:cTn id="1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a:extLst>
              <a:ext uri="{FF2B5EF4-FFF2-40B4-BE49-F238E27FC236}">
                <a16:creationId xmlns:a16="http://schemas.microsoft.com/office/drawing/2014/main" id="{BAF4B6B4-DA2B-4601-9183-9B0B6B802DC5}"/>
              </a:ext>
            </a:extLst>
          </p:cNvPr>
          <p:cNvSpPr txBox="1">
            <a:spLocks noChangeArrowheads="1"/>
          </p:cNvSpPr>
          <p:nvPr/>
        </p:nvSpPr>
        <p:spPr bwMode="auto">
          <a:xfrm>
            <a:off x="1775520" y="2276872"/>
            <a:ext cx="9073008" cy="1378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14375">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60000"/>
              </a:lnSpc>
              <a:buClr>
                <a:schemeClr val="bg1"/>
              </a:buClr>
              <a:buSzPct val="75000"/>
            </a:pPr>
            <a:r>
              <a:rPr lang="zh-CN" altLang="en-US" sz="2800" dirty="0">
                <a:latin typeface="Times New Roman" panose="02020603050405020304" pitchFamily="18" charset="0"/>
                <a:ea typeface="黑体" panose="02010609060101010101" pitchFamily="49" charset="-122"/>
              </a:rPr>
              <a:t>酶分子中</a:t>
            </a:r>
            <a:r>
              <a:rPr lang="zh-CN" altLang="en-US" sz="2800" u="sng" dirty="0">
                <a:solidFill>
                  <a:srgbClr val="0000CC"/>
                </a:solidFill>
                <a:latin typeface="Times New Roman" panose="02020603050405020304" pitchFamily="18" charset="0"/>
                <a:ea typeface="黑体" panose="02010609060101010101" pitchFamily="49" charset="-122"/>
              </a:rPr>
              <a:t>能与底物特异结合</a:t>
            </a:r>
            <a:r>
              <a:rPr lang="zh-CN" altLang="en-US" sz="2800" b="1" u="sng" dirty="0">
                <a:solidFill>
                  <a:srgbClr val="C00000"/>
                </a:solidFill>
                <a:latin typeface="Times New Roman" panose="02020603050405020304" pitchFamily="18" charset="0"/>
                <a:ea typeface="黑体" panose="02010609060101010101" pitchFamily="49" charset="-122"/>
              </a:rPr>
              <a:t>并</a:t>
            </a:r>
            <a:r>
              <a:rPr lang="zh-CN" altLang="en-US" sz="2800" u="sng" dirty="0">
                <a:solidFill>
                  <a:srgbClr val="0000CC"/>
                </a:solidFill>
                <a:latin typeface="Times New Roman" panose="02020603050405020304" pitchFamily="18" charset="0"/>
                <a:ea typeface="黑体" panose="02010609060101010101" pitchFamily="49" charset="-122"/>
              </a:rPr>
              <a:t>将底物转化为产物</a:t>
            </a:r>
            <a:r>
              <a:rPr lang="zh-CN" altLang="en-US" sz="2800" dirty="0">
                <a:latin typeface="Times New Roman" panose="02020603050405020304" pitchFamily="18" charset="0"/>
                <a:ea typeface="黑体" panose="02010609060101010101" pitchFamily="49" charset="-122"/>
              </a:rPr>
              <a:t>的具有特定三维结构的区域称为</a:t>
            </a:r>
            <a:r>
              <a:rPr kumimoji="1" lang="zh-CN" altLang="en-US" sz="2800" dirty="0">
                <a:solidFill>
                  <a:srgbClr val="FF3300"/>
                </a:solidFill>
                <a:latin typeface="Times New Roman" panose="02020603050405020304" pitchFamily="18" charset="0"/>
                <a:ea typeface="黑体" panose="02010609060101010101" pitchFamily="49" charset="-122"/>
              </a:rPr>
              <a:t>酶的活性中心 </a:t>
            </a:r>
            <a:r>
              <a:rPr kumimoji="1" lang="en-US" altLang="zh-CN" sz="2800" dirty="0">
                <a:solidFill>
                  <a:srgbClr val="FF3300"/>
                </a:solidFill>
                <a:latin typeface="Times New Roman" panose="02020603050405020304" pitchFamily="18" charset="0"/>
                <a:ea typeface="黑体" panose="02010609060101010101" pitchFamily="49" charset="-122"/>
              </a:rPr>
              <a:t>(active site)</a:t>
            </a:r>
            <a:r>
              <a:rPr kumimoji="1" lang="en-US" altLang="zh-CN" sz="2800" dirty="0">
                <a:solidFill>
                  <a:srgbClr val="FFFF00"/>
                </a:solidFill>
                <a:latin typeface="Times New Roman" panose="02020603050405020304" pitchFamily="18" charset="0"/>
                <a:ea typeface="黑体" panose="02010609060101010101" pitchFamily="49" charset="-122"/>
              </a:rPr>
              <a:t> </a:t>
            </a:r>
            <a:r>
              <a:rPr lang="zh-CN" altLang="en-US" sz="2800" dirty="0">
                <a:latin typeface="Times New Roman" panose="02020603050405020304" pitchFamily="18" charset="0"/>
                <a:ea typeface="黑体" panose="02010609060101010101" pitchFamily="49" charset="-122"/>
              </a:rPr>
              <a:t>。  </a:t>
            </a:r>
          </a:p>
        </p:txBody>
      </p:sp>
      <p:sp>
        <p:nvSpPr>
          <p:cNvPr id="71683" name="AutoShape 3">
            <a:extLst>
              <a:ext uri="{FF2B5EF4-FFF2-40B4-BE49-F238E27FC236}">
                <a16:creationId xmlns:a16="http://schemas.microsoft.com/office/drawing/2014/main" id="{27EF3B5E-BBBB-4338-9A3C-585F7D866876}"/>
              </a:ext>
            </a:extLst>
          </p:cNvPr>
          <p:cNvSpPr>
            <a:spLocks noChangeArrowheads="1"/>
          </p:cNvSpPr>
          <p:nvPr/>
        </p:nvSpPr>
        <p:spPr bwMode="auto">
          <a:xfrm>
            <a:off x="2135560" y="764704"/>
            <a:ext cx="8135937" cy="576262"/>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sz="2800" b="1" dirty="0">
                <a:solidFill>
                  <a:schemeClr val="bg1"/>
                </a:solidFill>
                <a:latin typeface="Times New Roman" panose="02020603050405020304" pitchFamily="18" charset="0"/>
                <a:ea typeface="黑体" panose="02010609060101010101" pitchFamily="49" charset="-122"/>
              </a:rPr>
              <a:t>三、酶的活性中心是酶分子执行其催化功能的部位</a:t>
            </a:r>
          </a:p>
        </p:txBody>
      </p:sp>
      <p:sp>
        <p:nvSpPr>
          <p:cNvPr id="3" name="文本框 2">
            <a:extLst>
              <a:ext uri="{FF2B5EF4-FFF2-40B4-BE49-F238E27FC236}">
                <a16:creationId xmlns:a16="http://schemas.microsoft.com/office/drawing/2014/main" id="{B6F8A51D-914A-D498-D965-993851F15C40}"/>
              </a:ext>
            </a:extLst>
          </p:cNvPr>
          <p:cNvSpPr txBox="1"/>
          <p:nvPr/>
        </p:nvSpPr>
        <p:spPr>
          <a:xfrm>
            <a:off x="2567608" y="4329751"/>
            <a:ext cx="7056784" cy="523220"/>
          </a:xfrm>
          <a:prstGeom prst="rect">
            <a:avLst/>
          </a:prstGeom>
          <a:noFill/>
        </p:spPr>
        <p:txBody>
          <a:bodyPr wrap="square">
            <a:spAutoFit/>
          </a:bodyPr>
          <a:lstStyle/>
          <a:p>
            <a:r>
              <a:rPr lang="zh-CN" altLang="en-US" sz="2800" dirty="0">
                <a:latin typeface="黑体" panose="02010609060101010101" pitchFamily="49" charset="-122"/>
                <a:ea typeface="黑体" panose="02010609060101010101" pitchFamily="49" charset="-122"/>
              </a:rPr>
              <a:t>辅酶</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辅基往往参与构成酶的活性中心</a:t>
            </a:r>
            <a:r>
              <a:rPr lang="zh-CN" altLang="en-US" sz="2800" b="1" dirty="0">
                <a:latin typeface="微软雅黑 Light" panose="020B0502040204020203" pitchFamily="34" charset="-122"/>
                <a:ea typeface="微软雅黑 Light" panose="020B0502040204020203" pitchFamily="34" charset="-122"/>
              </a:rPr>
              <a:t>。</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69D0BC9B-F283-454D-AA34-DF76BC3E75E4}"/>
              </a:ext>
            </a:extLst>
          </p:cNvPr>
          <p:cNvSpPr>
            <a:spLocks noGrp="1" noChangeArrowheads="1"/>
          </p:cNvSpPr>
          <p:nvPr>
            <p:ph type="body" sz="half" idx="1"/>
          </p:nvPr>
        </p:nvSpPr>
        <p:spPr>
          <a:xfrm>
            <a:off x="2205080" y="1851608"/>
            <a:ext cx="7561088" cy="601662"/>
          </a:xfrm>
        </p:spPr>
        <p:txBody>
          <a:bodyPr/>
          <a:lstStyle/>
          <a:p>
            <a:pPr eaLnBrk="1" hangingPunct="1">
              <a:lnSpc>
                <a:spcPct val="110000"/>
              </a:lnSpc>
              <a:buClr>
                <a:srgbClr val="0000FF"/>
              </a:buClr>
              <a:buFont typeface="Wingdings" panose="05000000000000000000" pitchFamily="2" charset="2"/>
              <a:buChar char="Ø"/>
            </a:pPr>
            <a:r>
              <a:rPr lang="zh-CN" altLang="en-US" sz="2800" dirty="0">
                <a:solidFill>
                  <a:schemeClr val="tx1">
                    <a:lumMod val="95000"/>
                    <a:lumOff val="5000"/>
                  </a:schemeClr>
                </a:solidFill>
                <a:latin typeface="黑体" panose="02010609060101010101" pitchFamily="49" charset="-122"/>
                <a:ea typeface="黑体" panose="02010609060101010101" pitchFamily="49" charset="-122"/>
              </a:rPr>
              <a:t>活性中心内的必需基团可分为：</a:t>
            </a:r>
            <a:endParaRPr lang="en-US" altLang="zh-CN" sz="2800" dirty="0">
              <a:solidFill>
                <a:schemeClr val="tx1">
                  <a:lumMod val="95000"/>
                  <a:lumOff val="5000"/>
                </a:schemeClr>
              </a:solidFill>
              <a:latin typeface="黑体" panose="02010609060101010101" pitchFamily="49" charset="-122"/>
              <a:ea typeface="黑体" panose="02010609060101010101" pitchFamily="49" charset="-122"/>
            </a:endParaRPr>
          </a:p>
          <a:p>
            <a:pPr eaLnBrk="1" hangingPunct="1">
              <a:lnSpc>
                <a:spcPct val="110000"/>
              </a:lnSpc>
              <a:buClr>
                <a:srgbClr val="0000FF"/>
              </a:buClr>
              <a:buFont typeface="Wingdings" panose="05000000000000000000" pitchFamily="2" charset="2"/>
              <a:buChar char="Ø"/>
            </a:pP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1523716" name="Text Box 4">
            <a:extLst>
              <a:ext uri="{FF2B5EF4-FFF2-40B4-BE49-F238E27FC236}">
                <a16:creationId xmlns:a16="http://schemas.microsoft.com/office/drawing/2014/main" id="{6C72BE37-9F1C-4786-BE4F-E6E5032F9BE4}"/>
              </a:ext>
            </a:extLst>
          </p:cNvPr>
          <p:cNvSpPr txBox="1">
            <a:spLocks noChangeArrowheads="1"/>
          </p:cNvSpPr>
          <p:nvPr/>
        </p:nvSpPr>
        <p:spPr bwMode="auto">
          <a:xfrm>
            <a:off x="3052715" y="2541191"/>
            <a:ext cx="7219749" cy="2022926"/>
          </a:xfrm>
          <a:prstGeom prst="rect">
            <a:avLst/>
          </a:prstGeom>
          <a:noFill/>
          <a:ln w="9525">
            <a:noFill/>
            <a:miter lim="800000"/>
            <a:headEnd/>
            <a:tailEnd/>
          </a:ln>
          <a:effectLst/>
        </p:spPr>
        <p:txBody>
          <a:bodyPr wrap="square">
            <a:spAutoFit/>
          </a:bodyPr>
          <a:lstStyle/>
          <a:p>
            <a:pPr marL="457200" indent="-457200" eaLnBrk="1" hangingPunct="1">
              <a:lnSpc>
                <a:spcPct val="120000"/>
              </a:lnSpc>
              <a:buFont typeface="Arial" panose="020B0604020202020204" pitchFamily="34" charset="0"/>
              <a:buChar char="•"/>
              <a:defRPr/>
            </a:pPr>
            <a:r>
              <a:rPr kumimoji="1" lang="zh-CN" altLang="en-US" sz="2800" dirty="0">
                <a:solidFill>
                  <a:srgbClr val="0000FF"/>
                </a:solidFill>
                <a:latin typeface="黑体" panose="02010609060101010101" pitchFamily="49" charset="-122"/>
                <a:ea typeface="黑体" panose="02010609060101010101" pitchFamily="49" charset="-122"/>
              </a:rPr>
              <a:t>结合基团</a:t>
            </a:r>
            <a:r>
              <a:rPr kumimoji="1" lang="en-US" altLang="zh-CN" sz="24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kumimoji="1" lang="en-US" altLang="zh-CN" sz="2400" dirty="0">
                <a:latin typeface="黑体" panose="02010609060101010101" pitchFamily="49" charset="-122"/>
                <a:ea typeface="黑体" panose="02010609060101010101" pitchFamily="49" charset="-122"/>
              </a:rPr>
              <a:t>binding  group</a:t>
            </a:r>
            <a:r>
              <a:rPr kumimoji="1" lang="en-US" altLang="zh-CN" sz="2400" dirty="0">
                <a:effectLst>
                  <a:outerShdw blurRad="38100" dist="38100" dir="2700000" algn="tl">
                    <a:srgbClr val="C0C0C0"/>
                  </a:outerShdw>
                </a:effectLst>
                <a:latin typeface="黑体" panose="02010609060101010101" pitchFamily="49" charset="-122"/>
                <a:ea typeface="黑体" panose="02010609060101010101" pitchFamily="49" charset="-122"/>
              </a:rPr>
              <a:t>)</a:t>
            </a:r>
          </a:p>
          <a:p>
            <a:pPr lvl="1" eaLnBrk="1" hangingPunct="1">
              <a:lnSpc>
                <a:spcPct val="120000"/>
              </a:lnSpc>
              <a:defRPr/>
            </a:pPr>
            <a:r>
              <a:rPr kumimoji="1" lang="zh-CN" altLang="en-US" sz="2600" dirty="0">
                <a:latin typeface="黑体" panose="02010609060101010101" pitchFamily="49" charset="-122"/>
                <a:ea typeface="黑体" panose="02010609060101010101" pitchFamily="49" charset="-122"/>
              </a:rPr>
              <a:t>与底物相结合，负责专一性</a:t>
            </a:r>
            <a:endParaRPr kumimoji="1" lang="en-US" altLang="zh-CN" sz="2600" dirty="0">
              <a:latin typeface="黑体" panose="02010609060101010101" pitchFamily="49" charset="-122"/>
              <a:ea typeface="黑体" panose="02010609060101010101" pitchFamily="49" charset="-122"/>
            </a:endParaRPr>
          </a:p>
          <a:p>
            <a:pPr marL="457200" indent="-457200" eaLnBrk="1" hangingPunct="1">
              <a:lnSpc>
                <a:spcPct val="120000"/>
              </a:lnSpc>
              <a:buFont typeface="Arial" panose="020B0604020202020204" pitchFamily="34" charset="0"/>
              <a:buChar char="•"/>
              <a:defRPr/>
            </a:pPr>
            <a:r>
              <a:rPr kumimoji="1" lang="zh-CN" altLang="en-US" sz="2800" dirty="0">
                <a:solidFill>
                  <a:srgbClr val="0000FF"/>
                </a:solidFill>
                <a:latin typeface="黑体" panose="02010609060101010101" pitchFamily="49" charset="-122"/>
                <a:ea typeface="黑体" panose="02010609060101010101" pitchFamily="49" charset="-122"/>
              </a:rPr>
              <a:t>催化基团</a:t>
            </a:r>
            <a:r>
              <a:rPr kumimoji="1" lang="en-US" altLang="zh-CN" sz="2400" dirty="0">
                <a:solidFill>
                  <a:srgbClr val="0000FF"/>
                </a:solidFill>
                <a:latin typeface="黑体" panose="02010609060101010101" pitchFamily="49" charset="-122"/>
                <a:ea typeface="黑体" panose="02010609060101010101" pitchFamily="49" charset="-122"/>
              </a:rPr>
              <a:t>(catalytic  group)</a:t>
            </a:r>
          </a:p>
          <a:p>
            <a:pPr lvl="1" eaLnBrk="1" hangingPunct="1">
              <a:lnSpc>
                <a:spcPct val="120000"/>
              </a:lnSpc>
              <a:defRPr/>
            </a:pPr>
            <a:r>
              <a:rPr kumimoji="1" lang="zh-CN" altLang="en-US" sz="2600" dirty="0">
                <a:latin typeface="黑体" panose="02010609060101010101" pitchFamily="49" charset="-122"/>
                <a:ea typeface="黑体" panose="02010609060101010101" pitchFamily="49" charset="-122"/>
              </a:rPr>
              <a:t>参与催化，决定酶的催化能力。</a:t>
            </a:r>
          </a:p>
        </p:txBody>
      </p:sp>
      <p:sp>
        <p:nvSpPr>
          <p:cNvPr id="73732" name="Rectangle 6">
            <a:extLst>
              <a:ext uri="{FF2B5EF4-FFF2-40B4-BE49-F238E27FC236}">
                <a16:creationId xmlns:a16="http://schemas.microsoft.com/office/drawing/2014/main" id="{658312A2-56D0-4750-9E24-90429118E21F}"/>
              </a:ext>
            </a:extLst>
          </p:cNvPr>
          <p:cNvSpPr>
            <a:spLocks noChangeArrowheads="1"/>
          </p:cNvSpPr>
          <p:nvPr/>
        </p:nvSpPr>
        <p:spPr bwMode="auto">
          <a:xfrm>
            <a:off x="8580678" y="3067577"/>
            <a:ext cx="83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latin typeface="黑体" panose="02010609060101010101" pitchFamily="49" charset="-122"/>
              <a:ea typeface="黑体" panose="02010609060101010101" pitchFamily="49" charset="-122"/>
            </a:endParaRPr>
          </a:p>
        </p:txBody>
      </p:sp>
      <p:sp>
        <p:nvSpPr>
          <p:cNvPr id="73733" name="AutoShape 7">
            <a:extLst>
              <a:ext uri="{FF2B5EF4-FFF2-40B4-BE49-F238E27FC236}">
                <a16:creationId xmlns:a16="http://schemas.microsoft.com/office/drawing/2014/main" id="{BC38B7A9-75EF-4868-B70B-A7334F536B14}"/>
              </a:ext>
            </a:extLst>
          </p:cNvPr>
          <p:cNvSpPr>
            <a:spLocks noChangeArrowheads="1"/>
          </p:cNvSpPr>
          <p:nvPr/>
        </p:nvSpPr>
        <p:spPr bwMode="auto">
          <a:xfrm>
            <a:off x="8656878" y="3067577"/>
            <a:ext cx="762000" cy="8382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latin typeface="黑体" panose="02010609060101010101" pitchFamily="49" charset="-122"/>
              <a:ea typeface="黑体" panose="02010609060101010101" pitchFamily="49" charset="-122"/>
            </a:endParaRPr>
          </a:p>
        </p:txBody>
      </p:sp>
      <p:sp>
        <p:nvSpPr>
          <p:cNvPr id="73734" name="Rectangle 8">
            <a:extLst>
              <a:ext uri="{FF2B5EF4-FFF2-40B4-BE49-F238E27FC236}">
                <a16:creationId xmlns:a16="http://schemas.microsoft.com/office/drawing/2014/main" id="{B607AD2F-55A4-4CA5-A514-14432F3D2D9F}"/>
              </a:ext>
            </a:extLst>
          </p:cNvPr>
          <p:cNvSpPr>
            <a:spLocks noChangeArrowheads="1"/>
          </p:cNvSpPr>
          <p:nvPr/>
        </p:nvSpPr>
        <p:spPr bwMode="auto">
          <a:xfrm>
            <a:off x="8580678" y="2991377"/>
            <a:ext cx="762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latin typeface="黑体" panose="02010609060101010101" pitchFamily="49" charset="-122"/>
              <a:ea typeface="黑体" panose="02010609060101010101" pitchFamily="49" charset="-122"/>
            </a:endParaRPr>
          </a:p>
        </p:txBody>
      </p:sp>
      <p:sp>
        <p:nvSpPr>
          <p:cNvPr id="1523721" name="Text Box 9">
            <a:extLst>
              <a:ext uri="{FF2B5EF4-FFF2-40B4-BE49-F238E27FC236}">
                <a16:creationId xmlns:a16="http://schemas.microsoft.com/office/drawing/2014/main" id="{11C2B510-F280-421A-8814-47FD39B2ED51}"/>
              </a:ext>
            </a:extLst>
          </p:cNvPr>
          <p:cNvSpPr txBox="1">
            <a:spLocks noChangeArrowheads="1"/>
          </p:cNvSpPr>
          <p:nvPr/>
        </p:nvSpPr>
        <p:spPr bwMode="auto">
          <a:xfrm>
            <a:off x="2313859" y="5487938"/>
            <a:ext cx="7559675" cy="60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5963">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40000"/>
              </a:lnSpc>
              <a:spcBef>
                <a:spcPct val="0"/>
              </a:spcBef>
              <a:buFontTx/>
              <a:buNone/>
            </a:pPr>
            <a:endParaRPr kumimoji="1" lang="zh-CN" altLang="en-US" sz="2800" dirty="0">
              <a:latin typeface="黑体" panose="02010609060101010101" pitchFamily="49" charset="-122"/>
              <a:ea typeface="黑体" panose="02010609060101010101" pitchFamily="49" charset="-122"/>
            </a:endParaRPr>
          </a:p>
        </p:txBody>
      </p:sp>
      <p:sp>
        <p:nvSpPr>
          <p:cNvPr id="73736" name="Rectangle 10">
            <a:extLst>
              <a:ext uri="{FF2B5EF4-FFF2-40B4-BE49-F238E27FC236}">
                <a16:creationId xmlns:a16="http://schemas.microsoft.com/office/drawing/2014/main" id="{D897F55E-C03D-43C0-8B29-44D2E1E72A66}"/>
              </a:ext>
            </a:extLst>
          </p:cNvPr>
          <p:cNvSpPr>
            <a:spLocks noChangeArrowheads="1"/>
          </p:cNvSpPr>
          <p:nvPr/>
        </p:nvSpPr>
        <p:spPr bwMode="auto">
          <a:xfrm>
            <a:off x="2319578" y="4710640"/>
            <a:ext cx="55626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10000"/>
              </a:lnSpc>
              <a:spcBef>
                <a:spcPct val="0"/>
              </a:spcBef>
              <a:buClr>
                <a:schemeClr val="hlink"/>
              </a:buClr>
              <a:buFont typeface="Wingdings" panose="05000000000000000000" pitchFamily="2" charset="2"/>
              <a:buNone/>
            </a:pPr>
            <a:endParaRPr kumimoji="1" lang="zh-CN" altLang="zh-CN" sz="2800">
              <a:latin typeface="黑体" panose="02010609060101010101" pitchFamily="49" charset="-122"/>
              <a:ea typeface="黑体" panose="02010609060101010101" pitchFamily="49" charset="-122"/>
            </a:endParaRPr>
          </a:p>
        </p:txBody>
      </p:sp>
      <p:sp>
        <p:nvSpPr>
          <p:cNvPr id="1523723" name="Rectangle 11">
            <a:extLst>
              <a:ext uri="{FF2B5EF4-FFF2-40B4-BE49-F238E27FC236}">
                <a16:creationId xmlns:a16="http://schemas.microsoft.com/office/drawing/2014/main" id="{769878CF-5E0B-408E-A26A-1A0E44E6B289}"/>
              </a:ext>
            </a:extLst>
          </p:cNvPr>
          <p:cNvSpPr>
            <a:spLocks noChangeArrowheads="1"/>
          </p:cNvSpPr>
          <p:nvPr/>
        </p:nvSpPr>
        <p:spPr bwMode="auto">
          <a:xfrm>
            <a:off x="2205080" y="4929714"/>
            <a:ext cx="8067384" cy="1091574"/>
          </a:xfrm>
          <a:prstGeom prst="rect">
            <a:avLst/>
          </a:prstGeom>
          <a:noFill/>
          <a:ln w="9525">
            <a:noFill/>
            <a:miter lim="800000"/>
            <a:headEnd/>
            <a:tailEnd/>
          </a:ln>
          <a:effectLst/>
        </p:spPr>
        <p:txBody>
          <a:bodyPr/>
          <a:lstStyle/>
          <a:p>
            <a:pPr marL="342900" indent="-342900" eaLnBrk="1" hangingPunct="1">
              <a:lnSpc>
                <a:spcPct val="110000"/>
              </a:lnSpc>
              <a:spcBef>
                <a:spcPct val="20000"/>
              </a:spcBef>
              <a:buClr>
                <a:srgbClr val="0000FF"/>
              </a:buClr>
              <a:buFont typeface="Wingdings" pitchFamily="2" charset="2"/>
              <a:buChar char="Ø"/>
              <a:defRPr/>
            </a:pPr>
            <a:r>
              <a:rPr kumimoji="1" lang="zh-CN" altLang="en-US" sz="2800" dirty="0">
                <a:solidFill>
                  <a:schemeClr val="tx1">
                    <a:lumMod val="95000"/>
                    <a:lumOff val="5000"/>
                  </a:schemeClr>
                </a:solidFill>
                <a:latin typeface="黑体" panose="02010609060101010101" pitchFamily="49" charset="-122"/>
                <a:ea typeface="黑体" panose="02010609060101010101" pitchFamily="49" charset="-122"/>
              </a:rPr>
              <a:t>活性中心以外的必需基团</a:t>
            </a:r>
            <a:r>
              <a:rPr kumimoji="1" lang="en-US" altLang="zh-CN" sz="2800" dirty="0">
                <a:solidFill>
                  <a:schemeClr val="tx1">
                    <a:lumMod val="95000"/>
                    <a:lumOff val="5000"/>
                  </a:schemeClr>
                </a:solidFill>
                <a:latin typeface="黑体" panose="02010609060101010101" pitchFamily="49" charset="-122"/>
                <a:ea typeface="黑体" panose="02010609060101010101" pitchFamily="49" charset="-122"/>
              </a:rPr>
              <a:t>:</a:t>
            </a:r>
            <a:r>
              <a:rPr kumimoji="1" lang="en-US" altLang="zh-CN" sz="2800" dirty="0">
                <a:solidFill>
                  <a:srgbClr val="FF3300"/>
                </a:solidFill>
                <a:latin typeface="黑体" panose="02010609060101010101" pitchFamily="49" charset="-122"/>
                <a:ea typeface="黑体" panose="02010609060101010101" pitchFamily="49" charset="-122"/>
              </a:rPr>
              <a:t>  </a:t>
            </a:r>
            <a:r>
              <a:rPr kumimoji="1" lang="zh-CN" altLang="en-US" sz="2800" dirty="0">
                <a:latin typeface="黑体" panose="02010609060101010101" pitchFamily="49" charset="-122"/>
                <a:ea typeface="黑体" panose="02010609060101010101" pitchFamily="49" charset="-122"/>
              </a:rPr>
              <a:t>位于活性中心以外，维持酶活性中心应有的空间构象所必需。</a:t>
            </a:r>
          </a:p>
        </p:txBody>
      </p:sp>
      <p:sp>
        <p:nvSpPr>
          <p:cNvPr id="5" name="文本框 4">
            <a:extLst>
              <a:ext uri="{FF2B5EF4-FFF2-40B4-BE49-F238E27FC236}">
                <a16:creationId xmlns:a16="http://schemas.microsoft.com/office/drawing/2014/main" id="{CF69B1F5-0E50-19E9-9CE3-EE61E7C3608F}"/>
              </a:ext>
            </a:extLst>
          </p:cNvPr>
          <p:cNvSpPr txBox="1"/>
          <p:nvPr/>
        </p:nvSpPr>
        <p:spPr>
          <a:xfrm>
            <a:off x="2277088" y="550901"/>
            <a:ext cx="7920880" cy="954107"/>
          </a:xfrm>
          <a:prstGeom prst="rect">
            <a:avLst/>
          </a:prstGeom>
          <a:noFill/>
        </p:spPr>
        <p:txBody>
          <a:bodyPr wrap="square">
            <a:spAutoFit/>
          </a:bodyPr>
          <a:lstStyle/>
          <a:p>
            <a:r>
              <a:rPr lang="zh-CN" altLang="en-US" sz="2800" dirty="0">
                <a:latin typeface="黑体" panose="02010609060101010101" pitchFamily="49" charset="-122"/>
                <a:ea typeface="黑体" panose="02010609060101010101" pitchFamily="49" charset="-122"/>
              </a:rPr>
              <a:t>酶分子中与酶活性密切相关的化学基团称为酶的</a:t>
            </a:r>
            <a:r>
              <a:rPr lang="zh-CN" altLang="en-US" sz="2800" dirty="0">
                <a:solidFill>
                  <a:srgbClr val="C00000"/>
                </a:solidFill>
                <a:latin typeface="黑体" panose="02010609060101010101" pitchFamily="49" charset="-122"/>
                <a:ea typeface="黑体" panose="02010609060101010101" pitchFamily="49" charset="-122"/>
              </a:rPr>
              <a:t>必需基团（</a:t>
            </a:r>
            <a:r>
              <a:rPr lang="en-US" altLang="zh-CN" sz="2800" dirty="0">
                <a:solidFill>
                  <a:srgbClr val="C00000"/>
                </a:solidFill>
                <a:latin typeface="黑体" panose="02010609060101010101" pitchFamily="49" charset="-122"/>
                <a:ea typeface="黑体" panose="02010609060101010101" pitchFamily="49" charset="-122"/>
              </a:rPr>
              <a:t>essential group</a:t>
            </a:r>
            <a:r>
              <a:rPr lang="zh-CN" altLang="en-US" sz="2800" dirty="0">
                <a:solidFill>
                  <a:srgbClr val="C00000"/>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23721"/>
                                        </p:tgtEl>
                                        <p:attrNameLst>
                                          <p:attrName>style.visibility</p:attrName>
                                        </p:attrNameLst>
                                      </p:cBhvr>
                                      <p:to>
                                        <p:strVal val="visible"/>
                                      </p:to>
                                    </p:set>
                                    <p:animEffect transition="in" filter="wipe(left)">
                                      <p:cBhvr>
                                        <p:cTn id="7" dur="500"/>
                                        <p:tgtEl>
                                          <p:spTgt spid="1523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3721"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6" name="Text Box 2">
            <a:extLst>
              <a:ext uri="{FF2B5EF4-FFF2-40B4-BE49-F238E27FC236}">
                <a16:creationId xmlns:a16="http://schemas.microsoft.com/office/drawing/2014/main" id="{163938A9-82C1-43AC-90FF-C190004AB8EF}"/>
              </a:ext>
            </a:extLst>
          </p:cNvPr>
          <p:cNvSpPr txBox="1">
            <a:spLocks noChangeArrowheads="1"/>
          </p:cNvSpPr>
          <p:nvPr/>
        </p:nvSpPr>
        <p:spPr bwMode="auto">
          <a:xfrm>
            <a:off x="6629401" y="938313"/>
            <a:ext cx="3952875" cy="2676525"/>
          </a:xfrm>
          <a:prstGeom prst="rect">
            <a:avLst/>
          </a:prstGeom>
          <a:noFill/>
          <a:ln w="57150" cap="sq">
            <a:solidFill>
              <a:srgbClr val="FF66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黑体" panose="02010609060101010101" pitchFamily="49" charset="-122"/>
              </a:rPr>
              <a:t>活性中心常见必需基团：</a:t>
            </a:r>
          </a:p>
          <a:p>
            <a:pPr algn="ctr" eaLnBrk="1" hangingPunct="1">
              <a:spcBef>
                <a:spcPct val="50000"/>
              </a:spcBef>
              <a:buFontTx/>
              <a:buNone/>
            </a:pPr>
            <a:r>
              <a:rPr lang="zh-CN" altLang="en-US" sz="2400" b="1">
                <a:latin typeface="Times New Roman" panose="02020603050405020304" pitchFamily="18" charset="0"/>
                <a:ea typeface="黑体" panose="02010609060101010101" pitchFamily="49" charset="-122"/>
              </a:rPr>
              <a:t>　</a:t>
            </a:r>
            <a:r>
              <a:rPr lang="en-US" altLang="zh-CN" sz="2400" b="1">
                <a:latin typeface="Times New Roman" panose="02020603050405020304" pitchFamily="18" charset="0"/>
                <a:ea typeface="黑体" panose="02010609060101010101" pitchFamily="49" charset="-122"/>
              </a:rPr>
              <a:t>Ser</a:t>
            </a:r>
            <a:r>
              <a:rPr lang="zh-CN" altLang="en-US" sz="2400" b="1">
                <a:latin typeface="Times New Roman" panose="02020603050405020304" pitchFamily="18" charset="0"/>
                <a:ea typeface="黑体" panose="02010609060101010101" pitchFamily="49" charset="-122"/>
              </a:rPr>
              <a:t>的羟基</a:t>
            </a:r>
          </a:p>
          <a:p>
            <a:pPr algn="ctr" eaLnBrk="1" hangingPunct="1">
              <a:spcBef>
                <a:spcPct val="50000"/>
              </a:spcBef>
              <a:buFontTx/>
              <a:buNone/>
            </a:pPr>
            <a:r>
              <a:rPr lang="zh-CN" altLang="en-US" sz="2400" b="1">
                <a:latin typeface="Times New Roman" panose="02020603050405020304" pitchFamily="18" charset="0"/>
                <a:ea typeface="黑体" panose="02010609060101010101" pitchFamily="49" charset="-122"/>
              </a:rPr>
              <a:t>　</a:t>
            </a:r>
            <a:r>
              <a:rPr lang="en-US" altLang="zh-CN" sz="2400" b="1">
                <a:latin typeface="Times New Roman" panose="02020603050405020304" pitchFamily="18" charset="0"/>
                <a:ea typeface="黑体" panose="02010609060101010101" pitchFamily="49" charset="-122"/>
              </a:rPr>
              <a:t>Cys</a:t>
            </a:r>
            <a:r>
              <a:rPr lang="zh-CN" altLang="en-US" sz="2400" b="1">
                <a:latin typeface="Times New Roman" panose="02020603050405020304" pitchFamily="18" charset="0"/>
                <a:ea typeface="黑体" panose="02010609060101010101" pitchFamily="49" charset="-122"/>
              </a:rPr>
              <a:t>的巯基</a:t>
            </a:r>
          </a:p>
          <a:p>
            <a:pPr algn="ctr" eaLnBrk="1" hangingPunct="1">
              <a:spcBef>
                <a:spcPct val="50000"/>
              </a:spcBef>
              <a:buFontTx/>
              <a:buNone/>
            </a:pPr>
            <a:r>
              <a:rPr lang="zh-CN" altLang="en-US" sz="2400" b="1">
                <a:latin typeface="Times New Roman" panose="02020603050405020304" pitchFamily="18" charset="0"/>
                <a:ea typeface="黑体" panose="02010609060101010101" pitchFamily="49" charset="-122"/>
              </a:rPr>
              <a:t>　</a:t>
            </a:r>
            <a:r>
              <a:rPr lang="en-US" altLang="zh-CN" sz="2400" b="1">
                <a:latin typeface="Times New Roman" panose="02020603050405020304" pitchFamily="18" charset="0"/>
                <a:ea typeface="黑体" panose="02010609060101010101" pitchFamily="49" charset="-122"/>
              </a:rPr>
              <a:t>His</a:t>
            </a:r>
            <a:r>
              <a:rPr lang="zh-CN" altLang="en-US" sz="2400" b="1">
                <a:latin typeface="Times New Roman" panose="02020603050405020304" pitchFamily="18" charset="0"/>
                <a:ea typeface="黑体" panose="02010609060101010101" pitchFamily="49" charset="-122"/>
              </a:rPr>
              <a:t>的咪唑基</a:t>
            </a:r>
          </a:p>
          <a:p>
            <a:pPr algn="ctr" eaLnBrk="1" hangingPunct="1">
              <a:spcBef>
                <a:spcPct val="50000"/>
              </a:spcBef>
              <a:buFontTx/>
              <a:buNone/>
            </a:pPr>
            <a:r>
              <a:rPr lang="zh-CN" altLang="en-US" sz="2400" b="1">
                <a:latin typeface="Times New Roman" panose="02020603050405020304" pitchFamily="18" charset="0"/>
                <a:ea typeface="黑体" panose="02010609060101010101" pitchFamily="49" charset="-122"/>
              </a:rPr>
              <a:t>　</a:t>
            </a:r>
            <a:r>
              <a:rPr lang="en-US" altLang="zh-CN" sz="2400" b="1">
                <a:latin typeface="Times New Roman" panose="02020603050405020304" pitchFamily="18" charset="0"/>
                <a:ea typeface="黑体" panose="02010609060101010101" pitchFamily="49" charset="-122"/>
              </a:rPr>
              <a:t>Glu</a:t>
            </a:r>
            <a:r>
              <a:rPr lang="zh-CN" altLang="en-US" sz="2400" b="1">
                <a:latin typeface="Times New Roman" panose="02020603050405020304" pitchFamily="18" charset="0"/>
                <a:ea typeface="黑体" panose="02010609060101010101" pitchFamily="49" charset="-122"/>
              </a:rPr>
              <a:t>、</a:t>
            </a:r>
            <a:r>
              <a:rPr lang="en-US" altLang="zh-CN" sz="2400" b="1">
                <a:latin typeface="Times New Roman" panose="02020603050405020304" pitchFamily="18" charset="0"/>
                <a:ea typeface="黑体" panose="02010609060101010101" pitchFamily="49" charset="-122"/>
              </a:rPr>
              <a:t>Asp</a:t>
            </a:r>
            <a:r>
              <a:rPr lang="zh-CN" altLang="en-US" sz="2400" b="1">
                <a:latin typeface="Times New Roman" panose="02020603050405020304" pitchFamily="18" charset="0"/>
                <a:ea typeface="黑体" panose="02010609060101010101" pitchFamily="49" charset="-122"/>
              </a:rPr>
              <a:t>的侧链羧基　</a:t>
            </a:r>
          </a:p>
        </p:txBody>
      </p:sp>
      <p:graphicFrame>
        <p:nvGraphicFramePr>
          <p:cNvPr id="77827" name="Object 3">
            <a:extLst>
              <a:ext uri="{FF2B5EF4-FFF2-40B4-BE49-F238E27FC236}">
                <a16:creationId xmlns:a16="http://schemas.microsoft.com/office/drawing/2014/main" id="{136021F3-2013-4CE5-B5C1-436852B1CC68}"/>
              </a:ext>
            </a:extLst>
          </p:cNvPr>
          <p:cNvGraphicFramePr>
            <a:graphicFrameLocks noChangeAspect="1"/>
          </p:cNvGraphicFramePr>
          <p:nvPr>
            <p:extLst>
              <p:ext uri="{D42A27DB-BD31-4B8C-83A1-F6EECF244321}">
                <p14:modId xmlns:p14="http://schemas.microsoft.com/office/powerpoint/2010/main" val="650656868"/>
              </p:ext>
            </p:extLst>
          </p:nvPr>
        </p:nvGraphicFramePr>
        <p:xfrm>
          <a:off x="1919288" y="836712"/>
          <a:ext cx="3643312" cy="5327650"/>
        </p:xfrm>
        <a:graphic>
          <a:graphicData uri="http://schemas.openxmlformats.org/presentationml/2006/ole">
            <mc:AlternateContent xmlns:mc="http://schemas.openxmlformats.org/markup-compatibility/2006">
              <mc:Choice xmlns:v="urn:schemas-microsoft-com:vml" Requires="v">
                <p:oleObj name="CS ChemDraw Drawing" r:id="rId3" imgW="2854960" imgH="4173220" progId="">
                  <p:embed/>
                </p:oleObj>
              </mc:Choice>
              <mc:Fallback>
                <p:oleObj name="CS ChemDraw Drawing" r:id="rId3" imgW="2854960" imgH="417322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288" y="836712"/>
                        <a:ext cx="3643312" cy="532765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7831" name="Line 7">
            <a:extLst>
              <a:ext uri="{FF2B5EF4-FFF2-40B4-BE49-F238E27FC236}">
                <a16:creationId xmlns:a16="http://schemas.microsoft.com/office/drawing/2014/main" id="{BB85F964-4917-4408-92EF-276F0E791C7F}"/>
              </a:ext>
            </a:extLst>
          </p:cNvPr>
          <p:cNvSpPr>
            <a:spLocks noChangeShapeType="1"/>
          </p:cNvSpPr>
          <p:nvPr/>
        </p:nvSpPr>
        <p:spPr bwMode="auto">
          <a:xfrm flipH="1">
            <a:off x="5232400" y="2276575"/>
            <a:ext cx="1727200" cy="792162"/>
          </a:xfrm>
          <a:prstGeom prst="line">
            <a:avLst/>
          </a:prstGeom>
          <a:noFill/>
          <a:ln w="76200">
            <a:solidFill>
              <a:srgbClr val="FF66FF"/>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77832" name="Line 8">
            <a:extLst>
              <a:ext uri="{FF2B5EF4-FFF2-40B4-BE49-F238E27FC236}">
                <a16:creationId xmlns:a16="http://schemas.microsoft.com/office/drawing/2014/main" id="{277821E9-D8CB-43BD-A666-C204820445DD}"/>
              </a:ext>
            </a:extLst>
          </p:cNvPr>
          <p:cNvSpPr>
            <a:spLocks noChangeShapeType="1"/>
          </p:cNvSpPr>
          <p:nvPr/>
        </p:nvSpPr>
        <p:spPr bwMode="auto">
          <a:xfrm flipH="1" flipV="1">
            <a:off x="5159376" y="1484412"/>
            <a:ext cx="1655763" cy="287338"/>
          </a:xfrm>
          <a:prstGeom prst="line">
            <a:avLst/>
          </a:prstGeom>
          <a:noFill/>
          <a:ln w="76200">
            <a:solidFill>
              <a:srgbClr val="FF66FF"/>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grpSp>
        <p:nvGrpSpPr>
          <p:cNvPr id="3" name="组合 2">
            <a:extLst>
              <a:ext uri="{FF2B5EF4-FFF2-40B4-BE49-F238E27FC236}">
                <a16:creationId xmlns:a16="http://schemas.microsoft.com/office/drawing/2014/main" id="{F06B5CC1-EC33-48A8-8713-AD960CDFCD10}"/>
              </a:ext>
            </a:extLst>
          </p:cNvPr>
          <p:cNvGrpSpPr/>
          <p:nvPr/>
        </p:nvGrpSpPr>
        <p:grpSpPr>
          <a:xfrm>
            <a:off x="5951538" y="3789462"/>
            <a:ext cx="4248150" cy="2451100"/>
            <a:chOff x="4427538" y="3644900"/>
            <a:chExt cx="4248150" cy="2451100"/>
          </a:xfrm>
        </p:grpSpPr>
        <p:graphicFrame>
          <p:nvGraphicFramePr>
            <p:cNvPr id="77828" name="Object 4">
              <a:extLst>
                <a:ext uri="{FF2B5EF4-FFF2-40B4-BE49-F238E27FC236}">
                  <a16:creationId xmlns:a16="http://schemas.microsoft.com/office/drawing/2014/main" id="{F7B9E6E6-C4F5-4596-B649-FBB6AB714C99}"/>
                </a:ext>
              </a:extLst>
            </p:cNvPr>
            <p:cNvGraphicFramePr>
              <a:graphicFrameLocks noChangeAspect="1"/>
            </p:cNvGraphicFramePr>
            <p:nvPr>
              <p:extLst>
                <p:ext uri="{D42A27DB-BD31-4B8C-83A1-F6EECF244321}">
                  <p14:modId xmlns:p14="http://schemas.microsoft.com/office/powerpoint/2010/main" val="1632605843"/>
                </p:ext>
              </p:extLst>
            </p:nvPr>
          </p:nvGraphicFramePr>
          <p:xfrm>
            <a:off x="4427538" y="3644900"/>
            <a:ext cx="4248150" cy="2451100"/>
          </p:xfrm>
          <a:graphic>
            <a:graphicData uri="http://schemas.openxmlformats.org/presentationml/2006/ole">
              <mc:AlternateContent xmlns:mc="http://schemas.openxmlformats.org/markup-compatibility/2006">
                <mc:Choice xmlns:v="urn:schemas-microsoft-com:vml" Requires="v">
                  <p:oleObj name="CS ChemDraw Drawing" r:id="rId5" imgW="4541520" imgH="4531360" progId="">
                    <p:embed/>
                  </p:oleObj>
                </mc:Choice>
                <mc:Fallback>
                  <p:oleObj name="CS ChemDraw Drawing" r:id="rId5" imgW="4541520" imgH="4531360" progId="">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r="9929" b="54097"/>
                        <a:stretch>
                          <a:fillRect/>
                        </a:stretch>
                      </p:blipFill>
                      <p:spPr bwMode="auto">
                        <a:xfrm>
                          <a:off x="4427538" y="3644900"/>
                          <a:ext cx="4248150" cy="24511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a:extLst>
                <a:ext uri="{FF2B5EF4-FFF2-40B4-BE49-F238E27FC236}">
                  <a16:creationId xmlns:a16="http://schemas.microsoft.com/office/drawing/2014/main" id="{AD9D650E-47C3-4774-816A-C01191D594DC}"/>
                </a:ext>
              </a:extLst>
            </p:cNvPr>
            <p:cNvSpPr/>
            <p:nvPr/>
          </p:nvSpPr>
          <p:spPr>
            <a:xfrm>
              <a:off x="5580112" y="5877272"/>
              <a:ext cx="216024" cy="218728"/>
            </a:xfrm>
            <a:prstGeom prst="rect">
              <a:avLst/>
            </a:prstGeom>
            <a:solidFill>
              <a:srgbClr val="FFFFCC"/>
            </a:solidFill>
            <a:ln>
              <a:solidFill>
                <a:srgbClr val="FFFF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CC"/>
                </a:solidFill>
              </a:endParaRPr>
            </a:p>
          </p:txBody>
        </p:sp>
      </p:grpSp>
      <p:sp>
        <p:nvSpPr>
          <p:cNvPr id="77830" name="Line 6">
            <a:extLst>
              <a:ext uri="{FF2B5EF4-FFF2-40B4-BE49-F238E27FC236}">
                <a16:creationId xmlns:a16="http://schemas.microsoft.com/office/drawing/2014/main" id="{7ABB41B6-E050-40F2-91E3-6D51272F13C8}"/>
              </a:ext>
            </a:extLst>
          </p:cNvPr>
          <p:cNvSpPr>
            <a:spLocks noChangeShapeType="1"/>
          </p:cNvSpPr>
          <p:nvPr/>
        </p:nvSpPr>
        <p:spPr bwMode="auto">
          <a:xfrm flipH="1">
            <a:off x="5303838" y="2852837"/>
            <a:ext cx="1655762" cy="1511300"/>
          </a:xfrm>
          <a:prstGeom prst="line">
            <a:avLst/>
          </a:prstGeom>
          <a:noFill/>
          <a:ln w="76200">
            <a:solidFill>
              <a:srgbClr val="FF66FF"/>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77829" name="Line 5">
            <a:extLst>
              <a:ext uri="{FF2B5EF4-FFF2-40B4-BE49-F238E27FC236}">
                <a16:creationId xmlns:a16="http://schemas.microsoft.com/office/drawing/2014/main" id="{F5AF41E8-2E86-44F5-9792-D00247CA3317}"/>
              </a:ext>
            </a:extLst>
          </p:cNvPr>
          <p:cNvSpPr>
            <a:spLocks noChangeShapeType="1"/>
          </p:cNvSpPr>
          <p:nvPr/>
        </p:nvSpPr>
        <p:spPr bwMode="auto">
          <a:xfrm>
            <a:off x="9336088" y="3573562"/>
            <a:ext cx="0" cy="1079500"/>
          </a:xfrm>
          <a:prstGeom prst="line">
            <a:avLst/>
          </a:prstGeom>
          <a:noFill/>
          <a:ln w="76200">
            <a:solidFill>
              <a:srgbClr val="FF66FF"/>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25762" name="Rectangle 2">
            <a:extLst>
              <a:ext uri="{FF2B5EF4-FFF2-40B4-BE49-F238E27FC236}">
                <a16:creationId xmlns:a16="http://schemas.microsoft.com/office/drawing/2014/main" id="{5EFC6EBE-6C22-4FC1-AB25-1E3E9591D5F2}"/>
              </a:ext>
            </a:extLst>
          </p:cNvPr>
          <p:cNvSpPr>
            <a:spLocks noChangeArrowheads="1"/>
          </p:cNvSpPr>
          <p:nvPr/>
        </p:nvSpPr>
        <p:spPr bwMode="auto">
          <a:xfrm>
            <a:off x="6859737" y="2362200"/>
            <a:ext cx="461665" cy="2438400"/>
          </a:xfrm>
          <a:prstGeom prst="rect">
            <a:avLst/>
          </a:prstGeom>
          <a:noFill/>
          <a:ln w="762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pic>
        <p:nvPicPr>
          <p:cNvPr id="84995" name="Picture 3" descr="wy 副本">
            <a:extLst>
              <a:ext uri="{FF2B5EF4-FFF2-40B4-BE49-F238E27FC236}">
                <a16:creationId xmlns:a16="http://schemas.microsoft.com/office/drawing/2014/main" id="{79C366C2-5AE8-43CD-B019-087915A314D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05201" y="0"/>
            <a:ext cx="59340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764" name="AutoShape 4">
            <a:extLst>
              <a:ext uri="{FF2B5EF4-FFF2-40B4-BE49-F238E27FC236}">
                <a16:creationId xmlns:a16="http://schemas.microsoft.com/office/drawing/2014/main" id="{C1030680-9D33-4A04-B325-CA6119C6636E}"/>
              </a:ext>
            </a:extLst>
          </p:cNvPr>
          <p:cNvSpPr>
            <a:spLocks noChangeArrowheads="1"/>
          </p:cNvSpPr>
          <p:nvPr/>
        </p:nvSpPr>
        <p:spPr bwMode="auto">
          <a:xfrm>
            <a:off x="8401050" y="765176"/>
            <a:ext cx="1309688" cy="504825"/>
          </a:xfrm>
          <a:prstGeom prst="wedgeRoundRectCallout">
            <a:avLst>
              <a:gd name="adj1" fmla="val -146000"/>
              <a:gd name="adj2" fmla="val 398111"/>
              <a:gd name="adj3" fmla="val 16667"/>
            </a:avLst>
          </a:prstGeom>
          <a:solidFill>
            <a:srgbClr val="99CCFF"/>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sz="2800" b="1">
                <a:solidFill>
                  <a:schemeClr val="accent2"/>
                </a:solidFill>
                <a:latin typeface="Times New Roman" panose="02020603050405020304" pitchFamily="18" charset="0"/>
                <a:ea typeface="黑体" panose="02010609060101010101" pitchFamily="49" charset="-122"/>
              </a:rPr>
              <a:t>底 物</a:t>
            </a:r>
            <a:r>
              <a:rPr kumimoji="1" lang="zh-CN" altLang="en-US" sz="2800" b="1">
                <a:solidFill>
                  <a:srgbClr val="990033"/>
                </a:solidFill>
                <a:latin typeface="Times New Roman" panose="02020603050405020304" pitchFamily="18" charset="0"/>
                <a:ea typeface="黑体" panose="02010609060101010101" pitchFamily="49" charset="-122"/>
              </a:rPr>
              <a:t> </a:t>
            </a:r>
          </a:p>
        </p:txBody>
      </p:sp>
      <p:sp>
        <p:nvSpPr>
          <p:cNvPr id="1525765" name="AutoShape 5">
            <a:extLst>
              <a:ext uri="{FF2B5EF4-FFF2-40B4-BE49-F238E27FC236}">
                <a16:creationId xmlns:a16="http://schemas.microsoft.com/office/drawing/2014/main" id="{338EC063-8905-44EB-AD27-AF2E811BE4CB}"/>
              </a:ext>
            </a:extLst>
          </p:cNvPr>
          <p:cNvSpPr>
            <a:spLocks noChangeArrowheads="1"/>
          </p:cNvSpPr>
          <p:nvPr/>
        </p:nvSpPr>
        <p:spPr bwMode="auto">
          <a:xfrm>
            <a:off x="2208214" y="836613"/>
            <a:ext cx="2592387" cy="1008062"/>
          </a:xfrm>
          <a:prstGeom prst="wedgeRoundRectCallout">
            <a:avLst>
              <a:gd name="adj1" fmla="val 74250"/>
              <a:gd name="adj2" fmla="val 258977"/>
              <a:gd name="adj3" fmla="val 16667"/>
            </a:avLst>
          </a:prstGeom>
          <a:solidFill>
            <a:srgbClr val="FFFF66"/>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sz="2800" b="1">
                <a:solidFill>
                  <a:srgbClr val="0000CC"/>
                </a:solidFill>
                <a:latin typeface="Times New Roman" panose="02020603050405020304" pitchFamily="18" charset="0"/>
                <a:ea typeface="黑体" panose="02010609060101010101" pitchFamily="49" charset="-122"/>
              </a:rPr>
              <a:t>活性中心以外的必需基团</a:t>
            </a:r>
          </a:p>
        </p:txBody>
      </p:sp>
      <p:sp>
        <p:nvSpPr>
          <p:cNvPr id="1525766" name="AutoShape 6">
            <a:extLst>
              <a:ext uri="{FF2B5EF4-FFF2-40B4-BE49-F238E27FC236}">
                <a16:creationId xmlns:a16="http://schemas.microsoft.com/office/drawing/2014/main" id="{4B6C6B60-4EBD-4F63-91F5-321A4BDE8E7E}"/>
              </a:ext>
            </a:extLst>
          </p:cNvPr>
          <p:cNvSpPr>
            <a:spLocks noChangeArrowheads="1"/>
          </p:cNvSpPr>
          <p:nvPr/>
        </p:nvSpPr>
        <p:spPr bwMode="auto">
          <a:xfrm>
            <a:off x="2279651" y="5589588"/>
            <a:ext cx="1743075" cy="609600"/>
          </a:xfrm>
          <a:prstGeom prst="wedgeRoundRectCallout">
            <a:avLst>
              <a:gd name="adj1" fmla="val 202005"/>
              <a:gd name="adj2" fmla="val -237500"/>
              <a:gd name="adj3" fmla="val 16667"/>
            </a:avLst>
          </a:prstGeom>
          <a:solidFill>
            <a:srgbClr val="0033CC"/>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b="1">
                <a:solidFill>
                  <a:schemeClr val="bg1"/>
                </a:solidFill>
                <a:latin typeface="Times New Roman" panose="02020603050405020304" pitchFamily="18" charset="0"/>
                <a:ea typeface="黑体" panose="02010609060101010101" pitchFamily="49" charset="-122"/>
              </a:rPr>
              <a:t>结合基团</a:t>
            </a:r>
          </a:p>
        </p:txBody>
      </p:sp>
      <p:sp>
        <p:nvSpPr>
          <p:cNvPr id="1525767" name="AutoShape 7">
            <a:extLst>
              <a:ext uri="{FF2B5EF4-FFF2-40B4-BE49-F238E27FC236}">
                <a16:creationId xmlns:a16="http://schemas.microsoft.com/office/drawing/2014/main" id="{079EAC17-17B3-4488-806E-926B8C3A13B2}"/>
              </a:ext>
            </a:extLst>
          </p:cNvPr>
          <p:cNvSpPr>
            <a:spLocks noChangeArrowheads="1"/>
          </p:cNvSpPr>
          <p:nvPr/>
        </p:nvSpPr>
        <p:spPr bwMode="auto">
          <a:xfrm>
            <a:off x="9753600" y="3657600"/>
            <a:ext cx="914400" cy="609600"/>
          </a:xfrm>
          <a:prstGeom prst="wedgeRoundRectCallout">
            <a:avLst>
              <a:gd name="adj1" fmla="val -43750"/>
              <a:gd name="adj2" fmla="val 70000"/>
              <a:gd name="adj3" fmla="val 16667"/>
            </a:avLst>
          </a:prstGeom>
          <a:noFill/>
          <a:ln w="9525">
            <a:noFill/>
            <a:miter lim="800000"/>
            <a:headEnd/>
            <a:tailEnd/>
          </a:ln>
          <a:effectLst/>
        </p:spPr>
        <p:txBody>
          <a:bodyPr/>
          <a:lstStyle/>
          <a:p>
            <a:pPr algn="ctr" eaLnBrk="1" hangingPunct="1">
              <a:lnSpc>
                <a:spcPct val="90000"/>
              </a:lnSpc>
              <a:spcBef>
                <a:spcPct val="20000"/>
              </a:spcBef>
              <a:buClr>
                <a:schemeClr val="tx2"/>
              </a:buClr>
              <a:buSzPct val="75000"/>
              <a:buFont typeface="Wingdings" pitchFamily="2" charset="2"/>
              <a:buNone/>
              <a:defRPr/>
            </a:pPr>
            <a:endParaRPr kumimoji="1" lang="zh-CN" altLang="zh-CN" sz="2800">
              <a:effectLst>
                <a:outerShdw blurRad="38100" dist="38100" dir="2700000" algn="tl">
                  <a:srgbClr val="C0C0C0"/>
                </a:outerShdw>
              </a:effectLst>
              <a:latin typeface="Times New Roman" pitchFamily="18" charset="0"/>
              <a:ea typeface="黑体" pitchFamily="49" charset="-122"/>
            </a:endParaRPr>
          </a:p>
        </p:txBody>
      </p:sp>
      <p:sp>
        <p:nvSpPr>
          <p:cNvPr id="1525768" name="AutoShape 8">
            <a:extLst>
              <a:ext uri="{FF2B5EF4-FFF2-40B4-BE49-F238E27FC236}">
                <a16:creationId xmlns:a16="http://schemas.microsoft.com/office/drawing/2014/main" id="{D9380FD6-9B50-4F10-BA0A-784B9077A49D}"/>
              </a:ext>
            </a:extLst>
          </p:cNvPr>
          <p:cNvSpPr>
            <a:spLocks noChangeArrowheads="1"/>
          </p:cNvSpPr>
          <p:nvPr/>
        </p:nvSpPr>
        <p:spPr bwMode="auto">
          <a:xfrm>
            <a:off x="8534400" y="3352800"/>
            <a:ext cx="1809750" cy="508000"/>
          </a:xfrm>
          <a:prstGeom prst="wedgeRoundRectCallout">
            <a:avLst>
              <a:gd name="adj1" fmla="val -97370"/>
              <a:gd name="adj2" fmla="val 4065"/>
              <a:gd name="adj3" fmla="val 16667"/>
            </a:avLst>
          </a:prstGeom>
          <a:solidFill>
            <a:srgbClr val="006600"/>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b="1">
                <a:solidFill>
                  <a:schemeClr val="bg1"/>
                </a:solidFill>
                <a:latin typeface="Times New Roman" panose="02020603050405020304" pitchFamily="18" charset="0"/>
                <a:ea typeface="黑体" panose="02010609060101010101" pitchFamily="49" charset="-122"/>
              </a:rPr>
              <a:t>催化基团</a:t>
            </a:r>
            <a:r>
              <a:rPr kumimoji="1" lang="zh-CN" altLang="en-US" sz="2800" b="1">
                <a:solidFill>
                  <a:srgbClr val="006600"/>
                </a:solidFill>
                <a:latin typeface="Times New Roman" panose="02020603050405020304" pitchFamily="18" charset="0"/>
                <a:ea typeface="黑体" panose="02010609060101010101" pitchFamily="49" charset="-122"/>
              </a:rPr>
              <a:t> </a:t>
            </a:r>
          </a:p>
        </p:txBody>
      </p:sp>
      <p:sp>
        <p:nvSpPr>
          <p:cNvPr id="1525769" name="AutoShape 9">
            <a:extLst>
              <a:ext uri="{FF2B5EF4-FFF2-40B4-BE49-F238E27FC236}">
                <a16:creationId xmlns:a16="http://schemas.microsoft.com/office/drawing/2014/main" id="{5AF5D75B-2557-416F-B277-766D345A9F22}"/>
              </a:ext>
            </a:extLst>
          </p:cNvPr>
          <p:cNvSpPr>
            <a:spLocks noChangeArrowheads="1"/>
          </p:cNvSpPr>
          <p:nvPr/>
        </p:nvSpPr>
        <p:spPr bwMode="auto">
          <a:xfrm>
            <a:off x="8305801" y="5867400"/>
            <a:ext cx="1751013" cy="533400"/>
          </a:xfrm>
          <a:prstGeom prst="wedgeRoundRectCallout">
            <a:avLst>
              <a:gd name="adj1" fmla="val -106301"/>
              <a:gd name="adj2" fmla="val -254167"/>
              <a:gd name="adj3" fmla="val 16667"/>
            </a:avLst>
          </a:prstGeom>
          <a:solidFill>
            <a:srgbClr val="800080"/>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b="1">
                <a:solidFill>
                  <a:schemeClr val="bg1"/>
                </a:solidFill>
                <a:latin typeface="Times New Roman" panose="02020603050405020304" pitchFamily="18" charset="0"/>
                <a:ea typeface="黑体" panose="02010609060101010101" pitchFamily="49" charset="-122"/>
              </a:rPr>
              <a:t>活性中心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25769"/>
                                        </p:tgtEl>
                                        <p:attrNameLst>
                                          <p:attrName>style.visibility</p:attrName>
                                        </p:attrNameLst>
                                      </p:cBhvr>
                                      <p:to>
                                        <p:strVal val="visible"/>
                                      </p:to>
                                    </p:set>
                                    <p:animEffect transition="in" filter="randombar(horizontal)">
                                      <p:cBhvr>
                                        <p:cTn id="7" dur="500"/>
                                        <p:tgtEl>
                                          <p:spTgt spid="1525769"/>
                                        </p:tgtEl>
                                      </p:cBhvr>
                                    </p:animEffect>
                                  </p:childTnLst>
                                </p:cTn>
                              </p:par>
                              <p:par>
                                <p:cTn id="8" presetID="1" presetClass="emph" presetSubtype="2" fill="hold" nodeType="withEffect">
                                  <p:stCondLst>
                                    <p:cond delay="0"/>
                                  </p:stCondLst>
                                  <p:childTnLst>
                                    <p:animClr clrSpc="rgb" dir="cw">
                                      <p:cBhvr>
                                        <p:cTn id="9" dur="2000" fill="hold"/>
                                        <p:tgtEl>
                                          <p:spTgt spid="1525762"/>
                                        </p:tgtEl>
                                        <p:attrNameLst>
                                          <p:attrName>fillcolor</p:attrName>
                                        </p:attrNameLst>
                                      </p:cBhvr>
                                      <p:to>
                                        <a:schemeClr val="accent2"/>
                                      </p:to>
                                    </p:animClr>
                                    <p:set>
                                      <p:cBhvr>
                                        <p:cTn id="10" dur="2000" fill="hold"/>
                                        <p:tgtEl>
                                          <p:spTgt spid="1525762"/>
                                        </p:tgtEl>
                                        <p:attrNameLst>
                                          <p:attrName>fill.type</p:attrName>
                                        </p:attrNameLst>
                                      </p:cBhvr>
                                      <p:to>
                                        <p:strVal val="solid"/>
                                      </p:to>
                                    </p:set>
                                    <p:set>
                                      <p:cBhvr>
                                        <p:cTn id="11" dur="2000" fill="hold"/>
                                        <p:tgtEl>
                                          <p:spTgt spid="1525762"/>
                                        </p:tgtEl>
                                        <p:attrNameLst>
                                          <p:attrName>fill.on</p:attrName>
                                        </p:attrNameLst>
                                      </p:cBhvr>
                                      <p:to>
                                        <p:strVal val="tru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1525764"/>
                                        </p:tgtEl>
                                        <p:attrNameLst>
                                          <p:attrName>style.visibility</p:attrName>
                                        </p:attrNameLst>
                                      </p:cBhvr>
                                      <p:to>
                                        <p:strVal val="visible"/>
                                      </p:to>
                                    </p:set>
                                    <p:animEffect transition="in" filter="randombar(horizontal)">
                                      <p:cBhvr>
                                        <p:cTn id="16" dur="500"/>
                                        <p:tgtEl>
                                          <p:spTgt spid="152576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1525766"/>
                                        </p:tgtEl>
                                        <p:attrNameLst>
                                          <p:attrName>style.visibility</p:attrName>
                                        </p:attrNameLst>
                                      </p:cBhvr>
                                      <p:to>
                                        <p:strVal val="visible"/>
                                      </p:to>
                                    </p:set>
                                    <p:animEffect transition="in" filter="randombar(horizontal)">
                                      <p:cBhvr>
                                        <p:cTn id="21" dur="500"/>
                                        <p:tgtEl>
                                          <p:spTgt spid="152576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525768"/>
                                        </p:tgtEl>
                                        <p:attrNameLst>
                                          <p:attrName>style.visibility</p:attrName>
                                        </p:attrNameLst>
                                      </p:cBhvr>
                                      <p:to>
                                        <p:strVal val="visible"/>
                                      </p:to>
                                    </p:set>
                                    <p:animEffect transition="in" filter="randombar(horizontal)">
                                      <p:cBhvr>
                                        <p:cTn id="26" dur="500"/>
                                        <p:tgtEl>
                                          <p:spTgt spid="152576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1525765"/>
                                        </p:tgtEl>
                                        <p:attrNameLst>
                                          <p:attrName>style.visibility</p:attrName>
                                        </p:attrNameLst>
                                      </p:cBhvr>
                                      <p:to>
                                        <p:strVal val="visible"/>
                                      </p:to>
                                    </p:set>
                                    <p:animEffect transition="in" filter="randombar(horizontal)">
                                      <p:cBhvr>
                                        <p:cTn id="31" dur="500"/>
                                        <p:tgtEl>
                                          <p:spTgt spid="1525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64" grpId="0" animBg="1" autoUpdateAnimBg="0"/>
      <p:bldP spid="1525765" grpId="0" animBg="1" autoUpdateAnimBg="0"/>
      <p:bldP spid="1525766" grpId="0" animBg="1" autoUpdateAnimBg="0"/>
      <p:bldP spid="1525768" grpId="0" animBg="1" autoUpdateAnimBg="0"/>
      <p:bldP spid="1525769"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图片 2">
            <a:extLst>
              <a:ext uri="{FF2B5EF4-FFF2-40B4-BE49-F238E27FC236}">
                <a16:creationId xmlns:a16="http://schemas.microsoft.com/office/drawing/2014/main" id="{19D55DE1-E4F7-42E6-86A7-0023E46A6E16}"/>
              </a:ext>
            </a:extLst>
          </p:cNvPr>
          <p:cNvPicPr>
            <a:picLocks noChangeAspect="1"/>
          </p:cNvPicPr>
          <p:nvPr/>
        </p:nvPicPr>
        <p:blipFill>
          <a:blip r:embed="rId3">
            <a:extLst>
              <a:ext uri="{28A0092B-C50C-407E-A947-70E740481C1C}">
                <a14:useLocalDpi xmlns:a14="http://schemas.microsoft.com/office/drawing/2010/main" val="0"/>
              </a:ext>
            </a:extLst>
          </a:blip>
          <a:srcRect l="2246" t="59094" r="48511" b="4546"/>
          <a:stretch>
            <a:fillRect/>
          </a:stretch>
        </p:blipFill>
        <p:spPr bwMode="auto">
          <a:xfrm>
            <a:off x="1529480" y="2040278"/>
            <a:ext cx="491172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79" name="内容占位符 1">
            <a:extLst>
              <a:ext uri="{FF2B5EF4-FFF2-40B4-BE49-F238E27FC236}">
                <a16:creationId xmlns:a16="http://schemas.microsoft.com/office/drawing/2014/main" id="{21E23F43-5021-461D-A3D5-711DCFA1B172}"/>
              </a:ext>
            </a:extLst>
          </p:cNvPr>
          <p:cNvSpPr>
            <a:spLocks noGrp="1" noChangeArrowheads="1"/>
          </p:cNvSpPr>
          <p:nvPr>
            <p:ph/>
          </p:nvPr>
        </p:nvSpPr>
        <p:spPr>
          <a:xfrm>
            <a:off x="1849286" y="4921548"/>
            <a:ext cx="4081462" cy="590550"/>
          </a:xfrm>
        </p:spPr>
        <p:txBody>
          <a:bodyPr/>
          <a:lstStyle/>
          <a:p>
            <a:pPr marL="0" indent="0">
              <a:buNone/>
            </a:pPr>
            <a:r>
              <a:rPr lang="zh-CN" altLang="en-US" sz="2800" b="1" dirty="0"/>
              <a:t>图中黑色： 底物肽聚糖 </a:t>
            </a:r>
          </a:p>
        </p:txBody>
      </p:sp>
      <p:pic>
        <p:nvPicPr>
          <p:cNvPr id="75780" name="图片 2">
            <a:extLst>
              <a:ext uri="{FF2B5EF4-FFF2-40B4-BE49-F238E27FC236}">
                <a16:creationId xmlns:a16="http://schemas.microsoft.com/office/drawing/2014/main" id="{6F07675C-01D3-4B19-9801-9C388A4E0807}"/>
              </a:ext>
            </a:extLst>
          </p:cNvPr>
          <p:cNvPicPr>
            <a:picLocks noChangeAspect="1"/>
          </p:cNvPicPr>
          <p:nvPr/>
        </p:nvPicPr>
        <p:blipFill>
          <a:blip r:embed="rId3">
            <a:extLst>
              <a:ext uri="{28A0092B-C50C-407E-A947-70E740481C1C}">
                <a14:useLocalDpi xmlns:a14="http://schemas.microsoft.com/office/drawing/2010/main" val="0"/>
              </a:ext>
            </a:extLst>
          </a:blip>
          <a:srcRect l="53720"/>
          <a:stretch>
            <a:fillRect/>
          </a:stretch>
        </p:blipFill>
        <p:spPr bwMode="auto">
          <a:xfrm>
            <a:off x="7608168" y="525462"/>
            <a:ext cx="3168352" cy="421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1" name="矩形 1">
            <a:extLst>
              <a:ext uri="{FF2B5EF4-FFF2-40B4-BE49-F238E27FC236}">
                <a16:creationId xmlns:a16="http://schemas.microsoft.com/office/drawing/2014/main" id="{CCE42396-4C00-4B99-AD09-A6AA76CF85A6}"/>
              </a:ext>
            </a:extLst>
          </p:cNvPr>
          <p:cNvSpPr>
            <a:spLocks noChangeArrowheads="1"/>
          </p:cNvSpPr>
          <p:nvPr/>
        </p:nvSpPr>
        <p:spPr bwMode="auto">
          <a:xfrm>
            <a:off x="2039939" y="525462"/>
            <a:ext cx="3890809" cy="824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3600" b="1" dirty="0">
                <a:solidFill>
                  <a:srgbClr val="006600"/>
                </a:solidFill>
              </a:rPr>
              <a:t>溶菌酶的活性中心</a:t>
            </a:r>
            <a:endParaRPr lang="en-US" altLang="zh-CN" sz="3600" b="1" dirty="0"/>
          </a:p>
        </p:txBody>
      </p:sp>
      <p:sp>
        <p:nvSpPr>
          <p:cNvPr id="3" name="文本框 2">
            <a:extLst>
              <a:ext uri="{FF2B5EF4-FFF2-40B4-BE49-F238E27FC236}">
                <a16:creationId xmlns:a16="http://schemas.microsoft.com/office/drawing/2014/main" id="{E259DB8C-DCAA-6658-F9BB-5BCA5A32DCAF}"/>
              </a:ext>
            </a:extLst>
          </p:cNvPr>
          <p:cNvSpPr txBox="1"/>
          <p:nvPr/>
        </p:nvSpPr>
        <p:spPr>
          <a:xfrm>
            <a:off x="6744072" y="5301208"/>
            <a:ext cx="4824536" cy="923330"/>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该酶广泛存在于人体中，比如眼泪、唾液、血浆、尿、乳汁等体液。鸟类和家禽的蛋清以及微生物中也含此酶，以蛋清含量最为丰富。</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a:extLst>
              <a:ext uri="{FF2B5EF4-FFF2-40B4-BE49-F238E27FC236}">
                <a16:creationId xmlns:a16="http://schemas.microsoft.com/office/drawing/2014/main" id="{BCB60505-F6E4-4E05-AF27-44450BFEC92F}"/>
              </a:ext>
            </a:extLst>
          </p:cNvPr>
          <p:cNvSpPr txBox="1">
            <a:spLocks noChangeArrowheads="1"/>
          </p:cNvSpPr>
          <p:nvPr/>
        </p:nvSpPr>
        <p:spPr bwMode="auto">
          <a:xfrm>
            <a:off x="6594689" y="5085184"/>
            <a:ext cx="381635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marL="355600" indent="-355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10000"/>
              </a:lnSpc>
              <a:spcBef>
                <a:spcPct val="0"/>
              </a:spcBef>
              <a:buSzPct val="80000"/>
              <a:buFont typeface="Wingdings" panose="05000000000000000000" pitchFamily="2" charset="2"/>
              <a:buNone/>
            </a:pPr>
            <a:r>
              <a:rPr lang="zh-CN" altLang="en-US" b="1" dirty="0">
                <a:solidFill>
                  <a:srgbClr val="0000CC"/>
                </a:solidFill>
                <a:latin typeface="Times New Roman" panose="02020603050405020304" pitchFamily="18" charset="0"/>
                <a:ea typeface="黑体" panose="02010609060101010101" pitchFamily="49" charset="-122"/>
              </a:rPr>
              <a:t>溶菌酶的活性中心</a:t>
            </a:r>
          </a:p>
        </p:txBody>
      </p:sp>
      <p:pic>
        <p:nvPicPr>
          <p:cNvPr id="82947" name="Picture 3" descr="溶菌酶的活性中心">
            <a:extLst>
              <a:ext uri="{FF2B5EF4-FFF2-40B4-BE49-F238E27FC236}">
                <a16:creationId xmlns:a16="http://schemas.microsoft.com/office/drawing/2014/main" id="{003E2F30-E638-46E5-AA24-53F56EA852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5541" y="930455"/>
            <a:ext cx="4632987" cy="4029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8" name="Text Box 4">
            <a:extLst>
              <a:ext uri="{FF2B5EF4-FFF2-40B4-BE49-F238E27FC236}">
                <a16:creationId xmlns:a16="http://schemas.microsoft.com/office/drawing/2014/main" id="{4E80148C-FD58-45D3-8DA8-EE5BBDA4336B}"/>
              </a:ext>
            </a:extLst>
          </p:cNvPr>
          <p:cNvSpPr txBox="1">
            <a:spLocks noChangeArrowheads="1"/>
          </p:cNvSpPr>
          <p:nvPr/>
        </p:nvSpPr>
        <p:spPr bwMode="auto">
          <a:xfrm>
            <a:off x="663636" y="1324113"/>
            <a:ext cx="5216340" cy="211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20000"/>
              </a:lnSpc>
              <a:spcBef>
                <a:spcPct val="0"/>
              </a:spcBef>
              <a:buClr>
                <a:srgbClr val="0000FF"/>
              </a:buClr>
              <a:buFont typeface="Wingdings" panose="05000000000000000000" pitchFamily="2" charset="2"/>
              <a:buChar char="Ø"/>
            </a:pPr>
            <a:r>
              <a:rPr kumimoji="1" lang="zh-CN" altLang="en-US" sz="2800" b="1" dirty="0">
                <a:latin typeface="Times New Roman" panose="02020603050405020304" pitchFamily="18" charset="0"/>
                <a:ea typeface="黑体" panose="02010609060101010101" pitchFamily="49" charset="-122"/>
              </a:rPr>
              <a:t>溶菌酶的活性中心是一</a:t>
            </a:r>
            <a:r>
              <a:rPr kumimoji="1" lang="zh-CN" altLang="en-US" sz="2800" b="1" dirty="0">
                <a:solidFill>
                  <a:srgbClr val="FF3300"/>
                </a:solidFill>
                <a:latin typeface="Times New Roman" panose="02020603050405020304" pitchFamily="18" charset="0"/>
                <a:ea typeface="黑体" panose="02010609060101010101" pitchFamily="49" charset="-122"/>
              </a:rPr>
              <a:t>裂隙（</a:t>
            </a:r>
            <a:r>
              <a:rPr kumimoji="1" lang="en-US" altLang="zh-CN" sz="2800" b="1" dirty="0">
                <a:solidFill>
                  <a:srgbClr val="FF3300"/>
                </a:solidFill>
                <a:latin typeface="Times New Roman" panose="02020603050405020304" pitchFamily="18" charset="0"/>
                <a:ea typeface="黑体" panose="02010609060101010101" pitchFamily="49" charset="-122"/>
              </a:rPr>
              <a:t>cleft</a:t>
            </a:r>
            <a:r>
              <a:rPr kumimoji="1" lang="zh-CN" altLang="en-US" sz="2800" b="1" dirty="0">
                <a:solidFill>
                  <a:srgbClr val="FF3300"/>
                </a:solidFill>
                <a:latin typeface="Times New Roman" panose="02020603050405020304" pitchFamily="18" charset="0"/>
                <a:ea typeface="黑体" panose="02010609060101010101" pitchFamily="49" charset="-122"/>
              </a:rPr>
              <a:t>）</a:t>
            </a:r>
            <a:r>
              <a:rPr kumimoji="1" lang="zh-CN" altLang="en-US" sz="2800" b="1" dirty="0">
                <a:latin typeface="Times New Roman" panose="02020603050405020304" pitchFamily="18" charset="0"/>
                <a:ea typeface="黑体" panose="02010609060101010101" pitchFamily="49" charset="-122"/>
              </a:rPr>
              <a:t>，可以容纳肽聚糖的</a:t>
            </a:r>
            <a:r>
              <a:rPr kumimoji="1" lang="en-US" altLang="zh-CN" sz="2800" b="1" dirty="0">
                <a:latin typeface="Times New Roman" panose="02020603050405020304" pitchFamily="18" charset="0"/>
                <a:ea typeface="黑体" panose="02010609060101010101" pitchFamily="49" charset="-122"/>
              </a:rPr>
              <a:t>6</a:t>
            </a:r>
            <a:r>
              <a:rPr kumimoji="1" lang="zh-CN" altLang="en-US" sz="2800" b="1" dirty="0">
                <a:latin typeface="Times New Roman" panose="02020603050405020304" pitchFamily="18" charset="0"/>
                <a:ea typeface="黑体" panose="02010609060101010101" pitchFamily="49" charset="-122"/>
              </a:rPr>
              <a:t>个单糖基（</a:t>
            </a:r>
            <a:r>
              <a:rPr kumimoji="1" lang="en-US" altLang="zh-CN" sz="2800" b="1" dirty="0">
                <a:latin typeface="Times New Roman" panose="02020603050405020304" pitchFamily="18" charset="0"/>
                <a:ea typeface="黑体" panose="02010609060101010101" pitchFamily="49" charset="-122"/>
              </a:rPr>
              <a:t>A</a:t>
            </a:r>
            <a:r>
              <a:rPr kumimoji="1" lang="zh-CN" altLang="en-US" sz="2800" b="1" dirty="0">
                <a:latin typeface="Times New Roman" panose="02020603050405020304" pitchFamily="18" charset="0"/>
                <a:ea typeface="黑体" panose="02010609060101010101" pitchFamily="49" charset="-122"/>
              </a:rPr>
              <a:t>，</a:t>
            </a:r>
            <a:r>
              <a:rPr kumimoji="1" lang="en-US" altLang="zh-CN" sz="2800" b="1" dirty="0">
                <a:latin typeface="Times New Roman" panose="02020603050405020304" pitchFamily="18" charset="0"/>
                <a:ea typeface="黑体" panose="02010609060101010101" pitchFamily="49" charset="-122"/>
              </a:rPr>
              <a:t>B</a:t>
            </a:r>
            <a:r>
              <a:rPr kumimoji="1" lang="zh-CN" altLang="en-US" sz="2800" b="1" dirty="0">
                <a:latin typeface="Times New Roman" panose="02020603050405020304" pitchFamily="18" charset="0"/>
                <a:ea typeface="黑体" panose="02010609060101010101" pitchFamily="49" charset="-122"/>
              </a:rPr>
              <a:t>，</a:t>
            </a:r>
            <a:r>
              <a:rPr kumimoji="1" lang="en-US" altLang="zh-CN" sz="2800" b="1" dirty="0">
                <a:latin typeface="Times New Roman" panose="02020603050405020304" pitchFamily="18" charset="0"/>
                <a:ea typeface="黑体" panose="02010609060101010101" pitchFamily="49" charset="-122"/>
              </a:rPr>
              <a:t>C</a:t>
            </a:r>
            <a:r>
              <a:rPr kumimoji="1" lang="zh-CN" altLang="en-US" sz="2800" b="1" dirty="0">
                <a:latin typeface="Times New Roman" panose="02020603050405020304" pitchFamily="18" charset="0"/>
                <a:ea typeface="黑体" panose="02010609060101010101" pitchFamily="49" charset="-122"/>
              </a:rPr>
              <a:t>，</a:t>
            </a:r>
            <a:r>
              <a:rPr kumimoji="1" lang="en-US" altLang="zh-CN" sz="2800" b="1" dirty="0">
                <a:solidFill>
                  <a:srgbClr val="0000CC"/>
                </a:solidFill>
                <a:latin typeface="Times New Roman" panose="02020603050405020304" pitchFamily="18" charset="0"/>
                <a:ea typeface="黑体" panose="02010609060101010101" pitchFamily="49" charset="-122"/>
              </a:rPr>
              <a:t>D</a:t>
            </a:r>
            <a:r>
              <a:rPr kumimoji="1" lang="zh-CN" altLang="en-US" sz="2800" b="1" dirty="0">
                <a:solidFill>
                  <a:srgbClr val="0000CC"/>
                </a:solidFill>
                <a:latin typeface="Times New Roman" panose="02020603050405020304" pitchFamily="18" charset="0"/>
                <a:ea typeface="黑体" panose="02010609060101010101" pitchFamily="49" charset="-122"/>
              </a:rPr>
              <a:t>，</a:t>
            </a:r>
            <a:r>
              <a:rPr kumimoji="1" lang="en-US" altLang="zh-CN" sz="2800" b="1" dirty="0">
                <a:solidFill>
                  <a:srgbClr val="0000CC"/>
                </a:solidFill>
                <a:latin typeface="Times New Roman" panose="02020603050405020304" pitchFamily="18" charset="0"/>
                <a:ea typeface="黑体" panose="02010609060101010101" pitchFamily="49" charset="-122"/>
              </a:rPr>
              <a:t>E</a:t>
            </a:r>
            <a:r>
              <a:rPr kumimoji="1" lang="zh-CN" altLang="en-US" sz="2800" b="1" dirty="0">
                <a:latin typeface="Times New Roman" panose="02020603050405020304" pitchFamily="18" charset="0"/>
                <a:ea typeface="黑体" panose="02010609060101010101" pitchFamily="49" charset="-122"/>
              </a:rPr>
              <a:t>，</a:t>
            </a:r>
            <a:r>
              <a:rPr kumimoji="1" lang="en-US" altLang="zh-CN" sz="2800" b="1" dirty="0">
                <a:latin typeface="Times New Roman" panose="02020603050405020304" pitchFamily="18" charset="0"/>
                <a:ea typeface="黑体" panose="02010609060101010101" pitchFamily="49" charset="-122"/>
              </a:rPr>
              <a:t>F</a:t>
            </a:r>
            <a:r>
              <a:rPr kumimoji="1" lang="zh-CN" altLang="en-US" sz="2800" b="1" dirty="0">
                <a:latin typeface="Times New Roman" panose="02020603050405020304" pitchFamily="18" charset="0"/>
                <a:ea typeface="黑体" panose="02010609060101010101" pitchFamily="49" charset="-122"/>
              </a:rPr>
              <a:t>），并与之形成次级键</a:t>
            </a:r>
          </a:p>
        </p:txBody>
      </p:sp>
      <p:sp>
        <p:nvSpPr>
          <p:cNvPr id="75781" name="矩形 1">
            <a:extLst>
              <a:ext uri="{FF2B5EF4-FFF2-40B4-BE49-F238E27FC236}">
                <a16:creationId xmlns:a16="http://schemas.microsoft.com/office/drawing/2014/main" id="{9BEC336D-4362-4719-904C-6141B4D600C5}"/>
              </a:ext>
            </a:extLst>
          </p:cNvPr>
          <p:cNvSpPr>
            <a:spLocks noChangeArrowheads="1"/>
          </p:cNvSpPr>
          <p:nvPr/>
        </p:nvSpPr>
        <p:spPr bwMode="auto">
          <a:xfrm>
            <a:off x="983432" y="4219809"/>
            <a:ext cx="4248472" cy="1479444"/>
          </a:xfrm>
          <a:prstGeom prst="rect">
            <a:avLst/>
          </a:prstGeom>
          <a:noFill/>
          <a:ln w="9525">
            <a:solidFill>
              <a:srgbClr val="008000"/>
            </a:solidFill>
            <a:miter lim="800000"/>
            <a:headEnd/>
            <a:tailEnd/>
          </a:ln>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Tx/>
              <a:buNone/>
              <a:defRPr/>
            </a:pPr>
            <a:r>
              <a:rPr lang="en-US" altLang="zh-CN" sz="2400" dirty="0">
                <a:solidFill>
                  <a:srgbClr val="0000CC"/>
                </a:solidFill>
                <a:latin typeface="Arial" panose="020B0604020202020204" pitchFamily="34" charset="0"/>
                <a:cs typeface="Arial" panose="020B0604020202020204" pitchFamily="34" charset="0"/>
              </a:rPr>
              <a:t>Glu</a:t>
            </a:r>
            <a:r>
              <a:rPr lang="en-US" altLang="zh-CN" sz="2400" baseline="30000" dirty="0">
                <a:solidFill>
                  <a:srgbClr val="0000CC"/>
                </a:solidFill>
                <a:latin typeface="Arial" panose="020B0604020202020204" pitchFamily="34" charset="0"/>
                <a:cs typeface="Arial" panose="020B0604020202020204" pitchFamily="34" charset="0"/>
              </a:rPr>
              <a:t>35</a:t>
            </a:r>
            <a:r>
              <a:rPr lang="zh-CN" altLang="en-US" sz="2400" dirty="0">
                <a:solidFill>
                  <a:srgbClr val="0000CC"/>
                </a:solidFill>
                <a:latin typeface="Arial" panose="020B0604020202020204" pitchFamily="34" charset="0"/>
                <a:cs typeface="Arial" panose="020B0604020202020204" pitchFamily="34" charset="0"/>
              </a:rPr>
              <a:t>与</a:t>
            </a:r>
            <a:r>
              <a:rPr lang="en-US" altLang="zh-CN" sz="2400" dirty="0">
                <a:solidFill>
                  <a:srgbClr val="0000CC"/>
                </a:solidFill>
                <a:latin typeface="Arial" panose="020B0604020202020204" pitchFamily="34" charset="0"/>
                <a:cs typeface="Arial" panose="020B0604020202020204" pitchFamily="34" charset="0"/>
              </a:rPr>
              <a:t>Asp</a:t>
            </a:r>
            <a:r>
              <a:rPr lang="en-US" altLang="zh-CN" sz="2400" baseline="30000" dirty="0">
                <a:solidFill>
                  <a:srgbClr val="0000CC"/>
                </a:solidFill>
                <a:latin typeface="Arial" panose="020B0604020202020204" pitchFamily="34" charset="0"/>
                <a:cs typeface="Arial" panose="020B0604020202020204" pitchFamily="34" charset="0"/>
              </a:rPr>
              <a:t>52</a:t>
            </a:r>
            <a:r>
              <a:rPr lang="zh-CN" altLang="en-US" sz="2400" dirty="0">
                <a:solidFill>
                  <a:srgbClr val="0000CC"/>
                </a:solidFill>
                <a:latin typeface="Arial" panose="020B0604020202020204" pitchFamily="34" charset="0"/>
                <a:cs typeface="Arial" panose="020B0604020202020204" pitchFamily="34" charset="0"/>
              </a:rPr>
              <a:t>催化</a:t>
            </a:r>
            <a:r>
              <a:rPr lang="en-US" altLang="zh-CN" sz="2400" dirty="0">
                <a:solidFill>
                  <a:srgbClr val="0000CC"/>
                </a:solidFill>
                <a:latin typeface="Arial" panose="020B0604020202020204" pitchFamily="34" charset="0"/>
                <a:cs typeface="Arial" panose="020B0604020202020204" pitchFamily="34" charset="0"/>
              </a:rPr>
              <a:t>D</a:t>
            </a:r>
            <a:r>
              <a:rPr lang="zh-CN" altLang="en-US" sz="2400" dirty="0">
                <a:solidFill>
                  <a:srgbClr val="0000CC"/>
                </a:solidFill>
                <a:latin typeface="Arial" panose="020B0604020202020204" pitchFamily="34" charset="0"/>
                <a:cs typeface="Arial" panose="020B0604020202020204" pitchFamily="34" charset="0"/>
              </a:rPr>
              <a:t>和</a:t>
            </a:r>
            <a:r>
              <a:rPr lang="en-US" altLang="zh-CN" sz="2400" dirty="0">
                <a:solidFill>
                  <a:srgbClr val="0000CC"/>
                </a:solidFill>
                <a:latin typeface="Arial" panose="020B0604020202020204" pitchFamily="34" charset="0"/>
                <a:cs typeface="Arial" panose="020B0604020202020204" pitchFamily="34" charset="0"/>
              </a:rPr>
              <a:t>E</a:t>
            </a:r>
            <a:r>
              <a:rPr lang="zh-CN" altLang="en-US" sz="2400" dirty="0">
                <a:solidFill>
                  <a:srgbClr val="0000CC"/>
                </a:solidFill>
                <a:latin typeface="Arial" panose="020B0604020202020204" pitchFamily="34" charset="0"/>
                <a:cs typeface="Arial" panose="020B0604020202020204" pitchFamily="34" charset="0"/>
              </a:rPr>
              <a:t>之间的糖苷键断裂     </a:t>
            </a:r>
            <a:endParaRPr lang="en-US" altLang="zh-CN" sz="2400" dirty="0">
              <a:solidFill>
                <a:srgbClr val="0000CC"/>
              </a:solidFill>
              <a:latin typeface="Arial" panose="020B0604020202020204" pitchFamily="34" charset="0"/>
              <a:cs typeface="Arial" panose="020B0604020202020204" pitchFamily="34" charset="0"/>
            </a:endParaRPr>
          </a:p>
          <a:p>
            <a:pPr eaLnBrk="1" hangingPunct="1">
              <a:lnSpc>
                <a:spcPct val="130000"/>
              </a:lnSpc>
              <a:spcBef>
                <a:spcPct val="0"/>
              </a:spcBef>
              <a:buFontTx/>
              <a:buNone/>
              <a:defRPr/>
            </a:pPr>
            <a:r>
              <a:rPr lang="zh-CN" altLang="en-US" sz="2400" dirty="0">
                <a:solidFill>
                  <a:srgbClr val="0000CC"/>
                </a:solidFill>
                <a:latin typeface="Arial" panose="020B0604020202020204" pitchFamily="34" charset="0"/>
                <a:cs typeface="Arial" panose="020B0604020202020204" pitchFamily="34" charset="0"/>
              </a:rPr>
              <a:t> </a:t>
            </a:r>
            <a:r>
              <a:rPr lang="en-US" altLang="zh-CN" sz="2400" dirty="0">
                <a:solidFill>
                  <a:schemeClr val="tx1">
                    <a:lumMod val="95000"/>
                    <a:lumOff val="5000"/>
                  </a:schemeClr>
                </a:solidFill>
                <a:latin typeface="Arial" panose="020B0604020202020204" pitchFamily="34" charset="0"/>
                <a:cs typeface="Arial" panose="020B0604020202020204" pitchFamily="34" charset="0"/>
              </a:rPr>
              <a:t>Asp</a:t>
            </a:r>
            <a:r>
              <a:rPr lang="en-US" altLang="zh-CN" sz="2400" baseline="30000" dirty="0">
                <a:solidFill>
                  <a:schemeClr val="tx1">
                    <a:lumMod val="95000"/>
                    <a:lumOff val="5000"/>
                  </a:schemeClr>
                </a:solidFill>
                <a:latin typeface="Arial" panose="020B0604020202020204" pitchFamily="34" charset="0"/>
                <a:cs typeface="Arial" panose="020B0604020202020204" pitchFamily="34" charset="0"/>
              </a:rPr>
              <a:t>101</a:t>
            </a:r>
            <a:r>
              <a:rPr lang="zh-CN" altLang="en-US" sz="2400" dirty="0">
                <a:solidFill>
                  <a:schemeClr val="tx1">
                    <a:lumMod val="95000"/>
                    <a:lumOff val="5000"/>
                  </a:schemeClr>
                </a:solidFill>
                <a:latin typeface="Arial" panose="020B0604020202020204" pitchFamily="34" charset="0"/>
                <a:cs typeface="Arial" panose="020B0604020202020204" pitchFamily="34" charset="0"/>
              </a:rPr>
              <a:t>与 </a:t>
            </a:r>
            <a:r>
              <a:rPr lang="en-US" altLang="zh-CN" sz="2400" dirty="0">
                <a:solidFill>
                  <a:schemeClr val="tx1">
                    <a:lumMod val="95000"/>
                    <a:lumOff val="5000"/>
                  </a:schemeClr>
                </a:solidFill>
                <a:latin typeface="Arial" panose="020B0604020202020204" pitchFamily="34" charset="0"/>
                <a:cs typeface="Arial" panose="020B0604020202020204" pitchFamily="34" charset="0"/>
              </a:rPr>
              <a:t>Trp</a:t>
            </a:r>
            <a:r>
              <a:rPr lang="en-US" altLang="zh-CN" sz="2400" baseline="30000" dirty="0">
                <a:solidFill>
                  <a:schemeClr val="tx1">
                    <a:lumMod val="95000"/>
                    <a:lumOff val="5000"/>
                  </a:schemeClr>
                </a:solidFill>
                <a:latin typeface="Arial" panose="020B0604020202020204" pitchFamily="34" charset="0"/>
                <a:cs typeface="Arial" panose="020B0604020202020204" pitchFamily="34" charset="0"/>
              </a:rPr>
              <a:t>108</a:t>
            </a:r>
            <a:r>
              <a:rPr lang="en-US" altLang="zh-CN" sz="2400" dirty="0">
                <a:solidFill>
                  <a:schemeClr val="tx1">
                    <a:lumMod val="95000"/>
                    <a:lumOff val="5000"/>
                  </a:schemeClr>
                </a:solidFill>
                <a:latin typeface="Arial" panose="020B0604020202020204" pitchFamily="34" charset="0"/>
                <a:cs typeface="Arial" panose="020B0604020202020204" pitchFamily="34" charset="0"/>
              </a:rPr>
              <a:t> </a:t>
            </a:r>
            <a:r>
              <a:rPr lang="zh-CN" altLang="en-US" sz="2400" dirty="0">
                <a:solidFill>
                  <a:schemeClr val="tx1">
                    <a:lumMod val="95000"/>
                    <a:lumOff val="5000"/>
                  </a:schemeClr>
                </a:solidFill>
                <a:latin typeface="Arial" panose="020B0604020202020204" pitchFamily="34" charset="0"/>
                <a:cs typeface="Arial" panose="020B0604020202020204" pitchFamily="34" charset="0"/>
              </a:rPr>
              <a:t>是结合基团</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C47EFA8F-3BBD-4446-84F0-9830C7B53833}"/>
              </a:ext>
            </a:extLst>
          </p:cNvPr>
          <p:cNvSpPr>
            <a:spLocks noGrp="1" noChangeArrowheads="1"/>
          </p:cNvSpPr>
          <p:nvPr>
            <p:ph type="body" idx="1"/>
          </p:nvPr>
        </p:nvSpPr>
        <p:spPr bwMode="white">
          <a:xfrm>
            <a:off x="3468452" y="332656"/>
            <a:ext cx="5255096" cy="722313"/>
          </a:xfrm>
        </p:spPr>
        <p:txBody>
          <a:bodyPr anchor="ctr"/>
          <a:lstStyle/>
          <a:p>
            <a:pPr marL="0" indent="0" eaLnBrk="1" hangingPunct="1">
              <a:spcBef>
                <a:spcPct val="0"/>
              </a:spcBef>
              <a:buNone/>
            </a:pPr>
            <a:r>
              <a:rPr lang="en-US" altLang="zh-CN" sz="3600" b="0" dirty="0">
                <a:solidFill>
                  <a:srgbClr val="FF3300"/>
                </a:solidFill>
                <a:latin typeface="黑体" panose="02010609060101010101" pitchFamily="49" charset="-122"/>
                <a:ea typeface="黑体" panose="02010609060101010101" pitchFamily="49" charset="-122"/>
              </a:rPr>
              <a:t>   </a:t>
            </a:r>
            <a:r>
              <a:rPr lang="zh-CN" altLang="en-US" sz="3600" b="0" dirty="0">
                <a:solidFill>
                  <a:srgbClr val="FF3300"/>
                </a:solidFill>
                <a:latin typeface="黑体" panose="02010609060101010101" pitchFamily="49" charset="-122"/>
                <a:ea typeface="黑体" panose="02010609060101010101" pitchFamily="49" charset="-122"/>
              </a:rPr>
              <a:t>酶活性中心的特点</a:t>
            </a:r>
          </a:p>
        </p:txBody>
      </p:sp>
      <p:sp>
        <p:nvSpPr>
          <p:cNvPr id="1529861" name="Rectangle 5">
            <a:extLst>
              <a:ext uri="{FF2B5EF4-FFF2-40B4-BE49-F238E27FC236}">
                <a16:creationId xmlns:a16="http://schemas.microsoft.com/office/drawing/2014/main" id="{1BE9D5CF-3C3C-4C92-BD54-F529C3B6BB24}"/>
              </a:ext>
            </a:extLst>
          </p:cNvPr>
          <p:cNvSpPr>
            <a:spLocks noChangeArrowheads="1"/>
          </p:cNvSpPr>
          <p:nvPr/>
        </p:nvSpPr>
        <p:spPr bwMode="auto">
          <a:xfrm>
            <a:off x="1271464" y="1464303"/>
            <a:ext cx="10009112" cy="4829848"/>
          </a:xfrm>
          <a:prstGeom prst="rect">
            <a:avLst/>
          </a:prstGeom>
          <a:noFill/>
          <a:ln>
            <a:noFill/>
          </a:ln>
        </p:spPr>
        <p:txBody>
          <a:bodyPr wrap="square">
            <a:spAutoFit/>
          </a:bodyPr>
          <a:lstStyle/>
          <a:p>
            <a:pPr marL="504000" indent="-540000" eaLnBrk="1" hangingPunct="1">
              <a:lnSpc>
                <a:spcPct val="120000"/>
              </a:lnSpc>
              <a:buFont typeface="+mj-lt"/>
              <a:buAutoNum type="arabicPeriod"/>
              <a:defRPr/>
            </a:pPr>
            <a:r>
              <a:rPr kumimoji="1" lang="zh-CN" altLang="en-US" sz="2600" dirty="0">
                <a:solidFill>
                  <a:schemeClr val="tx1">
                    <a:lumMod val="95000"/>
                    <a:lumOff val="5000"/>
                  </a:schemeClr>
                </a:solidFill>
                <a:latin typeface="黑体" panose="02010609060101010101" pitchFamily="49" charset="-122"/>
                <a:ea typeface="黑体" panose="02010609060101010101" pitchFamily="49" charset="-122"/>
              </a:rPr>
              <a:t>活性中心在酶分子整个体积中只占很小的一部分，或为</a:t>
            </a:r>
            <a:r>
              <a:rPr kumimoji="1" lang="zh-CN" altLang="en-US" sz="2600" dirty="0">
                <a:solidFill>
                  <a:srgbClr val="0000CC"/>
                </a:solidFill>
                <a:latin typeface="黑体" panose="02010609060101010101" pitchFamily="49" charset="-122"/>
                <a:ea typeface="黑体" panose="02010609060101010101" pitchFamily="49" charset="-122"/>
              </a:rPr>
              <a:t>裂缝，或为凹陷</a:t>
            </a:r>
            <a:r>
              <a:rPr kumimoji="1" lang="zh-CN" altLang="en-US" sz="2600" dirty="0">
                <a:solidFill>
                  <a:schemeClr val="tx1">
                    <a:lumMod val="95000"/>
                    <a:lumOff val="5000"/>
                  </a:schemeClr>
                </a:solidFill>
                <a:latin typeface="黑体" panose="02010609060101010101" pitchFamily="49" charset="-122"/>
                <a:ea typeface="黑体" panose="02010609060101010101" pitchFamily="49" charset="-122"/>
              </a:rPr>
              <a:t>，</a:t>
            </a: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多为</a:t>
            </a:r>
            <a:r>
              <a:rPr lang="zh-CN" altLang="en-US" sz="2600" dirty="0">
                <a:solidFill>
                  <a:srgbClr val="FF0000"/>
                </a:solidFill>
                <a:latin typeface="黑体" panose="02010609060101010101" pitchFamily="49" charset="-122"/>
                <a:ea typeface="黑体" panose="02010609060101010101" pitchFamily="49" charset="-122"/>
              </a:rPr>
              <a:t>疏水空穴、</a:t>
            </a:r>
            <a:r>
              <a:rPr kumimoji="1" lang="zh-CN" altLang="en-US" sz="2600" dirty="0">
                <a:solidFill>
                  <a:srgbClr val="FF0000"/>
                </a:solidFill>
                <a:latin typeface="黑体" panose="02010609060101010101" pitchFamily="49" charset="-122"/>
                <a:ea typeface="黑体" panose="02010609060101010101" pitchFamily="49" charset="-122"/>
              </a:rPr>
              <a:t>疏水“口袋”</a:t>
            </a:r>
            <a:r>
              <a:rPr kumimoji="1" lang="zh-CN" altLang="en-US" sz="2600" dirty="0">
                <a:latin typeface="黑体" panose="02010609060101010101" pitchFamily="49" charset="-122"/>
                <a:ea typeface="黑体" panose="02010609060101010101" pitchFamily="49" charset="-122"/>
              </a:rPr>
              <a:t>（</a:t>
            </a: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除非作为底物，水分子通常被排除在活心中心以外，以免干扰反应；</a:t>
            </a:r>
            <a:r>
              <a:rPr lang="zh-CN" altLang="en-US" sz="2600" dirty="0">
                <a:latin typeface="黑体" panose="02010609060101010101" pitchFamily="49" charset="-122"/>
                <a:ea typeface="黑体" panose="02010609060101010101" pitchFamily="49" charset="-122"/>
              </a:rPr>
              <a:t>进入</a:t>
            </a: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活性中心的底物通常</a:t>
            </a:r>
            <a:r>
              <a:rPr lang="zh-CN" altLang="en-US" sz="2600" dirty="0">
                <a:solidFill>
                  <a:srgbClr val="0000CC"/>
                </a:solidFill>
                <a:latin typeface="黑体" panose="02010609060101010101" pitchFamily="49" charset="-122"/>
                <a:ea typeface="黑体" panose="02010609060101010101" pitchFamily="49" charset="-122"/>
              </a:rPr>
              <a:t>去溶剂化</a:t>
            </a: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 </a:t>
            </a:r>
            <a:endParaRPr kumimoji="1" lang="en-US" altLang="zh-CN" sz="2600" dirty="0">
              <a:solidFill>
                <a:srgbClr val="FF0000"/>
              </a:solidFill>
              <a:latin typeface="黑体" panose="02010609060101010101" pitchFamily="49" charset="-122"/>
              <a:ea typeface="黑体" panose="02010609060101010101" pitchFamily="49" charset="-122"/>
            </a:endParaRPr>
          </a:p>
          <a:p>
            <a:pPr marL="514350" indent="-514350" eaLnBrk="1" hangingPunct="1">
              <a:lnSpc>
                <a:spcPct val="120000"/>
              </a:lnSpc>
              <a:buFont typeface="+mj-lt"/>
              <a:buAutoNum type="arabicPeriod" startAt="2"/>
              <a:defRPr/>
            </a:pP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含几个关键氨基酸残基 </a:t>
            </a:r>
            <a:r>
              <a:rPr lang="en-US" altLang="zh-CN" sz="2600" dirty="0">
                <a:solidFill>
                  <a:schemeClr val="tx1">
                    <a:lumMod val="95000"/>
                    <a:lumOff val="5000"/>
                  </a:schemeClr>
                </a:solidFill>
                <a:latin typeface="黑体" panose="02010609060101010101" pitchFamily="49" charset="-122"/>
                <a:ea typeface="黑体" panose="02010609060101010101" pitchFamily="49" charset="-122"/>
              </a:rPr>
              <a:t>+ </a:t>
            </a: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辅助因子</a:t>
            </a:r>
            <a:endParaRPr lang="en-US" altLang="zh-CN" sz="2600" dirty="0">
              <a:solidFill>
                <a:schemeClr val="tx1">
                  <a:lumMod val="95000"/>
                  <a:lumOff val="5000"/>
                </a:schemeClr>
              </a:solidFill>
              <a:latin typeface="黑体" panose="02010609060101010101" pitchFamily="49" charset="-122"/>
              <a:ea typeface="黑体" panose="02010609060101010101" pitchFamily="49" charset="-122"/>
            </a:endParaRPr>
          </a:p>
          <a:p>
            <a:pPr indent="514350">
              <a:lnSpc>
                <a:spcPct val="120000"/>
              </a:lnSpc>
              <a:buFont typeface="+mj-lt"/>
              <a:buAutoNum type="arabicPeriod" startAt="2"/>
              <a:defRPr/>
            </a:pPr>
            <a:r>
              <a:rPr lang="zh-CN" altLang="en-US" sz="2600" dirty="0">
                <a:solidFill>
                  <a:srgbClr val="0000CC"/>
                </a:solidFill>
                <a:latin typeface="黑体" panose="02010609060101010101" pitchFamily="49" charset="-122"/>
                <a:ea typeface="黑体" panose="02010609060101010101" pitchFamily="49" charset="-122"/>
              </a:rPr>
              <a:t>催化基团为亲水性氨基酸残基侧链基团</a:t>
            </a: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，比如</a:t>
            </a:r>
            <a:endParaRPr lang="en-US" altLang="zh-CN" sz="2600" dirty="0">
              <a:solidFill>
                <a:schemeClr val="tx1">
                  <a:lumMod val="95000"/>
                  <a:lumOff val="5000"/>
                </a:schemeClr>
              </a:solidFill>
              <a:latin typeface="黑体" panose="02010609060101010101" pitchFamily="49" charset="-122"/>
              <a:ea typeface="黑体" panose="02010609060101010101" pitchFamily="49" charset="-122"/>
            </a:endParaRPr>
          </a:p>
          <a:p>
            <a:pPr>
              <a:lnSpc>
                <a:spcPct val="120000"/>
              </a:lnSpc>
              <a:defRPr/>
            </a:pPr>
            <a:r>
              <a:rPr lang="en-US" altLang="zh-CN" sz="2600" dirty="0">
                <a:solidFill>
                  <a:schemeClr val="tx1">
                    <a:lumMod val="95000"/>
                    <a:lumOff val="5000"/>
                  </a:schemeClr>
                </a:solidFill>
                <a:latin typeface="黑体" panose="02010609060101010101" pitchFamily="49" charset="-122"/>
                <a:ea typeface="黑体" panose="02010609060101010101" pitchFamily="49" charset="-122"/>
              </a:rPr>
              <a:t>   His</a:t>
            </a: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a:t>
            </a:r>
            <a:r>
              <a:rPr lang="en-US" altLang="zh-CN" sz="2600" dirty="0" err="1">
                <a:solidFill>
                  <a:schemeClr val="tx1">
                    <a:lumMod val="95000"/>
                    <a:lumOff val="5000"/>
                  </a:schemeClr>
                </a:solidFill>
                <a:latin typeface="黑体" panose="02010609060101010101" pitchFamily="49" charset="-122"/>
                <a:ea typeface="黑体" panose="02010609060101010101" pitchFamily="49" charset="-122"/>
              </a:rPr>
              <a:t>Cys</a:t>
            </a: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a:t>
            </a:r>
            <a:r>
              <a:rPr lang="en-US" altLang="zh-CN" sz="2600" dirty="0">
                <a:solidFill>
                  <a:schemeClr val="tx1">
                    <a:lumMod val="95000"/>
                    <a:lumOff val="5000"/>
                  </a:schemeClr>
                </a:solidFill>
                <a:latin typeface="黑体" panose="02010609060101010101" pitchFamily="49" charset="-122"/>
                <a:ea typeface="黑体" panose="02010609060101010101" pitchFamily="49" charset="-122"/>
              </a:rPr>
              <a:t>Asp</a:t>
            </a: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a:t>
            </a:r>
            <a:r>
              <a:rPr lang="en-US" altLang="zh-CN" sz="2600" dirty="0">
                <a:solidFill>
                  <a:schemeClr val="tx1">
                    <a:lumMod val="95000"/>
                    <a:lumOff val="5000"/>
                  </a:schemeClr>
                </a:solidFill>
                <a:latin typeface="黑体" panose="02010609060101010101" pitchFamily="49" charset="-122"/>
                <a:ea typeface="黑体" panose="02010609060101010101" pitchFamily="49" charset="-122"/>
              </a:rPr>
              <a:t>Glu</a:t>
            </a: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a:t>
            </a:r>
            <a:r>
              <a:rPr lang="en-US" altLang="zh-CN" sz="2600" dirty="0">
                <a:solidFill>
                  <a:schemeClr val="tx1">
                    <a:lumMod val="95000"/>
                    <a:lumOff val="5000"/>
                  </a:schemeClr>
                </a:solidFill>
                <a:latin typeface="黑体" panose="02010609060101010101" pitchFamily="49" charset="-122"/>
                <a:ea typeface="黑体" panose="02010609060101010101" pitchFamily="49" charset="-122"/>
              </a:rPr>
              <a:t>Arg</a:t>
            </a:r>
          </a:p>
          <a:p>
            <a:pPr marL="514350" indent="-514350">
              <a:lnSpc>
                <a:spcPct val="120000"/>
              </a:lnSpc>
              <a:buFont typeface="+mj-lt"/>
              <a:buAutoNum type="arabicPeriod" startAt="4"/>
              <a:defRPr/>
            </a:pP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必需基团</a:t>
            </a:r>
            <a:r>
              <a:rPr lang="zh-CN" altLang="en-US" sz="2600" dirty="0">
                <a:solidFill>
                  <a:srgbClr val="FF0000"/>
                </a:solidFill>
                <a:latin typeface="黑体" panose="02010609060101010101" pitchFamily="49" charset="-122"/>
                <a:ea typeface="黑体" panose="02010609060101010101" pitchFamily="49" charset="-122"/>
              </a:rPr>
              <a:t>通过次级键与底物结合</a:t>
            </a:r>
            <a:endParaRPr lang="en-US" altLang="zh-CN" sz="2600" dirty="0">
              <a:solidFill>
                <a:srgbClr val="FF0000"/>
              </a:solidFill>
              <a:latin typeface="黑体" panose="02010609060101010101" pitchFamily="49" charset="-122"/>
              <a:ea typeface="黑体" panose="02010609060101010101" pitchFamily="49" charset="-122"/>
            </a:endParaRPr>
          </a:p>
          <a:p>
            <a:pPr marL="514350" indent="-514350" eaLnBrk="1" hangingPunct="1">
              <a:lnSpc>
                <a:spcPct val="120000"/>
              </a:lnSpc>
              <a:buFont typeface="+mj-lt"/>
              <a:buAutoNum type="arabicPeriod" startAt="4"/>
              <a:defRPr/>
            </a:pP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活性中心构象具有</a:t>
            </a:r>
            <a:r>
              <a:rPr lang="zh-CN" altLang="en-US" sz="2600" dirty="0">
                <a:solidFill>
                  <a:srgbClr val="0000CC"/>
                </a:solidFill>
                <a:latin typeface="黑体" panose="02010609060101010101" pitchFamily="49" charset="-122"/>
                <a:ea typeface="黑体" panose="02010609060101010101" pitchFamily="49" charset="-122"/>
              </a:rPr>
              <a:t>柔韧性和可塑性，</a:t>
            </a:r>
            <a:r>
              <a:rPr lang="zh-CN" altLang="en-US" sz="2600" dirty="0">
                <a:solidFill>
                  <a:schemeClr val="tx1">
                    <a:lumMod val="95000"/>
                    <a:lumOff val="5000"/>
                  </a:schemeClr>
                </a:solidFill>
                <a:latin typeface="黑体" panose="02010609060101010101" pitchFamily="49" charset="-122"/>
                <a:ea typeface="黑体" panose="02010609060101010101" pitchFamily="49" charset="-122"/>
              </a:rPr>
              <a:t>与底物结合时存在</a:t>
            </a:r>
            <a:r>
              <a:rPr lang="zh-CN" altLang="en-US" sz="2600" dirty="0">
                <a:solidFill>
                  <a:srgbClr val="0000CC"/>
                </a:solidFill>
                <a:latin typeface="黑体" panose="02010609060101010101" pitchFamily="49" charset="-122"/>
                <a:ea typeface="黑体" panose="02010609060101010101" pitchFamily="49" charset="-122"/>
              </a:rPr>
              <a:t>诱导契合（</a:t>
            </a:r>
            <a:r>
              <a:rPr lang="en-US" altLang="zh-CN" sz="2600" dirty="0">
                <a:solidFill>
                  <a:srgbClr val="0000CC"/>
                </a:solidFill>
                <a:latin typeface="黑体" panose="02010609060101010101" pitchFamily="49" charset="-122"/>
                <a:ea typeface="黑体" panose="02010609060101010101" pitchFamily="49" charset="-122"/>
              </a:rPr>
              <a:t>induced fit)</a:t>
            </a:r>
            <a:endParaRPr kumimoji="1" lang="en-US" altLang="zh-CN" sz="260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98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986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2986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2986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2986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9090" name="内容占位符 2">
            <a:extLst>
              <a:ext uri="{FF2B5EF4-FFF2-40B4-BE49-F238E27FC236}">
                <a16:creationId xmlns:a16="http://schemas.microsoft.com/office/drawing/2014/main" id="{53D75C07-3C3F-4EE0-B743-6DFC088D6AD4}"/>
              </a:ext>
            </a:extLst>
          </p:cNvPr>
          <p:cNvSpPr>
            <a:spLocks noGrp="1" noChangeArrowheads="1"/>
          </p:cNvSpPr>
          <p:nvPr>
            <p:ph idx="1"/>
          </p:nvPr>
        </p:nvSpPr>
        <p:spPr>
          <a:xfrm>
            <a:off x="2974976" y="333376"/>
            <a:ext cx="6792913" cy="6119813"/>
          </a:xfrm>
        </p:spPr>
        <p:txBody>
          <a:bodyPr/>
          <a:lstStyle/>
          <a:p>
            <a:pPr marL="0" indent="0">
              <a:buNone/>
            </a:pPr>
            <a:r>
              <a:rPr lang="zh-CN" altLang="en-US" sz="2400" dirty="0">
                <a:solidFill>
                  <a:srgbClr val="0000CC"/>
                </a:solidFill>
              </a:rPr>
              <a:t>对于辅助因子的叙述，不正确的是      </a:t>
            </a:r>
          </a:p>
          <a:p>
            <a:pPr marL="0" indent="0">
              <a:buNone/>
            </a:pPr>
            <a:r>
              <a:rPr lang="en-US" altLang="zh-CN" sz="2400" dirty="0"/>
              <a:t>A.</a:t>
            </a:r>
            <a:r>
              <a:rPr lang="zh-CN" altLang="en-US" sz="2400" dirty="0"/>
              <a:t>参与构成酶的活性中心</a:t>
            </a:r>
          </a:p>
          <a:p>
            <a:pPr marL="0" indent="0">
              <a:buNone/>
            </a:pPr>
            <a:r>
              <a:rPr lang="en-US" altLang="zh-CN" sz="2400" dirty="0"/>
              <a:t>B.</a:t>
            </a:r>
            <a:r>
              <a:rPr lang="zh-CN" altLang="en-US" sz="2400" dirty="0"/>
              <a:t>决定酶促反应的特异性</a:t>
            </a:r>
          </a:p>
          <a:p>
            <a:pPr marL="0" indent="0">
              <a:buNone/>
            </a:pPr>
            <a:r>
              <a:rPr lang="en-US" altLang="zh-CN" sz="2400" dirty="0"/>
              <a:t>C.</a:t>
            </a:r>
            <a:r>
              <a:rPr lang="zh-CN" altLang="en-US" sz="2400" dirty="0"/>
              <a:t>许多含</a:t>
            </a:r>
            <a:r>
              <a:rPr lang="en-US" altLang="zh-CN" sz="2400" dirty="0"/>
              <a:t>B</a:t>
            </a:r>
            <a:r>
              <a:rPr lang="zh-CN" altLang="en-US" sz="2400" dirty="0"/>
              <a:t>族维生素</a:t>
            </a:r>
          </a:p>
          <a:p>
            <a:pPr marL="0" indent="0">
              <a:buNone/>
            </a:pPr>
            <a:r>
              <a:rPr lang="en-US" altLang="zh-CN" sz="2400" dirty="0"/>
              <a:t>D.</a:t>
            </a:r>
            <a:r>
              <a:rPr lang="zh-CN" altLang="en-US" sz="2400" dirty="0"/>
              <a:t>包括辅酶和辅基</a:t>
            </a:r>
          </a:p>
          <a:p>
            <a:pPr marL="0" indent="0">
              <a:buNone/>
            </a:pPr>
            <a:r>
              <a:rPr lang="en-US" altLang="zh-CN" sz="2400" dirty="0"/>
              <a:t>E.</a:t>
            </a:r>
            <a:r>
              <a:rPr lang="zh-CN" altLang="en-US" sz="2400" dirty="0"/>
              <a:t>有些酶的辅助因子是金属离子</a:t>
            </a:r>
            <a:endParaRPr lang="en-US" altLang="zh-CN" sz="2400" dirty="0"/>
          </a:p>
          <a:p>
            <a:pPr marL="0" indent="0">
              <a:buNone/>
            </a:pPr>
            <a:endParaRPr lang="en-US" altLang="zh-CN" sz="2400" dirty="0"/>
          </a:p>
          <a:p>
            <a:pPr marL="0" indent="0">
              <a:buNone/>
            </a:pPr>
            <a:r>
              <a:rPr lang="zh-CN" altLang="en-US" sz="2400" dirty="0">
                <a:solidFill>
                  <a:srgbClr val="0000CC"/>
                </a:solidFill>
              </a:rPr>
              <a:t>酶具有催化活性的关键基础是</a:t>
            </a:r>
          </a:p>
          <a:p>
            <a:pPr marL="0" indent="0">
              <a:buNone/>
            </a:pPr>
            <a:r>
              <a:rPr lang="en-US" altLang="zh-CN" sz="2400" dirty="0"/>
              <a:t>A.</a:t>
            </a:r>
            <a:r>
              <a:rPr lang="zh-CN" altLang="en-US" sz="2400" dirty="0"/>
              <a:t>有空间构象</a:t>
            </a:r>
          </a:p>
          <a:p>
            <a:pPr marL="0" indent="0">
              <a:buNone/>
            </a:pPr>
            <a:r>
              <a:rPr lang="en-US" altLang="zh-CN" sz="2400" dirty="0"/>
              <a:t>B.</a:t>
            </a:r>
            <a:r>
              <a:rPr lang="zh-CN" altLang="en-US" sz="2400" dirty="0"/>
              <a:t>有辅酶</a:t>
            </a:r>
          </a:p>
          <a:p>
            <a:pPr marL="0" indent="0">
              <a:buNone/>
            </a:pPr>
            <a:r>
              <a:rPr lang="en-US" altLang="zh-CN" sz="2400" dirty="0"/>
              <a:t>C.</a:t>
            </a:r>
            <a:r>
              <a:rPr lang="zh-CN" altLang="en-US" sz="2400" dirty="0"/>
              <a:t>有激活剂</a:t>
            </a:r>
          </a:p>
          <a:p>
            <a:pPr marL="0" indent="0">
              <a:buNone/>
            </a:pPr>
            <a:r>
              <a:rPr lang="en-US" altLang="zh-CN" sz="2400" dirty="0"/>
              <a:t>D.</a:t>
            </a:r>
            <a:r>
              <a:rPr lang="zh-CN" altLang="en-US" sz="2400" dirty="0"/>
              <a:t>有活性中心及其必需基团</a:t>
            </a:r>
          </a:p>
          <a:p>
            <a:pPr marL="0" indent="0">
              <a:buNone/>
            </a:pPr>
            <a:r>
              <a:rPr lang="en-US" altLang="zh-CN" sz="2400" dirty="0"/>
              <a:t>E.</a:t>
            </a:r>
            <a:r>
              <a:rPr lang="zh-CN" altLang="en-US" sz="2400" dirty="0"/>
              <a:t>有辅基</a:t>
            </a:r>
          </a:p>
          <a:p>
            <a:pPr marL="0" indent="0">
              <a:buNone/>
            </a:pPr>
            <a:endParaRPr lang="zh-CN" altLang="en-US" sz="2400" dirty="0"/>
          </a:p>
          <a:p>
            <a:pPr marL="0" indent="0">
              <a:buNone/>
            </a:pPr>
            <a:endParaRPr lang="zh-CN" altLang="en-US" sz="2400" dirty="0"/>
          </a:p>
        </p:txBody>
      </p:sp>
      <p:sp>
        <p:nvSpPr>
          <p:cNvPr id="4" name="文本框 3">
            <a:extLst>
              <a:ext uri="{FF2B5EF4-FFF2-40B4-BE49-F238E27FC236}">
                <a16:creationId xmlns:a16="http://schemas.microsoft.com/office/drawing/2014/main" id="{4D8646DD-36D3-49E7-8D9D-43A64D69970A}"/>
              </a:ext>
            </a:extLst>
          </p:cNvPr>
          <p:cNvSpPr txBox="1">
            <a:spLocks noChangeArrowheads="1"/>
          </p:cNvSpPr>
          <p:nvPr/>
        </p:nvSpPr>
        <p:spPr bwMode="auto">
          <a:xfrm>
            <a:off x="7678739" y="836613"/>
            <a:ext cx="15128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B</a:t>
            </a:r>
            <a:endParaRPr lang="zh-CN" altLang="en-US">
              <a:solidFill>
                <a:srgbClr val="FF0000"/>
              </a:solidFill>
            </a:endParaRPr>
          </a:p>
        </p:txBody>
      </p:sp>
      <p:sp>
        <p:nvSpPr>
          <p:cNvPr id="5" name="文本框 4">
            <a:extLst>
              <a:ext uri="{FF2B5EF4-FFF2-40B4-BE49-F238E27FC236}">
                <a16:creationId xmlns:a16="http://schemas.microsoft.com/office/drawing/2014/main" id="{B61B9116-1285-4D89-9D46-ABB64BF3C1B0}"/>
              </a:ext>
            </a:extLst>
          </p:cNvPr>
          <p:cNvSpPr txBox="1"/>
          <p:nvPr/>
        </p:nvSpPr>
        <p:spPr>
          <a:xfrm>
            <a:off x="7535863" y="3716339"/>
            <a:ext cx="1511300" cy="585787"/>
          </a:xfrm>
          <a:prstGeom prst="rect">
            <a:avLst/>
          </a:prstGeom>
          <a:noFill/>
        </p:spPr>
        <p:txBody>
          <a:bodyPr>
            <a:spAutoFit/>
          </a:bodyPr>
          <a:lstStyle/>
          <a:p>
            <a:pPr>
              <a:defRPr/>
            </a:pPr>
            <a:r>
              <a:rPr lang="en-US" altLang="zh-CN" sz="3200" b="1" dirty="0">
                <a:solidFill>
                  <a:srgbClr val="FF0000"/>
                </a:solidFill>
                <a:latin typeface="+mn-ea"/>
                <a:ea typeface="+mn-ea"/>
              </a:rPr>
              <a:t>D</a:t>
            </a:r>
            <a:endParaRPr lang="zh-CN" altLang="en-US" sz="3200" b="1" dirty="0">
              <a:solidFill>
                <a:srgbClr val="FF0000"/>
              </a:solidFill>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FD810603-AB52-4012-9F44-C61096D63AB7}"/>
              </a:ext>
            </a:extLst>
          </p:cNvPr>
          <p:cNvSpPr>
            <a:spLocks noChangeArrowheads="1"/>
          </p:cNvSpPr>
          <p:nvPr/>
        </p:nvSpPr>
        <p:spPr bwMode="auto">
          <a:xfrm>
            <a:off x="767407" y="1556792"/>
            <a:ext cx="10729191" cy="1133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defTabSz="715963">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534988" indent="714375" defTabSz="715963">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defTabSz="715963">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defTabSz="715963">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defTabSz="715963">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defTabSz="715963"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defTabSz="715963"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defTabSz="715963"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defTabSz="715963"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457200" lvl="1" indent="-457200" eaLnBrk="1" hangingPunct="1">
              <a:lnSpc>
                <a:spcPct val="130000"/>
              </a:lnSpc>
              <a:spcBef>
                <a:spcPts val="0"/>
              </a:spcBef>
              <a:buClr>
                <a:schemeClr val="tx2"/>
              </a:buClr>
              <a:buSzPct val="75000"/>
            </a:pPr>
            <a:r>
              <a:rPr kumimoji="1" lang="zh-CN" altLang="en-US" dirty="0">
                <a:solidFill>
                  <a:srgbClr val="FF3300"/>
                </a:solidFill>
                <a:latin typeface="黑体" panose="02010609060101010101" pitchFamily="49" charset="-122"/>
                <a:ea typeface="黑体" panose="02010609060101010101" pitchFamily="49" charset="-122"/>
              </a:rPr>
              <a:t>同工酶</a:t>
            </a:r>
            <a:r>
              <a:rPr kumimoji="1" lang="en-US" altLang="zh-CN" dirty="0">
                <a:solidFill>
                  <a:srgbClr val="FF3300"/>
                </a:solidFill>
                <a:latin typeface="黑体" panose="02010609060101010101" pitchFamily="49" charset="-122"/>
                <a:ea typeface="黑体" panose="02010609060101010101" pitchFamily="49" charset="-122"/>
              </a:rPr>
              <a:t>(isoenzyme</a:t>
            </a:r>
            <a:r>
              <a:rPr kumimoji="1" lang="zh-CN" altLang="en-US" dirty="0">
                <a:solidFill>
                  <a:srgbClr val="FF3300"/>
                </a:solidFill>
                <a:latin typeface="黑体" panose="02010609060101010101" pitchFamily="49" charset="-122"/>
                <a:ea typeface="黑体" panose="02010609060101010101" pitchFamily="49" charset="-122"/>
              </a:rPr>
              <a:t>，</a:t>
            </a:r>
            <a:r>
              <a:rPr kumimoji="1" lang="en-US" altLang="zh-CN" dirty="0">
                <a:solidFill>
                  <a:srgbClr val="FF3300"/>
                </a:solidFill>
                <a:latin typeface="黑体" panose="02010609060101010101" pitchFamily="49" charset="-122"/>
                <a:ea typeface="黑体" panose="02010609060101010101" pitchFamily="49" charset="-122"/>
              </a:rPr>
              <a:t>isozyme)</a:t>
            </a:r>
            <a:r>
              <a:rPr kumimoji="1" lang="zh-CN" altLang="en-US" dirty="0">
                <a:latin typeface="黑体" panose="02010609060101010101" pitchFamily="49" charset="-122"/>
                <a:ea typeface="黑体" panose="02010609060101010101" pitchFamily="49" charset="-122"/>
              </a:rPr>
              <a:t>是指</a:t>
            </a:r>
            <a:r>
              <a:rPr kumimoji="1" lang="zh-CN" altLang="en-US" dirty="0">
                <a:solidFill>
                  <a:srgbClr val="0000CC"/>
                </a:solidFill>
                <a:latin typeface="黑体" panose="02010609060101010101" pitchFamily="49" charset="-122"/>
                <a:ea typeface="黑体" panose="02010609060101010101" pitchFamily="49" charset="-122"/>
              </a:rPr>
              <a:t>催化相同的化学反应</a:t>
            </a:r>
            <a:r>
              <a:rPr kumimoji="1" lang="zh-CN" altLang="en-US" dirty="0">
                <a:latin typeface="黑体" panose="02010609060101010101" pitchFamily="49" charset="-122"/>
                <a:ea typeface="黑体" panose="02010609060101010101" pitchFamily="49" charset="-122"/>
              </a:rPr>
              <a:t>，但酶蛋白的分子结构、理化性质和免疫学特性各不相同的一组酶。</a:t>
            </a:r>
          </a:p>
        </p:txBody>
      </p:sp>
      <p:sp>
        <p:nvSpPr>
          <p:cNvPr id="91139" name="AutoShape 3">
            <a:extLst>
              <a:ext uri="{FF2B5EF4-FFF2-40B4-BE49-F238E27FC236}">
                <a16:creationId xmlns:a16="http://schemas.microsoft.com/office/drawing/2014/main" id="{7978EDA5-678D-45DE-89D6-5981A85856CF}"/>
              </a:ext>
            </a:extLst>
          </p:cNvPr>
          <p:cNvSpPr>
            <a:spLocks noChangeArrowheads="1"/>
          </p:cNvSpPr>
          <p:nvPr/>
        </p:nvSpPr>
        <p:spPr bwMode="auto">
          <a:xfrm>
            <a:off x="3035584" y="506273"/>
            <a:ext cx="6192838" cy="792163"/>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lang="zh-CN" altLang="en-US" dirty="0">
                <a:solidFill>
                  <a:schemeClr val="bg1"/>
                </a:solidFill>
                <a:latin typeface="黑体" panose="02010609060101010101" pitchFamily="49" charset="-122"/>
                <a:ea typeface="黑体" panose="02010609060101010101" pitchFamily="49" charset="-122"/>
              </a:rPr>
              <a:t>四、 同工酶催化相同的化学反应</a:t>
            </a:r>
          </a:p>
        </p:txBody>
      </p:sp>
      <p:sp>
        <p:nvSpPr>
          <p:cNvPr id="2" name="Rectangle 2">
            <a:extLst>
              <a:ext uri="{FF2B5EF4-FFF2-40B4-BE49-F238E27FC236}">
                <a16:creationId xmlns:a16="http://schemas.microsoft.com/office/drawing/2014/main" id="{A29B88C4-6BE3-5F52-7F8E-4EB11DF5446B}"/>
              </a:ext>
            </a:extLst>
          </p:cNvPr>
          <p:cNvSpPr>
            <a:spLocks noChangeArrowheads="1"/>
          </p:cNvSpPr>
          <p:nvPr/>
        </p:nvSpPr>
        <p:spPr bwMode="auto">
          <a:xfrm>
            <a:off x="1991544" y="3151812"/>
            <a:ext cx="8928992" cy="3199915"/>
          </a:xfrm>
          <a:prstGeom prst="rect">
            <a:avLst/>
          </a:prstGeom>
          <a:noFill/>
          <a:ln>
            <a:noFill/>
          </a:ln>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571500" indent="-571500" eaLnBrk="1" hangingPunct="1">
              <a:lnSpc>
                <a:spcPct val="120000"/>
              </a:lnSpc>
              <a:spcBef>
                <a:spcPct val="0"/>
              </a:spcBef>
              <a:buFont typeface="Wingdings" panose="05000000000000000000" pitchFamily="2" charset="2"/>
              <a:buChar char="Ø"/>
              <a:defRPr/>
            </a:pPr>
            <a:r>
              <a:rPr kumimoji="1" lang="zh-CN" altLang="en-US" dirty="0">
                <a:solidFill>
                  <a:srgbClr val="FF3300"/>
                </a:solidFill>
                <a:latin typeface="黑体" panose="02010609060101010101" pitchFamily="49" charset="-122"/>
                <a:ea typeface="黑体" panose="02010609060101010101" pitchFamily="49" charset="-122"/>
              </a:rPr>
              <a:t>同工酶的特点：</a:t>
            </a:r>
          </a:p>
          <a:p>
            <a:pPr marL="457200" indent="-457200" eaLnBrk="1" hangingPunct="1">
              <a:lnSpc>
                <a:spcPct val="120000"/>
              </a:lnSpc>
              <a:spcBef>
                <a:spcPct val="0"/>
              </a:spcBef>
              <a:buFont typeface="Arial" panose="020B0604020202020204" pitchFamily="34" charset="0"/>
              <a:buChar char="•"/>
              <a:defRPr/>
            </a:pPr>
            <a:r>
              <a:rPr kumimoji="1" lang="zh-CN" altLang="en-US" sz="2800" dirty="0">
                <a:latin typeface="黑体" panose="02010609060101010101" pitchFamily="49" charset="-122"/>
                <a:ea typeface="黑体" panose="02010609060101010101" pitchFamily="49" charset="-122"/>
              </a:rPr>
              <a:t>均为寡聚酶</a:t>
            </a:r>
          </a:p>
          <a:p>
            <a:pPr marL="457200" indent="-457200" eaLnBrk="1" hangingPunct="1">
              <a:lnSpc>
                <a:spcPct val="120000"/>
              </a:lnSpc>
              <a:spcBef>
                <a:spcPct val="0"/>
              </a:spcBef>
              <a:buFont typeface="Arial" panose="020B0604020202020204" pitchFamily="34" charset="0"/>
              <a:buChar char="•"/>
              <a:defRPr/>
            </a:pPr>
            <a:r>
              <a:rPr kumimoji="1" lang="zh-CN" altLang="en-US" sz="2800" dirty="0">
                <a:solidFill>
                  <a:srgbClr val="0000CC"/>
                </a:solidFill>
                <a:latin typeface="黑体" panose="02010609060101010101" pitchFamily="49" charset="-122"/>
                <a:ea typeface="黑体" panose="02010609060101010101" pitchFamily="49" charset="-122"/>
              </a:rPr>
              <a:t>亚基组成不完全相同</a:t>
            </a:r>
            <a:r>
              <a:rPr kumimoji="1" lang="en-US" altLang="zh-CN" sz="2800" dirty="0">
                <a:latin typeface="黑体" panose="02010609060101010101" pitchFamily="49" charset="-122"/>
                <a:ea typeface="黑体" panose="02010609060101010101" pitchFamily="49" charset="-122"/>
              </a:rPr>
              <a:t>,</a:t>
            </a:r>
            <a:r>
              <a:rPr kumimoji="1" lang="zh-CN" altLang="en-US" sz="2800" dirty="0">
                <a:latin typeface="黑体" panose="02010609060101010101" pitchFamily="49" charset="-122"/>
                <a:ea typeface="黑体" panose="02010609060101010101" pitchFamily="49" charset="-122"/>
              </a:rPr>
              <a:t>故一级结构不同</a:t>
            </a:r>
            <a:endParaRPr kumimoji="1" lang="en-US" altLang="zh-CN" sz="2800" dirty="0">
              <a:latin typeface="黑体" panose="02010609060101010101" pitchFamily="49" charset="-122"/>
              <a:ea typeface="黑体" panose="02010609060101010101" pitchFamily="49" charset="-122"/>
            </a:endParaRPr>
          </a:p>
          <a:p>
            <a:pPr marL="457200" indent="-457200" eaLnBrk="1" hangingPunct="1">
              <a:lnSpc>
                <a:spcPct val="120000"/>
              </a:lnSpc>
              <a:spcBef>
                <a:spcPct val="0"/>
              </a:spcBef>
              <a:buFont typeface="Arial" panose="020B0604020202020204" pitchFamily="34" charset="0"/>
              <a:buChar char="•"/>
              <a:defRPr/>
            </a:pPr>
            <a:r>
              <a:rPr kumimoji="1" lang="zh-CN" altLang="en-US" sz="2800" dirty="0">
                <a:latin typeface="黑体" panose="02010609060101010101" pitchFamily="49" charset="-122"/>
                <a:ea typeface="黑体" panose="02010609060101010101" pitchFamily="49" charset="-122"/>
              </a:rPr>
              <a:t>不同亚基的活性中心非常相似</a:t>
            </a:r>
          </a:p>
          <a:p>
            <a:pPr marL="457200" indent="-457200" eaLnBrk="1" hangingPunct="1">
              <a:lnSpc>
                <a:spcPct val="120000"/>
              </a:lnSpc>
              <a:spcBef>
                <a:spcPct val="0"/>
              </a:spcBef>
              <a:buFont typeface="Arial" panose="020B0604020202020204" pitchFamily="34" charset="0"/>
              <a:buChar char="•"/>
              <a:defRPr/>
            </a:pPr>
            <a:r>
              <a:rPr kumimoji="1" lang="zh-CN" altLang="en-US" sz="2800" dirty="0">
                <a:solidFill>
                  <a:srgbClr val="0000CC"/>
                </a:solidFill>
                <a:latin typeface="黑体" panose="02010609060101010101" pitchFamily="49" charset="-122"/>
                <a:ea typeface="黑体" panose="02010609060101010101" pitchFamily="49" charset="-122"/>
              </a:rPr>
              <a:t>组织分布部位不同</a:t>
            </a:r>
          </a:p>
          <a:p>
            <a:pPr marL="457200" indent="-457200" eaLnBrk="1" hangingPunct="1">
              <a:lnSpc>
                <a:spcPct val="120000"/>
              </a:lnSpc>
              <a:spcBef>
                <a:spcPct val="0"/>
              </a:spcBef>
              <a:buFont typeface="Arial" panose="020B0604020202020204" pitchFamily="34" charset="0"/>
              <a:buChar char="•"/>
              <a:defRPr/>
            </a:pPr>
            <a:r>
              <a:rPr kumimoji="1" lang="zh-CN" altLang="en-US" sz="2800" dirty="0">
                <a:solidFill>
                  <a:srgbClr val="0000CC"/>
                </a:solidFill>
                <a:latin typeface="黑体" panose="02010609060101010101" pitchFamily="49" charset="-122"/>
                <a:ea typeface="黑体" panose="02010609060101010101" pitchFamily="49" charset="-122"/>
              </a:rPr>
              <a:t>对底物的亲合力和被产物抑制的敏感性不同</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CDA97E5C-8D83-47CE-AC88-35D2F79AFC6C}"/>
              </a:ext>
            </a:extLst>
          </p:cNvPr>
          <p:cNvSpPr>
            <a:spLocks noChangeArrowheads="1"/>
          </p:cNvSpPr>
          <p:nvPr/>
        </p:nvSpPr>
        <p:spPr bwMode="auto">
          <a:xfrm>
            <a:off x="1703388" y="620713"/>
            <a:ext cx="7200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Clr>
                <a:schemeClr val="tx2"/>
              </a:buClr>
              <a:buSzPct val="75000"/>
              <a:buFont typeface="Wingdings" panose="05000000000000000000" pitchFamily="2" charset="2"/>
              <a:buNone/>
            </a:pPr>
            <a:r>
              <a:rPr kumimoji="1" lang="en-US" altLang="zh-CN" sz="2800" b="1">
                <a:solidFill>
                  <a:schemeClr val="tx2"/>
                </a:solidFill>
                <a:latin typeface="Times New Roman" panose="02020603050405020304" pitchFamily="18" charset="0"/>
                <a:ea typeface="黑体" panose="02010609060101010101" pitchFamily="49" charset="-122"/>
              </a:rPr>
              <a:t>*  </a:t>
            </a:r>
            <a:r>
              <a:rPr kumimoji="1" lang="zh-CN" altLang="en-US" sz="2800" b="1">
                <a:solidFill>
                  <a:schemeClr val="tx2"/>
                </a:solidFill>
                <a:latin typeface="Times New Roman" panose="02020603050405020304" pitchFamily="18" charset="0"/>
                <a:ea typeface="黑体" panose="02010609060101010101" pitchFamily="49" charset="-122"/>
              </a:rPr>
              <a:t>举例：</a:t>
            </a:r>
            <a:r>
              <a:rPr kumimoji="1" lang="zh-CN" altLang="en-US" sz="2800" b="1">
                <a:solidFill>
                  <a:srgbClr val="FF3300"/>
                </a:solidFill>
                <a:latin typeface="Times New Roman" panose="02020603050405020304" pitchFamily="18" charset="0"/>
                <a:ea typeface="黑体" panose="02010609060101010101" pitchFamily="49" charset="-122"/>
              </a:rPr>
              <a:t>乳酸脱氢酶</a:t>
            </a:r>
            <a:r>
              <a:rPr kumimoji="1" lang="en-US" altLang="zh-CN" sz="2800" b="1">
                <a:solidFill>
                  <a:srgbClr val="FF3300"/>
                </a:solidFill>
                <a:latin typeface="Times New Roman" panose="02020603050405020304" pitchFamily="18" charset="0"/>
                <a:ea typeface="黑体" panose="02010609060101010101" pitchFamily="49" charset="-122"/>
              </a:rPr>
              <a:t>(LDH</a:t>
            </a:r>
            <a:r>
              <a:rPr kumimoji="1" lang="en-US" altLang="zh-CN" sz="2800" b="1" baseline="-25000">
                <a:solidFill>
                  <a:srgbClr val="FF3300"/>
                </a:solidFill>
                <a:latin typeface="Times New Roman" panose="02020603050405020304" pitchFamily="18" charset="0"/>
                <a:ea typeface="黑体" panose="02010609060101010101" pitchFamily="49" charset="-122"/>
              </a:rPr>
              <a:t>1</a:t>
            </a:r>
            <a:r>
              <a:rPr kumimoji="1" lang="zh-CN" altLang="en-US" sz="2800" b="1">
                <a:solidFill>
                  <a:srgbClr val="FF3300"/>
                </a:solidFill>
                <a:latin typeface="Times New Roman" panose="02020603050405020304" pitchFamily="18" charset="0"/>
                <a:ea typeface="黑体" panose="02010609060101010101" pitchFamily="49" charset="-122"/>
              </a:rPr>
              <a:t>～</a:t>
            </a:r>
            <a:r>
              <a:rPr kumimoji="1" lang="zh-CN" altLang="en-US" sz="2800" b="1" baseline="-25000">
                <a:solidFill>
                  <a:srgbClr val="FF3300"/>
                </a:solidFill>
                <a:latin typeface="Times New Roman" panose="02020603050405020304" pitchFamily="18" charset="0"/>
                <a:ea typeface="黑体" panose="02010609060101010101" pitchFamily="49" charset="-122"/>
              </a:rPr>
              <a:t> </a:t>
            </a:r>
            <a:r>
              <a:rPr kumimoji="1" lang="en-US" altLang="zh-CN" sz="2800" b="1">
                <a:solidFill>
                  <a:srgbClr val="FF3300"/>
                </a:solidFill>
                <a:latin typeface="Times New Roman" panose="02020603050405020304" pitchFamily="18" charset="0"/>
                <a:ea typeface="黑体" panose="02010609060101010101" pitchFamily="49" charset="-122"/>
              </a:rPr>
              <a:t>LDH</a:t>
            </a:r>
            <a:r>
              <a:rPr kumimoji="1" lang="en-US" altLang="zh-CN" sz="2800" b="1" baseline="-25000">
                <a:solidFill>
                  <a:srgbClr val="FF3300"/>
                </a:solidFill>
                <a:latin typeface="Times New Roman" panose="02020603050405020304" pitchFamily="18" charset="0"/>
                <a:ea typeface="黑体" panose="02010609060101010101" pitchFamily="49" charset="-122"/>
              </a:rPr>
              <a:t>5</a:t>
            </a:r>
            <a:r>
              <a:rPr kumimoji="1" lang="en-US" altLang="zh-CN" sz="2800" b="1">
                <a:solidFill>
                  <a:srgbClr val="FF3300"/>
                </a:solidFill>
                <a:latin typeface="Times New Roman" panose="02020603050405020304" pitchFamily="18" charset="0"/>
                <a:ea typeface="黑体" panose="02010609060101010101" pitchFamily="49" charset="-122"/>
              </a:rPr>
              <a:t>)</a:t>
            </a:r>
          </a:p>
        </p:txBody>
      </p:sp>
      <p:pic>
        <p:nvPicPr>
          <p:cNvPr id="95235" name="Picture 3" descr="未标题-1 拷贝">
            <a:extLst>
              <a:ext uri="{FF2B5EF4-FFF2-40B4-BE49-F238E27FC236}">
                <a16:creationId xmlns:a16="http://schemas.microsoft.com/office/drawing/2014/main" id="{9CB139D7-B7CF-4BC0-8DCC-C0E58699C7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9" y="1557339"/>
            <a:ext cx="8135937" cy="327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4">
            <a:extLst>
              <a:ext uri="{FF2B5EF4-FFF2-40B4-BE49-F238E27FC236}">
                <a16:creationId xmlns:a16="http://schemas.microsoft.com/office/drawing/2014/main" id="{8903B441-A8C4-47B4-9327-1F4CBA276040}"/>
              </a:ext>
            </a:extLst>
          </p:cNvPr>
          <p:cNvGrpSpPr>
            <a:grpSpLocks/>
          </p:cNvGrpSpPr>
          <p:nvPr/>
        </p:nvGrpSpPr>
        <p:grpSpPr bwMode="auto">
          <a:xfrm>
            <a:off x="2711451" y="4724400"/>
            <a:ext cx="6996113" cy="1004888"/>
            <a:chOff x="748" y="3260"/>
            <a:chExt cx="4407" cy="633"/>
          </a:xfrm>
        </p:grpSpPr>
        <p:sp>
          <p:nvSpPr>
            <p:cNvPr id="95237" name="Text Box 5">
              <a:extLst>
                <a:ext uri="{FF2B5EF4-FFF2-40B4-BE49-F238E27FC236}">
                  <a16:creationId xmlns:a16="http://schemas.microsoft.com/office/drawing/2014/main" id="{004CCB79-2FF4-4649-B8D8-C963DE21D6DE}"/>
                </a:ext>
              </a:extLst>
            </p:cNvPr>
            <p:cNvSpPr txBox="1">
              <a:spLocks noChangeArrowheads="1"/>
            </p:cNvSpPr>
            <p:nvPr/>
          </p:nvSpPr>
          <p:spPr bwMode="auto">
            <a:xfrm>
              <a:off x="748" y="3566"/>
              <a:ext cx="44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ea typeface="黑体" panose="02010609060101010101" pitchFamily="49" charset="-122"/>
                </a:rPr>
                <a:t>乳酸</a:t>
              </a:r>
              <a:r>
                <a:rPr kumimoji="1" lang="en-US" altLang="zh-CN" sz="2800" b="1">
                  <a:latin typeface="Times New Roman" panose="02020603050405020304" pitchFamily="18" charset="0"/>
                  <a:ea typeface="黑体" panose="02010609060101010101" pitchFamily="49" charset="-122"/>
                </a:rPr>
                <a:t>+NAD</a:t>
              </a:r>
              <a:r>
                <a:rPr kumimoji="1" lang="en-US" altLang="zh-CN" sz="2800" b="1" baseline="30000">
                  <a:latin typeface="Times New Roman" panose="02020603050405020304" pitchFamily="18" charset="0"/>
                  <a:ea typeface="黑体" panose="02010609060101010101" pitchFamily="49" charset="-122"/>
                </a:rPr>
                <a:t>+</a:t>
              </a:r>
              <a:r>
                <a:rPr kumimoji="1" lang="en-US" altLang="zh-CN" sz="2800" b="1">
                  <a:latin typeface="Times New Roman" panose="02020603050405020304" pitchFamily="18" charset="0"/>
                  <a:ea typeface="黑体" panose="02010609060101010101" pitchFamily="49" charset="-122"/>
                </a:rPr>
                <a:t>                      </a:t>
              </a:r>
              <a:r>
                <a:rPr kumimoji="1" lang="zh-CN" altLang="en-US" sz="2800" b="1">
                  <a:latin typeface="Times New Roman" panose="02020603050405020304" pitchFamily="18" charset="0"/>
                  <a:ea typeface="黑体" panose="02010609060101010101" pitchFamily="49" charset="-122"/>
                </a:rPr>
                <a:t>丙酮酸</a:t>
              </a:r>
              <a:r>
                <a:rPr kumimoji="1" lang="en-US" altLang="zh-CN" sz="2800" b="1">
                  <a:latin typeface="Times New Roman" panose="02020603050405020304" pitchFamily="18" charset="0"/>
                  <a:ea typeface="黑体" panose="02010609060101010101" pitchFamily="49" charset="-122"/>
                </a:rPr>
                <a:t>+NADH+H</a:t>
              </a:r>
              <a:r>
                <a:rPr kumimoji="1" lang="en-US" altLang="zh-CN" sz="2800" b="1" baseline="30000">
                  <a:latin typeface="Times New Roman" panose="02020603050405020304" pitchFamily="18" charset="0"/>
                  <a:ea typeface="黑体" panose="02010609060101010101" pitchFamily="49" charset="-122"/>
                </a:rPr>
                <a:t>+</a:t>
              </a:r>
              <a:r>
                <a:rPr kumimoji="1" lang="en-US" altLang="zh-CN" sz="2800" b="1">
                  <a:latin typeface="Times New Roman" panose="02020603050405020304" pitchFamily="18" charset="0"/>
                  <a:ea typeface="黑体" panose="02010609060101010101" pitchFamily="49" charset="-122"/>
                </a:rPr>
                <a:t> </a:t>
              </a:r>
              <a:endParaRPr kumimoji="1" lang="en-US" altLang="zh-CN" sz="2800">
                <a:latin typeface="Times New Roman" panose="02020603050405020304" pitchFamily="18" charset="0"/>
                <a:ea typeface="黑体" panose="02010609060101010101" pitchFamily="49" charset="-122"/>
              </a:endParaRPr>
            </a:p>
          </p:txBody>
        </p:sp>
        <p:sp>
          <p:nvSpPr>
            <p:cNvPr id="95238" name="Line 6">
              <a:extLst>
                <a:ext uri="{FF2B5EF4-FFF2-40B4-BE49-F238E27FC236}">
                  <a16:creationId xmlns:a16="http://schemas.microsoft.com/office/drawing/2014/main" id="{73FFC5AA-BD03-405C-A3F1-FAAA92A620CA}"/>
                </a:ext>
              </a:extLst>
            </p:cNvPr>
            <p:cNvSpPr>
              <a:spLocks noChangeShapeType="1"/>
            </p:cNvSpPr>
            <p:nvPr/>
          </p:nvSpPr>
          <p:spPr bwMode="auto">
            <a:xfrm>
              <a:off x="2172" y="3663"/>
              <a:ext cx="864" cy="0"/>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5239" name="Line 7">
              <a:extLst>
                <a:ext uri="{FF2B5EF4-FFF2-40B4-BE49-F238E27FC236}">
                  <a16:creationId xmlns:a16="http://schemas.microsoft.com/office/drawing/2014/main" id="{7433F826-70C9-4E9D-841F-8BBA0EA5C13D}"/>
                </a:ext>
              </a:extLst>
            </p:cNvPr>
            <p:cNvSpPr>
              <a:spLocks noChangeShapeType="1"/>
            </p:cNvSpPr>
            <p:nvPr/>
          </p:nvSpPr>
          <p:spPr bwMode="auto">
            <a:xfrm flipH="1">
              <a:off x="2172" y="3769"/>
              <a:ext cx="816" cy="0"/>
            </a:xfrm>
            <a:prstGeom prst="line">
              <a:avLst/>
            </a:prstGeom>
            <a:noFill/>
            <a:ln w="38100" cap="rnd">
              <a:solidFill>
                <a:schemeClr val="tx1"/>
              </a:solidFill>
              <a:prstDash val="sysDot"/>
              <a:round/>
              <a:headEnd/>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5240" name="Text Box 8">
              <a:extLst>
                <a:ext uri="{FF2B5EF4-FFF2-40B4-BE49-F238E27FC236}">
                  <a16:creationId xmlns:a16="http://schemas.microsoft.com/office/drawing/2014/main" id="{3A01D488-7EE8-4A7C-9FFD-AC3CAF7549BD}"/>
                </a:ext>
              </a:extLst>
            </p:cNvPr>
            <p:cNvSpPr txBox="1">
              <a:spLocks noChangeArrowheads="1"/>
            </p:cNvSpPr>
            <p:nvPr/>
          </p:nvSpPr>
          <p:spPr bwMode="auto">
            <a:xfrm>
              <a:off x="2336" y="3260"/>
              <a:ext cx="606"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Tx/>
                <a:buNone/>
              </a:pPr>
              <a:r>
                <a:rPr kumimoji="1" lang="en-US" altLang="zh-CN" sz="2800" b="1">
                  <a:solidFill>
                    <a:srgbClr val="FF3300"/>
                  </a:solidFill>
                  <a:latin typeface="Times New Roman" panose="02020603050405020304" pitchFamily="18" charset="0"/>
                  <a:ea typeface="黑体" panose="02010609060101010101" pitchFamily="49" charset="-122"/>
                </a:rPr>
                <a:t>LDH</a:t>
              </a:r>
              <a:endParaRPr kumimoji="1" lang="en-US" altLang="zh-CN" sz="2800">
                <a:solidFill>
                  <a:srgbClr val="FF3300"/>
                </a:solidFill>
                <a:latin typeface="Times New Roman" panose="02020603050405020304" pitchFamily="18" charset="0"/>
                <a:ea typeface="黑体" panose="02010609060101010101" pitchFamily="49" charset="-122"/>
              </a:endParaRPr>
            </a:p>
          </p:txBody>
        </p:sp>
      </p:grpSp>
      <p:sp>
        <p:nvSpPr>
          <p:cNvPr id="4" name="文本框 3">
            <a:extLst>
              <a:ext uri="{FF2B5EF4-FFF2-40B4-BE49-F238E27FC236}">
                <a16:creationId xmlns:a16="http://schemas.microsoft.com/office/drawing/2014/main" id="{93CF3F28-99A6-6E4D-4E58-398F6DF556C2}"/>
              </a:ext>
            </a:extLst>
          </p:cNvPr>
          <p:cNvSpPr txBox="1"/>
          <p:nvPr/>
        </p:nvSpPr>
        <p:spPr>
          <a:xfrm>
            <a:off x="4620580" y="5695947"/>
            <a:ext cx="2664296" cy="369332"/>
          </a:xfrm>
          <a:prstGeom prst="rect">
            <a:avLst/>
          </a:prstGeom>
          <a:noFill/>
        </p:spPr>
        <p:txBody>
          <a:bodyPr wrap="square">
            <a:spAutoFit/>
          </a:bodyPr>
          <a:lstStyle/>
          <a:p>
            <a:r>
              <a:rPr lang="en-US" altLang="zh-CN" b="1" dirty="0">
                <a:solidFill>
                  <a:srgbClr val="C00000"/>
                </a:solidFill>
                <a:latin typeface="Arial Narrow" panose="020B0606020202030204" pitchFamily="34" charset="0"/>
              </a:rPr>
              <a:t>l</a:t>
            </a:r>
            <a:r>
              <a:rPr lang="en-US" altLang="zh-CN" dirty="0">
                <a:latin typeface="Arial Narrow" panose="020B0606020202030204" pitchFamily="34" charset="0"/>
              </a:rPr>
              <a:t>actate </a:t>
            </a:r>
            <a:r>
              <a:rPr lang="en-US" altLang="zh-CN" b="1" dirty="0">
                <a:solidFill>
                  <a:srgbClr val="C00000"/>
                </a:solidFill>
                <a:latin typeface="Arial Narrow" panose="020B0606020202030204" pitchFamily="34" charset="0"/>
              </a:rPr>
              <a:t>d</a:t>
            </a:r>
            <a:r>
              <a:rPr lang="en-US" altLang="zh-CN" dirty="0">
                <a:latin typeface="Arial Narrow" panose="020B0606020202030204" pitchFamily="34" charset="0"/>
              </a:rPr>
              <a:t>e</a:t>
            </a:r>
            <a:r>
              <a:rPr lang="en-US" altLang="zh-CN" b="1" dirty="0">
                <a:solidFill>
                  <a:srgbClr val="C00000"/>
                </a:solidFill>
                <a:latin typeface="Arial Narrow" panose="020B0606020202030204" pitchFamily="34" charset="0"/>
              </a:rPr>
              <a:t>h</a:t>
            </a:r>
            <a:r>
              <a:rPr lang="en-US" altLang="zh-CN" dirty="0">
                <a:latin typeface="Arial Narrow" panose="020B0606020202030204" pitchFamily="34" charset="0"/>
              </a:rPr>
              <a:t>ydrogenase </a:t>
            </a:r>
            <a:endParaRPr lang="zh-CN" altLang="en-US" dirty="0">
              <a:latin typeface="Arial Narrow" panose="020B0606020202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内容占位符 1">
            <a:extLst>
              <a:ext uri="{FF2B5EF4-FFF2-40B4-BE49-F238E27FC236}">
                <a16:creationId xmlns:a16="http://schemas.microsoft.com/office/drawing/2014/main" id="{92C1FF60-BE2E-4550-9003-E7AC8454ECDE}"/>
              </a:ext>
            </a:extLst>
          </p:cNvPr>
          <p:cNvSpPr>
            <a:spLocks noGrp="1" noChangeArrowheads="1"/>
          </p:cNvSpPr>
          <p:nvPr>
            <p:ph/>
          </p:nvPr>
        </p:nvSpPr>
        <p:spPr>
          <a:xfrm>
            <a:off x="1343472" y="4221162"/>
            <a:ext cx="10009112" cy="2232173"/>
          </a:xfrm>
        </p:spPr>
        <p:txBody>
          <a:bodyPr/>
          <a:lstStyle/>
          <a:p>
            <a:pPr>
              <a:lnSpc>
                <a:spcPct val="120000"/>
              </a:lnSpc>
              <a:spcBef>
                <a:spcPts val="600"/>
              </a:spcBef>
            </a:pPr>
            <a:r>
              <a:rPr lang="en-US" altLang="zh-CN" sz="2800" b="1" dirty="0">
                <a:solidFill>
                  <a:srgbClr val="C00000"/>
                </a:solidFill>
                <a:latin typeface="Arial" panose="020B0604020202020204" pitchFamily="34" charset="0"/>
                <a:cs typeface="Arial" panose="020B0604020202020204" pitchFamily="34" charset="0"/>
              </a:rPr>
              <a:t>LDH</a:t>
            </a:r>
            <a:r>
              <a:rPr lang="zh-CN" altLang="en-US" sz="2800" b="1" baseline="-25000" dirty="0">
                <a:solidFill>
                  <a:srgbClr val="C00000"/>
                </a:solidFill>
                <a:latin typeface="Arial" panose="020B0604020202020204" pitchFamily="34" charset="0"/>
                <a:cs typeface="Arial" panose="020B0604020202020204" pitchFamily="34" charset="0"/>
              </a:rPr>
              <a:t>５ </a:t>
            </a:r>
            <a:r>
              <a:rPr lang="zh-CN" altLang="en-US" sz="2800" b="1" dirty="0">
                <a:latin typeface="Arial" panose="020B0604020202020204" pitchFamily="34" charset="0"/>
                <a:cs typeface="Arial" panose="020B0604020202020204" pitchFamily="34" charset="0"/>
              </a:rPr>
              <a:t>催化丙酮酸还原生成乳酸，有利于运动时骨骼肌进行糖无氧氧化，</a:t>
            </a:r>
            <a:r>
              <a:rPr lang="zh-CN" altLang="en-US" sz="2800" b="1" dirty="0">
                <a:solidFill>
                  <a:srgbClr val="0000CC"/>
                </a:solidFill>
                <a:latin typeface="Arial" panose="020B0604020202020204" pitchFamily="34" charset="0"/>
                <a:cs typeface="Arial" panose="020B0604020202020204" pitchFamily="34" charset="0"/>
              </a:rPr>
              <a:t>迅速生成</a:t>
            </a:r>
            <a:r>
              <a:rPr lang="en-US" altLang="zh-CN" sz="2800" b="1" dirty="0">
                <a:solidFill>
                  <a:srgbClr val="0000CC"/>
                </a:solidFill>
                <a:latin typeface="Arial" panose="020B0604020202020204" pitchFamily="34" charset="0"/>
                <a:cs typeface="Arial" panose="020B0604020202020204" pitchFamily="34" charset="0"/>
              </a:rPr>
              <a:t>ATP</a:t>
            </a:r>
            <a:r>
              <a:rPr lang="zh-CN" altLang="en-US" sz="2800" b="1" dirty="0">
                <a:latin typeface="Arial" panose="020B0604020202020204" pitchFamily="34" charset="0"/>
                <a:cs typeface="Arial" panose="020B0604020202020204" pitchFamily="34" charset="0"/>
              </a:rPr>
              <a:t>。</a:t>
            </a:r>
          </a:p>
          <a:p>
            <a:pPr>
              <a:lnSpc>
                <a:spcPct val="150000"/>
              </a:lnSpc>
              <a:spcBef>
                <a:spcPts val="0"/>
              </a:spcBef>
            </a:pPr>
            <a:r>
              <a:rPr lang="en-US" altLang="zh-CN" sz="2800" b="1" dirty="0">
                <a:solidFill>
                  <a:srgbClr val="C00000"/>
                </a:solidFill>
                <a:latin typeface="Arial" panose="020B0604020202020204" pitchFamily="34" charset="0"/>
                <a:cs typeface="Arial" panose="020B0604020202020204" pitchFamily="34" charset="0"/>
              </a:rPr>
              <a:t>LDH</a:t>
            </a:r>
            <a:r>
              <a:rPr lang="zh-CN" altLang="en-US" sz="2800" b="1" baseline="-25000" dirty="0">
                <a:solidFill>
                  <a:srgbClr val="C00000"/>
                </a:solidFill>
                <a:latin typeface="Arial" panose="020B0604020202020204" pitchFamily="34" charset="0"/>
                <a:cs typeface="Arial" panose="020B0604020202020204" pitchFamily="34" charset="0"/>
              </a:rPr>
              <a:t>１ </a:t>
            </a:r>
            <a:r>
              <a:rPr lang="zh-CN" altLang="en-US" sz="2800" b="1" dirty="0">
                <a:latin typeface="Arial" panose="020B0604020202020204" pitchFamily="34" charset="0"/>
                <a:cs typeface="Arial" panose="020B0604020202020204" pitchFamily="34" charset="0"/>
              </a:rPr>
              <a:t>催化乳酸脱氢生成丙酮酸，便于心肌氧化乳酸供能。</a:t>
            </a:r>
            <a:endParaRPr lang="en-US" altLang="zh-CN" sz="2800" b="1" dirty="0">
              <a:latin typeface="Arial" panose="020B0604020202020204" pitchFamily="34" charset="0"/>
              <a:cs typeface="Arial" panose="020B0604020202020204" pitchFamily="34" charset="0"/>
            </a:endParaRPr>
          </a:p>
        </p:txBody>
      </p:sp>
      <p:pic>
        <p:nvPicPr>
          <p:cNvPr id="97283" name="图片 3">
            <a:extLst>
              <a:ext uri="{FF2B5EF4-FFF2-40B4-BE49-F238E27FC236}">
                <a16:creationId xmlns:a16="http://schemas.microsoft.com/office/drawing/2014/main" id="{DC56AFE0-8DB5-460F-861D-18EC46CF65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1813" y="549275"/>
            <a:ext cx="5956300"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4" name="文本框 4">
            <a:extLst>
              <a:ext uri="{FF2B5EF4-FFF2-40B4-BE49-F238E27FC236}">
                <a16:creationId xmlns:a16="http://schemas.microsoft.com/office/drawing/2014/main" id="{1FB6095C-5B37-474A-8508-9B3068813D32}"/>
              </a:ext>
            </a:extLst>
          </p:cNvPr>
          <p:cNvSpPr txBox="1">
            <a:spLocks noChangeArrowheads="1"/>
          </p:cNvSpPr>
          <p:nvPr/>
        </p:nvSpPr>
        <p:spPr bwMode="auto">
          <a:xfrm>
            <a:off x="3432175" y="3113088"/>
            <a:ext cx="1150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zh-CN" altLang="en-US" sz="2400" b="1"/>
              <a:t>丙酮酸</a:t>
            </a:r>
          </a:p>
        </p:txBody>
      </p:sp>
      <p:sp>
        <p:nvSpPr>
          <p:cNvPr id="97285" name="文本框 5">
            <a:extLst>
              <a:ext uri="{FF2B5EF4-FFF2-40B4-BE49-F238E27FC236}">
                <a16:creationId xmlns:a16="http://schemas.microsoft.com/office/drawing/2014/main" id="{229C903E-FC36-40B0-814B-CBA3EE416794}"/>
              </a:ext>
            </a:extLst>
          </p:cNvPr>
          <p:cNvSpPr txBox="1">
            <a:spLocks noChangeArrowheads="1"/>
          </p:cNvSpPr>
          <p:nvPr/>
        </p:nvSpPr>
        <p:spPr bwMode="auto">
          <a:xfrm>
            <a:off x="7608889" y="3067051"/>
            <a:ext cx="1150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zh-CN" altLang="en-US" sz="2400" b="1"/>
              <a:t>乳酸</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318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6F32837-1CDD-C427-443D-2ACA63B63EA6}"/>
              </a:ext>
            </a:extLst>
          </p:cNvPr>
          <p:cNvPicPr>
            <a:picLocks noChangeAspect="1"/>
          </p:cNvPicPr>
          <p:nvPr/>
        </p:nvPicPr>
        <p:blipFill>
          <a:blip r:embed="rId3"/>
          <a:stretch>
            <a:fillRect/>
          </a:stretch>
        </p:blipFill>
        <p:spPr>
          <a:xfrm>
            <a:off x="711599" y="1951122"/>
            <a:ext cx="11042878" cy="3350086"/>
          </a:xfrm>
          <a:prstGeom prst="rect">
            <a:avLst/>
          </a:prstGeom>
        </p:spPr>
      </p:pic>
      <p:sp>
        <p:nvSpPr>
          <p:cNvPr id="101378" name="Text Box 3">
            <a:extLst>
              <a:ext uri="{FF2B5EF4-FFF2-40B4-BE49-F238E27FC236}">
                <a16:creationId xmlns:a16="http://schemas.microsoft.com/office/drawing/2014/main" id="{37BFF805-0779-468E-9531-C2F5EF31C5DD}"/>
              </a:ext>
            </a:extLst>
          </p:cNvPr>
          <p:cNvSpPr txBox="1">
            <a:spLocks noChangeArrowheads="1"/>
          </p:cNvSpPr>
          <p:nvPr/>
        </p:nvSpPr>
        <p:spPr bwMode="auto">
          <a:xfrm>
            <a:off x="2173287" y="798350"/>
            <a:ext cx="7845425" cy="720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193675" indent="-193675">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buFontTx/>
              <a:buNone/>
            </a:pPr>
            <a:r>
              <a:rPr lang="zh-CN" altLang="en-US" b="1" dirty="0">
                <a:solidFill>
                  <a:srgbClr val="0000CC"/>
                </a:solidFill>
                <a:latin typeface="Times New Roman" panose="02020603050405020304" pitchFamily="18" charset="0"/>
                <a:ea typeface="黑体" panose="02010609060101010101" pitchFamily="49" charset="-122"/>
              </a:rPr>
              <a:t>人体各组织器官中</a:t>
            </a:r>
            <a:r>
              <a:rPr lang="en-US" altLang="zh-CN" b="1" dirty="0">
                <a:solidFill>
                  <a:srgbClr val="0000CC"/>
                </a:solidFill>
                <a:latin typeface="Times New Roman" panose="02020603050405020304" pitchFamily="18" charset="0"/>
                <a:ea typeface="黑体" panose="02010609060101010101" pitchFamily="49" charset="-122"/>
              </a:rPr>
              <a:t>LDH</a:t>
            </a:r>
            <a:r>
              <a:rPr lang="zh-CN" altLang="en-US" b="1" dirty="0">
                <a:solidFill>
                  <a:srgbClr val="0000CC"/>
                </a:solidFill>
                <a:latin typeface="Times New Roman" panose="02020603050405020304" pitchFamily="18" charset="0"/>
                <a:ea typeface="黑体" panose="02010609060101010101" pitchFamily="49" charset="-122"/>
              </a:rPr>
              <a:t>同工酶的分布</a:t>
            </a:r>
          </a:p>
          <a:p>
            <a:pPr algn="ctr" eaLnBrk="1" hangingPunct="1">
              <a:buFontTx/>
              <a:buNone/>
            </a:pPr>
            <a:endParaRPr lang="zh-CN" altLang="en-US" b="1" dirty="0">
              <a:solidFill>
                <a:srgbClr val="0000CC"/>
              </a:solidFill>
              <a:latin typeface="Times New Roman" panose="02020603050405020304" pitchFamily="18" charset="0"/>
              <a:ea typeface="黑体" panose="02010609060101010101" pitchFamily="49" charset="-122"/>
            </a:endParaRPr>
          </a:p>
        </p:txBody>
      </p:sp>
      <p:cxnSp>
        <p:nvCxnSpPr>
          <p:cNvPr id="4" name="直接连接符 3">
            <a:extLst>
              <a:ext uri="{FF2B5EF4-FFF2-40B4-BE49-F238E27FC236}">
                <a16:creationId xmlns:a16="http://schemas.microsoft.com/office/drawing/2014/main" id="{754E8F9B-F739-40F4-9A33-F6E44D4A71CE}"/>
              </a:ext>
            </a:extLst>
          </p:cNvPr>
          <p:cNvCxnSpPr>
            <a:cxnSpLocks/>
          </p:cNvCxnSpPr>
          <p:nvPr/>
        </p:nvCxnSpPr>
        <p:spPr>
          <a:xfrm>
            <a:off x="1148236" y="3284984"/>
            <a:ext cx="64802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9BA79B83-CDA2-4FAB-9C64-2749AFA8A271}"/>
              </a:ext>
            </a:extLst>
          </p:cNvPr>
          <p:cNvCxnSpPr>
            <a:cxnSpLocks/>
          </p:cNvCxnSpPr>
          <p:nvPr/>
        </p:nvCxnSpPr>
        <p:spPr>
          <a:xfrm>
            <a:off x="1148236" y="5112204"/>
            <a:ext cx="699293"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E23F4510-01B4-49AD-96D3-0F2A3D2F8B99}"/>
              </a:ext>
            </a:extLst>
          </p:cNvPr>
          <p:cNvSpPr/>
          <p:nvPr/>
        </p:nvSpPr>
        <p:spPr>
          <a:xfrm>
            <a:off x="9787910" y="2882304"/>
            <a:ext cx="792163" cy="4318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矩形 8">
            <a:extLst>
              <a:ext uri="{FF2B5EF4-FFF2-40B4-BE49-F238E27FC236}">
                <a16:creationId xmlns:a16="http://schemas.microsoft.com/office/drawing/2014/main" id="{E2EAD7A4-AF6D-4E8B-9243-841324F05CA2}"/>
              </a:ext>
            </a:extLst>
          </p:cNvPr>
          <p:cNvSpPr/>
          <p:nvPr/>
        </p:nvSpPr>
        <p:spPr>
          <a:xfrm>
            <a:off x="9860935" y="4745491"/>
            <a:ext cx="719138" cy="36671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6" name="直接连接符 5">
            <a:extLst>
              <a:ext uri="{FF2B5EF4-FFF2-40B4-BE49-F238E27FC236}">
                <a16:creationId xmlns:a16="http://schemas.microsoft.com/office/drawing/2014/main" id="{9A739981-CCED-4F3B-A694-D88BF777E0FE}"/>
              </a:ext>
            </a:extLst>
          </p:cNvPr>
          <p:cNvCxnSpPr>
            <a:cxnSpLocks/>
          </p:cNvCxnSpPr>
          <p:nvPr/>
        </p:nvCxnSpPr>
        <p:spPr>
          <a:xfrm>
            <a:off x="5243514" y="4190331"/>
            <a:ext cx="64928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6CD9FC9-CEA1-4EB0-A7DB-BD353F41573D}"/>
              </a:ext>
            </a:extLst>
          </p:cNvPr>
          <p:cNvCxnSpPr>
            <a:cxnSpLocks/>
          </p:cNvCxnSpPr>
          <p:nvPr/>
        </p:nvCxnSpPr>
        <p:spPr>
          <a:xfrm>
            <a:off x="5243514" y="3717032"/>
            <a:ext cx="64928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DF43EBD9-B2F2-2F21-EF6B-FF740D992966}"/>
              </a:ext>
            </a:extLst>
          </p:cNvPr>
          <p:cNvCxnSpPr>
            <a:cxnSpLocks/>
          </p:cNvCxnSpPr>
          <p:nvPr/>
        </p:nvCxnSpPr>
        <p:spPr>
          <a:xfrm>
            <a:off x="7464152" y="3284984"/>
            <a:ext cx="64928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BC896BF-AA91-4D15-3BCE-4D9A222AE0D4}"/>
              </a:ext>
            </a:extLst>
          </p:cNvPr>
          <p:cNvCxnSpPr>
            <a:cxnSpLocks/>
          </p:cNvCxnSpPr>
          <p:nvPr/>
        </p:nvCxnSpPr>
        <p:spPr>
          <a:xfrm>
            <a:off x="7464152" y="3717032"/>
            <a:ext cx="64928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F5A04B33-2342-7FAC-DEB9-206EF393B208}"/>
              </a:ext>
            </a:extLst>
          </p:cNvPr>
          <p:cNvCxnSpPr>
            <a:cxnSpLocks/>
          </p:cNvCxnSpPr>
          <p:nvPr/>
        </p:nvCxnSpPr>
        <p:spPr>
          <a:xfrm>
            <a:off x="6312024" y="5085184"/>
            <a:ext cx="70847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978189A-76E4-AB9E-F0E2-D22C19BFA12B}"/>
              </a:ext>
            </a:extLst>
          </p:cNvPr>
          <p:cNvCxnSpPr>
            <a:cxnSpLocks/>
          </p:cNvCxnSpPr>
          <p:nvPr/>
        </p:nvCxnSpPr>
        <p:spPr>
          <a:xfrm>
            <a:off x="5243514" y="3247269"/>
            <a:ext cx="64928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7780653C-3D04-4DC9-BBE8-C77075719D5C}"/>
              </a:ext>
            </a:extLst>
          </p:cNvPr>
          <p:cNvSpPr>
            <a:spLocks noChangeArrowheads="1"/>
          </p:cNvSpPr>
          <p:nvPr/>
        </p:nvSpPr>
        <p:spPr bwMode="auto">
          <a:xfrm>
            <a:off x="2424114" y="692151"/>
            <a:ext cx="66944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7800" indent="-1778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10000"/>
              </a:lnSpc>
              <a:spcBef>
                <a:spcPct val="0"/>
              </a:spcBef>
              <a:buFont typeface="Wingdings" panose="05000000000000000000" pitchFamily="2" charset="2"/>
              <a:buNone/>
            </a:pPr>
            <a:r>
              <a:rPr kumimoji="1" lang="zh-CN" altLang="en-US" b="1" dirty="0">
                <a:solidFill>
                  <a:srgbClr val="FF3300"/>
                </a:solidFill>
                <a:latin typeface="Arial" panose="020B0604020202020204" pitchFamily="34" charset="0"/>
                <a:ea typeface="黑体" panose="02010609060101010101" pitchFamily="49" charset="-122"/>
              </a:rPr>
              <a:t>临床意义</a:t>
            </a:r>
          </a:p>
        </p:txBody>
      </p:sp>
      <p:sp>
        <p:nvSpPr>
          <p:cNvPr id="103427" name="Text Box 3">
            <a:extLst>
              <a:ext uri="{FF2B5EF4-FFF2-40B4-BE49-F238E27FC236}">
                <a16:creationId xmlns:a16="http://schemas.microsoft.com/office/drawing/2014/main" id="{C458DB52-9DBC-4653-9361-CBCE0C469048}"/>
              </a:ext>
            </a:extLst>
          </p:cNvPr>
          <p:cNvSpPr txBox="1">
            <a:spLocks noChangeArrowheads="1"/>
          </p:cNvSpPr>
          <p:nvPr/>
        </p:nvSpPr>
        <p:spPr bwMode="auto">
          <a:xfrm>
            <a:off x="6064109" y="5799199"/>
            <a:ext cx="44963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2400" b="1" dirty="0">
                <a:latin typeface="黑体" panose="02010609060101010101" pitchFamily="49" charset="-122"/>
                <a:ea typeface="黑体" panose="02010609060101010101" pitchFamily="49" charset="-122"/>
              </a:rPr>
              <a:t>心肌梗死和肝病病人</a:t>
            </a:r>
            <a:r>
              <a:rPr kumimoji="1" lang="zh-CN" altLang="en-US" sz="2400" b="1" dirty="0">
                <a:solidFill>
                  <a:srgbClr val="0000CC"/>
                </a:solidFill>
                <a:latin typeface="黑体" panose="02010609060101010101" pitchFamily="49" charset="-122"/>
                <a:ea typeface="黑体" panose="02010609060101010101" pitchFamily="49" charset="-122"/>
              </a:rPr>
              <a:t>血清</a:t>
            </a:r>
            <a:r>
              <a:rPr kumimoji="1" lang="en-US" altLang="zh-CN" sz="2400" b="1" dirty="0">
                <a:solidFill>
                  <a:srgbClr val="0000CC"/>
                </a:solidFill>
                <a:latin typeface="Times New Roman" panose="02020603050405020304" pitchFamily="18" charset="0"/>
                <a:ea typeface="黑体" panose="02010609060101010101" pitchFamily="49" charset="-122"/>
              </a:rPr>
              <a:t>LDH</a:t>
            </a:r>
            <a:r>
              <a:rPr kumimoji="1" lang="zh-CN" altLang="en-US" sz="2400" b="1" dirty="0">
                <a:latin typeface="黑体" panose="02010609060101010101" pitchFamily="49" charset="-122"/>
                <a:ea typeface="黑体" panose="02010609060101010101" pitchFamily="49" charset="-122"/>
              </a:rPr>
              <a:t>同工酶谱的变化</a:t>
            </a:r>
          </a:p>
        </p:txBody>
      </p:sp>
      <p:sp>
        <p:nvSpPr>
          <p:cNvPr id="103428" name="Text Box 4">
            <a:extLst>
              <a:ext uri="{FF2B5EF4-FFF2-40B4-BE49-F238E27FC236}">
                <a16:creationId xmlns:a16="http://schemas.microsoft.com/office/drawing/2014/main" id="{847DC224-9E97-4425-BB3F-08FCF585DCDD}"/>
              </a:ext>
            </a:extLst>
          </p:cNvPr>
          <p:cNvSpPr txBox="1">
            <a:spLocks noChangeArrowheads="1"/>
          </p:cNvSpPr>
          <p:nvPr/>
        </p:nvSpPr>
        <p:spPr bwMode="auto">
          <a:xfrm>
            <a:off x="6725803" y="5253038"/>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r" eaLnBrk="1" hangingPunct="1">
              <a:spcBef>
                <a:spcPct val="0"/>
              </a:spcBef>
              <a:buFontTx/>
              <a:buNone/>
            </a:pPr>
            <a:r>
              <a:rPr kumimoji="1" lang="en-US" altLang="zh-CN" sz="2400" b="1">
                <a:latin typeface="黑体" panose="02010609060101010101" pitchFamily="49" charset="-122"/>
                <a:ea typeface="黑体" panose="02010609060101010101" pitchFamily="49" charset="-122"/>
              </a:rPr>
              <a:t>1</a:t>
            </a:r>
          </a:p>
        </p:txBody>
      </p:sp>
      <p:sp>
        <p:nvSpPr>
          <p:cNvPr id="103429" name="Text Box 5">
            <a:extLst>
              <a:ext uri="{FF2B5EF4-FFF2-40B4-BE49-F238E27FC236}">
                <a16:creationId xmlns:a16="http://schemas.microsoft.com/office/drawing/2014/main" id="{3D6B29AF-A8C3-40A4-873B-4B314D931BB0}"/>
              </a:ext>
            </a:extLst>
          </p:cNvPr>
          <p:cNvSpPr txBox="1">
            <a:spLocks noChangeArrowheads="1"/>
          </p:cNvSpPr>
          <p:nvPr/>
        </p:nvSpPr>
        <p:spPr bwMode="auto">
          <a:xfrm>
            <a:off x="5537201" y="677893"/>
            <a:ext cx="609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400" b="1" dirty="0">
                <a:latin typeface="黑体" panose="02010609060101010101" pitchFamily="49" charset="-122"/>
                <a:ea typeface="黑体" panose="02010609060101010101" pitchFamily="49" charset="-122"/>
              </a:rPr>
              <a:t>酶活性</a:t>
            </a:r>
          </a:p>
        </p:txBody>
      </p:sp>
      <p:sp>
        <p:nvSpPr>
          <p:cNvPr id="103430" name="Freeform 6">
            <a:extLst>
              <a:ext uri="{FF2B5EF4-FFF2-40B4-BE49-F238E27FC236}">
                <a16:creationId xmlns:a16="http://schemas.microsoft.com/office/drawing/2014/main" id="{7421B9C5-72F2-48FC-BFA1-4563B2454B28}"/>
              </a:ext>
            </a:extLst>
          </p:cNvPr>
          <p:cNvSpPr>
            <a:spLocks/>
          </p:cNvSpPr>
          <p:nvPr/>
        </p:nvSpPr>
        <p:spPr bwMode="auto">
          <a:xfrm>
            <a:off x="6186486" y="4405313"/>
            <a:ext cx="3581400" cy="698500"/>
          </a:xfrm>
          <a:custGeom>
            <a:avLst/>
            <a:gdLst>
              <a:gd name="T0" fmla="*/ 0 w 2256"/>
              <a:gd name="T1" fmla="*/ 2147483646 h 440"/>
              <a:gd name="T2" fmla="*/ 2147483646 w 2256"/>
              <a:gd name="T3" fmla="*/ 2147483646 h 440"/>
              <a:gd name="T4" fmla="*/ 2147483646 w 2256"/>
              <a:gd name="T5" fmla="*/ 2147483646 h 440"/>
              <a:gd name="T6" fmla="*/ 2147483646 w 2256"/>
              <a:gd name="T7" fmla="*/ 2147483646 h 440"/>
              <a:gd name="T8" fmla="*/ 2147483646 w 2256"/>
              <a:gd name="T9" fmla="*/ 2147483646 h 440"/>
              <a:gd name="T10" fmla="*/ 2147483646 w 2256"/>
              <a:gd name="T11" fmla="*/ 2147483646 h 440"/>
              <a:gd name="T12" fmla="*/ 2147483646 w 2256"/>
              <a:gd name="T13" fmla="*/ 2147483646 h 440"/>
              <a:gd name="T14" fmla="*/ 2147483646 w 2256"/>
              <a:gd name="T15" fmla="*/ 2147483646 h 440"/>
              <a:gd name="T16" fmla="*/ 2147483646 w 2256"/>
              <a:gd name="T17" fmla="*/ 2147483646 h 440"/>
              <a:gd name="T18" fmla="*/ 2147483646 w 2256"/>
              <a:gd name="T19" fmla="*/ 2147483646 h 440"/>
              <a:gd name="T20" fmla="*/ 2147483646 w 2256"/>
              <a:gd name="T21" fmla="*/ 2147483646 h 440"/>
              <a:gd name="T22" fmla="*/ 2147483646 w 2256"/>
              <a:gd name="T23" fmla="*/ 2147483646 h 440"/>
              <a:gd name="T24" fmla="*/ 2147483646 w 2256"/>
              <a:gd name="T25" fmla="*/ 2147483646 h 440"/>
              <a:gd name="T26" fmla="*/ 2147483646 w 2256"/>
              <a:gd name="T27" fmla="*/ 2147483646 h 440"/>
              <a:gd name="T28" fmla="*/ 2147483646 w 2256"/>
              <a:gd name="T29" fmla="*/ 2147483646 h 440"/>
              <a:gd name="T30" fmla="*/ 2147483646 w 2256"/>
              <a:gd name="T31" fmla="*/ 2147483646 h 440"/>
              <a:gd name="T32" fmla="*/ 2147483646 w 2256"/>
              <a:gd name="T33" fmla="*/ 2147483646 h 440"/>
              <a:gd name="T34" fmla="*/ 2147483646 w 2256"/>
              <a:gd name="T35" fmla="*/ 2147483646 h 440"/>
              <a:gd name="T36" fmla="*/ 2147483646 w 2256"/>
              <a:gd name="T37" fmla="*/ 2147483646 h 440"/>
              <a:gd name="T38" fmla="*/ 2147483646 w 2256"/>
              <a:gd name="T39" fmla="*/ 2147483646 h 440"/>
              <a:gd name="T40" fmla="*/ 2147483646 w 2256"/>
              <a:gd name="T41" fmla="*/ 2147483646 h 440"/>
              <a:gd name="T42" fmla="*/ 2147483646 w 2256"/>
              <a:gd name="T43" fmla="*/ 2147483646 h 440"/>
              <a:gd name="T44" fmla="*/ 2147483646 w 2256"/>
              <a:gd name="T45" fmla="*/ 2147483646 h 44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56"/>
              <a:gd name="T70" fmla="*/ 0 h 440"/>
              <a:gd name="T71" fmla="*/ 2256 w 2256"/>
              <a:gd name="T72" fmla="*/ 440 h 44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56" h="440">
                <a:moveTo>
                  <a:pt x="0" y="344"/>
                </a:moveTo>
                <a:cubicBezTo>
                  <a:pt x="68" y="352"/>
                  <a:pt x="136" y="360"/>
                  <a:pt x="192" y="344"/>
                </a:cubicBezTo>
                <a:cubicBezTo>
                  <a:pt x="248" y="328"/>
                  <a:pt x="304" y="280"/>
                  <a:pt x="336" y="248"/>
                </a:cubicBezTo>
                <a:cubicBezTo>
                  <a:pt x="368" y="216"/>
                  <a:pt x="368" y="176"/>
                  <a:pt x="384" y="152"/>
                </a:cubicBezTo>
                <a:cubicBezTo>
                  <a:pt x="400" y="128"/>
                  <a:pt x="408" y="96"/>
                  <a:pt x="432" y="104"/>
                </a:cubicBezTo>
                <a:cubicBezTo>
                  <a:pt x="456" y="112"/>
                  <a:pt x="504" y="168"/>
                  <a:pt x="528" y="200"/>
                </a:cubicBezTo>
                <a:cubicBezTo>
                  <a:pt x="552" y="232"/>
                  <a:pt x="544" y="288"/>
                  <a:pt x="576" y="296"/>
                </a:cubicBezTo>
                <a:cubicBezTo>
                  <a:pt x="608" y="304"/>
                  <a:pt x="688" y="288"/>
                  <a:pt x="720" y="248"/>
                </a:cubicBezTo>
                <a:cubicBezTo>
                  <a:pt x="752" y="208"/>
                  <a:pt x="752" y="96"/>
                  <a:pt x="768" y="56"/>
                </a:cubicBezTo>
                <a:cubicBezTo>
                  <a:pt x="784" y="16"/>
                  <a:pt x="800" y="0"/>
                  <a:pt x="816" y="8"/>
                </a:cubicBezTo>
                <a:cubicBezTo>
                  <a:pt x="832" y="16"/>
                  <a:pt x="840" y="56"/>
                  <a:pt x="864" y="104"/>
                </a:cubicBezTo>
                <a:cubicBezTo>
                  <a:pt x="888" y="152"/>
                  <a:pt x="928" y="256"/>
                  <a:pt x="960" y="296"/>
                </a:cubicBezTo>
                <a:cubicBezTo>
                  <a:pt x="992" y="336"/>
                  <a:pt x="1024" y="344"/>
                  <a:pt x="1056" y="344"/>
                </a:cubicBezTo>
                <a:cubicBezTo>
                  <a:pt x="1088" y="344"/>
                  <a:pt x="1120" y="304"/>
                  <a:pt x="1152" y="296"/>
                </a:cubicBezTo>
                <a:cubicBezTo>
                  <a:pt x="1184" y="288"/>
                  <a:pt x="1208" y="280"/>
                  <a:pt x="1248" y="296"/>
                </a:cubicBezTo>
                <a:cubicBezTo>
                  <a:pt x="1288" y="312"/>
                  <a:pt x="1336" y="384"/>
                  <a:pt x="1392" y="392"/>
                </a:cubicBezTo>
                <a:cubicBezTo>
                  <a:pt x="1448" y="400"/>
                  <a:pt x="1528" y="352"/>
                  <a:pt x="1584" y="344"/>
                </a:cubicBezTo>
                <a:cubicBezTo>
                  <a:pt x="1640" y="336"/>
                  <a:pt x="1680" y="376"/>
                  <a:pt x="1728" y="344"/>
                </a:cubicBezTo>
                <a:cubicBezTo>
                  <a:pt x="1776" y="312"/>
                  <a:pt x="1840" y="200"/>
                  <a:pt x="1872" y="152"/>
                </a:cubicBezTo>
                <a:cubicBezTo>
                  <a:pt x="1904" y="104"/>
                  <a:pt x="1896" y="40"/>
                  <a:pt x="1920" y="56"/>
                </a:cubicBezTo>
                <a:cubicBezTo>
                  <a:pt x="1944" y="72"/>
                  <a:pt x="1984" y="192"/>
                  <a:pt x="2016" y="248"/>
                </a:cubicBezTo>
                <a:cubicBezTo>
                  <a:pt x="2048" y="304"/>
                  <a:pt x="2072" y="360"/>
                  <a:pt x="2112" y="392"/>
                </a:cubicBezTo>
                <a:cubicBezTo>
                  <a:pt x="2152" y="424"/>
                  <a:pt x="2232" y="432"/>
                  <a:pt x="2256" y="440"/>
                </a:cubicBezTo>
              </a:path>
            </a:pathLst>
          </a:cu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31" name="Freeform 7">
            <a:extLst>
              <a:ext uri="{FF2B5EF4-FFF2-40B4-BE49-F238E27FC236}">
                <a16:creationId xmlns:a16="http://schemas.microsoft.com/office/drawing/2014/main" id="{AA0D3051-46E1-4F4F-8BC6-8BC2899B4096}"/>
              </a:ext>
            </a:extLst>
          </p:cNvPr>
          <p:cNvSpPr>
            <a:spLocks/>
          </p:cNvSpPr>
          <p:nvPr/>
        </p:nvSpPr>
        <p:spPr bwMode="auto">
          <a:xfrm>
            <a:off x="6186486" y="1052513"/>
            <a:ext cx="3581400" cy="1943100"/>
          </a:xfrm>
          <a:custGeom>
            <a:avLst/>
            <a:gdLst>
              <a:gd name="T0" fmla="*/ 0 w 2256"/>
              <a:gd name="T1" fmla="*/ 2147483646 h 1224"/>
              <a:gd name="T2" fmla="*/ 2147483646 w 2256"/>
              <a:gd name="T3" fmla="*/ 2147483646 h 1224"/>
              <a:gd name="T4" fmla="*/ 2147483646 w 2256"/>
              <a:gd name="T5" fmla="*/ 2147483646 h 1224"/>
              <a:gd name="T6" fmla="*/ 2147483646 w 2256"/>
              <a:gd name="T7" fmla="*/ 2147483646 h 1224"/>
              <a:gd name="T8" fmla="*/ 2147483646 w 2256"/>
              <a:gd name="T9" fmla="*/ 2147483646 h 1224"/>
              <a:gd name="T10" fmla="*/ 2147483646 w 2256"/>
              <a:gd name="T11" fmla="*/ 2147483646 h 1224"/>
              <a:gd name="T12" fmla="*/ 2147483646 w 2256"/>
              <a:gd name="T13" fmla="*/ 2147483646 h 1224"/>
              <a:gd name="T14" fmla="*/ 2147483646 w 2256"/>
              <a:gd name="T15" fmla="*/ 2147483646 h 1224"/>
              <a:gd name="T16" fmla="*/ 2147483646 w 2256"/>
              <a:gd name="T17" fmla="*/ 2147483646 h 1224"/>
              <a:gd name="T18" fmla="*/ 2147483646 w 2256"/>
              <a:gd name="T19" fmla="*/ 2147483646 h 1224"/>
              <a:gd name="T20" fmla="*/ 2147483646 w 2256"/>
              <a:gd name="T21" fmla="*/ 2147483646 h 1224"/>
              <a:gd name="T22" fmla="*/ 2147483646 w 2256"/>
              <a:gd name="T23" fmla="*/ 2147483646 h 1224"/>
              <a:gd name="T24" fmla="*/ 2147483646 w 2256"/>
              <a:gd name="T25" fmla="*/ 2147483646 h 1224"/>
              <a:gd name="T26" fmla="*/ 2147483646 w 2256"/>
              <a:gd name="T27" fmla="*/ 2147483646 h 1224"/>
              <a:gd name="T28" fmla="*/ 2147483646 w 2256"/>
              <a:gd name="T29" fmla="*/ 2147483646 h 1224"/>
              <a:gd name="T30" fmla="*/ 2147483646 w 2256"/>
              <a:gd name="T31" fmla="*/ 2147483646 h 1224"/>
              <a:gd name="T32" fmla="*/ 2147483646 w 2256"/>
              <a:gd name="T33" fmla="*/ 2147483646 h 1224"/>
              <a:gd name="T34" fmla="*/ 2147483646 w 2256"/>
              <a:gd name="T35" fmla="*/ 2147483646 h 1224"/>
              <a:gd name="T36" fmla="*/ 2147483646 w 2256"/>
              <a:gd name="T37" fmla="*/ 2147483646 h 1224"/>
              <a:gd name="T38" fmla="*/ 2147483646 w 2256"/>
              <a:gd name="T39" fmla="*/ 2147483646 h 1224"/>
              <a:gd name="T40" fmla="*/ 2147483646 w 2256"/>
              <a:gd name="T41" fmla="*/ 2147483646 h 1224"/>
              <a:gd name="T42" fmla="*/ 2147483646 w 2256"/>
              <a:gd name="T43" fmla="*/ 2147483646 h 1224"/>
              <a:gd name="T44" fmla="*/ 2147483646 w 2256"/>
              <a:gd name="T45" fmla="*/ 2147483646 h 1224"/>
              <a:gd name="T46" fmla="*/ 2147483646 w 2256"/>
              <a:gd name="T47" fmla="*/ 2147483646 h 1224"/>
              <a:gd name="T48" fmla="*/ 2147483646 w 2256"/>
              <a:gd name="T49" fmla="*/ 2147483646 h 122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256"/>
              <a:gd name="T76" fmla="*/ 0 h 1224"/>
              <a:gd name="T77" fmla="*/ 2256 w 2256"/>
              <a:gd name="T78" fmla="*/ 1224 h 122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256" h="1224">
                <a:moveTo>
                  <a:pt x="0" y="1160"/>
                </a:moveTo>
                <a:cubicBezTo>
                  <a:pt x="44" y="1168"/>
                  <a:pt x="88" y="1176"/>
                  <a:pt x="144" y="1160"/>
                </a:cubicBezTo>
                <a:cubicBezTo>
                  <a:pt x="200" y="1144"/>
                  <a:pt x="288" y="1136"/>
                  <a:pt x="336" y="1064"/>
                </a:cubicBezTo>
                <a:cubicBezTo>
                  <a:pt x="384" y="992"/>
                  <a:pt x="408" y="872"/>
                  <a:pt x="432" y="728"/>
                </a:cubicBezTo>
                <a:cubicBezTo>
                  <a:pt x="456" y="584"/>
                  <a:pt x="456" y="304"/>
                  <a:pt x="480" y="200"/>
                </a:cubicBezTo>
                <a:cubicBezTo>
                  <a:pt x="504" y="96"/>
                  <a:pt x="560" y="0"/>
                  <a:pt x="576" y="104"/>
                </a:cubicBezTo>
                <a:cubicBezTo>
                  <a:pt x="592" y="208"/>
                  <a:pt x="568" y="664"/>
                  <a:pt x="576" y="824"/>
                </a:cubicBezTo>
                <a:cubicBezTo>
                  <a:pt x="584" y="984"/>
                  <a:pt x="608" y="1016"/>
                  <a:pt x="624" y="1064"/>
                </a:cubicBezTo>
                <a:cubicBezTo>
                  <a:pt x="640" y="1112"/>
                  <a:pt x="648" y="1128"/>
                  <a:pt x="672" y="1112"/>
                </a:cubicBezTo>
                <a:cubicBezTo>
                  <a:pt x="696" y="1096"/>
                  <a:pt x="744" y="1056"/>
                  <a:pt x="768" y="968"/>
                </a:cubicBezTo>
                <a:cubicBezTo>
                  <a:pt x="792" y="880"/>
                  <a:pt x="800" y="680"/>
                  <a:pt x="816" y="584"/>
                </a:cubicBezTo>
                <a:cubicBezTo>
                  <a:pt x="832" y="488"/>
                  <a:pt x="848" y="384"/>
                  <a:pt x="864" y="392"/>
                </a:cubicBezTo>
                <a:cubicBezTo>
                  <a:pt x="880" y="400"/>
                  <a:pt x="896" y="536"/>
                  <a:pt x="912" y="632"/>
                </a:cubicBezTo>
                <a:cubicBezTo>
                  <a:pt x="928" y="728"/>
                  <a:pt x="944" y="888"/>
                  <a:pt x="960" y="968"/>
                </a:cubicBezTo>
                <a:cubicBezTo>
                  <a:pt x="976" y="1048"/>
                  <a:pt x="976" y="1088"/>
                  <a:pt x="1008" y="1112"/>
                </a:cubicBezTo>
                <a:cubicBezTo>
                  <a:pt x="1040" y="1136"/>
                  <a:pt x="1120" y="1120"/>
                  <a:pt x="1152" y="1112"/>
                </a:cubicBezTo>
                <a:cubicBezTo>
                  <a:pt x="1184" y="1104"/>
                  <a:pt x="1176" y="1064"/>
                  <a:pt x="1200" y="1064"/>
                </a:cubicBezTo>
                <a:cubicBezTo>
                  <a:pt x="1224" y="1064"/>
                  <a:pt x="1264" y="1088"/>
                  <a:pt x="1296" y="1112"/>
                </a:cubicBezTo>
                <a:cubicBezTo>
                  <a:pt x="1328" y="1136"/>
                  <a:pt x="1352" y="1192"/>
                  <a:pt x="1392" y="1208"/>
                </a:cubicBezTo>
                <a:cubicBezTo>
                  <a:pt x="1432" y="1224"/>
                  <a:pt x="1488" y="1208"/>
                  <a:pt x="1536" y="1208"/>
                </a:cubicBezTo>
                <a:cubicBezTo>
                  <a:pt x="1584" y="1208"/>
                  <a:pt x="1640" y="1208"/>
                  <a:pt x="1680" y="1208"/>
                </a:cubicBezTo>
                <a:cubicBezTo>
                  <a:pt x="1720" y="1208"/>
                  <a:pt x="1728" y="1216"/>
                  <a:pt x="1776" y="1208"/>
                </a:cubicBezTo>
                <a:cubicBezTo>
                  <a:pt x="1824" y="1200"/>
                  <a:pt x="1920" y="1160"/>
                  <a:pt x="1968" y="1160"/>
                </a:cubicBezTo>
                <a:cubicBezTo>
                  <a:pt x="2016" y="1160"/>
                  <a:pt x="2016" y="1200"/>
                  <a:pt x="2064" y="1208"/>
                </a:cubicBezTo>
                <a:cubicBezTo>
                  <a:pt x="2112" y="1216"/>
                  <a:pt x="2224" y="1208"/>
                  <a:pt x="2256" y="1208"/>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32" name="Freeform 8">
            <a:extLst>
              <a:ext uri="{FF2B5EF4-FFF2-40B4-BE49-F238E27FC236}">
                <a16:creationId xmlns:a16="http://schemas.microsoft.com/office/drawing/2014/main" id="{FA98FE86-369B-4DD4-8B90-734134A9F485}"/>
              </a:ext>
            </a:extLst>
          </p:cNvPr>
          <p:cNvSpPr>
            <a:spLocks/>
          </p:cNvSpPr>
          <p:nvPr/>
        </p:nvSpPr>
        <p:spPr bwMode="auto">
          <a:xfrm>
            <a:off x="6186486" y="3287713"/>
            <a:ext cx="3581400" cy="774700"/>
          </a:xfrm>
          <a:custGeom>
            <a:avLst/>
            <a:gdLst>
              <a:gd name="T0" fmla="*/ 0 w 2256"/>
              <a:gd name="T1" fmla="*/ 2147483646 h 488"/>
              <a:gd name="T2" fmla="*/ 2147483646 w 2256"/>
              <a:gd name="T3" fmla="*/ 2147483646 h 488"/>
              <a:gd name="T4" fmla="*/ 2147483646 w 2256"/>
              <a:gd name="T5" fmla="*/ 2147483646 h 488"/>
              <a:gd name="T6" fmla="*/ 2147483646 w 2256"/>
              <a:gd name="T7" fmla="*/ 2147483646 h 488"/>
              <a:gd name="T8" fmla="*/ 2147483646 w 2256"/>
              <a:gd name="T9" fmla="*/ 2147483646 h 488"/>
              <a:gd name="T10" fmla="*/ 2147483646 w 2256"/>
              <a:gd name="T11" fmla="*/ 2147483646 h 488"/>
              <a:gd name="T12" fmla="*/ 2147483646 w 2256"/>
              <a:gd name="T13" fmla="*/ 2147483646 h 488"/>
              <a:gd name="T14" fmla="*/ 2147483646 w 2256"/>
              <a:gd name="T15" fmla="*/ 2147483646 h 488"/>
              <a:gd name="T16" fmla="*/ 2147483646 w 2256"/>
              <a:gd name="T17" fmla="*/ 2147483646 h 488"/>
              <a:gd name="T18" fmla="*/ 2147483646 w 2256"/>
              <a:gd name="T19" fmla="*/ 2147483646 h 488"/>
              <a:gd name="T20" fmla="*/ 2147483646 w 2256"/>
              <a:gd name="T21" fmla="*/ 2147483646 h 488"/>
              <a:gd name="T22" fmla="*/ 2147483646 w 2256"/>
              <a:gd name="T23" fmla="*/ 2147483646 h 488"/>
              <a:gd name="T24" fmla="*/ 2147483646 w 2256"/>
              <a:gd name="T25" fmla="*/ 2147483646 h 488"/>
              <a:gd name="T26" fmla="*/ 2147483646 w 2256"/>
              <a:gd name="T27" fmla="*/ 2147483646 h 488"/>
              <a:gd name="T28" fmla="*/ 2147483646 w 2256"/>
              <a:gd name="T29" fmla="*/ 2147483646 h 488"/>
              <a:gd name="T30" fmla="*/ 2147483646 w 2256"/>
              <a:gd name="T31" fmla="*/ 2147483646 h 488"/>
              <a:gd name="T32" fmla="*/ 2147483646 w 2256"/>
              <a:gd name="T33" fmla="*/ 2147483646 h 488"/>
              <a:gd name="T34" fmla="*/ 2147483646 w 2256"/>
              <a:gd name="T35" fmla="*/ 2147483646 h 488"/>
              <a:gd name="T36" fmla="*/ 2147483646 w 2256"/>
              <a:gd name="T37" fmla="*/ 2147483646 h 488"/>
              <a:gd name="T38" fmla="*/ 2147483646 w 2256"/>
              <a:gd name="T39" fmla="*/ 2147483646 h 488"/>
              <a:gd name="T40" fmla="*/ 2147483646 w 2256"/>
              <a:gd name="T41" fmla="*/ 2147483646 h 488"/>
              <a:gd name="T42" fmla="*/ 2147483646 w 2256"/>
              <a:gd name="T43" fmla="*/ 2147483646 h 48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56"/>
              <a:gd name="T67" fmla="*/ 0 h 488"/>
              <a:gd name="T68" fmla="*/ 2256 w 2256"/>
              <a:gd name="T69" fmla="*/ 488 h 48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56" h="488">
                <a:moveTo>
                  <a:pt x="0" y="376"/>
                </a:moveTo>
                <a:cubicBezTo>
                  <a:pt x="104" y="392"/>
                  <a:pt x="208" y="408"/>
                  <a:pt x="288" y="376"/>
                </a:cubicBezTo>
                <a:cubicBezTo>
                  <a:pt x="368" y="344"/>
                  <a:pt x="432" y="208"/>
                  <a:pt x="480" y="184"/>
                </a:cubicBezTo>
                <a:cubicBezTo>
                  <a:pt x="528" y="160"/>
                  <a:pt x="552" y="208"/>
                  <a:pt x="576" y="232"/>
                </a:cubicBezTo>
                <a:cubicBezTo>
                  <a:pt x="600" y="256"/>
                  <a:pt x="600" y="312"/>
                  <a:pt x="624" y="328"/>
                </a:cubicBezTo>
                <a:cubicBezTo>
                  <a:pt x="648" y="344"/>
                  <a:pt x="696" y="360"/>
                  <a:pt x="720" y="328"/>
                </a:cubicBezTo>
                <a:cubicBezTo>
                  <a:pt x="744" y="296"/>
                  <a:pt x="752" y="184"/>
                  <a:pt x="768" y="136"/>
                </a:cubicBezTo>
                <a:cubicBezTo>
                  <a:pt x="784" y="88"/>
                  <a:pt x="800" y="56"/>
                  <a:pt x="816" y="40"/>
                </a:cubicBezTo>
                <a:cubicBezTo>
                  <a:pt x="832" y="24"/>
                  <a:pt x="840" y="0"/>
                  <a:pt x="864" y="40"/>
                </a:cubicBezTo>
                <a:cubicBezTo>
                  <a:pt x="888" y="80"/>
                  <a:pt x="928" y="224"/>
                  <a:pt x="960" y="280"/>
                </a:cubicBezTo>
                <a:cubicBezTo>
                  <a:pt x="992" y="336"/>
                  <a:pt x="1032" y="368"/>
                  <a:pt x="1056" y="376"/>
                </a:cubicBezTo>
                <a:cubicBezTo>
                  <a:pt x="1080" y="384"/>
                  <a:pt x="1072" y="352"/>
                  <a:pt x="1104" y="328"/>
                </a:cubicBezTo>
                <a:cubicBezTo>
                  <a:pt x="1136" y="304"/>
                  <a:pt x="1200" y="216"/>
                  <a:pt x="1248" y="232"/>
                </a:cubicBezTo>
                <a:cubicBezTo>
                  <a:pt x="1296" y="248"/>
                  <a:pt x="1352" y="400"/>
                  <a:pt x="1392" y="424"/>
                </a:cubicBezTo>
                <a:cubicBezTo>
                  <a:pt x="1432" y="448"/>
                  <a:pt x="1456" y="384"/>
                  <a:pt x="1488" y="376"/>
                </a:cubicBezTo>
                <a:cubicBezTo>
                  <a:pt x="1520" y="368"/>
                  <a:pt x="1544" y="360"/>
                  <a:pt x="1584" y="376"/>
                </a:cubicBezTo>
                <a:cubicBezTo>
                  <a:pt x="1624" y="392"/>
                  <a:pt x="1680" y="456"/>
                  <a:pt x="1728" y="472"/>
                </a:cubicBezTo>
                <a:cubicBezTo>
                  <a:pt x="1776" y="488"/>
                  <a:pt x="1832" y="480"/>
                  <a:pt x="1872" y="472"/>
                </a:cubicBezTo>
                <a:cubicBezTo>
                  <a:pt x="1912" y="464"/>
                  <a:pt x="1936" y="424"/>
                  <a:pt x="1968" y="424"/>
                </a:cubicBezTo>
                <a:cubicBezTo>
                  <a:pt x="2000" y="424"/>
                  <a:pt x="2024" y="464"/>
                  <a:pt x="2064" y="472"/>
                </a:cubicBezTo>
                <a:cubicBezTo>
                  <a:pt x="2104" y="480"/>
                  <a:pt x="2176" y="472"/>
                  <a:pt x="2208" y="472"/>
                </a:cubicBezTo>
                <a:cubicBezTo>
                  <a:pt x="2240" y="472"/>
                  <a:pt x="2248" y="472"/>
                  <a:pt x="2256" y="472"/>
                </a:cubicBezTo>
              </a:path>
            </a:pathLst>
          </a:custGeom>
          <a:noFill/>
          <a:ln w="38100">
            <a:solidFill>
              <a:srgbClr val="D6009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33" name="Line 9">
            <a:extLst>
              <a:ext uri="{FF2B5EF4-FFF2-40B4-BE49-F238E27FC236}">
                <a16:creationId xmlns:a16="http://schemas.microsoft.com/office/drawing/2014/main" id="{391B1DC5-E7D6-48F5-B160-29DECD567B83}"/>
              </a:ext>
            </a:extLst>
          </p:cNvPr>
          <p:cNvSpPr>
            <a:spLocks noChangeShapeType="1"/>
          </p:cNvSpPr>
          <p:nvPr/>
        </p:nvSpPr>
        <p:spPr bwMode="auto">
          <a:xfrm>
            <a:off x="6034086" y="989013"/>
            <a:ext cx="0" cy="42672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4" name="Line 10">
            <a:extLst>
              <a:ext uri="{FF2B5EF4-FFF2-40B4-BE49-F238E27FC236}">
                <a16:creationId xmlns:a16="http://schemas.microsoft.com/office/drawing/2014/main" id="{67CB3157-1EFE-4A69-80B8-B90D0EAC330A}"/>
              </a:ext>
            </a:extLst>
          </p:cNvPr>
          <p:cNvSpPr>
            <a:spLocks noChangeShapeType="1"/>
          </p:cNvSpPr>
          <p:nvPr/>
        </p:nvSpPr>
        <p:spPr bwMode="auto">
          <a:xfrm>
            <a:off x="6034086" y="5256213"/>
            <a:ext cx="39624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3435" name="Text Box 11">
            <a:extLst>
              <a:ext uri="{FF2B5EF4-FFF2-40B4-BE49-F238E27FC236}">
                <a16:creationId xmlns:a16="http://schemas.microsoft.com/office/drawing/2014/main" id="{969F2F20-4398-49C6-9157-17676406459C}"/>
              </a:ext>
            </a:extLst>
          </p:cNvPr>
          <p:cNvSpPr txBox="1">
            <a:spLocks noChangeArrowheads="1"/>
          </p:cNvSpPr>
          <p:nvPr/>
        </p:nvSpPr>
        <p:spPr bwMode="auto">
          <a:xfrm>
            <a:off x="9388242" y="2237446"/>
            <a:ext cx="2040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zh-CN" sz="2400" b="1" dirty="0">
                <a:latin typeface="黑体" panose="02010609060101010101" pitchFamily="49" charset="-122"/>
                <a:ea typeface="黑体" panose="02010609060101010101" pitchFamily="49" charset="-122"/>
              </a:rPr>
              <a:t>心肌梗死酶谱</a:t>
            </a:r>
            <a:endParaRPr kumimoji="1" lang="zh-CN" altLang="en-US" sz="2400" b="1" dirty="0">
              <a:latin typeface="黑体" panose="02010609060101010101" pitchFamily="49" charset="-122"/>
              <a:ea typeface="黑体" panose="02010609060101010101" pitchFamily="49" charset="-122"/>
            </a:endParaRPr>
          </a:p>
        </p:txBody>
      </p:sp>
      <p:sp>
        <p:nvSpPr>
          <p:cNvPr id="103436" name="Text Box 12">
            <a:extLst>
              <a:ext uri="{FF2B5EF4-FFF2-40B4-BE49-F238E27FC236}">
                <a16:creationId xmlns:a16="http://schemas.microsoft.com/office/drawing/2014/main" id="{71688D0D-C795-4989-836C-F1EDA8060406}"/>
              </a:ext>
            </a:extLst>
          </p:cNvPr>
          <p:cNvSpPr txBox="1">
            <a:spLocks noChangeArrowheads="1"/>
          </p:cNvSpPr>
          <p:nvPr/>
        </p:nvSpPr>
        <p:spPr bwMode="auto">
          <a:xfrm>
            <a:off x="9767886" y="3692249"/>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400" b="1" dirty="0">
                <a:latin typeface="黑体" panose="02010609060101010101" pitchFamily="49" charset="-122"/>
                <a:ea typeface="黑体" panose="02010609060101010101" pitchFamily="49" charset="-122"/>
              </a:rPr>
              <a:t>正常酶谱</a:t>
            </a:r>
          </a:p>
        </p:txBody>
      </p:sp>
      <p:sp>
        <p:nvSpPr>
          <p:cNvPr id="103437" name="Text Box 13">
            <a:extLst>
              <a:ext uri="{FF2B5EF4-FFF2-40B4-BE49-F238E27FC236}">
                <a16:creationId xmlns:a16="http://schemas.microsoft.com/office/drawing/2014/main" id="{EACED973-F825-4A9F-8066-6ECF56646BA5}"/>
              </a:ext>
            </a:extLst>
          </p:cNvPr>
          <p:cNvSpPr txBox="1">
            <a:spLocks noChangeArrowheads="1"/>
          </p:cNvSpPr>
          <p:nvPr/>
        </p:nvSpPr>
        <p:spPr bwMode="auto">
          <a:xfrm>
            <a:off x="9947411" y="4744107"/>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400" b="1" dirty="0">
                <a:latin typeface="黑体" panose="02010609060101010101" pitchFamily="49" charset="-122"/>
                <a:ea typeface="黑体" panose="02010609060101010101" pitchFamily="49" charset="-122"/>
              </a:rPr>
              <a:t>肝病酶谱</a:t>
            </a:r>
          </a:p>
        </p:txBody>
      </p:sp>
      <p:sp>
        <p:nvSpPr>
          <p:cNvPr id="103438" name="Text Box 14">
            <a:extLst>
              <a:ext uri="{FF2B5EF4-FFF2-40B4-BE49-F238E27FC236}">
                <a16:creationId xmlns:a16="http://schemas.microsoft.com/office/drawing/2014/main" id="{A17D7D57-19F0-4B29-93F4-6AC390CBE228}"/>
              </a:ext>
            </a:extLst>
          </p:cNvPr>
          <p:cNvSpPr txBox="1">
            <a:spLocks noChangeArrowheads="1"/>
          </p:cNvSpPr>
          <p:nvPr/>
        </p:nvSpPr>
        <p:spPr bwMode="auto">
          <a:xfrm>
            <a:off x="7245349" y="5251451"/>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400" b="1">
                <a:latin typeface="黑体" panose="02010609060101010101" pitchFamily="49" charset="-122"/>
                <a:ea typeface="黑体" panose="02010609060101010101" pitchFamily="49" charset="-122"/>
              </a:rPr>
              <a:t>2</a:t>
            </a:r>
          </a:p>
        </p:txBody>
      </p:sp>
      <p:sp>
        <p:nvSpPr>
          <p:cNvPr id="103439" name="Text Box 15">
            <a:extLst>
              <a:ext uri="{FF2B5EF4-FFF2-40B4-BE49-F238E27FC236}">
                <a16:creationId xmlns:a16="http://schemas.microsoft.com/office/drawing/2014/main" id="{35A629BF-3075-47E9-BB5C-1EE6316250FD}"/>
              </a:ext>
            </a:extLst>
          </p:cNvPr>
          <p:cNvSpPr txBox="1">
            <a:spLocks noChangeArrowheads="1"/>
          </p:cNvSpPr>
          <p:nvPr/>
        </p:nvSpPr>
        <p:spPr bwMode="auto">
          <a:xfrm>
            <a:off x="7893049" y="5251451"/>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400" b="1">
                <a:latin typeface="黑体" panose="02010609060101010101" pitchFamily="49" charset="-122"/>
                <a:ea typeface="黑体" panose="02010609060101010101" pitchFamily="49" charset="-122"/>
              </a:rPr>
              <a:t>3</a:t>
            </a:r>
          </a:p>
        </p:txBody>
      </p:sp>
      <p:sp>
        <p:nvSpPr>
          <p:cNvPr id="103440" name="Text Box 16">
            <a:extLst>
              <a:ext uri="{FF2B5EF4-FFF2-40B4-BE49-F238E27FC236}">
                <a16:creationId xmlns:a16="http://schemas.microsoft.com/office/drawing/2014/main" id="{495D20B3-BB98-49C2-A291-4AC5A76377E1}"/>
              </a:ext>
            </a:extLst>
          </p:cNvPr>
          <p:cNvSpPr txBox="1">
            <a:spLocks noChangeArrowheads="1"/>
          </p:cNvSpPr>
          <p:nvPr/>
        </p:nvSpPr>
        <p:spPr bwMode="auto">
          <a:xfrm>
            <a:off x="8542336" y="5251451"/>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400" b="1">
                <a:latin typeface="黑体" panose="02010609060101010101" pitchFamily="49" charset="-122"/>
                <a:ea typeface="黑体" panose="02010609060101010101" pitchFamily="49" charset="-122"/>
              </a:rPr>
              <a:t>4</a:t>
            </a:r>
          </a:p>
        </p:txBody>
      </p:sp>
      <p:sp>
        <p:nvSpPr>
          <p:cNvPr id="103441" name="Text Box 17">
            <a:extLst>
              <a:ext uri="{FF2B5EF4-FFF2-40B4-BE49-F238E27FC236}">
                <a16:creationId xmlns:a16="http://schemas.microsoft.com/office/drawing/2014/main" id="{036220FA-2F78-49E2-B838-1C64098977DC}"/>
              </a:ext>
            </a:extLst>
          </p:cNvPr>
          <p:cNvSpPr txBox="1">
            <a:spLocks noChangeArrowheads="1"/>
          </p:cNvSpPr>
          <p:nvPr/>
        </p:nvSpPr>
        <p:spPr bwMode="auto">
          <a:xfrm>
            <a:off x="9118599" y="5251451"/>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400" b="1" dirty="0">
                <a:latin typeface="黑体" panose="02010609060101010101" pitchFamily="49" charset="-122"/>
                <a:ea typeface="黑体" panose="02010609060101010101" pitchFamily="49" charset="-122"/>
              </a:rPr>
              <a:t>5</a:t>
            </a:r>
          </a:p>
        </p:txBody>
      </p:sp>
      <p:sp>
        <p:nvSpPr>
          <p:cNvPr id="2" name="文本框 1">
            <a:extLst>
              <a:ext uri="{FF2B5EF4-FFF2-40B4-BE49-F238E27FC236}">
                <a16:creationId xmlns:a16="http://schemas.microsoft.com/office/drawing/2014/main" id="{9580B47B-99B1-F981-F11A-0ED38C6AB215}"/>
              </a:ext>
            </a:extLst>
          </p:cNvPr>
          <p:cNvSpPr txBox="1"/>
          <p:nvPr/>
        </p:nvSpPr>
        <p:spPr>
          <a:xfrm>
            <a:off x="407488" y="2627979"/>
            <a:ext cx="4652686" cy="1602042"/>
          </a:xfrm>
          <a:prstGeom prst="rect">
            <a:avLst/>
          </a:prstGeom>
          <a:noFill/>
        </p:spPr>
        <p:txBody>
          <a:bodyPr wrap="square" rtlCol="0">
            <a:spAutoFit/>
          </a:bodyPr>
          <a:lstStyle/>
          <a:p>
            <a:pPr marL="457200" indent="-457200">
              <a:lnSpc>
                <a:spcPct val="13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临床上检测血清中同工酶活性、分析同工酶谱</a:t>
            </a:r>
            <a:r>
              <a:rPr lang="zh-CN" altLang="en-US" sz="2600" dirty="0">
                <a:solidFill>
                  <a:srgbClr val="0000FF"/>
                </a:solidFill>
                <a:latin typeface="微软雅黑" panose="020B0503020204020204" pitchFamily="34" charset="-122"/>
                <a:ea typeface="微软雅黑" panose="020B0503020204020204" pitchFamily="34" charset="-122"/>
              </a:rPr>
              <a:t>有助于疾病的诊断和预后判定。</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7DCF983E-954D-46E5-AF5B-EBE58C3D6661}"/>
              </a:ext>
            </a:extLst>
          </p:cNvPr>
          <p:cNvSpPr>
            <a:spLocks noChangeArrowheads="1"/>
          </p:cNvSpPr>
          <p:nvPr/>
        </p:nvSpPr>
        <p:spPr bwMode="auto">
          <a:xfrm>
            <a:off x="759793" y="255885"/>
            <a:ext cx="10369152" cy="654274"/>
          </a:xfrm>
          <a:prstGeom prst="rect">
            <a:avLst/>
          </a:prstGeom>
          <a:noFill/>
          <a:ln>
            <a:noFill/>
          </a:ln>
        </p:spPr>
        <p:txBody>
          <a:bodyPr anchor="ctr"/>
          <a:lstStyle>
            <a:lvl1pPr marL="355600" indent="-355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0" indent="0" eaLnBrk="1" hangingPunct="1">
              <a:lnSpc>
                <a:spcPct val="130000"/>
              </a:lnSpc>
              <a:spcBef>
                <a:spcPct val="0"/>
              </a:spcBef>
              <a:buSzPct val="80000"/>
              <a:buNone/>
              <a:defRPr/>
            </a:pPr>
            <a:r>
              <a:rPr lang="zh-CN" altLang="en-US" b="1" dirty="0">
                <a:latin typeface="Times New Roman" panose="02020603050405020304" pitchFamily="18" charset="0"/>
                <a:ea typeface="黑体" panose="02010609060101010101" pitchFamily="49" charset="-122"/>
              </a:rPr>
              <a:t>例 </a:t>
            </a:r>
            <a:r>
              <a:rPr lang="en-US" altLang="zh-CN" b="1" dirty="0">
                <a:latin typeface="Times New Roman" panose="02020603050405020304" pitchFamily="18" charset="0"/>
                <a:ea typeface="黑体" panose="02010609060101010101" pitchFamily="49" charset="-122"/>
              </a:rPr>
              <a:t>2:  </a:t>
            </a:r>
            <a:r>
              <a:rPr lang="en-US" altLang="zh-CN" b="1" dirty="0">
                <a:solidFill>
                  <a:srgbClr val="FFCC66"/>
                </a:solidFill>
                <a:latin typeface="Times New Roman" panose="02020603050405020304" pitchFamily="18" charset="0"/>
                <a:ea typeface="黑体" panose="02010609060101010101" pitchFamily="49" charset="-122"/>
              </a:rPr>
              <a:t> </a:t>
            </a:r>
            <a:r>
              <a:rPr kumimoji="1" lang="zh-CN" altLang="en-US" sz="2800" b="1" dirty="0">
                <a:solidFill>
                  <a:srgbClr val="FF3300"/>
                </a:solidFill>
                <a:latin typeface="Times New Roman" panose="02020603050405020304" pitchFamily="18" charset="0"/>
                <a:ea typeface="黑体" panose="02010609060101010101" pitchFamily="49" charset="-122"/>
              </a:rPr>
              <a:t>肌酸激酶 </a:t>
            </a:r>
            <a:r>
              <a:rPr kumimoji="1" lang="en-US" altLang="zh-CN" sz="2800" b="1" dirty="0">
                <a:solidFill>
                  <a:srgbClr val="FF3300"/>
                </a:solidFill>
                <a:latin typeface="Times New Roman" panose="02020603050405020304" pitchFamily="18" charset="0"/>
                <a:ea typeface="黑体" panose="02010609060101010101" pitchFamily="49" charset="-122"/>
              </a:rPr>
              <a:t>(creatine kinase, CK), </a:t>
            </a:r>
            <a:r>
              <a:rPr kumimoji="1" lang="zh-CN" altLang="en-US" sz="2800" b="1" dirty="0">
                <a:solidFill>
                  <a:schemeClr val="tx1">
                    <a:lumMod val="95000"/>
                    <a:lumOff val="5000"/>
                  </a:schemeClr>
                </a:solidFill>
                <a:latin typeface="Times New Roman" panose="02020603050405020304" pitchFamily="18" charset="0"/>
                <a:ea typeface="黑体" panose="02010609060101010101" pitchFamily="49" charset="-122"/>
              </a:rPr>
              <a:t>也称肌酸磷酸激酶（</a:t>
            </a:r>
            <a:r>
              <a:rPr kumimoji="1" lang="en-US" altLang="zh-CN" sz="2800" b="1" dirty="0">
                <a:solidFill>
                  <a:srgbClr val="FF0000"/>
                </a:solidFill>
                <a:latin typeface="Times New Roman" panose="02020603050405020304" pitchFamily="18" charset="0"/>
                <a:ea typeface="黑体" panose="02010609060101010101" pitchFamily="49" charset="-122"/>
              </a:rPr>
              <a:t>CPK</a:t>
            </a:r>
            <a:r>
              <a:rPr kumimoji="1" lang="zh-CN" altLang="en-US" sz="2800" b="1" dirty="0">
                <a:solidFill>
                  <a:schemeClr val="tx1">
                    <a:lumMod val="95000"/>
                    <a:lumOff val="5000"/>
                  </a:schemeClr>
                </a:solidFill>
                <a:latin typeface="Times New Roman" panose="02020603050405020304" pitchFamily="18" charset="0"/>
                <a:ea typeface="黑体" panose="02010609060101010101" pitchFamily="49" charset="-122"/>
              </a:rPr>
              <a:t>）</a:t>
            </a:r>
            <a:endParaRPr kumimoji="1" lang="en-US" altLang="zh-CN" sz="2800" b="1" dirty="0">
              <a:solidFill>
                <a:schemeClr val="tx1">
                  <a:lumMod val="95000"/>
                  <a:lumOff val="5000"/>
                </a:schemeClr>
              </a:solidFill>
              <a:latin typeface="Times New Roman" panose="02020603050405020304" pitchFamily="18" charset="0"/>
              <a:ea typeface="黑体" panose="02010609060101010101" pitchFamily="49" charset="-122"/>
            </a:endParaRPr>
          </a:p>
        </p:txBody>
      </p:sp>
      <p:sp>
        <p:nvSpPr>
          <p:cNvPr id="99331" name="Oval 3">
            <a:extLst>
              <a:ext uri="{FF2B5EF4-FFF2-40B4-BE49-F238E27FC236}">
                <a16:creationId xmlns:a16="http://schemas.microsoft.com/office/drawing/2014/main" id="{8A975521-7005-4576-8CB8-D1FF6D8CD3E6}"/>
              </a:ext>
            </a:extLst>
          </p:cNvPr>
          <p:cNvSpPr>
            <a:spLocks noChangeArrowheads="1"/>
          </p:cNvSpPr>
          <p:nvPr/>
        </p:nvSpPr>
        <p:spPr bwMode="auto">
          <a:xfrm>
            <a:off x="1067569" y="2425651"/>
            <a:ext cx="533400" cy="5334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99332" name="Oval 4">
            <a:extLst>
              <a:ext uri="{FF2B5EF4-FFF2-40B4-BE49-F238E27FC236}">
                <a16:creationId xmlns:a16="http://schemas.microsoft.com/office/drawing/2014/main" id="{6AF4D3DB-C837-479B-A155-9890BEF36C14}"/>
              </a:ext>
            </a:extLst>
          </p:cNvPr>
          <p:cNvSpPr>
            <a:spLocks noChangeArrowheads="1"/>
          </p:cNvSpPr>
          <p:nvPr/>
        </p:nvSpPr>
        <p:spPr bwMode="auto">
          <a:xfrm>
            <a:off x="1600969" y="2425651"/>
            <a:ext cx="533400" cy="5334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99333" name="Oval 5">
            <a:extLst>
              <a:ext uri="{FF2B5EF4-FFF2-40B4-BE49-F238E27FC236}">
                <a16:creationId xmlns:a16="http://schemas.microsoft.com/office/drawing/2014/main" id="{B53C46EA-1A69-4AFB-AC5E-3DC12868B76F}"/>
              </a:ext>
            </a:extLst>
          </p:cNvPr>
          <p:cNvSpPr>
            <a:spLocks noChangeArrowheads="1"/>
          </p:cNvSpPr>
          <p:nvPr/>
        </p:nvSpPr>
        <p:spPr bwMode="auto">
          <a:xfrm>
            <a:off x="3410720" y="2454226"/>
            <a:ext cx="544513" cy="5080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99334" name="Oval 6">
            <a:extLst>
              <a:ext uri="{FF2B5EF4-FFF2-40B4-BE49-F238E27FC236}">
                <a16:creationId xmlns:a16="http://schemas.microsoft.com/office/drawing/2014/main" id="{BD9337D9-994A-4B2F-BA58-9A9DF3CD53A9}"/>
              </a:ext>
            </a:extLst>
          </p:cNvPr>
          <p:cNvSpPr>
            <a:spLocks noChangeArrowheads="1"/>
          </p:cNvSpPr>
          <p:nvPr/>
        </p:nvSpPr>
        <p:spPr bwMode="auto">
          <a:xfrm>
            <a:off x="2888432" y="2428826"/>
            <a:ext cx="533400" cy="533400"/>
          </a:xfrm>
          <a:prstGeom prst="ellipse">
            <a:avLst/>
          </a:prstGeom>
          <a:solidFill>
            <a:srgbClr val="66FFFF"/>
          </a:solidFill>
          <a:ln w="9525">
            <a:solidFill>
              <a:schemeClr val="tx1"/>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99335" name="Oval 7">
            <a:extLst>
              <a:ext uri="{FF2B5EF4-FFF2-40B4-BE49-F238E27FC236}">
                <a16:creationId xmlns:a16="http://schemas.microsoft.com/office/drawing/2014/main" id="{08C9D0B1-1939-43A1-AEA8-68F710F586C3}"/>
              </a:ext>
            </a:extLst>
          </p:cNvPr>
          <p:cNvSpPr>
            <a:spLocks noChangeArrowheads="1"/>
          </p:cNvSpPr>
          <p:nvPr/>
        </p:nvSpPr>
        <p:spPr bwMode="auto">
          <a:xfrm>
            <a:off x="4877569" y="2420888"/>
            <a:ext cx="533400" cy="533400"/>
          </a:xfrm>
          <a:prstGeom prst="ellipse">
            <a:avLst/>
          </a:prstGeom>
          <a:solidFill>
            <a:srgbClr val="66FFFF"/>
          </a:solidFill>
          <a:ln w="9525">
            <a:solidFill>
              <a:schemeClr val="tx1"/>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99336" name="Oval 8">
            <a:extLst>
              <a:ext uri="{FF2B5EF4-FFF2-40B4-BE49-F238E27FC236}">
                <a16:creationId xmlns:a16="http://schemas.microsoft.com/office/drawing/2014/main" id="{0A225D14-572B-415F-8F0F-5451A19ED992}"/>
              </a:ext>
            </a:extLst>
          </p:cNvPr>
          <p:cNvSpPr>
            <a:spLocks noChangeArrowheads="1"/>
          </p:cNvSpPr>
          <p:nvPr/>
        </p:nvSpPr>
        <p:spPr bwMode="auto">
          <a:xfrm>
            <a:off x="5410969" y="2420888"/>
            <a:ext cx="533400" cy="533400"/>
          </a:xfrm>
          <a:prstGeom prst="ellipse">
            <a:avLst/>
          </a:prstGeom>
          <a:solidFill>
            <a:srgbClr val="66FFFF"/>
          </a:solidFill>
          <a:ln w="9525">
            <a:solidFill>
              <a:schemeClr val="tx1"/>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515081" name="Text Box 9">
            <a:extLst>
              <a:ext uri="{FF2B5EF4-FFF2-40B4-BE49-F238E27FC236}">
                <a16:creationId xmlns:a16="http://schemas.microsoft.com/office/drawing/2014/main" id="{9FBF85CE-4008-444C-AB80-4C9B73C4B929}"/>
              </a:ext>
            </a:extLst>
          </p:cNvPr>
          <p:cNvSpPr txBox="1">
            <a:spLocks noChangeArrowheads="1"/>
          </p:cNvSpPr>
          <p:nvPr/>
        </p:nvSpPr>
        <p:spPr bwMode="auto">
          <a:xfrm>
            <a:off x="1124719" y="2454226"/>
            <a:ext cx="420688" cy="476250"/>
          </a:xfrm>
          <a:prstGeom prst="rect">
            <a:avLst/>
          </a:prstGeom>
          <a:noFill/>
          <a:ln w="9525">
            <a:noFill/>
            <a:miter lim="800000"/>
            <a:headEnd/>
            <a:tailEnd/>
          </a:ln>
          <a:effec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B</a:t>
            </a:r>
          </a:p>
        </p:txBody>
      </p:sp>
      <p:sp>
        <p:nvSpPr>
          <p:cNvPr id="515082" name="Text Box 10">
            <a:extLst>
              <a:ext uri="{FF2B5EF4-FFF2-40B4-BE49-F238E27FC236}">
                <a16:creationId xmlns:a16="http://schemas.microsoft.com/office/drawing/2014/main" id="{D2E4DB18-7CF4-4166-8136-B1B8A2940C42}"/>
              </a:ext>
            </a:extLst>
          </p:cNvPr>
          <p:cNvSpPr txBox="1">
            <a:spLocks noChangeArrowheads="1"/>
          </p:cNvSpPr>
          <p:nvPr/>
        </p:nvSpPr>
        <p:spPr bwMode="auto">
          <a:xfrm>
            <a:off x="1648595" y="2466927"/>
            <a:ext cx="415925" cy="479425"/>
          </a:xfrm>
          <a:prstGeom prst="rect">
            <a:avLst/>
          </a:prstGeom>
          <a:noFill/>
          <a:ln w="9525">
            <a:noFill/>
            <a:miter lim="800000"/>
            <a:headEnd/>
            <a:tailEnd/>
          </a:ln>
          <a:effectLst/>
        </p:spPr>
        <p:txBody>
          <a:bodyPr>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800" b="1" dirty="0">
                <a:effectLst>
                  <a:outerShdw blurRad="38100" dist="38100" dir="2700000" algn="tl">
                    <a:srgbClr val="C0C0C0"/>
                  </a:outerShdw>
                </a:effectLst>
                <a:latin typeface="Times New Roman" panose="02020603050405020304" pitchFamily="18" charset="0"/>
                <a:ea typeface="黑体" panose="02010609060101010101" pitchFamily="49" charset="-122"/>
              </a:rPr>
              <a:t>B</a:t>
            </a:r>
          </a:p>
        </p:txBody>
      </p:sp>
      <p:sp>
        <p:nvSpPr>
          <p:cNvPr id="515083" name="Text Box 11">
            <a:extLst>
              <a:ext uri="{FF2B5EF4-FFF2-40B4-BE49-F238E27FC236}">
                <a16:creationId xmlns:a16="http://schemas.microsoft.com/office/drawing/2014/main" id="{873878BC-C866-4AC9-BF3E-66B2A5458ECD}"/>
              </a:ext>
            </a:extLst>
          </p:cNvPr>
          <p:cNvSpPr txBox="1">
            <a:spLocks noChangeArrowheads="1"/>
          </p:cNvSpPr>
          <p:nvPr/>
        </p:nvSpPr>
        <p:spPr bwMode="auto">
          <a:xfrm>
            <a:off x="3444057" y="2454227"/>
            <a:ext cx="406400" cy="480131"/>
          </a:xfrm>
          <a:prstGeom prst="rect">
            <a:avLst/>
          </a:prstGeom>
          <a:noFill/>
          <a:ln w="9525">
            <a:noFill/>
            <a:miter lim="800000"/>
            <a:headEnd/>
            <a:tailEnd/>
          </a:ln>
          <a:effectLst/>
        </p:spPr>
        <p:txBody>
          <a:bodyPr>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800" b="1" dirty="0">
                <a:effectLst>
                  <a:outerShdw blurRad="38100" dist="38100" dir="2700000" algn="tl">
                    <a:srgbClr val="C0C0C0"/>
                  </a:outerShdw>
                </a:effectLst>
                <a:latin typeface="Times New Roman" panose="02020603050405020304" pitchFamily="18" charset="0"/>
                <a:ea typeface="黑体" panose="02010609060101010101" pitchFamily="49" charset="-122"/>
              </a:rPr>
              <a:t>B</a:t>
            </a:r>
          </a:p>
        </p:txBody>
      </p:sp>
      <p:sp>
        <p:nvSpPr>
          <p:cNvPr id="515084" name="Text Box 12">
            <a:extLst>
              <a:ext uri="{FF2B5EF4-FFF2-40B4-BE49-F238E27FC236}">
                <a16:creationId xmlns:a16="http://schemas.microsoft.com/office/drawing/2014/main" id="{D3DEAB5B-757B-4C71-B182-7BC52B303D25}"/>
              </a:ext>
            </a:extLst>
          </p:cNvPr>
          <p:cNvSpPr txBox="1">
            <a:spLocks noChangeArrowheads="1"/>
          </p:cNvSpPr>
          <p:nvPr/>
        </p:nvSpPr>
        <p:spPr bwMode="auto">
          <a:xfrm>
            <a:off x="2875732" y="2449463"/>
            <a:ext cx="519112" cy="476250"/>
          </a:xfrm>
          <a:prstGeom prst="rect">
            <a:avLst/>
          </a:prstGeom>
          <a:noFill/>
          <a:ln w="9525">
            <a:noFill/>
            <a:miter lim="800000"/>
            <a:headEnd/>
            <a:tailEnd/>
          </a:ln>
          <a:effec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800" b="1" dirty="0">
                <a:solidFill>
                  <a:srgbClr val="CC3300"/>
                </a:solidFill>
                <a:effectLst>
                  <a:outerShdw blurRad="38100" dist="38100" dir="2700000" algn="tl">
                    <a:srgbClr val="C0C0C0"/>
                  </a:outerShdw>
                </a:effectLst>
                <a:latin typeface="Times New Roman" panose="02020603050405020304" pitchFamily="18" charset="0"/>
                <a:ea typeface="黑体" panose="02010609060101010101" pitchFamily="49" charset="-122"/>
              </a:rPr>
              <a:t>M</a:t>
            </a:r>
          </a:p>
        </p:txBody>
      </p:sp>
      <p:sp>
        <p:nvSpPr>
          <p:cNvPr id="515085" name="Text Box 13">
            <a:extLst>
              <a:ext uri="{FF2B5EF4-FFF2-40B4-BE49-F238E27FC236}">
                <a16:creationId xmlns:a16="http://schemas.microsoft.com/office/drawing/2014/main" id="{434814F6-E19D-4ED4-A9BE-38204F932B41}"/>
              </a:ext>
            </a:extLst>
          </p:cNvPr>
          <p:cNvSpPr txBox="1">
            <a:spLocks noChangeArrowheads="1"/>
          </p:cNvSpPr>
          <p:nvPr/>
        </p:nvSpPr>
        <p:spPr bwMode="auto">
          <a:xfrm>
            <a:off x="4891857" y="2449463"/>
            <a:ext cx="519112" cy="476250"/>
          </a:xfrm>
          <a:prstGeom prst="rect">
            <a:avLst/>
          </a:prstGeom>
          <a:noFill/>
          <a:ln w="9525">
            <a:noFill/>
            <a:miter lim="800000"/>
            <a:headEnd/>
            <a:tailEnd/>
          </a:ln>
          <a:effec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800" b="1" dirty="0">
                <a:solidFill>
                  <a:srgbClr val="CC3300"/>
                </a:solidFill>
                <a:effectLst>
                  <a:outerShdw blurRad="38100" dist="38100" dir="2700000" algn="tl">
                    <a:srgbClr val="C0C0C0"/>
                  </a:outerShdw>
                </a:effectLst>
                <a:latin typeface="Times New Roman" panose="02020603050405020304" pitchFamily="18" charset="0"/>
                <a:ea typeface="黑体" panose="02010609060101010101" pitchFamily="49" charset="-122"/>
              </a:rPr>
              <a:t>M</a:t>
            </a:r>
          </a:p>
        </p:txBody>
      </p:sp>
      <p:sp>
        <p:nvSpPr>
          <p:cNvPr id="515086" name="Text Box 14">
            <a:extLst>
              <a:ext uri="{FF2B5EF4-FFF2-40B4-BE49-F238E27FC236}">
                <a16:creationId xmlns:a16="http://schemas.microsoft.com/office/drawing/2014/main" id="{645DC708-ED06-4335-8E59-58A1445A2B2F}"/>
              </a:ext>
            </a:extLst>
          </p:cNvPr>
          <p:cNvSpPr txBox="1">
            <a:spLocks noChangeArrowheads="1"/>
          </p:cNvSpPr>
          <p:nvPr/>
        </p:nvSpPr>
        <p:spPr bwMode="auto">
          <a:xfrm>
            <a:off x="5468120" y="2449463"/>
            <a:ext cx="519113" cy="476250"/>
          </a:xfrm>
          <a:prstGeom prst="rect">
            <a:avLst/>
          </a:prstGeom>
          <a:noFill/>
          <a:ln w="9525">
            <a:noFill/>
            <a:miter lim="800000"/>
            <a:headEnd/>
            <a:tailEnd/>
          </a:ln>
          <a:effec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800" b="1" dirty="0">
                <a:solidFill>
                  <a:srgbClr val="CC3300"/>
                </a:solidFill>
                <a:effectLst>
                  <a:outerShdw blurRad="38100" dist="38100" dir="2700000" algn="tl">
                    <a:srgbClr val="C0C0C0"/>
                  </a:outerShdw>
                </a:effectLst>
                <a:latin typeface="Times New Roman" panose="02020603050405020304" pitchFamily="18" charset="0"/>
                <a:ea typeface="黑体" panose="02010609060101010101" pitchFamily="49" charset="-122"/>
              </a:rPr>
              <a:t>M</a:t>
            </a:r>
          </a:p>
        </p:txBody>
      </p:sp>
      <p:sp>
        <p:nvSpPr>
          <p:cNvPr id="99343" name="Text Box 15">
            <a:extLst>
              <a:ext uri="{FF2B5EF4-FFF2-40B4-BE49-F238E27FC236}">
                <a16:creationId xmlns:a16="http://schemas.microsoft.com/office/drawing/2014/main" id="{18923B71-DC64-4FAE-97E9-E2CC9B4F131F}"/>
              </a:ext>
            </a:extLst>
          </p:cNvPr>
          <p:cNvSpPr txBox="1">
            <a:spLocks noChangeArrowheads="1"/>
          </p:cNvSpPr>
          <p:nvPr/>
        </p:nvSpPr>
        <p:spPr bwMode="auto">
          <a:xfrm>
            <a:off x="983432" y="3032076"/>
            <a:ext cx="49212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sz="2800">
                <a:latin typeface="Times New Roman" panose="02020603050405020304" pitchFamily="18" charset="0"/>
                <a:ea typeface="黑体" panose="02010609060101010101" pitchFamily="49" charset="-122"/>
              </a:rPr>
              <a:t> </a:t>
            </a:r>
            <a:r>
              <a:rPr kumimoji="1" lang="zh-CN" altLang="en-US" sz="2800">
                <a:latin typeface="Times New Roman" panose="02020603050405020304" pitchFamily="18" charset="0"/>
                <a:ea typeface="黑体" panose="02010609060101010101" pitchFamily="49" charset="-122"/>
              </a:rPr>
              <a:t>两种类型亚基： </a:t>
            </a:r>
            <a:r>
              <a:rPr kumimoji="1" lang="en-US" altLang="zh-CN" sz="2800">
                <a:latin typeface="Times New Roman" panose="02020603050405020304" pitchFamily="18" charset="0"/>
                <a:ea typeface="黑体" panose="02010609060101010101" pitchFamily="49" charset="-122"/>
              </a:rPr>
              <a:t>B</a:t>
            </a:r>
            <a:r>
              <a:rPr kumimoji="1" lang="zh-CN" altLang="en-US" sz="2800">
                <a:latin typeface="Times New Roman" panose="02020603050405020304" pitchFamily="18" charset="0"/>
                <a:ea typeface="黑体" panose="02010609060101010101" pitchFamily="49" charset="-122"/>
              </a:rPr>
              <a:t>型和</a:t>
            </a:r>
            <a:r>
              <a:rPr kumimoji="1" lang="en-US" altLang="zh-CN" sz="2800">
                <a:latin typeface="Times New Roman" panose="02020603050405020304" pitchFamily="18" charset="0"/>
                <a:ea typeface="黑体" panose="02010609060101010101" pitchFamily="49" charset="-122"/>
              </a:rPr>
              <a:t>M</a:t>
            </a:r>
            <a:r>
              <a:rPr kumimoji="1" lang="zh-CN" altLang="en-US" sz="2800">
                <a:latin typeface="Times New Roman" panose="02020603050405020304" pitchFamily="18" charset="0"/>
                <a:ea typeface="黑体" panose="02010609060101010101" pitchFamily="49" charset="-122"/>
              </a:rPr>
              <a:t>型</a:t>
            </a:r>
            <a:endParaRPr kumimoji="1" lang="en-US" altLang="zh-CN" sz="2800" baseline="-25000">
              <a:latin typeface="Times New Roman" panose="02020603050405020304" pitchFamily="18" charset="0"/>
              <a:ea typeface="黑体" panose="02010609060101010101" pitchFamily="49" charset="-122"/>
            </a:endParaRPr>
          </a:p>
        </p:txBody>
      </p:sp>
      <p:pic>
        <p:nvPicPr>
          <p:cNvPr id="99345" name="图片 2">
            <a:extLst>
              <a:ext uri="{FF2B5EF4-FFF2-40B4-BE49-F238E27FC236}">
                <a16:creationId xmlns:a16="http://schemas.microsoft.com/office/drawing/2014/main" id="{656C1D6B-07E5-4A94-BD4E-3896798F2B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569" y="3579763"/>
            <a:ext cx="492283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1E5C5B2C-6218-03C2-636E-6C6CD0DE72B7}"/>
              </a:ext>
            </a:extLst>
          </p:cNvPr>
          <p:cNvSpPr txBox="1"/>
          <p:nvPr/>
        </p:nvSpPr>
        <p:spPr>
          <a:xfrm>
            <a:off x="2209006" y="5965591"/>
            <a:ext cx="7773987" cy="461665"/>
          </a:xfrm>
          <a:prstGeom prst="rect">
            <a:avLst/>
          </a:prstGeom>
          <a:noFill/>
        </p:spPr>
        <p:txBody>
          <a:bodyPr wrap="square" rtlCol="0">
            <a:spAutoFit/>
          </a:bodyPr>
          <a:lstStyle/>
          <a:p>
            <a:r>
              <a:rPr lang="zh-CN" altLang="en-US" sz="2400" dirty="0">
                <a:solidFill>
                  <a:srgbClr val="0000FF"/>
                </a:solidFill>
                <a:latin typeface="微软雅黑" panose="020B0503020204020204" pitchFamily="34" charset="-122"/>
                <a:ea typeface="微软雅黑" panose="020B0503020204020204" pitchFamily="34" charset="-122"/>
              </a:rPr>
              <a:t>血清</a:t>
            </a:r>
            <a:r>
              <a:rPr lang="en-US" altLang="zh-CN" sz="2400" dirty="0">
                <a:solidFill>
                  <a:srgbClr val="0000FF"/>
                </a:solidFill>
                <a:latin typeface="微软雅黑" panose="020B0503020204020204" pitchFamily="34" charset="-122"/>
                <a:ea typeface="微软雅黑" panose="020B0503020204020204" pitchFamily="34" charset="-122"/>
              </a:rPr>
              <a:t>CK</a:t>
            </a:r>
            <a:r>
              <a:rPr lang="zh-CN" altLang="en-US" sz="2400" dirty="0">
                <a:solidFill>
                  <a:srgbClr val="0000FF"/>
                </a:solidFill>
                <a:latin typeface="微软雅黑" panose="020B0503020204020204" pitchFamily="34" charset="-122"/>
                <a:ea typeface="微软雅黑" panose="020B0503020204020204" pitchFamily="34" charset="-122"/>
              </a:rPr>
              <a:t>是常用心肌梗死辅助诊断指标</a:t>
            </a:r>
            <a:r>
              <a:rPr lang="en-US" altLang="zh-CN" sz="2400" dirty="0">
                <a:solidFill>
                  <a:srgbClr val="0000FF"/>
                </a:solidFill>
                <a:latin typeface="微软雅黑" panose="020B0503020204020204" pitchFamily="34" charset="-122"/>
                <a:ea typeface="微软雅黑" panose="020B0503020204020204" pitchFamily="34" charset="-122"/>
              </a:rPr>
              <a:t>, </a:t>
            </a:r>
            <a:r>
              <a:rPr lang="zh-CN" altLang="en-US" sz="2400" dirty="0">
                <a:solidFill>
                  <a:srgbClr val="0000FF"/>
                </a:solidFill>
                <a:latin typeface="微软雅黑" panose="020B0503020204020204" pitchFamily="34" charset="-122"/>
                <a:ea typeface="微软雅黑" panose="020B0503020204020204" pitchFamily="34" charset="-122"/>
              </a:rPr>
              <a:t>比</a:t>
            </a:r>
            <a:r>
              <a:rPr lang="en-US" altLang="zh-CN" sz="2400" dirty="0">
                <a:solidFill>
                  <a:srgbClr val="0000FF"/>
                </a:solidFill>
                <a:latin typeface="微软雅黑" panose="020B0503020204020204" pitchFamily="34" charset="-122"/>
                <a:ea typeface="微软雅黑" panose="020B0503020204020204" pitchFamily="34" charset="-122"/>
              </a:rPr>
              <a:t>LDH</a:t>
            </a:r>
            <a:r>
              <a:rPr lang="zh-CN" altLang="en-US" sz="2400" dirty="0">
                <a:solidFill>
                  <a:srgbClr val="0000FF"/>
                </a:solidFill>
                <a:latin typeface="微软雅黑" panose="020B0503020204020204" pitchFamily="34" charset="-122"/>
                <a:ea typeface="微软雅黑" panose="020B0503020204020204" pitchFamily="34" charset="-122"/>
              </a:rPr>
              <a:t>更有意义。</a:t>
            </a:r>
          </a:p>
        </p:txBody>
      </p:sp>
      <p:sp>
        <p:nvSpPr>
          <p:cNvPr id="5" name="文本框 4">
            <a:extLst>
              <a:ext uri="{FF2B5EF4-FFF2-40B4-BE49-F238E27FC236}">
                <a16:creationId xmlns:a16="http://schemas.microsoft.com/office/drawing/2014/main" id="{E9C8B752-6D55-8D6C-303F-E7E14C3CB7D6}"/>
              </a:ext>
            </a:extLst>
          </p:cNvPr>
          <p:cNvSpPr txBox="1"/>
          <p:nvPr/>
        </p:nvSpPr>
        <p:spPr>
          <a:xfrm>
            <a:off x="6423794" y="2438569"/>
            <a:ext cx="5080942" cy="2867836"/>
          </a:xfrm>
          <a:prstGeom prst="rect">
            <a:avLst/>
          </a:prstGeom>
          <a:noFill/>
        </p:spPr>
        <p:txBody>
          <a:bodyPr wrap="square">
            <a:spAutoFit/>
          </a:bodyPr>
          <a:lstStyle/>
          <a:p>
            <a:pPr marL="342900" marR="0" lvl="0" indent="-342900" algn="l" defTabSz="914400" rtl="0" eaLnBrk="0" fontAlgn="base" latinLnBrk="0" hangingPunct="0">
              <a:lnSpc>
                <a:spcPct val="120000"/>
              </a:lnSpc>
              <a:spcBef>
                <a:spcPts val="1200"/>
              </a:spcBef>
              <a:spcAft>
                <a:spcPct val="0"/>
              </a:spcAft>
              <a:buClrTx/>
              <a:buSzTx/>
              <a:buFont typeface="Arial" panose="020B0604020202020204" pitchFamily="34" charset="0"/>
              <a:buChar char="•"/>
              <a:tabLst/>
              <a:defRPr/>
            </a:pPr>
            <a:r>
              <a:rPr lang="en-US" altLang="zh-CN" sz="2400" dirty="0">
                <a:solidFill>
                  <a:srgbClr val="0000CC"/>
                </a:solidFill>
                <a:latin typeface="微软雅黑" panose="020B0503020204020204" pitchFamily="34" charset="-122"/>
                <a:ea typeface="微软雅黑" panose="020B0503020204020204" pitchFamily="34" charset="-122"/>
              </a:rPr>
              <a:t>CK</a:t>
            </a:r>
            <a:r>
              <a:rPr lang="en-US" altLang="zh-CN" sz="2400" baseline="-25000" dirty="0">
                <a:solidFill>
                  <a:srgbClr val="0000CC"/>
                </a:solidFill>
                <a:latin typeface="微软雅黑" panose="020B0503020204020204" pitchFamily="34" charset="-122"/>
                <a:ea typeface="微软雅黑" panose="020B0503020204020204" pitchFamily="34" charset="-122"/>
              </a:rPr>
              <a:t>2</a:t>
            </a:r>
            <a:r>
              <a:rPr lang="zh-CN" altLang="en-US" sz="2400" dirty="0">
                <a:solidFill>
                  <a:srgbClr val="0000CC"/>
                </a:solidFill>
                <a:latin typeface="微软雅黑" panose="020B0503020204020204" pitchFamily="34" charset="-122"/>
                <a:ea typeface="微软雅黑" panose="020B0503020204020204" pitchFamily="34" charset="-122"/>
              </a:rPr>
              <a:t>仅见于心肌</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0000CC"/>
                </a:solidFill>
                <a:latin typeface="微软雅黑" panose="020B0503020204020204" pitchFamily="34" charset="-122"/>
                <a:ea typeface="微软雅黑" panose="020B0503020204020204" pitchFamily="34" charset="-122"/>
              </a:rPr>
              <a:t>正常血液中</a:t>
            </a:r>
            <a:r>
              <a:rPr lang="zh-CN" altLang="en-US" sz="2400" dirty="0">
                <a:latin typeface="微软雅黑" panose="020B0503020204020204" pitchFamily="34" charset="-122"/>
                <a:ea typeface="微软雅黑" panose="020B0503020204020204" pitchFamily="34" charset="-122"/>
              </a:rPr>
              <a:t>的</a:t>
            </a:r>
            <a:r>
              <a:rPr lang="en-US" altLang="zh-CN" sz="2400" dirty="0">
                <a:latin typeface="微软雅黑" panose="020B0503020204020204" pitchFamily="34" charset="-122"/>
                <a:ea typeface="微软雅黑" panose="020B0503020204020204" pitchFamily="34" charset="-122"/>
              </a:rPr>
              <a:t>CK</a:t>
            </a:r>
            <a:r>
              <a:rPr lang="zh-CN" altLang="en-US" sz="2400" dirty="0">
                <a:latin typeface="微软雅黑" panose="020B0503020204020204" pitchFamily="34" charset="-122"/>
                <a:ea typeface="微软雅黑" panose="020B0503020204020204" pitchFamily="34" charset="-122"/>
              </a:rPr>
              <a:t>主要是</a:t>
            </a:r>
            <a:r>
              <a:rPr lang="en-US" altLang="zh-CN" sz="2400" dirty="0">
                <a:latin typeface="微软雅黑" panose="020B0503020204020204" pitchFamily="34" charset="-122"/>
                <a:ea typeface="微软雅黑" panose="020B0503020204020204" pitchFamily="34" charset="-122"/>
              </a:rPr>
              <a:t>CK</a:t>
            </a:r>
            <a:r>
              <a:rPr lang="en-US" altLang="zh-CN" sz="2400" baseline="-250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0000CC"/>
                </a:solidFill>
                <a:latin typeface="微软雅黑" panose="020B0503020204020204" pitchFamily="34" charset="-122"/>
                <a:ea typeface="微软雅黑" panose="020B0503020204020204" pitchFamily="34" charset="-122"/>
              </a:rPr>
              <a:t>几乎不含</a:t>
            </a:r>
            <a:r>
              <a:rPr lang="en-US" altLang="zh-CN" sz="2400" dirty="0">
                <a:solidFill>
                  <a:srgbClr val="0000CC"/>
                </a:solidFill>
                <a:latin typeface="微软雅黑" panose="020B0503020204020204" pitchFamily="34" charset="-122"/>
                <a:ea typeface="微软雅黑" panose="020B0503020204020204" pitchFamily="34" charset="-122"/>
              </a:rPr>
              <a:t>CK</a:t>
            </a:r>
            <a:r>
              <a:rPr lang="en-US" altLang="zh-CN" sz="2400" baseline="-25000" dirty="0">
                <a:solidFill>
                  <a:srgbClr val="0000CC"/>
                </a:solidFill>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marL="342900" marR="0" lvl="0" indent="-342900" algn="l" defTabSz="914400" rtl="0" eaLnBrk="0" fontAlgn="base" latinLnBrk="0" hangingPunct="0">
              <a:lnSpc>
                <a:spcPct val="120000"/>
              </a:lnSpc>
              <a:spcBef>
                <a:spcPts val="1200"/>
              </a:spcBef>
              <a:spcAft>
                <a:spcPct val="0"/>
              </a:spcAft>
              <a:buClrTx/>
              <a:buSzTx/>
              <a:buFont typeface="Arial" panose="020B0604020202020204" pitchFamily="34" charset="0"/>
              <a:buChar char="•"/>
              <a:tabLst/>
              <a:defRPr/>
            </a:pPr>
            <a:r>
              <a:rPr lang="zh-CN" altLang="en-US" sz="2400" dirty="0">
                <a:latin typeface="微软雅黑" panose="020B0503020204020204" pitchFamily="34" charset="-122"/>
                <a:ea typeface="微软雅黑" panose="020B0503020204020204" pitchFamily="34" charset="-122"/>
              </a:rPr>
              <a:t>心肌梗死后</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小时内， </a:t>
            </a:r>
            <a:r>
              <a:rPr lang="en-US" altLang="zh-CN" sz="2400" dirty="0">
                <a:latin typeface="微软雅黑" panose="020B0503020204020204" pitchFamily="34" charset="-122"/>
                <a:ea typeface="微软雅黑" panose="020B0503020204020204" pitchFamily="34" charset="-122"/>
              </a:rPr>
              <a:t>CK</a:t>
            </a:r>
            <a:r>
              <a:rPr lang="en-US" altLang="zh-CN" sz="2400" baseline="-25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开始释放入血，</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6 </a:t>
            </a:r>
            <a:r>
              <a:rPr lang="zh-CN" altLang="en-US" sz="2400" dirty="0">
                <a:latin typeface="微软雅黑" panose="020B0503020204020204" pitchFamily="34" charset="-122"/>
                <a:ea typeface="微软雅黑" panose="020B0503020204020204" pitchFamily="34" charset="-122"/>
              </a:rPr>
              <a:t>小时血中</a:t>
            </a:r>
            <a:r>
              <a:rPr lang="en-US" altLang="zh-CN" sz="2400" dirty="0">
                <a:latin typeface="微软雅黑" panose="020B0503020204020204" pitchFamily="34" charset="-122"/>
                <a:ea typeface="微软雅黑" panose="020B0503020204020204" pitchFamily="34" charset="-122"/>
              </a:rPr>
              <a:t>CK</a:t>
            </a:r>
            <a:r>
              <a:rPr lang="en-US" altLang="zh-CN" sz="2400" baseline="-250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活性升高，</a:t>
            </a:r>
            <a:r>
              <a:rPr lang="en-US" altLang="zh-CN" sz="2400" dirty="0">
                <a:latin typeface="微软雅黑" panose="020B0503020204020204" pitchFamily="34" charset="-122"/>
                <a:ea typeface="微软雅黑" panose="020B0503020204020204" pitchFamily="34" charset="-122"/>
              </a:rPr>
              <a:t>12</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24 </a:t>
            </a:r>
            <a:r>
              <a:rPr lang="zh-CN" altLang="en-US" sz="2400" dirty="0">
                <a:latin typeface="微软雅黑" panose="020B0503020204020204" pitchFamily="34" charset="-122"/>
                <a:ea typeface="微软雅黑" panose="020B0503020204020204" pitchFamily="34" charset="-122"/>
              </a:rPr>
              <a:t>小时达峰值，</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 </a:t>
            </a:r>
            <a:r>
              <a:rPr lang="zh-CN" altLang="en-US" sz="2400" dirty="0">
                <a:latin typeface="微软雅黑" panose="020B0503020204020204" pitchFamily="34" charset="-122"/>
                <a:ea typeface="微软雅黑" panose="020B0503020204020204" pitchFamily="34" charset="-122"/>
              </a:rPr>
              <a:t>天恢复正常。</a:t>
            </a:r>
            <a:endParaRPr lang="en-US" altLang="zh-CN" sz="2400" dirty="0">
              <a:latin typeface="微软雅黑" panose="020B0503020204020204" pitchFamily="34" charset="-122"/>
              <a:ea typeface="微软雅黑" panose="020B0503020204020204" pitchFamily="34" charset="-122"/>
            </a:endParaRPr>
          </a:p>
        </p:txBody>
      </p:sp>
      <p:grpSp>
        <p:nvGrpSpPr>
          <p:cNvPr id="6" name="Group 17">
            <a:extLst>
              <a:ext uri="{FF2B5EF4-FFF2-40B4-BE49-F238E27FC236}">
                <a16:creationId xmlns:a16="http://schemas.microsoft.com/office/drawing/2014/main" id="{6FCB438E-797D-05B4-DFFB-08FA3BEA251F}"/>
              </a:ext>
            </a:extLst>
          </p:cNvPr>
          <p:cNvGrpSpPr>
            <a:grpSpLocks/>
          </p:cNvGrpSpPr>
          <p:nvPr/>
        </p:nvGrpSpPr>
        <p:grpSpPr bwMode="auto">
          <a:xfrm>
            <a:off x="2711451" y="839937"/>
            <a:ext cx="6577013" cy="1004887"/>
            <a:chOff x="748" y="3260"/>
            <a:chExt cx="4143" cy="633"/>
          </a:xfrm>
        </p:grpSpPr>
        <p:sp>
          <p:nvSpPr>
            <p:cNvPr id="7" name="Text Box 18">
              <a:extLst>
                <a:ext uri="{FF2B5EF4-FFF2-40B4-BE49-F238E27FC236}">
                  <a16:creationId xmlns:a16="http://schemas.microsoft.com/office/drawing/2014/main" id="{497BC911-8EE9-7BA7-EEDC-0290E191EA11}"/>
                </a:ext>
              </a:extLst>
            </p:cNvPr>
            <p:cNvSpPr txBox="1">
              <a:spLocks noChangeArrowheads="1"/>
            </p:cNvSpPr>
            <p:nvPr/>
          </p:nvSpPr>
          <p:spPr bwMode="auto">
            <a:xfrm>
              <a:off x="748" y="3566"/>
              <a:ext cx="41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b="1" dirty="0">
                  <a:latin typeface="Times New Roman" panose="02020603050405020304" pitchFamily="18" charset="0"/>
                  <a:ea typeface="黑体" panose="02010609060101010101" pitchFamily="49" charset="-122"/>
                </a:rPr>
                <a:t>肌酸</a:t>
              </a:r>
              <a:r>
                <a:rPr kumimoji="1" lang="en-US" altLang="zh-CN" sz="2800" b="1" dirty="0">
                  <a:latin typeface="Times New Roman" panose="02020603050405020304" pitchFamily="18" charset="0"/>
                  <a:ea typeface="黑体" panose="02010609060101010101" pitchFamily="49" charset="-122"/>
                </a:rPr>
                <a:t>+ATP                          </a:t>
              </a:r>
              <a:r>
                <a:rPr kumimoji="1" lang="zh-CN" altLang="en-US" sz="2800" b="1" dirty="0">
                  <a:latin typeface="Times New Roman" panose="02020603050405020304" pitchFamily="18" charset="0"/>
                  <a:ea typeface="黑体" panose="02010609060101010101" pitchFamily="49" charset="-122"/>
                </a:rPr>
                <a:t>磷酸肌酸</a:t>
              </a:r>
              <a:r>
                <a:rPr kumimoji="1" lang="en-US" altLang="zh-CN" sz="2800" b="1" dirty="0">
                  <a:latin typeface="Times New Roman" panose="02020603050405020304" pitchFamily="18" charset="0"/>
                  <a:ea typeface="黑体" panose="02010609060101010101" pitchFamily="49" charset="-122"/>
                </a:rPr>
                <a:t>+ADP </a:t>
              </a:r>
              <a:endParaRPr kumimoji="1" lang="en-US" altLang="zh-CN" sz="2800" dirty="0">
                <a:latin typeface="Times New Roman" panose="02020603050405020304" pitchFamily="18" charset="0"/>
                <a:ea typeface="黑体" panose="02010609060101010101" pitchFamily="49" charset="-122"/>
              </a:endParaRPr>
            </a:p>
          </p:txBody>
        </p:sp>
        <p:sp>
          <p:nvSpPr>
            <p:cNvPr id="8" name="Line 19">
              <a:extLst>
                <a:ext uri="{FF2B5EF4-FFF2-40B4-BE49-F238E27FC236}">
                  <a16:creationId xmlns:a16="http://schemas.microsoft.com/office/drawing/2014/main" id="{96351ACB-921F-7481-EA83-13E4A5A0528F}"/>
                </a:ext>
              </a:extLst>
            </p:cNvPr>
            <p:cNvSpPr>
              <a:spLocks noChangeShapeType="1"/>
            </p:cNvSpPr>
            <p:nvPr/>
          </p:nvSpPr>
          <p:spPr bwMode="auto">
            <a:xfrm>
              <a:off x="2172" y="3663"/>
              <a:ext cx="864" cy="0"/>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 name="Line 20">
              <a:extLst>
                <a:ext uri="{FF2B5EF4-FFF2-40B4-BE49-F238E27FC236}">
                  <a16:creationId xmlns:a16="http://schemas.microsoft.com/office/drawing/2014/main" id="{556D951D-228A-E4EE-5591-DFB17155F0A7}"/>
                </a:ext>
              </a:extLst>
            </p:cNvPr>
            <p:cNvSpPr>
              <a:spLocks noChangeShapeType="1"/>
            </p:cNvSpPr>
            <p:nvPr/>
          </p:nvSpPr>
          <p:spPr bwMode="auto">
            <a:xfrm flipH="1">
              <a:off x="2172" y="3769"/>
              <a:ext cx="816" cy="0"/>
            </a:xfrm>
            <a:prstGeom prst="line">
              <a:avLst/>
            </a:prstGeom>
            <a:noFill/>
            <a:ln w="38100" cap="rnd">
              <a:solidFill>
                <a:schemeClr val="tx1"/>
              </a:solidFill>
              <a:prstDash val="sysDot"/>
              <a:round/>
              <a:headEnd/>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 name="Text Box 21">
              <a:extLst>
                <a:ext uri="{FF2B5EF4-FFF2-40B4-BE49-F238E27FC236}">
                  <a16:creationId xmlns:a16="http://schemas.microsoft.com/office/drawing/2014/main" id="{A00BD19C-ABB2-5A75-FA49-C576FFA07813}"/>
                </a:ext>
              </a:extLst>
            </p:cNvPr>
            <p:cNvSpPr txBox="1">
              <a:spLocks noChangeArrowheads="1"/>
            </p:cNvSpPr>
            <p:nvPr/>
          </p:nvSpPr>
          <p:spPr bwMode="auto">
            <a:xfrm>
              <a:off x="2336" y="3260"/>
              <a:ext cx="456"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Tx/>
                <a:buNone/>
              </a:pPr>
              <a:r>
                <a:rPr kumimoji="1" lang="en-US" altLang="zh-CN" sz="2800" b="1">
                  <a:solidFill>
                    <a:srgbClr val="FF3300"/>
                  </a:solidFill>
                  <a:latin typeface="Times New Roman" panose="02020603050405020304" pitchFamily="18" charset="0"/>
                  <a:ea typeface="黑体" panose="02010609060101010101" pitchFamily="49" charset="-122"/>
                </a:rPr>
                <a:t>CK</a:t>
              </a:r>
              <a:endParaRPr kumimoji="1" lang="en-US" altLang="zh-CN" sz="2800">
                <a:solidFill>
                  <a:srgbClr val="FF3300"/>
                </a:solidFill>
                <a:latin typeface="Times New Roman" panose="02020603050405020304" pitchFamily="18" charset="0"/>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3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93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93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93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93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93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508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508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508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508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508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508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934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93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animBg="1"/>
      <p:bldP spid="99332" grpId="0" animBg="1"/>
      <p:bldP spid="99333" grpId="0" animBg="1"/>
      <p:bldP spid="99334" grpId="0" animBg="1"/>
      <p:bldP spid="99335" grpId="0" animBg="1"/>
      <p:bldP spid="99336" grpId="0" animBg="1"/>
      <p:bldP spid="515081" grpId="0"/>
      <p:bldP spid="515082" grpId="0"/>
      <p:bldP spid="515083" grpId="0"/>
      <p:bldP spid="515084" grpId="0"/>
      <p:bldP spid="515085" grpId="0"/>
      <p:bldP spid="515086" grpId="0"/>
      <p:bldP spid="99343" grpId="0"/>
      <p:bldP spid="3"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CA22419-9626-4D9E-91EF-D487550E200E}"/>
              </a:ext>
            </a:extLst>
          </p:cNvPr>
          <p:cNvSpPr>
            <a:spLocks noGrp="1" noChangeArrowheads="1"/>
          </p:cNvSpPr>
          <p:nvPr>
            <p:ph type="title"/>
          </p:nvPr>
        </p:nvSpPr>
        <p:spPr>
          <a:xfrm>
            <a:off x="3000376" y="1268413"/>
            <a:ext cx="5832475" cy="685800"/>
          </a:xfrm>
        </p:spPr>
        <p:txBody>
          <a:bodyPr/>
          <a:lstStyle/>
          <a:p>
            <a:pPr eaLnBrk="1" hangingPunct="1"/>
            <a:r>
              <a:rPr lang="zh-CN" altLang="en-US" sz="3600">
                <a:solidFill>
                  <a:srgbClr val="FF3300"/>
                </a:solidFill>
                <a:latin typeface="黑体" panose="02010609060101010101" pitchFamily="49" charset="-122"/>
                <a:ea typeface="黑体" panose="02010609060101010101" pitchFamily="49" charset="-122"/>
              </a:rPr>
              <a:t>同工酶的生理意义</a:t>
            </a:r>
          </a:p>
        </p:txBody>
      </p:sp>
      <p:sp>
        <p:nvSpPr>
          <p:cNvPr id="105475" name="Rectangle 3">
            <a:extLst>
              <a:ext uri="{FF2B5EF4-FFF2-40B4-BE49-F238E27FC236}">
                <a16:creationId xmlns:a16="http://schemas.microsoft.com/office/drawing/2014/main" id="{C8F73DF8-3CC9-4633-BE7A-ED924D72559D}"/>
              </a:ext>
            </a:extLst>
          </p:cNvPr>
          <p:cNvSpPr>
            <a:spLocks noGrp="1" noChangeArrowheads="1"/>
          </p:cNvSpPr>
          <p:nvPr>
            <p:ph type="body" idx="1"/>
          </p:nvPr>
        </p:nvSpPr>
        <p:spPr>
          <a:xfrm>
            <a:off x="2207568" y="2565401"/>
            <a:ext cx="8208912" cy="2155825"/>
          </a:xfrm>
        </p:spPr>
        <p:txBody>
          <a:bodyPr/>
          <a:lstStyle/>
          <a:p>
            <a:pPr eaLnBrk="1" hangingPunct="1">
              <a:lnSpc>
                <a:spcPct val="170000"/>
              </a:lnSpc>
              <a:buFontTx/>
              <a:buNone/>
            </a:pPr>
            <a:r>
              <a:rPr lang="en-US" altLang="zh-CN" dirty="0">
                <a:latin typeface="Times New Roman" panose="02020603050405020304" pitchFamily="18" charset="0"/>
                <a:ea typeface="黑体" panose="02010609060101010101" pitchFamily="49" charset="-122"/>
              </a:rPr>
              <a:t>1. </a:t>
            </a:r>
            <a:r>
              <a:rPr lang="zh-CN" altLang="en-US" dirty="0">
                <a:latin typeface="Times New Roman" panose="02020603050405020304" pitchFamily="18" charset="0"/>
                <a:ea typeface="黑体" panose="02010609060101010101" pitchFamily="49" charset="-122"/>
              </a:rPr>
              <a:t>是体内代谢调节的一种方式</a:t>
            </a:r>
          </a:p>
          <a:p>
            <a:pPr eaLnBrk="1" hangingPunct="1">
              <a:lnSpc>
                <a:spcPct val="170000"/>
              </a:lnSpc>
              <a:buFontTx/>
              <a:buNone/>
            </a:pPr>
            <a:r>
              <a:rPr lang="en-US" altLang="zh-CN" dirty="0">
                <a:latin typeface="Times New Roman" panose="02020603050405020304" pitchFamily="18" charset="0"/>
                <a:ea typeface="黑体" panose="02010609060101010101" pitchFamily="49" charset="-122"/>
              </a:rPr>
              <a:t>2. </a:t>
            </a:r>
            <a:r>
              <a:rPr lang="zh-CN" altLang="en-US" dirty="0">
                <a:latin typeface="Times New Roman" panose="02020603050405020304" pitchFamily="18" charset="0"/>
                <a:ea typeface="黑体" panose="02010609060101010101" pitchFamily="49" charset="-122"/>
              </a:rPr>
              <a:t>检测同工酶谱有助于疾病的诊断和预后</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E9E45121-1D31-4E74-A4E5-2AB12C53E0D3}"/>
              </a:ext>
            </a:extLst>
          </p:cNvPr>
          <p:cNvSpPr>
            <a:spLocks noGrp="1"/>
          </p:cNvSpPr>
          <p:nvPr>
            <p:ph idx="1"/>
          </p:nvPr>
        </p:nvSpPr>
        <p:spPr>
          <a:xfrm>
            <a:off x="2049463" y="1557338"/>
            <a:ext cx="8367712" cy="3929062"/>
          </a:xfrm>
        </p:spPr>
        <p:txBody>
          <a:bodyPr/>
          <a:lstStyle/>
          <a:p>
            <a:pPr marL="0" indent="0">
              <a:buNone/>
              <a:defRPr/>
            </a:pPr>
            <a:r>
              <a:rPr lang="zh-CN" altLang="en-US" sz="2800" dirty="0">
                <a:solidFill>
                  <a:srgbClr val="0000CC"/>
                </a:solidFill>
                <a:latin typeface="+mn-ea"/>
              </a:rPr>
              <a:t>有关乳酸脱氢酶同工酶的论述，恰当的是</a:t>
            </a:r>
          </a:p>
          <a:p>
            <a:pPr marL="0" indent="0">
              <a:buNone/>
              <a:defRPr/>
            </a:pPr>
            <a:r>
              <a:rPr lang="en-US" altLang="zh-CN" sz="2800" dirty="0">
                <a:latin typeface="+mn-ea"/>
              </a:rPr>
              <a:t>A. </a:t>
            </a:r>
            <a:r>
              <a:rPr lang="zh-CN" altLang="en-US" sz="2800" dirty="0">
                <a:latin typeface="+mn-ea"/>
              </a:rPr>
              <a:t>它们对同一底物有不同的</a:t>
            </a:r>
            <a:r>
              <a:rPr lang="en-US" altLang="zh-CN" sz="2800" dirty="0">
                <a:latin typeface="+mn-ea"/>
              </a:rPr>
              <a:t>Km</a:t>
            </a:r>
            <a:r>
              <a:rPr lang="zh-CN" altLang="en-US" sz="2800" dirty="0">
                <a:latin typeface="+mn-ea"/>
              </a:rPr>
              <a:t>值</a:t>
            </a:r>
          </a:p>
          <a:p>
            <a:pPr marL="0" indent="0">
              <a:buNone/>
              <a:defRPr/>
            </a:pPr>
            <a:r>
              <a:rPr lang="en-US" altLang="zh-CN" sz="2800" dirty="0">
                <a:latin typeface="+mn-ea"/>
              </a:rPr>
              <a:t>B. M</a:t>
            </a:r>
            <a:r>
              <a:rPr lang="zh-CN" altLang="en-US" sz="2800" dirty="0">
                <a:latin typeface="+mn-ea"/>
              </a:rPr>
              <a:t>亚基和</a:t>
            </a:r>
            <a:r>
              <a:rPr lang="en-US" altLang="zh-CN" sz="2800" dirty="0">
                <a:latin typeface="+mn-ea"/>
              </a:rPr>
              <a:t>H</a:t>
            </a:r>
            <a:r>
              <a:rPr lang="zh-CN" altLang="en-US" sz="2800" dirty="0">
                <a:latin typeface="+mn-ea"/>
              </a:rPr>
              <a:t>亚基都来自同一染色体的某一基因位点</a:t>
            </a:r>
          </a:p>
          <a:p>
            <a:pPr marL="0" indent="0">
              <a:buNone/>
              <a:defRPr/>
            </a:pPr>
            <a:r>
              <a:rPr lang="en-US" altLang="zh-CN" sz="2800" dirty="0">
                <a:latin typeface="+mn-ea"/>
              </a:rPr>
              <a:t>C. </a:t>
            </a:r>
            <a:r>
              <a:rPr lang="zh-CN" altLang="en-US" sz="2800" dirty="0">
                <a:latin typeface="+mn-ea"/>
              </a:rPr>
              <a:t>它们的电泳行为相同</a:t>
            </a:r>
          </a:p>
          <a:p>
            <a:pPr marL="0" indent="0">
              <a:buNone/>
              <a:defRPr/>
            </a:pPr>
            <a:r>
              <a:rPr lang="en-US" altLang="zh-CN" sz="2800" dirty="0">
                <a:latin typeface="+mn-ea"/>
              </a:rPr>
              <a:t>D. </a:t>
            </a:r>
            <a:r>
              <a:rPr lang="zh-CN" altLang="en-US" sz="2800" dirty="0">
                <a:latin typeface="+mn-ea"/>
              </a:rPr>
              <a:t>它们在人体各组织器官的分布无显著差别</a:t>
            </a:r>
          </a:p>
          <a:p>
            <a:pPr marL="0" indent="0">
              <a:buNone/>
              <a:defRPr/>
            </a:pPr>
            <a:r>
              <a:rPr lang="en-US" altLang="zh-CN" sz="2800" dirty="0">
                <a:latin typeface="+mn-ea"/>
              </a:rPr>
              <a:t>E. LDH1</a:t>
            </a:r>
            <a:r>
              <a:rPr lang="zh-CN" altLang="en-US" sz="2800" dirty="0">
                <a:latin typeface="+mn-ea"/>
              </a:rPr>
              <a:t>主要存在于肾脏组织</a:t>
            </a:r>
          </a:p>
          <a:p>
            <a:pPr marL="0" indent="0">
              <a:buNone/>
              <a:defRPr/>
            </a:pPr>
            <a:endParaRPr lang="zh-CN" altLang="en-US" sz="2800" dirty="0">
              <a:latin typeface="+mn-ea"/>
            </a:endParaRPr>
          </a:p>
        </p:txBody>
      </p:sp>
      <p:sp>
        <p:nvSpPr>
          <p:cNvPr id="101380" name="文本框 5">
            <a:extLst>
              <a:ext uri="{FF2B5EF4-FFF2-40B4-BE49-F238E27FC236}">
                <a16:creationId xmlns:a16="http://schemas.microsoft.com/office/drawing/2014/main" id="{7A350883-B48E-470B-88AB-79C52A349D9B}"/>
              </a:ext>
            </a:extLst>
          </p:cNvPr>
          <p:cNvSpPr txBox="1">
            <a:spLocks noChangeArrowheads="1"/>
          </p:cNvSpPr>
          <p:nvPr/>
        </p:nvSpPr>
        <p:spPr bwMode="auto">
          <a:xfrm>
            <a:off x="8832851" y="1557338"/>
            <a:ext cx="15843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C00000"/>
                </a:solidFill>
              </a:rPr>
              <a:t>A</a:t>
            </a:r>
            <a:endParaRPr lang="zh-CN" altLang="en-US">
              <a:solidFill>
                <a:srgbClr val="C0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7A34D52B-C9D5-44ED-9B5A-E67EE6CDEF1F}"/>
              </a:ext>
            </a:extLst>
          </p:cNvPr>
          <p:cNvSpPr>
            <a:spLocks noGrp="1" noChangeArrowheads="1"/>
          </p:cNvSpPr>
          <p:nvPr>
            <p:ph type="title"/>
          </p:nvPr>
        </p:nvSpPr>
        <p:spPr>
          <a:xfrm>
            <a:off x="2855913" y="476250"/>
            <a:ext cx="6870700" cy="1060450"/>
          </a:xfrm>
        </p:spPr>
        <p:txBody>
          <a:bodyPr/>
          <a:lstStyle/>
          <a:p>
            <a:pPr eaLnBrk="1" hangingPunct="1"/>
            <a:r>
              <a:rPr lang="zh-CN" altLang="en-US">
                <a:solidFill>
                  <a:srgbClr val="0000CC"/>
                </a:solidFill>
              </a:rPr>
              <a:t>小   结</a:t>
            </a:r>
          </a:p>
        </p:txBody>
      </p:sp>
      <p:sp>
        <p:nvSpPr>
          <p:cNvPr id="109571" name="Rectangle 3">
            <a:extLst>
              <a:ext uri="{FF2B5EF4-FFF2-40B4-BE49-F238E27FC236}">
                <a16:creationId xmlns:a16="http://schemas.microsoft.com/office/drawing/2014/main" id="{01E00201-0F0C-4A50-B232-C388B3B96577}"/>
              </a:ext>
            </a:extLst>
          </p:cNvPr>
          <p:cNvSpPr>
            <a:spLocks noGrp="1" noChangeArrowheads="1"/>
          </p:cNvSpPr>
          <p:nvPr>
            <p:ph type="body" idx="1"/>
          </p:nvPr>
        </p:nvSpPr>
        <p:spPr>
          <a:xfrm>
            <a:off x="1415480" y="1844676"/>
            <a:ext cx="10225135" cy="4104605"/>
          </a:xfrm>
        </p:spPr>
        <p:txBody>
          <a:bodyPr/>
          <a:lstStyle/>
          <a:p>
            <a:pPr eaLnBrk="1" hangingPunct="1">
              <a:lnSpc>
                <a:spcPct val="120000"/>
              </a:lnSpc>
            </a:pPr>
            <a:r>
              <a:rPr lang="zh-CN" altLang="en-US" sz="2800" dirty="0">
                <a:solidFill>
                  <a:srgbClr val="0000CC"/>
                </a:solidFill>
                <a:latin typeface="黑体" panose="02010609060101010101" pitchFamily="49" charset="-122"/>
                <a:ea typeface="黑体" panose="02010609060101010101" pitchFamily="49" charset="-122"/>
              </a:rPr>
              <a:t>掌握概念：</a:t>
            </a:r>
            <a:r>
              <a:rPr lang="zh-CN" altLang="en-US" sz="2800" dirty="0">
                <a:latin typeface="黑体" panose="02010609060101010101" pitchFamily="49" charset="-122"/>
                <a:ea typeface="黑体" panose="02010609060101010101" pitchFamily="49" charset="-122"/>
              </a:rPr>
              <a:t> </a:t>
            </a:r>
            <a:r>
              <a:rPr lang="zh-CN" altLang="en-US" sz="2800" dirty="0">
                <a:solidFill>
                  <a:srgbClr val="C00000"/>
                </a:solidFill>
                <a:latin typeface="黑体" panose="02010609060101010101" pitchFamily="49" charset="-122"/>
                <a:ea typeface="黑体" panose="02010609060101010101" pitchFamily="49" charset="-122"/>
              </a:rPr>
              <a:t>活性中心</a:t>
            </a:r>
            <a:r>
              <a:rPr lang="en-US" altLang="zh-CN" sz="2800" dirty="0">
                <a:solidFill>
                  <a:srgbClr val="C00000"/>
                </a:solidFill>
                <a:latin typeface="黑体" panose="02010609060101010101" pitchFamily="49" charset="-122"/>
                <a:ea typeface="黑体" panose="02010609060101010101" pitchFamily="49" charset="-122"/>
              </a:rPr>
              <a:t>(active site)</a:t>
            </a:r>
            <a:r>
              <a:rPr lang="zh-CN" altLang="en-US" sz="2800" dirty="0">
                <a:solidFill>
                  <a:srgbClr val="C00000"/>
                </a:solidFill>
                <a:latin typeface="黑体" panose="02010609060101010101" pitchFamily="49" charset="-122"/>
                <a:ea typeface="黑体" panose="02010609060101010101" pitchFamily="49" charset="-122"/>
              </a:rPr>
              <a:t>　同工酶（</a:t>
            </a:r>
            <a:r>
              <a:rPr lang="en-US" altLang="zh-CN" sz="2800" dirty="0">
                <a:solidFill>
                  <a:srgbClr val="C00000"/>
                </a:solidFill>
                <a:latin typeface="黑体" panose="02010609060101010101" pitchFamily="49" charset="-122"/>
                <a:ea typeface="黑体" panose="02010609060101010101" pitchFamily="49" charset="-122"/>
              </a:rPr>
              <a:t>isoenzyme</a:t>
            </a:r>
            <a:r>
              <a:rPr lang="zh-CN" altLang="en-US" sz="2800" dirty="0">
                <a:solidFill>
                  <a:srgbClr val="C00000"/>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  </a:t>
            </a:r>
            <a:endParaRPr lang="en-US" altLang="zh-CN" sz="2800" dirty="0">
              <a:latin typeface="黑体" panose="02010609060101010101" pitchFamily="49" charset="-122"/>
              <a:ea typeface="黑体" panose="02010609060101010101" pitchFamily="49" charset="-122"/>
            </a:endParaRPr>
          </a:p>
          <a:p>
            <a:pPr eaLnBrk="1" hangingPunct="1">
              <a:lnSpc>
                <a:spcPct val="120000"/>
              </a:lnSpc>
            </a:pPr>
            <a:r>
              <a:rPr lang="zh-CN" altLang="en-US" sz="2800" dirty="0">
                <a:latin typeface="黑体" panose="02010609060101010101" pitchFamily="49" charset="-122"/>
                <a:ea typeface="黑体" panose="02010609060101010101" pitchFamily="49" charset="-122"/>
              </a:rPr>
              <a:t>了解： </a:t>
            </a:r>
            <a:endParaRPr lang="en-US" altLang="zh-CN" sz="2800" dirty="0">
              <a:latin typeface="黑体" panose="02010609060101010101" pitchFamily="49" charset="-122"/>
              <a:ea typeface="黑体" panose="02010609060101010101" pitchFamily="49" charset="-122"/>
            </a:endParaRPr>
          </a:p>
          <a:p>
            <a:pPr marL="0" indent="0" eaLnBrk="1" hangingPunct="1">
              <a:lnSpc>
                <a:spcPct val="120000"/>
              </a:lnSpc>
              <a:buNone/>
            </a:pP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全酶   寡聚酶  单体酶  多功能酶   多酶体系  必需基团</a:t>
            </a:r>
            <a:endParaRPr lang="en-US" altLang="zh-CN" sz="2800" dirty="0">
              <a:latin typeface="黑体" panose="02010609060101010101" pitchFamily="49" charset="-122"/>
              <a:ea typeface="黑体" panose="02010609060101010101" pitchFamily="49" charset="-122"/>
            </a:endParaRPr>
          </a:p>
          <a:p>
            <a:pPr eaLnBrk="1" hangingPunct="1">
              <a:lnSpc>
                <a:spcPct val="120000"/>
              </a:lnSpc>
            </a:pPr>
            <a:endParaRPr lang="zh-CN" altLang="en-US" sz="2800" dirty="0">
              <a:latin typeface="黑体" panose="02010609060101010101" pitchFamily="49" charset="-122"/>
              <a:ea typeface="黑体" panose="02010609060101010101" pitchFamily="49" charset="-122"/>
            </a:endParaRPr>
          </a:p>
          <a:p>
            <a:pPr eaLnBrk="1" hangingPunct="1">
              <a:lnSpc>
                <a:spcPct val="120000"/>
              </a:lnSpc>
            </a:pPr>
            <a:r>
              <a:rPr lang="zh-CN" altLang="en-US" sz="2800" dirty="0">
                <a:solidFill>
                  <a:srgbClr val="FF0000"/>
                </a:solidFill>
                <a:latin typeface="黑体" panose="02010609060101010101" pitchFamily="49" charset="-122"/>
                <a:ea typeface="黑体" panose="02010609060101010101" pitchFamily="49" charset="-122"/>
              </a:rPr>
              <a:t>主要小分子酶辅助因子（</a:t>
            </a:r>
            <a:r>
              <a:rPr lang="en-US" altLang="zh-CN" sz="2800" dirty="0">
                <a:solidFill>
                  <a:srgbClr val="FF0000"/>
                </a:solidFill>
                <a:latin typeface="黑体" panose="02010609060101010101" pitchFamily="49" charset="-122"/>
                <a:ea typeface="黑体" panose="02010609060101010101" pitchFamily="49" charset="-122"/>
              </a:rPr>
              <a:t>B</a:t>
            </a:r>
            <a:r>
              <a:rPr lang="zh-CN" altLang="en-US" sz="2800" dirty="0">
                <a:solidFill>
                  <a:srgbClr val="FF0000"/>
                </a:solidFill>
                <a:latin typeface="黑体" panose="02010609060101010101" pitchFamily="49" charset="-122"/>
                <a:ea typeface="黑体" panose="02010609060101010101" pitchFamily="49" charset="-122"/>
              </a:rPr>
              <a:t>族维生素为主）的名称及作用</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20000"/>
              </a:lnSpc>
            </a:pPr>
            <a:r>
              <a:rPr lang="zh-CN" altLang="en-US" sz="2800" dirty="0">
                <a:solidFill>
                  <a:srgbClr val="FF0000"/>
                </a:solidFill>
                <a:latin typeface="黑体" panose="02010609060101010101" pitchFamily="49" charset="-122"/>
                <a:ea typeface="黑体" panose="02010609060101010101" pitchFamily="49" charset="-122"/>
              </a:rPr>
              <a:t>同工酶的生理意义</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A18EA4CB-A849-4FBD-99FF-1B2639673CF5}"/>
              </a:ext>
            </a:extLst>
          </p:cNvPr>
          <p:cNvSpPr>
            <a:spLocks noGrp="1" noChangeArrowheads="1"/>
          </p:cNvSpPr>
          <p:nvPr>
            <p:ph type="title"/>
          </p:nvPr>
        </p:nvSpPr>
        <p:spPr>
          <a:xfrm>
            <a:off x="1992313" y="1412876"/>
            <a:ext cx="8286750" cy="3457575"/>
          </a:xfrm>
        </p:spPr>
        <p:txBody>
          <a:bodyPr/>
          <a:lstStyle/>
          <a:p>
            <a:pPr eaLnBrk="1" hangingPunct="1">
              <a:lnSpc>
                <a:spcPct val="90000"/>
              </a:lnSpc>
            </a:pPr>
            <a:r>
              <a:rPr lang="zh-CN" altLang="en-US" sz="4800" b="1" dirty="0">
                <a:solidFill>
                  <a:srgbClr val="FF3300"/>
                </a:solidFill>
                <a:latin typeface="Times New Roman" panose="02020603050405020304" pitchFamily="18" charset="0"/>
                <a:ea typeface="黑体" panose="02010609060101010101" pitchFamily="49" charset="-122"/>
              </a:rPr>
              <a:t>第二节</a:t>
            </a:r>
            <a:br>
              <a:rPr lang="zh-CN" altLang="en-US" sz="4800" b="1" dirty="0">
                <a:solidFill>
                  <a:srgbClr val="FF3300"/>
                </a:solidFill>
                <a:latin typeface="Times New Roman" panose="02020603050405020304" pitchFamily="18" charset="0"/>
                <a:ea typeface="黑体" panose="02010609060101010101" pitchFamily="49" charset="-122"/>
              </a:rPr>
            </a:br>
            <a:br>
              <a:rPr lang="zh-CN" altLang="en-US" sz="5400" b="1" dirty="0">
                <a:solidFill>
                  <a:srgbClr val="FF3300"/>
                </a:solidFill>
                <a:latin typeface="Times New Roman" panose="02020603050405020304" pitchFamily="18" charset="0"/>
                <a:ea typeface="黑体" panose="02010609060101010101" pitchFamily="49" charset="-122"/>
              </a:rPr>
            </a:br>
            <a:r>
              <a:rPr lang="zh-CN" altLang="en-US" sz="5400" b="1" dirty="0">
                <a:solidFill>
                  <a:srgbClr val="FF3300"/>
                </a:solidFill>
                <a:latin typeface="Times New Roman" panose="02020603050405020304" pitchFamily="18" charset="0"/>
                <a:ea typeface="黑体" panose="02010609060101010101" pitchFamily="49" charset="-122"/>
              </a:rPr>
              <a:t> </a:t>
            </a:r>
            <a:r>
              <a:rPr lang="zh-CN" altLang="en-US" sz="4800" b="1" dirty="0">
                <a:solidFill>
                  <a:srgbClr val="FF3300"/>
                </a:solidFill>
                <a:latin typeface="Times New Roman" panose="02020603050405020304" pitchFamily="18" charset="0"/>
                <a:ea typeface="黑体" panose="02010609060101010101" pitchFamily="49" charset="-122"/>
              </a:rPr>
              <a:t>酶的工作原理</a:t>
            </a:r>
            <a:br>
              <a:rPr lang="zh-CN" altLang="en-US" sz="6600" b="1" dirty="0">
                <a:solidFill>
                  <a:srgbClr val="FFCC66"/>
                </a:solidFill>
                <a:latin typeface="Times New Roman" panose="02020603050405020304" pitchFamily="18" charset="0"/>
                <a:ea typeface="黑体" panose="02010609060101010101" pitchFamily="49" charset="-122"/>
              </a:rPr>
            </a:br>
            <a:r>
              <a:rPr lang="zh-CN" altLang="en-US" sz="6000" b="1" dirty="0">
                <a:solidFill>
                  <a:srgbClr val="FFCC66"/>
                </a:solidFill>
                <a:latin typeface="Times New Roman" panose="02020603050405020304" pitchFamily="18" charset="0"/>
                <a:ea typeface="黑体" panose="02010609060101010101" pitchFamily="49" charset="-122"/>
              </a:rPr>
              <a:t> </a:t>
            </a:r>
            <a:r>
              <a:rPr lang="en-US" altLang="zh-CN" sz="4000" b="1" dirty="0">
                <a:latin typeface="Times New Roman" panose="02020603050405020304" pitchFamily="18" charset="0"/>
                <a:ea typeface="黑体" panose="02010609060101010101" pitchFamily="49" charset="-122"/>
              </a:rPr>
              <a:t>The Mechanism of Enzyme Action</a:t>
            </a:r>
          </a:p>
        </p:txBody>
      </p:sp>
    </p:spTree>
  </p:cSld>
  <p:clrMapOvr>
    <a:masterClrMapping/>
  </p:clrMapOvr>
  <p:transition spd="slow">
    <p:circl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828E3000-A6F2-4DB3-96FF-1516A3C9FE4D}"/>
              </a:ext>
            </a:extLst>
          </p:cNvPr>
          <p:cNvSpPr>
            <a:spLocks noGrp="1" noChangeArrowheads="1"/>
          </p:cNvSpPr>
          <p:nvPr>
            <p:ph type="body" idx="1"/>
          </p:nvPr>
        </p:nvSpPr>
        <p:spPr>
          <a:xfrm>
            <a:off x="1847851" y="1268414"/>
            <a:ext cx="8137525" cy="935037"/>
          </a:xfrm>
        </p:spPr>
        <p:txBody>
          <a:bodyPr/>
          <a:lstStyle/>
          <a:p>
            <a:pPr marL="531813" indent="-531813" algn="ctr" eaLnBrk="1" hangingPunct="1">
              <a:buNone/>
            </a:pPr>
            <a:r>
              <a:rPr lang="zh-CN" altLang="en-US" b="0">
                <a:solidFill>
                  <a:srgbClr val="0000CC"/>
                </a:solidFill>
                <a:latin typeface="Times New Roman" panose="02020603050405020304" pitchFamily="18" charset="0"/>
                <a:ea typeface="黑体" panose="02010609060101010101" pitchFamily="49" charset="-122"/>
              </a:rPr>
              <a:t>酶与一般催化剂的共同点</a:t>
            </a:r>
          </a:p>
        </p:txBody>
      </p:sp>
      <p:sp>
        <p:nvSpPr>
          <p:cNvPr id="525315" name="Rectangle 3">
            <a:extLst>
              <a:ext uri="{FF2B5EF4-FFF2-40B4-BE49-F238E27FC236}">
                <a16:creationId xmlns:a16="http://schemas.microsoft.com/office/drawing/2014/main" id="{D5B4B46E-9D2A-4240-AC61-B89E34865FA3}"/>
              </a:ext>
            </a:extLst>
          </p:cNvPr>
          <p:cNvSpPr>
            <a:spLocks noChangeArrowheads="1"/>
          </p:cNvSpPr>
          <p:nvPr/>
        </p:nvSpPr>
        <p:spPr bwMode="auto">
          <a:xfrm>
            <a:off x="1487488" y="2349500"/>
            <a:ext cx="9433048" cy="319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1117600" indent="-40640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lvl="1" eaLnBrk="1" hangingPunct="1">
              <a:lnSpc>
                <a:spcPct val="160000"/>
              </a:lnSpc>
              <a:buClr>
                <a:srgbClr val="0000FF"/>
              </a:buClr>
              <a:buFont typeface="Wingdings" panose="05000000000000000000" pitchFamily="2" charset="2"/>
              <a:buChar char="u"/>
            </a:pPr>
            <a:r>
              <a:rPr lang="zh-CN" altLang="en-US" dirty="0">
                <a:latin typeface="Times New Roman" panose="02020603050405020304" pitchFamily="18" charset="0"/>
                <a:ea typeface="黑体" panose="02010609060101010101" pitchFamily="49" charset="-122"/>
              </a:rPr>
              <a:t>只能催化热力学允许的化学反应；</a:t>
            </a:r>
          </a:p>
          <a:p>
            <a:pPr lvl="1" eaLnBrk="1" hangingPunct="1">
              <a:lnSpc>
                <a:spcPct val="160000"/>
              </a:lnSpc>
              <a:buClr>
                <a:srgbClr val="0000FF"/>
              </a:buClr>
              <a:buFont typeface="Wingdings" panose="05000000000000000000" pitchFamily="2" charset="2"/>
              <a:buChar char="u"/>
            </a:pPr>
            <a:r>
              <a:rPr lang="zh-CN" altLang="en-US" dirty="0">
                <a:latin typeface="Times New Roman" panose="02020603050405020304" pitchFamily="18" charset="0"/>
                <a:ea typeface="黑体" panose="02010609060101010101" pitchFamily="49" charset="-122"/>
              </a:rPr>
              <a:t>只能加速可逆反应的进程，而</a:t>
            </a:r>
            <a:r>
              <a:rPr lang="zh-CN" altLang="en-US" dirty="0">
                <a:solidFill>
                  <a:srgbClr val="0000CC"/>
                </a:solidFill>
                <a:latin typeface="Times New Roman" panose="02020603050405020304" pitchFamily="18" charset="0"/>
                <a:ea typeface="黑体" panose="02010609060101010101" pitchFamily="49" charset="-122"/>
              </a:rPr>
              <a:t>不改变反应的平衡点</a:t>
            </a:r>
            <a:r>
              <a:rPr lang="zh-CN" altLang="en-US" dirty="0">
                <a:latin typeface="Times New Roman" panose="02020603050405020304" pitchFamily="18" charset="0"/>
                <a:ea typeface="黑体" panose="02010609060101010101" pitchFamily="49" charset="-122"/>
              </a:rPr>
              <a:t>。</a:t>
            </a:r>
          </a:p>
          <a:p>
            <a:pPr lvl="1" eaLnBrk="1" hangingPunct="1">
              <a:lnSpc>
                <a:spcPct val="160000"/>
              </a:lnSpc>
              <a:buClr>
                <a:srgbClr val="0000FF"/>
              </a:buClr>
              <a:buFont typeface="Wingdings" panose="05000000000000000000" pitchFamily="2" charset="2"/>
              <a:buChar char="u"/>
            </a:pPr>
            <a:r>
              <a:rPr lang="zh-CN" altLang="en-US" dirty="0">
                <a:latin typeface="Times New Roman" panose="02020603050405020304" pitchFamily="18" charset="0"/>
                <a:ea typeface="黑体" panose="02010609060101010101" pitchFamily="49" charset="-122"/>
              </a:rPr>
              <a:t>在反应前后没有质和量的变化；</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nodeType="withEffect">
                                  <p:stCondLst>
                                    <p:cond delay="0"/>
                                  </p:stCondLst>
                                  <p:childTnLst>
                                    <p:set>
                                      <p:cBhvr>
                                        <p:cTn id="6" dur="1" fill="hold">
                                          <p:stCondLst>
                                            <p:cond delay="0"/>
                                          </p:stCondLst>
                                        </p:cTn>
                                        <p:tgtEl>
                                          <p:spTgt spid="525315">
                                            <p:txEl>
                                              <p:pRg st="0" end="0"/>
                                            </p:txEl>
                                          </p:spTgt>
                                        </p:tgtEl>
                                        <p:attrNameLst>
                                          <p:attrName>style.visibility</p:attrName>
                                        </p:attrNameLst>
                                      </p:cBhvr>
                                      <p:to>
                                        <p:strVal val="visible"/>
                                      </p:to>
                                    </p:set>
                                    <p:animEffect transition="in" filter="strips(downLeft)">
                                      <p:cBhvr>
                                        <p:cTn id="7" dur="500"/>
                                        <p:tgtEl>
                                          <p:spTgt spid="525315">
                                            <p:txEl>
                                              <p:pRg st="0" end="0"/>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525315">
                                            <p:txEl>
                                              <p:pRg st="2" end="2"/>
                                            </p:txEl>
                                          </p:spTgt>
                                        </p:tgtEl>
                                        <p:attrNameLst>
                                          <p:attrName>style.visibility</p:attrName>
                                        </p:attrNameLst>
                                      </p:cBhvr>
                                      <p:to>
                                        <p:strVal val="visible"/>
                                      </p:to>
                                    </p:set>
                                    <p:animEffect transition="in" filter="strips(downLeft)">
                                      <p:cBhvr>
                                        <p:cTn id="10" dur="500"/>
                                        <p:tgtEl>
                                          <p:spTgt spid="525315">
                                            <p:txEl>
                                              <p:pRg st="2" end="2"/>
                                            </p:txEl>
                                          </p:spTgt>
                                        </p:tgtEl>
                                      </p:cBhvr>
                                    </p:animEffect>
                                  </p:childTnLst>
                                </p:cTn>
                              </p:par>
                              <p:par>
                                <p:cTn id="11" presetID="18" presetClass="entr" presetSubtype="12" fill="hold" nodeType="withEffect">
                                  <p:stCondLst>
                                    <p:cond delay="0"/>
                                  </p:stCondLst>
                                  <p:childTnLst>
                                    <p:set>
                                      <p:cBhvr>
                                        <p:cTn id="12" dur="1" fill="hold">
                                          <p:stCondLst>
                                            <p:cond delay="0"/>
                                          </p:stCondLst>
                                        </p:cTn>
                                        <p:tgtEl>
                                          <p:spTgt spid="525315">
                                            <p:txEl>
                                              <p:pRg st="1" end="1"/>
                                            </p:txEl>
                                          </p:spTgt>
                                        </p:tgtEl>
                                        <p:attrNameLst>
                                          <p:attrName>style.visibility</p:attrName>
                                        </p:attrNameLst>
                                      </p:cBhvr>
                                      <p:to>
                                        <p:strVal val="visible"/>
                                      </p:to>
                                    </p:set>
                                    <p:animEffect transition="in" filter="strips(downLeft)">
                                      <p:cBhvr>
                                        <p:cTn id="13" dur="500"/>
                                        <p:tgtEl>
                                          <p:spTgt spid="5253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AEB36124-6BFC-41C0-9100-D230C575CB3D}"/>
              </a:ext>
            </a:extLst>
          </p:cNvPr>
          <p:cNvSpPr>
            <a:spLocks noGrp="1" noChangeArrowheads="1"/>
          </p:cNvSpPr>
          <p:nvPr>
            <p:ph type="body" idx="1"/>
          </p:nvPr>
        </p:nvSpPr>
        <p:spPr>
          <a:xfrm>
            <a:off x="1992314" y="1231900"/>
            <a:ext cx="6696075" cy="508000"/>
          </a:xfrm>
        </p:spPr>
        <p:txBody>
          <a:bodyPr/>
          <a:lstStyle/>
          <a:p>
            <a:pPr marL="0" indent="0" eaLnBrk="1" hangingPunct="1">
              <a:lnSpc>
                <a:spcPct val="130000"/>
              </a:lnSpc>
              <a:buNone/>
            </a:pPr>
            <a:r>
              <a:rPr lang="zh-CN" altLang="en-US" b="0" dirty="0">
                <a:solidFill>
                  <a:srgbClr val="C00000"/>
                </a:solidFill>
                <a:latin typeface="Times New Roman" panose="02020603050405020304" pitchFamily="18" charset="0"/>
                <a:ea typeface="黑体" panose="02010609060101010101" pitchFamily="49" charset="-122"/>
              </a:rPr>
              <a:t>（一）酶促反应具有极高的效率 </a:t>
            </a:r>
          </a:p>
        </p:txBody>
      </p:sp>
      <p:sp>
        <p:nvSpPr>
          <p:cNvPr id="114691" name="Rectangle 3">
            <a:extLst>
              <a:ext uri="{FF2B5EF4-FFF2-40B4-BE49-F238E27FC236}">
                <a16:creationId xmlns:a16="http://schemas.microsoft.com/office/drawing/2014/main" id="{355A7B9C-DD39-45DF-9A68-4A080C7D5F90}"/>
              </a:ext>
            </a:extLst>
          </p:cNvPr>
          <p:cNvSpPr>
            <a:spLocks noChangeArrowheads="1"/>
          </p:cNvSpPr>
          <p:nvPr/>
        </p:nvSpPr>
        <p:spPr bwMode="auto">
          <a:xfrm>
            <a:off x="1962150" y="1951038"/>
            <a:ext cx="785018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4013" indent="-354013">
              <a:spcBef>
                <a:spcPct val="20000"/>
              </a:spcBef>
              <a:buChar char="•"/>
              <a:tabLst>
                <a:tab pos="95250" algn="l"/>
              </a:tabLst>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tabLst>
                <a:tab pos="95250" algn="l"/>
              </a:tabLst>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tabLst>
                <a:tab pos="95250" algn="l"/>
              </a:tabLst>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tabLst>
                <a:tab pos="95250" algn="l"/>
              </a:tabLst>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tabLst>
                <a:tab pos="95250" algn="l"/>
              </a:tabLst>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tabLst>
                <a:tab pos="95250" algn="l"/>
              </a:tabLst>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tabLst>
                <a:tab pos="95250" algn="l"/>
              </a:tabLst>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tabLst>
                <a:tab pos="95250" algn="l"/>
              </a:tabLst>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tabLst>
                <a:tab pos="95250" algn="l"/>
              </a:tabLst>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20000"/>
              </a:lnSpc>
              <a:spcBef>
                <a:spcPct val="0"/>
              </a:spcBef>
              <a:buClr>
                <a:srgbClr val="FFFF00"/>
              </a:buClr>
              <a:buSzPct val="75000"/>
              <a:buFont typeface="Wingdings" panose="05000000000000000000" pitchFamily="2" charset="2"/>
              <a:buNone/>
            </a:pP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酶的催化效率通常比非催化反应高</a:t>
            </a:r>
            <a:r>
              <a:rPr kumimoji="1" lang="en-US" altLang="zh-CN" sz="2800" dirty="0">
                <a:solidFill>
                  <a:srgbClr val="0000FF"/>
                </a:solidFill>
                <a:latin typeface="Times New Roman" panose="02020603050405020304" pitchFamily="18" charset="0"/>
                <a:ea typeface="黑体" panose="02010609060101010101" pitchFamily="49" charset="-122"/>
              </a:rPr>
              <a:t>10</a:t>
            </a:r>
            <a:r>
              <a:rPr kumimoji="1" lang="en-US" altLang="zh-CN" sz="2800" baseline="30000" dirty="0">
                <a:solidFill>
                  <a:srgbClr val="0000FF"/>
                </a:solidFill>
                <a:latin typeface="Times New Roman" panose="02020603050405020304" pitchFamily="18" charset="0"/>
                <a:ea typeface="黑体" panose="02010609060101010101" pitchFamily="49" charset="-122"/>
              </a:rPr>
              <a:t>8</a:t>
            </a:r>
            <a:r>
              <a:rPr kumimoji="1" lang="zh-CN" altLang="en-US" sz="2800" dirty="0">
                <a:solidFill>
                  <a:srgbClr val="0000FF"/>
                </a:solidFill>
                <a:latin typeface="Times New Roman" panose="02020603050405020304" pitchFamily="18" charset="0"/>
                <a:ea typeface="黑体" panose="02010609060101010101" pitchFamily="49" charset="-122"/>
              </a:rPr>
              <a:t>～</a:t>
            </a:r>
            <a:r>
              <a:rPr kumimoji="1" lang="en-US" altLang="zh-CN" sz="2800" dirty="0">
                <a:solidFill>
                  <a:srgbClr val="0000FF"/>
                </a:solidFill>
                <a:latin typeface="Times New Roman" panose="02020603050405020304" pitchFamily="18" charset="0"/>
                <a:ea typeface="黑体" panose="02010609060101010101" pitchFamily="49" charset="-122"/>
              </a:rPr>
              <a:t>10</a:t>
            </a:r>
            <a:r>
              <a:rPr kumimoji="1" lang="en-US" altLang="zh-CN" sz="2800" baseline="30000" dirty="0">
                <a:solidFill>
                  <a:srgbClr val="0000FF"/>
                </a:solidFill>
                <a:latin typeface="Times New Roman" panose="02020603050405020304" pitchFamily="18" charset="0"/>
                <a:ea typeface="黑体" panose="02010609060101010101" pitchFamily="49" charset="-122"/>
              </a:rPr>
              <a:t>20</a:t>
            </a:r>
            <a:r>
              <a:rPr kumimoji="1" lang="zh-CN" altLang="en-US" sz="2800" dirty="0">
                <a:latin typeface="Times New Roman" panose="02020603050405020304" pitchFamily="18" charset="0"/>
                <a:ea typeface="黑体" panose="02010609060101010101" pitchFamily="49" charset="-122"/>
              </a:rPr>
              <a:t>倍，比一般催化剂高</a:t>
            </a:r>
            <a:r>
              <a:rPr kumimoji="1" lang="en-US" altLang="zh-CN" sz="2800" dirty="0">
                <a:solidFill>
                  <a:srgbClr val="0000FF"/>
                </a:solidFill>
                <a:latin typeface="Times New Roman" panose="02020603050405020304" pitchFamily="18" charset="0"/>
                <a:ea typeface="黑体" panose="02010609060101010101" pitchFamily="49" charset="-122"/>
              </a:rPr>
              <a:t>10</a:t>
            </a:r>
            <a:r>
              <a:rPr kumimoji="1" lang="en-US" altLang="zh-CN" sz="2800" baseline="30000" dirty="0">
                <a:solidFill>
                  <a:srgbClr val="0000FF"/>
                </a:solidFill>
                <a:latin typeface="Times New Roman" panose="02020603050405020304" pitchFamily="18" charset="0"/>
                <a:ea typeface="黑体" panose="02010609060101010101" pitchFamily="49" charset="-122"/>
              </a:rPr>
              <a:t>7</a:t>
            </a:r>
            <a:r>
              <a:rPr kumimoji="1" lang="zh-CN" altLang="en-US" sz="2800" dirty="0">
                <a:solidFill>
                  <a:srgbClr val="0000FF"/>
                </a:solidFill>
                <a:latin typeface="Times New Roman" panose="02020603050405020304" pitchFamily="18" charset="0"/>
                <a:ea typeface="黑体" panose="02010609060101010101" pitchFamily="49" charset="-122"/>
              </a:rPr>
              <a:t>～</a:t>
            </a:r>
            <a:r>
              <a:rPr kumimoji="1" lang="en-US" altLang="zh-CN" sz="2800" dirty="0">
                <a:solidFill>
                  <a:srgbClr val="0000FF"/>
                </a:solidFill>
                <a:latin typeface="Times New Roman" panose="02020603050405020304" pitchFamily="18" charset="0"/>
                <a:ea typeface="黑体" panose="02010609060101010101" pitchFamily="49" charset="-122"/>
              </a:rPr>
              <a:t>10</a:t>
            </a:r>
            <a:r>
              <a:rPr kumimoji="1" lang="en-US" altLang="zh-CN" sz="2800" baseline="30000" dirty="0">
                <a:solidFill>
                  <a:srgbClr val="0000FF"/>
                </a:solidFill>
                <a:latin typeface="Times New Roman" panose="02020603050405020304" pitchFamily="18" charset="0"/>
                <a:ea typeface="黑体" panose="02010609060101010101" pitchFamily="49" charset="-122"/>
              </a:rPr>
              <a:t>13</a:t>
            </a:r>
            <a:r>
              <a:rPr kumimoji="1" lang="zh-CN" altLang="en-US" sz="2800" dirty="0">
                <a:latin typeface="Times New Roman" panose="02020603050405020304" pitchFamily="18" charset="0"/>
                <a:ea typeface="黑体" panose="02010609060101010101" pitchFamily="49" charset="-122"/>
              </a:rPr>
              <a:t>倍。</a:t>
            </a:r>
          </a:p>
        </p:txBody>
      </p:sp>
      <p:sp>
        <p:nvSpPr>
          <p:cNvPr id="114692" name="AutoShape 4">
            <a:extLst>
              <a:ext uri="{FF2B5EF4-FFF2-40B4-BE49-F238E27FC236}">
                <a16:creationId xmlns:a16="http://schemas.microsoft.com/office/drawing/2014/main" id="{D0AE1842-E088-4568-A0BC-1F972911ACD6}"/>
              </a:ext>
            </a:extLst>
          </p:cNvPr>
          <p:cNvSpPr>
            <a:spLocks noChangeArrowheads="1"/>
          </p:cNvSpPr>
          <p:nvPr/>
        </p:nvSpPr>
        <p:spPr bwMode="auto">
          <a:xfrm>
            <a:off x="3935636" y="440846"/>
            <a:ext cx="4392613" cy="574675"/>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dirty="0">
                <a:solidFill>
                  <a:schemeClr val="bg1"/>
                </a:solidFill>
                <a:latin typeface="Times New Roman" panose="02020603050405020304" pitchFamily="18" charset="0"/>
                <a:ea typeface="黑体" panose="02010609060101010101" pitchFamily="49" charset="-122"/>
              </a:rPr>
              <a:t>一、 酶促反应的特点</a:t>
            </a:r>
          </a:p>
        </p:txBody>
      </p:sp>
      <p:pic>
        <p:nvPicPr>
          <p:cNvPr id="114693" name="图片 2">
            <a:extLst>
              <a:ext uri="{FF2B5EF4-FFF2-40B4-BE49-F238E27FC236}">
                <a16:creationId xmlns:a16="http://schemas.microsoft.com/office/drawing/2014/main" id="{9E7CDCAC-4E5E-4475-A06E-04844DA4F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9771" b="4285"/>
          <a:stretch>
            <a:fillRect/>
          </a:stretch>
        </p:blipFill>
        <p:spPr bwMode="auto">
          <a:xfrm>
            <a:off x="2446339" y="3640138"/>
            <a:ext cx="6962775" cy="292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4" name="文本框 3">
            <a:extLst>
              <a:ext uri="{FF2B5EF4-FFF2-40B4-BE49-F238E27FC236}">
                <a16:creationId xmlns:a16="http://schemas.microsoft.com/office/drawing/2014/main" id="{5E38BD69-F5A7-42A8-ABD9-69BD640D5C6F}"/>
              </a:ext>
            </a:extLst>
          </p:cNvPr>
          <p:cNvSpPr txBox="1">
            <a:spLocks noChangeArrowheads="1"/>
          </p:cNvSpPr>
          <p:nvPr/>
        </p:nvSpPr>
        <p:spPr bwMode="auto">
          <a:xfrm>
            <a:off x="1992313" y="3217863"/>
            <a:ext cx="8064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a:spcBef>
                <a:spcPct val="0"/>
              </a:spcBef>
              <a:buFontTx/>
              <a:buNone/>
            </a:pPr>
            <a:r>
              <a:rPr lang="en-US" altLang="zh-CN" sz="2400" b="1">
                <a:latin typeface="Arial Unicode MS" pitchFamily="34" charset="-122"/>
                <a:cs typeface="Arial" panose="020B0604020202020204" pitchFamily="34" charset="0"/>
              </a:rPr>
              <a:t>Some Rate Enhancements Produced by Enzymes</a:t>
            </a:r>
            <a:endParaRPr lang="zh-CN" altLang="en-US" sz="2400" b="1">
              <a:latin typeface="Arial Unicode MS" pitchFamily="34" charset="-122"/>
              <a:cs typeface="Arial" panose="020B0604020202020204" pitchFamily="34" charset="0"/>
            </a:endParaRPr>
          </a:p>
        </p:txBody>
      </p:sp>
      <p:sp>
        <p:nvSpPr>
          <p:cNvPr id="114695" name="文本框 4">
            <a:extLst>
              <a:ext uri="{FF2B5EF4-FFF2-40B4-BE49-F238E27FC236}">
                <a16:creationId xmlns:a16="http://schemas.microsoft.com/office/drawing/2014/main" id="{785FE52D-A54E-4D9F-AE34-98A8A42D7F55}"/>
              </a:ext>
            </a:extLst>
          </p:cNvPr>
          <p:cNvSpPr txBox="1">
            <a:spLocks noChangeArrowheads="1"/>
          </p:cNvSpPr>
          <p:nvPr/>
        </p:nvSpPr>
        <p:spPr bwMode="auto">
          <a:xfrm>
            <a:off x="5808664" y="3644900"/>
            <a:ext cx="1366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a:latin typeface="黑体" panose="02010609060101010101" pitchFamily="49" charset="-122"/>
                <a:ea typeface="黑体" panose="02010609060101010101" pitchFamily="49" charset="-122"/>
              </a:rPr>
              <a:t>碳酸酐酶</a:t>
            </a:r>
          </a:p>
        </p:txBody>
      </p:sp>
      <p:sp>
        <p:nvSpPr>
          <p:cNvPr id="114696" name="文本框 13">
            <a:extLst>
              <a:ext uri="{FF2B5EF4-FFF2-40B4-BE49-F238E27FC236}">
                <a16:creationId xmlns:a16="http://schemas.microsoft.com/office/drawing/2014/main" id="{1FC72896-6D67-4F58-AC0C-A2647C4DB8C6}"/>
              </a:ext>
            </a:extLst>
          </p:cNvPr>
          <p:cNvSpPr txBox="1">
            <a:spLocks noChangeArrowheads="1"/>
          </p:cNvSpPr>
          <p:nvPr/>
        </p:nvSpPr>
        <p:spPr bwMode="auto">
          <a:xfrm>
            <a:off x="6311901" y="4108450"/>
            <a:ext cx="2232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a:latin typeface="黑体" panose="02010609060101010101" pitchFamily="49" charset="-122"/>
                <a:ea typeface="黑体" panose="02010609060101010101" pitchFamily="49" charset="-122"/>
              </a:rPr>
              <a:t>磷酸丙糖异构酶</a:t>
            </a:r>
          </a:p>
        </p:txBody>
      </p:sp>
      <p:sp>
        <p:nvSpPr>
          <p:cNvPr id="114697" name="文本框 14">
            <a:extLst>
              <a:ext uri="{FF2B5EF4-FFF2-40B4-BE49-F238E27FC236}">
                <a16:creationId xmlns:a16="http://schemas.microsoft.com/office/drawing/2014/main" id="{B05CE164-BB4F-4797-AD9D-42CF16A945A5}"/>
              </a:ext>
            </a:extLst>
          </p:cNvPr>
          <p:cNvSpPr txBox="1">
            <a:spLocks noChangeArrowheads="1"/>
          </p:cNvSpPr>
          <p:nvPr/>
        </p:nvSpPr>
        <p:spPr bwMode="auto">
          <a:xfrm>
            <a:off x="4295776" y="5805488"/>
            <a:ext cx="1368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a:latin typeface="黑体" panose="02010609060101010101" pitchFamily="49" charset="-122"/>
                <a:ea typeface="黑体" panose="02010609060101010101" pitchFamily="49" charset="-122"/>
              </a:rPr>
              <a:t>脲酶</a:t>
            </a:r>
          </a:p>
        </p:txBody>
      </p:sp>
    </p:spTree>
  </p:cSld>
  <p:clrMapOvr>
    <a:masterClrMapping/>
  </p:clrMapOvr>
  <p:transition spd="slow">
    <p:circle/>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04CDA2D-9EC8-BC1D-BFC5-ADB8A31334D6}"/>
              </a:ext>
            </a:extLst>
          </p:cNvPr>
          <p:cNvSpPr txBox="1"/>
          <p:nvPr/>
        </p:nvSpPr>
        <p:spPr>
          <a:xfrm>
            <a:off x="875420" y="738616"/>
            <a:ext cx="10441160" cy="5380768"/>
          </a:xfrm>
          <a:prstGeom prst="rect">
            <a:avLst/>
          </a:prstGeom>
          <a:noFill/>
        </p:spPr>
        <p:txBody>
          <a:bodyPr wrap="square">
            <a:spAutoFit/>
          </a:bodyPr>
          <a:lstStyle/>
          <a:p>
            <a:pPr marL="457200" indent="-457200">
              <a:lnSpc>
                <a:spcPct val="130000"/>
              </a:lnSpc>
              <a:spcBef>
                <a:spcPts val="1200"/>
              </a:spcBef>
              <a:buFont typeface="Wingdings" panose="05000000000000000000" pitchFamily="2" charset="2"/>
              <a:buChar char="Ø"/>
            </a:pPr>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由于酶的催化效率极高，只要服用少量能干扰一种重要酶作用的物质（</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毒物</a:t>
            </a:r>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），就可能致命。</a:t>
            </a:r>
            <a:endParaRPr lang="en-US" altLang="zh-CN" sz="2800" dirty="0">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30000"/>
              </a:lnSpc>
              <a:spcBef>
                <a:spcPts val="12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比如，将</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重金属</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以</a:t>
            </a:r>
            <a:r>
              <a:rPr lang="zh-CN" altLang="en-US" sz="240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氯化汞</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或</a:t>
            </a:r>
            <a:r>
              <a:rPr lang="zh-CN" altLang="en-US" sz="240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硝酸钡</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等形式给人服用后，它们会与许多酶活性所必不可少的</a:t>
            </a:r>
            <a:r>
              <a:rPr lang="zh-CN" altLang="en-US" sz="240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巯基</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发生反应，酶失活而中毒。</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nSpc>
                <a:spcPct val="130000"/>
              </a:lnSpc>
              <a:spcBef>
                <a:spcPts val="1200"/>
              </a:spcBef>
              <a:buFont typeface="Wingdings" panose="05000000000000000000" pitchFamily="2" charset="2"/>
              <a:buChar char="Ø"/>
            </a:pPr>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像氰化钾或氰化氢一类的化合物，用它们的</a:t>
            </a:r>
            <a:r>
              <a:rPr lang="zh-CN" altLang="en-US" sz="280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氰基</a:t>
            </a:r>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与某些重要酶的</a:t>
            </a:r>
            <a:r>
              <a:rPr lang="zh-CN" altLang="en-US" sz="280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铁原子结合</a:t>
            </a:r>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，很快就能使动物死亡。 　　</a:t>
            </a:r>
          </a:p>
          <a:p>
            <a:pPr marL="457200" indent="-457200">
              <a:lnSpc>
                <a:spcPct val="130000"/>
              </a:lnSpc>
              <a:spcBef>
                <a:spcPts val="1200"/>
              </a:spcBef>
              <a:buFont typeface="Wingdings" panose="05000000000000000000" pitchFamily="2" charset="2"/>
              <a:buChar char="Ø"/>
            </a:pPr>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常见毒物中，一氧化碳是个例外。</a:t>
            </a:r>
            <a:r>
              <a:rPr lang="zh-CN" altLang="en-US" sz="280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一氧化碳基本上不作用于酶</a:t>
            </a:r>
            <a:r>
              <a:rPr lang="en-US" altLang="zh-CN" sz="280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而是与血红蛋白分子结合。不使用血红蛋白的动物不受一氧化碳的伤害。 </a:t>
            </a:r>
          </a:p>
        </p:txBody>
      </p:sp>
    </p:spTree>
    <p:extLst>
      <p:ext uri="{BB962C8B-B14F-4D97-AF65-F5344CB8AC3E}">
        <p14:creationId xmlns:p14="http://schemas.microsoft.com/office/powerpoint/2010/main" val="12708230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0434" name="Rectangle 2">
            <a:extLst>
              <a:ext uri="{FF2B5EF4-FFF2-40B4-BE49-F238E27FC236}">
                <a16:creationId xmlns:a16="http://schemas.microsoft.com/office/drawing/2014/main" id="{2E7458C3-0F3C-487D-B89F-BF626500DA49}"/>
              </a:ext>
            </a:extLst>
          </p:cNvPr>
          <p:cNvSpPr>
            <a:spLocks noGrp="1" noChangeArrowheads="1"/>
          </p:cNvSpPr>
          <p:nvPr>
            <p:ph type="title"/>
          </p:nvPr>
        </p:nvSpPr>
        <p:spPr>
          <a:xfrm>
            <a:off x="1487488" y="1714356"/>
            <a:ext cx="9793088" cy="1047328"/>
          </a:xfrm>
        </p:spPr>
        <p:txBody>
          <a:bodyPr/>
          <a:lstStyle/>
          <a:p>
            <a:pPr algn="just" eaLnBrk="1" hangingPunct="1">
              <a:lnSpc>
                <a:spcPct val="120000"/>
              </a:lnSpc>
            </a:pPr>
            <a:r>
              <a:rPr lang="zh-CN" altLang="en-US" sz="2800" b="0" dirty="0">
                <a:latin typeface="Times New Roman" panose="02020603050405020304" pitchFamily="18" charset="0"/>
                <a:ea typeface="黑体" panose="02010609060101010101" pitchFamily="49" charset="-122"/>
              </a:rPr>
              <a:t>一种酶只能作用于</a:t>
            </a:r>
            <a:r>
              <a:rPr lang="zh-CN" altLang="en-US" sz="2800" b="0" u="sng" dirty="0">
                <a:solidFill>
                  <a:srgbClr val="0000CC"/>
                </a:solidFill>
                <a:latin typeface="Times New Roman" panose="02020603050405020304" pitchFamily="18" charset="0"/>
                <a:ea typeface="黑体" panose="02010609060101010101" pitchFamily="49" charset="-122"/>
              </a:rPr>
              <a:t>一种</a:t>
            </a:r>
            <a:r>
              <a:rPr lang="zh-CN" altLang="en-US" sz="2800" b="0" dirty="0">
                <a:solidFill>
                  <a:srgbClr val="0000CC"/>
                </a:solidFill>
                <a:latin typeface="Times New Roman" panose="02020603050405020304" pitchFamily="18" charset="0"/>
                <a:ea typeface="黑体" panose="02010609060101010101" pitchFamily="49" charset="-122"/>
              </a:rPr>
              <a:t>或</a:t>
            </a:r>
            <a:r>
              <a:rPr lang="zh-CN" altLang="en-US" sz="2800" b="0" u="sng" dirty="0">
                <a:solidFill>
                  <a:srgbClr val="0000CC"/>
                </a:solidFill>
                <a:latin typeface="Times New Roman" panose="02020603050405020304" pitchFamily="18" charset="0"/>
                <a:ea typeface="黑体" panose="02010609060101010101" pitchFamily="49" charset="-122"/>
              </a:rPr>
              <a:t>一类</a:t>
            </a:r>
            <a:r>
              <a:rPr lang="zh-CN" altLang="en-US" sz="2800" b="0" dirty="0">
                <a:solidFill>
                  <a:srgbClr val="0000CC"/>
                </a:solidFill>
                <a:latin typeface="Times New Roman" panose="02020603050405020304" pitchFamily="18" charset="0"/>
                <a:ea typeface="黑体" panose="02010609060101010101" pitchFamily="49" charset="-122"/>
              </a:rPr>
              <a:t>化合物</a:t>
            </a:r>
            <a:r>
              <a:rPr lang="zh-CN" altLang="en-US" sz="2800" b="0" dirty="0">
                <a:latin typeface="Times New Roman" panose="02020603050405020304" pitchFamily="18" charset="0"/>
                <a:ea typeface="黑体" panose="02010609060101010101" pitchFamily="49" charset="-122"/>
              </a:rPr>
              <a:t>，或</a:t>
            </a:r>
            <a:r>
              <a:rPr lang="zh-CN" altLang="en-US" sz="2800" b="0" u="sng" dirty="0">
                <a:solidFill>
                  <a:srgbClr val="0000FF"/>
                </a:solidFill>
                <a:latin typeface="Times New Roman" panose="02020603050405020304" pitchFamily="18" charset="0"/>
                <a:ea typeface="黑体" panose="02010609060101010101" pitchFamily="49" charset="-122"/>
              </a:rPr>
              <a:t>一定的化学键</a:t>
            </a:r>
            <a:r>
              <a:rPr lang="zh-CN" altLang="en-US" sz="2800" b="0" dirty="0">
                <a:latin typeface="Times New Roman" panose="02020603050405020304" pitchFamily="18" charset="0"/>
                <a:ea typeface="黑体" panose="02010609060101010101" pitchFamily="49" charset="-122"/>
              </a:rPr>
              <a:t>，催化一定的化学反应并生成一定的产物，也称为酶的</a:t>
            </a:r>
            <a:r>
              <a:rPr lang="zh-CN" altLang="en-US" sz="2800" b="0" dirty="0">
                <a:solidFill>
                  <a:srgbClr val="C00000"/>
                </a:solidFill>
                <a:latin typeface="Times New Roman" panose="02020603050405020304" pitchFamily="18" charset="0"/>
                <a:ea typeface="黑体" panose="02010609060101010101" pitchFamily="49" charset="-122"/>
              </a:rPr>
              <a:t>专一性</a:t>
            </a:r>
            <a:r>
              <a:rPr lang="zh-CN" altLang="en-US" sz="2800" b="0" dirty="0">
                <a:latin typeface="Times New Roman" panose="02020603050405020304" pitchFamily="18" charset="0"/>
                <a:ea typeface="黑体" panose="02010609060101010101" pitchFamily="49" charset="-122"/>
              </a:rPr>
              <a:t>。</a:t>
            </a:r>
          </a:p>
        </p:txBody>
      </p:sp>
      <p:sp>
        <p:nvSpPr>
          <p:cNvPr id="116739" name="AutoShape 3">
            <a:extLst>
              <a:ext uri="{FF2B5EF4-FFF2-40B4-BE49-F238E27FC236}">
                <a16:creationId xmlns:a16="http://schemas.microsoft.com/office/drawing/2014/main" id="{DCBFC1BB-1B03-4AC0-A06B-B73B41862A09}"/>
              </a:ext>
            </a:extLst>
          </p:cNvPr>
          <p:cNvSpPr>
            <a:spLocks/>
          </p:cNvSpPr>
          <p:nvPr/>
        </p:nvSpPr>
        <p:spPr bwMode="auto">
          <a:xfrm>
            <a:off x="4343400" y="4966291"/>
            <a:ext cx="76200" cy="76200"/>
          </a:xfrm>
          <a:prstGeom prst="leftBrace">
            <a:avLst>
              <a:gd name="adj1" fmla="val 8333"/>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116740" name="AutoShape 4">
            <a:extLst>
              <a:ext uri="{FF2B5EF4-FFF2-40B4-BE49-F238E27FC236}">
                <a16:creationId xmlns:a16="http://schemas.microsoft.com/office/drawing/2014/main" id="{7BC33753-D66D-41D5-B577-5E7E98BDA867}"/>
              </a:ext>
            </a:extLst>
          </p:cNvPr>
          <p:cNvSpPr>
            <a:spLocks/>
          </p:cNvSpPr>
          <p:nvPr/>
        </p:nvSpPr>
        <p:spPr bwMode="auto">
          <a:xfrm>
            <a:off x="4419600" y="4813891"/>
            <a:ext cx="76200" cy="990600"/>
          </a:xfrm>
          <a:prstGeom prst="leftBrace">
            <a:avLst>
              <a:gd name="adj1" fmla="val 108333"/>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116741" name="AutoShape 5">
            <a:extLst>
              <a:ext uri="{FF2B5EF4-FFF2-40B4-BE49-F238E27FC236}">
                <a16:creationId xmlns:a16="http://schemas.microsoft.com/office/drawing/2014/main" id="{399AE6D0-18AC-465E-86D0-62E1CAE8F471}"/>
              </a:ext>
            </a:extLst>
          </p:cNvPr>
          <p:cNvSpPr>
            <a:spLocks/>
          </p:cNvSpPr>
          <p:nvPr/>
        </p:nvSpPr>
        <p:spPr bwMode="auto">
          <a:xfrm>
            <a:off x="4191000" y="4813891"/>
            <a:ext cx="228600" cy="1066800"/>
          </a:xfrm>
          <a:prstGeom prst="leftBrace">
            <a:avLst>
              <a:gd name="adj1" fmla="val 38889"/>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116742" name="Rectangle 7">
            <a:extLst>
              <a:ext uri="{FF2B5EF4-FFF2-40B4-BE49-F238E27FC236}">
                <a16:creationId xmlns:a16="http://schemas.microsoft.com/office/drawing/2014/main" id="{FCC4F007-AC7C-476A-B58D-20903470B647}"/>
              </a:ext>
            </a:extLst>
          </p:cNvPr>
          <p:cNvSpPr>
            <a:spLocks noChangeArrowheads="1"/>
          </p:cNvSpPr>
          <p:nvPr/>
        </p:nvSpPr>
        <p:spPr bwMode="auto">
          <a:xfrm>
            <a:off x="1758157" y="762001"/>
            <a:ext cx="8675687"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 typeface="Wingdings" panose="05000000000000000000" pitchFamily="2" charset="2"/>
              <a:buNone/>
            </a:pPr>
            <a:r>
              <a:rPr kumimoji="1" lang="zh-CN" altLang="en-US" dirty="0">
                <a:solidFill>
                  <a:srgbClr val="C00000"/>
                </a:solidFill>
                <a:latin typeface="Times New Roman" panose="02020603050405020304" pitchFamily="18" charset="0"/>
                <a:ea typeface="黑体" panose="02010609060101010101" pitchFamily="49" charset="-122"/>
              </a:rPr>
              <a:t>（二）酶对底物具有高度的特异性</a:t>
            </a:r>
            <a:r>
              <a:rPr kumimoji="1" lang="en-US" altLang="zh-CN" dirty="0">
                <a:solidFill>
                  <a:srgbClr val="C00000"/>
                </a:solidFill>
                <a:latin typeface="Times New Roman" panose="02020603050405020304" pitchFamily="18" charset="0"/>
                <a:ea typeface="黑体" panose="02010609060101010101" pitchFamily="49" charset="-122"/>
              </a:rPr>
              <a:t>(specificity)</a:t>
            </a:r>
          </a:p>
          <a:p>
            <a:pPr eaLnBrk="1" hangingPunct="1">
              <a:lnSpc>
                <a:spcPct val="130000"/>
              </a:lnSpc>
              <a:spcBef>
                <a:spcPct val="0"/>
              </a:spcBef>
              <a:buFont typeface="Wingdings" panose="05000000000000000000" pitchFamily="2" charset="2"/>
              <a:buNone/>
            </a:pPr>
            <a:endParaRPr kumimoji="1" lang="zh-CN" altLang="en-US" dirty="0">
              <a:solidFill>
                <a:srgbClr val="C00000"/>
              </a:solidFill>
              <a:latin typeface="Times New Roman" panose="02020603050405020304" pitchFamily="18" charset="0"/>
              <a:ea typeface="黑体" panose="02010609060101010101" pitchFamily="49" charset="-122"/>
            </a:endParaRPr>
          </a:p>
        </p:txBody>
      </p:sp>
      <p:sp>
        <p:nvSpPr>
          <p:cNvPr id="3" name="矩形 2">
            <a:extLst>
              <a:ext uri="{FF2B5EF4-FFF2-40B4-BE49-F238E27FC236}">
                <a16:creationId xmlns:a16="http://schemas.microsoft.com/office/drawing/2014/main" id="{BA50956A-2A31-4B5D-82B8-2A35CCF40FAD}"/>
              </a:ext>
            </a:extLst>
          </p:cNvPr>
          <p:cNvSpPr/>
          <p:nvPr/>
        </p:nvSpPr>
        <p:spPr>
          <a:xfrm>
            <a:off x="2132806" y="3068960"/>
            <a:ext cx="8007350" cy="523875"/>
          </a:xfrm>
          <a:prstGeom prst="rect">
            <a:avLst/>
          </a:prstGeom>
        </p:spPr>
        <p:txBody>
          <a:bodyPr wrap="none">
            <a:spAutoFit/>
          </a:bodyPr>
          <a:lstStyle/>
          <a:p>
            <a:pPr indent="457200" algn="ctr" eaLnBrk="1" hangingPunct="1">
              <a:defRPr/>
            </a:pPr>
            <a:r>
              <a:rPr lang="zh-CN" altLang="en-US" sz="2800" dirty="0">
                <a:solidFill>
                  <a:srgbClr val="000000"/>
                </a:solidFill>
                <a:latin typeface="黑体" panose="02010609060101010101" pitchFamily="49" charset="-122"/>
                <a:ea typeface="黑体" panose="02010609060101010101" pitchFamily="49" charset="-122"/>
              </a:rPr>
              <a:t>通过基于</a:t>
            </a:r>
            <a:r>
              <a:rPr lang="zh-CN" altLang="en-US" sz="2800" dirty="0">
                <a:solidFill>
                  <a:srgbClr val="0000CC"/>
                </a:solidFill>
                <a:latin typeface="黑体" panose="02010609060101010101" pitchFamily="49" charset="-122"/>
                <a:ea typeface="黑体" panose="02010609060101010101" pitchFamily="49" charset="-122"/>
              </a:rPr>
              <a:t>结构互补的分子识别</a:t>
            </a:r>
            <a:r>
              <a:rPr lang="zh-CN" altLang="en-US" sz="2800" dirty="0">
                <a:solidFill>
                  <a:srgbClr val="000000"/>
                </a:solidFill>
                <a:latin typeface="黑体" panose="02010609060101010101" pitchFamily="49" charset="-122"/>
                <a:ea typeface="黑体" panose="02010609060101010101" pitchFamily="49" charset="-122"/>
              </a:rPr>
              <a:t>来实现专一性。 </a:t>
            </a:r>
            <a:endParaRPr lang="zh-CN" altLang="en-US" sz="2800" dirty="0">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2" name="Rectangle 3">
            <a:extLst>
              <a:ext uri="{FF2B5EF4-FFF2-40B4-BE49-F238E27FC236}">
                <a16:creationId xmlns:a16="http://schemas.microsoft.com/office/drawing/2014/main" id="{2979DFB3-297D-8649-C626-C1E7EEDF243F}"/>
              </a:ext>
            </a:extLst>
          </p:cNvPr>
          <p:cNvSpPr txBox="1">
            <a:spLocks noChangeArrowheads="1"/>
          </p:cNvSpPr>
          <p:nvPr/>
        </p:nvSpPr>
        <p:spPr bwMode="auto">
          <a:xfrm>
            <a:off x="2999657" y="3892829"/>
            <a:ext cx="5832475" cy="1367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54013" indent="-354013" eaLnBrk="1" hangingPunct="1">
              <a:lnSpc>
                <a:spcPct val="140000"/>
              </a:lnSpc>
            </a:pPr>
            <a:r>
              <a:rPr lang="zh-CN" altLang="en-US" sz="2800" b="0" kern="0" dirty="0">
                <a:solidFill>
                  <a:srgbClr val="0000FF"/>
                </a:solidFill>
                <a:latin typeface="Times New Roman" panose="02020603050405020304" pitchFamily="18" charset="0"/>
                <a:ea typeface="黑体" panose="02010609060101010101" pitchFamily="49" charset="-122"/>
              </a:rPr>
              <a:t>绝对特异性</a:t>
            </a:r>
            <a:r>
              <a:rPr lang="en-US" altLang="zh-CN" sz="2800" b="0" kern="0" dirty="0">
                <a:latin typeface="Times New Roman" panose="02020603050405020304" pitchFamily="18" charset="0"/>
                <a:ea typeface="黑体" panose="02010609060101010101" pitchFamily="49" charset="-122"/>
              </a:rPr>
              <a:t>(absolute specificity)</a:t>
            </a:r>
            <a:r>
              <a:rPr lang="en-US" altLang="zh-CN" sz="2800" b="0" kern="0" dirty="0">
                <a:solidFill>
                  <a:srgbClr val="FFFF00"/>
                </a:solidFill>
                <a:latin typeface="Times New Roman" panose="02020603050405020304" pitchFamily="18" charset="0"/>
                <a:ea typeface="黑体" panose="02010609060101010101" pitchFamily="49" charset="-122"/>
              </a:rPr>
              <a:t> </a:t>
            </a:r>
          </a:p>
          <a:p>
            <a:pPr marL="354013" indent="-354013" eaLnBrk="1" hangingPunct="1">
              <a:lnSpc>
                <a:spcPct val="140000"/>
              </a:lnSpc>
            </a:pPr>
            <a:r>
              <a:rPr lang="zh-CN" altLang="en-US" sz="2800" b="0" kern="0" dirty="0">
                <a:solidFill>
                  <a:srgbClr val="0000FF"/>
                </a:solidFill>
                <a:latin typeface="Times New Roman" panose="02020603050405020304" pitchFamily="18" charset="0"/>
                <a:ea typeface="黑体" panose="02010609060101010101" pitchFamily="49" charset="-122"/>
              </a:rPr>
              <a:t>相对特异性</a:t>
            </a:r>
            <a:r>
              <a:rPr lang="en-US" altLang="zh-CN" sz="2800" b="0" kern="0" dirty="0">
                <a:latin typeface="Times New Roman" panose="02020603050405020304" pitchFamily="18" charset="0"/>
                <a:ea typeface="黑体" panose="02010609060101010101" pitchFamily="49" charset="-122"/>
              </a:rPr>
              <a:t>(relative specificity)</a:t>
            </a:r>
            <a:endParaRPr lang="en-US" altLang="zh-CN" sz="2400" b="0" kern="0" dirty="0">
              <a:latin typeface="Times New Roman" panose="02020603050405020304" pitchFamily="18" charset="0"/>
              <a:ea typeface="黑体" panose="02010609060101010101" pitchFamily="49" charset="-122"/>
            </a:endParaRPr>
          </a:p>
        </p:txBody>
      </p:sp>
      <p:sp>
        <p:nvSpPr>
          <p:cNvPr id="4" name="文本框 1">
            <a:extLst>
              <a:ext uri="{FF2B5EF4-FFF2-40B4-BE49-F238E27FC236}">
                <a16:creationId xmlns:a16="http://schemas.microsoft.com/office/drawing/2014/main" id="{E8BC7B0F-4F44-A852-B34D-25BEA440FEA3}"/>
              </a:ext>
            </a:extLst>
          </p:cNvPr>
          <p:cNvSpPr txBox="1">
            <a:spLocks noChangeArrowheads="1"/>
          </p:cNvSpPr>
          <p:nvPr/>
        </p:nvSpPr>
        <p:spPr bwMode="auto">
          <a:xfrm>
            <a:off x="3179762" y="5657796"/>
            <a:ext cx="5832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800" dirty="0">
                <a:latin typeface="黑体" panose="02010609060101010101" pitchFamily="49" charset="-122"/>
                <a:ea typeface="黑体" panose="02010609060101010101" pitchFamily="49" charset="-122"/>
              </a:rPr>
              <a:t>绝大多数酶具有相对特异性</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67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p:bldP spid="2"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87A67F1A-82E3-45B4-81DE-5F1DE487DC4E}"/>
              </a:ext>
            </a:extLst>
          </p:cNvPr>
          <p:cNvSpPr>
            <a:spLocks noGrp="1" noChangeArrowheads="1"/>
          </p:cNvSpPr>
          <p:nvPr>
            <p:ph type="title"/>
          </p:nvPr>
        </p:nvSpPr>
        <p:spPr>
          <a:xfrm>
            <a:off x="2849563" y="498476"/>
            <a:ext cx="6870700" cy="771525"/>
          </a:xfrm>
        </p:spPr>
        <p:txBody>
          <a:bodyPr/>
          <a:lstStyle/>
          <a:p>
            <a:pPr indent="185738" eaLnBrk="1" hangingPunct="1">
              <a:lnSpc>
                <a:spcPct val="120000"/>
              </a:lnSpc>
            </a:pPr>
            <a:r>
              <a:rPr lang="zh-CN" altLang="en-US" sz="3600">
                <a:solidFill>
                  <a:srgbClr val="C00000"/>
                </a:solidFill>
                <a:ea typeface="黑体" panose="02010609060101010101" pitchFamily="49" charset="-122"/>
              </a:rPr>
              <a:t>绝对特异性</a:t>
            </a:r>
          </a:p>
        </p:txBody>
      </p:sp>
      <p:sp>
        <p:nvSpPr>
          <p:cNvPr id="120835" name="Rectangle 3">
            <a:extLst>
              <a:ext uri="{FF2B5EF4-FFF2-40B4-BE49-F238E27FC236}">
                <a16:creationId xmlns:a16="http://schemas.microsoft.com/office/drawing/2014/main" id="{6E01DBDA-AD32-4D07-B10E-FA1C306316A4}"/>
              </a:ext>
            </a:extLst>
          </p:cNvPr>
          <p:cNvSpPr>
            <a:spLocks noGrp="1" noChangeArrowheads="1"/>
          </p:cNvSpPr>
          <p:nvPr>
            <p:ph type="body" sz="half" idx="1"/>
          </p:nvPr>
        </p:nvSpPr>
        <p:spPr>
          <a:xfrm>
            <a:off x="2414588" y="1484314"/>
            <a:ext cx="8217916" cy="1049337"/>
          </a:xfrm>
        </p:spPr>
        <p:txBody>
          <a:bodyPr/>
          <a:lstStyle/>
          <a:p>
            <a:pPr marL="0" indent="0" eaLnBrk="1" hangingPunct="1">
              <a:lnSpc>
                <a:spcPct val="120000"/>
              </a:lnSpc>
              <a:buNone/>
            </a:pPr>
            <a:r>
              <a:rPr lang="zh-CN" altLang="en-US" sz="2800" dirty="0">
                <a:ea typeface="黑体" panose="02010609060101010101" pitchFamily="49" charset="-122"/>
              </a:rPr>
              <a:t>　　</a:t>
            </a:r>
            <a:r>
              <a:rPr lang="zh-CN" altLang="en-US" sz="2800" dirty="0">
                <a:latin typeface="华文楷体" panose="02010600040101010101" pitchFamily="2" charset="-122"/>
                <a:ea typeface="黑体" panose="02010609060101010101" pitchFamily="49" charset="-122"/>
              </a:rPr>
              <a:t>酶只作用于一种底物，进行一种专一的反应，生成一种特定结构的产物。</a:t>
            </a:r>
          </a:p>
        </p:txBody>
      </p:sp>
      <p:graphicFrame>
        <p:nvGraphicFramePr>
          <p:cNvPr id="534532" name="Object 4">
            <a:extLst>
              <a:ext uri="{FF2B5EF4-FFF2-40B4-BE49-F238E27FC236}">
                <a16:creationId xmlns:a16="http://schemas.microsoft.com/office/drawing/2014/main" id="{AE148AA5-0C9C-4677-8F3B-004C8A1D21A7}"/>
              </a:ext>
            </a:extLst>
          </p:cNvPr>
          <p:cNvGraphicFramePr>
            <a:graphicFrameLocks noGrp="1" noChangeAspect="1"/>
          </p:cNvGraphicFramePr>
          <p:nvPr>
            <p:ph sz="half" idx="2"/>
          </p:nvPr>
        </p:nvGraphicFramePr>
        <p:xfrm>
          <a:off x="3648075" y="3141664"/>
          <a:ext cx="5761038" cy="2433637"/>
        </p:xfrm>
        <a:graphic>
          <a:graphicData uri="http://schemas.openxmlformats.org/presentationml/2006/ole">
            <mc:AlternateContent xmlns:mc="http://schemas.openxmlformats.org/markup-compatibility/2006">
              <mc:Choice xmlns:v="urn:schemas-microsoft-com:vml" Requires="v">
                <p:oleObj name="CS ChemDraw Drawing" r:id="rId3" imgW="2771140" imgH="1534160" progId="">
                  <p:embed/>
                </p:oleObj>
              </mc:Choice>
              <mc:Fallback>
                <p:oleObj name="CS ChemDraw Drawing" r:id="rId3" imgW="2771140" imgH="1534160" progId="">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8075" y="3141664"/>
                        <a:ext cx="5761038" cy="2433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34532"/>
                                        </p:tgtEl>
                                        <p:attrNameLst>
                                          <p:attrName>style.visibility</p:attrName>
                                        </p:attrNameLst>
                                      </p:cBhvr>
                                      <p:to>
                                        <p:strVal val="visible"/>
                                      </p:to>
                                    </p:set>
                                    <p:animEffect transition="in" filter="box(in)">
                                      <p:cBhvr>
                                        <p:cTn id="7" dur="2000"/>
                                        <p:tgtEl>
                                          <p:spTgt spid="534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1" name="Rectangle 3">
            <a:extLst>
              <a:ext uri="{FF2B5EF4-FFF2-40B4-BE49-F238E27FC236}">
                <a16:creationId xmlns:a16="http://schemas.microsoft.com/office/drawing/2014/main" id="{2DCF191E-0B59-4833-9194-2CA0A5BCFE25}"/>
              </a:ext>
            </a:extLst>
          </p:cNvPr>
          <p:cNvSpPr>
            <a:spLocks noGrp="1" noChangeArrowheads="1"/>
          </p:cNvSpPr>
          <p:nvPr>
            <p:ph type="body" sz="half" idx="1"/>
          </p:nvPr>
        </p:nvSpPr>
        <p:spPr>
          <a:xfrm>
            <a:off x="1631504" y="703264"/>
            <a:ext cx="9361040" cy="608012"/>
          </a:xfrm>
        </p:spPr>
        <p:txBody>
          <a:bodyPr/>
          <a:lstStyle/>
          <a:p>
            <a:pPr marL="354013" indent="-354013" eaLnBrk="1" hangingPunct="1">
              <a:lnSpc>
                <a:spcPct val="110000"/>
              </a:lnSpc>
              <a:buNone/>
            </a:pPr>
            <a:r>
              <a:rPr lang="zh-CN" altLang="en-US" sz="2800" dirty="0">
                <a:solidFill>
                  <a:srgbClr val="FF0000"/>
                </a:solidFill>
                <a:latin typeface="Times New Roman" panose="02020603050405020304" pitchFamily="18" charset="0"/>
                <a:ea typeface="黑体" panose="02010609060101010101" pitchFamily="49" charset="-122"/>
              </a:rPr>
              <a:t>立体异构特异性</a:t>
            </a:r>
            <a:r>
              <a:rPr lang="zh-CN" altLang="en-US" sz="2800" dirty="0">
                <a:solidFill>
                  <a:schemeClr val="tx1">
                    <a:lumMod val="95000"/>
                    <a:lumOff val="5000"/>
                  </a:schemeClr>
                </a:solidFill>
                <a:latin typeface="Times New Roman" panose="02020603050405020304" pitchFamily="18" charset="0"/>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酶通常仅作用于立体异构体中的一种</a:t>
            </a:r>
          </a:p>
        </p:txBody>
      </p:sp>
      <p:sp>
        <p:nvSpPr>
          <p:cNvPr id="537604" name="Rectangle 4">
            <a:extLst>
              <a:ext uri="{FF2B5EF4-FFF2-40B4-BE49-F238E27FC236}">
                <a16:creationId xmlns:a16="http://schemas.microsoft.com/office/drawing/2014/main" id="{5E493FDE-B192-4AE7-AD30-C0C0D4D04477}"/>
              </a:ext>
            </a:extLst>
          </p:cNvPr>
          <p:cNvSpPr>
            <a:spLocks noChangeArrowheads="1"/>
          </p:cNvSpPr>
          <p:nvPr/>
        </p:nvSpPr>
        <p:spPr bwMode="auto">
          <a:xfrm>
            <a:off x="2711450" y="1552426"/>
            <a:ext cx="61928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70000"/>
              </a:lnSpc>
              <a:spcBef>
                <a:spcPct val="0"/>
              </a:spcBef>
              <a:buFontTx/>
              <a:buNone/>
            </a:pPr>
            <a:r>
              <a:rPr kumimoji="1" lang="zh-CN" altLang="en-US" sz="2800" dirty="0">
                <a:latin typeface="Times New Roman" panose="02020603050405020304" pitchFamily="18" charset="0"/>
                <a:ea typeface="黑体" panose="02010609060101010101" pitchFamily="49" charset="-122"/>
              </a:rPr>
              <a:t>例： </a:t>
            </a:r>
            <a:r>
              <a:rPr kumimoji="1" lang="en-US" altLang="zh-CN" sz="2800" dirty="0">
                <a:solidFill>
                  <a:srgbClr val="0000FF"/>
                </a:solidFill>
                <a:latin typeface="Times New Roman" panose="02020603050405020304" pitchFamily="18" charset="0"/>
                <a:ea typeface="黑体" panose="02010609060101010101" pitchFamily="49" charset="-122"/>
              </a:rPr>
              <a:t>L-</a:t>
            </a:r>
            <a:r>
              <a:rPr kumimoji="1" lang="zh-CN" altLang="en-US" sz="2800" dirty="0">
                <a:solidFill>
                  <a:srgbClr val="0000FF"/>
                </a:solidFill>
                <a:latin typeface="Times New Roman" panose="02020603050405020304" pitchFamily="18" charset="0"/>
                <a:ea typeface="黑体" panose="02010609060101010101" pitchFamily="49" charset="-122"/>
              </a:rPr>
              <a:t>乳酸脱氢酶，</a:t>
            </a:r>
            <a:r>
              <a:rPr kumimoji="1" lang="zh-CN" altLang="en-US" sz="2800" dirty="0">
                <a:latin typeface="Times New Roman" panose="02020603050405020304" pitchFamily="18" charset="0"/>
                <a:ea typeface="黑体" panose="02010609060101010101" pitchFamily="49" charset="-122"/>
              </a:rPr>
              <a:t>作用于</a:t>
            </a:r>
            <a:r>
              <a:rPr kumimoji="1" lang="en-US" altLang="zh-CN" sz="2800" dirty="0">
                <a:solidFill>
                  <a:srgbClr val="0000FF"/>
                </a:solidFill>
                <a:latin typeface="Times New Roman" panose="02020603050405020304" pitchFamily="18" charset="0"/>
                <a:ea typeface="黑体" panose="02010609060101010101" pitchFamily="49" charset="-122"/>
              </a:rPr>
              <a:t>L-</a:t>
            </a:r>
            <a:r>
              <a:rPr kumimoji="1" lang="zh-CN" altLang="en-US" sz="2800" dirty="0">
                <a:solidFill>
                  <a:srgbClr val="0000FF"/>
                </a:solidFill>
                <a:latin typeface="Times New Roman" panose="02020603050405020304" pitchFamily="18" charset="0"/>
                <a:ea typeface="黑体" panose="02010609060101010101" pitchFamily="49" charset="-122"/>
              </a:rPr>
              <a:t>乳酸</a:t>
            </a:r>
          </a:p>
        </p:txBody>
      </p:sp>
      <p:pic>
        <p:nvPicPr>
          <p:cNvPr id="537605" name="Picture 5" descr="shengwuhuaxueyufenzishengwuxue059">
            <a:extLst>
              <a:ext uri="{FF2B5EF4-FFF2-40B4-BE49-F238E27FC236}">
                <a16:creationId xmlns:a16="http://schemas.microsoft.com/office/drawing/2014/main" id="{FFE979BD-4B5D-44C3-A272-20FB6C12BA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75" y="2489051"/>
            <a:ext cx="5976938"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A848FBF5-843E-8913-C59A-2C8AF156C911}"/>
              </a:ext>
            </a:extLst>
          </p:cNvPr>
          <p:cNvSpPr txBox="1"/>
          <p:nvPr/>
        </p:nvSpPr>
        <p:spPr>
          <a:xfrm>
            <a:off x="2351584" y="5517232"/>
            <a:ext cx="8076782" cy="461665"/>
          </a:xfrm>
          <a:prstGeom prst="rect">
            <a:avLst/>
          </a:prstGeom>
          <a:noFill/>
        </p:spPr>
        <p:txBody>
          <a:bodyPr wrap="square">
            <a:spAutoFit/>
          </a:bodyPr>
          <a:lstStyle/>
          <a:p>
            <a:pPr eaLnBrk="1" hangingPunct="1">
              <a:spcBef>
                <a:spcPct val="50000"/>
              </a:spcBef>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比如体内代谢氨基酸的酶通常只能作用于</a:t>
            </a: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L</a:t>
            </a: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构型的氨基酸。 </a:t>
            </a:r>
          </a:p>
        </p:txBody>
      </p:sp>
    </p:spTree>
  </p:cSld>
  <p:clrMapOvr>
    <a:masterClrMapping/>
  </p:clrMapOvr>
  <p:transition spd="slow">
    <p:circle/>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0DDDE5F-879E-7B35-3451-7D90FB8EC50C}"/>
              </a:ext>
            </a:extLst>
          </p:cNvPr>
          <p:cNvSpPr>
            <a:spLocks noGrp="1"/>
          </p:cNvSpPr>
          <p:nvPr>
            <p:ph idx="1"/>
          </p:nvPr>
        </p:nvSpPr>
        <p:spPr>
          <a:xfrm>
            <a:off x="2207568" y="836712"/>
            <a:ext cx="9505056" cy="4536504"/>
          </a:xfrm>
        </p:spPr>
        <p:txBody>
          <a:bodyPr/>
          <a:lstStyle/>
          <a:p>
            <a:pPr marL="0" indent="0">
              <a:lnSpc>
                <a:spcPct val="130000"/>
              </a:lnSpc>
              <a:spcBef>
                <a:spcPts val="0"/>
              </a:spcBef>
              <a:spcAft>
                <a:spcPts val="0"/>
              </a:spcAft>
              <a:buNone/>
            </a:pPr>
            <a:r>
              <a:rPr lang="en-US" altLang="zh-CN" sz="2800" b="0" dirty="0">
                <a:latin typeface="微软雅黑" panose="020B0503020204020204" pitchFamily="34" charset="-122"/>
                <a:ea typeface="微软雅黑" panose="020B0503020204020204" pitchFamily="34" charset="-122"/>
              </a:rPr>
              <a:t>2019</a:t>
            </a:r>
            <a:r>
              <a:rPr lang="zh-CN" altLang="zh-CN" sz="2800" b="0" dirty="0">
                <a:latin typeface="微软雅黑" panose="020B0503020204020204" pitchFamily="34" charset="-122"/>
                <a:ea typeface="微软雅黑" panose="020B0503020204020204" pitchFamily="34" charset="-122"/>
              </a:rPr>
              <a:t>年西医综合：</a:t>
            </a:r>
          </a:p>
          <a:p>
            <a:pPr marL="0" indent="0">
              <a:lnSpc>
                <a:spcPct val="130000"/>
              </a:lnSpc>
              <a:spcBef>
                <a:spcPts val="0"/>
              </a:spcBef>
              <a:spcAft>
                <a:spcPts val="0"/>
              </a:spcAft>
              <a:buNone/>
            </a:pPr>
            <a:r>
              <a:rPr lang="zh-CN" altLang="zh-CN" sz="2800" dirty="0">
                <a:latin typeface="微软雅黑" panose="020B0503020204020204" pitchFamily="34" charset="-122"/>
                <a:ea typeface="微软雅黑" panose="020B0503020204020204" pitchFamily="34" charset="-122"/>
              </a:rPr>
              <a:t>酶通过选择特异结构的底物进行催化，但不包括的底物是：</a:t>
            </a:r>
            <a:r>
              <a:rPr lang="en-US" altLang="zh-CN" sz="2800" dirty="0">
                <a:latin typeface="微软雅黑" panose="020B0503020204020204" pitchFamily="34" charset="-122"/>
                <a:ea typeface="微软雅黑" panose="020B0503020204020204" pitchFamily="34" charset="-122"/>
              </a:rPr>
              <a:t>  </a:t>
            </a:r>
            <a:endParaRPr lang="zh-CN" altLang="zh-CN" sz="2800" dirty="0">
              <a:latin typeface="微软雅黑" panose="020B0503020204020204" pitchFamily="34" charset="-122"/>
              <a:ea typeface="微软雅黑" panose="020B0503020204020204" pitchFamily="34" charset="-122"/>
            </a:endParaRPr>
          </a:p>
          <a:p>
            <a:pPr fontAlgn="ctr">
              <a:lnSpc>
                <a:spcPct val="130000"/>
              </a:lnSpc>
              <a:spcBef>
                <a:spcPts val="0"/>
              </a:spcBef>
              <a:spcAft>
                <a:spcPts val="0"/>
              </a:spcAft>
              <a:buFont typeface="+mj-lt"/>
              <a:buAutoNum type="alphaUcPeriod"/>
            </a:pPr>
            <a:r>
              <a:rPr lang="zh-CN" altLang="zh-CN" sz="2800" b="0" dirty="0">
                <a:latin typeface="微软雅黑" panose="020B0503020204020204" pitchFamily="34" charset="-122"/>
                <a:ea typeface="微软雅黑" panose="020B0503020204020204" pitchFamily="34" charset="-122"/>
              </a:rPr>
              <a:t>同类底物</a:t>
            </a:r>
            <a:r>
              <a:rPr lang="en-US" altLang="zh-CN" sz="2800" b="0" dirty="0">
                <a:latin typeface="微软雅黑" panose="020B0503020204020204" pitchFamily="34" charset="-122"/>
                <a:ea typeface="微软雅黑" panose="020B0503020204020204" pitchFamily="34" charset="-122"/>
              </a:rPr>
              <a:t>   </a:t>
            </a:r>
          </a:p>
          <a:p>
            <a:pPr fontAlgn="ctr">
              <a:lnSpc>
                <a:spcPct val="130000"/>
              </a:lnSpc>
              <a:spcBef>
                <a:spcPts val="0"/>
              </a:spcBef>
              <a:spcAft>
                <a:spcPts val="0"/>
              </a:spcAft>
              <a:buFont typeface="+mj-lt"/>
              <a:buAutoNum type="alphaUcPeriod"/>
            </a:pPr>
            <a:r>
              <a:rPr lang="zh-CN" altLang="zh-CN" sz="2800" b="0" dirty="0">
                <a:latin typeface="微软雅黑" panose="020B0503020204020204" pitchFamily="34" charset="-122"/>
                <a:ea typeface="微软雅黑" panose="020B0503020204020204" pitchFamily="34" charset="-122"/>
              </a:rPr>
              <a:t>立体异构体的底物</a:t>
            </a:r>
            <a:r>
              <a:rPr lang="en-US" altLang="zh-CN" sz="2800" b="0" dirty="0">
                <a:latin typeface="微软雅黑" panose="020B0503020204020204" pitchFamily="34" charset="-122"/>
                <a:ea typeface="微软雅黑" panose="020B0503020204020204" pitchFamily="34" charset="-122"/>
              </a:rPr>
              <a:t>    </a:t>
            </a:r>
          </a:p>
          <a:p>
            <a:pPr fontAlgn="ctr">
              <a:lnSpc>
                <a:spcPct val="130000"/>
              </a:lnSpc>
              <a:spcBef>
                <a:spcPts val="0"/>
              </a:spcBef>
              <a:spcAft>
                <a:spcPts val="0"/>
              </a:spcAft>
              <a:buFont typeface="+mj-lt"/>
              <a:buAutoNum type="alphaUcPeriod"/>
            </a:pPr>
            <a:r>
              <a:rPr lang="zh-CN" altLang="zh-CN" sz="2800" b="0" dirty="0">
                <a:latin typeface="微软雅黑" panose="020B0503020204020204" pitchFamily="34" charset="-122"/>
                <a:ea typeface="微软雅黑" panose="020B0503020204020204" pitchFamily="34" charset="-122"/>
              </a:rPr>
              <a:t>特定底物</a:t>
            </a:r>
            <a:r>
              <a:rPr lang="en-US" altLang="zh-CN" sz="2800" b="0" dirty="0">
                <a:latin typeface="微软雅黑" panose="020B0503020204020204" pitchFamily="34" charset="-122"/>
                <a:ea typeface="微软雅黑" panose="020B0503020204020204" pitchFamily="34" charset="-122"/>
              </a:rPr>
              <a:t>      </a:t>
            </a:r>
          </a:p>
          <a:p>
            <a:pPr fontAlgn="ctr">
              <a:lnSpc>
                <a:spcPct val="130000"/>
              </a:lnSpc>
              <a:spcBef>
                <a:spcPts val="0"/>
              </a:spcBef>
              <a:spcAft>
                <a:spcPts val="0"/>
              </a:spcAft>
              <a:buFont typeface="+mj-lt"/>
              <a:buAutoNum type="alphaUcPeriod"/>
            </a:pPr>
            <a:r>
              <a:rPr lang="zh-CN" altLang="zh-CN" sz="2800" b="0" dirty="0">
                <a:latin typeface="微软雅黑" panose="020B0503020204020204" pitchFamily="34" charset="-122"/>
                <a:ea typeface="微软雅黑" panose="020B0503020204020204" pitchFamily="34" charset="-122"/>
              </a:rPr>
              <a:t>特定离子键的底物</a:t>
            </a:r>
            <a:r>
              <a:rPr lang="en-US" altLang="zh-CN" sz="2800" b="0" dirty="0">
                <a:latin typeface="微软雅黑" panose="020B0503020204020204" pitchFamily="34" charset="-122"/>
                <a:ea typeface="微软雅黑" panose="020B0503020204020204" pitchFamily="34" charset="-122"/>
              </a:rPr>
              <a:t>  </a:t>
            </a:r>
            <a:endParaRPr lang="zh-CN" altLang="zh-CN" sz="2800" b="0"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81BF3FC1-BA98-F7F0-231A-E0C5313F09B3}"/>
              </a:ext>
            </a:extLst>
          </p:cNvPr>
          <p:cNvSpPr txBox="1"/>
          <p:nvPr/>
        </p:nvSpPr>
        <p:spPr>
          <a:xfrm>
            <a:off x="7896200" y="2060849"/>
            <a:ext cx="1656184" cy="584775"/>
          </a:xfrm>
          <a:prstGeom prst="rect">
            <a:avLst/>
          </a:prstGeom>
          <a:noFill/>
        </p:spPr>
        <p:txBody>
          <a:bodyPr wrap="square" rtlCol="0">
            <a:spAutoFit/>
          </a:bodyPr>
          <a:lstStyle/>
          <a:p>
            <a:r>
              <a:rPr lang="en-US" altLang="zh-CN" sz="3200" dirty="0">
                <a:solidFill>
                  <a:srgbClr val="C00000"/>
                </a:solidFill>
                <a:latin typeface="微软雅黑" panose="020B0503020204020204" pitchFamily="34" charset="-122"/>
                <a:ea typeface="微软雅黑" panose="020B0503020204020204" pitchFamily="34" charset="-122"/>
              </a:rPr>
              <a:t>D</a:t>
            </a:r>
            <a:endParaRPr lang="zh-CN" altLang="en-US" sz="32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15206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48E26883-3E5C-44B9-B45E-8F0A97D63B89}"/>
              </a:ext>
            </a:extLst>
          </p:cNvPr>
          <p:cNvSpPr>
            <a:spLocks noGrp="1" noChangeArrowheads="1"/>
          </p:cNvSpPr>
          <p:nvPr>
            <p:ph type="title"/>
          </p:nvPr>
        </p:nvSpPr>
        <p:spPr>
          <a:xfrm>
            <a:off x="2495551" y="215901"/>
            <a:ext cx="6983413" cy="784225"/>
          </a:xfrm>
        </p:spPr>
        <p:txBody>
          <a:bodyPr/>
          <a:lstStyle/>
          <a:p>
            <a:pPr eaLnBrk="1" hangingPunct="1">
              <a:lnSpc>
                <a:spcPct val="90000"/>
              </a:lnSpc>
            </a:pPr>
            <a:r>
              <a:rPr lang="zh-CN" altLang="en-US" sz="3600">
                <a:solidFill>
                  <a:srgbClr val="C00000"/>
                </a:solidFill>
                <a:latin typeface="Times New Roman" panose="02020603050405020304" pitchFamily="18" charset="0"/>
                <a:ea typeface="黑体" panose="02010609060101010101" pitchFamily="49" charset="-122"/>
              </a:rPr>
              <a:t>相对特异性</a:t>
            </a:r>
          </a:p>
        </p:txBody>
      </p:sp>
      <p:sp>
        <p:nvSpPr>
          <p:cNvPr id="129027" name="Rectangle 3">
            <a:extLst>
              <a:ext uri="{FF2B5EF4-FFF2-40B4-BE49-F238E27FC236}">
                <a16:creationId xmlns:a16="http://schemas.microsoft.com/office/drawing/2014/main" id="{7C534B4F-E888-4CFA-AB2B-A682841BCA58}"/>
              </a:ext>
            </a:extLst>
          </p:cNvPr>
          <p:cNvSpPr>
            <a:spLocks noGrp="1" noChangeArrowheads="1"/>
          </p:cNvSpPr>
          <p:nvPr>
            <p:ph type="body" sz="half" idx="1"/>
          </p:nvPr>
        </p:nvSpPr>
        <p:spPr>
          <a:xfrm>
            <a:off x="2063552" y="1268760"/>
            <a:ext cx="8921426" cy="576064"/>
          </a:xfrm>
        </p:spPr>
        <p:txBody>
          <a:bodyPr/>
          <a:lstStyle/>
          <a:p>
            <a:pPr marL="354013" indent="-354013" eaLnBrk="1" hangingPunct="1">
              <a:lnSpc>
                <a:spcPct val="110000"/>
              </a:lnSpc>
              <a:buNone/>
            </a:pPr>
            <a:r>
              <a:rPr lang="zh-CN" altLang="en-US" sz="2800" dirty="0">
                <a:latin typeface="Times New Roman" panose="02020603050405020304" pitchFamily="18" charset="0"/>
                <a:ea typeface="黑体" panose="02010609060101010101" pitchFamily="49" charset="-122"/>
              </a:rPr>
              <a:t>　　酶只作用于一类化合物或一种化学键， 比如脂肪酶、磷酸酶、蛋白水解酶。</a:t>
            </a:r>
          </a:p>
        </p:txBody>
      </p:sp>
      <p:graphicFrame>
        <p:nvGraphicFramePr>
          <p:cNvPr id="535556" name="Object 4">
            <a:extLst>
              <a:ext uri="{FF2B5EF4-FFF2-40B4-BE49-F238E27FC236}">
                <a16:creationId xmlns:a16="http://schemas.microsoft.com/office/drawing/2014/main" id="{D46EC2D0-78B0-4161-8BAC-6660DFAB6F99}"/>
              </a:ext>
            </a:extLst>
          </p:cNvPr>
          <p:cNvGraphicFramePr>
            <a:graphicFrameLocks noGrp="1" noChangeAspect="1"/>
          </p:cNvGraphicFramePr>
          <p:nvPr>
            <p:ph sz="half" idx="2"/>
            <p:extLst>
              <p:ext uri="{D42A27DB-BD31-4B8C-83A1-F6EECF244321}">
                <p14:modId xmlns:p14="http://schemas.microsoft.com/office/powerpoint/2010/main" val="3583109410"/>
              </p:ext>
            </p:extLst>
          </p:nvPr>
        </p:nvGraphicFramePr>
        <p:xfrm>
          <a:off x="3359150" y="2415629"/>
          <a:ext cx="5576888" cy="3749675"/>
        </p:xfrm>
        <a:graphic>
          <a:graphicData uri="http://schemas.openxmlformats.org/presentationml/2006/ole">
            <mc:AlternateContent xmlns:mc="http://schemas.openxmlformats.org/markup-compatibility/2006">
              <mc:Choice xmlns:v="urn:schemas-microsoft-com:vml" Requires="v">
                <p:oleObj name="CS ChemDraw Drawing" r:id="rId3" imgW="3507740" imgH="2357120" progId="">
                  <p:embed/>
                </p:oleObj>
              </mc:Choice>
              <mc:Fallback>
                <p:oleObj name="CS ChemDraw Drawing" r:id="rId3" imgW="3507740" imgH="2357120" progId="">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9150" y="2415629"/>
                        <a:ext cx="5576888" cy="3749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35556"/>
                                        </p:tgtEl>
                                        <p:attrNameLst>
                                          <p:attrName>style.visibility</p:attrName>
                                        </p:attrNameLst>
                                      </p:cBhvr>
                                      <p:to>
                                        <p:strVal val="visible"/>
                                      </p:to>
                                    </p:set>
                                    <p:animEffect transition="in" filter="box(in)">
                                      <p:cBhvr>
                                        <p:cTn id="7" dur="2000"/>
                                        <p:tgtEl>
                                          <p:spTgt spid="535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FBA20407-5F0B-4E11-8DF2-7F948F1F64BA}"/>
              </a:ext>
            </a:extLst>
          </p:cNvPr>
          <p:cNvSpPr>
            <a:spLocks noChangeArrowheads="1"/>
          </p:cNvSpPr>
          <p:nvPr/>
        </p:nvSpPr>
        <p:spPr bwMode="auto">
          <a:xfrm>
            <a:off x="1992314" y="476673"/>
            <a:ext cx="727392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 typeface="Wingdings" panose="05000000000000000000" pitchFamily="2" charset="2"/>
              <a:buNone/>
            </a:pPr>
            <a:r>
              <a:rPr kumimoji="1" lang="zh-CN" altLang="en-US">
                <a:solidFill>
                  <a:srgbClr val="C00000"/>
                </a:solidFill>
                <a:latin typeface="华文楷体" panose="02010600040101010101" pitchFamily="2" charset="-122"/>
                <a:ea typeface="黑体" panose="02010609060101010101" pitchFamily="49" charset="-122"/>
              </a:rPr>
              <a:t>（三）酶的活性与酶量具有</a:t>
            </a:r>
            <a:r>
              <a:rPr kumimoji="1" lang="zh-CN" altLang="en-US">
                <a:solidFill>
                  <a:srgbClr val="C00000"/>
                </a:solidFill>
                <a:latin typeface="Times New Roman" panose="02020603050405020304" pitchFamily="18" charset="0"/>
                <a:ea typeface="黑体" panose="02010609060101010101" pitchFamily="49" charset="-122"/>
              </a:rPr>
              <a:t>可调节性</a:t>
            </a:r>
          </a:p>
        </p:txBody>
      </p:sp>
      <p:sp>
        <p:nvSpPr>
          <p:cNvPr id="539651" name="Rectangle 3">
            <a:extLst>
              <a:ext uri="{FF2B5EF4-FFF2-40B4-BE49-F238E27FC236}">
                <a16:creationId xmlns:a16="http://schemas.microsoft.com/office/drawing/2014/main" id="{0C40FD1B-63F4-4057-BFEB-60648D1DE609}"/>
              </a:ext>
            </a:extLst>
          </p:cNvPr>
          <p:cNvSpPr>
            <a:spLocks noChangeArrowheads="1"/>
          </p:cNvSpPr>
          <p:nvPr/>
        </p:nvSpPr>
        <p:spPr bwMode="auto">
          <a:xfrm>
            <a:off x="2890839" y="2700464"/>
            <a:ext cx="6480175" cy="1315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57188">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Clr>
                <a:srgbClr val="FF3300"/>
              </a:buClr>
              <a:buFont typeface="Wingdings" panose="05000000000000000000" pitchFamily="2" charset="2"/>
              <a:buChar char="Ø"/>
            </a:pPr>
            <a:r>
              <a:rPr kumimoji="1" lang="zh-CN" altLang="en-US" sz="2800">
                <a:latin typeface="华文楷体" panose="02010600040101010101" pitchFamily="2" charset="-122"/>
                <a:ea typeface="黑体" panose="02010609060101010101" pitchFamily="49" charset="-122"/>
              </a:rPr>
              <a:t>对酶生成与降解</a:t>
            </a:r>
            <a:r>
              <a:rPr kumimoji="1" lang="zh-CN" altLang="en-US" sz="2800">
                <a:solidFill>
                  <a:srgbClr val="0000FF"/>
                </a:solidFill>
                <a:latin typeface="华文楷体" panose="02010600040101010101" pitchFamily="2" charset="-122"/>
                <a:ea typeface="黑体" panose="02010609060101010101" pitchFamily="49" charset="-122"/>
              </a:rPr>
              <a:t>量的调节</a:t>
            </a:r>
          </a:p>
          <a:p>
            <a:pPr eaLnBrk="1" hangingPunct="1">
              <a:lnSpc>
                <a:spcPct val="150000"/>
              </a:lnSpc>
              <a:spcBef>
                <a:spcPct val="0"/>
              </a:spcBef>
              <a:buClr>
                <a:srgbClr val="FF3300"/>
              </a:buClr>
              <a:buFont typeface="Wingdings" panose="05000000000000000000" pitchFamily="2" charset="2"/>
              <a:buChar char="Ø"/>
            </a:pPr>
            <a:r>
              <a:rPr kumimoji="1" lang="zh-CN" altLang="en-US" sz="2800">
                <a:latin typeface="华文楷体" panose="02010600040101010101" pitchFamily="2" charset="-122"/>
                <a:ea typeface="黑体" panose="02010609060101010101" pitchFamily="49" charset="-122"/>
              </a:rPr>
              <a:t>酶催化效力的调节</a:t>
            </a:r>
            <a:r>
              <a:rPr kumimoji="1" lang="zh-CN" altLang="en-US" sz="2800">
                <a:solidFill>
                  <a:srgbClr val="0000FF"/>
                </a:solidFill>
                <a:latin typeface="华文楷体" panose="02010600040101010101" pitchFamily="2" charset="-122"/>
                <a:ea typeface="黑体" panose="02010609060101010101" pitchFamily="49" charset="-122"/>
              </a:rPr>
              <a:t>（活性的快速调节）</a:t>
            </a:r>
          </a:p>
        </p:txBody>
      </p:sp>
      <p:sp>
        <p:nvSpPr>
          <p:cNvPr id="131076" name="Rectangle 4">
            <a:extLst>
              <a:ext uri="{FF2B5EF4-FFF2-40B4-BE49-F238E27FC236}">
                <a16:creationId xmlns:a16="http://schemas.microsoft.com/office/drawing/2014/main" id="{190FA5B2-5B8F-4BBF-8BF6-93879A22FA52}"/>
              </a:ext>
            </a:extLst>
          </p:cNvPr>
          <p:cNvSpPr>
            <a:spLocks noChangeArrowheads="1"/>
          </p:cNvSpPr>
          <p:nvPr/>
        </p:nvSpPr>
        <p:spPr bwMode="auto">
          <a:xfrm>
            <a:off x="2279650" y="1268834"/>
            <a:ext cx="7704138"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4375">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zh-CN" altLang="en-US" sz="2800" dirty="0">
                <a:latin typeface="Times New Roman" panose="02020603050405020304" pitchFamily="18" charset="0"/>
                <a:ea typeface="黑体" panose="02010609060101010101" pitchFamily="49" charset="-122"/>
              </a:rPr>
              <a:t>酶促反应受多种因素的调控，以适应机体对不断变化的内外环境和生命活动的需要。</a:t>
            </a:r>
          </a:p>
        </p:txBody>
      </p:sp>
      <p:sp>
        <p:nvSpPr>
          <p:cNvPr id="5" name="内容占位符 2">
            <a:extLst>
              <a:ext uri="{FF2B5EF4-FFF2-40B4-BE49-F238E27FC236}">
                <a16:creationId xmlns:a16="http://schemas.microsoft.com/office/drawing/2014/main" id="{A6795EB4-AB69-456D-8FEE-291F85470BC7}"/>
              </a:ext>
            </a:extLst>
          </p:cNvPr>
          <p:cNvSpPr txBox="1">
            <a:spLocks noChangeArrowheads="1"/>
          </p:cNvSpPr>
          <p:nvPr/>
        </p:nvSpPr>
        <p:spPr>
          <a:xfrm>
            <a:off x="2639616" y="5112148"/>
            <a:ext cx="7696200" cy="79216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defRPr/>
            </a:pPr>
            <a:r>
              <a:rPr lang="zh-CN" altLang="en-US" sz="2800" kern="0" dirty="0">
                <a:latin typeface="黑体" panose="02010609060101010101" pitchFamily="49" charset="-122"/>
                <a:ea typeface="黑体" panose="02010609060101010101" pitchFamily="49" charset="-122"/>
              </a:rPr>
              <a:t>某些理化因素作用下，酶会变性而失活</a:t>
            </a:r>
          </a:p>
        </p:txBody>
      </p:sp>
      <p:sp>
        <p:nvSpPr>
          <p:cNvPr id="6" name="Rectangle 2">
            <a:extLst>
              <a:ext uri="{FF2B5EF4-FFF2-40B4-BE49-F238E27FC236}">
                <a16:creationId xmlns:a16="http://schemas.microsoft.com/office/drawing/2014/main" id="{2ED6956C-57CA-4313-A065-196419B90150}"/>
              </a:ext>
            </a:extLst>
          </p:cNvPr>
          <p:cNvSpPr>
            <a:spLocks noChangeArrowheads="1"/>
          </p:cNvSpPr>
          <p:nvPr/>
        </p:nvSpPr>
        <p:spPr bwMode="auto">
          <a:xfrm>
            <a:off x="1992314" y="4221584"/>
            <a:ext cx="72739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 typeface="Wingdings" panose="05000000000000000000" pitchFamily="2" charset="2"/>
              <a:buNone/>
            </a:pPr>
            <a:r>
              <a:rPr kumimoji="1" lang="zh-CN" altLang="en-US">
                <a:solidFill>
                  <a:srgbClr val="C00000"/>
                </a:solidFill>
                <a:latin typeface="华文楷体" panose="02010600040101010101" pitchFamily="2" charset="-122"/>
                <a:ea typeface="黑体" panose="02010609060101010101" pitchFamily="49" charset="-122"/>
              </a:rPr>
              <a:t>（四）</a:t>
            </a:r>
            <a:r>
              <a:rPr kumimoji="1" lang="zh-CN" altLang="en-US">
                <a:solidFill>
                  <a:srgbClr val="C00000"/>
                </a:solidFill>
                <a:latin typeface="Times New Roman" panose="02020603050405020304" pitchFamily="18" charset="0"/>
                <a:ea typeface="黑体" panose="02010609060101010101" pitchFamily="49" charset="-122"/>
              </a:rPr>
              <a:t>酶具有不稳定性</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39651">
                                            <p:txEl>
                                              <p:pRg st="0" end="0"/>
                                            </p:txEl>
                                          </p:spTgt>
                                        </p:tgtEl>
                                        <p:attrNameLst>
                                          <p:attrName>style.visibility</p:attrName>
                                        </p:attrNameLst>
                                      </p:cBhvr>
                                      <p:to>
                                        <p:strVal val="visible"/>
                                      </p:to>
                                    </p:set>
                                    <p:animEffect transition="in" filter="wipe(down)">
                                      <p:cBhvr>
                                        <p:cTn id="7" dur="500"/>
                                        <p:tgtEl>
                                          <p:spTgt spid="539651">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39651">
                                            <p:txEl>
                                              <p:pRg st="1" end="1"/>
                                            </p:txEl>
                                          </p:spTgt>
                                        </p:tgtEl>
                                        <p:attrNameLst>
                                          <p:attrName>style.visibility</p:attrName>
                                        </p:attrNameLst>
                                      </p:cBhvr>
                                      <p:to>
                                        <p:strVal val="visible"/>
                                      </p:to>
                                    </p:set>
                                    <p:animEffect transition="in" filter="wipe(down)">
                                      <p:cBhvr>
                                        <p:cTn id="10" dur="500"/>
                                        <p:tgtEl>
                                          <p:spTgt spid="53965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1" grpId="0" uiExpand="1" build="p" autoUpdateAnimBg="0" advAuto="0"/>
      <p:bldP spid="5" grpId="0"/>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AutoShape 3">
            <a:extLst>
              <a:ext uri="{FF2B5EF4-FFF2-40B4-BE49-F238E27FC236}">
                <a16:creationId xmlns:a16="http://schemas.microsoft.com/office/drawing/2014/main" id="{2D465374-DE6F-4AB6-A01C-C8F39376217E}"/>
              </a:ext>
            </a:extLst>
          </p:cNvPr>
          <p:cNvSpPr>
            <a:spLocks noChangeArrowheads="1"/>
          </p:cNvSpPr>
          <p:nvPr/>
        </p:nvSpPr>
        <p:spPr bwMode="auto">
          <a:xfrm>
            <a:off x="1700606" y="556251"/>
            <a:ext cx="8821737" cy="576263"/>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dirty="0">
                <a:solidFill>
                  <a:schemeClr val="bg1"/>
                </a:solidFill>
                <a:latin typeface="Times New Roman" panose="02020603050405020304" pitchFamily="18" charset="0"/>
                <a:ea typeface="黑体" panose="02010609060101010101" pitchFamily="49" charset="-122"/>
              </a:rPr>
              <a:t>二、酶通过促进底物形成过渡态而提高反应速率</a:t>
            </a:r>
          </a:p>
        </p:txBody>
      </p:sp>
      <p:sp>
        <p:nvSpPr>
          <p:cNvPr id="541700" name="Rectangle 4">
            <a:extLst>
              <a:ext uri="{FF2B5EF4-FFF2-40B4-BE49-F238E27FC236}">
                <a16:creationId xmlns:a16="http://schemas.microsoft.com/office/drawing/2014/main" id="{355FC6B2-34AA-4517-BDC0-26F75986704A}"/>
              </a:ext>
            </a:extLst>
          </p:cNvPr>
          <p:cNvSpPr>
            <a:spLocks noChangeArrowheads="1"/>
          </p:cNvSpPr>
          <p:nvPr/>
        </p:nvSpPr>
        <p:spPr bwMode="auto">
          <a:xfrm>
            <a:off x="1566475" y="1421005"/>
            <a:ext cx="908999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971550" indent="-5143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0" indent="0" eaLnBrk="1" hangingPunct="1">
              <a:spcBef>
                <a:spcPts val="0"/>
              </a:spcBef>
              <a:buClr>
                <a:schemeClr val="tx2"/>
              </a:buClr>
              <a:buSzPct val="75000"/>
              <a:buFont typeface="Comic Sans MS" panose="030F0702030302020204" pitchFamily="66" charset="0"/>
              <a:buAutoNum type="arabicPeriod"/>
            </a:pPr>
            <a:r>
              <a:rPr kumimoji="1" lang="zh-CN" altLang="en-US" sz="2600" dirty="0">
                <a:solidFill>
                  <a:srgbClr val="C00000"/>
                </a:solidFill>
                <a:latin typeface="Times New Roman" panose="02020603050405020304" pitchFamily="18" charset="0"/>
                <a:ea typeface="黑体" panose="02010609060101010101" pitchFamily="49" charset="-122"/>
              </a:rPr>
              <a:t> 酶比一般催化剂更有效地降低反应活化能（</a:t>
            </a:r>
            <a:r>
              <a:rPr kumimoji="1" lang="en-US" altLang="zh-CN" sz="2600" dirty="0">
                <a:solidFill>
                  <a:srgbClr val="C00000"/>
                </a:solidFill>
                <a:latin typeface="Times New Roman" panose="02020603050405020304" pitchFamily="18" charset="0"/>
                <a:ea typeface="黑体" panose="02010609060101010101" pitchFamily="49" charset="-122"/>
              </a:rPr>
              <a:t>activation energy)</a:t>
            </a:r>
          </a:p>
        </p:txBody>
      </p:sp>
      <p:grpSp>
        <p:nvGrpSpPr>
          <p:cNvPr id="2" name="组合 1">
            <a:extLst>
              <a:ext uri="{FF2B5EF4-FFF2-40B4-BE49-F238E27FC236}">
                <a16:creationId xmlns:a16="http://schemas.microsoft.com/office/drawing/2014/main" id="{415C749F-A685-40A2-90F6-944F0BCD2620}"/>
              </a:ext>
            </a:extLst>
          </p:cNvPr>
          <p:cNvGrpSpPr/>
          <p:nvPr/>
        </p:nvGrpSpPr>
        <p:grpSpPr>
          <a:xfrm>
            <a:off x="2974975" y="2934859"/>
            <a:ext cx="6289494" cy="3856269"/>
            <a:chOff x="1450975" y="2066377"/>
            <a:chExt cx="6289494" cy="3856269"/>
          </a:xfrm>
        </p:grpSpPr>
        <p:grpSp>
          <p:nvGrpSpPr>
            <p:cNvPr id="4" name="Group 2">
              <a:extLst>
                <a:ext uri="{FF2B5EF4-FFF2-40B4-BE49-F238E27FC236}">
                  <a16:creationId xmlns:a16="http://schemas.microsoft.com/office/drawing/2014/main" id="{B3854999-A0AE-4D03-A318-4D07B05CE4F1}"/>
                </a:ext>
              </a:extLst>
            </p:cNvPr>
            <p:cNvGrpSpPr>
              <a:grpSpLocks/>
            </p:cNvGrpSpPr>
            <p:nvPr/>
          </p:nvGrpSpPr>
          <p:grpSpPr bwMode="auto">
            <a:xfrm>
              <a:off x="1450975" y="2194893"/>
              <a:ext cx="6289494" cy="3727753"/>
              <a:chOff x="567" y="845"/>
              <a:chExt cx="4750" cy="2697"/>
            </a:xfrm>
          </p:grpSpPr>
          <p:pic>
            <p:nvPicPr>
              <p:cNvPr id="5" name="Picture 3">
                <a:extLst>
                  <a:ext uri="{FF2B5EF4-FFF2-40B4-BE49-F238E27FC236}">
                    <a16:creationId xmlns:a16="http://schemas.microsoft.com/office/drawing/2014/main" id="{2E6CEAA9-B835-41A1-9DAD-1D7A156B3D30}"/>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l="10139" t="11276" r="9392" b="4155"/>
              <a:stretch>
                <a:fillRect/>
              </a:stretch>
            </p:blipFill>
            <p:spPr bwMode="auto">
              <a:xfrm>
                <a:off x="1383" y="981"/>
                <a:ext cx="2721" cy="2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 name="Line 4">
                <a:extLst>
                  <a:ext uri="{FF2B5EF4-FFF2-40B4-BE49-F238E27FC236}">
                    <a16:creationId xmlns:a16="http://schemas.microsoft.com/office/drawing/2014/main" id="{699900CD-C911-4B27-AE01-12520E9A335C}"/>
                  </a:ext>
                </a:extLst>
              </p:cNvPr>
              <p:cNvSpPr>
                <a:spLocks noChangeShapeType="1"/>
              </p:cNvSpPr>
              <p:nvPr/>
            </p:nvSpPr>
            <p:spPr bwMode="auto">
              <a:xfrm>
                <a:off x="2426" y="1026"/>
                <a:ext cx="1981"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 name="Line 5">
                <a:extLst>
                  <a:ext uri="{FF2B5EF4-FFF2-40B4-BE49-F238E27FC236}">
                    <a16:creationId xmlns:a16="http://schemas.microsoft.com/office/drawing/2014/main" id="{D87700C2-9010-4642-A1AF-03EE8A0B257A}"/>
                  </a:ext>
                </a:extLst>
              </p:cNvPr>
              <p:cNvSpPr>
                <a:spLocks noChangeShapeType="1"/>
              </p:cNvSpPr>
              <p:nvPr/>
            </p:nvSpPr>
            <p:spPr bwMode="auto">
              <a:xfrm>
                <a:off x="1739" y="2366"/>
                <a:ext cx="265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 name="Text Box 6">
                <a:extLst>
                  <a:ext uri="{FF2B5EF4-FFF2-40B4-BE49-F238E27FC236}">
                    <a16:creationId xmlns:a16="http://schemas.microsoft.com/office/drawing/2014/main" id="{2D27831D-210B-4764-BCDA-E1DD2B615BA6}"/>
                  </a:ext>
                </a:extLst>
              </p:cNvPr>
              <p:cNvSpPr txBox="1">
                <a:spLocks noChangeArrowheads="1"/>
              </p:cNvSpPr>
              <p:nvPr/>
            </p:nvSpPr>
            <p:spPr bwMode="auto">
              <a:xfrm>
                <a:off x="3651" y="2519"/>
                <a:ext cx="1447"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1800">
                    <a:latin typeface="黑体" panose="02010609060101010101" pitchFamily="49" charset="-122"/>
                    <a:ea typeface="黑体" panose="02010609060101010101" pitchFamily="49" charset="-122"/>
                  </a:rPr>
                  <a:t>反应总能量改变 </a:t>
                </a:r>
              </a:p>
            </p:txBody>
          </p:sp>
          <p:sp>
            <p:nvSpPr>
              <p:cNvPr id="9" name="Line 7">
                <a:extLst>
                  <a:ext uri="{FF2B5EF4-FFF2-40B4-BE49-F238E27FC236}">
                    <a16:creationId xmlns:a16="http://schemas.microsoft.com/office/drawing/2014/main" id="{F38BA265-CE42-4E86-9057-634EAB9D908D}"/>
                  </a:ext>
                </a:extLst>
              </p:cNvPr>
              <p:cNvSpPr>
                <a:spLocks noChangeShapeType="1"/>
              </p:cNvSpPr>
              <p:nvPr/>
            </p:nvSpPr>
            <p:spPr bwMode="auto">
              <a:xfrm>
                <a:off x="3969" y="2750"/>
                <a:ext cx="0" cy="16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 name="Line 8">
                <a:extLst>
                  <a:ext uri="{FF2B5EF4-FFF2-40B4-BE49-F238E27FC236}">
                    <a16:creationId xmlns:a16="http://schemas.microsoft.com/office/drawing/2014/main" id="{7A7F3DBE-7B27-46BD-A85B-CE1DA215AFE5}"/>
                  </a:ext>
                </a:extLst>
              </p:cNvPr>
              <p:cNvSpPr>
                <a:spLocks noChangeShapeType="1"/>
              </p:cNvSpPr>
              <p:nvPr/>
            </p:nvSpPr>
            <p:spPr bwMode="auto">
              <a:xfrm flipV="1">
                <a:off x="3969" y="2387"/>
                <a:ext cx="0" cy="13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 name="Text Box 9">
                <a:extLst>
                  <a:ext uri="{FF2B5EF4-FFF2-40B4-BE49-F238E27FC236}">
                    <a16:creationId xmlns:a16="http://schemas.microsoft.com/office/drawing/2014/main" id="{3A092E25-0077-4EC3-AF54-5C1D95DC3E35}"/>
                  </a:ext>
                </a:extLst>
              </p:cNvPr>
              <p:cNvSpPr txBox="1">
                <a:spLocks noChangeArrowheads="1"/>
              </p:cNvSpPr>
              <p:nvPr/>
            </p:nvSpPr>
            <p:spPr bwMode="auto">
              <a:xfrm>
                <a:off x="3696" y="1570"/>
                <a:ext cx="1621"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1800" dirty="0">
                    <a:latin typeface="黑体" panose="02010609060101010101" pitchFamily="49" charset="-122"/>
                    <a:ea typeface="黑体" panose="02010609060101010101" pitchFamily="49" charset="-122"/>
                  </a:rPr>
                  <a:t>非催化反应活化能 </a:t>
                </a:r>
              </a:p>
            </p:txBody>
          </p:sp>
          <p:sp>
            <p:nvSpPr>
              <p:cNvPr id="12" name="Line 10">
                <a:extLst>
                  <a:ext uri="{FF2B5EF4-FFF2-40B4-BE49-F238E27FC236}">
                    <a16:creationId xmlns:a16="http://schemas.microsoft.com/office/drawing/2014/main" id="{1E762D12-DFC0-4948-983F-4B1F867D6FEF}"/>
                  </a:ext>
                </a:extLst>
              </p:cNvPr>
              <p:cNvSpPr>
                <a:spLocks noChangeShapeType="1"/>
              </p:cNvSpPr>
              <p:nvPr/>
            </p:nvSpPr>
            <p:spPr bwMode="auto">
              <a:xfrm>
                <a:off x="2426" y="1933"/>
                <a:ext cx="163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 name="Text Box 11">
                <a:extLst>
                  <a:ext uri="{FF2B5EF4-FFF2-40B4-BE49-F238E27FC236}">
                    <a16:creationId xmlns:a16="http://schemas.microsoft.com/office/drawing/2014/main" id="{9338B26C-438D-44CB-9B72-7F190F2B2569}"/>
                  </a:ext>
                </a:extLst>
              </p:cNvPr>
              <p:cNvSpPr txBox="1">
                <a:spLocks noChangeArrowheads="1"/>
              </p:cNvSpPr>
              <p:nvPr/>
            </p:nvSpPr>
            <p:spPr bwMode="auto">
              <a:xfrm>
                <a:off x="3288" y="1962"/>
                <a:ext cx="914"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1800">
                    <a:solidFill>
                      <a:srgbClr val="FF3300"/>
                    </a:solidFill>
                    <a:latin typeface="黑体" panose="02010609060101010101" pitchFamily="49" charset="-122"/>
                    <a:ea typeface="黑体" panose="02010609060101010101" pitchFamily="49" charset="-122"/>
                  </a:rPr>
                  <a:t>酶促反应</a:t>
                </a:r>
              </a:p>
              <a:p>
                <a:pPr eaLnBrk="1" hangingPunct="1">
                  <a:spcBef>
                    <a:spcPct val="0"/>
                  </a:spcBef>
                  <a:buFontTx/>
                  <a:buNone/>
                </a:pPr>
                <a:r>
                  <a:rPr kumimoji="1" lang="zh-CN" altLang="en-US" sz="1800">
                    <a:solidFill>
                      <a:srgbClr val="FF3300"/>
                    </a:solidFill>
                    <a:latin typeface="黑体" panose="02010609060101010101" pitchFamily="49" charset="-122"/>
                    <a:ea typeface="黑体" panose="02010609060101010101" pitchFamily="49" charset="-122"/>
                  </a:rPr>
                  <a:t>  活化能</a:t>
                </a:r>
                <a:r>
                  <a:rPr kumimoji="1" lang="zh-CN" altLang="en-US" sz="1600">
                    <a:latin typeface="黑体" panose="02010609060101010101" pitchFamily="49" charset="-122"/>
                    <a:ea typeface="黑体" panose="02010609060101010101" pitchFamily="49" charset="-122"/>
                  </a:rPr>
                  <a:t> </a:t>
                </a:r>
              </a:p>
            </p:txBody>
          </p:sp>
          <p:sp>
            <p:nvSpPr>
              <p:cNvPr id="14" name="Line 12">
                <a:extLst>
                  <a:ext uri="{FF2B5EF4-FFF2-40B4-BE49-F238E27FC236}">
                    <a16:creationId xmlns:a16="http://schemas.microsoft.com/office/drawing/2014/main" id="{566E2290-E462-436B-AA45-BA01376E2DCB}"/>
                  </a:ext>
                </a:extLst>
              </p:cNvPr>
              <p:cNvSpPr>
                <a:spLocks noChangeShapeType="1"/>
              </p:cNvSpPr>
              <p:nvPr/>
            </p:nvSpPr>
            <p:spPr bwMode="auto">
              <a:xfrm flipV="1">
                <a:off x="3651" y="2387"/>
                <a:ext cx="0" cy="17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 name="Line 13">
                <a:extLst>
                  <a:ext uri="{FF2B5EF4-FFF2-40B4-BE49-F238E27FC236}">
                    <a16:creationId xmlns:a16="http://schemas.microsoft.com/office/drawing/2014/main" id="{1C6110F9-C3C4-4237-81DB-42727059980D}"/>
                  </a:ext>
                </a:extLst>
              </p:cNvPr>
              <p:cNvSpPr>
                <a:spLocks noChangeShapeType="1"/>
              </p:cNvSpPr>
              <p:nvPr/>
            </p:nvSpPr>
            <p:spPr bwMode="auto">
              <a:xfrm>
                <a:off x="3651" y="1748"/>
                <a:ext cx="0" cy="21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14">
                <a:extLst>
                  <a:ext uri="{FF2B5EF4-FFF2-40B4-BE49-F238E27FC236}">
                    <a16:creationId xmlns:a16="http://schemas.microsoft.com/office/drawing/2014/main" id="{03588AC2-658C-4DF1-87FE-5C0E4333D852}"/>
                  </a:ext>
                </a:extLst>
              </p:cNvPr>
              <p:cNvSpPr>
                <a:spLocks noChangeShapeType="1"/>
              </p:cNvSpPr>
              <p:nvPr/>
            </p:nvSpPr>
            <p:spPr bwMode="auto">
              <a:xfrm>
                <a:off x="4150" y="1842"/>
                <a:ext cx="0" cy="499"/>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15">
                <a:extLst>
                  <a:ext uri="{FF2B5EF4-FFF2-40B4-BE49-F238E27FC236}">
                    <a16:creationId xmlns:a16="http://schemas.microsoft.com/office/drawing/2014/main" id="{AAFA342A-6102-4CA4-A6AD-1BBB7524C0D1}"/>
                  </a:ext>
                </a:extLst>
              </p:cNvPr>
              <p:cNvSpPr>
                <a:spLocks noChangeShapeType="1"/>
              </p:cNvSpPr>
              <p:nvPr/>
            </p:nvSpPr>
            <p:spPr bwMode="auto">
              <a:xfrm flipV="1">
                <a:off x="4150" y="1026"/>
                <a:ext cx="0" cy="54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16">
                <a:extLst>
                  <a:ext uri="{FF2B5EF4-FFF2-40B4-BE49-F238E27FC236}">
                    <a16:creationId xmlns:a16="http://schemas.microsoft.com/office/drawing/2014/main" id="{51E6DB60-AC91-436F-AF83-55C515145C7C}"/>
                  </a:ext>
                </a:extLst>
              </p:cNvPr>
              <p:cNvSpPr>
                <a:spLocks noChangeShapeType="1"/>
              </p:cNvSpPr>
              <p:nvPr/>
            </p:nvSpPr>
            <p:spPr bwMode="auto">
              <a:xfrm flipH="1">
                <a:off x="1401" y="1525"/>
                <a:ext cx="1071"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 name="Text Box 17">
                <a:extLst>
                  <a:ext uri="{FF2B5EF4-FFF2-40B4-BE49-F238E27FC236}">
                    <a16:creationId xmlns:a16="http://schemas.microsoft.com/office/drawing/2014/main" id="{F4054C54-F3EA-43E8-8112-806D79308728}"/>
                  </a:ext>
                </a:extLst>
              </p:cNvPr>
              <p:cNvSpPr txBox="1">
                <a:spLocks noChangeArrowheads="1"/>
              </p:cNvSpPr>
              <p:nvPr/>
            </p:nvSpPr>
            <p:spPr bwMode="auto">
              <a:xfrm>
                <a:off x="764" y="1727"/>
                <a:ext cx="1361"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600" dirty="0">
                    <a:latin typeface="黑体" panose="02010609060101010101" pitchFamily="49" charset="-122"/>
                    <a:ea typeface="黑体" panose="02010609060101010101" pitchFamily="49" charset="-122"/>
                  </a:rPr>
                  <a:t> </a:t>
                </a:r>
                <a:r>
                  <a:rPr kumimoji="1" lang="zh-CN" altLang="en-US" sz="1600" dirty="0">
                    <a:latin typeface="黑体" panose="02010609060101010101" pitchFamily="49" charset="-122"/>
                    <a:ea typeface="黑体" panose="02010609060101010101" pitchFamily="49" charset="-122"/>
                  </a:rPr>
                  <a:t>一般催化剂催</a:t>
                </a:r>
              </a:p>
              <a:p>
                <a:pPr eaLnBrk="1" hangingPunct="1">
                  <a:spcBef>
                    <a:spcPct val="0"/>
                  </a:spcBef>
                  <a:buFontTx/>
                  <a:buNone/>
                </a:pPr>
                <a:r>
                  <a:rPr kumimoji="1" lang="zh-CN" altLang="en-US" sz="1600" dirty="0">
                    <a:latin typeface="黑体" panose="02010609060101010101" pitchFamily="49" charset="-122"/>
                    <a:ea typeface="黑体" panose="02010609060101010101" pitchFamily="49" charset="-122"/>
                  </a:rPr>
                  <a:t>化反应的活化能 </a:t>
                </a:r>
              </a:p>
            </p:txBody>
          </p:sp>
          <p:sp>
            <p:nvSpPr>
              <p:cNvPr id="20" name="Line 18">
                <a:extLst>
                  <a:ext uri="{FF2B5EF4-FFF2-40B4-BE49-F238E27FC236}">
                    <a16:creationId xmlns:a16="http://schemas.microsoft.com/office/drawing/2014/main" id="{49D2C209-7ADC-4509-8A68-DBAA81DA891C}"/>
                  </a:ext>
                </a:extLst>
              </p:cNvPr>
              <p:cNvSpPr>
                <a:spLocks noChangeShapeType="1"/>
              </p:cNvSpPr>
              <p:nvPr/>
            </p:nvSpPr>
            <p:spPr bwMode="auto">
              <a:xfrm flipV="1">
                <a:off x="1519" y="1525"/>
                <a:ext cx="0" cy="22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19">
                <a:extLst>
                  <a:ext uri="{FF2B5EF4-FFF2-40B4-BE49-F238E27FC236}">
                    <a16:creationId xmlns:a16="http://schemas.microsoft.com/office/drawing/2014/main" id="{F89D4FCF-8BF9-41B0-8275-62D0AB3BE3E4}"/>
                  </a:ext>
                </a:extLst>
              </p:cNvPr>
              <p:cNvSpPr>
                <a:spLocks noChangeShapeType="1"/>
              </p:cNvSpPr>
              <p:nvPr/>
            </p:nvSpPr>
            <p:spPr bwMode="auto">
              <a:xfrm>
                <a:off x="1510" y="2115"/>
                <a:ext cx="9" cy="20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0">
                <a:extLst>
                  <a:ext uri="{FF2B5EF4-FFF2-40B4-BE49-F238E27FC236}">
                    <a16:creationId xmlns:a16="http://schemas.microsoft.com/office/drawing/2014/main" id="{DAC644BF-4639-4D03-808A-4A6D52EBF1D7}"/>
                  </a:ext>
                </a:extLst>
              </p:cNvPr>
              <p:cNvSpPr>
                <a:spLocks noChangeShapeType="1"/>
              </p:cNvSpPr>
              <p:nvPr/>
            </p:nvSpPr>
            <p:spPr bwMode="auto">
              <a:xfrm>
                <a:off x="839" y="845"/>
                <a:ext cx="0" cy="2434"/>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21">
                <a:extLst>
                  <a:ext uri="{FF2B5EF4-FFF2-40B4-BE49-F238E27FC236}">
                    <a16:creationId xmlns:a16="http://schemas.microsoft.com/office/drawing/2014/main" id="{5E083AD8-5EBF-4BF3-B38E-3D3943856719}"/>
                  </a:ext>
                </a:extLst>
              </p:cNvPr>
              <p:cNvSpPr>
                <a:spLocks noChangeShapeType="1"/>
              </p:cNvSpPr>
              <p:nvPr/>
            </p:nvSpPr>
            <p:spPr bwMode="auto">
              <a:xfrm flipV="1">
                <a:off x="833" y="3265"/>
                <a:ext cx="371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 name="Text Box 22">
                <a:extLst>
                  <a:ext uri="{FF2B5EF4-FFF2-40B4-BE49-F238E27FC236}">
                    <a16:creationId xmlns:a16="http://schemas.microsoft.com/office/drawing/2014/main" id="{0543ED61-524E-4402-AE27-35A6B193DF1F}"/>
                  </a:ext>
                </a:extLst>
              </p:cNvPr>
              <p:cNvSpPr txBox="1">
                <a:spLocks noChangeArrowheads="1"/>
              </p:cNvSpPr>
              <p:nvPr/>
            </p:nvSpPr>
            <p:spPr bwMode="auto">
              <a:xfrm>
                <a:off x="567" y="1215"/>
                <a:ext cx="240" cy="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1800" dirty="0">
                    <a:latin typeface="黑体" panose="02010609060101010101" pitchFamily="49" charset="-122"/>
                    <a:ea typeface="黑体" panose="02010609060101010101" pitchFamily="49" charset="-122"/>
                  </a:rPr>
                  <a:t>能</a:t>
                </a:r>
              </a:p>
              <a:p>
                <a:pPr eaLnBrk="1" hangingPunct="1">
                  <a:spcBef>
                    <a:spcPct val="50000"/>
                  </a:spcBef>
                  <a:buFontTx/>
                  <a:buNone/>
                </a:pPr>
                <a:r>
                  <a:rPr kumimoji="1" lang="zh-CN" altLang="en-US" sz="1800" dirty="0">
                    <a:latin typeface="黑体" panose="02010609060101010101" pitchFamily="49" charset="-122"/>
                    <a:ea typeface="黑体" panose="02010609060101010101" pitchFamily="49" charset="-122"/>
                  </a:rPr>
                  <a:t>量 </a:t>
                </a:r>
              </a:p>
            </p:txBody>
          </p:sp>
          <p:sp>
            <p:nvSpPr>
              <p:cNvPr id="25" name="Text Box 23">
                <a:extLst>
                  <a:ext uri="{FF2B5EF4-FFF2-40B4-BE49-F238E27FC236}">
                    <a16:creationId xmlns:a16="http://schemas.microsoft.com/office/drawing/2014/main" id="{5BDE4E14-7F8C-4561-8224-AD116C618C35}"/>
                  </a:ext>
                </a:extLst>
              </p:cNvPr>
              <p:cNvSpPr txBox="1">
                <a:spLocks noChangeArrowheads="1"/>
              </p:cNvSpPr>
              <p:nvPr/>
            </p:nvSpPr>
            <p:spPr bwMode="auto">
              <a:xfrm>
                <a:off x="1913" y="3275"/>
                <a:ext cx="1185"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1800" dirty="0">
                    <a:latin typeface="黑体" panose="02010609060101010101" pitchFamily="49" charset="-122"/>
                    <a:ea typeface="黑体" panose="02010609060101010101" pitchFamily="49" charset="-122"/>
                  </a:rPr>
                  <a:t>反 应 过 程 </a:t>
                </a:r>
              </a:p>
            </p:txBody>
          </p:sp>
          <p:sp>
            <p:nvSpPr>
              <p:cNvPr id="26" name="Text Box 24">
                <a:extLst>
                  <a:ext uri="{FF2B5EF4-FFF2-40B4-BE49-F238E27FC236}">
                    <a16:creationId xmlns:a16="http://schemas.microsoft.com/office/drawing/2014/main" id="{C41DDB9D-C478-4ED2-94D8-DA5242BE9506}"/>
                  </a:ext>
                </a:extLst>
              </p:cNvPr>
              <p:cNvSpPr txBox="1">
                <a:spLocks noChangeArrowheads="1"/>
              </p:cNvSpPr>
              <p:nvPr/>
            </p:nvSpPr>
            <p:spPr bwMode="auto">
              <a:xfrm>
                <a:off x="1338" y="2478"/>
                <a:ext cx="575"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1800">
                    <a:latin typeface="黑体" panose="02010609060101010101" pitchFamily="49" charset="-122"/>
                    <a:ea typeface="黑体" panose="02010609060101010101" pitchFamily="49" charset="-122"/>
                  </a:rPr>
                  <a:t>底物 </a:t>
                </a:r>
              </a:p>
            </p:txBody>
          </p:sp>
          <p:sp>
            <p:nvSpPr>
              <p:cNvPr id="27" name="Text Box 25">
                <a:extLst>
                  <a:ext uri="{FF2B5EF4-FFF2-40B4-BE49-F238E27FC236}">
                    <a16:creationId xmlns:a16="http://schemas.microsoft.com/office/drawing/2014/main" id="{3207F7A3-D326-48AA-A251-6E73D36A458D}"/>
                  </a:ext>
                </a:extLst>
              </p:cNvPr>
              <p:cNvSpPr txBox="1">
                <a:spLocks noChangeArrowheads="1"/>
              </p:cNvSpPr>
              <p:nvPr/>
            </p:nvSpPr>
            <p:spPr bwMode="auto">
              <a:xfrm>
                <a:off x="3696" y="3022"/>
                <a:ext cx="575"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1800">
                    <a:latin typeface="黑体" panose="02010609060101010101" pitchFamily="49" charset="-122"/>
                    <a:ea typeface="黑体" panose="02010609060101010101" pitchFamily="49" charset="-122"/>
                  </a:rPr>
                  <a:t>产物 </a:t>
                </a:r>
              </a:p>
            </p:txBody>
          </p:sp>
        </p:grpSp>
        <p:sp>
          <p:nvSpPr>
            <p:cNvPr id="28" name="TextBox 26">
              <a:extLst>
                <a:ext uri="{FF2B5EF4-FFF2-40B4-BE49-F238E27FC236}">
                  <a16:creationId xmlns:a16="http://schemas.microsoft.com/office/drawing/2014/main" id="{FE86575F-D0D3-4ABF-852C-638E05EF4C2E}"/>
                </a:ext>
              </a:extLst>
            </p:cNvPr>
            <p:cNvSpPr txBox="1">
              <a:spLocks noChangeArrowheads="1"/>
            </p:cNvSpPr>
            <p:nvPr/>
          </p:nvSpPr>
          <p:spPr bwMode="auto">
            <a:xfrm>
              <a:off x="3460546" y="2066377"/>
              <a:ext cx="1000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zh-CN" altLang="en-US" sz="2000" dirty="0"/>
                <a:t>活化态</a:t>
              </a:r>
            </a:p>
          </p:txBody>
        </p:sp>
        <p:sp>
          <p:nvSpPr>
            <p:cNvPr id="29" name="TextBox 27">
              <a:extLst>
                <a:ext uri="{FF2B5EF4-FFF2-40B4-BE49-F238E27FC236}">
                  <a16:creationId xmlns:a16="http://schemas.microsoft.com/office/drawing/2014/main" id="{EF19A11D-9A1E-4EAE-9C8A-2B5EBA103FA6}"/>
                </a:ext>
              </a:extLst>
            </p:cNvPr>
            <p:cNvSpPr txBox="1">
              <a:spLocks noChangeArrowheads="1"/>
            </p:cNvSpPr>
            <p:nvPr/>
          </p:nvSpPr>
          <p:spPr bwMode="auto">
            <a:xfrm>
              <a:off x="3431835" y="2856894"/>
              <a:ext cx="1000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zh-CN" altLang="en-US" sz="2000" dirty="0"/>
                <a:t>活化态</a:t>
              </a:r>
            </a:p>
          </p:txBody>
        </p:sp>
        <p:sp>
          <p:nvSpPr>
            <p:cNvPr id="30" name="TextBox 28">
              <a:extLst>
                <a:ext uri="{FF2B5EF4-FFF2-40B4-BE49-F238E27FC236}">
                  <a16:creationId xmlns:a16="http://schemas.microsoft.com/office/drawing/2014/main" id="{BC8A6A76-BFA2-41E0-AF45-B4C7F3066B13}"/>
                </a:ext>
              </a:extLst>
            </p:cNvPr>
            <p:cNvSpPr txBox="1">
              <a:spLocks noChangeArrowheads="1"/>
            </p:cNvSpPr>
            <p:nvPr/>
          </p:nvSpPr>
          <p:spPr bwMode="auto">
            <a:xfrm>
              <a:off x="3430959" y="3414763"/>
              <a:ext cx="1000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zh-CN" altLang="en-US" sz="2000" dirty="0"/>
                <a:t>活化态</a:t>
              </a:r>
            </a:p>
          </p:txBody>
        </p:sp>
      </p:grpSp>
      <p:sp>
        <p:nvSpPr>
          <p:cNvPr id="31" name="文本框 30">
            <a:extLst>
              <a:ext uri="{FF2B5EF4-FFF2-40B4-BE49-F238E27FC236}">
                <a16:creationId xmlns:a16="http://schemas.microsoft.com/office/drawing/2014/main" id="{CD13E975-1CB5-E29B-0ABF-C4CF3D5A87BC}"/>
              </a:ext>
            </a:extLst>
          </p:cNvPr>
          <p:cNvSpPr txBox="1"/>
          <p:nvPr/>
        </p:nvSpPr>
        <p:spPr>
          <a:xfrm>
            <a:off x="2270124" y="1955927"/>
            <a:ext cx="7930332" cy="745845"/>
          </a:xfrm>
          <a:prstGeom prst="rect">
            <a:avLst/>
          </a:prstGeom>
          <a:noFill/>
        </p:spPr>
        <p:txBody>
          <a:bodyPr wrap="square">
            <a:spAutoFit/>
          </a:bodyPr>
          <a:lstStyle/>
          <a:p>
            <a:pPr>
              <a:lnSpc>
                <a:spcPct val="110000"/>
              </a:lnSpc>
            </a:pPr>
            <a:r>
              <a:rPr lang="zh-CN" altLang="en-US" sz="2000" b="1" dirty="0">
                <a:solidFill>
                  <a:srgbClr val="0000CC"/>
                </a:solidFill>
                <a:latin typeface="微软雅黑" panose="020B0503020204020204" pitchFamily="34" charset="-122"/>
                <a:ea typeface="微软雅黑" panose="020B0503020204020204" pitchFamily="34" charset="-122"/>
              </a:rPr>
              <a:t>活化能 </a:t>
            </a:r>
            <a:r>
              <a:rPr lang="zh-CN" altLang="en-US" sz="2000" dirty="0">
                <a:latin typeface="微软雅黑" panose="020B0503020204020204" pitchFamily="34" charset="-122"/>
                <a:ea typeface="微软雅黑" panose="020B0503020204020204" pitchFamily="34" charset="-122"/>
              </a:rPr>
              <a:t>是指在一定温度下，</a:t>
            </a:r>
            <a:r>
              <a:rPr lang="en-US" altLang="zh-CN" sz="2000" dirty="0">
                <a:latin typeface="微软雅黑" panose="020B0503020204020204" pitchFamily="34" charset="-122"/>
                <a:ea typeface="微软雅黑" panose="020B0503020204020204" pitchFamily="34" charset="-122"/>
              </a:rPr>
              <a:t>1mol </a:t>
            </a:r>
            <a:r>
              <a:rPr lang="zh-CN" altLang="en-US" sz="2000" dirty="0">
                <a:latin typeface="微软雅黑" panose="020B0503020204020204" pitchFamily="34" charset="-122"/>
                <a:ea typeface="微软雅黑" panose="020B0503020204020204" pitchFamily="34" charset="-122"/>
              </a:rPr>
              <a:t>反应物从基态转变成过渡态</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活化态所需要的自由能，即</a:t>
            </a:r>
            <a:r>
              <a:rPr lang="zh-CN" altLang="en-US" sz="2000" dirty="0">
                <a:solidFill>
                  <a:srgbClr val="0000CC"/>
                </a:solidFill>
                <a:latin typeface="微软雅黑" panose="020B0503020204020204" pitchFamily="34" charset="-122"/>
                <a:ea typeface="微软雅黑" panose="020B0503020204020204" pitchFamily="34" charset="-122"/>
              </a:rPr>
              <a:t>过渡态中间物与基态反应物间的能量差</a:t>
            </a:r>
            <a:r>
              <a:rPr lang="zh-CN" altLang="en-US" sz="2000" dirty="0">
                <a:latin typeface="微软雅黑" panose="020B0503020204020204" pitchFamily="34" charset="-122"/>
                <a:ea typeface="微软雅黑" panose="020B0503020204020204" pitchFamily="34"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89B5D5-7E5B-4F35-840D-68B397769803}"/>
              </a:ext>
            </a:extLst>
          </p:cNvPr>
          <p:cNvSpPr>
            <a:spLocks noGrp="1"/>
          </p:cNvSpPr>
          <p:nvPr>
            <p:ph type="title"/>
          </p:nvPr>
        </p:nvSpPr>
        <p:spPr>
          <a:xfrm>
            <a:off x="1919536" y="728700"/>
            <a:ext cx="8352928" cy="720080"/>
          </a:xfrm>
        </p:spPr>
        <p:txBody>
          <a:bodyPr/>
          <a:lstStyle/>
          <a:p>
            <a:r>
              <a:rPr lang="zh-CN" altLang="en-US" sz="3600" b="0" dirty="0">
                <a:solidFill>
                  <a:srgbClr val="0423A8"/>
                </a:solidFill>
                <a:latin typeface="微软雅黑" panose="020B0503020204020204" pitchFamily="34" charset="-122"/>
                <a:ea typeface="微软雅黑" panose="020B0503020204020204" pitchFamily="34" charset="-122"/>
              </a:rPr>
              <a:t>酶为什么能明显降低反应活化能？ </a:t>
            </a:r>
          </a:p>
        </p:txBody>
      </p:sp>
      <p:sp>
        <p:nvSpPr>
          <p:cNvPr id="5" name="文本框 4">
            <a:extLst>
              <a:ext uri="{FF2B5EF4-FFF2-40B4-BE49-F238E27FC236}">
                <a16:creationId xmlns:a16="http://schemas.microsoft.com/office/drawing/2014/main" id="{92865D75-797F-F58C-FB77-8C6679CCB139}"/>
              </a:ext>
            </a:extLst>
          </p:cNvPr>
          <p:cNvSpPr txBox="1"/>
          <p:nvPr/>
        </p:nvSpPr>
        <p:spPr>
          <a:xfrm>
            <a:off x="1551036" y="2060848"/>
            <a:ext cx="8712968" cy="2924711"/>
          </a:xfrm>
          <a:prstGeom prst="rect">
            <a:avLst/>
          </a:prstGeom>
          <a:noFill/>
        </p:spPr>
        <p:txBody>
          <a:bodyPr wrap="square">
            <a:spAutoFit/>
          </a:bodyPr>
          <a:lstStyle/>
          <a:p>
            <a:pPr marL="342900" indent="-342900" algn="just" eaLnBrk="1" hangingPunct="1">
              <a:lnSpc>
                <a:spcPct val="130000"/>
              </a:lnSpc>
              <a:spcBef>
                <a:spcPct val="20000"/>
              </a:spcBef>
              <a:buClr>
                <a:srgbClr val="0000FF"/>
              </a:buClr>
              <a:buSzPct val="75000"/>
              <a:buFont typeface="Arial" panose="020B0604020202020204" pitchFamily="34" charset="0"/>
              <a:buChar char="•"/>
              <a:defRPr/>
            </a:pPr>
            <a:r>
              <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rPr>
              <a:t>因为酶与底物生成酶底物复合物时会生成若干次级键，</a:t>
            </a:r>
            <a:r>
              <a:rPr lang="zh-CN" altLang="en-US" sz="2800" dirty="0">
                <a:solidFill>
                  <a:srgbClr val="0000CC"/>
                </a:solidFill>
                <a:latin typeface="微软雅黑" panose="020B0503020204020204" pitchFamily="34" charset="-122"/>
                <a:ea typeface="微软雅黑" panose="020B0503020204020204" pitchFamily="34" charset="-122"/>
              </a:rPr>
              <a:t>次级键生成会释放能量。    </a:t>
            </a:r>
            <a:endParaRPr lang="en-US" altLang="zh-CN" sz="2800" dirty="0">
              <a:solidFill>
                <a:srgbClr val="0000CC"/>
              </a:solidFill>
              <a:latin typeface="微软雅黑" panose="020B0503020204020204" pitchFamily="34" charset="-122"/>
              <a:ea typeface="微软雅黑" panose="020B0503020204020204" pitchFamily="34" charset="-122"/>
            </a:endParaRPr>
          </a:p>
          <a:p>
            <a:pPr marL="342900" indent="-342900" algn="just" eaLnBrk="1" hangingPunct="1">
              <a:lnSpc>
                <a:spcPct val="130000"/>
              </a:lnSpc>
              <a:spcBef>
                <a:spcPct val="20000"/>
              </a:spcBef>
              <a:buClr>
                <a:srgbClr val="0000FF"/>
              </a:buClr>
              <a:buSzPct val="75000"/>
              <a:buFont typeface="Arial" panose="020B0604020202020204" pitchFamily="34" charset="0"/>
              <a:buChar char="•"/>
              <a:defRPr/>
            </a:pPr>
            <a:r>
              <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rPr>
              <a:t>衍生于酶与底物相互作用的能量叫做</a:t>
            </a:r>
            <a:r>
              <a:rPr lang="zh-CN" altLang="en-US" sz="2800" dirty="0">
                <a:solidFill>
                  <a:srgbClr val="0000FF"/>
                </a:solidFill>
                <a:latin typeface="微软雅黑" panose="020B0503020204020204" pitchFamily="34" charset="-122"/>
                <a:ea typeface="微软雅黑" panose="020B0503020204020204" pitchFamily="34" charset="-122"/>
              </a:rPr>
              <a:t>结合能（</a:t>
            </a:r>
            <a:r>
              <a:rPr lang="en-US" altLang="zh-CN" sz="2800" dirty="0">
                <a:solidFill>
                  <a:srgbClr val="0000FF"/>
                </a:solidFill>
                <a:latin typeface="微软雅黑" panose="020B0503020204020204" pitchFamily="34" charset="-122"/>
                <a:ea typeface="微软雅黑" panose="020B0503020204020204" pitchFamily="34" charset="-122"/>
              </a:rPr>
              <a:t>binding energy</a:t>
            </a:r>
            <a:r>
              <a:rPr lang="zh-CN" altLang="en-US" sz="2800" dirty="0">
                <a:solidFill>
                  <a:srgbClr val="0000FF"/>
                </a:solidFill>
                <a:latin typeface="微软雅黑" panose="020B0503020204020204" pitchFamily="34" charset="-122"/>
                <a:ea typeface="微软雅黑" panose="020B0503020204020204" pitchFamily="34" charset="-122"/>
              </a:rPr>
              <a:t>）</a:t>
            </a:r>
            <a:r>
              <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rPr>
              <a:t>，这种结合能的释放是</a:t>
            </a:r>
            <a:r>
              <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rPr>
              <a:t>酶降低反应活化能所利用的自由能的主要来源</a:t>
            </a:r>
            <a:r>
              <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583551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0" name="Picture 2" descr="induced fit model">
            <a:extLst>
              <a:ext uri="{FF2B5EF4-FFF2-40B4-BE49-F238E27FC236}">
                <a16:creationId xmlns:a16="http://schemas.microsoft.com/office/drawing/2014/main" id="{7EB8A280-BF8D-489D-A3A2-13E4F04BB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16" t="52158" r="10928" b="5461"/>
          <a:stretch/>
        </p:blipFill>
        <p:spPr bwMode="auto">
          <a:xfrm>
            <a:off x="3771116" y="1129011"/>
            <a:ext cx="4525379" cy="1958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19" name="Rectangle 3">
            <a:extLst>
              <a:ext uri="{FF2B5EF4-FFF2-40B4-BE49-F238E27FC236}">
                <a16:creationId xmlns:a16="http://schemas.microsoft.com/office/drawing/2014/main" id="{A528D8D5-8C98-439C-9A2E-4099E9EA5E38}"/>
              </a:ext>
            </a:extLst>
          </p:cNvPr>
          <p:cNvSpPr>
            <a:spLocks noChangeArrowheads="1"/>
          </p:cNvSpPr>
          <p:nvPr/>
        </p:nvSpPr>
        <p:spPr bwMode="auto">
          <a:xfrm>
            <a:off x="2207568" y="1125149"/>
            <a:ext cx="7992690" cy="603969"/>
          </a:xfrm>
          <a:prstGeom prst="rect">
            <a:avLst/>
          </a:prstGeom>
          <a:noFill/>
          <a:ln>
            <a:noFill/>
          </a:ln>
        </p:spPr>
        <p:txBody>
          <a:bodyPr/>
          <a:lstStyle>
            <a:lvl1pPr marL="342900" indent="-342900"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120000"/>
              </a:lnSpc>
              <a:spcBef>
                <a:spcPct val="20000"/>
              </a:spcBef>
              <a:buClr>
                <a:schemeClr val="tx2"/>
              </a:buClr>
              <a:buSzPct val="75000"/>
              <a:buFont typeface="Wingdings" panose="05000000000000000000" pitchFamily="2" charset="2"/>
              <a:buChar char="n"/>
              <a:defRPr/>
            </a:pPr>
            <a:endParaRPr lang="en-US" altLang="zh-CN" sz="2800" b="1" dirty="0">
              <a:solidFill>
                <a:schemeClr val="tx1">
                  <a:lumMod val="95000"/>
                  <a:lumOff val="5000"/>
                </a:schemeClr>
              </a:solidFill>
              <a:latin typeface="Times New Roman" panose="02020603050405020304" pitchFamily="18" charset="0"/>
              <a:ea typeface="黑体" panose="02010609060101010101" pitchFamily="49" charset="-122"/>
            </a:endParaRPr>
          </a:p>
        </p:txBody>
      </p:sp>
      <p:sp>
        <p:nvSpPr>
          <p:cNvPr id="145412" name="Rectangle 2">
            <a:extLst>
              <a:ext uri="{FF2B5EF4-FFF2-40B4-BE49-F238E27FC236}">
                <a16:creationId xmlns:a16="http://schemas.microsoft.com/office/drawing/2014/main" id="{F223688F-8057-47BE-AF09-48EC77D20BA7}"/>
              </a:ext>
            </a:extLst>
          </p:cNvPr>
          <p:cNvSpPr>
            <a:spLocks noChangeArrowheads="1"/>
          </p:cNvSpPr>
          <p:nvPr/>
        </p:nvSpPr>
        <p:spPr bwMode="auto">
          <a:xfrm>
            <a:off x="2287321" y="349472"/>
            <a:ext cx="8345183"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165225" indent="-1165225">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 typeface="Wingdings" panose="05000000000000000000" pitchFamily="2" charset="2"/>
              <a:buNone/>
            </a:pPr>
            <a:r>
              <a:rPr kumimoji="1" lang="en-US" altLang="zh-CN" sz="3000" dirty="0">
                <a:solidFill>
                  <a:srgbClr val="C00000"/>
                </a:solidFill>
                <a:latin typeface="Times New Roman" pitchFamily="18" charset="0"/>
                <a:ea typeface="黑体" pitchFamily="49" charset="-122"/>
              </a:rPr>
              <a:t>2. </a:t>
            </a:r>
            <a:r>
              <a:rPr kumimoji="1" lang="zh-CN" altLang="en-US" sz="3000" dirty="0">
                <a:solidFill>
                  <a:srgbClr val="C00000"/>
                </a:solidFill>
                <a:latin typeface="Times New Roman" pitchFamily="18" charset="0"/>
                <a:ea typeface="黑体" pitchFamily="49" charset="-122"/>
              </a:rPr>
              <a:t>酶与底物结合时存在诱导契合 </a:t>
            </a:r>
            <a:r>
              <a:rPr kumimoji="1" lang="en-US" altLang="zh-CN" sz="3000" dirty="0">
                <a:solidFill>
                  <a:srgbClr val="C00000"/>
                </a:solidFill>
                <a:latin typeface="Times New Roman" pitchFamily="18" charset="0"/>
                <a:ea typeface="黑体" pitchFamily="49" charset="-122"/>
              </a:rPr>
              <a:t>(induced-fit)</a:t>
            </a:r>
            <a:endParaRPr lang="zh-CN" altLang="en-US" sz="3000" dirty="0">
              <a:solidFill>
                <a:srgbClr val="C00000"/>
              </a:solidFill>
              <a:latin typeface="Times New Roman" panose="02020603050405020304" pitchFamily="18" charset="0"/>
              <a:ea typeface="黑体" panose="02010609060101010101" pitchFamily="49" charset="-122"/>
            </a:endParaRPr>
          </a:p>
        </p:txBody>
      </p:sp>
      <p:sp>
        <p:nvSpPr>
          <p:cNvPr id="4" name="Rectangle 3">
            <a:extLst>
              <a:ext uri="{FF2B5EF4-FFF2-40B4-BE49-F238E27FC236}">
                <a16:creationId xmlns:a16="http://schemas.microsoft.com/office/drawing/2014/main" id="{9AB0957F-0B1D-DF76-B336-2949381F949E}"/>
              </a:ext>
            </a:extLst>
          </p:cNvPr>
          <p:cNvSpPr>
            <a:spLocks noChangeArrowheads="1"/>
          </p:cNvSpPr>
          <p:nvPr/>
        </p:nvSpPr>
        <p:spPr bwMode="auto">
          <a:xfrm>
            <a:off x="1487488" y="3195682"/>
            <a:ext cx="9505056" cy="1277979"/>
          </a:xfrm>
          <a:prstGeom prst="rect">
            <a:avLst/>
          </a:prstGeom>
          <a:noFill/>
          <a:ln w="9525">
            <a:noFill/>
            <a:miter lim="800000"/>
            <a:headEnd/>
            <a:tailEnd/>
          </a:ln>
          <a:effectLst/>
        </p:spPr>
        <p:txBody>
          <a:bodyPr wrap="square">
            <a:spAutoFit/>
          </a:bodyPr>
          <a:lstStyle/>
          <a:p>
            <a:pPr marL="342900" indent="-342900" eaLnBrk="1" hangingPunct="1">
              <a:lnSpc>
                <a:spcPct val="110000"/>
              </a:lnSpc>
              <a:spcBef>
                <a:spcPct val="20000"/>
              </a:spcBef>
              <a:buClr>
                <a:schemeClr val="tx2"/>
              </a:buClr>
              <a:buSzPct val="75000"/>
              <a:buFont typeface="Arial" panose="020B0604020202020204" pitchFamily="34" charset="0"/>
              <a:buChar char="•"/>
              <a:defRPr/>
            </a:pPr>
            <a:r>
              <a:rPr kumimoji="1" lang="zh-CN" altLang="en-US" sz="2400" dirty="0">
                <a:solidFill>
                  <a:srgbClr val="C00000"/>
                </a:solidFill>
                <a:latin typeface="Times New Roman" pitchFamily="18" charset="0"/>
                <a:ea typeface="黑体" pitchFamily="49" charset="-122"/>
              </a:rPr>
              <a:t>诱导契合</a:t>
            </a:r>
            <a:r>
              <a:rPr kumimoji="1" lang="zh-CN" altLang="en-US" sz="2400" dirty="0">
                <a:latin typeface="Times New Roman" pitchFamily="18" charset="0"/>
                <a:ea typeface="黑体" pitchFamily="49" charset="-122"/>
              </a:rPr>
              <a:t>： 酶分子构象与底物结构并不完全吻合，而是当两者</a:t>
            </a:r>
            <a:r>
              <a:rPr kumimoji="1" lang="zh-CN" altLang="en-US" sz="2400" dirty="0">
                <a:solidFill>
                  <a:srgbClr val="0000CC"/>
                </a:solidFill>
                <a:latin typeface="Times New Roman" pitchFamily="18" charset="0"/>
                <a:ea typeface="黑体" pitchFamily="49" charset="-122"/>
              </a:rPr>
              <a:t>相互接近</a:t>
            </a:r>
            <a:r>
              <a:rPr kumimoji="1" lang="zh-CN" altLang="en-US" sz="2400" dirty="0">
                <a:latin typeface="Times New Roman" pitchFamily="18" charset="0"/>
                <a:ea typeface="黑体" pitchFamily="49" charset="-122"/>
              </a:rPr>
              <a:t>时，其结构</a:t>
            </a:r>
            <a:r>
              <a:rPr kumimoji="1" lang="zh-CN" altLang="en-US" sz="2400" dirty="0">
                <a:solidFill>
                  <a:srgbClr val="0000CC"/>
                </a:solidFill>
                <a:latin typeface="Times New Roman" pitchFamily="18" charset="0"/>
                <a:ea typeface="黑体" pitchFamily="49" charset="-122"/>
              </a:rPr>
              <a:t>相互诱导、相互形变、相互适应</a:t>
            </a:r>
            <a:r>
              <a:rPr kumimoji="1" lang="zh-CN" altLang="en-US" sz="2400" dirty="0">
                <a:latin typeface="Times New Roman" pitchFamily="18" charset="0"/>
                <a:ea typeface="黑体" pitchFamily="49" charset="-122"/>
              </a:rPr>
              <a:t>，进而</a:t>
            </a:r>
            <a:r>
              <a:rPr kumimoji="1" lang="zh-CN" altLang="en-US" sz="2400" dirty="0">
                <a:solidFill>
                  <a:srgbClr val="0000CC"/>
                </a:solidFill>
                <a:latin typeface="Times New Roman" pitchFamily="18" charset="0"/>
                <a:ea typeface="黑体" pitchFamily="49" charset="-122"/>
              </a:rPr>
              <a:t>相互结合形成酶</a:t>
            </a:r>
            <a:r>
              <a:rPr kumimoji="1" lang="en-US" altLang="zh-CN" sz="2400" dirty="0">
                <a:solidFill>
                  <a:srgbClr val="0000CC"/>
                </a:solidFill>
                <a:latin typeface="Times New Roman" pitchFamily="18" charset="0"/>
                <a:ea typeface="黑体" pitchFamily="49" charset="-122"/>
              </a:rPr>
              <a:t>-</a:t>
            </a:r>
            <a:r>
              <a:rPr kumimoji="1" lang="zh-CN" altLang="en-US" sz="2400" dirty="0">
                <a:solidFill>
                  <a:srgbClr val="0000CC"/>
                </a:solidFill>
                <a:latin typeface="Times New Roman" pitchFamily="18" charset="0"/>
                <a:ea typeface="黑体" pitchFamily="49" charset="-122"/>
              </a:rPr>
              <a:t>底物复合物。</a:t>
            </a:r>
            <a:endParaRPr kumimoji="1" lang="en-US" altLang="zh-CN" sz="2400" dirty="0">
              <a:solidFill>
                <a:srgbClr val="0000CC"/>
              </a:solidFill>
              <a:latin typeface="Times New Roman" pitchFamily="18" charset="0"/>
              <a:ea typeface="黑体" pitchFamily="49" charset="-122"/>
            </a:endParaRPr>
          </a:p>
        </p:txBody>
      </p:sp>
      <p:sp>
        <p:nvSpPr>
          <p:cNvPr id="5" name="Text Box 5">
            <a:extLst>
              <a:ext uri="{FF2B5EF4-FFF2-40B4-BE49-F238E27FC236}">
                <a16:creationId xmlns:a16="http://schemas.microsoft.com/office/drawing/2014/main" id="{E9B84AA3-C645-BF15-471C-5FC7D07B6BCC}"/>
              </a:ext>
            </a:extLst>
          </p:cNvPr>
          <p:cNvSpPr txBox="1">
            <a:spLocks noChangeArrowheads="1"/>
          </p:cNvSpPr>
          <p:nvPr/>
        </p:nvSpPr>
        <p:spPr bwMode="auto">
          <a:xfrm>
            <a:off x="4295800" y="5623462"/>
            <a:ext cx="62054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lang="en-US" altLang="zh-CN" sz="2800" dirty="0">
                <a:solidFill>
                  <a:srgbClr val="C00000"/>
                </a:solidFill>
                <a:latin typeface="Arial" panose="020B0604020202020204" pitchFamily="34" charset="0"/>
                <a:ea typeface="黑体" panose="02010609060101010101" pitchFamily="49" charset="-122"/>
              </a:rPr>
              <a:t>——</a:t>
            </a:r>
            <a:r>
              <a:rPr lang="zh-CN" altLang="en-US" sz="2800" dirty="0">
                <a:solidFill>
                  <a:srgbClr val="C00000"/>
                </a:solidFill>
                <a:latin typeface="Arial" panose="020B0604020202020204" pitchFamily="34" charset="0"/>
                <a:ea typeface="黑体" panose="02010609060101010101" pitchFamily="49" charset="-122"/>
              </a:rPr>
              <a:t>酶对底物具有高度特异性的机制</a:t>
            </a:r>
          </a:p>
        </p:txBody>
      </p:sp>
      <p:sp>
        <p:nvSpPr>
          <p:cNvPr id="3" name="文本框 2">
            <a:extLst>
              <a:ext uri="{FF2B5EF4-FFF2-40B4-BE49-F238E27FC236}">
                <a16:creationId xmlns:a16="http://schemas.microsoft.com/office/drawing/2014/main" id="{9F435B1E-FAEB-9A7F-F098-18B26BEF546E}"/>
              </a:ext>
            </a:extLst>
          </p:cNvPr>
          <p:cNvSpPr txBox="1"/>
          <p:nvPr/>
        </p:nvSpPr>
        <p:spPr>
          <a:xfrm>
            <a:off x="1523492" y="4623573"/>
            <a:ext cx="9469052" cy="1261499"/>
          </a:xfrm>
          <a:prstGeom prst="rect">
            <a:avLst/>
          </a:prstGeom>
          <a:noFill/>
        </p:spPr>
        <p:txBody>
          <a:bodyPr wrap="square">
            <a:spAutoFit/>
          </a:bodyPr>
          <a:lstStyle/>
          <a:p>
            <a:pPr marL="342900" indent="-342900" eaLnBrk="1" hangingPunct="1">
              <a:lnSpc>
                <a:spcPct val="110000"/>
              </a:lnSpc>
              <a:spcBef>
                <a:spcPct val="20000"/>
              </a:spcBef>
              <a:buClr>
                <a:schemeClr val="tx2"/>
              </a:buClr>
              <a:buSzPct val="75000"/>
              <a:buFont typeface="Arial" panose="020B0604020202020204" pitchFamily="34" charset="0"/>
              <a:buChar char="•"/>
              <a:defRPr/>
            </a:pPr>
            <a:r>
              <a:rPr kumimoji="1" lang="zh-CN" altLang="en-US" sz="2400" dirty="0">
                <a:solidFill>
                  <a:schemeClr val="tx1">
                    <a:lumMod val="95000"/>
                    <a:lumOff val="5000"/>
                  </a:schemeClr>
                </a:solidFill>
                <a:latin typeface="Times New Roman" pitchFamily="18" charset="0"/>
                <a:ea typeface="黑体" pitchFamily="49" charset="-122"/>
              </a:rPr>
              <a:t>底物与酶结合后会转变为</a:t>
            </a:r>
            <a:r>
              <a:rPr kumimoji="1" lang="zh-CN" altLang="en-US" sz="2400" dirty="0">
                <a:solidFill>
                  <a:srgbClr val="0000CC"/>
                </a:solidFill>
                <a:latin typeface="Times New Roman" pitchFamily="18" charset="0"/>
                <a:ea typeface="黑体" pitchFamily="49" charset="-122"/>
              </a:rPr>
              <a:t>不稳定的过渡态</a:t>
            </a:r>
            <a:r>
              <a:rPr kumimoji="1" lang="zh-CN" altLang="en-US" sz="2400" dirty="0">
                <a:solidFill>
                  <a:schemeClr val="tx1">
                    <a:lumMod val="95000"/>
                    <a:lumOff val="5000"/>
                  </a:schemeClr>
                </a:solidFill>
                <a:latin typeface="Times New Roman" pitchFamily="18" charset="0"/>
                <a:ea typeface="黑体" pitchFamily="49" charset="-122"/>
              </a:rPr>
              <a:t>，易受酶的攻击而转化为产物。</a:t>
            </a:r>
            <a:r>
              <a:rPr lang="zh-CN" altLang="en-US" sz="2400" b="1" dirty="0">
                <a:latin typeface="黑体" panose="02010609060101010101" pitchFamily="49" charset="-122"/>
                <a:ea typeface="黑体" panose="02010609060101010101" pitchFamily="49" charset="-122"/>
              </a:rPr>
              <a:t>能与酶活性中心完美结合的是</a:t>
            </a:r>
            <a:r>
              <a:rPr lang="zh-CN" altLang="en-US" sz="2400" b="1" dirty="0">
                <a:solidFill>
                  <a:srgbClr val="C00000"/>
                </a:solidFill>
                <a:latin typeface="黑体" panose="02010609060101010101" pitchFamily="49" charset="-122"/>
                <a:ea typeface="黑体" panose="02010609060101010101" pitchFamily="49" charset="-122"/>
              </a:rPr>
              <a:t>过渡态的底物</a:t>
            </a:r>
            <a:r>
              <a:rPr lang="zh-CN" altLang="en-US" sz="2400" b="1" dirty="0">
                <a:latin typeface="黑体" panose="02010609060101010101" pitchFamily="49" charset="-122"/>
                <a:ea typeface="黑体" panose="02010609060101010101" pitchFamily="49" charset="-122"/>
              </a:rPr>
              <a:t>，而不是处于基态的底物。</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图片 1">
            <a:extLst>
              <a:ext uri="{FF2B5EF4-FFF2-40B4-BE49-F238E27FC236}">
                <a16:creationId xmlns:a16="http://schemas.microsoft.com/office/drawing/2014/main" id="{97D1756A-BB20-4681-8042-DDD6314ECC10}"/>
              </a:ext>
            </a:extLst>
          </p:cNvPr>
          <p:cNvPicPr>
            <a:picLocks noChangeAspect="1"/>
          </p:cNvPicPr>
          <p:nvPr/>
        </p:nvPicPr>
        <p:blipFill>
          <a:blip r:embed="rId3">
            <a:extLst>
              <a:ext uri="{28A0092B-C50C-407E-A947-70E740481C1C}">
                <a14:useLocalDpi xmlns:a14="http://schemas.microsoft.com/office/drawing/2010/main" val="0"/>
              </a:ext>
            </a:extLst>
          </a:blip>
          <a:srcRect l="3539" t="16400" r="16927" b="12201"/>
          <a:stretch>
            <a:fillRect/>
          </a:stretch>
        </p:blipFill>
        <p:spPr bwMode="auto">
          <a:xfrm>
            <a:off x="2351088" y="476250"/>
            <a:ext cx="7334250" cy="493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59" name="Text Box 3">
            <a:extLst>
              <a:ext uri="{FF2B5EF4-FFF2-40B4-BE49-F238E27FC236}">
                <a16:creationId xmlns:a16="http://schemas.microsoft.com/office/drawing/2014/main" id="{9281771C-6EC9-4EC4-ACA0-289A618E6A96}"/>
              </a:ext>
            </a:extLst>
          </p:cNvPr>
          <p:cNvSpPr txBox="1">
            <a:spLocks noChangeArrowheads="1"/>
          </p:cNvSpPr>
          <p:nvPr/>
        </p:nvSpPr>
        <p:spPr bwMode="auto">
          <a:xfrm>
            <a:off x="2424114" y="5427664"/>
            <a:ext cx="734377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lang="zh-CN" altLang="en-US" sz="2800">
                <a:solidFill>
                  <a:srgbClr val="0000CC"/>
                </a:solidFill>
                <a:latin typeface="黑体" panose="02010609060101010101" pitchFamily="49" charset="-122"/>
                <a:ea typeface="黑体" panose="02010609060101010101" pitchFamily="49" charset="-122"/>
              </a:rPr>
              <a:t>己糖激酶</a:t>
            </a:r>
            <a:r>
              <a:rPr lang="en-US" altLang="zh-CN" sz="2800">
                <a:solidFill>
                  <a:srgbClr val="0000CC"/>
                </a:solidFill>
                <a:latin typeface="黑体" panose="02010609060101010101" pitchFamily="49" charset="-122"/>
                <a:ea typeface="黑体" panose="02010609060101010101" pitchFamily="49" charset="-122"/>
              </a:rPr>
              <a:t>(hexokinase)</a:t>
            </a:r>
            <a:r>
              <a:rPr lang="zh-CN" altLang="en-US" sz="2800">
                <a:latin typeface="黑体" panose="02010609060101010101" pitchFamily="49" charset="-122"/>
                <a:ea typeface="黑体" panose="02010609060101010101" pitchFamily="49" charset="-122"/>
              </a:rPr>
              <a:t>与</a:t>
            </a:r>
            <a:r>
              <a:rPr lang="en-US" altLang="zh-CN" sz="2800">
                <a:latin typeface="黑体" panose="02010609060101010101" pitchFamily="49" charset="-122"/>
                <a:ea typeface="黑体" panose="02010609060101010101" pitchFamily="49" charset="-122"/>
              </a:rPr>
              <a:t>D-</a:t>
            </a:r>
            <a:r>
              <a:rPr lang="zh-CN" altLang="en-US" sz="2800">
                <a:latin typeface="黑体" panose="02010609060101010101" pitchFamily="49" charset="-122"/>
                <a:ea typeface="黑体" panose="02010609060101010101" pitchFamily="49" charset="-122"/>
              </a:rPr>
              <a:t>葡萄糖结合时存在</a:t>
            </a:r>
            <a:r>
              <a:rPr lang="zh-CN" altLang="en-US" sz="2800">
                <a:solidFill>
                  <a:srgbClr val="0000CC"/>
                </a:solidFill>
                <a:latin typeface="黑体" panose="02010609060101010101" pitchFamily="49" charset="-122"/>
                <a:ea typeface="黑体" panose="02010609060101010101" pitchFamily="49" charset="-122"/>
              </a:rPr>
              <a:t>诱导契合（</a:t>
            </a:r>
            <a:r>
              <a:rPr lang="en-US" altLang="zh-CN" sz="2800">
                <a:solidFill>
                  <a:srgbClr val="0000CC"/>
                </a:solidFill>
                <a:latin typeface="黑体" panose="02010609060101010101" pitchFamily="49" charset="-122"/>
                <a:ea typeface="黑体" panose="02010609060101010101" pitchFamily="49" charset="-122"/>
              </a:rPr>
              <a:t>induced fit)</a:t>
            </a:r>
            <a:endParaRPr lang="zh-CN" altLang="en-US" sz="2800">
              <a:latin typeface="黑体" panose="02010609060101010101" pitchFamily="49" charset="-122"/>
              <a:ea typeface="黑体" panose="020106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1554" name="图片 1">
            <a:extLst>
              <a:ext uri="{FF2B5EF4-FFF2-40B4-BE49-F238E27FC236}">
                <a16:creationId xmlns:a16="http://schemas.microsoft.com/office/drawing/2014/main" id="{C7C1DE8F-A52E-446F-8392-D8DF240E63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40014" y="374650"/>
            <a:ext cx="6840537" cy="617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63" name="Rectangle 15">
            <a:extLst>
              <a:ext uri="{FF2B5EF4-FFF2-40B4-BE49-F238E27FC236}">
                <a16:creationId xmlns:a16="http://schemas.microsoft.com/office/drawing/2014/main" id="{CFD5CC42-8B94-4E71-BD8A-B848F842ED21}"/>
              </a:ext>
            </a:extLst>
          </p:cNvPr>
          <p:cNvSpPr>
            <a:spLocks noChangeArrowheads="1"/>
          </p:cNvSpPr>
          <p:nvPr/>
        </p:nvSpPr>
        <p:spPr bwMode="auto">
          <a:xfrm>
            <a:off x="6365875" y="1673226"/>
            <a:ext cx="4116388" cy="1624013"/>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buFontTx/>
              <a:buNone/>
            </a:pPr>
            <a:r>
              <a:rPr lang="en-US" altLang="zh-CN" sz="2800" dirty="0">
                <a:solidFill>
                  <a:srgbClr val="0000CC"/>
                </a:solidFill>
                <a:latin typeface="Times New Roman" panose="02020603050405020304" pitchFamily="18" charset="0"/>
                <a:ea typeface="黑体" panose="02010609060101010101" pitchFamily="49" charset="-122"/>
              </a:rPr>
              <a:t>ES:  </a:t>
            </a:r>
            <a:r>
              <a:rPr lang="zh-CN" altLang="en-US" sz="2800" dirty="0">
                <a:solidFill>
                  <a:srgbClr val="0000CC"/>
                </a:solidFill>
                <a:latin typeface="Times New Roman" panose="02020603050405020304" pitchFamily="18" charset="0"/>
                <a:ea typeface="黑体" panose="02010609060101010101" pitchFamily="49" charset="-122"/>
              </a:rPr>
              <a:t>酶</a:t>
            </a:r>
            <a:r>
              <a:rPr lang="en-US" altLang="zh-CN" sz="2800" dirty="0">
                <a:solidFill>
                  <a:srgbClr val="0000CC"/>
                </a:solidFill>
                <a:latin typeface="Times New Roman" panose="02020603050405020304" pitchFamily="18" charset="0"/>
                <a:ea typeface="黑体" panose="02010609060101010101" pitchFamily="49" charset="-122"/>
              </a:rPr>
              <a:t>-</a:t>
            </a:r>
            <a:r>
              <a:rPr lang="zh-CN" altLang="en-US" sz="2800" dirty="0">
                <a:solidFill>
                  <a:srgbClr val="0000CC"/>
                </a:solidFill>
                <a:latin typeface="Times New Roman" panose="02020603050405020304" pitchFamily="18" charset="0"/>
                <a:ea typeface="黑体" panose="02010609060101010101" pitchFamily="49" charset="-122"/>
              </a:rPr>
              <a:t>底物中间复合物</a:t>
            </a:r>
            <a:endParaRPr lang="en-US" altLang="zh-CN" sz="2800" dirty="0">
              <a:solidFill>
                <a:srgbClr val="0000CC"/>
              </a:solidFill>
              <a:latin typeface="Times New Roman" panose="02020603050405020304" pitchFamily="18" charset="0"/>
              <a:ea typeface="黑体" panose="02010609060101010101" pitchFamily="49" charset="-122"/>
            </a:endParaRPr>
          </a:p>
          <a:p>
            <a:pPr eaLnBrk="1" hangingPunct="1">
              <a:buFontTx/>
              <a:buNone/>
            </a:pPr>
            <a:r>
              <a:rPr lang="en-US" altLang="zh-CN" sz="2800" dirty="0">
                <a:solidFill>
                  <a:srgbClr val="C00000"/>
                </a:solidFill>
                <a:latin typeface="Times New Roman" panose="02020603050405020304" pitchFamily="18" charset="0"/>
                <a:ea typeface="黑体" panose="02010609060101010101" pitchFamily="49" charset="-122"/>
              </a:rPr>
              <a:t>EX</a:t>
            </a:r>
            <a:r>
              <a:rPr lang="zh-CN" altLang="en-US" sz="2800" dirty="0">
                <a:solidFill>
                  <a:srgbClr val="C00000"/>
                </a:solidFill>
                <a:latin typeface="Times New Roman" panose="02020603050405020304" pitchFamily="18" charset="0"/>
                <a:ea typeface="黑体" panose="02010609060101010101" pitchFamily="49" charset="-122"/>
              </a:rPr>
              <a:t>：酶</a:t>
            </a:r>
            <a:r>
              <a:rPr lang="en-US" altLang="zh-CN" sz="2800" dirty="0">
                <a:solidFill>
                  <a:srgbClr val="C00000"/>
                </a:solidFill>
                <a:latin typeface="Times New Roman" panose="02020603050405020304" pitchFamily="18" charset="0"/>
                <a:ea typeface="黑体" panose="02010609060101010101" pitchFamily="49" charset="-122"/>
              </a:rPr>
              <a:t>-</a:t>
            </a:r>
            <a:r>
              <a:rPr lang="zh-CN" altLang="en-US" sz="2800" dirty="0">
                <a:solidFill>
                  <a:srgbClr val="C00000"/>
                </a:solidFill>
                <a:latin typeface="Times New Roman" panose="02020603050405020304" pitchFamily="18" charset="0"/>
                <a:ea typeface="黑体" panose="02010609060101010101" pitchFamily="49" charset="-122"/>
              </a:rPr>
              <a:t>过渡态复合物</a:t>
            </a:r>
            <a:endParaRPr lang="en-US" altLang="zh-CN" sz="2800" dirty="0">
              <a:solidFill>
                <a:srgbClr val="C00000"/>
              </a:solidFill>
              <a:latin typeface="Times New Roman" panose="02020603050405020304" pitchFamily="18" charset="0"/>
              <a:ea typeface="黑体" panose="02010609060101010101" pitchFamily="49" charset="-122"/>
            </a:endParaRPr>
          </a:p>
          <a:p>
            <a:pPr eaLnBrk="1" hangingPunct="1">
              <a:buFontTx/>
              <a:buNone/>
            </a:pPr>
            <a:r>
              <a:rPr lang="en-US" altLang="zh-CN" sz="2800" dirty="0">
                <a:solidFill>
                  <a:srgbClr val="0000CC"/>
                </a:solidFill>
                <a:latin typeface="Times New Roman" panose="02020603050405020304" pitchFamily="18" charset="0"/>
                <a:ea typeface="黑体" panose="02010609060101010101" pitchFamily="49" charset="-122"/>
              </a:rPr>
              <a:t>EP:  </a:t>
            </a:r>
            <a:r>
              <a:rPr lang="zh-CN" altLang="en-US" sz="2800" dirty="0">
                <a:solidFill>
                  <a:srgbClr val="0000CC"/>
                </a:solidFill>
                <a:latin typeface="Times New Roman" panose="02020603050405020304" pitchFamily="18" charset="0"/>
                <a:ea typeface="黑体" panose="02010609060101010101" pitchFamily="49" charset="-122"/>
              </a:rPr>
              <a:t>酶</a:t>
            </a:r>
            <a:r>
              <a:rPr lang="en-US" altLang="zh-CN" sz="2800" dirty="0">
                <a:solidFill>
                  <a:srgbClr val="0000CC"/>
                </a:solidFill>
                <a:latin typeface="Times New Roman" panose="02020603050405020304" pitchFamily="18" charset="0"/>
                <a:ea typeface="黑体" panose="02010609060101010101" pitchFamily="49" charset="-122"/>
              </a:rPr>
              <a:t>-</a:t>
            </a:r>
            <a:r>
              <a:rPr lang="zh-CN" altLang="en-US" sz="2800" dirty="0">
                <a:solidFill>
                  <a:srgbClr val="0000CC"/>
                </a:solidFill>
                <a:latin typeface="Times New Roman" panose="02020603050405020304" pitchFamily="18" charset="0"/>
                <a:ea typeface="黑体" panose="02010609060101010101" pitchFamily="49" charset="-122"/>
              </a:rPr>
              <a:t>产物中间复合物</a:t>
            </a:r>
          </a:p>
        </p:txBody>
      </p:sp>
      <p:pic>
        <p:nvPicPr>
          <p:cNvPr id="139267" name="Picture 16" descr="06_06b">
            <a:extLst>
              <a:ext uri="{FF2B5EF4-FFF2-40B4-BE49-F238E27FC236}">
                <a16:creationId xmlns:a16="http://schemas.microsoft.com/office/drawing/2014/main" id="{18B21530-7D32-4269-B2B3-1A38463A2E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8643"/>
          <a:stretch>
            <a:fillRect/>
          </a:stretch>
        </p:blipFill>
        <p:spPr bwMode="auto">
          <a:xfrm>
            <a:off x="2063750" y="1412876"/>
            <a:ext cx="3671888"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8" name="Text Box 17">
            <a:extLst>
              <a:ext uri="{FF2B5EF4-FFF2-40B4-BE49-F238E27FC236}">
                <a16:creationId xmlns:a16="http://schemas.microsoft.com/office/drawing/2014/main" id="{A6F01BCA-52EF-40D3-BB8E-C6E500F35DB0}"/>
              </a:ext>
            </a:extLst>
          </p:cNvPr>
          <p:cNvSpPr txBox="1">
            <a:spLocks noChangeArrowheads="1"/>
          </p:cNvSpPr>
          <p:nvPr/>
        </p:nvSpPr>
        <p:spPr bwMode="auto">
          <a:xfrm>
            <a:off x="1920876" y="395288"/>
            <a:ext cx="87598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lang="en-US" altLang="zh-CN" sz="3600" b="1" dirty="0">
                <a:solidFill>
                  <a:srgbClr val="C00000"/>
                </a:solidFill>
                <a:latin typeface="Arial" panose="020B0604020202020204" pitchFamily="34" charset="0"/>
                <a:cs typeface="Arial" panose="020B0604020202020204" pitchFamily="34" charset="0"/>
              </a:rPr>
              <a:t>3. </a:t>
            </a:r>
            <a:r>
              <a:rPr lang="zh-CN" altLang="en-US" sz="3600" b="1" dirty="0">
                <a:solidFill>
                  <a:srgbClr val="C00000"/>
                </a:solidFill>
                <a:latin typeface="Arial" panose="020B0604020202020204" pitchFamily="34" charset="0"/>
                <a:cs typeface="Arial" panose="020B0604020202020204" pitchFamily="34" charset="0"/>
              </a:rPr>
              <a:t>过渡态理论（ </a:t>
            </a:r>
            <a:r>
              <a:rPr lang="en-US" altLang="zh-CN" sz="3600" b="1" dirty="0">
                <a:solidFill>
                  <a:srgbClr val="C00000"/>
                </a:solidFill>
                <a:latin typeface="Arial" panose="020B0604020202020204" pitchFamily="34" charset="0"/>
                <a:cs typeface="Arial" panose="020B0604020202020204" pitchFamily="34" charset="0"/>
              </a:rPr>
              <a:t>transition state theory</a:t>
            </a:r>
            <a:r>
              <a:rPr lang="zh-CN" altLang="en-US" sz="3600" b="1" dirty="0">
                <a:solidFill>
                  <a:srgbClr val="C00000"/>
                </a:solidFill>
                <a:latin typeface="Arial" panose="020B0604020202020204" pitchFamily="34" charset="0"/>
                <a:cs typeface="Arial" panose="020B0604020202020204" pitchFamily="34" charset="0"/>
              </a:rPr>
              <a:t>）</a:t>
            </a:r>
            <a:endParaRPr lang="en-US" altLang="zh-CN" sz="3600" b="1" dirty="0">
              <a:solidFill>
                <a:srgbClr val="C00000"/>
              </a:solidFill>
              <a:latin typeface="Arial" panose="020B0604020202020204" pitchFamily="34" charset="0"/>
              <a:cs typeface="Arial" panose="020B0604020202020204" pitchFamily="34" charset="0"/>
            </a:endParaRPr>
          </a:p>
        </p:txBody>
      </p:sp>
      <p:grpSp>
        <p:nvGrpSpPr>
          <p:cNvPr id="2" name="组合 1">
            <a:extLst>
              <a:ext uri="{FF2B5EF4-FFF2-40B4-BE49-F238E27FC236}">
                <a16:creationId xmlns:a16="http://schemas.microsoft.com/office/drawing/2014/main" id="{7A193450-9206-4902-ACD3-C9AEA6E00AE1}"/>
              </a:ext>
            </a:extLst>
          </p:cNvPr>
          <p:cNvGrpSpPr>
            <a:grpSpLocks/>
          </p:cNvGrpSpPr>
          <p:nvPr/>
        </p:nvGrpSpPr>
        <p:grpSpPr bwMode="auto">
          <a:xfrm>
            <a:off x="2063750" y="4581526"/>
            <a:ext cx="8326438" cy="619125"/>
            <a:chOff x="539750" y="5157788"/>
            <a:chExt cx="8326438" cy="619125"/>
          </a:xfrm>
        </p:grpSpPr>
        <p:sp>
          <p:nvSpPr>
            <p:cNvPr id="139272" name="Text Box 4">
              <a:extLst>
                <a:ext uri="{FF2B5EF4-FFF2-40B4-BE49-F238E27FC236}">
                  <a16:creationId xmlns:a16="http://schemas.microsoft.com/office/drawing/2014/main" id="{8D578E16-201B-4AA3-A7A3-7FC4475B2D24}"/>
                </a:ext>
              </a:extLst>
            </p:cNvPr>
            <p:cNvSpPr txBox="1">
              <a:spLocks noChangeArrowheads="1"/>
            </p:cNvSpPr>
            <p:nvPr/>
          </p:nvSpPr>
          <p:spPr bwMode="auto">
            <a:xfrm>
              <a:off x="539750" y="5176838"/>
              <a:ext cx="1309688"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b="1">
                  <a:latin typeface="Times New Roman" panose="02020603050405020304" pitchFamily="18" charset="0"/>
                  <a:ea typeface="黑体" panose="02010609060101010101" pitchFamily="49" charset="-122"/>
                </a:rPr>
                <a:t>E + S</a:t>
              </a:r>
            </a:p>
          </p:txBody>
        </p:sp>
        <p:sp>
          <p:nvSpPr>
            <p:cNvPr id="139273" name="Line 8">
              <a:extLst>
                <a:ext uri="{FF2B5EF4-FFF2-40B4-BE49-F238E27FC236}">
                  <a16:creationId xmlns:a16="http://schemas.microsoft.com/office/drawing/2014/main" id="{2F011F8F-BD71-4774-A9E8-43D9B37FE7EC}"/>
                </a:ext>
              </a:extLst>
            </p:cNvPr>
            <p:cNvSpPr>
              <a:spLocks noChangeShapeType="1"/>
            </p:cNvSpPr>
            <p:nvPr/>
          </p:nvSpPr>
          <p:spPr bwMode="auto">
            <a:xfrm>
              <a:off x="1684338" y="5375275"/>
              <a:ext cx="661987" cy="0"/>
            </a:xfrm>
            <a:prstGeom prst="line">
              <a:avLst/>
            </a:prstGeom>
            <a:noFill/>
            <a:ln w="38100">
              <a:solidFill>
                <a:srgbClr val="0000CC"/>
              </a:solidFill>
              <a:round/>
              <a:headEnd/>
              <a:tailEnd type="triangle" w="med" len="me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139274" name="Line 9">
              <a:extLst>
                <a:ext uri="{FF2B5EF4-FFF2-40B4-BE49-F238E27FC236}">
                  <a16:creationId xmlns:a16="http://schemas.microsoft.com/office/drawing/2014/main" id="{9B5FCED2-8B76-4B51-B25E-86ACF88BED94}"/>
                </a:ext>
              </a:extLst>
            </p:cNvPr>
            <p:cNvSpPr>
              <a:spLocks noChangeShapeType="1"/>
            </p:cNvSpPr>
            <p:nvPr/>
          </p:nvSpPr>
          <p:spPr bwMode="auto">
            <a:xfrm flipH="1">
              <a:off x="1684338" y="5589588"/>
              <a:ext cx="661987" cy="0"/>
            </a:xfrm>
            <a:prstGeom prst="line">
              <a:avLst/>
            </a:prstGeom>
            <a:noFill/>
            <a:ln w="38100">
              <a:solidFill>
                <a:srgbClr val="006600"/>
              </a:solidFill>
              <a:round/>
              <a:headEnd/>
              <a:tailEnd type="triangle" w="med" len="med"/>
            </a:ln>
            <a:extLst>
              <a:ext uri="{909E8E84-426E-40DD-AFC4-6F175D3DCCD1}">
                <a14:hiddenFill xmlns:a14="http://schemas.microsoft.com/office/drawing/2010/main">
                  <a:noFill/>
                </a14:hiddenFill>
              </a:ext>
            </a:extLst>
          </p:spPr>
          <p:txBody>
            <a:bodyPr rot="10800000" vert="eaVert" wrap="none">
              <a:spAutoFit/>
            </a:bodyPr>
            <a:lstStyle/>
            <a:p>
              <a:endParaRPr lang="zh-CN" altLang="en-US"/>
            </a:p>
          </p:txBody>
        </p:sp>
        <p:sp>
          <p:nvSpPr>
            <p:cNvPr id="139275" name="Line 9">
              <a:extLst>
                <a:ext uri="{FF2B5EF4-FFF2-40B4-BE49-F238E27FC236}">
                  <a16:creationId xmlns:a16="http://schemas.microsoft.com/office/drawing/2014/main" id="{2E2CEE31-C2C0-45C7-92E4-69CAB5ED0976}"/>
                </a:ext>
              </a:extLst>
            </p:cNvPr>
            <p:cNvSpPr>
              <a:spLocks noChangeShapeType="1"/>
            </p:cNvSpPr>
            <p:nvPr/>
          </p:nvSpPr>
          <p:spPr bwMode="auto">
            <a:xfrm flipH="1">
              <a:off x="3059113" y="5589588"/>
              <a:ext cx="661987" cy="0"/>
            </a:xfrm>
            <a:prstGeom prst="line">
              <a:avLst/>
            </a:prstGeom>
            <a:noFill/>
            <a:ln w="38100">
              <a:solidFill>
                <a:srgbClr val="006600"/>
              </a:solidFill>
              <a:round/>
              <a:headEnd/>
              <a:tailEnd type="triangle" w="med" len="med"/>
            </a:ln>
            <a:extLst>
              <a:ext uri="{909E8E84-426E-40DD-AFC4-6F175D3DCCD1}">
                <a14:hiddenFill xmlns:a14="http://schemas.microsoft.com/office/drawing/2010/main">
                  <a:noFill/>
                </a14:hiddenFill>
              </a:ext>
            </a:extLst>
          </p:spPr>
          <p:txBody>
            <a:bodyPr rot="10800000" vert="eaVert" wrap="none">
              <a:spAutoFit/>
            </a:bodyPr>
            <a:lstStyle/>
            <a:p>
              <a:endParaRPr lang="zh-CN" altLang="en-US"/>
            </a:p>
          </p:txBody>
        </p:sp>
        <p:sp>
          <p:nvSpPr>
            <p:cNvPr id="139276" name="Text Box 13">
              <a:extLst>
                <a:ext uri="{FF2B5EF4-FFF2-40B4-BE49-F238E27FC236}">
                  <a16:creationId xmlns:a16="http://schemas.microsoft.com/office/drawing/2014/main" id="{3F5626F4-CC20-4102-98FB-9CCCBB2C2D74}"/>
                </a:ext>
              </a:extLst>
            </p:cNvPr>
            <p:cNvSpPr txBox="1">
              <a:spLocks noChangeArrowheads="1"/>
            </p:cNvSpPr>
            <p:nvPr/>
          </p:nvSpPr>
          <p:spPr bwMode="auto">
            <a:xfrm>
              <a:off x="2268538" y="5202238"/>
              <a:ext cx="923925"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en-US" altLang="zh-CN" b="1">
                  <a:solidFill>
                    <a:srgbClr val="FFFF99"/>
                  </a:solidFill>
                  <a:latin typeface="Times New Roman" panose="02020603050405020304" pitchFamily="18" charset="0"/>
                  <a:ea typeface="黑体" panose="02010609060101010101" pitchFamily="49" charset="-122"/>
                </a:rPr>
                <a:t> </a:t>
              </a:r>
              <a:r>
                <a:rPr kumimoji="1" lang="en-US" altLang="zh-CN" b="1">
                  <a:solidFill>
                    <a:srgbClr val="FF0000"/>
                  </a:solidFill>
                  <a:latin typeface="Times New Roman" panose="02020603050405020304" pitchFamily="18" charset="0"/>
                  <a:ea typeface="黑体" panose="02010609060101010101" pitchFamily="49" charset="-122"/>
                </a:rPr>
                <a:t>ES</a:t>
              </a:r>
            </a:p>
          </p:txBody>
        </p:sp>
        <p:sp>
          <p:nvSpPr>
            <p:cNvPr id="139277" name="Text Box 14">
              <a:extLst>
                <a:ext uri="{FF2B5EF4-FFF2-40B4-BE49-F238E27FC236}">
                  <a16:creationId xmlns:a16="http://schemas.microsoft.com/office/drawing/2014/main" id="{01C06ECC-1693-44CF-910C-A18E4FACBEAC}"/>
                </a:ext>
              </a:extLst>
            </p:cNvPr>
            <p:cNvSpPr txBox="1">
              <a:spLocks noChangeArrowheads="1"/>
            </p:cNvSpPr>
            <p:nvPr/>
          </p:nvSpPr>
          <p:spPr bwMode="auto">
            <a:xfrm>
              <a:off x="7308850" y="5157788"/>
              <a:ext cx="1557338"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b="1">
                  <a:latin typeface="Times New Roman" panose="02020603050405020304" pitchFamily="18" charset="0"/>
                  <a:ea typeface="黑体" panose="02010609060101010101" pitchFamily="49" charset="-122"/>
                </a:rPr>
                <a:t>E + P</a:t>
              </a:r>
            </a:p>
          </p:txBody>
        </p:sp>
        <p:sp>
          <p:nvSpPr>
            <p:cNvPr id="139278" name="Text Box 13">
              <a:extLst>
                <a:ext uri="{FF2B5EF4-FFF2-40B4-BE49-F238E27FC236}">
                  <a16:creationId xmlns:a16="http://schemas.microsoft.com/office/drawing/2014/main" id="{75925691-AC9A-49FF-B7AF-50E120E031B4}"/>
                </a:ext>
              </a:extLst>
            </p:cNvPr>
            <p:cNvSpPr txBox="1">
              <a:spLocks noChangeArrowheads="1"/>
            </p:cNvSpPr>
            <p:nvPr/>
          </p:nvSpPr>
          <p:spPr bwMode="auto">
            <a:xfrm>
              <a:off x="3719513" y="5245100"/>
              <a:ext cx="923925"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en-US" altLang="zh-CN" b="1">
                  <a:solidFill>
                    <a:srgbClr val="FFFF99"/>
                  </a:solidFill>
                  <a:latin typeface="Times New Roman" panose="02020603050405020304" pitchFamily="18" charset="0"/>
                  <a:ea typeface="黑体" panose="02010609060101010101" pitchFamily="49" charset="-122"/>
                </a:rPr>
                <a:t> </a:t>
              </a:r>
              <a:r>
                <a:rPr kumimoji="1" lang="en-US" altLang="zh-CN" b="1">
                  <a:solidFill>
                    <a:srgbClr val="FF0000"/>
                  </a:solidFill>
                  <a:latin typeface="Times New Roman" panose="02020603050405020304" pitchFamily="18" charset="0"/>
                  <a:ea typeface="黑体" panose="02010609060101010101" pitchFamily="49" charset="-122"/>
                </a:rPr>
                <a:t>EX</a:t>
              </a:r>
            </a:p>
          </p:txBody>
        </p:sp>
        <p:sp>
          <p:nvSpPr>
            <p:cNvPr id="139279" name="Line 9">
              <a:extLst>
                <a:ext uri="{FF2B5EF4-FFF2-40B4-BE49-F238E27FC236}">
                  <a16:creationId xmlns:a16="http://schemas.microsoft.com/office/drawing/2014/main" id="{021F2491-38F5-4232-BD1F-02E0CBC8E633}"/>
                </a:ext>
              </a:extLst>
            </p:cNvPr>
            <p:cNvSpPr>
              <a:spLocks noChangeShapeType="1"/>
            </p:cNvSpPr>
            <p:nvPr/>
          </p:nvSpPr>
          <p:spPr bwMode="auto">
            <a:xfrm flipH="1">
              <a:off x="4776788" y="5594350"/>
              <a:ext cx="661987" cy="0"/>
            </a:xfrm>
            <a:prstGeom prst="line">
              <a:avLst/>
            </a:prstGeom>
            <a:noFill/>
            <a:ln w="38100">
              <a:solidFill>
                <a:srgbClr val="006600"/>
              </a:solidFill>
              <a:round/>
              <a:headEnd/>
              <a:tailEnd type="triangle" w="med" len="med"/>
            </a:ln>
            <a:extLst>
              <a:ext uri="{909E8E84-426E-40DD-AFC4-6F175D3DCCD1}">
                <a14:hiddenFill xmlns:a14="http://schemas.microsoft.com/office/drawing/2010/main">
                  <a:noFill/>
                </a14:hiddenFill>
              </a:ext>
            </a:extLst>
          </p:spPr>
          <p:txBody>
            <a:bodyPr rot="10800000" vert="eaVert" wrap="none">
              <a:spAutoFit/>
            </a:bodyPr>
            <a:lstStyle/>
            <a:p>
              <a:endParaRPr lang="zh-CN" altLang="en-US"/>
            </a:p>
          </p:txBody>
        </p:sp>
        <p:sp>
          <p:nvSpPr>
            <p:cNvPr id="139280" name="Line 12">
              <a:extLst>
                <a:ext uri="{FF2B5EF4-FFF2-40B4-BE49-F238E27FC236}">
                  <a16:creationId xmlns:a16="http://schemas.microsoft.com/office/drawing/2014/main" id="{C9AE39B7-D485-4B0C-BD54-DB0C33028775}"/>
                </a:ext>
              </a:extLst>
            </p:cNvPr>
            <p:cNvSpPr>
              <a:spLocks noChangeShapeType="1"/>
            </p:cNvSpPr>
            <p:nvPr/>
          </p:nvSpPr>
          <p:spPr bwMode="auto">
            <a:xfrm>
              <a:off x="4841875" y="5373688"/>
              <a:ext cx="666750" cy="0"/>
            </a:xfrm>
            <a:prstGeom prst="line">
              <a:avLst/>
            </a:prstGeom>
            <a:noFill/>
            <a:ln w="38100">
              <a:solidFill>
                <a:srgbClr val="0000CC"/>
              </a:solidFill>
              <a:round/>
              <a:headEnd/>
              <a:tailEnd type="triangle" w="med" len="me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139281" name="Line 12">
              <a:extLst>
                <a:ext uri="{FF2B5EF4-FFF2-40B4-BE49-F238E27FC236}">
                  <a16:creationId xmlns:a16="http://schemas.microsoft.com/office/drawing/2014/main" id="{F72C1DF7-5C25-46EA-85B0-3020BA66C795}"/>
                </a:ext>
              </a:extLst>
            </p:cNvPr>
            <p:cNvSpPr>
              <a:spLocks noChangeShapeType="1"/>
            </p:cNvSpPr>
            <p:nvPr/>
          </p:nvSpPr>
          <p:spPr bwMode="auto">
            <a:xfrm>
              <a:off x="6516688" y="5373216"/>
              <a:ext cx="665162" cy="0"/>
            </a:xfrm>
            <a:prstGeom prst="line">
              <a:avLst/>
            </a:prstGeom>
            <a:noFill/>
            <a:ln w="38100">
              <a:solidFill>
                <a:srgbClr val="0000CC"/>
              </a:solidFill>
              <a:round/>
              <a:headEnd/>
              <a:tailEnd type="triangle" w="med" len="me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139282" name="Text Box 13">
              <a:extLst>
                <a:ext uri="{FF2B5EF4-FFF2-40B4-BE49-F238E27FC236}">
                  <a16:creationId xmlns:a16="http://schemas.microsoft.com/office/drawing/2014/main" id="{99FE03B4-6D20-488C-8819-C910B649C803}"/>
                </a:ext>
              </a:extLst>
            </p:cNvPr>
            <p:cNvSpPr txBox="1">
              <a:spLocks noChangeArrowheads="1"/>
            </p:cNvSpPr>
            <p:nvPr/>
          </p:nvSpPr>
          <p:spPr bwMode="auto">
            <a:xfrm>
              <a:off x="5489575" y="5202238"/>
              <a:ext cx="923925"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en-US" altLang="zh-CN" b="1">
                  <a:solidFill>
                    <a:srgbClr val="FFFF99"/>
                  </a:solidFill>
                  <a:latin typeface="Times New Roman" panose="02020603050405020304" pitchFamily="18" charset="0"/>
                  <a:ea typeface="黑体" panose="02010609060101010101" pitchFamily="49" charset="-122"/>
                </a:rPr>
                <a:t> </a:t>
              </a:r>
              <a:r>
                <a:rPr kumimoji="1" lang="en-US" altLang="zh-CN" b="1">
                  <a:solidFill>
                    <a:srgbClr val="FF0000"/>
                  </a:solidFill>
                  <a:latin typeface="Times New Roman" panose="02020603050405020304" pitchFamily="18" charset="0"/>
                  <a:ea typeface="黑体" panose="02010609060101010101" pitchFamily="49" charset="-122"/>
                </a:rPr>
                <a:t>EP</a:t>
              </a:r>
            </a:p>
          </p:txBody>
        </p:sp>
        <p:sp>
          <p:nvSpPr>
            <p:cNvPr id="139283" name="Line 12">
              <a:extLst>
                <a:ext uri="{FF2B5EF4-FFF2-40B4-BE49-F238E27FC236}">
                  <a16:creationId xmlns:a16="http://schemas.microsoft.com/office/drawing/2014/main" id="{3668F9DB-F8DB-423F-A84C-91F2376527B9}"/>
                </a:ext>
              </a:extLst>
            </p:cNvPr>
            <p:cNvSpPr>
              <a:spLocks noChangeShapeType="1"/>
            </p:cNvSpPr>
            <p:nvPr/>
          </p:nvSpPr>
          <p:spPr bwMode="auto">
            <a:xfrm>
              <a:off x="3121025" y="5373688"/>
              <a:ext cx="665163" cy="0"/>
            </a:xfrm>
            <a:prstGeom prst="line">
              <a:avLst/>
            </a:prstGeom>
            <a:noFill/>
            <a:ln w="38100">
              <a:solidFill>
                <a:srgbClr val="0000CC"/>
              </a:solidFill>
              <a:round/>
              <a:headEnd/>
              <a:tailEnd type="triangle" w="med" len="me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139284" name="Line 9">
              <a:extLst>
                <a:ext uri="{FF2B5EF4-FFF2-40B4-BE49-F238E27FC236}">
                  <a16:creationId xmlns:a16="http://schemas.microsoft.com/office/drawing/2014/main" id="{E64FFD9A-DC56-4E76-B03C-D0B581B2B9EF}"/>
                </a:ext>
              </a:extLst>
            </p:cNvPr>
            <p:cNvSpPr>
              <a:spLocks noChangeShapeType="1"/>
            </p:cNvSpPr>
            <p:nvPr/>
          </p:nvSpPr>
          <p:spPr bwMode="auto">
            <a:xfrm flipH="1">
              <a:off x="6533357" y="5589588"/>
              <a:ext cx="661987" cy="0"/>
            </a:xfrm>
            <a:prstGeom prst="line">
              <a:avLst/>
            </a:prstGeom>
            <a:noFill/>
            <a:ln w="38100">
              <a:solidFill>
                <a:srgbClr val="006600"/>
              </a:solidFill>
              <a:round/>
              <a:headEnd/>
              <a:tailEnd type="triangle" w="med" len="med"/>
            </a:ln>
            <a:extLst>
              <a:ext uri="{909E8E84-426E-40DD-AFC4-6F175D3DCCD1}">
                <a14:hiddenFill xmlns:a14="http://schemas.microsoft.com/office/drawing/2010/main">
                  <a:noFill/>
                </a14:hiddenFill>
              </a:ext>
            </a:extLst>
          </p:spPr>
          <p:txBody>
            <a:bodyPr rot="10800000" vert="eaVert" wrap="none">
              <a:spAutoFit/>
            </a:bodyPr>
            <a:lstStyle/>
            <a:p>
              <a:endParaRPr lang="zh-CN" altLang="en-US"/>
            </a:p>
          </p:txBody>
        </p:sp>
      </p:grpSp>
      <p:sp>
        <p:nvSpPr>
          <p:cNvPr id="135185" name="矩形 1">
            <a:extLst>
              <a:ext uri="{FF2B5EF4-FFF2-40B4-BE49-F238E27FC236}">
                <a16:creationId xmlns:a16="http://schemas.microsoft.com/office/drawing/2014/main" id="{F2330886-5BA7-46CE-9954-B61A3C5B972E}"/>
              </a:ext>
            </a:extLst>
          </p:cNvPr>
          <p:cNvSpPr>
            <a:spLocks noChangeArrowheads="1"/>
          </p:cNvSpPr>
          <p:nvPr/>
        </p:nvSpPr>
        <p:spPr bwMode="auto">
          <a:xfrm>
            <a:off x="6365875" y="3716339"/>
            <a:ext cx="39449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b="1"/>
              <a:t>过渡态复合体寿命为</a:t>
            </a:r>
            <a:r>
              <a:rPr lang="en-US" altLang="zh-CN" sz="2400" b="1"/>
              <a:t>10</a:t>
            </a:r>
            <a:r>
              <a:rPr lang="en-US" altLang="zh-CN" sz="2400" b="1" baseline="30000"/>
              <a:t>-13</a:t>
            </a:r>
            <a:r>
              <a:rPr lang="en-US" altLang="zh-CN" sz="2400" b="1"/>
              <a:t>s</a:t>
            </a:r>
            <a:endParaRPr lang="zh-CN" altLang="en-US" sz="2400" b="1"/>
          </a:p>
        </p:txBody>
      </p:sp>
      <p:sp>
        <p:nvSpPr>
          <p:cNvPr id="3" name="文本框 2">
            <a:extLst>
              <a:ext uri="{FF2B5EF4-FFF2-40B4-BE49-F238E27FC236}">
                <a16:creationId xmlns:a16="http://schemas.microsoft.com/office/drawing/2014/main" id="{A23E7447-0B67-4849-94BD-99498D6E3E3D}"/>
              </a:ext>
            </a:extLst>
          </p:cNvPr>
          <p:cNvSpPr txBox="1">
            <a:spLocks noChangeArrowheads="1"/>
          </p:cNvSpPr>
          <p:nvPr/>
        </p:nvSpPr>
        <p:spPr bwMode="auto">
          <a:xfrm>
            <a:off x="2208213" y="5589588"/>
            <a:ext cx="8064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b="1" dirty="0">
                <a:solidFill>
                  <a:srgbClr val="C00000"/>
                </a:solidFill>
                <a:latin typeface="黑体" panose="02010609060101010101" pitchFamily="49" charset="-122"/>
                <a:ea typeface="黑体" panose="02010609060101010101" pitchFamily="49" charset="-122"/>
              </a:rPr>
              <a:t>酶与底物过渡态</a:t>
            </a:r>
            <a:r>
              <a:rPr lang="zh-CN" altLang="en-US" b="1" dirty="0">
                <a:latin typeface="黑体" panose="02010609060101010101" pitchFamily="49" charset="-122"/>
                <a:ea typeface="黑体" panose="02010609060101010101" pitchFamily="49" charset="-122"/>
              </a:rPr>
              <a:t>而不是</a:t>
            </a:r>
            <a:r>
              <a:rPr lang="zh-CN" altLang="en-US" b="1" dirty="0">
                <a:solidFill>
                  <a:schemeClr val="tx1">
                    <a:lumMod val="95000"/>
                    <a:lumOff val="5000"/>
                  </a:schemeClr>
                </a:solidFill>
                <a:latin typeface="黑体" panose="02010609060101010101" pitchFamily="49" charset="-122"/>
                <a:ea typeface="黑体" panose="02010609060101010101" pitchFamily="49" charset="-122"/>
              </a:rPr>
              <a:t>底物本身</a:t>
            </a:r>
            <a:r>
              <a:rPr lang="zh-CN" altLang="en-US" b="1" dirty="0">
                <a:solidFill>
                  <a:srgbClr val="C00000"/>
                </a:solidFill>
                <a:latin typeface="黑体" panose="02010609060101010101" pitchFamily="49" charset="-122"/>
                <a:ea typeface="黑体" panose="02010609060101010101" pitchFamily="49" charset="-122"/>
              </a:rPr>
              <a:t>完美结合</a:t>
            </a:r>
          </a:p>
        </p:txBody>
      </p:sp>
    </p:spTree>
    <p:extLst>
      <p:ext uri="{BB962C8B-B14F-4D97-AF65-F5344CB8AC3E}">
        <p14:creationId xmlns:p14="http://schemas.microsoft.com/office/powerpoint/2010/main" val="1102112141"/>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52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518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63" grpId="0" animBg="1"/>
      <p:bldP spid="135185" grpId="0"/>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
            <a:extLst>
              <a:ext uri="{FF2B5EF4-FFF2-40B4-BE49-F238E27FC236}">
                <a16:creationId xmlns:a16="http://schemas.microsoft.com/office/drawing/2014/main" id="{D3063E47-DEE0-48F0-B3BF-D2A5E44DB9BF}"/>
              </a:ext>
            </a:extLst>
          </p:cNvPr>
          <p:cNvSpPr>
            <a:spLocks noGrp="1" noChangeArrowheads="1"/>
          </p:cNvSpPr>
          <p:nvPr>
            <p:ph type="title" idx="4294967295"/>
          </p:nvPr>
        </p:nvSpPr>
        <p:spPr>
          <a:xfrm>
            <a:off x="2553027" y="239712"/>
            <a:ext cx="6870700" cy="925513"/>
          </a:xfrm>
        </p:spPr>
        <p:txBody>
          <a:bodyPr/>
          <a:lstStyle/>
          <a:p>
            <a:r>
              <a:rPr lang="zh-CN" altLang="en-US" sz="4000" dirty="0">
                <a:solidFill>
                  <a:srgbClr val="C00000"/>
                </a:solidFill>
                <a:latin typeface="微软雅黑" panose="020B0503020204020204" pitchFamily="34" charset="-122"/>
                <a:ea typeface="微软雅黑" panose="020B0503020204020204" pitchFamily="34" charset="-122"/>
              </a:rPr>
              <a:t>新药的开发与酶学研究</a:t>
            </a:r>
          </a:p>
        </p:txBody>
      </p:sp>
      <p:sp>
        <p:nvSpPr>
          <p:cNvPr id="141315" name="内容占位符 2">
            <a:extLst>
              <a:ext uri="{FF2B5EF4-FFF2-40B4-BE49-F238E27FC236}">
                <a16:creationId xmlns:a16="http://schemas.microsoft.com/office/drawing/2014/main" id="{E5E66413-25C2-4D96-94F8-76EB1BDFE9F0}"/>
              </a:ext>
            </a:extLst>
          </p:cNvPr>
          <p:cNvSpPr>
            <a:spLocks noGrp="1" noChangeArrowheads="1"/>
          </p:cNvSpPr>
          <p:nvPr>
            <p:ph idx="4294967295"/>
          </p:nvPr>
        </p:nvSpPr>
        <p:spPr>
          <a:xfrm>
            <a:off x="5988377" y="2069746"/>
            <a:ext cx="5976664" cy="3929062"/>
          </a:xfrm>
        </p:spPr>
        <p:txBody>
          <a:bodyPr/>
          <a:lstStyle/>
          <a:p>
            <a:r>
              <a:rPr lang="zh-CN" altLang="en-US" dirty="0">
                <a:latin typeface="微软雅黑" panose="020B0503020204020204" pitchFamily="34" charset="-122"/>
                <a:ea typeface="微软雅黑" panose="020B0503020204020204" pitchFamily="34" charset="-122"/>
              </a:rPr>
              <a:t>治疗</a:t>
            </a:r>
            <a:r>
              <a:rPr lang="en-US" altLang="zh-CN" dirty="0">
                <a:latin typeface="微软雅黑" panose="020B0503020204020204" pitchFamily="34" charset="-122"/>
                <a:ea typeface="微软雅黑" panose="020B0503020204020204" pitchFamily="34" charset="-122"/>
              </a:rPr>
              <a:t>AIDS</a:t>
            </a:r>
            <a:r>
              <a:rPr lang="zh-CN" altLang="en-US" dirty="0">
                <a:latin typeface="微软雅黑" panose="020B0503020204020204" pitchFamily="34" charset="-122"/>
                <a:ea typeface="微软雅黑" panose="020B0503020204020204" pitchFamily="34" charset="-122"/>
              </a:rPr>
              <a:t>的</a:t>
            </a:r>
            <a:r>
              <a:rPr lang="en-US" altLang="zh-CN" dirty="0">
                <a:solidFill>
                  <a:srgbClr val="0000CC"/>
                </a:solidFill>
                <a:latin typeface="微软雅黑" panose="020B0503020204020204" pitchFamily="34" charset="-122"/>
                <a:ea typeface="微软雅黑" panose="020B0503020204020204" pitchFamily="34" charset="-122"/>
              </a:rPr>
              <a:t>HIV</a:t>
            </a:r>
            <a:r>
              <a:rPr lang="zh-CN" altLang="en-US" dirty="0">
                <a:solidFill>
                  <a:srgbClr val="0000CC"/>
                </a:solidFill>
                <a:latin typeface="微软雅黑" panose="020B0503020204020204" pitchFamily="34" charset="-122"/>
                <a:ea typeface="微软雅黑" panose="020B0503020204020204" pitchFamily="34" charset="-122"/>
              </a:rPr>
              <a:t>蛋白酶抑制剂</a:t>
            </a:r>
            <a:r>
              <a:rPr lang="zh-CN" altLang="en-US" dirty="0">
                <a:latin typeface="微软雅黑" panose="020B0503020204020204" pitchFamily="34" charset="-122"/>
                <a:ea typeface="微软雅黑" panose="020B0503020204020204" pitchFamily="34" charset="-122"/>
              </a:rPr>
              <a:t>（左侧图）</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pPr>
              <a:lnSpc>
                <a:spcPct val="120000"/>
              </a:lnSpc>
            </a:pPr>
            <a:r>
              <a:rPr lang="zh-CN" altLang="en-US" sz="2800" dirty="0">
                <a:latin typeface="微软雅黑" panose="020B0503020204020204" pitchFamily="34" charset="-122"/>
                <a:ea typeface="微软雅黑" panose="020B0503020204020204" pitchFamily="34" charset="-122"/>
              </a:rPr>
              <a:t>根据</a:t>
            </a:r>
            <a:r>
              <a:rPr lang="en-US" altLang="zh-CN" sz="2800" dirty="0">
                <a:latin typeface="微软雅黑" panose="020B0503020204020204" pitchFamily="34" charset="-122"/>
                <a:ea typeface="微软雅黑" panose="020B0503020204020204" pitchFamily="34" charset="-122"/>
              </a:rPr>
              <a:t>HIV</a:t>
            </a:r>
            <a:r>
              <a:rPr lang="zh-CN" altLang="en-US" sz="2800" dirty="0">
                <a:latin typeface="微软雅黑" panose="020B0503020204020204" pitchFamily="34" charset="-122"/>
                <a:ea typeface="微软雅黑" panose="020B0503020204020204" pitchFamily="34" charset="-122"/>
              </a:rPr>
              <a:t>蛋白酶分子水平作用机制而开发出的</a:t>
            </a:r>
            <a:r>
              <a:rPr lang="zh-CN" altLang="en-US" sz="2800" dirty="0">
                <a:solidFill>
                  <a:srgbClr val="0000CC"/>
                </a:solidFill>
                <a:latin typeface="微软雅黑" panose="020B0503020204020204" pitchFamily="34" charset="-122"/>
                <a:ea typeface="微软雅黑" panose="020B0503020204020204" pitchFamily="34" charset="-122"/>
              </a:rPr>
              <a:t>靶向药物，都是过渡态类似物</a:t>
            </a:r>
            <a:r>
              <a:rPr lang="zh-CN" altLang="en-US" sz="2800" dirty="0">
                <a:latin typeface="微软雅黑" panose="020B0503020204020204" pitchFamily="34" charset="-122"/>
                <a:ea typeface="微软雅黑" panose="020B0503020204020204" pitchFamily="34" charset="-122"/>
              </a:rPr>
              <a:t>。</a:t>
            </a:r>
          </a:p>
        </p:txBody>
      </p:sp>
      <p:pic>
        <p:nvPicPr>
          <p:cNvPr id="141316" name="图片 1">
            <a:extLst>
              <a:ext uri="{FF2B5EF4-FFF2-40B4-BE49-F238E27FC236}">
                <a16:creationId xmlns:a16="http://schemas.microsoft.com/office/drawing/2014/main" id="{34361BF3-6167-4F41-AA82-5707BF4335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6463" y="1268761"/>
            <a:ext cx="2985591" cy="527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A34241ED-BF66-407C-A2DB-0D83BD201D7A}"/>
              </a:ext>
            </a:extLst>
          </p:cNvPr>
          <p:cNvSpPr txBox="1"/>
          <p:nvPr/>
        </p:nvSpPr>
        <p:spPr>
          <a:xfrm>
            <a:off x="1343009" y="2195372"/>
            <a:ext cx="1253852" cy="400110"/>
          </a:xfrm>
          <a:prstGeom prst="rect">
            <a:avLst/>
          </a:prstGeom>
          <a:noFill/>
        </p:spPr>
        <p:txBody>
          <a:bodyPr wrap="square">
            <a:spAutoFit/>
          </a:bodyPr>
          <a:lstStyle/>
          <a:p>
            <a:r>
              <a:rPr lang="zh-CN" altLang="en-US" sz="2000" dirty="0"/>
              <a:t>茚地那韦</a:t>
            </a:r>
          </a:p>
        </p:txBody>
      </p:sp>
      <p:sp>
        <p:nvSpPr>
          <p:cNvPr id="8" name="文本框 7">
            <a:extLst>
              <a:ext uri="{FF2B5EF4-FFF2-40B4-BE49-F238E27FC236}">
                <a16:creationId xmlns:a16="http://schemas.microsoft.com/office/drawing/2014/main" id="{F12520F0-2E0A-4892-AD7B-DE0B83D79B55}"/>
              </a:ext>
            </a:extLst>
          </p:cNvPr>
          <p:cNvSpPr txBox="1"/>
          <p:nvPr/>
        </p:nvSpPr>
        <p:spPr>
          <a:xfrm>
            <a:off x="1317810" y="4872907"/>
            <a:ext cx="1253852" cy="400110"/>
          </a:xfrm>
          <a:prstGeom prst="rect">
            <a:avLst/>
          </a:prstGeom>
          <a:noFill/>
        </p:spPr>
        <p:txBody>
          <a:bodyPr wrap="square">
            <a:spAutoFit/>
          </a:bodyPr>
          <a:lstStyle/>
          <a:p>
            <a:r>
              <a:rPr lang="zh-CN" altLang="en-US" sz="2000" dirty="0"/>
              <a:t>洛匹那韦</a:t>
            </a:r>
          </a:p>
        </p:txBody>
      </p:sp>
      <p:sp>
        <p:nvSpPr>
          <p:cNvPr id="9" name="文本框 8">
            <a:extLst>
              <a:ext uri="{FF2B5EF4-FFF2-40B4-BE49-F238E27FC236}">
                <a16:creationId xmlns:a16="http://schemas.microsoft.com/office/drawing/2014/main" id="{93E67CCB-376C-445A-9427-F10149CCFAFB}"/>
              </a:ext>
            </a:extLst>
          </p:cNvPr>
          <p:cNvSpPr txBox="1"/>
          <p:nvPr/>
        </p:nvSpPr>
        <p:spPr>
          <a:xfrm>
            <a:off x="1294279" y="6157130"/>
            <a:ext cx="1253852" cy="400110"/>
          </a:xfrm>
          <a:prstGeom prst="rect">
            <a:avLst/>
          </a:prstGeom>
          <a:noFill/>
        </p:spPr>
        <p:txBody>
          <a:bodyPr wrap="square">
            <a:spAutoFit/>
          </a:bodyPr>
          <a:lstStyle/>
          <a:p>
            <a:r>
              <a:rPr lang="zh-CN" altLang="en-US" sz="2000" dirty="0"/>
              <a:t>沙喹那韦</a:t>
            </a:r>
          </a:p>
        </p:txBody>
      </p:sp>
      <p:sp>
        <p:nvSpPr>
          <p:cNvPr id="10" name="文本框 9">
            <a:extLst>
              <a:ext uri="{FF2B5EF4-FFF2-40B4-BE49-F238E27FC236}">
                <a16:creationId xmlns:a16="http://schemas.microsoft.com/office/drawing/2014/main" id="{5CF52406-0250-4393-A38E-5F361F0F9EFC}"/>
              </a:ext>
            </a:extLst>
          </p:cNvPr>
          <p:cNvSpPr txBox="1"/>
          <p:nvPr/>
        </p:nvSpPr>
        <p:spPr>
          <a:xfrm>
            <a:off x="1343009" y="3634167"/>
            <a:ext cx="1253852" cy="400110"/>
          </a:xfrm>
          <a:prstGeom prst="rect">
            <a:avLst/>
          </a:prstGeom>
          <a:noFill/>
        </p:spPr>
        <p:txBody>
          <a:bodyPr wrap="square">
            <a:spAutoFit/>
          </a:bodyPr>
          <a:lstStyle/>
          <a:p>
            <a:r>
              <a:rPr lang="zh-CN" altLang="en-US" sz="2000" dirty="0"/>
              <a:t>奈非那韦</a:t>
            </a:r>
          </a:p>
        </p:txBody>
      </p:sp>
    </p:spTree>
    <p:extLst>
      <p:ext uri="{BB962C8B-B14F-4D97-AF65-F5344CB8AC3E}">
        <p14:creationId xmlns:p14="http://schemas.microsoft.com/office/powerpoint/2010/main" val="3916918161"/>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D483148-CAE4-FC0E-53EA-BF9BFF5A558B}"/>
              </a:ext>
            </a:extLst>
          </p:cNvPr>
          <p:cNvSpPr>
            <a:spLocks noGrp="1"/>
          </p:cNvSpPr>
          <p:nvPr>
            <p:ph type="title"/>
          </p:nvPr>
        </p:nvSpPr>
        <p:spPr>
          <a:xfrm>
            <a:off x="2135560" y="980728"/>
            <a:ext cx="7920880" cy="925512"/>
          </a:xfrm>
        </p:spPr>
        <p:txBody>
          <a:bodyPr/>
          <a:lstStyle/>
          <a:p>
            <a:pPr indent="-540000"/>
            <a:r>
              <a:rPr lang="en-US" altLang="zh-CN" sz="3200" dirty="0">
                <a:solidFill>
                  <a:srgbClr val="C00000"/>
                </a:solidFill>
                <a:latin typeface="黑体" panose="02010609060101010101" pitchFamily="49" charset="-122"/>
                <a:ea typeface="黑体" panose="02010609060101010101" pitchFamily="49" charset="-122"/>
              </a:rPr>
              <a:t>4. </a:t>
            </a:r>
            <a:r>
              <a:rPr lang="zh-CN" altLang="en-US" sz="3200" dirty="0">
                <a:solidFill>
                  <a:srgbClr val="C00000"/>
                </a:solidFill>
                <a:latin typeface="黑体" panose="02010609060101010101" pitchFamily="49" charset="-122"/>
                <a:ea typeface="黑体" panose="02010609060101010101" pitchFamily="49" charset="-122"/>
              </a:rPr>
              <a:t>酶催化机制涉及邻近效应、定向排列、表面效应，并呈现多元催化</a:t>
            </a:r>
          </a:p>
        </p:txBody>
      </p:sp>
      <p:sp>
        <p:nvSpPr>
          <p:cNvPr id="4" name="内容占位符 3">
            <a:extLst>
              <a:ext uri="{FF2B5EF4-FFF2-40B4-BE49-F238E27FC236}">
                <a16:creationId xmlns:a16="http://schemas.microsoft.com/office/drawing/2014/main" id="{0CDCAD02-E395-BBD4-4905-444DBAAB481E}"/>
              </a:ext>
            </a:extLst>
          </p:cNvPr>
          <p:cNvSpPr>
            <a:spLocks noGrp="1"/>
          </p:cNvSpPr>
          <p:nvPr>
            <p:ph idx="1"/>
          </p:nvPr>
        </p:nvSpPr>
        <p:spPr>
          <a:xfrm>
            <a:off x="2567608" y="2204864"/>
            <a:ext cx="7992888" cy="3168352"/>
          </a:xfrm>
        </p:spPr>
        <p:txBody>
          <a:bodyPr/>
          <a:lstStyle/>
          <a:p>
            <a:pPr algn="ctr">
              <a:lnSpc>
                <a:spcPct val="130000"/>
              </a:lnSpc>
            </a:pPr>
            <a:endParaRPr lang="en-US" altLang="zh-CN" sz="2800" dirty="0">
              <a:solidFill>
                <a:srgbClr val="0000CC"/>
              </a:solidFill>
            </a:endParaRPr>
          </a:p>
          <a:p>
            <a:pPr>
              <a:lnSpc>
                <a:spcPct val="110000"/>
              </a:lnSpc>
              <a:spcBef>
                <a:spcPts val="0"/>
              </a:spcBef>
            </a:pPr>
            <a:r>
              <a:rPr lang="zh-CN" altLang="en-US" sz="2800" b="0" dirty="0">
                <a:solidFill>
                  <a:srgbClr val="0000CC"/>
                </a:solidFill>
                <a:latin typeface="黑体" panose="02010609060101010101" pitchFamily="49" charset="-122"/>
                <a:ea typeface="黑体" panose="02010609060101010101" pitchFamily="49" charset="-122"/>
              </a:rPr>
              <a:t>邻近效应</a:t>
            </a:r>
            <a:r>
              <a:rPr lang="zh-CN" altLang="en-US" sz="2800" b="0" dirty="0">
                <a:solidFill>
                  <a:schemeClr val="tx1">
                    <a:lumMod val="95000"/>
                    <a:lumOff val="5000"/>
                  </a:schemeClr>
                </a:solidFill>
                <a:latin typeface="黑体" panose="02010609060101010101" pitchFamily="49" charset="-122"/>
                <a:ea typeface="黑体" panose="02010609060101010101" pitchFamily="49" charset="-122"/>
              </a:rPr>
              <a:t>与</a:t>
            </a:r>
            <a:r>
              <a:rPr lang="zh-CN" altLang="en-US" sz="2800" b="0" dirty="0">
                <a:solidFill>
                  <a:srgbClr val="0000CC"/>
                </a:solidFill>
                <a:latin typeface="黑体" panose="02010609060101010101" pitchFamily="49" charset="-122"/>
                <a:ea typeface="黑体" panose="02010609060101010101" pitchFamily="49" charset="-122"/>
              </a:rPr>
              <a:t>定向排列</a:t>
            </a:r>
            <a:r>
              <a:rPr lang="zh-CN" altLang="en-US" sz="2800" b="0" dirty="0">
                <a:solidFill>
                  <a:schemeClr val="tx1">
                    <a:lumMod val="95000"/>
                    <a:lumOff val="5000"/>
                  </a:schemeClr>
                </a:solidFill>
                <a:latin typeface="黑体" panose="02010609060101010101" pitchFamily="49" charset="-122"/>
                <a:ea typeface="黑体" panose="02010609060101010101" pitchFamily="49" charset="-122"/>
              </a:rPr>
              <a:t>使得各底物正确定位于酶的活性中心 </a:t>
            </a:r>
            <a:endParaRPr lang="en-US" altLang="zh-CN" sz="2800" b="0" dirty="0">
              <a:solidFill>
                <a:schemeClr val="tx1">
                  <a:lumMod val="95000"/>
                  <a:lumOff val="5000"/>
                </a:schemeClr>
              </a:solidFill>
              <a:latin typeface="黑体" panose="02010609060101010101" pitchFamily="49" charset="-122"/>
              <a:ea typeface="黑体" panose="02010609060101010101" pitchFamily="49" charset="-122"/>
            </a:endParaRPr>
          </a:p>
          <a:p>
            <a:pPr>
              <a:lnSpc>
                <a:spcPct val="130000"/>
              </a:lnSpc>
              <a:spcBef>
                <a:spcPts val="0"/>
              </a:spcBef>
            </a:pPr>
            <a:r>
              <a:rPr lang="zh-CN" altLang="en-US" sz="2800" b="0" dirty="0">
                <a:solidFill>
                  <a:srgbClr val="0000CC"/>
                </a:solidFill>
                <a:latin typeface="黑体" panose="02010609060101010101" pitchFamily="49" charset="-122"/>
                <a:ea typeface="黑体" panose="02010609060101010101" pitchFamily="49" charset="-122"/>
              </a:rPr>
              <a:t>表面效应</a:t>
            </a:r>
            <a:r>
              <a:rPr lang="zh-CN" altLang="en-US" sz="2800" b="0" dirty="0">
                <a:solidFill>
                  <a:schemeClr val="tx1">
                    <a:lumMod val="95000"/>
                    <a:lumOff val="5000"/>
                  </a:schemeClr>
                </a:solidFill>
                <a:latin typeface="黑体" panose="02010609060101010101" pitchFamily="49" charset="-122"/>
                <a:ea typeface="黑体" panose="02010609060101010101" pitchFamily="49" charset="-122"/>
              </a:rPr>
              <a:t>使底物分子去溶剂化 </a:t>
            </a:r>
            <a:endParaRPr lang="en-US" altLang="zh-CN" sz="2800" b="0" dirty="0">
              <a:solidFill>
                <a:schemeClr val="tx1">
                  <a:lumMod val="95000"/>
                  <a:lumOff val="5000"/>
                </a:schemeClr>
              </a:solidFill>
              <a:latin typeface="黑体" panose="02010609060101010101" pitchFamily="49" charset="-122"/>
              <a:ea typeface="黑体" panose="02010609060101010101" pitchFamily="49" charset="-122"/>
            </a:endParaRPr>
          </a:p>
          <a:p>
            <a:pPr>
              <a:lnSpc>
                <a:spcPct val="130000"/>
              </a:lnSpc>
              <a:spcBef>
                <a:spcPts val="0"/>
              </a:spcBef>
            </a:pPr>
            <a:r>
              <a:rPr lang="zh-CN" altLang="en-US" sz="2800" b="0" dirty="0">
                <a:solidFill>
                  <a:srgbClr val="0000CC"/>
                </a:solidFill>
                <a:latin typeface="黑体" panose="02010609060101010101" pitchFamily="49" charset="-122"/>
                <a:ea typeface="黑体" panose="02010609060101010101" pitchFamily="49" charset="-122"/>
              </a:rPr>
              <a:t>多元催化</a:t>
            </a:r>
            <a:r>
              <a:rPr lang="zh-CN" altLang="en-US" sz="2800" b="0" dirty="0">
                <a:solidFill>
                  <a:schemeClr val="tx1">
                    <a:lumMod val="95000"/>
                    <a:lumOff val="5000"/>
                  </a:schemeClr>
                </a:solidFill>
                <a:latin typeface="黑体" panose="02010609060101010101" pitchFamily="49" charset="-122"/>
                <a:ea typeface="黑体" panose="02010609060101010101" pitchFamily="49" charset="-122"/>
              </a:rPr>
              <a:t>可提高催化效率</a:t>
            </a:r>
          </a:p>
        </p:txBody>
      </p:sp>
    </p:spTree>
    <p:extLst>
      <p:ext uri="{BB962C8B-B14F-4D97-AF65-F5344CB8AC3E}">
        <p14:creationId xmlns:p14="http://schemas.microsoft.com/office/powerpoint/2010/main" val="32816631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3" name="Rectangle 3">
            <a:extLst>
              <a:ext uri="{FF2B5EF4-FFF2-40B4-BE49-F238E27FC236}">
                <a16:creationId xmlns:a16="http://schemas.microsoft.com/office/drawing/2014/main" id="{CAFFFAC9-63E4-498C-A68D-6B43E375FE9C}"/>
              </a:ext>
            </a:extLst>
          </p:cNvPr>
          <p:cNvSpPr>
            <a:spLocks noChangeArrowheads="1"/>
          </p:cNvSpPr>
          <p:nvPr/>
        </p:nvSpPr>
        <p:spPr bwMode="auto">
          <a:xfrm>
            <a:off x="2207419" y="1455462"/>
            <a:ext cx="7887147" cy="1602555"/>
          </a:xfrm>
          <a:prstGeom prst="rect">
            <a:avLst/>
          </a:prstGeom>
          <a:noFill/>
          <a:ln w="9525">
            <a:noFill/>
            <a:miter lim="800000"/>
            <a:headEnd/>
            <a:tailEnd/>
          </a:ln>
          <a:effectLst/>
        </p:spPr>
        <p:txBody>
          <a:bodyPr wrap="square">
            <a:spAutoFit/>
          </a:bodyPr>
          <a:lstStyle/>
          <a:p>
            <a:pPr marL="457200" indent="-457200" eaLnBrk="1" hangingPunct="1">
              <a:lnSpc>
                <a:spcPct val="170000"/>
              </a:lnSpc>
              <a:buFont typeface="Arial" panose="020B0604020202020204" pitchFamily="34" charset="0"/>
              <a:buChar char="•"/>
              <a:defRPr/>
            </a:pPr>
            <a:r>
              <a:rPr kumimoji="1" lang="zh-CN" altLang="en-US" sz="2800" dirty="0">
                <a:solidFill>
                  <a:srgbClr val="0000CC"/>
                </a:solidFill>
                <a:latin typeface="Times New Roman" pitchFamily="18" charset="0"/>
                <a:ea typeface="黑体" pitchFamily="49" charset="-122"/>
              </a:rPr>
              <a:t>邻近效应（</a:t>
            </a:r>
            <a:r>
              <a:rPr kumimoji="1" lang="en-US" altLang="zh-CN" sz="2800" dirty="0">
                <a:solidFill>
                  <a:srgbClr val="0000CC"/>
                </a:solidFill>
                <a:latin typeface="Times New Roman" pitchFamily="18" charset="0"/>
                <a:ea typeface="黑体" pitchFamily="49" charset="-122"/>
              </a:rPr>
              <a:t>proximity effect</a:t>
            </a:r>
            <a:r>
              <a:rPr kumimoji="1" lang="zh-CN" altLang="en-US" sz="2800" dirty="0">
                <a:solidFill>
                  <a:srgbClr val="0000CC"/>
                </a:solidFill>
                <a:latin typeface="Times New Roman" pitchFamily="18" charset="0"/>
                <a:ea typeface="黑体" pitchFamily="49" charset="-122"/>
              </a:rPr>
              <a:t>）：</a:t>
            </a:r>
          </a:p>
          <a:p>
            <a:pPr eaLnBrk="1" hangingPunct="1">
              <a:lnSpc>
                <a:spcPct val="110000"/>
              </a:lnSpc>
              <a:defRPr/>
            </a:pPr>
            <a:r>
              <a:rPr kumimoji="1" lang="zh-CN" altLang="en-US" sz="2400" dirty="0">
                <a:latin typeface="Times New Roman" pitchFamily="18" charset="0"/>
                <a:ea typeface="黑体" pitchFamily="49" charset="-122"/>
              </a:rPr>
              <a:t>底物在酶活性中心的</a:t>
            </a:r>
            <a:r>
              <a:rPr kumimoji="1" lang="zh-CN" altLang="en-US" sz="2400" dirty="0">
                <a:solidFill>
                  <a:srgbClr val="0000CC"/>
                </a:solidFill>
                <a:latin typeface="Times New Roman" pitchFamily="18" charset="0"/>
                <a:ea typeface="黑体" pitchFamily="49" charset="-122"/>
              </a:rPr>
              <a:t>局部浓度得以极大的升高，</a:t>
            </a:r>
            <a:r>
              <a:rPr kumimoji="1" lang="zh-CN" altLang="en-US" sz="2400" dirty="0">
                <a:latin typeface="Times New Roman" pitchFamily="18" charset="0"/>
                <a:ea typeface="黑体" pitchFamily="49" charset="-122"/>
              </a:rPr>
              <a:t>从而大大增加互相碰撞的机会，使反应速率显著提高的一种效应。</a:t>
            </a:r>
            <a:r>
              <a:rPr kumimoji="1" lang="zh-CN" altLang="en-US" sz="2400" dirty="0">
                <a:effectLst>
                  <a:outerShdw blurRad="38100" dist="38100" dir="2700000" algn="tl">
                    <a:srgbClr val="C0C0C0"/>
                  </a:outerShdw>
                </a:effectLst>
                <a:latin typeface="Arial" pitchFamily="34" charset="0"/>
              </a:rPr>
              <a:t> </a:t>
            </a:r>
          </a:p>
        </p:txBody>
      </p:sp>
      <p:sp>
        <p:nvSpPr>
          <p:cNvPr id="146436" name="Rectangle 3">
            <a:extLst>
              <a:ext uri="{FF2B5EF4-FFF2-40B4-BE49-F238E27FC236}">
                <a16:creationId xmlns:a16="http://schemas.microsoft.com/office/drawing/2014/main" id="{2BD78E2D-BACE-4F67-AF63-6C506781C0AE}"/>
              </a:ext>
            </a:extLst>
          </p:cNvPr>
          <p:cNvSpPr>
            <a:spLocks noChangeArrowheads="1"/>
          </p:cNvSpPr>
          <p:nvPr/>
        </p:nvSpPr>
        <p:spPr bwMode="auto">
          <a:xfrm>
            <a:off x="2207419" y="3344590"/>
            <a:ext cx="7777163" cy="145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457200" indent="-457200" eaLnBrk="1" hangingPunct="1">
              <a:lnSpc>
                <a:spcPct val="120000"/>
              </a:lnSpc>
              <a:spcBef>
                <a:spcPct val="50000"/>
              </a:spcBef>
            </a:pPr>
            <a:r>
              <a:rPr kumimoji="1" lang="zh-CN" altLang="en-US" sz="2800" dirty="0">
                <a:solidFill>
                  <a:srgbClr val="0000CC"/>
                </a:solidFill>
                <a:latin typeface="Times New Roman" panose="02020603050405020304" pitchFamily="18" charset="0"/>
                <a:ea typeface="黑体" panose="02010609060101010101" pitchFamily="49" charset="-122"/>
              </a:rPr>
              <a:t>定向排列（</a:t>
            </a:r>
            <a:r>
              <a:rPr kumimoji="1" lang="en-US" altLang="zh-CN" sz="2800" dirty="0">
                <a:solidFill>
                  <a:srgbClr val="0000CC"/>
                </a:solidFill>
                <a:latin typeface="Times New Roman" panose="02020603050405020304" pitchFamily="18" charset="0"/>
                <a:ea typeface="黑体" panose="02010609060101010101" pitchFamily="49" charset="-122"/>
              </a:rPr>
              <a:t>orientation arrangement</a:t>
            </a:r>
            <a:r>
              <a:rPr kumimoji="1" lang="zh-CN" altLang="en-US" sz="2800" dirty="0">
                <a:solidFill>
                  <a:srgbClr val="0000CC"/>
                </a:solidFill>
                <a:latin typeface="Times New Roman" panose="02020603050405020304" pitchFamily="18" charset="0"/>
                <a:ea typeface="黑体" panose="02010609060101010101" pitchFamily="49" charset="-122"/>
              </a:rPr>
              <a:t>）：</a:t>
            </a:r>
          </a:p>
          <a:p>
            <a:pPr eaLnBrk="1" hangingPunct="1">
              <a:lnSpc>
                <a:spcPct val="120000"/>
              </a:lnSpc>
              <a:spcBef>
                <a:spcPct val="0"/>
              </a:spcBef>
              <a:buFontTx/>
              <a:buNone/>
            </a:pPr>
            <a:r>
              <a:rPr kumimoji="1" lang="zh-CN" altLang="en-US" sz="2400" dirty="0">
                <a:latin typeface="Times New Roman" panose="02020603050405020304" pitchFamily="18" charset="0"/>
                <a:ea typeface="黑体" panose="02010609060101010101" pitchFamily="49" charset="-122"/>
              </a:rPr>
              <a:t>指底物的反应基团之间，以及酶的催化基团与底物的反应基团之间的正确取位产生的效应。</a:t>
            </a:r>
          </a:p>
        </p:txBody>
      </p:sp>
      <p:pic>
        <p:nvPicPr>
          <p:cNvPr id="146437" name="图片 2">
            <a:extLst>
              <a:ext uri="{FF2B5EF4-FFF2-40B4-BE49-F238E27FC236}">
                <a16:creationId xmlns:a16="http://schemas.microsoft.com/office/drawing/2014/main" id="{87A61945-4EB9-4902-BA02-1A10587C9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801" y="4941168"/>
            <a:ext cx="3241675"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F190AF34-0741-A20F-45D7-248AF339FB60}"/>
              </a:ext>
            </a:extLst>
          </p:cNvPr>
          <p:cNvSpPr txBox="1"/>
          <p:nvPr/>
        </p:nvSpPr>
        <p:spPr>
          <a:xfrm>
            <a:off x="2496258" y="376191"/>
            <a:ext cx="6840760" cy="1007263"/>
          </a:xfrm>
          <a:prstGeom prst="rect">
            <a:avLst/>
          </a:prstGeom>
          <a:noFill/>
        </p:spPr>
        <p:txBody>
          <a:bodyPr wrap="square">
            <a:spAutoFit/>
          </a:bodyPr>
          <a:lstStyle/>
          <a:p>
            <a:pPr algn="ctr">
              <a:lnSpc>
                <a:spcPct val="110000"/>
              </a:lnSpc>
            </a:pPr>
            <a:r>
              <a:rPr lang="zh-CN" altLang="en-US" sz="2800" dirty="0">
                <a:solidFill>
                  <a:srgbClr val="C00000"/>
                </a:solidFill>
                <a:latin typeface="微软雅黑" panose="020B0503020204020204" pitchFamily="34" charset="-122"/>
                <a:ea typeface="微软雅黑" panose="020B0503020204020204" pitchFamily="34" charset="-122"/>
              </a:rPr>
              <a:t>邻近效应和定向排列将分子间的反应变成类似分子内的反应，使反应速率显著提高</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6436"/>
                                        </p:tgtEl>
                                        <p:attrNameLst>
                                          <p:attrName>style.visibility</p:attrName>
                                        </p:attrNameLst>
                                      </p:cBhvr>
                                      <p:to>
                                        <p:strVal val="visible"/>
                                      </p:to>
                                    </p:set>
                                    <p:animEffect transition="in" filter="fade">
                                      <p:cBhvr>
                                        <p:cTn id="7" dur="500"/>
                                        <p:tgtEl>
                                          <p:spTgt spid="146436"/>
                                        </p:tgtEl>
                                      </p:cBhvr>
                                    </p:animEffect>
                                  </p:childTnLst>
                                </p:cTn>
                              </p:par>
                              <p:par>
                                <p:cTn id="8" presetID="10" presetClass="entr" presetSubtype="0" fill="hold" nodeType="withEffect">
                                  <p:stCondLst>
                                    <p:cond delay="0"/>
                                  </p:stCondLst>
                                  <p:childTnLst>
                                    <p:set>
                                      <p:cBhvr>
                                        <p:cTn id="9" dur="1" fill="hold">
                                          <p:stCondLst>
                                            <p:cond delay="0"/>
                                          </p:stCondLst>
                                        </p:cTn>
                                        <p:tgtEl>
                                          <p:spTgt spid="146437"/>
                                        </p:tgtEl>
                                        <p:attrNameLst>
                                          <p:attrName>style.visibility</p:attrName>
                                        </p:attrNameLst>
                                      </p:cBhvr>
                                      <p:to>
                                        <p:strVal val="visible"/>
                                      </p:to>
                                    </p:set>
                                    <p:animEffect transition="in" filter="fade">
                                      <p:cBhvr>
                                        <p:cTn id="10" dur="500"/>
                                        <p:tgtEl>
                                          <p:spTgt spid="146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ext Box 2">
            <a:extLst>
              <a:ext uri="{FF2B5EF4-FFF2-40B4-BE49-F238E27FC236}">
                <a16:creationId xmlns:a16="http://schemas.microsoft.com/office/drawing/2014/main" id="{8C132192-65C8-4B5C-A8A0-2C1A425D8BFE}"/>
              </a:ext>
            </a:extLst>
          </p:cNvPr>
          <p:cNvSpPr txBox="1">
            <a:spLocks noChangeArrowheads="1"/>
          </p:cNvSpPr>
          <p:nvPr/>
        </p:nvSpPr>
        <p:spPr bwMode="auto">
          <a:xfrm>
            <a:off x="1847850" y="692150"/>
            <a:ext cx="84963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lang="zh-CN" altLang="en-US">
                <a:solidFill>
                  <a:srgbClr val="C00000"/>
                </a:solidFill>
                <a:latin typeface="Times New Roman" panose="02020603050405020304" pitchFamily="18" charset="0"/>
                <a:ea typeface="黑体" panose="02010609060101010101" pitchFamily="49" charset="-122"/>
              </a:rPr>
              <a:t>表面效应（</a:t>
            </a:r>
            <a:r>
              <a:rPr lang="en-US" altLang="zh-CN">
                <a:solidFill>
                  <a:srgbClr val="C00000"/>
                </a:solidFill>
                <a:latin typeface="Times New Roman" panose="02020603050405020304" pitchFamily="18" charset="0"/>
                <a:ea typeface="黑体" panose="02010609060101010101" pitchFamily="49" charset="-122"/>
              </a:rPr>
              <a:t>surface effect)</a:t>
            </a:r>
            <a:r>
              <a:rPr lang="zh-CN" altLang="en-US">
                <a:solidFill>
                  <a:srgbClr val="C00000"/>
                </a:solidFill>
                <a:latin typeface="Times New Roman" panose="02020603050405020304" pitchFamily="18" charset="0"/>
                <a:ea typeface="黑体" panose="02010609060101010101" pitchFamily="49" charset="-122"/>
              </a:rPr>
              <a:t>使底物分子去溶剂化</a:t>
            </a:r>
          </a:p>
        </p:txBody>
      </p:sp>
      <p:sp>
        <p:nvSpPr>
          <p:cNvPr id="155651" name="Rectangle 3">
            <a:extLst>
              <a:ext uri="{FF2B5EF4-FFF2-40B4-BE49-F238E27FC236}">
                <a16:creationId xmlns:a16="http://schemas.microsoft.com/office/drawing/2014/main" id="{24DC8B5D-F7E8-4555-A5F9-18C1C70C4A4A}"/>
              </a:ext>
            </a:extLst>
          </p:cNvPr>
          <p:cNvSpPr>
            <a:spLocks noChangeArrowheads="1"/>
          </p:cNvSpPr>
          <p:nvPr/>
        </p:nvSpPr>
        <p:spPr bwMode="auto">
          <a:xfrm>
            <a:off x="1379476" y="1844824"/>
            <a:ext cx="9433048" cy="4408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342900" indent="-342900" eaLnBrk="1" hangingPunct="1">
              <a:lnSpc>
                <a:spcPct val="120000"/>
              </a:lnSpc>
              <a:spcBef>
                <a:spcPct val="50000"/>
              </a:spcBef>
            </a:pPr>
            <a:r>
              <a:rPr kumimoji="1" lang="zh-CN" altLang="en-US" sz="2400" dirty="0">
                <a:latin typeface="Times New Roman" panose="02020603050405020304" pitchFamily="18" charset="0"/>
                <a:ea typeface="黑体" panose="02010609060101010101" pitchFamily="49" charset="-122"/>
              </a:rPr>
              <a:t>酶的活性中心多为</a:t>
            </a:r>
            <a:r>
              <a:rPr kumimoji="1" lang="zh-CN" altLang="en-US" sz="2400" dirty="0">
                <a:solidFill>
                  <a:srgbClr val="0000CC"/>
                </a:solidFill>
                <a:latin typeface="Times New Roman" panose="02020603050405020304" pitchFamily="18" charset="0"/>
                <a:ea typeface="黑体" panose="02010609060101010101" pitchFamily="49" charset="-122"/>
              </a:rPr>
              <a:t>疏水“口袋”</a:t>
            </a:r>
            <a:r>
              <a:rPr kumimoji="1" lang="zh-CN" altLang="en-US" sz="2400" dirty="0">
                <a:latin typeface="Times New Roman" panose="02020603050405020304" pitchFamily="18" charset="0"/>
                <a:ea typeface="黑体" panose="02010609060101010101" pitchFamily="49" charset="-122"/>
              </a:rPr>
              <a:t>，疏水环境可使</a:t>
            </a:r>
            <a:r>
              <a:rPr kumimoji="1" lang="zh-CN" altLang="en-US" sz="2400" dirty="0">
                <a:solidFill>
                  <a:srgbClr val="0000CC"/>
                </a:solidFill>
                <a:latin typeface="Times New Roman" panose="02020603050405020304" pitchFamily="18" charset="0"/>
                <a:ea typeface="黑体" panose="02010609060101010101" pitchFamily="49" charset="-122"/>
              </a:rPr>
              <a:t>底物分子脱溶剂化（</a:t>
            </a:r>
            <a:r>
              <a:rPr kumimoji="1" lang="en-US" altLang="zh-CN" sz="2400" dirty="0" err="1">
                <a:solidFill>
                  <a:srgbClr val="0000CC"/>
                </a:solidFill>
                <a:latin typeface="Times New Roman" panose="02020603050405020304" pitchFamily="18" charset="0"/>
                <a:ea typeface="黑体" panose="02010609060101010101" pitchFamily="49" charset="-122"/>
              </a:rPr>
              <a:t>desolvation</a:t>
            </a:r>
            <a:r>
              <a:rPr kumimoji="1" lang="zh-CN" altLang="en-US" sz="2400" dirty="0">
                <a:solidFill>
                  <a:srgbClr val="0000CC"/>
                </a:solidFill>
                <a:latin typeface="Times New Roman" panose="02020603050405020304" pitchFamily="18" charset="0"/>
                <a:ea typeface="黑体" panose="02010609060101010101" pitchFamily="49" charset="-122"/>
              </a:rPr>
              <a:t>），</a:t>
            </a:r>
            <a:r>
              <a:rPr kumimoji="1" lang="zh-CN" altLang="en-US" sz="2400" dirty="0">
                <a:latin typeface="Times New Roman" panose="02020603050405020304" pitchFamily="18" charset="0"/>
                <a:ea typeface="黑体" panose="02010609060101010101" pitchFamily="49" charset="-122"/>
              </a:rPr>
              <a:t>排除周围大量水分子对酶和底物分子中功能基团的干扰性吸引或排斥，</a:t>
            </a:r>
            <a:r>
              <a:rPr kumimoji="1" lang="zh-CN" altLang="en-US" sz="2400" dirty="0">
                <a:solidFill>
                  <a:srgbClr val="C00000"/>
                </a:solidFill>
                <a:latin typeface="Times New Roman" panose="02020603050405020304" pitchFamily="18" charset="0"/>
                <a:ea typeface="黑体" panose="02010609060101010101" pitchFamily="49" charset="-122"/>
              </a:rPr>
              <a:t>防止二者之间形成水化膜</a:t>
            </a:r>
            <a:r>
              <a:rPr kumimoji="1" lang="zh-CN" altLang="en-US" sz="2400" dirty="0">
                <a:latin typeface="Times New Roman" panose="02020603050405020304" pitchFamily="18" charset="0"/>
                <a:ea typeface="黑体" panose="02010609060101010101" pitchFamily="49" charset="-122"/>
              </a:rPr>
              <a:t>，或</a:t>
            </a:r>
            <a:r>
              <a:rPr kumimoji="1" lang="zh-CN" altLang="en-US" sz="2400" dirty="0">
                <a:solidFill>
                  <a:srgbClr val="C00000"/>
                </a:solidFill>
                <a:latin typeface="Times New Roman" panose="02020603050405020304" pitchFamily="18" charset="0"/>
                <a:ea typeface="黑体" panose="02010609060101010101" pitchFamily="49" charset="-122"/>
              </a:rPr>
              <a:t>防止水分子参与反应</a:t>
            </a:r>
            <a:r>
              <a:rPr kumimoji="1" lang="zh-CN" altLang="en-US" sz="2400" dirty="0">
                <a:latin typeface="Times New Roman" panose="02020603050405020304" pitchFamily="18" charset="0"/>
                <a:ea typeface="黑体" panose="02010609060101010101" pitchFamily="49" charset="-122"/>
              </a:rPr>
              <a:t>，有利于底物和酶分子之间的直接密切接触和相互结合。</a:t>
            </a:r>
            <a:endParaRPr kumimoji="1" lang="en-US" altLang="zh-CN" sz="2400" dirty="0">
              <a:latin typeface="Times New Roman" panose="02020603050405020304" pitchFamily="18" charset="0"/>
              <a:ea typeface="黑体" panose="02010609060101010101" pitchFamily="49" charset="-122"/>
            </a:endParaRPr>
          </a:p>
          <a:p>
            <a:pPr marL="342900" indent="-342900" eaLnBrk="1" hangingPunct="1">
              <a:lnSpc>
                <a:spcPct val="120000"/>
              </a:lnSpc>
              <a:spcBef>
                <a:spcPct val="50000"/>
              </a:spcBef>
            </a:pPr>
            <a:endParaRPr kumimoji="1" lang="en-US" altLang="zh-CN" sz="2400" dirty="0">
              <a:latin typeface="Times New Roman" panose="02020603050405020304" pitchFamily="18" charset="0"/>
              <a:ea typeface="黑体" panose="02010609060101010101" pitchFamily="49" charset="-122"/>
            </a:endParaRPr>
          </a:p>
          <a:p>
            <a:pPr marL="342900" indent="-342900" eaLnBrk="1" hangingPunct="1">
              <a:lnSpc>
                <a:spcPct val="120000"/>
              </a:lnSpc>
              <a:spcBef>
                <a:spcPct val="50000"/>
              </a:spcBef>
            </a:pPr>
            <a:r>
              <a:rPr kumimoji="1" lang="zh-CN" altLang="en-US" sz="2400" dirty="0">
                <a:latin typeface="Times New Roman" panose="02020603050405020304" pitchFamily="18" charset="0"/>
                <a:ea typeface="黑体" panose="02010609060101010101" pitchFamily="49" charset="-122"/>
              </a:rPr>
              <a:t>酶的活性中心常是一个</a:t>
            </a:r>
            <a:r>
              <a:rPr kumimoji="1" lang="zh-CN" altLang="en-US" sz="2400" dirty="0">
                <a:solidFill>
                  <a:srgbClr val="0000CC"/>
                </a:solidFill>
                <a:latin typeface="Times New Roman" panose="02020603050405020304" pitchFamily="18" charset="0"/>
                <a:ea typeface="黑体" panose="02010609060101010101" pitchFamily="49" charset="-122"/>
              </a:rPr>
              <a:t>低介电区域</a:t>
            </a:r>
            <a:r>
              <a:rPr kumimoji="1" lang="zh-CN" altLang="en-US" sz="2400" dirty="0">
                <a:latin typeface="Times New Roman" panose="02020603050405020304" pitchFamily="18" charset="0"/>
                <a:ea typeface="黑体" panose="02010609060101010101" pitchFamily="49" charset="-122"/>
              </a:rPr>
              <a:t>。 在</a:t>
            </a:r>
            <a:r>
              <a:rPr kumimoji="1" lang="zh-CN" altLang="en-US" sz="2400" dirty="0">
                <a:solidFill>
                  <a:srgbClr val="C00000"/>
                </a:solidFill>
                <a:latin typeface="Times New Roman" panose="02020603050405020304" pitchFamily="18" charset="0"/>
                <a:ea typeface="黑体" panose="02010609060101010101" pitchFamily="49" charset="-122"/>
              </a:rPr>
              <a:t>疏水环境中</a:t>
            </a:r>
            <a:r>
              <a:rPr kumimoji="1" lang="zh-CN" altLang="en-US" sz="2400" dirty="0">
                <a:latin typeface="Times New Roman" panose="02020603050405020304" pitchFamily="18" charset="0"/>
                <a:ea typeface="黑体" panose="02010609060101010101" pitchFamily="49" charset="-122"/>
              </a:rPr>
              <a:t>介电常数比在水中低，</a:t>
            </a:r>
            <a:r>
              <a:rPr kumimoji="1" lang="zh-CN" altLang="en-US" sz="2400" dirty="0">
                <a:solidFill>
                  <a:srgbClr val="0000CC"/>
                </a:solidFill>
                <a:latin typeface="Times New Roman" panose="02020603050405020304" pitchFamily="18" charset="0"/>
                <a:ea typeface="黑体" panose="02010609060101010101" pitchFamily="49" charset="-122"/>
              </a:rPr>
              <a:t>电荷间的相互作用力显著地增强</a:t>
            </a:r>
            <a:r>
              <a:rPr kumimoji="1" lang="zh-CN" altLang="en-US" sz="2400" dirty="0">
                <a:latin typeface="Times New Roman" panose="02020603050405020304" pitchFamily="18" charset="0"/>
                <a:ea typeface="黑体" panose="02010609060101010101" pitchFamily="49" charset="-122"/>
              </a:rPr>
              <a:t>，这比在水中更有效地稳定了离子对，有利于催化基团与底物分子的敏感键发生作用，因而加速酶促反应。 </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7698" name="组合 1">
            <a:extLst>
              <a:ext uri="{FF2B5EF4-FFF2-40B4-BE49-F238E27FC236}">
                <a16:creationId xmlns:a16="http://schemas.microsoft.com/office/drawing/2014/main" id="{0D35C80D-F2F9-4E9D-BFCB-EAEFA55E0EAC}"/>
              </a:ext>
            </a:extLst>
          </p:cNvPr>
          <p:cNvGrpSpPr>
            <a:grpSpLocks/>
          </p:cNvGrpSpPr>
          <p:nvPr/>
        </p:nvGrpSpPr>
        <p:grpSpPr bwMode="auto">
          <a:xfrm>
            <a:off x="2603500" y="1196752"/>
            <a:ext cx="6985000" cy="3686398"/>
            <a:chOff x="1079500" y="779262"/>
            <a:chExt cx="6985000" cy="3685732"/>
          </a:xfrm>
        </p:grpSpPr>
        <p:sp>
          <p:nvSpPr>
            <p:cNvPr id="157699" name="Text Box 2">
              <a:extLst>
                <a:ext uri="{FF2B5EF4-FFF2-40B4-BE49-F238E27FC236}">
                  <a16:creationId xmlns:a16="http://schemas.microsoft.com/office/drawing/2014/main" id="{83277D94-1278-4CDE-9B44-CAA73DE947FA}"/>
                </a:ext>
              </a:extLst>
            </p:cNvPr>
            <p:cNvSpPr txBox="1">
              <a:spLocks noChangeArrowheads="1"/>
            </p:cNvSpPr>
            <p:nvPr/>
          </p:nvSpPr>
          <p:spPr bwMode="auto">
            <a:xfrm>
              <a:off x="1079500" y="779262"/>
              <a:ext cx="69850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50000"/>
                </a:spcBef>
                <a:buFontTx/>
                <a:buNone/>
              </a:pPr>
              <a:r>
                <a:rPr lang="zh-CN" altLang="en-US" dirty="0">
                  <a:solidFill>
                    <a:srgbClr val="C00000"/>
                  </a:solidFill>
                  <a:latin typeface="Times New Roman" panose="02020603050405020304" pitchFamily="18" charset="0"/>
                  <a:ea typeface="黑体" panose="02010609060101010101" pitchFamily="49" charset="-122"/>
                </a:rPr>
                <a:t>多元催化可提高催化效率</a:t>
              </a:r>
            </a:p>
          </p:txBody>
        </p:sp>
        <p:sp>
          <p:nvSpPr>
            <p:cNvPr id="157700" name="Rectangle 3">
              <a:extLst>
                <a:ext uri="{FF2B5EF4-FFF2-40B4-BE49-F238E27FC236}">
                  <a16:creationId xmlns:a16="http://schemas.microsoft.com/office/drawing/2014/main" id="{A764C483-E2C3-4498-84D0-27758CE6EF4C}"/>
                </a:ext>
              </a:extLst>
            </p:cNvPr>
            <p:cNvSpPr>
              <a:spLocks noChangeArrowheads="1"/>
            </p:cNvSpPr>
            <p:nvPr/>
          </p:nvSpPr>
          <p:spPr bwMode="auto">
            <a:xfrm>
              <a:off x="1835126" y="2002781"/>
              <a:ext cx="612068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50000"/>
                </a:spcBef>
                <a:buFont typeface="Wingdings" panose="05000000000000000000" pitchFamily="2" charset="2"/>
                <a:buChar char="Ø"/>
              </a:pPr>
              <a:r>
                <a:rPr lang="zh-CN" altLang="en-US" sz="2800" dirty="0">
                  <a:latin typeface="Times New Roman" panose="02020603050405020304" pitchFamily="18" charset="0"/>
                  <a:ea typeface="黑体" panose="02010609060101010101" pitchFamily="49" charset="-122"/>
                </a:rPr>
                <a:t>酸碱催化</a:t>
              </a:r>
            </a:p>
            <a:p>
              <a:pPr eaLnBrk="1" hangingPunct="1">
                <a:lnSpc>
                  <a:spcPct val="150000"/>
                </a:lnSpc>
                <a:spcBef>
                  <a:spcPct val="50000"/>
                </a:spcBef>
                <a:buFont typeface="Wingdings" panose="05000000000000000000" pitchFamily="2" charset="2"/>
                <a:buChar char="Ø"/>
              </a:pPr>
              <a:r>
                <a:rPr lang="zh-CN" altLang="en-US" sz="2800" dirty="0">
                  <a:latin typeface="Times New Roman" panose="02020603050405020304" pitchFamily="18" charset="0"/>
                  <a:ea typeface="黑体" panose="02010609060101010101" pitchFamily="49" charset="-122"/>
                </a:rPr>
                <a:t>金属离子催化</a:t>
              </a:r>
            </a:p>
            <a:p>
              <a:pPr eaLnBrk="1" hangingPunct="1">
                <a:lnSpc>
                  <a:spcPct val="150000"/>
                </a:lnSpc>
                <a:spcBef>
                  <a:spcPct val="50000"/>
                </a:spcBef>
                <a:buFont typeface="Wingdings" panose="05000000000000000000" pitchFamily="2" charset="2"/>
                <a:buChar char="Ø"/>
              </a:pPr>
              <a:r>
                <a:rPr lang="zh-CN" altLang="en-US" sz="2800" dirty="0">
                  <a:latin typeface="Times New Roman" panose="02020603050405020304" pitchFamily="18" charset="0"/>
                  <a:ea typeface="黑体" panose="02010609060101010101" pitchFamily="49" charset="-122"/>
                </a:rPr>
                <a:t>共价催化</a:t>
              </a:r>
              <a:r>
                <a:rPr lang="en-US" altLang="zh-CN" sz="2800" dirty="0">
                  <a:latin typeface="Times New Roman" panose="02020603050405020304" pitchFamily="18" charset="0"/>
                  <a:ea typeface="黑体" panose="02010609060101010101" pitchFamily="49" charset="-122"/>
                </a:rPr>
                <a:t>(</a:t>
              </a:r>
              <a:r>
                <a:rPr lang="zh-CN" altLang="en-US" sz="2800" dirty="0">
                  <a:latin typeface="Times New Roman" panose="02020603050405020304" pitchFamily="18" charset="0"/>
                  <a:ea typeface="黑体" panose="02010609060101010101" pitchFamily="49" charset="-122"/>
                </a:rPr>
                <a:t>亲核催化</a:t>
              </a:r>
              <a:r>
                <a:rPr lang="en-US" altLang="zh-CN" sz="2800" dirty="0">
                  <a:latin typeface="Times New Roman" panose="02020603050405020304" pitchFamily="18" charset="0"/>
                  <a:ea typeface="黑体" panose="02010609060101010101" pitchFamily="49" charset="-122"/>
                </a:rPr>
                <a:t>+</a:t>
              </a:r>
              <a:r>
                <a:rPr lang="zh-CN" altLang="en-US" sz="2800" dirty="0">
                  <a:latin typeface="Times New Roman" panose="02020603050405020304" pitchFamily="18" charset="0"/>
                  <a:ea typeface="黑体" panose="02010609060101010101" pitchFamily="49" charset="-122"/>
                </a:rPr>
                <a:t>亲电催化）</a:t>
              </a:r>
            </a:p>
          </p:txBody>
        </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标题 1">
            <a:extLst>
              <a:ext uri="{FF2B5EF4-FFF2-40B4-BE49-F238E27FC236}">
                <a16:creationId xmlns:a16="http://schemas.microsoft.com/office/drawing/2014/main" id="{D887518B-5B55-46A1-9ABB-CFC63B0E9678}"/>
              </a:ext>
            </a:extLst>
          </p:cNvPr>
          <p:cNvSpPr>
            <a:spLocks noGrp="1" noChangeArrowheads="1"/>
          </p:cNvSpPr>
          <p:nvPr>
            <p:ph type="title"/>
          </p:nvPr>
        </p:nvSpPr>
        <p:spPr>
          <a:xfrm>
            <a:off x="2660650" y="549276"/>
            <a:ext cx="6870700" cy="1151533"/>
          </a:xfrm>
        </p:spPr>
        <p:txBody>
          <a:bodyPr/>
          <a:lstStyle/>
          <a:p>
            <a:r>
              <a:rPr lang="zh-CN" altLang="en-US" sz="3600" b="0" dirty="0">
                <a:solidFill>
                  <a:srgbClr val="C00000"/>
                </a:solidFill>
                <a:latin typeface="黑体" panose="02010609060101010101" pitchFamily="49" charset="-122"/>
                <a:ea typeface="黑体" panose="02010609060101010101" pitchFamily="49" charset="-122"/>
              </a:rPr>
              <a:t>酸碱催化</a:t>
            </a:r>
            <a:br>
              <a:rPr lang="en-US" altLang="zh-CN" sz="4000" b="0" dirty="0">
                <a:solidFill>
                  <a:srgbClr val="C00000"/>
                </a:solidFill>
                <a:latin typeface="黑体" panose="02010609060101010101" pitchFamily="49" charset="-122"/>
                <a:ea typeface="黑体" panose="02010609060101010101" pitchFamily="49" charset="-122"/>
              </a:rPr>
            </a:br>
            <a:r>
              <a:rPr lang="zh-CN" altLang="en-US" sz="2800" b="0" dirty="0">
                <a:solidFill>
                  <a:srgbClr val="C00000"/>
                </a:solidFill>
                <a:latin typeface="黑体" panose="02010609060101010101" pitchFamily="49" charset="-122"/>
                <a:ea typeface="黑体" panose="02010609060101010101" pitchFamily="49" charset="-122"/>
              </a:rPr>
              <a:t>（</a:t>
            </a:r>
            <a:r>
              <a:rPr lang="en-US" altLang="zh-CN" sz="2800" b="0" dirty="0">
                <a:solidFill>
                  <a:srgbClr val="C00000"/>
                </a:solidFill>
                <a:latin typeface="黑体" panose="02010609060101010101" pitchFamily="49" charset="-122"/>
                <a:ea typeface="黑体" panose="02010609060101010101" pitchFamily="49" charset="-122"/>
              </a:rPr>
              <a:t>acid-base catalysis)</a:t>
            </a:r>
            <a:endParaRPr lang="zh-CN" altLang="en-US" sz="2800" b="0" dirty="0">
              <a:solidFill>
                <a:srgbClr val="C00000"/>
              </a:solidFill>
              <a:latin typeface="黑体" panose="02010609060101010101" pitchFamily="49" charset="-122"/>
              <a:ea typeface="黑体" panose="02010609060101010101" pitchFamily="49" charset="-122"/>
            </a:endParaRPr>
          </a:p>
        </p:txBody>
      </p:sp>
      <p:sp>
        <p:nvSpPr>
          <p:cNvPr id="159747" name="内容占位符 2">
            <a:extLst>
              <a:ext uri="{FF2B5EF4-FFF2-40B4-BE49-F238E27FC236}">
                <a16:creationId xmlns:a16="http://schemas.microsoft.com/office/drawing/2014/main" id="{973C3AC8-9423-4E45-B1A3-806E7977C3F9}"/>
              </a:ext>
            </a:extLst>
          </p:cNvPr>
          <p:cNvSpPr>
            <a:spLocks noGrp="1" noChangeArrowheads="1"/>
          </p:cNvSpPr>
          <p:nvPr>
            <p:ph idx="1"/>
          </p:nvPr>
        </p:nvSpPr>
        <p:spPr>
          <a:xfrm>
            <a:off x="1487488" y="1852900"/>
            <a:ext cx="9433048" cy="4392488"/>
          </a:xfrm>
        </p:spPr>
        <p:txBody>
          <a:bodyPr/>
          <a:lstStyle/>
          <a:p>
            <a:pPr>
              <a:lnSpc>
                <a:spcPct val="120000"/>
              </a:lnSpc>
              <a:spcBef>
                <a:spcPts val="0"/>
              </a:spcBef>
            </a:pPr>
            <a:r>
              <a:rPr lang="zh-CN" altLang="en-US" sz="2800" b="0" dirty="0">
                <a:solidFill>
                  <a:srgbClr val="0000CC"/>
                </a:solidFill>
                <a:latin typeface="微软雅黑" panose="020B0503020204020204" pitchFamily="34" charset="-122"/>
                <a:ea typeface="微软雅黑" panose="020B0503020204020204" pitchFamily="34" charset="-122"/>
              </a:rPr>
              <a:t>定义： </a:t>
            </a:r>
            <a:r>
              <a:rPr lang="zh-CN" altLang="en-US" sz="2800" b="0" dirty="0">
                <a:latin typeface="微软雅黑" panose="020B0503020204020204" pitchFamily="34" charset="-122"/>
                <a:ea typeface="微软雅黑" panose="020B0503020204020204" pitchFamily="34" charset="-122"/>
              </a:rPr>
              <a:t>酸碱催化是通过</a:t>
            </a:r>
            <a:r>
              <a:rPr lang="zh-CN" altLang="en-US" sz="2800" b="0" dirty="0">
                <a:solidFill>
                  <a:srgbClr val="0000CC"/>
                </a:solidFill>
                <a:latin typeface="微软雅黑" panose="020B0503020204020204" pitchFamily="34" charset="-122"/>
                <a:ea typeface="微软雅黑" panose="020B0503020204020204" pitchFamily="34" charset="-122"/>
              </a:rPr>
              <a:t>瞬时地</a:t>
            </a:r>
            <a:r>
              <a:rPr lang="zh-CN" altLang="en-US" sz="2800" b="0" dirty="0">
                <a:latin typeface="微软雅黑" panose="020B0503020204020204" pitchFamily="34" charset="-122"/>
                <a:ea typeface="微软雅黑" panose="020B0503020204020204" pitchFamily="34" charset="-122"/>
              </a:rPr>
              <a:t>向反应物</a:t>
            </a:r>
            <a:r>
              <a:rPr lang="zh-CN" altLang="en-US" sz="2800" b="0" dirty="0">
                <a:solidFill>
                  <a:srgbClr val="0000CC"/>
                </a:solidFill>
                <a:latin typeface="微软雅黑" panose="020B0503020204020204" pitchFamily="34" charset="-122"/>
                <a:ea typeface="微软雅黑" panose="020B0503020204020204" pitchFamily="34" charset="-122"/>
              </a:rPr>
              <a:t>提供质子</a:t>
            </a:r>
            <a:r>
              <a:rPr lang="zh-CN" altLang="en-US" sz="2800" b="0" dirty="0">
                <a:latin typeface="微软雅黑" panose="020B0503020204020204" pitchFamily="34" charset="-122"/>
                <a:ea typeface="微软雅黑" panose="020B0503020204020204" pitchFamily="34" charset="-122"/>
              </a:rPr>
              <a:t>或从反应物</a:t>
            </a:r>
            <a:r>
              <a:rPr lang="zh-CN" altLang="en-US" sz="2800" b="0" dirty="0">
                <a:solidFill>
                  <a:srgbClr val="0000CC"/>
                </a:solidFill>
                <a:latin typeface="微软雅黑" panose="020B0503020204020204" pitchFamily="34" charset="-122"/>
                <a:ea typeface="微软雅黑" panose="020B0503020204020204" pitchFamily="34" charset="-122"/>
              </a:rPr>
              <a:t>接受质子</a:t>
            </a:r>
            <a:r>
              <a:rPr lang="zh-CN" altLang="en-US" sz="2800" b="0" dirty="0">
                <a:latin typeface="微软雅黑" panose="020B0503020204020204" pitchFamily="34" charset="-122"/>
                <a:ea typeface="微软雅黑" panose="020B0503020204020204" pitchFamily="34" charset="-122"/>
              </a:rPr>
              <a:t>以稳定过渡态、加速反应的一类催化机制。</a:t>
            </a:r>
            <a:endParaRPr lang="en-US" altLang="zh-CN" sz="2800" b="0" dirty="0">
              <a:latin typeface="微软雅黑" panose="020B0503020204020204" pitchFamily="34" charset="-122"/>
              <a:ea typeface="微软雅黑" panose="020B0503020204020204" pitchFamily="34" charset="-122"/>
            </a:endParaRPr>
          </a:p>
          <a:p>
            <a:pPr>
              <a:lnSpc>
                <a:spcPct val="120000"/>
              </a:lnSpc>
              <a:spcBef>
                <a:spcPts val="0"/>
              </a:spcBef>
            </a:pPr>
            <a:endParaRPr lang="en-US" altLang="zh-CN" sz="2800" b="0" dirty="0">
              <a:latin typeface="微软雅黑" panose="020B0503020204020204" pitchFamily="34" charset="-122"/>
              <a:ea typeface="微软雅黑" panose="020B0503020204020204" pitchFamily="34" charset="-122"/>
            </a:endParaRPr>
          </a:p>
          <a:p>
            <a:pPr>
              <a:lnSpc>
                <a:spcPct val="120000"/>
              </a:lnSpc>
              <a:spcBef>
                <a:spcPts val="0"/>
              </a:spcBef>
            </a:pPr>
            <a:r>
              <a:rPr lang="zh-CN" altLang="en-US" sz="2800" dirty="0">
                <a:latin typeface="微软雅黑" panose="020B0503020204020204" pitchFamily="34" charset="-122"/>
                <a:ea typeface="微软雅黑" panose="020B0503020204020204" pitchFamily="34" charset="-122"/>
              </a:rPr>
              <a:t>普通</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广义酸碱催化</a:t>
            </a:r>
            <a:r>
              <a:rPr lang="zh-CN" altLang="en-US" sz="2400" dirty="0">
                <a:latin typeface="微软雅黑" panose="020B0503020204020204" pitchFamily="34" charset="-122"/>
                <a:ea typeface="微软雅黑" panose="020B0503020204020204" pitchFamily="34" charset="-122"/>
              </a:rPr>
              <a:t> </a:t>
            </a:r>
            <a:r>
              <a:rPr lang="en-US" altLang="zh-CN" sz="2400" b="0" dirty="0">
                <a:latin typeface="微软雅黑" panose="020B0503020204020204" pitchFamily="34" charset="-122"/>
                <a:ea typeface="微软雅黑" panose="020B0503020204020204" pitchFamily="34" charset="-122"/>
              </a:rPr>
              <a:t>(general acid-base catalysis ): </a:t>
            </a:r>
            <a:r>
              <a:rPr lang="zh-CN" altLang="en-US" sz="2400" b="0" dirty="0">
                <a:latin typeface="微软雅黑" panose="020B0503020204020204" pitchFamily="34" charset="-122"/>
                <a:ea typeface="微软雅黑" panose="020B0503020204020204" pitchFamily="34" charset="-122"/>
              </a:rPr>
              <a:t>  由弱酸弱碱而不是水分子介导的催化。</a:t>
            </a:r>
            <a:endParaRPr lang="en-US" altLang="zh-CN" sz="2400" b="0" dirty="0">
              <a:latin typeface="微软雅黑" panose="020B0503020204020204" pitchFamily="34" charset="-122"/>
              <a:ea typeface="微软雅黑" panose="020B0503020204020204" pitchFamily="34" charset="-122"/>
            </a:endParaRPr>
          </a:p>
          <a:p>
            <a:pPr marL="0" indent="0">
              <a:lnSpc>
                <a:spcPct val="120000"/>
              </a:lnSpc>
              <a:spcBef>
                <a:spcPts val="0"/>
              </a:spcBef>
              <a:buNone/>
            </a:pPr>
            <a:r>
              <a:rPr lang="zh-CN" altLang="en-US" sz="2400" b="0" dirty="0">
                <a:latin typeface="微软雅黑" panose="020B0503020204020204" pitchFamily="34" charset="-122"/>
                <a:ea typeface="微软雅黑" panose="020B0503020204020204" pitchFamily="34" charset="-122"/>
              </a:rPr>
              <a:t>        </a:t>
            </a:r>
          </a:p>
          <a:p>
            <a:pPr>
              <a:lnSpc>
                <a:spcPct val="120000"/>
              </a:lnSpc>
              <a:spcBef>
                <a:spcPts val="0"/>
              </a:spcBef>
            </a:pPr>
            <a:r>
              <a:rPr lang="zh-CN" altLang="en-US" sz="2800" dirty="0">
                <a:latin typeface="微软雅黑" panose="020B0503020204020204" pitchFamily="34" charset="-122"/>
                <a:ea typeface="微软雅黑" panose="020B0503020204020204" pitchFamily="34" charset="-122"/>
              </a:rPr>
              <a:t>特异酸碱催化</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specific acid-base catalysis</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只利用水分子解离形成的</a:t>
            </a:r>
            <a:r>
              <a:rPr lang="en-US" altLang="zh-CN" sz="2400" b="0" dirty="0">
                <a:latin typeface="微软雅黑" panose="020B0503020204020204" pitchFamily="34" charset="-122"/>
                <a:ea typeface="微软雅黑" panose="020B0503020204020204" pitchFamily="34" charset="-122"/>
              </a:rPr>
              <a:t>H</a:t>
            </a:r>
            <a:r>
              <a:rPr lang="en-US" altLang="zh-CN" sz="2400" b="0" baseline="3000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 (H</a:t>
            </a:r>
            <a:r>
              <a:rPr lang="en-US" altLang="zh-CN" sz="2400" b="0" baseline="-25000" dirty="0">
                <a:latin typeface="微软雅黑" panose="020B0503020204020204" pitchFamily="34" charset="-122"/>
                <a:ea typeface="微软雅黑" panose="020B0503020204020204" pitchFamily="34" charset="-122"/>
              </a:rPr>
              <a:t>3</a:t>
            </a:r>
            <a:r>
              <a:rPr lang="en-US" altLang="zh-CN" sz="2400" b="0" dirty="0">
                <a:latin typeface="微软雅黑" panose="020B0503020204020204" pitchFamily="34" charset="-122"/>
                <a:ea typeface="微软雅黑" panose="020B0503020204020204" pitchFamily="34" charset="-122"/>
              </a:rPr>
              <a:t>O</a:t>
            </a:r>
            <a:r>
              <a:rPr lang="en-US" altLang="zh-CN" sz="2400" b="0" baseline="3000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或 </a:t>
            </a:r>
            <a:r>
              <a:rPr lang="en-US" altLang="zh-CN" sz="2400" b="0" dirty="0">
                <a:latin typeface="微软雅黑" panose="020B0503020204020204" pitchFamily="34" charset="-122"/>
                <a:ea typeface="微软雅黑" panose="020B0503020204020204" pitchFamily="34" charset="-122"/>
              </a:rPr>
              <a:t>OH</a:t>
            </a:r>
            <a:r>
              <a:rPr lang="en-US" altLang="zh-CN" sz="2400" b="0" baseline="3000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进行的催化。</a:t>
            </a:r>
            <a:endParaRPr lang="zh-CN" altLang="en-US" sz="2800" b="0"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标题 1">
            <a:extLst>
              <a:ext uri="{FF2B5EF4-FFF2-40B4-BE49-F238E27FC236}">
                <a16:creationId xmlns:a16="http://schemas.microsoft.com/office/drawing/2014/main" id="{1029ECE0-F082-429D-949C-54910EF0BDBC}"/>
              </a:ext>
            </a:extLst>
          </p:cNvPr>
          <p:cNvSpPr>
            <a:spLocks noGrp="1" noChangeArrowheads="1"/>
          </p:cNvSpPr>
          <p:nvPr>
            <p:ph type="title"/>
          </p:nvPr>
        </p:nvSpPr>
        <p:spPr>
          <a:xfrm>
            <a:off x="2452688" y="203200"/>
            <a:ext cx="6870700" cy="704850"/>
          </a:xfrm>
        </p:spPr>
        <p:txBody>
          <a:bodyPr/>
          <a:lstStyle/>
          <a:p>
            <a:r>
              <a:rPr lang="zh-CN" altLang="en-US" sz="3600">
                <a:solidFill>
                  <a:srgbClr val="0000CC"/>
                </a:solidFill>
                <a:latin typeface="华文楷体" panose="02010600040101010101" pitchFamily="2" charset="-122"/>
                <a:ea typeface="华文楷体" panose="02010600040101010101" pitchFamily="2" charset="-122"/>
              </a:rPr>
              <a:t>活性中心广义的酸碱基团</a:t>
            </a:r>
          </a:p>
        </p:txBody>
      </p:sp>
      <p:pic>
        <p:nvPicPr>
          <p:cNvPr id="161795" name="Picture 2">
            <a:extLst>
              <a:ext uri="{FF2B5EF4-FFF2-40B4-BE49-F238E27FC236}">
                <a16:creationId xmlns:a16="http://schemas.microsoft.com/office/drawing/2014/main" id="{B5F55473-4D95-4819-A9D5-65B460BCAC58}"/>
              </a:ext>
            </a:extLst>
          </p:cNvPr>
          <p:cNvPicPr>
            <a:picLocks noChangeAspect="1" noChangeArrowheads="1"/>
          </p:cNvPicPr>
          <p:nvPr/>
        </p:nvPicPr>
        <p:blipFill>
          <a:blip r:embed="rId3">
            <a:lum bright="-10000" contrast="10000"/>
            <a:extLst>
              <a:ext uri="{28A0092B-C50C-407E-A947-70E740481C1C}">
                <a14:useLocalDpi xmlns:a14="http://schemas.microsoft.com/office/drawing/2010/main" val="0"/>
              </a:ext>
            </a:extLst>
          </a:blip>
          <a:srcRect/>
          <a:stretch>
            <a:fillRect/>
          </a:stretch>
        </p:blipFill>
        <p:spPr bwMode="auto">
          <a:xfrm>
            <a:off x="335360" y="1163638"/>
            <a:ext cx="6097587" cy="549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3C9806E9-34E9-40C6-A809-12114397FC14}"/>
              </a:ext>
            </a:extLst>
          </p:cNvPr>
          <p:cNvSpPr/>
          <p:nvPr/>
        </p:nvSpPr>
        <p:spPr>
          <a:xfrm>
            <a:off x="551259" y="3990975"/>
            <a:ext cx="5688012" cy="12954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文本框 4">
            <a:extLst>
              <a:ext uri="{FF2B5EF4-FFF2-40B4-BE49-F238E27FC236}">
                <a16:creationId xmlns:a16="http://schemas.microsoft.com/office/drawing/2014/main" id="{FF004A3C-FD7B-3501-CC57-6BB69E65B516}"/>
              </a:ext>
            </a:extLst>
          </p:cNvPr>
          <p:cNvSpPr txBox="1"/>
          <p:nvPr/>
        </p:nvSpPr>
        <p:spPr>
          <a:xfrm>
            <a:off x="6630957" y="1532711"/>
            <a:ext cx="5213504" cy="1384353"/>
          </a:xfrm>
          <a:prstGeom prst="rect">
            <a:avLst/>
          </a:prstGeom>
          <a:noFill/>
        </p:spPr>
        <p:txBody>
          <a:bodyPr wrap="square">
            <a:spAutoFit/>
          </a:bodyPr>
          <a:lstStyle/>
          <a:p>
            <a:pPr marL="342900" indent="-342900">
              <a:lnSpc>
                <a:spcPct val="12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酶活性中心上有些基团是</a:t>
            </a:r>
            <a:r>
              <a:rPr lang="zh-CN" altLang="en-US" sz="2400" dirty="0">
                <a:solidFill>
                  <a:srgbClr val="C00000"/>
                </a:solidFill>
                <a:latin typeface="微软雅黑" panose="020B0503020204020204" pitchFamily="34" charset="-122"/>
                <a:ea typeface="微软雅黑" panose="020B0503020204020204" pitchFamily="34" charset="-122"/>
              </a:rPr>
              <a:t>质子供体（酸）</a:t>
            </a:r>
            <a:r>
              <a:rPr lang="zh-CN" altLang="en-US" sz="2400" dirty="0">
                <a:latin typeface="微软雅黑" panose="020B0503020204020204" pitchFamily="34" charset="-122"/>
                <a:ea typeface="微软雅黑" panose="020B0503020204020204" pitchFamily="34" charset="-122"/>
              </a:rPr>
              <a:t>，有些基团是</a:t>
            </a:r>
            <a:r>
              <a:rPr lang="zh-CN" altLang="en-US" sz="2400" dirty="0">
                <a:solidFill>
                  <a:srgbClr val="C00000"/>
                </a:solidFill>
                <a:latin typeface="微软雅黑" panose="020B0503020204020204" pitchFamily="34" charset="-122"/>
                <a:ea typeface="微软雅黑" panose="020B0503020204020204" pitchFamily="34" charset="-122"/>
              </a:rPr>
              <a:t>质子受体（碱）</a:t>
            </a: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因此兼有酸、碱双重催化作用。</a:t>
            </a:r>
          </a:p>
        </p:txBody>
      </p:sp>
      <p:sp>
        <p:nvSpPr>
          <p:cNvPr id="7" name="文本框 6">
            <a:extLst>
              <a:ext uri="{FF2B5EF4-FFF2-40B4-BE49-F238E27FC236}">
                <a16:creationId xmlns:a16="http://schemas.microsoft.com/office/drawing/2014/main" id="{CEBD1990-E782-238D-1440-21C461C89ACF}"/>
              </a:ext>
            </a:extLst>
          </p:cNvPr>
          <p:cNvSpPr txBox="1"/>
          <p:nvPr/>
        </p:nvSpPr>
        <p:spPr>
          <a:xfrm>
            <a:off x="6839550" y="3538820"/>
            <a:ext cx="5017090" cy="2713948"/>
          </a:xfrm>
          <a:prstGeom prst="rect">
            <a:avLst/>
          </a:prstGeom>
          <a:noFill/>
        </p:spPr>
        <p:txBody>
          <a:bodyPr wrap="square">
            <a:spAutoFit/>
          </a:bodyPr>
          <a:lstStyle/>
          <a:p>
            <a:pPr>
              <a:lnSpc>
                <a:spcPct val="120000"/>
              </a:lnSpc>
            </a:pPr>
            <a:r>
              <a:rPr lang="en-US" altLang="zh-CN" sz="2400" dirty="0">
                <a:latin typeface="微软雅黑" panose="020B0503020204020204" pitchFamily="34" charset="-122"/>
                <a:ea typeface="微软雅黑" panose="020B0503020204020204" pitchFamily="34" charset="-122"/>
              </a:rPr>
              <a:t>His</a:t>
            </a:r>
            <a:r>
              <a:rPr lang="zh-CN" altLang="en-US" sz="2400" dirty="0">
                <a:latin typeface="微软雅黑" panose="020B0503020204020204" pitchFamily="34" charset="-122"/>
                <a:ea typeface="微软雅黑" panose="020B0503020204020204" pitchFamily="34" charset="-122"/>
              </a:rPr>
              <a:t>的</a:t>
            </a:r>
            <a:r>
              <a:rPr lang="zh-CN" altLang="en-US" sz="2400" dirty="0">
                <a:solidFill>
                  <a:srgbClr val="0000CC"/>
                </a:solidFill>
                <a:latin typeface="微软雅黑" panose="020B0503020204020204" pitchFamily="34" charset="-122"/>
                <a:ea typeface="微软雅黑" panose="020B0503020204020204" pitchFamily="34" charset="-122"/>
              </a:rPr>
              <a:t>咪唑环</a:t>
            </a:r>
            <a:r>
              <a:rPr lang="en-US" altLang="zh-CN" sz="2400" dirty="0" err="1">
                <a:solidFill>
                  <a:srgbClr val="0000CC"/>
                </a:solidFill>
                <a:latin typeface="微软雅黑" panose="020B0503020204020204" pitchFamily="34" charset="-122"/>
                <a:ea typeface="微软雅黑" panose="020B0503020204020204" pitchFamily="34" charset="-122"/>
              </a:rPr>
              <a:t>pKa</a:t>
            </a:r>
            <a:r>
              <a:rPr lang="zh-CN" altLang="en-US" sz="2400" dirty="0">
                <a:solidFill>
                  <a:srgbClr val="0000CC"/>
                </a:solidFill>
                <a:latin typeface="微软雅黑" panose="020B0503020204020204" pitchFamily="34" charset="-122"/>
                <a:ea typeface="微软雅黑" panose="020B0503020204020204" pitchFamily="34" charset="-122"/>
              </a:rPr>
              <a:t>介于</a:t>
            </a:r>
            <a:r>
              <a:rPr lang="en-US" altLang="zh-CN" sz="2400" dirty="0">
                <a:solidFill>
                  <a:srgbClr val="0000CC"/>
                </a:solidFill>
                <a:latin typeface="微软雅黑" panose="020B0503020204020204" pitchFamily="34" charset="-122"/>
                <a:ea typeface="微软雅黑" panose="020B0503020204020204" pitchFamily="34" charset="-122"/>
              </a:rPr>
              <a:t>5.6~7</a:t>
            </a:r>
            <a:r>
              <a:rPr lang="zh-CN" altLang="en-US" sz="2400" dirty="0">
                <a:solidFill>
                  <a:srgbClr val="0000CC"/>
                </a:solidFill>
                <a:latin typeface="微软雅黑" panose="020B0503020204020204" pitchFamily="34" charset="-122"/>
                <a:ea typeface="微软雅黑" panose="020B0503020204020204" pitchFamily="34" charset="-122"/>
              </a:rPr>
              <a:t>之间</a:t>
            </a:r>
            <a:r>
              <a:rPr lang="zh-CN" altLang="en-US" sz="2400" dirty="0">
                <a:latin typeface="微软雅黑" panose="020B0503020204020204" pitchFamily="34" charset="-122"/>
                <a:ea typeface="微软雅黑" panose="020B0503020204020204" pitchFamily="34" charset="-122"/>
              </a:rPr>
              <a:t>（视它在蛋白质分子中的环境而定），</a:t>
            </a:r>
            <a:r>
              <a:rPr lang="zh-CN" altLang="en-US" sz="2400" dirty="0">
                <a:solidFill>
                  <a:srgbClr val="0000CC"/>
                </a:solidFill>
                <a:latin typeface="微软雅黑" panose="020B0503020204020204" pitchFamily="34" charset="-122"/>
                <a:ea typeface="微软雅黑" panose="020B0503020204020204" pitchFamily="34" charset="-122"/>
              </a:rPr>
              <a:t>在生理</a:t>
            </a:r>
            <a:r>
              <a:rPr lang="en-US" altLang="zh-CN" sz="2400" dirty="0">
                <a:solidFill>
                  <a:srgbClr val="0000CC"/>
                </a:solidFill>
                <a:latin typeface="微软雅黑" panose="020B0503020204020204" pitchFamily="34" charset="-122"/>
                <a:ea typeface="微软雅黑" panose="020B0503020204020204" pitchFamily="34" charset="-122"/>
              </a:rPr>
              <a:t>pH</a:t>
            </a:r>
            <a:r>
              <a:rPr lang="zh-CN" altLang="en-US" sz="2400" dirty="0">
                <a:solidFill>
                  <a:srgbClr val="0000CC"/>
                </a:solidFill>
                <a:latin typeface="微软雅黑" panose="020B0503020204020204" pitchFamily="34" charset="-122"/>
                <a:ea typeface="微软雅黑" panose="020B0503020204020204" pitchFamily="34" charset="-122"/>
              </a:rPr>
              <a:t>下它既可作为质子供体</a:t>
            </a:r>
            <a:r>
              <a:rPr lang="en-US" altLang="zh-CN" sz="2400" dirty="0">
                <a:solidFill>
                  <a:srgbClr val="0000CC"/>
                </a:solidFill>
                <a:latin typeface="微软雅黑" panose="020B0503020204020204" pitchFamily="34" charset="-122"/>
                <a:ea typeface="微软雅黑" panose="020B0503020204020204" pitchFamily="34" charset="-122"/>
              </a:rPr>
              <a:t>,</a:t>
            </a:r>
            <a:r>
              <a:rPr lang="zh-CN" altLang="en-US" sz="2400" dirty="0">
                <a:solidFill>
                  <a:srgbClr val="0000CC"/>
                </a:solidFill>
                <a:latin typeface="微软雅黑" panose="020B0503020204020204" pitchFamily="34" charset="-122"/>
                <a:ea typeface="微软雅黑" panose="020B0503020204020204" pitchFamily="34" charset="-122"/>
              </a:rPr>
              <a:t>又可作为质子接纳体</a:t>
            </a:r>
            <a:r>
              <a:rPr lang="zh-CN" altLang="en-US" sz="2400" dirty="0">
                <a:latin typeface="微软雅黑" panose="020B0503020204020204" pitchFamily="34" charset="-122"/>
                <a:ea typeface="微软雅黑" panose="020B0503020204020204" pitchFamily="34" charset="-122"/>
              </a:rPr>
              <a:t>。 因此，</a:t>
            </a:r>
            <a:r>
              <a:rPr lang="en-US" altLang="zh-CN" sz="2400" dirty="0">
                <a:latin typeface="微软雅黑" panose="020B0503020204020204" pitchFamily="34" charset="-122"/>
                <a:ea typeface="微软雅黑" panose="020B0503020204020204" pitchFamily="34" charset="-122"/>
              </a:rPr>
              <a:t>His</a:t>
            </a:r>
            <a:r>
              <a:rPr lang="zh-CN" altLang="en-US" sz="2400" dirty="0">
                <a:latin typeface="微软雅黑" panose="020B0503020204020204" pitchFamily="34" charset="-122"/>
                <a:ea typeface="微软雅黑" panose="020B0503020204020204" pitchFamily="34" charset="-122"/>
              </a:rPr>
              <a:t>残基作为催化基团在蛋白质中占有特殊地位。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1">
            <a:extLst>
              <a:ext uri="{FF2B5EF4-FFF2-40B4-BE49-F238E27FC236}">
                <a16:creationId xmlns:a16="http://schemas.microsoft.com/office/drawing/2014/main" id="{0E00E4E6-935B-4C10-B90A-A08B43726673}"/>
              </a:ext>
            </a:extLst>
          </p:cNvPr>
          <p:cNvSpPr>
            <a:spLocks noGrp="1" noChangeArrowheads="1"/>
          </p:cNvSpPr>
          <p:nvPr>
            <p:ph type="title"/>
          </p:nvPr>
        </p:nvSpPr>
        <p:spPr>
          <a:xfrm>
            <a:off x="2495550" y="836613"/>
            <a:ext cx="7056438" cy="1141412"/>
          </a:xfrm>
        </p:spPr>
        <p:txBody>
          <a:bodyPr/>
          <a:lstStyle/>
          <a:p>
            <a:r>
              <a:rPr lang="zh-CN" altLang="en-US" sz="3600" dirty="0">
                <a:solidFill>
                  <a:srgbClr val="C00000"/>
                </a:solidFill>
                <a:latin typeface="黑体" panose="02010609060101010101" pitchFamily="49" charset="-122"/>
                <a:ea typeface="黑体" panose="02010609060101010101" pitchFamily="49" charset="-122"/>
              </a:rPr>
              <a:t>金属离子催化</a:t>
            </a:r>
            <a:br>
              <a:rPr lang="en-US" altLang="zh-CN" sz="3600" dirty="0">
                <a:solidFill>
                  <a:srgbClr val="C00000"/>
                </a:solidFill>
                <a:latin typeface="黑体" panose="02010609060101010101" pitchFamily="49" charset="-122"/>
                <a:ea typeface="黑体" panose="02010609060101010101" pitchFamily="49" charset="-122"/>
              </a:rPr>
            </a:br>
            <a:r>
              <a:rPr lang="zh-CN" altLang="en-US" sz="2800" dirty="0">
                <a:solidFill>
                  <a:srgbClr val="C00000"/>
                </a:solidFill>
                <a:latin typeface="黑体" panose="02010609060101010101" pitchFamily="49" charset="-122"/>
                <a:ea typeface="黑体" panose="02010609060101010101" pitchFamily="49" charset="-122"/>
              </a:rPr>
              <a:t>（</a:t>
            </a:r>
            <a:r>
              <a:rPr lang="en-US" altLang="zh-CN" sz="2800" dirty="0">
                <a:solidFill>
                  <a:srgbClr val="C00000"/>
                </a:solidFill>
                <a:latin typeface="黑体" panose="02010609060101010101" pitchFamily="49" charset="-122"/>
                <a:ea typeface="黑体" panose="02010609060101010101" pitchFamily="49" charset="-122"/>
              </a:rPr>
              <a:t>metal ion catalysis)</a:t>
            </a:r>
            <a:endParaRPr lang="zh-CN" altLang="en-US" sz="2800" dirty="0">
              <a:solidFill>
                <a:srgbClr val="C00000"/>
              </a:solidFill>
              <a:latin typeface="黑体" panose="02010609060101010101" pitchFamily="49" charset="-122"/>
              <a:ea typeface="黑体" panose="02010609060101010101" pitchFamily="49" charset="-122"/>
            </a:endParaRPr>
          </a:p>
        </p:txBody>
      </p:sp>
      <p:sp>
        <p:nvSpPr>
          <p:cNvPr id="163843" name="内容占位符 2">
            <a:extLst>
              <a:ext uri="{FF2B5EF4-FFF2-40B4-BE49-F238E27FC236}">
                <a16:creationId xmlns:a16="http://schemas.microsoft.com/office/drawing/2014/main" id="{1BEDC3ED-2225-4AED-B76B-495885A66448}"/>
              </a:ext>
            </a:extLst>
          </p:cNvPr>
          <p:cNvSpPr>
            <a:spLocks noGrp="1" noChangeArrowheads="1"/>
          </p:cNvSpPr>
          <p:nvPr>
            <p:ph idx="1"/>
          </p:nvPr>
        </p:nvSpPr>
        <p:spPr>
          <a:xfrm>
            <a:off x="2927648" y="2708920"/>
            <a:ext cx="7696200" cy="3167856"/>
          </a:xfrm>
        </p:spPr>
        <p:txBody>
          <a:bodyPr/>
          <a:lstStyle/>
          <a:p>
            <a:pPr>
              <a:lnSpc>
                <a:spcPct val="130000"/>
              </a:lnSpc>
            </a:pPr>
            <a:r>
              <a:rPr lang="zh-CN" altLang="en-US" sz="2800" b="0" dirty="0">
                <a:latin typeface="微软雅黑" panose="020B0503020204020204" pitchFamily="34" charset="-122"/>
                <a:ea typeface="微软雅黑" panose="020B0503020204020204" pitchFamily="34" charset="-122"/>
              </a:rPr>
              <a:t>作为</a:t>
            </a:r>
            <a:r>
              <a:rPr lang="en-US" altLang="zh-CN" sz="2800" b="0" dirty="0">
                <a:latin typeface="微软雅黑" panose="020B0503020204020204" pitchFamily="34" charset="-122"/>
                <a:ea typeface="微软雅黑" panose="020B0503020204020204" pitchFamily="34" charset="-122"/>
              </a:rPr>
              <a:t>Lewis </a:t>
            </a:r>
            <a:r>
              <a:rPr lang="zh-CN" altLang="en-US" sz="2800" b="0" dirty="0">
                <a:latin typeface="微软雅黑" panose="020B0503020204020204" pitchFamily="34" charset="-122"/>
                <a:ea typeface="微软雅黑" panose="020B0503020204020204" pitchFamily="34" charset="-122"/>
              </a:rPr>
              <a:t>酸（接受电子）</a:t>
            </a:r>
            <a:endParaRPr lang="en-US" altLang="zh-CN" sz="2800" b="0" dirty="0">
              <a:latin typeface="微软雅黑" panose="020B0503020204020204" pitchFamily="34" charset="-122"/>
              <a:ea typeface="微软雅黑" panose="020B0503020204020204" pitchFamily="34" charset="-122"/>
            </a:endParaRPr>
          </a:p>
          <a:p>
            <a:pPr>
              <a:lnSpc>
                <a:spcPct val="130000"/>
              </a:lnSpc>
            </a:pPr>
            <a:r>
              <a:rPr lang="zh-CN" altLang="en-US" sz="2800" b="0" dirty="0">
                <a:latin typeface="微软雅黑" panose="020B0503020204020204" pitchFamily="34" charset="-122"/>
                <a:ea typeface="微软雅黑" panose="020B0503020204020204" pitchFamily="34" charset="-122"/>
              </a:rPr>
              <a:t>稳定过渡态形成时产生的电荷 </a:t>
            </a:r>
            <a:endParaRPr lang="en-US" altLang="zh-CN" sz="2800" b="0" dirty="0">
              <a:latin typeface="微软雅黑" panose="020B0503020204020204" pitchFamily="34" charset="-122"/>
              <a:ea typeface="微软雅黑" panose="020B0503020204020204" pitchFamily="34" charset="-122"/>
            </a:endParaRPr>
          </a:p>
          <a:p>
            <a:pPr>
              <a:lnSpc>
                <a:spcPct val="130000"/>
              </a:lnSpc>
            </a:pPr>
            <a:r>
              <a:rPr lang="zh-CN" altLang="en-US" sz="2800" b="0" dirty="0">
                <a:latin typeface="微软雅黑" panose="020B0503020204020204" pitchFamily="34" charset="-122"/>
                <a:ea typeface="微软雅黑" panose="020B0503020204020204" pitchFamily="34" charset="-122"/>
              </a:rPr>
              <a:t>在氧化还原反应中参与给出或接受电子</a:t>
            </a:r>
            <a:endParaRPr lang="en-US" altLang="zh-CN" sz="2800" b="0" dirty="0">
              <a:latin typeface="微软雅黑" panose="020B0503020204020204" pitchFamily="34" charset="-122"/>
              <a:ea typeface="微软雅黑" panose="020B0503020204020204" pitchFamily="34" charset="-122"/>
            </a:endParaRPr>
          </a:p>
          <a:p>
            <a:pPr>
              <a:lnSpc>
                <a:spcPct val="130000"/>
              </a:lnSpc>
            </a:pPr>
            <a:r>
              <a:rPr lang="zh-CN" altLang="en-US" sz="2800" b="0" dirty="0">
                <a:latin typeface="微软雅黑" panose="020B0503020204020204" pitchFamily="34" charset="-122"/>
                <a:ea typeface="微软雅黑" panose="020B0503020204020204" pitchFamily="34" charset="-122"/>
              </a:rPr>
              <a:t>稳定酶的构象</a:t>
            </a:r>
            <a:endParaRPr lang="en-US" altLang="zh-CN" sz="2800" b="0" dirty="0">
              <a:latin typeface="微软雅黑" panose="020B0503020204020204" pitchFamily="34" charset="-122"/>
              <a:ea typeface="微软雅黑" panose="020B0503020204020204" pitchFamily="34" charset="-122"/>
            </a:endParaRPr>
          </a:p>
          <a:p>
            <a:pPr>
              <a:lnSpc>
                <a:spcPct val="130000"/>
              </a:lnSpc>
            </a:pPr>
            <a:r>
              <a:rPr lang="zh-CN" altLang="en-US" sz="2800" b="0" dirty="0">
                <a:latin typeface="微软雅黑" panose="020B0503020204020204" pitchFamily="34" charset="-122"/>
                <a:ea typeface="微软雅黑" panose="020B0503020204020204" pitchFamily="34" charset="-122"/>
              </a:rPr>
              <a:t>中和阴离子，降低反应中的静电斥力</a:t>
            </a: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标题 1">
            <a:extLst>
              <a:ext uri="{FF2B5EF4-FFF2-40B4-BE49-F238E27FC236}">
                <a16:creationId xmlns:a16="http://schemas.microsoft.com/office/drawing/2014/main" id="{DF995A00-6467-4752-85A7-89E4FD177DB8}"/>
              </a:ext>
            </a:extLst>
          </p:cNvPr>
          <p:cNvSpPr>
            <a:spLocks noGrp="1" noChangeArrowheads="1"/>
          </p:cNvSpPr>
          <p:nvPr>
            <p:ph type="title"/>
          </p:nvPr>
        </p:nvSpPr>
        <p:spPr>
          <a:xfrm>
            <a:off x="2624931" y="188640"/>
            <a:ext cx="6942138" cy="1500188"/>
          </a:xfrm>
        </p:spPr>
        <p:txBody>
          <a:bodyPr/>
          <a:lstStyle/>
          <a:p>
            <a:r>
              <a:rPr lang="zh-CN" altLang="en-US" sz="4000" b="0" dirty="0">
                <a:solidFill>
                  <a:srgbClr val="C00000"/>
                </a:solidFill>
                <a:latin typeface="黑体" panose="02010609060101010101" pitchFamily="49" charset="-122"/>
                <a:ea typeface="黑体" panose="02010609060101010101" pitchFamily="49" charset="-122"/>
              </a:rPr>
              <a:t>共价催化</a:t>
            </a:r>
            <a:br>
              <a:rPr lang="en-US" altLang="zh-CN" sz="4000" b="0" dirty="0">
                <a:solidFill>
                  <a:srgbClr val="C00000"/>
                </a:solidFill>
                <a:latin typeface="黑体" panose="02010609060101010101" pitchFamily="49" charset="-122"/>
                <a:ea typeface="黑体" panose="02010609060101010101" pitchFamily="49" charset="-122"/>
              </a:rPr>
            </a:br>
            <a:r>
              <a:rPr lang="zh-CN" altLang="en-US" sz="2800" b="0" dirty="0">
                <a:solidFill>
                  <a:srgbClr val="C00000"/>
                </a:solidFill>
                <a:latin typeface="黑体" panose="02010609060101010101" pitchFamily="49" charset="-122"/>
                <a:ea typeface="黑体" panose="02010609060101010101" pitchFamily="49" charset="-122"/>
              </a:rPr>
              <a:t>（</a:t>
            </a:r>
            <a:r>
              <a:rPr lang="en-US" altLang="zh-CN" sz="2800" b="0" dirty="0">
                <a:solidFill>
                  <a:srgbClr val="C00000"/>
                </a:solidFill>
                <a:latin typeface="黑体" panose="02010609060101010101" pitchFamily="49" charset="-122"/>
                <a:ea typeface="黑体" panose="02010609060101010101" pitchFamily="49" charset="-122"/>
              </a:rPr>
              <a:t>covalent catalysis</a:t>
            </a:r>
            <a:r>
              <a:rPr lang="zh-CN" altLang="en-US" sz="2800" b="0" dirty="0">
                <a:solidFill>
                  <a:srgbClr val="C00000"/>
                </a:solidFill>
                <a:latin typeface="黑体" panose="02010609060101010101" pitchFamily="49" charset="-122"/>
                <a:ea typeface="黑体" panose="02010609060101010101" pitchFamily="49" charset="-122"/>
              </a:rPr>
              <a:t>）</a:t>
            </a:r>
          </a:p>
        </p:txBody>
      </p:sp>
      <p:sp>
        <p:nvSpPr>
          <p:cNvPr id="165891" name="内容占位符 2">
            <a:extLst>
              <a:ext uri="{FF2B5EF4-FFF2-40B4-BE49-F238E27FC236}">
                <a16:creationId xmlns:a16="http://schemas.microsoft.com/office/drawing/2014/main" id="{4881EF2F-6091-4B0C-94BE-BB02AECB245E}"/>
              </a:ext>
            </a:extLst>
          </p:cNvPr>
          <p:cNvSpPr>
            <a:spLocks noGrp="1" noChangeArrowheads="1"/>
          </p:cNvSpPr>
          <p:nvPr>
            <p:ph idx="1"/>
          </p:nvPr>
        </p:nvSpPr>
        <p:spPr>
          <a:xfrm>
            <a:off x="1415480" y="1886256"/>
            <a:ext cx="9361040" cy="3312194"/>
          </a:xfrm>
        </p:spPr>
        <p:txBody>
          <a:bodyPr/>
          <a:lstStyle/>
          <a:p>
            <a:pPr>
              <a:lnSpc>
                <a:spcPct val="120000"/>
              </a:lnSpc>
              <a:spcBef>
                <a:spcPct val="0"/>
              </a:spcBef>
            </a:pPr>
            <a:r>
              <a:rPr lang="zh-CN" altLang="en-US" sz="2800" b="0" dirty="0">
                <a:solidFill>
                  <a:srgbClr val="0000CC"/>
                </a:solidFill>
                <a:latin typeface="黑体" panose="02010609060101010101" pitchFamily="49" charset="-122"/>
                <a:ea typeface="黑体" panose="02010609060101010101" pitchFamily="49" charset="-122"/>
              </a:rPr>
              <a:t>定义： </a:t>
            </a:r>
            <a:r>
              <a:rPr lang="zh-CN" altLang="en-US" sz="2800" b="0" dirty="0">
                <a:latin typeface="黑体" panose="02010609060101010101" pitchFamily="49" charset="-122"/>
                <a:ea typeface="黑体" panose="02010609060101010101" pitchFamily="49" charset="-122"/>
              </a:rPr>
              <a:t>在酶的活性中心，</a:t>
            </a:r>
            <a:r>
              <a:rPr lang="zh-CN" altLang="en-US" sz="2800" b="0" dirty="0">
                <a:solidFill>
                  <a:srgbClr val="0000CC"/>
                </a:solidFill>
                <a:latin typeface="黑体" panose="02010609060101010101" pitchFamily="49" charset="-122"/>
                <a:ea typeface="黑体" panose="02010609060101010101" pitchFamily="49" charset="-122"/>
              </a:rPr>
              <a:t>亲核基团</a:t>
            </a:r>
            <a:r>
              <a:rPr lang="zh-CN" altLang="en-US" sz="2800" b="0" dirty="0">
                <a:latin typeface="黑体" panose="02010609060101010101" pitchFamily="49" charset="-122"/>
                <a:ea typeface="黑体" panose="02010609060101010101" pitchFamily="49" charset="-122"/>
              </a:rPr>
              <a:t>或</a:t>
            </a:r>
            <a:r>
              <a:rPr lang="zh-CN" altLang="en-US" sz="2800" b="0" dirty="0">
                <a:solidFill>
                  <a:srgbClr val="0000CC"/>
                </a:solidFill>
                <a:latin typeface="黑体" panose="02010609060101010101" pitchFamily="49" charset="-122"/>
                <a:ea typeface="黑体" panose="02010609060101010101" pitchFamily="49" charset="-122"/>
              </a:rPr>
              <a:t>亲电基团</a:t>
            </a:r>
            <a:r>
              <a:rPr lang="zh-CN" altLang="en-US" sz="2800" b="0" dirty="0">
                <a:latin typeface="黑体" panose="02010609060101010101" pitchFamily="49" charset="-122"/>
                <a:ea typeface="黑体" panose="02010609060101010101" pitchFamily="49" charset="-122"/>
              </a:rPr>
              <a:t>分别放出电子或汲取电子，作用于底物的缺电子中心或负电子中心，迅速形成</a:t>
            </a:r>
            <a:r>
              <a:rPr lang="zh-CN" altLang="en-US" sz="2800" b="0" dirty="0">
                <a:solidFill>
                  <a:srgbClr val="0000CC"/>
                </a:solidFill>
                <a:latin typeface="黑体" panose="02010609060101010101" pitchFamily="49" charset="-122"/>
                <a:ea typeface="黑体" panose="02010609060101010101" pitchFamily="49" charset="-122"/>
              </a:rPr>
              <a:t>瞬时的</a:t>
            </a:r>
            <a:r>
              <a:rPr lang="zh-CN" altLang="en-US" sz="2800" b="0" dirty="0">
                <a:latin typeface="黑体" panose="02010609060101010101" pitchFamily="49" charset="-122"/>
                <a:ea typeface="黑体" panose="02010609060101010101" pitchFamily="49" charset="-122"/>
              </a:rPr>
              <a:t>不稳定</a:t>
            </a:r>
            <a:r>
              <a:rPr lang="zh-CN" altLang="en-US" sz="2800" b="0" dirty="0">
                <a:solidFill>
                  <a:srgbClr val="0000CC"/>
                </a:solidFill>
                <a:latin typeface="黑体" panose="02010609060101010101" pitchFamily="49" charset="-122"/>
                <a:ea typeface="黑体" panose="02010609060101010101" pitchFamily="49" charset="-122"/>
              </a:rPr>
              <a:t>共价中间复合物（过渡态复合物）</a:t>
            </a:r>
            <a:r>
              <a:rPr lang="zh-CN" altLang="en-US" sz="2800" b="0" dirty="0">
                <a:latin typeface="黑体" panose="02010609060101010101" pitchFamily="49" charset="-122"/>
                <a:ea typeface="黑体" panose="02010609060101010101" pitchFamily="49" charset="-122"/>
              </a:rPr>
              <a:t>，降低反应活化能，使反应加速。   （ 相当于酶提供了另一条通向产物生成但所需能量更少的路径）</a:t>
            </a:r>
          </a:p>
        </p:txBody>
      </p:sp>
      <p:sp>
        <p:nvSpPr>
          <p:cNvPr id="5" name="文本框 4">
            <a:extLst>
              <a:ext uri="{FF2B5EF4-FFF2-40B4-BE49-F238E27FC236}">
                <a16:creationId xmlns:a16="http://schemas.microsoft.com/office/drawing/2014/main" id="{1A4937ED-AA6B-44D9-A78D-32EA1E554BD4}"/>
              </a:ext>
            </a:extLst>
          </p:cNvPr>
          <p:cNvSpPr txBox="1"/>
          <p:nvPr/>
        </p:nvSpPr>
        <p:spPr>
          <a:xfrm>
            <a:off x="2351584" y="5373217"/>
            <a:ext cx="5904656" cy="584775"/>
          </a:xfrm>
          <a:prstGeom prst="rect">
            <a:avLst/>
          </a:prstGeom>
          <a:noFill/>
        </p:spPr>
        <p:txBody>
          <a:bodyPr wrap="square">
            <a:spAutoFit/>
          </a:bodyPr>
          <a:lstStyle/>
          <a:p>
            <a:r>
              <a:rPr lang="zh-CN" altLang="en-US" sz="3200" b="1" dirty="0">
                <a:solidFill>
                  <a:srgbClr val="0000CC"/>
                </a:solidFill>
              </a:rPr>
              <a:t>共价催化以亲核催化为主。 </a:t>
            </a: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标题 1">
            <a:extLst>
              <a:ext uri="{FF2B5EF4-FFF2-40B4-BE49-F238E27FC236}">
                <a16:creationId xmlns:a16="http://schemas.microsoft.com/office/drawing/2014/main" id="{F77BF89E-C4E1-4897-BB4D-C361A359A620}"/>
              </a:ext>
            </a:extLst>
          </p:cNvPr>
          <p:cNvSpPr>
            <a:spLocks noGrp="1" noChangeArrowheads="1"/>
          </p:cNvSpPr>
          <p:nvPr>
            <p:ph type="title" idx="4294967295"/>
          </p:nvPr>
        </p:nvSpPr>
        <p:spPr>
          <a:xfrm>
            <a:off x="2927648" y="199068"/>
            <a:ext cx="6870700" cy="684213"/>
          </a:xfrm>
        </p:spPr>
        <p:txBody>
          <a:bodyPr/>
          <a:lstStyle/>
          <a:p>
            <a:r>
              <a:rPr lang="zh-CN" altLang="en-US" sz="3600" dirty="0">
                <a:solidFill>
                  <a:srgbClr val="0000CC"/>
                </a:solidFill>
                <a:latin typeface="微软雅黑" panose="020B0503020204020204" pitchFamily="34" charset="-122"/>
                <a:ea typeface="微软雅黑" panose="020B0503020204020204" pitchFamily="34" charset="-122"/>
              </a:rPr>
              <a:t>常见亲核、亲电基团或原子</a:t>
            </a:r>
          </a:p>
        </p:txBody>
      </p:sp>
      <p:pic>
        <p:nvPicPr>
          <p:cNvPr id="167939" name="图片 3">
            <a:extLst>
              <a:ext uri="{FF2B5EF4-FFF2-40B4-BE49-F238E27FC236}">
                <a16:creationId xmlns:a16="http://schemas.microsoft.com/office/drawing/2014/main" id="{C4689DCA-FFD2-4E31-A7F5-682FD60040E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9376" y="970985"/>
            <a:ext cx="5311775" cy="570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8D6725EC-040C-8F06-F686-26A5D7402109}"/>
              </a:ext>
            </a:extLst>
          </p:cNvPr>
          <p:cNvSpPr txBox="1"/>
          <p:nvPr/>
        </p:nvSpPr>
        <p:spPr>
          <a:xfrm>
            <a:off x="6096000" y="1396463"/>
            <a:ext cx="5683481" cy="4852932"/>
          </a:xfrm>
          <a:prstGeom prst="rect">
            <a:avLst/>
          </a:prstGeom>
          <a:noFill/>
        </p:spPr>
        <p:txBody>
          <a:bodyPr wrap="square">
            <a:spAutoFit/>
          </a:bodyPr>
          <a:lstStyle/>
          <a:p>
            <a:pPr marL="342900" indent="-342900">
              <a:lnSpc>
                <a:spcPct val="12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最常见的亲核基团有</a:t>
            </a:r>
            <a:r>
              <a:rPr lang="en-US" altLang="zh-CN" sz="2600" dirty="0">
                <a:solidFill>
                  <a:srgbClr val="0000CC"/>
                </a:solidFill>
                <a:latin typeface="微软雅黑" panose="020B0503020204020204" pitchFamily="34" charset="-122"/>
                <a:ea typeface="微软雅黑" panose="020B0503020204020204" pitchFamily="34" charset="-122"/>
              </a:rPr>
              <a:t>Ser</a:t>
            </a:r>
            <a:r>
              <a:rPr lang="zh-CN" altLang="en-US" sz="2600" dirty="0">
                <a:solidFill>
                  <a:srgbClr val="0000CC"/>
                </a:solidFill>
                <a:latin typeface="微软雅黑" panose="020B0503020204020204" pitchFamily="34" charset="-122"/>
                <a:ea typeface="微软雅黑" panose="020B0503020204020204" pitchFamily="34" charset="-122"/>
              </a:rPr>
              <a:t>羟基、</a:t>
            </a:r>
            <a:r>
              <a:rPr lang="en-US" altLang="zh-CN" sz="2600" dirty="0" err="1">
                <a:solidFill>
                  <a:srgbClr val="0000CC"/>
                </a:solidFill>
                <a:latin typeface="微软雅黑" panose="020B0503020204020204" pitchFamily="34" charset="-122"/>
                <a:ea typeface="微软雅黑" panose="020B0503020204020204" pitchFamily="34" charset="-122"/>
              </a:rPr>
              <a:t>Cys</a:t>
            </a:r>
            <a:r>
              <a:rPr lang="zh-CN" altLang="en-US" sz="2600" dirty="0">
                <a:solidFill>
                  <a:srgbClr val="0000CC"/>
                </a:solidFill>
                <a:latin typeface="微软雅黑" panose="020B0503020204020204" pitchFamily="34" charset="-122"/>
                <a:ea typeface="微软雅黑" panose="020B0503020204020204" pitchFamily="34" charset="-122"/>
              </a:rPr>
              <a:t>巯基和</a:t>
            </a:r>
            <a:r>
              <a:rPr lang="en-US" altLang="zh-CN" sz="2600" dirty="0">
                <a:solidFill>
                  <a:srgbClr val="0000CC"/>
                </a:solidFill>
                <a:latin typeface="微软雅黑" panose="020B0503020204020204" pitchFamily="34" charset="-122"/>
                <a:ea typeface="微软雅黑" panose="020B0503020204020204" pitchFamily="34" charset="-122"/>
              </a:rPr>
              <a:t>His</a:t>
            </a:r>
            <a:r>
              <a:rPr lang="zh-CN" altLang="en-US" sz="2600" dirty="0">
                <a:solidFill>
                  <a:srgbClr val="0000CC"/>
                </a:solidFill>
                <a:latin typeface="微软雅黑" panose="020B0503020204020204" pitchFamily="34" charset="-122"/>
                <a:ea typeface="微软雅黑" panose="020B0503020204020204" pitchFamily="34" charset="-122"/>
              </a:rPr>
              <a:t>咪唑基</a:t>
            </a:r>
            <a:r>
              <a:rPr lang="zh-CN" altLang="en-US" sz="2600" dirty="0">
                <a:latin typeface="微软雅黑" panose="020B0503020204020204" pitchFamily="34" charset="-122"/>
                <a:ea typeface="微软雅黑" panose="020B0503020204020204" pitchFamily="34" charset="-122"/>
              </a:rPr>
              <a:t>。 这些基团容易攻击底物的亲电中心，如磷酰基、酰基和糖基。 </a:t>
            </a:r>
          </a:p>
          <a:p>
            <a:pPr marL="342900" indent="-342900">
              <a:lnSpc>
                <a:spcPct val="120000"/>
              </a:lnSpc>
              <a:buFont typeface="Arial" panose="020B0604020202020204" pitchFamily="34" charset="0"/>
              <a:buChar char="•"/>
            </a:pPr>
            <a:endParaRPr lang="zh-CN" altLang="en-US" sz="2600"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大多数</a:t>
            </a:r>
            <a:r>
              <a:rPr lang="en-US" altLang="zh-CN" sz="2600" dirty="0">
                <a:latin typeface="微软雅黑" panose="020B0503020204020204" pitchFamily="34" charset="-122"/>
                <a:ea typeface="微软雅黑" panose="020B0503020204020204" pitchFamily="34" charset="-122"/>
              </a:rPr>
              <a:t>AA</a:t>
            </a:r>
            <a:r>
              <a:rPr lang="zh-CN" altLang="en-US" sz="2600" dirty="0">
                <a:latin typeface="微软雅黑" panose="020B0503020204020204" pitchFamily="34" charset="-122"/>
                <a:ea typeface="微软雅黑" panose="020B0503020204020204" pitchFamily="34" charset="-122"/>
              </a:rPr>
              <a:t>缺乏亲电基团，这时引入辅酶或辅基，从而引入亲电基团，比如</a:t>
            </a:r>
            <a:r>
              <a:rPr lang="en-US" altLang="zh-CN" sz="2600" dirty="0">
                <a:latin typeface="微软雅黑" panose="020B0503020204020204" pitchFamily="34" charset="-122"/>
                <a:ea typeface="微软雅黑" panose="020B0503020204020204" pitchFamily="34" charset="-122"/>
              </a:rPr>
              <a:t>VitB6, </a:t>
            </a:r>
            <a:r>
              <a:rPr lang="zh-CN" altLang="en-US" sz="2600" dirty="0">
                <a:latin typeface="微软雅黑" panose="020B0503020204020204" pitchFamily="34" charset="-122"/>
                <a:ea typeface="微软雅黑" panose="020B0503020204020204" pitchFamily="34" charset="-122"/>
              </a:rPr>
              <a:t>在体内转变为活性形式</a:t>
            </a:r>
            <a:r>
              <a:rPr lang="zh-CN" altLang="en-US" sz="2600" dirty="0">
                <a:solidFill>
                  <a:srgbClr val="0000CC"/>
                </a:solidFill>
                <a:latin typeface="微软雅黑" panose="020B0503020204020204" pitchFamily="34" charset="-122"/>
                <a:ea typeface="微软雅黑" panose="020B0503020204020204" pitchFamily="34" charset="-122"/>
              </a:rPr>
              <a:t>磷酸吡哆醛，其醛基在转氨酶的催化作用中作为亲电基团</a:t>
            </a:r>
            <a:r>
              <a:rPr lang="zh-CN" altLang="en-US" sz="2600" dirty="0">
                <a:latin typeface="微软雅黑" panose="020B0503020204020204" pitchFamily="34" charset="-122"/>
                <a:ea typeface="微软雅黑" panose="020B0503020204020204" pitchFamily="34" charset="-122"/>
              </a:rPr>
              <a:t>。 </a:t>
            </a: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9986" name="标题 1">
            <a:extLst>
              <a:ext uri="{FF2B5EF4-FFF2-40B4-BE49-F238E27FC236}">
                <a16:creationId xmlns:a16="http://schemas.microsoft.com/office/drawing/2014/main" id="{D7A5F910-B7E3-47AA-B7C8-2C9455DC3480}"/>
              </a:ext>
            </a:extLst>
          </p:cNvPr>
          <p:cNvSpPr>
            <a:spLocks noGrp="1" noChangeArrowheads="1"/>
          </p:cNvSpPr>
          <p:nvPr>
            <p:ph type="title"/>
          </p:nvPr>
        </p:nvSpPr>
        <p:spPr>
          <a:xfrm>
            <a:off x="2609850" y="333376"/>
            <a:ext cx="6870700" cy="925513"/>
          </a:xfrm>
        </p:spPr>
        <p:txBody>
          <a:bodyPr/>
          <a:lstStyle/>
          <a:p>
            <a:r>
              <a:rPr lang="zh-CN" altLang="en-US" sz="4000">
                <a:solidFill>
                  <a:srgbClr val="0000CC"/>
                </a:solidFill>
              </a:rPr>
              <a:t>丝氨酸蛋白酶家族</a:t>
            </a:r>
          </a:p>
        </p:txBody>
      </p:sp>
      <p:sp>
        <p:nvSpPr>
          <p:cNvPr id="169987" name="内容占位符 2">
            <a:extLst>
              <a:ext uri="{FF2B5EF4-FFF2-40B4-BE49-F238E27FC236}">
                <a16:creationId xmlns:a16="http://schemas.microsoft.com/office/drawing/2014/main" id="{16CFCEB7-34D0-4C09-9362-ADF5619C855D}"/>
              </a:ext>
            </a:extLst>
          </p:cNvPr>
          <p:cNvSpPr>
            <a:spLocks noGrp="1" noChangeArrowheads="1"/>
          </p:cNvSpPr>
          <p:nvPr>
            <p:ph idx="1"/>
          </p:nvPr>
        </p:nvSpPr>
        <p:spPr>
          <a:xfrm>
            <a:off x="1235460" y="1556792"/>
            <a:ext cx="9721080" cy="4105275"/>
          </a:xfrm>
        </p:spPr>
        <p:txBody>
          <a:bodyPr/>
          <a:lstStyle/>
          <a:p>
            <a:pPr marL="431800" indent="-457200">
              <a:lnSpc>
                <a:spcPct val="120000"/>
              </a:lnSpc>
              <a:spcBef>
                <a:spcPct val="0"/>
              </a:spcBef>
              <a:buFont typeface="Wingdings" panose="05000000000000000000" pitchFamily="2" charset="2"/>
              <a:buChar char="u"/>
            </a:pPr>
            <a:r>
              <a:rPr lang="zh-CN" altLang="en-US" sz="2400" b="0" dirty="0">
                <a:latin typeface="黑体" panose="02010609060101010101" pitchFamily="49" charset="-122"/>
                <a:ea typeface="黑体" panose="02010609060101010101" pitchFamily="49" charset="-122"/>
              </a:rPr>
              <a:t>具有相似的三维结构。其活性中心都有一个</a:t>
            </a:r>
            <a:r>
              <a:rPr lang="en-US" altLang="zh-CN" sz="2400" b="0" dirty="0">
                <a:solidFill>
                  <a:srgbClr val="C00000"/>
                </a:solidFill>
                <a:latin typeface="黑体" panose="02010609060101010101" pitchFamily="49" charset="-122"/>
                <a:ea typeface="黑体" panose="02010609060101010101" pitchFamily="49" charset="-122"/>
              </a:rPr>
              <a:t>Asp</a:t>
            </a:r>
            <a:r>
              <a:rPr lang="zh-CN" altLang="en-US" sz="2400" b="0" dirty="0">
                <a:solidFill>
                  <a:srgbClr val="C00000"/>
                </a:solidFill>
                <a:latin typeface="黑体" panose="02010609060101010101" pitchFamily="49" charset="-122"/>
                <a:ea typeface="黑体" panose="02010609060101010101" pitchFamily="49" charset="-122"/>
              </a:rPr>
              <a:t>、</a:t>
            </a:r>
            <a:r>
              <a:rPr lang="zh-CN" altLang="en-US" sz="2400" b="0" dirty="0">
                <a:latin typeface="黑体" panose="02010609060101010101" pitchFamily="49" charset="-122"/>
                <a:ea typeface="黑体" panose="02010609060101010101" pitchFamily="49" charset="-122"/>
              </a:rPr>
              <a:t>一个</a:t>
            </a:r>
            <a:r>
              <a:rPr lang="en-US" altLang="zh-CN" sz="2400" b="0" dirty="0">
                <a:solidFill>
                  <a:srgbClr val="C00000"/>
                </a:solidFill>
                <a:latin typeface="黑体" panose="02010609060101010101" pitchFamily="49" charset="-122"/>
                <a:ea typeface="黑体" panose="02010609060101010101" pitchFamily="49" charset="-122"/>
              </a:rPr>
              <a:t>His</a:t>
            </a:r>
            <a:r>
              <a:rPr lang="zh-CN" altLang="en-US" sz="2400" b="0" dirty="0">
                <a:latin typeface="黑体" panose="02010609060101010101" pitchFamily="49" charset="-122"/>
                <a:ea typeface="黑体" panose="02010609060101010101" pitchFamily="49" charset="-122"/>
              </a:rPr>
              <a:t>和一个</a:t>
            </a:r>
            <a:r>
              <a:rPr lang="en-US" altLang="zh-CN" sz="2400" b="0" dirty="0">
                <a:solidFill>
                  <a:srgbClr val="C00000"/>
                </a:solidFill>
                <a:latin typeface="黑体" panose="02010609060101010101" pitchFamily="49" charset="-122"/>
                <a:ea typeface="黑体" panose="02010609060101010101" pitchFamily="49" charset="-122"/>
              </a:rPr>
              <a:t>Ser</a:t>
            </a:r>
            <a:r>
              <a:rPr lang="zh-CN" altLang="en-US" sz="2400" b="0" dirty="0">
                <a:latin typeface="黑体" panose="02010609060101010101" pitchFamily="49" charset="-122"/>
                <a:ea typeface="黑体" panose="02010609060101010101" pitchFamily="49" charset="-122"/>
              </a:rPr>
              <a:t>残基，它们通过氢键形成一个</a:t>
            </a:r>
            <a:r>
              <a:rPr lang="zh-CN" altLang="en-US" sz="2400" b="0" dirty="0">
                <a:solidFill>
                  <a:srgbClr val="C00000"/>
                </a:solidFill>
                <a:latin typeface="黑体" panose="02010609060101010101" pitchFamily="49" charset="-122"/>
                <a:ea typeface="黑体" panose="02010609060101010101" pitchFamily="49" charset="-122"/>
              </a:rPr>
              <a:t>催化三联体（</a:t>
            </a:r>
            <a:r>
              <a:rPr lang="en-US" altLang="zh-CN" sz="2400" b="0" dirty="0">
                <a:solidFill>
                  <a:srgbClr val="C00000"/>
                </a:solidFill>
                <a:latin typeface="黑体" panose="02010609060101010101" pitchFamily="49" charset="-122"/>
                <a:ea typeface="黑体" panose="02010609060101010101" pitchFamily="49" charset="-122"/>
              </a:rPr>
              <a:t>catalytic triad)</a:t>
            </a:r>
            <a:r>
              <a:rPr lang="zh-CN" altLang="en-US" sz="2400" b="0" dirty="0">
                <a:latin typeface="黑体" panose="02010609060101010101" pitchFamily="49" charset="-122"/>
                <a:ea typeface="黑体" panose="02010609060101010101" pitchFamily="49" charset="-122"/>
              </a:rPr>
              <a:t>； 催化三联体在功能上起</a:t>
            </a:r>
            <a:r>
              <a:rPr lang="zh-CN" altLang="en-US" sz="2400" dirty="0">
                <a:solidFill>
                  <a:srgbClr val="0000CC"/>
                </a:solidFill>
                <a:latin typeface="黑体" panose="02010609060101010101" pitchFamily="49" charset="-122"/>
                <a:ea typeface="黑体" panose="02010609060101010101" pitchFamily="49" charset="-122"/>
              </a:rPr>
              <a:t>转移电荷的作用</a:t>
            </a:r>
            <a:r>
              <a:rPr lang="zh-CN" altLang="en-US" sz="2400" dirty="0">
                <a:latin typeface="黑体" panose="02010609060101010101" pitchFamily="49" charset="-122"/>
                <a:ea typeface="黑体" panose="02010609060101010101" pitchFamily="49" charset="-122"/>
              </a:rPr>
              <a:t>。 </a:t>
            </a:r>
            <a:endParaRPr lang="en-US" altLang="zh-CN" sz="2400" dirty="0">
              <a:latin typeface="黑体" panose="02010609060101010101" pitchFamily="49" charset="-122"/>
              <a:ea typeface="黑体" panose="02010609060101010101" pitchFamily="49" charset="-122"/>
            </a:endParaRPr>
          </a:p>
          <a:p>
            <a:pPr marL="431800" indent="-457200">
              <a:lnSpc>
                <a:spcPct val="120000"/>
              </a:lnSpc>
              <a:spcBef>
                <a:spcPct val="0"/>
              </a:spcBef>
              <a:buFont typeface="Wingdings" panose="05000000000000000000" pitchFamily="2" charset="2"/>
              <a:buChar char="u"/>
            </a:pPr>
            <a:endParaRPr lang="en-US" altLang="zh-CN" sz="2400" dirty="0">
              <a:latin typeface="黑体" panose="02010609060101010101" pitchFamily="49" charset="-122"/>
              <a:ea typeface="黑体" panose="02010609060101010101" pitchFamily="49" charset="-122"/>
            </a:endParaRPr>
          </a:p>
          <a:p>
            <a:pPr marL="431800" indent="-457200">
              <a:lnSpc>
                <a:spcPct val="120000"/>
              </a:lnSpc>
              <a:spcBef>
                <a:spcPct val="0"/>
              </a:spcBef>
              <a:buFont typeface="Wingdings" panose="05000000000000000000" pitchFamily="2" charset="2"/>
              <a:buChar char="u"/>
            </a:pPr>
            <a:r>
              <a:rPr lang="zh-CN" altLang="en-US" sz="2400" b="0" dirty="0">
                <a:latin typeface="黑体" panose="02010609060101010101" pitchFamily="49" charset="-122"/>
                <a:ea typeface="黑体" panose="02010609060101010101" pitchFamily="49" charset="-122"/>
              </a:rPr>
              <a:t>在</a:t>
            </a:r>
            <a:r>
              <a:rPr lang="en-US" altLang="zh-CN" sz="2400" b="0" dirty="0">
                <a:latin typeface="黑体" panose="02010609060101010101" pitchFamily="49" charset="-122"/>
                <a:ea typeface="黑体" panose="02010609060101010101" pitchFamily="49" charset="-122"/>
              </a:rPr>
              <a:t>Ser</a:t>
            </a:r>
            <a:r>
              <a:rPr lang="zh-CN" altLang="en-US" sz="2400" b="0" dirty="0">
                <a:latin typeface="黑体" panose="02010609060101010101" pitchFamily="49" charset="-122"/>
                <a:ea typeface="黑体" panose="02010609060101010101" pitchFamily="49" charset="-122"/>
              </a:rPr>
              <a:t>附近都有一个</a:t>
            </a:r>
            <a:r>
              <a:rPr lang="zh-CN" altLang="en-US" sz="2400" b="0" dirty="0">
                <a:solidFill>
                  <a:srgbClr val="C00000"/>
                </a:solidFill>
                <a:latin typeface="黑体" panose="02010609060101010101" pitchFamily="49" charset="-122"/>
                <a:ea typeface="黑体" panose="02010609060101010101" pitchFamily="49" charset="-122"/>
              </a:rPr>
              <a:t>疏水“口袋”</a:t>
            </a:r>
            <a:r>
              <a:rPr lang="zh-CN" altLang="en-US" sz="2400" b="0" dirty="0">
                <a:latin typeface="黑体" panose="02010609060101010101" pitchFamily="49" charset="-122"/>
                <a:ea typeface="黑体" panose="02010609060101010101" pitchFamily="49" charset="-122"/>
              </a:rPr>
              <a:t>，每种丝氨酸蛋白酶的“口袋”是不同的， 将被断裂的肽键</a:t>
            </a:r>
            <a:r>
              <a:rPr lang="en-US" altLang="zh-CN" sz="2400" b="0" dirty="0">
                <a:latin typeface="黑体" panose="02010609060101010101" pitchFamily="49" charset="-122"/>
                <a:ea typeface="黑体" panose="02010609060101010101" pitchFamily="49" charset="-122"/>
              </a:rPr>
              <a:t>N</a:t>
            </a:r>
            <a:r>
              <a:rPr lang="zh-CN" altLang="en-US" sz="2400" b="0" dirty="0">
                <a:latin typeface="黑体" panose="02010609060101010101" pitchFamily="49" charset="-122"/>
                <a:ea typeface="黑体" panose="02010609060101010101" pitchFamily="49" charset="-122"/>
              </a:rPr>
              <a:t>端侧的残基侧链必须能与口袋契合。 </a:t>
            </a:r>
            <a:endParaRPr lang="en-US" altLang="zh-CN" sz="2400" b="0" dirty="0">
              <a:latin typeface="黑体" panose="02010609060101010101" pitchFamily="49" charset="-122"/>
              <a:ea typeface="黑体" panose="02010609060101010101" pitchFamily="49" charset="-122"/>
            </a:endParaRPr>
          </a:p>
          <a:p>
            <a:pPr marL="431800" indent="-457200">
              <a:lnSpc>
                <a:spcPct val="120000"/>
              </a:lnSpc>
              <a:spcBef>
                <a:spcPct val="0"/>
              </a:spcBef>
              <a:buFont typeface="Wingdings" panose="05000000000000000000" pitchFamily="2" charset="2"/>
              <a:buChar char="u"/>
            </a:pPr>
            <a:endParaRPr lang="zh-CN" altLang="en-US" sz="2400" b="0" dirty="0">
              <a:latin typeface="黑体" panose="02010609060101010101" pitchFamily="49" charset="-122"/>
              <a:ea typeface="黑体" panose="02010609060101010101" pitchFamily="49" charset="-122"/>
            </a:endParaRPr>
          </a:p>
          <a:p>
            <a:pPr marL="431800" indent="-457200">
              <a:lnSpc>
                <a:spcPct val="120000"/>
              </a:lnSpc>
              <a:spcBef>
                <a:spcPct val="0"/>
              </a:spcBef>
              <a:buFont typeface="Wingdings" panose="05000000000000000000" pitchFamily="2" charset="2"/>
              <a:buChar char="u"/>
            </a:pPr>
            <a:r>
              <a:rPr lang="zh-CN" altLang="en-US" sz="2400" b="0" dirty="0">
                <a:latin typeface="黑体" panose="02010609060101010101" pitchFamily="49" charset="-122"/>
                <a:ea typeface="黑体" panose="02010609060101010101" pitchFamily="49" charset="-122"/>
              </a:rPr>
              <a:t>胰凝乳蛋白酶催化肽键水解的机制分为</a:t>
            </a:r>
            <a:r>
              <a:rPr lang="zh-CN" altLang="en-US" sz="2400" b="0" dirty="0">
                <a:solidFill>
                  <a:srgbClr val="0000CC"/>
                </a:solidFill>
                <a:latin typeface="黑体" panose="02010609060101010101" pitchFamily="49" charset="-122"/>
                <a:ea typeface="黑体" panose="02010609060101010101" pitchFamily="49" charset="-122"/>
              </a:rPr>
              <a:t>酰化和脱酰两个主要阶段</a:t>
            </a:r>
            <a:r>
              <a:rPr lang="zh-CN" altLang="en-US" sz="2400" b="0" dirty="0">
                <a:latin typeface="黑体" panose="02010609060101010101" pitchFamily="49" charset="-122"/>
                <a:ea typeface="黑体" panose="02010609060101010101" pitchFamily="49" charset="-122"/>
              </a:rPr>
              <a:t>。 催化过程中会形成</a:t>
            </a:r>
            <a:r>
              <a:rPr lang="zh-CN" altLang="en-US" sz="2400" b="0" dirty="0">
                <a:solidFill>
                  <a:srgbClr val="C00000"/>
                </a:solidFill>
                <a:latin typeface="黑体" panose="02010609060101010101" pitchFamily="49" charset="-122"/>
                <a:ea typeface="黑体" panose="02010609060101010101" pitchFamily="49" charset="-122"/>
              </a:rPr>
              <a:t>中间产物：酰基化酶</a:t>
            </a:r>
            <a:r>
              <a:rPr lang="zh-CN" altLang="en-US" sz="2400" b="0" dirty="0">
                <a:latin typeface="黑体" panose="02010609060101010101" pitchFamily="49" charset="-122"/>
                <a:ea typeface="黑体" panose="02010609060101010101" pitchFamily="49" charset="-122"/>
              </a:rPr>
              <a:t>。</a:t>
            </a:r>
          </a:p>
          <a:p>
            <a:pPr marL="431800" indent="-457200">
              <a:lnSpc>
                <a:spcPct val="120000"/>
              </a:lnSpc>
              <a:spcBef>
                <a:spcPct val="0"/>
              </a:spcBef>
              <a:buFont typeface="Wingdings" panose="05000000000000000000" pitchFamily="2" charset="2"/>
              <a:buChar char="u"/>
            </a:pPr>
            <a:endParaRPr lang="zh-CN" altLang="en-US" sz="2400" b="0" dirty="0">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标题 1">
            <a:extLst>
              <a:ext uri="{FF2B5EF4-FFF2-40B4-BE49-F238E27FC236}">
                <a16:creationId xmlns:a16="http://schemas.microsoft.com/office/drawing/2014/main" id="{7545E69F-88EE-40E8-B4FC-3874EAC08E80}"/>
              </a:ext>
            </a:extLst>
          </p:cNvPr>
          <p:cNvSpPr>
            <a:spLocks noGrp="1" noChangeArrowheads="1"/>
          </p:cNvSpPr>
          <p:nvPr>
            <p:ph type="title"/>
          </p:nvPr>
        </p:nvSpPr>
        <p:spPr>
          <a:xfrm>
            <a:off x="2609850" y="152401"/>
            <a:ext cx="6870700" cy="925513"/>
          </a:xfrm>
        </p:spPr>
        <p:txBody>
          <a:bodyPr/>
          <a:lstStyle/>
          <a:p>
            <a:r>
              <a:rPr lang="zh-CN" altLang="en-US" sz="3600">
                <a:solidFill>
                  <a:srgbClr val="0000CC"/>
                </a:solidFill>
                <a:latin typeface="微软雅黑" panose="020B0503020204020204" pitchFamily="34" charset="-122"/>
                <a:ea typeface="微软雅黑" panose="020B0503020204020204" pitchFamily="34" charset="-122"/>
              </a:rPr>
              <a:t>胰凝乳蛋白酶的催化机制</a:t>
            </a:r>
          </a:p>
        </p:txBody>
      </p:sp>
      <p:sp>
        <p:nvSpPr>
          <p:cNvPr id="172035" name="内容占位符 2">
            <a:extLst>
              <a:ext uri="{FF2B5EF4-FFF2-40B4-BE49-F238E27FC236}">
                <a16:creationId xmlns:a16="http://schemas.microsoft.com/office/drawing/2014/main" id="{EEEE2AC1-B2AC-421F-BE53-7C11FCF5EBE3}"/>
              </a:ext>
            </a:extLst>
          </p:cNvPr>
          <p:cNvSpPr>
            <a:spLocks noGrp="1" noChangeArrowheads="1"/>
          </p:cNvSpPr>
          <p:nvPr>
            <p:ph idx="1"/>
          </p:nvPr>
        </p:nvSpPr>
        <p:spPr>
          <a:xfrm>
            <a:off x="1559496" y="1557338"/>
            <a:ext cx="9073008" cy="1511622"/>
          </a:xfrm>
        </p:spPr>
        <p:txBody>
          <a:bodyPr/>
          <a:lstStyle/>
          <a:p>
            <a:pPr>
              <a:lnSpc>
                <a:spcPct val="130000"/>
              </a:lnSpc>
            </a:pPr>
            <a:r>
              <a:rPr lang="zh-CN" altLang="en-US" sz="2800" b="0" dirty="0">
                <a:latin typeface="微软雅黑" panose="020B0503020204020204" pitchFamily="34" charset="-122"/>
                <a:ea typeface="微软雅黑" panose="020B0503020204020204" pitchFamily="34" charset="-122"/>
              </a:rPr>
              <a:t>牛胰凝乳蛋白酶，分子量</a:t>
            </a:r>
            <a:r>
              <a:rPr lang="en-US" altLang="zh-CN" sz="2800" b="0" dirty="0">
                <a:latin typeface="微软雅黑" panose="020B0503020204020204" pitchFamily="34" charset="-122"/>
                <a:ea typeface="微软雅黑" panose="020B0503020204020204" pitchFamily="34" charset="-122"/>
              </a:rPr>
              <a:t>25000</a:t>
            </a:r>
            <a:r>
              <a:rPr lang="zh-CN" altLang="en-US" sz="2800" b="0" dirty="0">
                <a:latin typeface="微软雅黑" panose="020B0503020204020204" pitchFamily="34" charset="-122"/>
                <a:ea typeface="微软雅黑" panose="020B0503020204020204" pitchFamily="34" charset="-122"/>
              </a:rPr>
              <a:t>，由三条多肽链构成</a:t>
            </a:r>
            <a:r>
              <a:rPr lang="en-US" altLang="zh-CN" sz="2800" b="0" dirty="0">
                <a:latin typeface="微软雅黑" panose="020B0503020204020204" pitchFamily="34" charset="-122"/>
                <a:ea typeface="微软雅黑" panose="020B0503020204020204" pitchFamily="34" charset="-122"/>
              </a:rPr>
              <a:t>,</a:t>
            </a:r>
            <a:r>
              <a:rPr lang="zh-CN" altLang="en-US" sz="2800" b="0" dirty="0">
                <a:latin typeface="微软雅黑" panose="020B0503020204020204" pitchFamily="34" charset="-122"/>
                <a:ea typeface="微软雅黑" panose="020B0503020204020204" pitchFamily="34" charset="-122"/>
              </a:rPr>
              <a:t>能</a:t>
            </a:r>
            <a:r>
              <a:rPr lang="zh-CN" altLang="en-US" sz="2800" b="0" dirty="0">
                <a:solidFill>
                  <a:srgbClr val="0000CC"/>
                </a:solidFill>
                <a:latin typeface="微软雅黑" panose="020B0503020204020204" pitchFamily="34" charset="-122"/>
                <a:ea typeface="微软雅黑" panose="020B0503020204020204" pitchFamily="34" charset="-122"/>
              </a:rPr>
              <a:t>水解</a:t>
            </a:r>
            <a:r>
              <a:rPr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肽链中</a:t>
            </a:r>
            <a:r>
              <a:rPr lang="zh-CN" altLang="en-US" sz="2800" b="0" dirty="0">
                <a:solidFill>
                  <a:srgbClr val="0000CC"/>
                </a:solidFill>
                <a:latin typeface="微软雅黑" panose="020B0503020204020204" pitchFamily="34" charset="-122"/>
                <a:ea typeface="微软雅黑" panose="020B0503020204020204" pitchFamily="34" charset="-122"/>
              </a:rPr>
              <a:t>芳香族氨基酸残基羧基侧的肽腱。</a:t>
            </a:r>
          </a:p>
        </p:txBody>
      </p:sp>
      <p:pic>
        <p:nvPicPr>
          <p:cNvPr id="172036" name="图片 3">
            <a:extLst>
              <a:ext uri="{FF2B5EF4-FFF2-40B4-BE49-F238E27FC236}">
                <a16:creationId xmlns:a16="http://schemas.microsoft.com/office/drawing/2014/main" id="{50BB998F-18C2-407D-AD5B-7AD769E0974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3068960"/>
            <a:ext cx="2735262" cy="274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2037" name="图片 4">
            <a:extLst>
              <a:ext uri="{FF2B5EF4-FFF2-40B4-BE49-F238E27FC236}">
                <a16:creationId xmlns:a16="http://schemas.microsoft.com/office/drawing/2014/main" id="{888DA7E8-20F6-4B77-8F3B-015A96D032C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00801" y="2984501"/>
            <a:ext cx="3224213"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标题 1">
            <a:extLst>
              <a:ext uri="{FF2B5EF4-FFF2-40B4-BE49-F238E27FC236}">
                <a16:creationId xmlns:a16="http://schemas.microsoft.com/office/drawing/2014/main" id="{25187649-FA44-47D8-9821-7362CD607A61}"/>
              </a:ext>
            </a:extLst>
          </p:cNvPr>
          <p:cNvSpPr>
            <a:spLocks noGrp="1" noChangeArrowheads="1"/>
          </p:cNvSpPr>
          <p:nvPr>
            <p:ph type="title"/>
          </p:nvPr>
        </p:nvSpPr>
        <p:spPr>
          <a:xfrm>
            <a:off x="3136900" y="285751"/>
            <a:ext cx="6870700" cy="695325"/>
          </a:xfrm>
        </p:spPr>
        <p:txBody>
          <a:bodyPr/>
          <a:lstStyle/>
          <a:p>
            <a:r>
              <a:rPr lang="zh-CN" altLang="en-US" sz="3600">
                <a:solidFill>
                  <a:srgbClr val="0000CC"/>
                </a:solidFill>
                <a:latin typeface="微软雅黑" panose="020B0503020204020204" pitchFamily="34" charset="-122"/>
                <a:ea typeface="微软雅黑" panose="020B0503020204020204" pitchFamily="34" charset="-122"/>
              </a:rPr>
              <a:t>胰凝乳蛋白酶的催化机制</a:t>
            </a:r>
          </a:p>
        </p:txBody>
      </p:sp>
      <p:sp>
        <p:nvSpPr>
          <p:cNvPr id="55299" name="内容占位符 2">
            <a:extLst>
              <a:ext uri="{FF2B5EF4-FFF2-40B4-BE49-F238E27FC236}">
                <a16:creationId xmlns:a16="http://schemas.microsoft.com/office/drawing/2014/main" id="{56865DF7-1D4A-46C2-A8AB-B50C5C19188B}"/>
              </a:ext>
            </a:extLst>
          </p:cNvPr>
          <p:cNvSpPr>
            <a:spLocks noGrp="1"/>
          </p:cNvSpPr>
          <p:nvPr>
            <p:ph idx="1"/>
          </p:nvPr>
        </p:nvSpPr>
        <p:spPr>
          <a:xfrm>
            <a:off x="3863976" y="995363"/>
            <a:ext cx="6143625" cy="1065212"/>
          </a:xfrm>
          <a:ln>
            <a:solidFill>
              <a:srgbClr val="0000CC"/>
            </a:solidFill>
          </a:ln>
        </p:spPr>
        <p:txBody>
          <a:bodyPr/>
          <a:lstStyle/>
          <a:p>
            <a:pPr>
              <a:defRPr/>
            </a:pPr>
            <a:r>
              <a:rPr lang="zh-CN" altLang="en-US" sz="2800" dirty="0">
                <a:latin typeface="+mn-ea"/>
              </a:rPr>
              <a:t>活性中心的关键氨基酸残基</a:t>
            </a:r>
            <a:r>
              <a:rPr lang="en-US" altLang="zh-CN" sz="2800" dirty="0">
                <a:latin typeface="+mn-ea"/>
              </a:rPr>
              <a:t>: </a:t>
            </a:r>
          </a:p>
          <a:p>
            <a:pPr marL="0" indent="0">
              <a:buNone/>
              <a:defRPr/>
            </a:pPr>
            <a:r>
              <a:rPr lang="en-US" altLang="zh-CN" sz="2800" dirty="0">
                <a:latin typeface="+mn-ea"/>
              </a:rPr>
              <a:t>  </a:t>
            </a:r>
            <a:r>
              <a:rPr lang="en-US" altLang="zh-CN" sz="2800" dirty="0">
                <a:solidFill>
                  <a:srgbClr val="0000FF"/>
                </a:solidFill>
                <a:latin typeface="+mn-ea"/>
              </a:rPr>
              <a:t>His57</a:t>
            </a:r>
            <a:r>
              <a:rPr lang="zh-CN" altLang="en-US" sz="2800" dirty="0">
                <a:solidFill>
                  <a:srgbClr val="0000FF"/>
                </a:solidFill>
                <a:latin typeface="+mn-ea"/>
              </a:rPr>
              <a:t>、</a:t>
            </a:r>
            <a:r>
              <a:rPr lang="en-US" altLang="zh-CN" sz="2800" dirty="0">
                <a:solidFill>
                  <a:srgbClr val="0000FF"/>
                </a:solidFill>
                <a:latin typeface="+mn-ea"/>
              </a:rPr>
              <a:t>Asp102</a:t>
            </a:r>
            <a:r>
              <a:rPr lang="zh-CN" altLang="en-US" sz="2800" dirty="0">
                <a:solidFill>
                  <a:srgbClr val="0000FF"/>
                </a:solidFill>
                <a:latin typeface="+mn-ea"/>
              </a:rPr>
              <a:t>、</a:t>
            </a:r>
            <a:r>
              <a:rPr lang="en-US" altLang="zh-CN" sz="2800" dirty="0">
                <a:solidFill>
                  <a:srgbClr val="0000FF"/>
                </a:solidFill>
                <a:latin typeface="+mn-ea"/>
              </a:rPr>
              <a:t>Gly193</a:t>
            </a:r>
            <a:r>
              <a:rPr lang="zh-CN" altLang="en-US" sz="2800" dirty="0">
                <a:solidFill>
                  <a:srgbClr val="0000FF"/>
                </a:solidFill>
                <a:latin typeface="+mn-ea"/>
              </a:rPr>
              <a:t>、</a:t>
            </a:r>
            <a:r>
              <a:rPr lang="en-US" altLang="zh-CN" sz="2800" dirty="0">
                <a:solidFill>
                  <a:srgbClr val="0000FF"/>
                </a:solidFill>
                <a:latin typeface="+mn-ea"/>
              </a:rPr>
              <a:t>Ser195</a:t>
            </a:r>
            <a:endParaRPr lang="zh-CN" altLang="en-US" sz="2800" dirty="0">
              <a:solidFill>
                <a:srgbClr val="0000FF"/>
              </a:solidFill>
              <a:latin typeface="+mn-ea"/>
            </a:endParaRPr>
          </a:p>
        </p:txBody>
      </p:sp>
      <p:pic>
        <p:nvPicPr>
          <p:cNvPr id="174084" name="图片 3">
            <a:extLst>
              <a:ext uri="{FF2B5EF4-FFF2-40B4-BE49-F238E27FC236}">
                <a16:creationId xmlns:a16="http://schemas.microsoft.com/office/drawing/2014/main" id="{A242A82A-228A-4798-B6B1-C4460AFE42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78314" y="2290764"/>
            <a:ext cx="4770437"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085" name="图片 4">
            <a:extLst>
              <a:ext uri="{FF2B5EF4-FFF2-40B4-BE49-F238E27FC236}">
                <a16:creationId xmlns:a16="http://schemas.microsoft.com/office/drawing/2014/main" id="{EFA2349C-F46A-41D8-9A63-532E1C06EFC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04814"/>
            <a:ext cx="1257300" cy="620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B1E72A4-6FDA-FCF0-2D1A-F7EF472A2765}"/>
              </a:ext>
            </a:extLst>
          </p:cNvPr>
          <p:cNvPicPr>
            <a:picLocks noChangeAspect="1"/>
          </p:cNvPicPr>
          <p:nvPr/>
        </p:nvPicPr>
        <p:blipFill>
          <a:blip r:embed="rId3"/>
          <a:stretch>
            <a:fillRect/>
          </a:stretch>
        </p:blipFill>
        <p:spPr>
          <a:xfrm>
            <a:off x="1991544" y="260648"/>
            <a:ext cx="7971428" cy="3390476"/>
          </a:xfrm>
          <a:prstGeom prst="rect">
            <a:avLst/>
          </a:prstGeom>
        </p:spPr>
      </p:pic>
      <p:sp>
        <p:nvSpPr>
          <p:cNvPr id="5" name="文本框 4">
            <a:extLst>
              <a:ext uri="{FF2B5EF4-FFF2-40B4-BE49-F238E27FC236}">
                <a16:creationId xmlns:a16="http://schemas.microsoft.com/office/drawing/2014/main" id="{D9E8EAA9-6563-A51F-A2B2-E87C573CFB86}"/>
              </a:ext>
            </a:extLst>
          </p:cNvPr>
          <p:cNvSpPr txBox="1"/>
          <p:nvPr/>
        </p:nvSpPr>
        <p:spPr>
          <a:xfrm>
            <a:off x="1415480" y="3717032"/>
            <a:ext cx="9577064" cy="1761508"/>
          </a:xfrm>
          <a:prstGeom prst="rect">
            <a:avLst/>
          </a:prstGeom>
          <a:noFill/>
        </p:spPr>
        <p:txBody>
          <a:bodyPr wrap="square">
            <a:spAutoFit/>
          </a:bodyPr>
          <a:lstStyle/>
          <a:p>
            <a:pPr marL="285750" indent="-285750">
              <a:lnSpc>
                <a:spcPct val="11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胰凝乳蛋白酶</a:t>
            </a:r>
            <a:r>
              <a:rPr lang="en-US" altLang="zh-CN" sz="2000" dirty="0">
                <a:solidFill>
                  <a:srgbClr val="0000FF"/>
                </a:solidFill>
                <a:latin typeface="微软雅黑" panose="020B0503020204020204" pitchFamily="34" charset="-122"/>
                <a:ea typeface="微软雅黑" panose="020B0503020204020204" pitchFamily="34" charset="-122"/>
              </a:rPr>
              <a:t>195 </a:t>
            </a:r>
            <a:r>
              <a:rPr lang="zh-CN" altLang="en-US" sz="2000" dirty="0">
                <a:solidFill>
                  <a:srgbClr val="0000FF"/>
                </a:solidFill>
                <a:latin typeface="微软雅黑" panose="020B0503020204020204" pitchFamily="34" charset="-122"/>
                <a:ea typeface="微软雅黑" panose="020B0503020204020204" pitchFamily="34" charset="-122"/>
              </a:rPr>
              <a:t>位丝氨酸残基的</a:t>
            </a:r>
            <a:r>
              <a:rPr lang="en-US" altLang="zh-CN" sz="2000" dirty="0">
                <a:solidFill>
                  <a:srgbClr val="0000FF"/>
                </a:solidFill>
                <a:latin typeface="微软雅黑" panose="020B0503020204020204" pitchFamily="34" charset="-122"/>
                <a:ea typeface="微软雅黑" panose="020B0503020204020204" pitchFamily="34" charset="-122"/>
              </a:rPr>
              <a:t>—OH </a:t>
            </a:r>
            <a:r>
              <a:rPr lang="zh-CN" altLang="en-US" sz="2000" dirty="0">
                <a:latin typeface="微软雅黑" panose="020B0503020204020204" pitchFamily="34" charset="-122"/>
                <a:ea typeface="微软雅黑" panose="020B0503020204020204" pitchFamily="34" charset="-122"/>
              </a:rPr>
              <a:t>是该酶活性中心的催化基团，当底物结合在酶上后，由于此</a:t>
            </a:r>
            <a:r>
              <a:rPr lang="en-US" altLang="zh-CN" sz="2000" dirty="0">
                <a:latin typeface="微软雅黑" panose="020B0503020204020204" pitchFamily="34" charset="-122"/>
                <a:ea typeface="微软雅黑" panose="020B0503020204020204" pitchFamily="34" charset="-122"/>
              </a:rPr>
              <a:t>—OH </a:t>
            </a:r>
            <a:r>
              <a:rPr lang="zh-CN" altLang="en-US" sz="2000" dirty="0">
                <a:latin typeface="微软雅黑" panose="020B0503020204020204" pitchFamily="34" charset="-122"/>
                <a:ea typeface="微软雅黑" panose="020B0503020204020204" pitchFamily="34" charset="-122"/>
              </a:rPr>
              <a:t>基团中</a:t>
            </a:r>
            <a:r>
              <a:rPr lang="en-US" altLang="zh-CN" sz="2000" dirty="0">
                <a:latin typeface="微软雅黑" panose="020B0503020204020204" pitchFamily="34" charset="-122"/>
                <a:ea typeface="微软雅黑" panose="020B0503020204020204" pitchFamily="34" charset="-122"/>
              </a:rPr>
              <a:t>O </a:t>
            </a:r>
            <a:r>
              <a:rPr lang="zh-CN" altLang="en-US" sz="2000" dirty="0">
                <a:latin typeface="微软雅黑" panose="020B0503020204020204" pitchFamily="34" charset="-122"/>
                <a:ea typeface="微软雅黑" panose="020B0503020204020204" pitchFamily="34" charset="-122"/>
              </a:rPr>
              <a:t>原子含有孤对电子，在</a:t>
            </a: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57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位组氨酸残基碱催化</a:t>
            </a:r>
            <a:r>
              <a:rPr lang="zh-CN" altLang="en-US" sz="2000" dirty="0">
                <a:latin typeface="微软雅黑" panose="020B0503020204020204" pitchFamily="34" charset="-122"/>
                <a:ea typeface="微软雅黑" panose="020B0503020204020204" pitchFamily="34" charset="-122"/>
              </a:rPr>
              <a:t>的帮助下，能对底物蛋白肽键中</a:t>
            </a:r>
            <a:r>
              <a:rPr lang="zh-CN" altLang="en-US" sz="2000" b="1" dirty="0">
                <a:latin typeface="微软雅黑" panose="020B0503020204020204" pitchFamily="34" charset="-122"/>
                <a:ea typeface="微软雅黑" panose="020B0503020204020204" pitchFamily="34" charset="-122"/>
              </a:rPr>
              <a:t>羰基</a:t>
            </a:r>
            <a:r>
              <a:rPr lang="en-US" altLang="zh-CN" sz="2000" b="1"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（具有部分正电性）进行</a:t>
            </a:r>
            <a:r>
              <a:rPr lang="zh-CN" altLang="en-US" sz="2000" dirty="0">
                <a:solidFill>
                  <a:srgbClr val="0000FF"/>
                </a:solidFill>
                <a:latin typeface="微软雅黑" panose="020B0503020204020204" pitchFamily="34" charset="-122"/>
                <a:ea typeface="微软雅黑" panose="020B0503020204020204" pitchFamily="34" charset="-122"/>
              </a:rPr>
              <a:t>亲核攻击</a:t>
            </a:r>
            <a:r>
              <a:rPr lang="zh-CN" altLang="en-US" sz="2000" dirty="0">
                <a:latin typeface="微软雅黑" panose="020B0503020204020204" pitchFamily="34" charset="-122"/>
                <a:ea typeface="微软雅黑" panose="020B0503020204020204" pitchFamily="34" charset="-122"/>
              </a:rPr>
              <a:t>，导致肽键的断裂，形成一个</a:t>
            </a:r>
            <a:r>
              <a:rPr lang="zh-CN" altLang="en-US" sz="2000" dirty="0">
                <a:solidFill>
                  <a:srgbClr val="0000FF"/>
                </a:solidFill>
                <a:latin typeface="微软雅黑" panose="020B0503020204020204" pitchFamily="34" charset="-122"/>
                <a:ea typeface="微软雅黑" panose="020B0503020204020204" pitchFamily="34" charset="-122"/>
              </a:rPr>
              <a:t>不稳定的中间产物</a:t>
            </a:r>
            <a:r>
              <a:rPr lang="en-US" altLang="zh-CN" sz="2000" dirty="0">
                <a:solidFill>
                  <a:srgbClr val="0000FF"/>
                </a:solidFill>
                <a:latin typeface="微软雅黑" panose="020B0503020204020204" pitchFamily="34" charset="-122"/>
                <a:ea typeface="微软雅黑" panose="020B0503020204020204" pitchFamily="34" charset="-122"/>
              </a:rPr>
              <a:t>—</a:t>
            </a:r>
            <a:r>
              <a:rPr lang="zh-CN" altLang="en-US" sz="2000" dirty="0">
                <a:solidFill>
                  <a:srgbClr val="0000FF"/>
                </a:solidFill>
                <a:latin typeface="微软雅黑" panose="020B0503020204020204" pitchFamily="34" charset="-122"/>
                <a:ea typeface="微软雅黑" panose="020B0503020204020204" pitchFamily="34" charset="-122"/>
              </a:rPr>
              <a:t>酰基化酶</a:t>
            </a:r>
            <a:r>
              <a:rPr lang="zh-CN" altLang="en-US" sz="2000" dirty="0">
                <a:latin typeface="微软雅黑" panose="020B0503020204020204" pitchFamily="34" charset="-122"/>
                <a:ea typeface="微软雅黑" panose="020B0503020204020204" pitchFamily="34" charset="-122"/>
              </a:rPr>
              <a:t>，后者易将酰基转移给水分子完成</a:t>
            </a:r>
            <a:r>
              <a:rPr lang="zh-CN" altLang="en-US" sz="2000" b="1" dirty="0">
                <a:latin typeface="微软雅黑" panose="020B0503020204020204" pitchFamily="34" charset="-122"/>
                <a:ea typeface="微软雅黑" panose="020B0503020204020204" pitchFamily="34" charset="-122"/>
              </a:rPr>
              <a:t>水解</a:t>
            </a:r>
            <a:r>
              <a:rPr lang="zh-CN" altLang="en-US" sz="2000" dirty="0">
                <a:latin typeface="微软雅黑" panose="020B0503020204020204" pitchFamily="34" charset="-122"/>
                <a:ea typeface="微软雅黑" panose="020B0503020204020204" pitchFamily="34" charset="-122"/>
              </a:rPr>
              <a:t>作用。</a:t>
            </a:r>
          </a:p>
        </p:txBody>
      </p:sp>
      <p:sp>
        <p:nvSpPr>
          <p:cNvPr id="6" name="矩形 1">
            <a:extLst>
              <a:ext uri="{FF2B5EF4-FFF2-40B4-BE49-F238E27FC236}">
                <a16:creationId xmlns:a16="http://schemas.microsoft.com/office/drawing/2014/main" id="{C03C1712-D1E5-C38A-13AE-6DAE3544CECA}"/>
              </a:ext>
            </a:extLst>
          </p:cNvPr>
          <p:cNvSpPr>
            <a:spLocks noChangeArrowheads="1"/>
          </p:cNvSpPr>
          <p:nvPr/>
        </p:nvSpPr>
        <p:spPr bwMode="auto">
          <a:xfrm>
            <a:off x="1703512" y="5733256"/>
            <a:ext cx="9865096" cy="609576"/>
          </a:xfrm>
          <a:prstGeom prst="rect">
            <a:avLst/>
          </a:prstGeom>
          <a:noFill/>
          <a:ln>
            <a:noFill/>
          </a:ln>
        </p:spPr>
        <p:txBody>
          <a:bodyPr anchor="b"/>
          <a:lstStyle/>
          <a:p>
            <a:pPr>
              <a:lnSpc>
                <a:spcPct val="120000"/>
              </a:lnSpc>
              <a:defRPr/>
            </a:pPr>
            <a:r>
              <a:rPr lang="zh-CN" altLang="en-US" sz="2600" dirty="0">
                <a:solidFill>
                  <a:srgbClr val="0000CC"/>
                </a:solidFill>
                <a:latin typeface="微软雅黑" panose="020B0503020204020204" pitchFamily="34" charset="-122"/>
                <a:ea typeface="微软雅黑" panose="020B0503020204020204" pitchFamily="34" charset="-122"/>
                <a:cs typeface="+mj-cs"/>
              </a:rPr>
              <a:t>胰凝乳蛋白酶的催化机制：</a:t>
            </a:r>
            <a:r>
              <a:rPr lang="zh-CN" altLang="en-US" sz="2600" dirty="0">
                <a:latin typeface="微软雅黑" panose="020B0503020204020204" pitchFamily="34" charset="-122"/>
                <a:ea typeface="微软雅黑" panose="020B0503020204020204" pitchFamily="34" charset="-122"/>
              </a:rPr>
              <a:t>酸碱催化、共价催化、静电催化</a:t>
            </a:r>
            <a:endParaRPr lang="en-US" altLang="zh-CN" sz="2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0602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76130" name="组合 4">
            <a:extLst>
              <a:ext uri="{FF2B5EF4-FFF2-40B4-BE49-F238E27FC236}">
                <a16:creationId xmlns:a16="http://schemas.microsoft.com/office/drawing/2014/main" id="{2D73490E-7E7D-4174-AA27-397325589611}"/>
              </a:ext>
            </a:extLst>
          </p:cNvPr>
          <p:cNvGrpSpPr>
            <a:grpSpLocks/>
          </p:cNvGrpSpPr>
          <p:nvPr/>
        </p:nvGrpSpPr>
        <p:grpSpPr bwMode="auto">
          <a:xfrm>
            <a:off x="1795464" y="1052513"/>
            <a:ext cx="8861425" cy="4419600"/>
            <a:chOff x="252412" y="1447800"/>
            <a:chExt cx="8860118" cy="4419625"/>
          </a:xfrm>
        </p:grpSpPr>
        <p:pic>
          <p:nvPicPr>
            <p:cNvPr id="176136" name="图片 1">
              <a:extLst>
                <a:ext uri="{FF2B5EF4-FFF2-40B4-BE49-F238E27FC236}">
                  <a16:creationId xmlns:a16="http://schemas.microsoft.com/office/drawing/2014/main" id="{BB5EAFF3-1A68-47CE-823E-6AFC882DC5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2" y="1628800"/>
              <a:ext cx="8639175"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任意多边形: 形状 3">
              <a:extLst>
                <a:ext uri="{FF2B5EF4-FFF2-40B4-BE49-F238E27FC236}">
                  <a16:creationId xmlns:a16="http://schemas.microsoft.com/office/drawing/2014/main" id="{8BF3EB2F-52FF-4D2F-BCAE-806012F48C87}"/>
                </a:ext>
              </a:extLst>
            </p:cNvPr>
            <p:cNvSpPr/>
            <p:nvPr/>
          </p:nvSpPr>
          <p:spPr>
            <a:xfrm>
              <a:off x="4147562" y="1447800"/>
              <a:ext cx="4964968" cy="2057412"/>
            </a:xfrm>
            <a:custGeom>
              <a:avLst/>
              <a:gdLst>
                <a:gd name="connsiteX0" fmla="*/ 54190 w 4964834"/>
                <a:gd name="connsiteY0" fmla="*/ 76200 h 2057400"/>
                <a:gd name="connsiteX1" fmla="*/ 54190 w 4964834"/>
                <a:gd name="connsiteY1" fmla="*/ 76200 h 2057400"/>
                <a:gd name="connsiteX2" fmla="*/ 32418 w 4964834"/>
                <a:gd name="connsiteY2" fmla="*/ 642257 h 2057400"/>
                <a:gd name="connsiteX3" fmla="*/ 54190 w 4964834"/>
                <a:gd name="connsiteY3" fmla="*/ 664029 h 2057400"/>
                <a:gd name="connsiteX4" fmla="*/ 108618 w 4964834"/>
                <a:gd name="connsiteY4" fmla="*/ 674914 h 2057400"/>
                <a:gd name="connsiteX5" fmla="*/ 293675 w 4964834"/>
                <a:gd name="connsiteY5" fmla="*/ 685800 h 2057400"/>
                <a:gd name="connsiteX6" fmla="*/ 772647 w 4964834"/>
                <a:gd name="connsiteY6" fmla="*/ 696686 h 2057400"/>
                <a:gd name="connsiteX7" fmla="*/ 772647 w 4964834"/>
                <a:gd name="connsiteY7" fmla="*/ 892629 h 2057400"/>
                <a:gd name="connsiteX8" fmla="*/ 750875 w 4964834"/>
                <a:gd name="connsiteY8" fmla="*/ 990600 h 2057400"/>
                <a:gd name="connsiteX9" fmla="*/ 739990 w 4964834"/>
                <a:gd name="connsiteY9" fmla="*/ 1066800 h 2057400"/>
                <a:gd name="connsiteX10" fmla="*/ 729104 w 4964834"/>
                <a:gd name="connsiteY10" fmla="*/ 1099457 h 2057400"/>
                <a:gd name="connsiteX11" fmla="*/ 707333 w 4964834"/>
                <a:gd name="connsiteY11" fmla="*/ 1240971 h 2057400"/>
                <a:gd name="connsiteX12" fmla="*/ 685561 w 4964834"/>
                <a:gd name="connsiteY12" fmla="*/ 1273629 h 2057400"/>
                <a:gd name="connsiteX13" fmla="*/ 674675 w 4964834"/>
                <a:gd name="connsiteY13" fmla="*/ 1360714 h 2057400"/>
                <a:gd name="connsiteX14" fmla="*/ 663790 w 4964834"/>
                <a:gd name="connsiteY14" fmla="*/ 1393371 h 2057400"/>
                <a:gd name="connsiteX15" fmla="*/ 696447 w 4964834"/>
                <a:gd name="connsiteY15" fmla="*/ 1545771 h 2057400"/>
                <a:gd name="connsiteX16" fmla="*/ 696447 w 4964834"/>
                <a:gd name="connsiteY16" fmla="*/ 1807029 h 2057400"/>
                <a:gd name="connsiteX17" fmla="*/ 707333 w 4964834"/>
                <a:gd name="connsiteY17" fmla="*/ 1850571 h 2057400"/>
                <a:gd name="connsiteX18" fmla="*/ 729104 w 4964834"/>
                <a:gd name="connsiteY18" fmla="*/ 1915886 h 2057400"/>
                <a:gd name="connsiteX19" fmla="*/ 816190 w 4964834"/>
                <a:gd name="connsiteY19" fmla="*/ 2046514 h 2057400"/>
                <a:gd name="connsiteX20" fmla="*/ 848847 w 4964834"/>
                <a:gd name="connsiteY20" fmla="*/ 2057400 h 2057400"/>
                <a:gd name="connsiteX21" fmla="*/ 2383733 w 4964834"/>
                <a:gd name="connsiteY21" fmla="*/ 2024743 h 2057400"/>
                <a:gd name="connsiteX22" fmla="*/ 2405504 w 4964834"/>
                <a:gd name="connsiteY22" fmla="*/ 2002971 h 2057400"/>
                <a:gd name="connsiteX23" fmla="*/ 2666761 w 4964834"/>
                <a:gd name="connsiteY23" fmla="*/ 1992086 h 2057400"/>
                <a:gd name="connsiteX24" fmla="*/ 2699418 w 4964834"/>
                <a:gd name="connsiteY24" fmla="*/ 1981200 h 2057400"/>
                <a:gd name="connsiteX25" fmla="*/ 2949790 w 4964834"/>
                <a:gd name="connsiteY25" fmla="*/ 1959429 h 2057400"/>
                <a:gd name="connsiteX26" fmla="*/ 3036875 w 4964834"/>
                <a:gd name="connsiteY26" fmla="*/ 1937657 h 2057400"/>
                <a:gd name="connsiteX27" fmla="*/ 3494075 w 4964834"/>
                <a:gd name="connsiteY27" fmla="*/ 1915886 h 2057400"/>
                <a:gd name="connsiteX28" fmla="*/ 3602933 w 4964834"/>
                <a:gd name="connsiteY28" fmla="*/ 1894114 h 2057400"/>
                <a:gd name="connsiteX29" fmla="*/ 3657361 w 4964834"/>
                <a:gd name="connsiteY29" fmla="*/ 1883229 h 2057400"/>
                <a:gd name="connsiteX30" fmla="*/ 3722675 w 4964834"/>
                <a:gd name="connsiteY30" fmla="*/ 1861457 h 2057400"/>
                <a:gd name="connsiteX31" fmla="*/ 3798875 w 4964834"/>
                <a:gd name="connsiteY31" fmla="*/ 1850571 h 2057400"/>
                <a:gd name="connsiteX32" fmla="*/ 3951275 w 4964834"/>
                <a:gd name="connsiteY32" fmla="*/ 1817914 h 2057400"/>
                <a:gd name="connsiteX33" fmla="*/ 3983933 w 4964834"/>
                <a:gd name="connsiteY33" fmla="*/ 1807029 h 2057400"/>
                <a:gd name="connsiteX34" fmla="*/ 4027475 w 4964834"/>
                <a:gd name="connsiteY34" fmla="*/ 1796143 h 2057400"/>
                <a:gd name="connsiteX35" fmla="*/ 4332275 w 4964834"/>
                <a:gd name="connsiteY35" fmla="*/ 1763486 h 2057400"/>
                <a:gd name="connsiteX36" fmla="*/ 4375818 w 4964834"/>
                <a:gd name="connsiteY36" fmla="*/ 1741714 h 2057400"/>
                <a:gd name="connsiteX37" fmla="*/ 4452018 w 4964834"/>
                <a:gd name="connsiteY37" fmla="*/ 1730829 h 2057400"/>
                <a:gd name="connsiteX38" fmla="*/ 4506447 w 4964834"/>
                <a:gd name="connsiteY38" fmla="*/ 1719943 h 2057400"/>
                <a:gd name="connsiteX39" fmla="*/ 4571761 w 4964834"/>
                <a:gd name="connsiteY39" fmla="*/ 1709057 h 2057400"/>
                <a:gd name="connsiteX40" fmla="*/ 4615304 w 4964834"/>
                <a:gd name="connsiteY40" fmla="*/ 1676400 h 2057400"/>
                <a:gd name="connsiteX41" fmla="*/ 4713275 w 4964834"/>
                <a:gd name="connsiteY41" fmla="*/ 1632857 h 2057400"/>
                <a:gd name="connsiteX42" fmla="*/ 4778590 w 4964834"/>
                <a:gd name="connsiteY42" fmla="*/ 1567543 h 2057400"/>
                <a:gd name="connsiteX43" fmla="*/ 4800361 w 4964834"/>
                <a:gd name="connsiteY43" fmla="*/ 1545771 h 2057400"/>
                <a:gd name="connsiteX44" fmla="*/ 4833018 w 4964834"/>
                <a:gd name="connsiteY44" fmla="*/ 1534886 h 2057400"/>
                <a:gd name="connsiteX45" fmla="*/ 4887447 w 4964834"/>
                <a:gd name="connsiteY45" fmla="*/ 1458686 h 2057400"/>
                <a:gd name="connsiteX46" fmla="*/ 4930990 w 4964834"/>
                <a:gd name="connsiteY46" fmla="*/ 1415143 h 2057400"/>
                <a:gd name="connsiteX47" fmla="*/ 4941875 w 4964834"/>
                <a:gd name="connsiteY47" fmla="*/ 957943 h 2057400"/>
                <a:gd name="connsiteX48" fmla="*/ 4920104 w 4964834"/>
                <a:gd name="connsiteY48" fmla="*/ 936171 h 2057400"/>
                <a:gd name="connsiteX49" fmla="*/ 4898333 w 4964834"/>
                <a:gd name="connsiteY49" fmla="*/ 849086 h 2057400"/>
                <a:gd name="connsiteX50" fmla="*/ 4876561 w 4964834"/>
                <a:gd name="connsiteY50" fmla="*/ 816429 h 2057400"/>
                <a:gd name="connsiteX51" fmla="*/ 4843904 w 4964834"/>
                <a:gd name="connsiteY51" fmla="*/ 740229 h 2057400"/>
                <a:gd name="connsiteX52" fmla="*/ 4833018 w 4964834"/>
                <a:gd name="connsiteY52" fmla="*/ 707571 h 2057400"/>
                <a:gd name="connsiteX53" fmla="*/ 4778590 w 4964834"/>
                <a:gd name="connsiteY53" fmla="*/ 631371 h 2057400"/>
                <a:gd name="connsiteX54" fmla="*/ 4756818 w 4964834"/>
                <a:gd name="connsiteY54" fmla="*/ 576943 h 2057400"/>
                <a:gd name="connsiteX55" fmla="*/ 4735047 w 4964834"/>
                <a:gd name="connsiteY55" fmla="*/ 544286 h 2057400"/>
                <a:gd name="connsiteX56" fmla="*/ 4669733 w 4964834"/>
                <a:gd name="connsiteY56" fmla="*/ 424543 h 2057400"/>
                <a:gd name="connsiteX57" fmla="*/ 4626190 w 4964834"/>
                <a:gd name="connsiteY57" fmla="*/ 315686 h 2057400"/>
                <a:gd name="connsiteX58" fmla="*/ 4604418 w 4964834"/>
                <a:gd name="connsiteY58" fmla="*/ 293914 h 2057400"/>
                <a:gd name="connsiteX59" fmla="*/ 4582647 w 4964834"/>
                <a:gd name="connsiteY59" fmla="*/ 261257 h 2057400"/>
                <a:gd name="connsiteX60" fmla="*/ 4560875 w 4964834"/>
                <a:gd name="connsiteY60" fmla="*/ 239486 h 2057400"/>
                <a:gd name="connsiteX61" fmla="*/ 4517333 w 4964834"/>
                <a:gd name="connsiteY61" fmla="*/ 174171 h 2057400"/>
                <a:gd name="connsiteX62" fmla="*/ 4408475 w 4964834"/>
                <a:gd name="connsiteY62" fmla="*/ 119743 h 2057400"/>
                <a:gd name="connsiteX63" fmla="*/ 4343161 w 4964834"/>
                <a:gd name="connsiteY63" fmla="*/ 87086 h 2057400"/>
                <a:gd name="connsiteX64" fmla="*/ 4310504 w 4964834"/>
                <a:gd name="connsiteY64" fmla="*/ 65314 h 2057400"/>
                <a:gd name="connsiteX65" fmla="*/ 4256075 w 4964834"/>
                <a:gd name="connsiteY65" fmla="*/ 54429 h 2057400"/>
                <a:gd name="connsiteX66" fmla="*/ 4223418 w 4964834"/>
                <a:gd name="connsiteY66" fmla="*/ 43543 h 2057400"/>
                <a:gd name="connsiteX67" fmla="*/ 4125447 w 4964834"/>
                <a:gd name="connsiteY67" fmla="*/ 10886 h 2057400"/>
                <a:gd name="connsiteX68" fmla="*/ 3831533 w 4964834"/>
                <a:gd name="connsiteY68" fmla="*/ 0 h 2057400"/>
                <a:gd name="connsiteX69" fmla="*/ 2710304 w 4964834"/>
                <a:gd name="connsiteY69" fmla="*/ 21771 h 2057400"/>
                <a:gd name="connsiteX70" fmla="*/ 2634104 w 4964834"/>
                <a:gd name="connsiteY70" fmla="*/ 43543 h 2057400"/>
                <a:gd name="connsiteX71" fmla="*/ 2274875 w 4964834"/>
                <a:gd name="connsiteY71" fmla="*/ 54429 h 2057400"/>
                <a:gd name="connsiteX72" fmla="*/ 2089818 w 4964834"/>
                <a:gd name="connsiteY72" fmla="*/ 97971 h 2057400"/>
                <a:gd name="connsiteX73" fmla="*/ 1077447 w 4964834"/>
                <a:gd name="connsiteY73" fmla="*/ 87086 h 2057400"/>
                <a:gd name="connsiteX74" fmla="*/ 968590 w 4964834"/>
                <a:gd name="connsiteY74" fmla="*/ 65314 h 2057400"/>
                <a:gd name="connsiteX75" fmla="*/ 859733 w 4964834"/>
                <a:gd name="connsiteY75" fmla="*/ 54429 h 2057400"/>
                <a:gd name="connsiteX76" fmla="*/ 805304 w 4964834"/>
                <a:gd name="connsiteY76" fmla="*/ 43543 h 2057400"/>
                <a:gd name="connsiteX77" fmla="*/ 652904 w 4964834"/>
                <a:gd name="connsiteY77" fmla="*/ 32657 h 2057400"/>
                <a:gd name="connsiteX78" fmla="*/ 609361 w 4964834"/>
                <a:gd name="connsiteY78" fmla="*/ 10886 h 2057400"/>
                <a:gd name="connsiteX79" fmla="*/ 271904 w 4964834"/>
                <a:gd name="connsiteY79" fmla="*/ 21771 h 2057400"/>
                <a:gd name="connsiteX80" fmla="*/ 250133 w 4964834"/>
                <a:gd name="connsiteY80" fmla="*/ 43543 h 2057400"/>
                <a:gd name="connsiteX81" fmla="*/ 217475 w 4964834"/>
                <a:gd name="connsiteY81" fmla="*/ 54429 h 2057400"/>
                <a:gd name="connsiteX82" fmla="*/ 206590 w 4964834"/>
                <a:gd name="connsiteY82" fmla="*/ 87086 h 2057400"/>
                <a:gd name="connsiteX83" fmla="*/ 54190 w 4964834"/>
                <a:gd name="connsiteY83" fmla="*/ 76200 h 20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4964834" h="2057400">
                  <a:moveTo>
                    <a:pt x="54190" y="76200"/>
                  </a:moveTo>
                  <a:lnTo>
                    <a:pt x="54190" y="76200"/>
                  </a:lnTo>
                  <a:cubicBezTo>
                    <a:pt x="-30957" y="303260"/>
                    <a:pt x="2370" y="181515"/>
                    <a:pt x="32418" y="642257"/>
                  </a:cubicBezTo>
                  <a:cubicBezTo>
                    <a:pt x="33086" y="652499"/>
                    <a:pt x="44756" y="659986"/>
                    <a:pt x="54190" y="664029"/>
                  </a:cubicBezTo>
                  <a:cubicBezTo>
                    <a:pt x="71196" y="671317"/>
                    <a:pt x="90475" y="671286"/>
                    <a:pt x="108618" y="674914"/>
                  </a:cubicBezTo>
                  <a:cubicBezTo>
                    <a:pt x="171139" y="737435"/>
                    <a:pt x="108581" y="685800"/>
                    <a:pt x="293675" y="685800"/>
                  </a:cubicBezTo>
                  <a:cubicBezTo>
                    <a:pt x="453374" y="685800"/>
                    <a:pt x="612990" y="693057"/>
                    <a:pt x="772647" y="696686"/>
                  </a:cubicBezTo>
                  <a:cubicBezTo>
                    <a:pt x="799967" y="778643"/>
                    <a:pt x="788179" y="729543"/>
                    <a:pt x="772647" y="892629"/>
                  </a:cubicBezTo>
                  <a:cubicBezTo>
                    <a:pt x="767538" y="946272"/>
                    <a:pt x="764757" y="948956"/>
                    <a:pt x="750875" y="990600"/>
                  </a:cubicBezTo>
                  <a:cubicBezTo>
                    <a:pt x="747247" y="1016000"/>
                    <a:pt x="745022" y="1041640"/>
                    <a:pt x="739990" y="1066800"/>
                  </a:cubicBezTo>
                  <a:cubicBezTo>
                    <a:pt x="737740" y="1078052"/>
                    <a:pt x="731157" y="1088168"/>
                    <a:pt x="729104" y="1099457"/>
                  </a:cubicBezTo>
                  <a:cubicBezTo>
                    <a:pt x="725940" y="1116858"/>
                    <a:pt x="717620" y="1213539"/>
                    <a:pt x="707333" y="1240971"/>
                  </a:cubicBezTo>
                  <a:cubicBezTo>
                    <a:pt x="702739" y="1253221"/>
                    <a:pt x="692818" y="1262743"/>
                    <a:pt x="685561" y="1273629"/>
                  </a:cubicBezTo>
                  <a:cubicBezTo>
                    <a:pt x="681932" y="1302657"/>
                    <a:pt x="679908" y="1331932"/>
                    <a:pt x="674675" y="1360714"/>
                  </a:cubicBezTo>
                  <a:cubicBezTo>
                    <a:pt x="672622" y="1372003"/>
                    <a:pt x="663790" y="1381897"/>
                    <a:pt x="663790" y="1393371"/>
                  </a:cubicBezTo>
                  <a:cubicBezTo>
                    <a:pt x="663790" y="1522491"/>
                    <a:pt x="646535" y="1495861"/>
                    <a:pt x="696447" y="1545771"/>
                  </a:cubicBezTo>
                  <a:cubicBezTo>
                    <a:pt x="680476" y="1673532"/>
                    <a:pt x="679499" y="1637555"/>
                    <a:pt x="696447" y="1807029"/>
                  </a:cubicBezTo>
                  <a:cubicBezTo>
                    <a:pt x="697936" y="1821915"/>
                    <a:pt x="703034" y="1836241"/>
                    <a:pt x="707333" y="1850571"/>
                  </a:cubicBezTo>
                  <a:cubicBezTo>
                    <a:pt x="713927" y="1872552"/>
                    <a:pt x="729104" y="1915886"/>
                    <a:pt x="729104" y="1915886"/>
                  </a:cubicBezTo>
                  <a:cubicBezTo>
                    <a:pt x="743271" y="2071717"/>
                    <a:pt x="699701" y="2023217"/>
                    <a:pt x="816190" y="2046514"/>
                  </a:cubicBezTo>
                  <a:cubicBezTo>
                    <a:pt x="827442" y="2048764"/>
                    <a:pt x="837961" y="2053771"/>
                    <a:pt x="848847" y="2057400"/>
                  </a:cubicBezTo>
                  <a:lnTo>
                    <a:pt x="2383733" y="2024743"/>
                  </a:lnTo>
                  <a:cubicBezTo>
                    <a:pt x="2393990" y="2024384"/>
                    <a:pt x="2395308" y="2004147"/>
                    <a:pt x="2405504" y="2002971"/>
                  </a:cubicBezTo>
                  <a:cubicBezTo>
                    <a:pt x="2492091" y="1992980"/>
                    <a:pt x="2579675" y="1995714"/>
                    <a:pt x="2666761" y="1992086"/>
                  </a:cubicBezTo>
                  <a:cubicBezTo>
                    <a:pt x="2677647" y="1988457"/>
                    <a:pt x="2688286" y="1983983"/>
                    <a:pt x="2699418" y="1981200"/>
                  </a:cubicBezTo>
                  <a:cubicBezTo>
                    <a:pt x="2787502" y="1959179"/>
                    <a:pt x="2843171" y="1965352"/>
                    <a:pt x="2949790" y="1959429"/>
                  </a:cubicBezTo>
                  <a:cubicBezTo>
                    <a:pt x="2978818" y="1952172"/>
                    <a:pt x="3007076" y="1940366"/>
                    <a:pt x="3036875" y="1937657"/>
                  </a:cubicBezTo>
                  <a:cubicBezTo>
                    <a:pt x="3268700" y="1916581"/>
                    <a:pt x="3116560" y="1928063"/>
                    <a:pt x="3494075" y="1915886"/>
                  </a:cubicBezTo>
                  <a:cubicBezTo>
                    <a:pt x="3680779" y="1889213"/>
                    <a:pt x="3501594" y="1919448"/>
                    <a:pt x="3602933" y="1894114"/>
                  </a:cubicBezTo>
                  <a:cubicBezTo>
                    <a:pt x="3620883" y="1889627"/>
                    <a:pt x="3639511" y="1888097"/>
                    <a:pt x="3657361" y="1883229"/>
                  </a:cubicBezTo>
                  <a:cubicBezTo>
                    <a:pt x="3679501" y="1877191"/>
                    <a:pt x="3699957" y="1864703"/>
                    <a:pt x="3722675" y="1861457"/>
                  </a:cubicBezTo>
                  <a:lnTo>
                    <a:pt x="3798875" y="1850571"/>
                  </a:lnTo>
                  <a:cubicBezTo>
                    <a:pt x="3869179" y="1803704"/>
                    <a:pt x="3805337" y="1838762"/>
                    <a:pt x="3951275" y="1817914"/>
                  </a:cubicBezTo>
                  <a:cubicBezTo>
                    <a:pt x="3962634" y="1816291"/>
                    <a:pt x="3972900" y="1810181"/>
                    <a:pt x="3983933" y="1807029"/>
                  </a:cubicBezTo>
                  <a:cubicBezTo>
                    <a:pt x="3998318" y="1802919"/>
                    <a:pt x="4012718" y="1798603"/>
                    <a:pt x="4027475" y="1796143"/>
                  </a:cubicBezTo>
                  <a:cubicBezTo>
                    <a:pt x="4179590" y="1770790"/>
                    <a:pt x="4179010" y="1774433"/>
                    <a:pt x="4332275" y="1763486"/>
                  </a:cubicBezTo>
                  <a:cubicBezTo>
                    <a:pt x="4346789" y="1756229"/>
                    <a:pt x="4360162" y="1745984"/>
                    <a:pt x="4375818" y="1741714"/>
                  </a:cubicBezTo>
                  <a:cubicBezTo>
                    <a:pt x="4400572" y="1734963"/>
                    <a:pt x="4426709" y="1735047"/>
                    <a:pt x="4452018" y="1730829"/>
                  </a:cubicBezTo>
                  <a:cubicBezTo>
                    <a:pt x="4470269" y="1727787"/>
                    <a:pt x="4488243" y="1723253"/>
                    <a:pt x="4506447" y="1719943"/>
                  </a:cubicBezTo>
                  <a:cubicBezTo>
                    <a:pt x="4528163" y="1715995"/>
                    <a:pt x="4549990" y="1712686"/>
                    <a:pt x="4571761" y="1709057"/>
                  </a:cubicBezTo>
                  <a:cubicBezTo>
                    <a:pt x="4586275" y="1698171"/>
                    <a:pt x="4599919" y="1686016"/>
                    <a:pt x="4615304" y="1676400"/>
                  </a:cubicBezTo>
                  <a:cubicBezTo>
                    <a:pt x="4642420" y="1659453"/>
                    <a:pt x="4684607" y="1644325"/>
                    <a:pt x="4713275" y="1632857"/>
                  </a:cubicBezTo>
                  <a:cubicBezTo>
                    <a:pt x="4770342" y="1556769"/>
                    <a:pt x="4718896" y="1615299"/>
                    <a:pt x="4778590" y="1567543"/>
                  </a:cubicBezTo>
                  <a:cubicBezTo>
                    <a:pt x="4786604" y="1561132"/>
                    <a:pt x="4791560" y="1551051"/>
                    <a:pt x="4800361" y="1545771"/>
                  </a:cubicBezTo>
                  <a:cubicBezTo>
                    <a:pt x="4810200" y="1539867"/>
                    <a:pt x="4822132" y="1538514"/>
                    <a:pt x="4833018" y="1534886"/>
                  </a:cubicBezTo>
                  <a:cubicBezTo>
                    <a:pt x="4931520" y="1436384"/>
                    <a:pt x="4801478" y="1573311"/>
                    <a:pt x="4887447" y="1458686"/>
                  </a:cubicBezTo>
                  <a:cubicBezTo>
                    <a:pt x="4899763" y="1442265"/>
                    <a:pt x="4930990" y="1415143"/>
                    <a:pt x="4930990" y="1415143"/>
                  </a:cubicBezTo>
                  <a:cubicBezTo>
                    <a:pt x="4978773" y="1224005"/>
                    <a:pt x="4969818" y="1293257"/>
                    <a:pt x="4941875" y="957943"/>
                  </a:cubicBezTo>
                  <a:cubicBezTo>
                    <a:pt x="4941023" y="947715"/>
                    <a:pt x="4927361" y="943428"/>
                    <a:pt x="4920104" y="936171"/>
                  </a:cubicBezTo>
                  <a:cubicBezTo>
                    <a:pt x="4915965" y="915476"/>
                    <a:pt x="4909489" y="871397"/>
                    <a:pt x="4898333" y="849086"/>
                  </a:cubicBezTo>
                  <a:cubicBezTo>
                    <a:pt x="4892482" y="837384"/>
                    <a:pt x="4883818" y="827315"/>
                    <a:pt x="4876561" y="816429"/>
                  </a:cubicBezTo>
                  <a:cubicBezTo>
                    <a:pt x="4853905" y="725805"/>
                    <a:pt x="4881492" y="815406"/>
                    <a:pt x="4843904" y="740229"/>
                  </a:cubicBezTo>
                  <a:cubicBezTo>
                    <a:pt x="4838772" y="729966"/>
                    <a:pt x="4838150" y="717834"/>
                    <a:pt x="4833018" y="707571"/>
                  </a:cubicBezTo>
                  <a:cubicBezTo>
                    <a:pt x="4807727" y="656990"/>
                    <a:pt x="4809187" y="661969"/>
                    <a:pt x="4778590" y="631371"/>
                  </a:cubicBezTo>
                  <a:cubicBezTo>
                    <a:pt x="4771333" y="613228"/>
                    <a:pt x="4765557" y="594420"/>
                    <a:pt x="4756818" y="576943"/>
                  </a:cubicBezTo>
                  <a:cubicBezTo>
                    <a:pt x="4750967" y="565241"/>
                    <a:pt x="4740360" y="556241"/>
                    <a:pt x="4735047" y="544286"/>
                  </a:cubicBezTo>
                  <a:cubicBezTo>
                    <a:pt x="4684090" y="429632"/>
                    <a:pt x="4749720" y="524528"/>
                    <a:pt x="4669733" y="424543"/>
                  </a:cubicBezTo>
                  <a:cubicBezTo>
                    <a:pt x="4657932" y="389142"/>
                    <a:pt x="4647544" y="347718"/>
                    <a:pt x="4626190" y="315686"/>
                  </a:cubicBezTo>
                  <a:cubicBezTo>
                    <a:pt x="4620497" y="307146"/>
                    <a:pt x="4610829" y="301928"/>
                    <a:pt x="4604418" y="293914"/>
                  </a:cubicBezTo>
                  <a:cubicBezTo>
                    <a:pt x="4596245" y="283698"/>
                    <a:pt x="4590820" y="271473"/>
                    <a:pt x="4582647" y="261257"/>
                  </a:cubicBezTo>
                  <a:cubicBezTo>
                    <a:pt x="4576236" y="253243"/>
                    <a:pt x="4567033" y="247697"/>
                    <a:pt x="4560875" y="239486"/>
                  </a:cubicBezTo>
                  <a:cubicBezTo>
                    <a:pt x="4545175" y="218553"/>
                    <a:pt x="4539105" y="188685"/>
                    <a:pt x="4517333" y="174171"/>
                  </a:cubicBezTo>
                  <a:cubicBezTo>
                    <a:pt x="4439570" y="122330"/>
                    <a:pt x="4477403" y="136975"/>
                    <a:pt x="4408475" y="119743"/>
                  </a:cubicBezTo>
                  <a:cubicBezTo>
                    <a:pt x="4314884" y="57347"/>
                    <a:pt x="4433299" y="132155"/>
                    <a:pt x="4343161" y="87086"/>
                  </a:cubicBezTo>
                  <a:cubicBezTo>
                    <a:pt x="4331459" y="81235"/>
                    <a:pt x="4322754" y="69908"/>
                    <a:pt x="4310504" y="65314"/>
                  </a:cubicBezTo>
                  <a:cubicBezTo>
                    <a:pt x="4293180" y="58817"/>
                    <a:pt x="4274025" y="58916"/>
                    <a:pt x="4256075" y="54429"/>
                  </a:cubicBezTo>
                  <a:cubicBezTo>
                    <a:pt x="4244943" y="51646"/>
                    <a:pt x="4234162" y="47572"/>
                    <a:pt x="4223418" y="43543"/>
                  </a:cubicBezTo>
                  <a:cubicBezTo>
                    <a:pt x="4198358" y="34145"/>
                    <a:pt x="4154826" y="12781"/>
                    <a:pt x="4125447" y="10886"/>
                  </a:cubicBezTo>
                  <a:cubicBezTo>
                    <a:pt x="4027612" y="4574"/>
                    <a:pt x="3929504" y="3629"/>
                    <a:pt x="3831533" y="0"/>
                  </a:cubicBezTo>
                  <a:lnTo>
                    <a:pt x="2710304" y="21771"/>
                  </a:lnTo>
                  <a:cubicBezTo>
                    <a:pt x="2683927" y="23210"/>
                    <a:pt x="2660446" y="41567"/>
                    <a:pt x="2634104" y="43543"/>
                  </a:cubicBezTo>
                  <a:cubicBezTo>
                    <a:pt x="2514642" y="52503"/>
                    <a:pt x="2394618" y="50800"/>
                    <a:pt x="2274875" y="54429"/>
                  </a:cubicBezTo>
                  <a:cubicBezTo>
                    <a:pt x="2140115" y="81381"/>
                    <a:pt x="2201599" y="66034"/>
                    <a:pt x="2089818" y="97971"/>
                  </a:cubicBezTo>
                  <a:lnTo>
                    <a:pt x="1077447" y="87086"/>
                  </a:lnTo>
                  <a:cubicBezTo>
                    <a:pt x="1040458" y="86009"/>
                    <a:pt x="1005411" y="68996"/>
                    <a:pt x="968590" y="65314"/>
                  </a:cubicBezTo>
                  <a:lnTo>
                    <a:pt x="859733" y="54429"/>
                  </a:lnTo>
                  <a:cubicBezTo>
                    <a:pt x="841590" y="50800"/>
                    <a:pt x="823705" y="45480"/>
                    <a:pt x="805304" y="43543"/>
                  </a:cubicBezTo>
                  <a:cubicBezTo>
                    <a:pt x="754654" y="38211"/>
                    <a:pt x="703140" y="41030"/>
                    <a:pt x="652904" y="32657"/>
                  </a:cubicBezTo>
                  <a:cubicBezTo>
                    <a:pt x="636897" y="29989"/>
                    <a:pt x="623875" y="18143"/>
                    <a:pt x="609361" y="10886"/>
                  </a:cubicBezTo>
                  <a:cubicBezTo>
                    <a:pt x="496875" y="14514"/>
                    <a:pt x="383986" y="11582"/>
                    <a:pt x="271904" y="21771"/>
                  </a:cubicBezTo>
                  <a:cubicBezTo>
                    <a:pt x="261683" y="22700"/>
                    <a:pt x="258934" y="38263"/>
                    <a:pt x="250133" y="43543"/>
                  </a:cubicBezTo>
                  <a:cubicBezTo>
                    <a:pt x="240293" y="49447"/>
                    <a:pt x="228361" y="50800"/>
                    <a:pt x="217475" y="54429"/>
                  </a:cubicBezTo>
                  <a:cubicBezTo>
                    <a:pt x="213847" y="65315"/>
                    <a:pt x="215927" y="80417"/>
                    <a:pt x="206590" y="87086"/>
                  </a:cubicBezTo>
                  <a:cubicBezTo>
                    <a:pt x="164865" y="116889"/>
                    <a:pt x="79590" y="78014"/>
                    <a:pt x="54190" y="762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68963" name="矩形 5">
            <a:extLst>
              <a:ext uri="{FF2B5EF4-FFF2-40B4-BE49-F238E27FC236}">
                <a16:creationId xmlns:a16="http://schemas.microsoft.com/office/drawing/2014/main" id="{B91BBBFD-5E00-4508-B677-A71E83E6DFCD}"/>
              </a:ext>
            </a:extLst>
          </p:cNvPr>
          <p:cNvSpPr>
            <a:spLocks noChangeArrowheads="1"/>
          </p:cNvSpPr>
          <p:nvPr/>
        </p:nvSpPr>
        <p:spPr bwMode="auto">
          <a:xfrm>
            <a:off x="2567608" y="260351"/>
            <a:ext cx="7632848" cy="646113"/>
          </a:xfrm>
          <a:prstGeom prst="rect">
            <a:avLst/>
          </a:prstGeom>
          <a:noFill/>
          <a:ln>
            <a:noFill/>
          </a:ln>
        </p:spPr>
        <p:txBody>
          <a:bodyPr anchor="b"/>
          <a:lstStyle/>
          <a:p>
            <a:pPr algn="ctr">
              <a:defRPr/>
            </a:pPr>
            <a:r>
              <a:rPr lang="zh-CN" altLang="en-US" sz="3600" b="1" dirty="0">
                <a:solidFill>
                  <a:srgbClr val="0000CC"/>
                </a:solidFill>
                <a:latin typeface="微软雅黑" panose="020B0503020204020204" pitchFamily="34" charset="-122"/>
                <a:ea typeface="微软雅黑" panose="020B0503020204020204" pitchFamily="34" charset="-122"/>
                <a:cs typeface="+mj-cs"/>
              </a:rPr>
              <a:t>胰凝乳蛋白酶的催化机制（详细）</a:t>
            </a:r>
          </a:p>
        </p:txBody>
      </p:sp>
      <p:sp>
        <p:nvSpPr>
          <p:cNvPr id="176132" name="文本框 1">
            <a:extLst>
              <a:ext uri="{FF2B5EF4-FFF2-40B4-BE49-F238E27FC236}">
                <a16:creationId xmlns:a16="http://schemas.microsoft.com/office/drawing/2014/main" id="{A7EE23B7-7B2B-4793-B61D-7E6A074BDA0C}"/>
              </a:ext>
            </a:extLst>
          </p:cNvPr>
          <p:cNvSpPr txBox="1">
            <a:spLocks noChangeArrowheads="1"/>
          </p:cNvSpPr>
          <p:nvPr/>
        </p:nvSpPr>
        <p:spPr bwMode="auto">
          <a:xfrm>
            <a:off x="1559496" y="5670305"/>
            <a:ext cx="511256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b="1" dirty="0"/>
              <a:t>活性中心的</a:t>
            </a:r>
            <a:r>
              <a:rPr lang="zh-CN" altLang="en-US" sz="2400" b="1" dirty="0">
                <a:solidFill>
                  <a:srgbClr val="0000CC"/>
                </a:solidFill>
              </a:rPr>
              <a:t>催化三联体</a:t>
            </a:r>
            <a:r>
              <a:rPr lang="zh-CN" altLang="en-US" sz="2400" b="1" dirty="0"/>
              <a:t>、</a:t>
            </a:r>
            <a:r>
              <a:rPr lang="zh-CN" altLang="en-US" sz="2400" b="1" dirty="0">
                <a:solidFill>
                  <a:srgbClr val="0000CC"/>
                </a:solidFill>
              </a:rPr>
              <a:t>氧阴离子穴</a:t>
            </a:r>
            <a:r>
              <a:rPr lang="zh-CN" altLang="en-US" sz="2400" b="1" dirty="0"/>
              <a:t>和</a:t>
            </a:r>
            <a:r>
              <a:rPr lang="zh-CN" altLang="en-US" sz="2400" b="1" dirty="0">
                <a:solidFill>
                  <a:srgbClr val="0000CC"/>
                </a:solidFill>
              </a:rPr>
              <a:t>疏水口袋</a:t>
            </a:r>
          </a:p>
        </p:txBody>
      </p:sp>
      <p:sp>
        <p:nvSpPr>
          <p:cNvPr id="8" name="文本框 7">
            <a:extLst>
              <a:ext uri="{FF2B5EF4-FFF2-40B4-BE49-F238E27FC236}">
                <a16:creationId xmlns:a16="http://schemas.microsoft.com/office/drawing/2014/main" id="{2D0BFE5F-EF49-42F4-8CF4-DA9061BAE65C}"/>
              </a:ext>
            </a:extLst>
          </p:cNvPr>
          <p:cNvSpPr txBox="1"/>
          <p:nvPr/>
        </p:nvSpPr>
        <p:spPr>
          <a:xfrm>
            <a:off x="8366125" y="5089526"/>
            <a:ext cx="2179638" cy="461963"/>
          </a:xfrm>
          <a:prstGeom prst="rect">
            <a:avLst/>
          </a:prstGeom>
          <a:noFill/>
          <a:ln>
            <a:solidFill>
              <a:schemeClr val="bg2">
                <a:lumMod val="50000"/>
              </a:schemeClr>
            </a:solidFill>
          </a:ln>
        </p:spPr>
        <p:txBody>
          <a:bodyPr>
            <a:spAutoFit/>
          </a:bodyPr>
          <a:lstStyle/>
          <a:p>
            <a:pPr>
              <a:defRPr/>
            </a:pPr>
            <a:r>
              <a:rPr lang="zh-CN" altLang="en-US" sz="2400" b="1" dirty="0">
                <a:solidFill>
                  <a:srgbClr val="0000CC"/>
                </a:solidFill>
              </a:rPr>
              <a:t>待断裂的肽腱</a:t>
            </a:r>
          </a:p>
        </p:txBody>
      </p:sp>
      <p:sp>
        <p:nvSpPr>
          <p:cNvPr id="9" name="上箭头 8">
            <a:extLst>
              <a:ext uri="{FF2B5EF4-FFF2-40B4-BE49-F238E27FC236}">
                <a16:creationId xmlns:a16="http://schemas.microsoft.com/office/drawing/2014/main" id="{0A55A321-DE45-408E-A5A0-3DD28AFAECE6}"/>
              </a:ext>
            </a:extLst>
          </p:cNvPr>
          <p:cNvSpPr/>
          <p:nvPr/>
        </p:nvSpPr>
        <p:spPr>
          <a:xfrm flipH="1">
            <a:off x="8688388" y="4005263"/>
            <a:ext cx="144462" cy="1084262"/>
          </a:xfrm>
          <a:prstGeom prst="up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矩形 9">
            <a:extLst>
              <a:ext uri="{FF2B5EF4-FFF2-40B4-BE49-F238E27FC236}">
                <a16:creationId xmlns:a16="http://schemas.microsoft.com/office/drawing/2014/main" id="{D998A26F-6D52-47D4-8A5D-E53D81A43864}"/>
              </a:ext>
            </a:extLst>
          </p:cNvPr>
          <p:cNvSpPr/>
          <p:nvPr/>
        </p:nvSpPr>
        <p:spPr>
          <a:xfrm>
            <a:off x="8366126" y="3429000"/>
            <a:ext cx="682625" cy="1079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8178" name="图片 1">
            <a:extLst>
              <a:ext uri="{FF2B5EF4-FFF2-40B4-BE49-F238E27FC236}">
                <a16:creationId xmlns:a16="http://schemas.microsoft.com/office/drawing/2014/main" id="{A89C4BBB-3B1F-49CD-8267-D8983471D03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31951" y="20638"/>
            <a:ext cx="3952875" cy="319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5" name="图片 2">
            <a:extLst>
              <a:ext uri="{FF2B5EF4-FFF2-40B4-BE49-F238E27FC236}">
                <a16:creationId xmlns:a16="http://schemas.microsoft.com/office/drawing/2014/main" id="{156DF919-84E9-43FD-80C9-A54A4F069E3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67439" y="68264"/>
            <a:ext cx="3767137" cy="314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图片 3">
            <a:extLst>
              <a:ext uri="{FF2B5EF4-FFF2-40B4-BE49-F238E27FC236}">
                <a16:creationId xmlns:a16="http://schemas.microsoft.com/office/drawing/2014/main" id="{BB3A79C4-7D90-455F-A66C-76FCD13F34E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024563" y="3429000"/>
            <a:ext cx="360045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7" name="图片 4">
            <a:extLst>
              <a:ext uri="{FF2B5EF4-FFF2-40B4-BE49-F238E27FC236}">
                <a16:creationId xmlns:a16="http://schemas.microsoft.com/office/drawing/2014/main" id="{0E2F6751-8B17-4ABF-9E56-D980AB29EF7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771651" y="3319463"/>
            <a:ext cx="355441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右箭头 1">
            <a:extLst>
              <a:ext uri="{FF2B5EF4-FFF2-40B4-BE49-F238E27FC236}">
                <a16:creationId xmlns:a16="http://schemas.microsoft.com/office/drawing/2014/main" id="{30993F80-5523-4642-A16B-950944D7D152}"/>
              </a:ext>
            </a:extLst>
          </p:cNvPr>
          <p:cNvSpPr/>
          <p:nvPr/>
        </p:nvSpPr>
        <p:spPr>
          <a:xfrm>
            <a:off x="5584825" y="1628775"/>
            <a:ext cx="566738" cy="287338"/>
          </a:xfrm>
          <a:prstGeom prst="right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右箭头 6">
            <a:extLst>
              <a:ext uri="{FF2B5EF4-FFF2-40B4-BE49-F238E27FC236}">
                <a16:creationId xmlns:a16="http://schemas.microsoft.com/office/drawing/2014/main" id="{11E976CE-8AC9-417F-AA37-F04FF9C38FE8}"/>
              </a:ext>
            </a:extLst>
          </p:cNvPr>
          <p:cNvSpPr/>
          <p:nvPr/>
        </p:nvSpPr>
        <p:spPr>
          <a:xfrm rot="10800000">
            <a:off x="5300664" y="4818064"/>
            <a:ext cx="568325" cy="287337"/>
          </a:xfrm>
          <a:prstGeom prst="right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右箭头 7">
            <a:extLst>
              <a:ext uri="{FF2B5EF4-FFF2-40B4-BE49-F238E27FC236}">
                <a16:creationId xmlns:a16="http://schemas.microsoft.com/office/drawing/2014/main" id="{2344ADE9-A8AF-4233-9041-2D247DEFAD09}"/>
              </a:ext>
            </a:extLst>
          </p:cNvPr>
          <p:cNvSpPr/>
          <p:nvPr/>
        </p:nvSpPr>
        <p:spPr>
          <a:xfrm rot="5400000">
            <a:off x="8687594" y="3177382"/>
            <a:ext cx="711200" cy="252412"/>
          </a:xfrm>
          <a:prstGeom prst="right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 name="图片 2">
            <a:extLst>
              <a:ext uri="{FF2B5EF4-FFF2-40B4-BE49-F238E27FC236}">
                <a16:creationId xmlns:a16="http://schemas.microsoft.com/office/drawing/2014/main" id="{7991A1D2-95EB-405D-866A-13452CB40A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72550" y="4459288"/>
            <a:ext cx="16954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186" name="文本框 3">
            <a:extLst>
              <a:ext uri="{FF2B5EF4-FFF2-40B4-BE49-F238E27FC236}">
                <a16:creationId xmlns:a16="http://schemas.microsoft.com/office/drawing/2014/main" id="{D5F2E6E3-4049-47FC-A831-A3262DC78EE2}"/>
              </a:ext>
            </a:extLst>
          </p:cNvPr>
          <p:cNvSpPr txBox="1">
            <a:spLocks noChangeArrowheads="1"/>
          </p:cNvSpPr>
          <p:nvPr/>
        </p:nvSpPr>
        <p:spPr bwMode="auto">
          <a:xfrm>
            <a:off x="1631950" y="2781300"/>
            <a:ext cx="647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t>1</a:t>
            </a:r>
            <a:endParaRPr lang="zh-CN" altLang="en-US" sz="1800"/>
          </a:p>
        </p:txBody>
      </p:sp>
      <p:sp>
        <p:nvSpPr>
          <p:cNvPr id="11" name="文本框 10">
            <a:extLst>
              <a:ext uri="{FF2B5EF4-FFF2-40B4-BE49-F238E27FC236}">
                <a16:creationId xmlns:a16="http://schemas.microsoft.com/office/drawing/2014/main" id="{CEF9936E-C148-4687-877A-20C0BA2C7498}"/>
              </a:ext>
            </a:extLst>
          </p:cNvPr>
          <p:cNvSpPr txBox="1">
            <a:spLocks noChangeArrowheads="1"/>
          </p:cNvSpPr>
          <p:nvPr/>
        </p:nvSpPr>
        <p:spPr bwMode="auto">
          <a:xfrm>
            <a:off x="6167438" y="2816225"/>
            <a:ext cx="647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t>2</a:t>
            </a:r>
            <a:endParaRPr lang="zh-CN" altLang="en-US" sz="1800"/>
          </a:p>
        </p:txBody>
      </p:sp>
      <p:sp>
        <p:nvSpPr>
          <p:cNvPr id="12" name="文本框 11">
            <a:extLst>
              <a:ext uri="{FF2B5EF4-FFF2-40B4-BE49-F238E27FC236}">
                <a16:creationId xmlns:a16="http://schemas.microsoft.com/office/drawing/2014/main" id="{894ED1AC-8ED9-44B6-86F9-69D050D64842}"/>
              </a:ext>
            </a:extLst>
          </p:cNvPr>
          <p:cNvSpPr txBox="1">
            <a:spLocks noChangeArrowheads="1"/>
          </p:cNvSpPr>
          <p:nvPr/>
        </p:nvSpPr>
        <p:spPr bwMode="auto">
          <a:xfrm>
            <a:off x="6027738" y="6488114"/>
            <a:ext cx="647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t>3</a:t>
            </a:r>
            <a:endParaRPr lang="zh-CN" altLang="en-US" sz="1800"/>
          </a:p>
        </p:txBody>
      </p:sp>
      <p:sp>
        <p:nvSpPr>
          <p:cNvPr id="13" name="文本框 12">
            <a:extLst>
              <a:ext uri="{FF2B5EF4-FFF2-40B4-BE49-F238E27FC236}">
                <a16:creationId xmlns:a16="http://schemas.microsoft.com/office/drawing/2014/main" id="{15BE6E5A-5539-4968-A4F8-EA10D3AC9B21}"/>
              </a:ext>
            </a:extLst>
          </p:cNvPr>
          <p:cNvSpPr txBox="1">
            <a:spLocks noChangeArrowheads="1"/>
          </p:cNvSpPr>
          <p:nvPr/>
        </p:nvSpPr>
        <p:spPr bwMode="auto">
          <a:xfrm>
            <a:off x="1720850" y="6351588"/>
            <a:ext cx="647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t>4</a:t>
            </a:r>
            <a:endParaRPr lang="zh-CN" altLang="en-US" sz="1800"/>
          </a:p>
        </p:txBody>
      </p:sp>
      <p:sp>
        <p:nvSpPr>
          <p:cNvPr id="9" name="文本框 8">
            <a:extLst>
              <a:ext uri="{FF2B5EF4-FFF2-40B4-BE49-F238E27FC236}">
                <a16:creationId xmlns:a16="http://schemas.microsoft.com/office/drawing/2014/main" id="{0E4F61AA-D23F-6242-7846-D0AFE741FD34}"/>
              </a:ext>
            </a:extLst>
          </p:cNvPr>
          <p:cNvSpPr txBox="1"/>
          <p:nvPr/>
        </p:nvSpPr>
        <p:spPr>
          <a:xfrm>
            <a:off x="8472885" y="6277803"/>
            <a:ext cx="2304256" cy="369332"/>
          </a:xfrm>
          <a:prstGeom prst="rect">
            <a:avLst/>
          </a:prstGeom>
          <a:solidFill>
            <a:srgbClr val="FFFFCC"/>
          </a:solidFill>
        </p:spPr>
        <p:txBody>
          <a:bodyPr wrap="square">
            <a:spAutoFit/>
          </a:bodyPr>
          <a:lstStyle/>
          <a:p>
            <a:r>
              <a:rPr lang="zh-CN" altLang="en-US" b="1" dirty="0"/>
              <a:t>中间复合物酰基化酶</a:t>
            </a:r>
          </a:p>
        </p:txBody>
      </p:sp>
      <p:sp>
        <p:nvSpPr>
          <p:cNvPr id="14" name="文本框 13">
            <a:extLst>
              <a:ext uri="{FF2B5EF4-FFF2-40B4-BE49-F238E27FC236}">
                <a16:creationId xmlns:a16="http://schemas.microsoft.com/office/drawing/2014/main" id="{B3BCC9E0-0C1F-663B-D0FA-BF4D58F58A4B}"/>
              </a:ext>
            </a:extLst>
          </p:cNvPr>
          <p:cNvSpPr txBox="1"/>
          <p:nvPr/>
        </p:nvSpPr>
        <p:spPr>
          <a:xfrm>
            <a:off x="8655127" y="2577670"/>
            <a:ext cx="2122015" cy="369332"/>
          </a:xfrm>
          <a:prstGeom prst="rect">
            <a:avLst/>
          </a:prstGeom>
          <a:solidFill>
            <a:srgbClr val="FFFFCC"/>
          </a:solidFill>
        </p:spPr>
        <p:txBody>
          <a:bodyPr wrap="square">
            <a:spAutoFit/>
          </a:bodyPr>
          <a:lstStyle/>
          <a:p>
            <a:r>
              <a:rPr lang="zh-CN" altLang="en-US" dirty="0"/>
              <a:t>底物</a:t>
            </a:r>
            <a:r>
              <a:rPr lang="en-US" altLang="zh-CN" dirty="0"/>
              <a:t>-</a:t>
            </a:r>
            <a:r>
              <a:rPr lang="zh-CN" altLang="en-US" dirty="0"/>
              <a:t>酶中间复合物</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59395"/>
                                        </p:tgtEl>
                                        <p:attrNameLst>
                                          <p:attrName>style.visibility</p:attrName>
                                        </p:attrNameLst>
                                      </p:cBhvr>
                                      <p:to>
                                        <p:strVal val="visible"/>
                                      </p:to>
                                    </p:set>
                                    <p:animEffect transition="in" filter="fade">
                                      <p:cBhvr>
                                        <p:cTn id="10" dur="500"/>
                                        <p:tgtEl>
                                          <p:spTgt spid="5939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59396"/>
                                        </p:tgtEl>
                                        <p:attrNameLst>
                                          <p:attrName>style.visibility</p:attrName>
                                        </p:attrNameLst>
                                      </p:cBhvr>
                                      <p:to>
                                        <p:strVal val="visible"/>
                                      </p:to>
                                    </p:set>
                                    <p:animEffect transition="in" filter="fade">
                                      <p:cBhvr>
                                        <p:cTn id="25" dur="500"/>
                                        <p:tgtEl>
                                          <p:spTgt spid="59396"/>
                                        </p:tgtEl>
                                      </p:cBhvr>
                                    </p:animEffect>
                                  </p:childTnLst>
                                </p:cTn>
                              </p:par>
                              <p:par>
                                <p:cTn id="26" presetID="10" presetClass="entr" presetSubtype="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par>
                                <p:cTn id="41" presetID="10" presetClass="entr" presetSubtype="0" fill="hold" nodeType="withEffect">
                                  <p:stCondLst>
                                    <p:cond delay="0"/>
                                  </p:stCondLst>
                                  <p:childTnLst>
                                    <p:set>
                                      <p:cBhvr>
                                        <p:cTn id="42" dur="1" fill="hold">
                                          <p:stCondLst>
                                            <p:cond delay="0"/>
                                          </p:stCondLst>
                                        </p:cTn>
                                        <p:tgtEl>
                                          <p:spTgt spid="59397"/>
                                        </p:tgtEl>
                                        <p:attrNameLst>
                                          <p:attrName>style.visibility</p:attrName>
                                        </p:attrNameLst>
                                      </p:cBhvr>
                                      <p:to>
                                        <p:strVal val="visible"/>
                                      </p:to>
                                    </p:set>
                                    <p:animEffect transition="in" filter="fade">
                                      <p:cBhvr>
                                        <p:cTn id="43" dur="500"/>
                                        <p:tgtEl>
                                          <p:spTgt spid="5939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11" grpId="0"/>
      <p:bldP spid="12" grpId="0"/>
      <p:bldP spid="13" grpId="0"/>
      <p:bldP spid="9" grpId="0" animBg="1"/>
      <p:bldP spid="14"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0226" name="图片 1">
            <a:extLst>
              <a:ext uri="{FF2B5EF4-FFF2-40B4-BE49-F238E27FC236}">
                <a16:creationId xmlns:a16="http://schemas.microsoft.com/office/drawing/2014/main" id="{605D5576-FFAC-4587-9498-0F0B6D228E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19289" y="1098551"/>
            <a:ext cx="3735387"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9" name="图片 2">
            <a:extLst>
              <a:ext uri="{FF2B5EF4-FFF2-40B4-BE49-F238E27FC236}">
                <a16:creationId xmlns:a16="http://schemas.microsoft.com/office/drawing/2014/main" id="{F736F8CB-2271-4220-AB77-C88A4B667B3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51613" y="333375"/>
            <a:ext cx="3611562" cy="356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下箭头 2">
            <a:extLst>
              <a:ext uri="{FF2B5EF4-FFF2-40B4-BE49-F238E27FC236}">
                <a16:creationId xmlns:a16="http://schemas.microsoft.com/office/drawing/2014/main" id="{E288D910-B8A8-4216-BB77-99C2E58E0BEF}"/>
              </a:ext>
            </a:extLst>
          </p:cNvPr>
          <p:cNvSpPr/>
          <p:nvPr/>
        </p:nvSpPr>
        <p:spPr>
          <a:xfrm>
            <a:off x="3143251" y="115889"/>
            <a:ext cx="288925" cy="865187"/>
          </a:xfrm>
          <a:prstGeom prst="down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 name="右箭头 3">
            <a:extLst>
              <a:ext uri="{FF2B5EF4-FFF2-40B4-BE49-F238E27FC236}">
                <a16:creationId xmlns:a16="http://schemas.microsoft.com/office/drawing/2014/main" id="{3276F484-D20F-4A78-8B37-B62BEABC99A1}"/>
              </a:ext>
            </a:extLst>
          </p:cNvPr>
          <p:cNvSpPr/>
          <p:nvPr/>
        </p:nvSpPr>
        <p:spPr>
          <a:xfrm>
            <a:off x="5640389" y="2565400"/>
            <a:ext cx="801687" cy="215900"/>
          </a:xfrm>
          <a:prstGeom prst="right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7" name="组合 6">
            <a:extLst>
              <a:ext uri="{FF2B5EF4-FFF2-40B4-BE49-F238E27FC236}">
                <a16:creationId xmlns:a16="http://schemas.microsoft.com/office/drawing/2014/main" id="{D2B830D2-BF86-43C5-A14B-27A8AA76FE04}"/>
              </a:ext>
            </a:extLst>
          </p:cNvPr>
          <p:cNvGrpSpPr>
            <a:grpSpLocks/>
          </p:cNvGrpSpPr>
          <p:nvPr/>
        </p:nvGrpSpPr>
        <p:grpSpPr bwMode="auto">
          <a:xfrm>
            <a:off x="7032626" y="4221164"/>
            <a:ext cx="3025775" cy="1857375"/>
            <a:chOff x="5508104" y="4091709"/>
            <a:chExt cx="3025899" cy="1768328"/>
          </a:xfrm>
        </p:grpSpPr>
        <p:pic>
          <p:nvPicPr>
            <p:cNvPr id="180235" name="图片 4">
              <a:extLst>
                <a:ext uri="{FF2B5EF4-FFF2-40B4-BE49-F238E27FC236}">
                  <a16:creationId xmlns:a16="http://schemas.microsoft.com/office/drawing/2014/main" id="{494B8EFE-5601-4D4A-BDE1-A185A0C66A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128" y="4091709"/>
              <a:ext cx="280987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1B8E178D-186F-4ECC-8DB2-F90A44506BAF}"/>
                </a:ext>
              </a:extLst>
            </p:cNvPr>
            <p:cNvSpPr/>
            <p:nvPr/>
          </p:nvSpPr>
          <p:spPr>
            <a:xfrm>
              <a:off x="5508104" y="4983430"/>
              <a:ext cx="1224013" cy="87660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1" name="连接符: 曲线 10">
            <a:extLst>
              <a:ext uri="{FF2B5EF4-FFF2-40B4-BE49-F238E27FC236}">
                <a16:creationId xmlns:a16="http://schemas.microsoft.com/office/drawing/2014/main" id="{FC445F5F-04BE-4132-8E54-200482E3509C}"/>
              </a:ext>
            </a:extLst>
          </p:cNvPr>
          <p:cNvCxnSpPr>
            <a:cxnSpLocks/>
          </p:cNvCxnSpPr>
          <p:nvPr/>
        </p:nvCxnSpPr>
        <p:spPr>
          <a:xfrm rot="16200000" flipH="1">
            <a:off x="7085807" y="3196432"/>
            <a:ext cx="1374775" cy="582612"/>
          </a:xfrm>
          <a:prstGeom prst="curvedConnector3">
            <a:avLst/>
          </a:prstGeom>
          <a:ln w="57150">
            <a:tailEnd type="triangle"/>
          </a:ln>
        </p:spPr>
        <p:style>
          <a:lnRef idx="3">
            <a:schemeClr val="accent6"/>
          </a:lnRef>
          <a:fillRef idx="0">
            <a:schemeClr val="accent6"/>
          </a:fillRef>
          <a:effectRef idx="2">
            <a:schemeClr val="accent6"/>
          </a:effectRef>
          <a:fontRef idx="minor">
            <a:schemeClr val="tx1"/>
          </a:fontRef>
        </p:style>
      </p:cxnSp>
      <p:sp>
        <p:nvSpPr>
          <p:cNvPr id="173064" name="矩形 1">
            <a:extLst>
              <a:ext uri="{FF2B5EF4-FFF2-40B4-BE49-F238E27FC236}">
                <a16:creationId xmlns:a16="http://schemas.microsoft.com/office/drawing/2014/main" id="{2A81FB80-2C07-4201-9462-5C41C93641BC}"/>
              </a:ext>
            </a:extLst>
          </p:cNvPr>
          <p:cNvSpPr>
            <a:spLocks noChangeArrowheads="1"/>
          </p:cNvSpPr>
          <p:nvPr/>
        </p:nvSpPr>
        <p:spPr bwMode="auto">
          <a:xfrm>
            <a:off x="1835745" y="5157788"/>
            <a:ext cx="5196881" cy="1263024"/>
          </a:xfrm>
          <a:prstGeom prst="rect">
            <a:avLst/>
          </a:prstGeom>
          <a:noFill/>
          <a:ln>
            <a:noFill/>
          </a:ln>
        </p:spPr>
        <p:txBody>
          <a:bodyPr anchor="b"/>
          <a:lstStyle/>
          <a:p>
            <a:pPr>
              <a:lnSpc>
                <a:spcPct val="150000"/>
              </a:lnSpc>
              <a:defRPr/>
            </a:pPr>
            <a:r>
              <a:rPr lang="zh-CN" altLang="en-US" sz="3200" dirty="0">
                <a:solidFill>
                  <a:srgbClr val="0000CC"/>
                </a:solidFill>
                <a:latin typeface="微软雅黑" panose="020B0503020204020204" pitchFamily="34" charset="-122"/>
                <a:ea typeface="微软雅黑" panose="020B0503020204020204" pitchFamily="34" charset="-122"/>
                <a:cs typeface="+mj-cs"/>
              </a:rPr>
              <a:t>胰凝乳蛋白酶的催化机制：</a:t>
            </a:r>
            <a:r>
              <a:rPr lang="zh-CN" altLang="en-US" sz="2800" dirty="0">
                <a:latin typeface="微软雅黑" panose="020B0503020204020204" pitchFamily="34" charset="-122"/>
                <a:ea typeface="微软雅黑" panose="020B0503020204020204" pitchFamily="34" charset="-122"/>
              </a:rPr>
              <a:t>酸碱催化、共价催化、静电催化</a:t>
            </a:r>
            <a:endParaRPr lang="en-US" altLang="zh-CN" sz="2800" dirty="0">
              <a:latin typeface="微软雅黑" panose="020B0503020204020204" pitchFamily="34" charset="-122"/>
              <a:ea typeface="微软雅黑" panose="020B0503020204020204" pitchFamily="34" charset="-122"/>
            </a:endParaRPr>
          </a:p>
        </p:txBody>
      </p:sp>
      <p:sp>
        <p:nvSpPr>
          <p:cNvPr id="180233" name="文本框 11">
            <a:extLst>
              <a:ext uri="{FF2B5EF4-FFF2-40B4-BE49-F238E27FC236}">
                <a16:creationId xmlns:a16="http://schemas.microsoft.com/office/drawing/2014/main" id="{E549394F-D848-4EA2-BA7B-6BC1DDC95CEC}"/>
              </a:ext>
            </a:extLst>
          </p:cNvPr>
          <p:cNvSpPr txBox="1">
            <a:spLocks noChangeArrowheads="1"/>
          </p:cNvSpPr>
          <p:nvPr/>
        </p:nvSpPr>
        <p:spPr bwMode="auto">
          <a:xfrm>
            <a:off x="1919288" y="4351339"/>
            <a:ext cx="647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t>5</a:t>
            </a:r>
            <a:endParaRPr lang="zh-CN" altLang="en-US" sz="1800"/>
          </a:p>
        </p:txBody>
      </p:sp>
      <p:sp>
        <p:nvSpPr>
          <p:cNvPr id="13" name="文本框 12">
            <a:extLst>
              <a:ext uri="{FF2B5EF4-FFF2-40B4-BE49-F238E27FC236}">
                <a16:creationId xmlns:a16="http://schemas.microsoft.com/office/drawing/2014/main" id="{6F388663-42C5-4BB4-835B-6C5BD27841C9}"/>
              </a:ext>
            </a:extLst>
          </p:cNvPr>
          <p:cNvSpPr txBox="1">
            <a:spLocks noChangeArrowheads="1"/>
          </p:cNvSpPr>
          <p:nvPr/>
        </p:nvSpPr>
        <p:spPr bwMode="auto">
          <a:xfrm>
            <a:off x="6523038" y="3481389"/>
            <a:ext cx="647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t>6</a:t>
            </a:r>
            <a:endParaRPr lang="zh-CN" altLang="en-US" sz="18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0419"/>
                                        </p:tgtEl>
                                        <p:attrNameLst>
                                          <p:attrName>style.visibility</p:attrName>
                                        </p:attrNameLst>
                                      </p:cBhvr>
                                      <p:to>
                                        <p:strVal val="visible"/>
                                      </p:to>
                                    </p:set>
                                    <p:animEffect transition="in" filter="fade">
                                      <p:cBhvr>
                                        <p:cTn id="10" dur="500"/>
                                        <p:tgtEl>
                                          <p:spTgt spid="604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30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3064" grpId="0"/>
      <p:bldP spid="1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2D4E269-E525-DC22-0B10-ED54ECF9867E}"/>
              </a:ext>
            </a:extLst>
          </p:cNvPr>
          <p:cNvSpPr>
            <a:spLocks noGrp="1"/>
          </p:cNvSpPr>
          <p:nvPr>
            <p:ph idx="1"/>
          </p:nvPr>
        </p:nvSpPr>
        <p:spPr>
          <a:xfrm>
            <a:off x="1307468" y="1412776"/>
            <a:ext cx="9757084" cy="4392488"/>
          </a:xfrm>
        </p:spPr>
        <p:txBody>
          <a:bodyPr/>
          <a:lstStyle/>
          <a:p>
            <a:pPr>
              <a:lnSpc>
                <a:spcPct val="130000"/>
              </a:lnSpc>
              <a:spcBef>
                <a:spcPts val="0"/>
              </a:spcBef>
            </a:pPr>
            <a:r>
              <a:rPr lang="zh-CN" altLang="en-US" sz="2800" b="0" dirty="0">
                <a:solidFill>
                  <a:srgbClr val="C00000"/>
                </a:solidFill>
                <a:latin typeface="微软雅黑" panose="020B0503020204020204" pitchFamily="34" charset="-122"/>
                <a:ea typeface="微软雅黑" panose="020B0503020204020204" pitchFamily="34" charset="-122"/>
              </a:rPr>
              <a:t>酶能高效降低反应活化能  </a:t>
            </a:r>
            <a:r>
              <a:rPr lang="zh-CN" altLang="en-US" sz="2800" b="0" dirty="0">
                <a:latin typeface="微软雅黑" panose="020B0503020204020204" pitchFamily="34" charset="-122"/>
                <a:ea typeface="微软雅黑" panose="020B0503020204020204" pitchFamily="34" charset="-122"/>
              </a:rPr>
              <a:t>主要是因为</a:t>
            </a:r>
            <a:r>
              <a:rPr lang="zh-CN" altLang="en-US" sz="2800" b="0" dirty="0">
                <a:solidFill>
                  <a:srgbClr val="0000CC"/>
                </a:solidFill>
                <a:latin typeface="微软雅黑" panose="020B0503020204020204" pitchFamily="34" charset="-122"/>
                <a:ea typeface="微软雅黑" panose="020B0503020204020204" pitchFamily="34" charset="-122"/>
              </a:rPr>
              <a:t>与底物生成酶底物复合物时次级键的生成</a:t>
            </a:r>
            <a:r>
              <a:rPr lang="zh-CN" altLang="en-US" sz="2800" b="0" dirty="0">
                <a:latin typeface="微软雅黑" panose="020B0503020204020204" pitchFamily="34" charset="-122"/>
                <a:ea typeface="微软雅黑" panose="020B0503020204020204" pitchFamily="34" charset="-122"/>
              </a:rPr>
              <a:t>（次级键生成释放能量）。 </a:t>
            </a:r>
            <a:endParaRPr lang="en-US" altLang="zh-CN" sz="2800" b="0" dirty="0">
              <a:latin typeface="微软雅黑" panose="020B0503020204020204" pitchFamily="34" charset="-122"/>
              <a:ea typeface="微软雅黑" panose="020B0503020204020204" pitchFamily="34" charset="-122"/>
            </a:endParaRPr>
          </a:p>
          <a:p>
            <a:pPr>
              <a:lnSpc>
                <a:spcPct val="130000"/>
              </a:lnSpc>
              <a:spcBef>
                <a:spcPts val="0"/>
              </a:spcBef>
            </a:pPr>
            <a:endParaRPr lang="en-US" altLang="zh-CN" b="0" dirty="0">
              <a:latin typeface="微软雅黑" panose="020B0503020204020204" pitchFamily="34" charset="-122"/>
              <a:ea typeface="微软雅黑" panose="020B0503020204020204" pitchFamily="34" charset="-122"/>
            </a:endParaRPr>
          </a:p>
          <a:p>
            <a:pPr>
              <a:lnSpc>
                <a:spcPct val="130000"/>
              </a:lnSpc>
              <a:spcBef>
                <a:spcPts val="0"/>
              </a:spcBef>
            </a:pPr>
            <a:r>
              <a:rPr lang="zh-CN" altLang="en-US" sz="2800" b="0" dirty="0">
                <a:solidFill>
                  <a:srgbClr val="0000CC"/>
                </a:solidFill>
                <a:latin typeface="微软雅黑" panose="020B0503020204020204" pitchFamily="34" charset="-122"/>
                <a:ea typeface="微软雅黑" panose="020B0503020204020204" pitchFamily="34" charset="-122"/>
              </a:rPr>
              <a:t>酶底物复合物生成的同时就体现了</a:t>
            </a:r>
            <a:r>
              <a:rPr lang="en-US" altLang="zh-CN" sz="2800" b="0" dirty="0">
                <a:solidFill>
                  <a:srgbClr val="0000CC"/>
                </a:solidFill>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诱导契合、底物形变、邻近效应、定向效应和表面效应</a:t>
            </a:r>
            <a:r>
              <a:rPr lang="zh-CN" altLang="en-US" sz="2800" b="0" dirty="0">
                <a:latin typeface="微软雅黑" panose="020B0503020204020204" pitchFamily="34" charset="-122"/>
                <a:ea typeface="微软雅黑" panose="020B0503020204020204" pitchFamily="34" charset="-122"/>
              </a:rPr>
              <a:t>，每种效应都会将反应速度提高至少一个数量级； 此外，</a:t>
            </a:r>
            <a:r>
              <a:rPr lang="zh-CN" altLang="en-US" sz="2800" dirty="0">
                <a:latin typeface="微软雅黑" panose="020B0503020204020204" pitchFamily="34" charset="-122"/>
                <a:ea typeface="微软雅黑" panose="020B0503020204020204" pitchFamily="34" charset="-122"/>
              </a:rPr>
              <a:t>多元催化作用</a:t>
            </a:r>
            <a:r>
              <a:rPr lang="zh-CN" altLang="en-US" sz="2800" b="0" dirty="0">
                <a:latin typeface="微软雅黑" panose="020B0503020204020204" pitchFamily="34" charset="-122"/>
                <a:ea typeface="微软雅黑" panose="020B0503020204020204" pitchFamily="34" charset="-122"/>
              </a:rPr>
              <a:t>也显著加速反应。</a:t>
            </a:r>
          </a:p>
          <a:p>
            <a:pPr>
              <a:lnSpc>
                <a:spcPct val="130000"/>
              </a:lnSpc>
              <a:spcBef>
                <a:spcPts val="0"/>
              </a:spcBef>
            </a:pPr>
            <a:endParaRPr lang="zh-CN" altLang="en-US" b="0"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7A7953BA-B90A-7298-D7CC-BC0C305D4011}"/>
              </a:ext>
            </a:extLst>
          </p:cNvPr>
          <p:cNvSpPr txBox="1"/>
          <p:nvPr/>
        </p:nvSpPr>
        <p:spPr>
          <a:xfrm>
            <a:off x="3395700" y="395433"/>
            <a:ext cx="5400600"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酶的催化作用机制小结</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标题 1">
            <a:extLst>
              <a:ext uri="{FF2B5EF4-FFF2-40B4-BE49-F238E27FC236}">
                <a16:creationId xmlns:a16="http://schemas.microsoft.com/office/drawing/2014/main" id="{139D693A-F3A4-4DDC-BE17-40D4F387718E}"/>
              </a:ext>
            </a:extLst>
          </p:cNvPr>
          <p:cNvSpPr>
            <a:spLocks noGrp="1" noChangeArrowheads="1"/>
          </p:cNvSpPr>
          <p:nvPr>
            <p:ph type="title"/>
          </p:nvPr>
        </p:nvSpPr>
        <p:spPr>
          <a:xfrm>
            <a:off x="1992313" y="211138"/>
            <a:ext cx="7632700" cy="925512"/>
          </a:xfrm>
        </p:spPr>
        <p:txBody>
          <a:bodyPr/>
          <a:lstStyle/>
          <a:p>
            <a:r>
              <a:rPr lang="zh-CN" altLang="en-US" sz="3600" b="0">
                <a:latin typeface="黑体" panose="02010609060101010101" pitchFamily="49" charset="-122"/>
                <a:ea typeface="黑体" panose="02010609060101010101" pitchFamily="49" charset="-122"/>
              </a:rPr>
              <a:t>动画： </a:t>
            </a:r>
            <a:r>
              <a:rPr lang="en-US" altLang="zh-CN" sz="3600" b="0">
                <a:latin typeface="黑体" panose="02010609060101010101" pitchFamily="49" charset="-122"/>
                <a:ea typeface="黑体" panose="02010609060101010101" pitchFamily="49" charset="-122"/>
              </a:rPr>
              <a:t>How enzymes work</a:t>
            </a:r>
            <a:endParaRPr lang="zh-CN" altLang="en-US" sz="3600" b="0">
              <a:latin typeface="黑体" panose="02010609060101010101" pitchFamily="49" charset="-122"/>
              <a:ea typeface="黑体" panose="02010609060101010101" pitchFamily="49" charset="-122"/>
            </a:endParaRPr>
          </a:p>
        </p:txBody>
      </p:sp>
      <p:pic>
        <p:nvPicPr>
          <p:cNvPr id="184323" name="内容占位符 3">
            <a:extLst>
              <a:ext uri="{FF2B5EF4-FFF2-40B4-BE49-F238E27FC236}">
                <a16:creationId xmlns:a16="http://schemas.microsoft.com/office/drawing/2014/main" id="{17C26D96-4F5B-4B84-9415-1A4F5C68DD1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b="15860"/>
          <a:stretch>
            <a:fillRect/>
          </a:stretch>
        </p:blipFill>
        <p:spPr>
          <a:xfrm>
            <a:off x="1852614" y="1587500"/>
            <a:ext cx="8486775" cy="2921000"/>
          </a:xfrm>
        </p:spPr>
      </p:pic>
      <p:sp>
        <p:nvSpPr>
          <p:cNvPr id="184324" name="矩形 6">
            <a:extLst>
              <a:ext uri="{FF2B5EF4-FFF2-40B4-BE49-F238E27FC236}">
                <a16:creationId xmlns:a16="http://schemas.microsoft.com/office/drawing/2014/main" id="{A9E209B4-2782-4D9A-B8E3-473F83F5981A}"/>
              </a:ext>
            </a:extLst>
          </p:cNvPr>
          <p:cNvSpPr>
            <a:spLocks noChangeArrowheads="1"/>
          </p:cNvSpPr>
          <p:nvPr/>
        </p:nvSpPr>
        <p:spPr bwMode="auto">
          <a:xfrm>
            <a:off x="2711451" y="5013325"/>
            <a:ext cx="691356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dirty="0">
                <a:latin typeface="黑体" panose="02010609060101010101" pitchFamily="49" charset="-122"/>
                <a:ea typeface="黑体" panose="02010609060101010101" pitchFamily="49" charset="-122"/>
              </a:rPr>
              <a:t>TCA cycle</a:t>
            </a:r>
            <a:r>
              <a:rPr lang="zh-CN" altLang="en-US" sz="2800" dirty="0">
                <a:latin typeface="黑体" panose="02010609060101010101" pitchFamily="49" charset="-122"/>
                <a:ea typeface="黑体" panose="02010609060101010101" pitchFamily="49" charset="-122"/>
              </a:rPr>
              <a:t>中第二步反应，由顺乌头酸酶（</a:t>
            </a:r>
            <a:r>
              <a:rPr lang="en-US" altLang="zh-CN" sz="2800" dirty="0">
                <a:latin typeface="黑体" panose="02010609060101010101" pitchFamily="49" charset="-122"/>
                <a:ea typeface="黑体" panose="02010609060101010101" pitchFamily="49" charset="-122"/>
              </a:rPr>
              <a:t>aconitase)</a:t>
            </a:r>
            <a:r>
              <a:rPr lang="zh-CN" altLang="en-US" sz="2800" dirty="0">
                <a:latin typeface="黑体" panose="02010609060101010101" pitchFamily="49" charset="-122"/>
                <a:ea typeface="黑体" panose="02010609060101010101" pitchFamily="49" charset="-122"/>
              </a:rPr>
              <a:t>催化</a:t>
            </a:r>
            <a:endParaRPr lang="zh-CN" altLang="en-US" sz="2800" dirty="0"/>
          </a:p>
        </p:txBody>
      </p:sp>
      <p:sp>
        <p:nvSpPr>
          <p:cNvPr id="2" name="文本框 1">
            <a:extLst>
              <a:ext uri="{FF2B5EF4-FFF2-40B4-BE49-F238E27FC236}">
                <a16:creationId xmlns:a16="http://schemas.microsoft.com/office/drawing/2014/main" id="{BBAF63AD-7A17-C013-CE30-E0B135CC2398}"/>
              </a:ext>
            </a:extLst>
          </p:cNvPr>
          <p:cNvSpPr txBox="1"/>
          <p:nvPr/>
        </p:nvSpPr>
        <p:spPr>
          <a:xfrm>
            <a:off x="2351584" y="4508500"/>
            <a:ext cx="1152128" cy="400110"/>
          </a:xfrm>
          <a:prstGeom prst="rect">
            <a:avLst/>
          </a:prstGeom>
          <a:noFill/>
        </p:spPr>
        <p:txBody>
          <a:bodyPr wrap="square" rtlCol="0">
            <a:spAutoFit/>
          </a:bodyPr>
          <a:lstStyle/>
          <a:p>
            <a:r>
              <a:rPr lang="zh-CN" altLang="en-US" sz="2000" dirty="0"/>
              <a:t>柠檬酸</a:t>
            </a:r>
          </a:p>
        </p:txBody>
      </p:sp>
      <p:sp>
        <p:nvSpPr>
          <p:cNvPr id="3" name="文本框 2">
            <a:extLst>
              <a:ext uri="{FF2B5EF4-FFF2-40B4-BE49-F238E27FC236}">
                <a16:creationId xmlns:a16="http://schemas.microsoft.com/office/drawing/2014/main" id="{74BEC204-FFA0-D6F9-71FE-47099FBC6375}"/>
              </a:ext>
            </a:extLst>
          </p:cNvPr>
          <p:cNvSpPr txBox="1"/>
          <p:nvPr/>
        </p:nvSpPr>
        <p:spPr>
          <a:xfrm>
            <a:off x="8688288" y="4459327"/>
            <a:ext cx="1512168" cy="400110"/>
          </a:xfrm>
          <a:prstGeom prst="rect">
            <a:avLst/>
          </a:prstGeom>
          <a:noFill/>
        </p:spPr>
        <p:txBody>
          <a:bodyPr wrap="square" rtlCol="0">
            <a:spAutoFit/>
          </a:bodyPr>
          <a:lstStyle/>
          <a:p>
            <a:r>
              <a:rPr lang="zh-CN" altLang="en-US" sz="2000" dirty="0"/>
              <a:t>异柠檬酸</a:t>
            </a:r>
          </a:p>
        </p:txBody>
      </p:sp>
      <p:sp>
        <p:nvSpPr>
          <p:cNvPr id="4" name="文本框 3">
            <a:extLst>
              <a:ext uri="{FF2B5EF4-FFF2-40B4-BE49-F238E27FC236}">
                <a16:creationId xmlns:a16="http://schemas.microsoft.com/office/drawing/2014/main" id="{35B65484-D6D6-E077-5B46-045625278378}"/>
              </a:ext>
            </a:extLst>
          </p:cNvPr>
          <p:cNvSpPr txBox="1"/>
          <p:nvPr/>
        </p:nvSpPr>
        <p:spPr>
          <a:xfrm>
            <a:off x="5519936" y="4477257"/>
            <a:ext cx="1512168" cy="400110"/>
          </a:xfrm>
          <a:prstGeom prst="rect">
            <a:avLst/>
          </a:prstGeom>
          <a:noFill/>
        </p:spPr>
        <p:txBody>
          <a:bodyPr wrap="square" rtlCol="0">
            <a:spAutoFit/>
          </a:bodyPr>
          <a:lstStyle/>
          <a:p>
            <a:r>
              <a:rPr lang="zh-CN" altLang="en-US" sz="2000" dirty="0"/>
              <a:t>顺乌头酸</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6370" name="图片 2">
            <a:extLst>
              <a:ext uri="{FF2B5EF4-FFF2-40B4-BE49-F238E27FC236}">
                <a16:creationId xmlns:a16="http://schemas.microsoft.com/office/drawing/2014/main" id="{294905CE-B975-43D8-A4A8-E4B13702F3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0" y="84138"/>
            <a:ext cx="7088188"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标题 1">
            <a:extLst>
              <a:ext uri="{FF2B5EF4-FFF2-40B4-BE49-F238E27FC236}">
                <a16:creationId xmlns:a16="http://schemas.microsoft.com/office/drawing/2014/main" id="{81631BCF-3B4A-4A5C-9E3D-A2AF989E80F4}"/>
              </a:ext>
            </a:extLst>
          </p:cNvPr>
          <p:cNvSpPr>
            <a:spLocks noGrp="1" noChangeArrowheads="1"/>
          </p:cNvSpPr>
          <p:nvPr>
            <p:ph type="title" idx="4294967295"/>
          </p:nvPr>
        </p:nvSpPr>
        <p:spPr>
          <a:xfrm>
            <a:off x="2551114" y="333375"/>
            <a:ext cx="7056437" cy="539750"/>
          </a:xfrm>
        </p:spPr>
        <p:txBody>
          <a:bodyPr/>
          <a:lstStyle/>
          <a:p>
            <a:r>
              <a:rPr lang="en-US" altLang="zh-CN" sz="4000" dirty="0">
                <a:solidFill>
                  <a:srgbClr val="0000CC"/>
                </a:solidFill>
              </a:rPr>
              <a:t>How Enzymes Work.mp4</a:t>
            </a:r>
            <a:endParaRPr lang="zh-CN" altLang="en-US" sz="4000" dirty="0">
              <a:solidFill>
                <a:srgbClr val="0000CC"/>
              </a:solidFill>
            </a:endParaRPr>
          </a:p>
        </p:txBody>
      </p:sp>
      <p:pic>
        <p:nvPicPr>
          <p:cNvPr id="3" name="How Enzymes Work（中英文字幕）.mp4">
            <a:hlinkClick r:id="" action="ppaction://media"/>
            <a:extLst>
              <a:ext uri="{FF2B5EF4-FFF2-40B4-BE49-F238E27FC236}">
                <a16:creationId xmlns:a16="http://schemas.microsoft.com/office/drawing/2014/main" id="{8F0C03AD-62C8-4B72-A0AA-6C844F3EF586}"/>
              </a:ext>
            </a:extLst>
          </p:cNvPr>
          <p:cNvPicPr>
            <a:picLocks noChangeAspect="1" noChangeArrowheads="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1506538" y="1125539"/>
            <a:ext cx="9144001"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29150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3122" name="Rectangle 2">
            <a:extLst>
              <a:ext uri="{FF2B5EF4-FFF2-40B4-BE49-F238E27FC236}">
                <a16:creationId xmlns:a16="http://schemas.microsoft.com/office/drawing/2014/main" id="{C04C6048-5590-4B6B-B3EA-6974BB7A6B31}"/>
              </a:ext>
            </a:extLst>
          </p:cNvPr>
          <p:cNvSpPr>
            <a:spLocks noGrp="1" noChangeArrowheads="1"/>
          </p:cNvSpPr>
          <p:nvPr>
            <p:ph type="body" idx="1"/>
          </p:nvPr>
        </p:nvSpPr>
        <p:spPr>
          <a:xfrm>
            <a:off x="2063750" y="1268414"/>
            <a:ext cx="8172450" cy="3887787"/>
          </a:xfrm>
        </p:spPr>
        <p:txBody>
          <a:bodyPr/>
          <a:lstStyle/>
          <a:p>
            <a:pPr algn="ctr" eaLnBrk="1" hangingPunct="1">
              <a:lnSpc>
                <a:spcPct val="160000"/>
              </a:lnSpc>
              <a:spcBef>
                <a:spcPct val="0"/>
              </a:spcBef>
              <a:buFontTx/>
              <a:buNone/>
            </a:pPr>
            <a:r>
              <a:rPr lang="zh-CN" altLang="en-US" sz="4400">
                <a:solidFill>
                  <a:srgbClr val="FF3300"/>
                </a:solidFill>
                <a:latin typeface="Times New Roman" panose="02020603050405020304" pitchFamily="18" charset="0"/>
                <a:ea typeface="黑体" panose="02010609060101010101" pitchFamily="49" charset="-122"/>
              </a:rPr>
              <a:t>第三节</a:t>
            </a:r>
            <a:endParaRPr lang="en-US" altLang="en-US" sz="4800">
              <a:solidFill>
                <a:srgbClr val="FF3300"/>
              </a:solidFill>
              <a:latin typeface="Times New Roman" panose="02020603050405020304" pitchFamily="18" charset="0"/>
              <a:ea typeface="黑体" panose="02010609060101010101" pitchFamily="49" charset="-122"/>
            </a:endParaRPr>
          </a:p>
          <a:p>
            <a:pPr algn="ctr" eaLnBrk="1" hangingPunct="1">
              <a:lnSpc>
                <a:spcPct val="240000"/>
              </a:lnSpc>
              <a:spcBef>
                <a:spcPct val="0"/>
              </a:spcBef>
              <a:buFontTx/>
              <a:buNone/>
            </a:pPr>
            <a:r>
              <a:rPr lang="zh-CN" altLang="en-US" sz="4400">
                <a:solidFill>
                  <a:srgbClr val="FF3300"/>
                </a:solidFill>
                <a:latin typeface="Times New Roman" panose="02020603050405020304" pitchFamily="18" charset="0"/>
                <a:ea typeface="黑体" panose="02010609060101010101" pitchFamily="49" charset="-122"/>
              </a:rPr>
              <a:t>酶促反应动力学</a:t>
            </a:r>
          </a:p>
          <a:p>
            <a:pPr algn="ctr" eaLnBrk="1" hangingPunct="1">
              <a:lnSpc>
                <a:spcPct val="110000"/>
              </a:lnSpc>
              <a:spcBef>
                <a:spcPct val="0"/>
              </a:spcBef>
              <a:buFontTx/>
              <a:buNone/>
            </a:pPr>
            <a:r>
              <a:rPr lang="en-US" altLang="zh-CN" sz="3600">
                <a:latin typeface="Times New Roman" panose="02020603050405020304" pitchFamily="18" charset="0"/>
                <a:ea typeface="黑体" panose="02010609060101010101" pitchFamily="49" charset="-122"/>
              </a:rPr>
              <a:t>Kinetics of Enzyme-Catalyzed Reaction</a:t>
            </a:r>
            <a:r>
              <a:rPr lang="en-US" altLang="zh-CN">
                <a:latin typeface="Times New Roman" panose="02020603050405020304" pitchFamily="18" charset="0"/>
                <a:ea typeface="黑体" panose="02010609060101010101" pitchFamily="49" charset="-122"/>
              </a:rPr>
              <a:t> </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73122">
                                            <p:txEl>
                                              <p:pRg st="0" end="0"/>
                                            </p:txEl>
                                          </p:spTgt>
                                        </p:tgtEl>
                                        <p:attrNameLst>
                                          <p:attrName>style.visibility</p:attrName>
                                        </p:attrNameLst>
                                      </p:cBhvr>
                                      <p:to>
                                        <p:strVal val="visible"/>
                                      </p:to>
                                    </p:set>
                                    <p:animEffect transition="in" filter="blinds(horizontal)">
                                      <p:cBhvr>
                                        <p:cTn id="7" dur="500"/>
                                        <p:tgtEl>
                                          <p:spTgt spid="773122">
                                            <p:txEl>
                                              <p:pRg st="0" end="0"/>
                                            </p:txEl>
                                          </p:spTgt>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73122">
                                            <p:txEl>
                                              <p:pRg st="1" end="1"/>
                                            </p:txEl>
                                          </p:spTgt>
                                        </p:tgtEl>
                                        <p:attrNameLst>
                                          <p:attrName>style.visibility</p:attrName>
                                        </p:attrNameLst>
                                      </p:cBhvr>
                                      <p:to>
                                        <p:strVal val="visible"/>
                                      </p:to>
                                    </p:set>
                                    <p:animEffect transition="in" filter="blinds(horizontal)">
                                      <p:cBhvr>
                                        <p:cTn id="11" dur="500"/>
                                        <p:tgtEl>
                                          <p:spTgt spid="773122">
                                            <p:txEl>
                                              <p:pRg st="1" end="1"/>
                                            </p:txEl>
                                          </p:spTgt>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773122">
                                            <p:txEl>
                                              <p:pRg st="2" end="2"/>
                                            </p:txEl>
                                          </p:spTgt>
                                        </p:tgtEl>
                                        <p:attrNameLst>
                                          <p:attrName>style.visibility</p:attrName>
                                        </p:attrNameLst>
                                      </p:cBhvr>
                                      <p:to>
                                        <p:strVal val="visible"/>
                                      </p:to>
                                    </p:set>
                                    <p:animEffect transition="in" filter="blinds(horizontal)">
                                      <p:cBhvr>
                                        <p:cTn id="15" dur="500"/>
                                        <p:tgtEl>
                                          <p:spTgt spid="7731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3122" grpId="0" build="p" autoUpdateAnimBg="0" advAuto="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5170" name="Rectangle 2">
            <a:extLst>
              <a:ext uri="{FF2B5EF4-FFF2-40B4-BE49-F238E27FC236}">
                <a16:creationId xmlns:a16="http://schemas.microsoft.com/office/drawing/2014/main" id="{6182AFDF-8AE4-4A09-B323-DB35BF368C03}"/>
              </a:ext>
            </a:extLst>
          </p:cNvPr>
          <p:cNvSpPr>
            <a:spLocks noGrp="1" noChangeArrowheads="1"/>
          </p:cNvSpPr>
          <p:nvPr>
            <p:ph type="body" idx="1"/>
          </p:nvPr>
        </p:nvSpPr>
        <p:spPr>
          <a:xfrm>
            <a:off x="2230438" y="2205435"/>
            <a:ext cx="7059613" cy="558800"/>
          </a:xfrm>
        </p:spPr>
        <p:txBody>
          <a:bodyPr/>
          <a:lstStyle/>
          <a:p>
            <a:pPr marL="365125" indent="-365125" eaLnBrk="1" hangingPunct="1">
              <a:lnSpc>
                <a:spcPct val="110000"/>
              </a:lnSpc>
              <a:buClr>
                <a:srgbClr val="0000FF"/>
              </a:buClr>
              <a:buSzPct val="75000"/>
              <a:buFont typeface="Wingdings" panose="05000000000000000000" pitchFamily="2" charset="2"/>
              <a:buChar char="q"/>
            </a:pPr>
            <a:r>
              <a:rPr lang="zh-CN" altLang="en-US" b="0" dirty="0">
                <a:solidFill>
                  <a:srgbClr val="FF3300"/>
                </a:solidFill>
                <a:latin typeface="黑体" panose="02010609060101010101" pitchFamily="49" charset="-122"/>
                <a:ea typeface="黑体" panose="02010609060101010101" pitchFamily="49" charset="-122"/>
              </a:rPr>
              <a:t>影响因素包括有：</a:t>
            </a:r>
          </a:p>
        </p:txBody>
      </p:sp>
      <p:sp>
        <p:nvSpPr>
          <p:cNvPr id="194563" name="AutoShape 3">
            <a:extLst>
              <a:ext uri="{FF2B5EF4-FFF2-40B4-BE49-F238E27FC236}">
                <a16:creationId xmlns:a16="http://schemas.microsoft.com/office/drawing/2014/main" id="{4660D60C-0503-4EC5-BA15-3E0DCC5FC25A}"/>
              </a:ext>
            </a:extLst>
          </p:cNvPr>
          <p:cNvSpPr>
            <a:spLocks noChangeArrowheads="1"/>
          </p:cNvSpPr>
          <p:nvPr/>
        </p:nvSpPr>
        <p:spPr bwMode="auto">
          <a:xfrm>
            <a:off x="3657600" y="3886200"/>
            <a:ext cx="381000" cy="381000"/>
          </a:xfrm>
          <a:prstGeom prst="irregularSeal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latin typeface="黑体" panose="02010609060101010101" pitchFamily="49" charset="-122"/>
              <a:ea typeface="黑体" panose="02010609060101010101" pitchFamily="49" charset="-122"/>
            </a:endParaRPr>
          </a:p>
        </p:txBody>
      </p:sp>
      <p:sp>
        <p:nvSpPr>
          <p:cNvPr id="775172" name="Rectangle 4">
            <a:extLst>
              <a:ext uri="{FF2B5EF4-FFF2-40B4-BE49-F238E27FC236}">
                <a16:creationId xmlns:a16="http://schemas.microsoft.com/office/drawing/2014/main" id="{5ADE9E29-7E9D-424D-BF72-595E1DF9F6DE}"/>
              </a:ext>
            </a:extLst>
          </p:cNvPr>
          <p:cNvSpPr>
            <a:spLocks noChangeArrowheads="1"/>
          </p:cNvSpPr>
          <p:nvPr/>
        </p:nvSpPr>
        <p:spPr bwMode="auto">
          <a:xfrm>
            <a:off x="2230438" y="646908"/>
            <a:ext cx="748982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365125">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544513" indent="7048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10000"/>
              </a:lnSpc>
              <a:buClr>
                <a:srgbClr val="0000FF"/>
              </a:buClr>
              <a:buSzPct val="75000"/>
              <a:buFont typeface="Wingdings" panose="05000000000000000000" pitchFamily="2" charset="2"/>
              <a:buChar char="q"/>
            </a:pPr>
            <a:r>
              <a:rPr lang="zh-CN" altLang="en-US" dirty="0">
                <a:solidFill>
                  <a:srgbClr val="FF3300"/>
                </a:solidFill>
                <a:latin typeface="黑体" panose="02010609060101010101" pitchFamily="49" charset="-122"/>
                <a:ea typeface="黑体" panose="02010609060101010101" pitchFamily="49" charset="-122"/>
              </a:rPr>
              <a:t>酶促反应动力学</a:t>
            </a:r>
          </a:p>
          <a:p>
            <a:pPr lvl="1" eaLnBrk="1" hangingPunct="1">
              <a:lnSpc>
                <a:spcPct val="110000"/>
              </a:lnSpc>
              <a:buFont typeface="Wingdings" panose="05000000000000000000" pitchFamily="2" charset="2"/>
              <a:buNone/>
            </a:pPr>
            <a:r>
              <a:rPr lang="zh-CN" altLang="en-US" dirty="0">
                <a:latin typeface="黑体" panose="02010609060101010101" pitchFamily="49" charset="-122"/>
                <a:ea typeface="黑体" panose="02010609060101010101" pitchFamily="49" charset="-122"/>
              </a:rPr>
              <a:t>研究各种因素对</a:t>
            </a:r>
            <a:r>
              <a:rPr lang="zh-CN" altLang="en-US" dirty="0">
                <a:solidFill>
                  <a:srgbClr val="0000FF"/>
                </a:solidFill>
                <a:latin typeface="黑体" panose="02010609060101010101" pitchFamily="49" charset="-122"/>
                <a:ea typeface="黑体" panose="02010609060101010101" pitchFamily="49" charset="-122"/>
              </a:rPr>
              <a:t>酶促反应速度</a:t>
            </a:r>
            <a:r>
              <a:rPr lang="zh-CN" altLang="en-US" dirty="0">
                <a:latin typeface="黑体" panose="02010609060101010101" pitchFamily="49" charset="-122"/>
                <a:ea typeface="黑体" panose="02010609060101010101" pitchFamily="49" charset="-122"/>
              </a:rPr>
              <a:t>的影响</a:t>
            </a:r>
          </a:p>
        </p:txBody>
      </p:sp>
      <p:sp>
        <p:nvSpPr>
          <p:cNvPr id="775173" name="Rectangle 5">
            <a:extLst>
              <a:ext uri="{FF2B5EF4-FFF2-40B4-BE49-F238E27FC236}">
                <a16:creationId xmlns:a16="http://schemas.microsoft.com/office/drawing/2014/main" id="{98A456ED-A3C6-4B4B-B312-ECAC1DF3BAFC}"/>
              </a:ext>
            </a:extLst>
          </p:cNvPr>
          <p:cNvSpPr>
            <a:spLocks noChangeArrowheads="1"/>
          </p:cNvSpPr>
          <p:nvPr/>
        </p:nvSpPr>
        <p:spPr bwMode="auto">
          <a:xfrm>
            <a:off x="3503612" y="2837285"/>
            <a:ext cx="2592388" cy="3373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0" lvl="1" indent="-457200" eaLnBrk="1" hangingPunct="1">
              <a:lnSpc>
                <a:spcPct val="130000"/>
              </a:lnSpc>
              <a:spcBef>
                <a:spcPts val="0"/>
              </a:spcBef>
              <a:buSzPct val="70000"/>
              <a:buFont typeface="Wingdings" panose="05000000000000000000" pitchFamily="2" charset="2"/>
              <a:buChar char="l"/>
            </a:pPr>
            <a:r>
              <a:rPr lang="zh-CN" altLang="en-US" dirty="0">
                <a:solidFill>
                  <a:srgbClr val="FF3300"/>
                </a:solidFill>
                <a:latin typeface="黑体" panose="02010609060101010101" pitchFamily="49" charset="-122"/>
                <a:ea typeface="黑体" panose="02010609060101010101" pitchFamily="49" charset="-122"/>
              </a:rPr>
              <a:t>底物浓度</a:t>
            </a:r>
          </a:p>
          <a:p>
            <a:pPr marL="0" lvl="1" indent="-457200" eaLnBrk="1" hangingPunct="1">
              <a:lnSpc>
                <a:spcPct val="130000"/>
              </a:lnSpc>
              <a:spcBef>
                <a:spcPts val="0"/>
              </a:spcBef>
              <a:buSzPct val="70000"/>
              <a:buFont typeface="Wingdings" panose="05000000000000000000" pitchFamily="2" charset="2"/>
              <a:buChar char="l"/>
            </a:pPr>
            <a:r>
              <a:rPr lang="zh-CN" altLang="en-US" dirty="0">
                <a:latin typeface="黑体" panose="02010609060101010101" pitchFamily="49" charset="-122"/>
                <a:ea typeface="黑体" panose="02010609060101010101" pitchFamily="49" charset="-122"/>
              </a:rPr>
              <a:t>酶浓度</a:t>
            </a:r>
          </a:p>
          <a:p>
            <a:pPr marL="0" lvl="1" indent="-457200" eaLnBrk="1" hangingPunct="1">
              <a:lnSpc>
                <a:spcPct val="130000"/>
              </a:lnSpc>
              <a:spcBef>
                <a:spcPts val="0"/>
              </a:spcBef>
              <a:buSzPct val="70000"/>
              <a:buFont typeface="Wingdings" panose="05000000000000000000" pitchFamily="2" charset="2"/>
              <a:buChar char="l"/>
            </a:pPr>
            <a:r>
              <a:rPr lang="en-US" altLang="zh-CN" dirty="0">
                <a:latin typeface="黑体" panose="02010609060101010101" pitchFamily="49" charset="-122"/>
                <a:ea typeface="黑体" panose="02010609060101010101" pitchFamily="49" charset="-122"/>
              </a:rPr>
              <a:t>pH</a:t>
            </a:r>
          </a:p>
          <a:p>
            <a:pPr marL="0" lvl="1" indent="-457200" eaLnBrk="1" hangingPunct="1">
              <a:lnSpc>
                <a:spcPct val="130000"/>
              </a:lnSpc>
              <a:spcBef>
                <a:spcPts val="0"/>
              </a:spcBef>
              <a:buSzPct val="70000"/>
              <a:buFont typeface="Wingdings" panose="05000000000000000000" pitchFamily="2" charset="2"/>
              <a:buChar char="l"/>
            </a:pPr>
            <a:r>
              <a:rPr lang="zh-CN" altLang="en-US" dirty="0">
                <a:latin typeface="黑体" panose="02010609060101010101" pitchFamily="49" charset="-122"/>
                <a:ea typeface="黑体" panose="02010609060101010101" pitchFamily="49" charset="-122"/>
              </a:rPr>
              <a:t>温度</a:t>
            </a:r>
          </a:p>
          <a:p>
            <a:pPr marL="0" lvl="1" indent="-457200" eaLnBrk="1" hangingPunct="1">
              <a:lnSpc>
                <a:spcPct val="130000"/>
              </a:lnSpc>
              <a:spcBef>
                <a:spcPts val="0"/>
              </a:spcBef>
              <a:buSzPct val="70000"/>
              <a:buFont typeface="Wingdings" panose="05000000000000000000" pitchFamily="2" charset="2"/>
              <a:buChar char="l"/>
            </a:pPr>
            <a:r>
              <a:rPr lang="zh-CN" altLang="en-US" dirty="0">
                <a:solidFill>
                  <a:srgbClr val="FF3300"/>
                </a:solidFill>
                <a:latin typeface="黑体" panose="02010609060101010101" pitchFamily="49" charset="-122"/>
                <a:ea typeface="黑体" panose="02010609060101010101" pitchFamily="49" charset="-122"/>
              </a:rPr>
              <a:t>抑制剂</a:t>
            </a:r>
          </a:p>
          <a:p>
            <a:pPr marL="0" lvl="1" indent="-457200" eaLnBrk="1" hangingPunct="1">
              <a:lnSpc>
                <a:spcPct val="130000"/>
              </a:lnSpc>
              <a:spcBef>
                <a:spcPts val="0"/>
              </a:spcBef>
              <a:buSzPct val="70000"/>
              <a:buFont typeface="Wingdings" panose="05000000000000000000" pitchFamily="2" charset="2"/>
              <a:buChar char="l"/>
            </a:pPr>
            <a:r>
              <a:rPr lang="zh-CN" altLang="en-US" dirty="0">
                <a:latin typeface="黑体" panose="02010609060101010101" pitchFamily="49" charset="-122"/>
                <a:ea typeface="黑体" panose="02010609060101010101" pitchFamily="49" charset="-122"/>
              </a:rPr>
              <a:t>激活剂</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775172"/>
                                        </p:tgtEl>
                                        <p:attrNameLst>
                                          <p:attrName>style.visibility</p:attrName>
                                        </p:attrNameLst>
                                      </p:cBhvr>
                                      <p:to>
                                        <p:strVal val="visible"/>
                                      </p:to>
                                    </p:set>
                                    <p:animEffect transition="in" filter="checkerboard(across)">
                                      <p:cBhvr>
                                        <p:cTn id="7" dur="500"/>
                                        <p:tgtEl>
                                          <p:spTgt spid="7751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75170"/>
                                        </p:tgtEl>
                                        <p:attrNameLst>
                                          <p:attrName>style.visibility</p:attrName>
                                        </p:attrNameLst>
                                      </p:cBhvr>
                                      <p:to>
                                        <p:strVal val="visible"/>
                                      </p:to>
                                    </p:set>
                                    <p:animEffect transition="in" filter="checkerboard(across)">
                                      <p:cBhvr>
                                        <p:cTn id="12" dur="500"/>
                                        <p:tgtEl>
                                          <p:spTgt spid="775170"/>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775173"/>
                                        </p:tgtEl>
                                        <p:attrNameLst>
                                          <p:attrName>style.visibility</p:attrName>
                                        </p:attrNameLst>
                                      </p:cBhvr>
                                      <p:to>
                                        <p:strVal val="visible"/>
                                      </p:to>
                                    </p:set>
                                    <p:animEffect transition="in" filter="checkerboard(across)">
                                      <p:cBhvr>
                                        <p:cTn id="15" dur="500"/>
                                        <p:tgtEl>
                                          <p:spTgt spid="775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5170" grpId="0" autoUpdateAnimBg="0"/>
      <p:bldP spid="775172" grpId="0" autoUpdateAnimBg="0"/>
      <p:bldP spid="775173" grpId="0"/>
    </p:bldLst>
  </p:timing>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7218" name="Rectangle 2">
            <a:extLst>
              <a:ext uri="{FF2B5EF4-FFF2-40B4-BE49-F238E27FC236}">
                <a16:creationId xmlns:a16="http://schemas.microsoft.com/office/drawing/2014/main" id="{B7DD99DB-B28A-475A-A3A3-D57F4A9EE414}"/>
              </a:ext>
            </a:extLst>
          </p:cNvPr>
          <p:cNvSpPr>
            <a:spLocks noChangeArrowheads="1"/>
          </p:cNvSpPr>
          <p:nvPr/>
        </p:nvSpPr>
        <p:spPr bwMode="auto">
          <a:xfrm>
            <a:off x="2063750" y="2205038"/>
            <a:ext cx="8066088" cy="3384550"/>
          </a:xfrm>
          <a:prstGeom prst="rect">
            <a:avLst/>
          </a:prstGeom>
          <a:noFill/>
          <a:ln w="9525">
            <a:noFill/>
            <a:miter lim="800000"/>
            <a:headEnd/>
            <a:tailEnd/>
          </a:ln>
          <a:effectLst/>
        </p:spPr>
        <p:txBody>
          <a:bodyPr/>
          <a:lstStyle/>
          <a:p>
            <a:pPr marL="342900" indent="-342900" algn="just" eaLnBrk="1" hangingPunct="1">
              <a:lnSpc>
                <a:spcPct val="120000"/>
              </a:lnSpc>
              <a:spcBef>
                <a:spcPct val="20000"/>
              </a:spcBef>
              <a:buClr>
                <a:srgbClr val="0000FF"/>
              </a:buClr>
              <a:buFont typeface="Wingdings" pitchFamily="2" charset="2"/>
              <a:buChar char="n"/>
              <a:defRPr/>
            </a:pPr>
            <a:r>
              <a:rPr kumimoji="1" lang="zh-CN" altLang="en-US" sz="2800" dirty="0">
                <a:solidFill>
                  <a:srgbClr val="0000FF"/>
                </a:solidFill>
                <a:latin typeface="Times New Roman" pitchFamily="18" charset="0"/>
                <a:ea typeface="黑体" pitchFamily="49" charset="-122"/>
              </a:rPr>
              <a:t>酶促反应速度的测定：</a:t>
            </a:r>
            <a:r>
              <a:rPr kumimoji="1" lang="zh-CN" altLang="en-US" sz="2800" dirty="0">
                <a:latin typeface="Times New Roman" pitchFamily="18" charset="0"/>
                <a:ea typeface="黑体" pitchFamily="49" charset="-122"/>
              </a:rPr>
              <a:t>用单位时间内底物</a:t>
            </a:r>
            <a:r>
              <a:rPr kumimoji="1" lang="en-US" altLang="zh-CN" sz="2800" dirty="0">
                <a:latin typeface="Times New Roman" pitchFamily="18" charset="0"/>
                <a:ea typeface="黑体" pitchFamily="49" charset="-122"/>
              </a:rPr>
              <a:t>(substrate)</a:t>
            </a:r>
            <a:r>
              <a:rPr kumimoji="1" lang="zh-CN" altLang="en-US" sz="2800" dirty="0">
                <a:latin typeface="Times New Roman" pitchFamily="18" charset="0"/>
                <a:ea typeface="黑体" pitchFamily="49" charset="-122"/>
              </a:rPr>
              <a:t>减少或产物增加的量来表示。</a:t>
            </a:r>
          </a:p>
          <a:p>
            <a:pPr marL="342900" indent="-342900" algn="just" eaLnBrk="1" hangingPunct="1">
              <a:lnSpc>
                <a:spcPct val="120000"/>
              </a:lnSpc>
              <a:spcBef>
                <a:spcPct val="20000"/>
              </a:spcBef>
              <a:buClr>
                <a:srgbClr val="0000FF"/>
              </a:buClr>
              <a:buFont typeface="Wingdings" pitchFamily="2" charset="2"/>
              <a:buChar char="n"/>
              <a:defRPr/>
            </a:pPr>
            <a:endParaRPr kumimoji="1" lang="zh-CN" altLang="en-US" sz="2800" dirty="0">
              <a:effectLst>
                <a:outerShdw blurRad="38100" dist="38100" dir="2700000" algn="tl">
                  <a:srgbClr val="C0C0C0"/>
                </a:outerShdw>
              </a:effectLst>
              <a:latin typeface="Times New Roman" pitchFamily="18" charset="0"/>
              <a:ea typeface="黑体" pitchFamily="49" charset="-122"/>
            </a:endParaRPr>
          </a:p>
          <a:p>
            <a:pPr marL="342900" indent="-342900" algn="just" eaLnBrk="1" hangingPunct="1">
              <a:lnSpc>
                <a:spcPct val="120000"/>
              </a:lnSpc>
              <a:spcBef>
                <a:spcPct val="20000"/>
              </a:spcBef>
              <a:buClr>
                <a:srgbClr val="0000FF"/>
              </a:buClr>
              <a:buFont typeface="Wingdings" pitchFamily="2" charset="2"/>
              <a:buChar char="n"/>
              <a:defRPr/>
            </a:pPr>
            <a:r>
              <a:rPr kumimoji="1" lang="zh-CN" altLang="en-US" sz="2800" dirty="0">
                <a:solidFill>
                  <a:srgbClr val="0000FF"/>
                </a:solidFill>
                <a:latin typeface="Times New Roman" pitchFamily="18" charset="0"/>
                <a:ea typeface="黑体" pitchFamily="49" charset="-122"/>
              </a:rPr>
              <a:t>反应速度取其</a:t>
            </a:r>
            <a:r>
              <a:rPr kumimoji="1" lang="zh-CN" altLang="en-US" sz="2800" dirty="0">
                <a:solidFill>
                  <a:srgbClr val="C00000"/>
                </a:solidFill>
                <a:latin typeface="Times New Roman" pitchFamily="18" charset="0"/>
                <a:ea typeface="黑体" pitchFamily="49" charset="-122"/>
              </a:rPr>
              <a:t>初速度： </a:t>
            </a:r>
            <a:r>
              <a:rPr kumimoji="1" lang="zh-CN" altLang="en-US" sz="2800" dirty="0">
                <a:solidFill>
                  <a:srgbClr val="0000FF"/>
                </a:solidFill>
                <a:latin typeface="Times New Roman" pitchFamily="18" charset="0"/>
                <a:ea typeface="黑体" pitchFamily="49" charset="-122"/>
              </a:rPr>
              <a:t> </a:t>
            </a:r>
            <a:r>
              <a:rPr kumimoji="1" lang="zh-CN" altLang="en-US" sz="2800" dirty="0">
                <a:latin typeface="Times New Roman" pitchFamily="18" charset="0"/>
                <a:ea typeface="黑体" pitchFamily="49" charset="-122"/>
              </a:rPr>
              <a:t>通常测反应开始</a:t>
            </a:r>
            <a:r>
              <a:rPr kumimoji="1" lang="en-US" altLang="zh-CN" sz="2800" dirty="0">
                <a:latin typeface="Times New Roman" pitchFamily="18" charset="0"/>
                <a:ea typeface="黑体" pitchFamily="49" charset="-122"/>
              </a:rPr>
              <a:t>60S</a:t>
            </a:r>
            <a:r>
              <a:rPr kumimoji="1" lang="zh-CN" altLang="en-US" sz="2800" dirty="0">
                <a:latin typeface="Times New Roman" pitchFamily="18" charset="0"/>
                <a:ea typeface="黑体" pitchFamily="49" charset="-122"/>
              </a:rPr>
              <a:t>以内的速度，即底物的消耗量很小（一般在</a:t>
            </a:r>
            <a:r>
              <a:rPr kumimoji="1" lang="en-US" altLang="zh-CN" sz="2800" dirty="0">
                <a:latin typeface="Times New Roman" pitchFamily="18" charset="0"/>
                <a:ea typeface="黑体" pitchFamily="49" charset="-122"/>
              </a:rPr>
              <a:t>5﹪</a:t>
            </a:r>
            <a:r>
              <a:rPr kumimoji="1" lang="zh-CN" altLang="en-US" sz="2800" dirty="0">
                <a:latin typeface="Times New Roman" pitchFamily="18" charset="0"/>
                <a:ea typeface="黑体" pitchFamily="49" charset="-122"/>
              </a:rPr>
              <a:t>以内）时的反应速度。</a:t>
            </a:r>
            <a:endParaRPr kumimoji="1" lang="zh-CN" altLang="en-US" sz="2800" dirty="0">
              <a:solidFill>
                <a:schemeClr val="tx2"/>
              </a:solidFill>
              <a:latin typeface="Times New Roman" pitchFamily="18" charset="0"/>
              <a:ea typeface="黑体" pitchFamily="49" charset="-122"/>
            </a:endParaRPr>
          </a:p>
        </p:txBody>
      </p:sp>
      <p:sp>
        <p:nvSpPr>
          <p:cNvPr id="196611" name="Rectangle 3">
            <a:extLst>
              <a:ext uri="{FF2B5EF4-FFF2-40B4-BE49-F238E27FC236}">
                <a16:creationId xmlns:a16="http://schemas.microsoft.com/office/drawing/2014/main" id="{62D601D6-C3E5-4F80-910E-6D1734A8697C}"/>
              </a:ext>
            </a:extLst>
          </p:cNvPr>
          <p:cNvSpPr>
            <a:spLocks noChangeArrowheads="1"/>
          </p:cNvSpPr>
          <p:nvPr/>
        </p:nvSpPr>
        <p:spPr bwMode="auto">
          <a:xfrm>
            <a:off x="2063750" y="1196976"/>
            <a:ext cx="8064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Clr>
                <a:srgbClr val="0000FF"/>
              </a:buClr>
              <a:buFont typeface="Wingdings" panose="05000000000000000000" pitchFamily="2" charset="2"/>
              <a:buChar char="n"/>
            </a:pPr>
            <a:r>
              <a:rPr kumimoji="1" lang="en-US" altLang="zh-CN" sz="2800">
                <a:solidFill>
                  <a:schemeClr val="tx2"/>
                </a:solidFill>
                <a:latin typeface="Times New Roman" panose="02020603050405020304" pitchFamily="18" charset="0"/>
                <a:ea typeface="黑体" panose="02010609060101010101" pitchFamily="49" charset="-122"/>
              </a:rPr>
              <a:t> </a:t>
            </a:r>
            <a:r>
              <a:rPr kumimoji="1" lang="zh-CN" altLang="en-US" sz="2800">
                <a:solidFill>
                  <a:schemeClr val="tx2"/>
                </a:solidFill>
                <a:latin typeface="Times New Roman" panose="02020603050405020304" pitchFamily="18" charset="0"/>
                <a:ea typeface="黑体" panose="02010609060101010101" pitchFamily="49" charset="-122"/>
              </a:rPr>
              <a:t>研究一种因素的影响时，其余各因素均恒定。</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77218">
                                            <p:txEl>
                                              <p:pRg st="0" end="0"/>
                                            </p:txEl>
                                          </p:spTgt>
                                        </p:tgtEl>
                                        <p:attrNameLst>
                                          <p:attrName>style.visibility</p:attrName>
                                        </p:attrNameLst>
                                      </p:cBhvr>
                                      <p:to>
                                        <p:strVal val="visible"/>
                                      </p:to>
                                    </p:set>
                                    <p:animEffect transition="in" filter="dissolve">
                                      <p:cBhvr>
                                        <p:cTn id="7" dur="500"/>
                                        <p:tgtEl>
                                          <p:spTgt spid="77721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77218">
                                            <p:txEl>
                                              <p:pRg st="2" end="2"/>
                                            </p:txEl>
                                          </p:spTgt>
                                        </p:tgtEl>
                                        <p:attrNameLst>
                                          <p:attrName>style.visibility</p:attrName>
                                        </p:attrNameLst>
                                      </p:cBhvr>
                                      <p:to>
                                        <p:strVal val="visible"/>
                                      </p:to>
                                    </p:set>
                                    <p:animEffect transition="in" filter="dissolve">
                                      <p:cBhvr>
                                        <p:cTn id="12" dur="500"/>
                                        <p:tgtEl>
                                          <p:spTgt spid="7772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78" name="Text Box 14">
            <a:extLst>
              <a:ext uri="{FF2B5EF4-FFF2-40B4-BE49-F238E27FC236}">
                <a16:creationId xmlns:a16="http://schemas.microsoft.com/office/drawing/2014/main" id="{F1A1B3D3-D4DB-4248-AE33-5DCC92D5D246}"/>
              </a:ext>
            </a:extLst>
          </p:cNvPr>
          <p:cNvSpPr txBox="1">
            <a:spLocks noChangeArrowheads="1"/>
          </p:cNvSpPr>
          <p:nvPr/>
        </p:nvSpPr>
        <p:spPr bwMode="auto">
          <a:xfrm>
            <a:off x="3620293" y="5959476"/>
            <a:ext cx="4951413" cy="508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10000"/>
              </a:lnSpc>
              <a:buClr>
                <a:schemeClr val="tx2"/>
              </a:buClr>
              <a:buSzPct val="75000"/>
              <a:buFont typeface="Wingdings" panose="05000000000000000000" pitchFamily="2" charset="2"/>
              <a:buNone/>
            </a:pPr>
            <a:r>
              <a:rPr lang="zh-CN" altLang="en-US" sz="2800" dirty="0">
                <a:solidFill>
                  <a:srgbClr val="0000CC"/>
                </a:solidFill>
                <a:latin typeface="黑体" panose="02010609060101010101" pitchFamily="49" charset="-122"/>
                <a:ea typeface="黑体" panose="02010609060101010101" pitchFamily="49" charset="-122"/>
              </a:rPr>
              <a:t>适合大多数酶促反应</a:t>
            </a:r>
            <a:r>
              <a:rPr lang="en-US" altLang="zh-CN" sz="2800" dirty="0">
                <a:solidFill>
                  <a:srgbClr val="0000CC"/>
                </a:solidFill>
                <a:latin typeface="黑体" panose="02010609060101010101" pitchFamily="49" charset="-122"/>
                <a:ea typeface="黑体" panose="02010609060101010101" pitchFamily="49" charset="-122"/>
              </a:rPr>
              <a:t> </a:t>
            </a:r>
            <a:endParaRPr kumimoji="1" lang="zh-CN" altLang="en-US" sz="2800" b="1" dirty="0">
              <a:solidFill>
                <a:srgbClr val="0000CC"/>
              </a:solidFill>
              <a:latin typeface="黑体" panose="02010609060101010101" pitchFamily="49" charset="-122"/>
              <a:ea typeface="黑体" panose="02010609060101010101" pitchFamily="49" charset="-122"/>
            </a:endParaRPr>
          </a:p>
        </p:txBody>
      </p:sp>
      <p:sp>
        <p:nvSpPr>
          <p:cNvPr id="198660" name="Rectangle 15">
            <a:extLst>
              <a:ext uri="{FF2B5EF4-FFF2-40B4-BE49-F238E27FC236}">
                <a16:creationId xmlns:a16="http://schemas.microsoft.com/office/drawing/2014/main" id="{5F67EEE0-8718-4497-AC2A-0119C7BE150D}"/>
              </a:ext>
            </a:extLst>
          </p:cNvPr>
          <p:cNvSpPr>
            <a:spLocks noChangeArrowheads="1"/>
          </p:cNvSpPr>
          <p:nvPr/>
        </p:nvSpPr>
        <p:spPr bwMode="auto">
          <a:xfrm>
            <a:off x="1992314" y="333375"/>
            <a:ext cx="79914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kumimoji="1" lang="zh-CN" altLang="zh-CN" sz="3600" b="1">
              <a:solidFill>
                <a:srgbClr val="FFCC66"/>
              </a:solidFill>
              <a:latin typeface="Times New Roman" panose="02020603050405020304" pitchFamily="18" charset="0"/>
              <a:ea typeface="黑体" panose="02010609060101010101" pitchFamily="49" charset="-122"/>
            </a:endParaRPr>
          </a:p>
        </p:txBody>
      </p:sp>
      <p:sp>
        <p:nvSpPr>
          <p:cNvPr id="198661" name="AutoShape 16">
            <a:extLst>
              <a:ext uri="{FF2B5EF4-FFF2-40B4-BE49-F238E27FC236}">
                <a16:creationId xmlns:a16="http://schemas.microsoft.com/office/drawing/2014/main" id="{1DC42027-18E9-45C5-BD04-EA6B4D964F1E}"/>
              </a:ext>
            </a:extLst>
          </p:cNvPr>
          <p:cNvSpPr>
            <a:spLocks noChangeArrowheads="1"/>
          </p:cNvSpPr>
          <p:nvPr/>
        </p:nvSpPr>
        <p:spPr bwMode="auto">
          <a:xfrm>
            <a:off x="2782888" y="677863"/>
            <a:ext cx="6337300" cy="6477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dirty="0">
                <a:solidFill>
                  <a:srgbClr val="C00000"/>
                </a:solidFill>
                <a:latin typeface="Times New Roman" panose="02020603050405020304" pitchFamily="18" charset="0"/>
                <a:ea typeface="黑体" panose="02010609060101010101" pitchFamily="49" charset="-122"/>
              </a:rPr>
              <a:t>一、底物浓度对反应速度的影响呈</a:t>
            </a:r>
            <a:r>
              <a:rPr kumimoji="1" lang="zh-CN" altLang="en-US" b="1" u="sng" dirty="0">
                <a:solidFill>
                  <a:srgbClr val="C00000"/>
                </a:solidFill>
                <a:latin typeface="Times New Roman" panose="02020603050405020304" pitchFamily="18" charset="0"/>
                <a:ea typeface="黑体" panose="02010609060101010101" pitchFamily="49" charset="-122"/>
              </a:rPr>
              <a:t>矩形双曲线</a:t>
            </a:r>
          </a:p>
        </p:txBody>
      </p:sp>
      <p:pic>
        <p:nvPicPr>
          <p:cNvPr id="4" name="图片 3">
            <a:extLst>
              <a:ext uri="{FF2B5EF4-FFF2-40B4-BE49-F238E27FC236}">
                <a16:creationId xmlns:a16="http://schemas.microsoft.com/office/drawing/2014/main" id="{91F9FD56-30CC-3CDB-43A9-5D972A2C0630}"/>
              </a:ext>
            </a:extLst>
          </p:cNvPr>
          <p:cNvPicPr>
            <a:picLocks noChangeAspect="1"/>
          </p:cNvPicPr>
          <p:nvPr/>
        </p:nvPicPr>
        <p:blipFill>
          <a:blip r:embed="rId3"/>
          <a:stretch>
            <a:fillRect/>
          </a:stretch>
        </p:blipFill>
        <p:spPr>
          <a:xfrm>
            <a:off x="3372191" y="1200429"/>
            <a:ext cx="5447619" cy="4457143"/>
          </a:xfrm>
          <a:prstGeom prst="rect">
            <a:avLst/>
          </a:prstGeom>
        </p:spPr>
      </p:pic>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2338" name="Text Box 2">
            <a:extLst>
              <a:ext uri="{FF2B5EF4-FFF2-40B4-BE49-F238E27FC236}">
                <a16:creationId xmlns:a16="http://schemas.microsoft.com/office/drawing/2014/main" id="{08025D1F-AEBC-4232-99C7-4DC5CF6D2E6A}"/>
              </a:ext>
            </a:extLst>
          </p:cNvPr>
          <p:cNvSpPr txBox="1">
            <a:spLocks noChangeArrowheads="1"/>
          </p:cNvSpPr>
          <p:nvPr/>
        </p:nvSpPr>
        <p:spPr bwMode="auto">
          <a:xfrm>
            <a:off x="3089275" y="4508501"/>
            <a:ext cx="184150" cy="701675"/>
          </a:xfrm>
          <a:prstGeom prst="rect">
            <a:avLst/>
          </a:prstGeom>
          <a:noFill/>
          <a:ln w="9525">
            <a:noFill/>
            <a:miter lim="800000"/>
            <a:headEnd/>
            <a:tailEnd/>
          </a:ln>
          <a:effectLst/>
        </p:spPr>
        <p:txBody>
          <a:bodyPr wrap="none">
            <a:spAutoFit/>
          </a:bodyPr>
          <a:lstStyle/>
          <a:p>
            <a:pPr algn="ctr" eaLnBrk="1" hangingPunct="1">
              <a:defRPr/>
            </a:pPr>
            <a:endParaRPr kumimoji="1" lang="zh-CN" altLang="zh-CN" sz="4000" u="sng">
              <a:effectLst>
                <a:outerShdw blurRad="38100" dist="38100" dir="2700000" algn="tl">
                  <a:srgbClr val="C0C0C0"/>
                </a:outerShdw>
              </a:effectLst>
              <a:latin typeface="Times New Roman" pitchFamily="18" charset="0"/>
              <a:ea typeface="黑体" pitchFamily="49" charset="-122"/>
            </a:endParaRPr>
          </a:p>
        </p:txBody>
      </p:sp>
      <p:sp>
        <p:nvSpPr>
          <p:cNvPr id="782339" name="Text Box 3">
            <a:extLst>
              <a:ext uri="{FF2B5EF4-FFF2-40B4-BE49-F238E27FC236}">
                <a16:creationId xmlns:a16="http://schemas.microsoft.com/office/drawing/2014/main" id="{29789D50-E329-4884-AE14-D3EB7E1216E1}"/>
              </a:ext>
            </a:extLst>
          </p:cNvPr>
          <p:cNvSpPr txBox="1">
            <a:spLocks noChangeArrowheads="1"/>
          </p:cNvSpPr>
          <p:nvPr/>
        </p:nvSpPr>
        <p:spPr bwMode="auto">
          <a:xfrm>
            <a:off x="2743200" y="1"/>
            <a:ext cx="184150" cy="701675"/>
          </a:xfrm>
          <a:prstGeom prst="rect">
            <a:avLst/>
          </a:prstGeom>
          <a:noFill/>
          <a:ln w="9525">
            <a:noFill/>
            <a:miter lim="800000"/>
            <a:headEnd/>
            <a:tailEnd/>
          </a:ln>
          <a:effectLst/>
        </p:spPr>
        <p:txBody>
          <a:bodyPr wrap="none">
            <a:spAutoFit/>
          </a:bodyPr>
          <a:lstStyle/>
          <a:p>
            <a:pPr algn="ctr" eaLnBrk="1" hangingPunct="1">
              <a:defRPr/>
            </a:pPr>
            <a:endParaRPr kumimoji="1" lang="zh-CN" altLang="zh-CN" sz="4000" u="sng">
              <a:effectLst>
                <a:outerShdw blurRad="38100" dist="38100" dir="2700000" algn="tl">
                  <a:srgbClr val="C0C0C0"/>
                </a:outerShdw>
              </a:effectLst>
              <a:latin typeface="Times New Roman" pitchFamily="18" charset="0"/>
              <a:ea typeface="黑体" pitchFamily="49" charset="-122"/>
            </a:endParaRPr>
          </a:p>
        </p:txBody>
      </p:sp>
      <p:sp>
        <p:nvSpPr>
          <p:cNvPr id="200708" name="Text Box 4">
            <a:extLst>
              <a:ext uri="{FF2B5EF4-FFF2-40B4-BE49-F238E27FC236}">
                <a16:creationId xmlns:a16="http://schemas.microsoft.com/office/drawing/2014/main" id="{1ED468FD-550F-4935-BCC1-7D8319A28452}"/>
              </a:ext>
            </a:extLst>
          </p:cNvPr>
          <p:cNvSpPr txBox="1">
            <a:spLocks noChangeArrowheads="1"/>
          </p:cNvSpPr>
          <p:nvPr/>
        </p:nvSpPr>
        <p:spPr bwMode="auto">
          <a:xfrm>
            <a:off x="2597150" y="4657725"/>
            <a:ext cx="7747000" cy="656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当</a:t>
            </a:r>
            <a:r>
              <a:rPr kumimoji="1" lang="zh-CN" altLang="en-US" sz="2800" dirty="0">
                <a:solidFill>
                  <a:srgbClr val="0000FF"/>
                </a:solidFill>
                <a:latin typeface="Times New Roman" panose="02020603050405020304" pitchFamily="18" charset="0"/>
                <a:ea typeface="黑体" panose="02010609060101010101" pitchFamily="49" charset="-122"/>
              </a:rPr>
              <a:t>底物浓度较低</a:t>
            </a: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时，反应速度与底物浓度成</a:t>
            </a:r>
            <a:r>
              <a:rPr kumimoji="1" lang="zh-CN" altLang="en-US" sz="2800" dirty="0">
                <a:solidFill>
                  <a:srgbClr val="0000FF"/>
                </a:solidFill>
                <a:latin typeface="Times New Roman" panose="02020603050405020304" pitchFamily="18" charset="0"/>
                <a:ea typeface="黑体" panose="02010609060101010101" pitchFamily="49" charset="-122"/>
              </a:rPr>
              <a:t>正比</a:t>
            </a:r>
          </a:p>
        </p:txBody>
      </p:sp>
      <p:sp>
        <p:nvSpPr>
          <p:cNvPr id="782341" name="Text Box 5">
            <a:extLst>
              <a:ext uri="{FF2B5EF4-FFF2-40B4-BE49-F238E27FC236}">
                <a16:creationId xmlns:a16="http://schemas.microsoft.com/office/drawing/2014/main" id="{96A9EB51-CA4F-4613-9A29-987D3EA7F6F7}"/>
              </a:ext>
            </a:extLst>
          </p:cNvPr>
          <p:cNvSpPr txBox="1">
            <a:spLocks noChangeArrowheads="1"/>
          </p:cNvSpPr>
          <p:nvPr/>
        </p:nvSpPr>
        <p:spPr bwMode="auto">
          <a:xfrm>
            <a:off x="1943100" y="5607050"/>
            <a:ext cx="38306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5963">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ea typeface="黑体" panose="02010609060101010101" pitchFamily="49" charset="-122"/>
              </a:rPr>
              <a:t>一级反应</a:t>
            </a:r>
          </a:p>
        </p:txBody>
      </p:sp>
      <p:pic>
        <p:nvPicPr>
          <p:cNvPr id="782342" name="Picture 6" descr="低浓度">
            <a:extLst>
              <a:ext uri="{FF2B5EF4-FFF2-40B4-BE49-F238E27FC236}">
                <a16:creationId xmlns:a16="http://schemas.microsoft.com/office/drawing/2014/main" id="{21278F1F-C678-44F2-8FEC-BE118B38844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9572" b="2032"/>
          <a:stretch>
            <a:fillRect/>
          </a:stretch>
        </p:blipFill>
        <p:spPr bwMode="auto">
          <a:xfrm>
            <a:off x="1847851" y="765176"/>
            <a:ext cx="4105275" cy="331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0711" name="Group 8">
            <a:extLst>
              <a:ext uri="{FF2B5EF4-FFF2-40B4-BE49-F238E27FC236}">
                <a16:creationId xmlns:a16="http://schemas.microsoft.com/office/drawing/2014/main" id="{070C58B7-4D9F-4B34-8730-59E553D1CCE2}"/>
              </a:ext>
            </a:extLst>
          </p:cNvPr>
          <p:cNvGrpSpPr>
            <a:grpSpLocks/>
          </p:cNvGrpSpPr>
          <p:nvPr/>
        </p:nvGrpSpPr>
        <p:grpSpPr bwMode="auto">
          <a:xfrm>
            <a:off x="5273675" y="836613"/>
            <a:ext cx="4637088" cy="3560762"/>
            <a:chOff x="204" y="1162"/>
            <a:chExt cx="2551" cy="2156"/>
          </a:xfrm>
        </p:grpSpPr>
        <p:sp>
          <p:nvSpPr>
            <p:cNvPr id="200714" name="Freeform 9">
              <a:extLst>
                <a:ext uri="{FF2B5EF4-FFF2-40B4-BE49-F238E27FC236}">
                  <a16:creationId xmlns:a16="http://schemas.microsoft.com/office/drawing/2014/main" id="{13774A4F-D664-43C2-95CA-170D2C272B83}"/>
                </a:ext>
              </a:extLst>
            </p:cNvPr>
            <p:cNvSpPr>
              <a:spLocks/>
            </p:cNvSpPr>
            <p:nvPr/>
          </p:nvSpPr>
          <p:spPr bwMode="auto">
            <a:xfrm>
              <a:off x="1000" y="1839"/>
              <a:ext cx="1510" cy="954"/>
            </a:xfrm>
            <a:custGeom>
              <a:avLst/>
              <a:gdLst>
                <a:gd name="T0" fmla="*/ 0 w 1344"/>
                <a:gd name="T1" fmla="*/ 4344805 h 864"/>
                <a:gd name="T2" fmla="*/ 6471613 w 1344"/>
                <a:gd name="T3" fmla="*/ 722594 h 864"/>
                <a:gd name="T4" fmla="*/ 30086756 w 1344"/>
                <a:gd name="T5" fmla="*/ 0 h 864"/>
                <a:gd name="T6" fmla="*/ 0 60000 65536"/>
                <a:gd name="T7" fmla="*/ 0 60000 65536"/>
                <a:gd name="T8" fmla="*/ 0 60000 65536"/>
                <a:gd name="T9" fmla="*/ 0 w 1344"/>
                <a:gd name="T10" fmla="*/ 0 h 864"/>
                <a:gd name="T11" fmla="*/ 1344 w 1344"/>
                <a:gd name="T12" fmla="*/ 864 h 864"/>
              </a:gdLst>
              <a:ahLst/>
              <a:cxnLst>
                <a:cxn ang="T6">
                  <a:pos x="T0" y="T1"/>
                </a:cxn>
                <a:cxn ang="T7">
                  <a:pos x="T2" y="T3"/>
                </a:cxn>
                <a:cxn ang="T8">
                  <a:pos x="T4" y="T5"/>
                </a:cxn>
              </a:cxnLst>
              <a:rect l="T9" t="T10" r="T11" b="T12"/>
              <a:pathLst>
                <a:path w="1344" h="864">
                  <a:moveTo>
                    <a:pt x="0" y="864"/>
                  </a:moveTo>
                  <a:cubicBezTo>
                    <a:pt x="32" y="576"/>
                    <a:pt x="64" y="288"/>
                    <a:pt x="288" y="144"/>
                  </a:cubicBezTo>
                  <a:cubicBezTo>
                    <a:pt x="512" y="0"/>
                    <a:pt x="1176" y="24"/>
                    <a:pt x="1344" y="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0715" name="Line 10">
              <a:extLst>
                <a:ext uri="{FF2B5EF4-FFF2-40B4-BE49-F238E27FC236}">
                  <a16:creationId xmlns:a16="http://schemas.microsoft.com/office/drawing/2014/main" id="{0CF2B182-2C78-4ED7-BF24-727E60E1585E}"/>
                </a:ext>
              </a:extLst>
            </p:cNvPr>
            <p:cNvSpPr>
              <a:spLocks noChangeShapeType="1"/>
            </p:cNvSpPr>
            <p:nvPr/>
          </p:nvSpPr>
          <p:spPr bwMode="auto">
            <a:xfrm>
              <a:off x="1022" y="1782"/>
              <a:ext cx="1495"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347" name="Text Box 11">
              <a:extLst>
                <a:ext uri="{FF2B5EF4-FFF2-40B4-BE49-F238E27FC236}">
                  <a16:creationId xmlns:a16="http://schemas.microsoft.com/office/drawing/2014/main" id="{E0389905-CDDB-4249-BB89-4B901DA280DB}"/>
                </a:ext>
              </a:extLst>
            </p:cNvPr>
            <p:cNvSpPr txBox="1">
              <a:spLocks noChangeArrowheads="1"/>
            </p:cNvSpPr>
            <p:nvPr/>
          </p:nvSpPr>
          <p:spPr bwMode="auto">
            <a:xfrm>
              <a:off x="302" y="1631"/>
              <a:ext cx="101" cy="213"/>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endParaRPr kumimoji="1" lang="zh-CN" altLang="zh-CN" sz="2800" b="1" baseline="-25000">
                <a:effectLst>
                  <a:outerShdw blurRad="38100" dist="38100" dir="2700000" algn="tl">
                    <a:srgbClr val="C0C0C0"/>
                  </a:outerShdw>
                </a:effectLst>
                <a:latin typeface="Times New Roman" pitchFamily="18" charset="0"/>
                <a:ea typeface="黑体" pitchFamily="49" charset="-122"/>
              </a:endParaRPr>
            </a:p>
          </p:txBody>
        </p:sp>
        <p:sp>
          <p:nvSpPr>
            <p:cNvPr id="200717" name="Line 12">
              <a:extLst>
                <a:ext uri="{FF2B5EF4-FFF2-40B4-BE49-F238E27FC236}">
                  <a16:creationId xmlns:a16="http://schemas.microsoft.com/office/drawing/2014/main" id="{EC0839FD-22E9-4A41-99E3-D2D62E7281E5}"/>
                </a:ext>
              </a:extLst>
            </p:cNvPr>
            <p:cNvSpPr>
              <a:spLocks noChangeShapeType="1"/>
            </p:cNvSpPr>
            <p:nvPr/>
          </p:nvSpPr>
          <p:spPr bwMode="auto">
            <a:xfrm>
              <a:off x="494" y="2805"/>
              <a:ext cx="219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0718" name="Line 13">
              <a:extLst>
                <a:ext uri="{FF2B5EF4-FFF2-40B4-BE49-F238E27FC236}">
                  <a16:creationId xmlns:a16="http://schemas.microsoft.com/office/drawing/2014/main" id="{253F2495-BE5A-4E1F-8C28-608617A78B75}"/>
                </a:ext>
              </a:extLst>
            </p:cNvPr>
            <p:cNvSpPr>
              <a:spLocks noChangeShapeType="1"/>
            </p:cNvSpPr>
            <p:nvPr/>
          </p:nvSpPr>
          <p:spPr bwMode="auto">
            <a:xfrm flipV="1">
              <a:off x="988" y="1213"/>
              <a:ext cx="0" cy="210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2350" name="Text Box 14">
              <a:extLst>
                <a:ext uri="{FF2B5EF4-FFF2-40B4-BE49-F238E27FC236}">
                  <a16:creationId xmlns:a16="http://schemas.microsoft.com/office/drawing/2014/main" id="{28BA3F9D-2595-4372-A811-A05480719B7F}"/>
                </a:ext>
              </a:extLst>
            </p:cNvPr>
            <p:cNvSpPr txBox="1">
              <a:spLocks noChangeArrowheads="1"/>
            </p:cNvSpPr>
            <p:nvPr/>
          </p:nvSpPr>
          <p:spPr bwMode="auto">
            <a:xfrm>
              <a:off x="657" y="1162"/>
              <a:ext cx="243" cy="288"/>
            </a:xfrm>
            <a:prstGeom prst="rect">
              <a:avLst/>
            </a:prstGeom>
            <a:noFill/>
            <a:ln w="9525">
              <a:noFill/>
              <a:miter lim="800000"/>
              <a:headEnd/>
              <a:tailEnd/>
            </a:ln>
            <a:effec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V</a:t>
              </a:r>
            </a:p>
          </p:txBody>
        </p:sp>
        <p:sp>
          <p:nvSpPr>
            <p:cNvPr id="782351" name="Text Box 15">
              <a:extLst>
                <a:ext uri="{FF2B5EF4-FFF2-40B4-BE49-F238E27FC236}">
                  <a16:creationId xmlns:a16="http://schemas.microsoft.com/office/drawing/2014/main" id="{004594EE-E132-46B9-A2FE-0366EB9467CB}"/>
                </a:ext>
              </a:extLst>
            </p:cNvPr>
            <p:cNvSpPr txBox="1">
              <a:spLocks noChangeArrowheads="1"/>
            </p:cNvSpPr>
            <p:nvPr/>
          </p:nvSpPr>
          <p:spPr bwMode="auto">
            <a:xfrm>
              <a:off x="2414" y="2829"/>
              <a:ext cx="341" cy="288"/>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effectLst>
                    <a:outerShdw blurRad="38100" dist="38100" dir="2700000" algn="tl">
                      <a:srgbClr val="C0C0C0"/>
                    </a:outerShdw>
                  </a:effectLst>
                  <a:latin typeface="Times New Roman" pitchFamily="18" charset="0"/>
                  <a:ea typeface="黑体" pitchFamily="49" charset="-122"/>
                </a:rPr>
                <a:t>[S]</a:t>
              </a:r>
            </a:p>
          </p:txBody>
        </p:sp>
        <p:sp>
          <p:nvSpPr>
            <p:cNvPr id="782352" name="Text Box 16">
              <a:extLst>
                <a:ext uri="{FF2B5EF4-FFF2-40B4-BE49-F238E27FC236}">
                  <a16:creationId xmlns:a16="http://schemas.microsoft.com/office/drawing/2014/main" id="{68E7572E-3204-48CC-958D-99D5B8D2D00A}"/>
                </a:ext>
              </a:extLst>
            </p:cNvPr>
            <p:cNvSpPr txBox="1">
              <a:spLocks noChangeArrowheads="1"/>
            </p:cNvSpPr>
            <p:nvPr/>
          </p:nvSpPr>
          <p:spPr bwMode="auto">
            <a:xfrm>
              <a:off x="1020" y="2892"/>
              <a:ext cx="101" cy="211"/>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endParaRPr kumimoji="1" lang="zh-CN" altLang="zh-CN" sz="2800" b="1" baseline="-25000">
                <a:solidFill>
                  <a:schemeClr val="bg1"/>
                </a:solidFill>
                <a:effectLst>
                  <a:outerShdw blurRad="38100" dist="38100" dir="2700000" algn="tl">
                    <a:srgbClr val="C0C0C0"/>
                  </a:outerShdw>
                </a:effectLst>
                <a:latin typeface="Times New Roman" pitchFamily="18" charset="0"/>
                <a:ea typeface="黑体" pitchFamily="49" charset="-122"/>
              </a:endParaRPr>
            </a:p>
          </p:txBody>
        </p:sp>
        <p:sp>
          <p:nvSpPr>
            <p:cNvPr id="782354" name="Text Box 18">
              <a:extLst>
                <a:ext uri="{FF2B5EF4-FFF2-40B4-BE49-F238E27FC236}">
                  <a16:creationId xmlns:a16="http://schemas.microsoft.com/office/drawing/2014/main" id="{F7F8CF99-815A-4715-ABD4-8F6A2B4438A6}"/>
                </a:ext>
              </a:extLst>
            </p:cNvPr>
            <p:cNvSpPr txBox="1">
              <a:spLocks noChangeArrowheads="1"/>
            </p:cNvSpPr>
            <p:nvPr/>
          </p:nvSpPr>
          <p:spPr bwMode="auto">
            <a:xfrm>
              <a:off x="204" y="2160"/>
              <a:ext cx="772" cy="288"/>
            </a:xfrm>
            <a:prstGeom prst="rect">
              <a:avLst/>
            </a:prstGeom>
            <a:noFill/>
            <a:ln w="9525">
              <a:noFill/>
              <a:miter lim="800000"/>
              <a:headEnd/>
              <a:tailEnd/>
            </a:ln>
            <a:effectLst/>
          </p:spPr>
          <p:txBody>
            <a:bodyPr>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effectLst>
                    <a:outerShdw blurRad="38100" dist="38100" dir="2700000" algn="tl">
                      <a:srgbClr val="C0C0C0"/>
                    </a:outerShdw>
                  </a:effectLst>
                  <a:latin typeface="Times New Roman" pitchFamily="18" charset="0"/>
                  <a:ea typeface="黑体" pitchFamily="49" charset="-122"/>
                </a:rPr>
                <a:t>    </a:t>
              </a:r>
            </a:p>
          </p:txBody>
        </p:sp>
      </p:grpSp>
      <p:sp>
        <p:nvSpPr>
          <p:cNvPr id="200712" name="Rectangle 20">
            <a:extLst>
              <a:ext uri="{FF2B5EF4-FFF2-40B4-BE49-F238E27FC236}">
                <a16:creationId xmlns:a16="http://schemas.microsoft.com/office/drawing/2014/main" id="{7DE79751-4714-49A1-8244-241C5F4D112E}"/>
              </a:ext>
            </a:extLst>
          </p:cNvPr>
          <p:cNvSpPr>
            <a:spLocks noChangeArrowheads="1"/>
          </p:cNvSpPr>
          <p:nvPr/>
        </p:nvSpPr>
        <p:spPr bwMode="auto">
          <a:xfrm>
            <a:off x="6697663" y="1884363"/>
            <a:ext cx="119062" cy="1657350"/>
          </a:xfrm>
          <a:prstGeom prst="rect">
            <a:avLst/>
          </a:prstGeom>
          <a:solidFill>
            <a:schemeClr val="accent1">
              <a:alpha val="47842"/>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782357" name="Rectangle 21">
            <a:extLst>
              <a:ext uri="{FF2B5EF4-FFF2-40B4-BE49-F238E27FC236}">
                <a16:creationId xmlns:a16="http://schemas.microsoft.com/office/drawing/2014/main" id="{5744BAF0-697C-49FB-9511-1799F9A42A3A}"/>
              </a:ext>
            </a:extLst>
          </p:cNvPr>
          <p:cNvSpPr>
            <a:spLocks noChangeArrowheads="1"/>
          </p:cNvSpPr>
          <p:nvPr/>
        </p:nvSpPr>
        <p:spPr bwMode="auto">
          <a:xfrm>
            <a:off x="8890001" y="1217614"/>
            <a:ext cx="981359" cy="584775"/>
          </a:xfrm>
          <a:prstGeom prst="rect">
            <a:avLst/>
          </a:prstGeom>
          <a:noFill/>
          <a:ln w="9525">
            <a:noFill/>
            <a:miter lim="800000"/>
            <a:headEnd/>
            <a:tailEnd/>
          </a:ln>
          <a:effectLst/>
        </p:spPr>
        <p:txBody>
          <a:bodyPr wrap="none">
            <a:spAutoFit/>
          </a:bodyPr>
          <a:lstStyle/>
          <a:p>
            <a:pPr eaLnBrk="1" hangingPunct="1">
              <a:defRPr/>
            </a:pPr>
            <a:r>
              <a:rPr kumimoji="1" lang="en-US" altLang="zh-CN" sz="3200" b="1">
                <a:effectLst>
                  <a:outerShdw blurRad="38100" dist="38100" dir="2700000" algn="tl">
                    <a:srgbClr val="C0C0C0"/>
                  </a:outerShdw>
                </a:effectLst>
                <a:latin typeface="Times New Roman" pitchFamily="18" charset="0"/>
                <a:ea typeface="黑体" pitchFamily="49" charset="-122"/>
              </a:rPr>
              <a:t>V</a:t>
            </a:r>
            <a:r>
              <a:rPr kumimoji="1" lang="en-US" altLang="zh-CN" sz="3200" b="1" baseline="-25000">
                <a:effectLst>
                  <a:outerShdw blurRad="38100" dist="38100" dir="2700000" algn="tl">
                    <a:srgbClr val="C0C0C0"/>
                  </a:outerShdw>
                </a:effectLst>
                <a:latin typeface="Times New Roman" pitchFamily="18" charset="0"/>
                <a:ea typeface="黑体" pitchFamily="49" charset="-122"/>
              </a:rPr>
              <a:t>max</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82342"/>
                                        </p:tgtEl>
                                        <p:attrNameLst>
                                          <p:attrName>style.visibility</p:attrName>
                                        </p:attrNameLst>
                                      </p:cBhvr>
                                      <p:to>
                                        <p:strVal val="visible"/>
                                      </p:to>
                                    </p:set>
                                    <p:animEffect transition="in" filter="dissolve">
                                      <p:cBhvr>
                                        <p:cTn id="7" dur="500"/>
                                        <p:tgtEl>
                                          <p:spTgt spid="782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4386" name="Text Box 2">
            <a:extLst>
              <a:ext uri="{FF2B5EF4-FFF2-40B4-BE49-F238E27FC236}">
                <a16:creationId xmlns:a16="http://schemas.microsoft.com/office/drawing/2014/main" id="{511017E2-189E-4665-B032-6F23DBF1C0EB}"/>
              </a:ext>
            </a:extLst>
          </p:cNvPr>
          <p:cNvSpPr txBox="1">
            <a:spLocks noChangeArrowheads="1"/>
          </p:cNvSpPr>
          <p:nvPr/>
        </p:nvSpPr>
        <p:spPr bwMode="auto">
          <a:xfrm>
            <a:off x="3770313" y="4440238"/>
            <a:ext cx="184150" cy="519112"/>
          </a:xfrm>
          <a:prstGeom prst="rect">
            <a:avLst/>
          </a:prstGeom>
          <a:noFill/>
          <a:ln w="9525">
            <a:noFill/>
            <a:miter lim="800000"/>
            <a:headEnd/>
            <a:tailEnd/>
          </a:ln>
          <a:effectLst/>
        </p:spPr>
        <p:txBody>
          <a:bodyPr wrap="none">
            <a:spAutoFit/>
          </a:bodyPr>
          <a:lstStyle/>
          <a:p>
            <a:pPr algn="ctr" eaLnBrk="1" hangingPunct="1">
              <a:defRPr/>
            </a:pPr>
            <a:endParaRPr kumimoji="1" lang="zh-CN" altLang="zh-CN" sz="2800" u="sng">
              <a:effectLst>
                <a:outerShdw blurRad="38100" dist="38100" dir="2700000" algn="tl">
                  <a:srgbClr val="C0C0C0"/>
                </a:outerShdw>
              </a:effectLst>
              <a:latin typeface="Times New Roman" pitchFamily="18" charset="0"/>
              <a:ea typeface="黑体" pitchFamily="49" charset="-122"/>
            </a:endParaRPr>
          </a:p>
        </p:txBody>
      </p:sp>
      <p:sp>
        <p:nvSpPr>
          <p:cNvPr id="202755" name="Text Box 3">
            <a:extLst>
              <a:ext uri="{FF2B5EF4-FFF2-40B4-BE49-F238E27FC236}">
                <a16:creationId xmlns:a16="http://schemas.microsoft.com/office/drawing/2014/main" id="{72F23E42-A638-4714-B2BB-9DD9FF755EBC}"/>
              </a:ext>
            </a:extLst>
          </p:cNvPr>
          <p:cNvSpPr txBox="1">
            <a:spLocks noChangeArrowheads="1"/>
          </p:cNvSpPr>
          <p:nvPr/>
        </p:nvSpPr>
        <p:spPr bwMode="auto">
          <a:xfrm>
            <a:off x="2192338" y="4635501"/>
            <a:ext cx="8475662" cy="130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随着底物浓度的增高，反应速度</a:t>
            </a:r>
            <a:r>
              <a:rPr kumimoji="1" lang="zh-CN" altLang="en-US" sz="2800" dirty="0">
                <a:solidFill>
                  <a:srgbClr val="0000FF"/>
                </a:solidFill>
                <a:latin typeface="Times New Roman" panose="02020603050405020304" pitchFamily="18" charset="0"/>
                <a:ea typeface="黑体" panose="02010609060101010101" pitchFamily="49" charset="-122"/>
              </a:rPr>
              <a:t>非正比例加速</a:t>
            </a:r>
          </a:p>
          <a:p>
            <a:pPr eaLnBrk="1" hangingPunct="1">
              <a:lnSpc>
                <a:spcPct val="150000"/>
              </a:lnSpc>
              <a:spcBef>
                <a:spcPct val="0"/>
              </a:spcBef>
              <a:buFontTx/>
              <a:buNone/>
            </a:pPr>
            <a:endParaRPr kumimoji="1" lang="zh-CN" altLang="en-US" sz="2800" u="sng" dirty="0">
              <a:solidFill>
                <a:schemeClr val="tx1">
                  <a:lumMod val="95000"/>
                  <a:lumOff val="5000"/>
                </a:schemeClr>
              </a:solidFill>
              <a:latin typeface="Times New Roman" panose="02020603050405020304" pitchFamily="18" charset="0"/>
              <a:ea typeface="黑体" panose="02010609060101010101" pitchFamily="49" charset="-122"/>
            </a:endParaRPr>
          </a:p>
        </p:txBody>
      </p:sp>
      <p:sp>
        <p:nvSpPr>
          <p:cNvPr id="784388" name="Text Box 4">
            <a:extLst>
              <a:ext uri="{FF2B5EF4-FFF2-40B4-BE49-F238E27FC236}">
                <a16:creationId xmlns:a16="http://schemas.microsoft.com/office/drawing/2014/main" id="{FFF6ABA6-1890-45DF-A821-E4D3FDA54E0F}"/>
              </a:ext>
            </a:extLst>
          </p:cNvPr>
          <p:cNvSpPr txBox="1">
            <a:spLocks noChangeArrowheads="1"/>
          </p:cNvSpPr>
          <p:nvPr/>
        </p:nvSpPr>
        <p:spPr bwMode="auto">
          <a:xfrm>
            <a:off x="1455738" y="5632451"/>
            <a:ext cx="6475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5963">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ea typeface="黑体" panose="02010609060101010101" pitchFamily="49" charset="-122"/>
              </a:rPr>
              <a:t>混合级反应</a:t>
            </a:r>
          </a:p>
        </p:txBody>
      </p:sp>
      <p:pic>
        <p:nvPicPr>
          <p:cNvPr id="784389" name="Picture 5" descr="中等浓度">
            <a:extLst>
              <a:ext uri="{FF2B5EF4-FFF2-40B4-BE49-F238E27FC236}">
                <a16:creationId xmlns:a16="http://schemas.microsoft.com/office/drawing/2014/main" id="{E7AC11DC-0ADA-4B6B-A2E5-ECE5FF1E432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9489"/>
          <a:stretch>
            <a:fillRect/>
          </a:stretch>
        </p:blipFill>
        <p:spPr bwMode="auto">
          <a:xfrm>
            <a:off x="1992314" y="765175"/>
            <a:ext cx="4249737" cy="343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2758" name="Group 6">
            <a:extLst>
              <a:ext uri="{FF2B5EF4-FFF2-40B4-BE49-F238E27FC236}">
                <a16:creationId xmlns:a16="http://schemas.microsoft.com/office/drawing/2014/main" id="{2C113F93-7B22-4063-B100-CAA1E35D9B06}"/>
              </a:ext>
            </a:extLst>
          </p:cNvPr>
          <p:cNvGrpSpPr>
            <a:grpSpLocks/>
          </p:cNvGrpSpPr>
          <p:nvPr/>
        </p:nvGrpSpPr>
        <p:grpSpPr bwMode="auto">
          <a:xfrm>
            <a:off x="5375275" y="677863"/>
            <a:ext cx="4637088" cy="3560762"/>
            <a:chOff x="2426" y="346"/>
            <a:chExt cx="2921" cy="2243"/>
          </a:xfrm>
        </p:grpSpPr>
        <p:grpSp>
          <p:nvGrpSpPr>
            <p:cNvPr id="202759" name="Group 7">
              <a:extLst>
                <a:ext uri="{FF2B5EF4-FFF2-40B4-BE49-F238E27FC236}">
                  <a16:creationId xmlns:a16="http://schemas.microsoft.com/office/drawing/2014/main" id="{D5259248-1ED2-4BC8-B26E-E49ECBCD3BC2}"/>
                </a:ext>
              </a:extLst>
            </p:cNvPr>
            <p:cNvGrpSpPr>
              <a:grpSpLocks/>
            </p:cNvGrpSpPr>
            <p:nvPr/>
          </p:nvGrpSpPr>
          <p:grpSpPr bwMode="auto">
            <a:xfrm>
              <a:off x="2426" y="346"/>
              <a:ext cx="2921" cy="2243"/>
              <a:chOff x="204" y="1162"/>
              <a:chExt cx="2551" cy="2156"/>
            </a:xfrm>
          </p:grpSpPr>
          <p:sp>
            <p:nvSpPr>
              <p:cNvPr id="202762" name="Freeform 8">
                <a:extLst>
                  <a:ext uri="{FF2B5EF4-FFF2-40B4-BE49-F238E27FC236}">
                    <a16:creationId xmlns:a16="http://schemas.microsoft.com/office/drawing/2014/main" id="{9F769758-FF5E-4558-9A6E-D787E9948C78}"/>
                  </a:ext>
                </a:extLst>
              </p:cNvPr>
              <p:cNvSpPr>
                <a:spLocks/>
              </p:cNvSpPr>
              <p:nvPr/>
            </p:nvSpPr>
            <p:spPr bwMode="auto">
              <a:xfrm>
                <a:off x="997" y="1842"/>
                <a:ext cx="1510" cy="954"/>
              </a:xfrm>
              <a:custGeom>
                <a:avLst/>
                <a:gdLst>
                  <a:gd name="T0" fmla="*/ 0 w 1344"/>
                  <a:gd name="T1" fmla="*/ 4344805 h 864"/>
                  <a:gd name="T2" fmla="*/ 6471613 w 1344"/>
                  <a:gd name="T3" fmla="*/ 722594 h 864"/>
                  <a:gd name="T4" fmla="*/ 30086756 w 1344"/>
                  <a:gd name="T5" fmla="*/ 0 h 864"/>
                  <a:gd name="T6" fmla="*/ 0 60000 65536"/>
                  <a:gd name="T7" fmla="*/ 0 60000 65536"/>
                  <a:gd name="T8" fmla="*/ 0 60000 65536"/>
                  <a:gd name="T9" fmla="*/ 0 w 1344"/>
                  <a:gd name="T10" fmla="*/ 0 h 864"/>
                  <a:gd name="T11" fmla="*/ 1344 w 1344"/>
                  <a:gd name="T12" fmla="*/ 864 h 864"/>
                </a:gdLst>
                <a:ahLst/>
                <a:cxnLst>
                  <a:cxn ang="T6">
                    <a:pos x="T0" y="T1"/>
                  </a:cxn>
                  <a:cxn ang="T7">
                    <a:pos x="T2" y="T3"/>
                  </a:cxn>
                  <a:cxn ang="T8">
                    <a:pos x="T4" y="T5"/>
                  </a:cxn>
                </a:cxnLst>
                <a:rect l="T9" t="T10" r="T11" b="T12"/>
                <a:pathLst>
                  <a:path w="1344" h="864">
                    <a:moveTo>
                      <a:pt x="0" y="864"/>
                    </a:moveTo>
                    <a:cubicBezTo>
                      <a:pt x="32" y="576"/>
                      <a:pt x="64" y="288"/>
                      <a:pt x="288" y="144"/>
                    </a:cubicBezTo>
                    <a:cubicBezTo>
                      <a:pt x="512" y="0"/>
                      <a:pt x="1176" y="24"/>
                      <a:pt x="1344" y="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2763" name="Line 9">
                <a:extLst>
                  <a:ext uri="{FF2B5EF4-FFF2-40B4-BE49-F238E27FC236}">
                    <a16:creationId xmlns:a16="http://schemas.microsoft.com/office/drawing/2014/main" id="{F8C1DEF7-CE5A-42DF-8448-2FBCE914020C}"/>
                  </a:ext>
                </a:extLst>
              </p:cNvPr>
              <p:cNvSpPr>
                <a:spLocks noChangeShapeType="1"/>
              </p:cNvSpPr>
              <p:nvPr/>
            </p:nvSpPr>
            <p:spPr bwMode="auto">
              <a:xfrm>
                <a:off x="1022" y="1782"/>
                <a:ext cx="1495"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394" name="Text Box 10">
                <a:extLst>
                  <a:ext uri="{FF2B5EF4-FFF2-40B4-BE49-F238E27FC236}">
                    <a16:creationId xmlns:a16="http://schemas.microsoft.com/office/drawing/2014/main" id="{9A85CE96-6DB6-4DA0-A4D0-E39E094AD040}"/>
                  </a:ext>
                </a:extLst>
              </p:cNvPr>
              <p:cNvSpPr txBox="1">
                <a:spLocks noChangeArrowheads="1"/>
              </p:cNvSpPr>
              <p:nvPr/>
            </p:nvSpPr>
            <p:spPr bwMode="auto">
              <a:xfrm>
                <a:off x="302" y="1631"/>
                <a:ext cx="101" cy="213"/>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endParaRPr kumimoji="1" lang="zh-CN" altLang="zh-CN" sz="2800" b="1" baseline="-25000">
                  <a:effectLst>
                    <a:outerShdw blurRad="38100" dist="38100" dir="2700000" algn="tl">
                      <a:srgbClr val="C0C0C0"/>
                    </a:outerShdw>
                  </a:effectLst>
                  <a:latin typeface="Times New Roman" pitchFamily="18" charset="0"/>
                  <a:ea typeface="黑体" pitchFamily="49" charset="-122"/>
                </a:endParaRPr>
              </a:p>
            </p:txBody>
          </p:sp>
          <p:sp>
            <p:nvSpPr>
              <p:cNvPr id="202765" name="Line 11">
                <a:extLst>
                  <a:ext uri="{FF2B5EF4-FFF2-40B4-BE49-F238E27FC236}">
                    <a16:creationId xmlns:a16="http://schemas.microsoft.com/office/drawing/2014/main" id="{81420592-EC14-416D-B2F4-B75D60F16BB1}"/>
                  </a:ext>
                </a:extLst>
              </p:cNvPr>
              <p:cNvSpPr>
                <a:spLocks noChangeShapeType="1"/>
              </p:cNvSpPr>
              <p:nvPr/>
            </p:nvSpPr>
            <p:spPr bwMode="auto">
              <a:xfrm>
                <a:off x="494" y="2805"/>
                <a:ext cx="219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2766" name="Line 12">
                <a:extLst>
                  <a:ext uri="{FF2B5EF4-FFF2-40B4-BE49-F238E27FC236}">
                    <a16:creationId xmlns:a16="http://schemas.microsoft.com/office/drawing/2014/main" id="{B6DD3513-C055-418E-B1B1-E521E40D76F9}"/>
                  </a:ext>
                </a:extLst>
              </p:cNvPr>
              <p:cNvSpPr>
                <a:spLocks noChangeShapeType="1"/>
              </p:cNvSpPr>
              <p:nvPr/>
            </p:nvSpPr>
            <p:spPr bwMode="auto">
              <a:xfrm flipV="1">
                <a:off x="988" y="1213"/>
                <a:ext cx="0" cy="210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4397" name="Text Box 13">
                <a:extLst>
                  <a:ext uri="{FF2B5EF4-FFF2-40B4-BE49-F238E27FC236}">
                    <a16:creationId xmlns:a16="http://schemas.microsoft.com/office/drawing/2014/main" id="{BF47096A-13B3-41BB-8E95-C2F5172D0B16}"/>
                  </a:ext>
                </a:extLst>
              </p:cNvPr>
              <p:cNvSpPr txBox="1">
                <a:spLocks noChangeArrowheads="1"/>
              </p:cNvSpPr>
              <p:nvPr/>
            </p:nvSpPr>
            <p:spPr bwMode="auto">
              <a:xfrm>
                <a:off x="657" y="1162"/>
                <a:ext cx="243" cy="288"/>
              </a:xfrm>
              <a:prstGeom prst="rect">
                <a:avLst/>
              </a:prstGeom>
              <a:noFill/>
              <a:ln w="9525">
                <a:noFill/>
                <a:miter lim="800000"/>
                <a:headEnd/>
                <a:tailEnd/>
              </a:ln>
              <a:effec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V</a:t>
                </a:r>
              </a:p>
            </p:txBody>
          </p:sp>
          <p:sp>
            <p:nvSpPr>
              <p:cNvPr id="784398" name="Text Box 14">
                <a:extLst>
                  <a:ext uri="{FF2B5EF4-FFF2-40B4-BE49-F238E27FC236}">
                    <a16:creationId xmlns:a16="http://schemas.microsoft.com/office/drawing/2014/main" id="{915CCAB3-BAD9-4332-9786-E11D8D1274E1}"/>
                  </a:ext>
                </a:extLst>
              </p:cNvPr>
              <p:cNvSpPr txBox="1">
                <a:spLocks noChangeArrowheads="1"/>
              </p:cNvSpPr>
              <p:nvPr/>
            </p:nvSpPr>
            <p:spPr bwMode="auto">
              <a:xfrm>
                <a:off x="2414" y="2829"/>
                <a:ext cx="341" cy="288"/>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effectLst>
                      <a:outerShdw blurRad="38100" dist="38100" dir="2700000" algn="tl">
                        <a:srgbClr val="C0C0C0"/>
                      </a:outerShdw>
                    </a:effectLst>
                    <a:latin typeface="Times New Roman" pitchFamily="18" charset="0"/>
                    <a:ea typeface="黑体" pitchFamily="49" charset="-122"/>
                  </a:rPr>
                  <a:t>[S]</a:t>
                </a:r>
              </a:p>
            </p:txBody>
          </p:sp>
          <p:sp>
            <p:nvSpPr>
              <p:cNvPr id="784399" name="Text Box 15">
                <a:extLst>
                  <a:ext uri="{FF2B5EF4-FFF2-40B4-BE49-F238E27FC236}">
                    <a16:creationId xmlns:a16="http://schemas.microsoft.com/office/drawing/2014/main" id="{781CC967-0F87-435E-81EF-C53BA9064CE1}"/>
                  </a:ext>
                </a:extLst>
              </p:cNvPr>
              <p:cNvSpPr txBox="1">
                <a:spLocks noChangeArrowheads="1"/>
              </p:cNvSpPr>
              <p:nvPr/>
            </p:nvSpPr>
            <p:spPr bwMode="auto">
              <a:xfrm>
                <a:off x="1020" y="2892"/>
                <a:ext cx="101" cy="211"/>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endParaRPr kumimoji="1" lang="zh-CN" altLang="zh-CN" sz="2800" b="1" baseline="-25000">
                  <a:solidFill>
                    <a:schemeClr val="bg1"/>
                  </a:solidFill>
                  <a:effectLst>
                    <a:outerShdw blurRad="38100" dist="38100" dir="2700000" algn="tl">
                      <a:srgbClr val="C0C0C0"/>
                    </a:outerShdw>
                  </a:effectLst>
                  <a:latin typeface="Times New Roman" pitchFamily="18" charset="0"/>
                  <a:ea typeface="黑体" pitchFamily="49" charset="-122"/>
                </a:endParaRPr>
              </a:p>
            </p:txBody>
          </p:sp>
          <p:sp>
            <p:nvSpPr>
              <p:cNvPr id="784401" name="Text Box 17">
                <a:extLst>
                  <a:ext uri="{FF2B5EF4-FFF2-40B4-BE49-F238E27FC236}">
                    <a16:creationId xmlns:a16="http://schemas.microsoft.com/office/drawing/2014/main" id="{869F7F2F-38F0-48FC-81D4-7C1166C69367}"/>
                  </a:ext>
                </a:extLst>
              </p:cNvPr>
              <p:cNvSpPr txBox="1">
                <a:spLocks noChangeArrowheads="1"/>
              </p:cNvSpPr>
              <p:nvPr/>
            </p:nvSpPr>
            <p:spPr bwMode="auto">
              <a:xfrm>
                <a:off x="204" y="2160"/>
                <a:ext cx="772" cy="288"/>
              </a:xfrm>
              <a:prstGeom prst="rect">
                <a:avLst/>
              </a:prstGeom>
              <a:noFill/>
              <a:ln w="9525">
                <a:noFill/>
                <a:miter lim="800000"/>
                <a:headEnd/>
                <a:tailEnd/>
              </a:ln>
              <a:effectLst/>
            </p:spPr>
            <p:txBody>
              <a:bodyPr>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effectLst>
                      <a:outerShdw blurRad="38100" dist="38100" dir="2700000" algn="tl">
                        <a:srgbClr val="C0C0C0"/>
                      </a:outerShdw>
                    </a:effectLst>
                    <a:latin typeface="Times New Roman" pitchFamily="18" charset="0"/>
                    <a:ea typeface="黑体" pitchFamily="49" charset="-122"/>
                  </a:rPr>
                  <a:t>    </a:t>
                </a:r>
              </a:p>
            </p:txBody>
          </p:sp>
        </p:grpSp>
        <p:sp>
          <p:nvSpPr>
            <p:cNvPr id="202760" name="Rectangle 19">
              <a:extLst>
                <a:ext uri="{FF2B5EF4-FFF2-40B4-BE49-F238E27FC236}">
                  <a16:creationId xmlns:a16="http://schemas.microsoft.com/office/drawing/2014/main" id="{B29779C9-D2F7-4CF6-AC70-54CDC11E2E22}"/>
                </a:ext>
              </a:extLst>
            </p:cNvPr>
            <p:cNvSpPr>
              <a:spLocks noChangeArrowheads="1"/>
            </p:cNvSpPr>
            <p:nvPr/>
          </p:nvSpPr>
          <p:spPr bwMode="auto">
            <a:xfrm>
              <a:off x="3411" y="1001"/>
              <a:ext cx="830" cy="1044"/>
            </a:xfrm>
            <a:prstGeom prst="rect">
              <a:avLst/>
            </a:prstGeom>
            <a:solidFill>
              <a:srgbClr val="FF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784404" name="Rectangle 20">
              <a:extLst>
                <a:ext uri="{FF2B5EF4-FFF2-40B4-BE49-F238E27FC236}">
                  <a16:creationId xmlns:a16="http://schemas.microsoft.com/office/drawing/2014/main" id="{C45742BF-BDE6-4880-9505-4F4C3093A27F}"/>
                </a:ext>
              </a:extLst>
            </p:cNvPr>
            <p:cNvSpPr>
              <a:spLocks noChangeArrowheads="1"/>
            </p:cNvSpPr>
            <p:nvPr/>
          </p:nvSpPr>
          <p:spPr bwMode="auto">
            <a:xfrm>
              <a:off x="4685" y="586"/>
              <a:ext cx="618" cy="368"/>
            </a:xfrm>
            <a:prstGeom prst="rect">
              <a:avLst/>
            </a:prstGeom>
            <a:noFill/>
            <a:ln w="9525">
              <a:noFill/>
              <a:miter lim="800000"/>
              <a:headEnd/>
              <a:tailEnd/>
            </a:ln>
            <a:effectLst/>
          </p:spPr>
          <p:txBody>
            <a:bodyPr wrap="none">
              <a:spAutoFit/>
            </a:bodyPr>
            <a:lstStyle/>
            <a:p>
              <a:pPr eaLnBrk="1" hangingPunct="1">
                <a:defRPr/>
              </a:pPr>
              <a:r>
                <a:rPr kumimoji="1" lang="en-US" altLang="zh-CN" sz="3200" b="1">
                  <a:effectLst>
                    <a:outerShdw blurRad="38100" dist="38100" dir="2700000" algn="tl">
                      <a:srgbClr val="C0C0C0"/>
                    </a:outerShdw>
                  </a:effectLst>
                  <a:latin typeface="Times New Roman" pitchFamily="18" charset="0"/>
                  <a:ea typeface="黑体" pitchFamily="49" charset="-122"/>
                </a:rPr>
                <a:t>V</a:t>
              </a:r>
              <a:r>
                <a:rPr kumimoji="1" lang="en-US" altLang="zh-CN" sz="3200" b="1" baseline="-25000">
                  <a:effectLst>
                    <a:outerShdw blurRad="38100" dist="38100" dir="2700000" algn="tl">
                      <a:srgbClr val="C0C0C0"/>
                    </a:outerShdw>
                  </a:effectLst>
                  <a:latin typeface="Times New Roman" pitchFamily="18" charset="0"/>
                  <a:ea typeface="黑体" pitchFamily="49" charset="-122"/>
                </a:rPr>
                <a:t>max</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84389"/>
                                        </p:tgtEl>
                                        <p:attrNameLst>
                                          <p:attrName>style.visibility</p:attrName>
                                        </p:attrNameLst>
                                      </p:cBhvr>
                                      <p:to>
                                        <p:strVal val="visible"/>
                                      </p:to>
                                    </p:set>
                                    <p:animEffect transition="in" filter="dissolve">
                                      <p:cBhvr>
                                        <p:cTn id="7" dur="500"/>
                                        <p:tgtEl>
                                          <p:spTgt spid="784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02" name="Text Box 2">
            <a:extLst>
              <a:ext uri="{FF2B5EF4-FFF2-40B4-BE49-F238E27FC236}">
                <a16:creationId xmlns:a16="http://schemas.microsoft.com/office/drawing/2014/main" id="{5A436475-449B-4131-ABA6-F6F0BD0610A6}"/>
              </a:ext>
            </a:extLst>
          </p:cNvPr>
          <p:cNvSpPr txBox="1">
            <a:spLocks noChangeArrowheads="1"/>
          </p:cNvSpPr>
          <p:nvPr/>
        </p:nvSpPr>
        <p:spPr bwMode="auto">
          <a:xfrm>
            <a:off x="1271474" y="4349702"/>
            <a:ext cx="10225123" cy="656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当底物浓度高达一定程度，反应速度达</a:t>
            </a:r>
            <a:r>
              <a:rPr kumimoji="1" lang="zh-CN" altLang="en-US" sz="2800" dirty="0">
                <a:solidFill>
                  <a:srgbClr val="0000FF"/>
                </a:solidFill>
                <a:latin typeface="Times New Roman" panose="02020603050405020304" pitchFamily="18" charset="0"/>
                <a:ea typeface="黑体" panose="02010609060101010101" pitchFamily="49" charset="-122"/>
              </a:rPr>
              <a:t>最大速度</a:t>
            </a: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，不再增加。</a:t>
            </a:r>
          </a:p>
        </p:txBody>
      </p:sp>
      <p:sp>
        <p:nvSpPr>
          <p:cNvPr id="786435" name="Text Box 3">
            <a:extLst>
              <a:ext uri="{FF2B5EF4-FFF2-40B4-BE49-F238E27FC236}">
                <a16:creationId xmlns:a16="http://schemas.microsoft.com/office/drawing/2014/main" id="{F6E4087B-5303-4997-AE3D-AC2F20D2605E}"/>
              </a:ext>
            </a:extLst>
          </p:cNvPr>
          <p:cNvSpPr txBox="1">
            <a:spLocks noChangeArrowheads="1"/>
          </p:cNvSpPr>
          <p:nvPr/>
        </p:nvSpPr>
        <p:spPr bwMode="auto">
          <a:xfrm>
            <a:off x="3870325" y="4492625"/>
            <a:ext cx="184150" cy="579438"/>
          </a:xfrm>
          <a:prstGeom prst="rect">
            <a:avLst/>
          </a:prstGeom>
          <a:noFill/>
          <a:ln w="9525">
            <a:noFill/>
            <a:miter lim="800000"/>
            <a:headEnd/>
            <a:tailEnd/>
          </a:ln>
          <a:effectLst/>
        </p:spPr>
        <p:txBody>
          <a:bodyPr wrap="none">
            <a:spAutoFit/>
          </a:bodyPr>
          <a:lstStyle/>
          <a:p>
            <a:pPr algn="ctr" eaLnBrk="1" hangingPunct="1">
              <a:defRPr/>
            </a:pPr>
            <a:endParaRPr kumimoji="1" lang="zh-CN" altLang="zh-CN" sz="3200" u="sng">
              <a:effectLst>
                <a:outerShdw blurRad="38100" dist="38100" dir="2700000" algn="tl">
                  <a:srgbClr val="C0C0C0"/>
                </a:outerShdw>
              </a:effectLst>
              <a:latin typeface="Times New Roman" pitchFamily="18" charset="0"/>
              <a:ea typeface="黑体" pitchFamily="49" charset="-122"/>
            </a:endParaRPr>
          </a:p>
        </p:txBody>
      </p:sp>
      <p:sp>
        <p:nvSpPr>
          <p:cNvPr id="786436" name="Text Box 4">
            <a:extLst>
              <a:ext uri="{FF2B5EF4-FFF2-40B4-BE49-F238E27FC236}">
                <a16:creationId xmlns:a16="http://schemas.microsoft.com/office/drawing/2014/main" id="{93B0E6F8-9A25-43A5-BF75-03E0D0C68B67}"/>
              </a:ext>
            </a:extLst>
          </p:cNvPr>
          <p:cNvSpPr txBox="1">
            <a:spLocks noChangeArrowheads="1"/>
          </p:cNvSpPr>
          <p:nvPr/>
        </p:nvSpPr>
        <p:spPr bwMode="auto">
          <a:xfrm>
            <a:off x="1271474" y="5425422"/>
            <a:ext cx="68407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15963">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ea typeface="黑体" panose="02010609060101010101" pitchFamily="49" charset="-122"/>
              </a:rPr>
              <a:t>零级反应</a:t>
            </a: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a:t>
            </a:r>
            <a:r>
              <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rPr>
              <a:t>速度与底物浓度无关）</a:t>
            </a:r>
            <a:endParaRPr kumimoji="1"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pic>
        <p:nvPicPr>
          <p:cNvPr id="786437" name="Picture 5" descr="高浓度">
            <a:extLst>
              <a:ext uri="{FF2B5EF4-FFF2-40B4-BE49-F238E27FC236}">
                <a16:creationId xmlns:a16="http://schemas.microsoft.com/office/drawing/2014/main" id="{4FEF5070-F602-4ADE-BF5A-E591E01B4E7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9514"/>
          <a:stretch>
            <a:fillRect/>
          </a:stretch>
        </p:blipFill>
        <p:spPr bwMode="auto">
          <a:xfrm>
            <a:off x="1919289" y="636588"/>
            <a:ext cx="4321175" cy="342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806" name="Group 6">
            <a:extLst>
              <a:ext uri="{FF2B5EF4-FFF2-40B4-BE49-F238E27FC236}">
                <a16:creationId xmlns:a16="http://schemas.microsoft.com/office/drawing/2014/main" id="{C7E25FCB-0431-4CE4-8B9E-82B4ED9F0882}"/>
              </a:ext>
            </a:extLst>
          </p:cNvPr>
          <p:cNvGrpSpPr>
            <a:grpSpLocks/>
          </p:cNvGrpSpPr>
          <p:nvPr/>
        </p:nvGrpSpPr>
        <p:grpSpPr bwMode="auto">
          <a:xfrm>
            <a:off x="5375275" y="620713"/>
            <a:ext cx="4637088" cy="3560762"/>
            <a:chOff x="2426" y="436"/>
            <a:chExt cx="2921" cy="2243"/>
          </a:xfrm>
        </p:grpSpPr>
        <p:grpSp>
          <p:nvGrpSpPr>
            <p:cNvPr id="204807" name="Group 7">
              <a:extLst>
                <a:ext uri="{FF2B5EF4-FFF2-40B4-BE49-F238E27FC236}">
                  <a16:creationId xmlns:a16="http://schemas.microsoft.com/office/drawing/2014/main" id="{9D258138-BE84-47DC-8A5F-32B214F8A422}"/>
                </a:ext>
              </a:extLst>
            </p:cNvPr>
            <p:cNvGrpSpPr>
              <a:grpSpLocks/>
            </p:cNvGrpSpPr>
            <p:nvPr/>
          </p:nvGrpSpPr>
          <p:grpSpPr bwMode="auto">
            <a:xfrm>
              <a:off x="2426" y="436"/>
              <a:ext cx="2921" cy="2243"/>
              <a:chOff x="204" y="1162"/>
              <a:chExt cx="2551" cy="2156"/>
            </a:xfrm>
          </p:grpSpPr>
          <p:sp>
            <p:nvSpPr>
              <p:cNvPr id="204810" name="Freeform 8">
                <a:extLst>
                  <a:ext uri="{FF2B5EF4-FFF2-40B4-BE49-F238E27FC236}">
                    <a16:creationId xmlns:a16="http://schemas.microsoft.com/office/drawing/2014/main" id="{72E29265-DD69-472C-884C-BE8A9E8A6464}"/>
                  </a:ext>
                </a:extLst>
              </p:cNvPr>
              <p:cNvSpPr>
                <a:spLocks/>
              </p:cNvSpPr>
              <p:nvPr/>
            </p:nvSpPr>
            <p:spPr bwMode="auto">
              <a:xfrm>
                <a:off x="997" y="1842"/>
                <a:ext cx="1510" cy="954"/>
              </a:xfrm>
              <a:custGeom>
                <a:avLst/>
                <a:gdLst>
                  <a:gd name="T0" fmla="*/ 0 w 1344"/>
                  <a:gd name="T1" fmla="*/ 4344805 h 864"/>
                  <a:gd name="T2" fmla="*/ 6471613 w 1344"/>
                  <a:gd name="T3" fmla="*/ 722594 h 864"/>
                  <a:gd name="T4" fmla="*/ 30086756 w 1344"/>
                  <a:gd name="T5" fmla="*/ 0 h 864"/>
                  <a:gd name="T6" fmla="*/ 0 60000 65536"/>
                  <a:gd name="T7" fmla="*/ 0 60000 65536"/>
                  <a:gd name="T8" fmla="*/ 0 60000 65536"/>
                  <a:gd name="T9" fmla="*/ 0 w 1344"/>
                  <a:gd name="T10" fmla="*/ 0 h 864"/>
                  <a:gd name="T11" fmla="*/ 1344 w 1344"/>
                  <a:gd name="T12" fmla="*/ 864 h 864"/>
                </a:gdLst>
                <a:ahLst/>
                <a:cxnLst>
                  <a:cxn ang="T6">
                    <a:pos x="T0" y="T1"/>
                  </a:cxn>
                  <a:cxn ang="T7">
                    <a:pos x="T2" y="T3"/>
                  </a:cxn>
                  <a:cxn ang="T8">
                    <a:pos x="T4" y="T5"/>
                  </a:cxn>
                </a:cxnLst>
                <a:rect l="T9" t="T10" r="T11" b="T12"/>
                <a:pathLst>
                  <a:path w="1344" h="864">
                    <a:moveTo>
                      <a:pt x="0" y="864"/>
                    </a:moveTo>
                    <a:cubicBezTo>
                      <a:pt x="32" y="576"/>
                      <a:pt x="64" y="288"/>
                      <a:pt x="288" y="144"/>
                    </a:cubicBezTo>
                    <a:cubicBezTo>
                      <a:pt x="512" y="0"/>
                      <a:pt x="1176" y="24"/>
                      <a:pt x="1344" y="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4811" name="Line 9">
                <a:extLst>
                  <a:ext uri="{FF2B5EF4-FFF2-40B4-BE49-F238E27FC236}">
                    <a16:creationId xmlns:a16="http://schemas.microsoft.com/office/drawing/2014/main" id="{493D7B95-F188-4B1C-B7CF-66734A6966CB}"/>
                  </a:ext>
                </a:extLst>
              </p:cNvPr>
              <p:cNvSpPr>
                <a:spLocks noChangeShapeType="1"/>
              </p:cNvSpPr>
              <p:nvPr/>
            </p:nvSpPr>
            <p:spPr bwMode="auto">
              <a:xfrm>
                <a:off x="1022" y="1782"/>
                <a:ext cx="1495"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6442" name="Text Box 10">
                <a:extLst>
                  <a:ext uri="{FF2B5EF4-FFF2-40B4-BE49-F238E27FC236}">
                    <a16:creationId xmlns:a16="http://schemas.microsoft.com/office/drawing/2014/main" id="{F74D241D-08D2-4ADB-BECD-7AB8D642431F}"/>
                  </a:ext>
                </a:extLst>
              </p:cNvPr>
              <p:cNvSpPr txBox="1">
                <a:spLocks noChangeArrowheads="1"/>
              </p:cNvSpPr>
              <p:nvPr/>
            </p:nvSpPr>
            <p:spPr bwMode="auto">
              <a:xfrm>
                <a:off x="302" y="1631"/>
                <a:ext cx="101" cy="213"/>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endParaRPr kumimoji="1" lang="zh-CN" altLang="zh-CN" sz="2800" b="1" baseline="-25000">
                  <a:effectLst>
                    <a:outerShdw blurRad="38100" dist="38100" dir="2700000" algn="tl">
                      <a:srgbClr val="C0C0C0"/>
                    </a:outerShdw>
                  </a:effectLst>
                  <a:latin typeface="Times New Roman" pitchFamily="18" charset="0"/>
                  <a:ea typeface="黑体" pitchFamily="49" charset="-122"/>
                </a:endParaRPr>
              </a:p>
            </p:txBody>
          </p:sp>
          <p:sp>
            <p:nvSpPr>
              <p:cNvPr id="204813" name="Line 11">
                <a:extLst>
                  <a:ext uri="{FF2B5EF4-FFF2-40B4-BE49-F238E27FC236}">
                    <a16:creationId xmlns:a16="http://schemas.microsoft.com/office/drawing/2014/main" id="{C876EE4F-AA06-42FF-B3DB-BBC093A976E5}"/>
                  </a:ext>
                </a:extLst>
              </p:cNvPr>
              <p:cNvSpPr>
                <a:spLocks noChangeShapeType="1"/>
              </p:cNvSpPr>
              <p:nvPr/>
            </p:nvSpPr>
            <p:spPr bwMode="auto">
              <a:xfrm>
                <a:off x="494" y="2805"/>
                <a:ext cx="219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814" name="Line 12">
                <a:extLst>
                  <a:ext uri="{FF2B5EF4-FFF2-40B4-BE49-F238E27FC236}">
                    <a16:creationId xmlns:a16="http://schemas.microsoft.com/office/drawing/2014/main" id="{E243149E-850F-4C87-98AC-2D038FC13CF7}"/>
                  </a:ext>
                </a:extLst>
              </p:cNvPr>
              <p:cNvSpPr>
                <a:spLocks noChangeShapeType="1"/>
              </p:cNvSpPr>
              <p:nvPr/>
            </p:nvSpPr>
            <p:spPr bwMode="auto">
              <a:xfrm flipV="1">
                <a:off x="988" y="1213"/>
                <a:ext cx="0" cy="210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6445" name="Text Box 13">
                <a:extLst>
                  <a:ext uri="{FF2B5EF4-FFF2-40B4-BE49-F238E27FC236}">
                    <a16:creationId xmlns:a16="http://schemas.microsoft.com/office/drawing/2014/main" id="{198AFCF7-E1DE-4EE4-B2CB-FEF94C00A7F2}"/>
                  </a:ext>
                </a:extLst>
              </p:cNvPr>
              <p:cNvSpPr txBox="1">
                <a:spLocks noChangeArrowheads="1"/>
              </p:cNvSpPr>
              <p:nvPr/>
            </p:nvSpPr>
            <p:spPr bwMode="auto">
              <a:xfrm>
                <a:off x="657" y="1162"/>
                <a:ext cx="243" cy="288"/>
              </a:xfrm>
              <a:prstGeom prst="rect">
                <a:avLst/>
              </a:prstGeom>
              <a:noFill/>
              <a:ln w="9525">
                <a:noFill/>
                <a:miter lim="800000"/>
                <a:headEnd/>
                <a:tailEnd/>
              </a:ln>
              <a:effec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V</a:t>
                </a:r>
              </a:p>
            </p:txBody>
          </p:sp>
          <p:sp>
            <p:nvSpPr>
              <p:cNvPr id="786446" name="Text Box 14">
                <a:extLst>
                  <a:ext uri="{FF2B5EF4-FFF2-40B4-BE49-F238E27FC236}">
                    <a16:creationId xmlns:a16="http://schemas.microsoft.com/office/drawing/2014/main" id="{019C15D7-1481-4F1D-8FF5-FDCFC44B2B29}"/>
                  </a:ext>
                </a:extLst>
              </p:cNvPr>
              <p:cNvSpPr txBox="1">
                <a:spLocks noChangeArrowheads="1"/>
              </p:cNvSpPr>
              <p:nvPr/>
            </p:nvSpPr>
            <p:spPr bwMode="auto">
              <a:xfrm>
                <a:off x="2414" y="2829"/>
                <a:ext cx="341" cy="288"/>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effectLst>
                      <a:outerShdw blurRad="38100" dist="38100" dir="2700000" algn="tl">
                        <a:srgbClr val="C0C0C0"/>
                      </a:outerShdw>
                    </a:effectLst>
                    <a:latin typeface="Times New Roman" pitchFamily="18" charset="0"/>
                    <a:ea typeface="黑体" pitchFamily="49" charset="-122"/>
                  </a:rPr>
                  <a:t>[S]</a:t>
                </a:r>
              </a:p>
            </p:txBody>
          </p:sp>
          <p:sp>
            <p:nvSpPr>
              <p:cNvPr id="786447" name="Text Box 15">
                <a:extLst>
                  <a:ext uri="{FF2B5EF4-FFF2-40B4-BE49-F238E27FC236}">
                    <a16:creationId xmlns:a16="http://schemas.microsoft.com/office/drawing/2014/main" id="{5F9571C5-46F4-43F8-AA41-E47D1B4D3E72}"/>
                  </a:ext>
                </a:extLst>
              </p:cNvPr>
              <p:cNvSpPr txBox="1">
                <a:spLocks noChangeArrowheads="1"/>
              </p:cNvSpPr>
              <p:nvPr/>
            </p:nvSpPr>
            <p:spPr bwMode="auto">
              <a:xfrm>
                <a:off x="1020" y="2892"/>
                <a:ext cx="101" cy="211"/>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endParaRPr kumimoji="1" lang="zh-CN" altLang="zh-CN" sz="2800" b="1" baseline="-25000">
                  <a:solidFill>
                    <a:schemeClr val="bg1"/>
                  </a:solidFill>
                  <a:effectLst>
                    <a:outerShdw blurRad="38100" dist="38100" dir="2700000" algn="tl">
                      <a:srgbClr val="C0C0C0"/>
                    </a:outerShdw>
                  </a:effectLst>
                  <a:latin typeface="Times New Roman" pitchFamily="18" charset="0"/>
                  <a:ea typeface="黑体" pitchFamily="49" charset="-122"/>
                </a:endParaRPr>
              </a:p>
            </p:txBody>
          </p:sp>
          <p:sp>
            <p:nvSpPr>
              <p:cNvPr id="786449" name="Text Box 17">
                <a:extLst>
                  <a:ext uri="{FF2B5EF4-FFF2-40B4-BE49-F238E27FC236}">
                    <a16:creationId xmlns:a16="http://schemas.microsoft.com/office/drawing/2014/main" id="{EC2FA5D5-2E23-496B-BB59-D1A80E35DB8E}"/>
                  </a:ext>
                </a:extLst>
              </p:cNvPr>
              <p:cNvSpPr txBox="1">
                <a:spLocks noChangeArrowheads="1"/>
              </p:cNvSpPr>
              <p:nvPr/>
            </p:nvSpPr>
            <p:spPr bwMode="auto">
              <a:xfrm>
                <a:off x="204" y="2160"/>
                <a:ext cx="772" cy="288"/>
              </a:xfrm>
              <a:prstGeom prst="rect">
                <a:avLst/>
              </a:prstGeom>
              <a:noFill/>
              <a:ln w="9525">
                <a:noFill/>
                <a:miter lim="800000"/>
                <a:headEnd/>
                <a:tailEnd/>
              </a:ln>
              <a:effectLst/>
            </p:spPr>
            <p:txBody>
              <a:bodyPr>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effectLst>
                      <a:outerShdw blurRad="38100" dist="38100" dir="2700000" algn="tl">
                        <a:srgbClr val="C0C0C0"/>
                      </a:outerShdw>
                    </a:effectLst>
                    <a:latin typeface="Times New Roman" pitchFamily="18" charset="0"/>
                    <a:ea typeface="黑体" pitchFamily="49" charset="-122"/>
                  </a:rPr>
                  <a:t>    </a:t>
                </a:r>
              </a:p>
            </p:txBody>
          </p:sp>
        </p:grpSp>
        <p:sp>
          <p:nvSpPr>
            <p:cNvPr id="204808" name="Rectangle 19">
              <a:extLst>
                <a:ext uri="{FF2B5EF4-FFF2-40B4-BE49-F238E27FC236}">
                  <a16:creationId xmlns:a16="http://schemas.microsoft.com/office/drawing/2014/main" id="{0F8D7257-278A-4014-8327-27354BE33C6C}"/>
                </a:ext>
              </a:extLst>
            </p:cNvPr>
            <p:cNvSpPr>
              <a:spLocks noChangeArrowheads="1"/>
            </p:cNvSpPr>
            <p:nvPr/>
          </p:nvSpPr>
          <p:spPr bwMode="auto">
            <a:xfrm>
              <a:off x="4020" y="1086"/>
              <a:ext cx="998" cy="1044"/>
            </a:xfrm>
            <a:prstGeom prst="rect">
              <a:avLst/>
            </a:prstGeom>
            <a:solidFill>
              <a:srgbClr val="FF66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786452" name="Rectangle 20">
              <a:extLst>
                <a:ext uri="{FF2B5EF4-FFF2-40B4-BE49-F238E27FC236}">
                  <a16:creationId xmlns:a16="http://schemas.microsoft.com/office/drawing/2014/main" id="{B50D22C7-3838-4927-9C77-EF78C0F4A925}"/>
                </a:ext>
              </a:extLst>
            </p:cNvPr>
            <p:cNvSpPr>
              <a:spLocks noChangeArrowheads="1"/>
            </p:cNvSpPr>
            <p:nvPr/>
          </p:nvSpPr>
          <p:spPr bwMode="auto">
            <a:xfrm>
              <a:off x="4685" y="676"/>
              <a:ext cx="618" cy="368"/>
            </a:xfrm>
            <a:prstGeom prst="rect">
              <a:avLst/>
            </a:prstGeom>
            <a:noFill/>
            <a:ln w="9525">
              <a:noFill/>
              <a:miter lim="800000"/>
              <a:headEnd/>
              <a:tailEnd/>
            </a:ln>
            <a:effectLst/>
          </p:spPr>
          <p:txBody>
            <a:bodyPr wrap="none">
              <a:spAutoFit/>
            </a:bodyPr>
            <a:lstStyle/>
            <a:p>
              <a:pPr eaLnBrk="1" hangingPunct="1">
                <a:defRPr/>
              </a:pPr>
              <a:r>
                <a:rPr kumimoji="1" lang="en-US" altLang="zh-CN" sz="3200" b="1">
                  <a:effectLst>
                    <a:outerShdw blurRad="38100" dist="38100" dir="2700000" algn="tl">
                      <a:srgbClr val="C0C0C0"/>
                    </a:outerShdw>
                  </a:effectLst>
                  <a:latin typeface="Times New Roman" pitchFamily="18" charset="0"/>
                  <a:ea typeface="黑体" pitchFamily="49" charset="-122"/>
                </a:rPr>
                <a:t>V</a:t>
              </a:r>
              <a:r>
                <a:rPr kumimoji="1" lang="en-US" altLang="zh-CN" sz="3200" b="1" baseline="-25000">
                  <a:effectLst>
                    <a:outerShdw blurRad="38100" dist="38100" dir="2700000" algn="tl">
                      <a:srgbClr val="C0C0C0"/>
                    </a:outerShdw>
                  </a:effectLst>
                  <a:latin typeface="Times New Roman" pitchFamily="18" charset="0"/>
                  <a:ea typeface="黑体" pitchFamily="49" charset="-122"/>
                </a:rPr>
                <a:t>max</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86437"/>
                                        </p:tgtEl>
                                        <p:attrNameLst>
                                          <p:attrName>style.visibility</p:attrName>
                                        </p:attrNameLst>
                                      </p:cBhvr>
                                      <p:to>
                                        <p:strVal val="visible"/>
                                      </p:to>
                                    </p:set>
                                    <p:animEffect transition="in" filter="dissolve">
                                      <p:cBhvr>
                                        <p:cTn id="7" dur="500"/>
                                        <p:tgtEl>
                                          <p:spTgt spid="7864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86436"/>
                                        </p:tgtEl>
                                        <p:attrNameLst>
                                          <p:attrName>style.visibility</p:attrName>
                                        </p:attrNameLst>
                                      </p:cBhvr>
                                      <p:to>
                                        <p:strVal val="visible"/>
                                      </p:to>
                                    </p:set>
                                    <p:animEffect transition="in" filter="strips(downRight)">
                                      <p:cBhvr>
                                        <p:cTn id="12" dur="500"/>
                                        <p:tgtEl>
                                          <p:spTgt spid="786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6436"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82" name="Text Box 2">
            <a:extLst>
              <a:ext uri="{FF2B5EF4-FFF2-40B4-BE49-F238E27FC236}">
                <a16:creationId xmlns:a16="http://schemas.microsoft.com/office/drawing/2014/main" id="{977E4920-DA5B-4105-B393-E73AA4022421}"/>
              </a:ext>
            </a:extLst>
          </p:cNvPr>
          <p:cNvSpPr txBox="1">
            <a:spLocks noChangeArrowheads="1"/>
          </p:cNvSpPr>
          <p:nvPr/>
        </p:nvSpPr>
        <p:spPr bwMode="auto">
          <a:xfrm>
            <a:off x="2855640" y="1180285"/>
            <a:ext cx="6120680" cy="554511"/>
          </a:xfrm>
          <a:prstGeom prst="rect">
            <a:avLst/>
          </a:prstGeom>
          <a:noFill/>
          <a:ln w="9525">
            <a:noFill/>
            <a:miter lim="800000"/>
            <a:headEnd/>
            <a:tailEnd/>
          </a:ln>
          <a:effectLst/>
        </p:spPr>
        <p:txBody>
          <a:bodyPr wrap="square">
            <a:spAutoFit/>
          </a:bodyPr>
          <a:lstStyle/>
          <a:p>
            <a:pPr marL="441325" indent="-441325" algn="just" eaLnBrk="1" hangingPunct="1">
              <a:lnSpc>
                <a:spcPct val="120000"/>
              </a:lnSpc>
              <a:buClr>
                <a:schemeClr val="accent1"/>
              </a:buClr>
              <a:defRPr/>
            </a:pPr>
            <a:r>
              <a:rPr kumimoji="1" lang="zh-CN" altLang="en-US" sz="2800" b="1" dirty="0">
                <a:solidFill>
                  <a:srgbClr val="FF3300"/>
                </a:solidFill>
                <a:latin typeface="Times New Roman" pitchFamily="18" charset="0"/>
                <a:ea typeface="黑体" pitchFamily="49" charset="-122"/>
              </a:rPr>
              <a:t>米氏方程</a:t>
            </a:r>
            <a:r>
              <a:rPr lang="zh-CN" altLang="en-US" sz="2400" dirty="0"/>
              <a:t>（</a:t>
            </a:r>
            <a:r>
              <a:rPr lang="en-US" altLang="zh-CN" sz="2400" dirty="0" err="1"/>
              <a:t>Michaelis-Menten</a:t>
            </a:r>
            <a:r>
              <a:rPr lang="en-US" altLang="zh-CN" sz="2400" dirty="0"/>
              <a:t> equation</a:t>
            </a:r>
            <a:r>
              <a:rPr lang="zh-CN" altLang="en-US" sz="2400" dirty="0"/>
              <a:t>）</a:t>
            </a:r>
            <a:endParaRPr kumimoji="1" lang="zh-CN" altLang="en-US" sz="2400" b="1" dirty="0">
              <a:latin typeface="Times New Roman" pitchFamily="18" charset="0"/>
              <a:ea typeface="黑体" pitchFamily="49" charset="-122"/>
            </a:endParaRPr>
          </a:p>
        </p:txBody>
      </p:sp>
      <p:sp>
        <p:nvSpPr>
          <p:cNvPr id="206851" name="AutoShape 3">
            <a:extLst>
              <a:ext uri="{FF2B5EF4-FFF2-40B4-BE49-F238E27FC236}">
                <a16:creationId xmlns:a16="http://schemas.microsoft.com/office/drawing/2014/main" id="{C436EEC1-11A7-485D-B4DD-A59BACBE4B46}"/>
              </a:ext>
            </a:extLst>
          </p:cNvPr>
          <p:cNvSpPr>
            <a:spLocks noChangeArrowheads="1"/>
          </p:cNvSpPr>
          <p:nvPr/>
        </p:nvSpPr>
        <p:spPr bwMode="auto">
          <a:xfrm>
            <a:off x="3581400" y="1905000"/>
            <a:ext cx="533400" cy="381000"/>
          </a:xfrm>
          <a:prstGeom prst="star32">
            <a:avLst>
              <a:gd name="adj" fmla="val 375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06852" name="Line 4">
            <a:extLst>
              <a:ext uri="{FF2B5EF4-FFF2-40B4-BE49-F238E27FC236}">
                <a16:creationId xmlns:a16="http://schemas.microsoft.com/office/drawing/2014/main" id="{90532923-B002-4031-B67A-D6A666CAE5A8}"/>
              </a:ext>
            </a:extLst>
          </p:cNvPr>
          <p:cNvSpPr>
            <a:spLocks noChangeShapeType="1"/>
          </p:cNvSpPr>
          <p:nvPr/>
        </p:nvSpPr>
        <p:spPr bwMode="auto">
          <a:xfrm>
            <a:off x="4243701" y="1570409"/>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6853" name="AutoShape 6">
            <a:extLst>
              <a:ext uri="{FF2B5EF4-FFF2-40B4-BE49-F238E27FC236}">
                <a16:creationId xmlns:a16="http://schemas.microsoft.com/office/drawing/2014/main" id="{BEE95FB0-CD4E-4664-8D2B-38C6EB5100FA}"/>
              </a:ext>
            </a:extLst>
          </p:cNvPr>
          <p:cNvSpPr>
            <a:spLocks noChangeArrowheads="1"/>
          </p:cNvSpPr>
          <p:nvPr/>
        </p:nvSpPr>
        <p:spPr bwMode="auto">
          <a:xfrm>
            <a:off x="1631505" y="327276"/>
            <a:ext cx="8712967" cy="647700"/>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b="1" dirty="0">
                <a:solidFill>
                  <a:schemeClr val="bg1"/>
                </a:solidFill>
                <a:latin typeface="Times New Roman" panose="02020603050405020304" pitchFamily="18" charset="0"/>
                <a:ea typeface="黑体" panose="02010609060101010101" pitchFamily="49" charset="-122"/>
              </a:rPr>
              <a:t>（一）米氏方程揭示单底物反应的动力学特征</a:t>
            </a:r>
          </a:p>
        </p:txBody>
      </p:sp>
      <p:grpSp>
        <p:nvGrpSpPr>
          <p:cNvPr id="206856" name="Group 8">
            <a:extLst>
              <a:ext uri="{FF2B5EF4-FFF2-40B4-BE49-F238E27FC236}">
                <a16:creationId xmlns:a16="http://schemas.microsoft.com/office/drawing/2014/main" id="{899218A0-1BD4-43F2-8A61-045817C54152}"/>
              </a:ext>
            </a:extLst>
          </p:cNvPr>
          <p:cNvGrpSpPr>
            <a:grpSpLocks/>
          </p:cNvGrpSpPr>
          <p:nvPr/>
        </p:nvGrpSpPr>
        <p:grpSpPr bwMode="auto">
          <a:xfrm>
            <a:off x="2783632" y="1808535"/>
            <a:ext cx="3659188" cy="1484312"/>
            <a:chOff x="1387" y="1627"/>
            <a:chExt cx="2305" cy="935"/>
          </a:xfrm>
        </p:grpSpPr>
        <p:sp>
          <p:nvSpPr>
            <p:cNvPr id="206858" name="Text Box 9">
              <a:extLst>
                <a:ext uri="{FF2B5EF4-FFF2-40B4-BE49-F238E27FC236}">
                  <a16:creationId xmlns:a16="http://schemas.microsoft.com/office/drawing/2014/main" id="{C7AF0590-40A0-451F-A227-969B8114BC56}"/>
                </a:ext>
              </a:extLst>
            </p:cNvPr>
            <p:cNvSpPr txBox="1">
              <a:spLocks noChangeArrowheads="1"/>
            </p:cNvSpPr>
            <p:nvPr/>
          </p:nvSpPr>
          <p:spPr bwMode="auto">
            <a:xfrm>
              <a:off x="2550" y="1661"/>
              <a:ext cx="11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endParaRPr kumimoji="1" lang="zh-CN" altLang="zh-CN" u="sng">
                <a:solidFill>
                  <a:schemeClr val="tx2"/>
                </a:solidFill>
                <a:latin typeface="Times New Roman" panose="02020603050405020304" pitchFamily="18" charset="0"/>
                <a:ea typeface="黑体" panose="02010609060101010101" pitchFamily="49" charset="-122"/>
              </a:endParaRPr>
            </a:p>
          </p:txBody>
        </p:sp>
        <p:sp>
          <p:nvSpPr>
            <p:cNvPr id="206859" name="Text Box 10">
              <a:extLst>
                <a:ext uri="{FF2B5EF4-FFF2-40B4-BE49-F238E27FC236}">
                  <a16:creationId xmlns:a16="http://schemas.microsoft.com/office/drawing/2014/main" id="{316CD515-7ABF-4B37-934B-FE0F6EFF4122}"/>
                </a:ext>
              </a:extLst>
            </p:cNvPr>
            <p:cNvSpPr txBox="1">
              <a:spLocks noChangeArrowheads="1"/>
            </p:cNvSpPr>
            <p:nvPr/>
          </p:nvSpPr>
          <p:spPr bwMode="auto">
            <a:xfrm>
              <a:off x="1387" y="1762"/>
              <a:ext cx="83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6000">
                  <a:solidFill>
                    <a:schemeClr val="tx2"/>
                  </a:solidFill>
                  <a:latin typeface="Times New Roman" panose="02020603050405020304" pitchFamily="18" charset="0"/>
                  <a:ea typeface="黑体" panose="02010609060101010101" pitchFamily="49" charset="-122"/>
                </a:rPr>
                <a:t>Ｖ</a:t>
              </a:r>
              <a:r>
                <a:rPr kumimoji="1" lang="en-US" altLang="zh-CN" sz="6000" baseline="-25000">
                  <a:solidFill>
                    <a:schemeClr val="tx2"/>
                  </a:solidFill>
                  <a:latin typeface="Times New Roman" panose="02020603050405020304" pitchFamily="18" charset="0"/>
                  <a:ea typeface="黑体" panose="02010609060101010101" pitchFamily="49" charset="-122"/>
                </a:rPr>
                <a:t>0</a:t>
              </a:r>
              <a:endParaRPr kumimoji="1" lang="zh-CN" altLang="en-US" sz="6000" baseline="-25000">
                <a:solidFill>
                  <a:schemeClr val="tx2"/>
                </a:solidFill>
                <a:latin typeface="Times New Roman" panose="02020603050405020304" pitchFamily="18" charset="0"/>
                <a:ea typeface="黑体" panose="02010609060101010101" pitchFamily="49" charset="-122"/>
              </a:endParaRPr>
            </a:p>
          </p:txBody>
        </p:sp>
        <p:sp>
          <p:nvSpPr>
            <p:cNvPr id="206860" name="Text Box 11">
              <a:extLst>
                <a:ext uri="{FF2B5EF4-FFF2-40B4-BE49-F238E27FC236}">
                  <a16:creationId xmlns:a16="http://schemas.microsoft.com/office/drawing/2014/main" id="{20A27A4A-0217-457E-920F-42AAE4EC55DC}"/>
                </a:ext>
              </a:extLst>
            </p:cNvPr>
            <p:cNvSpPr txBox="1">
              <a:spLocks noChangeArrowheads="1"/>
            </p:cNvSpPr>
            <p:nvPr/>
          </p:nvSpPr>
          <p:spPr bwMode="auto">
            <a:xfrm>
              <a:off x="2409" y="1627"/>
              <a:ext cx="127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3600" dirty="0">
                  <a:solidFill>
                    <a:schemeClr val="tx2"/>
                  </a:solidFill>
                  <a:latin typeface="Times New Roman" panose="02020603050405020304" pitchFamily="18" charset="0"/>
                  <a:ea typeface="黑体" panose="02010609060101010101" pitchFamily="49" charset="-122"/>
                </a:rPr>
                <a:t>V</a:t>
              </a:r>
              <a:r>
                <a:rPr kumimoji="1" lang="en-US" altLang="zh-CN" sz="3600" baseline="-25000" dirty="0">
                  <a:solidFill>
                    <a:schemeClr val="tx2"/>
                  </a:solidFill>
                  <a:latin typeface="Times New Roman" panose="02020603050405020304" pitchFamily="18" charset="0"/>
                  <a:ea typeface="黑体" panose="02010609060101010101" pitchFamily="49" charset="-122"/>
                </a:rPr>
                <a:t>max</a:t>
              </a:r>
              <a:r>
                <a:rPr kumimoji="1" lang="en-US" altLang="zh-CN" dirty="0">
                  <a:solidFill>
                    <a:schemeClr val="tx2"/>
                  </a:solidFill>
                  <a:latin typeface="Times New Roman" panose="02020603050405020304" pitchFamily="18" charset="0"/>
                  <a:ea typeface="黑体" panose="02010609060101010101" pitchFamily="49" charset="-122"/>
                </a:rPr>
                <a:t>[S] </a:t>
              </a:r>
            </a:p>
          </p:txBody>
        </p:sp>
        <p:sp>
          <p:nvSpPr>
            <p:cNvPr id="206861" name="Text Box 12">
              <a:extLst>
                <a:ext uri="{FF2B5EF4-FFF2-40B4-BE49-F238E27FC236}">
                  <a16:creationId xmlns:a16="http://schemas.microsoft.com/office/drawing/2014/main" id="{5560FABA-EF5C-47BE-9403-E5D75EE00AEA}"/>
                </a:ext>
              </a:extLst>
            </p:cNvPr>
            <p:cNvSpPr txBox="1">
              <a:spLocks noChangeArrowheads="1"/>
            </p:cNvSpPr>
            <p:nvPr/>
          </p:nvSpPr>
          <p:spPr bwMode="auto">
            <a:xfrm>
              <a:off x="2467" y="2194"/>
              <a:ext cx="122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dirty="0">
                  <a:solidFill>
                    <a:schemeClr val="tx2"/>
                  </a:solidFill>
                  <a:latin typeface="Times New Roman" panose="02020603050405020304" pitchFamily="18" charset="0"/>
                  <a:ea typeface="黑体" panose="02010609060101010101" pitchFamily="49" charset="-122"/>
                </a:rPr>
                <a:t> K</a:t>
              </a:r>
              <a:r>
                <a:rPr kumimoji="1" lang="en-US" altLang="zh-CN" baseline="-25000" dirty="0">
                  <a:solidFill>
                    <a:schemeClr val="tx2"/>
                  </a:solidFill>
                  <a:latin typeface="Times New Roman" panose="02020603050405020304" pitchFamily="18" charset="0"/>
                  <a:ea typeface="黑体" panose="02010609060101010101" pitchFamily="49" charset="-122"/>
                </a:rPr>
                <a:t>m </a:t>
              </a:r>
              <a:r>
                <a:rPr kumimoji="1" lang="en-US" altLang="zh-CN" dirty="0">
                  <a:solidFill>
                    <a:schemeClr val="tx2"/>
                  </a:solidFill>
                  <a:latin typeface="Times New Roman" panose="02020603050405020304" pitchFamily="18" charset="0"/>
                  <a:ea typeface="黑体" panose="02010609060101010101" pitchFamily="49" charset="-122"/>
                </a:rPr>
                <a:t>+ [S]  </a:t>
              </a:r>
            </a:p>
          </p:txBody>
        </p:sp>
        <p:sp>
          <p:nvSpPr>
            <p:cNvPr id="206862" name="Text Box 13">
              <a:extLst>
                <a:ext uri="{FF2B5EF4-FFF2-40B4-BE49-F238E27FC236}">
                  <a16:creationId xmlns:a16="http://schemas.microsoft.com/office/drawing/2014/main" id="{63773204-A93A-4E95-9B2C-6E0FEB624877}"/>
                </a:ext>
              </a:extLst>
            </p:cNvPr>
            <p:cNvSpPr txBox="1">
              <a:spLocks noChangeArrowheads="1"/>
            </p:cNvSpPr>
            <p:nvPr/>
          </p:nvSpPr>
          <p:spPr bwMode="auto">
            <a:xfrm>
              <a:off x="2114" y="1957"/>
              <a:ext cx="34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a:solidFill>
                    <a:schemeClr val="tx2"/>
                  </a:solidFill>
                  <a:latin typeface="Times New Roman" panose="02020603050405020304" pitchFamily="18" charset="0"/>
                  <a:ea typeface="黑体" panose="02010609060101010101" pitchFamily="49" charset="-122"/>
                </a:rPr>
                <a:t>＝</a:t>
              </a:r>
            </a:p>
          </p:txBody>
        </p:sp>
      </p:grpSp>
      <p:pic>
        <p:nvPicPr>
          <p:cNvPr id="1026" name="Picture 2" descr="米氏方程_360百科">
            <a:extLst>
              <a:ext uri="{FF2B5EF4-FFF2-40B4-BE49-F238E27FC236}">
                <a16:creationId xmlns:a16="http://schemas.microsoft.com/office/drawing/2014/main" id="{EC7838C3-31D1-5FFF-0B02-B089A8347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0136" y="1934005"/>
            <a:ext cx="2886026" cy="1924017"/>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接连接符 14">
            <a:extLst>
              <a:ext uri="{FF2B5EF4-FFF2-40B4-BE49-F238E27FC236}">
                <a16:creationId xmlns:a16="http://schemas.microsoft.com/office/drawing/2014/main" id="{A8C437D0-2416-681D-66E1-EE8CD9C8A757}"/>
              </a:ext>
            </a:extLst>
          </p:cNvPr>
          <p:cNvCxnSpPr>
            <a:cxnSpLocks/>
          </p:cNvCxnSpPr>
          <p:nvPr/>
        </p:nvCxnSpPr>
        <p:spPr>
          <a:xfrm>
            <a:off x="4552678" y="2570535"/>
            <a:ext cx="175934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Line 3">
            <a:extLst>
              <a:ext uri="{FF2B5EF4-FFF2-40B4-BE49-F238E27FC236}">
                <a16:creationId xmlns:a16="http://schemas.microsoft.com/office/drawing/2014/main" id="{C7B4C904-BA95-8308-C0BE-BD894D0303F6}"/>
              </a:ext>
            </a:extLst>
          </p:cNvPr>
          <p:cNvSpPr>
            <a:spLocks noChangeShapeType="1"/>
          </p:cNvSpPr>
          <p:nvPr/>
        </p:nvSpPr>
        <p:spPr bwMode="auto">
          <a:xfrm>
            <a:off x="4876751" y="416808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18" name="Text Box 4">
            <a:extLst>
              <a:ext uri="{FF2B5EF4-FFF2-40B4-BE49-F238E27FC236}">
                <a16:creationId xmlns:a16="http://schemas.microsoft.com/office/drawing/2014/main" id="{795813D0-F8C3-1569-83DA-544B41994548}"/>
              </a:ext>
            </a:extLst>
          </p:cNvPr>
          <p:cNvSpPr txBox="1">
            <a:spLocks noChangeArrowheads="1"/>
          </p:cNvSpPr>
          <p:nvPr/>
        </p:nvSpPr>
        <p:spPr bwMode="auto">
          <a:xfrm>
            <a:off x="6994477" y="5546031"/>
            <a:ext cx="854075" cy="461665"/>
          </a:xfrm>
          <a:prstGeom prst="rect">
            <a:avLst/>
          </a:prstGeom>
          <a:noFill/>
          <a:ln w="9525">
            <a:noFill/>
            <a:miter lim="800000"/>
            <a:headEnd/>
            <a:tailEnd/>
          </a:ln>
          <a:effectLst/>
        </p:spPr>
        <p:txBody>
          <a:bodyPr>
            <a:spAutoFit/>
          </a:bodyPr>
          <a:lstStyle/>
          <a:p>
            <a:pPr algn="ctr" eaLnBrk="1" hangingPunct="1">
              <a:defRPr/>
            </a:pPr>
            <a:endParaRPr kumimoji="1" lang="zh-CN" altLang="zh-CN" sz="2400" u="sng">
              <a:effectLst>
                <a:outerShdw blurRad="38100" dist="38100" dir="2700000" algn="tl">
                  <a:srgbClr val="C0C0C0"/>
                </a:outerShdw>
              </a:effectLst>
              <a:latin typeface="Times New Roman" pitchFamily="18" charset="0"/>
              <a:ea typeface="黑体" pitchFamily="49" charset="-122"/>
            </a:endParaRPr>
          </a:p>
        </p:txBody>
      </p:sp>
      <p:sp>
        <p:nvSpPr>
          <p:cNvPr id="19" name="Text Box 5">
            <a:extLst>
              <a:ext uri="{FF2B5EF4-FFF2-40B4-BE49-F238E27FC236}">
                <a16:creationId xmlns:a16="http://schemas.microsoft.com/office/drawing/2014/main" id="{D6A850D0-603D-F1C1-F873-94017EAD602D}"/>
              </a:ext>
            </a:extLst>
          </p:cNvPr>
          <p:cNvSpPr txBox="1">
            <a:spLocks noChangeArrowheads="1"/>
          </p:cNvSpPr>
          <p:nvPr/>
        </p:nvSpPr>
        <p:spPr bwMode="auto">
          <a:xfrm>
            <a:off x="3232101" y="3891856"/>
            <a:ext cx="6408738" cy="223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en-US" altLang="zh-CN" sz="2400" dirty="0">
                <a:solidFill>
                  <a:srgbClr val="0000CC"/>
                </a:solidFill>
                <a:latin typeface="Times New Roman" panose="02020603050405020304" pitchFamily="18" charset="0"/>
                <a:ea typeface="黑体" panose="02010609060101010101" pitchFamily="49" charset="-122"/>
              </a:rPr>
              <a:t>[S]</a:t>
            </a:r>
            <a:r>
              <a:rPr kumimoji="1" lang="zh-CN" altLang="en-US" sz="2400" dirty="0">
                <a:solidFill>
                  <a:srgbClr val="0000CC"/>
                </a:solidFill>
                <a:latin typeface="Times New Roman" panose="02020603050405020304" pitchFamily="18" charset="0"/>
                <a:ea typeface="黑体" panose="02010609060101010101" pitchFamily="49" charset="-122"/>
              </a:rPr>
              <a:t>：</a:t>
            </a:r>
            <a:r>
              <a:rPr kumimoji="1" lang="zh-CN" altLang="en-US" sz="2400" dirty="0">
                <a:latin typeface="Times New Roman" panose="02020603050405020304" pitchFamily="18" charset="0"/>
                <a:ea typeface="黑体" panose="02010609060101010101" pitchFamily="49" charset="-122"/>
              </a:rPr>
              <a:t>底物浓度</a:t>
            </a:r>
          </a:p>
          <a:p>
            <a:pPr eaLnBrk="1" hangingPunct="1">
              <a:lnSpc>
                <a:spcPct val="150000"/>
              </a:lnSpc>
              <a:spcBef>
                <a:spcPct val="0"/>
              </a:spcBef>
              <a:buFontTx/>
              <a:buNone/>
            </a:pPr>
            <a:r>
              <a:rPr kumimoji="1" lang="en-US" altLang="zh-CN" sz="2400" dirty="0">
                <a:solidFill>
                  <a:srgbClr val="0000CC"/>
                </a:solidFill>
                <a:latin typeface="Times New Roman" panose="02020603050405020304" pitchFamily="18" charset="0"/>
                <a:ea typeface="黑体" panose="02010609060101010101" pitchFamily="49" charset="-122"/>
              </a:rPr>
              <a:t>V</a:t>
            </a:r>
            <a:r>
              <a:rPr kumimoji="1" lang="en-US" altLang="zh-CN" sz="2400" baseline="-25000" dirty="0">
                <a:solidFill>
                  <a:srgbClr val="0000CC"/>
                </a:solidFill>
                <a:latin typeface="Times New Roman" panose="02020603050405020304" pitchFamily="18" charset="0"/>
                <a:ea typeface="黑体" panose="02010609060101010101" pitchFamily="49" charset="-122"/>
              </a:rPr>
              <a:t>0</a:t>
            </a:r>
            <a:r>
              <a:rPr kumimoji="1" lang="zh-CN" altLang="en-US" sz="2400" dirty="0">
                <a:solidFill>
                  <a:srgbClr val="0000CC"/>
                </a:solidFill>
                <a:latin typeface="Times New Roman" panose="02020603050405020304" pitchFamily="18" charset="0"/>
                <a:ea typeface="黑体" panose="02010609060101010101" pitchFamily="49" charset="-122"/>
              </a:rPr>
              <a:t>：</a:t>
            </a:r>
            <a:r>
              <a:rPr kumimoji="1" lang="zh-CN" altLang="en-US" sz="2400" dirty="0">
                <a:latin typeface="Times New Roman" panose="02020603050405020304" pitchFamily="18" charset="0"/>
                <a:ea typeface="黑体" panose="02010609060101010101" pitchFamily="49" charset="-122"/>
              </a:rPr>
              <a:t>初速度</a:t>
            </a:r>
            <a:r>
              <a:rPr kumimoji="1" lang="en-US" altLang="zh-CN" sz="2400" dirty="0">
                <a:latin typeface="Times New Roman" panose="02020603050405020304" pitchFamily="18" charset="0"/>
                <a:ea typeface="黑体" panose="02010609060101010101" pitchFamily="49" charset="-122"/>
              </a:rPr>
              <a:t>(initial reaction velocity)</a:t>
            </a:r>
            <a:endParaRPr kumimoji="1" lang="zh-CN" altLang="en-US" sz="2400" dirty="0">
              <a:latin typeface="Times New Roman" panose="02020603050405020304" pitchFamily="18" charset="0"/>
              <a:ea typeface="黑体" panose="02010609060101010101" pitchFamily="49" charset="-122"/>
            </a:endParaRPr>
          </a:p>
          <a:p>
            <a:pPr eaLnBrk="1" hangingPunct="1">
              <a:lnSpc>
                <a:spcPct val="150000"/>
              </a:lnSpc>
              <a:spcBef>
                <a:spcPct val="0"/>
              </a:spcBef>
              <a:buFontTx/>
              <a:buNone/>
            </a:pPr>
            <a:r>
              <a:rPr kumimoji="1" lang="en-US" altLang="zh-CN" sz="2400" dirty="0">
                <a:solidFill>
                  <a:srgbClr val="0000CC"/>
                </a:solidFill>
                <a:latin typeface="Times New Roman" panose="02020603050405020304" pitchFamily="18" charset="0"/>
                <a:ea typeface="黑体" panose="02010609060101010101" pitchFamily="49" charset="-122"/>
              </a:rPr>
              <a:t>V</a:t>
            </a:r>
            <a:r>
              <a:rPr kumimoji="1" lang="en-US" altLang="zh-CN" sz="2400" baseline="-25000" dirty="0">
                <a:solidFill>
                  <a:srgbClr val="0000CC"/>
                </a:solidFill>
                <a:latin typeface="Times New Roman" panose="02020603050405020304" pitchFamily="18" charset="0"/>
                <a:ea typeface="黑体" panose="02010609060101010101" pitchFamily="49" charset="-122"/>
              </a:rPr>
              <a:t>max</a:t>
            </a:r>
            <a:r>
              <a:rPr kumimoji="1" lang="zh-CN" altLang="en-US" sz="2400" dirty="0">
                <a:solidFill>
                  <a:srgbClr val="0000CC"/>
                </a:solidFill>
                <a:latin typeface="Times New Roman" panose="02020603050405020304" pitchFamily="18" charset="0"/>
                <a:ea typeface="黑体" panose="02010609060101010101" pitchFamily="49" charset="-122"/>
              </a:rPr>
              <a:t>：</a:t>
            </a:r>
            <a:r>
              <a:rPr kumimoji="1" lang="zh-CN" altLang="en-US" sz="2400" dirty="0">
                <a:latin typeface="Times New Roman" panose="02020603050405020304" pitchFamily="18" charset="0"/>
                <a:ea typeface="黑体" panose="02010609060101010101" pitchFamily="49" charset="-122"/>
              </a:rPr>
              <a:t>最大反应速度</a:t>
            </a:r>
            <a:r>
              <a:rPr kumimoji="1" lang="en-US" altLang="zh-CN" sz="2400" dirty="0">
                <a:latin typeface="Times New Roman" panose="02020603050405020304" pitchFamily="18" charset="0"/>
                <a:ea typeface="黑体" panose="02010609060101010101" pitchFamily="49" charset="-122"/>
              </a:rPr>
              <a:t>(</a:t>
            </a:r>
            <a:r>
              <a:rPr kumimoji="1" lang="en-US" altLang="zh-CN" sz="2400" dirty="0">
                <a:solidFill>
                  <a:srgbClr val="0000CC"/>
                </a:solidFill>
                <a:latin typeface="Times New Roman" panose="02020603050405020304" pitchFamily="18" charset="0"/>
                <a:ea typeface="黑体" panose="02010609060101010101" pitchFamily="49" charset="-122"/>
              </a:rPr>
              <a:t>max</a:t>
            </a:r>
            <a:r>
              <a:rPr kumimoji="1" lang="en-US" altLang="zh-CN" sz="2400" dirty="0">
                <a:latin typeface="Times New Roman" panose="02020603050405020304" pitchFamily="18" charset="0"/>
                <a:ea typeface="黑体" panose="02010609060101010101" pitchFamily="49" charset="-122"/>
              </a:rPr>
              <a:t>imum velocity) </a:t>
            </a:r>
            <a:endParaRPr kumimoji="1" lang="en-US" altLang="zh-CN" sz="2400" dirty="0">
              <a:solidFill>
                <a:srgbClr val="FFCC66"/>
              </a:solidFill>
              <a:latin typeface="Times New Roman" panose="02020603050405020304" pitchFamily="18" charset="0"/>
              <a:ea typeface="黑体" panose="02010609060101010101" pitchFamily="49" charset="-122"/>
            </a:endParaRPr>
          </a:p>
          <a:p>
            <a:pPr eaLnBrk="1" hangingPunct="1">
              <a:lnSpc>
                <a:spcPct val="150000"/>
              </a:lnSpc>
              <a:spcBef>
                <a:spcPct val="0"/>
              </a:spcBef>
              <a:buFontTx/>
              <a:buNone/>
            </a:pPr>
            <a:r>
              <a:rPr kumimoji="1" lang="zh-CN" altLang="en-US" sz="2400" dirty="0">
                <a:solidFill>
                  <a:srgbClr val="0000CC"/>
                </a:solidFill>
                <a:latin typeface="Times New Roman" panose="02020603050405020304" pitchFamily="18" charset="0"/>
                <a:ea typeface="黑体" panose="02010609060101010101" pitchFamily="49" charset="-122"/>
              </a:rPr>
              <a:t>Ｋ</a:t>
            </a:r>
            <a:r>
              <a:rPr kumimoji="1" lang="en-US" altLang="zh-CN" sz="2400" baseline="-25000" dirty="0">
                <a:solidFill>
                  <a:srgbClr val="0000CC"/>
                </a:solidFill>
                <a:latin typeface="Times New Roman" panose="02020603050405020304" pitchFamily="18" charset="0"/>
                <a:ea typeface="黑体" panose="02010609060101010101" pitchFamily="49" charset="-122"/>
              </a:rPr>
              <a:t>m</a:t>
            </a:r>
            <a:r>
              <a:rPr kumimoji="1" lang="zh-CN" altLang="en-US" sz="2400" dirty="0">
                <a:solidFill>
                  <a:srgbClr val="0000CC"/>
                </a:solidFill>
                <a:latin typeface="Times New Roman" panose="02020603050405020304" pitchFamily="18" charset="0"/>
                <a:ea typeface="黑体" panose="02010609060101010101" pitchFamily="49" charset="-122"/>
              </a:rPr>
              <a:t>：</a:t>
            </a:r>
            <a:r>
              <a:rPr kumimoji="1" lang="zh-CN" altLang="en-US" sz="2400" dirty="0">
                <a:latin typeface="Times New Roman" panose="02020603050405020304" pitchFamily="18" charset="0"/>
                <a:ea typeface="黑体" panose="02010609060101010101" pitchFamily="49" charset="-122"/>
              </a:rPr>
              <a:t>米氏常数</a:t>
            </a:r>
            <a:r>
              <a:rPr kumimoji="1" lang="en-US" altLang="zh-CN" sz="2400" dirty="0">
                <a:latin typeface="Times New Roman" panose="02020603050405020304" pitchFamily="18" charset="0"/>
                <a:ea typeface="黑体" panose="02010609060101010101" pitchFamily="49" charset="-122"/>
              </a:rPr>
              <a:t>(Michaelis constant)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dissolve">
                                      <p:cBhvr>
                                        <p:cTn id="7" dur="500"/>
                                        <p:tgtEl>
                                          <p:spTgt spid="19">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animEffect transition="in" filter="dissolve">
                                      <p:cBhvr>
                                        <p:cTn id="10" dur="500"/>
                                        <p:tgtEl>
                                          <p:spTgt spid="19">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animEffect transition="in" filter="dissolve">
                                      <p:cBhvr>
                                        <p:cTn id="13" dur="500"/>
                                        <p:tgtEl>
                                          <p:spTgt spid="19">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9">
                                            <p:txEl>
                                              <p:pRg st="3" end="3"/>
                                            </p:txEl>
                                          </p:spTgt>
                                        </p:tgtEl>
                                        <p:attrNameLst>
                                          <p:attrName>style.visibility</p:attrName>
                                        </p:attrNameLst>
                                      </p:cBhvr>
                                      <p:to>
                                        <p:strVal val="visible"/>
                                      </p:to>
                                    </p:set>
                                    <p:animEffect transition="in" filter="dissolve">
                                      <p:cBhvr>
                                        <p:cTn id="16" dur="500"/>
                                        <p:tgtEl>
                                          <p:spTgt spid="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9490" name="Text Box 2">
            <a:extLst>
              <a:ext uri="{FF2B5EF4-FFF2-40B4-BE49-F238E27FC236}">
                <a16:creationId xmlns:a16="http://schemas.microsoft.com/office/drawing/2014/main" id="{5014872B-DEB4-4E3A-A447-4099B21A9859}"/>
              </a:ext>
            </a:extLst>
          </p:cNvPr>
          <p:cNvSpPr txBox="1">
            <a:spLocks noChangeArrowheads="1"/>
          </p:cNvSpPr>
          <p:nvPr/>
        </p:nvSpPr>
        <p:spPr bwMode="auto">
          <a:xfrm>
            <a:off x="3014664" y="2998789"/>
            <a:ext cx="6753225"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74675"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Clr>
                <a:schemeClr val="tx2"/>
              </a:buClr>
              <a:buSzPct val="75000"/>
              <a:buFont typeface="Wingdings" panose="05000000000000000000" pitchFamily="2" charset="2"/>
              <a:buNone/>
            </a:pPr>
            <a:r>
              <a:rPr kumimoji="1" lang="en-US" altLang="zh-CN" sz="2800" dirty="0">
                <a:latin typeface="Times New Roman" panose="02020603050405020304" pitchFamily="18" charset="0"/>
                <a:ea typeface="黑体" panose="02010609060101010101" pitchFamily="49" charset="-122"/>
              </a:rPr>
              <a:t>k</a:t>
            </a:r>
            <a:r>
              <a:rPr kumimoji="1" lang="en-US" altLang="zh-CN" sz="2800" baseline="-25000" dirty="0">
                <a:latin typeface="Times New Roman" panose="02020603050405020304" pitchFamily="18" charset="0"/>
                <a:ea typeface="黑体" panose="02010609060101010101" pitchFamily="49" charset="-122"/>
              </a:rPr>
              <a:t>1  </a:t>
            </a:r>
            <a:r>
              <a:rPr kumimoji="1" lang="en-US" altLang="zh-CN" sz="2800" dirty="0">
                <a:latin typeface="Times New Roman" panose="02020603050405020304" pitchFamily="18" charset="0"/>
                <a:ea typeface="黑体" panose="02010609060101010101" pitchFamily="49" charset="-122"/>
              </a:rPr>
              <a:t>:   ES</a:t>
            </a:r>
            <a:r>
              <a:rPr kumimoji="1" lang="zh-CN" altLang="zh-CN" sz="2800" u="sng" dirty="0">
                <a:solidFill>
                  <a:srgbClr val="0000CC"/>
                </a:solidFill>
                <a:latin typeface="Times New Roman" panose="02020603050405020304" pitchFamily="18" charset="0"/>
                <a:ea typeface="黑体" panose="02010609060101010101" pitchFamily="49" charset="-122"/>
              </a:rPr>
              <a:t>生成</a:t>
            </a:r>
            <a:r>
              <a:rPr kumimoji="1" lang="zh-CN" altLang="zh-CN" sz="2800" dirty="0">
                <a:latin typeface="Times New Roman" panose="02020603050405020304" pitchFamily="18" charset="0"/>
                <a:ea typeface="黑体" panose="02010609060101010101" pitchFamily="49" charset="-122"/>
              </a:rPr>
              <a:t>的反应速度常数</a:t>
            </a:r>
            <a:endParaRPr kumimoji="1" lang="zh-CN" altLang="en-US" sz="2800" dirty="0">
              <a:latin typeface="Times New Roman" panose="02020603050405020304" pitchFamily="18" charset="0"/>
              <a:ea typeface="黑体" panose="02010609060101010101" pitchFamily="49" charset="-122"/>
            </a:endParaRPr>
          </a:p>
          <a:p>
            <a:pPr eaLnBrk="1" hangingPunct="1">
              <a:lnSpc>
                <a:spcPct val="130000"/>
              </a:lnSpc>
              <a:spcBef>
                <a:spcPct val="0"/>
              </a:spcBef>
              <a:buClr>
                <a:schemeClr val="tx2"/>
              </a:buClr>
              <a:buSzPct val="75000"/>
              <a:buFont typeface="Wingdings" panose="05000000000000000000" pitchFamily="2" charset="2"/>
              <a:buNone/>
            </a:pPr>
            <a:r>
              <a:rPr kumimoji="1" lang="en-US" altLang="zh-CN" sz="2800" dirty="0">
                <a:latin typeface="Times New Roman" panose="02020603050405020304" pitchFamily="18" charset="0"/>
                <a:ea typeface="黑体" panose="02010609060101010101" pitchFamily="49" charset="-122"/>
              </a:rPr>
              <a:t>k</a:t>
            </a:r>
            <a:r>
              <a:rPr kumimoji="1" lang="en-US" altLang="zh-CN" sz="2800" baseline="-25000" dirty="0">
                <a:latin typeface="Times New Roman" panose="02020603050405020304" pitchFamily="18" charset="0"/>
                <a:ea typeface="黑体" panose="02010609060101010101" pitchFamily="49" charset="-122"/>
              </a:rPr>
              <a:t>2 </a:t>
            </a:r>
            <a:r>
              <a:rPr kumimoji="1" lang="en-US" altLang="zh-CN" sz="2800" dirty="0">
                <a:latin typeface="Times New Roman" panose="02020603050405020304" pitchFamily="18" charset="0"/>
                <a:ea typeface="黑体" panose="02010609060101010101" pitchFamily="49" charset="-122"/>
              </a:rPr>
              <a:t>:    ES</a:t>
            </a:r>
            <a:r>
              <a:rPr kumimoji="1" lang="zh-CN" altLang="zh-CN" sz="2800" u="sng" dirty="0">
                <a:solidFill>
                  <a:srgbClr val="0000CC"/>
                </a:solidFill>
                <a:latin typeface="Times New Roman" panose="02020603050405020304" pitchFamily="18" charset="0"/>
                <a:ea typeface="黑体" panose="02010609060101010101" pitchFamily="49" charset="-122"/>
              </a:rPr>
              <a:t>分解为</a:t>
            </a:r>
            <a:r>
              <a:rPr kumimoji="1" lang="en-US" altLang="zh-CN" sz="2800" u="sng" dirty="0">
                <a:solidFill>
                  <a:srgbClr val="0000CC"/>
                </a:solidFill>
                <a:latin typeface="Times New Roman" panose="02020603050405020304" pitchFamily="18" charset="0"/>
                <a:ea typeface="黑体" panose="02010609060101010101" pitchFamily="49" charset="-122"/>
              </a:rPr>
              <a:t>E+S</a:t>
            </a:r>
            <a:r>
              <a:rPr kumimoji="1" lang="zh-CN" altLang="zh-CN" sz="2800" dirty="0">
                <a:latin typeface="Times New Roman" panose="02020603050405020304" pitchFamily="18" charset="0"/>
                <a:ea typeface="黑体" panose="02010609060101010101" pitchFamily="49" charset="-122"/>
              </a:rPr>
              <a:t>的反应速度常数</a:t>
            </a:r>
            <a:endParaRPr kumimoji="1" lang="zh-CN" altLang="en-US" sz="2800" dirty="0">
              <a:latin typeface="Times New Roman" panose="02020603050405020304" pitchFamily="18" charset="0"/>
              <a:ea typeface="黑体" panose="02010609060101010101" pitchFamily="49" charset="-122"/>
            </a:endParaRPr>
          </a:p>
          <a:p>
            <a:pPr eaLnBrk="1" hangingPunct="1">
              <a:lnSpc>
                <a:spcPct val="130000"/>
              </a:lnSpc>
              <a:spcBef>
                <a:spcPct val="0"/>
              </a:spcBef>
              <a:buClr>
                <a:schemeClr val="tx2"/>
              </a:buClr>
              <a:buSzPct val="75000"/>
              <a:buFont typeface="Wingdings" panose="05000000000000000000" pitchFamily="2" charset="2"/>
              <a:buNone/>
            </a:pPr>
            <a:r>
              <a:rPr kumimoji="1" lang="en-US" altLang="zh-CN" sz="2800" dirty="0">
                <a:latin typeface="Times New Roman" panose="02020603050405020304" pitchFamily="18" charset="0"/>
                <a:ea typeface="黑体" panose="02010609060101010101" pitchFamily="49" charset="-122"/>
              </a:rPr>
              <a:t>k</a:t>
            </a:r>
            <a:r>
              <a:rPr kumimoji="1" lang="en-US" altLang="zh-CN" sz="2800" baseline="-25000" dirty="0">
                <a:latin typeface="Times New Roman" panose="02020603050405020304" pitchFamily="18" charset="0"/>
                <a:ea typeface="黑体" panose="02010609060101010101" pitchFamily="49" charset="-122"/>
              </a:rPr>
              <a:t>3 </a:t>
            </a:r>
            <a:r>
              <a:rPr kumimoji="1" lang="en-US" altLang="zh-CN" sz="2800" dirty="0">
                <a:latin typeface="Times New Roman" panose="02020603050405020304" pitchFamily="18" charset="0"/>
                <a:ea typeface="黑体" panose="02010609060101010101" pitchFamily="49" charset="-122"/>
              </a:rPr>
              <a:t>:    ES</a:t>
            </a:r>
            <a:r>
              <a:rPr kumimoji="1" lang="zh-CN" altLang="zh-CN" sz="2800" u="sng" dirty="0">
                <a:solidFill>
                  <a:srgbClr val="0000CC"/>
                </a:solidFill>
                <a:latin typeface="Times New Roman" panose="02020603050405020304" pitchFamily="18" charset="0"/>
                <a:ea typeface="黑体" panose="02010609060101010101" pitchFamily="49" charset="-122"/>
              </a:rPr>
              <a:t>分解为</a:t>
            </a:r>
            <a:r>
              <a:rPr kumimoji="1" lang="en-US" altLang="zh-CN" sz="2800" u="sng" dirty="0">
                <a:solidFill>
                  <a:srgbClr val="0000CC"/>
                </a:solidFill>
                <a:latin typeface="Times New Roman" panose="02020603050405020304" pitchFamily="18" charset="0"/>
                <a:ea typeface="黑体" panose="02010609060101010101" pitchFamily="49" charset="-122"/>
              </a:rPr>
              <a:t>E+ P</a:t>
            </a:r>
            <a:r>
              <a:rPr kumimoji="1" lang="zh-CN" altLang="zh-CN" sz="2800" dirty="0">
                <a:latin typeface="Times New Roman" panose="02020603050405020304" pitchFamily="18" charset="0"/>
                <a:ea typeface="黑体" panose="02010609060101010101" pitchFamily="49" charset="-122"/>
              </a:rPr>
              <a:t>的反应速度常数</a:t>
            </a:r>
            <a:endParaRPr kumimoji="1" lang="zh-CN" altLang="en-US" sz="2800" dirty="0">
              <a:latin typeface="Times New Roman" panose="02020603050405020304" pitchFamily="18" charset="0"/>
              <a:ea typeface="黑体" panose="02010609060101010101" pitchFamily="49" charset="-122"/>
            </a:endParaRPr>
          </a:p>
        </p:txBody>
      </p:sp>
      <p:grpSp>
        <p:nvGrpSpPr>
          <p:cNvPr id="210947" name="Group 3">
            <a:extLst>
              <a:ext uri="{FF2B5EF4-FFF2-40B4-BE49-F238E27FC236}">
                <a16:creationId xmlns:a16="http://schemas.microsoft.com/office/drawing/2014/main" id="{926FF9FF-7E16-4B5C-860B-7C62885CB6E4}"/>
              </a:ext>
            </a:extLst>
          </p:cNvPr>
          <p:cNvGrpSpPr>
            <a:grpSpLocks/>
          </p:cNvGrpSpPr>
          <p:nvPr/>
        </p:nvGrpSpPr>
        <p:grpSpPr bwMode="auto">
          <a:xfrm>
            <a:off x="3071813" y="1555750"/>
            <a:ext cx="5472112" cy="1244600"/>
            <a:chOff x="1474" y="2143"/>
            <a:chExt cx="3094" cy="502"/>
          </a:xfrm>
        </p:grpSpPr>
        <p:grpSp>
          <p:nvGrpSpPr>
            <p:cNvPr id="210954" name="Group 4">
              <a:extLst>
                <a:ext uri="{FF2B5EF4-FFF2-40B4-BE49-F238E27FC236}">
                  <a16:creationId xmlns:a16="http://schemas.microsoft.com/office/drawing/2014/main" id="{4A15CDF0-9373-45E6-B861-4B5BFD10CEB6}"/>
                </a:ext>
              </a:extLst>
            </p:cNvPr>
            <p:cNvGrpSpPr>
              <a:grpSpLocks/>
            </p:cNvGrpSpPr>
            <p:nvPr/>
          </p:nvGrpSpPr>
          <p:grpSpPr bwMode="auto">
            <a:xfrm>
              <a:off x="1474" y="2143"/>
              <a:ext cx="2115" cy="502"/>
              <a:chOff x="1474" y="2143"/>
              <a:chExt cx="2115" cy="502"/>
            </a:xfrm>
          </p:grpSpPr>
          <p:sp>
            <p:nvSpPr>
              <p:cNvPr id="210957" name="Text Box 5">
                <a:extLst>
                  <a:ext uri="{FF2B5EF4-FFF2-40B4-BE49-F238E27FC236}">
                    <a16:creationId xmlns:a16="http://schemas.microsoft.com/office/drawing/2014/main" id="{27B452DF-2682-45EF-AF6A-C4966F5023B9}"/>
                  </a:ext>
                </a:extLst>
              </p:cNvPr>
              <p:cNvSpPr txBox="1">
                <a:spLocks noChangeArrowheads="1"/>
              </p:cNvSpPr>
              <p:nvPr/>
            </p:nvSpPr>
            <p:spPr bwMode="auto">
              <a:xfrm>
                <a:off x="1474" y="2296"/>
                <a:ext cx="77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b="1">
                    <a:latin typeface="Times New Roman" panose="02020603050405020304" pitchFamily="18" charset="0"/>
                    <a:ea typeface="黑体" panose="02010609060101010101" pitchFamily="49" charset="-122"/>
                  </a:rPr>
                  <a:t>E + S</a:t>
                </a:r>
              </a:p>
            </p:txBody>
          </p:sp>
          <p:grpSp>
            <p:nvGrpSpPr>
              <p:cNvPr id="210958" name="Group 6">
                <a:extLst>
                  <a:ext uri="{FF2B5EF4-FFF2-40B4-BE49-F238E27FC236}">
                    <a16:creationId xmlns:a16="http://schemas.microsoft.com/office/drawing/2014/main" id="{E2C8F0A8-3196-4919-B472-85FE788DD1C2}"/>
                  </a:ext>
                </a:extLst>
              </p:cNvPr>
              <p:cNvGrpSpPr>
                <a:grpSpLocks/>
              </p:cNvGrpSpPr>
              <p:nvPr/>
            </p:nvGrpSpPr>
            <p:grpSpPr bwMode="auto">
              <a:xfrm>
                <a:off x="2251" y="2143"/>
                <a:ext cx="436" cy="502"/>
                <a:chOff x="3657" y="605"/>
                <a:chExt cx="430" cy="554"/>
              </a:xfrm>
            </p:grpSpPr>
            <p:sp>
              <p:nvSpPr>
                <p:cNvPr id="210962" name="Text Box 7">
                  <a:extLst>
                    <a:ext uri="{FF2B5EF4-FFF2-40B4-BE49-F238E27FC236}">
                      <a16:creationId xmlns:a16="http://schemas.microsoft.com/office/drawing/2014/main" id="{6C4011ED-A97A-48EE-9D8A-15FD74910218}"/>
                    </a:ext>
                  </a:extLst>
                </p:cNvPr>
                <p:cNvSpPr txBox="1">
                  <a:spLocks noChangeArrowheads="1"/>
                </p:cNvSpPr>
                <p:nvPr/>
              </p:nvSpPr>
              <p:spPr bwMode="auto">
                <a:xfrm>
                  <a:off x="3657" y="605"/>
                  <a:ext cx="3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  k</a:t>
                  </a:r>
                  <a:r>
                    <a:rPr kumimoji="1" lang="en-US" altLang="zh-CN" sz="2400" b="1" baseline="-25000">
                      <a:latin typeface="Times New Roman" panose="02020603050405020304" pitchFamily="18" charset="0"/>
                      <a:ea typeface="黑体" panose="02010609060101010101" pitchFamily="49" charset="-122"/>
                    </a:rPr>
                    <a:t>1</a:t>
                  </a:r>
                </a:p>
              </p:txBody>
            </p:sp>
            <p:sp>
              <p:nvSpPr>
                <p:cNvPr id="210963" name="Text Box 8">
                  <a:extLst>
                    <a:ext uri="{FF2B5EF4-FFF2-40B4-BE49-F238E27FC236}">
                      <a16:creationId xmlns:a16="http://schemas.microsoft.com/office/drawing/2014/main" id="{887EFC32-D042-46BC-8E45-C01D813EB4AF}"/>
                    </a:ext>
                  </a:extLst>
                </p:cNvPr>
                <p:cNvSpPr txBox="1">
                  <a:spLocks noChangeArrowheads="1"/>
                </p:cNvSpPr>
                <p:nvPr/>
              </p:nvSpPr>
              <p:spPr bwMode="auto">
                <a:xfrm>
                  <a:off x="3815" y="926"/>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b="1" dirty="0">
                      <a:latin typeface="Times New Roman" panose="02020603050405020304" pitchFamily="18" charset="0"/>
                      <a:ea typeface="黑体" panose="02010609060101010101" pitchFamily="49" charset="-122"/>
                    </a:rPr>
                    <a:t>k</a:t>
                  </a:r>
                  <a:r>
                    <a:rPr kumimoji="1" lang="en-US" altLang="zh-CN" sz="2400" b="1" baseline="-25000" dirty="0">
                      <a:latin typeface="Times New Roman" panose="02020603050405020304" pitchFamily="18" charset="0"/>
                      <a:ea typeface="黑体" panose="02010609060101010101" pitchFamily="49" charset="-122"/>
                    </a:rPr>
                    <a:t>2</a:t>
                  </a:r>
                </a:p>
              </p:txBody>
            </p:sp>
            <p:sp>
              <p:nvSpPr>
                <p:cNvPr id="210964" name="Line 9">
                  <a:extLst>
                    <a:ext uri="{FF2B5EF4-FFF2-40B4-BE49-F238E27FC236}">
                      <a16:creationId xmlns:a16="http://schemas.microsoft.com/office/drawing/2014/main" id="{4DCC0B5D-230C-499E-B63D-BD5E619D36D1}"/>
                    </a:ext>
                  </a:extLst>
                </p:cNvPr>
                <p:cNvSpPr>
                  <a:spLocks noChangeShapeType="1"/>
                </p:cNvSpPr>
                <p:nvPr/>
              </p:nvSpPr>
              <p:spPr bwMode="auto">
                <a:xfrm>
                  <a:off x="3696" y="862"/>
                  <a:ext cx="384" cy="0"/>
                </a:xfrm>
                <a:prstGeom prst="line">
                  <a:avLst/>
                </a:prstGeom>
                <a:noFill/>
                <a:ln w="38100">
                  <a:solidFill>
                    <a:srgbClr val="0000CC"/>
                  </a:solidFill>
                  <a:round/>
                  <a:headEnd/>
                  <a:tailEnd type="triangle" w="med" len="me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210965" name="Line 10">
                  <a:extLst>
                    <a:ext uri="{FF2B5EF4-FFF2-40B4-BE49-F238E27FC236}">
                      <a16:creationId xmlns:a16="http://schemas.microsoft.com/office/drawing/2014/main" id="{B45596FC-5238-4AE2-998A-C8378696DF6E}"/>
                    </a:ext>
                  </a:extLst>
                </p:cNvPr>
                <p:cNvSpPr>
                  <a:spLocks noChangeShapeType="1"/>
                </p:cNvSpPr>
                <p:nvPr/>
              </p:nvSpPr>
              <p:spPr bwMode="auto">
                <a:xfrm flipH="1">
                  <a:off x="3696" y="958"/>
                  <a:ext cx="384" cy="0"/>
                </a:xfrm>
                <a:prstGeom prst="line">
                  <a:avLst/>
                </a:prstGeom>
                <a:noFill/>
                <a:ln w="38100">
                  <a:solidFill>
                    <a:srgbClr val="0000CC"/>
                  </a:solidFill>
                  <a:round/>
                  <a:headEnd/>
                  <a:tailEnd type="triangle" w="med" len="med"/>
                </a:ln>
                <a:extLst>
                  <a:ext uri="{909E8E84-426E-40DD-AFC4-6F175D3DCCD1}">
                    <a14:hiddenFill xmlns:a14="http://schemas.microsoft.com/office/drawing/2010/main">
                      <a:noFill/>
                    </a14:hiddenFill>
                  </a:ext>
                </a:extLst>
              </p:spPr>
              <p:txBody>
                <a:bodyPr rot="10800000" vert="eaVert" wrap="none">
                  <a:spAutoFit/>
                </a:bodyPr>
                <a:lstStyle/>
                <a:p>
                  <a:endParaRPr lang="zh-CN" altLang="en-US"/>
                </a:p>
              </p:txBody>
            </p:sp>
          </p:grpSp>
          <p:grpSp>
            <p:nvGrpSpPr>
              <p:cNvPr id="210959" name="Group 11">
                <a:extLst>
                  <a:ext uri="{FF2B5EF4-FFF2-40B4-BE49-F238E27FC236}">
                    <a16:creationId xmlns:a16="http://schemas.microsoft.com/office/drawing/2014/main" id="{A1B4ACAA-10B3-4A37-94FA-E5A4317B5106}"/>
                  </a:ext>
                </a:extLst>
              </p:cNvPr>
              <p:cNvGrpSpPr>
                <a:grpSpLocks/>
              </p:cNvGrpSpPr>
              <p:nvPr/>
            </p:nvGrpSpPr>
            <p:grpSpPr bwMode="auto">
              <a:xfrm>
                <a:off x="3198" y="2190"/>
                <a:ext cx="391" cy="216"/>
                <a:chOff x="4464" y="654"/>
                <a:chExt cx="384" cy="238"/>
              </a:xfrm>
            </p:grpSpPr>
            <p:sp>
              <p:nvSpPr>
                <p:cNvPr id="210960" name="Text Box 12">
                  <a:extLst>
                    <a:ext uri="{FF2B5EF4-FFF2-40B4-BE49-F238E27FC236}">
                      <a16:creationId xmlns:a16="http://schemas.microsoft.com/office/drawing/2014/main" id="{F509B895-05B1-4794-B75A-5A8DE23A4808}"/>
                    </a:ext>
                  </a:extLst>
                </p:cNvPr>
                <p:cNvSpPr txBox="1">
                  <a:spLocks noChangeArrowheads="1"/>
                </p:cNvSpPr>
                <p:nvPr/>
              </p:nvSpPr>
              <p:spPr bwMode="auto">
                <a:xfrm>
                  <a:off x="4524" y="654"/>
                  <a:ext cx="27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b="1" dirty="0">
                      <a:latin typeface="Times New Roman" panose="02020603050405020304" pitchFamily="18" charset="0"/>
                      <a:ea typeface="黑体" panose="02010609060101010101" pitchFamily="49" charset="-122"/>
                    </a:rPr>
                    <a:t>k</a:t>
                  </a:r>
                  <a:r>
                    <a:rPr kumimoji="1" lang="en-US" altLang="zh-CN" sz="2400" b="1" baseline="-25000" dirty="0">
                      <a:latin typeface="Times New Roman" panose="02020603050405020304" pitchFamily="18" charset="0"/>
                      <a:ea typeface="黑体" panose="02010609060101010101" pitchFamily="49" charset="-122"/>
                    </a:rPr>
                    <a:t>3</a:t>
                  </a:r>
                </a:p>
              </p:txBody>
            </p:sp>
            <p:sp>
              <p:nvSpPr>
                <p:cNvPr id="210961" name="Line 13">
                  <a:extLst>
                    <a:ext uri="{FF2B5EF4-FFF2-40B4-BE49-F238E27FC236}">
                      <a16:creationId xmlns:a16="http://schemas.microsoft.com/office/drawing/2014/main" id="{8FB76424-12D1-4A77-AF55-F495A9E79631}"/>
                    </a:ext>
                  </a:extLst>
                </p:cNvPr>
                <p:cNvSpPr>
                  <a:spLocks noChangeShapeType="1"/>
                </p:cNvSpPr>
                <p:nvPr/>
              </p:nvSpPr>
              <p:spPr bwMode="auto">
                <a:xfrm>
                  <a:off x="4464" y="892"/>
                  <a:ext cx="384"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grpSp>
        </p:grpSp>
        <p:sp>
          <p:nvSpPr>
            <p:cNvPr id="210955" name="Text Box 14">
              <a:extLst>
                <a:ext uri="{FF2B5EF4-FFF2-40B4-BE49-F238E27FC236}">
                  <a16:creationId xmlns:a16="http://schemas.microsoft.com/office/drawing/2014/main" id="{543A732A-47F1-4117-BE1F-09A9139BD4F2}"/>
                </a:ext>
              </a:extLst>
            </p:cNvPr>
            <p:cNvSpPr txBox="1">
              <a:spLocks noChangeArrowheads="1"/>
            </p:cNvSpPr>
            <p:nvPr/>
          </p:nvSpPr>
          <p:spPr bwMode="auto">
            <a:xfrm>
              <a:off x="2699" y="2296"/>
              <a:ext cx="54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en-US" altLang="zh-CN" b="1">
                  <a:solidFill>
                    <a:srgbClr val="FFFF99"/>
                  </a:solidFill>
                  <a:latin typeface="Times New Roman" panose="02020603050405020304" pitchFamily="18" charset="0"/>
                  <a:ea typeface="黑体" panose="02010609060101010101" pitchFamily="49" charset="-122"/>
                </a:rPr>
                <a:t> </a:t>
              </a:r>
              <a:r>
                <a:rPr kumimoji="1" lang="en-US" altLang="zh-CN" b="1">
                  <a:solidFill>
                    <a:srgbClr val="FF0000"/>
                  </a:solidFill>
                  <a:latin typeface="Times New Roman" panose="02020603050405020304" pitchFamily="18" charset="0"/>
                  <a:ea typeface="黑体" panose="02010609060101010101" pitchFamily="49" charset="-122"/>
                </a:rPr>
                <a:t>ES</a:t>
              </a:r>
            </a:p>
          </p:txBody>
        </p:sp>
        <p:sp>
          <p:nvSpPr>
            <p:cNvPr id="210956" name="Text Box 15">
              <a:extLst>
                <a:ext uri="{FF2B5EF4-FFF2-40B4-BE49-F238E27FC236}">
                  <a16:creationId xmlns:a16="http://schemas.microsoft.com/office/drawing/2014/main" id="{1C735EBF-CA82-4B56-AF7F-F4D3724E4A88}"/>
                </a:ext>
              </a:extLst>
            </p:cNvPr>
            <p:cNvSpPr txBox="1">
              <a:spLocks noChangeArrowheads="1"/>
            </p:cNvSpPr>
            <p:nvPr/>
          </p:nvSpPr>
          <p:spPr bwMode="auto">
            <a:xfrm>
              <a:off x="3651" y="2296"/>
              <a:ext cx="91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b="1">
                  <a:latin typeface="Times New Roman" panose="02020603050405020304" pitchFamily="18" charset="0"/>
                  <a:ea typeface="黑体" panose="02010609060101010101" pitchFamily="49" charset="-122"/>
                </a:rPr>
                <a:t>E + P</a:t>
              </a:r>
            </a:p>
          </p:txBody>
        </p:sp>
      </p:grpSp>
      <p:sp>
        <p:nvSpPr>
          <p:cNvPr id="959504" name="Rectangle 16">
            <a:extLst>
              <a:ext uri="{FF2B5EF4-FFF2-40B4-BE49-F238E27FC236}">
                <a16:creationId xmlns:a16="http://schemas.microsoft.com/office/drawing/2014/main" id="{05D6C6DA-A634-49A7-B1A4-C310B89548A2}"/>
              </a:ext>
            </a:extLst>
          </p:cNvPr>
          <p:cNvSpPr>
            <a:spLocks noChangeArrowheads="1"/>
          </p:cNvSpPr>
          <p:nvPr/>
        </p:nvSpPr>
        <p:spPr bwMode="auto">
          <a:xfrm>
            <a:off x="2424114" y="620714"/>
            <a:ext cx="7343775" cy="534987"/>
          </a:xfrm>
          <a:prstGeom prst="rect">
            <a:avLst/>
          </a:prstGeom>
          <a:noFill/>
          <a:ln w="9525">
            <a:noFill/>
            <a:miter lim="800000"/>
            <a:headEnd/>
            <a:tailEnd/>
          </a:ln>
          <a:effectLst/>
        </p:spPr>
        <p:txBody>
          <a:bodyPr>
            <a:spAutoFit/>
          </a:bodyPr>
          <a:lstStyle/>
          <a:p>
            <a:pPr marL="609600" indent="-609600" algn="ctr" eaLnBrk="1" hangingPunct="1">
              <a:lnSpc>
                <a:spcPct val="90000"/>
              </a:lnSpc>
              <a:spcBef>
                <a:spcPct val="20000"/>
              </a:spcBef>
              <a:buClr>
                <a:schemeClr val="tx2"/>
              </a:buClr>
              <a:buSzPct val="75000"/>
              <a:defRPr/>
            </a:pPr>
            <a:r>
              <a:rPr kumimoji="1" lang="zh-CN" altLang="en-US" sz="3200" dirty="0">
                <a:solidFill>
                  <a:srgbClr val="0000CC"/>
                </a:solidFill>
                <a:latin typeface="Times New Roman" pitchFamily="18" charset="0"/>
                <a:ea typeface="黑体" pitchFamily="49" charset="-122"/>
              </a:rPr>
              <a:t>米氏方程基于酶促反应的中间产物学说</a:t>
            </a:r>
            <a:endParaRPr kumimoji="1" lang="zh-CN" altLang="en-US" sz="3200" dirty="0">
              <a:solidFill>
                <a:srgbClr val="0000CC"/>
              </a:solidFill>
              <a:effectLst>
                <a:outerShdw blurRad="38100" dist="38100" dir="2700000" algn="tl">
                  <a:srgbClr val="C0C0C0"/>
                </a:outerShdw>
              </a:effectLst>
              <a:latin typeface="Times New Roman" pitchFamily="18" charset="0"/>
              <a:ea typeface="黑体" pitchFamily="49" charset="-122"/>
            </a:endParaRPr>
          </a:p>
        </p:txBody>
      </p:sp>
      <p:sp>
        <p:nvSpPr>
          <p:cNvPr id="25" name="Text Box 39">
            <a:extLst>
              <a:ext uri="{FF2B5EF4-FFF2-40B4-BE49-F238E27FC236}">
                <a16:creationId xmlns:a16="http://schemas.microsoft.com/office/drawing/2014/main" id="{60FEF2EF-4775-4400-9C23-82A9F613F4C3}"/>
              </a:ext>
            </a:extLst>
          </p:cNvPr>
          <p:cNvSpPr txBox="1">
            <a:spLocks noChangeArrowheads="1"/>
          </p:cNvSpPr>
          <p:nvPr/>
        </p:nvSpPr>
        <p:spPr bwMode="auto">
          <a:xfrm>
            <a:off x="4425951" y="5157789"/>
            <a:ext cx="222726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i="1">
                <a:solidFill>
                  <a:schemeClr val="tx2"/>
                </a:solidFill>
                <a:latin typeface="Times New Roman" panose="02020603050405020304" pitchFamily="18" charset="0"/>
                <a:ea typeface="黑体" panose="02010609060101010101" pitchFamily="49" charset="-122"/>
              </a:rPr>
              <a:t>K</a:t>
            </a:r>
            <a:r>
              <a:rPr kumimoji="1" lang="en-US" altLang="zh-CN" baseline="-25000">
                <a:solidFill>
                  <a:schemeClr val="tx2"/>
                </a:solidFill>
                <a:latin typeface="Times New Roman" panose="02020603050405020304" pitchFamily="18" charset="0"/>
                <a:ea typeface="黑体" panose="02010609060101010101" pitchFamily="49" charset="-122"/>
              </a:rPr>
              <a:t>m </a:t>
            </a:r>
            <a:r>
              <a:rPr kumimoji="1" lang="en-US" altLang="zh-CN">
                <a:solidFill>
                  <a:schemeClr val="tx2"/>
                </a:solidFill>
                <a:latin typeface="Times New Roman" panose="02020603050405020304" pitchFamily="18" charset="0"/>
                <a:ea typeface="黑体" panose="02010609060101010101" pitchFamily="49" charset="-122"/>
              </a:rPr>
              <a:t>=</a:t>
            </a:r>
            <a:endParaRPr kumimoji="1" lang="zh-CN" altLang="en-US">
              <a:solidFill>
                <a:srgbClr val="FFCC00"/>
              </a:solidFill>
              <a:latin typeface="Times New Roman" panose="02020603050405020304" pitchFamily="18" charset="0"/>
              <a:ea typeface="黑体" panose="02010609060101010101" pitchFamily="49" charset="-122"/>
            </a:endParaRPr>
          </a:p>
        </p:txBody>
      </p:sp>
      <p:sp>
        <p:nvSpPr>
          <p:cNvPr id="26" name="Line 40">
            <a:extLst>
              <a:ext uri="{FF2B5EF4-FFF2-40B4-BE49-F238E27FC236}">
                <a16:creationId xmlns:a16="http://schemas.microsoft.com/office/drawing/2014/main" id="{E6EFD29A-6FF6-4391-B04B-94B76C09BB4D}"/>
              </a:ext>
            </a:extLst>
          </p:cNvPr>
          <p:cNvSpPr>
            <a:spLocks noChangeShapeType="1"/>
          </p:cNvSpPr>
          <p:nvPr/>
        </p:nvSpPr>
        <p:spPr bwMode="auto">
          <a:xfrm>
            <a:off x="5516563" y="5516563"/>
            <a:ext cx="1371600"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3" name="文本框 2">
            <a:extLst>
              <a:ext uri="{FF2B5EF4-FFF2-40B4-BE49-F238E27FC236}">
                <a16:creationId xmlns:a16="http://schemas.microsoft.com/office/drawing/2014/main" id="{2C126CE9-EB1D-4178-BB37-E1B76E2ECE80}"/>
              </a:ext>
            </a:extLst>
          </p:cNvPr>
          <p:cNvSpPr txBox="1">
            <a:spLocks noChangeArrowheads="1"/>
          </p:cNvSpPr>
          <p:nvPr/>
        </p:nvSpPr>
        <p:spPr bwMode="auto">
          <a:xfrm>
            <a:off x="3816350" y="6092825"/>
            <a:ext cx="51498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a:solidFill>
                  <a:srgbClr val="C00000"/>
                </a:solidFill>
                <a:latin typeface="微软雅黑" panose="020B0503020204020204" pitchFamily="34" charset="-122"/>
                <a:ea typeface="微软雅黑" panose="020B0503020204020204" pitchFamily="34" charset="-122"/>
              </a:rPr>
              <a:t>K</a:t>
            </a:r>
            <a:r>
              <a:rPr lang="en-US" altLang="zh-CN" sz="2800" baseline="-25000">
                <a:solidFill>
                  <a:srgbClr val="C00000"/>
                </a:solidFill>
                <a:latin typeface="微软雅黑" panose="020B0503020204020204" pitchFamily="34" charset="-122"/>
                <a:ea typeface="微软雅黑" panose="020B0503020204020204" pitchFamily="34" charset="-122"/>
              </a:rPr>
              <a:t>m</a:t>
            </a:r>
            <a:r>
              <a:rPr lang="zh-CN" altLang="en-US" sz="2800">
                <a:solidFill>
                  <a:srgbClr val="C00000"/>
                </a:solidFill>
                <a:latin typeface="微软雅黑" panose="020B0503020204020204" pitchFamily="34" charset="-122"/>
                <a:ea typeface="微软雅黑" panose="020B0503020204020204" pitchFamily="34" charset="-122"/>
              </a:rPr>
              <a:t>是所有速率常数的复合函数</a:t>
            </a:r>
          </a:p>
        </p:txBody>
      </p:sp>
      <p:sp>
        <p:nvSpPr>
          <p:cNvPr id="210952" name="文本框 1">
            <a:extLst>
              <a:ext uri="{FF2B5EF4-FFF2-40B4-BE49-F238E27FC236}">
                <a16:creationId xmlns:a16="http://schemas.microsoft.com/office/drawing/2014/main" id="{623A4468-4E4D-40EA-9655-A89DAD18341F}"/>
              </a:ext>
            </a:extLst>
          </p:cNvPr>
          <p:cNvSpPr txBox="1">
            <a:spLocks noChangeArrowheads="1"/>
          </p:cNvSpPr>
          <p:nvPr/>
        </p:nvSpPr>
        <p:spPr bwMode="auto">
          <a:xfrm>
            <a:off x="5238750" y="4956175"/>
            <a:ext cx="17843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dirty="0">
                <a:solidFill>
                  <a:srgbClr val="0000CC"/>
                </a:solidFill>
              </a:rPr>
              <a:t>   K</a:t>
            </a:r>
            <a:r>
              <a:rPr lang="en-US" altLang="zh-CN" sz="2800" baseline="-25000" dirty="0">
                <a:solidFill>
                  <a:srgbClr val="0000CC"/>
                </a:solidFill>
              </a:rPr>
              <a:t>2</a:t>
            </a:r>
            <a:r>
              <a:rPr lang="en-US" altLang="zh-CN" sz="2800" dirty="0">
                <a:solidFill>
                  <a:srgbClr val="0000CC"/>
                </a:solidFill>
              </a:rPr>
              <a:t> + K</a:t>
            </a:r>
            <a:r>
              <a:rPr lang="en-US" altLang="zh-CN" sz="2800" baseline="-25000" dirty="0">
                <a:solidFill>
                  <a:srgbClr val="0000CC"/>
                </a:solidFill>
              </a:rPr>
              <a:t>3</a:t>
            </a:r>
            <a:endParaRPr lang="zh-CN" altLang="en-US" sz="2800" baseline="-25000" dirty="0">
              <a:solidFill>
                <a:srgbClr val="0000CC"/>
              </a:solidFill>
            </a:endParaRPr>
          </a:p>
        </p:txBody>
      </p:sp>
      <p:sp>
        <p:nvSpPr>
          <p:cNvPr id="210953" name="文本框 3">
            <a:extLst>
              <a:ext uri="{FF2B5EF4-FFF2-40B4-BE49-F238E27FC236}">
                <a16:creationId xmlns:a16="http://schemas.microsoft.com/office/drawing/2014/main" id="{64CBAB69-4CA7-4A2F-9B32-ACE1284A0734}"/>
              </a:ext>
            </a:extLst>
          </p:cNvPr>
          <p:cNvSpPr txBox="1">
            <a:spLocks noChangeArrowheads="1"/>
          </p:cNvSpPr>
          <p:nvPr/>
        </p:nvSpPr>
        <p:spPr bwMode="auto">
          <a:xfrm>
            <a:off x="5969001" y="5491163"/>
            <a:ext cx="9953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0000CC"/>
                </a:solidFill>
              </a:rPr>
              <a:t>K</a:t>
            </a:r>
            <a:r>
              <a:rPr lang="en-US" altLang="zh-CN" baseline="-25000">
                <a:solidFill>
                  <a:srgbClr val="0000CC"/>
                </a:solidFill>
              </a:rPr>
              <a:t>1</a:t>
            </a:r>
            <a:endParaRPr lang="zh-CN" altLang="en-US" baseline="-25000">
              <a:solidFill>
                <a:srgbClr val="0000CC"/>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959490"/>
                                        </p:tgtEl>
                                        <p:attrNameLst>
                                          <p:attrName>style.visibility</p:attrName>
                                        </p:attrNameLst>
                                      </p:cBhvr>
                                      <p:to>
                                        <p:strVal val="visible"/>
                                      </p:to>
                                    </p:set>
                                    <p:animEffect transition="in" filter="dissolve">
                                      <p:cBhvr>
                                        <p:cTn id="7" dur="500"/>
                                        <p:tgtEl>
                                          <p:spTgt spid="959490"/>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9490" grpId="0"/>
      <p:bldP spid="25" grpId="0"/>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91A38699-6F2B-40CD-AE4A-8175C9904E54}"/>
              </a:ext>
            </a:extLst>
          </p:cNvPr>
          <p:cNvSpPr>
            <a:spLocks noChangeArrowheads="1"/>
          </p:cNvSpPr>
          <p:nvPr/>
        </p:nvSpPr>
        <p:spPr bwMode="auto">
          <a:xfrm>
            <a:off x="2136775" y="2347914"/>
            <a:ext cx="8135938" cy="403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20000"/>
              </a:lnSpc>
              <a:buClr>
                <a:srgbClr val="FF3300"/>
              </a:buClr>
              <a:buFont typeface="Wingdings" panose="05000000000000000000" pitchFamily="2" charset="2"/>
              <a:buAutoNum type="arabicPeriod"/>
            </a:pPr>
            <a:r>
              <a:rPr lang="zh-CN" altLang="en-US" sz="2400" dirty="0">
                <a:latin typeface="Times New Roman" panose="02020603050405020304" pitchFamily="18" charset="0"/>
                <a:ea typeface="黑体" panose="02010609060101010101" pitchFamily="49" charset="-122"/>
              </a:rPr>
              <a:t>反应是单底物反应； </a:t>
            </a:r>
            <a:endParaRPr lang="en-US" altLang="zh-CN" sz="2400" dirty="0">
              <a:latin typeface="Times New Roman" panose="02020603050405020304" pitchFamily="18" charset="0"/>
              <a:ea typeface="黑体" panose="02010609060101010101" pitchFamily="49" charset="-122"/>
            </a:endParaRPr>
          </a:p>
          <a:p>
            <a:pPr algn="just" eaLnBrk="1" hangingPunct="1">
              <a:lnSpc>
                <a:spcPct val="120000"/>
              </a:lnSpc>
              <a:buClr>
                <a:srgbClr val="FF3300"/>
              </a:buClr>
              <a:buFont typeface="Wingdings" panose="05000000000000000000" pitchFamily="2" charset="2"/>
              <a:buAutoNum type="arabicPeriod"/>
            </a:pPr>
            <a:r>
              <a:rPr lang="zh-CN" altLang="en-US" sz="2400" dirty="0">
                <a:latin typeface="Times New Roman" panose="02020603050405020304" pitchFamily="18" charset="0"/>
                <a:ea typeface="黑体" panose="02010609060101010101" pitchFamily="49" charset="-122"/>
              </a:rPr>
              <a:t>测定是的初始速率</a:t>
            </a:r>
            <a:endParaRPr lang="en-US" altLang="zh-CN" sz="2400" dirty="0">
              <a:latin typeface="Times New Roman" panose="02020603050405020304" pitchFamily="18" charset="0"/>
              <a:ea typeface="黑体" panose="02010609060101010101" pitchFamily="49" charset="-122"/>
            </a:endParaRPr>
          </a:p>
          <a:p>
            <a:pPr algn="just" eaLnBrk="1" hangingPunct="1">
              <a:lnSpc>
                <a:spcPct val="120000"/>
              </a:lnSpc>
              <a:buClr>
                <a:srgbClr val="FF3300"/>
              </a:buClr>
              <a:buFont typeface="Wingdings" panose="05000000000000000000" pitchFamily="2" charset="2"/>
              <a:buAutoNum type="arabicPeriod"/>
            </a:pPr>
            <a:r>
              <a:rPr lang="zh-CN" altLang="en-US" sz="2400" dirty="0">
                <a:latin typeface="Times New Roman" panose="02020603050405020304" pitchFamily="18" charset="0"/>
                <a:ea typeface="黑体" panose="02010609060101010101" pitchFamily="49" charset="-122"/>
              </a:rPr>
              <a:t>反应初始，产物</a:t>
            </a:r>
            <a:r>
              <a:rPr lang="en-US" altLang="zh-CN" sz="2400" dirty="0">
                <a:latin typeface="Times New Roman" panose="02020603050405020304" pitchFamily="18" charset="0"/>
                <a:ea typeface="黑体" panose="02010609060101010101" pitchFamily="49" charset="-122"/>
              </a:rPr>
              <a:t>P</a:t>
            </a:r>
            <a:r>
              <a:rPr lang="zh-CN" altLang="en-US" sz="2400" dirty="0">
                <a:latin typeface="Times New Roman" panose="02020603050405020304" pitchFamily="18" charset="0"/>
                <a:ea typeface="黑体" panose="02010609060101010101" pitchFamily="49" charset="-122"/>
              </a:rPr>
              <a:t>的量很少，</a:t>
            </a:r>
            <a:r>
              <a:rPr lang="en-US" altLang="zh-CN" sz="2400" dirty="0">
                <a:latin typeface="Times New Roman" panose="02020603050405020304" pitchFamily="18" charset="0"/>
                <a:ea typeface="黑体" panose="02010609060101010101" pitchFamily="49" charset="-122"/>
              </a:rPr>
              <a:t>E+P</a:t>
            </a:r>
            <a:r>
              <a:rPr lang="zh-CN" altLang="en-US" sz="2400" dirty="0">
                <a:latin typeface="Times New Roman" panose="02020603050405020304" pitchFamily="18" charset="0"/>
                <a:ea typeface="黑体" panose="02010609060101010101" pitchFamily="49" charset="-122"/>
              </a:rPr>
              <a:t>生成</a:t>
            </a:r>
            <a:r>
              <a:rPr lang="en-US" altLang="zh-CN" sz="2400" dirty="0">
                <a:latin typeface="Times New Roman" panose="02020603050405020304" pitchFamily="18" charset="0"/>
                <a:ea typeface="黑体" panose="02010609060101010101" pitchFamily="49" charset="-122"/>
              </a:rPr>
              <a:t>ES</a:t>
            </a:r>
            <a:r>
              <a:rPr lang="zh-CN" altLang="en-US" sz="2400" dirty="0">
                <a:latin typeface="Times New Roman" panose="02020603050405020304" pitchFamily="18" charset="0"/>
                <a:ea typeface="黑体" panose="02010609060101010101" pitchFamily="49" charset="-122"/>
              </a:rPr>
              <a:t>的反应</a:t>
            </a:r>
            <a:r>
              <a:rPr lang="zh-CN" altLang="en-US" sz="2400" dirty="0">
                <a:solidFill>
                  <a:srgbClr val="0000CC"/>
                </a:solidFill>
                <a:latin typeface="Times New Roman" panose="02020603050405020304" pitchFamily="18" charset="0"/>
                <a:ea typeface="黑体" panose="02010609060101010101" pitchFamily="49" charset="-122"/>
              </a:rPr>
              <a:t>可忽略</a:t>
            </a:r>
          </a:p>
          <a:p>
            <a:pPr algn="just" eaLnBrk="1" hangingPunct="1">
              <a:lnSpc>
                <a:spcPct val="120000"/>
              </a:lnSpc>
              <a:buClr>
                <a:srgbClr val="FF3300"/>
              </a:buClr>
              <a:buFont typeface="Wingdings" panose="05000000000000000000" pitchFamily="2" charset="2"/>
              <a:buAutoNum type="arabicPeriod"/>
            </a:pPr>
            <a:r>
              <a:rPr lang="en-US" altLang="zh-CN" sz="2400" dirty="0">
                <a:latin typeface="Times New Roman" panose="02020603050405020304" pitchFamily="18" charset="0"/>
                <a:ea typeface="黑体" panose="02010609060101010101" pitchFamily="49" charset="-122"/>
              </a:rPr>
              <a:t>E</a:t>
            </a:r>
            <a:r>
              <a:rPr lang="zh-CN" altLang="en-US" sz="2400" dirty="0">
                <a:latin typeface="Times New Roman" panose="02020603050405020304" pitchFamily="18" charset="0"/>
                <a:ea typeface="黑体" panose="02010609060101010101" pitchFamily="49" charset="-122"/>
              </a:rPr>
              <a:t>与</a:t>
            </a:r>
            <a:r>
              <a:rPr lang="en-US" altLang="zh-CN" sz="2400" dirty="0">
                <a:latin typeface="Times New Roman" panose="02020603050405020304" pitchFamily="18" charset="0"/>
                <a:ea typeface="黑体" panose="02010609060101010101" pitchFamily="49" charset="-122"/>
              </a:rPr>
              <a:t>S</a:t>
            </a:r>
            <a:r>
              <a:rPr lang="zh-CN" altLang="en-US" sz="2400" dirty="0">
                <a:latin typeface="Times New Roman" panose="02020603050405020304" pitchFamily="18" charset="0"/>
                <a:ea typeface="黑体" panose="02010609060101010101" pitchFamily="49" charset="-122"/>
              </a:rPr>
              <a:t>形成</a:t>
            </a:r>
            <a:r>
              <a:rPr lang="en-US" altLang="zh-CN" sz="2400" dirty="0">
                <a:latin typeface="Times New Roman" panose="02020603050405020304" pitchFamily="18" charset="0"/>
                <a:ea typeface="黑体" panose="02010609060101010101" pitchFamily="49" charset="-122"/>
              </a:rPr>
              <a:t>ES</a:t>
            </a:r>
            <a:r>
              <a:rPr lang="zh-CN" altLang="en-US" sz="2400" dirty="0">
                <a:latin typeface="Times New Roman" panose="02020603050405020304" pitchFamily="18" charset="0"/>
                <a:ea typeface="黑体" panose="02010609060101010101" pitchFamily="49" charset="-122"/>
              </a:rPr>
              <a:t>复合物的反应是</a:t>
            </a:r>
            <a:r>
              <a:rPr lang="zh-CN" altLang="en-US" sz="2400" dirty="0">
                <a:solidFill>
                  <a:srgbClr val="0000CC"/>
                </a:solidFill>
                <a:latin typeface="Times New Roman" panose="02020603050405020304" pitchFamily="18" charset="0"/>
                <a:ea typeface="黑体" panose="02010609060101010101" pitchFamily="49" charset="-122"/>
              </a:rPr>
              <a:t>快速平衡反应</a:t>
            </a:r>
            <a:r>
              <a:rPr lang="zh-CN" altLang="en-US" sz="2400" dirty="0">
                <a:latin typeface="Times New Roman" panose="02020603050405020304" pitchFamily="18" charset="0"/>
                <a:ea typeface="黑体" panose="02010609060101010101" pitchFamily="49" charset="-122"/>
              </a:rPr>
              <a:t>，而</a:t>
            </a:r>
            <a:r>
              <a:rPr lang="en-US" altLang="zh-CN" sz="2400" dirty="0">
                <a:latin typeface="Times New Roman" panose="02020603050405020304" pitchFamily="18" charset="0"/>
                <a:ea typeface="黑体" panose="02010609060101010101" pitchFamily="49" charset="-122"/>
              </a:rPr>
              <a:t>ES</a:t>
            </a:r>
            <a:r>
              <a:rPr lang="zh-CN" altLang="en-US" sz="2400" dirty="0">
                <a:latin typeface="Times New Roman" panose="02020603050405020304" pitchFamily="18" charset="0"/>
                <a:ea typeface="黑体" panose="02010609060101010101" pitchFamily="49" charset="-122"/>
              </a:rPr>
              <a:t>分解为</a:t>
            </a:r>
            <a:r>
              <a:rPr lang="en-US" altLang="zh-CN" sz="2400" dirty="0">
                <a:latin typeface="Times New Roman" panose="02020603050405020304" pitchFamily="18" charset="0"/>
                <a:ea typeface="黑体" panose="02010609060101010101" pitchFamily="49" charset="-122"/>
              </a:rPr>
              <a:t>E</a:t>
            </a:r>
            <a:r>
              <a:rPr lang="zh-CN" altLang="en-US" sz="2400" dirty="0">
                <a:latin typeface="Times New Roman" panose="02020603050405020304" pitchFamily="18" charset="0"/>
                <a:ea typeface="黑体" panose="02010609060101010101" pitchFamily="49" charset="-122"/>
              </a:rPr>
              <a:t>及</a:t>
            </a:r>
            <a:r>
              <a:rPr lang="en-US" altLang="zh-CN" sz="2400" dirty="0">
                <a:latin typeface="Times New Roman" panose="02020603050405020304" pitchFamily="18" charset="0"/>
                <a:ea typeface="黑体" panose="02010609060101010101" pitchFamily="49" charset="-122"/>
              </a:rPr>
              <a:t>P</a:t>
            </a:r>
            <a:r>
              <a:rPr lang="zh-CN" altLang="en-US" sz="2400" dirty="0">
                <a:latin typeface="Times New Roman" panose="02020603050405020304" pitchFamily="18" charset="0"/>
                <a:ea typeface="黑体" panose="02010609060101010101" pitchFamily="49" charset="-122"/>
              </a:rPr>
              <a:t>的反应为</a:t>
            </a:r>
            <a:r>
              <a:rPr lang="zh-CN" altLang="en-US" sz="2400" dirty="0">
                <a:solidFill>
                  <a:srgbClr val="C00000"/>
                </a:solidFill>
                <a:latin typeface="Times New Roman" panose="02020603050405020304" pitchFamily="18" charset="0"/>
                <a:ea typeface="黑体" panose="02010609060101010101" pitchFamily="49" charset="-122"/>
              </a:rPr>
              <a:t>慢反应</a:t>
            </a:r>
            <a:r>
              <a:rPr lang="zh-CN" altLang="en-US" sz="2400" dirty="0">
                <a:latin typeface="Times New Roman" panose="02020603050405020304" pitchFamily="18" charset="0"/>
                <a:ea typeface="黑体" panose="02010609060101010101" pitchFamily="49" charset="-122"/>
              </a:rPr>
              <a:t>，</a:t>
            </a:r>
            <a:r>
              <a:rPr lang="zh-CN" altLang="en-US" sz="2400" dirty="0">
                <a:solidFill>
                  <a:srgbClr val="C00000"/>
                </a:solidFill>
                <a:latin typeface="Times New Roman" panose="02020603050405020304" pitchFamily="18" charset="0"/>
                <a:ea typeface="黑体" panose="02010609060101010101" pitchFamily="49" charset="-122"/>
              </a:rPr>
              <a:t>反应速率取决于慢反应</a:t>
            </a:r>
            <a:r>
              <a:rPr lang="zh-CN" altLang="en-US" sz="2400" dirty="0">
                <a:latin typeface="Times New Roman" panose="02020603050405020304" pitchFamily="18" charset="0"/>
                <a:ea typeface="黑体" panose="02010609060101010101" pitchFamily="49" charset="-122"/>
              </a:rPr>
              <a:t>，即 </a:t>
            </a:r>
            <a:r>
              <a:rPr lang="en-US" altLang="zh-CN" sz="2400" dirty="0">
                <a:solidFill>
                  <a:srgbClr val="C00000"/>
                </a:solidFill>
                <a:latin typeface="Times New Roman" panose="02020603050405020304" pitchFamily="18" charset="0"/>
                <a:ea typeface="黑体" panose="02010609060101010101" pitchFamily="49" charset="-122"/>
              </a:rPr>
              <a:t>V</a:t>
            </a:r>
            <a:r>
              <a:rPr lang="en-US" altLang="zh-CN" sz="2400" baseline="-25000" dirty="0">
                <a:solidFill>
                  <a:srgbClr val="C00000"/>
                </a:solidFill>
                <a:latin typeface="Times New Roman" panose="02020603050405020304" pitchFamily="18" charset="0"/>
                <a:ea typeface="黑体" panose="02010609060101010101" pitchFamily="49" charset="-122"/>
              </a:rPr>
              <a:t>0</a:t>
            </a:r>
            <a:r>
              <a:rPr lang="en-US" altLang="zh-CN" sz="2400" dirty="0">
                <a:solidFill>
                  <a:srgbClr val="C00000"/>
                </a:solidFill>
                <a:latin typeface="Times New Roman" panose="02020603050405020304" pitchFamily="18" charset="0"/>
                <a:ea typeface="黑体" panose="02010609060101010101" pitchFamily="49" charset="-122"/>
              </a:rPr>
              <a:t> = </a:t>
            </a:r>
            <a:r>
              <a:rPr lang="en-US" altLang="zh-CN" sz="2400" i="1" dirty="0">
                <a:solidFill>
                  <a:srgbClr val="C00000"/>
                </a:solidFill>
                <a:latin typeface="Times New Roman" panose="02020603050405020304" pitchFamily="18" charset="0"/>
                <a:ea typeface="黑体" panose="02010609060101010101" pitchFamily="49" charset="-122"/>
              </a:rPr>
              <a:t>k</a:t>
            </a:r>
            <a:r>
              <a:rPr lang="en-US" altLang="zh-CN" sz="2400" baseline="-25000" dirty="0">
                <a:solidFill>
                  <a:srgbClr val="C00000"/>
                </a:solidFill>
                <a:latin typeface="Times New Roman" panose="02020603050405020304" pitchFamily="18" charset="0"/>
                <a:ea typeface="黑体" panose="02010609060101010101" pitchFamily="49" charset="-122"/>
              </a:rPr>
              <a:t>3</a:t>
            </a:r>
            <a:r>
              <a:rPr lang="en-US" altLang="zh-CN" sz="2400" dirty="0">
                <a:solidFill>
                  <a:srgbClr val="C00000"/>
                </a:solidFill>
                <a:latin typeface="Times New Roman" panose="02020603050405020304" pitchFamily="18" charset="0"/>
                <a:ea typeface="黑体" panose="02010609060101010101" pitchFamily="49" charset="-122"/>
              </a:rPr>
              <a:t>[ES]</a:t>
            </a:r>
            <a:endParaRPr lang="zh-CN" altLang="en-US" sz="2400" dirty="0">
              <a:solidFill>
                <a:srgbClr val="0000CC"/>
              </a:solidFill>
              <a:latin typeface="Times New Roman" panose="02020603050405020304" pitchFamily="18" charset="0"/>
              <a:ea typeface="黑体" panose="02010609060101010101" pitchFamily="49" charset="-122"/>
            </a:endParaRPr>
          </a:p>
          <a:p>
            <a:pPr algn="just" eaLnBrk="1" hangingPunct="1">
              <a:lnSpc>
                <a:spcPct val="120000"/>
              </a:lnSpc>
              <a:buClr>
                <a:srgbClr val="FF3300"/>
              </a:buClr>
              <a:buFont typeface="Wingdings" panose="05000000000000000000" pitchFamily="2" charset="2"/>
              <a:buAutoNum type="arabicPeriod"/>
            </a:pPr>
            <a:r>
              <a:rPr lang="zh-CN" altLang="en-US" sz="2400" dirty="0">
                <a:latin typeface="Times New Roman" panose="02020603050405020304" pitchFamily="18" charset="0"/>
                <a:ea typeface="黑体" panose="02010609060101010101" pitchFamily="49" charset="-122"/>
              </a:rPr>
              <a:t>在反应的初始阶段，</a:t>
            </a:r>
            <a:r>
              <a:rPr lang="en-US" altLang="zh-CN" sz="2400" dirty="0">
                <a:latin typeface="Times New Roman" panose="02020603050405020304" pitchFamily="18" charset="0"/>
                <a:ea typeface="黑体" panose="02010609060101010101" pitchFamily="49" charset="-122"/>
              </a:rPr>
              <a:t>S</a:t>
            </a:r>
            <a:r>
              <a:rPr lang="zh-CN" altLang="en-US" sz="2400" dirty="0">
                <a:latin typeface="Times New Roman" panose="02020603050405020304" pitchFamily="18" charset="0"/>
                <a:ea typeface="黑体" panose="02010609060101010101" pitchFamily="49" charset="-122"/>
              </a:rPr>
              <a:t>的浓度可认为不变，即 </a:t>
            </a:r>
            <a:r>
              <a:rPr lang="en-US" altLang="zh-CN" sz="2400" dirty="0">
                <a:latin typeface="Times New Roman" panose="02020603050405020304" pitchFamily="18" charset="0"/>
                <a:ea typeface="黑体" panose="02010609060101010101" pitchFamily="49" charset="-122"/>
              </a:rPr>
              <a:t>[S]</a:t>
            </a:r>
            <a:r>
              <a:rPr lang="zh-CN" altLang="en-US" sz="2400" dirty="0">
                <a:latin typeface="Times New Roman" panose="02020603050405020304" pitchFamily="18" charset="0"/>
                <a:ea typeface="黑体" panose="02010609060101010101" pitchFamily="49" charset="-122"/>
              </a:rPr>
              <a:t>不变。</a:t>
            </a:r>
            <a:endParaRPr lang="en-US" altLang="zh-CN" sz="2400" dirty="0">
              <a:latin typeface="Times New Roman" panose="02020603050405020304" pitchFamily="18" charset="0"/>
              <a:ea typeface="黑体" panose="02010609060101010101" pitchFamily="49" charset="-122"/>
            </a:endParaRPr>
          </a:p>
        </p:txBody>
      </p:sp>
      <p:sp>
        <p:nvSpPr>
          <p:cNvPr id="212995" name="Rectangle 3">
            <a:extLst>
              <a:ext uri="{FF2B5EF4-FFF2-40B4-BE49-F238E27FC236}">
                <a16:creationId xmlns:a16="http://schemas.microsoft.com/office/drawing/2014/main" id="{9FA48442-8400-42E7-AABA-E8A104AF363C}"/>
              </a:ext>
            </a:extLst>
          </p:cNvPr>
          <p:cNvSpPr>
            <a:spLocks noChangeArrowheads="1"/>
          </p:cNvSpPr>
          <p:nvPr/>
        </p:nvSpPr>
        <p:spPr bwMode="auto">
          <a:xfrm>
            <a:off x="1847850" y="285750"/>
            <a:ext cx="7272338" cy="624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63538" indent="-363538">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40000"/>
              </a:lnSpc>
              <a:buClr>
                <a:srgbClr val="003300"/>
              </a:buClr>
              <a:buFont typeface="Wingdings" panose="05000000000000000000" pitchFamily="2" charset="2"/>
              <a:buChar char="Ø"/>
            </a:pPr>
            <a:r>
              <a:rPr kumimoji="1" lang="zh-CN" altLang="en-US" sz="2800">
                <a:solidFill>
                  <a:srgbClr val="0000CC"/>
                </a:solidFill>
                <a:latin typeface="Times New Roman" panose="02020603050405020304" pitchFamily="18" charset="0"/>
                <a:ea typeface="黑体" panose="02010609060101010101" pitchFamily="49" charset="-122"/>
              </a:rPr>
              <a:t>米－曼氏方程式推导基于若干假设：</a:t>
            </a:r>
          </a:p>
        </p:txBody>
      </p:sp>
      <p:grpSp>
        <p:nvGrpSpPr>
          <p:cNvPr id="212996" name="Group 4">
            <a:extLst>
              <a:ext uri="{FF2B5EF4-FFF2-40B4-BE49-F238E27FC236}">
                <a16:creationId xmlns:a16="http://schemas.microsoft.com/office/drawing/2014/main" id="{5241B8AE-5AE5-46D0-91ED-7DCB6929F06C}"/>
              </a:ext>
            </a:extLst>
          </p:cNvPr>
          <p:cNvGrpSpPr>
            <a:grpSpLocks/>
          </p:cNvGrpSpPr>
          <p:nvPr/>
        </p:nvGrpSpPr>
        <p:grpSpPr bwMode="auto">
          <a:xfrm>
            <a:off x="3143251" y="1006475"/>
            <a:ext cx="5472113" cy="1289050"/>
            <a:chOff x="1474" y="2143"/>
            <a:chExt cx="3094" cy="520"/>
          </a:xfrm>
        </p:grpSpPr>
        <p:grpSp>
          <p:nvGrpSpPr>
            <p:cNvPr id="212997" name="Group 5">
              <a:extLst>
                <a:ext uri="{FF2B5EF4-FFF2-40B4-BE49-F238E27FC236}">
                  <a16:creationId xmlns:a16="http://schemas.microsoft.com/office/drawing/2014/main" id="{1EAE07B3-AE4E-4727-84C6-62B68FAAB77C}"/>
                </a:ext>
              </a:extLst>
            </p:cNvPr>
            <p:cNvGrpSpPr>
              <a:grpSpLocks/>
            </p:cNvGrpSpPr>
            <p:nvPr/>
          </p:nvGrpSpPr>
          <p:grpSpPr bwMode="auto">
            <a:xfrm>
              <a:off x="1474" y="2143"/>
              <a:ext cx="2115" cy="520"/>
              <a:chOff x="1474" y="2143"/>
              <a:chExt cx="2115" cy="520"/>
            </a:xfrm>
          </p:grpSpPr>
          <p:sp>
            <p:nvSpPr>
              <p:cNvPr id="213000" name="Text Box 6">
                <a:extLst>
                  <a:ext uri="{FF2B5EF4-FFF2-40B4-BE49-F238E27FC236}">
                    <a16:creationId xmlns:a16="http://schemas.microsoft.com/office/drawing/2014/main" id="{1F95FDE2-2E8C-4EEF-8FEB-2B5E6B7B5308}"/>
                  </a:ext>
                </a:extLst>
              </p:cNvPr>
              <p:cNvSpPr txBox="1">
                <a:spLocks noChangeArrowheads="1"/>
              </p:cNvSpPr>
              <p:nvPr/>
            </p:nvSpPr>
            <p:spPr bwMode="auto">
              <a:xfrm>
                <a:off x="1474" y="2296"/>
                <a:ext cx="77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a:latin typeface="Times New Roman" panose="02020603050405020304" pitchFamily="18" charset="0"/>
                    <a:ea typeface="黑体" panose="02010609060101010101" pitchFamily="49" charset="-122"/>
                  </a:rPr>
                  <a:t>E + S</a:t>
                </a:r>
              </a:p>
            </p:txBody>
          </p:sp>
          <p:grpSp>
            <p:nvGrpSpPr>
              <p:cNvPr id="213001" name="Group 7">
                <a:extLst>
                  <a:ext uri="{FF2B5EF4-FFF2-40B4-BE49-F238E27FC236}">
                    <a16:creationId xmlns:a16="http://schemas.microsoft.com/office/drawing/2014/main" id="{7D81E1FF-43ED-47C8-86B2-A73778FAD10C}"/>
                  </a:ext>
                </a:extLst>
              </p:cNvPr>
              <p:cNvGrpSpPr>
                <a:grpSpLocks/>
              </p:cNvGrpSpPr>
              <p:nvPr/>
            </p:nvGrpSpPr>
            <p:grpSpPr bwMode="auto">
              <a:xfrm>
                <a:off x="2268" y="2143"/>
                <a:ext cx="424" cy="520"/>
                <a:chOff x="3663" y="605"/>
                <a:chExt cx="417" cy="574"/>
              </a:xfrm>
            </p:grpSpPr>
            <p:sp>
              <p:nvSpPr>
                <p:cNvPr id="213005" name="Text Box 8">
                  <a:extLst>
                    <a:ext uri="{FF2B5EF4-FFF2-40B4-BE49-F238E27FC236}">
                      <a16:creationId xmlns:a16="http://schemas.microsoft.com/office/drawing/2014/main" id="{164EDC08-4973-4263-BB4E-8384F9AC28E7}"/>
                    </a:ext>
                  </a:extLst>
                </p:cNvPr>
                <p:cNvSpPr txBox="1">
                  <a:spLocks noChangeArrowheads="1"/>
                </p:cNvSpPr>
                <p:nvPr/>
              </p:nvSpPr>
              <p:spPr bwMode="auto">
                <a:xfrm>
                  <a:off x="3663" y="605"/>
                  <a:ext cx="36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a:latin typeface="Times New Roman" panose="02020603050405020304" pitchFamily="18" charset="0"/>
                      <a:ea typeface="黑体" panose="02010609060101010101" pitchFamily="49" charset="-122"/>
                    </a:rPr>
                    <a:t>  k</a:t>
                  </a:r>
                  <a:r>
                    <a:rPr kumimoji="1" lang="en-US" altLang="zh-CN" sz="2400" baseline="-25000">
                      <a:latin typeface="Times New Roman" panose="02020603050405020304" pitchFamily="18" charset="0"/>
                      <a:ea typeface="黑体" panose="02010609060101010101" pitchFamily="49" charset="-122"/>
                    </a:rPr>
                    <a:t>1</a:t>
                  </a:r>
                </a:p>
              </p:txBody>
            </p:sp>
            <p:sp>
              <p:nvSpPr>
                <p:cNvPr id="213006" name="Text Box 9">
                  <a:extLst>
                    <a:ext uri="{FF2B5EF4-FFF2-40B4-BE49-F238E27FC236}">
                      <a16:creationId xmlns:a16="http://schemas.microsoft.com/office/drawing/2014/main" id="{86808DD5-7BA3-4ECB-886D-2922E18D19D3}"/>
                    </a:ext>
                  </a:extLst>
                </p:cNvPr>
                <p:cNvSpPr txBox="1">
                  <a:spLocks noChangeArrowheads="1"/>
                </p:cNvSpPr>
                <p:nvPr/>
              </p:nvSpPr>
              <p:spPr bwMode="auto">
                <a:xfrm>
                  <a:off x="3770" y="946"/>
                  <a:ext cx="26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dirty="0">
                      <a:latin typeface="Times New Roman" panose="02020603050405020304" pitchFamily="18" charset="0"/>
                      <a:ea typeface="黑体" panose="02010609060101010101" pitchFamily="49" charset="-122"/>
                    </a:rPr>
                    <a:t>k</a:t>
                  </a:r>
                  <a:r>
                    <a:rPr kumimoji="1" lang="en-US" altLang="zh-CN" sz="2400" baseline="-25000" dirty="0">
                      <a:latin typeface="Times New Roman" panose="02020603050405020304" pitchFamily="18" charset="0"/>
                      <a:ea typeface="黑体" panose="02010609060101010101" pitchFamily="49" charset="-122"/>
                    </a:rPr>
                    <a:t>2</a:t>
                  </a:r>
                </a:p>
              </p:txBody>
            </p:sp>
            <p:sp>
              <p:nvSpPr>
                <p:cNvPr id="213007" name="Line 10">
                  <a:extLst>
                    <a:ext uri="{FF2B5EF4-FFF2-40B4-BE49-F238E27FC236}">
                      <a16:creationId xmlns:a16="http://schemas.microsoft.com/office/drawing/2014/main" id="{2A45A554-22F3-4481-BA29-2406C510B131}"/>
                    </a:ext>
                  </a:extLst>
                </p:cNvPr>
                <p:cNvSpPr>
                  <a:spLocks noChangeShapeType="1"/>
                </p:cNvSpPr>
                <p:nvPr/>
              </p:nvSpPr>
              <p:spPr bwMode="auto">
                <a:xfrm>
                  <a:off x="3696" y="850"/>
                  <a:ext cx="384" cy="0"/>
                </a:xfrm>
                <a:prstGeom prst="line">
                  <a:avLst/>
                </a:prstGeom>
                <a:noFill/>
                <a:ln w="38100">
                  <a:solidFill>
                    <a:srgbClr val="0000CC"/>
                  </a:solidFill>
                  <a:round/>
                  <a:headEnd/>
                  <a:tailEnd type="triangle" w="med" len="me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213008" name="Line 11">
                  <a:extLst>
                    <a:ext uri="{FF2B5EF4-FFF2-40B4-BE49-F238E27FC236}">
                      <a16:creationId xmlns:a16="http://schemas.microsoft.com/office/drawing/2014/main" id="{FB075829-0705-4783-B91F-91BEBCDCBE3A}"/>
                    </a:ext>
                  </a:extLst>
                </p:cNvPr>
                <p:cNvSpPr>
                  <a:spLocks noChangeShapeType="1"/>
                </p:cNvSpPr>
                <p:nvPr/>
              </p:nvSpPr>
              <p:spPr bwMode="auto">
                <a:xfrm flipH="1">
                  <a:off x="3696" y="946"/>
                  <a:ext cx="384" cy="0"/>
                </a:xfrm>
                <a:prstGeom prst="line">
                  <a:avLst/>
                </a:prstGeom>
                <a:noFill/>
                <a:ln w="38100">
                  <a:solidFill>
                    <a:srgbClr val="0000CC"/>
                  </a:solidFill>
                  <a:round/>
                  <a:headEnd/>
                  <a:tailEnd type="triangle" w="med" len="med"/>
                </a:ln>
                <a:extLst>
                  <a:ext uri="{909E8E84-426E-40DD-AFC4-6F175D3DCCD1}">
                    <a14:hiddenFill xmlns:a14="http://schemas.microsoft.com/office/drawing/2010/main">
                      <a:noFill/>
                    </a14:hiddenFill>
                  </a:ext>
                </a:extLst>
              </p:spPr>
              <p:txBody>
                <a:bodyPr rot="10800000" vert="eaVert" wrap="none">
                  <a:spAutoFit/>
                </a:bodyPr>
                <a:lstStyle/>
                <a:p>
                  <a:endParaRPr lang="zh-CN" altLang="en-US"/>
                </a:p>
              </p:txBody>
            </p:sp>
          </p:grpSp>
          <p:grpSp>
            <p:nvGrpSpPr>
              <p:cNvPr id="213002" name="Group 12">
                <a:extLst>
                  <a:ext uri="{FF2B5EF4-FFF2-40B4-BE49-F238E27FC236}">
                    <a16:creationId xmlns:a16="http://schemas.microsoft.com/office/drawing/2014/main" id="{96337497-FB5D-47FB-A52F-20D60F2F5E96}"/>
                  </a:ext>
                </a:extLst>
              </p:cNvPr>
              <p:cNvGrpSpPr>
                <a:grpSpLocks/>
              </p:cNvGrpSpPr>
              <p:nvPr/>
            </p:nvGrpSpPr>
            <p:grpSpPr bwMode="auto">
              <a:xfrm>
                <a:off x="3198" y="2191"/>
                <a:ext cx="391" cy="211"/>
                <a:chOff x="4464" y="654"/>
                <a:chExt cx="384" cy="232"/>
              </a:xfrm>
            </p:grpSpPr>
            <p:sp>
              <p:nvSpPr>
                <p:cNvPr id="213003" name="Text Box 13">
                  <a:extLst>
                    <a:ext uri="{FF2B5EF4-FFF2-40B4-BE49-F238E27FC236}">
                      <a16:creationId xmlns:a16="http://schemas.microsoft.com/office/drawing/2014/main" id="{CD5AF682-4781-4E2B-A6C1-E9702960EBF6}"/>
                    </a:ext>
                  </a:extLst>
                </p:cNvPr>
                <p:cNvSpPr txBox="1">
                  <a:spLocks noChangeArrowheads="1"/>
                </p:cNvSpPr>
                <p:nvPr/>
              </p:nvSpPr>
              <p:spPr bwMode="auto">
                <a:xfrm>
                  <a:off x="4528" y="654"/>
                  <a:ext cx="259"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dirty="0">
                      <a:latin typeface="Times New Roman" panose="02020603050405020304" pitchFamily="18" charset="0"/>
                      <a:ea typeface="黑体" panose="02010609060101010101" pitchFamily="49" charset="-122"/>
                    </a:rPr>
                    <a:t>k</a:t>
                  </a:r>
                  <a:r>
                    <a:rPr kumimoji="1" lang="en-US" altLang="zh-CN" sz="2400" baseline="-25000" dirty="0">
                      <a:latin typeface="Times New Roman" panose="02020603050405020304" pitchFamily="18" charset="0"/>
                      <a:ea typeface="黑体" panose="02010609060101010101" pitchFamily="49" charset="-122"/>
                    </a:rPr>
                    <a:t>3</a:t>
                  </a:r>
                </a:p>
              </p:txBody>
            </p:sp>
            <p:sp>
              <p:nvSpPr>
                <p:cNvPr id="213004" name="Line 14">
                  <a:extLst>
                    <a:ext uri="{FF2B5EF4-FFF2-40B4-BE49-F238E27FC236}">
                      <a16:creationId xmlns:a16="http://schemas.microsoft.com/office/drawing/2014/main" id="{FF5E8E8A-F534-4EC9-8D4C-5306967B5B81}"/>
                    </a:ext>
                  </a:extLst>
                </p:cNvPr>
                <p:cNvSpPr>
                  <a:spLocks noChangeShapeType="1"/>
                </p:cNvSpPr>
                <p:nvPr/>
              </p:nvSpPr>
              <p:spPr bwMode="auto">
                <a:xfrm>
                  <a:off x="4464" y="877"/>
                  <a:ext cx="384"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grpSp>
        </p:grpSp>
        <p:sp>
          <p:nvSpPr>
            <p:cNvPr id="212998" name="Text Box 15">
              <a:extLst>
                <a:ext uri="{FF2B5EF4-FFF2-40B4-BE49-F238E27FC236}">
                  <a16:creationId xmlns:a16="http://schemas.microsoft.com/office/drawing/2014/main" id="{55DC9BD6-F416-4544-950B-1A01BAF46963}"/>
                </a:ext>
              </a:extLst>
            </p:cNvPr>
            <p:cNvSpPr txBox="1">
              <a:spLocks noChangeArrowheads="1"/>
            </p:cNvSpPr>
            <p:nvPr/>
          </p:nvSpPr>
          <p:spPr bwMode="auto">
            <a:xfrm>
              <a:off x="2699" y="2296"/>
              <a:ext cx="54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en-US" altLang="zh-CN">
                  <a:solidFill>
                    <a:srgbClr val="FFFF99"/>
                  </a:solidFill>
                  <a:latin typeface="Times New Roman" panose="02020603050405020304" pitchFamily="18" charset="0"/>
                  <a:ea typeface="黑体" panose="02010609060101010101" pitchFamily="49" charset="-122"/>
                </a:rPr>
                <a:t> </a:t>
              </a:r>
              <a:r>
                <a:rPr kumimoji="1" lang="en-US" altLang="zh-CN">
                  <a:solidFill>
                    <a:srgbClr val="FF0000"/>
                  </a:solidFill>
                  <a:latin typeface="Times New Roman" panose="02020603050405020304" pitchFamily="18" charset="0"/>
                  <a:ea typeface="黑体" panose="02010609060101010101" pitchFamily="49" charset="-122"/>
                </a:rPr>
                <a:t>ES</a:t>
              </a:r>
            </a:p>
          </p:txBody>
        </p:sp>
        <p:sp>
          <p:nvSpPr>
            <p:cNvPr id="212999" name="Text Box 16">
              <a:extLst>
                <a:ext uri="{FF2B5EF4-FFF2-40B4-BE49-F238E27FC236}">
                  <a16:creationId xmlns:a16="http://schemas.microsoft.com/office/drawing/2014/main" id="{F84E8795-6CB3-44DC-BAA2-80EA5DB2B9E5}"/>
                </a:ext>
              </a:extLst>
            </p:cNvPr>
            <p:cNvSpPr txBox="1">
              <a:spLocks noChangeArrowheads="1"/>
            </p:cNvSpPr>
            <p:nvPr/>
          </p:nvSpPr>
          <p:spPr bwMode="auto">
            <a:xfrm>
              <a:off x="3651" y="2296"/>
              <a:ext cx="91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a:latin typeface="Times New Roman" panose="02020603050405020304" pitchFamily="18" charset="0"/>
                  <a:ea typeface="黑体" panose="02010609060101010101" pitchFamily="49" charset="-122"/>
                </a:rPr>
                <a:t>E + P</a:t>
              </a:r>
            </a:p>
          </p:txBody>
        </p:sp>
      </p:gr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54EB118F-441A-4744-B4AE-DF937AD4DB01}"/>
              </a:ext>
            </a:extLst>
          </p:cNvPr>
          <p:cNvSpPr>
            <a:spLocks noGrp="1" noChangeArrowheads="1"/>
          </p:cNvSpPr>
          <p:nvPr>
            <p:ph type="title"/>
          </p:nvPr>
        </p:nvSpPr>
        <p:spPr>
          <a:xfrm>
            <a:off x="1524000" y="115888"/>
            <a:ext cx="6624638" cy="914400"/>
          </a:xfrm>
        </p:spPr>
        <p:txBody>
          <a:bodyPr anchor="ctr"/>
          <a:lstStyle/>
          <a:p>
            <a:pPr marL="355600" indent="-355600" eaLnBrk="1" hangingPunct="1">
              <a:buSzPct val="80000"/>
            </a:pPr>
            <a:r>
              <a:rPr lang="zh-CN" altLang="en-US" sz="3200" b="0">
                <a:solidFill>
                  <a:srgbClr val="0000CC"/>
                </a:solidFill>
                <a:latin typeface="Times New Roman" panose="02020603050405020304" pitchFamily="18" charset="0"/>
                <a:ea typeface="黑体" panose="02010609060101010101" pitchFamily="49" charset="-122"/>
              </a:rPr>
              <a:t>米－曼氏方程式推导过程：</a:t>
            </a:r>
          </a:p>
        </p:txBody>
      </p:sp>
      <p:sp>
        <p:nvSpPr>
          <p:cNvPr id="215043" name="Rectangle 3">
            <a:extLst>
              <a:ext uri="{FF2B5EF4-FFF2-40B4-BE49-F238E27FC236}">
                <a16:creationId xmlns:a16="http://schemas.microsoft.com/office/drawing/2014/main" id="{07B0DD0B-66E7-4A48-AC49-29D3C5B9DD47}"/>
              </a:ext>
            </a:extLst>
          </p:cNvPr>
          <p:cNvSpPr>
            <a:spLocks noGrp="1" noChangeArrowheads="1"/>
          </p:cNvSpPr>
          <p:nvPr>
            <p:ph type="body" idx="1"/>
          </p:nvPr>
        </p:nvSpPr>
        <p:spPr>
          <a:xfrm>
            <a:off x="2711450" y="1557339"/>
            <a:ext cx="6630988" cy="511175"/>
          </a:xfrm>
        </p:spPr>
        <p:txBody>
          <a:bodyPr/>
          <a:lstStyle/>
          <a:p>
            <a:pPr marL="0" indent="0" algn="ctr" eaLnBrk="1" hangingPunct="1">
              <a:lnSpc>
                <a:spcPct val="110000"/>
              </a:lnSpc>
              <a:buNone/>
            </a:pPr>
            <a:r>
              <a:rPr lang="en-US" altLang="zh-CN" sz="2800" b="0">
                <a:solidFill>
                  <a:srgbClr val="0000CC"/>
                </a:solidFill>
                <a:latin typeface="Times New Roman" panose="02020603050405020304" pitchFamily="18" charset="0"/>
                <a:ea typeface="黑体" panose="02010609060101010101" pitchFamily="49" charset="-122"/>
              </a:rPr>
              <a:t>ES</a:t>
            </a:r>
            <a:r>
              <a:rPr lang="zh-CN" altLang="en-US" sz="2800" b="0">
                <a:solidFill>
                  <a:srgbClr val="0000CC"/>
                </a:solidFill>
                <a:latin typeface="Times New Roman" panose="02020603050405020304" pitchFamily="18" charset="0"/>
                <a:ea typeface="黑体" panose="02010609060101010101" pitchFamily="49" charset="-122"/>
              </a:rPr>
              <a:t>的生成速率 </a:t>
            </a:r>
            <a:r>
              <a:rPr lang="en-US" altLang="zh-CN" sz="2800" b="0">
                <a:solidFill>
                  <a:srgbClr val="0000CC"/>
                </a:solidFill>
                <a:latin typeface="Times New Roman" panose="02020603050405020304" pitchFamily="18" charset="0"/>
                <a:ea typeface="黑体" panose="02010609060101010101" pitchFamily="49" charset="-122"/>
              </a:rPr>
              <a:t>= ES</a:t>
            </a:r>
            <a:r>
              <a:rPr lang="zh-CN" altLang="en-US" sz="2800" b="0">
                <a:solidFill>
                  <a:srgbClr val="0000CC"/>
                </a:solidFill>
                <a:latin typeface="Times New Roman" panose="02020603050405020304" pitchFamily="18" charset="0"/>
                <a:ea typeface="黑体" panose="02010609060101010101" pitchFamily="49" charset="-122"/>
              </a:rPr>
              <a:t>的分解速率</a:t>
            </a:r>
          </a:p>
        </p:txBody>
      </p:sp>
      <p:sp>
        <p:nvSpPr>
          <p:cNvPr id="215044" name="AutoShape 4">
            <a:extLst>
              <a:ext uri="{FF2B5EF4-FFF2-40B4-BE49-F238E27FC236}">
                <a16:creationId xmlns:a16="http://schemas.microsoft.com/office/drawing/2014/main" id="{4744053D-3586-41AA-AFCA-5F21F161183A}"/>
              </a:ext>
            </a:extLst>
          </p:cNvPr>
          <p:cNvSpPr>
            <a:spLocks noChangeArrowheads="1"/>
          </p:cNvSpPr>
          <p:nvPr/>
        </p:nvSpPr>
        <p:spPr bwMode="auto">
          <a:xfrm>
            <a:off x="6324600" y="1460500"/>
            <a:ext cx="1214438" cy="457200"/>
          </a:xfrm>
          <a:prstGeom prst="leftRightArrow">
            <a:avLst>
              <a:gd name="adj1" fmla="val 50000"/>
              <a:gd name="adj2" fmla="val 5312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endParaRPr kumimoji="1" lang="zh-CN" altLang="zh-CN" sz="2000">
              <a:latin typeface="Times New Roman" panose="02020603050405020304" pitchFamily="18" charset="0"/>
              <a:ea typeface="黑体" panose="02010609060101010101" pitchFamily="49" charset="-122"/>
            </a:endParaRPr>
          </a:p>
        </p:txBody>
      </p:sp>
      <p:sp>
        <p:nvSpPr>
          <p:cNvPr id="215045" name="Line 5">
            <a:extLst>
              <a:ext uri="{FF2B5EF4-FFF2-40B4-BE49-F238E27FC236}">
                <a16:creationId xmlns:a16="http://schemas.microsoft.com/office/drawing/2014/main" id="{0AD0FF34-9F4D-4358-8B5C-2D30C8DEEA1E}"/>
              </a:ext>
            </a:extLst>
          </p:cNvPr>
          <p:cNvSpPr>
            <a:spLocks noChangeShapeType="1"/>
          </p:cNvSpPr>
          <p:nvPr/>
        </p:nvSpPr>
        <p:spPr bwMode="auto">
          <a:xfrm>
            <a:off x="8153400" y="16891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lstStyle/>
          <a:p>
            <a:endParaRPr lang="zh-CN" altLang="en-US"/>
          </a:p>
        </p:txBody>
      </p:sp>
      <p:grpSp>
        <p:nvGrpSpPr>
          <p:cNvPr id="215046" name="Group 6">
            <a:extLst>
              <a:ext uri="{FF2B5EF4-FFF2-40B4-BE49-F238E27FC236}">
                <a16:creationId xmlns:a16="http://schemas.microsoft.com/office/drawing/2014/main" id="{22E88245-9E59-4E29-B07E-A9F826AAB2C4}"/>
              </a:ext>
            </a:extLst>
          </p:cNvPr>
          <p:cNvGrpSpPr>
            <a:grpSpLocks/>
          </p:cNvGrpSpPr>
          <p:nvPr/>
        </p:nvGrpSpPr>
        <p:grpSpPr bwMode="auto">
          <a:xfrm>
            <a:off x="3719513" y="3357564"/>
            <a:ext cx="5256212" cy="1057275"/>
            <a:chOff x="1383" y="2087"/>
            <a:chExt cx="3311" cy="666"/>
          </a:xfrm>
        </p:grpSpPr>
        <p:sp>
          <p:nvSpPr>
            <p:cNvPr id="215070" name="Line 7">
              <a:extLst>
                <a:ext uri="{FF2B5EF4-FFF2-40B4-BE49-F238E27FC236}">
                  <a16:creationId xmlns:a16="http://schemas.microsoft.com/office/drawing/2014/main" id="{1C65281B-DB86-4B0A-B228-188BC0CB4FF7}"/>
                </a:ext>
              </a:extLst>
            </p:cNvPr>
            <p:cNvSpPr>
              <a:spLocks noChangeShapeType="1"/>
            </p:cNvSpPr>
            <p:nvPr/>
          </p:nvSpPr>
          <p:spPr bwMode="auto">
            <a:xfrm>
              <a:off x="3334" y="2432"/>
              <a:ext cx="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215071" name="Text Box 8">
              <a:extLst>
                <a:ext uri="{FF2B5EF4-FFF2-40B4-BE49-F238E27FC236}">
                  <a16:creationId xmlns:a16="http://schemas.microsoft.com/office/drawing/2014/main" id="{A4FFD38E-F19A-480E-81F8-0C4DC7815C66}"/>
                </a:ext>
              </a:extLst>
            </p:cNvPr>
            <p:cNvSpPr txBox="1">
              <a:spLocks noChangeArrowheads="1"/>
            </p:cNvSpPr>
            <p:nvPr/>
          </p:nvSpPr>
          <p:spPr bwMode="auto">
            <a:xfrm>
              <a:off x="4150" y="2241"/>
              <a:ext cx="5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a:solidFill>
                    <a:srgbClr val="0000CC"/>
                  </a:solidFill>
                  <a:latin typeface="Times New Roman" panose="02020603050405020304" pitchFamily="18" charset="0"/>
                  <a:ea typeface="黑体" panose="02010609060101010101" pitchFamily="49" charset="-122"/>
                </a:rPr>
                <a:t>(1)</a:t>
              </a:r>
            </a:p>
          </p:txBody>
        </p:sp>
        <p:sp>
          <p:nvSpPr>
            <p:cNvPr id="215072" name="Text Box 9">
              <a:extLst>
                <a:ext uri="{FF2B5EF4-FFF2-40B4-BE49-F238E27FC236}">
                  <a16:creationId xmlns:a16="http://schemas.microsoft.com/office/drawing/2014/main" id="{E57B4CB5-2EB7-48E9-A062-C74E94EA0F60}"/>
                </a:ext>
              </a:extLst>
            </p:cNvPr>
            <p:cNvSpPr txBox="1">
              <a:spLocks noChangeArrowheads="1"/>
            </p:cNvSpPr>
            <p:nvPr/>
          </p:nvSpPr>
          <p:spPr bwMode="auto">
            <a:xfrm>
              <a:off x="3094" y="2296"/>
              <a:ext cx="244"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80000"/>
                </a:lnSpc>
                <a:spcBef>
                  <a:spcPct val="0"/>
                </a:spcBef>
                <a:buFontTx/>
                <a:buNone/>
              </a:pPr>
              <a:r>
                <a:rPr kumimoji="1" lang="en-US" altLang="zh-CN" sz="2800">
                  <a:latin typeface="Times New Roman" panose="02020603050405020304" pitchFamily="18" charset="0"/>
                  <a:ea typeface="黑体" panose="02010609060101010101" pitchFamily="49" charset="-122"/>
                </a:rPr>
                <a:t>=</a:t>
              </a:r>
            </a:p>
          </p:txBody>
        </p:sp>
        <p:sp>
          <p:nvSpPr>
            <p:cNvPr id="215073" name="Line 10">
              <a:extLst>
                <a:ext uri="{FF2B5EF4-FFF2-40B4-BE49-F238E27FC236}">
                  <a16:creationId xmlns:a16="http://schemas.microsoft.com/office/drawing/2014/main" id="{E18200FC-2B5C-4836-A7CA-24AB81829C0B}"/>
                </a:ext>
              </a:extLst>
            </p:cNvPr>
            <p:cNvSpPr>
              <a:spLocks noChangeShapeType="1"/>
            </p:cNvSpPr>
            <p:nvPr/>
          </p:nvSpPr>
          <p:spPr bwMode="auto">
            <a:xfrm>
              <a:off x="1479" y="2424"/>
              <a:ext cx="15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rot="10800000" vert="eaVert" wrap="none">
              <a:spAutoFit/>
            </a:bodyPr>
            <a:lstStyle/>
            <a:p>
              <a:endParaRPr lang="zh-CN" altLang="en-US"/>
            </a:p>
          </p:txBody>
        </p:sp>
        <p:sp>
          <p:nvSpPr>
            <p:cNvPr id="215074" name="Text Box 11">
              <a:extLst>
                <a:ext uri="{FF2B5EF4-FFF2-40B4-BE49-F238E27FC236}">
                  <a16:creationId xmlns:a16="http://schemas.microsoft.com/office/drawing/2014/main" id="{182313D0-5D69-4227-8075-0C3068E0F902}"/>
                </a:ext>
              </a:extLst>
            </p:cNvPr>
            <p:cNvSpPr txBox="1">
              <a:spLocks noChangeArrowheads="1"/>
            </p:cNvSpPr>
            <p:nvPr/>
          </p:nvSpPr>
          <p:spPr bwMode="auto">
            <a:xfrm>
              <a:off x="1383" y="2115"/>
              <a:ext cx="1553"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sz="2800">
                  <a:latin typeface="Times New Roman" panose="02020603050405020304" pitchFamily="18" charset="0"/>
                  <a:ea typeface="黑体" panose="02010609060101010101" pitchFamily="49" charset="-122"/>
                </a:rPr>
                <a:t>([E</a:t>
              </a:r>
              <a:r>
                <a:rPr kumimoji="1" lang="en-US" altLang="zh-CN" sz="2800" baseline="-25000">
                  <a:latin typeface="Times New Roman" panose="02020603050405020304" pitchFamily="18" charset="0"/>
                  <a:ea typeface="黑体" panose="02010609060101010101" pitchFamily="49" charset="-122"/>
                </a:rPr>
                <a:t>t</a:t>
              </a:r>
              <a:r>
                <a:rPr kumimoji="1" lang="en-US" altLang="zh-CN" sz="2800">
                  <a:latin typeface="Times New Roman" panose="02020603050405020304" pitchFamily="18" charset="0"/>
                  <a:ea typeface="黑体" panose="02010609060101010101" pitchFamily="49" charset="-122"/>
                </a:rPr>
                <a:t>]</a:t>
              </a:r>
              <a:r>
                <a:rPr kumimoji="1" lang="zh-CN" altLang="en-US" sz="2800">
                  <a:latin typeface="Times New Roman" panose="02020603050405020304" pitchFamily="18" charset="0"/>
                  <a:ea typeface="黑体" panose="02010609060101010101" pitchFamily="49" charset="-122"/>
                </a:rPr>
                <a:t>－</a:t>
              </a:r>
              <a:r>
                <a:rPr kumimoji="1" lang="en-US" altLang="zh-CN" sz="2800">
                  <a:latin typeface="Times New Roman" panose="02020603050405020304" pitchFamily="18" charset="0"/>
                  <a:ea typeface="黑体" panose="02010609060101010101" pitchFamily="49" charset="-122"/>
                </a:rPr>
                <a:t>[ES])[S]</a:t>
              </a:r>
            </a:p>
          </p:txBody>
        </p:sp>
        <p:sp>
          <p:nvSpPr>
            <p:cNvPr id="215075" name="Text Box 12">
              <a:extLst>
                <a:ext uri="{FF2B5EF4-FFF2-40B4-BE49-F238E27FC236}">
                  <a16:creationId xmlns:a16="http://schemas.microsoft.com/office/drawing/2014/main" id="{948CA55E-F178-4339-9D41-302DF0055BD5}"/>
                </a:ext>
              </a:extLst>
            </p:cNvPr>
            <p:cNvSpPr txBox="1">
              <a:spLocks noChangeArrowheads="1"/>
            </p:cNvSpPr>
            <p:nvPr/>
          </p:nvSpPr>
          <p:spPr bwMode="auto">
            <a:xfrm>
              <a:off x="3303" y="2087"/>
              <a:ext cx="595"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sz="2800" i="1" dirty="0">
                  <a:latin typeface="Times New Roman" panose="02020603050405020304" pitchFamily="18" charset="0"/>
                  <a:ea typeface="黑体" panose="02010609060101010101" pitchFamily="49" charset="-122"/>
                </a:rPr>
                <a:t>k</a:t>
              </a:r>
              <a:r>
                <a:rPr kumimoji="1" lang="en-US" altLang="zh-CN" sz="2800" baseline="-25000" dirty="0">
                  <a:latin typeface="Times New Roman" panose="02020603050405020304" pitchFamily="18" charset="0"/>
                  <a:ea typeface="黑体" panose="02010609060101010101" pitchFamily="49" charset="-122"/>
                </a:rPr>
                <a:t>2</a:t>
              </a:r>
              <a:r>
                <a:rPr kumimoji="1" lang="en-US" altLang="zh-CN" sz="2800" dirty="0">
                  <a:latin typeface="Times New Roman" panose="02020603050405020304" pitchFamily="18" charset="0"/>
                  <a:ea typeface="黑体" panose="02010609060101010101" pitchFamily="49" charset="-122"/>
                </a:rPr>
                <a:t>+</a:t>
              </a:r>
              <a:r>
                <a:rPr kumimoji="1" lang="en-US" altLang="zh-CN" sz="2800" i="1" dirty="0">
                  <a:latin typeface="Times New Roman" panose="02020603050405020304" pitchFamily="18" charset="0"/>
                  <a:ea typeface="黑体" panose="02010609060101010101" pitchFamily="49" charset="-122"/>
                </a:rPr>
                <a:t>k</a:t>
              </a:r>
              <a:r>
                <a:rPr kumimoji="1" lang="en-US" altLang="zh-CN" sz="2800" baseline="-25000" dirty="0">
                  <a:latin typeface="Times New Roman" panose="02020603050405020304" pitchFamily="18" charset="0"/>
                  <a:ea typeface="黑体" panose="02010609060101010101" pitchFamily="49" charset="-122"/>
                </a:rPr>
                <a:t>3</a:t>
              </a:r>
            </a:p>
          </p:txBody>
        </p:sp>
        <p:sp>
          <p:nvSpPr>
            <p:cNvPr id="215076" name="Text Box 13">
              <a:extLst>
                <a:ext uri="{FF2B5EF4-FFF2-40B4-BE49-F238E27FC236}">
                  <a16:creationId xmlns:a16="http://schemas.microsoft.com/office/drawing/2014/main" id="{C4D153C8-18B1-4847-AFF3-57D15173034E}"/>
                </a:ext>
              </a:extLst>
            </p:cNvPr>
            <p:cNvSpPr txBox="1">
              <a:spLocks noChangeArrowheads="1"/>
            </p:cNvSpPr>
            <p:nvPr/>
          </p:nvSpPr>
          <p:spPr bwMode="auto">
            <a:xfrm>
              <a:off x="1709" y="2440"/>
              <a:ext cx="94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lvl="1" eaLnBrk="1" hangingPunct="1">
                <a:lnSpc>
                  <a:spcPct val="90000"/>
                </a:lnSpc>
                <a:buClr>
                  <a:schemeClr val="tx2"/>
                </a:buClr>
                <a:buSzPct val="75000"/>
                <a:buFont typeface="Wingdings" panose="05000000000000000000" pitchFamily="2" charset="2"/>
                <a:buNone/>
              </a:pPr>
              <a:r>
                <a:rPr kumimoji="1" lang="en-US" altLang="zh-CN">
                  <a:latin typeface="Times New Roman" panose="02020603050405020304" pitchFamily="18" charset="0"/>
                  <a:ea typeface="黑体" panose="02010609060101010101" pitchFamily="49" charset="-122"/>
                </a:rPr>
                <a:t>[ES]  </a:t>
              </a:r>
            </a:p>
          </p:txBody>
        </p:sp>
        <p:sp>
          <p:nvSpPr>
            <p:cNvPr id="215077" name="Text Box 14">
              <a:extLst>
                <a:ext uri="{FF2B5EF4-FFF2-40B4-BE49-F238E27FC236}">
                  <a16:creationId xmlns:a16="http://schemas.microsoft.com/office/drawing/2014/main" id="{C0A59B32-5CFC-4434-93BD-37A31F247EF7}"/>
                </a:ext>
              </a:extLst>
            </p:cNvPr>
            <p:cNvSpPr txBox="1">
              <a:spLocks noChangeArrowheads="1"/>
            </p:cNvSpPr>
            <p:nvPr/>
          </p:nvSpPr>
          <p:spPr bwMode="auto">
            <a:xfrm>
              <a:off x="3483" y="2451"/>
              <a:ext cx="292"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sz="2800" i="1">
                  <a:latin typeface="Times New Roman" panose="02020603050405020304" pitchFamily="18" charset="0"/>
                  <a:ea typeface="黑体" panose="02010609060101010101" pitchFamily="49" charset="-122"/>
                </a:rPr>
                <a:t>k</a:t>
              </a:r>
              <a:r>
                <a:rPr kumimoji="1" lang="en-US" altLang="zh-CN" sz="2800" baseline="-25000">
                  <a:latin typeface="Times New Roman" panose="02020603050405020304" pitchFamily="18" charset="0"/>
                  <a:ea typeface="黑体" panose="02010609060101010101" pitchFamily="49" charset="-122"/>
                </a:rPr>
                <a:t>1</a:t>
              </a:r>
              <a:endParaRPr kumimoji="1" lang="en-US" altLang="zh-CN" sz="2800">
                <a:latin typeface="Times New Roman" panose="02020603050405020304" pitchFamily="18" charset="0"/>
                <a:ea typeface="黑体" panose="02010609060101010101" pitchFamily="49" charset="-122"/>
              </a:endParaRPr>
            </a:p>
          </p:txBody>
        </p:sp>
      </p:grpSp>
      <p:sp>
        <p:nvSpPr>
          <p:cNvPr id="215047" name="Rectangle 15">
            <a:extLst>
              <a:ext uri="{FF2B5EF4-FFF2-40B4-BE49-F238E27FC236}">
                <a16:creationId xmlns:a16="http://schemas.microsoft.com/office/drawing/2014/main" id="{F882A701-4303-4149-AF14-C4430C893BC6}"/>
              </a:ext>
            </a:extLst>
          </p:cNvPr>
          <p:cNvSpPr>
            <a:spLocks noChangeArrowheads="1"/>
          </p:cNvSpPr>
          <p:nvPr/>
        </p:nvSpPr>
        <p:spPr bwMode="auto">
          <a:xfrm>
            <a:off x="2135188" y="3644900"/>
            <a:ext cx="18716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a:latin typeface="Times New Roman" panose="02020603050405020304" pitchFamily="18" charset="0"/>
                <a:ea typeface="黑体" panose="02010609060101010101" pitchFamily="49" charset="-122"/>
              </a:rPr>
              <a:t>整理得：</a:t>
            </a:r>
          </a:p>
        </p:txBody>
      </p:sp>
      <p:sp>
        <p:nvSpPr>
          <p:cNvPr id="962576" name="Rectangle 16">
            <a:extLst>
              <a:ext uri="{FF2B5EF4-FFF2-40B4-BE49-F238E27FC236}">
                <a16:creationId xmlns:a16="http://schemas.microsoft.com/office/drawing/2014/main" id="{5D8CDD12-D4DB-4A80-B5BC-E2BA3EE79FFA}"/>
              </a:ext>
            </a:extLst>
          </p:cNvPr>
          <p:cNvSpPr>
            <a:spLocks noChangeArrowheads="1"/>
          </p:cNvSpPr>
          <p:nvPr/>
        </p:nvSpPr>
        <p:spPr bwMode="auto">
          <a:xfrm>
            <a:off x="2495551" y="2781300"/>
            <a:ext cx="6913563" cy="527050"/>
          </a:xfrm>
          <a:prstGeom prst="rect">
            <a:avLst/>
          </a:prstGeom>
          <a:noFill/>
          <a:ln w="9525">
            <a:noFill/>
            <a:miter lim="800000"/>
            <a:headEnd/>
            <a:tailEnd/>
          </a:ln>
          <a:effectLst/>
        </p:spPr>
        <p:txBody>
          <a:bodyPr>
            <a:spAutoFit/>
          </a:bodyPr>
          <a:lstStyle/>
          <a:p>
            <a:pPr lvl="1" eaLnBrk="1" hangingPunct="1">
              <a:lnSpc>
                <a:spcPct val="110000"/>
              </a:lnSpc>
              <a:spcBef>
                <a:spcPct val="20000"/>
              </a:spcBef>
              <a:buClr>
                <a:schemeClr val="folHlink"/>
              </a:buClr>
              <a:buSzPct val="60000"/>
              <a:buFont typeface="Wingdings" pitchFamily="2" charset="2"/>
              <a:buNone/>
              <a:defRPr/>
            </a:pPr>
            <a:r>
              <a:rPr kumimoji="1" lang="en-US" altLang="zh-CN" sz="2800" i="1"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1</a:t>
            </a:r>
            <a:r>
              <a:rPr kumimoji="1" lang="en-US" altLang="zh-CN" sz="2800" dirty="0">
                <a:latin typeface="Times New Roman" pitchFamily="18" charset="0"/>
                <a:ea typeface="黑体" pitchFamily="49" charset="-122"/>
              </a:rPr>
              <a:t> ([E</a:t>
            </a:r>
            <a:r>
              <a:rPr kumimoji="1" lang="en-US" altLang="zh-CN" sz="2800" baseline="-25000" dirty="0">
                <a:latin typeface="Times New Roman" pitchFamily="18" charset="0"/>
                <a:ea typeface="黑体" pitchFamily="49" charset="-122"/>
              </a:rPr>
              <a:t>t</a:t>
            </a:r>
            <a:r>
              <a:rPr kumimoji="1" lang="en-US" altLang="zh-CN" sz="2800" dirty="0">
                <a:latin typeface="Times New Roman" pitchFamily="18" charset="0"/>
                <a:ea typeface="黑体" pitchFamily="49" charset="-122"/>
              </a:rPr>
              <a:t>]</a:t>
            </a:r>
            <a:r>
              <a:rPr kumimoji="1" lang="zh-CN" altLang="en-US" sz="2800" dirty="0">
                <a:latin typeface="Times New Roman" pitchFamily="18" charset="0"/>
                <a:ea typeface="黑体" pitchFamily="49" charset="-122"/>
              </a:rPr>
              <a:t>－</a:t>
            </a:r>
            <a:r>
              <a:rPr kumimoji="1" lang="en-US" altLang="zh-CN" sz="2800" dirty="0">
                <a:latin typeface="Times New Roman" pitchFamily="18" charset="0"/>
                <a:ea typeface="黑体" pitchFamily="49" charset="-122"/>
              </a:rPr>
              <a:t>[ES]) [S] =</a:t>
            </a:r>
            <a:r>
              <a:rPr kumimoji="1" lang="en-US" altLang="zh-CN" sz="2800" dirty="0">
                <a:effectLst>
                  <a:outerShdw blurRad="38100" dist="38100" dir="2700000" algn="tl">
                    <a:srgbClr val="C0C0C0"/>
                  </a:outerShdw>
                </a:effectLst>
                <a:latin typeface="Times New Roman" pitchFamily="18" charset="0"/>
                <a:ea typeface="黑体" pitchFamily="49" charset="-122"/>
              </a:rPr>
              <a:t> </a:t>
            </a:r>
            <a:r>
              <a:rPr kumimoji="1" lang="en-US" altLang="zh-CN" sz="2800" i="1"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2</a:t>
            </a:r>
            <a:r>
              <a:rPr kumimoji="1" lang="en-US" altLang="zh-CN" sz="2800" dirty="0">
                <a:latin typeface="Times New Roman" pitchFamily="18" charset="0"/>
                <a:ea typeface="黑体" pitchFamily="49" charset="-122"/>
              </a:rPr>
              <a:t> [ES] + </a:t>
            </a:r>
            <a:r>
              <a:rPr kumimoji="1" lang="en-US" altLang="zh-CN" sz="2800" i="1"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3</a:t>
            </a:r>
            <a:r>
              <a:rPr kumimoji="1" lang="en-US" altLang="zh-CN" sz="2800" dirty="0">
                <a:latin typeface="Times New Roman" pitchFamily="18" charset="0"/>
                <a:ea typeface="黑体" pitchFamily="49" charset="-122"/>
              </a:rPr>
              <a:t> [ES]</a:t>
            </a:r>
          </a:p>
        </p:txBody>
      </p:sp>
      <p:sp>
        <p:nvSpPr>
          <p:cNvPr id="215049" name="Rectangle 17">
            <a:extLst>
              <a:ext uri="{FF2B5EF4-FFF2-40B4-BE49-F238E27FC236}">
                <a16:creationId xmlns:a16="http://schemas.microsoft.com/office/drawing/2014/main" id="{6B4B208B-CB6B-4F4C-9F90-2BA126D30110}"/>
              </a:ext>
            </a:extLst>
          </p:cNvPr>
          <p:cNvSpPr>
            <a:spLocks noChangeArrowheads="1"/>
          </p:cNvSpPr>
          <p:nvPr/>
        </p:nvSpPr>
        <p:spPr bwMode="auto">
          <a:xfrm>
            <a:off x="2135188" y="981075"/>
            <a:ext cx="4392612"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63538" indent="-363538">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20000"/>
              </a:lnSpc>
              <a:buClr>
                <a:srgbClr val="003300"/>
              </a:buClr>
              <a:buFont typeface="Wingdings" panose="05000000000000000000" pitchFamily="2" charset="2"/>
              <a:buChar char="Ø"/>
            </a:pPr>
            <a:r>
              <a:rPr kumimoji="1" lang="zh-CN" altLang="en-US" sz="2800">
                <a:solidFill>
                  <a:schemeClr val="tx2"/>
                </a:solidFill>
                <a:latin typeface="Times New Roman" panose="02020603050405020304" pitchFamily="18" charset="0"/>
                <a:ea typeface="黑体" panose="02010609060101010101" pitchFamily="49" charset="-122"/>
              </a:rPr>
              <a:t>当反应处于稳态时：</a:t>
            </a:r>
          </a:p>
        </p:txBody>
      </p:sp>
      <p:sp>
        <p:nvSpPr>
          <p:cNvPr id="962578" name="Rectangle 18">
            <a:extLst>
              <a:ext uri="{FF2B5EF4-FFF2-40B4-BE49-F238E27FC236}">
                <a16:creationId xmlns:a16="http://schemas.microsoft.com/office/drawing/2014/main" id="{A3809C75-BCA2-45D8-9BAB-4A248C367AA6}"/>
              </a:ext>
            </a:extLst>
          </p:cNvPr>
          <p:cNvSpPr>
            <a:spLocks noChangeArrowheads="1"/>
          </p:cNvSpPr>
          <p:nvPr/>
        </p:nvSpPr>
        <p:spPr bwMode="auto">
          <a:xfrm>
            <a:off x="2640013" y="2205038"/>
            <a:ext cx="6913562" cy="527580"/>
          </a:xfrm>
          <a:prstGeom prst="rect">
            <a:avLst/>
          </a:prstGeom>
          <a:noFill/>
          <a:ln w="9525">
            <a:noFill/>
            <a:miter lim="800000"/>
            <a:headEnd/>
            <a:tailEnd/>
          </a:ln>
          <a:effectLst/>
        </p:spPr>
        <p:txBody>
          <a:bodyPr>
            <a:spAutoFit/>
          </a:bodyPr>
          <a:lstStyle/>
          <a:p>
            <a:pPr lvl="1" eaLnBrk="1" hangingPunct="1">
              <a:lnSpc>
                <a:spcPct val="110000"/>
              </a:lnSpc>
              <a:spcBef>
                <a:spcPct val="20000"/>
              </a:spcBef>
              <a:buClr>
                <a:schemeClr val="folHlink"/>
              </a:buClr>
              <a:buSzPct val="60000"/>
              <a:buFont typeface="Wingdings" pitchFamily="2" charset="2"/>
              <a:buNone/>
              <a:defRPr/>
            </a:pPr>
            <a:r>
              <a:rPr kumimoji="1" lang="en-US" altLang="zh-CN" sz="2800" i="1"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1</a:t>
            </a:r>
            <a:r>
              <a:rPr kumimoji="1" lang="en-US" altLang="zh-CN" sz="2800" dirty="0">
                <a:latin typeface="Times New Roman" pitchFamily="18" charset="0"/>
                <a:ea typeface="黑体" pitchFamily="49" charset="-122"/>
              </a:rPr>
              <a:t> [</a:t>
            </a:r>
            <a:r>
              <a:rPr kumimoji="1" lang="zh-CN" altLang="en-US" sz="2800" dirty="0">
                <a:latin typeface="Times New Roman" pitchFamily="18" charset="0"/>
                <a:ea typeface="黑体" pitchFamily="49" charset="-122"/>
              </a:rPr>
              <a:t>游离酶 </a:t>
            </a:r>
            <a:r>
              <a:rPr kumimoji="1" lang="en-US" altLang="zh-CN" sz="2800" dirty="0">
                <a:latin typeface="Times New Roman" pitchFamily="18" charset="0"/>
                <a:ea typeface="黑体" pitchFamily="49" charset="-122"/>
              </a:rPr>
              <a:t>] [S] =</a:t>
            </a:r>
            <a:r>
              <a:rPr kumimoji="1" lang="en-US" altLang="zh-CN" sz="2800" dirty="0">
                <a:effectLst>
                  <a:outerShdw blurRad="38100" dist="38100" dir="2700000" algn="tl">
                    <a:srgbClr val="C0C0C0"/>
                  </a:outerShdw>
                </a:effectLst>
                <a:latin typeface="Times New Roman" pitchFamily="18" charset="0"/>
                <a:ea typeface="黑体" pitchFamily="49" charset="-122"/>
              </a:rPr>
              <a:t> </a:t>
            </a:r>
            <a:r>
              <a:rPr kumimoji="1" lang="en-US" altLang="zh-CN" sz="2800" i="1"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2</a:t>
            </a:r>
            <a:r>
              <a:rPr kumimoji="1" lang="en-US" altLang="zh-CN" sz="2800" dirty="0">
                <a:latin typeface="Times New Roman" pitchFamily="18" charset="0"/>
                <a:ea typeface="黑体" pitchFamily="49" charset="-122"/>
              </a:rPr>
              <a:t> [ES] + </a:t>
            </a:r>
            <a:r>
              <a:rPr kumimoji="1" lang="en-US" altLang="zh-CN" sz="2800" i="1"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3</a:t>
            </a:r>
            <a:r>
              <a:rPr kumimoji="1" lang="en-US" altLang="zh-CN" sz="2800" dirty="0">
                <a:latin typeface="Times New Roman" pitchFamily="18" charset="0"/>
                <a:ea typeface="黑体" pitchFamily="49" charset="-122"/>
              </a:rPr>
              <a:t> [ES]</a:t>
            </a:r>
          </a:p>
        </p:txBody>
      </p:sp>
      <p:grpSp>
        <p:nvGrpSpPr>
          <p:cNvPr id="215051" name="组合 43">
            <a:extLst>
              <a:ext uri="{FF2B5EF4-FFF2-40B4-BE49-F238E27FC236}">
                <a16:creationId xmlns:a16="http://schemas.microsoft.com/office/drawing/2014/main" id="{A86F82BB-B38B-4EEF-BFD6-4061340C129C}"/>
              </a:ext>
            </a:extLst>
          </p:cNvPr>
          <p:cNvGrpSpPr>
            <a:grpSpLocks/>
          </p:cNvGrpSpPr>
          <p:nvPr/>
        </p:nvGrpSpPr>
        <p:grpSpPr bwMode="auto">
          <a:xfrm>
            <a:off x="3287713" y="4554539"/>
            <a:ext cx="6769100" cy="1774825"/>
            <a:chOff x="1763713" y="4554539"/>
            <a:chExt cx="6769100" cy="1774824"/>
          </a:xfrm>
        </p:grpSpPr>
        <p:grpSp>
          <p:nvGrpSpPr>
            <p:cNvPr id="215052" name="Group 20">
              <a:extLst>
                <a:ext uri="{FF2B5EF4-FFF2-40B4-BE49-F238E27FC236}">
                  <a16:creationId xmlns:a16="http://schemas.microsoft.com/office/drawing/2014/main" id="{C1CD4409-94F9-4FFA-84D4-B6B4EAF65B3E}"/>
                </a:ext>
              </a:extLst>
            </p:cNvPr>
            <p:cNvGrpSpPr>
              <a:grpSpLocks/>
            </p:cNvGrpSpPr>
            <p:nvPr/>
          </p:nvGrpSpPr>
          <p:grpSpPr bwMode="auto">
            <a:xfrm>
              <a:off x="1979613" y="4772036"/>
              <a:ext cx="6553200" cy="576264"/>
              <a:chOff x="1247" y="2961"/>
              <a:chExt cx="4128" cy="363"/>
            </a:xfrm>
          </p:grpSpPr>
          <p:grpSp>
            <p:nvGrpSpPr>
              <p:cNvPr id="215066" name="Group 21">
                <a:extLst>
                  <a:ext uri="{FF2B5EF4-FFF2-40B4-BE49-F238E27FC236}">
                    <a16:creationId xmlns:a16="http://schemas.microsoft.com/office/drawing/2014/main" id="{9B172B47-1661-4F68-A217-9CA1C6B68A8F}"/>
                  </a:ext>
                </a:extLst>
              </p:cNvPr>
              <p:cNvGrpSpPr>
                <a:grpSpLocks/>
              </p:cNvGrpSpPr>
              <p:nvPr/>
            </p:nvGrpSpPr>
            <p:grpSpPr bwMode="auto">
              <a:xfrm>
                <a:off x="2063" y="2997"/>
                <a:ext cx="3312" cy="327"/>
                <a:chOff x="2063" y="2997"/>
                <a:chExt cx="3312" cy="327"/>
              </a:xfrm>
            </p:grpSpPr>
            <p:sp>
              <p:nvSpPr>
                <p:cNvPr id="215068" name="Text Box 23">
                  <a:extLst>
                    <a:ext uri="{FF2B5EF4-FFF2-40B4-BE49-F238E27FC236}">
                      <a16:creationId xmlns:a16="http://schemas.microsoft.com/office/drawing/2014/main" id="{3CB64CEC-E17C-49C2-B7D1-556E38CEFFAA}"/>
                    </a:ext>
                  </a:extLst>
                </p:cNvPr>
                <p:cNvSpPr txBox="1">
                  <a:spLocks noChangeArrowheads="1"/>
                </p:cNvSpPr>
                <p:nvPr/>
              </p:nvSpPr>
              <p:spPr bwMode="auto">
                <a:xfrm>
                  <a:off x="2925" y="2997"/>
                  <a:ext cx="24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a:latin typeface="Times New Roman" panose="02020603050405020304" pitchFamily="18" charset="0"/>
                      <a:ea typeface="黑体" panose="02010609060101010101" pitchFamily="49" charset="-122"/>
                    </a:rPr>
                    <a:t>= </a:t>
                  </a:r>
                  <a:r>
                    <a:rPr kumimoji="1" lang="en-US" altLang="zh-CN" sz="2800" i="1">
                      <a:solidFill>
                        <a:schemeClr val="tx2"/>
                      </a:solidFill>
                      <a:latin typeface="Times New Roman" panose="02020603050405020304" pitchFamily="18" charset="0"/>
                      <a:ea typeface="黑体" panose="02010609060101010101" pitchFamily="49" charset="-122"/>
                    </a:rPr>
                    <a:t>K</a:t>
                  </a:r>
                  <a:r>
                    <a:rPr kumimoji="1" lang="en-US" altLang="zh-CN" sz="2800" baseline="-25000">
                      <a:solidFill>
                        <a:schemeClr val="tx2"/>
                      </a:solidFill>
                      <a:latin typeface="Times New Roman" panose="02020603050405020304" pitchFamily="18" charset="0"/>
                      <a:ea typeface="黑体" panose="02010609060101010101" pitchFamily="49" charset="-122"/>
                    </a:rPr>
                    <a:t>m</a:t>
                  </a:r>
                  <a:r>
                    <a:rPr kumimoji="1" lang="en-US" altLang="zh-CN" sz="2800">
                      <a:solidFill>
                        <a:schemeClr val="tx2"/>
                      </a:solidFill>
                      <a:latin typeface="Times New Roman" panose="02020603050405020304" pitchFamily="18" charset="0"/>
                      <a:ea typeface="黑体" panose="02010609060101010101" pitchFamily="49" charset="-122"/>
                    </a:rPr>
                    <a:t> </a:t>
                  </a:r>
                  <a:r>
                    <a:rPr kumimoji="1" lang="zh-CN" altLang="en-US" sz="2800">
                      <a:solidFill>
                        <a:schemeClr val="tx2"/>
                      </a:solidFill>
                      <a:latin typeface="Times New Roman" panose="02020603050405020304" pitchFamily="18" charset="0"/>
                      <a:ea typeface="黑体" panose="02010609060101010101" pitchFamily="49" charset="-122"/>
                    </a:rPr>
                    <a:t>（米氏常数</a:t>
                  </a:r>
                  <a:r>
                    <a:rPr kumimoji="1" lang="zh-CN" altLang="en-US" sz="2800">
                      <a:solidFill>
                        <a:srgbClr val="FF3300"/>
                      </a:solidFill>
                      <a:latin typeface="Times New Roman" panose="02020603050405020304" pitchFamily="18" charset="0"/>
                      <a:ea typeface="黑体" panose="02010609060101010101" pitchFamily="49" charset="-122"/>
                    </a:rPr>
                    <a:t>）</a:t>
                  </a:r>
                  <a:r>
                    <a:rPr kumimoji="1" lang="zh-CN" altLang="en-US" sz="2800">
                      <a:solidFill>
                        <a:srgbClr val="FFCC00"/>
                      </a:solidFill>
                      <a:latin typeface="Times New Roman" panose="02020603050405020304" pitchFamily="18" charset="0"/>
                      <a:ea typeface="黑体" panose="02010609060101010101" pitchFamily="49" charset="-122"/>
                    </a:rPr>
                    <a:t>   </a:t>
                  </a:r>
                </a:p>
              </p:txBody>
            </p:sp>
            <p:sp>
              <p:nvSpPr>
                <p:cNvPr id="215069" name="Line 24">
                  <a:extLst>
                    <a:ext uri="{FF2B5EF4-FFF2-40B4-BE49-F238E27FC236}">
                      <a16:creationId xmlns:a16="http://schemas.microsoft.com/office/drawing/2014/main" id="{E12C0CE6-1C67-4508-9E0C-0BDDCC42C803}"/>
                    </a:ext>
                  </a:extLst>
                </p:cNvPr>
                <p:cNvSpPr>
                  <a:spLocks noChangeShapeType="1"/>
                </p:cNvSpPr>
                <p:nvPr/>
              </p:nvSpPr>
              <p:spPr bwMode="auto">
                <a:xfrm>
                  <a:off x="2063" y="3149"/>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grpSp>
          <p:sp>
            <p:nvSpPr>
              <p:cNvPr id="215067" name="Text Box 26">
                <a:extLst>
                  <a:ext uri="{FF2B5EF4-FFF2-40B4-BE49-F238E27FC236}">
                    <a16:creationId xmlns:a16="http://schemas.microsoft.com/office/drawing/2014/main" id="{AD45AEF3-47EE-42FE-8875-2C763BB0A443}"/>
                  </a:ext>
                </a:extLst>
              </p:cNvPr>
              <p:cNvSpPr txBox="1">
                <a:spLocks noChangeArrowheads="1"/>
              </p:cNvSpPr>
              <p:nvPr/>
            </p:nvSpPr>
            <p:spPr bwMode="auto">
              <a:xfrm>
                <a:off x="1247" y="2961"/>
                <a:ext cx="56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a:latin typeface="Times New Roman" panose="02020603050405020304" pitchFamily="18" charset="0"/>
                    <a:ea typeface="黑体" panose="02010609060101010101" pitchFamily="49" charset="-122"/>
                  </a:rPr>
                  <a:t>令：</a:t>
                </a:r>
              </a:p>
            </p:txBody>
          </p:sp>
        </p:grpSp>
        <p:sp>
          <p:nvSpPr>
            <p:cNvPr id="962587" name="Rectangle 27">
              <a:extLst>
                <a:ext uri="{FF2B5EF4-FFF2-40B4-BE49-F238E27FC236}">
                  <a16:creationId xmlns:a16="http://schemas.microsoft.com/office/drawing/2014/main" id="{76E300FB-174C-49D0-ADC0-03F27250731F}"/>
                </a:ext>
              </a:extLst>
            </p:cNvPr>
            <p:cNvSpPr>
              <a:spLocks noChangeArrowheads="1"/>
            </p:cNvSpPr>
            <p:nvPr/>
          </p:nvSpPr>
          <p:spPr bwMode="auto">
            <a:xfrm>
              <a:off x="1763713" y="5810250"/>
              <a:ext cx="6769100" cy="519113"/>
            </a:xfrm>
            <a:prstGeom prst="rect">
              <a:avLst/>
            </a:prstGeom>
            <a:noFill/>
            <a:ln w="9525">
              <a:noFill/>
              <a:miter lim="800000"/>
              <a:headEnd/>
              <a:tailEnd/>
            </a:ln>
            <a:effectLst/>
          </p:spPr>
          <p:txBody>
            <a:bodyPr>
              <a:spAutoFit/>
            </a:bodyPr>
            <a:lstStyle/>
            <a:p>
              <a:pPr eaLnBrk="1" hangingPunct="1">
                <a:defRPr/>
              </a:pPr>
              <a:r>
                <a:rPr kumimoji="1" lang="zh-CN" altLang="en-US" sz="2800" dirty="0">
                  <a:latin typeface="Times New Roman" pitchFamily="18" charset="0"/>
                  <a:ea typeface="黑体" pitchFamily="49" charset="-122"/>
                </a:rPr>
                <a:t>则</a:t>
              </a:r>
              <a:r>
                <a:rPr kumimoji="1" lang="en-US" altLang="zh-CN" sz="2800" dirty="0">
                  <a:solidFill>
                    <a:srgbClr val="0000CC"/>
                  </a:solidFill>
                  <a:latin typeface="Times New Roman" pitchFamily="18" charset="0"/>
                  <a:ea typeface="黑体" pitchFamily="49" charset="-122"/>
                </a:rPr>
                <a:t>(1)</a:t>
              </a:r>
              <a:r>
                <a:rPr kumimoji="1" lang="zh-CN" altLang="en-US" sz="2800" dirty="0">
                  <a:latin typeface="Times New Roman" pitchFamily="18" charset="0"/>
                  <a:ea typeface="黑体" pitchFamily="49" charset="-122"/>
                </a:rPr>
                <a:t>变为</a:t>
              </a:r>
              <a:r>
                <a:rPr kumimoji="1" lang="en-US" altLang="zh-CN" sz="2800" dirty="0">
                  <a:latin typeface="Times New Roman" pitchFamily="18" charset="0"/>
                  <a:ea typeface="黑体" pitchFamily="49" charset="-122"/>
                </a:rPr>
                <a:t>:  ([E</a:t>
              </a:r>
              <a:r>
                <a:rPr kumimoji="1" lang="en-US" altLang="zh-CN" sz="2800" baseline="-25000" dirty="0">
                  <a:latin typeface="Times New Roman" pitchFamily="18" charset="0"/>
                  <a:ea typeface="黑体" pitchFamily="49" charset="-122"/>
                </a:rPr>
                <a:t>t</a:t>
              </a:r>
              <a:r>
                <a:rPr kumimoji="1" lang="en-US" altLang="zh-CN" sz="2800" dirty="0">
                  <a:latin typeface="Times New Roman" pitchFamily="18" charset="0"/>
                  <a:ea typeface="黑体" pitchFamily="49" charset="-122"/>
                </a:rPr>
                <a:t>]</a:t>
              </a:r>
              <a:r>
                <a:rPr kumimoji="1" lang="zh-CN" altLang="en-US" sz="2800" dirty="0">
                  <a:latin typeface="Times New Roman" pitchFamily="18" charset="0"/>
                  <a:ea typeface="黑体" pitchFamily="49" charset="-122"/>
                </a:rPr>
                <a:t>－</a:t>
              </a:r>
              <a:r>
                <a:rPr kumimoji="1" lang="en-US" altLang="zh-CN" sz="2800" dirty="0">
                  <a:latin typeface="Times New Roman" pitchFamily="18" charset="0"/>
                  <a:ea typeface="黑体" pitchFamily="49" charset="-122"/>
                </a:rPr>
                <a:t>[ES]) [S] =</a:t>
              </a:r>
              <a:r>
                <a:rPr kumimoji="1" lang="en-US" altLang="zh-CN" sz="2800" dirty="0">
                  <a:effectLst>
                    <a:outerShdw blurRad="38100" dist="38100" dir="2700000" algn="tl">
                      <a:srgbClr val="C0C0C0"/>
                    </a:outerShdw>
                  </a:effectLst>
                  <a:latin typeface="Times New Roman" pitchFamily="18" charset="0"/>
                  <a:ea typeface="黑体" pitchFamily="49" charset="-122"/>
                </a:rPr>
                <a:t> </a:t>
              </a:r>
              <a:r>
                <a:rPr kumimoji="1" lang="en-US" altLang="zh-CN" sz="2800" i="1"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m</a:t>
              </a:r>
              <a:r>
                <a:rPr kumimoji="1" lang="en-US" altLang="zh-CN" sz="2800" dirty="0">
                  <a:latin typeface="Times New Roman" pitchFamily="18" charset="0"/>
                  <a:ea typeface="黑体" pitchFamily="49" charset="-122"/>
                </a:rPr>
                <a:t> [ES]</a:t>
              </a:r>
            </a:p>
          </p:txBody>
        </p:sp>
        <p:grpSp>
          <p:nvGrpSpPr>
            <p:cNvPr id="215054" name="Group 28">
              <a:extLst>
                <a:ext uri="{FF2B5EF4-FFF2-40B4-BE49-F238E27FC236}">
                  <a16:creationId xmlns:a16="http://schemas.microsoft.com/office/drawing/2014/main" id="{FA8A96EE-0D76-4480-9293-21269C7B398B}"/>
                </a:ext>
              </a:extLst>
            </p:cNvPr>
            <p:cNvGrpSpPr>
              <a:grpSpLocks/>
            </p:cNvGrpSpPr>
            <p:nvPr/>
          </p:nvGrpSpPr>
          <p:grpSpPr bwMode="auto">
            <a:xfrm>
              <a:off x="1979613" y="4776797"/>
              <a:ext cx="6553200" cy="576264"/>
              <a:chOff x="1247" y="2961"/>
              <a:chExt cx="4128" cy="363"/>
            </a:xfrm>
          </p:grpSpPr>
          <p:grpSp>
            <p:nvGrpSpPr>
              <p:cNvPr id="215062" name="Group 29">
                <a:extLst>
                  <a:ext uri="{FF2B5EF4-FFF2-40B4-BE49-F238E27FC236}">
                    <a16:creationId xmlns:a16="http://schemas.microsoft.com/office/drawing/2014/main" id="{F3F79F03-9F80-4088-A27D-E054DECEFC04}"/>
                  </a:ext>
                </a:extLst>
              </p:cNvPr>
              <p:cNvGrpSpPr>
                <a:grpSpLocks/>
              </p:cNvGrpSpPr>
              <p:nvPr/>
            </p:nvGrpSpPr>
            <p:grpSpPr bwMode="auto">
              <a:xfrm>
                <a:off x="2063" y="2997"/>
                <a:ext cx="3312" cy="327"/>
                <a:chOff x="2063" y="2997"/>
                <a:chExt cx="3312" cy="327"/>
              </a:xfrm>
            </p:grpSpPr>
            <p:sp>
              <p:nvSpPr>
                <p:cNvPr id="215064" name="Text Box 31">
                  <a:extLst>
                    <a:ext uri="{FF2B5EF4-FFF2-40B4-BE49-F238E27FC236}">
                      <a16:creationId xmlns:a16="http://schemas.microsoft.com/office/drawing/2014/main" id="{93F10809-51A6-4F3D-83F1-7BE6B2194850}"/>
                    </a:ext>
                  </a:extLst>
                </p:cNvPr>
                <p:cNvSpPr txBox="1">
                  <a:spLocks noChangeArrowheads="1"/>
                </p:cNvSpPr>
                <p:nvPr/>
              </p:nvSpPr>
              <p:spPr bwMode="auto">
                <a:xfrm>
                  <a:off x="2925" y="2997"/>
                  <a:ext cx="24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a:latin typeface="Times New Roman" panose="02020603050405020304" pitchFamily="18" charset="0"/>
                      <a:ea typeface="黑体" panose="02010609060101010101" pitchFamily="49" charset="-122"/>
                    </a:rPr>
                    <a:t>= </a:t>
                  </a:r>
                  <a:r>
                    <a:rPr kumimoji="1" lang="en-US" altLang="zh-CN" sz="2800" i="1">
                      <a:solidFill>
                        <a:schemeClr val="tx2"/>
                      </a:solidFill>
                      <a:latin typeface="Times New Roman" panose="02020603050405020304" pitchFamily="18" charset="0"/>
                      <a:ea typeface="黑体" panose="02010609060101010101" pitchFamily="49" charset="-122"/>
                    </a:rPr>
                    <a:t>K</a:t>
                  </a:r>
                  <a:r>
                    <a:rPr kumimoji="1" lang="en-US" altLang="zh-CN" sz="2800" baseline="-25000">
                      <a:solidFill>
                        <a:schemeClr val="tx2"/>
                      </a:solidFill>
                      <a:latin typeface="Times New Roman" panose="02020603050405020304" pitchFamily="18" charset="0"/>
                      <a:ea typeface="黑体" panose="02010609060101010101" pitchFamily="49" charset="-122"/>
                    </a:rPr>
                    <a:t>m</a:t>
                  </a:r>
                  <a:r>
                    <a:rPr kumimoji="1" lang="en-US" altLang="zh-CN" sz="2800">
                      <a:solidFill>
                        <a:schemeClr val="tx2"/>
                      </a:solidFill>
                      <a:latin typeface="Times New Roman" panose="02020603050405020304" pitchFamily="18" charset="0"/>
                      <a:ea typeface="黑体" panose="02010609060101010101" pitchFamily="49" charset="-122"/>
                    </a:rPr>
                    <a:t> </a:t>
                  </a:r>
                  <a:r>
                    <a:rPr kumimoji="1" lang="zh-CN" altLang="en-US" sz="2800">
                      <a:solidFill>
                        <a:schemeClr val="tx2"/>
                      </a:solidFill>
                      <a:latin typeface="Times New Roman" panose="02020603050405020304" pitchFamily="18" charset="0"/>
                      <a:ea typeface="黑体" panose="02010609060101010101" pitchFamily="49" charset="-122"/>
                    </a:rPr>
                    <a:t>（米氏常数</a:t>
                  </a:r>
                  <a:r>
                    <a:rPr kumimoji="1" lang="zh-CN" altLang="en-US" sz="2800">
                      <a:solidFill>
                        <a:srgbClr val="FF3300"/>
                      </a:solidFill>
                      <a:latin typeface="Times New Roman" panose="02020603050405020304" pitchFamily="18" charset="0"/>
                      <a:ea typeface="黑体" panose="02010609060101010101" pitchFamily="49" charset="-122"/>
                    </a:rPr>
                    <a:t>）</a:t>
                  </a:r>
                  <a:r>
                    <a:rPr kumimoji="1" lang="zh-CN" altLang="en-US" sz="2800">
                      <a:solidFill>
                        <a:srgbClr val="FFCC00"/>
                      </a:solidFill>
                      <a:latin typeface="Times New Roman" panose="02020603050405020304" pitchFamily="18" charset="0"/>
                      <a:ea typeface="黑体" panose="02010609060101010101" pitchFamily="49" charset="-122"/>
                    </a:rPr>
                    <a:t>   </a:t>
                  </a:r>
                </a:p>
              </p:txBody>
            </p:sp>
            <p:sp>
              <p:nvSpPr>
                <p:cNvPr id="215065" name="Line 32">
                  <a:extLst>
                    <a:ext uri="{FF2B5EF4-FFF2-40B4-BE49-F238E27FC236}">
                      <a16:creationId xmlns:a16="http://schemas.microsoft.com/office/drawing/2014/main" id="{056EEA54-9EEA-4666-AEC3-709780601B47}"/>
                    </a:ext>
                  </a:extLst>
                </p:cNvPr>
                <p:cNvSpPr>
                  <a:spLocks noChangeShapeType="1"/>
                </p:cNvSpPr>
                <p:nvPr/>
              </p:nvSpPr>
              <p:spPr bwMode="auto">
                <a:xfrm>
                  <a:off x="2063" y="3149"/>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grpSp>
          <p:sp>
            <p:nvSpPr>
              <p:cNvPr id="215063" name="Text Box 34">
                <a:extLst>
                  <a:ext uri="{FF2B5EF4-FFF2-40B4-BE49-F238E27FC236}">
                    <a16:creationId xmlns:a16="http://schemas.microsoft.com/office/drawing/2014/main" id="{57B132D0-ECB7-4A5B-8F67-9E709CCB79F2}"/>
                  </a:ext>
                </a:extLst>
              </p:cNvPr>
              <p:cNvSpPr txBox="1">
                <a:spLocks noChangeArrowheads="1"/>
              </p:cNvSpPr>
              <p:nvPr/>
            </p:nvSpPr>
            <p:spPr bwMode="auto">
              <a:xfrm>
                <a:off x="1247" y="2961"/>
                <a:ext cx="56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a:latin typeface="Times New Roman" panose="02020603050405020304" pitchFamily="18" charset="0"/>
                    <a:ea typeface="黑体" panose="02010609060101010101" pitchFamily="49" charset="-122"/>
                  </a:rPr>
                  <a:t>令：</a:t>
                </a:r>
              </a:p>
            </p:txBody>
          </p:sp>
        </p:grpSp>
        <p:grpSp>
          <p:nvGrpSpPr>
            <p:cNvPr id="215055" name="Group 36">
              <a:extLst>
                <a:ext uri="{FF2B5EF4-FFF2-40B4-BE49-F238E27FC236}">
                  <a16:creationId xmlns:a16="http://schemas.microsoft.com/office/drawing/2014/main" id="{70E6668C-0996-4461-BE52-6652C65FFEEA}"/>
                </a:ext>
              </a:extLst>
            </p:cNvPr>
            <p:cNvGrpSpPr>
              <a:grpSpLocks/>
            </p:cNvGrpSpPr>
            <p:nvPr/>
          </p:nvGrpSpPr>
          <p:grpSpPr bwMode="auto">
            <a:xfrm>
              <a:off x="1979613" y="4554539"/>
              <a:ext cx="6553200" cy="965201"/>
              <a:chOff x="1247" y="2821"/>
              <a:chExt cx="4128" cy="608"/>
            </a:xfrm>
          </p:grpSpPr>
          <p:grpSp>
            <p:nvGrpSpPr>
              <p:cNvPr id="215056" name="Group 37">
                <a:extLst>
                  <a:ext uri="{FF2B5EF4-FFF2-40B4-BE49-F238E27FC236}">
                    <a16:creationId xmlns:a16="http://schemas.microsoft.com/office/drawing/2014/main" id="{491B3131-28BF-4FA1-99AC-6D1DD6799EEA}"/>
                  </a:ext>
                </a:extLst>
              </p:cNvPr>
              <p:cNvGrpSpPr>
                <a:grpSpLocks/>
              </p:cNvGrpSpPr>
              <p:nvPr/>
            </p:nvGrpSpPr>
            <p:grpSpPr bwMode="auto">
              <a:xfrm>
                <a:off x="2063" y="2821"/>
                <a:ext cx="3312" cy="608"/>
                <a:chOff x="2063" y="2821"/>
                <a:chExt cx="3312" cy="608"/>
              </a:xfrm>
            </p:grpSpPr>
            <p:sp>
              <p:nvSpPr>
                <p:cNvPr id="215058" name="Text Box 38">
                  <a:extLst>
                    <a:ext uri="{FF2B5EF4-FFF2-40B4-BE49-F238E27FC236}">
                      <a16:creationId xmlns:a16="http://schemas.microsoft.com/office/drawing/2014/main" id="{BDF6EE86-8047-4A2B-84ED-C4E2FAF34087}"/>
                    </a:ext>
                  </a:extLst>
                </p:cNvPr>
                <p:cNvSpPr txBox="1">
                  <a:spLocks noChangeArrowheads="1"/>
                </p:cNvSpPr>
                <p:nvPr/>
              </p:nvSpPr>
              <p:spPr bwMode="auto">
                <a:xfrm>
                  <a:off x="2131" y="2821"/>
                  <a:ext cx="59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i="1" dirty="0">
                      <a:solidFill>
                        <a:srgbClr val="0000CC"/>
                      </a:solidFill>
                      <a:latin typeface="Times New Roman" panose="02020603050405020304" pitchFamily="18" charset="0"/>
                      <a:ea typeface="黑体" panose="02010609060101010101" pitchFamily="49" charset="-122"/>
                    </a:rPr>
                    <a:t>k</a:t>
                  </a:r>
                  <a:r>
                    <a:rPr kumimoji="1" lang="en-US" altLang="zh-CN" sz="2800" baseline="-25000" dirty="0">
                      <a:solidFill>
                        <a:srgbClr val="0000CC"/>
                      </a:solidFill>
                      <a:latin typeface="Times New Roman" panose="02020603050405020304" pitchFamily="18" charset="0"/>
                      <a:ea typeface="黑体" panose="02010609060101010101" pitchFamily="49" charset="-122"/>
                    </a:rPr>
                    <a:t>2</a:t>
                  </a:r>
                  <a:r>
                    <a:rPr kumimoji="1" lang="en-US" altLang="zh-CN" sz="2800" dirty="0">
                      <a:solidFill>
                        <a:srgbClr val="0000CC"/>
                      </a:solidFill>
                      <a:latin typeface="Times New Roman" panose="02020603050405020304" pitchFamily="18" charset="0"/>
                      <a:ea typeface="黑体" panose="02010609060101010101" pitchFamily="49" charset="-122"/>
                    </a:rPr>
                    <a:t>+</a:t>
                  </a:r>
                  <a:r>
                    <a:rPr kumimoji="1" lang="en-US" altLang="zh-CN" sz="2800" i="1" dirty="0">
                      <a:solidFill>
                        <a:srgbClr val="0000CC"/>
                      </a:solidFill>
                      <a:latin typeface="Times New Roman" panose="02020603050405020304" pitchFamily="18" charset="0"/>
                      <a:ea typeface="黑体" panose="02010609060101010101" pitchFamily="49" charset="-122"/>
                    </a:rPr>
                    <a:t>k</a:t>
                  </a:r>
                  <a:r>
                    <a:rPr kumimoji="1" lang="en-US" altLang="zh-CN" sz="2800" baseline="-25000" dirty="0">
                      <a:solidFill>
                        <a:srgbClr val="0000CC"/>
                      </a:solidFill>
                      <a:latin typeface="Times New Roman" panose="02020603050405020304" pitchFamily="18" charset="0"/>
                      <a:ea typeface="黑体" panose="02010609060101010101" pitchFamily="49" charset="-122"/>
                    </a:rPr>
                    <a:t>3</a:t>
                  </a:r>
                </a:p>
              </p:txBody>
            </p:sp>
            <p:sp>
              <p:nvSpPr>
                <p:cNvPr id="215059" name="Text Box 39">
                  <a:extLst>
                    <a:ext uri="{FF2B5EF4-FFF2-40B4-BE49-F238E27FC236}">
                      <a16:creationId xmlns:a16="http://schemas.microsoft.com/office/drawing/2014/main" id="{45A190C9-A60F-4B8D-BD6C-3BDEED298AB3}"/>
                    </a:ext>
                  </a:extLst>
                </p:cNvPr>
                <p:cNvSpPr txBox="1">
                  <a:spLocks noChangeArrowheads="1"/>
                </p:cNvSpPr>
                <p:nvPr/>
              </p:nvSpPr>
              <p:spPr bwMode="auto">
                <a:xfrm>
                  <a:off x="2925" y="2997"/>
                  <a:ext cx="24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a:solidFill>
                        <a:srgbClr val="0000CC"/>
                      </a:solidFill>
                      <a:latin typeface="Times New Roman" panose="02020603050405020304" pitchFamily="18" charset="0"/>
                      <a:ea typeface="黑体" panose="02010609060101010101" pitchFamily="49" charset="-122"/>
                    </a:rPr>
                    <a:t>=</a:t>
                  </a:r>
                  <a:r>
                    <a:rPr kumimoji="1" lang="en-US" altLang="zh-CN" sz="2800">
                      <a:latin typeface="Times New Roman" panose="02020603050405020304" pitchFamily="18" charset="0"/>
                      <a:ea typeface="黑体" panose="02010609060101010101" pitchFamily="49" charset="-122"/>
                    </a:rPr>
                    <a:t> </a:t>
                  </a:r>
                  <a:r>
                    <a:rPr kumimoji="1" lang="en-US" altLang="zh-CN" sz="2800" i="1">
                      <a:solidFill>
                        <a:schemeClr val="tx2"/>
                      </a:solidFill>
                      <a:latin typeface="Times New Roman" panose="02020603050405020304" pitchFamily="18" charset="0"/>
                      <a:ea typeface="黑体" panose="02010609060101010101" pitchFamily="49" charset="-122"/>
                    </a:rPr>
                    <a:t>K</a:t>
                  </a:r>
                  <a:r>
                    <a:rPr kumimoji="1" lang="en-US" altLang="zh-CN" sz="2800" baseline="-25000">
                      <a:solidFill>
                        <a:schemeClr val="tx2"/>
                      </a:solidFill>
                      <a:latin typeface="Times New Roman" panose="02020603050405020304" pitchFamily="18" charset="0"/>
                      <a:ea typeface="黑体" panose="02010609060101010101" pitchFamily="49" charset="-122"/>
                    </a:rPr>
                    <a:t>m</a:t>
                  </a:r>
                  <a:r>
                    <a:rPr kumimoji="1" lang="en-US" altLang="zh-CN" sz="2800">
                      <a:solidFill>
                        <a:schemeClr val="tx2"/>
                      </a:solidFill>
                      <a:latin typeface="Times New Roman" panose="02020603050405020304" pitchFamily="18" charset="0"/>
                      <a:ea typeface="黑体" panose="02010609060101010101" pitchFamily="49" charset="-122"/>
                    </a:rPr>
                    <a:t> </a:t>
                  </a:r>
                  <a:r>
                    <a:rPr kumimoji="1" lang="zh-CN" altLang="en-US" sz="2800">
                      <a:solidFill>
                        <a:schemeClr val="tx2"/>
                      </a:solidFill>
                      <a:latin typeface="Times New Roman" panose="02020603050405020304" pitchFamily="18" charset="0"/>
                      <a:ea typeface="黑体" panose="02010609060101010101" pitchFamily="49" charset="-122"/>
                    </a:rPr>
                    <a:t>（米氏常数</a:t>
                  </a:r>
                  <a:r>
                    <a:rPr kumimoji="1" lang="zh-CN" altLang="en-US" sz="2800">
                      <a:solidFill>
                        <a:srgbClr val="FF3300"/>
                      </a:solidFill>
                      <a:latin typeface="Times New Roman" panose="02020603050405020304" pitchFamily="18" charset="0"/>
                      <a:ea typeface="黑体" panose="02010609060101010101" pitchFamily="49" charset="-122"/>
                    </a:rPr>
                    <a:t>）</a:t>
                  </a:r>
                  <a:r>
                    <a:rPr kumimoji="1" lang="zh-CN" altLang="en-US" sz="2800">
                      <a:solidFill>
                        <a:srgbClr val="FFCC00"/>
                      </a:solidFill>
                      <a:latin typeface="Times New Roman" panose="02020603050405020304" pitchFamily="18" charset="0"/>
                      <a:ea typeface="黑体" panose="02010609060101010101" pitchFamily="49" charset="-122"/>
                    </a:rPr>
                    <a:t>   </a:t>
                  </a:r>
                </a:p>
              </p:txBody>
            </p:sp>
            <p:sp>
              <p:nvSpPr>
                <p:cNvPr id="215060" name="Line 40">
                  <a:extLst>
                    <a:ext uri="{FF2B5EF4-FFF2-40B4-BE49-F238E27FC236}">
                      <a16:creationId xmlns:a16="http://schemas.microsoft.com/office/drawing/2014/main" id="{AFD44BF3-7053-4D9C-A6E6-96C4648AF4FA}"/>
                    </a:ext>
                  </a:extLst>
                </p:cNvPr>
                <p:cNvSpPr>
                  <a:spLocks noChangeShapeType="1"/>
                </p:cNvSpPr>
                <p:nvPr/>
              </p:nvSpPr>
              <p:spPr bwMode="auto">
                <a:xfrm>
                  <a:off x="2063" y="3149"/>
                  <a:ext cx="864"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215061" name="Text Box 41">
                  <a:extLst>
                    <a:ext uri="{FF2B5EF4-FFF2-40B4-BE49-F238E27FC236}">
                      <a16:creationId xmlns:a16="http://schemas.microsoft.com/office/drawing/2014/main" id="{55D25411-D826-42EE-8614-6D4533982BB4}"/>
                    </a:ext>
                  </a:extLst>
                </p:cNvPr>
                <p:cNvSpPr txBox="1">
                  <a:spLocks noChangeArrowheads="1"/>
                </p:cNvSpPr>
                <p:nvPr/>
              </p:nvSpPr>
              <p:spPr bwMode="auto">
                <a:xfrm>
                  <a:off x="2303" y="3127"/>
                  <a:ext cx="292"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sz="2800" i="1">
                      <a:solidFill>
                        <a:srgbClr val="0000CC"/>
                      </a:solidFill>
                      <a:latin typeface="Times New Roman" panose="02020603050405020304" pitchFamily="18" charset="0"/>
                      <a:ea typeface="黑体" panose="02010609060101010101" pitchFamily="49" charset="-122"/>
                    </a:rPr>
                    <a:t>k</a:t>
                  </a:r>
                  <a:r>
                    <a:rPr kumimoji="1" lang="en-US" altLang="zh-CN" sz="2800" baseline="-25000">
                      <a:solidFill>
                        <a:srgbClr val="0000CC"/>
                      </a:solidFill>
                      <a:latin typeface="Times New Roman" panose="02020603050405020304" pitchFamily="18" charset="0"/>
                      <a:ea typeface="黑体" panose="02010609060101010101" pitchFamily="49" charset="-122"/>
                    </a:rPr>
                    <a:t>1</a:t>
                  </a:r>
                </a:p>
              </p:txBody>
            </p:sp>
          </p:grpSp>
          <p:sp>
            <p:nvSpPr>
              <p:cNvPr id="215057" name="Text Box 42">
                <a:extLst>
                  <a:ext uri="{FF2B5EF4-FFF2-40B4-BE49-F238E27FC236}">
                    <a16:creationId xmlns:a16="http://schemas.microsoft.com/office/drawing/2014/main" id="{4E1752C3-0ACE-417F-B98E-5C8458D8B94C}"/>
                  </a:ext>
                </a:extLst>
              </p:cNvPr>
              <p:cNvSpPr txBox="1">
                <a:spLocks noChangeArrowheads="1"/>
              </p:cNvSpPr>
              <p:nvPr/>
            </p:nvSpPr>
            <p:spPr bwMode="auto">
              <a:xfrm>
                <a:off x="1247" y="2961"/>
                <a:ext cx="56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a:latin typeface="Times New Roman" panose="02020603050405020304" pitchFamily="18" charset="0"/>
                    <a:ea typeface="黑体" panose="02010609060101010101" pitchFamily="49" charset="-122"/>
                  </a:rPr>
                  <a:t>令：</a:t>
                </a:r>
              </a:p>
            </p:txBody>
          </p:sp>
        </p:grpSp>
      </p:grpSp>
    </p:spTree>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3586" name="Text Box 2">
            <a:extLst>
              <a:ext uri="{FF2B5EF4-FFF2-40B4-BE49-F238E27FC236}">
                <a16:creationId xmlns:a16="http://schemas.microsoft.com/office/drawing/2014/main" id="{C2DBE304-4DF7-4A60-AD74-592F38A0A3C2}"/>
              </a:ext>
            </a:extLst>
          </p:cNvPr>
          <p:cNvSpPr txBox="1">
            <a:spLocks noChangeArrowheads="1"/>
          </p:cNvSpPr>
          <p:nvPr/>
        </p:nvSpPr>
        <p:spPr bwMode="auto">
          <a:xfrm>
            <a:off x="1992313" y="3429000"/>
            <a:ext cx="8375650" cy="1887538"/>
          </a:xfrm>
          <a:prstGeom prst="rect">
            <a:avLst/>
          </a:prstGeom>
          <a:noFill/>
          <a:ln w="9525">
            <a:noFill/>
            <a:miter lim="800000"/>
            <a:headEnd/>
            <a:tailEnd/>
          </a:ln>
          <a:effectLst/>
        </p:spPr>
        <p:txBody>
          <a:bodyPr>
            <a:spAutoFit/>
          </a:bodyPr>
          <a:lstStyle/>
          <a:p>
            <a:pPr indent="715963" eaLnBrk="1" hangingPunct="1">
              <a:lnSpc>
                <a:spcPct val="140000"/>
              </a:lnSpc>
              <a:defRPr/>
            </a:pPr>
            <a:r>
              <a:rPr kumimoji="1" lang="zh-CN" altLang="en-US" sz="2800" dirty="0">
                <a:latin typeface="Times New Roman" pitchFamily="18" charset="0"/>
                <a:ea typeface="黑体" pitchFamily="49" charset="-122"/>
              </a:rPr>
              <a:t>当底物浓度很高，将酶的活性中心全部饱和时，即</a:t>
            </a:r>
            <a:r>
              <a:rPr kumimoji="1" lang="en-US" altLang="zh-CN" sz="2800" dirty="0">
                <a:latin typeface="Times New Roman" pitchFamily="18" charset="0"/>
                <a:ea typeface="黑体" pitchFamily="49" charset="-122"/>
              </a:rPr>
              <a:t>[E</a:t>
            </a:r>
            <a:r>
              <a:rPr kumimoji="1" lang="en-US" altLang="zh-CN" sz="2800" baseline="-25000" dirty="0">
                <a:latin typeface="Times New Roman" pitchFamily="18" charset="0"/>
                <a:ea typeface="黑体" pitchFamily="49" charset="-122"/>
              </a:rPr>
              <a:t>t</a:t>
            </a:r>
            <a:r>
              <a:rPr kumimoji="1" lang="en-US" altLang="zh-CN" sz="2800" dirty="0">
                <a:latin typeface="Times New Roman" pitchFamily="18" charset="0"/>
                <a:ea typeface="黑体" pitchFamily="49" charset="-122"/>
              </a:rPr>
              <a:t>] =[ES]</a:t>
            </a:r>
            <a:r>
              <a:rPr kumimoji="1" lang="zh-CN" altLang="en-US" sz="2800" dirty="0">
                <a:latin typeface="Times New Roman" pitchFamily="18" charset="0"/>
                <a:ea typeface="黑体" pitchFamily="49" charset="-122"/>
              </a:rPr>
              <a:t>时，反应达最大速率</a:t>
            </a:r>
          </a:p>
          <a:p>
            <a:pPr marL="895350" lvl="1" indent="1069975" eaLnBrk="1" hangingPunct="1">
              <a:lnSpc>
                <a:spcPct val="140000"/>
              </a:lnSpc>
              <a:defRPr/>
            </a:pPr>
            <a:r>
              <a:rPr kumimoji="1" lang="en-US" altLang="zh-CN" sz="2800" dirty="0">
                <a:latin typeface="Times New Roman" pitchFamily="18" charset="0"/>
                <a:ea typeface="黑体" pitchFamily="49" charset="-122"/>
              </a:rPr>
              <a:t>V</a:t>
            </a:r>
            <a:r>
              <a:rPr kumimoji="1" lang="en-US" altLang="zh-CN" sz="2800" baseline="-25000" dirty="0">
                <a:latin typeface="Times New Roman" pitchFamily="18" charset="0"/>
                <a:ea typeface="黑体" pitchFamily="49" charset="-122"/>
              </a:rPr>
              <a:t>max </a:t>
            </a:r>
            <a:r>
              <a:rPr kumimoji="1" lang="en-US" altLang="zh-CN" sz="2800" dirty="0">
                <a:latin typeface="Times New Roman" pitchFamily="18" charset="0"/>
                <a:ea typeface="黑体" pitchFamily="49" charset="-122"/>
              </a:rPr>
              <a:t>=</a:t>
            </a:r>
            <a:r>
              <a:rPr kumimoji="1" lang="en-US" altLang="zh-CN" sz="2800" dirty="0">
                <a:effectLst>
                  <a:outerShdw blurRad="38100" dist="38100" dir="2700000" algn="tl">
                    <a:srgbClr val="C0C0C0"/>
                  </a:outerShdw>
                </a:effectLst>
                <a:latin typeface="Times New Roman" pitchFamily="18" charset="0"/>
                <a:ea typeface="黑体" pitchFamily="49" charset="-122"/>
              </a:rPr>
              <a:t> </a:t>
            </a:r>
            <a:r>
              <a:rPr kumimoji="1" lang="en-US" altLang="zh-CN" sz="2800" i="1"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3</a:t>
            </a:r>
            <a:r>
              <a:rPr kumimoji="1" lang="en-US" altLang="zh-CN" sz="2800" dirty="0">
                <a:latin typeface="Times New Roman" pitchFamily="18" charset="0"/>
                <a:ea typeface="黑体" pitchFamily="49" charset="-122"/>
              </a:rPr>
              <a:t>[ES] =</a:t>
            </a:r>
            <a:r>
              <a:rPr kumimoji="1" lang="en-US" altLang="zh-CN" sz="2800" dirty="0">
                <a:effectLst>
                  <a:outerShdw blurRad="38100" dist="38100" dir="2700000" algn="tl">
                    <a:srgbClr val="C0C0C0"/>
                  </a:outerShdw>
                </a:effectLst>
                <a:latin typeface="Times New Roman" pitchFamily="18" charset="0"/>
                <a:ea typeface="黑体" pitchFamily="49" charset="-122"/>
              </a:rPr>
              <a:t> </a:t>
            </a:r>
            <a:r>
              <a:rPr kumimoji="1" lang="en-US" altLang="zh-CN" sz="2800" i="1"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3</a:t>
            </a:r>
            <a:r>
              <a:rPr kumimoji="1" lang="en-US" altLang="zh-CN" sz="2800" dirty="0">
                <a:latin typeface="Times New Roman" pitchFamily="18" charset="0"/>
                <a:ea typeface="黑体" pitchFamily="49" charset="-122"/>
              </a:rPr>
              <a:t>[E</a:t>
            </a:r>
            <a:r>
              <a:rPr kumimoji="1" lang="en-US" altLang="zh-CN" sz="2800" baseline="-25000" dirty="0">
                <a:latin typeface="Times New Roman" pitchFamily="18" charset="0"/>
                <a:ea typeface="黑体" pitchFamily="49" charset="-122"/>
              </a:rPr>
              <a:t>t</a:t>
            </a:r>
            <a:r>
              <a:rPr kumimoji="1" lang="en-US" altLang="zh-CN" sz="2800" dirty="0">
                <a:latin typeface="Times New Roman" pitchFamily="18" charset="0"/>
                <a:ea typeface="黑体" pitchFamily="49" charset="-122"/>
              </a:rPr>
              <a:t>]          </a:t>
            </a:r>
            <a:r>
              <a:rPr kumimoji="1" lang="en-US" altLang="zh-CN" sz="2800" dirty="0">
                <a:solidFill>
                  <a:srgbClr val="0000CC"/>
                </a:solidFill>
                <a:latin typeface="Times New Roman" pitchFamily="18" charset="0"/>
                <a:ea typeface="黑体" pitchFamily="49" charset="-122"/>
              </a:rPr>
              <a:t>(4)</a:t>
            </a:r>
          </a:p>
        </p:txBody>
      </p:sp>
      <p:grpSp>
        <p:nvGrpSpPr>
          <p:cNvPr id="217091" name="Group 3">
            <a:extLst>
              <a:ext uri="{FF2B5EF4-FFF2-40B4-BE49-F238E27FC236}">
                <a16:creationId xmlns:a16="http://schemas.microsoft.com/office/drawing/2014/main" id="{7CDA6C4B-5C98-41D5-8ABB-4B4A34208043}"/>
              </a:ext>
            </a:extLst>
          </p:cNvPr>
          <p:cNvGrpSpPr>
            <a:grpSpLocks/>
          </p:cNvGrpSpPr>
          <p:nvPr/>
        </p:nvGrpSpPr>
        <p:grpSpPr bwMode="auto">
          <a:xfrm>
            <a:off x="2711450" y="620713"/>
            <a:ext cx="6345238" cy="1155700"/>
            <a:chOff x="624" y="398"/>
            <a:chExt cx="3997" cy="728"/>
          </a:xfrm>
        </p:grpSpPr>
        <p:grpSp>
          <p:nvGrpSpPr>
            <p:cNvPr id="217105" name="Group 4">
              <a:extLst>
                <a:ext uri="{FF2B5EF4-FFF2-40B4-BE49-F238E27FC236}">
                  <a16:creationId xmlns:a16="http://schemas.microsoft.com/office/drawing/2014/main" id="{D83DDEB2-2D4E-4BC3-AE87-AC497053B657}"/>
                </a:ext>
              </a:extLst>
            </p:cNvPr>
            <p:cNvGrpSpPr>
              <a:grpSpLocks/>
            </p:cNvGrpSpPr>
            <p:nvPr/>
          </p:nvGrpSpPr>
          <p:grpSpPr bwMode="auto">
            <a:xfrm>
              <a:off x="2117" y="398"/>
              <a:ext cx="2504" cy="728"/>
              <a:chOff x="2584" y="1038"/>
              <a:chExt cx="2504" cy="728"/>
            </a:xfrm>
          </p:grpSpPr>
          <p:grpSp>
            <p:nvGrpSpPr>
              <p:cNvPr id="217107" name="Group 5">
                <a:extLst>
                  <a:ext uri="{FF2B5EF4-FFF2-40B4-BE49-F238E27FC236}">
                    <a16:creationId xmlns:a16="http://schemas.microsoft.com/office/drawing/2014/main" id="{2EC31F51-A2EF-4457-B5B4-1183348067D5}"/>
                  </a:ext>
                </a:extLst>
              </p:cNvPr>
              <p:cNvGrpSpPr>
                <a:grpSpLocks/>
              </p:cNvGrpSpPr>
              <p:nvPr/>
            </p:nvGrpSpPr>
            <p:grpSpPr bwMode="auto">
              <a:xfrm>
                <a:off x="2584" y="1038"/>
                <a:ext cx="1413" cy="728"/>
                <a:chOff x="2576" y="1037"/>
                <a:chExt cx="1354" cy="697"/>
              </a:xfrm>
            </p:grpSpPr>
            <p:sp>
              <p:nvSpPr>
                <p:cNvPr id="963590" name="Text Box 6">
                  <a:extLst>
                    <a:ext uri="{FF2B5EF4-FFF2-40B4-BE49-F238E27FC236}">
                      <a16:creationId xmlns:a16="http://schemas.microsoft.com/office/drawing/2014/main" id="{1677A692-6A38-4B1A-B777-C9F37F374CC7}"/>
                    </a:ext>
                  </a:extLst>
                </p:cNvPr>
                <p:cNvSpPr txBox="1">
                  <a:spLocks noChangeArrowheads="1"/>
                </p:cNvSpPr>
                <p:nvPr/>
              </p:nvSpPr>
              <p:spPr bwMode="auto">
                <a:xfrm>
                  <a:off x="2576" y="1228"/>
                  <a:ext cx="1256" cy="326"/>
                </a:xfrm>
                <a:prstGeom prst="rect">
                  <a:avLst/>
                </a:prstGeom>
                <a:noFill/>
                <a:ln w="9525">
                  <a:noFill/>
                  <a:miter lim="800000"/>
                  <a:headEnd/>
                  <a:tailEnd/>
                </a:ln>
                <a:effectLst/>
              </p:spPr>
              <p:txBody>
                <a:bodyPr wrap="none">
                  <a:spAutoFit/>
                </a:bodyPr>
                <a:lstStyle/>
                <a:p>
                  <a:pPr algn="ctr" eaLnBrk="1" hangingPunct="1">
                    <a:defRPr/>
                  </a:pPr>
                  <a:r>
                    <a:rPr kumimoji="1" lang="en-US" altLang="zh-CN" sz="2800">
                      <a:latin typeface="Times New Roman" pitchFamily="18" charset="0"/>
                      <a:ea typeface="黑体" pitchFamily="49" charset="-122"/>
                    </a:rPr>
                    <a:t>[ES] =</a:t>
                  </a:r>
                  <a:r>
                    <a:rPr kumimoji="1" lang="en-US" altLang="zh-CN" sz="2800">
                      <a:effectLst>
                        <a:outerShdw blurRad="38100" dist="38100" dir="2700000" algn="tl">
                          <a:srgbClr val="C0C0C0"/>
                        </a:outerShdw>
                      </a:effectLst>
                      <a:latin typeface="Times New Roman" pitchFamily="18" charset="0"/>
                      <a:ea typeface="黑体" pitchFamily="49" charset="-122"/>
                    </a:rPr>
                    <a:t> </a:t>
                  </a:r>
                  <a:r>
                    <a:rPr kumimoji="1" lang="en-US" altLang="zh-CN" sz="2800">
                      <a:latin typeface="Times New Roman" pitchFamily="18" charset="0"/>
                      <a:ea typeface="黑体" pitchFamily="49" charset="-122"/>
                    </a:rPr>
                    <a:t>─── </a:t>
                  </a:r>
                </a:p>
              </p:txBody>
            </p:sp>
            <p:sp>
              <p:nvSpPr>
                <p:cNvPr id="217110" name="Text Box 7">
                  <a:extLst>
                    <a:ext uri="{FF2B5EF4-FFF2-40B4-BE49-F238E27FC236}">
                      <a16:creationId xmlns:a16="http://schemas.microsoft.com/office/drawing/2014/main" id="{AFDAF4A6-BA5B-442A-95D0-16E2774A5E88}"/>
                    </a:ext>
                  </a:extLst>
                </p:cNvPr>
                <p:cNvSpPr txBox="1">
                  <a:spLocks noChangeArrowheads="1"/>
                </p:cNvSpPr>
                <p:nvPr/>
              </p:nvSpPr>
              <p:spPr bwMode="auto">
                <a:xfrm>
                  <a:off x="3141" y="1037"/>
                  <a:ext cx="71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a:latin typeface="Times New Roman" panose="02020603050405020304" pitchFamily="18" charset="0"/>
                      <a:ea typeface="黑体" panose="02010609060101010101" pitchFamily="49" charset="-122"/>
                    </a:rPr>
                    <a:t>[E</a:t>
                  </a:r>
                  <a:r>
                    <a:rPr kumimoji="1" lang="en-US" altLang="zh-CN" sz="2800" baseline="-25000">
                      <a:latin typeface="Times New Roman" panose="02020603050405020304" pitchFamily="18" charset="0"/>
                      <a:ea typeface="黑体" panose="02010609060101010101" pitchFamily="49" charset="-122"/>
                    </a:rPr>
                    <a:t>t</a:t>
                  </a:r>
                  <a:r>
                    <a:rPr kumimoji="1" lang="en-US" altLang="zh-CN" sz="2800">
                      <a:latin typeface="Times New Roman" panose="02020603050405020304" pitchFamily="18" charset="0"/>
                      <a:ea typeface="黑体" panose="02010609060101010101" pitchFamily="49" charset="-122"/>
                    </a:rPr>
                    <a:t>][S]</a:t>
                  </a:r>
                </a:p>
              </p:txBody>
            </p:sp>
            <p:sp>
              <p:nvSpPr>
                <p:cNvPr id="217111" name="Text Box 8">
                  <a:extLst>
                    <a:ext uri="{FF2B5EF4-FFF2-40B4-BE49-F238E27FC236}">
                      <a16:creationId xmlns:a16="http://schemas.microsoft.com/office/drawing/2014/main" id="{CF550B43-E6D8-4B77-8D3D-5A186AC0CD0A}"/>
                    </a:ext>
                  </a:extLst>
                </p:cNvPr>
                <p:cNvSpPr txBox="1">
                  <a:spLocks noChangeArrowheads="1"/>
                </p:cNvSpPr>
                <p:nvPr/>
              </p:nvSpPr>
              <p:spPr bwMode="auto">
                <a:xfrm>
                  <a:off x="3078" y="1421"/>
                  <a:ext cx="852"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i="1">
                      <a:latin typeface="Times New Roman" panose="02020603050405020304" pitchFamily="18" charset="0"/>
                      <a:ea typeface="黑体" panose="02010609060101010101" pitchFamily="49" charset="-122"/>
                    </a:rPr>
                    <a:t>K</a:t>
                  </a:r>
                  <a:r>
                    <a:rPr kumimoji="1" lang="en-US" altLang="zh-CN" sz="2800" baseline="-25000">
                      <a:latin typeface="Times New Roman" panose="02020603050405020304" pitchFamily="18" charset="0"/>
                      <a:ea typeface="黑体" panose="02010609060101010101" pitchFamily="49" charset="-122"/>
                    </a:rPr>
                    <a:t>m </a:t>
                  </a:r>
                  <a:r>
                    <a:rPr kumimoji="1" lang="en-US" altLang="zh-CN" sz="2800">
                      <a:latin typeface="Times New Roman" panose="02020603050405020304" pitchFamily="18" charset="0"/>
                      <a:ea typeface="黑体" panose="02010609060101010101" pitchFamily="49" charset="-122"/>
                    </a:rPr>
                    <a:t>+ [S]</a:t>
                  </a:r>
                </a:p>
              </p:txBody>
            </p:sp>
          </p:grpSp>
          <p:sp>
            <p:nvSpPr>
              <p:cNvPr id="217108" name="Text Box 9">
                <a:extLst>
                  <a:ext uri="{FF2B5EF4-FFF2-40B4-BE49-F238E27FC236}">
                    <a16:creationId xmlns:a16="http://schemas.microsoft.com/office/drawing/2014/main" id="{43EDD086-7008-4A8D-86A6-D67406C6E316}"/>
                  </a:ext>
                </a:extLst>
              </p:cNvPr>
              <p:cNvSpPr txBox="1">
                <a:spLocks noChangeArrowheads="1"/>
              </p:cNvSpPr>
              <p:nvPr/>
            </p:nvSpPr>
            <p:spPr bwMode="auto">
              <a:xfrm>
                <a:off x="4656" y="1200"/>
                <a:ext cx="4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a:solidFill>
                      <a:srgbClr val="0000CC"/>
                    </a:solidFill>
                    <a:latin typeface="Times New Roman" panose="02020603050405020304" pitchFamily="18" charset="0"/>
                    <a:ea typeface="黑体" panose="02010609060101010101" pitchFamily="49" charset="-122"/>
                  </a:rPr>
                  <a:t>(2)</a:t>
                </a:r>
                <a:r>
                  <a:rPr kumimoji="1" lang="en-US" altLang="zh-CN" sz="2800">
                    <a:solidFill>
                      <a:srgbClr val="FFCC00"/>
                    </a:solidFill>
                    <a:latin typeface="Times New Roman" panose="02020603050405020304" pitchFamily="18" charset="0"/>
                    <a:ea typeface="黑体" panose="02010609060101010101" pitchFamily="49" charset="-122"/>
                  </a:rPr>
                  <a:t> </a:t>
                </a:r>
              </a:p>
            </p:txBody>
          </p:sp>
        </p:grpSp>
        <p:sp>
          <p:nvSpPr>
            <p:cNvPr id="217106" name="Rectangle 10">
              <a:extLst>
                <a:ext uri="{FF2B5EF4-FFF2-40B4-BE49-F238E27FC236}">
                  <a16:creationId xmlns:a16="http://schemas.microsoft.com/office/drawing/2014/main" id="{25F29EA1-36BB-4576-8F4C-C52E296669A4}"/>
                </a:ext>
              </a:extLst>
            </p:cNvPr>
            <p:cNvSpPr>
              <a:spLocks noChangeArrowheads="1"/>
            </p:cNvSpPr>
            <p:nvPr/>
          </p:nvSpPr>
          <p:spPr bwMode="auto">
            <a:xfrm>
              <a:off x="624" y="673"/>
              <a:ext cx="86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a:latin typeface="Times New Roman" panose="02020603050405020304" pitchFamily="18" charset="0"/>
                  <a:ea typeface="黑体" panose="02010609060101010101" pitchFamily="49" charset="-122"/>
                </a:rPr>
                <a:t>整理得</a:t>
              </a:r>
              <a:r>
                <a:rPr kumimoji="1" lang="en-US" altLang="zh-CN" sz="2800">
                  <a:latin typeface="Times New Roman" panose="02020603050405020304" pitchFamily="18" charset="0"/>
                  <a:ea typeface="黑体" panose="02010609060101010101" pitchFamily="49" charset="-122"/>
                </a:rPr>
                <a:t>:</a:t>
              </a:r>
            </a:p>
          </p:txBody>
        </p:sp>
      </p:grpSp>
      <p:sp>
        <p:nvSpPr>
          <p:cNvPr id="217092" name="Rectangle 11">
            <a:extLst>
              <a:ext uri="{FF2B5EF4-FFF2-40B4-BE49-F238E27FC236}">
                <a16:creationId xmlns:a16="http://schemas.microsoft.com/office/drawing/2014/main" id="{363C8AE8-DE17-4A89-A0F7-FB4DBA2E01F1}"/>
              </a:ext>
            </a:extLst>
          </p:cNvPr>
          <p:cNvSpPr>
            <a:spLocks noChangeArrowheads="1"/>
          </p:cNvSpPr>
          <p:nvPr/>
        </p:nvSpPr>
        <p:spPr bwMode="auto">
          <a:xfrm>
            <a:off x="2640014" y="5664200"/>
            <a:ext cx="49688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a:latin typeface="Times New Roman" panose="02020603050405020304" pitchFamily="18" charset="0"/>
                <a:ea typeface="黑体" panose="02010609060101010101" pitchFamily="49" charset="-122"/>
              </a:rPr>
              <a:t>将</a:t>
            </a:r>
            <a:r>
              <a:rPr kumimoji="1" lang="en-US" altLang="zh-CN" sz="2800">
                <a:solidFill>
                  <a:srgbClr val="0000CC"/>
                </a:solidFill>
                <a:latin typeface="Times New Roman" panose="02020603050405020304" pitchFamily="18" charset="0"/>
                <a:ea typeface="黑体" panose="02010609060101010101" pitchFamily="49" charset="-122"/>
              </a:rPr>
              <a:t>(4)</a:t>
            </a:r>
            <a:r>
              <a:rPr kumimoji="1" lang="zh-CN" altLang="en-US" sz="2800">
                <a:latin typeface="Times New Roman" panose="02020603050405020304" pitchFamily="18" charset="0"/>
                <a:ea typeface="黑体" panose="02010609060101010101" pitchFamily="49" charset="-122"/>
              </a:rPr>
              <a:t>代入</a:t>
            </a:r>
            <a:r>
              <a:rPr kumimoji="1" lang="en-US" altLang="zh-CN" sz="2800">
                <a:solidFill>
                  <a:srgbClr val="0000CC"/>
                </a:solidFill>
                <a:latin typeface="Times New Roman" panose="02020603050405020304" pitchFamily="18" charset="0"/>
                <a:ea typeface="黑体" panose="02010609060101010101" pitchFamily="49" charset="-122"/>
              </a:rPr>
              <a:t>(3)</a:t>
            </a:r>
            <a:r>
              <a:rPr kumimoji="1" lang="zh-CN" altLang="en-US" sz="2800">
                <a:latin typeface="Times New Roman" panose="02020603050405020304" pitchFamily="18" charset="0"/>
                <a:ea typeface="黑体" panose="02010609060101010101" pitchFamily="49" charset="-122"/>
              </a:rPr>
              <a:t>得米氏方程式：</a:t>
            </a:r>
          </a:p>
        </p:txBody>
      </p:sp>
      <p:grpSp>
        <p:nvGrpSpPr>
          <p:cNvPr id="217093" name="Group 12">
            <a:extLst>
              <a:ext uri="{FF2B5EF4-FFF2-40B4-BE49-F238E27FC236}">
                <a16:creationId xmlns:a16="http://schemas.microsoft.com/office/drawing/2014/main" id="{0F516B70-D0BB-4E9B-BF8B-06227496C626}"/>
              </a:ext>
            </a:extLst>
          </p:cNvPr>
          <p:cNvGrpSpPr>
            <a:grpSpLocks/>
          </p:cNvGrpSpPr>
          <p:nvPr/>
        </p:nvGrpSpPr>
        <p:grpSpPr bwMode="auto">
          <a:xfrm>
            <a:off x="7175501" y="5229226"/>
            <a:ext cx="2379663" cy="1262063"/>
            <a:chOff x="3552" y="3342"/>
            <a:chExt cx="1502" cy="795"/>
          </a:xfrm>
        </p:grpSpPr>
        <p:sp>
          <p:nvSpPr>
            <p:cNvPr id="217102" name="Text Box 13">
              <a:extLst>
                <a:ext uri="{FF2B5EF4-FFF2-40B4-BE49-F238E27FC236}">
                  <a16:creationId xmlns:a16="http://schemas.microsoft.com/office/drawing/2014/main" id="{8B09CF68-056A-486D-8DA7-4BD54D7892AD}"/>
                </a:ext>
              </a:extLst>
            </p:cNvPr>
            <p:cNvSpPr txBox="1">
              <a:spLocks noChangeArrowheads="1"/>
            </p:cNvSpPr>
            <p:nvPr/>
          </p:nvSpPr>
          <p:spPr bwMode="auto">
            <a:xfrm>
              <a:off x="4014" y="3342"/>
              <a:ext cx="9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a:solidFill>
                    <a:schemeClr val="tx2"/>
                  </a:solidFill>
                  <a:latin typeface="Times New Roman" panose="02020603050405020304" pitchFamily="18" charset="0"/>
                  <a:ea typeface="黑体" panose="02010609060101010101" pitchFamily="49" charset="-122"/>
                </a:rPr>
                <a:t>V</a:t>
              </a:r>
              <a:r>
                <a:rPr kumimoji="1" lang="en-US" altLang="zh-CN" sz="2800" baseline="-25000">
                  <a:solidFill>
                    <a:schemeClr val="tx2"/>
                  </a:solidFill>
                  <a:latin typeface="Times New Roman" panose="02020603050405020304" pitchFamily="18" charset="0"/>
                  <a:ea typeface="黑体" panose="02010609060101010101" pitchFamily="49" charset="-122"/>
                </a:rPr>
                <a:t>max </a:t>
              </a:r>
              <a:r>
                <a:rPr kumimoji="1" lang="en-US" altLang="zh-CN" sz="2800">
                  <a:solidFill>
                    <a:schemeClr val="tx2"/>
                  </a:solidFill>
                  <a:latin typeface="Times New Roman" panose="02020603050405020304" pitchFamily="18" charset="0"/>
                  <a:ea typeface="黑体" panose="02010609060101010101" pitchFamily="49" charset="-122"/>
                </a:rPr>
                <a:t>[S] </a:t>
              </a:r>
            </a:p>
          </p:txBody>
        </p:sp>
        <p:sp>
          <p:nvSpPr>
            <p:cNvPr id="217103" name="Text Box 14">
              <a:extLst>
                <a:ext uri="{FF2B5EF4-FFF2-40B4-BE49-F238E27FC236}">
                  <a16:creationId xmlns:a16="http://schemas.microsoft.com/office/drawing/2014/main" id="{8EB768E5-0ABD-4612-93DB-D0A35B3CCDE4}"/>
                </a:ext>
              </a:extLst>
            </p:cNvPr>
            <p:cNvSpPr txBox="1">
              <a:spLocks noChangeArrowheads="1"/>
            </p:cNvSpPr>
            <p:nvPr/>
          </p:nvSpPr>
          <p:spPr bwMode="auto">
            <a:xfrm>
              <a:off x="4051" y="3810"/>
              <a:ext cx="10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i="1">
                  <a:solidFill>
                    <a:schemeClr val="tx2"/>
                  </a:solidFill>
                  <a:latin typeface="Times New Roman" panose="02020603050405020304" pitchFamily="18" charset="0"/>
                  <a:ea typeface="黑体" panose="02010609060101010101" pitchFamily="49" charset="-122"/>
                </a:rPr>
                <a:t>K</a:t>
              </a:r>
              <a:r>
                <a:rPr kumimoji="1" lang="en-US" altLang="zh-CN" sz="2800" baseline="-25000">
                  <a:solidFill>
                    <a:schemeClr val="tx2"/>
                  </a:solidFill>
                  <a:latin typeface="Times New Roman" panose="02020603050405020304" pitchFamily="18" charset="0"/>
                  <a:ea typeface="黑体" panose="02010609060101010101" pitchFamily="49" charset="-122"/>
                </a:rPr>
                <a:t>m </a:t>
              </a:r>
              <a:r>
                <a:rPr kumimoji="1" lang="en-US" altLang="zh-CN" sz="2800">
                  <a:solidFill>
                    <a:schemeClr val="tx2"/>
                  </a:solidFill>
                  <a:latin typeface="Times New Roman" panose="02020603050405020304" pitchFamily="18" charset="0"/>
                  <a:ea typeface="黑体" panose="02010609060101010101" pitchFamily="49" charset="-122"/>
                </a:rPr>
                <a:t>+ [S]  </a:t>
              </a:r>
            </a:p>
          </p:txBody>
        </p:sp>
        <p:sp>
          <p:nvSpPr>
            <p:cNvPr id="963599" name="Text Box 15">
              <a:extLst>
                <a:ext uri="{FF2B5EF4-FFF2-40B4-BE49-F238E27FC236}">
                  <a16:creationId xmlns:a16="http://schemas.microsoft.com/office/drawing/2014/main" id="{CE71ED47-DFDA-4A19-904D-A55CB7855D91}"/>
                </a:ext>
              </a:extLst>
            </p:cNvPr>
            <p:cNvSpPr txBox="1">
              <a:spLocks noChangeArrowheads="1"/>
            </p:cNvSpPr>
            <p:nvPr/>
          </p:nvSpPr>
          <p:spPr bwMode="auto">
            <a:xfrm>
              <a:off x="3552" y="3631"/>
              <a:ext cx="1337" cy="302"/>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dirty="0">
                  <a:solidFill>
                    <a:schemeClr val="tx2"/>
                  </a:solidFill>
                  <a:latin typeface="Times New Roman" pitchFamily="18" charset="0"/>
                  <a:ea typeface="黑体" pitchFamily="49" charset="-122"/>
                </a:rPr>
                <a:t>V</a:t>
              </a:r>
              <a:r>
                <a:rPr kumimoji="1" lang="en-US" altLang="zh-CN" sz="2800" baseline="-25000" dirty="0">
                  <a:solidFill>
                    <a:schemeClr val="tx2"/>
                  </a:solidFill>
                  <a:latin typeface="Times New Roman" pitchFamily="18" charset="0"/>
                  <a:ea typeface="黑体" pitchFamily="49" charset="-122"/>
                </a:rPr>
                <a:t>0</a:t>
              </a:r>
              <a:r>
                <a:rPr kumimoji="1" lang="en-US" altLang="zh-CN" sz="2800" dirty="0">
                  <a:solidFill>
                    <a:schemeClr val="tx2"/>
                  </a:solidFill>
                  <a:latin typeface="Times New Roman" pitchFamily="18" charset="0"/>
                  <a:ea typeface="黑体" pitchFamily="49" charset="-122"/>
                </a:rPr>
                <a:t> =</a:t>
              </a:r>
              <a:r>
                <a:rPr kumimoji="1" lang="en-US" altLang="zh-CN" sz="2800" dirty="0">
                  <a:solidFill>
                    <a:schemeClr val="tx2"/>
                  </a:solidFill>
                  <a:effectLst>
                    <a:outerShdw blurRad="38100" dist="38100" dir="2700000" algn="tl">
                      <a:srgbClr val="C0C0C0"/>
                    </a:outerShdw>
                  </a:effectLst>
                  <a:latin typeface="Times New Roman" pitchFamily="18" charset="0"/>
                  <a:ea typeface="黑体" pitchFamily="49" charset="-122"/>
                </a:rPr>
                <a:t> </a:t>
              </a:r>
              <a:r>
                <a:rPr kumimoji="1" lang="en-US" altLang="zh-CN" sz="2800" dirty="0">
                  <a:solidFill>
                    <a:schemeClr val="tx2"/>
                  </a:solidFill>
                  <a:latin typeface="Times New Roman" pitchFamily="18" charset="0"/>
                  <a:ea typeface="黑体" pitchFamily="49" charset="-122"/>
                </a:rPr>
                <a:t>──── </a:t>
              </a:r>
            </a:p>
          </p:txBody>
        </p:sp>
      </p:grpSp>
      <p:grpSp>
        <p:nvGrpSpPr>
          <p:cNvPr id="217094" name="Group 16">
            <a:extLst>
              <a:ext uri="{FF2B5EF4-FFF2-40B4-BE49-F238E27FC236}">
                <a16:creationId xmlns:a16="http://schemas.microsoft.com/office/drawing/2014/main" id="{0755808C-05CF-4C16-8A51-DB1983001FA8}"/>
              </a:ext>
            </a:extLst>
          </p:cNvPr>
          <p:cNvGrpSpPr>
            <a:grpSpLocks/>
          </p:cNvGrpSpPr>
          <p:nvPr/>
        </p:nvGrpSpPr>
        <p:grpSpPr bwMode="auto">
          <a:xfrm>
            <a:off x="2640014" y="2060576"/>
            <a:ext cx="6675437" cy="1128713"/>
            <a:chOff x="679" y="1230"/>
            <a:chExt cx="4205" cy="711"/>
          </a:xfrm>
        </p:grpSpPr>
        <p:grpSp>
          <p:nvGrpSpPr>
            <p:cNvPr id="217095" name="Group 17">
              <a:extLst>
                <a:ext uri="{FF2B5EF4-FFF2-40B4-BE49-F238E27FC236}">
                  <a16:creationId xmlns:a16="http://schemas.microsoft.com/office/drawing/2014/main" id="{14F46912-5BD6-4F26-BB37-1E5F8990635D}"/>
                </a:ext>
              </a:extLst>
            </p:cNvPr>
            <p:cNvGrpSpPr>
              <a:grpSpLocks/>
            </p:cNvGrpSpPr>
            <p:nvPr/>
          </p:nvGrpSpPr>
          <p:grpSpPr bwMode="auto">
            <a:xfrm>
              <a:off x="679" y="1230"/>
              <a:ext cx="4205" cy="711"/>
              <a:chOff x="679" y="1230"/>
              <a:chExt cx="4205" cy="711"/>
            </a:xfrm>
          </p:grpSpPr>
          <p:grpSp>
            <p:nvGrpSpPr>
              <p:cNvPr id="217097" name="Group 18">
                <a:extLst>
                  <a:ext uri="{FF2B5EF4-FFF2-40B4-BE49-F238E27FC236}">
                    <a16:creationId xmlns:a16="http://schemas.microsoft.com/office/drawing/2014/main" id="{C14297EA-57B8-449A-8AA5-E3B20B5CBE97}"/>
                  </a:ext>
                </a:extLst>
              </p:cNvPr>
              <p:cNvGrpSpPr>
                <a:grpSpLocks/>
              </p:cNvGrpSpPr>
              <p:nvPr/>
            </p:nvGrpSpPr>
            <p:grpSpPr bwMode="auto">
              <a:xfrm>
                <a:off x="679" y="1230"/>
                <a:ext cx="3311" cy="711"/>
                <a:chOff x="679" y="1230"/>
                <a:chExt cx="3311" cy="711"/>
              </a:xfrm>
            </p:grpSpPr>
            <p:sp>
              <p:nvSpPr>
                <p:cNvPr id="217099" name="Text Box 19">
                  <a:extLst>
                    <a:ext uri="{FF2B5EF4-FFF2-40B4-BE49-F238E27FC236}">
                      <a16:creationId xmlns:a16="http://schemas.microsoft.com/office/drawing/2014/main" id="{C7FC2BC8-7E59-421E-A209-70B93A2C6EE5}"/>
                    </a:ext>
                  </a:extLst>
                </p:cNvPr>
                <p:cNvSpPr txBox="1">
                  <a:spLocks noChangeArrowheads="1"/>
                </p:cNvSpPr>
                <p:nvPr/>
              </p:nvSpPr>
              <p:spPr bwMode="auto">
                <a:xfrm>
                  <a:off x="679" y="1446"/>
                  <a:ext cx="141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en-US" altLang="zh-CN" sz="2800" dirty="0">
                      <a:latin typeface="Times New Roman" panose="02020603050405020304" pitchFamily="18" charset="0"/>
                      <a:ea typeface="黑体" panose="02010609060101010101" pitchFamily="49" charset="-122"/>
                    </a:rPr>
                    <a:t>V</a:t>
                  </a:r>
                  <a:r>
                    <a:rPr lang="en-US" altLang="zh-CN" sz="2800" baseline="-25000" dirty="0">
                      <a:latin typeface="Times New Roman" panose="02020603050405020304" pitchFamily="18" charset="0"/>
                      <a:ea typeface="黑体" panose="02010609060101010101" pitchFamily="49" charset="-122"/>
                    </a:rPr>
                    <a:t>0</a:t>
                  </a:r>
                  <a:r>
                    <a:rPr lang="en-US" altLang="zh-CN" sz="2800" dirty="0">
                      <a:latin typeface="Times New Roman" panose="02020603050405020304" pitchFamily="18" charset="0"/>
                      <a:ea typeface="黑体" panose="02010609060101010101" pitchFamily="49" charset="-122"/>
                    </a:rPr>
                    <a:t> = </a:t>
                  </a:r>
                  <a:r>
                    <a:rPr lang="en-US" altLang="zh-CN" sz="2800" i="1" dirty="0">
                      <a:latin typeface="Times New Roman" panose="02020603050405020304" pitchFamily="18" charset="0"/>
                      <a:ea typeface="黑体" panose="02010609060101010101" pitchFamily="49" charset="-122"/>
                    </a:rPr>
                    <a:t>k</a:t>
                  </a:r>
                  <a:r>
                    <a:rPr lang="en-US" altLang="zh-CN" sz="2800" baseline="-25000" dirty="0">
                      <a:latin typeface="Times New Roman" panose="02020603050405020304" pitchFamily="18" charset="0"/>
                      <a:ea typeface="黑体" panose="02010609060101010101" pitchFamily="49" charset="-122"/>
                    </a:rPr>
                    <a:t>3</a:t>
                  </a:r>
                  <a:r>
                    <a:rPr lang="en-US" altLang="zh-CN" sz="2800" dirty="0">
                      <a:latin typeface="Times New Roman" panose="02020603050405020304" pitchFamily="18" charset="0"/>
                      <a:ea typeface="黑体" panose="02010609060101010101" pitchFamily="49" charset="-122"/>
                    </a:rPr>
                    <a:t>[ES]</a:t>
                  </a:r>
                  <a:r>
                    <a:rPr kumimoji="1" lang="zh-CN" altLang="en-US" sz="2800" dirty="0">
                      <a:latin typeface="Times New Roman" panose="02020603050405020304" pitchFamily="18" charset="0"/>
                      <a:ea typeface="黑体" panose="02010609060101010101" pitchFamily="49" charset="-122"/>
                    </a:rPr>
                    <a:t>得</a:t>
                  </a:r>
                </a:p>
              </p:txBody>
            </p:sp>
            <p:sp>
              <p:nvSpPr>
                <p:cNvPr id="217100" name="Text Box 20">
                  <a:extLst>
                    <a:ext uri="{FF2B5EF4-FFF2-40B4-BE49-F238E27FC236}">
                      <a16:creationId xmlns:a16="http://schemas.microsoft.com/office/drawing/2014/main" id="{5C9A6697-3D1E-4A3F-A821-B2AD4E219F4B}"/>
                    </a:ext>
                  </a:extLst>
                </p:cNvPr>
                <p:cNvSpPr txBox="1">
                  <a:spLocks noChangeArrowheads="1"/>
                </p:cNvSpPr>
                <p:nvPr/>
              </p:nvSpPr>
              <p:spPr bwMode="auto">
                <a:xfrm>
                  <a:off x="3015" y="1230"/>
                  <a:ext cx="95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i="1" dirty="0">
                      <a:latin typeface="Times New Roman" panose="02020603050405020304" pitchFamily="18" charset="0"/>
                      <a:ea typeface="黑体" panose="02010609060101010101" pitchFamily="49" charset="-122"/>
                    </a:rPr>
                    <a:t>k</a:t>
                  </a:r>
                  <a:r>
                    <a:rPr kumimoji="1" lang="en-US" altLang="zh-CN" sz="2800" baseline="-25000" dirty="0">
                      <a:latin typeface="Times New Roman" panose="02020603050405020304" pitchFamily="18" charset="0"/>
                      <a:ea typeface="黑体" panose="02010609060101010101" pitchFamily="49" charset="-122"/>
                    </a:rPr>
                    <a:t>3</a:t>
                  </a:r>
                  <a:r>
                    <a:rPr kumimoji="1" lang="en-US" altLang="zh-CN" sz="2800" dirty="0">
                      <a:latin typeface="Times New Roman" panose="02020603050405020304" pitchFamily="18" charset="0"/>
                      <a:ea typeface="黑体" panose="02010609060101010101" pitchFamily="49" charset="-122"/>
                    </a:rPr>
                    <a:t>[E</a:t>
                  </a:r>
                  <a:r>
                    <a:rPr kumimoji="1" lang="en-US" altLang="zh-CN" sz="2800" baseline="-25000" dirty="0">
                      <a:latin typeface="Times New Roman" panose="02020603050405020304" pitchFamily="18" charset="0"/>
                      <a:ea typeface="黑体" panose="02010609060101010101" pitchFamily="49" charset="-122"/>
                    </a:rPr>
                    <a:t>t</a:t>
                  </a:r>
                  <a:r>
                    <a:rPr kumimoji="1" lang="en-US" altLang="zh-CN" sz="2800" dirty="0">
                      <a:latin typeface="Times New Roman" panose="02020603050405020304" pitchFamily="18" charset="0"/>
                      <a:ea typeface="黑体" panose="02010609060101010101" pitchFamily="49" charset="-122"/>
                    </a:rPr>
                    <a:t>][S] </a:t>
                  </a:r>
                </a:p>
              </p:txBody>
            </p:sp>
            <p:sp>
              <p:nvSpPr>
                <p:cNvPr id="217101" name="Text Box 21">
                  <a:extLst>
                    <a:ext uri="{FF2B5EF4-FFF2-40B4-BE49-F238E27FC236}">
                      <a16:creationId xmlns:a16="http://schemas.microsoft.com/office/drawing/2014/main" id="{7FA9BC23-2252-4F0B-8AEA-C7EE65D5B5BC}"/>
                    </a:ext>
                  </a:extLst>
                </p:cNvPr>
                <p:cNvSpPr txBox="1">
                  <a:spLocks noChangeArrowheads="1"/>
                </p:cNvSpPr>
                <p:nvPr/>
              </p:nvSpPr>
              <p:spPr bwMode="auto">
                <a:xfrm>
                  <a:off x="3045" y="1614"/>
                  <a:ext cx="9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i="1">
                      <a:latin typeface="Times New Roman" panose="02020603050405020304" pitchFamily="18" charset="0"/>
                      <a:ea typeface="黑体" panose="02010609060101010101" pitchFamily="49" charset="-122"/>
                    </a:rPr>
                    <a:t>K</a:t>
                  </a:r>
                  <a:r>
                    <a:rPr kumimoji="1" lang="en-US" altLang="zh-CN" sz="2800" baseline="-25000">
                      <a:latin typeface="Times New Roman" panose="02020603050405020304" pitchFamily="18" charset="0"/>
                      <a:ea typeface="黑体" panose="02010609060101010101" pitchFamily="49" charset="-122"/>
                    </a:rPr>
                    <a:t>m </a:t>
                  </a:r>
                  <a:r>
                    <a:rPr kumimoji="1" lang="en-US" altLang="zh-CN" sz="2800">
                      <a:latin typeface="Times New Roman" panose="02020603050405020304" pitchFamily="18" charset="0"/>
                      <a:ea typeface="黑体" panose="02010609060101010101" pitchFamily="49" charset="-122"/>
                    </a:rPr>
                    <a:t>+ [S] </a:t>
                  </a:r>
                </a:p>
              </p:txBody>
            </p:sp>
          </p:grpSp>
          <p:sp>
            <p:nvSpPr>
              <p:cNvPr id="217098" name="Text Box 22">
                <a:extLst>
                  <a:ext uri="{FF2B5EF4-FFF2-40B4-BE49-F238E27FC236}">
                    <a16:creationId xmlns:a16="http://schemas.microsoft.com/office/drawing/2014/main" id="{4C44A42F-7196-46F7-933B-C7AAB310B814}"/>
                  </a:ext>
                </a:extLst>
              </p:cNvPr>
              <p:cNvSpPr txBox="1">
                <a:spLocks noChangeArrowheads="1"/>
              </p:cNvSpPr>
              <p:nvPr/>
            </p:nvSpPr>
            <p:spPr bwMode="auto">
              <a:xfrm>
                <a:off x="4470" y="1392"/>
                <a:ext cx="41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a:solidFill>
                      <a:srgbClr val="0000CC"/>
                    </a:solidFill>
                    <a:latin typeface="Times New Roman" panose="02020603050405020304" pitchFamily="18" charset="0"/>
                    <a:ea typeface="黑体" panose="02010609060101010101" pitchFamily="49" charset="-122"/>
                  </a:rPr>
                  <a:t>(3)</a:t>
                </a:r>
                <a:r>
                  <a:rPr kumimoji="1" lang="en-US" altLang="zh-CN" sz="2800">
                    <a:solidFill>
                      <a:srgbClr val="FFCC00"/>
                    </a:solidFill>
                    <a:latin typeface="Times New Roman" panose="02020603050405020304" pitchFamily="18" charset="0"/>
                    <a:ea typeface="黑体" panose="02010609060101010101" pitchFamily="49" charset="-122"/>
                  </a:rPr>
                  <a:t> </a:t>
                </a:r>
              </a:p>
            </p:txBody>
          </p:sp>
        </p:grpSp>
        <p:sp>
          <p:nvSpPr>
            <p:cNvPr id="963607" name="Text Box 23">
              <a:extLst>
                <a:ext uri="{FF2B5EF4-FFF2-40B4-BE49-F238E27FC236}">
                  <a16:creationId xmlns:a16="http://schemas.microsoft.com/office/drawing/2014/main" id="{459C8109-10EE-407F-999F-8D13D5870318}"/>
                </a:ext>
              </a:extLst>
            </p:cNvPr>
            <p:cNvSpPr txBox="1">
              <a:spLocks noChangeArrowheads="1"/>
            </p:cNvSpPr>
            <p:nvPr/>
          </p:nvSpPr>
          <p:spPr bwMode="auto">
            <a:xfrm>
              <a:off x="2562" y="1464"/>
              <a:ext cx="1240" cy="330"/>
            </a:xfrm>
            <a:prstGeom prst="rect">
              <a:avLst/>
            </a:prstGeom>
            <a:noFill/>
            <a:ln w="9525">
              <a:noFill/>
              <a:miter lim="800000"/>
              <a:headEnd/>
              <a:tailEnd/>
            </a:ln>
            <a:effectLst/>
          </p:spPr>
          <p:txBody>
            <a:bodyPr wrap="none">
              <a:spAutoFit/>
            </a:bodyPr>
            <a:lstStyle/>
            <a:p>
              <a:pPr eaLnBrk="1" hangingPunct="1">
                <a:defRPr/>
              </a:pPr>
              <a:r>
                <a:rPr kumimoji="1" lang="en-US" altLang="zh-CN" sz="2800" dirty="0">
                  <a:latin typeface="Times New Roman" pitchFamily="18" charset="0"/>
                  <a:ea typeface="黑体" pitchFamily="49" charset="-122"/>
                </a:rPr>
                <a:t>V</a:t>
              </a:r>
              <a:r>
                <a:rPr lang="en-US" altLang="zh-CN" sz="2800" baseline="-25000" dirty="0">
                  <a:latin typeface="Times New Roman" panose="02020603050405020304" pitchFamily="18" charset="0"/>
                  <a:ea typeface="黑体" panose="02010609060101010101" pitchFamily="49" charset="-122"/>
                </a:rPr>
                <a:t>0</a:t>
              </a:r>
              <a:r>
                <a:rPr kumimoji="1" lang="en-US" altLang="zh-CN" sz="2800" dirty="0">
                  <a:latin typeface="Times New Roman" pitchFamily="18" charset="0"/>
                  <a:ea typeface="黑体" pitchFamily="49" charset="-122"/>
                </a:rPr>
                <a:t> =</a:t>
              </a:r>
              <a:r>
                <a:rPr kumimoji="1" lang="en-US" altLang="zh-CN" sz="2800" dirty="0">
                  <a:effectLst>
                    <a:outerShdw blurRad="38100" dist="38100" dir="2700000" algn="tl">
                      <a:srgbClr val="C0C0C0"/>
                    </a:outerShdw>
                  </a:effectLst>
                  <a:latin typeface="Times New Roman" pitchFamily="18" charset="0"/>
                  <a:ea typeface="黑体" pitchFamily="49" charset="-122"/>
                </a:rPr>
                <a:t> </a:t>
              </a:r>
              <a:r>
                <a:rPr kumimoji="1" lang="en-US" altLang="zh-CN" sz="2800" dirty="0">
                  <a:latin typeface="Times New Roman" pitchFamily="18" charset="0"/>
                  <a:ea typeface="黑体" pitchFamily="49" charset="-122"/>
                </a:rPr>
                <a:t>────</a:t>
              </a:r>
            </a:p>
          </p:txBody>
        </p:sp>
      </p:gr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10" name="Rectangle 2">
            <a:extLst>
              <a:ext uri="{FF2B5EF4-FFF2-40B4-BE49-F238E27FC236}">
                <a16:creationId xmlns:a16="http://schemas.microsoft.com/office/drawing/2014/main" id="{31C6600D-2B46-4870-9A7A-0763345F8801}"/>
              </a:ext>
            </a:extLst>
          </p:cNvPr>
          <p:cNvSpPr>
            <a:spLocks noChangeArrowheads="1"/>
          </p:cNvSpPr>
          <p:nvPr/>
        </p:nvSpPr>
        <p:spPr bwMode="auto">
          <a:xfrm>
            <a:off x="620703" y="2545257"/>
            <a:ext cx="5358185" cy="1511300"/>
          </a:xfrm>
          <a:prstGeom prst="rect">
            <a:avLst/>
          </a:prstGeom>
          <a:noFill/>
          <a:ln w="9525">
            <a:noFill/>
            <a:miter lim="800000"/>
            <a:headEnd/>
            <a:tailEnd/>
          </a:ln>
          <a:effectLst/>
        </p:spPr>
        <p:txBody>
          <a:bodyPr lIns="18000" rIns="18000"/>
          <a:lstStyle/>
          <a:p>
            <a:pPr marL="342900" indent="-342900" eaLnBrk="1" hangingPunct="1">
              <a:lnSpc>
                <a:spcPct val="135000"/>
              </a:lnSpc>
              <a:spcBef>
                <a:spcPct val="20000"/>
              </a:spcBef>
              <a:buClr>
                <a:schemeClr val="tx2"/>
              </a:buClr>
              <a:buSzPct val="75000"/>
              <a:defRPr/>
            </a:pPr>
            <a:r>
              <a:rPr kumimoji="1" lang="en-US" altLang="zh-CN" sz="2800" dirty="0">
                <a:latin typeface="Times New Roman" pitchFamily="18" charset="0"/>
                <a:ea typeface="黑体" pitchFamily="49" charset="-122"/>
              </a:rPr>
              <a:t>    </a:t>
            </a:r>
            <a:r>
              <a:rPr kumimoji="1" lang="zh-CN" altLang="en-US" sz="2800" dirty="0">
                <a:latin typeface="Times New Roman" pitchFamily="18" charset="0"/>
                <a:ea typeface="黑体" pitchFamily="49" charset="-122"/>
              </a:rPr>
              <a:t>当</a:t>
            </a:r>
            <a:r>
              <a:rPr kumimoji="1" lang="en-US" altLang="zh-CN" sz="2800" dirty="0">
                <a:solidFill>
                  <a:srgbClr val="0000CC"/>
                </a:solidFill>
                <a:latin typeface="Times New Roman" pitchFamily="18" charset="0"/>
                <a:ea typeface="黑体" pitchFamily="49" charset="-122"/>
              </a:rPr>
              <a:t>[S] &lt;&lt;K</a:t>
            </a:r>
            <a:r>
              <a:rPr kumimoji="1" lang="en-US" altLang="zh-CN" sz="2800" baseline="-25000" dirty="0">
                <a:solidFill>
                  <a:srgbClr val="0000CC"/>
                </a:solidFill>
                <a:latin typeface="Times New Roman" pitchFamily="18" charset="0"/>
                <a:ea typeface="黑体" pitchFamily="49" charset="-122"/>
              </a:rPr>
              <a:t>m</a:t>
            </a:r>
            <a:r>
              <a:rPr kumimoji="1" lang="zh-CN" altLang="en-US" sz="2800" dirty="0">
                <a:latin typeface="Times New Roman" pitchFamily="18" charset="0"/>
                <a:ea typeface="黑体" pitchFamily="49" charset="-122"/>
              </a:rPr>
              <a:t>时，</a:t>
            </a:r>
            <a:r>
              <a:rPr kumimoji="1" lang="en-US" altLang="zh-CN" sz="2800" dirty="0">
                <a:latin typeface="Times New Roman" pitchFamily="18" charset="0"/>
                <a:ea typeface="黑体" pitchFamily="49" charset="-122"/>
              </a:rPr>
              <a:t>V</a:t>
            </a:r>
            <a:r>
              <a:rPr kumimoji="1" lang="en-US" altLang="zh-CN" sz="2800" baseline="-25000" dirty="0">
                <a:latin typeface="Times New Roman" pitchFamily="18" charset="0"/>
                <a:ea typeface="黑体" pitchFamily="49" charset="-122"/>
              </a:rPr>
              <a:t>0</a:t>
            </a:r>
            <a:r>
              <a:rPr kumimoji="1" lang="en-US" altLang="zh-CN" sz="2800" dirty="0">
                <a:latin typeface="Times New Roman" pitchFamily="18" charset="0"/>
                <a:ea typeface="黑体" pitchFamily="49" charset="-122"/>
              </a:rPr>
              <a:t>= </a:t>
            </a:r>
            <a:r>
              <a:rPr kumimoji="1" lang="en-US" altLang="zh-CN" sz="2800" dirty="0" err="1">
                <a:latin typeface="Times New Roman" pitchFamily="18" charset="0"/>
                <a:ea typeface="黑体" pitchFamily="49" charset="-122"/>
              </a:rPr>
              <a:t>V</a:t>
            </a:r>
            <a:r>
              <a:rPr kumimoji="1" lang="en-US" altLang="zh-CN" sz="2800" baseline="-25000" dirty="0" err="1">
                <a:latin typeface="Times New Roman" pitchFamily="18" charset="0"/>
                <a:ea typeface="黑体" pitchFamily="49" charset="-122"/>
              </a:rPr>
              <a:t>max</a:t>
            </a:r>
            <a:r>
              <a:rPr kumimoji="1" lang="en-US" altLang="zh-CN" sz="2800" dirty="0">
                <a:latin typeface="Times New Roman" pitchFamily="18" charset="0"/>
                <a:ea typeface="黑体" pitchFamily="49" charset="-122"/>
              </a:rPr>
              <a:t> [S]/ K</a:t>
            </a:r>
            <a:r>
              <a:rPr kumimoji="1" lang="en-US" altLang="zh-CN" sz="2800" baseline="-25000" dirty="0">
                <a:latin typeface="Times New Roman" pitchFamily="18" charset="0"/>
                <a:ea typeface="黑体" pitchFamily="49" charset="-122"/>
              </a:rPr>
              <a:t>m</a:t>
            </a:r>
            <a:r>
              <a:rPr kumimoji="1" lang="zh-CN" altLang="en-US" sz="2800" dirty="0">
                <a:latin typeface="Times New Roman" pitchFamily="18" charset="0"/>
                <a:ea typeface="黑体" pitchFamily="49" charset="-122"/>
              </a:rPr>
              <a:t>，反应速度与</a:t>
            </a:r>
            <a:r>
              <a:rPr kumimoji="1" lang="en-US" altLang="zh-CN" sz="2800" dirty="0">
                <a:latin typeface="Times New Roman" pitchFamily="18" charset="0"/>
                <a:ea typeface="黑体" pitchFamily="49" charset="-122"/>
              </a:rPr>
              <a:t>[S] </a:t>
            </a:r>
            <a:r>
              <a:rPr kumimoji="1" lang="zh-CN" altLang="en-US" sz="2800" dirty="0">
                <a:latin typeface="Times New Roman" pitchFamily="18" charset="0"/>
                <a:ea typeface="黑体" pitchFamily="49" charset="-122"/>
              </a:rPr>
              <a:t>呈正比。</a:t>
            </a:r>
            <a:endParaRPr kumimoji="1" lang="zh-CN" altLang="en-US" sz="3200" dirty="0">
              <a:effectLst>
                <a:outerShdw blurRad="38100" dist="38100" dir="2700000" algn="tl">
                  <a:srgbClr val="C0C0C0"/>
                </a:outerShdw>
              </a:effectLst>
              <a:latin typeface="Times New Roman" pitchFamily="18" charset="0"/>
              <a:ea typeface="黑体" pitchFamily="49" charset="-122"/>
            </a:endParaRPr>
          </a:p>
        </p:txBody>
      </p:sp>
      <p:sp>
        <p:nvSpPr>
          <p:cNvPr id="964611" name="Rectangle 3">
            <a:extLst>
              <a:ext uri="{FF2B5EF4-FFF2-40B4-BE49-F238E27FC236}">
                <a16:creationId xmlns:a16="http://schemas.microsoft.com/office/drawing/2014/main" id="{E48BBB25-E29E-4D7C-BEDE-4F038834303C}"/>
              </a:ext>
            </a:extLst>
          </p:cNvPr>
          <p:cNvSpPr>
            <a:spLocks noChangeArrowheads="1"/>
          </p:cNvSpPr>
          <p:nvPr/>
        </p:nvSpPr>
        <p:spPr bwMode="auto">
          <a:xfrm>
            <a:off x="620703" y="4064561"/>
            <a:ext cx="5358185" cy="2089150"/>
          </a:xfrm>
          <a:prstGeom prst="rect">
            <a:avLst/>
          </a:prstGeom>
          <a:noFill/>
          <a:ln w="9525">
            <a:noFill/>
            <a:miter lim="800000"/>
            <a:headEnd/>
            <a:tailEnd/>
          </a:ln>
          <a:effectLst/>
        </p:spPr>
        <p:txBody>
          <a:bodyPr lIns="18000" rIns="18000"/>
          <a:lstStyle/>
          <a:p>
            <a:pPr marL="342900" indent="-342900" eaLnBrk="1" hangingPunct="1">
              <a:lnSpc>
                <a:spcPct val="125000"/>
              </a:lnSpc>
              <a:spcBef>
                <a:spcPct val="20000"/>
              </a:spcBef>
              <a:buClr>
                <a:schemeClr val="tx2"/>
              </a:buClr>
              <a:buSzPct val="75000"/>
              <a:defRPr/>
            </a:pPr>
            <a:r>
              <a:rPr kumimoji="1" lang="en-US" altLang="zh-CN" sz="2800" dirty="0">
                <a:latin typeface="Times New Roman" pitchFamily="18" charset="0"/>
                <a:ea typeface="黑体" pitchFamily="49" charset="-122"/>
              </a:rPr>
              <a:t>    </a:t>
            </a:r>
            <a:r>
              <a:rPr kumimoji="1" lang="zh-CN" altLang="en-US" sz="2800" dirty="0">
                <a:latin typeface="Times New Roman" pitchFamily="18" charset="0"/>
                <a:ea typeface="黑体" pitchFamily="49" charset="-122"/>
              </a:rPr>
              <a:t>当</a:t>
            </a:r>
            <a:r>
              <a:rPr kumimoji="1" lang="en-US" altLang="zh-CN" sz="2800" dirty="0">
                <a:solidFill>
                  <a:srgbClr val="0000CC"/>
                </a:solidFill>
                <a:latin typeface="Times New Roman" pitchFamily="18" charset="0"/>
                <a:ea typeface="黑体" pitchFamily="49" charset="-122"/>
              </a:rPr>
              <a:t>[S] &gt;&gt;K</a:t>
            </a:r>
            <a:r>
              <a:rPr kumimoji="1" lang="en-US" altLang="zh-CN" sz="2800" baseline="-25000" dirty="0">
                <a:solidFill>
                  <a:srgbClr val="0000CC"/>
                </a:solidFill>
                <a:latin typeface="Times New Roman" pitchFamily="18" charset="0"/>
                <a:ea typeface="黑体" pitchFamily="49" charset="-122"/>
              </a:rPr>
              <a:t>m</a:t>
            </a:r>
            <a:r>
              <a:rPr kumimoji="1" lang="zh-CN" altLang="en-US" sz="2800" dirty="0">
                <a:latin typeface="Times New Roman" pitchFamily="18" charset="0"/>
                <a:ea typeface="黑体" pitchFamily="49" charset="-122"/>
              </a:rPr>
              <a:t>时，</a:t>
            </a:r>
            <a:r>
              <a:rPr kumimoji="1" lang="en-US" altLang="zh-CN" sz="2800" dirty="0">
                <a:latin typeface="Times New Roman" pitchFamily="18" charset="0"/>
                <a:ea typeface="黑体" pitchFamily="49" charset="-122"/>
              </a:rPr>
              <a:t>V</a:t>
            </a:r>
            <a:r>
              <a:rPr kumimoji="1" lang="en-US" altLang="zh-CN" sz="2800" baseline="-25000" dirty="0">
                <a:latin typeface="Times New Roman" pitchFamily="18" charset="0"/>
                <a:ea typeface="黑体" pitchFamily="49" charset="-122"/>
              </a:rPr>
              <a:t>0</a:t>
            </a:r>
            <a:r>
              <a:rPr kumimoji="1" lang="en-US" altLang="zh-CN" sz="2800" dirty="0">
                <a:latin typeface="Times New Roman" pitchFamily="18" charset="0"/>
                <a:ea typeface="黑体" pitchFamily="49" charset="-122"/>
              </a:rPr>
              <a:t>≌ </a:t>
            </a:r>
            <a:r>
              <a:rPr kumimoji="1" lang="en-US" altLang="zh-CN" sz="2800" dirty="0" err="1">
                <a:latin typeface="Times New Roman" pitchFamily="18" charset="0"/>
                <a:ea typeface="黑体" pitchFamily="49" charset="-122"/>
              </a:rPr>
              <a:t>V</a:t>
            </a:r>
            <a:r>
              <a:rPr kumimoji="1" lang="en-US" altLang="zh-CN" sz="2800" baseline="-25000" dirty="0" err="1">
                <a:latin typeface="Times New Roman" pitchFamily="18" charset="0"/>
                <a:ea typeface="黑体" pitchFamily="49" charset="-122"/>
              </a:rPr>
              <a:t>max</a:t>
            </a:r>
            <a:r>
              <a:rPr kumimoji="1" lang="zh-CN" altLang="en-US" sz="2800" dirty="0">
                <a:latin typeface="Times New Roman" pitchFamily="18" charset="0"/>
                <a:ea typeface="黑体" pitchFamily="49" charset="-122"/>
              </a:rPr>
              <a:t>，反应速度达最大速度， </a:t>
            </a:r>
            <a:r>
              <a:rPr kumimoji="1" lang="en-US" altLang="zh-CN" sz="2800" dirty="0">
                <a:latin typeface="Times New Roman" pitchFamily="18" charset="0"/>
                <a:ea typeface="黑体" pitchFamily="49" charset="-122"/>
              </a:rPr>
              <a:t>[S]</a:t>
            </a:r>
            <a:r>
              <a:rPr kumimoji="1" lang="zh-CN" altLang="en-US" sz="2800" dirty="0">
                <a:latin typeface="Times New Roman" pitchFamily="18" charset="0"/>
                <a:ea typeface="黑体" pitchFamily="49" charset="-122"/>
              </a:rPr>
              <a:t>再增高也不影响反应速度</a:t>
            </a:r>
            <a:r>
              <a:rPr kumimoji="1" lang="zh-CN" altLang="en-US" sz="3200" dirty="0">
                <a:effectLst>
                  <a:outerShdw blurRad="38100" dist="38100" dir="2700000" algn="tl">
                    <a:srgbClr val="C0C0C0"/>
                  </a:outerShdw>
                </a:effectLst>
                <a:latin typeface="Times New Roman" pitchFamily="18" charset="0"/>
                <a:ea typeface="黑体" pitchFamily="49" charset="-122"/>
              </a:rPr>
              <a:t>。</a:t>
            </a:r>
          </a:p>
        </p:txBody>
      </p:sp>
      <p:sp>
        <p:nvSpPr>
          <p:cNvPr id="219140" name="Rectangle 4">
            <a:extLst>
              <a:ext uri="{FF2B5EF4-FFF2-40B4-BE49-F238E27FC236}">
                <a16:creationId xmlns:a16="http://schemas.microsoft.com/office/drawing/2014/main" id="{531A5FD2-00EB-48F5-90FB-EEB739BC03EE}"/>
              </a:ext>
            </a:extLst>
          </p:cNvPr>
          <p:cNvSpPr>
            <a:spLocks noChangeArrowheads="1"/>
          </p:cNvSpPr>
          <p:nvPr/>
        </p:nvSpPr>
        <p:spPr bwMode="auto">
          <a:xfrm>
            <a:off x="8827295" y="2858325"/>
            <a:ext cx="1584325" cy="1657350"/>
          </a:xfrm>
          <a:prstGeom prst="rect">
            <a:avLst/>
          </a:prstGeom>
          <a:solidFill>
            <a:srgbClr val="FF66FF"/>
          </a:solidFill>
          <a:ln w="9525">
            <a:solidFill>
              <a:schemeClr val="tx1"/>
            </a:solidFill>
            <a:miter lim="800000"/>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19141" name="Rectangle 5">
            <a:extLst>
              <a:ext uri="{FF2B5EF4-FFF2-40B4-BE49-F238E27FC236}">
                <a16:creationId xmlns:a16="http://schemas.microsoft.com/office/drawing/2014/main" id="{982F77F8-F13C-4E15-8D2E-EB5A858F0F59}"/>
              </a:ext>
            </a:extLst>
          </p:cNvPr>
          <p:cNvSpPr>
            <a:spLocks noChangeArrowheads="1"/>
          </p:cNvSpPr>
          <p:nvPr/>
        </p:nvSpPr>
        <p:spPr bwMode="auto">
          <a:xfrm>
            <a:off x="7746207" y="2858325"/>
            <a:ext cx="172318" cy="165735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19142" name="Rectangle 6">
            <a:extLst>
              <a:ext uri="{FF2B5EF4-FFF2-40B4-BE49-F238E27FC236}">
                <a16:creationId xmlns:a16="http://schemas.microsoft.com/office/drawing/2014/main" id="{CD7CB6BE-9BAB-48AA-B96D-C0253BDF1506}"/>
              </a:ext>
            </a:extLst>
          </p:cNvPr>
          <p:cNvSpPr>
            <a:spLocks noChangeArrowheads="1"/>
          </p:cNvSpPr>
          <p:nvPr/>
        </p:nvSpPr>
        <p:spPr bwMode="auto">
          <a:xfrm>
            <a:off x="8106570" y="2858325"/>
            <a:ext cx="720725" cy="16573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19143" name="Freeform 7">
            <a:extLst>
              <a:ext uri="{FF2B5EF4-FFF2-40B4-BE49-F238E27FC236}">
                <a16:creationId xmlns:a16="http://schemas.microsoft.com/office/drawing/2014/main" id="{C91A3830-7F23-43F6-9857-CD37DBE52169}"/>
              </a:ext>
            </a:extLst>
          </p:cNvPr>
          <p:cNvSpPr>
            <a:spLocks/>
          </p:cNvSpPr>
          <p:nvPr/>
        </p:nvSpPr>
        <p:spPr bwMode="auto">
          <a:xfrm>
            <a:off x="7747795" y="2901187"/>
            <a:ext cx="2744787" cy="1576388"/>
          </a:xfrm>
          <a:custGeom>
            <a:avLst/>
            <a:gdLst>
              <a:gd name="T0" fmla="*/ 0 w 1344"/>
              <a:gd name="T1" fmla="*/ 2147483646 h 864"/>
              <a:gd name="T2" fmla="*/ 2147483646 w 1344"/>
              <a:gd name="T3" fmla="*/ 2147483646 h 864"/>
              <a:gd name="T4" fmla="*/ 2147483646 w 1344"/>
              <a:gd name="T5" fmla="*/ 0 h 864"/>
              <a:gd name="T6" fmla="*/ 0 60000 65536"/>
              <a:gd name="T7" fmla="*/ 0 60000 65536"/>
              <a:gd name="T8" fmla="*/ 0 60000 65536"/>
              <a:gd name="T9" fmla="*/ 0 w 1344"/>
              <a:gd name="T10" fmla="*/ 0 h 864"/>
              <a:gd name="T11" fmla="*/ 1344 w 1344"/>
              <a:gd name="T12" fmla="*/ 864 h 864"/>
            </a:gdLst>
            <a:ahLst/>
            <a:cxnLst>
              <a:cxn ang="T6">
                <a:pos x="T0" y="T1"/>
              </a:cxn>
              <a:cxn ang="T7">
                <a:pos x="T2" y="T3"/>
              </a:cxn>
              <a:cxn ang="T8">
                <a:pos x="T4" y="T5"/>
              </a:cxn>
            </a:cxnLst>
            <a:rect l="T9" t="T10" r="T11" b="T12"/>
            <a:pathLst>
              <a:path w="1344" h="864">
                <a:moveTo>
                  <a:pt x="0" y="864"/>
                </a:moveTo>
                <a:cubicBezTo>
                  <a:pt x="32" y="576"/>
                  <a:pt x="64" y="288"/>
                  <a:pt x="288" y="144"/>
                </a:cubicBezTo>
                <a:cubicBezTo>
                  <a:pt x="512" y="0"/>
                  <a:pt x="1176" y="24"/>
                  <a:pt x="1344" y="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44" name="Line 8">
            <a:extLst>
              <a:ext uri="{FF2B5EF4-FFF2-40B4-BE49-F238E27FC236}">
                <a16:creationId xmlns:a16="http://schemas.microsoft.com/office/drawing/2014/main" id="{E3D2C0D6-F5B8-4F21-87B4-2481631A3F07}"/>
              </a:ext>
            </a:extLst>
          </p:cNvPr>
          <p:cNvSpPr>
            <a:spLocks noChangeShapeType="1"/>
          </p:cNvSpPr>
          <p:nvPr/>
        </p:nvSpPr>
        <p:spPr bwMode="auto">
          <a:xfrm>
            <a:off x="6811170" y="2802762"/>
            <a:ext cx="3843337"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17" name="Text Box 9">
            <a:extLst>
              <a:ext uri="{FF2B5EF4-FFF2-40B4-BE49-F238E27FC236}">
                <a16:creationId xmlns:a16="http://schemas.microsoft.com/office/drawing/2014/main" id="{76C19CE4-8D34-45FA-A0F5-5CA9396250D5}"/>
              </a:ext>
            </a:extLst>
          </p:cNvPr>
          <p:cNvSpPr txBox="1">
            <a:spLocks noChangeArrowheads="1"/>
          </p:cNvSpPr>
          <p:nvPr/>
        </p:nvSpPr>
        <p:spPr bwMode="auto">
          <a:xfrm>
            <a:off x="9762331" y="2139187"/>
            <a:ext cx="884238" cy="476250"/>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solidFill>
                  <a:schemeClr val="tx2"/>
                </a:solidFill>
                <a:effectLst>
                  <a:outerShdw blurRad="38100" dist="38100" dir="2700000" algn="tl">
                    <a:srgbClr val="C0C0C0"/>
                  </a:outerShdw>
                </a:effectLst>
                <a:latin typeface="Times New Roman" pitchFamily="18" charset="0"/>
                <a:ea typeface="黑体" pitchFamily="49" charset="-122"/>
              </a:rPr>
              <a:t>V</a:t>
            </a:r>
            <a:r>
              <a:rPr kumimoji="1" lang="en-US" altLang="zh-CN" sz="2800" b="1" baseline="-25000">
                <a:solidFill>
                  <a:schemeClr val="tx2"/>
                </a:solidFill>
                <a:effectLst>
                  <a:outerShdw blurRad="38100" dist="38100" dir="2700000" algn="tl">
                    <a:srgbClr val="C0C0C0"/>
                  </a:outerShdw>
                </a:effectLst>
                <a:latin typeface="Times New Roman" pitchFamily="18" charset="0"/>
                <a:ea typeface="黑体" pitchFamily="49" charset="-122"/>
              </a:rPr>
              <a:t>max</a:t>
            </a:r>
          </a:p>
        </p:txBody>
      </p:sp>
      <p:sp>
        <p:nvSpPr>
          <p:cNvPr id="219146" name="Line 10">
            <a:extLst>
              <a:ext uri="{FF2B5EF4-FFF2-40B4-BE49-F238E27FC236}">
                <a16:creationId xmlns:a16="http://schemas.microsoft.com/office/drawing/2014/main" id="{B1DB0AB8-F64E-4D6A-A35F-69F111F5DC11}"/>
              </a:ext>
            </a:extLst>
          </p:cNvPr>
          <p:cNvSpPr>
            <a:spLocks noChangeShapeType="1"/>
          </p:cNvSpPr>
          <p:nvPr/>
        </p:nvSpPr>
        <p:spPr bwMode="auto">
          <a:xfrm>
            <a:off x="6833394" y="4491862"/>
            <a:ext cx="39878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9147" name="Line 11">
            <a:extLst>
              <a:ext uri="{FF2B5EF4-FFF2-40B4-BE49-F238E27FC236}">
                <a16:creationId xmlns:a16="http://schemas.microsoft.com/office/drawing/2014/main" id="{5234B3CF-655A-42EC-A328-66B3FFAE9DC3}"/>
              </a:ext>
            </a:extLst>
          </p:cNvPr>
          <p:cNvSpPr>
            <a:spLocks noChangeShapeType="1"/>
          </p:cNvSpPr>
          <p:nvPr/>
        </p:nvSpPr>
        <p:spPr bwMode="auto">
          <a:xfrm flipV="1">
            <a:off x="7731919" y="1862963"/>
            <a:ext cx="0" cy="347662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4620" name="Text Box 12">
            <a:extLst>
              <a:ext uri="{FF2B5EF4-FFF2-40B4-BE49-F238E27FC236}">
                <a16:creationId xmlns:a16="http://schemas.microsoft.com/office/drawing/2014/main" id="{57362E17-B2E0-47DC-ADD5-519DD98CC6F9}"/>
              </a:ext>
            </a:extLst>
          </p:cNvPr>
          <p:cNvSpPr txBox="1">
            <a:spLocks noChangeArrowheads="1"/>
          </p:cNvSpPr>
          <p:nvPr/>
        </p:nvSpPr>
        <p:spPr bwMode="auto">
          <a:xfrm>
            <a:off x="6954045" y="1778825"/>
            <a:ext cx="441325" cy="476250"/>
          </a:xfrm>
          <a:prstGeom prst="rect">
            <a:avLst/>
          </a:prstGeom>
          <a:noFill/>
          <a:ln w="9525">
            <a:noFill/>
            <a:miter lim="800000"/>
            <a:headEnd/>
            <a:tailEnd/>
          </a:ln>
          <a:effec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rPr>
              <a:t>V</a:t>
            </a:r>
          </a:p>
        </p:txBody>
      </p:sp>
      <p:sp>
        <p:nvSpPr>
          <p:cNvPr id="964621" name="Text Box 13">
            <a:extLst>
              <a:ext uri="{FF2B5EF4-FFF2-40B4-BE49-F238E27FC236}">
                <a16:creationId xmlns:a16="http://schemas.microsoft.com/office/drawing/2014/main" id="{4734B975-2D19-483D-A626-084A6657312E}"/>
              </a:ext>
            </a:extLst>
          </p:cNvPr>
          <p:cNvSpPr txBox="1">
            <a:spLocks noChangeArrowheads="1"/>
          </p:cNvSpPr>
          <p:nvPr/>
        </p:nvSpPr>
        <p:spPr bwMode="auto">
          <a:xfrm>
            <a:off x="10324306" y="4531551"/>
            <a:ext cx="625492" cy="480131"/>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solidFill>
                  <a:schemeClr val="tx2"/>
                </a:solidFill>
                <a:effectLst>
                  <a:outerShdw blurRad="38100" dist="38100" dir="2700000" algn="tl">
                    <a:srgbClr val="C0C0C0"/>
                  </a:outerShdw>
                </a:effectLst>
                <a:latin typeface="Times New Roman" pitchFamily="18" charset="0"/>
                <a:ea typeface="黑体" pitchFamily="49" charset="-122"/>
              </a:rPr>
              <a:t>[S]</a:t>
            </a:r>
          </a:p>
        </p:txBody>
      </p:sp>
      <p:grpSp>
        <p:nvGrpSpPr>
          <p:cNvPr id="219150" name="Group 17">
            <a:extLst>
              <a:ext uri="{FF2B5EF4-FFF2-40B4-BE49-F238E27FC236}">
                <a16:creationId xmlns:a16="http://schemas.microsoft.com/office/drawing/2014/main" id="{F9925447-3B85-4C53-A08E-8AC131F7656C}"/>
              </a:ext>
            </a:extLst>
          </p:cNvPr>
          <p:cNvGrpSpPr>
            <a:grpSpLocks/>
          </p:cNvGrpSpPr>
          <p:nvPr/>
        </p:nvGrpSpPr>
        <p:grpSpPr bwMode="auto">
          <a:xfrm>
            <a:off x="1987550" y="836614"/>
            <a:ext cx="3690938" cy="1425575"/>
            <a:chOff x="1406" y="1661"/>
            <a:chExt cx="2325" cy="898"/>
          </a:xfrm>
        </p:grpSpPr>
        <p:grpSp>
          <p:nvGrpSpPr>
            <p:cNvPr id="219151" name="Group 18">
              <a:extLst>
                <a:ext uri="{FF2B5EF4-FFF2-40B4-BE49-F238E27FC236}">
                  <a16:creationId xmlns:a16="http://schemas.microsoft.com/office/drawing/2014/main" id="{4D62EE78-A786-49BB-AC54-AED70637E407}"/>
                </a:ext>
              </a:extLst>
            </p:cNvPr>
            <p:cNvGrpSpPr>
              <a:grpSpLocks/>
            </p:cNvGrpSpPr>
            <p:nvPr/>
          </p:nvGrpSpPr>
          <p:grpSpPr bwMode="auto">
            <a:xfrm>
              <a:off x="1406" y="1661"/>
              <a:ext cx="2325" cy="898"/>
              <a:chOff x="1406" y="1661"/>
              <a:chExt cx="2325" cy="898"/>
            </a:xfrm>
          </p:grpSpPr>
          <p:sp>
            <p:nvSpPr>
              <p:cNvPr id="219153" name="Text Box 19">
                <a:extLst>
                  <a:ext uri="{FF2B5EF4-FFF2-40B4-BE49-F238E27FC236}">
                    <a16:creationId xmlns:a16="http://schemas.microsoft.com/office/drawing/2014/main" id="{E9BE0BC0-D972-4A3C-9103-9994AEB6E605}"/>
                  </a:ext>
                </a:extLst>
              </p:cNvPr>
              <p:cNvSpPr txBox="1">
                <a:spLocks noChangeArrowheads="1"/>
              </p:cNvSpPr>
              <p:nvPr/>
            </p:nvSpPr>
            <p:spPr bwMode="auto">
              <a:xfrm>
                <a:off x="2550" y="1661"/>
                <a:ext cx="11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endParaRPr kumimoji="1" lang="zh-CN" altLang="zh-CN" u="sng">
                  <a:solidFill>
                    <a:schemeClr val="tx2"/>
                  </a:solidFill>
                  <a:latin typeface="Times New Roman" panose="02020603050405020304" pitchFamily="18" charset="0"/>
                  <a:ea typeface="黑体" panose="02010609060101010101" pitchFamily="49" charset="-122"/>
                </a:endParaRPr>
              </a:p>
            </p:txBody>
          </p:sp>
          <p:sp>
            <p:nvSpPr>
              <p:cNvPr id="219154" name="Text Box 20">
                <a:extLst>
                  <a:ext uri="{FF2B5EF4-FFF2-40B4-BE49-F238E27FC236}">
                    <a16:creationId xmlns:a16="http://schemas.microsoft.com/office/drawing/2014/main" id="{078A4F92-0CE7-4591-8DB6-81FEE0BC521E}"/>
                  </a:ext>
                </a:extLst>
              </p:cNvPr>
              <p:cNvSpPr txBox="1">
                <a:spLocks noChangeArrowheads="1"/>
              </p:cNvSpPr>
              <p:nvPr/>
            </p:nvSpPr>
            <p:spPr bwMode="auto">
              <a:xfrm>
                <a:off x="1406" y="1778"/>
                <a:ext cx="1074"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6000">
                    <a:solidFill>
                      <a:schemeClr val="tx2"/>
                    </a:solidFill>
                    <a:latin typeface="Times New Roman" panose="02020603050405020304" pitchFamily="18" charset="0"/>
                    <a:ea typeface="黑体" panose="02010609060101010101" pitchFamily="49" charset="-122"/>
                  </a:rPr>
                  <a:t>Ｖ</a:t>
                </a:r>
                <a:r>
                  <a:rPr kumimoji="1" lang="en-US" altLang="zh-CN" sz="6000" baseline="-25000">
                    <a:solidFill>
                      <a:schemeClr val="tx2"/>
                    </a:solidFill>
                    <a:latin typeface="Times New Roman" panose="02020603050405020304" pitchFamily="18" charset="0"/>
                    <a:ea typeface="黑体" panose="02010609060101010101" pitchFamily="49" charset="-122"/>
                  </a:rPr>
                  <a:t>0</a:t>
                </a:r>
                <a:endParaRPr kumimoji="1" lang="zh-CN" altLang="en-US" sz="6000" baseline="-25000">
                  <a:solidFill>
                    <a:schemeClr val="tx2"/>
                  </a:solidFill>
                  <a:latin typeface="Times New Roman" panose="02020603050405020304" pitchFamily="18" charset="0"/>
                  <a:ea typeface="黑体" panose="02010609060101010101" pitchFamily="49" charset="-122"/>
                </a:endParaRPr>
              </a:p>
            </p:txBody>
          </p:sp>
          <p:sp>
            <p:nvSpPr>
              <p:cNvPr id="219155" name="Text Box 21">
                <a:extLst>
                  <a:ext uri="{FF2B5EF4-FFF2-40B4-BE49-F238E27FC236}">
                    <a16:creationId xmlns:a16="http://schemas.microsoft.com/office/drawing/2014/main" id="{32E0484B-63F9-42B5-BFC4-ACC59A3BE539}"/>
                  </a:ext>
                </a:extLst>
              </p:cNvPr>
              <p:cNvSpPr txBox="1">
                <a:spLocks noChangeArrowheads="1"/>
              </p:cNvSpPr>
              <p:nvPr/>
            </p:nvSpPr>
            <p:spPr bwMode="auto">
              <a:xfrm>
                <a:off x="2452" y="1714"/>
                <a:ext cx="127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3600">
                    <a:solidFill>
                      <a:schemeClr val="tx2"/>
                    </a:solidFill>
                    <a:latin typeface="Times New Roman" panose="02020603050405020304" pitchFamily="18" charset="0"/>
                    <a:ea typeface="黑体" panose="02010609060101010101" pitchFamily="49" charset="-122"/>
                  </a:rPr>
                  <a:t>V</a:t>
                </a:r>
                <a:r>
                  <a:rPr kumimoji="1" lang="en-US" altLang="zh-CN" sz="3600" baseline="-25000">
                    <a:solidFill>
                      <a:schemeClr val="tx2"/>
                    </a:solidFill>
                    <a:latin typeface="Times New Roman" panose="02020603050405020304" pitchFamily="18" charset="0"/>
                    <a:ea typeface="黑体" panose="02010609060101010101" pitchFamily="49" charset="-122"/>
                  </a:rPr>
                  <a:t>max</a:t>
                </a:r>
                <a:r>
                  <a:rPr kumimoji="1" lang="en-US" altLang="zh-CN">
                    <a:solidFill>
                      <a:schemeClr val="tx2"/>
                    </a:solidFill>
                    <a:latin typeface="Times New Roman" panose="02020603050405020304" pitchFamily="18" charset="0"/>
                    <a:ea typeface="黑体" panose="02010609060101010101" pitchFamily="49" charset="-122"/>
                  </a:rPr>
                  <a:t>[S] </a:t>
                </a:r>
              </a:p>
            </p:txBody>
          </p:sp>
          <p:sp>
            <p:nvSpPr>
              <p:cNvPr id="219156" name="Text Box 22">
                <a:extLst>
                  <a:ext uri="{FF2B5EF4-FFF2-40B4-BE49-F238E27FC236}">
                    <a16:creationId xmlns:a16="http://schemas.microsoft.com/office/drawing/2014/main" id="{7883129E-AE14-413A-AA2D-8E9E1D8948AD}"/>
                  </a:ext>
                </a:extLst>
              </p:cNvPr>
              <p:cNvSpPr txBox="1">
                <a:spLocks noChangeArrowheads="1"/>
              </p:cNvSpPr>
              <p:nvPr/>
            </p:nvSpPr>
            <p:spPr bwMode="auto">
              <a:xfrm>
                <a:off x="2474" y="2194"/>
                <a:ext cx="121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a:solidFill>
                      <a:schemeClr val="tx2"/>
                    </a:solidFill>
                    <a:latin typeface="Times New Roman" panose="02020603050405020304" pitchFamily="18" charset="0"/>
                    <a:ea typeface="黑体" panose="02010609060101010101" pitchFamily="49" charset="-122"/>
                  </a:rPr>
                  <a:t> K</a:t>
                </a:r>
                <a:r>
                  <a:rPr kumimoji="1" lang="en-US" altLang="zh-CN" baseline="-25000">
                    <a:solidFill>
                      <a:schemeClr val="tx2"/>
                    </a:solidFill>
                    <a:latin typeface="Times New Roman" panose="02020603050405020304" pitchFamily="18" charset="0"/>
                    <a:ea typeface="黑体" panose="02010609060101010101" pitchFamily="49" charset="-122"/>
                  </a:rPr>
                  <a:t>m </a:t>
                </a:r>
                <a:r>
                  <a:rPr kumimoji="1" lang="en-US" altLang="zh-CN">
                    <a:solidFill>
                      <a:schemeClr val="tx2"/>
                    </a:solidFill>
                    <a:latin typeface="Times New Roman" panose="02020603050405020304" pitchFamily="18" charset="0"/>
                    <a:ea typeface="黑体" panose="02010609060101010101" pitchFamily="49" charset="-122"/>
                  </a:rPr>
                  <a:t>+ [S]  </a:t>
                </a:r>
              </a:p>
            </p:txBody>
          </p:sp>
          <p:sp>
            <p:nvSpPr>
              <p:cNvPr id="219157" name="Text Box 23">
                <a:extLst>
                  <a:ext uri="{FF2B5EF4-FFF2-40B4-BE49-F238E27FC236}">
                    <a16:creationId xmlns:a16="http://schemas.microsoft.com/office/drawing/2014/main" id="{C971103F-8892-41C1-87E1-9482BB69FC14}"/>
                  </a:ext>
                </a:extLst>
              </p:cNvPr>
              <p:cNvSpPr txBox="1">
                <a:spLocks noChangeArrowheads="1"/>
              </p:cNvSpPr>
              <p:nvPr/>
            </p:nvSpPr>
            <p:spPr bwMode="auto">
              <a:xfrm>
                <a:off x="2114" y="1957"/>
                <a:ext cx="34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a:solidFill>
                      <a:schemeClr val="tx2"/>
                    </a:solidFill>
                    <a:latin typeface="Times New Roman" panose="02020603050405020304" pitchFamily="18" charset="0"/>
                    <a:ea typeface="黑体" panose="02010609060101010101" pitchFamily="49" charset="-122"/>
                  </a:rPr>
                  <a:t>＝</a:t>
                </a:r>
              </a:p>
            </p:txBody>
          </p:sp>
        </p:grpSp>
        <p:sp>
          <p:nvSpPr>
            <p:cNvPr id="219152" name="Text Box 24">
              <a:extLst>
                <a:ext uri="{FF2B5EF4-FFF2-40B4-BE49-F238E27FC236}">
                  <a16:creationId xmlns:a16="http://schemas.microsoft.com/office/drawing/2014/main" id="{A6FBA6D3-B47B-45BC-8CB8-9626685AEB87}"/>
                </a:ext>
              </a:extLst>
            </p:cNvPr>
            <p:cNvSpPr txBox="1">
              <a:spLocks noChangeArrowheads="1"/>
            </p:cNvSpPr>
            <p:nvPr/>
          </p:nvSpPr>
          <p:spPr bwMode="auto">
            <a:xfrm>
              <a:off x="2642" y="1797"/>
              <a:ext cx="1007"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6000">
                  <a:solidFill>
                    <a:schemeClr val="tx2"/>
                  </a:solidFill>
                  <a:latin typeface="Times New Roman" panose="02020603050405020304" pitchFamily="18" charset="0"/>
                  <a:ea typeface="黑体" panose="02010609060101010101" pitchFamily="49" charset="-122"/>
                </a:rPr>
                <a: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4610"/>
                                        </p:tgtEl>
                                        <p:attrNameLst>
                                          <p:attrName>style.visibility</p:attrName>
                                        </p:attrNameLst>
                                      </p:cBhvr>
                                      <p:to>
                                        <p:strVal val="visible"/>
                                      </p:to>
                                    </p:set>
                                    <p:animEffect transition="in" filter="wipe(left)">
                                      <p:cBhvr>
                                        <p:cTn id="7" dur="500"/>
                                        <p:tgtEl>
                                          <p:spTgt spid="964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4611"/>
                                        </p:tgtEl>
                                        <p:attrNameLst>
                                          <p:attrName>style.visibility</p:attrName>
                                        </p:attrNameLst>
                                      </p:cBhvr>
                                      <p:to>
                                        <p:strVal val="visible"/>
                                      </p:to>
                                    </p:set>
                                    <p:animEffect transition="in" filter="wipe(left)">
                                      <p:cBhvr>
                                        <p:cTn id="12" dur="500"/>
                                        <p:tgtEl>
                                          <p:spTgt spid="964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4610" grpId="0"/>
      <p:bldP spid="964611"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71F9CB37-6BFD-4EF2-A50A-BB4EC0F88EFD}"/>
              </a:ext>
            </a:extLst>
          </p:cNvPr>
          <p:cNvSpPr>
            <a:spLocks noChangeArrowheads="1"/>
          </p:cNvSpPr>
          <p:nvPr/>
        </p:nvSpPr>
        <p:spPr bwMode="auto">
          <a:xfrm>
            <a:off x="2135189" y="1268413"/>
            <a:ext cx="24479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sz="2800" b="1">
                <a:solidFill>
                  <a:srgbClr val="0000CC"/>
                </a:solidFill>
                <a:latin typeface="Times New Roman" panose="02020603050405020304" pitchFamily="18" charset="0"/>
                <a:ea typeface="黑体" panose="02010609060101010101" pitchFamily="49" charset="-122"/>
              </a:rPr>
              <a:t>K</a:t>
            </a:r>
            <a:r>
              <a:rPr kumimoji="1" lang="en-US" altLang="zh-CN" sz="2800" b="1" baseline="-25000">
                <a:solidFill>
                  <a:srgbClr val="0000CC"/>
                </a:solidFill>
                <a:latin typeface="Times New Roman" panose="02020603050405020304" pitchFamily="18" charset="0"/>
                <a:ea typeface="黑体" panose="02010609060101010101" pitchFamily="49" charset="-122"/>
              </a:rPr>
              <a:t>m</a:t>
            </a:r>
            <a:r>
              <a:rPr kumimoji="1" lang="zh-CN" altLang="en-US" sz="2800" b="1">
                <a:solidFill>
                  <a:srgbClr val="0000CC"/>
                </a:solidFill>
                <a:latin typeface="Times New Roman" panose="02020603050405020304" pitchFamily="18" charset="0"/>
                <a:ea typeface="黑体" panose="02010609060101010101" pitchFamily="49" charset="-122"/>
              </a:rPr>
              <a:t>值的意义</a:t>
            </a:r>
          </a:p>
        </p:txBody>
      </p:sp>
      <p:sp>
        <p:nvSpPr>
          <p:cNvPr id="966659" name="Rectangle 3">
            <a:extLst>
              <a:ext uri="{FF2B5EF4-FFF2-40B4-BE49-F238E27FC236}">
                <a16:creationId xmlns:a16="http://schemas.microsoft.com/office/drawing/2014/main" id="{8C4CB235-BA88-4E84-9277-059C7560127D}"/>
              </a:ext>
            </a:extLst>
          </p:cNvPr>
          <p:cNvSpPr>
            <a:spLocks noChangeArrowheads="1"/>
          </p:cNvSpPr>
          <p:nvPr/>
        </p:nvSpPr>
        <p:spPr bwMode="auto">
          <a:xfrm>
            <a:off x="1981200" y="1905000"/>
            <a:ext cx="8305800" cy="4572000"/>
          </a:xfrm>
          <a:prstGeom prst="rect">
            <a:avLst/>
          </a:prstGeom>
          <a:noFill/>
          <a:ln w="9525">
            <a:noFill/>
            <a:miter lim="800000"/>
            <a:headEnd/>
            <a:tailEnd/>
          </a:ln>
          <a:effectLst/>
        </p:spPr>
        <p:txBody>
          <a:bodyPr rIns="18000"/>
          <a:lstStyle/>
          <a:p>
            <a:pPr marL="990600" lvl="1" indent="-533400" eaLnBrk="1" hangingPunct="1">
              <a:lnSpc>
                <a:spcPct val="130000"/>
              </a:lnSpc>
              <a:spcBef>
                <a:spcPct val="20000"/>
              </a:spcBef>
              <a:buClr>
                <a:schemeClr val="folHlink"/>
              </a:buClr>
              <a:buSzPct val="60000"/>
              <a:defRPr/>
            </a:pPr>
            <a:r>
              <a:rPr kumimoji="1" lang="en-US" altLang="zh-CN" sz="2800" b="1" dirty="0">
                <a:effectLst>
                  <a:outerShdw blurRad="38100" dist="38100" dir="2700000" algn="tl">
                    <a:srgbClr val="C0C0C0"/>
                  </a:outerShdw>
                </a:effectLst>
                <a:latin typeface="Times New Roman" pitchFamily="18" charset="0"/>
                <a:ea typeface="黑体" pitchFamily="49" charset="-122"/>
              </a:rPr>
              <a:t>①</a:t>
            </a:r>
            <a:r>
              <a:rPr kumimoji="1" lang="en-US" altLang="zh-CN" sz="2800" dirty="0">
                <a:effectLst>
                  <a:outerShdw blurRad="38100" dist="38100" dir="2700000" algn="tl">
                    <a:srgbClr val="C0C0C0"/>
                  </a:outerShdw>
                </a:effectLst>
                <a:latin typeface="Times New Roman" pitchFamily="18" charset="0"/>
                <a:ea typeface="黑体" pitchFamily="49" charset="-122"/>
              </a:rPr>
              <a:t> </a:t>
            </a:r>
            <a:r>
              <a:rPr kumimoji="1" lang="en-US" altLang="zh-CN" sz="2800" dirty="0">
                <a:solidFill>
                  <a:schemeClr val="tx2"/>
                </a:solidFill>
                <a:latin typeface="Times New Roman" pitchFamily="18" charset="0"/>
                <a:ea typeface="黑体" pitchFamily="49" charset="-122"/>
              </a:rPr>
              <a:t>K</a:t>
            </a:r>
            <a:r>
              <a:rPr kumimoji="1" lang="en-US" altLang="zh-CN" sz="2800" baseline="-25000" dirty="0">
                <a:solidFill>
                  <a:schemeClr val="tx2"/>
                </a:solidFill>
                <a:latin typeface="Times New Roman" pitchFamily="18" charset="0"/>
                <a:ea typeface="黑体" pitchFamily="49" charset="-122"/>
              </a:rPr>
              <a:t>m</a:t>
            </a:r>
            <a:r>
              <a:rPr kumimoji="1" lang="zh-CN" altLang="en-US" sz="2800" dirty="0">
                <a:solidFill>
                  <a:schemeClr val="tx2"/>
                </a:solidFill>
                <a:latin typeface="Times New Roman" pitchFamily="18" charset="0"/>
                <a:ea typeface="黑体" pitchFamily="49" charset="-122"/>
              </a:rPr>
              <a:t>等于酶促反应速度为最大反应速度一半时的底物浓度，单位是</a:t>
            </a:r>
            <a:r>
              <a:rPr kumimoji="1" lang="en-US" altLang="zh-CN" sz="2800" dirty="0" err="1">
                <a:solidFill>
                  <a:schemeClr val="tx2"/>
                </a:solidFill>
                <a:latin typeface="Times New Roman" pitchFamily="18" charset="0"/>
                <a:ea typeface="黑体" pitchFamily="49" charset="-122"/>
              </a:rPr>
              <a:t>mol</a:t>
            </a:r>
            <a:r>
              <a:rPr kumimoji="1" lang="en-US" altLang="zh-CN" sz="2800" dirty="0">
                <a:solidFill>
                  <a:schemeClr val="tx2"/>
                </a:solidFill>
                <a:latin typeface="Times New Roman" pitchFamily="18" charset="0"/>
                <a:ea typeface="黑体" pitchFamily="49" charset="-122"/>
              </a:rPr>
              <a:t>/L</a:t>
            </a:r>
            <a:r>
              <a:rPr kumimoji="1" lang="en-US" altLang="zh-CN" dirty="0">
                <a:solidFill>
                  <a:schemeClr val="tx2"/>
                </a:solidFill>
                <a:latin typeface="Times New Roman" pitchFamily="18" charset="0"/>
                <a:ea typeface="黑体" pitchFamily="49" charset="-122"/>
              </a:rPr>
              <a:t> </a:t>
            </a:r>
            <a:r>
              <a:rPr kumimoji="1" lang="zh-CN" altLang="en-US" sz="2800" dirty="0">
                <a:solidFill>
                  <a:schemeClr val="tx2"/>
                </a:solidFill>
                <a:latin typeface="Times New Roman" pitchFamily="18" charset="0"/>
                <a:ea typeface="黑体" pitchFamily="49" charset="-122"/>
              </a:rPr>
              <a:t>。</a:t>
            </a:r>
          </a:p>
          <a:p>
            <a:pPr marL="990600" lvl="1" indent="-533400" eaLnBrk="1" hangingPunct="1">
              <a:lnSpc>
                <a:spcPct val="130000"/>
              </a:lnSpc>
              <a:spcBef>
                <a:spcPct val="20000"/>
              </a:spcBef>
              <a:buClr>
                <a:schemeClr val="folHlink"/>
              </a:buClr>
              <a:buSzPct val="60000"/>
              <a:defRPr/>
            </a:pPr>
            <a:r>
              <a:rPr kumimoji="1" lang="zh-CN" altLang="en-US" sz="2800" b="1" dirty="0">
                <a:effectLst>
                  <a:outerShdw blurRad="38100" dist="38100" dir="2700000" algn="tl">
                    <a:srgbClr val="C0C0C0"/>
                  </a:outerShdw>
                </a:effectLst>
                <a:latin typeface="Times New Roman" pitchFamily="18" charset="0"/>
                <a:ea typeface="黑体" pitchFamily="49" charset="-122"/>
              </a:rPr>
              <a:t>            当反应速度为最大反应速度一半时</a:t>
            </a:r>
          </a:p>
        </p:txBody>
      </p:sp>
      <p:grpSp>
        <p:nvGrpSpPr>
          <p:cNvPr id="2" name="Group 4">
            <a:extLst>
              <a:ext uri="{FF2B5EF4-FFF2-40B4-BE49-F238E27FC236}">
                <a16:creationId xmlns:a16="http://schemas.microsoft.com/office/drawing/2014/main" id="{0905C994-FEBD-479E-BC74-B59129A80EBB}"/>
              </a:ext>
            </a:extLst>
          </p:cNvPr>
          <p:cNvGrpSpPr>
            <a:grpSpLocks/>
          </p:cNvGrpSpPr>
          <p:nvPr/>
        </p:nvGrpSpPr>
        <p:grpSpPr bwMode="auto">
          <a:xfrm>
            <a:off x="1847850" y="3213100"/>
            <a:ext cx="4129088" cy="3422650"/>
            <a:chOff x="204" y="1162"/>
            <a:chExt cx="2601" cy="2156"/>
          </a:xfrm>
        </p:grpSpPr>
        <p:sp>
          <p:nvSpPr>
            <p:cNvPr id="221200" name="Freeform 5">
              <a:extLst>
                <a:ext uri="{FF2B5EF4-FFF2-40B4-BE49-F238E27FC236}">
                  <a16:creationId xmlns:a16="http://schemas.microsoft.com/office/drawing/2014/main" id="{7657F72C-4286-47F9-BE12-95D494BA124D}"/>
                </a:ext>
              </a:extLst>
            </p:cNvPr>
            <p:cNvSpPr>
              <a:spLocks/>
            </p:cNvSpPr>
            <p:nvPr/>
          </p:nvSpPr>
          <p:spPr bwMode="auto">
            <a:xfrm>
              <a:off x="997" y="1842"/>
              <a:ext cx="1510" cy="954"/>
            </a:xfrm>
            <a:custGeom>
              <a:avLst/>
              <a:gdLst>
                <a:gd name="T0" fmla="*/ 0 w 1344"/>
                <a:gd name="T1" fmla="*/ 4344805 h 864"/>
                <a:gd name="T2" fmla="*/ 6471613 w 1344"/>
                <a:gd name="T3" fmla="*/ 722594 h 864"/>
                <a:gd name="T4" fmla="*/ 30086756 w 1344"/>
                <a:gd name="T5" fmla="*/ 0 h 864"/>
                <a:gd name="T6" fmla="*/ 0 60000 65536"/>
                <a:gd name="T7" fmla="*/ 0 60000 65536"/>
                <a:gd name="T8" fmla="*/ 0 60000 65536"/>
                <a:gd name="T9" fmla="*/ 0 w 1344"/>
                <a:gd name="T10" fmla="*/ 0 h 864"/>
                <a:gd name="T11" fmla="*/ 1344 w 1344"/>
                <a:gd name="T12" fmla="*/ 864 h 864"/>
              </a:gdLst>
              <a:ahLst/>
              <a:cxnLst>
                <a:cxn ang="T6">
                  <a:pos x="T0" y="T1"/>
                </a:cxn>
                <a:cxn ang="T7">
                  <a:pos x="T2" y="T3"/>
                </a:cxn>
                <a:cxn ang="T8">
                  <a:pos x="T4" y="T5"/>
                </a:cxn>
              </a:cxnLst>
              <a:rect l="T9" t="T10" r="T11" b="T12"/>
              <a:pathLst>
                <a:path w="1344" h="864">
                  <a:moveTo>
                    <a:pt x="0" y="864"/>
                  </a:moveTo>
                  <a:cubicBezTo>
                    <a:pt x="32" y="576"/>
                    <a:pt x="64" y="288"/>
                    <a:pt x="288" y="144"/>
                  </a:cubicBezTo>
                  <a:cubicBezTo>
                    <a:pt x="512" y="0"/>
                    <a:pt x="1176" y="24"/>
                    <a:pt x="1344" y="0"/>
                  </a:cubicBezTo>
                </a:path>
              </a:pathLst>
            </a:custGeom>
            <a:noFill/>
            <a:ln w="38100">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1201" name="Line 6">
              <a:extLst>
                <a:ext uri="{FF2B5EF4-FFF2-40B4-BE49-F238E27FC236}">
                  <a16:creationId xmlns:a16="http://schemas.microsoft.com/office/drawing/2014/main" id="{C08B327D-6221-47A9-AABE-3A2D50BB575A}"/>
                </a:ext>
              </a:extLst>
            </p:cNvPr>
            <p:cNvSpPr>
              <a:spLocks noChangeShapeType="1"/>
            </p:cNvSpPr>
            <p:nvPr/>
          </p:nvSpPr>
          <p:spPr bwMode="auto">
            <a:xfrm>
              <a:off x="1022" y="1782"/>
              <a:ext cx="1495"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6663" name="Text Box 7">
              <a:extLst>
                <a:ext uri="{FF2B5EF4-FFF2-40B4-BE49-F238E27FC236}">
                  <a16:creationId xmlns:a16="http://schemas.microsoft.com/office/drawing/2014/main" id="{29C846BC-0F22-49C6-8041-ACBFE2EED1DD}"/>
                </a:ext>
              </a:extLst>
            </p:cNvPr>
            <p:cNvSpPr txBox="1">
              <a:spLocks noChangeArrowheads="1"/>
            </p:cNvSpPr>
            <p:nvPr/>
          </p:nvSpPr>
          <p:spPr bwMode="auto">
            <a:xfrm>
              <a:off x="302" y="1579"/>
              <a:ext cx="557" cy="300"/>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effectLst>
                    <a:outerShdw blurRad="38100" dist="38100" dir="2700000" algn="tl">
                      <a:srgbClr val="C0C0C0"/>
                    </a:outerShdw>
                  </a:effectLst>
                  <a:latin typeface="Times New Roman" pitchFamily="18" charset="0"/>
                  <a:ea typeface="黑体" pitchFamily="49" charset="-122"/>
                </a:rPr>
                <a:t>V</a:t>
              </a:r>
              <a:r>
                <a:rPr kumimoji="1" lang="en-US" altLang="zh-CN" sz="2800" b="1" baseline="-25000">
                  <a:effectLst>
                    <a:outerShdw blurRad="38100" dist="38100" dir="2700000" algn="tl">
                      <a:srgbClr val="C0C0C0"/>
                    </a:outerShdw>
                  </a:effectLst>
                  <a:latin typeface="Times New Roman" pitchFamily="18" charset="0"/>
                  <a:ea typeface="黑体" pitchFamily="49" charset="-122"/>
                </a:rPr>
                <a:t>max</a:t>
              </a:r>
            </a:p>
          </p:txBody>
        </p:sp>
        <p:sp>
          <p:nvSpPr>
            <p:cNvPr id="221203" name="Line 8">
              <a:extLst>
                <a:ext uri="{FF2B5EF4-FFF2-40B4-BE49-F238E27FC236}">
                  <a16:creationId xmlns:a16="http://schemas.microsoft.com/office/drawing/2014/main" id="{1681150B-17D0-4CF5-BE86-C27E99240892}"/>
                </a:ext>
              </a:extLst>
            </p:cNvPr>
            <p:cNvSpPr>
              <a:spLocks noChangeShapeType="1"/>
            </p:cNvSpPr>
            <p:nvPr/>
          </p:nvSpPr>
          <p:spPr bwMode="auto">
            <a:xfrm>
              <a:off x="494" y="2805"/>
              <a:ext cx="219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1204" name="Line 9">
              <a:extLst>
                <a:ext uri="{FF2B5EF4-FFF2-40B4-BE49-F238E27FC236}">
                  <a16:creationId xmlns:a16="http://schemas.microsoft.com/office/drawing/2014/main" id="{F9E50C80-C862-4077-8155-77F25DC5D4EF}"/>
                </a:ext>
              </a:extLst>
            </p:cNvPr>
            <p:cNvSpPr>
              <a:spLocks noChangeShapeType="1"/>
            </p:cNvSpPr>
            <p:nvPr/>
          </p:nvSpPr>
          <p:spPr bwMode="auto">
            <a:xfrm flipV="1">
              <a:off x="988" y="1213"/>
              <a:ext cx="0" cy="210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6666" name="Text Box 10">
              <a:extLst>
                <a:ext uri="{FF2B5EF4-FFF2-40B4-BE49-F238E27FC236}">
                  <a16:creationId xmlns:a16="http://schemas.microsoft.com/office/drawing/2014/main" id="{646F5048-5AAC-4F9B-9B0F-EF70DDBEEA45}"/>
                </a:ext>
              </a:extLst>
            </p:cNvPr>
            <p:cNvSpPr txBox="1">
              <a:spLocks noChangeArrowheads="1"/>
            </p:cNvSpPr>
            <p:nvPr/>
          </p:nvSpPr>
          <p:spPr bwMode="auto">
            <a:xfrm>
              <a:off x="657" y="1162"/>
              <a:ext cx="278" cy="300"/>
            </a:xfrm>
            <a:prstGeom prst="rect">
              <a:avLst/>
            </a:prstGeom>
            <a:noFill/>
            <a:ln w="9525">
              <a:noFill/>
              <a:miter lim="800000"/>
              <a:headEnd/>
              <a:tailEnd/>
            </a:ln>
            <a:effec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V</a:t>
              </a:r>
            </a:p>
          </p:txBody>
        </p:sp>
        <p:sp>
          <p:nvSpPr>
            <p:cNvPr id="966667" name="Text Box 11">
              <a:extLst>
                <a:ext uri="{FF2B5EF4-FFF2-40B4-BE49-F238E27FC236}">
                  <a16:creationId xmlns:a16="http://schemas.microsoft.com/office/drawing/2014/main" id="{A523F050-6DC0-4F7B-905A-CD4D3B951C16}"/>
                </a:ext>
              </a:extLst>
            </p:cNvPr>
            <p:cNvSpPr txBox="1">
              <a:spLocks noChangeArrowheads="1"/>
            </p:cNvSpPr>
            <p:nvPr/>
          </p:nvSpPr>
          <p:spPr bwMode="auto">
            <a:xfrm>
              <a:off x="2414" y="2829"/>
              <a:ext cx="391" cy="300"/>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effectLst>
                    <a:outerShdw blurRad="38100" dist="38100" dir="2700000" algn="tl">
                      <a:srgbClr val="C0C0C0"/>
                    </a:outerShdw>
                  </a:effectLst>
                  <a:latin typeface="Times New Roman" pitchFamily="18" charset="0"/>
                  <a:ea typeface="黑体" pitchFamily="49" charset="-122"/>
                </a:rPr>
                <a:t>[S]</a:t>
              </a:r>
            </a:p>
          </p:txBody>
        </p:sp>
        <p:sp>
          <p:nvSpPr>
            <p:cNvPr id="966668" name="Text Box 12">
              <a:extLst>
                <a:ext uri="{FF2B5EF4-FFF2-40B4-BE49-F238E27FC236}">
                  <a16:creationId xmlns:a16="http://schemas.microsoft.com/office/drawing/2014/main" id="{3E0DEEFE-E01E-4669-B4F3-D9A9432A836B}"/>
                </a:ext>
              </a:extLst>
            </p:cNvPr>
            <p:cNvSpPr txBox="1">
              <a:spLocks noChangeArrowheads="1"/>
            </p:cNvSpPr>
            <p:nvPr/>
          </p:nvSpPr>
          <p:spPr bwMode="auto">
            <a:xfrm>
              <a:off x="1020" y="2840"/>
              <a:ext cx="417" cy="300"/>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effectLst>
                    <a:outerShdw blurRad="38100" dist="38100" dir="2700000" algn="tl">
                      <a:srgbClr val="C0C0C0"/>
                    </a:outerShdw>
                  </a:effectLst>
                  <a:latin typeface="Times New Roman" pitchFamily="18" charset="0"/>
                  <a:ea typeface="黑体" pitchFamily="49" charset="-122"/>
                </a:rPr>
                <a:t>K</a:t>
              </a:r>
              <a:r>
                <a:rPr kumimoji="1" lang="en-US" altLang="zh-CN" sz="2800" b="1" baseline="-25000">
                  <a:effectLst>
                    <a:outerShdw blurRad="38100" dist="38100" dir="2700000" algn="tl">
                      <a:srgbClr val="C0C0C0"/>
                    </a:outerShdw>
                  </a:effectLst>
                  <a:latin typeface="Times New Roman" pitchFamily="18" charset="0"/>
                  <a:ea typeface="黑体" pitchFamily="49" charset="-122"/>
                </a:rPr>
                <a:t>m</a:t>
              </a:r>
            </a:p>
          </p:txBody>
        </p:sp>
        <p:sp>
          <p:nvSpPr>
            <p:cNvPr id="221208" name="Line 13">
              <a:extLst>
                <a:ext uri="{FF2B5EF4-FFF2-40B4-BE49-F238E27FC236}">
                  <a16:creationId xmlns:a16="http://schemas.microsoft.com/office/drawing/2014/main" id="{82230287-4231-48C8-8FB7-1F883F060478}"/>
                </a:ext>
              </a:extLst>
            </p:cNvPr>
            <p:cNvSpPr>
              <a:spLocks noChangeShapeType="1"/>
            </p:cNvSpPr>
            <p:nvPr/>
          </p:nvSpPr>
          <p:spPr bwMode="auto">
            <a:xfrm>
              <a:off x="975" y="2296"/>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6670" name="Text Box 14">
              <a:extLst>
                <a:ext uri="{FF2B5EF4-FFF2-40B4-BE49-F238E27FC236}">
                  <a16:creationId xmlns:a16="http://schemas.microsoft.com/office/drawing/2014/main" id="{164E13D6-4DBD-4610-B063-FB05BF9AB7D7}"/>
                </a:ext>
              </a:extLst>
            </p:cNvPr>
            <p:cNvSpPr txBox="1">
              <a:spLocks noChangeArrowheads="1"/>
            </p:cNvSpPr>
            <p:nvPr/>
          </p:nvSpPr>
          <p:spPr bwMode="auto">
            <a:xfrm>
              <a:off x="204" y="2160"/>
              <a:ext cx="772" cy="300"/>
            </a:xfrm>
            <a:prstGeom prst="rect">
              <a:avLst/>
            </a:prstGeom>
            <a:noFill/>
            <a:ln w="9525">
              <a:noFill/>
              <a:miter lim="800000"/>
              <a:headEnd/>
              <a:tailEnd/>
            </a:ln>
            <a:effectLst/>
          </p:spPr>
          <p:txBody>
            <a:bodyPr>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800" b="1">
                  <a:effectLst>
                    <a:outerShdw blurRad="38100" dist="38100" dir="2700000" algn="tl">
                      <a:srgbClr val="C0C0C0"/>
                    </a:outerShdw>
                  </a:effectLst>
                  <a:latin typeface="Times New Roman" pitchFamily="18" charset="0"/>
                  <a:ea typeface="黑体" pitchFamily="49" charset="-122"/>
                </a:rPr>
                <a:t>V</a:t>
              </a:r>
              <a:r>
                <a:rPr kumimoji="1" lang="en-US" altLang="zh-CN" sz="2800" b="1" baseline="-25000">
                  <a:effectLst>
                    <a:outerShdw blurRad="38100" dist="38100" dir="2700000" algn="tl">
                      <a:srgbClr val="C0C0C0"/>
                    </a:outerShdw>
                  </a:effectLst>
                  <a:latin typeface="Times New Roman" pitchFamily="18" charset="0"/>
                  <a:ea typeface="黑体" pitchFamily="49" charset="-122"/>
                </a:rPr>
                <a:t>max</a:t>
              </a:r>
              <a:r>
                <a:rPr kumimoji="1" lang="en-US" altLang="zh-CN" sz="2800" b="1">
                  <a:effectLst>
                    <a:outerShdw blurRad="38100" dist="38100" dir="2700000" algn="tl">
                      <a:srgbClr val="C0C0C0"/>
                    </a:outerShdw>
                  </a:effectLst>
                  <a:latin typeface="Times New Roman" pitchFamily="18" charset="0"/>
                  <a:ea typeface="黑体" pitchFamily="49" charset="-122"/>
                </a:rPr>
                <a:t>/2    </a:t>
              </a:r>
            </a:p>
          </p:txBody>
        </p:sp>
        <p:sp>
          <p:nvSpPr>
            <p:cNvPr id="221210" name="Line 15">
              <a:extLst>
                <a:ext uri="{FF2B5EF4-FFF2-40B4-BE49-F238E27FC236}">
                  <a16:creationId xmlns:a16="http://schemas.microsoft.com/office/drawing/2014/main" id="{D3D1078F-542B-4CA0-B0E0-A9CF82085A55}"/>
                </a:ext>
              </a:extLst>
            </p:cNvPr>
            <p:cNvSpPr>
              <a:spLocks noChangeShapeType="1"/>
            </p:cNvSpPr>
            <p:nvPr/>
          </p:nvSpPr>
          <p:spPr bwMode="auto">
            <a:xfrm>
              <a:off x="1106" y="2296"/>
              <a:ext cx="0"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6">
            <a:extLst>
              <a:ext uri="{FF2B5EF4-FFF2-40B4-BE49-F238E27FC236}">
                <a16:creationId xmlns:a16="http://schemas.microsoft.com/office/drawing/2014/main" id="{02C965D1-C618-4F4C-99D3-870291DEF2D3}"/>
              </a:ext>
            </a:extLst>
          </p:cNvPr>
          <p:cNvGrpSpPr>
            <a:grpSpLocks/>
          </p:cNvGrpSpPr>
          <p:nvPr/>
        </p:nvGrpSpPr>
        <p:grpSpPr bwMode="auto">
          <a:xfrm>
            <a:off x="6324600" y="3886203"/>
            <a:ext cx="3810000" cy="1193801"/>
            <a:chOff x="2448" y="2314"/>
            <a:chExt cx="1968" cy="752"/>
          </a:xfrm>
        </p:grpSpPr>
        <p:sp>
          <p:nvSpPr>
            <p:cNvPr id="221193" name="Line 17">
              <a:extLst>
                <a:ext uri="{FF2B5EF4-FFF2-40B4-BE49-F238E27FC236}">
                  <a16:creationId xmlns:a16="http://schemas.microsoft.com/office/drawing/2014/main" id="{9E870AA7-C360-4B60-8046-28545211917D}"/>
                </a:ext>
              </a:extLst>
            </p:cNvPr>
            <p:cNvSpPr>
              <a:spLocks noChangeShapeType="1"/>
            </p:cNvSpPr>
            <p:nvPr/>
          </p:nvSpPr>
          <p:spPr bwMode="auto">
            <a:xfrm flipV="1">
              <a:off x="2496" y="2688"/>
              <a:ext cx="72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221194" name="Text Box 18">
              <a:extLst>
                <a:ext uri="{FF2B5EF4-FFF2-40B4-BE49-F238E27FC236}">
                  <a16:creationId xmlns:a16="http://schemas.microsoft.com/office/drawing/2014/main" id="{C62FBCEE-BBB1-4C73-BA76-520B7EE56FAF}"/>
                </a:ext>
              </a:extLst>
            </p:cNvPr>
            <p:cNvSpPr txBox="1">
              <a:spLocks noChangeArrowheads="1"/>
            </p:cNvSpPr>
            <p:nvPr/>
          </p:nvSpPr>
          <p:spPr bwMode="auto">
            <a:xfrm>
              <a:off x="2705" y="2662"/>
              <a:ext cx="20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b="1">
                  <a:latin typeface="Times New Roman" panose="02020603050405020304" pitchFamily="18" charset="0"/>
                  <a:ea typeface="黑体" panose="02010609060101010101" pitchFamily="49" charset="-122"/>
                </a:rPr>
                <a:t>2</a:t>
              </a:r>
            </a:p>
          </p:txBody>
        </p:sp>
        <p:sp>
          <p:nvSpPr>
            <p:cNvPr id="221195" name="Text Box 19">
              <a:extLst>
                <a:ext uri="{FF2B5EF4-FFF2-40B4-BE49-F238E27FC236}">
                  <a16:creationId xmlns:a16="http://schemas.microsoft.com/office/drawing/2014/main" id="{1F30C25A-B814-4CD1-9B05-201AE6B9214F}"/>
                </a:ext>
              </a:extLst>
            </p:cNvPr>
            <p:cNvSpPr txBox="1">
              <a:spLocks noChangeArrowheads="1"/>
            </p:cNvSpPr>
            <p:nvPr/>
          </p:nvSpPr>
          <p:spPr bwMode="auto">
            <a:xfrm>
              <a:off x="3151" y="2525"/>
              <a:ext cx="30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b="1">
                  <a:latin typeface="Times New Roman" panose="02020603050405020304" pitchFamily="18" charset="0"/>
                  <a:ea typeface="黑体" panose="02010609060101010101" pitchFamily="49" charset="-122"/>
                </a:rPr>
                <a:t>＝</a:t>
              </a:r>
            </a:p>
          </p:txBody>
        </p:sp>
        <p:sp>
          <p:nvSpPr>
            <p:cNvPr id="221196" name="Line 20">
              <a:extLst>
                <a:ext uri="{FF2B5EF4-FFF2-40B4-BE49-F238E27FC236}">
                  <a16:creationId xmlns:a16="http://schemas.microsoft.com/office/drawing/2014/main" id="{FD029F2B-4B69-462D-9D74-6F5766AEA7DC}"/>
                </a:ext>
              </a:extLst>
            </p:cNvPr>
            <p:cNvSpPr>
              <a:spLocks noChangeShapeType="1"/>
            </p:cNvSpPr>
            <p:nvPr/>
          </p:nvSpPr>
          <p:spPr bwMode="auto">
            <a:xfrm>
              <a:off x="3408" y="2688"/>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221197" name="Text Box 21">
              <a:extLst>
                <a:ext uri="{FF2B5EF4-FFF2-40B4-BE49-F238E27FC236}">
                  <a16:creationId xmlns:a16="http://schemas.microsoft.com/office/drawing/2014/main" id="{DEEF6F4D-CE57-4C66-BFB7-211174311768}"/>
                </a:ext>
              </a:extLst>
            </p:cNvPr>
            <p:cNvSpPr txBox="1">
              <a:spLocks noChangeArrowheads="1"/>
            </p:cNvSpPr>
            <p:nvPr/>
          </p:nvSpPr>
          <p:spPr bwMode="auto">
            <a:xfrm>
              <a:off x="3443" y="2698"/>
              <a:ext cx="84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b="1">
                  <a:latin typeface="Times New Roman" panose="02020603050405020304" pitchFamily="18" charset="0"/>
                  <a:ea typeface="黑体" panose="02010609060101010101" pitchFamily="49" charset="-122"/>
                </a:rPr>
                <a:t>K</a:t>
              </a:r>
              <a:r>
                <a:rPr kumimoji="1" lang="en-US" altLang="zh-CN" b="1" baseline="-25000">
                  <a:latin typeface="Times New Roman" panose="02020603050405020304" pitchFamily="18" charset="0"/>
                  <a:ea typeface="黑体" panose="02010609060101010101" pitchFamily="49" charset="-122"/>
                </a:rPr>
                <a:t>m </a:t>
              </a:r>
              <a:r>
                <a:rPr kumimoji="1" lang="en-US" altLang="zh-CN" b="1">
                  <a:latin typeface="Times New Roman" panose="02020603050405020304" pitchFamily="18" charset="0"/>
                  <a:ea typeface="黑体" panose="02010609060101010101" pitchFamily="49" charset="-122"/>
                </a:rPr>
                <a:t>+ [S]</a:t>
              </a:r>
            </a:p>
          </p:txBody>
        </p:sp>
        <p:sp>
          <p:nvSpPr>
            <p:cNvPr id="221198" name="Text Box 22">
              <a:extLst>
                <a:ext uri="{FF2B5EF4-FFF2-40B4-BE49-F238E27FC236}">
                  <a16:creationId xmlns:a16="http://schemas.microsoft.com/office/drawing/2014/main" id="{B1E7724F-C4B1-468A-B962-3DEDDF1B8363}"/>
                </a:ext>
              </a:extLst>
            </p:cNvPr>
            <p:cNvSpPr txBox="1">
              <a:spLocks noChangeArrowheads="1"/>
            </p:cNvSpPr>
            <p:nvPr/>
          </p:nvSpPr>
          <p:spPr bwMode="auto">
            <a:xfrm>
              <a:off x="2448" y="2361"/>
              <a:ext cx="556"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b="1">
                  <a:latin typeface="Times New Roman" panose="02020603050405020304" pitchFamily="18" charset="0"/>
                  <a:ea typeface="黑体" panose="02010609060101010101" pitchFamily="49" charset="-122"/>
                </a:rPr>
                <a:t> V</a:t>
              </a:r>
              <a:r>
                <a:rPr kumimoji="1" lang="en-US" altLang="zh-CN" b="1" baseline="-25000">
                  <a:latin typeface="Times New Roman" panose="02020603050405020304" pitchFamily="18" charset="0"/>
                  <a:ea typeface="黑体" panose="02010609060101010101" pitchFamily="49" charset="-122"/>
                </a:rPr>
                <a:t>max</a:t>
              </a:r>
              <a:endParaRPr kumimoji="1" lang="en-US" altLang="zh-CN" b="1">
                <a:latin typeface="Times New Roman" panose="02020603050405020304" pitchFamily="18" charset="0"/>
                <a:ea typeface="黑体" panose="02010609060101010101" pitchFamily="49" charset="-122"/>
              </a:endParaRPr>
            </a:p>
          </p:txBody>
        </p:sp>
        <p:sp>
          <p:nvSpPr>
            <p:cNvPr id="221199" name="Text Box 23">
              <a:extLst>
                <a:ext uri="{FF2B5EF4-FFF2-40B4-BE49-F238E27FC236}">
                  <a16:creationId xmlns:a16="http://schemas.microsoft.com/office/drawing/2014/main" id="{9DD79ECA-F417-45D9-BBBA-1626DC1D70CB}"/>
                </a:ext>
              </a:extLst>
            </p:cNvPr>
            <p:cNvSpPr txBox="1">
              <a:spLocks noChangeArrowheads="1"/>
            </p:cNvSpPr>
            <p:nvPr/>
          </p:nvSpPr>
          <p:spPr bwMode="auto">
            <a:xfrm>
              <a:off x="3408" y="2314"/>
              <a:ext cx="80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b="1">
                  <a:latin typeface="Times New Roman" panose="02020603050405020304" pitchFamily="18" charset="0"/>
                  <a:ea typeface="黑体" panose="02010609060101010101" pitchFamily="49" charset="-122"/>
                </a:rPr>
                <a:t> V</a:t>
              </a:r>
              <a:r>
                <a:rPr kumimoji="1" lang="en-US" altLang="zh-CN" b="1" baseline="-25000">
                  <a:latin typeface="Times New Roman" panose="02020603050405020304" pitchFamily="18" charset="0"/>
                  <a:ea typeface="黑体" panose="02010609060101010101" pitchFamily="49" charset="-122"/>
                </a:rPr>
                <a:t>max</a:t>
              </a:r>
              <a:r>
                <a:rPr kumimoji="1" lang="en-US" altLang="zh-CN" b="1">
                  <a:latin typeface="Times New Roman" panose="02020603050405020304" pitchFamily="18" charset="0"/>
                  <a:ea typeface="黑体" panose="02010609060101010101" pitchFamily="49" charset="-122"/>
                </a:rPr>
                <a:t>[S]</a:t>
              </a:r>
              <a:endParaRPr kumimoji="1" lang="en-US" altLang="zh-CN" sz="2800" b="1">
                <a:latin typeface="Times New Roman" panose="02020603050405020304" pitchFamily="18" charset="0"/>
                <a:ea typeface="黑体" panose="02010609060101010101" pitchFamily="49" charset="-122"/>
              </a:endParaRPr>
            </a:p>
          </p:txBody>
        </p:sp>
      </p:grpSp>
      <p:sp>
        <p:nvSpPr>
          <p:cNvPr id="966680" name="AutoShape 24">
            <a:extLst>
              <a:ext uri="{FF2B5EF4-FFF2-40B4-BE49-F238E27FC236}">
                <a16:creationId xmlns:a16="http://schemas.microsoft.com/office/drawing/2014/main" id="{DE359D97-B949-404D-8763-3EEAEC80ADE2}"/>
              </a:ext>
            </a:extLst>
          </p:cNvPr>
          <p:cNvSpPr>
            <a:spLocks noChangeArrowheads="1"/>
          </p:cNvSpPr>
          <p:nvPr/>
        </p:nvSpPr>
        <p:spPr bwMode="auto">
          <a:xfrm>
            <a:off x="6766471" y="5791200"/>
            <a:ext cx="640259" cy="2286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00"/>
          </a:solidFill>
          <a:ln w="9525">
            <a:solidFill>
              <a:schemeClr val="tx1"/>
            </a:solidFill>
            <a:miter lim="800000"/>
            <a:headEnd/>
            <a:tailEnd/>
          </a:ln>
        </p:spPr>
        <p:txBody>
          <a:bodyPr rot="10800000" vert="eaVert" anchor="ctr">
            <a:spAutoFit/>
          </a:bodyPr>
          <a:lstStyle/>
          <a:p>
            <a:endParaRPr lang="zh-CN" altLang="en-US"/>
          </a:p>
        </p:txBody>
      </p:sp>
      <p:sp>
        <p:nvSpPr>
          <p:cNvPr id="966681" name="Rectangle 25">
            <a:extLst>
              <a:ext uri="{FF2B5EF4-FFF2-40B4-BE49-F238E27FC236}">
                <a16:creationId xmlns:a16="http://schemas.microsoft.com/office/drawing/2014/main" id="{60621D0F-3BB5-431D-8533-9B8ACDCF434F}"/>
              </a:ext>
            </a:extLst>
          </p:cNvPr>
          <p:cNvSpPr>
            <a:spLocks noChangeArrowheads="1"/>
          </p:cNvSpPr>
          <p:nvPr/>
        </p:nvSpPr>
        <p:spPr bwMode="auto">
          <a:xfrm>
            <a:off x="7992100" y="5638801"/>
            <a:ext cx="1643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1">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ea typeface="黑体" panose="02010609060101010101" pitchFamily="49" charset="-122"/>
              </a:rPr>
              <a:t>K</a:t>
            </a:r>
            <a:r>
              <a:rPr kumimoji="1" lang="en-US" altLang="zh-CN" b="1" baseline="-25000">
                <a:latin typeface="Times New Roman" panose="02020603050405020304" pitchFamily="18" charset="0"/>
                <a:ea typeface="黑体" panose="02010609060101010101" pitchFamily="49" charset="-122"/>
              </a:rPr>
              <a:t>m</a:t>
            </a:r>
            <a:r>
              <a:rPr kumimoji="1" lang="zh-CN" altLang="en-US" b="1">
                <a:latin typeface="Times New Roman" panose="02020603050405020304" pitchFamily="18" charset="0"/>
                <a:ea typeface="黑体" panose="02010609060101010101" pitchFamily="49" charset="-122"/>
              </a:rPr>
              <a:t>＝</a:t>
            </a:r>
            <a:r>
              <a:rPr kumimoji="1" lang="en-US" altLang="zh-CN" b="1">
                <a:latin typeface="Times New Roman" panose="02020603050405020304" pitchFamily="18" charset="0"/>
                <a:ea typeface="黑体" panose="02010609060101010101" pitchFamily="49" charset="-122"/>
              </a:rPr>
              <a:t>[S]</a:t>
            </a:r>
          </a:p>
        </p:txBody>
      </p:sp>
      <p:sp>
        <p:nvSpPr>
          <p:cNvPr id="221192" name="AutoShape 26">
            <a:extLst>
              <a:ext uri="{FF2B5EF4-FFF2-40B4-BE49-F238E27FC236}">
                <a16:creationId xmlns:a16="http://schemas.microsoft.com/office/drawing/2014/main" id="{E49C0600-75B4-4526-B891-6C1DD2DC5D8A}"/>
              </a:ext>
            </a:extLst>
          </p:cNvPr>
          <p:cNvSpPr>
            <a:spLocks noChangeArrowheads="1"/>
          </p:cNvSpPr>
          <p:nvPr/>
        </p:nvSpPr>
        <p:spPr bwMode="auto">
          <a:xfrm>
            <a:off x="1556578" y="300038"/>
            <a:ext cx="8964488" cy="647700"/>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b="1" dirty="0">
                <a:solidFill>
                  <a:schemeClr val="bg1"/>
                </a:solidFill>
                <a:latin typeface="Times New Roman" panose="02020603050405020304" pitchFamily="18" charset="0"/>
                <a:ea typeface="黑体" panose="02010609060101010101" pitchFamily="49" charset="-122"/>
              </a:rPr>
              <a:t>（二）</a:t>
            </a:r>
            <a:r>
              <a:rPr kumimoji="1" lang="en-US" altLang="zh-CN" b="1" dirty="0">
                <a:solidFill>
                  <a:schemeClr val="bg1"/>
                </a:solidFill>
                <a:latin typeface="Times New Roman" panose="02020603050405020304" pitchFamily="18" charset="0"/>
                <a:ea typeface="黑体" panose="02010609060101010101" pitchFamily="49" charset="-122"/>
              </a:rPr>
              <a:t>Km</a:t>
            </a:r>
            <a:r>
              <a:rPr kumimoji="1" lang="zh-CN" altLang="en-US" b="1" dirty="0">
                <a:solidFill>
                  <a:schemeClr val="bg1"/>
                </a:solidFill>
                <a:latin typeface="Times New Roman" panose="02020603050405020304" pitchFamily="18" charset="0"/>
                <a:ea typeface="黑体" panose="02010609060101010101" pitchFamily="49" charset="-122"/>
              </a:rPr>
              <a:t>与</a:t>
            </a:r>
            <a:r>
              <a:rPr kumimoji="1" lang="en-US" altLang="zh-CN" b="1" dirty="0">
                <a:solidFill>
                  <a:schemeClr val="bg1"/>
                </a:solidFill>
                <a:latin typeface="Times New Roman" panose="02020603050405020304" pitchFamily="18" charset="0"/>
                <a:ea typeface="黑体" panose="02010609060101010101" pitchFamily="49" charset="-122"/>
              </a:rPr>
              <a:t>Vmax</a:t>
            </a:r>
            <a:r>
              <a:rPr kumimoji="1" lang="zh-CN" altLang="en-US" b="1" dirty="0">
                <a:solidFill>
                  <a:schemeClr val="bg1"/>
                </a:solidFill>
                <a:latin typeface="Times New Roman" panose="02020603050405020304" pitchFamily="18" charset="0"/>
                <a:ea typeface="黑体" panose="02010609060101010101" pitchFamily="49" charset="-122"/>
              </a:rPr>
              <a:t>是重要的酶促反应动力学参数</a:t>
            </a:r>
            <a:endParaRPr kumimoji="1" lang="zh-CN" altLang="en-US" sz="4000" b="1" dirty="0">
              <a:solidFill>
                <a:schemeClr val="bg1"/>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66659">
                                            <p:txEl>
                                              <p:pRg st="1" end="1"/>
                                            </p:txEl>
                                          </p:spTgt>
                                        </p:tgtEl>
                                        <p:attrNameLst>
                                          <p:attrName>style.visibility</p:attrName>
                                        </p:attrNameLst>
                                      </p:cBhvr>
                                      <p:to>
                                        <p:strVal val="visible"/>
                                      </p:to>
                                    </p:set>
                                    <p:animEffect transition="in" filter="wipe(left)">
                                      <p:cBhvr>
                                        <p:cTn id="7" dur="1000"/>
                                        <p:tgtEl>
                                          <p:spTgt spid="966659">
                                            <p:txEl>
                                              <p:pRg st="1" end="1"/>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966680"/>
                                        </p:tgtEl>
                                        <p:attrNameLst>
                                          <p:attrName>style.visibility</p:attrName>
                                        </p:attrNameLst>
                                      </p:cBhvr>
                                      <p:to>
                                        <p:strVal val="visible"/>
                                      </p:to>
                                    </p:set>
                                    <p:animEffect transition="in" filter="wipe(left)">
                                      <p:cBhvr>
                                        <p:cTn id="16" dur="500"/>
                                        <p:tgtEl>
                                          <p:spTgt spid="966680"/>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66681"/>
                                        </p:tgtEl>
                                        <p:attrNameLst>
                                          <p:attrName>style.visibility</p:attrName>
                                        </p:attrNameLst>
                                      </p:cBhvr>
                                      <p:to>
                                        <p:strVal val="visible"/>
                                      </p:to>
                                    </p:set>
                                    <p:animEffect transition="in" filter="wipe(left)">
                                      <p:cBhvr>
                                        <p:cTn id="19" dur="500"/>
                                        <p:tgtEl>
                                          <p:spTgt spid="966681"/>
                                        </p:tgtEl>
                                      </p:cBhvr>
                                    </p:animEffect>
                                  </p:childTnLst>
                                </p:cTn>
                              </p:par>
                            </p:childTnLst>
                          </p:cTn>
                        </p:par>
                        <p:par>
                          <p:cTn id="20" fill="hold" nodeType="afterGroup">
                            <p:stCondLst>
                              <p:cond delay="500"/>
                            </p:stCondLst>
                            <p:childTnLst>
                              <p:par>
                                <p:cTn id="21" presetID="17" presetClass="entr" presetSubtype="10"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
                                          </p:val>
                                        </p:tav>
                                        <p:tav tm="100000">
                                          <p:val>
                                            <p:strVal val="#ppt_w"/>
                                          </p:val>
                                        </p:tav>
                                      </p:tavLst>
                                    </p:anim>
                                    <p:anim calcmode="lin" valueType="num">
                                      <p:cBhvr>
                                        <p:cTn id="24"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966659">
                                            <p:txEl>
                                              <p:pRg st="0" end="0"/>
                                            </p:txEl>
                                          </p:spTgt>
                                        </p:tgtEl>
                                        <p:attrNameLst>
                                          <p:attrName>style.visibility</p:attrName>
                                        </p:attrNameLst>
                                      </p:cBhvr>
                                      <p:to>
                                        <p:strVal val="visible"/>
                                      </p:to>
                                    </p:set>
                                    <p:animEffect transition="in" filter="dissolve">
                                      <p:cBhvr>
                                        <p:cTn id="29" dur="500"/>
                                        <p:tgtEl>
                                          <p:spTgt spid="9666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6681"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706" name="Rectangle 2">
            <a:extLst>
              <a:ext uri="{FF2B5EF4-FFF2-40B4-BE49-F238E27FC236}">
                <a16:creationId xmlns:a16="http://schemas.microsoft.com/office/drawing/2014/main" id="{19448FB9-9CAF-4981-B6D7-02F5A4FBBC74}"/>
              </a:ext>
            </a:extLst>
          </p:cNvPr>
          <p:cNvSpPr>
            <a:spLocks noChangeArrowheads="1"/>
          </p:cNvSpPr>
          <p:nvPr/>
        </p:nvSpPr>
        <p:spPr bwMode="auto">
          <a:xfrm>
            <a:off x="947428" y="1268425"/>
            <a:ext cx="10297144" cy="4321150"/>
          </a:xfrm>
          <a:prstGeom prst="rect">
            <a:avLst/>
          </a:prstGeom>
          <a:noFill/>
          <a:ln w="9525">
            <a:noFill/>
            <a:miter lim="800000"/>
            <a:headEnd/>
            <a:tailEnd/>
          </a:ln>
          <a:effectLst/>
        </p:spPr>
        <p:txBody>
          <a:bodyPr/>
          <a:lstStyle/>
          <a:p>
            <a:pPr marL="742950" lvl="1" indent="-285750" eaLnBrk="1" hangingPunct="1">
              <a:lnSpc>
                <a:spcPct val="120000"/>
              </a:lnSpc>
              <a:spcBef>
                <a:spcPct val="20000"/>
              </a:spcBef>
              <a:buClr>
                <a:schemeClr val="folHlink"/>
              </a:buClr>
              <a:buSzPct val="60000"/>
              <a:defRPr/>
            </a:pPr>
            <a:r>
              <a:rPr kumimoji="1" lang="en-US" altLang="zh-CN" sz="3200" dirty="0">
                <a:effectLst>
                  <a:outerShdw blurRad="38100" dist="38100" dir="2700000" algn="tl">
                    <a:srgbClr val="C0C0C0"/>
                  </a:outerShdw>
                </a:effectLst>
                <a:latin typeface="Times New Roman" pitchFamily="18" charset="0"/>
                <a:ea typeface="黑体" pitchFamily="49" charset="-122"/>
              </a:rPr>
              <a:t>② </a:t>
            </a:r>
            <a:r>
              <a:rPr kumimoji="1" lang="en-US" altLang="zh-CN" sz="3200" dirty="0">
                <a:solidFill>
                  <a:schemeClr val="tx2"/>
                </a:solidFill>
                <a:latin typeface="Times New Roman" pitchFamily="18" charset="0"/>
                <a:ea typeface="黑体" pitchFamily="49" charset="-122"/>
              </a:rPr>
              <a:t>K</a:t>
            </a:r>
            <a:r>
              <a:rPr kumimoji="1" lang="en-US" altLang="zh-CN" sz="3200" baseline="-25000" dirty="0">
                <a:solidFill>
                  <a:schemeClr val="tx2"/>
                </a:solidFill>
                <a:latin typeface="Times New Roman" pitchFamily="18" charset="0"/>
                <a:ea typeface="黑体" pitchFamily="49" charset="-122"/>
              </a:rPr>
              <a:t>m</a:t>
            </a:r>
            <a:r>
              <a:rPr kumimoji="1" lang="zh-CN" altLang="en-US" sz="3200" dirty="0">
                <a:solidFill>
                  <a:schemeClr val="tx2"/>
                </a:solidFill>
                <a:latin typeface="Times New Roman" pitchFamily="18" charset="0"/>
                <a:ea typeface="黑体" pitchFamily="49" charset="-122"/>
              </a:rPr>
              <a:t>值是酶的特征性常数</a:t>
            </a:r>
          </a:p>
          <a:p>
            <a:pPr marL="742950" lvl="1" indent="-285750" eaLnBrk="1" hangingPunct="1">
              <a:lnSpc>
                <a:spcPct val="120000"/>
              </a:lnSpc>
              <a:spcBef>
                <a:spcPct val="20000"/>
              </a:spcBef>
              <a:buClr>
                <a:schemeClr val="folHlink"/>
              </a:buClr>
              <a:buSzPct val="60000"/>
              <a:defRPr/>
            </a:pPr>
            <a:r>
              <a:rPr kumimoji="1" lang="zh-CN" altLang="en-US" sz="2800" dirty="0">
                <a:effectLst>
                  <a:outerShdw blurRad="38100" dist="38100" dir="2700000" algn="tl">
                    <a:srgbClr val="C0C0C0"/>
                  </a:outerShdw>
                </a:effectLst>
                <a:latin typeface="Times New Roman" pitchFamily="18" charset="0"/>
                <a:ea typeface="黑体" pitchFamily="49" charset="-122"/>
              </a:rPr>
              <a:t>  </a:t>
            </a:r>
          </a:p>
          <a:p>
            <a:pPr marL="612000" lvl="1" indent="-360000" eaLnBrk="1" hangingPunct="1">
              <a:lnSpc>
                <a:spcPct val="120000"/>
              </a:lnSpc>
              <a:spcBef>
                <a:spcPts val="1200"/>
              </a:spcBef>
              <a:buClr>
                <a:schemeClr val="folHlink"/>
              </a:buClr>
              <a:buSzPct val="60000"/>
              <a:buFont typeface="Wingdings" panose="05000000000000000000" pitchFamily="2" charset="2"/>
              <a:buChar char="Ø"/>
              <a:defRPr/>
            </a:pPr>
            <a:r>
              <a:rPr kumimoji="1" lang="zh-CN" altLang="en-US" sz="2800" dirty="0">
                <a:latin typeface="Times New Roman" pitchFamily="18" charset="0"/>
                <a:ea typeface="黑体" pitchFamily="49" charset="-122"/>
              </a:rPr>
              <a:t>与酶的结构、底物种类、反应环境（如温度、</a:t>
            </a:r>
            <a:r>
              <a:rPr kumimoji="1" lang="en-US" altLang="zh-CN" sz="2800" dirty="0">
                <a:latin typeface="Times New Roman" pitchFamily="18" charset="0"/>
                <a:ea typeface="黑体" pitchFamily="49" charset="-122"/>
              </a:rPr>
              <a:t>pH</a:t>
            </a:r>
            <a:r>
              <a:rPr kumimoji="1" lang="zh-CN" altLang="en-US" sz="2800" dirty="0">
                <a:latin typeface="Times New Roman" pitchFamily="18" charset="0"/>
                <a:ea typeface="黑体" pitchFamily="49" charset="-122"/>
              </a:rPr>
              <a:t>、离子强度）有关，与</a:t>
            </a:r>
            <a:r>
              <a:rPr kumimoji="1" lang="zh-CN" altLang="en-US" sz="2800" dirty="0">
                <a:solidFill>
                  <a:srgbClr val="0000CC"/>
                </a:solidFill>
                <a:latin typeface="Times New Roman" pitchFamily="18" charset="0"/>
                <a:ea typeface="黑体" pitchFamily="49" charset="-122"/>
              </a:rPr>
              <a:t>酶浓度无关。</a:t>
            </a:r>
          </a:p>
          <a:p>
            <a:pPr marL="612000" lvl="1" indent="-360000" eaLnBrk="1" hangingPunct="1">
              <a:lnSpc>
                <a:spcPct val="150000"/>
              </a:lnSpc>
              <a:spcBef>
                <a:spcPts val="1200"/>
              </a:spcBef>
              <a:buClr>
                <a:schemeClr val="folHlink"/>
              </a:buClr>
              <a:buSzPct val="60000"/>
              <a:buFont typeface="Wingdings" panose="05000000000000000000" pitchFamily="2" charset="2"/>
              <a:buChar char="Ø"/>
              <a:defRPr/>
            </a:pPr>
            <a:r>
              <a:rPr kumimoji="1" lang="zh-CN" altLang="en-US" sz="2800" dirty="0">
                <a:latin typeface="Times New Roman" pitchFamily="18" charset="0"/>
                <a:ea typeface="黑体" pitchFamily="49" charset="-122"/>
              </a:rPr>
              <a:t>不同的酶，其</a:t>
            </a:r>
            <a:r>
              <a:rPr kumimoji="1" lang="en-US" altLang="zh-CN" sz="2800"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m</a:t>
            </a:r>
            <a:r>
              <a:rPr kumimoji="1" lang="zh-CN" altLang="en-US" sz="2800" dirty="0">
                <a:latin typeface="Times New Roman" pitchFamily="18" charset="0"/>
                <a:ea typeface="黑体" pitchFamily="49" charset="-122"/>
              </a:rPr>
              <a:t>值不同，测定</a:t>
            </a:r>
            <a:r>
              <a:rPr kumimoji="1" lang="en-US" altLang="zh-CN" sz="2800"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m</a:t>
            </a:r>
            <a:r>
              <a:rPr kumimoji="1" lang="zh-CN" altLang="en-US" sz="2800" dirty="0">
                <a:latin typeface="Times New Roman" pitchFamily="18" charset="0"/>
                <a:ea typeface="黑体" pitchFamily="49" charset="-122"/>
              </a:rPr>
              <a:t>可以作为</a:t>
            </a:r>
            <a:r>
              <a:rPr kumimoji="1" lang="zh-CN" altLang="en-US" sz="2800" dirty="0">
                <a:solidFill>
                  <a:schemeClr val="tx2"/>
                </a:solidFill>
                <a:latin typeface="Times New Roman" pitchFamily="18" charset="0"/>
                <a:ea typeface="黑体" pitchFamily="49" charset="-122"/>
              </a:rPr>
              <a:t>鉴别酶</a:t>
            </a:r>
            <a:r>
              <a:rPr kumimoji="1" lang="zh-CN" altLang="en-US" sz="2800" dirty="0">
                <a:latin typeface="Times New Roman" pitchFamily="18" charset="0"/>
                <a:ea typeface="黑体" pitchFamily="49" charset="-122"/>
              </a:rPr>
              <a:t>的一种手段</a:t>
            </a:r>
            <a:endParaRPr kumimoji="1" lang="en-US" altLang="zh-CN" sz="2800" dirty="0">
              <a:latin typeface="Times New Roman" pitchFamily="18" charset="0"/>
              <a:ea typeface="黑体" pitchFamily="49" charset="-122"/>
            </a:endParaRPr>
          </a:p>
          <a:p>
            <a:pPr marL="612000" lvl="1" indent="-360000" eaLnBrk="1" hangingPunct="1">
              <a:lnSpc>
                <a:spcPct val="150000"/>
              </a:lnSpc>
              <a:spcBef>
                <a:spcPts val="1200"/>
              </a:spcBef>
              <a:buClr>
                <a:schemeClr val="folHlink"/>
              </a:buClr>
              <a:buSzPct val="60000"/>
              <a:buFont typeface="Wingdings" panose="05000000000000000000" pitchFamily="2" charset="2"/>
              <a:buChar char="Ø"/>
              <a:defRPr/>
            </a:pPr>
            <a:r>
              <a:rPr kumimoji="1" lang="en-US" altLang="zh-CN" sz="2800" dirty="0">
                <a:latin typeface="Times New Roman" pitchFamily="18" charset="0"/>
                <a:ea typeface="黑体" pitchFamily="49" charset="-122"/>
              </a:rPr>
              <a:t>K</a:t>
            </a:r>
            <a:r>
              <a:rPr kumimoji="1" lang="en-US" altLang="zh-CN" sz="2800" baseline="-25000" dirty="0">
                <a:latin typeface="Times New Roman" pitchFamily="18" charset="0"/>
                <a:ea typeface="黑体" pitchFamily="49" charset="-122"/>
              </a:rPr>
              <a:t>m</a:t>
            </a:r>
            <a:r>
              <a:rPr kumimoji="1" lang="zh-CN" altLang="en-US" sz="2800" dirty="0">
                <a:latin typeface="Times New Roman" pitchFamily="18" charset="0"/>
                <a:ea typeface="黑体" pitchFamily="49" charset="-122"/>
              </a:rPr>
              <a:t>值：</a:t>
            </a:r>
            <a:r>
              <a:rPr kumimoji="1" lang="en-US" altLang="zh-CN" sz="2800" dirty="0">
                <a:latin typeface="Times New Roman" pitchFamily="18" charset="0"/>
                <a:ea typeface="黑体" pitchFamily="49" charset="-122"/>
              </a:rPr>
              <a:t>10</a:t>
            </a:r>
            <a:r>
              <a:rPr kumimoji="1" lang="en-US" altLang="zh-CN" sz="2800" baseline="30000" dirty="0">
                <a:latin typeface="Times New Roman" pitchFamily="18" charset="0"/>
                <a:ea typeface="黑体" pitchFamily="49" charset="-122"/>
              </a:rPr>
              <a:t>-6</a:t>
            </a:r>
            <a:r>
              <a:rPr kumimoji="1" lang="en-US" altLang="zh-CN" sz="2800" dirty="0">
                <a:latin typeface="Times New Roman" pitchFamily="18" charset="0"/>
                <a:ea typeface="黑体" pitchFamily="49" charset="-122"/>
              </a:rPr>
              <a:t>~10</a:t>
            </a:r>
            <a:r>
              <a:rPr kumimoji="1" lang="en-US" altLang="zh-CN" sz="2800" baseline="30000" dirty="0">
                <a:latin typeface="Times New Roman" pitchFamily="18" charset="0"/>
                <a:ea typeface="黑体" pitchFamily="49" charset="-122"/>
              </a:rPr>
              <a:t>-2</a:t>
            </a:r>
            <a:r>
              <a:rPr kumimoji="1" lang="en-US" altLang="zh-CN" sz="2800" dirty="0">
                <a:latin typeface="Times New Roman" pitchFamily="18" charset="0"/>
                <a:ea typeface="黑体" pitchFamily="49" charset="-122"/>
              </a:rPr>
              <a:t>mol/L</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68706">
                                            <p:txEl>
                                              <p:pRg st="3" end="3"/>
                                            </p:txEl>
                                          </p:spTgt>
                                        </p:tgtEl>
                                        <p:attrNameLst>
                                          <p:attrName>style.visibility</p:attrName>
                                        </p:attrNameLst>
                                      </p:cBhvr>
                                      <p:to>
                                        <p:strVal val="visible"/>
                                      </p:to>
                                    </p:set>
                                    <p:animEffect transition="in" filter="dissolve">
                                      <p:cBhvr>
                                        <p:cTn id="7" dur="500"/>
                                        <p:tgtEl>
                                          <p:spTgt spid="968706">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68706">
                                            <p:txEl>
                                              <p:pRg st="4" end="4"/>
                                            </p:txEl>
                                          </p:spTgt>
                                        </p:tgtEl>
                                        <p:attrNameLst>
                                          <p:attrName>style.visibility</p:attrName>
                                        </p:attrNameLst>
                                      </p:cBhvr>
                                      <p:to>
                                        <p:strVal val="visible"/>
                                      </p:to>
                                    </p:set>
                                    <p:animEffect transition="in" filter="dissolve">
                                      <p:cBhvr>
                                        <p:cTn id="12" dur="500"/>
                                        <p:tgtEl>
                                          <p:spTgt spid="96870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箭头连接符 2">
            <a:extLst>
              <a:ext uri="{FF2B5EF4-FFF2-40B4-BE49-F238E27FC236}">
                <a16:creationId xmlns:a16="http://schemas.microsoft.com/office/drawing/2014/main" id="{6F4A5BE1-088C-4163-A520-0DF69528E77D}"/>
              </a:ext>
            </a:extLst>
          </p:cNvPr>
          <p:cNvCxnSpPr/>
          <p:nvPr/>
        </p:nvCxnSpPr>
        <p:spPr>
          <a:xfrm flipV="1">
            <a:off x="3421064" y="4903788"/>
            <a:ext cx="5583237" cy="31750"/>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68A4995F-0301-4790-A5C2-3A81E26558F5}"/>
              </a:ext>
            </a:extLst>
          </p:cNvPr>
          <p:cNvCxnSpPr/>
          <p:nvPr/>
        </p:nvCxnSpPr>
        <p:spPr>
          <a:xfrm flipH="1" flipV="1">
            <a:off x="3992563" y="1190626"/>
            <a:ext cx="4762" cy="4105275"/>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18" name="任意多边形 17">
            <a:extLst>
              <a:ext uri="{FF2B5EF4-FFF2-40B4-BE49-F238E27FC236}">
                <a16:creationId xmlns:a16="http://schemas.microsoft.com/office/drawing/2014/main" id="{B190EAE2-C655-43A2-928B-91439B45FF18}"/>
              </a:ext>
            </a:extLst>
          </p:cNvPr>
          <p:cNvSpPr/>
          <p:nvPr/>
        </p:nvSpPr>
        <p:spPr>
          <a:xfrm>
            <a:off x="3997325" y="3475038"/>
            <a:ext cx="4198938" cy="1460500"/>
          </a:xfrm>
          <a:custGeom>
            <a:avLst/>
            <a:gdLst>
              <a:gd name="connsiteX0" fmla="*/ 0 w 4583017"/>
              <a:gd name="connsiteY0" fmla="*/ 1424174 h 1424174"/>
              <a:gd name="connsiteX1" fmla="*/ 495759 w 4583017"/>
              <a:gd name="connsiteY1" fmla="*/ 465707 h 1424174"/>
              <a:gd name="connsiteX2" fmla="*/ 1685581 w 4583017"/>
              <a:gd name="connsiteY2" fmla="*/ 113167 h 1424174"/>
              <a:gd name="connsiteX3" fmla="*/ 3349128 w 4583017"/>
              <a:gd name="connsiteY3" fmla="*/ 14015 h 1424174"/>
              <a:gd name="connsiteX4" fmla="*/ 4583017 w 4583017"/>
              <a:gd name="connsiteY4" fmla="*/ 2998 h 1424174"/>
              <a:gd name="connsiteX0" fmla="*/ 0 w 4583017"/>
              <a:gd name="connsiteY0" fmla="*/ 1438579 h 1438579"/>
              <a:gd name="connsiteX1" fmla="*/ 495759 w 4583017"/>
              <a:gd name="connsiteY1" fmla="*/ 480112 h 1438579"/>
              <a:gd name="connsiteX2" fmla="*/ 1685581 w 4583017"/>
              <a:gd name="connsiteY2" fmla="*/ 127572 h 1438579"/>
              <a:gd name="connsiteX3" fmla="*/ 3299992 w 4583017"/>
              <a:gd name="connsiteY3" fmla="*/ 6579 h 1438579"/>
              <a:gd name="connsiteX4" fmla="*/ 4583017 w 4583017"/>
              <a:gd name="connsiteY4" fmla="*/ 17403 h 1438579"/>
              <a:gd name="connsiteX0" fmla="*/ 0 w 4681290"/>
              <a:gd name="connsiteY0" fmla="*/ 1447187 h 1447187"/>
              <a:gd name="connsiteX1" fmla="*/ 495759 w 4681290"/>
              <a:gd name="connsiteY1" fmla="*/ 488720 h 1447187"/>
              <a:gd name="connsiteX2" fmla="*/ 1685581 w 4681290"/>
              <a:gd name="connsiteY2" fmla="*/ 136180 h 1447187"/>
              <a:gd name="connsiteX3" fmla="*/ 3299992 w 4681290"/>
              <a:gd name="connsiteY3" fmla="*/ 15187 h 1447187"/>
              <a:gd name="connsiteX4" fmla="*/ 4681290 w 4681290"/>
              <a:gd name="connsiteY4" fmla="*/ 4171 h 1447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1290" h="1447187">
                <a:moveTo>
                  <a:pt x="0" y="1447187"/>
                </a:moveTo>
                <a:cubicBezTo>
                  <a:pt x="107414" y="1077204"/>
                  <a:pt x="214829" y="707221"/>
                  <a:pt x="495759" y="488720"/>
                </a:cubicBezTo>
                <a:cubicBezTo>
                  <a:pt x="776689" y="270219"/>
                  <a:pt x="1218209" y="215102"/>
                  <a:pt x="1685581" y="136180"/>
                </a:cubicBezTo>
                <a:cubicBezTo>
                  <a:pt x="2152953" y="57258"/>
                  <a:pt x="2800707" y="37188"/>
                  <a:pt x="3299992" y="15187"/>
                </a:cubicBezTo>
                <a:cubicBezTo>
                  <a:pt x="3799277" y="-6814"/>
                  <a:pt x="4305798" y="498"/>
                  <a:pt x="4681290" y="4171"/>
                </a:cubicBezTo>
              </a:path>
            </a:pathLst>
          </a:custGeom>
          <a:no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p>
        </p:txBody>
      </p:sp>
      <p:cxnSp>
        <p:nvCxnSpPr>
          <p:cNvPr id="23" name="直接连接符 22">
            <a:extLst>
              <a:ext uri="{FF2B5EF4-FFF2-40B4-BE49-F238E27FC236}">
                <a16:creationId xmlns:a16="http://schemas.microsoft.com/office/drawing/2014/main" id="{052E00F9-892D-45F1-AA72-F5FD136B3F2F}"/>
              </a:ext>
            </a:extLst>
          </p:cNvPr>
          <p:cNvCxnSpPr/>
          <p:nvPr/>
        </p:nvCxnSpPr>
        <p:spPr>
          <a:xfrm>
            <a:off x="3992563" y="3422650"/>
            <a:ext cx="4470400" cy="0"/>
          </a:xfrm>
          <a:prstGeom prst="line">
            <a:avLst/>
          </a:prstGeom>
          <a:ln w="19050">
            <a:solidFill>
              <a:srgbClr val="003300"/>
            </a:solidFill>
            <a:prstDash val="sysDash"/>
          </a:ln>
        </p:spPr>
        <p:style>
          <a:lnRef idx="1">
            <a:schemeClr val="accent6"/>
          </a:lnRef>
          <a:fillRef idx="0">
            <a:schemeClr val="accent6"/>
          </a:fillRef>
          <a:effectRef idx="0">
            <a:schemeClr val="accent6"/>
          </a:effectRef>
          <a:fontRef idx="minor">
            <a:schemeClr val="tx1"/>
          </a:fontRef>
        </p:style>
      </p:cxnSp>
      <p:cxnSp>
        <p:nvCxnSpPr>
          <p:cNvPr id="25" name="直接连接符 24">
            <a:extLst>
              <a:ext uri="{FF2B5EF4-FFF2-40B4-BE49-F238E27FC236}">
                <a16:creationId xmlns:a16="http://schemas.microsoft.com/office/drawing/2014/main" id="{FFBFA9E0-6DEE-4D52-A2DA-D6B0D37D2508}"/>
              </a:ext>
            </a:extLst>
          </p:cNvPr>
          <p:cNvCxnSpPr/>
          <p:nvPr/>
        </p:nvCxnSpPr>
        <p:spPr>
          <a:xfrm flipV="1">
            <a:off x="4003676" y="1982789"/>
            <a:ext cx="4386263" cy="34925"/>
          </a:xfrm>
          <a:prstGeom prst="line">
            <a:avLst/>
          </a:prstGeom>
          <a:ln w="19050">
            <a:solidFill>
              <a:srgbClr val="003300"/>
            </a:solidFill>
            <a:prstDash val="sysDash"/>
          </a:ln>
        </p:spPr>
        <p:style>
          <a:lnRef idx="1">
            <a:schemeClr val="accent6"/>
          </a:lnRef>
          <a:fillRef idx="0">
            <a:schemeClr val="accent6"/>
          </a:fillRef>
          <a:effectRef idx="0">
            <a:schemeClr val="accent6"/>
          </a:effectRef>
          <a:fontRef idx="minor">
            <a:schemeClr val="tx1"/>
          </a:fontRef>
        </p:style>
      </p:cxnSp>
      <p:cxnSp>
        <p:nvCxnSpPr>
          <p:cNvPr id="26" name="直接连接符 25">
            <a:extLst>
              <a:ext uri="{FF2B5EF4-FFF2-40B4-BE49-F238E27FC236}">
                <a16:creationId xmlns:a16="http://schemas.microsoft.com/office/drawing/2014/main" id="{F09BE70C-5D8C-4424-B187-9B8387CD4534}"/>
              </a:ext>
            </a:extLst>
          </p:cNvPr>
          <p:cNvCxnSpPr/>
          <p:nvPr/>
        </p:nvCxnSpPr>
        <p:spPr>
          <a:xfrm>
            <a:off x="4286250" y="3422650"/>
            <a:ext cx="0" cy="1500188"/>
          </a:xfrm>
          <a:prstGeom prst="line">
            <a:avLst/>
          </a:prstGeom>
          <a:ln w="28575">
            <a:solidFill>
              <a:srgbClr val="003300"/>
            </a:solidFill>
            <a:prstDash val="sysDash"/>
          </a:ln>
        </p:spPr>
        <p:style>
          <a:lnRef idx="1">
            <a:schemeClr val="accent6"/>
          </a:lnRef>
          <a:fillRef idx="0">
            <a:schemeClr val="accent6"/>
          </a:fillRef>
          <a:effectRef idx="0">
            <a:schemeClr val="accent6"/>
          </a:effectRef>
          <a:fontRef idx="minor">
            <a:schemeClr val="tx1"/>
          </a:fontRef>
        </p:style>
      </p:cxnSp>
      <p:sp>
        <p:nvSpPr>
          <p:cNvPr id="30" name="任意多边形 29">
            <a:extLst>
              <a:ext uri="{FF2B5EF4-FFF2-40B4-BE49-F238E27FC236}">
                <a16:creationId xmlns:a16="http://schemas.microsoft.com/office/drawing/2014/main" id="{806AA8DF-BCE5-4570-A6D3-9A589F682F83}"/>
              </a:ext>
            </a:extLst>
          </p:cNvPr>
          <p:cNvSpPr/>
          <p:nvPr/>
        </p:nvSpPr>
        <p:spPr>
          <a:xfrm>
            <a:off x="3992563" y="2017714"/>
            <a:ext cx="4075112" cy="2905125"/>
          </a:xfrm>
          <a:custGeom>
            <a:avLst/>
            <a:gdLst>
              <a:gd name="connsiteX0" fmla="*/ 0 w 4076241"/>
              <a:gd name="connsiteY0" fmla="*/ 2899684 h 2899684"/>
              <a:gd name="connsiteX1" fmla="*/ 583894 w 4076241"/>
              <a:gd name="connsiteY1" fmla="*/ 828513 h 2899684"/>
              <a:gd name="connsiteX2" fmla="*/ 1663547 w 4076241"/>
              <a:gd name="connsiteY2" fmla="*/ 112417 h 2899684"/>
              <a:gd name="connsiteX3" fmla="*/ 4076241 w 4076241"/>
              <a:gd name="connsiteY3" fmla="*/ 2248 h 2899684"/>
              <a:gd name="connsiteX4" fmla="*/ 4076241 w 4076241"/>
              <a:gd name="connsiteY4" fmla="*/ 2248 h 2899684"/>
              <a:gd name="connsiteX0" fmla="*/ 0 w 4076241"/>
              <a:gd name="connsiteY0" fmla="*/ 2904214 h 2904214"/>
              <a:gd name="connsiteX1" fmla="*/ 506775 w 4076241"/>
              <a:gd name="connsiteY1" fmla="*/ 954229 h 2904214"/>
              <a:gd name="connsiteX2" fmla="*/ 1663547 w 4076241"/>
              <a:gd name="connsiteY2" fmla="*/ 116947 h 2904214"/>
              <a:gd name="connsiteX3" fmla="*/ 4076241 w 4076241"/>
              <a:gd name="connsiteY3" fmla="*/ 6778 h 2904214"/>
              <a:gd name="connsiteX4" fmla="*/ 4076241 w 4076241"/>
              <a:gd name="connsiteY4" fmla="*/ 6778 h 2904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241" h="2904214">
                <a:moveTo>
                  <a:pt x="0" y="2904214"/>
                </a:moveTo>
                <a:cubicBezTo>
                  <a:pt x="153318" y="2100900"/>
                  <a:pt x="229517" y="1418773"/>
                  <a:pt x="506775" y="954229"/>
                </a:cubicBezTo>
                <a:cubicBezTo>
                  <a:pt x="784033" y="489685"/>
                  <a:pt x="1068636" y="274855"/>
                  <a:pt x="1663547" y="116947"/>
                </a:cubicBezTo>
                <a:cubicBezTo>
                  <a:pt x="2258458" y="-40961"/>
                  <a:pt x="4076241" y="6778"/>
                  <a:pt x="4076241" y="6778"/>
                </a:cubicBezTo>
                <a:lnTo>
                  <a:pt x="4076241" y="6778"/>
                </a:lnTo>
              </a:path>
            </a:pathLst>
          </a:cu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p>
        </p:txBody>
      </p:sp>
      <p:cxnSp>
        <p:nvCxnSpPr>
          <p:cNvPr id="31" name="直接连接符 30">
            <a:extLst>
              <a:ext uri="{FF2B5EF4-FFF2-40B4-BE49-F238E27FC236}">
                <a16:creationId xmlns:a16="http://schemas.microsoft.com/office/drawing/2014/main" id="{57163656-4FB7-4D3C-8B79-C46631DC18CE}"/>
              </a:ext>
            </a:extLst>
          </p:cNvPr>
          <p:cNvCxnSpPr>
            <a:cxnSpLocks/>
          </p:cNvCxnSpPr>
          <p:nvPr/>
        </p:nvCxnSpPr>
        <p:spPr>
          <a:xfrm flipV="1">
            <a:off x="3992563" y="4160838"/>
            <a:ext cx="4616450" cy="23812"/>
          </a:xfrm>
          <a:prstGeom prst="line">
            <a:avLst/>
          </a:prstGeom>
          <a:ln w="12700">
            <a:solidFill>
              <a:srgbClr val="003300"/>
            </a:solidFill>
            <a:prstDash val="sysDash"/>
          </a:ln>
        </p:spPr>
        <p:style>
          <a:lnRef idx="1">
            <a:schemeClr val="accent6"/>
          </a:lnRef>
          <a:fillRef idx="0">
            <a:schemeClr val="accent6"/>
          </a:fillRef>
          <a:effectRef idx="0">
            <a:schemeClr val="accent6"/>
          </a:effectRef>
          <a:fontRef idx="minor">
            <a:schemeClr val="tx1"/>
          </a:fontRef>
        </p:style>
      </p:cxnSp>
      <p:sp>
        <p:nvSpPr>
          <p:cNvPr id="35" name="任意多边形 34">
            <a:extLst>
              <a:ext uri="{FF2B5EF4-FFF2-40B4-BE49-F238E27FC236}">
                <a16:creationId xmlns:a16="http://schemas.microsoft.com/office/drawing/2014/main" id="{0334AF6A-20B8-40F8-9D66-3AB1C8DB2B64}"/>
              </a:ext>
            </a:extLst>
          </p:cNvPr>
          <p:cNvSpPr/>
          <p:nvPr/>
        </p:nvSpPr>
        <p:spPr>
          <a:xfrm>
            <a:off x="4003675" y="4184650"/>
            <a:ext cx="4192588" cy="749300"/>
          </a:xfrm>
          <a:custGeom>
            <a:avLst/>
            <a:gdLst>
              <a:gd name="connsiteX0" fmla="*/ 0 w 3833870"/>
              <a:gd name="connsiteY0" fmla="*/ 749248 h 749248"/>
              <a:gd name="connsiteX1" fmla="*/ 605928 w 3833870"/>
              <a:gd name="connsiteY1" fmla="*/ 220439 h 749248"/>
              <a:gd name="connsiteX2" fmla="*/ 2170323 w 3833870"/>
              <a:gd name="connsiteY2" fmla="*/ 33152 h 749248"/>
              <a:gd name="connsiteX3" fmla="*/ 3833870 w 3833870"/>
              <a:gd name="connsiteY3" fmla="*/ 101 h 749248"/>
              <a:gd name="connsiteX4" fmla="*/ 3833870 w 3833870"/>
              <a:gd name="connsiteY4" fmla="*/ 101 h 749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33870" h="749248">
                <a:moveTo>
                  <a:pt x="0" y="749248"/>
                </a:moveTo>
                <a:cubicBezTo>
                  <a:pt x="122104" y="544518"/>
                  <a:pt x="244208" y="339788"/>
                  <a:pt x="605928" y="220439"/>
                </a:cubicBezTo>
                <a:cubicBezTo>
                  <a:pt x="967648" y="101090"/>
                  <a:pt x="1632333" y="69875"/>
                  <a:pt x="2170323" y="33152"/>
                </a:cubicBezTo>
                <a:cubicBezTo>
                  <a:pt x="2708313" y="-3571"/>
                  <a:pt x="3833870" y="101"/>
                  <a:pt x="3833870" y="101"/>
                </a:cubicBezTo>
                <a:lnTo>
                  <a:pt x="3833870" y="101"/>
                </a:ln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p>
        </p:txBody>
      </p:sp>
      <p:sp>
        <p:nvSpPr>
          <p:cNvPr id="225291" name="文本框 38">
            <a:extLst>
              <a:ext uri="{FF2B5EF4-FFF2-40B4-BE49-F238E27FC236}">
                <a16:creationId xmlns:a16="http://schemas.microsoft.com/office/drawing/2014/main" id="{61AD3403-08E9-451C-94EB-A5D494DDA95F}"/>
              </a:ext>
            </a:extLst>
          </p:cNvPr>
          <p:cNvSpPr txBox="1">
            <a:spLocks noChangeArrowheads="1"/>
          </p:cNvSpPr>
          <p:nvPr/>
        </p:nvSpPr>
        <p:spPr bwMode="auto">
          <a:xfrm>
            <a:off x="3359151" y="1125539"/>
            <a:ext cx="9366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a:t>V</a:t>
            </a:r>
            <a:endParaRPr lang="zh-CN" altLang="en-US" sz="2800"/>
          </a:p>
        </p:txBody>
      </p:sp>
      <p:sp>
        <p:nvSpPr>
          <p:cNvPr id="225292" name="文本框 39">
            <a:extLst>
              <a:ext uri="{FF2B5EF4-FFF2-40B4-BE49-F238E27FC236}">
                <a16:creationId xmlns:a16="http://schemas.microsoft.com/office/drawing/2014/main" id="{D323B5D6-3B61-4D24-9865-908172209F38}"/>
              </a:ext>
            </a:extLst>
          </p:cNvPr>
          <p:cNvSpPr txBox="1">
            <a:spLocks noChangeArrowheads="1"/>
          </p:cNvSpPr>
          <p:nvPr/>
        </p:nvSpPr>
        <p:spPr bwMode="auto">
          <a:xfrm>
            <a:off x="8067676" y="5080000"/>
            <a:ext cx="9366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a:t>[S]</a:t>
            </a:r>
            <a:endParaRPr lang="zh-CN" altLang="en-US" sz="2800"/>
          </a:p>
        </p:txBody>
      </p:sp>
      <p:sp>
        <p:nvSpPr>
          <p:cNvPr id="225293" name="文本框 40">
            <a:extLst>
              <a:ext uri="{FF2B5EF4-FFF2-40B4-BE49-F238E27FC236}">
                <a16:creationId xmlns:a16="http://schemas.microsoft.com/office/drawing/2014/main" id="{835A8BF5-4397-47DF-A8D7-F9CF30F85ED7}"/>
              </a:ext>
            </a:extLst>
          </p:cNvPr>
          <p:cNvSpPr txBox="1">
            <a:spLocks noChangeArrowheads="1"/>
          </p:cNvSpPr>
          <p:nvPr/>
        </p:nvSpPr>
        <p:spPr bwMode="auto">
          <a:xfrm>
            <a:off x="4100514" y="5097464"/>
            <a:ext cx="9350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a:solidFill>
                  <a:srgbClr val="C00000"/>
                </a:solidFill>
              </a:rPr>
              <a:t>K</a:t>
            </a:r>
            <a:r>
              <a:rPr lang="en-US" altLang="zh-CN" sz="2800" baseline="-25000">
                <a:solidFill>
                  <a:srgbClr val="C00000"/>
                </a:solidFill>
              </a:rPr>
              <a:t>m</a:t>
            </a:r>
            <a:endParaRPr lang="zh-CN" altLang="en-US" sz="2800" baseline="-25000">
              <a:solidFill>
                <a:srgbClr val="C00000"/>
              </a:solidFill>
            </a:endParaRPr>
          </a:p>
        </p:txBody>
      </p:sp>
      <p:sp>
        <p:nvSpPr>
          <p:cNvPr id="225294" name="文本框 41">
            <a:extLst>
              <a:ext uri="{FF2B5EF4-FFF2-40B4-BE49-F238E27FC236}">
                <a16:creationId xmlns:a16="http://schemas.microsoft.com/office/drawing/2014/main" id="{4F7E408C-0D2B-4ED4-A1C2-E7C5FE1C7532}"/>
              </a:ext>
            </a:extLst>
          </p:cNvPr>
          <p:cNvSpPr txBox="1">
            <a:spLocks noChangeArrowheads="1"/>
          </p:cNvSpPr>
          <p:nvPr/>
        </p:nvSpPr>
        <p:spPr bwMode="auto">
          <a:xfrm>
            <a:off x="8688388" y="4173539"/>
            <a:ext cx="10080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a:solidFill>
                  <a:srgbClr val="C00000"/>
                </a:solidFill>
              </a:rPr>
              <a:t>[E]</a:t>
            </a:r>
            <a:endParaRPr lang="zh-CN" altLang="en-US" sz="2800">
              <a:solidFill>
                <a:srgbClr val="C00000"/>
              </a:solidFill>
            </a:endParaRPr>
          </a:p>
        </p:txBody>
      </p:sp>
      <p:sp>
        <p:nvSpPr>
          <p:cNvPr id="225295" name="文本框 42">
            <a:extLst>
              <a:ext uri="{FF2B5EF4-FFF2-40B4-BE49-F238E27FC236}">
                <a16:creationId xmlns:a16="http://schemas.microsoft.com/office/drawing/2014/main" id="{2E5F54E7-E2DD-4F9C-8D61-18B458FA5061}"/>
              </a:ext>
            </a:extLst>
          </p:cNvPr>
          <p:cNvSpPr txBox="1">
            <a:spLocks noChangeArrowheads="1"/>
          </p:cNvSpPr>
          <p:nvPr/>
        </p:nvSpPr>
        <p:spPr bwMode="auto">
          <a:xfrm>
            <a:off x="8589963" y="3333750"/>
            <a:ext cx="10080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a:solidFill>
                  <a:srgbClr val="006600"/>
                </a:solidFill>
              </a:rPr>
              <a:t>2[E]</a:t>
            </a:r>
            <a:endParaRPr lang="zh-CN" altLang="en-US" sz="2800">
              <a:solidFill>
                <a:srgbClr val="006600"/>
              </a:solidFill>
            </a:endParaRPr>
          </a:p>
        </p:txBody>
      </p:sp>
      <p:sp>
        <p:nvSpPr>
          <p:cNvPr id="225296" name="文本框 43">
            <a:extLst>
              <a:ext uri="{FF2B5EF4-FFF2-40B4-BE49-F238E27FC236}">
                <a16:creationId xmlns:a16="http://schemas.microsoft.com/office/drawing/2014/main" id="{E9000073-46E8-439F-9B04-706E5210A8CD}"/>
              </a:ext>
            </a:extLst>
          </p:cNvPr>
          <p:cNvSpPr txBox="1">
            <a:spLocks noChangeArrowheads="1"/>
          </p:cNvSpPr>
          <p:nvPr/>
        </p:nvSpPr>
        <p:spPr bwMode="auto">
          <a:xfrm>
            <a:off x="8609013" y="2090739"/>
            <a:ext cx="10080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a:solidFill>
                  <a:srgbClr val="7030A0"/>
                </a:solidFill>
              </a:rPr>
              <a:t>4[E]</a:t>
            </a:r>
            <a:endParaRPr lang="zh-CN" altLang="en-US" sz="2800">
              <a:solidFill>
                <a:srgbClr val="7030A0"/>
              </a:solidFill>
            </a:endParaRPr>
          </a:p>
        </p:txBody>
      </p:sp>
      <p:sp>
        <p:nvSpPr>
          <p:cNvPr id="225297" name="标题 44">
            <a:extLst>
              <a:ext uri="{FF2B5EF4-FFF2-40B4-BE49-F238E27FC236}">
                <a16:creationId xmlns:a16="http://schemas.microsoft.com/office/drawing/2014/main" id="{A4E5DD5A-2028-4805-BAA9-67C5E4272289}"/>
              </a:ext>
            </a:extLst>
          </p:cNvPr>
          <p:cNvSpPr>
            <a:spLocks noGrp="1" noChangeArrowheads="1"/>
          </p:cNvSpPr>
          <p:nvPr>
            <p:ph type="title"/>
          </p:nvPr>
        </p:nvSpPr>
        <p:spPr>
          <a:xfrm>
            <a:off x="2209801" y="152401"/>
            <a:ext cx="7415213" cy="752475"/>
          </a:xfrm>
        </p:spPr>
        <p:txBody>
          <a:bodyPr/>
          <a:lstStyle/>
          <a:p>
            <a:r>
              <a:rPr lang="en-US" altLang="zh-CN" sz="3200">
                <a:solidFill>
                  <a:srgbClr val="C00000"/>
                </a:solidFill>
                <a:latin typeface="微软雅黑" panose="020B0503020204020204" pitchFamily="34" charset="-122"/>
                <a:ea typeface="微软雅黑" panose="020B0503020204020204" pitchFamily="34" charset="-122"/>
              </a:rPr>
              <a:t>K</a:t>
            </a:r>
            <a:r>
              <a:rPr lang="en-US" altLang="zh-CN" sz="3200" baseline="-25000">
                <a:solidFill>
                  <a:srgbClr val="C00000"/>
                </a:solidFill>
                <a:latin typeface="微软雅黑" panose="020B0503020204020204" pitchFamily="34" charset="-122"/>
                <a:ea typeface="微软雅黑" panose="020B0503020204020204" pitchFamily="34" charset="-122"/>
              </a:rPr>
              <a:t>m</a:t>
            </a:r>
            <a:r>
              <a:rPr lang="zh-CN" altLang="en-US" sz="3200">
                <a:solidFill>
                  <a:srgbClr val="C00000"/>
                </a:solidFill>
                <a:latin typeface="微软雅黑" panose="020B0503020204020204" pitchFamily="34" charset="-122"/>
                <a:ea typeface="微软雅黑" panose="020B0503020204020204" pitchFamily="34" charset="-122"/>
              </a:rPr>
              <a:t>与酶浓度无关</a:t>
            </a:r>
          </a:p>
        </p:txBody>
      </p:sp>
      <p:sp>
        <p:nvSpPr>
          <p:cNvPr id="225298" name="文本框 45">
            <a:extLst>
              <a:ext uri="{FF2B5EF4-FFF2-40B4-BE49-F238E27FC236}">
                <a16:creationId xmlns:a16="http://schemas.microsoft.com/office/drawing/2014/main" id="{97AE566D-41FC-4743-BD9A-4C93F6B1BCA4}"/>
              </a:ext>
            </a:extLst>
          </p:cNvPr>
          <p:cNvSpPr txBox="1">
            <a:spLocks noChangeArrowheads="1"/>
          </p:cNvSpPr>
          <p:nvPr/>
        </p:nvSpPr>
        <p:spPr bwMode="auto">
          <a:xfrm>
            <a:off x="3370264" y="1828800"/>
            <a:ext cx="9366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a:t>V</a:t>
            </a:r>
            <a:r>
              <a:rPr lang="en-US" altLang="zh-CN" sz="2800" baseline="-25000"/>
              <a:t>3</a:t>
            </a:r>
            <a:endParaRPr lang="zh-CN" altLang="en-US" sz="2800" baseline="-25000"/>
          </a:p>
        </p:txBody>
      </p:sp>
      <p:sp>
        <p:nvSpPr>
          <p:cNvPr id="225299" name="文本框 46">
            <a:extLst>
              <a:ext uri="{FF2B5EF4-FFF2-40B4-BE49-F238E27FC236}">
                <a16:creationId xmlns:a16="http://schemas.microsoft.com/office/drawing/2014/main" id="{C266D676-5A96-4EA7-A01F-6BACA6776F40}"/>
              </a:ext>
            </a:extLst>
          </p:cNvPr>
          <p:cNvSpPr txBox="1">
            <a:spLocks noChangeArrowheads="1"/>
          </p:cNvSpPr>
          <p:nvPr/>
        </p:nvSpPr>
        <p:spPr bwMode="auto">
          <a:xfrm>
            <a:off x="3273425" y="3132139"/>
            <a:ext cx="9350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a:t>V</a:t>
            </a:r>
            <a:r>
              <a:rPr lang="en-US" altLang="zh-CN" sz="2800" baseline="-25000"/>
              <a:t>2</a:t>
            </a:r>
            <a:endParaRPr lang="zh-CN" altLang="en-US" sz="2800" baseline="-25000"/>
          </a:p>
        </p:txBody>
      </p:sp>
      <p:sp>
        <p:nvSpPr>
          <p:cNvPr id="225300" name="文本框 47">
            <a:extLst>
              <a:ext uri="{FF2B5EF4-FFF2-40B4-BE49-F238E27FC236}">
                <a16:creationId xmlns:a16="http://schemas.microsoft.com/office/drawing/2014/main" id="{594F2647-07BF-4FFF-87EF-43B6C3CE8386}"/>
              </a:ext>
            </a:extLst>
          </p:cNvPr>
          <p:cNvSpPr txBox="1">
            <a:spLocks noChangeArrowheads="1"/>
          </p:cNvSpPr>
          <p:nvPr/>
        </p:nvSpPr>
        <p:spPr bwMode="auto">
          <a:xfrm>
            <a:off x="3273425" y="3921126"/>
            <a:ext cx="9350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a:t>V</a:t>
            </a:r>
            <a:r>
              <a:rPr lang="en-US" altLang="zh-CN" sz="2800" baseline="-25000"/>
              <a:t>1</a:t>
            </a:r>
            <a:endParaRPr lang="zh-CN" altLang="en-US" sz="2800" baseline="-25000"/>
          </a:p>
        </p:txBody>
      </p:sp>
      <p:sp>
        <p:nvSpPr>
          <p:cNvPr id="225301" name="文本框 48">
            <a:extLst>
              <a:ext uri="{FF2B5EF4-FFF2-40B4-BE49-F238E27FC236}">
                <a16:creationId xmlns:a16="http://schemas.microsoft.com/office/drawing/2014/main" id="{E0CD2210-42F8-41B6-A942-960836EC763D}"/>
              </a:ext>
            </a:extLst>
          </p:cNvPr>
          <p:cNvSpPr txBox="1">
            <a:spLocks noChangeArrowheads="1"/>
          </p:cNvSpPr>
          <p:nvPr/>
        </p:nvSpPr>
        <p:spPr bwMode="auto">
          <a:xfrm>
            <a:off x="2543175" y="5891213"/>
            <a:ext cx="2592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t>Vmax=V</a:t>
            </a:r>
            <a:r>
              <a:rPr lang="en-US" altLang="zh-CN" sz="1800" baseline="-25000"/>
              <a:t>3</a:t>
            </a:r>
            <a:r>
              <a:rPr lang="en-US" altLang="zh-CN" sz="1800"/>
              <a:t>=2V</a:t>
            </a:r>
            <a:r>
              <a:rPr lang="en-US" altLang="zh-CN" sz="1800" baseline="-25000"/>
              <a:t>2</a:t>
            </a:r>
            <a:r>
              <a:rPr lang="en-US" altLang="zh-CN" sz="1800"/>
              <a:t>=4V</a:t>
            </a:r>
            <a:r>
              <a:rPr lang="en-US" altLang="zh-CN" sz="1800" baseline="-25000"/>
              <a:t>1</a:t>
            </a:r>
            <a:endParaRPr lang="zh-CN" altLang="en-US" sz="1800" baseline="-250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A9BA3BCC-1C8A-4619-A47D-71D6BC8DE946}"/>
              </a:ext>
            </a:extLst>
          </p:cNvPr>
          <p:cNvSpPr>
            <a:spLocks noChangeArrowheads="1"/>
          </p:cNvSpPr>
          <p:nvPr/>
        </p:nvSpPr>
        <p:spPr bwMode="auto">
          <a:xfrm>
            <a:off x="1716250" y="580720"/>
            <a:ext cx="9072239" cy="66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lvl="1" eaLnBrk="1" hangingPunct="1">
              <a:lnSpc>
                <a:spcPct val="130000"/>
              </a:lnSpc>
              <a:spcBef>
                <a:spcPct val="50000"/>
              </a:spcBef>
              <a:buClr>
                <a:schemeClr val="tx1"/>
              </a:buClr>
              <a:buFontTx/>
              <a:buNone/>
            </a:pPr>
            <a:r>
              <a:rPr lang="en-US" altLang="zh-CN" sz="3200" dirty="0">
                <a:latin typeface="Times New Roman" panose="02020603050405020304" pitchFamily="18" charset="0"/>
                <a:ea typeface="黑体" panose="02010609060101010101" pitchFamily="49" charset="-122"/>
              </a:rPr>
              <a:t>③</a:t>
            </a:r>
            <a:r>
              <a:rPr lang="en-US" altLang="zh-CN" sz="3200" dirty="0">
                <a:solidFill>
                  <a:srgbClr val="FFFF00"/>
                </a:solidFill>
                <a:latin typeface="Times New Roman" panose="02020603050405020304" pitchFamily="18" charset="0"/>
                <a:ea typeface="黑体" panose="02010609060101010101" pitchFamily="49" charset="-122"/>
              </a:rPr>
              <a:t> </a:t>
            </a:r>
            <a:r>
              <a:rPr lang="en-US" altLang="zh-CN" sz="3200" dirty="0">
                <a:solidFill>
                  <a:schemeClr val="tx2"/>
                </a:solidFill>
                <a:latin typeface="Times New Roman" panose="02020603050405020304" pitchFamily="18" charset="0"/>
                <a:ea typeface="黑体" panose="02010609060101010101" pitchFamily="49" charset="-122"/>
              </a:rPr>
              <a:t>K</a:t>
            </a:r>
            <a:r>
              <a:rPr lang="en-US" altLang="zh-CN" sz="3200" baseline="-25000" dirty="0">
                <a:solidFill>
                  <a:schemeClr val="tx2"/>
                </a:solidFill>
                <a:latin typeface="Times New Roman" panose="02020603050405020304" pitchFamily="18" charset="0"/>
                <a:ea typeface="黑体" panose="02010609060101010101" pitchFamily="49" charset="-122"/>
              </a:rPr>
              <a:t>m</a:t>
            </a:r>
            <a:r>
              <a:rPr lang="zh-CN" altLang="en-US" sz="3200" dirty="0">
                <a:solidFill>
                  <a:schemeClr val="tx2"/>
                </a:solidFill>
                <a:latin typeface="Times New Roman" panose="02020603050405020304" pitchFamily="18" charset="0"/>
                <a:ea typeface="黑体" panose="02010609060101010101" pitchFamily="49" charset="-122"/>
              </a:rPr>
              <a:t>在一定条件下可反应酶对底物的亲和力</a:t>
            </a:r>
          </a:p>
        </p:txBody>
      </p:sp>
      <p:grpSp>
        <p:nvGrpSpPr>
          <p:cNvPr id="226307" name="Group 3">
            <a:extLst>
              <a:ext uri="{FF2B5EF4-FFF2-40B4-BE49-F238E27FC236}">
                <a16:creationId xmlns:a16="http://schemas.microsoft.com/office/drawing/2014/main" id="{ED3449DA-B193-41D8-97C3-29E44E3F70BB}"/>
              </a:ext>
            </a:extLst>
          </p:cNvPr>
          <p:cNvGrpSpPr>
            <a:grpSpLocks/>
          </p:cNvGrpSpPr>
          <p:nvPr/>
        </p:nvGrpSpPr>
        <p:grpSpPr bwMode="auto">
          <a:xfrm>
            <a:off x="4025900" y="2009775"/>
            <a:ext cx="2895600" cy="1016000"/>
            <a:chOff x="1584" y="2016"/>
            <a:chExt cx="1824" cy="640"/>
          </a:xfrm>
        </p:grpSpPr>
        <p:sp>
          <p:nvSpPr>
            <p:cNvPr id="226320" name="Rectangle 4">
              <a:extLst>
                <a:ext uri="{FF2B5EF4-FFF2-40B4-BE49-F238E27FC236}">
                  <a16:creationId xmlns:a16="http://schemas.microsoft.com/office/drawing/2014/main" id="{57577AEE-5B6C-45EC-8FBE-CD1ABFAD5B41}"/>
                </a:ext>
              </a:extLst>
            </p:cNvPr>
            <p:cNvSpPr>
              <a:spLocks noChangeArrowheads="1"/>
            </p:cNvSpPr>
            <p:nvPr/>
          </p:nvSpPr>
          <p:spPr bwMode="auto">
            <a:xfrm>
              <a:off x="1584" y="2016"/>
              <a:ext cx="1824" cy="624"/>
            </a:xfrm>
            <a:prstGeom prst="rect">
              <a:avLst/>
            </a:prstGeom>
            <a:solidFill>
              <a:srgbClr val="CCEC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grpSp>
          <p:nvGrpSpPr>
            <p:cNvPr id="226321" name="Group 5">
              <a:extLst>
                <a:ext uri="{FF2B5EF4-FFF2-40B4-BE49-F238E27FC236}">
                  <a16:creationId xmlns:a16="http://schemas.microsoft.com/office/drawing/2014/main" id="{09593487-1F69-4B09-A93C-8D1670D2D0E4}"/>
                </a:ext>
              </a:extLst>
            </p:cNvPr>
            <p:cNvGrpSpPr>
              <a:grpSpLocks/>
            </p:cNvGrpSpPr>
            <p:nvPr/>
          </p:nvGrpSpPr>
          <p:grpSpPr bwMode="auto">
            <a:xfrm>
              <a:off x="1680" y="2016"/>
              <a:ext cx="1728" cy="640"/>
              <a:chOff x="3312" y="3552"/>
              <a:chExt cx="1728" cy="640"/>
            </a:xfrm>
          </p:grpSpPr>
          <p:sp>
            <p:nvSpPr>
              <p:cNvPr id="226322" name="Text Box 6">
                <a:extLst>
                  <a:ext uri="{FF2B5EF4-FFF2-40B4-BE49-F238E27FC236}">
                    <a16:creationId xmlns:a16="http://schemas.microsoft.com/office/drawing/2014/main" id="{9DE1313C-A75D-45F3-B49C-9CD36742BB35}"/>
                  </a:ext>
                </a:extLst>
              </p:cNvPr>
              <p:cNvSpPr txBox="1">
                <a:spLocks noChangeArrowheads="1"/>
              </p:cNvSpPr>
              <p:nvPr/>
            </p:nvSpPr>
            <p:spPr bwMode="auto">
              <a:xfrm>
                <a:off x="3312" y="3744"/>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ea typeface="黑体" panose="02010609060101010101" pitchFamily="49" charset="-122"/>
                  </a:rPr>
                  <a:t>K</a:t>
                </a:r>
                <a:r>
                  <a:rPr kumimoji="1" lang="en-US" altLang="zh-CN" sz="2400" b="1" baseline="-25000">
                    <a:latin typeface="Times New Roman" panose="02020603050405020304" pitchFamily="18" charset="0"/>
                    <a:ea typeface="黑体" panose="02010609060101010101" pitchFamily="49" charset="-122"/>
                  </a:rPr>
                  <a:t>m</a:t>
                </a:r>
                <a:r>
                  <a:rPr kumimoji="1" lang="en-US" altLang="zh-CN" sz="2400" b="1">
                    <a:latin typeface="Times New Roman" panose="02020603050405020304" pitchFamily="18" charset="0"/>
                    <a:ea typeface="黑体" panose="02010609060101010101" pitchFamily="49" charset="-122"/>
                  </a:rPr>
                  <a:t>=</a:t>
                </a:r>
                <a:endParaRPr kumimoji="1" lang="en-US" altLang="zh-CN" sz="2400">
                  <a:latin typeface="Times New Roman" panose="02020603050405020304" pitchFamily="18" charset="0"/>
                  <a:ea typeface="黑体" panose="02010609060101010101" pitchFamily="49" charset="-122"/>
                </a:endParaRPr>
              </a:p>
            </p:txBody>
          </p:sp>
          <p:sp>
            <p:nvSpPr>
              <p:cNvPr id="226323" name="Line 7">
                <a:extLst>
                  <a:ext uri="{FF2B5EF4-FFF2-40B4-BE49-F238E27FC236}">
                    <a16:creationId xmlns:a16="http://schemas.microsoft.com/office/drawing/2014/main" id="{5B6AFD10-F64C-4465-AC3B-3F807637F1A2}"/>
                  </a:ext>
                </a:extLst>
              </p:cNvPr>
              <p:cNvSpPr>
                <a:spLocks noChangeShapeType="1"/>
              </p:cNvSpPr>
              <p:nvPr/>
            </p:nvSpPr>
            <p:spPr bwMode="auto">
              <a:xfrm>
                <a:off x="3888" y="3888"/>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24" name="Text Box 8">
                <a:extLst>
                  <a:ext uri="{FF2B5EF4-FFF2-40B4-BE49-F238E27FC236}">
                    <a16:creationId xmlns:a16="http://schemas.microsoft.com/office/drawing/2014/main" id="{B6D0CF78-7A23-48D5-ADDE-E1F79292D494}"/>
                  </a:ext>
                </a:extLst>
              </p:cNvPr>
              <p:cNvSpPr txBox="1">
                <a:spLocks noChangeArrowheads="1"/>
              </p:cNvSpPr>
              <p:nvPr/>
            </p:nvSpPr>
            <p:spPr bwMode="auto">
              <a:xfrm>
                <a:off x="3984" y="3552"/>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dirty="0">
                    <a:latin typeface="Times New Roman" panose="02020603050405020304" pitchFamily="18" charset="0"/>
                    <a:ea typeface="黑体" panose="02010609060101010101" pitchFamily="49" charset="-122"/>
                  </a:rPr>
                  <a:t> </a:t>
                </a:r>
                <a:r>
                  <a:rPr kumimoji="1" lang="en-US" altLang="zh-CN" sz="2400" b="1" dirty="0">
                    <a:solidFill>
                      <a:srgbClr val="CC0000"/>
                    </a:solidFill>
                    <a:latin typeface="Times New Roman" panose="02020603050405020304" pitchFamily="18" charset="0"/>
                    <a:ea typeface="黑体" panose="02010609060101010101" pitchFamily="49" charset="-122"/>
                  </a:rPr>
                  <a:t>k</a:t>
                </a:r>
                <a:r>
                  <a:rPr kumimoji="1" lang="en-US" altLang="zh-CN" sz="2400" b="1" baseline="-25000" dirty="0">
                    <a:solidFill>
                      <a:srgbClr val="CC0000"/>
                    </a:solidFill>
                    <a:latin typeface="Times New Roman" panose="02020603050405020304" pitchFamily="18" charset="0"/>
                    <a:ea typeface="黑体" panose="02010609060101010101" pitchFamily="49" charset="-122"/>
                  </a:rPr>
                  <a:t>2</a:t>
                </a:r>
                <a:r>
                  <a:rPr kumimoji="1" lang="en-US" altLang="zh-CN" sz="2400" b="1" dirty="0">
                    <a:solidFill>
                      <a:srgbClr val="CC0000"/>
                    </a:solidFill>
                    <a:latin typeface="Times New Roman" panose="02020603050405020304" pitchFamily="18" charset="0"/>
                    <a:ea typeface="黑体" panose="02010609060101010101" pitchFamily="49" charset="-122"/>
                  </a:rPr>
                  <a:t> + k</a:t>
                </a:r>
                <a:r>
                  <a:rPr kumimoji="1" lang="en-US" altLang="zh-CN" sz="2400" b="1" baseline="-25000" dirty="0">
                    <a:solidFill>
                      <a:srgbClr val="CC0000"/>
                    </a:solidFill>
                    <a:latin typeface="Times New Roman" panose="02020603050405020304" pitchFamily="18" charset="0"/>
                    <a:ea typeface="黑体" panose="02010609060101010101" pitchFamily="49" charset="-122"/>
                  </a:rPr>
                  <a:t>3</a:t>
                </a:r>
              </a:p>
              <a:p>
                <a:pPr eaLnBrk="1" hangingPunct="1">
                  <a:spcBef>
                    <a:spcPct val="50000"/>
                  </a:spcBef>
                  <a:buFontTx/>
                  <a:buNone/>
                </a:pPr>
                <a:r>
                  <a:rPr kumimoji="1" lang="en-US" altLang="zh-CN" sz="2400" b="1" dirty="0">
                    <a:solidFill>
                      <a:srgbClr val="CC0000"/>
                    </a:solidFill>
                    <a:latin typeface="Times New Roman" panose="02020603050405020304" pitchFamily="18" charset="0"/>
                    <a:ea typeface="黑体" panose="02010609060101010101" pitchFamily="49" charset="-122"/>
                  </a:rPr>
                  <a:t>      k</a:t>
                </a:r>
                <a:r>
                  <a:rPr kumimoji="1" lang="en-US" altLang="zh-CN" sz="2400" b="1" baseline="-25000" dirty="0">
                    <a:solidFill>
                      <a:srgbClr val="CC0000"/>
                    </a:solidFill>
                    <a:latin typeface="Times New Roman" panose="02020603050405020304" pitchFamily="18" charset="0"/>
                    <a:ea typeface="黑体" panose="02010609060101010101" pitchFamily="49" charset="-122"/>
                  </a:rPr>
                  <a:t>1</a:t>
                </a:r>
              </a:p>
            </p:txBody>
          </p:sp>
        </p:grpSp>
      </p:grpSp>
      <p:sp>
        <p:nvSpPr>
          <p:cNvPr id="970761" name="Rectangle 9">
            <a:extLst>
              <a:ext uri="{FF2B5EF4-FFF2-40B4-BE49-F238E27FC236}">
                <a16:creationId xmlns:a16="http://schemas.microsoft.com/office/drawing/2014/main" id="{0120F0E6-1FBB-479E-9B5A-BFD290D8E0F7}"/>
              </a:ext>
            </a:extLst>
          </p:cNvPr>
          <p:cNvSpPr>
            <a:spLocks noChangeArrowheads="1"/>
          </p:cNvSpPr>
          <p:nvPr/>
        </p:nvSpPr>
        <p:spPr bwMode="auto">
          <a:xfrm>
            <a:off x="2882900" y="3154363"/>
            <a:ext cx="7086600" cy="2362200"/>
          </a:xfrm>
          <a:prstGeom prst="rect">
            <a:avLst/>
          </a:prstGeom>
          <a:noFill/>
          <a:ln>
            <a:noFill/>
          </a:ln>
        </p:spPr>
        <p:txBody>
          <a:bodyPr lIns="92075" tIns="46038" rIns="92075" bIns="46038"/>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800" dirty="0">
                <a:solidFill>
                  <a:schemeClr val="tx1">
                    <a:lumMod val="95000"/>
                    <a:lumOff val="5000"/>
                  </a:schemeClr>
                </a:solidFill>
                <a:latin typeface="Times New Roman" panose="02020603050405020304" pitchFamily="18" charset="0"/>
                <a:ea typeface="黑体" panose="02010609060101010101" pitchFamily="49" charset="-122"/>
              </a:rPr>
              <a:t>K</a:t>
            </a:r>
            <a:r>
              <a:rPr lang="en-US" altLang="zh-CN" sz="2800" baseline="-25000" dirty="0">
                <a:solidFill>
                  <a:schemeClr val="tx1">
                    <a:lumMod val="95000"/>
                    <a:lumOff val="5000"/>
                  </a:schemeClr>
                </a:solidFill>
                <a:latin typeface="Times New Roman" panose="02020603050405020304" pitchFamily="18" charset="0"/>
                <a:ea typeface="黑体" panose="02010609060101010101" pitchFamily="49" charset="-122"/>
              </a:rPr>
              <a:t>m</a:t>
            </a:r>
            <a:r>
              <a:rPr lang="en-US" altLang="zh-CN" sz="2800" dirty="0">
                <a:solidFill>
                  <a:schemeClr val="tx1">
                    <a:lumMod val="95000"/>
                    <a:lumOff val="5000"/>
                  </a:schemeClr>
                </a:solidFill>
                <a:latin typeface="Times New Roman" panose="02020603050405020304" pitchFamily="18" charset="0"/>
                <a:ea typeface="黑体" panose="02010609060101010101" pitchFamily="49" charset="-122"/>
              </a:rPr>
              <a:t>≈k</a:t>
            </a:r>
            <a:r>
              <a:rPr lang="en-US" altLang="zh-CN" sz="2800" baseline="-25000" dirty="0">
                <a:solidFill>
                  <a:schemeClr val="tx1">
                    <a:lumMod val="95000"/>
                    <a:lumOff val="5000"/>
                  </a:schemeClr>
                </a:solidFill>
                <a:latin typeface="Times New Roman" panose="02020603050405020304" pitchFamily="18" charset="0"/>
                <a:ea typeface="黑体" panose="02010609060101010101" pitchFamily="49" charset="-122"/>
              </a:rPr>
              <a:t>2</a:t>
            </a:r>
            <a:r>
              <a:rPr lang="zh-CN" altLang="en-US" sz="2800" dirty="0">
                <a:solidFill>
                  <a:schemeClr val="tx1">
                    <a:lumMod val="95000"/>
                    <a:lumOff val="5000"/>
                  </a:schemeClr>
                </a:solidFill>
                <a:latin typeface="Times New Roman" panose="02020603050405020304" pitchFamily="18" charset="0"/>
                <a:ea typeface="黑体" panose="02010609060101010101" pitchFamily="49" charset="-122"/>
              </a:rPr>
              <a:t>（</a:t>
            </a:r>
            <a:r>
              <a:rPr lang="zh-CN" altLang="en-US" sz="2800" dirty="0">
                <a:solidFill>
                  <a:srgbClr val="0000CC"/>
                </a:solidFill>
                <a:latin typeface="Times New Roman" panose="02020603050405020304" pitchFamily="18" charset="0"/>
                <a:ea typeface="黑体" panose="02010609060101010101" pitchFamily="49" charset="-122"/>
              </a:rPr>
              <a:t>解离能力</a:t>
            </a:r>
            <a:r>
              <a:rPr lang="zh-CN" altLang="en-US" sz="2800" dirty="0">
                <a:solidFill>
                  <a:schemeClr val="tx1">
                    <a:lumMod val="95000"/>
                    <a:lumOff val="5000"/>
                  </a:schemeClr>
                </a:solidFill>
                <a:latin typeface="Times New Roman" panose="02020603050405020304" pitchFamily="18" charset="0"/>
                <a:ea typeface="黑体" panose="02010609060101010101" pitchFamily="49" charset="-122"/>
              </a:rPr>
              <a:t>）</a:t>
            </a:r>
            <a:r>
              <a:rPr lang="en-US" altLang="zh-CN" sz="2800" dirty="0">
                <a:solidFill>
                  <a:schemeClr val="tx1">
                    <a:lumMod val="95000"/>
                    <a:lumOff val="5000"/>
                  </a:schemeClr>
                </a:solidFill>
                <a:latin typeface="Times New Roman" panose="02020603050405020304" pitchFamily="18" charset="0"/>
                <a:ea typeface="黑体" panose="02010609060101010101" pitchFamily="49" charset="-122"/>
              </a:rPr>
              <a:t>/k</a:t>
            </a:r>
            <a:r>
              <a:rPr lang="en-US" altLang="zh-CN" sz="2800" baseline="-25000" dirty="0">
                <a:solidFill>
                  <a:schemeClr val="tx1">
                    <a:lumMod val="95000"/>
                    <a:lumOff val="5000"/>
                  </a:schemeClr>
                </a:solidFill>
                <a:latin typeface="Times New Roman" panose="02020603050405020304" pitchFamily="18" charset="0"/>
                <a:ea typeface="黑体" panose="02010609060101010101" pitchFamily="49" charset="-122"/>
              </a:rPr>
              <a:t>1</a:t>
            </a:r>
            <a:r>
              <a:rPr lang="zh-CN" altLang="en-US" sz="2800" dirty="0">
                <a:solidFill>
                  <a:schemeClr val="tx1">
                    <a:lumMod val="95000"/>
                    <a:lumOff val="5000"/>
                  </a:schemeClr>
                </a:solidFill>
                <a:latin typeface="Times New Roman" panose="02020603050405020304" pitchFamily="18" charset="0"/>
                <a:ea typeface="黑体" panose="02010609060101010101" pitchFamily="49" charset="-122"/>
              </a:rPr>
              <a:t>（</a:t>
            </a:r>
            <a:r>
              <a:rPr lang="zh-CN" altLang="en-US" sz="2800" dirty="0">
                <a:solidFill>
                  <a:srgbClr val="0000CC"/>
                </a:solidFill>
                <a:latin typeface="Times New Roman" panose="02020603050405020304" pitchFamily="18" charset="0"/>
                <a:ea typeface="黑体" panose="02010609060101010101" pitchFamily="49" charset="-122"/>
              </a:rPr>
              <a:t>亲和能力</a:t>
            </a:r>
            <a:r>
              <a:rPr lang="zh-CN" altLang="en-US" sz="2800" dirty="0">
                <a:solidFill>
                  <a:schemeClr val="tx1">
                    <a:lumMod val="95000"/>
                    <a:lumOff val="5000"/>
                  </a:schemeClr>
                </a:solidFill>
                <a:latin typeface="Times New Roman" panose="02020603050405020304" pitchFamily="18" charset="0"/>
                <a:ea typeface="黑体" panose="02010609060101010101" pitchFamily="49" charset="-122"/>
              </a:rPr>
              <a:t>）</a:t>
            </a:r>
            <a:endParaRPr lang="zh-CN" altLang="en-US" dirty="0">
              <a:solidFill>
                <a:schemeClr val="tx1">
                  <a:lumMod val="95000"/>
                  <a:lumOff val="5000"/>
                </a:schemeClr>
              </a:solidFill>
              <a:latin typeface="Times New Roman" panose="02020603050405020304" pitchFamily="18" charset="0"/>
              <a:ea typeface="黑体" panose="02010609060101010101" pitchFamily="49" charset="-122"/>
            </a:endParaRPr>
          </a:p>
        </p:txBody>
      </p:sp>
      <p:grpSp>
        <p:nvGrpSpPr>
          <p:cNvPr id="226309" name="Group 10">
            <a:extLst>
              <a:ext uri="{FF2B5EF4-FFF2-40B4-BE49-F238E27FC236}">
                <a16:creationId xmlns:a16="http://schemas.microsoft.com/office/drawing/2014/main" id="{678AC6CD-11E8-4DC8-9C10-6EE25D0CA298}"/>
              </a:ext>
            </a:extLst>
          </p:cNvPr>
          <p:cNvGrpSpPr>
            <a:grpSpLocks/>
          </p:cNvGrpSpPr>
          <p:nvPr/>
        </p:nvGrpSpPr>
        <p:grpSpPr bwMode="auto">
          <a:xfrm>
            <a:off x="3835400" y="3627439"/>
            <a:ext cx="4343400" cy="1114425"/>
            <a:chOff x="3264" y="2160"/>
            <a:chExt cx="2208" cy="570"/>
          </a:xfrm>
        </p:grpSpPr>
        <p:sp>
          <p:nvSpPr>
            <p:cNvPr id="970763" name="Text Box 11">
              <a:extLst>
                <a:ext uri="{FF2B5EF4-FFF2-40B4-BE49-F238E27FC236}">
                  <a16:creationId xmlns:a16="http://schemas.microsoft.com/office/drawing/2014/main" id="{803905BD-0A91-46CD-A30E-53150457E1B1}"/>
                </a:ext>
              </a:extLst>
            </p:cNvPr>
            <p:cNvSpPr txBox="1">
              <a:spLocks noChangeArrowheads="1"/>
            </p:cNvSpPr>
            <p:nvPr/>
          </p:nvSpPr>
          <p:spPr bwMode="auto">
            <a:xfrm>
              <a:off x="3264" y="2304"/>
              <a:ext cx="2208" cy="235"/>
            </a:xfrm>
            <a:prstGeom prst="rect">
              <a:avLst/>
            </a:prstGeom>
            <a:noFill/>
            <a:ln w="12700">
              <a:noFill/>
              <a:miter lim="800000"/>
              <a:headEnd type="none" w="sm" len="sm"/>
              <a:tailEnd type="none" w="sm" len="sm"/>
            </a:ln>
            <a:effectLst/>
          </p:spPr>
          <p:txBody>
            <a:bodyPr>
              <a:spAutoFit/>
            </a:bodyPr>
            <a:lstStyle/>
            <a:p>
              <a:pPr eaLnBrk="1" hangingPunct="1">
                <a:spcBef>
                  <a:spcPct val="50000"/>
                </a:spcBef>
                <a:defRPr/>
              </a:pPr>
              <a:r>
                <a:rPr kumimoji="1" lang="en-US" altLang="zh-CN" sz="2400" b="1" dirty="0">
                  <a:solidFill>
                    <a:schemeClr val="accent2"/>
                  </a:solidFill>
                  <a:effectLst>
                    <a:outerShdw blurRad="38100" dist="38100" dir="2700000" algn="tl">
                      <a:srgbClr val="C0C0C0"/>
                    </a:outerShdw>
                  </a:effectLst>
                  <a:latin typeface="Times New Roman" pitchFamily="18" charset="0"/>
                  <a:ea typeface="黑体" pitchFamily="49" charset="-122"/>
                </a:rPr>
                <a:t>E + S               ES           P + E</a:t>
              </a:r>
            </a:p>
          </p:txBody>
        </p:sp>
        <p:sp>
          <p:nvSpPr>
            <p:cNvPr id="226314" name="Line 12">
              <a:extLst>
                <a:ext uri="{FF2B5EF4-FFF2-40B4-BE49-F238E27FC236}">
                  <a16:creationId xmlns:a16="http://schemas.microsoft.com/office/drawing/2014/main" id="{D19DF4D5-8FFD-4062-BBF3-B3E15844C98A}"/>
                </a:ext>
              </a:extLst>
            </p:cNvPr>
            <p:cNvSpPr>
              <a:spLocks noChangeShapeType="1"/>
            </p:cNvSpPr>
            <p:nvPr/>
          </p:nvSpPr>
          <p:spPr bwMode="auto">
            <a:xfrm>
              <a:off x="3840" y="2448"/>
              <a:ext cx="336" cy="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15" name="Line 13">
              <a:extLst>
                <a:ext uri="{FF2B5EF4-FFF2-40B4-BE49-F238E27FC236}">
                  <a16:creationId xmlns:a16="http://schemas.microsoft.com/office/drawing/2014/main" id="{AF245A42-8FE8-4724-AF9B-9D3E40605740}"/>
                </a:ext>
              </a:extLst>
            </p:cNvPr>
            <p:cNvSpPr>
              <a:spLocks noChangeShapeType="1"/>
            </p:cNvSpPr>
            <p:nvPr/>
          </p:nvSpPr>
          <p:spPr bwMode="auto">
            <a:xfrm flipH="1">
              <a:off x="3840" y="2496"/>
              <a:ext cx="336" cy="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0766" name="Text Box 14">
              <a:extLst>
                <a:ext uri="{FF2B5EF4-FFF2-40B4-BE49-F238E27FC236}">
                  <a16:creationId xmlns:a16="http://schemas.microsoft.com/office/drawing/2014/main" id="{43B97B9C-5E83-4170-B5C3-866AB9B8B3D3}"/>
                </a:ext>
              </a:extLst>
            </p:cNvPr>
            <p:cNvSpPr txBox="1">
              <a:spLocks noChangeArrowheads="1"/>
            </p:cNvSpPr>
            <p:nvPr/>
          </p:nvSpPr>
          <p:spPr bwMode="auto">
            <a:xfrm>
              <a:off x="3840" y="2160"/>
              <a:ext cx="480" cy="234"/>
            </a:xfrm>
            <a:prstGeom prst="rect">
              <a:avLst/>
            </a:prstGeom>
            <a:noFill/>
            <a:ln w="12700">
              <a:noFill/>
              <a:miter lim="800000"/>
              <a:headEnd type="none" w="sm" len="sm"/>
              <a:tailEnd type="none" w="sm" len="sm"/>
            </a:ln>
            <a:effectLst/>
          </p:spPr>
          <p:txBody>
            <a:bodyPr>
              <a:spAutoFit/>
            </a:bodyPr>
            <a:lstStyle/>
            <a:p>
              <a:pPr eaLnBrk="1" hangingPunct="1">
                <a:spcBef>
                  <a:spcPct val="50000"/>
                </a:spcBef>
                <a:defRPr/>
              </a:pPr>
              <a:r>
                <a:rPr kumimoji="1" lang="en-US" altLang="zh-CN" sz="2400" dirty="0">
                  <a:solidFill>
                    <a:srgbClr val="0000CC"/>
                  </a:solidFill>
                  <a:effectLst>
                    <a:outerShdw blurRad="38100" dist="38100" dir="2700000" algn="tl">
                      <a:srgbClr val="C0C0C0"/>
                    </a:outerShdw>
                  </a:effectLst>
                  <a:latin typeface="Times New Roman" pitchFamily="18" charset="0"/>
                  <a:ea typeface="黑体" pitchFamily="49" charset="-122"/>
                </a:rPr>
                <a:t>k</a:t>
              </a:r>
              <a:r>
                <a:rPr kumimoji="1" lang="en-US" altLang="zh-CN" sz="2400" baseline="-25000" dirty="0">
                  <a:solidFill>
                    <a:srgbClr val="0000CC"/>
                  </a:solidFill>
                  <a:effectLst>
                    <a:outerShdw blurRad="38100" dist="38100" dir="2700000" algn="tl">
                      <a:srgbClr val="C0C0C0"/>
                    </a:outerShdw>
                  </a:effectLst>
                  <a:latin typeface="Times New Roman" pitchFamily="18" charset="0"/>
                  <a:ea typeface="黑体" pitchFamily="49" charset="-122"/>
                </a:rPr>
                <a:t>1</a:t>
              </a:r>
              <a:endParaRPr kumimoji="1" lang="en-US" altLang="zh-CN" sz="2400" baseline="-25000" dirty="0">
                <a:solidFill>
                  <a:srgbClr val="0000CC"/>
                </a:solidFill>
                <a:latin typeface="Times New Roman" pitchFamily="18" charset="0"/>
                <a:ea typeface="黑体" pitchFamily="49" charset="-122"/>
              </a:endParaRPr>
            </a:p>
          </p:txBody>
        </p:sp>
        <p:sp>
          <p:nvSpPr>
            <p:cNvPr id="970767" name="Text Box 15">
              <a:extLst>
                <a:ext uri="{FF2B5EF4-FFF2-40B4-BE49-F238E27FC236}">
                  <a16:creationId xmlns:a16="http://schemas.microsoft.com/office/drawing/2014/main" id="{40BF8E6B-7C23-49A0-90F0-172DE4E61780}"/>
                </a:ext>
              </a:extLst>
            </p:cNvPr>
            <p:cNvSpPr txBox="1">
              <a:spLocks noChangeArrowheads="1"/>
            </p:cNvSpPr>
            <p:nvPr/>
          </p:nvSpPr>
          <p:spPr bwMode="auto">
            <a:xfrm>
              <a:off x="3840" y="2496"/>
              <a:ext cx="480" cy="234"/>
            </a:xfrm>
            <a:prstGeom prst="rect">
              <a:avLst/>
            </a:prstGeom>
            <a:noFill/>
            <a:ln w="12700">
              <a:noFill/>
              <a:miter lim="800000"/>
              <a:headEnd type="none" w="sm" len="sm"/>
              <a:tailEnd type="none" w="sm" len="sm"/>
            </a:ln>
            <a:effectLst/>
          </p:spPr>
          <p:txBody>
            <a:bodyPr>
              <a:spAutoFit/>
            </a:bodyPr>
            <a:lstStyle/>
            <a:p>
              <a:pPr eaLnBrk="1" hangingPunct="1">
                <a:spcBef>
                  <a:spcPct val="50000"/>
                </a:spcBef>
                <a:defRPr/>
              </a:pPr>
              <a:r>
                <a:rPr kumimoji="1" lang="en-US" altLang="zh-CN" sz="2400" dirty="0">
                  <a:solidFill>
                    <a:srgbClr val="0000CC"/>
                  </a:solidFill>
                  <a:effectLst>
                    <a:outerShdw blurRad="38100" dist="38100" dir="2700000" algn="tl">
                      <a:srgbClr val="C0C0C0"/>
                    </a:outerShdw>
                  </a:effectLst>
                  <a:latin typeface="Times New Roman" pitchFamily="18" charset="0"/>
                  <a:ea typeface="黑体" pitchFamily="49" charset="-122"/>
                </a:rPr>
                <a:t>k</a:t>
              </a:r>
              <a:r>
                <a:rPr kumimoji="1" lang="en-US" altLang="zh-CN" sz="2400" baseline="-25000" dirty="0">
                  <a:solidFill>
                    <a:srgbClr val="0000CC"/>
                  </a:solidFill>
                  <a:effectLst>
                    <a:outerShdw blurRad="38100" dist="38100" dir="2700000" algn="tl">
                      <a:srgbClr val="C0C0C0"/>
                    </a:outerShdw>
                  </a:effectLst>
                  <a:latin typeface="Times New Roman" pitchFamily="18" charset="0"/>
                  <a:ea typeface="黑体" pitchFamily="49" charset="-122"/>
                </a:rPr>
                <a:t>2</a:t>
              </a:r>
              <a:endParaRPr kumimoji="1" lang="en-US" altLang="zh-CN" sz="2400" baseline="-25000" dirty="0">
                <a:solidFill>
                  <a:srgbClr val="0000CC"/>
                </a:solidFill>
                <a:latin typeface="Times New Roman" pitchFamily="18" charset="0"/>
                <a:ea typeface="黑体" pitchFamily="49" charset="-122"/>
              </a:endParaRPr>
            </a:p>
          </p:txBody>
        </p:sp>
        <p:sp>
          <p:nvSpPr>
            <p:cNvPr id="226318" name="Line 16">
              <a:extLst>
                <a:ext uri="{FF2B5EF4-FFF2-40B4-BE49-F238E27FC236}">
                  <a16:creationId xmlns:a16="http://schemas.microsoft.com/office/drawing/2014/main" id="{EF09F40F-0636-4817-B85E-9EAD3E9229A0}"/>
                </a:ext>
              </a:extLst>
            </p:cNvPr>
            <p:cNvSpPr>
              <a:spLocks noChangeShapeType="1"/>
            </p:cNvSpPr>
            <p:nvPr/>
          </p:nvSpPr>
          <p:spPr bwMode="auto">
            <a:xfrm>
              <a:off x="4512" y="2448"/>
              <a:ext cx="288" cy="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0769" name="Text Box 17">
              <a:extLst>
                <a:ext uri="{FF2B5EF4-FFF2-40B4-BE49-F238E27FC236}">
                  <a16:creationId xmlns:a16="http://schemas.microsoft.com/office/drawing/2014/main" id="{6D163B21-8D30-48D8-A0EE-6D5AF4178C44}"/>
                </a:ext>
              </a:extLst>
            </p:cNvPr>
            <p:cNvSpPr txBox="1">
              <a:spLocks noChangeArrowheads="1"/>
            </p:cNvSpPr>
            <p:nvPr/>
          </p:nvSpPr>
          <p:spPr bwMode="auto">
            <a:xfrm>
              <a:off x="4512" y="2160"/>
              <a:ext cx="480" cy="234"/>
            </a:xfrm>
            <a:prstGeom prst="rect">
              <a:avLst/>
            </a:prstGeom>
            <a:noFill/>
            <a:ln w="12700">
              <a:noFill/>
              <a:miter lim="800000"/>
              <a:headEnd type="none" w="sm" len="sm"/>
              <a:tailEnd type="none" w="sm" len="sm"/>
            </a:ln>
            <a:effectLst/>
          </p:spPr>
          <p:txBody>
            <a:bodyPr>
              <a:spAutoFit/>
            </a:bodyPr>
            <a:lstStyle/>
            <a:p>
              <a:pPr eaLnBrk="1" hangingPunct="1">
                <a:spcBef>
                  <a:spcPct val="50000"/>
                </a:spcBef>
                <a:defRPr/>
              </a:pPr>
              <a:r>
                <a:rPr kumimoji="1" lang="en-US" altLang="zh-CN" sz="2400" dirty="0">
                  <a:solidFill>
                    <a:srgbClr val="0000CC"/>
                  </a:solidFill>
                  <a:effectLst>
                    <a:outerShdw blurRad="38100" dist="38100" dir="2700000" algn="tl">
                      <a:srgbClr val="C0C0C0"/>
                    </a:outerShdw>
                  </a:effectLst>
                  <a:latin typeface="Times New Roman" pitchFamily="18" charset="0"/>
                  <a:ea typeface="黑体" pitchFamily="49" charset="-122"/>
                </a:rPr>
                <a:t>k</a:t>
              </a:r>
              <a:r>
                <a:rPr kumimoji="1" lang="en-US" altLang="zh-CN" sz="2400" baseline="-25000" dirty="0">
                  <a:solidFill>
                    <a:srgbClr val="0000CC"/>
                  </a:solidFill>
                  <a:effectLst>
                    <a:outerShdw blurRad="38100" dist="38100" dir="2700000" algn="tl">
                      <a:srgbClr val="C0C0C0"/>
                    </a:outerShdw>
                  </a:effectLst>
                  <a:latin typeface="Times New Roman" pitchFamily="18" charset="0"/>
                  <a:ea typeface="黑体" pitchFamily="49" charset="-122"/>
                </a:rPr>
                <a:t>3</a:t>
              </a:r>
              <a:endParaRPr kumimoji="1" lang="en-US" altLang="zh-CN" sz="2400" baseline="-25000" dirty="0">
                <a:solidFill>
                  <a:srgbClr val="0000CC"/>
                </a:solidFill>
                <a:latin typeface="Times New Roman" pitchFamily="18" charset="0"/>
                <a:ea typeface="黑体" pitchFamily="49" charset="-122"/>
              </a:endParaRPr>
            </a:p>
          </p:txBody>
        </p:sp>
      </p:grpSp>
      <p:sp>
        <p:nvSpPr>
          <p:cNvPr id="970770" name="Text Box 18">
            <a:extLst>
              <a:ext uri="{FF2B5EF4-FFF2-40B4-BE49-F238E27FC236}">
                <a16:creationId xmlns:a16="http://schemas.microsoft.com/office/drawing/2014/main" id="{303D3C43-4D33-490F-83C7-1A0212F6590D}"/>
              </a:ext>
            </a:extLst>
          </p:cNvPr>
          <p:cNvSpPr txBox="1">
            <a:spLocks noChangeArrowheads="1"/>
          </p:cNvSpPr>
          <p:nvPr/>
        </p:nvSpPr>
        <p:spPr bwMode="auto">
          <a:xfrm>
            <a:off x="3263900" y="4868863"/>
            <a:ext cx="6997700" cy="1200150"/>
          </a:xfrm>
          <a:prstGeom prst="rect">
            <a:avLst/>
          </a:prstGeom>
          <a:noFill/>
          <a:ln>
            <a:noFill/>
          </a:ln>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defRPr/>
            </a:pPr>
            <a:r>
              <a:rPr kumimoji="1" lang="zh-CN" altLang="en-US" sz="2400" dirty="0">
                <a:solidFill>
                  <a:schemeClr val="tx1">
                    <a:lumMod val="95000"/>
                    <a:lumOff val="5000"/>
                  </a:schemeClr>
                </a:solidFill>
                <a:latin typeface="Times New Roman" panose="02020603050405020304" pitchFamily="18" charset="0"/>
                <a:ea typeface="黑体" panose="02010609060101010101" pitchFamily="49" charset="-122"/>
              </a:rPr>
              <a:t>此时的</a:t>
            </a:r>
            <a:r>
              <a:rPr kumimoji="1" lang="en-US" altLang="zh-CN" sz="2400" dirty="0">
                <a:solidFill>
                  <a:schemeClr val="tx1">
                    <a:lumMod val="95000"/>
                    <a:lumOff val="5000"/>
                  </a:schemeClr>
                </a:solidFill>
                <a:latin typeface="Times New Roman" panose="02020603050405020304" pitchFamily="18" charset="0"/>
                <a:ea typeface="黑体" panose="02010609060101010101" pitchFamily="49" charset="-122"/>
              </a:rPr>
              <a:t>Km</a:t>
            </a:r>
            <a:r>
              <a:rPr kumimoji="1" lang="zh-CN" altLang="en-US" sz="2400" dirty="0">
                <a:solidFill>
                  <a:schemeClr val="tx1">
                    <a:lumMod val="95000"/>
                    <a:lumOff val="5000"/>
                  </a:schemeClr>
                </a:solidFill>
                <a:latin typeface="Times New Roman" panose="02020603050405020304" pitchFamily="18" charset="0"/>
                <a:ea typeface="黑体" panose="02010609060101010101" pitchFamily="49" charset="-122"/>
              </a:rPr>
              <a:t>相当于是</a:t>
            </a:r>
            <a:r>
              <a:rPr kumimoji="1" lang="en-US" altLang="zh-CN" sz="2400" dirty="0">
                <a:solidFill>
                  <a:schemeClr val="tx1">
                    <a:lumMod val="95000"/>
                    <a:lumOff val="5000"/>
                  </a:schemeClr>
                </a:solidFill>
                <a:latin typeface="Times New Roman" panose="02020603050405020304" pitchFamily="18" charset="0"/>
                <a:ea typeface="黑体" panose="02010609060101010101" pitchFamily="49" charset="-122"/>
              </a:rPr>
              <a:t>ES</a:t>
            </a:r>
            <a:r>
              <a:rPr kumimoji="1" lang="zh-CN" altLang="en-US" sz="2400" dirty="0">
                <a:solidFill>
                  <a:schemeClr val="tx1">
                    <a:lumMod val="95000"/>
                    <a:lumOff val="5000"/>
                  </a:schemeClr>
                </a:solidFill>
                <a:latin typeface="Times New Roman" panose="02020603050405020304" pitchFamily="18" charset="0"/>
                <a:ea typeface="黑体" panose="02010609060101010101" pitchFamily="49" charset="-122"/>
              </a:rPr>
              <a:t>的解离常数</a:t>
            </a:r>
            <a:endParaRPr kumimoji="1" lang="en-US" altLang="zh-CN" sz="2400" dirty="0">
              <a:solidFill>
                <a:schemeClr val="tx1">
                  <a:lumMod val="95000"/>
                  <a:lumOff val="5000"/>
                </a:schemeClr>
              </a:solidFill>
              <a:latin typeface="Times New Roman" panose="02020603050405020304" pitchFamily="18" charset="0"/>
              <a:ea typeface="黑体" panose="02010609060101010101" pitchFamily="49" charset="-122"/>
            </a:endParaRPr>
          </a:p>
          <a:p>
            <a:pPr eaLnBrk="1" hangingPunct="1">
              <a:spcBef>
                <a:spcPct val="50000"/>
              </a:spcBef>
              <a:buFontTx/>
              <a:buNone/>
              <a:defRPr/>
            </a:pPr>
            <a:r>
              <a:rPr kumimoji="1" lang="en-US" altLang="zh-CN" dirty="0">
                <a:solidFill>
                  <a:srgbClr val="C00000"/>
                </a:solidFill>
                <a:latin typeface="Times New Roman" panose="02020603050405020304" pitchFamily="18" charset="0"/>
                <a:ea typeface="黑体" panose="02010609060101010101" pitchFamily="49" charset="-122"/>
              </a:rPr>
              <a:t>K</a:t>
            </a:r>
            <a:r>
              <a:rPr kumimoji="1" lang="en-US" altLang="zh-CN" baseline="-25000" dirty="0">
                <a:solidFill>
                  <a:srgbClr val="C00000"/>
                </a:solidFill>
                <a:latin typeface="Times New Roman" panose="02020603050405020304" pitchFamily="18" charset="0"/>
                <a:ea typeface="黑体" panose="02010609060101010101" pitchFamily="49" charset="-122"/>
              </a:rPr>
              <a:t>m</a:t>
            </a:r>
            <a:r>
              <a:rPr kumimoji="1" lang="zh-CN" altLang="en-US" dirty="0">
                <a:solidFill>
                  <a:srgbClr val="C00000"/>
                </a:solidFill>
                <a:latin typeface="Times New Roman" panose="02020603050405020304" pitchFamily="18" charset="0"/>
                <a:ea typeface="黑体" panose="02010609060101010101" pitchFamily="49" charset="-122"/>
              </a:rPr>
              <a:t>越小，亲和力越强，催化效率越高</a:t>
            </a:r>
            <a:endParaRPr kumimoji="1" lang="zh-CN" altLang="en-US" sz="1800" dirty="0">
              <a:solidFill>
                <a:srgbClr val="C00000"/>
              </a:solidFill>
              <a:latin typeface="Times New Roman" panose="02020603050405020304" pitchFamily="18" charset="0"/>
              <a:ea typeface="黑体" panose="02010609060101010101" pitchFamily="49" charset="-122"/>
            </a:endParaRPr>
          </a:p>
        </p:txBody>
      </p:sp>
      <p:sp>
        <p:nvSpPr>
          <p:cNvPr id="970771" name="Text Box 19">
            <a:extLst>
              <a:ext uri="{FF2B5EF4-FFF2-40B4-BE49-F238E27FC236}">
                <a16:creationId xmlns:a16="http://schemas.microsoft.com/office/drawing/2014/main" id="{9CD505F4-118E-4EC9-B9BC-BA6C0BF7D598}"/>
              </a:ext>
            </a:extLst>
          </p:cNvPr>
          <p:cNvSpPr txBox="1">
            <a:spLocks noChangeArrowheads="1"/>
          </p:cNvSpPr>
          <p:nvPr/>
        </p:nvSpPr>
        <p:spPr bwMode="auto">
          <a:xfrm>
            <a:off x="3058319" y="1461543"/>
            <a:ext cx="22399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800" b="1" dirty="0">
                <a:solidFill>
                  <a:schemeClr val="accent2"/>
                </a:solidFill>
                <a:latin typeface="Times New Roman" panose="02020603050405020304" pitchFamily="18" charset="0"/>
                <a:ea typeface="黑体" panose="02010609060101010101" pitchFamily="49" charset="-122"/>
              </a:rPr>
              <a:t>当</a:t>
            </a:r>
            <a:r>
              <a:rPr kumimoji="1" lang="en-US" altLang="zh-CN" sz="2800" b="1" dirty="0">
                <a:solidFill>
                  <a:schemeClr val="accent2"/>
                </a:solidFill>
                <a:latin typeface="Times New Roman" panose="02020603050405020304" pitchFamily="18" charset="0"/>
                <a:ea typeface="黑体" panose="02010609060101010101" pitchFamily="49" charset="-122"/>
              </a:rPr>
              <a:t>k</a:t>
            </a:r>
            <a:r>
              <a:rPr kumimoji="1" lang="en-US" altLang="zh-CN" sz="2800" b="1" baseline="-25000" dirty="0">
                <a:solidFill>
                  <a:schemeClr val="accent2"/>
                </a:solidFill>
                <a:latin typeface="Times New Roman" panose="02020603050405020304" pitchFamily="18" charset="0"/>
                <a:ea typeface="黑体" panose="02010609060101010101" pitchFamily="49" charset="-122"/>
              </a:rPr>
              <a:t>2</a:t>
            </a:r>
            <a:r>
              <a:rPr kumimoji="1" lang="en-US" altLang="zh-CN" sz="2800" b="1" dirty="0">
                <a:solidFill>
                  <a:schemeClr val="accent2"/>
                </a:solidFill>
                <a:latin typeface="Times New Roman" panose="02020603050405020304" pitchFamily="18" charset="0"/>
                <a:ea typeface="黑体" panose="02010609060101010101" pitchFamily="49" charset="-122"/>
              </a:rPr>
              <a:t>&gt;&gt;k</a:t>
            </a:r>
            <a:r>
              <a:rPr kumimoji="1" lang="en-US" altLang="zh-CN" sz="2800" b="1" baseline="-25000" dirty="0">
                <a:solidFill>
                  <a:schemeClr val="accent2"/>
                </a:solidFill>
                <a:latin typeface="Times New Roman" panose="02020603050405020304" pitchFamily="18" charset="0"/>
                <a:ea typeface="黑体" panose="02010609060101010101" pitchFamily="49" charset="-122"/>
              </a:rPr>
              <a:t>3</a:t>
            </a:r>
            <a:r>
              <a:rPr kumimoji="1" lang="zh-CN" altLang="en-US" sz="2800" b="1" dirty="0">
                <a:solidFill>
                  <a:schemeClr val="accent2"/>
                </a:solidFill>
                <a:latin typeface="Times New Roman" panose="02020603050405020304" pitchFamily="18" charset="0"/>
                <a:ea typeface="黑体" panose="02010609060101010101" pitchFamily="49" charset="-122"/>
              </a:rPr>
              <a:t>时</a:t>
            </a:r>
            <a:r>
              <a:rPr kumimoji="1" lang="en-US" altLang="zh-CN" sz="2800" b="1" dirty="0">
                <a:solidFill>
                  <a:schemeClr val="accent2"/>
                </a:solidFill>
                <a:latin typeface="Times New Roman" panose="02020603050405020304" pitchFamily="18" charset="0"/>
                <a:ea typeface="黑体" panose="02010609060101010101" pitchFamily="49" charset="-122"/>
              </a:rPr>
              <a:t>,   </a:t>
            </a:r>
            <a:endParaRPr kumimoji="1" lang="zh-CN" altLang="en-US" sz="2800" b="1" dirty="0">
              <a:solidFill>
                <a:schemeClr val="accent2"/>
              </a:solidFill>
              <a:latin typeface="Times New Roman" panose="02020603050405020304" pitchFamily="18" charset="0"/>
              <a:ea typeface="黑体" panose="02010609060101010101" pitchFamily="49" charset="-122"/>
            </a:endParaRPr>
          </a:p>
        </p:txBody>
      </p:sp>
      <p:sp>
        <p:nvSpPr>
          <p:cNvPr id="970772" name="Line 20">
            <a:extLst>
              <a:ext uri="{FF2B5EF4-FFF2-40B4-BE49-F238E27FC236}">
                <a16:creationId xmlns:a16="http://schemas.microsoft.com/office/drawing/2014/main" id="{C9F48E25-1F12-499D-A10E-EFDE5FA3B6D7}"/>
              </a:ext>
            </a:extLst>
          </p:cNvPr>
          <p:cNvSpPr>
            <a:spLocks noChangeShapeType="1"/>
          </p:cNvSpPr>
          <p:nvPr/>
        </p:nvSpPr>
        <p:spPr bwMode="auto">
          <a:xfrm>
            <a:off x="5918200" y="2111376"/>
            <a:ext cx="668338" cy="379413"/>
          </a:xfrm>
          <a:prstGeom prst="line">
            <a:avLst/>
          </a:prstGeom>
          <a:noFill/>
          <a:ln w="38100">
            <a:solidFill>
              <a:srgbClr val="0000CC"/>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70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7077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970761">
                                            <p:txEl>
                                              <p:pRg st="0" end="0"/>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70770">
                                            <p:txEl>
                                              <p:pRg st="0" end="0"/>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7077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761" grpId="0" build="p" autoUpdateAnimBg="0"/>
      <p:bldP spid="970770" grpId="0" build="p" autoUpdateAnimBg="0"/>
      <p:bldP spid="970771"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8354" name="图片 1">
            <a:extLst>
              <a:ext uri="{FF2B5EF4-FFF2-40B4-BE49-F238E27FC236}">
                <a16:creationId xmlns:a16="http://schemas.microsoft.com/office/drawing/2014/main" id="{ACFA153A-4C53-48E4-B86D-6E410C90241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9456" y="134937"/>
            <a:ext cx="4826000" cy="658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8355" name="文本框 2">
            <a:extLst>
              <a:ext uri="{FF2B5EF4-FFF2-40B4-BE49-F238E27FC236}">
                <a16:creationId xmlns:a16="http://schemas.microsoft.com/office/drawing/2014/main" id="{1BF0F552-AF20-4796-896E-89DA350CCBF8}"/>
              </a:ext>
            </a:extLst>
          </p:cNvPr>
          <p:cNvSpPr txBox="1">
            <a:spLocks noChangeArrowheads="1"/>
          </p:cNvSpPr>
          <p:nvPr/>
        </p:nvSpPr>
        <p:spPr bwMode="auto">
          <a:xfrm>
            <a:off x="6528048" y="1124744"/>
            <a:ext cx="4968552" cy="1712913"/>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457200" indent="-457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30000"/>
              </a:lnSpc>
              <a:spcBef>
                <a:spcPct val="0"/>
              </a:spcBef>
              <a:buFont typeface="Wingdings" panose="05000000000000000000" pitchFamily="2" charset="2"/>
              <a:buChar char="Ø"/>
            </a:pPr>
            <a:r>
              <a:rPr lang="en-US" altLang="zh-CN" sz="2800" dirty="0">
                <a:latin typeface="Times New Roman" panose="02020603050405020304" pitchFamily="18" charset="0"/>
                <a:ea typeface="黑体" panose="02010609060101010101" pitchFamily="49" charset="-122"/>
              </a:rPr>
              <a:t>K</a:t>
            </a:r>
            <a:r>
              <a:rPr lang="en-US" altLang="zh-CN" sz="2800" baseline="-25000" dirty="0">
                <a:latin typeface="Times New Roman" panose="02020603050405020304" pitchFamily="18" charset="0"/>
                <a:ea typeface="黑体" panose="02010609060101010101" pitchFamily="49" charset="-122"/>
              </a:rPr>
              <a:t>m</a:t>
            </a:r>
            <a:r>
              <a:rPr lang="zh-CN" altLang="en-US" sz="2800" dirty="0">
                <a:latin typeface="Times New Roman" panose="02020603050405020304" pitchFamily="18" charset="0"/>
                <a:ea typeface="黑体" panose="02010609060101010101" pitchFamily="49" charset="-122"/>
              </a:rPr>
              <a:t>较小的酶通常在底物浓度较低时即可达到较高反应速度。</a:t>
            </a:r>
            <a:endParaRPr lang="en-US" altLang="zh-CN" sz="2800" dirty="0">
              <a:latin typeface="Times New Roman" panose="02020603050405020304" pitchFamily="18" charset="0"/>
              <a:ea typeface="黑体" panose="02010609060101010101" pitchFamily="49" charset="-122"/>
            </a:endParaRPr>
          </a:p>
        </p:txBody>
      </p:sp>
      <p:sp>
        <p:nvSpPr>
          <p:cNvPr id="5" name="Rectangle 2">
            <a:extLst>
              <a:ext uri="{FF2B5EF4-FFF2-40B4-BE49-F238E27FC236}">
                <a16:creationId xmlns:a16="http://schemas.microsoft.com/office/drawing/2014/main" id="{9BEB46F5-B4EB-4316-899A-A01146CDD601}"/>
              </a:ext>
            </a:extLst>
          </p:cNvPr>
          <p:cNvSpPr>
            <a:spLocks noChangeArrowheads="1"/>
          </p:cNvSpPr>
          <p:nvPr/>
        </p:nvSpPr>
        <p:spPr bwMode="auto">
          <a:xfrm>
            <a:off x="6528048" y="3694064"/>
            <a:ext cx="4968552" cy="1712520"/>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indent="-45720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lvl="1" eaLnBrk="1" hangingPunct="1">
              <a:lnSpc>
                <a:spcPct val="130000"/>
              </a:lnSpc>
              <a:spcBef>
                <a:spcPct val="0"/>
              </a:spcBef>
              <a:buClr>
                <a:schemeClr val="tx1"/>
              </a:buClr>
              <a:buFont typeface="Wingdings" panose="05000000000000000000" pitchFamily="2" charset="2"/>
              <a:buChar char="Ø"/>
            </a:pPr>
            <a:r>
              <a:rPr lang="zh-CN" altLang="en-US" dirty="0">
                <a:latin typeface="Times New Roman" panose="02020603050405020304" pitchFamily="18" charset="0"/>
                <a:ea typeface="黑体" panose="02010609060101010101" pitchFamily="49" charset="-122"/>
              </a:rPr>
              <a:t>一种酶有几种不同的</a:t>
            </a:r>
            <a:r>
              <a:rPr lang="en-US" altLang="zh-CN" dirty="0">
                <a:latin typeface="Times New Roman" panose="02020603050405020304" pitchFamily="18" charset="0"/>
                <a:ea typeface="黑体" panose="02010609060101010101" pitchFamily="49" charset="-122"/>
              </a:rPr>
              <a:t>K</a:t>
            </a:r>
            <a:r>
              <a:rPr lang="en-US" altLang="zh-CN" baseline="-25000" dirty="0">
                <a:latin typeface="Times New Roman" panose="02020603050405020304" pitchFamily="18" charset="0"/>
                <a:ea typeface="黑体" panose="02010609060101010101" pitchFamily="49" charset="-122"/>
              </a:rPr>
              <a:t>m</a:t>
            </a:r>
            <a:r>
              <a:rPr lang="zh-CN" altLang="en-US" dirty="0">
                <a:latin typeface="Times New Roman" panose="02020603050405020304" pitchFamily="18" charset="0"/>
                <a:ea typeface="黑体" panose="02010609060101010101" pitchFamily="49" charset="-122"/>
              </a:rPr>
              <a:t>值时， </a:t>
            </a:r>
            <a:r>
              <a:rPr lang="en-US" altLang="zh-CN" dirty="0">
                <a:latin typeface="Times New Roman" panose="02020603050405020304" pitchFamily="18" charset="0"/>
                <a:ea typeface="黑体" panose="02010609060101010101" pitchFamily="49" charset="-122"/>
              </a:rPr>
              <a:t>K</a:t>
            </a:r>
            <a:r>
              <a:rPr lang="en-US" altLang="zh-CN" baseline="-25000" dirty="0">
                <a:latin typeface="Times New Roman" panose="02020603050405020304" pitchFamily="18" charset="0"/>
                <a:ea typeface="黑体" panose="02010609060101010101" pitchFamily="49" charset="-122"/>
              </a:rPr>
              <a:t>m</a:t>
            </a:r>
            <a:r>
              <a:rPr lang="zh-CN" altLang="en-US" dirty="0">
                <a:latin typeface="Times New Roman" panose="02020603050405020304" pitchFamily="18" charset="0"/>
                <a:ea typeface="黑体" panose="02010609060101010101" pitchFamily="49" charset="-122"/>
              </a:rPr>
              <a:t>值最小的底物是</a:t>
            </a:r>
            <a:r>
              <a:rPr lang="zh-CN" altLang="en-US" dirty="0">
                <a:solidFill>
                  <a:srgbClr val="C00000"/>
                </a:solidFill>
                <a:latin typeface="Times New Roman" panose="02020603050405020304" pitchFamily="18" charset="0"/>
                <a:ea typeface="黑体" panose="02010609060101010101" pitchFamily="49" charset="-122"/>
              </a:rPr>
              <a:t>天然底物</a:t>
            </a:r>
            <a:r>
              <a:rPr lang="zh-CN" altLang="en-US" dirty="0">
                <a:latin typeface="Times New Roman" panose="02020603050405020304" pitchFamily="18" charset="0"/>
                <a:ea typeface="黑体" panose="02010609060101010101" pitchFamily="49" charset="-122"/>
              </a:rPr>
              <a:t>或是</a:t>
            </a:r>
            <a:r>
              <a:rPr lang="zh-CN" altLang="en-US" dirty="0">
                <a:solidFill>
                  <a:srgbClr val="C00000"/>
                </a:solidFill>
                <a:latin typeface="Times New Roman" panose="02020603050405020304" pitchFamily="18" charset="0"/>
                <a:ea typeface="黑体" panose="02010609060101010101" pitchFamily="49" charset="-122"/>
              </a:rPr>
              <a:t>最适底物</a:t>
            </a:r>
            <a:r>
              <a:rPr lang="zh-CN" altLang="en-US" dirty="0">
                <a:latin typeface="Times New Roman" panose="02020603050405020304" pitchFamily="18" charset="0"/>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4" name="Rectangle 2">
            <a:extLst>
              <a:ext uri="{FF2B5EF4-FFF2-40B4-BE49-F238E27FC236}">
                <a16:creationId xmlns:a16="http://schemas.microsoft.com/office/drawing/2014/main" id="{8F190FF6-11B0-479D-A687-5FE59F77FBD9}"/>
              </a:ext>
            </a:extLst>
          </p:cNvPr>
          <p:cNvSpPr>
            <a:spLocks noChangeArrowheads="1"/>
          </p:cNvSpPr>
          <p:nvPr/>
        </p:nvSpPr>
        <p:spPr bwMode="auto">
          <a:xfrm>
            <a:off x="1091444" y="1541688"/>
            <a:ext cx="10261140" cy="3774623"/>
          </a:xfrm>
          <a:prstGeom prst="rect">
            <a:avLst/>
          </a:prstGeom>
          <a:noFill/>
          <a:ln>
            <a:noFill/>
          </a:ln>
        </p:spPr>
        <p:txBody>
          <a:bodyPr wrap="squar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993775" lvl="1" indent="-536575" eaLnBrk="1" hangingPunct="1">
              <a:lnSpc>
                <a:spcPct val="130000"/>
              </a:lnSpc>
              <a:spcBef>
                <a:spcPct val="50000"/>
              </a:spcBef>
              <a:buClr>
                <a:schemeClr val="tx1"/>
              </a:buClr>
              <a:buNone/>
              <a:defRPr/>
            </a:pPr>
            <a:r>
              <a:rPr lang="en-US" altLang="zh-CN" sz="3200" dirty="0">
                <a:latin typeface="Arial" panose="020B0604020202020204" pitchFamily="34" charset="0"/>
              </a:rPr>
              <a:t>④</a:t>
            </a:r>
            <a:r>
              <a:rPr lang="en-US" altLang="zh-CN" dirty="0">
                <a:solidFill>
                  <a:srgbClr val="FFFF00"/>
                </a:solidFill>
                <a:latin typeface="Times New Roman" panose="02020603050405020304" pitchFamily="18" charset="0"/>
                <a:ea typeface="黑体" panose="02010609060101010101" pitchFamily="49" charset="-122"/>
              </a:rPr>
              <a:t> </a:t>
            </a:r>
            <a:r>
              <a:rPr lang="en-US" altLang="zh-CN" dirty="0">
                <a:solidFill>
                  <a:schemeClr val="tx2"/>
                </a:solidFill>
                <a:latin typeface="Times New Roman" panose="02020603050405020304" pitchFamily="18" charset="0"/>
                <a:ea typeface="黑体" panose="02010609060101010101" pitchFamily="49" charset="-122"/>
              </a:rPr>
              <a:t>K</a:t>
            </a:r>
            <a:r>
              <a:rPr lang="en-US" altLang="zh-CN" baseline="-25000" dirty="0">
                <a:solidFill>
                  <a:schemeClr val="tx2"/>
                </a:solidFill>
                <a:latin typeface="Times New Roman" panose="02020603050405020304" pitchFamily="18" charset="0"/>
                <a:ea typeface="黑体" panose="02010609060101010101" pitchFamily="49" charset="-122"/>
              </a:rPr>
              <a:t>m</a:t>
            </a:r>
            <a:r>
              <a:rPr lang="zh-CN" altLang="en-US" dirty="0">
                <a:solidFill>
                  <a:schemeClr val="tx2"/>
                </a:solidFill>
                <a:latin typeface="Times New Roman" panose="02020603050405020304" pitchFamily="18" charset="0"/>
                <a:ea typeface="黑体" panose="02010609060101010101" pitchFamily="49" charset="-122"/>
              </a:rPr>
              <a:t>可用于判定酶催化的优势方向及代谢过程的限速步骤</a:t>
            </a:r>
          </a:p>
          <a:p>
            <a:pPr lvl="1" eaLnBrk="1" hangingPunct="1">
              <a:lnSpc>
                <a:spcPct val="130000"/>
              </a:lnSpc>
              <a:spcBef>
                <a:spcPct val="50000"/>
              </a:spcBef>
              <a:buClr>
                <a:schemeClr val="tx1"/>
              </a:buClr>
              <a:buFontTx/>
              <a:buNone/>
              <a:defRPr/>
            </a:pPr>
            <a:r>
              <a:rPr lang="zh-CN" altLang="en-US" dirty="0">
                <a:latin typeface="Times New Roman" panose="02020603050405020304" pitchFamily="18" charset="0"/>
                <a:ea typeface="黑体" panose="02010609060101010101" pitchFamily="49" charset="-122"/>
              </a:rPr>
              <a:t>    催化可逆反应的酶对正反应和逆反应两向底物的</a:t>
            </a:r>
            <a:r>
              <a:rPr lang="en-US" altLang="zh-CN" dirty="0">
                <a:latin typeface="Times New Roman" panose="02020603050405020304" pitchFamily="18" charset="0"/>
                <a:ea typeface="黑体" panose="02010609060101010101" pitchFamily="49" charset="-122"/>
              </a:rPr>
              <a:t>K</a:t>
            </a:r>
            <a:r>
              <a:rPr lang="en-US" altLang="zh-CN" baseline="-25000" dirty="0">
                <a:latin typeface="Times New Roman" panose="02020603050405020304" pitchFamily="18" charset="0"/>
                <a:ea typeface="黑体" panose="02010609060101010101" pitchFamily="49" charset="-122"/>
              </a:rPr>
              <a:t>m</a:t>
            </a:r>
            <a:r>
              <a:rPr lang="zh-CN" altLang="en-US" dirty="0">
                <a:latin typeface="Times New Roman" panose="02020603050405020304" pitchFamily="18" charset="0"/>
                <a:ea typeface="黑体" panose="02010609060101010101" pitchFamily="49" charset="-122"/>
              </a:rPr>
              <a:t>值不同</a:t>
            </a:r>
            <a:endParaRPr lang="en-US" altLang="zh-CN" dirty="0">
              <a:latin typeface="Times New Roman" panose="02020603050405020304" pitchFamily="18" charset="0"/>
              <a:ea typeface="黑体" panose="02010609060101010101" pitchFamily="49" charset="-122"/>
            </a:endParaRPr>
          </a:p>
          <a:p>
            <a:pPr lvl="1" eaLnBrk="1" hangingPunct="1">
              <a:lnSpc>
                <a:spcPct val="130000"/>
              </a:lnSpc>
              <a:spcBef>
                <a:spcPct val="50000"/>
              </a:spcBef>
              <a:buClr>
                <a:schemeClr val="tx1"/>
              </a:buClr>
              <a:buFontTx/>
              <a:buNone/>
              <a:defRPr/>
            </a:pPr>
            <a:r>
              <a:rPr lang="en-US" altLang="zh-CN" dirty="0">
                <a:solidFill>
                  <a:srgbClr val="0000CC"/>
                </a:solidFill>
                <a:latin typeface="Times New Roman" panose="02020603050405020304" pitchFamily="18" charset="0"/>
                <a:ea typeface="黑体" panose="02010609060101010101" pitchFamily="49" charset="-122"/>
              </a:rPr>
              <a:t>    ——K</a:t>
            </a:r>
            <a:r>
              <a:rPr lang="en-US" altLang="zh-CN" baseline="-25000" dirty="0">
                <a:solidFill>
                  <a:srgbClr val="0000CC"/>
                </a:solidFill>
                <a:latin typeface="Times New Roman" panose="02020603050405020304" pitchFamily="18" charset="0"/>
                <a:ea typeface="黑体" panose="02010609060101010101" pitchFamily="49" charset="-122"/>
              </a:rPr>
              <a:t>m</a:t>
            </a:r>
            <a:r>
              <a:rPr lang="zh-CN" altLang="en-US" dirty="0">
                <a:solidFill>
                  <a:srgbClr val="0000CC"/>
                </a:solidFill>
                <a:latin typeface="Times New Roman" panose="02020603050405020304" pitchFamily="18" charset="0"/>
                <a:ea typeface="黑体" panose="02010609060101010101" pitchFamily="49" charset="-122"/>
              </a:rPr>
              <a:t>较小者为酶催化的优势方向</a:t>
            </a:r>
          </a:p>
          <a:p>
            <a:pPr lvl="1" eaLnBrk="1" hangingPunct="1">
              <a:lnSpc>
                <a:spcPct val="130000"/>
              </a:lnSpc>
              <a:spcBef>
                <a:spcPct val="50000"/>
              </a:spcBef>
              <a:buClr>
                <a:schemeClr val="tx1"/>
              </a:buClr>
              <a:buFontTx/>
              <a:buNone/>
              <a:defRPr/>
            </a:pPr>
            <a:r>
              <a:rPr lang="zh-CN" altLang="en-US" dirty="0">
                <a:latin typeface="Times New Roman" panose="02020603050405020304" pitchFamily="18" charset="0"/>
                <a:ea typeface="黑体" panose="02010609060101010101" pitchFamily="49" charset="-122"/>
              </a:rPr>
              <a:t>  代谢途径连锁反应中各酶的</a:t>
            </a:r>
            <a:r>
              <a:rPr lang="en-US" altLang="zh-CN" dirty="0">
                <a:latin typeface="Times New Roman" panose="02020603050405020304" pitchFamily="18" charset="0"/>
                <a:ea typeface="黑体" panose="02010609060101010101" pitchFamily="49" charset="-122"/>
              </a:rPr>
              <a:t>K</a:t>
            </a:r>
            <a:r>
              <a:rPr lang="en-US" altLang="zh-CN" baseline="-25000" dirty="0">
                <a:latin typeface="Times New Roman" panose="02020603050405020304" pitchFamily="18" charset="0"/>
                <a:ea typeface="黑体" panose="02010609060101010101" pitchFamily="49" charset="-122"/>
              </a:rPr>
              <a:t>m</a:t>
            </a:r>
            <a:r>
              <a:rPr lang="zh-CN" altLang="en-US" dirty="0">
                <a:latin typeface="Times New Roman" panose="02020603050405020304" pitchFamily="18" charset="0"/>
                <a:ea typeface="黑体" panose="02010609060101010101" pitchFamily="49" charset="-122"/>
              </a:rPr>
              <a:t>值不同，</a:t>
            </a:r>
          </a:p>
          <a:p>
            <a:pPr lvl="1" eaLnBrk="1" hangingPunct="1">
              <a:lnSpc>
                <a:spcPct val="130000"/>
              </a:lnSpc>
              <a:spcBef>
                <a:spcPct val="50000"/>
              </a:spcBef>
              <a:buClr>
                <a:schemeClr val="tx1"/>
              </a:buClr>
              <a:buFontTx/>
              <a:buNone/>
              <a:defRPr/>
            </a:pPr>
            <a:r>
              <a:rPr lang="en-US" altLang="zh-CN" dirty="0">
                <a:solidFill>
                  <a:srgbClr val="0000CC"/>
                </a:solidFill>
                <a:latin typeface="Times New Roman" panose="02020603050405020304" pitchFamily="18" charset="0"/>
                <a:ea typeface="黑体" panose="02010609060101010101" pitchFamily="49" charset="-122"/>
              </a:rPr>
              <a:t>    ——K</a:t>
            </a:r>
            <a:r>
              <a:rPr lang="en-US" altLang="zh-CN" baseline="-25000" dirty="0">
                <a:solidFill>
                  <a:srgbClr val="0000CC"/>
                </a:solidFill>
                <a:latin typeface="Times New Roman" panose="02020603050405020304" pitchFamily="18" charset="0"/>
                <a:ea typeface="黑体" panose="02010609060101010101" pitchFamily="49" charset="-122"/>
              </a:rPr>
              <a:t>m</a:t>
            </a:r>
            <a:r>
              <a:rPr lang="zh-CN" altLang="en-US" dirty="0">
                <a:solidFill>
                  <a:srgbClr val="0000CC"/>
                </a:solidFill>
                <a:latin typeface="Times New Roman" panose="02020603050405020304" pitchFamily="18" charset="0"/>
                <a:ea typeface="黑体" panose="02010609060101010101" pitchFamily="49" charset="-122"/>
              </a:rPr>
              <a:t>较大者为限速酶</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75874">
                                            <p:txEl>
                                              <p:pRg st="1" end="1"/>
                                            </p:txEl>
                                          </p:spTgt>
                                        </p:tgtEl>
                                        <p:attrNameLst>
                                          <p:attrName>style.visibility</p:attrName>
                                        </p:attrNameLst>
                                      </p:cBhvr>
                                      <p:to>
                                        <p:strVal val="visible"/>
                                      </p:to>
                                    </p:set>
                                    <p:animEffect transition="in" filter="dissolve">
                                      <p:cBhvr>
                                        <p:cTn id="7" dur="500"/>
                                        <p:tgtEl>
                                          <p:spTgt spid="97587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75874">
                                            <p:txEl>
                                              <p:pRg st="2" end="2"/>
                                            </p:txEl>
                                          </p:spTgt>
                                        </p:tgtEl>
                                        <p:attrNameLst>
                                          <p:attrName>style.visibility</p:attrName>
                                        </p:attrNameLst>
                                      </p:cBhvr>
                                      <p:to>
                                        <p:strVal val="visible"/>
                                      </p:to>
                                    </p:set>
                                    <p:animEffect transition="in" filter="dissolve">
                                      <p:cBhvr>
                                        <p:cTn id="12" dur="500"/>
                                        <p:tgtEl>
                                          <p:spTgt spid="97587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75874">
                                            <p:txEl>
                                              <p:pRg st="3" end="3"/>
                                            </p:txEl>
                                          </p:spTgt>
                                        </p:tgtEl>
                                        <p:attrNameLst>
                                          <p:attrName>style.visibility</p:attrName>
                                        </p:attrNameLst>
                                      </p:cBhvr>
                                      <p:to>
                                        <p:strVal val="visible"/>
                                      </p:to>
                                    </p:set>
                                    <p:animEffect transition="in" filter="dissolve">
                                      <p:cBhvr>
                                        <p:cTn id="17" dur="500"/>
                                        <p:tgtEl>
                                          <p:spTgt spid="975874">
                                            <p:txEl>
                                              <p:pRg st="3" end="3"/>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975874">
                                            <p:txEl>
                                              <p:pRg st="4" end="4"/>
                                            </p:txEl>
                                          </p:spTgt>
                                        </p:tgtEl>
                                        <p:attrNameLst>
                                          <p:attrName>style.visibility</p:attrName>
                                        </p:attrNameLst>
                                      </p:cBhvr>
                                      <p:to>
                                        <p:strVal val="visible"/>
                                      </p:to>
                                    </p:set>
                                    <p:animEffect transition="in" filter="dissolve">
                                      <p:cBhvr>
                                        <p:cTn id="20" dur="500"/>
                                        <p:tgtEl>
                                          <p:spTgt spid="97587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矩形 1">
            <a:extLst>
              <a:ext uri="{FF2B5EF4-FFF2-40B4-BE49-F238E27FC236}">
                <a16:creationId xmlns:a16="http://schemas.microsoft.com/office/drawing/2014/main" id="{352F6E85-332C-412C-A3B9-7D7B05CC2160}"/>
              </a:ext>
            </a:extLst>
          </p:cNvPr>
          <p:cNvSpPr>
            <a:spLocks noChangeArrowheads="1"/>
          </p:cNvSpPr>
          <p:nvPr/>
        </p:nvSpPr>
        <p:spPr bwMode="auto">
          <a:xfrm>
            <a:off x="2063751" y="5516564"/>
            <a:ext cx="8353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800">
                <a:solidFill>
                  <a:srgbClr val="0000CC"/>
                </a:solidFill>
                <a:latin typeface="黑体" panose="02010609060101010101" pitchFamily="49" charset="-122"/>
                <a:ea typeface="黑体" panose="02010609060101010101" pitchFamily="49" charset="-122"/>
              </a:rPr>
              <a:t>酶的</a:t>
            </a:r>
            <a:r>
              <a:rPr lang="en-US" altLang="zh-CN" sz="2800">
                <a:solidFill>
                  <a:srgbClr val="0000CC"/>
                </a:solidFill>
                <a:latin typeface="黑体" panose="02010609060101010101" pitchFamily="49" charset="-122"/>
                <a:ea typeface="黑体" panose="02010609060101010101" pitchFamily="49" charset="-122"/>
              </a:rPr>
              <a:t>Km</a:t>
            </a:r>
            <a:r>
              <a:rPr lang="zh-CN" altLang="en-US" sz="2800">
                <a:solidFill>
                  <a:srgbClr val="0000CC"/>
                </a:solidFill>
                <a:latin typeface="黑体" panose="02010609060101010101" pitchFamily="49" charset="-122"/>
                <a:ea typeface="黑体" panose="02010609060101010101" pitchFamily="49" charset="-122"/>
              </a:rPr>
              <a:t>的大小通常与其底物在细胞内的浓度类似</a:t>
            </a:r>
          </a:p>
        </p:txBody>
      </p:sp>
      <p:pic>
        <p:nvPicPr>
          <p:cNvPr id="3" name="图片 2">
            <a:extLst>
              <a:ext uri="{FF2B5EF4-FFF2-40B4-BE49-F238E27FC236}">
                <a16:creationId xmlns:a16="http://schemas.microsoft.com/office/drawing/2014/main" id="{B5BD147D-5AEC-1C5C-6110-0594304BB728}"/>
              </a:ext>
            </a:extLst>
          </p:cNvPr>
          <p:cNvPicPr>
            <a:picLocks noChangeAspect="1"/>
          </p:cNvPicPr>
          <p:nvPr/>
        </p:nvPicPr>
        <p:blipFill>
          <a:blip r:embed="rId3"/>
          <a:stretch>
            <a:fillRect/>
          </a:stretch>
        </p:blipFill>
        <p:spPr>
          <a:xfrm>
            <a:off x="1624572" y="404664"/>
            <a:ext cx="8942857" cy="4914286"/>
          </a:xfrm>
          <a:prstGeom prst="rect">
            <a:avLst/>
          </a:prstGeom>
        </p:spPr>
      </p:pic>
      <p:cxnSp>
        <p:nvCxnSpPr>
          <p:cNvPr id="11" name="直接连接符 10">
            <a:extLst>
              <a:ext uri="{FF2B5EF4-FFF2-40B4-BE49-F238E27FC236}">
                <a16:creationId xmlns:a16="http://schemas.microsoft.com/office/drawing/2014/main" id="{8A9FCF5E-3C2B-C1DC-45A7-9C571BBB4A19}"/>
              </a:ext>
            </a:extLst>
          </p:cNvPr>
          <p:cNvCxnSpPr/>
          <p:nvPr/>
        </p:nvCxnSpPr>
        <p:spPr>
          <a:xfrm>
            <a:off x="4943873" y="2132856"/>
            <a:ext cx="1152127"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7A6EAF21-2E70-E7F3-7BF5-463E2145E930}"/>
              </a:ext>
            </a:extLst>
          </p:cNvPr>
          <p:cNvCxnSpPr>
            <a:cxnSpLocks/>
          </p:cNvCxnSpPr>
          <p:nvPr/>
        </p:nvCxnSpPr>
        <p:spPr>
          <a:xfrm>
            <a:off x="9265048" y="2122587"/>
            <a:ext cx="8634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C80F64F4-2A60-48EE-B73A-9399A75B973D}"/>
              </a:ext>
            </a:extLst>
          </p:cNvPr>
          <p:cNvSpPr>
            <a:spLocks noGrp="1" noChangeArrowheads="1"/>
          </p:cNvSpPr>
          <p:nvPr>
            <p:ph type="body" idx="1"/>
          </p:nvPr>
        </p:nvSpPr>
        <p:spPr>
          <a:xfrm>
            <a:off x="911424" y="404664"/>
            <a:ext cx="10513168" cy="5472458"/>
          </a:xfrm>
        </p:spPr>
        <p:txBody>
          <a:bodyPr/>
          <a:lstStyle/>
          <a:p>
            <a:pPr marL="0" indent="0" eaLnBrk="1" hangingPunct="1">
              <a:lnSpc>
                <a:spcPct val="150000"/>
              </a:lnSpc>
              <a:buNone/>
              <a:defRPr/>
            </a:pPr>
            <a:r>
              <a:rPr lang="en-US" altLang="zh-CN" sz="3600" b="0" dirty="0" err="1">
                <a:solidFill>
                  <a:srgbClr val="FF3300"/>
                </a:solidFill>
                <a:latin typeface="Times New Roman" panose="02020603050405020304" pitchFamily="18" charset="0"/>
                <a:ea typeface="黑体" panose="02010609060101010101" pitchFamily="49" charset="-122"/>
              </a:rPr>
              <a:t>V</a:t>
            </a:r>
            <a:r>
              <a:rPr lang="en-US" altLang="zh-CN" sz="3600" b="0" baseline="-25000" dirty="0" err="1">
                <a:solidFill>
                  <a:srgbClr val="FF3300"/>
                </a:solidFill>
                <a:latin typeface="Times New Roman" panose="02020603050405020304" pitchFamily="18" charset="0"/>
                <a:ea typeface="黑体" panose="02010609060101010101" pitchFamily="49" charset="-122"/>
              </a:rPr>
              <a:t>max</a:t>
            </a:r>
            <a:r>
              <a:rPr lang="zh-CN" altLang="en-US" sz="3600" b="0" dirty="0">
                <a:solidFill>
                  <a:srgbClr val="FF3300"/>
                </a:solidFill>
                <a:latin typeface="Times New Roman" panose="02020603050405020304" pitchFamily="18" charset="0"/>
                <a:ea typeface="黑体" panose="02010609060101010101" pitchFamily="49" charset="-122"/>
              </a:rPr>
              <a:t>的意义</a:t>
            </a:r>
          </a:p>
          <a:p>
            <a:pPr marL="898525" lvl="1" indent="-457200" eaLnBrk="1" hangingPunct="1">
              <a:lnSpc>
                <a:spcPct val="150000"/>
              </a:lnSpc>
              <a:defRPr/>
            </a:pPr>
            <a:r>
              <a:rPr lang="en-US" altLang="zh-CN" b="0" dirty="0">
                <a:latin typeface="Times New Roman" panose="02020603050405020304" pitchFamily="18" charset="0"/>
                <a:ea typeface="黑体" panose="02010609060101010101" pitchFamily="49" charset="-122"/>
              </a:rPr>
              <a:t>  </a:t>
            </a:r>
            <a:r>
              <a:rPr lang="en-US" altLang="zh-CN" b="0" dirty="0" err="1">
                <a:latin typeface="Times New Roman" panose="02020603050405020304" pitchFamily="18" charset="0"/>
                <a:ea typeface="黑体" panose="02010609060101010101" pitchFamily="49" charset="-122"/>
              </a:rPr>
              <a:t>V</a:t>
            </a:r>
            <a:r>
              <a:rPr lang="en-US" altLang="zh-CN" b="0" baseline="-25000" dirty="0" err="1">
                <a:latin typeface="Times New Roman" panose="02020603050405020304" pitchFamily="18" charset="0"/>
                <a:ea typeface="黑体" panose="02010609060101010101" pitchFamily="49" charset="-122"/>
              </a:rPr>
              <a:t>max</a:t>
            </a:r>
            <a:r>
              <a:rPr lang="zh-CN" altLang="en-US" b="0" dirty="0">
                <a:latin typeface="Times New Roman" panose="02020603050405020304" pitchFamily="18" charset="0"/>
                <a:ea typeface="黑体" panose="02010609060101010101" pitchFamily="49" charset="-122"/>
              </a:rPr>
              <a:t>是酶完全被底物饱和时的反应速度，与酶浓度成正比。              </a:t>
            </a:r>
            <a:endParaRPr lang="en-US" altLang="zh-CN" b="0" dirty="0">
              <a:latin typeface="Times New Roman" panose="02020603050405020304" pitchFamily="18" charset="0"/>
              <a:ea typeface="黑体" panose="02010609060101010101" pitchFamily="49" charset="-122"/>
            </a:endParaRPr>
          </a:p>
          <a:p>
            <a:pPr marL="441325" lvl="1" indent="0" eaLnBrk="1" hangingPunct="1">
              <a:lnSpc>
                <a:spcPct val="150000"/>
              </a:lnSpc>
              <a:buNone/>
              <a:defRPr/>
            </a:pPr>
            <a:r>
              <a:rPr lang="en-US" altLang="zh-CN" sz="3200" b="0" dirty="0">
                <a:latin typeface="Times New Roman" panose="02020603050405020304" pitchFamily="18" charset="0"/>
                <a:ea typeface="黑体" panose="02010609060101010101" pitchFamily="49" charset="-122"/>
              </a:rPr>
              <a:t>              V</a:t>
            </a:r>
            <a:r>
              <a:rPr lang="en-US" altLang="zh-CN" sz="3200" b="0" baseline="-25000" dirty="0">
                <a:latin typeface="Times New Roman" panose="02020603050405020304" pitchFamily="18" charset="0"/>
                <a:ea typeface="黑体" panose="02010609060101010101" pitchFamily="49" charset="-122"/>
              </a:rPr>
              <a:t>max</a:t>
            </a:r>
            <a:r>
              <a:rPr kumimoji="1" lang="en-US" altLang="zh-CN" b="0" dirty="0">
                <a:solidFill>
                  <a:schemeClr val="tx2"/>
                </a:solidFill>
                <a:latin typeface="Times New Roman" panose="02020603050405020304" pitchFamily="18" charset="0"/>
                <a:ea typeface="黑体" panose="02010609060101010101" pitchFamily="49" charset="-122"/>
              </a:rPr>
              <a:t> </a:t>
            </a:r>
            <a:r>
              <a:rPr lang="en-US" altLang="zh-CN" b="0" dirty="0">
                <a:latin typeface="Times New Roman" panose="02020603050405020304" pitchFamily="18" charset="0"/>
                <a:ea typeface="黑体" panose="02010609060101010101" pitchFamily="49" charset="-122"/>
              </a:rPr>
              <a:t>=k</a:t>
            </a:r>
            <a:r>
              <a:rPr lang="en-US" altLang="zh-CN" b="0" baseline="-25000" dirty="0">
                <a:latin typeface="Times New Roman" panose="02020603050405020304" pitchFamily="18" charset="0"/>
                <a:ea typeface="黑体" panose="02010609060101010101" pitchFamily="49" charset="-122"/>
              </a:rPr>
              <a:t>3</a:t>
            </a:r>
            <a:r>
              <a:rPr lang="en-US" altLang="zh-CN" b="0" dirty="0">
                <a:latin typeface="Times New Roman" panose="02020603050405020304" pitchFamily="18" charset="0"/>
                <a:ea typeface="黑体" panose="02010609060101010101" pitchFamily="49" charset="-122"/>
              </a:rPr>
              <a:t> [E</a:t>
            </a:r>
            <a:r>
              <a:rPr lang="en-US" altLang="zh-CN" b="0" baseline="-25000" dirty="0">
                <a:latin typeface="Times New Roman" panose="02020603050405020304" pitchFamily="18" charset="0"/>
                <a:ea typeface="黑体" panose="02010609060101010101" pitchFamily="49" charset="-122"/>
              </a:rPr>
              <a:t>t</a:t>
            </a:r>
            <a:r>
              <a:rPr lang="en-US" altLang="zh-CN" b="0" dirty="0">
                <a:latin typeface="Times New Roman" panose="02020603050405020304" pitchFamily="18" charset="0"/>
                <a:ea typeface="黑体" panose="02010609060101010101" pitchFamily="49" charset="-122"/>
              </a:rPr>
              <a:t>]</a:t>
            </a:r>
          </a:p>
          <a:p>
            <a:pPr marL="898525" lvl="1" indent="-457200" eaLnBrk="1" hangingPunct="1">
              <a:lnSpc>
                <a:spcPct val="130000"/>
              </a:lnSpc>
              <a:spcBef>
                <a:spcPts val="1200"/>
              </a:spcBef>
              <a:defRPr/>
            </a:pPr>
            <a:r>
              <a:rPr kumimoji="1" lang="zh-CN" altLang="en-US" b="0" dirty="0">
                <a:solidFill>
                  <a:schemeClr val="tx1">
                    <a:lumMod val="95000"/>
                    <a:lumOff val="5000"/>
                  </a:schemeClr>
                </a:solidFill>
                <a:latin typeface="Times New Roman" panose="02020603050405020304" pitchFamily="18" charset="0"/>
                <a:ea typeface="黑体" panose="02010609060101010101" pitchFamily="49" charset="-122"/>
              </a:rPr>
              <a:t>可用于计算</a:t>
            </a:r>
            <a:r>
              <a:rPr kumimoji="1" lang="zh-CN" altLang="en-US" dirty="0">
                <a:solidFill>
                  <a:srgbClr val="0000FF"/>
                </a:solidFill>
                <a:latin typeface="Times New Roman" panose="02020603050405020304" pitchFamily="18" charset="0"/>
                <a:ea typeface="黑体" panose="02010609060101010101" pitchFamily="49" charset="-122"/>
              </a:rPr>
              <a:t>酶的转换数</a:t>
            </a:r>
            <a:r>
              <a:rPr kumimoji="1" lang="en-US" altLang="zh-CN" dirty="0">
                <a:solidFill>
                  <a:srgbClr val="0000FF"/>
                </a:solidFill>
                <a:latin typeface="Times New Roman" panose="02020603050405020304" pitchFamily="18" charset="0"/>
                <a:ea typeface="黑体" panose="02010609060101010101" pitchFamily="49" charset="-122"/>
              </a:rPr>
              <a:t>(turnover number, </a:t>
            </a:r>
            <a:r>
              <a:rPr kumimoji="1" lang="en-US" altLang="zh-CN" i="1" dirty="0">
                <a:solidFill>
                  <a:srgbClr val="0000FF"/>
                </a:solidFill>
                <a:latin typeface="Times New Roman" panose="02020603050405020304" pitchFamily="18" charset="0"/>
                <a:ea typeface="黑体" panose="02010609060101010101" pitchFamily="49" charset="-122"/>
              </a:rPr>
              <a:t> </a:t>
            </a:r>
            <a:r>
              <a:rPr kumimoji="1" lang="en-US" altLang="zh-CN" i="1" dirty="0" err="1">
                <a:solidFill>
                  <a:srgbClr val="0000FF"/>
                </a:solidFill>
                <a:latin typeface="Times New Roman" panose="02020603050405020304" pitchFamily="18" charset="0"/>
                <a:ea typeface="黑体" panose="02010609060101010101" pitchFamily="49" charset="-122"/>
              </a:rPr>
              <a:t>K</a:t>
            </a:r>
            <a:r>
              <a:rPr kumimoji="1" lang="en-US" altLang="zh-CN" baseline="-25000" dirty="0" err="1">
                <a:solidFill>
                  <a:srgbClr val="0000FF"/>
                </a:solidFill>
                <a:latin typeface="Times New Roman" panose="02020603050405020304" pitchFamily="18" charset="0"/>
                <a:ea typeface="黑体" panose="02010609060101010101" pitchFamily="49" charset="-122"/>
              </a:rPr>
              <a:t>cat</a:t>
            </a:r>
            <a:r>
              <a:rPr kumimoji="1" lang="en-US" altLang="zh-CN" dirty="0">
                <a:solidFill>
                  <a:srgbClr val="0000FF"/>
                </a:solidFill>
                <a:latin typeface="Times New Roman" panose="02020603050405020304" pitchFamily="18" charset="0"/>
                <a:ea typeface="黑体" panose="02010609060101010101" pitchFamily="49" charset="-122"/>
              </a:rPr>
              <a:t>)</a:t>
            </a:r>
            <a:r>
              <a:rPr kumimoji="1" lang="en-US" altLang="zh-CN" dirty="0">
                <a:solidFill>
                  <a:srgbClr val="FFFF00"/>
                </a:solidFill>
                <a:latin typeface="Times New Roman" panose="02020603050405020304" pitchFamily="18" charset="0"/>
                <a:ea typeface="黑体" panose="02010609060101010101" pitchFamily="49" charset="-122"/>
              </a:rPr>
              <a:t> </a:t>
            </a:r>
            <a:r>
              <a:rPr kumimoji="1" lang="zh-CN" altLang="en-US" b="0" dirty="0">
                <a:solidFill>
                  <a:schemeClr val="tx1">
                    <a:lumMod val="95000"/>
                    <a:lumOff val="5000"/>
                  </a:schemeClr>
                </a:solidFill>
                <a:latin typeface="Times New Roman" panose="02020603050405020304" pitchFamily="18" charset="0"/>
                <a:ea typeface="黑体" panose="02010609060101010101" pitchFamily="49" charset="-122"/>
              </a:rPr>
              <a:t>即</a:t>
            </a:r>
            <a:r>
              <a:rPr kumimoji="1" lang="zh-CN" altLang="en-US" b="0" dirty="0">
                <a:latin typeface="Times New Roman" panose="02020603050405020304" pitchFamily="18" charset="0"/>
                <a:ea typeface="黑体" panose="02010609060101010101" pitchFamily="49" charset="-122"/>
              </a:rPr>
              <a:t>酶被底物充分饱和时，</a:t>
            </a:r>
            <a:r>
              <a:rPr kumimoji="1" lang="zh-CN" altLang="en-US" b="0" dirty="0">
                <a:solidFill>
                  <a:srgbClr val="0000CC"/>
                </a:solidFill>
                <a:latin typeface="Times New Roman" panose="02020603050405020304" pitchFamily="18" charset="0"/>
                <a:ea typeface="黑体" panose="02010609060101010101" pitchFamily="49" charset="-122"/>
              </a:rPr>
              <a:t>单位时间</a:t>
            </a:r>
            <a:r>
              <a:rPr kumimoji="1" lang="zh-CN" altLang="en-US" b="0" dirty="0">
                <a:latin typeface="Times New Roman" panose="02020603050405020304" pitchFamily="18" charset="0"/>
                <a:ea typeface="黑体" panose="02010609060101010101" pitchFamily="49" charset="-122"/>
              </a:rPr>
              <a:t>内</a:t>
            </a:r>
            <a:r>
              <a:rPr kumimoji="1" lang="zh-CN" altLang="en-US" b="0" dirty="0">
                <a:solidFill>
                  <a:srgbClr val="0000CC"/>
                </a:solidFill>
                <a:latin typeface="Times New Roman" panose="02020603050405020304" pitchFamily="18" charset="0"/>
                <a:ea typeface="黑体" panose="02010609060101010101" pitchFamily="49" charset="-122"/>
              </a:rPr>
              <a:t>每个酶分子</a:t>
            </a:r>
            <a:r>
              <a:rPr kumimoji="1" lang="zh-CN" altLang="en-US" b="0" dirty="0">
                <a:latin typeface="Times New Roman" panose="02020603050405020304" pitchFamily="18" charset="0"/>
                <a:ea typeface="黑体" panose="02010609060101010101" pitchFamily="49" charset="-122"/>
              </a:rPr>
              <a:t>催化</a:t>
            </a:r>
            <a:r>
              <a:rPr kumimoji="1" lang="zh-CN" altLang="en-US" b="0" dirty="0">
                <a:solidFill>
                  <a:srgbClr val="0000CC"/>
                </a:solidFill>
                <a:latin typeface="Times New Roman" panose="02020603050405020304" pitchFamily="18" charset="0"/>
                <a:ea typeface="黑体" panose="02010609060101010101" pitchFamily="49" charset="-122"/>
              </a:rPr>
              <a:t>底物转变为产物的分子数</a:t>
            </a:r>
            <a:r>
              <a:rPr kumimoji="1" lang="zh-CN" altLang="en-US" b="0" dirty="0">
                <a:latin typeface="Times New Roman" panose="02020603050405020304" pitchFamily="18" charset="0"/>
                <a:ea typeface="黑体" panose="02010609060101010101" pitchFamily="49" charset="-122"/>
              </a:rPr>
              <a:t>，即</a:t>
            </a:r>
            <a:r>
              <a:rPr kumimoji="1" lang="en-US" altLang="zh-CN" b="0" dirty="0">
                <a:solidFill>
                  <a:srgbClr val="0000CC"/>
                </a:solidFill>
                <a:latin typeface="Times New Roman" panose="02020603050405020304" pitchFamily="18" charset="0"/>
                <a:ea typeface="黑体" panose="02010609060101010101" pitchFamily="49" charset="-122"/>
              </a:rPr>
              <a:t>k</a:t>
            </a:r>
            <a:r>
              <a:rPr kumimoji="1" lang="en-US" altLang="zh-CN" b="0" baseline="-25000" dirty="0">
                <a:solidFill>
                  <a:srgbClr val="0000CC"/>
                </a:solidFill>
                <a:latin typeface="Times New Roman" panose="02020603050405020304" pitchFamily="18" charset="0"/>
                <a:ea typeface="黑体" panose="02010609060101010101" pitchFamily="49" charset="-122"/>
              </a:rPr>
              <a:t>3</a:t>
            </a:r>
          </a:p>
          <a:p>
            <a:pPr marL="898525" lvl="1" indent="-457200" eaLnBrk="1" hangingPunct="1">
              <a:lnSpc>
                <a:spcPct val="130000"/>
              </a:lnSpc>
              <a:spcBef>
                <a:spcPts val="1200"/>
              </a:spcBef>
              <a:defRPr/>
            </a:pPr>
            <a:r>
              <a:rPr kumimoji="1" lang="en-US" altLang="zh-CN" i="1" dirty="0" err="1">
                <a:solidFill>
                  <a:srgbClr val="0000FF"/>
                </a:solidFill>
                <a:latin typeface="Times New Roman" panose="02020603050405020304" pitchFamily="18" charset="0"/>
                <a:ea typeface="黑体" panose="02010609060101010101" pitchFamily="49" charset="-122"/>
              </a:rPr>
              <a:t>K</a:t>
            </a:r>
            <a:r>
              <a:rPr kumimoji="1" lang="en-US" altLang="zh-CN" baseline="-25000" dirty="0" err="1">
                <a:solidFill>
                  <a:srgbClr val="0000FF"/>
                </a:solidFill>
                <a:latin typeface="Times New Roman" panose="02020603050405020304" pitchFamily="18" charset="0"/>
                <a:ea typeface="黑体" panose="02010609060101010101" pitchFamily="49" charset="-122"/>
              </a:rPr>
              <a:t>cat</a:t>
            </a:r>
            <a:r>
              <a:rPr kumimoji="1" lang="zh-CN" altLang="en-US" b="0" dirty="0">
                <a:latin typeface="Times New Roman" panose="02020603050405020304" pitchFamily="18" charset="0"/>
                <a:ea typeface="黑体" panose="02010609060101010101" pitchFamily="49" charset="-122"/>
              </a:rPr>
              <a:t>可用来比较每单位酶的催化能力，</a:t>
            </a:r>
            <a:r>
              <a:rPr kumimoji="1" lang="zh-CN" altLang="en-US" b="0" dirty="0">
                <a:solidFill>
                  <a:srgbClr val="0000CC"/>
                </a:solidFill>
                <a:latin typeface="Times New Roman" panose="02020603050405020304" pitchFamily="18" charset="0"/>
                <a:ea typeface="黑体" panose="02010609060101010101" pitchFamily="49" charset="-122"/>
              </a:rPr>
              <a:t>反映酶催化效率的高低</a:t>
            </a:r>
            <a:r>
              <a:rPr kumimoji="1" lang="zh-CN" altLang="en-US" b="0" dirty="0">
                <a:latin typeface="Times New Roman" panose="02020603050405020304" pitchFamily="18" charset="0"/>
                <a:ea typeface="黑体" panose="02010609060101010101" pitchFamily="49" charset="-122"/>
              </a:rPr>
              <a:t>。</a:t>
            </a:r>
            <a:endParaRPr kumimoji="1" lang="zh-CN" altLang="en-US" b="0" dirty="0">
              <a:solidFill>
                <a:schemeClr val="tx1">
                  <a:lumMod val="95000"/>
                  <a:lumOff val="5000"/>
                </a:schemeClr>
              </a:solidFill>
              <a:latin typeface="Times New Roman" panose="02020603050405020304" pitchFamily="18" charset="0"/>
              <a:ea typeface="黑体" panose="02010609060101010101" pitchFamily="49" charset="-122"/>
            </a:endParaRPr>
          </a:p>
          <a:p>
            <a:pPr marL="898525" lvl="1" indent="-457200" eaLnBrk="1" hangingPunct="1">
              <a:lnSpc>
                <a:spcPct val="150000"/>
              </a:lnSpc>
              <a:defRPr/>
            </a:pPr>
            <a:endParaRPr lang="en-US" altLang="zh-CN" b="0" dirty="0">
              <a:latin typeface="Times New Roman" panose="02020603050405020304" pitchFamily="18" charset="0"/>
              <a:ea typeface="黑体" panose="02010609060101010101" pitchFamily="49" charset="-122"/>
            </a:endParaRPr>
          </a:p>
        </p:txBody>
      </p:sp>
    </p:spTree>
  </p:cSld>
  <p:clrMapOvr>
    <a:masterClrMapping/>
  </p:clrMapOvr>
  <p:transition spd="slow">
    <p:circle/>
  </p:transition>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A5EE5D4-8AF8-49E0-B27E-A319F6A614F0}"/>
              </a:ext>
            </a:extLst>
          </p:cNvPr>
          <p:cNvSpPr/>
          <p:nvPr/>
        </p:nvSpPr>
        <p:spPr>
          <a:xfrm>
            <a:off x="1127448" y="3140968"/>
            <a:ext cx="10153127" cy="3237489"/>
          </a:xfrm>
          <a:prstGeom prst="rect">
            <a:avLst/>
          </a:prstGeom>
        </p:spPr>
        <p:txBody>
          <a:bodyPr wrap="square">
            <a:spAutoFit/>
          </a:bodyPr>
          <a:lstStyle/>
          <a:p>
            <a:pPr>
              <a:lnSpc>
                <a:spcPct val="130000"/>
              </a:lnSpc>
              <a:defRPr/>
            </a:pPr>
            <a:r>
              <a:rPr lang="zh-CN" altLang="en-US" sz="2800" b="1" dirty="0">
                <a:solidFill>
                  <a:srgbClr val="0000CC"/>
                </a:solidFill>
              </a:rPr>
              <a:t>专一性常数或特异性常数</a:t>
            </a:r>
            <a:r>
              <a:rPr lang="zh-CN" altLang="en-US" sz="2400" b="1" dirty="0">
                <a:solidFill>
                  <a:srgbClr val="0000CC"/>
                </a:solidFill>
                <a:latin typeface="Arial" panose="020B0604020202020204" pitchFamily="34" charset="0"/>
                <a:cs typeface="Arial" panose="020B0604020202020204" pitchFamily="34" charset="0"/>
              </a:rPr>
              <a:t>（</a:t>
            </a:r>
            <a:r>
              <a:rPr lang="en-US" altLang="zh-CN" sz="2400" b="1" dirty="0">
                <a:solidFill>
                  <a:srgbClr val="0000CC"/>
                </a:solidFill>
                <a:latin typeface="Arial" panose="020B0604020202020204" pitchFamily="34" charset="0"/>
                <a:cs typeface="Arial" panose="020B0604020202020204" pitchFamily="34" charset="0"/>
              </a:rPr>
              <a:t>specificity constant </a:t>
            </a:r>
            <a:r>
              <a:rPr lang="zh-CN" altLang="en-US" sz="2400" b="1" dirty="0">
                <a:solidFill>
                  <a:srgbClr val="0000CC"/>
                </a:solidFill>
                <a:latin typeface="Arial" panose="020B0604020202020204" pitchFamily="34" charset="0"/>
                <a:cs typeface="Arial" panose="020B0604020202020204" pitchFamily="34" charset="0"/>
              </a:rPr>
              <a:t>）   </a:t>
            </a:r>
            <a:r>
              <a:rPr lang="zh-CN" altLang="en-US" sz="2800" b="1" dirty="0"/>
              <a:t>即：</a:t>
            </a:r>
            <a:r>
              <a:rPr lang="en-US" altLang="zh-CN" sz="2800" b="1" dirty="0">
                <a:solidFill>
                  <a:srgbClr val="222222"/>
                </a:solidFill>
              </a:rPr>
              <a:t> </a:t>
            </a:r>
            <a:r>
              <a:rPr lang="en-US" altLang="zh-CN" sz="2800" b="1" dirty="0" err="1">
                <a:solidFill>
                  <a:srgbClr val="0000CC"/>
                </a:solidFill>
                <a:latin typeface="Arial" panose="020B0604020202020204" pitchFamily="34" charset="0"/>
                <a:cs typeface="Arial" panose="020B0604020202020204" pitchFamily="34" charset="0"/>
              </a:rPr>
              <a:t>k</a:t>
            </a:r>
            <a:r>
              <a:rPr lang="en-US" altLang="zh-CN" sz="2800" b="1" baseline="-25000" dirty="0" err="1">
                <a:solidFill>
                  <a:srgbClr val="0000CC"/>
                </a:solidFill>
                <a:latin typeface="Arial" panose="020B0604020202020204" pitchFamily="34" charset="0"/>
                <a:cs typeface="Arial" panose="020B0604020202020204" pitchFamily="34" charset="0"/>
              </a:rPr>
              <a:t>cat</a:t>
            </a:r>
            <a:r>
              <a:rPr lang="en-US" altLang="zh-CN" sz="2800" b="1" baseline="-25000" dirty="0">
                <a:solidFill>
                  <a:srgbClr val="0000CC"/>
                </a:solidFill>
                <a:latin typeface="Arial" panose="020B0604020202020204" pitchFamily="34" charset="0"/>
                <a:cs typeface="Arial" panose="020B0604020202020204" pitchFamily="34" charset="0"/>
              </a:rPr>
              <a:t> </a:t>
            </a:r>
            <a:r>
              <a:rPr lang="en-US" altLang="zh-CN" sz="2800" b="1" dirty="0">
                <a:solidFill>
                  <a:srgbClr val="0000CC"/>
                </a:solidFill>
                <a:latin typeface="Arial" panose="020B0604020202020204" pitchFamily="34" charset="0"/>
                <a:cs typeface="Arial" panose="020B0604020202020204" pitchFamily="34" charset="0"/>
              </a:rPr>
              <a:t>/ K</a:t>
            </a:r>
            <a:r>
              <a:rPr lang="en-US" altLang="zh-CN" sz="2800" b="1" baseline="-25000" dirty="0">
                <a:solidFill>
                  <a:srgbClr val="0000CC"/>
                </a:solidFill>
                <a:latin typeface="Arial" panose="020B0604020202020204" pitchFamily="34" charset="0"/>
                <a:cs typeface="Arial" panose="020B0604020202020204" pitchFamily="34" charset="0"/>
              </a:rPr>
              <a:t>m</a:t>
            </a:r>
          </a:p>
          <a:p>
            <a:pPr marL="457200" indent="-457200">
              <a:lnSpc>
                <a:spcPct val="130000"/>
              </a:lnSpc>
              <a:buFont typeface="Wingdings" panose="05000000000000000000" pitchFamily="2" charset="2"/>
              <a:buChar char="l"/>
              <a:defRPr/>
            </a:pPr>
            <a:r>
              <a:rPr lang="zh-CN" altLang="en-US" sz="2800" b="1" dirty="0">
                <a:solidFill>
                  <a:srgbClr val="C00000"/>
                </a:solidFill>
              </a:rPr>
              <a:t>比较酶催化效率最好的参数</a:t>
            </a:r>
            <a:endParaRPr lang="en-US" altLang="zh-CN" sz="2800" b="1" dirty="0">
              <a:solidFill>
                <a:srgbClr val="C00000"/>
              </a:solidFill>
            </a:endParaRPr>
          </a:p>
          <a:p>
            <a:pPr marL="457200" indent="-457200">
              <a:lnSpc>
                <a:spcPct val="130000"/>
              </a:lnSpc>
              <a:buFont typeface="Wingdings" panose="05000000000000000000" pitchFamily="2" charset="2"/>
              <a:buChar char="l"/>
              <a:defRPr/>
            </a:pPr>
            <a:r>
              <a:rPr lang="zh-CN" altLang="en-US" sz="2600" b="1" dirty="0"/>
              <a:t>比值越大，催化力越完美。</a:t>
            </a:r>
            <a:endParaRPr lang="en-US" altLang="zh-CN" sz="2600" b="1" dirty="0"/>
          </a:p>
          <a:p>
            <a:pPr marL="457200" indent="-457200">
              <a:lnSpc>
                <a:spcPct val="130000"/>
              </a:lnSpc>
              <a:buFont typeface="Wingdings" panose="05000000000000000000" pitchFamily="2" charset="2"/>
              <a:buChar char="l"/>
              <a:defRPr/>
            </a:pPr>
            <a:r>
              <a:rPr lang="en-US" altLang="zh-CN" sz="2400" dirty="0"/>
              <a:t>E</a:t>
            </a:r>
            <a:r>
              <a:rPr lang="zh-CN" altLang="en-US" sz="2400" dirty="0"/>
              <a:t>和</a:t>
            </a:r>
            <a:r>
              <a:rPr lang="en-US" altLang="zh-CN" sz="2400" dirty="0"/>
              <a:t>S</a:t>
            </a:r>
            <a:r>
              <a:rPr lang="zh-CN" altLang="en-US" sz="2400" dirty="0"/>
              <a:t>在溶液中扩散到一起的速度决定了</a:t>
            </a:r>
            <a:r>
              <a:rPr lang="en-US" altLang="zh-CN" sz="2400" dirty="0" err="1"/>
              <a:t>Kcat</a:t>
            </a:r>
            <a:r>
              <a:rPr lang="en-US" altLang="zh-CN" sz="2400" dirty="0"/>
              <a:t> / Km</a:t>
            </a:r>
            <a:r>
              <a:rPr lang="zh-CN" altLang="en-US" sz="2400" dirty="0"/>
              <a:t>的上限： </a:t>
            </a:r>
            <a:r>
              <a:rPr lang="en-US" altLang="zh-CN" sz="2400" dirty="0"/>
              <a:t>10</a:t>
            </a:r>
            <a:r>
              <a:rPr lang="en-US" altLang="zh-CN" sz="2400" baseline="30000" dirty="0"/>
              <a:t>8</a:t>
            </a:r>
            <a:r>
              <a:rPr lang="en-US" altLang="zh-CN" sz="2400" dirty="0"/>
              <a:t>~10</a:t>
            </a:r>
            <a:r>
              <a:rPr lang="en-US" altLang="zh-CN" sz="2400" baseline="30000" dirty="0"/>
              <a:t>9</a:t>
            </a:r>
            <a:r>
              <a:rPr lang="en-US" altLang="zh-CN" sz="2400" dirty="0"/>
              <a:t> M</a:t>
            </a:r>
            <a:r>
              <a:rPr lang="en-US" altLang="zh-CN" sz="2400" baseline="30000" dirty="0"/>
              <a:t>-1</a:t>
            </a:r>
            <a:r>
              <a:rPr lang="en-US" altLang="zh-CN" sz="2400" dirty="0"/>
              <a:t> S</a:t>
            </a:r>
            <a:r>
              <a:rPr lang="en-US" altLang="zh-CN" sz="2400" baseline="30000" dirty="0"/>
              <a:t>-1</a:t>
            </a:r>
            <a:endParaRPr lang="en-US" altLang="zh-CN" sz="2400" b="1" dirty="0"/>
          </a:p>
          <a:p>
            <a:pPr marL="457200" indent="-457200">
              <a:lnSpc>
                <a:spcPct val="130000"/>
              </a:lnSpc>
              <a:buFont typeface="Wingdings" panose="05000000000000000000" pitchFamily="2" charset="2"/>
              <a:buChar char="l"/>
              <a:defRPr/>
            </a:pPr>
            <a:r>
              <a:rPr lang="zh-CN" altLang="en-US" sz="2600" b="1" dirty="0"/>
              <a:t>通常为</a:t>
            </a:r>
            <a:r>
              <a:rPr lang="en-US" altLang="zh-CN" sz="2600" b="1" dirty="0">
                <a:solidFill>
                  <a:srgbClr val="222222"/>
                </a:solidFill>
              </a:rPr>
              <a:t>10 </a:t>
            </a:r>
            <a:r>
              <a:rPr lang="en-US" altLang="zh-CN" sz="2600" b="1" baseline="30000" dirty="0">
                <a:solidFill>
                  <a:srgbClr val="222222"/>
                </a:solidFill>
              </a:rPr>
              <a:t>5</a:t>
            </a:r>
            <a:r>
              <a:rPr lang="en-US" altLang="zh-CN" sz="2600" b="1" dirty="0">
                <a:solidFill>
                  <a:srgbClr val="222222"/>
                </a:solidFill>
              </a:rPr>
              <a:t> M </a:t>
            </a:r>
            <a:r>
              <a:rPr lang="en-US" altLang="zh-CN" sz="2600" b="1" baseline="30000" dirty="0">
                <a:solidFill>
                  <a:srgbClr val="222222"/>
                </a:solidFill>
              </a:rPr>
              <a:t>−1</a:t>
            </a:r>
            <a:r>
              <a:rPr lang="en-US" altLang="zh-CN" sz="2600" b="1" dirty="0">
                <a:solidFill>
                  <a:srgbClr val="222222"/>
                </a:solidFill>
              </a:rPr>
              <a:t>s </a:t>
            </a:r>
            <a:r>
              <a:rPr lang="en-US" altLang="zh-CN" sz="2600" b="1" baseline="30000" dirty="0">
                <a:solidFill>
                  <a:srgbClr val="222222"/>
                </a:solidFill>
              </a:rPr>
              <a:t>− 1 </a:t>
            </a:r>
            <a:endParaRPr lang="zh-CN" altLang="en-US" sz="2600" b="1" dirty="0"/>
          </a:p>
        </p:txBody>
      </p:sp>
      <p:pic>
        <p:nvPicPr>
          <p:cNvPr id="4" name="图片 3">
            <a:extLst>
              <a:ext uri="{FF2B5EF4-FFF2-40B4-BE49-F238E27FC236}">
                <a16:creationId xmlns:a16="http://schemas.microsoft.com/office/drawing/2014/main" id="{625953E9-510C-820C-9BDC-3F056D1AEAD3}"/>
              </a:ext>
            </a:extLst>
          </p:cNvPr>
          <p:cNvPicPr>
            <a:picLocks noChangeAspect="1"/>
          </p:cNvPicPr>
          <p:nvPr/>
        </p:nvPicPr>
        <p:blipFill>
          <a:blip r:embed="rId3"/>
          <a:stretch>
            <a:fillRect/>
          </a:stretch>
        </p:blipFill>
        <p:spPr>
          <a:xfrm>
            <a:off x="1753143" y="55745"/>
            <a:ext cx="8685714" cy="2828571"/>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A1908E1-9342-49B0-B0FB-27BA9C52D98B}"/>
              </a:ext>
            </a:extLst>
          </p:cNvPr>
          <p:cNvSpPr>
            <a:spLocks noChangeArrowheads="1"/>
          </p:cNvSpPr>
          <p:nvPr/>
        </p:nvSpPr>
        <p:spPr bwMode="auto">
          <a:xfrm>
            <a:off x="1559496" y="966434"/>
            <a:ext cx="9073008" cy="4925131"/>
          </a:xfrm>
          <a:prstGeom prst="rect">
            <a:avLst/>
          </a:prstGeom>
          <a:noFill/>
          <a:ln>
            <a:noFill/>
          </a:ln>
        </p:spPr>
        <p:txBody>
          <a:bodyPr wrap="squar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lvl="1" indent="-457200" eaLnBrk="1" hangingPunct="1">
              <a:lnSpc>
                <a:spcPct val="120000"/>
              </a:lnSpc>
              <a:spcBef>
                <a:spcPts val="0"/>
              </a:spcBef>
              <a:buClr>
                <a:schemeClr val="tx1"/>
              </a:buClr>
              <a:buFont typeface="Wingdings" panose="05000000000000000000" pitchFamily="2" charset="2"/>
              <a:buChar char="Ø"/>
              <a:defRPr/>
            </a:pPr>
            <a:r>
              <a:rPr lang="zh-CN" altLang="en-US" sz="2600" dirty="0">
                <a:latin typeface="Times New Roman" panose="02020603050405020304" pitchFamily="18" charset="0"/>
                <a:ea typeface="黑体" panose="02010609060101010101" pitchFamily="49" charset="-122"/>
              </a:rPr>
              <a:t>所有初始反应速度与底物浓度关系呈</a:t>
            </a:r>
            <a:r>
              <a:rPr lang="zh-CN" altLang="en-US" sz="2600" dirty="0">
                <a:solidFill>
                  <a:srgbClr val="0000CC"/>
                </a:solidFill>
                <a:latin typeface="Times New Roman" panose="02020603050405020304" pitchFamily="18" charset="0"/>
                <a:ea typeface="黑体" panose="02010609060101010101" pitchFamily="49" charset="-122"/>
              </a:rPr>
              <a:t>矩形双曲线</a:t>
            </a:r>
            <a:r>
              <a:rPr lang="zh-CN" altLang="en-US" sz="2600" dirty="0">
                <a:latin typeface="Times New Roman" panose="02020603050405020304" pitchFamily="18" charset="0"/>
                <a:ea typeface="黑体" panose="02010609060101010101" pitchFamily="49" charset="-122"/>
              </a:rPr>
              <a:t>（即符合米氏方程）的酶都是</a:t>
            </a:r>
            <a:r>
              <a:rPr lang="zh-CN" altLang="en-US" sz="2600" dirty="0">
                <a:solidFill>
                  <a:srgbClr val="C00000"/>
                </a:solidFill>
                <a:latin typeface="Times New Roman" panose="02020603050405020304" pitchFamily="18" charset="0"/>
                <a:ea typeface="黑体" panose="02010609060101010101" pitchFamily="49" charset="-122"/>
              </a:rPr>
              <a:t>米氏酶</a:t>
            </a:r>
            <a:r>
              <a:rPr lang="zh-CN" altLang="en-US" sz="2600" dirty="0">
                <a:latin typeface="Times New Roman" panose="02020603050405020304" pitchFamily="18" charset="0"/>
                <a:ea typeface="黑体" panose="02010609060101010101" pitchFamily="49" charset="-122"/>
              </a:rPr>
              <a:t>。</a:t>
            </a:r>
            <a:endParaRPr lang="en-US" altLang="zh-CN" sz="2600" dirty="0">
              <a:latin typeface="Times New Roman" panose="02020603050405020304" pitchFamily="18" charset="0"/>
              <a:ea typeface="黑体" panose="02010609060101010101" pitchFamily="49" charset="-122"/>
            </a:endParaRPr>
          </a:p>
          <a:p>
            <a:pPr lvl="1" indent="-457200" eaLnBrk="1" hangingPunct="1">
              <a:lnSpc>
                <a:spcPct val="120000"/>
              </a:lnSpc>
              <a:spcBef>
                <a:spcPts val="0"/>
              </a:spcBef>
              <a:buClr>
                <a:schemeClr val="tx1"/>
              </a:buClr>
              <a:buFont typeface="Wingdings" panose="05000000000000000000" pitchFamily="2" charset="2"/>
              <a:buChar char="Ø"/>
              <a:defRPr/>
            </a:pPr>
            <a:r>
              <a:rPr lang="zh-CN" altLang="en-US" dirty="0">
                <a:solidFill>
                  <a:srgbClr val="0000CC"/>
                </a:solidFill>
                <a:latin typeface="Times New Roman" panose="02020603050405020304" pitchFamily="18" charset="0"/>
                <a:ea typeface="黑体" panose="02010609060101010101" pitchFamily="49" charset="-122"/>
              </a:rPr>
              <a:t>大多数酶都是米氏酶。</a:t>
            </a:r>
            <a:endParaRPr lang="en-US" altLang="zh-CN" dirty="0">
              <a:solidFill>
                <a:srgbClr val="0000CC"/>
              </a:solidFill>
              <a:latin typeface="Times New Roman" panose="02020603050405020304" pitchFamily="18" charset="0"/>
              <a:ea typeface="黑体" panose="02010609060101010101" pitchFamily="49" charset="-122"/>
            </a:endParaRPr>
          </a:p>
          <a:p>
            <a:pPr lvl="1" indent="-457200" eaLnBrk="1" hangingPunct="1">
              <a:lnSpc>
                <a:spcPct val="120000"/>
              </a:lnSpc>
              <a:spcBef>
                <a:spcPts val="0"/>
              </a:spcBef>
              <a:buClr>
                <a:schemeClr val="tx1"/>
              </a:buClr>
              <a:buFont typeface="Wingdings" panose="05000000000000000000" pitchFamily="2" charset="2"/>
              <a:buChar char="Ø"/>
              <a:defRPr/>
            </a:pPr>
            <a:endParaRPr lang="en-US" altLang="zh-CN" dirty="0">
              <a:solidFill>
                <a:srgbClr val="C00000"/>
              </a:solidFill>
              <a:latin typeface="Times New Roman" panose="02020603050405020304" pitchFamily="18" charset="0"/>
              <a:ea typeface="黑体" panose="02010609060101010101" pitchFamily="49" charset="-122"/>
            </a:endParaRPr>
          </a:p>
          <a:p>
            <a:pPr lvl="1" indent="-457200" eaLnBrk="1" hangingPunct="1">
              <a:lnSpc>
                <a:spcPct val="120000"/>
              </a:lnSpc>
              <a:spcBef>
                <a:spcPts val="0"/>
              </a:spcBef>
              <a:buClr>
                <a:schemeClr val="tx1"/>
              </a:buClr>
              <a:buFont typeface="Wingdings" panose="05000000000000000000" pitchFamily="2" charset="2"/>
              <a:buChar char="Ø"/>
              <a:defRPr/>
            </a:pPr>
            <a:r>
              <a:rPr lang="zh-CN" altLang="en-US" dirty="0">
                <a:solidFill>
                  <a:srgbClr val="C00000"/>
                </a:solidFill>
                <a:latin typeface="Times New Roman" panose="02020603050405020304" pitchFamily="18" charset="0"/>
                <a:ea typeface="黑体" panose="02010609060101010101" pitchFamily="49" charset="-122"/>
              </a:rPr>
              <a:t>别构酶不是米氏酶！</a:t>
            </a:r>
            <a:r>
              <a:rPr lang="zh-CN" altLang="en-US" dirty="0">
                <a:solidFill>
                  <a:schemeClr val="tx1">
                    <a:lumMod val="95000"/>
                    <a:lumOff val="5000"/>
                  </a:schemeClr>
                </a:solidFill>
                <a:latin typeface="Times New Roman" panose="02020603050405020304" pitchFamily="18" charset="0"/>
                <a:ea typeface="黑体" panose="02010609060101010101" pitchFamily="49" charset="-122"/>
              </a:rPr>
              <a:t> 其底物浓度与反应速度关系多为</a:t>
            </a:r>
            <a:r>
              <a:rPr lang="en-US" altLang="zh-CN" dirty="0">
                <a:solidFill>
                  <a:srgbClr val="C00000"/>
                </a:solidFill>
                <a:latin typeface="Times New Roman" panose="02020603050405020304" pitchFamily="18" charset="0"/>
                <a:ea typeface="黑体" panose="02010609060101010101" pitchFamily="49" charset="-122"/>
              </a:rPr>
              <a:t>S</a:t>
            </a:r>
            <a:r>
              <a:rPr lang="zh-CN" altLang="en-US" dirty="0">
                <a:solidFill>
                  <a:srgbClr val="C00000"/>
                </a:solidFill>
                <a:latin typeface="Times New Roman" panose="02020603050405020304" pitchFamily="18" charset="0"/>
                <a:ea typeface="黑体" panose="02010609060101010101" pitchFamily="49" charset="-122"/>
              </a:rPr>
              <a:t>形曲线</a:t>
            </a:r>
            <a:r>
              <a:rPr lang="zh-CN" altLang="en-US" dirty="0">
                <a:solidFill>
                  <a:schemeClr val="tx1">
                    <a:lumMod val="95000"/>
                    <a:lumOff val="5000"/>
                  </a:schemeClr>
                </a:solidFill>
                <a:latin typeface="Times New Roman" panose="02020603050405020304" pitchFamily="18" charset="0"/>
                <a:ea typeface="黑体" panose="02010609060101010101" pitchFamily="49" charset="-122"/>
              </a:rPr>
              <a:t>。</a:t>
            </a:r>
            <a:endParaRPr lang="en-US" altLang="zh-CN" dirty="0">
              <a:solidFill>
                <a:schemeClr val="tx1">
                  <a:lumMod val="95000"/>
                  <a:lumOff val="5000"/>
                </a:schemeClr>
              </a:solidFill>
              <a:latin typeface="Times New Roman" panose="02020603050405020304" pitchFamily="18" charset="0"/>
              <a:ea typeface="黑体" panose="02010609060101010101" pitchFamily="49" charset="-122"/>
            </a:endParaRPr>
          </a:p>
          <a:p>
            <a:pPr lvl="1" indent="-457200" eaLnBrk="1" hangingPunct="1">
              <a:lnSpc>
                <a:spcPct val="120000"/>
              </a:lnSpc>
              <a:spcBef>
                <a:spcPts val="0"/>
              </a:spcBef>
              <a:buClr>
                <a:schemeClr val="tx1"/>
              </a:buClr>
              <a:buFont typeface="Wingdings" panose="05000000000000000000" pitchFamily="2" charset="2"/>
              <a:buChar char="Ø"/>
              <a:defRPr/>
            </a:pPr>
            <a:endParaRPr lang="en-US" altLang="zh-CN" dirty="0">
              <a:solidFill>
                <a:schemeClr val="tx1">
                  <a:lumMod val="95000"/>
                  <a:lumOff val="5000"/>
                </a:schemeClr>
              </a:solidFill>
              <a:latin typeface="Times New Roman" panose="02020603050405020304" pitchFamily="18" charset="0"/>
              <a:ea typeface="黑体" panose="02010609060101010101" pitchFamily="49" charset="-122"/>
            </a:endParaRPr>
          </a:p>
          <a:p>
            <a:pPr lvl="1" indent="-457200" eaLnBrk="1" hangingPunct="1">
              <a:lnSpc>
                <a:spcPct val="120000"/>
              </a:lnSpc>
              <a:spcBef>
                <a:spcPts val="0"/>
              </a:spcBef>
              <a:buClr>
                <a:schemeClr val="tx1"/>
              </a:buClr>
              <a:buFont typeface="Wingdings" panose="05000000000000000000" pitchFamily="2" charset="2"/>
              <a:buChar char="Ø"/>
              <a:defRPr/>
            </a:pPr>
            <a:r>
              <a:rPr lang="zh-CN" altLang="en-US" sz="2400" dirty="0">
                <a:solidFill>
                  <a:schemeClr val="tx1">
                    <a:lumMod val="95000"/>
                    <a:lumOff val="5000"/>
                  </a:schemeClr>
                </a:solidFill>
                <a:latin typeface="Times New Roman" panose="02020603050405020304" pitchFamily="18" charset="0"/>
                <a:ea typeface="黑体" panose="02010609060101010101" pitchFamily="49" charset="-122"/>
              </a:rPr>
              <a:t>任何酶（即使不是米氏酶）都可以通过实验测定其催化反应的最大速度（</a:t>
            </a:r>
            <a:r>
              <a:rPr lang="en-US" altLang="zh-CN" sz="2400" dirty="0" err="1">
                <a:solidFill>
                  <a:schemeClr val="tx1">
                    <a:lumMod val="95000"/>
                    <a:lumOff val="5000"/>
                  </a:schemeClr>
                </a:solidFill>
                <a:latin typeface="Times New Roman" panose="02020603050405020304" pitchFamily="18" charset="0"/>
                <a:ea typeface="黑体" panose="02010609060101010101" pitchFamily="49" charset="-122"/>
              </a:rPr>
              <a:t>V</a:t>
            </a:r>
            <a:r>
              <a:rPr lang="en-US" altLang="zh-CN" sz="2400" baseline="-25000" dirty="0" err="1">
                <a:solidFill>
                  <a:schemeClr val="tx1">
                    <a:lumMod val="95000"/>
                    <a:lumOff val="5000"/>
                  </a:schemeClr>
                </a:solidFill>
                <a:latin typeface="Times New Roman" panose="02020603050405020304" pitchFamily="18" charset="0"/>
                <a:ea typeface="黑体" panose="02010609060101010101" pitchFamily="49" charset="-122"/>
              </a:rPr>
              <a:t>max</a:t>
            </a:r>
            <a:r>
              <a:rPr lang="en-US" altLang="zh-CN" sz="2400" dirty="0">
                <a:solidFill>
                  <a:schemeClr val="tx1">
                    <a:lumMod val="95000"/>
                    <a:lumOff val="5000"/>
                  </a:schemeClr>
                </a:solidFill>
                <a:latin typeface="Times New Roman" panose="02020603050405020304" pitchFamily="18" charset="0"/>
                <a:ea typeface="黑体" panose="02010609060101010101" pitchFamily="49" charset="-122"/>
              </a:rPr>
              <a:t>), </a:t>
            </a:r>
            <a:r>
              <a:rPr lang="zh-CN" altLang="en-US" sz="2400" dirty="0">
                <a:solidFill>
                  <a:schemeClr val="tx1">
                    <a:lumMod val="95000"/>
                    <a:lumOff val="5000"/>
                  </a:schemeClr>
                </a:solidFill>
                <a:latin typeface="Times New Roman" panose="02020603050405020304" pitchFamily="18" charset="0"/>
                <a:ea typeface="黑体" panose="02010609060101010101" pitchFamily="49" charset="-122"/>
              </a:rPr>
              <a:t>以及酶的</a:t>
            </a:r>
            <a:r>
              <a:rPr lang="en-US" altLang="zh-CN" sz="2400" dirty="0">
                <a:solidFill>
                  <a:srgbClr val="0000CC"/>
                </a:solidFill>
                <a:latin typeface="Times New Roman" panose="02020603050405020304" pitchFamily="18" charset="0"/>
                <a:ea typeface="黑体" panose="02010609060101010101" pitchFamily="49" charset="-122"/>
              </a:rPr>
              <a:t>K</a:t>
            </a:r>
            <a:r>
              <a:rPr lang="en-US" altLang="zh-CN" sz="2400" baseline="-25000" dirty="0">
                <a:solidFill>
                  <a:srgbClr val="0000CC"/>
                </a:solidFill>
                <a:latin typeface="Times New Roman" panose="02020603050405020304" pitchFamily="18" charset="0"/>
                <a:ea typeface="黑体" panose="02010609060101010101" pitchFamily="49" charset="-122"/>
              </a:rPr>
              <a:t>m</a:t>
            </a:r>
            <a:r>
              <a:rPr lang="zh-CN" altLang="en-US" sz="2400" dirty="0">
                <a:solidFill>
                  <a:schemeClr val="tx1">
                    <a:lumMod val="95000"/>
                    <a:lumOff val="5000"/>
                  </a:schemeClr>
                </a:solidFill>
                <a:latin typeface="Times New Roman" panose="02020603050405020304" pitchFamily="18" charset="0"/>
                <a:ea typeface="黑体" panose="02010609060101010101" pitchFamily="49" charset="-122"/>
              </a:rPr>
              <a:t>（</a:t>
            </a:r>
            <a:r>
              <a:rPr lang="zh-CN" altLang="en-US" sz="2400" dirty="0">
                <a:solidFill>
                  <a:srgbClr val="0000CC"/>
                </a:solidFill>
                <a:latin typeface="Times New Roman" panose="02020603050405020304" pitchFamily="18" charset="0"/>
                <a:ea typeface="黑体" panose="02010609060101010101" pitchFamily="49" charset="-122"/>
              </a:rPr>
              <a:t>即最大反应速度一半时对应的底物浓度</a:t>
            </a:r>
            <a:r>
              <a:rPr lang="zh-CN" altLang="en-US" sz="2400" dirty="0">
                <a:solidFill>
                  <a:schemeClr val="tx1">
                    <a:lumMod val="95000"/>
                    <a:lumOff val="5000"/>
                  </a:schemeClr>
                </a:solidFill>
                <a:latin typeface="Times New Roman" panose="02020603050405020304" pitchFamily="18" charset="0"/>
                <a:ea typeface="黑体" panose="020106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3714" name="图片 1">
            <a:extLst>
              <a:ext uri="{FF2B5EF4-FFF2-40B4-BE49-F238E27FC236}">
                <a16:creationId xmlns:a16="http://schemas.microsoft.com/office/drawing/2014/main" id="{BD6F4780-7FFC-43F0-A5EA-95D8C367FA8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06356" y="1556791"/>
            <a:ext cx="4968552" cy="4850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715" name="Rectangle 2">
            <a:extLst>
              <a:ext uri="{FF2B5EF4-FFF2-40B4-BE49-F238E27FC236}">
                <a16:creationId xmlns:a16="http://schemas.microsoft.com/office/drawing/2014/main" id="{D8C86128-4C1F-40F1-9ABD-5DBF8471D7B6}"/>
              </a:ext>
            </a:extLst>
          </p:cNvPr>
          <p:cNvSpPr>
            <a:spLocks noChangeArrowheads="1"/>
          </p:cNvSpPr>
          <p:nvPr/>
        </p:nvSpPr>
        <p:spPr bwMode="auto">
          <a:xfrm>
            <a:off x="2351584" y="476672"/>
            <a:ext cx="7991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0" lvl="1" eaLnBrk="1" hangingPunct="1">
              <a:spcBef>
                <a:spcPct val="0"/>
              </a:spcBef>
              <a:buClr>
                <a:schemeClr val="tx1"/>
              </a:buClr>
              <a:buNone/>
            </a:pPr>
            <a:r>
              <a:rPr lang="en-US" altLang="zh-CN" sz="3200" dirty="0">
                <a:solidFill>
                  <a:srgbClr val="0000CC"/>
                </a:solidFill>
                <a:latin typeface="Times New Roman" panose="02020603050405020304" pitchFamily="18" charset="0"/>
                <a:ea typeface="黑体" panose="02010609060101010101" pitchFamily="49" charset="-122"/>
              </a:rPr>
              <a:t>    </a:t>
            </a:r>
            <a:r>
              <a:rPr lang="zh-CN" altLang="en-US" sz="3200" dirty="0">
                <a:solidFill>
                  <a:srgbClr val="0000CC"/>
                </a:solidFill>
                <a:latin typeface="Times New Roman" panose="02020603050405020304" pitchFamily="18" charset="0"/>
                <a:ea typeface="黑体" panose="02010609060101010101" pitchFamily="49" charset="-122"/>
              </a:rPr>
              <a:t>米氏酶的双曲线 </a:t>
            </a:r>
            <a:r>
              <a:rPr lang="en-US" altLang="zh-CN" sz="3200" dirty="0">
                <a:solidFill>
                  <a:srgbClr val="0000CC"/>
                </a:solidFill>
                <a:latin typeface="Times New Roman" panose="02020603050405020304" pitchFamily="18" charset="0"/>
                <a:ea typeface="黑体" panose="02010609060101010101" pitchFamily="49" charset="-122"/>
              </a:rPr>
              <a:t>VS </a:t>
            </a:r>
            <a:r>
              <a:rPr lang="zh-CN" altLang="en-US" sz="3200" dirty="0">
                <a:solidFill>
                  <a:srgbClr val="0000CC"/>
                </a:solidFill>
                <a:latin typeface="Times New Roman" panose="02020603050405020304" pitchFamily="18" charset="0"/>
                <a:ea typeface="黑体" panose="02010609060101010101" pitchFamily="49" charset="-122"/>
              </a:rPr>
              <a:t>别构酶的</a:t>
            </a:r>
            <a:r>
              <a:rPr lang="en-US" altLang="zh-CN" sz="3200" dirty="0">
                <a:solidFill>
                  <a:srgbClr val="0000CC"/>
                </a:solidFill>
                <a:latin typeface="Times New Roman" panose="02020603050405020304" pitchFamily="18" charset="0"/>
                <a:ea typeface="黑体" panose="02010609060101010101" pitchFamily="49" charset="-122"/>
              </a:rPr>
              <a:t>S</a:t>
            </a:r>
            <a:r>
              <a:rPr lang="zh-CN" altLang="en-US" sz="3200" dirty="0">
                <a:solidFill>
                  <a:srgbClr val="0000CC"/>
                </a:solidFill>
                <a:latin typeface="Times New Roman" panose="02020603050405020304" pitchFamily="18" charset="0"/>
                <a:ea typeface="黑体" panose="02010609060101010101" pitchFamily="49" charset="-122"/>
              </a:rPr>
              <a:t>形曲线</a:t>
            </a:r>
          </a:p>
        </p:txBody>
      </p:sp>
      <p:sp>
        <p:nvSpPr>
          <p:cNvPr id="2" name="文本框 1">
            <a:extLst>
              <a:ext uri="{FF2B5EF4-FFF2-40B4-BE49-F238E27FC236}">
                <a16:creationId xmlns:a16="http://schemas.microsoft.com/office/drawing/2014/main" id="{BE9AC80F-7EE3-4813-BA8D-C0C757C05590}"/>
              </a:ext>
            </a:extLst>
          </p:cNvPr>
          <p:cNvSpPr txBox="1"/>
          <p:nvPr/>
        </p:nvSpPr>
        <p:spPr>
          <a:xfrm>
            <a:off x="6456040" y="2060848"/>
            <a:ext cx="5184576" cy="3682611"/>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对别构酶来说，在一定底物浓度范围内（曲线最陡峭部位对应的浓度范围），</a:t>
            </a:r>
            <a:r>
              <a:rPr lang="zh-CN" altLang="en-US" sz="2600" dirty="0">
                <a:solidFill>
                  <a:srgbClr val="0000CC"/>
                </a:solidFill>
                <a:latin typeface="微软雅黑" panose="020B0503020204020204" pitchFamily="34" charset="-122"/>
                <a:ea typeface="微软雅黑" panose="020B0503020204020204" pitchFamily="34" charset="-122"/>
              </a:rPr>
              <a:t>底物浓度的增加会引起反应速度的急剧增加</a:t>
            </a:r>
            <a:r>
              <a:rPr lang="zh-CN" altLang="en-US"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marL="342900" indent="-342900">
              <a:lnSpc>
                <a:spcPct val="130000"/>
              </a:lnSpc>
              <a:buFont typeface="Arial" panose="020B0604020202020204" pitchFamily="34" charset="0"/>
              <a:buChar char="•"/>
            </a:pPr>
            <a:endParaRPr lang="en-US" altLang="zh-CN" sz="2600" dirty="0">
              <a:latin typeface="微软雅黑" panose="020B0503020204020204" pitchFamily="34" charset="-122"/>
              <a:ea typeface="微软雅黑" panose="020B0503020204020204" pitchFamily="34" charset="-122"/>
            </a:endParaRPr>
          </a:p>
          <a:p>
            <a:pPr marL="342900" indent="-342900">
              <a:lnSpc>
                <a:spcPct val="130000"/>
              </a:lnSpc>
              <a:buFont typeface="Arial" panose="020B0604020202020204" pitchFamily="34" charset="0"/>
              <a:buChar char="•"/>
            </a:pPr>
            <a:r>
              <a:rPr lang="en-US" altLang="zh-CN" sz="2600" dirty="0">
                <a:latin typeface="微软雅黑" panose="020B0503020204020204" pitchFamily="34" charset="-122"/>
                <a:ea typeface="微软雅黑" panose="020B0503020204020204" pitchFamily="34" charset="-122"/>
              </a:rPr>
              <a:t>S</a:t>
            </a:r>
            <a:r>
              <a:rPr lang="zh-CN" altLang="en-US" sz="2600" dirty="0">
                <a:latin typeface="微软雅黑" panose="020B0503020204020204" pitchFamily="34" charset="-122"/>
                <a:ea typeface="微软雅黑" panose="020B0503020204020204" pitchFamily="34" charset="-122"/>
              </a:rPr>
              <a:t>形曲线显示了底物与酶结合的</a:t>
            </a:r>
            <a:r>
              <a:rPr lang="zh-CN" altLang="en-US" sz="2600" dirty="0">
                <a:solidFill>
                  <a:srgbClr val="0000CC"/>
                </a:solidFill>
                <a:latin typeface="微软雅黑" panose="020B0503020204020204" pitchFamily="34" charset="-122"/>
                <a:ea typeface="微软雅黑" panose="020B0503020204020204" pitchFamily="34" charset="-122"/>
              </a:rPr>
              <a:t>正协同性</a:t>
            </a:r>
            <a:r>
              <a:rPr lang="zh-CN" altLang="en-US" sz="2600" dirty="0">
                <a:latin typeface="微软雅黑" panose="020B0503020204020204" pitchFamily="34" charset="-122"/>
                <a:ea typeface="微软雅黑" panose="020B0503020204020204"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Rectangle 2">
            <a:extLst>
              <a:ext uri="{FF2B5EF4-FFF2-40B4-BE49-F238E27FC236}">
                <a16:creationId xmlns:a16="http://schemas.microsoft.com/office/drawing/2014/main" id="{D7E2B1AB-F646-4C5C-9749-B60FE28D91E6}"/>
              </a:ext>
            </a:extLst>
          </p:cNvPr>
          <p:cNvSpPr>
            <a:spLocks noChangeArrowheads="1"/>
          </p:cNvSpPr>
          <p:nvPr/>
        </p:nvSpPr>
        <p:spPr bwMode="auto">
          <a:xfrm>
            <a:off x="2919413" y="692696"/>
            <a:ext cx="65532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en-US" altLang="zh-CN" dirty="0">
                <a:solidFill>
                  <a:schemeClr val="tx2"/>
                </a:solidFill>
                <a:latin typeface="Times New Roman" panose="02020603050405020304" pitchFamily="18" charset="0"/>
                <a:ea typeface="黑体" panose="02010609060101010101" pitchFamily="49" charset="-122"/>
              </a:rPr>
              <a:t>K</a:t>
            </a:r>
            <a:r>
              <a:rPr kumimoji="1" lang="en-US" altLang="zh-CN" baseline="-25000" dirty="0">
                <a:solidFill>
                  <a:schemeClr val="tx2"/>
                </a:solidFill>
                <a:latin typeface="Times New Roman" panose="02020603050405020304" pitchFamily="18" charset="0"/>
                <a:ea typeface="黑体" panose="02010609060101010101" pitchFamily="49" charset="-122"/>
              </a:rPr>
              <a:t>m</a:t>
            </a:r>
            <a:r>
              <a:rPr kumimoji="1" lang="zh-CN" altLang="en-US" dirty="0">
                <a:solidFill>
                  <a:schemeClr val="tx2"/>
                </a:solidFill>
                <a:latin typeface="Times New Roman" panose="02020603050405020304" pitchFamily="18" charset="0"/>
                <a:ea typeface="黑体" panose="02010609060101010101" pitchFamily="49" charset="-122"/>
              </a:rPr>
              <a:t>值与米氏方程的应用</a:t>
            </a:r>
          </a:p>
          <a:p>
            <a:pPr eaLnBrk="1" hangingPunct="1">
              <a:lnSpc>
                <a:spcPct val="150000"/>
              </a:lnSpc>
              <a:spcBef>
                <a:spcPct val="0"/>
              </a:spcBef>
              <a:buFontTx/>
              <a:buNone/>
            </a:pPr>
            <a:r>
              <a:rPr kumimoji="1" lang="zh-CN" altLang="en-US" sz="2800" dirty="0">
                <a:solidFill>
                  <a:srgbClr val="0000FF"/>
                </a:solidFill>
                <a:latin typeface="Times New Roman" panose="02020603050405020304" pitchFamily="18" charset="0"/>
                <a:ea typeface="黑体" panose="02010609060101010101" pitchFamily="49" charset="-122"/>
              </a:rPr>
              <a:t> </a:t>
            </a:r>
            <a:r>
              <a:rPr kumimoji="1" lang="en-US" altLang="zh-CN" dirty="0">
                <a:solidFill>
                  <a:srgbClr val="0000FF"/>
                </a:solidFill>
                <a:latin typeface="Times New Roman" panose="02020603050405020304" pitchFamily="18" charset="0"/>
                <a:ea typeface="黑体" panose="02010609060101010101" pitchFamily="49" charset="-122"/>
              </a:rPr>
              <a:t>——</a:t>
            </a:r>
            <a:r>
              <a:rPr kumimoji="1" lang="zh-CN" altLang="en-US" sz="2800" dirty="0">
                <a:solidFill>
                  <a:srgbClr val="0000FF"/>
                </a:solidFill>
                <a:latin typeface="Times New Roman" panose="02020603050405020304" pitchFamily="18" charset="0"/>
                <a:ea typeface="黑体" panose="02010609060101010101" pitchFamily="49" charset="-122"/>
              </a:rPr>
              <a:t>计算底物浓度和相对速度</a:t>
            </a:r>
          </a:p>
        </p:txBody>
      </p:sp>
      <p:sp>
        <p:nvSpPr>
          <p:cNvPr id="982019" name="Rectangle 3">
            <a:extLst>
              <a:ext uri="{FF2B5EF4-FFF2-40B4-BE49-F238E27FC236}">
                <a16:creationId xmlns:a16="http://schemas.microsoft.com/office/drawing/2014/main" id="{804CEA6F-F426-44FE-8775-B1C972C0E63F}"/>
              </a:ext>
            </a:extLst>
          </p:cNvPr>
          <p:cNvSpPr>
            <a:spLocks noChangeArrowheads="1"/>
          </p:cNvSpPr>
          <p:nvPr/>
        </p:nvSpPr>
        <p:spPr bwMode="auto">
          <a:xfrm>
            <a:off x="1919536" y="2636838"/>
            <a:ext cx="871296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buClr>
                <a:schemeClr val="tx2"/>
              </a:buClr>
              <a:buSzPct val="75000"/>
              <a:buFont typeface="Wingdings" panose="05000000000000000000" pitchFamily="2" charset="2"/>
              <a:buChar char="n"/>
            </a:pPr>
            <a:r>
              <a:rPr kumimoji="1" lang="zh-CN" altLang="en-US" sz="2800" dirty="0">
                <a:latin typeface="Times New Roman" panose="02020603050405020304" pitchFamily="18" charset="0"/>
                <a:ea typeface="黑体" panose="02010609060101010101" pitchFamily="49" charset="-122"/>
              </a:rPr>
              <a:t>可由所要求的反应速度</a:t>
            </a:r>
            <a:r>
              <a:rPr kumimoji="1" lang="en-US" altLang="zh-CN" sz="2800" dirty="0">
                <a:latin typeface="Times New Roman" panose="02020603050405020304" pitchFamily="18" charset="0"/>
                <a:ea typeface="黑体" panose="02010609060101010101" pitchFamily="49" charset="-122"/>
              </a:rPr>
              <a:t>(</a:t>
            </a:r>
            <a:r>
              <a:rPr kumimoji="1" lang="zh-CN" altLang="en-US" sz="2800" dirty="0">
                <a:latin typeface="Times New Roman" panose="02020603050405020304" pitchFamily="18" charset="0"/>
                <a:ea typeface="黑体" panose="02010609060101010101" pitchFamily="49" charset="-122"/>
              </a:rPr>
              <a:t>应到达</a:t>
            </a:r>
            <a:r>
              <a:rPr kumimoji="1" lang="en-US" altLang="zh-CN" sz="2800" dirty="0">
                <a:latin typeface="Times New Roman" panose="02020603050405020304" pitchFamily="18" charset="0"/>
                <a:ea typeface="黑体" panose="02010609060101010101" pitchFamily="49" charset="-122"/>
              </a:rPr>
              <a:t>V</a:t>
            </a:r>
            <a:r>
              <a:rPr kumimoji="1" lang="en-US" altLang="zh-CN" sz="2800" baseline="-25000" dirty="0">
                <a:latin typeface="Times New Roman" panose="02020603050405020304" pitchFamily="18" charset="0"/>
                <a:ea typeface="黑体" panose="02010609060101010101" pitchFamily="49" charset="-122"/>
              </a:rPr>
              <a:t>max</a:t>
            </a:r>
            <a:r>
              <a:rPr kumimoji="1" lang="zh-CN" altLang="en-US" sz="2800" dirty="0">
                <a:latin typeface="Times New Roman" panose="02020603050405020304" pitchFamily="18" charset="0"/>
                <a:ea typeface="黑体" panose="02010609060101010101" pitchFamily="49" charset="-122"/>
              </a:rPr>
              <a:t>的百分数</a:t>
            </a:r>
            <a:r>
              <a:rPr kumimoji="1" lang="en-US" altLang="zh-CN" sz="2800" dirty="0">
                <a:latin typeface="Times New Roman" panose="02020603050405020304" pitchFamily="18" charset="0"/>
                <a:ea typeface="黑体" panose="02010609060101010101" pitchFamily="49" charset="-122"/>
              </a:rPr>
              <a:t>)</a:t>
            </a:r>
            <a:r>
              <a:rPr kumimoji="1" lang="zh-CN" altLang="en-US" sz="2800" dirty="0">
                <a:latin typeface="Times New Roman" panose="02020603050405020304" pitchFamily="18" charset="0"/>
                <a:ea typeface="黑体" panose="02010609060101010101" pitchFamily="49" charset="-122"/>
              </a:rPr>
              <a:t>，求出应当加入底物的合理浓度。</a:t>
            </a:r>
          </a:p>
          <a:p>
            <a:pPr eaLnBrk="1" hangingPunct="1">
              <a:lnSpc>
                <a:spcPct val="150000"/>
              </a:lnSpc>
              <a:buClr>
                <a:schemeClr val="tx2"/>
              </a:buClr>
              <a:buSzPct val="75000"/>
              <a:buFont typeface="Wingdings" panose="05000000000000000000" pitchFamily="2" charset="2"/>
              <a:buChar char="n"/>
            </a:pPr>
            <a:r>
              <a:rPr kumimoji="1" lang="zh-CN" altLang="en-US" sz="2800" dirty="0">
                <a:latin typeface="Times New Roman" panose="02020603050405020304" pitchFamily="18" charset="0"/>
                <a:ea typeface="黑体" panose="02010609060101010101" pitchFamily="49" charset="-122"/>
              </a:rPr>
              <a:t>反过来，也可以根据已知的底物浓度，求出该条件下的反应速度。</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4066" name="Text Box 2">
            <a:extLst>
              <a:ext uri="{FF2B5EF4-FFF2-40B4-BE49-F238E27FC236}">
                <a16:creationId xmlns:a16="http://schemas.microsoft.com/office/drawing/2014/main" id="{72D743F2-2764-4C35-AEBF-A29040A37A7B}"/>
              </a:ext>
            </a:extLst>
          </p:cNvPr>
          <p:cNvSpPr txBox="1">
            <a:spLocks noChangeArrowheads="1"/>
          </p:cNvSpPr>
          <p:nvPr/>
        </p:nvSpPr>
        <p:spPr bwMode="auto">
          <a:xfrm>
            <a:off x="4583114" y="4797426"/>
            <a:ext cx="2160587" cy="519113"/>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endParaRPr lang="zh-CN" altLang="zh-CN" sz="2800">
              <a:latin typeface="黑体" panose="02010609060101010101" pitchFamily="49" charset="-122"/>
              <a:ea typeface="黑体" panose="02010609060101010101" pitchFamily="49" charset="-122"/>
            </a:endParaRPr>
          </a:p>
        </p:txBody>
      </p:sp>
      <p:sp>
        <p:nvSpPr>
          <p:cNvPr id="247811" name="Rectangle 3">
            <a:extLst>
              <a:ext uri="{FF2B5EF4-FFF2-40B4-BE49-F238E27FC236}">
                <a16:creationId xmlns:a16="http://schemas.microsoft.com/office/drawing/2014/main" id="{C4BDAF16-7F62-4180-9CF7-87D044640234}"/>
              </a:ext>
            </a:extLst>
          </p:cNvPr>
          <p:cNvSpPr>
            <a:spLocks noChangeArrowheads="1"/>
          </p:cNvSpPr>
          <p:nvPr/>
        </p:nvSpPr>
        <p:spPr bwMode="auto">
          <a:xfrm>
            <a:off x="4583113" y="2565401"/>
            <a:ext cx="2735262"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40000"/>
              </a:lnSpc>
              <a:buClr>
                <a:schemeClr val="tx1"/>
              </a:buClr>
              <a:buFontTx/>
              <a:buAutoNum type="alphaUcPeriod"/>
            </a:pPr>
            <a:r>
              <a:rPr lang="zh-CN" altLang="en-GB" sz="2800">
                <a:latin typeface="黑体" panose="02010609060101010101" pitchFamily="49" charset="-122"/>
                <a:ea typeface="黑体" panose="02010609060101010101" pitchFamily="49" charset="-122"/>
              </a:rPr>
              <a:t>0.04</a:t>
            </a:r>
            <a:r>
              <a:rPr lang="en-GB" altLang="zh-CN" sz="2800">
                <a:latin typeface="黑体" panose="02010609060101010101" pitchFamily="49" charset="-122"/>
                <a:ea typeface="黑体" panose="02010609060101010101" pitchFamily="49" charset="-122"/>
              </a:rPr>
              <a:t>mol/L</a:t>
            </a:r>
            <a:endParaRPr lang="zh-CN" altLang="en-GB" sz="2800">
              <a:latin typeface="黑体" panose="02010609060101010101" pitchFamily="49" charset="-122"/>
              <a:ea typeface="黑体" panose="02010609060101010101" pitchFamily="49" charset="-122"/>
            </a:endParaRPr>
          </a:p>
          <a:p>
            <a:pPr eaLnBrk="1" hangingPunct="1">
              <a:lnSpc>
                <a:spcPct val="140000"/>
              </a:lnSpc>
              <a:buClr>
                <a:schemeClr val="tx1"/>
              </a:buClr>
              <a:buFontTx/>
              <a:buAutoNum type="alphaUcPeriod"/>
            </a:pPr>
            <a:r>
              <a:rPr lang="zh-CN" altLang="en-GB" sz="2800">
                <a:latin typeface="黑体" panose="02010609060101010101" pitchFamily="49" charset="-122"/>
                <a:ea typeface="黑体" panose="02010609060101010101" pitchFamily="49" charset="-122"/>
              </a:rPr>
              <a:t>0.05</a:t>
            </a:r>
            <a:r>
              <a:rPr lang="en-GB" altLang="zh-CN" sz="2800">
                <a:latin typeface="黑体" panose="02010609060101010101" pitchFamily="49" charset="-122"/>
                <a:ea typeface="黑体" panose="02010609060101010101" pitchFamily="49" charset="-122"/>
              </a:rPr>
              <a:t>mol/L</a:t>
            </a:r>
            <a:endParaRPr lang="zh-CN" altLang="en-GB" sz="2800">
              <a:latin typeface="黑体" panose="02010609060101010101" pitchFamily="49" charset="-122"/>
              <a:ea typeface="黑体" panose="02010609060101010101" pitchFamily="49" charset="-122"/>
            </a:endParaRPr>
          </a:p>
          <a:p>
            <a:pPr eaLnBrk="1" hangingPunct="1">
              <a:lnSpc>
                <a:spcPct val="140000"/>
              </a:lnSpc>
              <a:buClr>
                <a:schemeClr val="tx1"/>
              </a:buClr>
              <a:buFontTx/>
              <a:buAutoNum type="alphaUcPeriod"/>
            </a:pPr>
            <a:r>
              <a:rPr lang="zh-CN" altLang="en-GB" sz="2800">
                <a:latin typeface="黑体" panose="02010609060101010101" pitchFamily="49" charset="-122"/>
                <a:ea typeface="黑体" panose="02010609060101010101" pitchFamily="49" charset="-122"/>
              </a:rPr>
              <a:t>0.1</a:t>
            </a:r>
            <a:r>
              <a:rPr lang="en-GB" altLang="zh-CN" sz="2800">
                <a:latin typeface="黑体" panose="02010609060101010101" pitchFamily="49" charset="-122"/>
                <a:ea typeface="黑体" panose="02010609060101010101" pitchFamily="49" charset="-122"/>
              </a:rPr>
              <a:t>mol/L</a:t>
            </a:r>
          </a:p>
          <a:p>
            <a:pPr eaLnBrk="1" hangingPunct="1">
              <a:lnSpc>
                <a:spcPct val="140000"/>
              </a:lnSpc>
              <a:buClr>
                <a:schemeClr val="tx1"/>
              </a:buClr>
              <a:buFontTx/>
              <a:buAutoNum type="alphaUcPeriod"/>
            </a:pPr>
            <a:r>
              <a:rPr lang="zh-CN" altLang="en-GB" sz="2800">
                <a:latin typeface="黑体" panose="02010609060101010101" pitchFamily="49" charset="-122"/>
                <a:ea typeface="黑体" panose="02010609060101010101" pitchFamily="49" charset="-122"/>
              </a:rPr>
              <a:t>0.2</a:t>
            </a:r>
            <a:r>
              <a:rPr lang="en-GB" altLang="zh-CN" sz="2800">
                <a:latin typeface="黑体" panose="02010609060101010101" pitchFamily="49" charset="-122"/>
                <a:ea typeface="黑体" panose="02010609060101010101" pitchFamily="49" charset="-122"/>
              </a:rPr>
              <a:t>mol/L</a:t>
            </a:r>
            <a:endParaRPr lang="zh-CN" altLang="en-GB" sz="2800">
              <a:latin typeface="黑体" panose="02010609060101010101" pitchFamily="49" charset="-122"/>
              <a:ea typeface="黑体" panose="02010609060101010101" pitchFamily="49" charset="-122"/>
            </a:endParaRPr>
          </a:p>
          <a:p>
            <a:pPr eaLnBrk="1" hangingPunct="1">
              <a:lnSpc>
                <a:spcPct val="140000"/>
              </a:lnSpc>
              <a:buClr>
                <a:schemeClr val="tx1"/>
              </a:buClr>
              <a:buFontTx/>
              <a:buAutoNum type="alphaUcPeriod"/>
            </a:pPr>
            <a:r>
              <a:rPr lang="zh-CN" altLang="en-GB" sz="2800">
                <a:latin typeface="黑体" panose="02010609060101010101" pitchFamily="49" charset="-122"/>
                <a:ea typeface="黑体" panose="02010609060101010101" pitchFamily="49" charset="-122"/>
              </a:rPr>
              <a:t>0.8</a:t>
            </a:r>
            <a:r>
              <a:rPr lang="en-GB" altLang="zh-CN" sz="2800">
                <a:latin typeface="黑体" panose="02010609060101010101" pitchFamily="49" charset="-122"/>
                <a:ea typeface="黑体" panose="02010609060101010101" pitchFamily="49" charset="-122"/>
              </a:rPr>
              <a:t>mol/L</a:t>
            </a:r>
            <a:endParaRPr lang="en-US" altLang="zh-CN" sz="2800">
              <a:latin typeface="黑体" panose="02010609060101010101" pitchFamily="49" charset="-122"/>
              <a:ea typeface="黑体" panose="02010609060101010101" pitchFamily="49" charset="-122"/>
            </a:endParaRPr>
          </a:p>
        </p:txBody>
      </p:sp>
      <p:sp>
        <p:nvSpPr>
          <p:cNvPr id="144388" name="Rectangle 4">
            <a:extLst>
              <a:ext uri="{FF2B5EF4-FFF2-40B4-BE49-F238E27FC236}">
                <a16:creationId xmlns:a16="http://schemas.microsoft.com/office/drawing/2014/main" id="{9521F582-CCB5-4CB7-A8E2-5D75C7D71121}"/>
              </a:ext>
            </a:extLst>
          </p:cNvPr>
          <p:cNvSpPr>
            <a:spLocks noChangeArrowheads="1"/>
          </p:cNvSpPr>
          <p:nvPr/>
        </p:nvSpPr>
        <p:spPr bwMode="auto">
          <a:xfrm>
            <a:off x="1847528" y="981075"/>
            <a:ext cx="8209285" cy="1284006"/>
          </a:xfrm>
          <a:prstGeom prst="rect">
            <a:avLst/>
          </a:prstGeom>
          <a:noFill/>
          <a:ln>
            <a:noFill/>
          </a:ln>
        </p:spPr>
        <p:txBody>
          <a:bodyPr wrap="squar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defRPr/>
            </a:pPr>
            <a:r>
              <a:rPr lang="zh-CN" altLang="en-US" sz="2800" dirty="0">
                <a:solidFill>
                  <a:schemeClr val="accent6">
                    <a:lumMod val="95000"/>
                    <a:lumOff val="5000"/>
                  </a:schemeClr>
                </a:solidFill>
                <a:latin typeface="黑体" panose="02010609060101010101" pitchFamily="49" charset="-122"/>
                <a:ea typeface="黑体" panose="02010609060101010101" pitchFamily="49" charset="-122"/>
              </a:rPr>
              <a:t>已知某酶</a:t>
            </a:r>
            <a:r>
              <a:rPr lang="en-US" altLang="zh-CN" sz="2800" dirty="0">
                <a:solidFill>
                  <a:schemeClr val="accent6">
                    <a:lumMod val="95000"/>
                    <a:lumOff val="5000"/>
                  </a:schemeClr>
                </a:solidFill>
                <a:latin typeface="黑体" panose="02010609060101010101" pitchFamily="49" charset="-122"/>
                <a:ea typeface="黑体" panose="02010609060101010101" pitchFamily="49" charset="-122"/>
              </a:rPr>
              <a:t>K</a:t>
            </a:r>
            <a:r>
              <a:rPr lang="en-GB" altLang="zh-CN" sz="2800" dirty="0">
                <a:solidFill>
                  <a:schemeClr val="accent6">
                    <a:lumMod val="95000"/>
                    <a:lumOff val="5000"/>
                  </a:schemeClr>
                </a:solidFill>
                <a:latin typeface="黑体" panose="02010609060101010101" pitchFamily="49" charset="-122"/>
                <a:ea typeface="黑体" panose="02010609060101010101" pitchFamily="49" charset="-122"/>
              </a:rPr>
              <a:t>m</a:t>
            </a:r>
            <a:r>
              <a:rPr lang="zh-CN" altLang="en-GB" sz="2800" dirty="0">
                <a:solidFill>
                  <a:schemeClr val="accent6">
                    <a:lumMod val="95000"/>
                    <a:lumOff val="5000"/>
                  </a:schemeClr>
                </a:solidFill>
                <a:latin typeface="黑体" panose="02010609060101010101" pitchFamily="49" charset="-122"/>
                <a:ea typeface="黑体" panose="02010609060101010101" pitchFamily="49" charset="-122"/>
              </a:rPr>
              <a:t>值为0.05</a:t>
            </a:r>
            <a:r>
              <a:rPr lang="en-GB" altLang="zh-CN" sz="2800" dirty="0" err="1">
                <a:solidFill>
                  <a:schemeClr val="accent6">
                    <a:lumMod val="95000"/>
                    <a:lumOff val="5000"/>
                  </a:schemeClr>
                </a:solidFill>
                <a:latin typeface="黑体" panose="02010609060101010101" pitchFamily="49" charset="-122"/>
                <a:ea typeface="黑体" panose="02010609060101010101" pitchFamily="49" charset="-122"/>
              </a:rPr>
              <a:t>mol</a:t>
            </a:r>
            <a:r>
              <a:rPr lang="en-GB" altLang="zh-CN" sz="2800" dirty="0">
                <a:solidFill>
                  <a:schemeClr val="accent6">
                    <a:lumMod val="95000"/>
                    <a:lumOff val="5000"/>
                  </a:schemeClr>
                </a:solidFill>
                <a:latin typeface="黑体" panose="02010609060101010101" pitchFamily="49" charset="-122"/>
                <a:ea typeface="黑体" panose="02010609060101010101" pitchFamily="49" charset="-122"/>
              </a:rPr>
              <a:t>/L，</a:t>
            </a:r>
            <a:r>
              <a:rPr lang="zh-CN" altLang="en-GB" sz="2800" dirty="0">
                <a:solidFill>
                  <a:schemeClr val="accent6">
                    <a:lumMod val="95000"/>
                    <a:lumOff val="5000"/>
                  </a:schemeClr>
                </a:solidFill>
                <a:latin typeface="黑体" panose="02010609060101010101" pitchFamily="49" charset="-122"/>
                <a:ea typeface="黑体" panose="02010609060101010101" pitchFamily="49" charset="-122"/>
              </a:rPr>
              <a:t>欲使其所催化的反应速率达最大反应速率的80%时，底物浓度应是多少？</a:t>
            </a:r>
            <a:endParaRPr lang="zh-CN" altLang="en-US" sz="2800" dirty="0">
              <a:solidFill>
                <a:schemeClr val="accent6">
                  <a:lumMod val="95000"/>
                  <a:lumOff val="5000"/>
                </a:schemeClr>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4066"/>
                                        </p:tgtEl>
                                        <p:attrNameLst>
                                          <p:attrName>style.visibility</p:attrName>
                                        </p:attrNameLst>
                                      </p:cBhvr>
                                      <p:to>
                                        <p:strVal val="visible"/>
                                      </p:to>
                                    </p:set>
                                    <p:animEffect transition="in" filter="wipe(left)">
                                      <p:cBhvr>
                                        <p:cTn id="7" dur="1000"/>
                                        <p:tgtEl>
                                          <p:spTgt spid="984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66"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9" name="Rectangle 3">
            <a:extLst>
              <a:ext uri="{FF2B5EF4-FFF2-40B4-BE49-F238E27FC236}">
                <a16:creationId xmlns:a16="http://schemas.microsoft.com/office/drawing/2014/main" id="{A7E4BCA3-1088-4CF1-8578-86D62CF91D63}"/>
              </a:ext>
            </a:extLst>
          </p:cNvPr>
          <p:cNvSpPr>
            <a:spLocks noGrp="1" noChangeArrowheads="1"/>
          </p:cNvSpPr>
          <p:nvPr>
            <p:ph type="body" idx="1"/>
          </p:nvPr>
        </p:nvSpPr>
        <p:spPr>
          <a:xfrm>
            <a:off x="2135188" y="981075"/>
            <a:ext cx="7772400" cy="4114800"/>
          </a:xfrm>
        </p:spPr>
        <p:txBody>
          <a:bodyPr/>
          <a:lstStyle/>
          <a:p>
            <a:pPr>
              <a:defRPr/>
            </a:pPr>
            <a:r>
              <a:rPr lang="zh-CN" altLang="en-US" b="0" dirty="0">
                <a:latin typeface="黑体" panose="02010609060101010101" pitchFamily="49" charset="-122"/>
                <a:ea typeface="黑体" panose="02010609060101010101" pitchFamily="49" charset="-122"/>
              </a:rPr>
              <a:t>底物浓度为</a:t>
            </a:r>
            <a:r>
              <a:rPr lang="en-US" altLang="zh-CN" b="0" dirty="0">
                <a:latin typeface="黑体" panose="02010609060101010101" pitchFamily="49" charset="-122"/>
                <a:ea typeface="黑体" panose="02010609060101010101" pitchFamily="49" charset="-122"/>
              </a:rPr>
              <a:t>1/2K</a:t>
            </a:r>
            <a:r>
              <a:rPr lang="en-US" altLang="zh-CN" b="0" baseline="-25000" dirty="0">
                <a:latin typeface="黑体" panose="02010609060101010101" pitchFamily="49" charset="-122"/>
                <a:ea typeface="黑体" panose="02010609060101010101" pitchFamily="49" charset="-122"/>
              </a:rPr>
              <a:t>m</a:t>
            </a:r>
            <a:r>
              <a:rPr lang="zh-CN" altLang="en-US" b="0" dirty="0">
                <a:latin typeface="黑体" panose="02010609060101010101" pitchFamily="49" charset="-122"/>
                <a:ea typeface="黑体" panose="02010609060101010101" pitchFamily="49" charset="-122"/>
              </a:rPr>
              <a:t>，</a:t>
            </a:r>
            <a:r>
              <a:rPr lang="en-US" altLang="zh-CN" b="0" dirty="0">
                <a:latin typeface="黑体" panose="02010609060101010101" pitchFamily="49" charset="-122"/>
                <a:ea typeface="黑体" panose="02010609060101010101" pitchFamily="49" charset="-122"/>
              </a:rPr>
              <a:t>2K</a:t>
            </a:r>
            <a:r>
              <a:rPr lang="en-US" altLang="zh-CN" b="0" baseline="-25000" dirty="0">
                <a:latin typeface="黑体" panose="02010609060101010101" pitchFamily="49" charset="-122"/>
                <a:ea typeface="黑体" panose="02010609060101010101" pitchFamily="49" charset="-122"/>
              </a:rPr>
              <a:t>m</a:t>
            </a:r>
            <a:r>
              <a:rPr lang="zh-CN" altLang="en-US" b="0" dirty="0">
                <a:latin typeface="黑体" panose="02010609060101010101" pitchFamily="49" charset="-122"/>
                <a:ea typeface="黑体" panose="02010609060101010101" pitchFamily="49" charset="-122"/>
              </a:rPr>
              <a:t>和</a:t>
            </a:r>
            <a:r>
              <a:rPr lang="en-US" altLang="zh-CN" b="0" dirty="0">
                <a:latin typeface="黑体" panose="02010609060101010101" pitchFamily="49" charset="-122"/>
                <a:ea typeface="黑体" panose="02010609060101010101" pitchFamily="49" charset="-122"/>
              </a:rPr>
              <a:t>10K</a:t>
            </a:r>
            <a:r>
              <a:rPr lang="en-US" altLang="zh-CN" b="0" baseline="-25000" dirty="0">
                <a:latin typeface="黑体" panose="02010609060101010101" pitchFamily="49" charset="-122"/>
                <a:ea typeface="黑体" panose="02010609060101010101" pitchFamily="49" charset="-122"/>
              </a:rPr>
              <a:t>m</a:t>
            </a:r>
            <a:r>
              <a:rPr lang="zh-CN" altLang="en-US" b="0" dirty="0">
                <a:latin typeface="黑体" panose="02010609060101010101" pitchFamily="49" charset="-122"/>
                <a:ea typeface="黑体" panose="02010609060101010101" pitchFamily="49" charset="-122"/>
              </a:rPr>
              <a:t>时，酶促反应的速率分别相当于多少</a:t>
            </a:r>
            <a:r>
              <a:rPr lang="en-US" altLang="zh-CN" b="0" dirty="0" err="1">
                <a:latin typeface="黑体" panose="02010609060101010101" pitchFamily="49" charset="-122"/>
                <a:ea typeface="黑体" panose="02010609060101010101" pitchFamily="49" charset="-122"/>
              </a:rPr>
              <a:t>V</a:t>
            </a:r>
            <a:r>
              <a:rPr lang="en-US" altLang="zh-CN" b="0" baseline="-25000" dirty="0" err="1">
                <a:latin typeface="黑体" panose="02010609060101010101" pitchFamily="49" charset="-122"/>
                <a:ea typeface="黑体" panose="02010609060101010101" pitchFamily="49" charset="-122"/>
              </a:rPr>
              <a:t>max</a:t>
            </a:r>
            <a:r>
              <a:rPr lang="zh-CN" altLang="en-US" b="0" dirty="0">
                <a:latin typeface="黑体" panose="02010609060101010101" pitchFamily="49" charset="-122"/>
                <a:ea typeface="黑体" panose="02010609060101010101" pitchFamily="49" charset="-122"/>
              </a:rPr>
              <a:t>？</a:t>
            </a:r>
            <a:br>
              <a:rPr lang="zh-CN" altLang="en-US" b="0" dirty="0">
                <a:latin typeface="黑体" panose="02010609060101010101" pitchFamily="49" charset="-122"/>
                <a:ea typeface="黑体" panose="02010609060101010101" pitchFamily="49" charset="-122"/>
              </a:rPr>
            </a:br>
            <a:endParaRPr lang="zh-CN" altLang="en-US" b="0" dirty="0">
              <a:latin typeface="黑体" panose="02010609060101010101" pitchFamily="49" charset="-122"/>
              <a:ea typeface="黑体" panose="02010609060101010101" pitchFamily="49" charset="-122"/>
            </a:endParaRPr>
          </a:p>
          <a:p>
            <a:pPr marL="0" indent="0">
              <a:buNone/>
              <a:defRPr/>
            </a:pPr>
            <a:r>
              <a:rPr lang="zh-CN" altLang="en-US" b="0" dirty="0">
                <a:solidFill>
                  <a:srgbClr val="0000CC"/>
                </a:solidFill>
                <a:latin typeface="黑体" panose="02010609060101010101" pitchFamily="49" charset="-122"/>
                <a:ea typeface="黑体" panose="02010609060101010101" pitchFamily="49" charset="-122"/>
              </a:rPr>
              <a:t>  答：  </a:t>
            </a:r>
            <a:r>
              <a:rPr lang="en-US" altLang="zh-CN" b="0" dirty="0">
                <a:solidFill>
                  <a:srgbClr val="0000CC"/>
                </a:solidFill>
                <a:latin typeface="黑体" panose="02010609060101010101" pitchFamily="49" charset="-122"/>
                <a:ea typeface="黑体" panose="02010609060101010101" pitchFamily="49" charset="-122"/>
              </a:rPr>
              <a:t>0.33V</a:t>
            </a:r>
            <a:r>
              <a:rPr lang="en-US" altLang="zh-CN" b="0" baseline="-25000" dirty="0">
                <a:solidFill>
                  <a:srgbClr val="0000CC"/>
                </a:solidFill>
                <a:latin typeface="黑体" panose="02010609060101010101" pitchFamily="49" charset="-122"/>
                <a:ea typeface="黑体" panose="02010609060101010101" pitchFamily="49" charset="-122"/>
              </a:rPr>
              <a:t>max</a:t>
            </a:r>
            <a:r>
              <a:rPr lang="en-US" altLang="zh-CN" b="0" dirty="0">
                <a:solidFill>
                  <a:srgbClr val="0000CC"/>
                </a:solidFill>
                <a:latin typeface="黑体" panose="02010609060101010101" pitchFamily="49" charset="-122"/>
                <a:ea typeface="黑体" panose="02010609060101010101" pitchFamily="49" charset="-122"/>
              </a:rPr>
              <a:t> </a:t>
            </a:r>
          </a:p>
          <a:p>
            <a:pPr marL="0" indent="0">
              <a:buNone/>
              <a:defRPr/>
            </a:pPr>
            <a:r>
              <a:rPr lang="en-US" altLang="zh-CN" b="0" dirty="0">
                <a:solidFill>
                  <a:srgbClr val="0000CC"/>
                </a:solidFill>
                <a:latin typeface="黑体" panose="02010609060101010101" pitchFamily="49" charset="-122"/>
                <a:ea typeface="黑体" panose="02010609060101010101" pitchFamily="49" charset="-122"/>
              </a:rPr>
              <a:t>        0.67V</a:t>
            </a:r>
            <a:r>
              <a:rPr lang="en-US" altLang="zh-CN" b="0" baseline="-25000" dirty="0">
                <a:solidFill>
                  <a:srgbClr val="0000CC"/>
                </a:solidFill>
                <a:latin typeface="黑体" panose="02010609060101010101" pitchFamily="49" charset="-122"/>
                <a:ea typeface="黑体" panose="02010609060101010101" pitchFamily="49" charset="-122"/>
              </a:rPr>
              <a:t>max</a:t>
            </a:r>
            <a:r>
              <a:rPr lang="en-US" altLang="zh-CN" b="0" dirty="0">
                <a:solidFill>
                  <a:srgbClr val="0000CC"/>
                </a:solidFill>
                <a:latin typeface="黑体" panose="02010609060101010101" pitchFamily="49" charset="-122"/>
                <a:ea typeface="黑体" panose="02010609060101010101" pitchFamily="49" charset="-122"/>
              </a:rPr>
              <a:t> </a:t>
            </a:r>
          </a:p>
          <a:p>
            <a:pPr marL="0" indent="0">
              <a:buNone/>
              <a:defRPr/>
            </a:pPr>
            <a:r>
              <a:rPr lang="en-US" altLang="zh-CN" b="0" dirty="0">
                <a:solidFill>
                  <a:srgbClr val="0000CC"/>
                </a:solidFill>
                <a:latin typeface="黑体" panose="02010609060101010101" pitchFamily="49" charset="-122"/>
                <a:ea typeface="黑体" panose="02010609060101010101" pitchFamily="49" charset="-122"/>
              </a:rPr>
              <a:t>        0.91V</a:t>
            </a:r>
            <a:r>
              <a:rPr lang="en-US" altLang="zh-CN" b="0" baseline="-25000" dirty="0">
                <a:solidFill>
                  <a:srgbClr val="0000CC"/>
                </a:solidFill>
                <a:latin typeface="黑体" panose="02010609060101010101" pitchFamily="49" charset="-122"/>
                <a:ea typeface="黑体" panose="02010609060101010101" pitchFamily="49" charset="-122"/>
              </a:rPr>
              <a:t>max</a:t>
            </a:r>
            <a:r>
              <a:rPr lang="en-US" altLang="zh-CN" b="0" dirty="0">
                <a:solidFill>
                  <a:srgbClr val="0000CC"/>
                </a:solidFill>
                <a:latin typeface="黑体" panose="02010609060101010101" pitchFamily="49" charset="-122"/>
                <a:ea typeface="黑体" panose="02010609060101010101"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08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08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90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0882" name="文本占位符 7">
            <a:extLst>
              <a:ext uri="{FF2B5EF4-FFF2-40B4-BE49-F238E27FC236}">
                <a16:creationId xmlns:a16="http://schemas.microsoft.com/office/drawing/2014/main" id="{9E9497C4-6629-403F-AAB1-F5A0C1EA6DE0}"/>
              </a:ext>
            </a:extLst>
          </p:cNvPr>
          <p:cNvSpPr>
            <a:spLocks noGrp="1" noChangeArrowheads="1"/>
          </p:cNvSpPr>
          <p:nvPr>
            <p:ph type="body" sz="half" idx="1"/>
          </p:nvPr>
        </p:nvSpPr>
        <p:spPr>
          <a:xfrm>
            <a:off x="2495550" y="341313"/>
            <a:ext cx="2952750" cy="735012"/>
          </a:xfrm>
        </p:spPr>
        <p:txBody>
          <a:bodyPr/>
          <a:lstStyle/>
          <a:p>
            <a:r>
              <a:rPr lang="en-US" altLang="zh-CN">
                <a:latin typeface="Arial" panose="020B0604020202020204" pitchFamily="34" charset="0"/>
                <a:cs typeface="Arial" panose="020B0604020202020204" pitchFamily="34" charset="0"/>
              </a:rPr>
              <a:t>Happyase</a:t>
            </a:r>
            <a:endParaRPr lang="zh-CN" altLang="en-US">
              <a:latin typeface="Arial" panose="020B0604020202020204" pitchFamily="34" charset="0"/>
              <a:cs typeface="Arial" panose="020B0604020202020204" pitchFamily="34" charset="0"/>
            </a:endParaRPr>
          </a:p>
        </p:txBody>
      </p:sp>
      <p:pic>
        <p:nvPicPr>
          <p:cNvPr id="250883" name="内容占位符 3">
            <a:extLst>
              <a:ext uri="{FF2B5EF4-FFF2-40B4-BE49-F238E27FC236}">
                <a16:creationId xmlns:a16="http://schemas.microsoft.com/office/drawing/2014/main" id="{9C42A23A-9528-4282-9316-FE4DF54AD09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575051" y="1008064"/>
            <a:ext cx="3502025" cy="549275"/>
          </a:xfrm>
        </p:spPr>
      </p:pic>
      <p:sp>
        <p:nvSpPr>
          <p:cNvPr id="9" name="文本占位符 7">
            <a:extLst>
              <a:ext uri="{FF2B5EF4-FFF2-40B4-BE49-F238E27FC236}">
                <a16:creationId xmlns:a16="http://schemas.microsoft.com/office/drawing/2014/main" id="{DCA53611-B3F0-4393-87E0-1AED39A0E105}"/>
              </a:ext>
            </a:extLst>
          </p:cNvPr>
          <p:cNvSpPr txBox="1">
            <a:spLocks/>
          </p:cNvSpPr>
          <p:nvPr/>
        </p:nvSpPr>
        <p:spPr bwMode="auto">
          <a:xfrm>
            <a:off x="2495550" y="1722439"/>
            <a:ext cx="7848600" cy="115252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20000"/>
              </a:lnSpc>
              <a:defRPr/>
            </a:pPr>
            <a:r>
              <a:rPr lang="zh-CN" altLang="en-US" sz="2800" kern="0" dirty="0">
                <a:latin typeface="Arial" panose="020B0604020202020204" pitchFamily="34" charset="0"/>
                <a:cs typeface="Arial" panose="020B0604020202020204" pitchFamily="34" charset="0"/>
              </a:rPr>
              <a:t>已知</a:t>
            </a:r>
            <a:r>
              <a:rPr lang="en-US" altLang="zh-CN" sz="2800" kern="0" dirty="0" err="1">
                <a:latin typeface="Arial" panose="020B0604020202020204" pitchFamily="34" charset="0"/>
                <a:cs typeface="Arial" panose="020B0604020202020204" pitchFamily="34" charset="0"/>
              </a:rPr>
              <a:t>K</a:t>
            </a:r>
            <a:r>
              <a:rPr lang="en-US" altLang="zh-CN" sz="2800" kern="0" baseline="-25000" dirty="0" err="1">
                <a:latin typeface="Arial" panose="020B0604020202020204" pitchFamily="34" charset="0"/>
                <a:cs typeface="Arial" panose="020B0604020202020204" pitchFamily="34" charset="0"/>
              </a:rPr>
              <a:t>cat</a:t>
            </a:r>
            <a:r>
              <a:rPr lang="en-US" altLang="zh-CN" sz="2800" kern="0" dirty="0">
                <a:latin typeface="Arial" panose="020B0604020202020204" pitchFamily="34" charset="0"/>
                <a:cs typeface="Arial" panose="020B0604020202020204" pitchFamily="34" charset="0"/>
              </a:rPr>
              <a:t>=600S</a:t>
            </a:r>
            <a:r>
              <a:rPr lang="en-US" altLang="zh-CN" sz="2800" kern="0" baseline="30000" dirty="0">
                <a:latin typeface="Arial" panose="020B0604020202020204" pitchFamily="34" charset="0"/>
                <a:cs typeface="Arial" panose="020B0604020202020204" pitchFamily="34" charset="0"/>
              </a:rPr>
              <a:t>-1</a:t>
            </a:r>
            <a:r>
              <a:rPr lang="en-US" altLang="zh-CN" sz="2800" kern="0" dirty="0">
                <a:latin typeface="Arial" panose="020B0604020202020204" pitchFamily="34" charset="0"/>
                <a:cs typeface="Arial" panose="020B0604020202020204" pitchFamily="34" charset="0"/>
              </a:rPr>
              <a:t>,   [E</a:t>
            </a:r>
            <a:r>
              <a:rPr lang="en-US" altLang="zh-CN" sz="2800" kern="0" baseline="-25000" dirty="0">
                <a:latin typeface="Arial" panose="020B0604020202020204" pitchFamily="34" charset="0"/>
                <a:cs typeface="Arial" panose="020B0604020202020204" pitchFamily="34" charset="0"/>
              </a:rPr>
              <a:t>t</a:t>
            </a:r>
            <a:r>
              <a:rPr lang="en-US" altLang="zh-CN" sz="2800" kern="0" dirty="0">
                <a:latin typeface="Arial" panose="020B0604020202020204" pitchFamily="34" charset="0"/>
                <a:cs typeface="Arial" panose="020B0604020202020204" pitchFamily="34" charset="0"/>
              </a:rPr>
              <a:t>]=20nM,   [SAD]=40μM, V</a:t>
            </a:r>
            <a:r>
              <a:rPr lang="en-US" altLang="zh-CN" sz="2800" kern="0" baseline="-25000" dirty="0">
                <a:latin typeface="Arial" panose="020B0604020202020204" pitchFamily="34" charset="0"/>
                <a:cs typeface="Arial" panose="020B0604020202020204" pitchFamily="34" charset="0"/>
              </a:rPr>
              <a:t>0</a:t>
            </a:r>
            <a:r>
              <a:rPr lang="en-US" altLang="zh-CN" sz="2800" kern="0" dirty="0">
                <a:latin typeface="Arial" panose="020B0604020202020204" pitchFamily="34" charset="0"/>
                <a:cs typeface="Arial" panose="020B0604020202020204" pitchFamily="34" charset="0"/>
              </a:rPr>
              <a:t>=9.6μM S</a:t>
            </a:r>
            <a:r>
              <a:rPr lang="en-US" altLang="zh-CN" sz="2800" kern="0" baseline="30000" dirty="0">
                <a:latin typeface="Arial" panose="020B0604020202020204" pitchFamily="34" charset="0"/>
                <a:cs typeface="Arial" panose="020B0604020202020204" pitchFamily="34" charset="0"/>
              </a:rPr>
              <a:t>-1</a:t>
            </a:r>
            <a:r>
              <a:rPr lang="en-US" altLang="zh-CN" sz="2800" kern="0" dirty="0">
                <a:latin typeface="Arial" panose="020B0604020202020204" pitchFamily="34" charset="0"/>
                <a:cs typeface="Arial" panose="020B0604020202020204" pitchFamily="34" charset="0"/>
              </a:rPr>
              <a:t>,  </a:t>
            </a:r>
            <a:r>
              <a:rPr lang="zh-CN" altLang="en-US" sz="2800" kern="0" dirty="0">
                <a:latin typeface="Arial" panose="020B0604020202020204" pitchFamily="34" charset="0"/>
                <a:cs typeface="Arial" panose="020B0604020202020204" pitchFamily="34" charset="0"/>
              </a:rPr>
              <a:t>求该酶对底物</a:t>
            </a:r>
            <a:r>
              <a:rPr lang="en-US" altLang="zh-CN" sz="2800" kern="0" dirty="0">
                <a:latin typeface="Arial" panose="020B0604020202020204" pitchFamily="34" charset="0"/>
                <a:cs typeface="Arial" panose="020B0604020202020204" pitchFamily="34" charset="0"/>
              </a:rPr>
              <a:t>SAD</a:t>
            </a:r>
            <a:r>
              <a:rPr lang="zh-CN" altLang="en-US" sz="2800" kern="0" dirty="0">
                <a:latin typeface="Arial" panose="020B0604020202020204" pitchFamily="34" charset="0"/>
                <a:cs typeface="Arial" panose="020B0604020202020204" pitchFamily="34" charset="0"/>
              </a:rPr>
              <a:t>的</a:t>
            </a:r>
            <a:r>
              <a:rPr lang="en-US" altLang="zh-CN" sz="2800" kern="0" dirty="0">
                <a:latin typeface="Arial" panose="020B0604020202020204" pitchFamily="34" charset="0"/>
                <a:cs typeface="Arial" panose="020B0604020202020204" pitchFamily="34" charset="0"/>
              </a:rPr>
              <a:t>K</a:t>
            </a:r>
            <a:r>
              <a:rPr lang="en-US" altLang="zh-CN" sz="2800" kern="0" baseline="-25000" dirty="0">
                <a:latin typeface="Arial" panose="020B0604020202020204" pitchFamily="34" charset="0"/>
                <a:cs typeface="Arial" panose="020B0604020202020204" pitchFamily="34" charset="0"/>
              </a:rPr>
              <a:t>m</a:t>
            </a:r>
            <a:endParaRPr lang="zh-CN" altLang="en-US" sz="2800" kern="0" baseline="-25000" dirty="0">
              <a:latin typeface="Arial" panose="020B0604020202020204" pitchFamily="34" charset="0"/>
              <a:cs typeface="Arial" panose="020B0604020202020204" pitchFamily="34" charset="0"/>
            </a:endParaRPr>
          </a:p>
        </p:txBody>
      </p:sp>
      <p:sp>
        <p:nvSpPr>
          <p:cNvPr id="10" name="文本占位符 7">
            <a:extLst>
              <a:ext uri="{FF2B5EF4-FFF2-40B4-BE49-F238E27FC236}">
                <a16:creationId xmlns:a16="http://schemas.microsoft.com/office/drawing/2014/main" id="{204C2902-D28A-4C65-95D7-559E62F025D1}"/>
              </a:ext>
            </a:extLst>
          </p:cNvPr>
          <p:cNvSpPr txBox="1">
            <a:spLocks/>
          </p:cNvSpPr>
          <p:nvPr/>
        </p:nvSpPr>
        <p:spPr bwMode="auto">
          <a:xfrm>
            <a:off x="6096000" y="3321050"/>
            <a:ext cx="4749800" cy="59690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defRPr/>
            </a:pPr>
            <a:r>
              <a:rPr lang="en-US" altLang="zh-CN" sz="2800" dirty="0">
                <a:latin typeface="Times New Roman" panose="02020603050405020304" pitchFamily="18" charset="0"/>
                <a:ea typeface="黑体" panose="02010609060101010101" pitchFamily="49" charset="-122"/>
              </a:rPr>
              <a:t>  </a:t>
            </a:r>
            <a:r>
              <a:rPr lang="en-US" altLang="zh-CN" sz="2800" dirty="0">
                <a:latin typeface="Arial" panose="020B0604020202020204" pitchFamily="34" charset="0"/>
                <a:ea typeface="黑体" panose="02010609060101010101" pitchFamily="49" charset="-122"/>
                <a:cs typeface="Arial" panose="020B0604020202020204" pitchFamily="34" charset="0"/>
              </a:rPr>
              <a:t>V</a:t>
            </a:r>
            <a:r>
              <a:rPr lang="en-US" altLang="zh-CN" sz="2800" baseline="-25000" dirty="0">
                <a:latin typeface="Arial" panose="020B0604020202020204" pitchFamily="34" charset="0"/>
                <a:ea typeface="黑体" panose="02010609060101010101" pitchFamily="49" charset="-122"/>
                <a:cs typeface="Arial" panose="020B0604020202020204" pitchFamily="34" charset="0"/>
              </a:rPr>
              <a:t>max</a:t>
            </a:r>
            <a:r>
              <a:rPr kumimoji="1" lang="en-US" altLang="zh-CN" sz="2800" dirty="0">
                <a:solidFill>
                  <a:schemeClr val="tx2"/>
                </a:solidFill>
                <a:latin typeface="Arial" panose="020B0604020202020204" pitchFamily="34" charset="0"/>
                <a:ea typeface="黑体" panose="02010609060101010101" pitchFamily="49" charset="-122"/>
                <a:cs typeface="Arial" panose="020B0604020202020204" pitchFamily="34" charset="0"/>
              </a:rPr>
              <a:t> </a:t>
            </a:r>
            <a:r>
              <a:rPr lang="en-US" altLang="zh-CN" sz="2800" dirty="0">
                <a:latin typeface="Arial" panose="020B0604020202020204" pitchFamily="34" charset="0"/>
                <a:ea typeface="黑体" panose="02010609060101010101" pitchFamily="49" charset="-122"/>
                <a:cs typeface="Arial" panose="020B0604020202020204" pitchFamily="34" charset="0"/>
              </a:rPr>
              <a:t>= k</a:t>
            </a:r>
            <a:r>
              <a:rPr lang="en-US" altLang="zh-CN" sz="2800" baseline="-25000" dirty="0">
                <a:latin typeface="Arial" panose="020B0604020202020204" pitchFamily="34" charset="0"/>
                <a:ea typeface="黑体" panose="02010609060101010101" pitchFamily="49" charset="-122"/>
                <a:cs typeface="Arial" panose="020B0604020202020204" pitchFamily="34" charset="0"/>
              </a:rPr>
              <a:t>3</a:t>
            </a:r>
            <a:r>
              <a:rPr lang="en-US" altLang="zh-CN" sz="2800" dirty="0">
                <a:latin typeface="Arial" panose="020B0604020202020204" pitchFamily="34" charset="0"/>
                <a:ea typeface="黑体" panose="02010609060101010101" pitchFamily="49" charset="-122"/>
                <a:cs typeface="Arial" panose="020B0604020202020204" pitchFamily="34" charset="0"/>
              </a:rPr>
              <a:t> [E</a:t>
            </a:r>
            <a:r>
              <a:rPr lang="en-US" altLang="zh-CN" sz="2800" baseline="-25000" dirty="0">
                <a:latin typeface="Arial" panose="020B0604020202020204" pitchFamily="34" charset="0"/>
                <a:ea typeface="黑体" panose="02010609060101010101" pitchFamily="49" charset="-122"/>
                <a:cs typeface="Arial" panose="020B0604020202020204" pitchFamily="34" charset="0"/>
              </a:rPr>
              <a:t>t</a:t>
            </a:r>
            <a:r>
              <a:rPr lang="en-US" altLang="zh-CN" sz="2800" dirty="0">
                <a:latin typeface="Arial" panose="020B0604020202020204" pitchFamily="34" charset="0"/>
                <a:ea typeface="黑体" panose="02010609060101010101" pitchFamily="49" charset="-122"/>
                <a:cs typeface="Arial" panose="020B0604020202020204" pitchFamily="34" charset="0"/>
              </a:rPr>
              <a:t>] = </a:t>
            </a:r>
            <a:r>
              <a:rPr lang="en-US" altLang="zh-CN" sz="2800" kern="0" dirty="0" err="1">
                <a:latin typeface="Arial" panose="020B0604020202020204" pitchFamily="34" charset="0"/>
                <a:cs typeface="Arial" panose="020B0604020202020204" pitchFamily="34" charset="0"/>
              </a:rPr>
              <a:t>K</a:t>
            </a:r>
            <a:r>
              <a:rPr lang="en-US" altLang="zh-CN" sz="2800" kern="0" baseline="-25000" dirty="0" err="1">
                <a:latin typeface="Arial" panose="020B0604020202020204" pitchFamily="34" charset="0"/>
                <a:cs typeface="Arial" panose="020B0604020202020204" pitchFamily="34" charset="0"/>
              </a:rPr>
              <a:t>cat</a:t>
            </a:r>
            <a:r>
              <a:rPr lang="en-US" altLang="zh-CN" sz="2800" kern="0" dirty="0">
                <a:latin typeface="Arial" panose="020B0604020202020204" pitchFamily="34" charset="0"/>
                <a:cs typeface="Arial" panose="020B0604020202020204" pitchFamily="34" charset="0"/>
              </a:rPr>
              <a:t>[E</a:t>
            </a:r>
            <a:r>
              <a:rPr lang="en-US" altLang="zh-CN" sz="2800" kern="0" baseline="-25000" dirty="0">
                <a:latin typeface="Arial" panose="020B0604020202020204" pitchFamily="34" charset="0"/>
                <a:cs typeface="Arial" panose="020B0604020202020204" pitchFamily="34" charset="0"/>
              </a:rPr>
              <a:t>t</a:t>
            </a:r>
            <a:r>
              <a:rPr lang="en-US" altLang="zh-CN" sz="2800" kern="0" dirty="0">
                <a:latin typeface="Arial" panose="020B0604020202020204" pitchFamily="34" charset="0"/>
                <a:cs typeface="Arial" panose="020B0604020202020204" pitchFamily="34" charset="0"/>
              </a:rPr>
              <a:t>]</a:t>
            </a:r>
            <a:endParaRPr lang="zh-CN" altLang="en-US" sz="2800" kern="0" baseline="-25000" dirty="0">
              <a:latin typeface="Arial" panose="020B0604020202020204" pitchFamily="34" charset="0"/>
              <a:cs typeface="Arial" panose="020B0604020202020204" pitchFamily="34" charset="0"/>
            </a:endParaRPr>
          </a:p>
        </p:txBody>
      </p:sp>
      <p:grpSp>
        <p:nvGrpSpPr>
          <p:cNvPr id="20" name="组合 19">
            <a:extLst>
              <a:ext uri="{FF2B5EF4-FFF2-40B4-BE49-F238E27FC236}">
                <a16:creationId xmlns:a16="http://schemas.microsoft.com/office/drawing/2014/main" id="{9FC232C6-E7EC-4A9B-9128-B5081CA75DAC}"/>
              </a:ext>
            </a:extLst>
          </p:cNvPr>
          <p:cNvGrpSpPr>
            <a:grpSpLocks/>
          </p:cNvGrpSpPr>
          <p:nvPr/>
        </p:nvGrpSpPr>
        <p:grpSpPr bwMode="auto">
          <a:xfrm>
            <a:off x="2790826" y="3057525"/>
            <a:ext cx="2733977" cy="1175656"/>
            <a:chOff x="1266855" y="2831069"/>
            <a:chExt cx="2733563" cy="1175252"/>
          </a:xfrm>
        </p:grpSpPr>
        <p:sp>
          <p:nvSpPr>
            <p:cNvPr id="250890" name="Text Box 18">
              <a:extLst>
                <a:ext uri="{FF2B5EF4-FFF2-40B4-BE49-F238E27FC236}">
                  <a16:creationId xmlns:a16="http://schemas.microsoft.com/office/drawing/2014/main" id="{E9B500E0-3868-445C-947C-86F8623F1619}"/>
                </a:ext>
              </a:extLst>
            </p:cNvPr>
            <p:cNvSpPr txBox="1">
              <a:spLocks noChangeArrowheads="1"/>
            </p:cNvSpPr>
            <p:nvPr/>
          </p:nvSpPr>
          <p:spPr bwMode="auto">
            <a:xfrm>
              <a:off x="1266855" y="3155634"/>
              <a:ext cx="800169" cy="58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b="1">
                  <a:latin typeface="Times New Roman" panose="02020603050405020304" pitchFamily="18" charset="0"/>
                  <a:ea typeface="黑体" panose="02010609060101010101" pitchFamily="49" charset="-122"/>
                </a:rPr>
                <a:t>V</a:t>
              </a:r>
              <a:r>
                <a:rPr kumimoji="1" lang="en-US" altLang="zh-CN" b="1" baseline="-25000">
                  <a:latin typeface="Times New Roman" panose="02020603050405020304" pitchFamily="18" charset="0"/>
                  <a:ea typeface="黑体" panose="02010609060101010101" pitchFamily="49" charset="-122"/>
                </a:rPr>
                <a:t>0</a:t>
              </a:r>
            </a:p>
          </p:txBody>
        </p:sp>
        <p:sp>
          <p:nvSpPr>
            <p:cNvPr id="250891" name="Text Box 19">
              <a:extLst>
                <a:ext uri="{FF2B5EF4-FFF2-40B4-BE49-F238E27FC236}">
                  <a16:creationId xmlns:a16="http://schemas.microsoft.com/office/drawing/2014/main" id="{A60C4887-EB90-434B-84F5-F6EC02712E44}"/>
                </a:ext>
              </a:extLst>
            </p:cNvPr>
            <p:cNvSpPr txBox="1">
              <a:spLocks noChangeArrowheads="1"/>
            </p:cNvSpPr>
            <p:nvPr/>
          </p:nvSpPr>
          <p:spPr bwMode="auto">
            <a:xfrm>
              <a:off x="1844919" y="3155634"/>
              <a:ext cx="596548" cy="58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b="1">
                  <a:latin typeface="Times New Roman" panose="02020603050405020304" pitchFamily="18" charset="0"/>
                  <a:ea typeface="黑体" panose="02010609060101010101" pitchFamily="49" charset="-122"/>
                </a:rPr>
                <a:t>＝</a:t>
              </a:r>
            </a:p>
          </p:txBody>
        </p:sp>
        <p:sp>
          <p:nvSpPr>
            <p:cNvPr id="250892" name="Line 20">
              <a:extLst>
                <a:ext uri="{FF2B5EF4-FFF2-40B4-BE49-F238E27FC236}">
                  <a16:creationId xmlns:a16="http://schemas.microsoft.com/office/drawing/2014/main" id="{3523BCBA-085C-47A2-97AA-A636F83C4A4F}"/>
                </a:ext>
              </a:extLst>
            </p:cNvPr>
            <p:cNvSpPr>
              <a:spLocks noChangeShapeType="1"/>
            </p:cNvSpPr>
            <p:nvPr/>
          </p:nvSpPr>
          <p:spPr bwMode="auto">
            <a:xfrm>
              <a:off x="2307555" y="3429000"/>
              <a:ext cx="161637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250893" name="Text Box 21">
              <a:extLst>
                <a:ext uri="{FF2B5EF4-FFF2-40B4-BE49-F238E27FC236}">
                  <a16:creationId xmlns:a16="http://schemas.microsoft.com/office/drawing/2014/main" id="{A9158C7C-CD92-4A6D-8192-3E81E524556B}"/>
                </a:ext>
              </a:extLst>
            </p:cNvPr>
            <p:cNvSpPr txBox="1">
              <a:spLocks noChangeArrowheads="1"/>
            </p:cNvSpPr>
            <p:nvPr/>
          </p:nvSpPr>
          <p:spPr bwMode="auto">
            <a:xfrm>
              <a:off x="2363679" y="3421747"/>
              <a:ext cx="1636739" cy="58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b="1">
                  <a:latin typeface="Times New Roman" panose="02020603050405020304" pitchFamily="18" charset="0"/>
                  <a:ea typeface="黑体" panose="02010609060101010101" pitchFamily="49" charset="-122"/>
                </a:rPr>
                <a:t>K</a:t>
              </a:r>
              <a:r>
                <a:rPr kumimoji="1" lang="en-US" altLang="zh-CN" b="1" baseline="-25000">
                  <a:latin typeface="Times New Roman" panose="02020603050405020304" pitchFamily="18" charset="0"/>
                  <a:ea typeface="黑体" panose="02010609060101010101" pitchFamily="49" charset="-122"/>
                </a:rPr>
                <a:t>m </a:t>
              </a:r>
              <a:r>
                <a:rPr kumimoji="1" lang="en-US" altLang="zh-CN" b="1">
                  <a:latin typeface="Times New Roman" panose="02020603050405020304" pitchFamily="18" charset="0"/>
                  <a:ea typeface="黑体" panose="02010609060101010101" pitchFamily="49" charset="-122"/>
                </a:rPr>
                <a:t>+ [S]</a:t>
              </a:r>
            </a:p>
          </p:txBody>
        </p:sp>
        <p:sp>
          <p:nvSpPr>
            <p:cNvPr id="250894" name="Text Box 23">
              <a:extLst>
                <a:ext uri="{FF2B5EF4-FFF2-40B4-BE49-F238E27FC236}">
                  <a16:creationId xmlns:a16="http://schemas.microsoft.com/office/drawing/2014/main" id="{154C54D5-34E7-4391-8D49-875770BD7C6B}"/>
                </a:ext>
              </a:extLst>
            </p:cNvPr>
            <p:cNvSpPr txBox="1">
              <a:spLocks noChangeArrowheads="1"/>
            </p:cNvSpPr>
            <p:nvPr/>
          </p:nvSpPr>
          <p:spPr bwMode="auto">
            <a:xfrm>
              <a:off x="2307555" y="2831069"/>
              <a:ext cx="1576411" cy="58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b="1">
                  <a:latin typeface="Times New Roman" panose="02020603050405020304" pitchFamily="18" charset="0"/>
                  <a:ea typeface="黑体" panose="02010609060101010101" pitchFamily="49" charset="-122"/>
                </a:rPr>
                <a:t> V</a:t>
              </a:r>
              <a:r>
                <a:rPr kumimoji="1" lang="en-US" altLang="zh-CN" b="1" baseline="-25000">
                  <a:latin typeface="Times New Roman" panose="02020603050405020304" pitchFamily="18" charset="0"/>
                  <a:ea typeface="黑体" panose="02010609060101010101" pitchFamily="49" charset="-122"/>
                </a:rPr>
                <a:t>max</a:t>
              </a:r>
              <a:r>
                <a:rPr kumimoji="1" lang="en-US" altLang="zh-CN" b="1">
                  <a:latin typeface="Times New Roman" panose="02020603050405020304" pitchFamily="18" charset="0"/>
                  <a:ea typeface="黑体" panose="02010609060101010101" pitchFamily="49" charset="-122"/>
                </a:rPr>
                <a:t>[S]</a:t>
              </a:r>
              <a:endParaRPr kumimoji="1" lang="en-US" altLang="zh-CN" sz="2800" b="1">
                <a:latin typeface="Times New Roman" panose="02020603050405020304" pitchFamily="18" charset="0"/>
                <a:ea typeface="黑体" panose="02010609060101010101" pitchFamily="49" charset="-122"/>
              </a:endParaRPr>
            </a:p>
          </p:txBody>
        </p:sp>
      </p:grpSp>
      <p:pic>
        <p:nvPicPr>
          <p:cNvPr id="21" name="图片 20">
            <a:extLst>
              <a:ext uri="{FF2B5EF4-FFF2-40B4-BE49-F238E27FC236}">
                <a16:creationId xmlns:a16="http://schemas.microsoft.com/office/drawing/2014/main" id="{6DDC7086-37D7-42A8-9B2C-3953280DF2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2551" y="4448176"/>
            <a:ext cx="7218363"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矩形 21">
            <a:extLst>
              <a:ext uri="{FF2B5EF4-FFF2-40B4-BE49-F238E27FC236}">
                <a16:creationId xmlns:a16="http://schemas.microsoft.com/office/drawing/2014/main" id="{95C32257-9D67-4896-BD30-A1FA7DBAA7C1}"/>
              </a:ext>
            </a:extLst>
          </p:cNvPr>
          <p:cNvSpPr/>
          <p:nvPr/>
        </p:nvSpPr>
        <p:spPr>
          <a:xfrm>
            <a:off x="3467101" y="5868988"/>
            <a:ext cx="2105025" cy="584200"/>
          </a:xfrm>
          <a:prstGeom prst="rect">
            <a:avLst/>
          </a:prstGeom>
        </p:spPr>
        <p:txBody>
          <a:bodyPr wrap="none">
            <a:spAutoFit/>
          </a:bodyPr>
          <a:lstStyle/>
          <a:p>
            <a:pPr>
              <a:defRPr/>
            </a:pPr>
            <a:r>
              <a:rPr lang="en-US" altLang="zh-CN" sz="3200" i="1" dirty="0">
                <a:latin typeface="CenturyStd-LightItalic"/>
              </a:rPr>
              <a:t>K</a:t>
            </a:r>
            <a:r>
              <a:rPr lang="en-US" altLang="zh-CN" sz="3200" baseline="-25000" dirty="0">
                <a:latin typeface="CenturyStd-Light"/>
              </a:rPr>
              <a:t>m</a:t>
            </a:r>
            <a:r>
              <a:rPr lang="en-US" altLang="zh-CN" sz="3200" dirty="0">
                <a:latin typeface="CenturyStd-Light"/>
              </a:rPr>
              <a:t> </a:t>
            </a:r>
            <a:r>
              <a:rPr lang="en-US" altLang="zh-CN" sz="3200" dirty="0">
                <a:latin typeface="MathematicalPiOTF1"/>
              </a:rPr>
              <a:t>= </a:t>
            </a:r>
            <a:r>
              <a:rPr lang="en-US" altLang="zh-CN" sz="3200" dirty="0">
                <a:latin typeface="CenturyStd-Light"/>
              </a:rPr>
              <a:t>10 </a:t>
            </a:r>
            <a:r>
              <a:rPr lang="en-US" altLang="zh-CN" sz="3200" kern="0" dirty="0" err="1">
                <a:latin typeface="Arial" panose="020B0604020202020204" pitchFamily="34" charset="0"/>
                <a:cs typeface="Arial" panose="020B0604020202020204" pitchFamily="34" charset="0"/>
              </a:rPr>
              <a:t>μ</a:t>
            </a:r>
            <a:r>
              <a:rPr lang="en-US" altLang="zh-CN" sz="3200" dirty="0" err="1">
                <a:latin typeface="CenturyStd-Light"/>
              </a:rPr>
              <a:t>M</a:t>
            </a:r>
            <a:endParaRPr lang="zh-CN" altLang="en-US" sz="3200" dirty="0"/>
          </a:p>
        </p:txBody>
      </p:sp>
      <p:cxnSp>
        <p:nvCxnSpPr>
          <p:cNvPr id="3" name="直接连接符 2">
            <a:extLst>
              <a:ext uri="{FF2B5EF4-FFF2-40B4-BE49-F238E27FC236}">
                <a16:creationId xmlns:a16="http://schemas.microsoft.com/office/drawing/2014/main" id="{B847D47C-FC67-4531-A410-729633AD6D14}"/>
              </a:ext>
            </a:extLst>
          </p:cNvPr>
          <p:cNvCxnSpPr/>
          <p:nvPr/>
        </p:nvCxnSpPr>
        <p:spPr>
          <a:xfrm>
            <a:off x="1992314" y="2997200"/>
            <a:ext cx="8351837" cy="0"/>
          </a:xfrm>
          <a:prstGeom prst="line">
            <a:avLst/>
          </a:prstGeom>
          <a:ln w="19050">
            <a:solidFill>
              <a:srgbClr val="000066"/>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2" grpId="0"/>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2930" name="Rectangle 2">
            <a:extLst>
              <a:ext uri="{FF2B5EF4-FFF2-40B4-BE49-F238E27FC236}">
                <a16:creationId xmlns:a16="http://schemas.microsoft.com/office/drawing/2014/main" id="{A99977E9-A347-41CB-8542-508ABD34B531}"/>
              </a:ext>
            </a:extLst>
          </p:cNvPr>
          <p:cNvSpPr>
            <a:spLocks noChangeArrowheads="1"/>
          </p:cNvSpPr>
          <p:nvPr/>
        </p:nvSpPr>
        <p:spPr bwMode="auto">
          <a:xfrm>
            <a:off x="6383338" y="2151062"/>
            <a:ext cx="4609206" cy="3797295"/>
          </a:xfrm>
          <a:prstGeom prst="rect">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52931" name="Rectangle 3">
            <a:extLst>
              <a:ext uri="{FF2B5EF4-FFF2-40B4-BE49-F238E27FC236}">
                <a16:creationId xmlns:a16="http://schemas.microsoft.com/office/drawing/2014/main" id="{D4BAAFC6-CB88-446F-8E4D-67228348BBDC}"/>
              </a:ext>
            </a:extLst>
          </p:cNvPr>
          <p:cNvSpPr>
            <a:spLocks noGrp="1" noChangeArrowheads="1"/>
          </p:cNvSpPr>
          <p:nvPr>
            <p:ph type="body" sz="half" idx="4294967295"/>
          </p:nvPr>
        </p:nvSpPr>
        <p:spPr>
          <a:xfrm>
            <a:off x="1828801" y="1447801"/>
            <a:ext cx="9307513" cy="962025"/>
          </a:xfrm>
        </p:spPr>
        <p:txBody>
          <a:bodyPr/>
          <a:lstStyle/>
          <a:p>
            <a:pPr eaLnBrk="1" hangingPunct="1">
              <a:buFont typeface="Wingdings" panose="05000000000000000000" pitchFamily="2" charset="2"/>
              <a:buNone/>
            </a:pPr>
            <a:r>
              <a:rPr lang="en-US" altLang="zh-CN" sz="2400">
                <a:solidFill>
                  <a:srgbClr val="0000CC"/>
                </a:solidFill>
                <a:latin typeface="Times New Roman" panose="02020603050405020304" pitchFamily="18" charset="0"/>
                <a:ea typeface="黑体" panose="02010609060101010101" pitchFamily="49" charset="-122"/>
              </a:rPr>
              <a:t>   1.</a:t>
            </a:r>
            <a:r>
              <a:rPr lang="zh-CN" altLang="en-US" sz="2800">
                <a:solidFill>
                  <a:srgbClr val="0000CC"/>
                </a:solidFill>
                <a:latin typeface="Times New Roman" panose="02020603050405020304" pitchFamily="18" charset="0"/>
                <a:ea typeface="黑体" panose="02010609060101010101" pitchFamily="49" charset="-122"/>
              </a:rPr>
              <a:t>林</a:t>
            </a:r>
            <a:r>
              <a:rPr lang="en-US" altLang="zh-CN" sz="2800">
                <a:solidFill>
                  <a:srgbClr val="0000CC"/>
                </a:solidFill>
                <a:latin typeface="Times New Roman" panose="02020603050405020304" pitchFamily="18" charset="0"/>
                <a:ea typeface="黑体" panose="02010609060101010101" pitchFamily="49" charset="-122"/>
              </a:rPr>
              <a:t>-</a:t>
            </a:r>
            <a:r>
              <a:rPr lang="zh-CN" altLang="en-US" sz="2800">
                <a:solidFill>
                  <a:srgbClr val="0000CC"/>
                </a:solidFill>
                <a:latin typeface="Times New Roman" panose="02020603050405020304" pitchFamily="18" charset="0"/>
                <a:ea typeface="黑体" panose="02010609060101010101" pitchFamily="49" charset="-122"/>
              </a:rPr>
              <a:t>贝氏方程及双倒数作图法</a:t>
            </a:r>
            <a:r>
              <a:rPr lang="en-US" altLang="zh-CN" sz="2800">
                <a:solidFill>
                  <a:srgbClr val="0000CC"/>
                </a:solidFill>
                <a:latin typeface="Times New Roman" panose="02020603050405020304" pitchFamily="18" charset="0"/>
                <a:ea typeface="黑体" panose="02010609060101010101" pitchFamily="49" charset="-122"/>
              </a:rPr>
              <a:t>(double reciprocal plot)</a:t>
            </a:r>
          </a:p>
        </p:txBody>
      </p:sp>
      <p:grpSp>
        <p:nvGrpSpPr>
          <p:cNvPr id="2" name="Group 4">
            <a:extLst>
              <a:ext uri="{FF2B5EF4-FFF2-40B4-BE49-F238E27FC236}">
                <a16:creationId xmlns:a16="http://schemas.microsoft.com/office/drawing/2014/main" id="{B20B4044-410C-4A69-9FC6-DD6A991E012B}"/>
              </a:ext>
            </a:extLst>
          </p:cNvPr>
          <p:cNvGrpSpPr>
            <a:grpSpLocks/>
          </p:cNvGrpSpPr>
          <p:nvPr/>
        </p:nvGrpSpPr>
        <p:grpSpPr bwMode="auto">
          <a:xfrm>
            <a:off x="2063181" y="2205038"/>
            <a:ext cx="2746375" cy="1052512"/>
            <a:chOff x="677" y="1056"/>
            <a:chExt cx="1531" cy="663"/>
          </a:xfrm>
        </p:grpSpPr>
        <p:sp>
          <p:nvSpPr>
            <p:cNvPr id="252981" name="Line 5">
              <a:extLst>
                <a:ext uri="{FF2B5EF4-FFF2-40B4-BE49-F238E27FC236}">
                  <a16:creationId xmlns:a16="http://schemas.microsoft.com/office/drawing/2014/main" id="{2AD6A536-28C8-4040-88B0-54C42B5E0350}"/>
                </a:ext>
              </a:extLst>
            </p:cNvPr>
            <p:cNvSpPr>
              <a:spLocks noChangeShapeType="1"/>
            </p:cNvSpPr>
            <p:nvPr/>
          </p:nvSpPr>
          <p:spPr bwMode="auto">
            <a:xfrm>
              <a:off x="1200" y="1392"/>
              <a:ext cx="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52982" name="Group 6">
              <a:extLst>
                <a:ext uri="{FF2B5EF4-FFF2-40B4-BE49-F238E27FC236}">
                  <a16:creationId xmlns:a16="http://schemas.microsoft.com/office/drawing/2014/main" id="{0802EF64-60DD-448C-9EF8-6D1CA08DCE55}"/>
                </a:ext>
              </a:extLst>
            </p:cNvPr>
            <p:cNvGrpSpPr>
              <a:grpSpLocks/>
            </p:cNvGrpSpPr>
            <p:nvPr/>
          </p:nvGrpSpPr>
          <p:grpSpPr bwMode="auto">
            <a:xfrm>
              <a:off x="677" y="1056"/>
              <a:ext cx="1531" cy="663"/>
              <a:chOff x="677" y="1056"/>
              <a:chExt cx="1531" cy="663"/>
            </a:xfrm>
          </p:grpSpPr>
          <p:sp>
            <p:nvSpPr>
              <p:cNvPr id="985095" name="Text Box 7">
                <a:extLst>
                  <a:ext uri="{FF2B5EF4-FFF2-40B4-BE49-F238E27FC236}">
                    <a16:creationId xmlns:a16="http://schemas.microsoft.com/office/drawing/2014/main" id="{6154686D-78BE-497B-B366-CA467B127560}"/>
                  </a:ext>
                </a:extLst>
              </p:cNvPr>
              <p:cNvSpPr txBox="1">
                <a:spLocks noChangeArrowheads="1"/>
              </p:cNvSpPr>
              <p:nvPr/>
            </p:nvSpPr>
            <p:spPr bwMode="auto">
              <a:xfrm>
                <a:off x="1203" y="1056"/>
                <a:ext cx="836" cy="327"/>
              </a:xfrm>
              <a:prstGeom prst="rect">
                <a:avLst/>
              </a:prstGeom>
              <a:noFill/>
              <a:ln w="9525">
                <a:noFill/>
                <a:miter lim="800000"/>
                <a:headEnd/>
                <a:tailEnd/>
              </a:ln>
              <a:effectLst/>
            </p:spPr>
            <p:txBody>
              <a:bodyPr wrap="none">
                <a:spAutoFit/>
              </a:bodyPr>
              <a:lstStyle/>
              <a:p>
                <a:pPr algn="ctr" eaLnBrk="1" hangingPunct="1">
                  <a:defRPr/>
                </a:pPr>
                <a:r>
                  <a:rPr kumimoji="1" lang="en-US" altLang="zh-CN" sz="2800">
                    <a:effectLst>
                      <a:outerShdw blurRad="38100" dist="38100" dir="2700000" algn="tl">
                        <a:srgbClr val="C0C0C0"/>
                      </a:outerShdw>
                    </a:effectLst>
                    <a:latin typeface="Times New Roman" pitchFamily="18" charset="0"/>
                    <a:ea typeface="黑体" pitchFamily="49" charset="-122"/>
                  </a:rPr>
                  <a:t> V</a:t>
                </a:r>
                <a:r>
                  <a:rPr kumimoji="1" lang="en-US" altLang="zh-CN" sz="2800" baseline="-25000">
                    <a:effectLst>
                      <a:outerShdw blurRad="38100" dist="38100" dir="2700000" algn="tl">
                        <a:srgbClr val="C0C0C0"/>
                      </a:outerShdw>
                    </a:effectLst>
                    <a:latin typeface="Times New Roman" pitchFamily="18" charset="0"/>
                    <a:ea typeface="黑体" pitchFamily="49" charset="-122"/>
                  </a:rPr>
                  <a:t>max</a:t>
                </a:r>
                <a:r>
                  <a:rPr kumimoji="1" lang="en-US" altLang="zh-CN" sz="2800">
                    <a:effectLst>
                      <a:outerShdw blurRad="38100" dist="38100" dir="2700000" algn="tl">
                        <a:srgbClr val="C0C0C0"/>
                      </a:outerShdw>
                    </a:effectLst>
                    <a:latin typeface="Times New Roman" pitchFamily="18" charset="0"/>
                    <a:ea typeface="黑体" pitchFamily="49" charset="-122"/>
                  </a:rPr>
                  <a:t>[S] </a:t>
                </a:r>
              </a:p>
            </p:txBody>
          </p:sp>
          <p:sp>
            <p:nvSpPr>
              <p:cNvPr id="985096" name="Text Box 8">
                <a:extLst>
                  <a:ext uri="{FF2B5EF4-FFF2-40B4-BE49-F238E27FC236}">
                    <a16:creationId xmlns:a16="http://schemas.microsoft.com/office/drawing/2014/main" id="{7699C896-7983-4D7F-AAA7-A095A96A491D}"/>
                  </a:ext>
                </a:extLst>
              </p:cNvPr>
              <p:cNvSpPr txBox="1">
                <a:spLocks noChangeArrowheads="1"/>
              </p:cNvSpPr>
              <p:nvPr/>
            </p:nvSpPr>
            <p:spPr bwMode="auto">
              <a:xfrm>
                <a:off x="1104" y="1392"/>
                <a:ext cx="1104" cy="327"/>
              </a:xfrm>
              <a:prstGeom prst="rect">
                <a:avLst/>
              </a:prstGeom>
              <a:noFill/>
              <a:ln w="9525">
                <a:noFill/>
                <a:miter lim="800000"/>
                <a:headEnd/>
                <a:tailEnd/>
              </a:ln>
              <a:effectLst/>
            </p:spPr>
            <p:txBody>
              <a:bodyPr>
                <a:spAutoFit/>
              </a:bodyPr>
              <a:lstStyle/>
              <a:p>
                <a:pPr algn="ctr" eaLnBrk="1" hangingPunct="1">
                  <a:defRPr/>
                </a:pPr>
                <a:r>
                  <a:rPr kumimoji="1" lang="en-US" altLang="zh-CN" sz="2800" dirty="0">
                    <a:effectLst>
                      <a:outerShdw blurRad="38100" dist="38100" dir="2700000" algn="tl">
                        <a:srgbClr val="C0C0C0"/>
                      </a:outerShdw>
                    </a:effectLst>
                    <a:latin typeface="Times New Roman" pitchFamily="18" charset="0"/>
                    <a:ea typeface="黑体" pitchFamily="49" charset="-122"/>
                  </a:rPr>
                  <a:t>K</a:t>
                </a:r>
                <a:r>
                  <a:rPr kumimoji="1" lang="en-US" altLang="zh-CN" sz="2800" baseline="-25000" dirty="0">
                    <a:effectLst>
                      <a:outerShdw blurRad="38100" dist="38100" dir="2700000" algn="tl">
                        <a:srgbClr val="C0C0C0"/>
                      </a:outerShdw>
                    </a:effectLst>
                    <a:latin typeface="Times New Roman" pitchFamily="18" charset="0"/>
                    <a:ea typeface="黑体" pitchFamily="49" charset="-122"/>
                  </a:rPr>
                  <a:t>m</a:t>
                </a:r>
                <a:r>
                  <a:rPr kumimoji="1" lang="en-US" altLang="zh-CN" sz="2800" dirty="0">
                    <a:effectLst>
                      <a:outerShdw blurRad="38100" dist="38100" dir="2700000" algn="tl">
                        <a:srgbClr val="C0C0C0"/>
                      </a:outerShdw>
                    </a:effectLst>
                    <a:latin typeface="Times New Roman" pitchFamily="18" charset="0"/>
                    <a:ea typeface="黑体" pitchFamily="49" charset="-122"/>
                  </a:rPr>
                  <a:t>+[S]</a:t>
                </a:r>
              </a:p>
            </p:txBody>
          </p:sp>
          <p:sp>
            <p:nvSpPr>
              <p:cNvPr id="985097" name="Rectangle 9">
                <a:extLst>
                  <a:ext uri="{FF2B5EF4-FFF2-40B4-BE49-F238E27FC236}">
                    <a16:creationId xmlns:a16="http://schemas.microsoft.com/office/drawing/2014/main" id="{C37B0A40-A6DF-4199-9ACE-425607046353}"/>
                  </a:ext>
                </a:extLst>
              </p:cNvPr>
              <p:cNvSpPr>
                <a:spLocks noChangeArrowheads="1"/>
              </p:cNvSpPr>
              <p:nvPr/>
            </p:nvSpPr>
            <p:spPr bwMode="auto">
              <a:xfrm>
                <a:off x="677" y="1278"/>
                <a:ext cx="529" cy="330"/>
              </a:xfrm>
              <a:prstGeom prst="rect">
                <a:avLst/>
              </a:prstGeom>
              <a:noFill/>
              <a:ln w="9525">
                <a:noFill/>
                <a:miter lim="800000"/>
                <a:headEnd/>
                <a:tailEnd/>
              </a:ln>
              <a:effectLst/>
            </p:spPr>
            <p:txBody>
              <a:bodyPr wrap="none">
                <a:spAutoFit/>
              </a:bodyPr>
              <a:lstStyle/>
              <a:p>
                <a:pPr algn="ctr" eaLnBrk="1" hangingPunct="1">
                  <a:defRPr/>
                </a:pPr>
                <a:r>
                  <a:rPr kumimoji="1" lang="en-US" altLang="zh-CN" sz="2800" dirty="0">
                    <a:effectLst>
                      <a:outerShdw blurRad="38100" dist="38100" dir="2700000" algn="tl">
                        <a:srgbClr val="C0C0C0"/>
                      </a:outerShdw>
                    </a:effectLst>
                    <a:latin typeface="Times New Roman" pitchFamily="18" charset="0"/>
                    <a:ea typeface="黑体" pitchFamily="49" charset="-122"/>
                  </a:rPr>
                  <a:t>V</a:t>
                </a:r>
                <a:r>
                  <a:rPr kumimoji="1" lang="en-US" altLang="zh-CN" sz="2800" baseline="-25000" dirty="0">
                    <a:effectLst>
                      <a:outerShdw blurRad="38100" dist="38100" dir="2700000" algn="tl">
                        <a:srgbClr val="C0C0C0"/>
                      </a:outerShdw>
                    </a:effectLst>
                    <a:latin typeface="Times New Roman" pitchFamily="18" charset="0"/>
                    <a:ea typeface="黑体" pitchFamily="49" charset="-122"/>
                  </a:rPr>
                  <a:t>0</a:t>
                </a:r>
                <a:r>
                  <a:rPr kumimoji="1" lang="en-US" altLang="zh-CN" sz="2800" dirty="0">
                    <a:effectLst>
                      <a:outerShdw blurRad="38100" dist="38100" dir="2700000" algn="tl">
                        <a:srgbClr val="C0C0C0"/>
                      </a:outerShdw>
                    </a:effectLst>
                    <a:latin typeface="Times New Roman" pitchFamily="18" charset="0"/>
                    <a:ea typeface="黑体" pitchFamily="49" charset="-122"/>
                  </a:rPr>
                  <a:t> = </a:t>
                </a:r>
              </a:p>
            </p:txBody>
          </p:sp>
        </p:grpSp>
      </p:grpSp>
      <p:grpSp>
        <p:nvGrpSpPr>
          <p:cNvPr id="4" name="Group 10">
            <a:extLst>
              <a:ext uri="{FF2B5EF4-FFF2-40B4-BE49-F238E27FC236}">
                <a16:creationId xmlns:a16="http://schemas.microsoft.com/office/drawing/2014/main" id="{786163DB-B6DE-48BA-A40F-2E9194329182}"/>
              </a:ext>
            </a:extLst>
          </p:cNvPr>
          <p:cNvGrpSpPr>
            <a:grpSpLocks/>
          </p:cNvGrpSpPr>
          <p:nvPr/>
        </p:nvGrpSpPr>
        <p:grpSpPr bwMode="auto">
          <a:xfrm>
            <a:off x="1415480" y="4221164"/>
            <a:ext cx="4703762" cy="1825625"/>
            <a:chOff x="144" y="2880"/>
            <a:chExt cx="2963" cy="1150"/>
          </a:xfrm>
        </p:grpSpPr>
        <p:sp>
          <p:nvSpPr>
            <p:cNvPr id="252973" name="Text Box 11">
              <a:extLst>
                <a:ext uri="{FF2B5EF4-FFF2-40B4-BE49-F238E27FC236}">
                  <a16:creationId xmlns:a16="http://schemas.microsoft.com/office/drawing/2014/main" id="{061F6958-5C02-4267-97D2-5029822D29C9}"/>
                </a:ext>
              </a:extLst>
            </p:cNvPr>
            <p:cNvSpPr txBox="1">
              <a:spLocks noChangeArrowheads="1"/>
            </p:cNvSpPr>
            <p:nvPr/>
          </p:nvSpPr>
          <p:spPr bwMode="auto">
            <a:xfrm>
              <a:off x="584" y="3703"/>
              <a:ext cx="19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2800">
                  <a:solidFill>
                    <a:srgbClr val="0000CC"/>
                  </a:solidFill>
                  <a:latin typeface="Times New Roman" panose="02020603050405020304" pitchFamily="18" charset="0"/>
                  <a:ea typeface="黑体" panose="02010609060101010101" pitchFamily="49" charset="-122"/>
                </a:rPr>
                <a:t>（林－贝氏方程）</a:t>
              </a:r>
              <a:r>
                <a:rPr kumimoji="1" lang="zh-CN" altLang="en-US" sz="2800">
                  <a:solidFill>
                    <a:srgbClr val="FFFF00"/>
                  </a:solidFill>
                  <a:latin typeface="Times New Roman" panose="02020603050405020304" pitchFamily="18" charset="0"/>
                  <a:ea typeface="黑体" panose="02010609060101010101" pitchFamily="49" charset="-122"/>
                </a:rPr>
                <a:t> </a:t>
              </a:r>
            </a:p>
          </p:txBody>
        </p:sp>
        <p:sp>
          <p:nvSpPr>
            <p:cNvPr id="985100" name="Text Box 12">
              <a:extLst>
                <a:ext uri="{FF2B5EF4-FFF2-40B4-BE49-F238E27FC236}">
                  <a16:creationId xmlns:a16="http://schemas.microsoft.com/office/drawing/2014/main" id="{CC6E2EB1-DDF5-4CE7-9857-2F5747C19565}"/>
                </a:ext>
              </a:extLst>
            </p:cNvPr>
            <p:cNvSpPr txBox="1">
              <a:spLocks noChangeArrowheads="1"/>
            </p:cNvSpPr>
            <p:nvPr/>
          </p:nvSpPr>
          <p:spPr bwMode="auto">
            <a:xfrm>
              <a:off x="2140" y="3054"/>
              <a:ext cx="300" cy="327"/>
            </a:xfrm>
            <a:prstGeom prst="rect">
              <a:avLst/>
            </a:prstGeom>
            <a:noFill/>
            <a:ln w="9525">
              <a:noFill/>
              <a:miter lim="800000"/>
              <a:headEnd/>
              <a:tailEnd/>
            </a:ln>
            <a:effectLst/>
          </p:spPr>
          <p:txBody>
            <a:bodyPr wrap="none">
              <a:spAutoFit/>
            </a:bodyPr>
            <a:lstStyle/>
            <a:p>
              <a:pPr algn="ctr" eaLnBrk="1" hangingPunct="1">
                <a:defRPr/>
              </a:pPr>
              <a:r>
                <a:rPr kumimoji="1" lang="en-US" altLang="zh-CN" sz="2800">
                  <a:effectLst>
                    <a:outerShdw blurRad="38100" dist="38100" dir="2700000" algn="tl">
                      <a:srgbClr val="C0C0C0"/>
                    </a:outerShdw>
                  </a:effectLst>
                  <a:latin typeface="Times New Roman" pitchFamily="18" charset="0"/>
                  <a:ea typeface="黑体" pitchFamily="49" charset="-122"/>
                </a:rPr>
                <a:t>+</a:t>
              </a:r>
              <a:r>
                <a:rPr kumimoji="1" lang="en-US" altLang="zh-CN" sz="2800">
                  <a:solidFill>
                    <a:srgbClr val="FFFF00"/>
                  </a:solidFill>
                  <a:effectLst>
                    <a:outerShdw blurRad="38100" dist="38100" dir="2700000" algn="tl">
                      <a:srgbClr val="C0C0C0"/>
                    </a:outerShdw>
                  </a:effectLst>
                  <a:latin typeface="Times New Roman" pitchFamily="18" charset="0"/>
                  <a:ea typeface="黑体" pitchFamily="49" charset="-122"/>
                </a:rPr>
                <a:t> </a:t>
              </a:r>
            </a:p>
          </p:txBody>
        </p:sp>
        <p:sp>
          <p:nvSpPr>
            <p:cNvPr id="252975" name="Line 13">
              <a:extLst>
                <a:ext uri="{FF2B5EF4-FFF2-40B4-BE49-F238E27FC236}">
                  <a16:creationId xmlns:a16="http://schemas.microsoft.com/office/drawing/2014/main" id="{1291BB1E-6A37-4D90-9E00-01D3C298DF18}"/>
                </a:ext>
              </a:extLst>
            </p:cNvPr>
            <p:cNvSpPr>
              <a:spLocks noChangeShapeType="1"/>
            </p:cNvSpPr>
            <p:nvPr/>
          </p:nvSpPr>
          <p:spPr bwMode="auto">
            <a:xfrm>
              <a:off x="960" y="3216"/>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5102" name="Text Box 14">
              <a:extLst>
                <a:ext uri="{FF2B5EF4-FFF2-40B4-BE49-F238E27FC236}">
                  <a16:creationId xmlns:a16="http://schemas.microsoft.com/office/drawing/2014/main" id="{5F0FDCF7-A2B7-4B0F-9E8C-B5013CCBC870}"/>
                </a:ext>
              </a:extLst>
            </p:cNvPr>
            <p:cNvSpPr txBox="1">
              <a:spLocks noChangeArrowheads="1"/>
            </p:cNvSpPr>
            <p:nvPr/>
          </p:nvSpPr>
          <p:spPr bwMode="auto">
            <a:xfrm>
              <a:off x="144" y="3024"/>
              <a:ext cx="1056" cy="327"/>
            </a:xfrm>
            <a:prstGeom prst="rect">
              <a:avLst/>
            </a:prstGeom>
            <a:noFill/>
            <a:ln w="9525">
              <a:noFill/>
              <a:miter lim="800000"/>
              <a:headEnd/>
              <a:tailEnd/>
            </a:ln>
            <a:effectLst/>
          </p:spPr>
          <p:txBody>
            <a:bodyPr>
              <a:spAutoFit/>
            </a:bodyPr>
            <a:lstStyle/>
            <a:p>
              <a:pPr algn="ctr" eaLnBrk="1" hangingPunct="1">
                <a:defRPr/>
              </a:pPr>
              <a:r>
                <a:rPr kumimoji="1" lang="en-US" altLang="zh-CN" sz="2800" dirty="0">
                  <a:solidFill>
                    <a:schemeClr val="tx2"/>
                  </a:solidFill>
                  <a:effectLst>
                    <a:outerShdw blurRad="38100" dist="38100" dir="2700000" algn="tl">
                      <a:srgbClr val="C0C0C0"/>
                    </a:outerShdw>
                  </a:effectLst>
                  <a:latin typeface="Times New Roman" pitchFamily="18" charset="0"/>
                  <a:ea typeface="黑体" pitchFamily="49" charset="-122"/>
                </a:rPr>
                <a:t>1/V</a:t>
              </a:r>
              <a:r>
                <a:rPr kumimoji="1" lang="en-US" altLang="zh-CN" sz="2800" dirty="0">
                  <a:effectLst>
                    <a:outerShdw blurRad="38100" dist="38100" dir="2700000" algn="tl">
                      <a:srgbClr val="C0C0C0"/>
                    </a:outerShdw>
                  </a:effectLst>
                  <a:latin typeface="Times New Roman" pitchFamily="18" charset="0"/>
                  <a:ea typeface="黑体" pitchFamily="49" charset="-122"/>
                </a:rPr>
                <a:t>=</a:t>
              </a:r>
            </a:p>
          </p:txBody>
        </p:sp>
        <p:sp>
          <p:nvSpPr>
            <p:cNvPr id="985103" name="Text Box 15">
              <a:extLst>
                <a:ext uri="{FF2B5EF4-FFF2-40B4-BE49-F238E27FC236}">
                  <a16:creationId xmlns:a16="http://schemas.microsoft.com/office/drawing/2014/main" id="{E0FAF3F9-3DEA-41E5-AB14-8F5F9528618E}"/>
                </a:ext>
              </a:extLst>
            </p:cNvPr>
            <p:cNvSpPr txBox="1">
              <a:spLocks noChangeArrowheads="1"/>
            </p:cNvSpPr>
            <p:nvPr/>
          </p:nvSpPr>
          <p:spPr bwMode="auto">
            <a:xfrm>
              <a:off x="912" y="2880"/>
              <a:ext cx="720" cy="327"/>
            </a:xfrm>
            <a:prstGeom prst="rect">
              <a:avLst/>
            </a:prstGeom>
            <a:noFill/>
            <a:ln w="9525">
              <a:noFill/>
              <a:miter lim="800000"/>
              <a:headEnd/>
              <a:tailEnd/>
            </a:ln>
            <a:effectLst/>
          </p:spPr>
          <p:txBody>
            <a:bodyPr>
              <a:spAutoFit/>
            </a:bodyPr>
            <a:lstStyle/>
            <a:p>
              <a:pPr algn="ctr" eaLnBrk="1" hangingPunct="1">
                <a:defRPr/>
              </a:pPr>
              <a:r>
                <a:rPr kumimoji="1" lang="en-US" altLang="zh-CN" sz="2800">
                  <a:effectLst>
                    <a:outerShdw blurRad="38100" dist="38100" dir="2700000" algn="tl">
                      <a:srgbClr val="C0C0C0"/>
                    </a:outerShdw>
                  </a:effectLst>
                  <a:latin typeface="Times New Roman" pitchFamily="18" charset="0"/>
                  <a:ea typeface="黑体" pitchFamily="49" charset="-122"/>
                </a:rPr>
                <a:t>K</a:t>
              </a:r>
              <a:r>
                <a:rPr kumimoji="1" lang="en-US" altLang="zh-CN" sz="2800" baseline="-25000">
                  <a:effectLst>
                    <a:outerShdw blurRad="38100" dist="38100" dir="2700000" algn="tl">
                      <a:srgbClr val="C0C0C0"/>
                    </a:outerShdw>
                  </a:effectLst>
                  <a:latin typeface="Times New Roman" pitchFamily="18" charset="0"/>
                  <a:ea typeface="黑体" pitchFamily="49" charset="-122"/>
                </a:rPr>
                <a:t>m</a:t>
              </a:r>
            </a:p>
          </p:txBody>
        </p:sp>
        <p:sp>
          <p:nvSpPr>
            <p:cNvPr id="985104" name="Text Box 16">
              <a:extLst>
                <a:ext uri="{FF2B5EF4-FFF2-40B4-BE49-F238E27FC236}">
                  <a16:creationId xmlns:a16="http://schemas.microsoft.com/office/drawing/2014/main" id="{6B5F7A26-931A-418C-A612-16997AB01780}"/>
                </a:ext>
              </a:extLst>
            </p:cNvPr>
            <p:cNvSpPr txBox="1">
              <a:spLocks noChangeArrowheads="1"/>
            </p:cNvSpPr>
            <p:nvPr/>
          </p:nvSpPr>
          <p:spPr bwMode="auto">
            <a:xfrm>
              <a:off x="994" y="3168"/>
              <a:ext cx="595" cy="327"/>
            </a:xfrm>
            <a:prstGeom prst="rect">
              <a:avLst/>
            </a:prstGeom>
            <a:noFill/>
            <a:ln w="9525">
              <a:noFill/>
              <a:miter lim="800000"/>
              <a:headEnd/>
              <a:tailEnd/>
            </a:ln>
            <a:effectLst/>
          </p:spPr>
          <p:txBody>
            <a:bodyPr wrap="none">
              <a:spAutoFit/>
            </a:bodyPr>
            <a:lstStyle/>
            <a:p>
              <a:pPr algn="ctr" eaLnBrk="1" hangingPunct="1">
                <a:defRPr/>
              </a:pPr>
              <a:r>
                <a:rPr kumimoji="1" lang="en-US" altLang="zh-CN" sz="2800">
                  <a:effectLst>
                    <a:outerShdw blurRad="38100" dist="38100" dir="2700000" algn="tl">
                      <a:srgbClr val="C0C0C0"/>
                    </a:outerShdw>
                  </a:effectLst>
                  <a:latin typeface="Times New Roman" pitchFamily="18" charset="0"/>
                  <a:ea typeface="黑体" pitchFamily="49" charset="-122"/>
                </a:rPr>
                <a:t>V</a:t>
              </a:r>
              <a:r>
                <a:rPr kumimoji="1" lang="en-US" altLang="zh-CN" sz="2800" baseline="-25000">
                  <a:effectLst>
                    <a:outerShdw blurRad="38100" dist="38100" dir="2700000" algn="tl">
                      <a:srgbClr val="C0C0C0"/>
                    </a:outerShdw>
                  </a:effectLst>
                  <a:latin typeface="Times New Roman" pitchFamily="18" charset="0"/>
                  <a:ea typeface="黑体" pitchFamily="49" charset="-122"/>
                </a:rPr>
                <a:t>max</a:t>
              </a:r>
              <a:r>
                <a:rPr kumimoji="1" lang="en-US" altLang="zh-CN" sz="2800" baseline="-25000">
                  <a:solidFill>
                    <a:srgbClr val="FFFF00"/>
                  </a:solidFill>
                  <a:effectLst>
                    <a:outerShdw blurRad="38100" dist="38100" dir="2700000" algn="tl">
                      <a:srgbClr val="C0C0C0"/>
                    </a:outerShdw>
                  </a:effectLst>
                  <a:latin typeface="Times New Roman" pitchFamily="18" charset="0"/>
                  <a:ea typeface="黑体" pitchFamily="49" charset="-122"/>
                </a:rPr>
                <a:t> </a:t>
              </a:r>
            </a:p>
          </p:txBody>
        </p:sp>
        <p:sp>
          <p:nvSpPr>
            <p:cNvPr id="985105" name="Text Box 17">
              <a:extLst>
                <a:ext uri="{FF2B5EF4-FFF2-40B4-BE49-F238E27FC236}">
                  <a16:creationId xmlns:a16="http://schemas.microsoft.com/office/drawing/2014/main" id="{0227691B-42F2-4B6D-B313-C06C01EA5C5A}"/>
                </a:ext>
              </a:extLst>
            </p:cNvPr>
            <p:cNvSpPr txBox="1">
              <a:spLocks noChangeArrowheads="1"/>
            </p:cNvSpPr>
            <p:nvPr/>
          </p:nvSpPr>
          <p:spPr bwMode="auto">
            <a:xfrm>
              <a:off x="2338" y="3024"/>
              <a:ext cx="769" cy="327"/>
            </a:xfrm>
            <a:prstGeom prst="rect">
              <a:avLst/>
            </a:prstGeom>
            <a:noFill/>
            <a:ln w="9525">
              <a:noFill/>
              <a:miter lim="800000"/>
              <a:headEnd/>
              <a:tailEnd/>
            </a:ln>
            <a:effectLst/>
          </p:spPr>
          <p:txBody>
            <a:bodyPr wrap="none">
              <a:spAutoFit/>
            </a:bodyPr>
            <a:lstStyle/>
            <a:p>
              <a:pPr algn="ctr" eaLnBrk="1" hangingPunct="1">
                <a:defRPr/>
              </a:pPr>
              <a:r>
                <a:rPr kumimoji="1" lang="en-US" altLang="zh-CN" sz="2800">
                  <a:effectLst>
                    <a:outerShdw blurRad="38100" dist="38100" dir="2700000" algn="tl">
                      <a:srgbClr val="C0C0C0"/>
                    </a:outerShdw>
                  </a:effectLst>
                  <a:latin typeface="Times New Roman" pitchFamily="18" charset="0"/>
                  <a:ea typeface="黑体" pitchFamily="49" charset="-122"/>
                </a:rPr>
                <a:t>1/V</a:t>
              </a:r>
              <a:r>
                <a:rPr kumimoji="1" lang="en-US" altLang="zh-CN" sz="2800" baseline="-25000">
                  <a:effectLst>
                    <a:outerShdw blurRad="38100" dist="38100" dir="2700000" algn="tl">
                      <a:srgbClr val="C0C0C0"/>
                    </a:outerShdw>
                  </a:effectLst>
                  <a:latin typeface="Times New Roman" pitchFamily="18" charset="0"/>
                  <a:ea typeface="黑体" pitchFamily="49" charset="-122"/>
                </a:rPr>
                <a:t>max </a:t>
              </a:r>
            </a:p>
          </p:txBody>
        </p:sp>
        <p:sp>
          <p:nvSpPr>
            <p:cNvPr id="985106" name="Text Box 18">
              <a:extLst>
                <a:ext uri="{FF2B5EF4-FFF2-40B4-BE49-F238E27FC236}">
                  <a16:creationId xmlns:a16="http://schemas.microsoft.com/office/drawing/2014/main" id="{AB589F17-4BBA-4DE5-98B7-1DC8A555B942}"/>
                </a:ext>
              </a:extLst>
            </p:cNvPr>
            <p:cNvSpPr txBox="1">
              <a:spLocks noChangeArrowheads="1"/>
            </p:cNvSpPr>
            <p:nvPr/>
          </p:nvSpPr>
          <p:spPr bwMode="auto">
            <a:xfrm>
              <a:off x="1604" y="3072"/>
              <a:ext cx="621" cy="327"/>
            </a:xfrm>
            <a:prstGeom prst="rect">
              <a:avLst/>
            </a:prstGeom>
            <a:noFill/>
            <a:ln w="9525">
              <a:noFill/>
              <a:miter lim="800000"/>
              <a:headEnd/>
              <a:tailEnd/>
            </a:ln>
            <a:effectLst/>
          </p:spPr>
          <p:txBody>
            <a:bodyPr wrap="none">
              <a:spAutoFit/>
            </a:bodyPr>
            <a:lstStyle/>
            <a:p>
              <a:pPr algn="ctr" eaLnBrk="1" hangingPunct="1">
                <a:defRPr/>
              </a:pPr>
              <a:r>
                <a:rPr kumimoji="1" lang="en-US" altLang="zh-CN" sz="2800">
                  <a:solidFill>
                    <a:schemeClr val="tx2"/>
                  </a:solidFill>
                  <a:effectLst>
                    <a:outerShdw blurRad="38100" dist="38100" dir="2700000" algn="tl">
                      <a:srgbClr val="C0C0C0"/>
                    </a:outerShdw>
                  </a:effectLst>
                  <a:latin typeface="Times New Roman" pitchFamily="18" charset="0"/>
                  <a:ea typeface="黑体" pitchFamily="49" charset="-122"/>
                </a:rPr>
                <a:t>1/[S]</a:t>
              </a:r>
              <a:r>
                <a:rPr kumimoji="1" lang="en-US" altLang="zh-CN" sz="2800">
                  <a:effectLst>
                    <a:outerShdw blurRad="38100" dist="38100" dir="2700000" algn="tl">
                      <a:srgbClr val="C0C0C0"/>
                    </a:outerShdw>
                  </a:effectLst>
                  <a:latin typeface="Times New Roman" pitchFamily="18" charset="0"/>
                  <a:ea typeface="黑体" pitchFamily="49" charset="-122"/>
                </a:rPr>
                <a:t> </a:t>
              </a:r>
            </a:p>
          </p:txBody>
        </p:sp>
      </p:grpSp>
      <p:grpSp>
        <p:nvGrpSpPr>
          <p:cNvPr id="5" name="Group 19">
            <a:extLst>
              <a:ext uri="{FF2B5EF4-FFF2-40B4-BE49-F238E27FC236}">
                <a16:creationId xmlns:a16="http://schemas.microsoft.com/office/drawing/2014/main" id="{F6000C6E-51C3-414F-8E88-A89E157B1158}"/>
              </a:ext>
            </a:extLst>
          </p:cNvPr>
          <p:cNvGrpSpPr>
            <a:grpSpLocks/>
          </p:cNvGrpSpPr>
          <p:nvPr/>
        </p:nvGrpSpPr>
        <p:grpSpPr bwMode="auto">
          <a:xfrm>
            <a:off x="3144267" y="3502026"/>
            <a:ext cx="2635250" cy="595313"/>
            <a:chOff x="1152" y="1680"/>
            <a:chExt cx="1660" cy="375"/>
          </a:xfrm>
        </p:grpSpPr>
        <p:sp>
          <p:nvSpPr>
            <p:cNvPr id="985108" name="AutoShape 20">
              <a:extLst>
                <a:ext uri="{FF2B5EF4-FFF2-40B4-BE49-F238E27FC236}">
                  <a16:creationId xmlns:a16="http://schemas.microsoft.com/office/drawing/2014/main" id="{2ECF3FA0-A667-438E-A5F9-6BCA6CC57EA5}"/>
                </a:ext>
              </a:extLst>
            </p:cNvPr>
            <p:cNvSpPr>
              <a:spLocks noChangeArrowheads="1"/>
            </p:cNvSpPr>
            <p:nvPr/>
          </p:nvSpPr>
          <p:spPr bwMode="auto">
            <a:xfrm>
              <a:off x="1152" y="1680"/>
              <a:ext cx="162" cy="375"/>
            </a:xfrm>
            <a:prstGeom prst="downArrow">
              <a:avLst>
                <a:gd name="adj1" fmla="val 50000"/>
                <a:gd name="adj2" fmla="val 57870"/>
              </a:avLst>
            </a:prstGeom>
            <a:solidFill>
              <a:schemeClr val="bg2"/>
            </a:solidFill>
            <a:ln w="9525">
              <a:solidFill>
                <a:srgbClr val="0000CC"/>
              </a:solidFill>
              <a:miter lim="800000"/>
              <a:headEnd/>
              <a:tailEnd/>
            </a:ln>
            <a:effectLst/>
          </p:spPr>
          <p:txBody>
            <a:bodyPr wrap="none" anchor="ctr"/>
            <a:lstStyle/>
            <a:p>
              <a:pPr algn="ctr" eaLnBrk="1" hangingPunct="1">
                <a:defRPr/>
              </a:pPr>
              <a:endParaRPr kumimoji="1" lang="zh-CN" altLang="zh-CN" sz="2800">
                <a:solidFill>
                  <a:srgbClr val="66FFFF"/>
                </a:solidFill>
                <a:effectLst>
                  <a:outerShdw blurRad="38100" dist="38100" dir="2700000" algn="tl">
                    <a:srgbClr val="000000"/>
                  </a:outerShdw>
                </a:effectLst>
                <a:latin typeface="Times New Roman" pitchFamily="18" charset="0"/>
                <a:ea typeface="黑体" pitchFamily="49" charset="-122"/>
              </a:endParaRPr>
            </a:p>
          </p:txBody>
        </p:sp>
        <p:sp>
          <p:nvSpPr>
            <p:cNvPr id="985109" name="Text Box 21">
              <a:extLst>
                <a:ext uri="{FF2B5EF4-FFF2-40B4-BE49-F238E27FC236}">
                  <a16:creationId xmlns:a16="http://schemas.microsoft.com/office/drawing/2014/main" id="{5796868F-91E5-4787-8ABF-BAF6B06CA693}"/>
                </a:ext>
              </a:extLst>
            </p:cNvPr>
            <p:cNvSpPr txBox="1">
              <a:spLocks noChangeArrowheads="1"/>
            </p:cNvSpPr>
            <p:nvPr/>
          </p:nvSpPr>
          <p:spPr bwMode="auto">
            <a:xfrm>
              <a:off x="1290" y="1717"/>
              <a:ext cx="1522" cy="327"/>
            </a:xfrm>
            <a:prstGeom prst="rect">
              <a:avLst/>
            </a:prstGeom>
            <a:noFill/>
            <a:ln w="9525">
              <a:noFill/>
              <a:miter lim="800000"/>
              <a:headEnd/>
              <a:tailEnd/>
            </a:ln>
            <a:effectLst/>
          </p:spPr>
          <p:txBody>
            <a:bodyPr wrap="none">
              <a:spAutoFit/>
            </a:bodyPr>
            <a:lstStyle/>
            <a:p>
              <a:pPr algn="r" eaLnBrk="1" hangingPunct="1">
                <a:defRPr/>
              </a:pPr>
              <a:r>
                <a:rPr kumimoji="1" lang="zh-CN" altLang="en-US" sz="2800" dirty="0">
                  <a:effectLst>
                    <a:outerShdw blurRad="38100" dist="38100" dir="2700000" algn="tl">
                      <a:srgbClr val="C0C0C0"/>
                    </a:outerShdw>
                  </a:effectLst>
                  <a:latin typeface="Times New Roman" pitchFamily="18" charset="0"/>
                  <a:ea typeface="黑体" pitchFamily="49" charset="-122"/>
                </a:rPr>
                <a:t>两边同取倒数 </a:t>
              </a:r>
            </a:p>
          </p:txBody>
        </p:sp>
      </p:grpSp>
      <p:sp>
        <p:nvSpPr>
          <p:cNvPr id="252935" name="Line 22">
            <a:extLst>
              <a:ext uri="{FF2B5EF4-FFF2-40B4-BE49-F238E27FC236}">
                <a16:creationId xmlns:a16="http://schemas.microsoft.com/office/drawing/2014/main" id="{BA46ADF3-8700-4684-B952-F12A168EEC3F}"/>
              </a:ext>
            </a:extLst>
          </p:cNvPr>
          <p:cNvSpPr>
            <a:spLocks noChangeShapeType="1"/>
          </p:cNvSpPr>
          <p:nvPr/>
        </p:nvSpPr>
        <p:spPr bwMode="auto">
          <a:xfrm>
            <a:off x="6672263" y="5175250"/>
            <a:ext cx="3744912"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936" name="Line 23">
            <a:extLst>
              <a:ext uri="{FF2B5EF4-FFF2-40B4-BE49-F238E27FC236}">
                <a16:creationId xmlns:a16="http://schemas.microsoft.com/office/drawing/2014/main" id="{4BF01973-BEC6-47C1-A4D7-2DA944C5CC19}"/>
              </a:ext>
            </a:extLst>
          </p:cNvPr>
          <p:cNvSpPr>
            <a:spLocks noChangeShapeType="1"/>
          </p:cNvSpPr>
          <p:nvPr/>
        </p:nvSpPr>
        <p:spPr bwMode="auto">
          <a:xfrm>
            <a:off x="7535863" y="2654300"/>
            <a:ext cx="0" cy="25209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937" name="Line 24">
            <a:extLst>
              <a:ext uri="{FF2B5EF4-FFF2-40B4-BE49-F238E27FC236}">
                <a16:creationId xmlns:a16="http://schemas.microsoft.com/office/drawing/2014/main" id="{DD3B4E92-02CD-4660-926F-E55003B4CAB8}"/>
              </a:ext>
            </a:extLst>
          </p:cNvPr>
          <p:cNvSpPr>
            <a:spLocks noChangeShapeType="1"/>
          </p:cNvSpPr>
          <p:nvPr/>
        </p:nvSpPr>
        <p:spPr bwMode="auto">
          <a:xfrm flipV="1">
            <a:off x="7535864" y="2438400"/>
            <a:ext cx="2160587" cy="216058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938" name="Line 25">
            <a:extLst>
              <a:ext uri="{FF2B5EF4-FFF2-40B4-BE49-F238E27FC236}">
                <a16:creationId xmlns:a16="http://schemas.microsoft.com/office/drawing/2014/main" id="{A7EAB697-1FE4-48C4-89B5-3C40C649F681}"/>
              </a:ext>
            </a:extLst>
          </p:cNvPr>
          <p:cNvSpPr>
            <a:spLocks noChangeShapeType="1"/>
          </p:cNvSpPr>
          <p:nvPr/>
        </p:nvSpPr>
        <p:spPr bwMode="auto">
          <a:xfrm flipH="1">
            <a:off x="6959601" y="4598988"/>
            <a:ext cx="576263" cy="576262"/>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939" name="Line 26">
            <a:extLst>
              <a:ext uri="{FF2B5EF4-FFF2-40B4-BE49-F238E27FC236}">
                <a16:creationId xmlns:a16="http://schemas.microsoft.com/office/drawing/2014/main" id="{335CB824-368E-4127-AAA7-6772897D5ADE}"/>
              </a:ext>
            </a:extLst>
          </p:cNvPr>
          <p:cNvSpPr>
            <a:spLocks noChangeShapeType="1"/>
          </p:cNvSpPr>
          <p:nvPr/>
        </p:nvSpPr>
        <p:spPr bwMode="auto">
          <a:xfrm flipH="1">
            <a:off x="7608889" y="4598988"/>
            <a:ext cx="504825" cy="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52940" name="Group 27">
            <a:extLst>
              <a:ext uri="{FF2B5EF4-FFF2-40B4-BE49-F238E27FC236}">
                <a16:creationId xmlns:a16="http://schemas.microsoft.com/office/drawing/2014/main" id="{F0C79820-765D-4A60-8BF8-7068FDC6864C}"/>
              </a:ext>
            </a:extLst>
          </p:cNvPr>
          <p:cNvGrpSpPr>
            <a:grpSpLocks/>
          </p:cNvGrpSpPr>
          <p:nvPr/>
        </p:nvGrpSpPr>
        <p:grpSpPr bwMode="auto">
          <a:xfrm>
            <a:off x="8183564" y="4311650"/>
            <a:ext cx="649287" cy="571500"/>
            <a:chOff x="4195" y="2886"/>
            <a:chExt cx="409" cy="360"/>
          </a:xfrm>
        </p:grpSpPr>
        <p:sp>
          <p:nvSpPr>
            <p:cNvPr id="252968" name="Text Box 28">
              <a:extLst>
                <a:ext uri="{FF2B5EF4-FFF2-40B4-BE49-F238E27FC236}">
                  <a16:creationId xmlns:a16="http://schemas.microsoft.com/office/drawing/2014/main" id="{72C009FB-DAD2-47D2-AA9E-588C0F6F814E}"/>
                </a:ext>
              </a:extLst>
            </p:cNvPr>
            <p:cNvSpPr txBox="1">
              <a:spLocks noChangeArrowheads="1"/>
            </p:cNvSpPr>
            <p:nvPr/>
          </p:nvSpPr>
          <p:spPr bwMode="auto">
            <a:xfrm>
              <a:off x="4286" y="2886"/>
              <a:ext cx="181"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en-GB" altLang="zh-CN" sz="1600">
                  <a:solidFill>
                    <a:srgbClr val="FFFF00"/>
                  </a:solidFill>
                  <a:latin typeface="Times New Roman" panose="02020603050405020304" pitchFamily="18" charset="0"/>
                  <a:ea typeface="黑体" panose="02010609060101010101" pitchFamily="49" charset="-122"/>
                </a:rPr>
                <a:t>1</a:t>
              </a:r>
              <a:endParaRPr kumimoji="1" lang="en-US" altLang="zh-CN" sz="1600">
                <a:solidFill>
                  <a:srgbClr val="FFFF00"/>
                </a:solidFill>
                <a:latin typeface="Times New Roman" panose="02020603050405020304" pitchFamily="18" charset="0"/>
                <a:ea typeface="黑体" panose="02010609060101010101" pitchFamily="49" charset="-122"/>
              </a:endParaRPr>
            </a:p>
          </p:txBody>
        </p:sp>
        <p:sp>
          <p:nvSpPr>
            <p:cNvPr id="252969" name="Text Box 29">
              <a:extLst>
                <a:ext uri="{FF2B5EF4-FFF2-40B4-BE49-F238E27FC236}">
                  <a16:creationId xmlns:a16="http://schemas.microsoft.com/office/drawing/2014/main" id="{5A6FB151-0FB8-4AF5-BDC0-9F2E88FA5C0E}"/>
                </a:ext>
              </a:extLst>
            </p:cNvPr>
            <p:cNvSpPr txBox="1">
              <a:spLocks noChangeArrowheads="1"/>
            </p:cNvSpPr>
            <p:nvPr/>
          </p:nvSpPr>
          <p:spPr bwMode="auto">
            <a:xfrm>
              <a:off x="4195" y="3067"/>
              <a:ext cx="40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en-GB" altLang="zh-CN" sz="1400">
                  <a:solidFill>
                    <a:srgbClr val="FFFF00"/>
                  </a:solidFill>
                  <a:latin typeface="Times New Roman" panose="02020603050405020304" pitchFamily="18" charset="0"/>
                  <a:ea typeface="黑体" panose="02010609060101010101" pitchFamily="49" charset="-122"/>
                </a:rPr>
                <a:t>V</a:t>
              </a:r>
              <a:r>
                <a:rPr kumimoji="1" lang="en-GB" altLang="zh-CN" sz="1400" baseline="-25000">
                  <a:solidFill>
                    <a:srgbClr val="FFFF00"/>
                  </a:solidFill>
                  <a:latin typeface="Times New Roman" panose="02020603050405020304" pitchFamily="18" charset="0"/>
                  <a:ea typeface="黑体" panose="02010609060101010101" pitchFamily="49" charset="-122"/>
                </a:rPr>
                <a:t>max</a:t>
              </a:r>
              <a:endParaRPr kumimoji="1" lang="en-US" altLang="zh-CN" sz="1400" baseline="-25000">
                <a:solidFill>
                  <a:srgbClr val="FFFF00"/>
                </a:solidFill>
                <a:latin typeface="Times New Roman" panose="02020603050405020304" pitchFamily="18" charset="0"/>
                <a:ea typeface="黑体" panose="02010609060101010101" pitchFamily="49" charset="-122"/>
              </a:endParaRPr>
            </a:p>
          </p:txBody>
        </p:sp>
        <p:sp>
          <p:nvSpPr>
            <p:cNvPr id="252970" name="Line 30">
              <a:extLst>
                <a:ext uri="{FF2B5EF4-FFF2-40B4-BE49-F238E27FC236}">
                  <a16:creationId xmlns:a16="http://schemas.microsoft.com/office/drawing/2014/main" id="{0AA07D81-138F-4474-BC14-39101A115CE4}"/>
                </a:ext>
              </a:extLst>
            </p:cNvPr>
            <p:cNvSpPr>
              <a:spLocks noChangeShapeType="1"/>
            </p:cNvSpPr>
            <p:nvPr/>
          </p:nvSpPr>
          <p:spPr bwMode="auto">
            <a:xfrm>
              <a:off x="4286" y="3067"/>
              <a:ext cx="18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2941" name="Group 31">
            <a:extLst>
              <a:ext uri="{FF2B5EF4-FFF2-40B4-BE49-F238E27FC236}">
                <a16:creationId xmlns:a16="http://schemas.microsoft.com/office/drawing/2014/main" id="{CD688C1C-EB02-4953-9DC7-AEACE2434D45}"/>
              </a:ext>
            </a:extLst>
          </p:cNvPr>
          <p:cNvGrpSpPr>
            <a:grpSpLocks/>
          </p:cNvGrpSpPr>
          <p:nvPr/>
        </p:nvGrpSpPr>
        <p:grpSpPr bwMode="auto">
          <a:xfrm>
            <a:off x="9191626" y="3087688"/>
            <a:ext cx="1300163" cy="614362"/>
            <a:chOff x="4740" y="2160"/>
            <a:chExt cx="819" cy="387"/>
          </a:xfrm>
        </p:grpSpPr>
        <p:sp>
          <p:nvSpPr>
            <p:cNvPr id="252963" name="Line 32">
              <a:extLst>
                <a:ext uri="{FF2B5EF4-FFF2-40B4-BE49-F238E27FC236}">
                  <a16:creationId xmlns:a16="http://schemas.microsoft.com/office/drawing/2014/main" id="{8DEECABC-FD37-45D4-9D92-E6C189F65247}"/>
                </a:ext>
              </a:extLst>
            </p:cNvPr>
            <p:cNvSpPr>
              <a:spLocks noChangeShapeType="1"/>
            </p:cNvSpPr>
            <p:nvPr/>
          </p:nvSpPr>
          <p:spPr bwMode="auto">
            <a:xfrm>
              <a:off x="5193" y="2341"/>
              <a:ext cx="27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2964" name="Group 33">
              <a:extLst>
                <a:ext uri="{FF2B5EF4-FFF2-40B4-BE49-F238E27FC236}">
                  <a16:creationId xmlns:a16="http://schemas.microsoft.com/office/drawing/2014/main" id="{E454FCA5-0EEA-4846-89D1-9DAAF113E35A}"/>
                </a:ext>
              </a:extLst>
            </p:cNvPr>
            <p:cNvGrpSpPr>
              <a:grpSpLocks/>
            </p:cNvGrpSpPr>
            <p:nvPr/>
          </p:nvGrpSpPr>
          <p:grpSpPr bwMode="auto">
            <a:xfrm>
              <a:off x="4740" y="2160"/>
              <a:ext cx="819" cy="387"/>
              <a:chOff x="4868" y="2115"/>
              <a:chExt cx="819" cy="387"/>
            </a:xfrm>
          </p:grpSpPr>
          <p:sp>
            <p:nvSpPr>
              <p:cNvPr id="252965" name="Text Box 34">
                <a:extLst>
                  <a:ext uri="{FF2B5EF4-FFF2-40B4-BE49-F238E27FC236}">
                    <a16:creationId xmlns:a16="http://schemas.microsoft.com/office/drawing/2014/main" id="{F0B9B227-DB9E-4E95-BB32-615DD5AF1AA7}"/>
                  </a:ext>
                </a:extLst>
              </p:cNvPr>
              <p:cNvSpPr txBox="1">
                <a:spLocks noChangeArrowheads="1"/>
              </p:cNvSpPr>
              <p:nvPr/>
            </p:nvSpPr>
            <p:spPr bwMode="auto">
              <a:xfrm>
                <a:off x="5284" y="2115"/>
                <a:ext cx="27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en-GB" altLang="zh-CN" sz="1000">
                    <a:solidFill>
                      <a:srgbClr val="FFFF00"/>
                    </a:solidFill>
                    <a:latin typeface="Times New Roman" panose="02020603050405020304" pitchFamily="18" charset="0"/>
                    <a:ea typeface="黑体" panose="02010609060101010101" pitchFamily="49" charset="-122"/>
                  </a:rPr>
                  <a:t>K</a:t>
                </a:r>
                <a:r>
                  <a:rPr kumimoji="1" lang="en-GB" altLang="zh-CN" sz="1400" baseline="-25000">
                    <a:solidFill>
                      <a:srgbClr val="FFFF00"/>
                    </a:solidFill>
                    <a:latin typeface="Times New Roman" panose="02020603050405020304" pitchFamily="18" charset="0"/>
                    <a:ea typeface="黑体" panose="02010609060101010101" pitchFamily="49" charset="-122"/>
                  </a:rPr>
                  <a:t>m</a:t>
                </a:r>
                <a:endParaRPr kumimoji="1" lang="en-US" altLang="zh-CN" sz="1400" baseline="-25000">
                  <a:solidFill>
                    <a:srgbClr val="FFFF00"/>
                  </a:solidFill>
                  <a:latin typeface="Times New Roman" panose="02020603050405020304" pitchFamily="18" charset="0"/>
                  <a:ea typeface="黑体" panose="02010609060101010101" pitchFamily="49" charset="-122"/>
                </a:endParaRPr>
              </a:p>
            </p:txBody>
          </p:sp>
          <p:sp>
            <p:nvSpPr>
              <p:cNvPr id="252966" name="Text Box 35">
                <a:extLst>
                  <a:ext uri="{FF2B5EF4-FFF2-40B4-BE49-F238E27FC236}">
                    <a16:creationId xmlns:a16="http://schemas.microsoft.com/office/drawing/2014/main" id="{F4A6B56A-A9FE-442F-8479-6D544BFD9A6A}"/>
                  </a:ext>
                </a:extLst>
              </p:cNvPr>
              <p:cNvSpPr txBox="1">
                <a:spLocks noChangeArrowheads="1"/>
              </p:cNvSpPr>
              <p:nvPr/>
            </p:nvSpPr>
            <p:spPr bwMode="auto">
              <a:xfrm>
                <a:off x="5233" y="2305"/>
                <a:ext cx="45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en-GB" altLang="zh-CN" sz="1600">
                    <a:solidFill>
                      <a:srgbClr val="FFFF00"/>
                    </a:solidFill>
                    <a:latin typeface="Times New Roman" panose="02020603050405020304" pitchFamily="18" charset="0"/>
                    <a:ea typeface="黑体" panose="02010609060101010101" pitchFamily="49" charset="-122"/>
                  </a:rPr>
                  <a:t>V</a:t>
                </a:r>
                <a:r>
                  <a:rPr kumimoji="1" lang="en-GB" altLang="zh-CN" sz="1600" baseline="-25000">
                    <a:solidFill>
                      <a:srgbClr val="FFFF00"/>
                    </a:solidFill>
                    <a:latin typeface="Times New Roman" panose="02020603050405020304" pitchFamily="18" charset="0"/>
                    <a:ea typeface="黑体" panose="02010609060101010101" pitchFamily="49" charset="-122"/>
                  </a:rPr>
                  <a:t>max</a:t>
                </a:r>
                <a:endParaRPr kumimoji="1" lang="en-US" altLang="zh-CN" sz="1600" baseline="-25000">
                  <a:solidFill>
                    <a:srgbClr val="FFFF00"/>
                  </a:solidFill>
                  <a:latin typeface="Times New Roman" panose="02020603050405020304" pitchFamily="18" charset="0"/>
                  <a:ea typeface="黑体" panose="02010609060101010101" pitchFamily="49" charset="-122"/>
                </a:endParaRPr>
              </a:p>
            </p:txBody>
          </p:sp>
          <p:sp>
            <p:nvSpPr>
              <p:cNvPr id="252967" name="Text Box 36">
                <a:extLst>
                  <a:ext uri="{FF2B5EF4-FFF2-40B4-BE49-F238E27FC236}">
                    <a16:creationId xmlns:a16="http://schemas.microsoft.com/office/drawing/2014/main" id="{DC12F8CB-9C3F-434B-B9AB-3E4C34029D50}"/>
                  </a:ext>
                </a:extLst>
              </p:cNvPr>
              <p:cNvSpPr txBox="1">
                <a:spLocks noChangeArrowheads="1"/>
              </p:cNvSpPr>
              <p:nvPr/>
            </p:nvSpPr>
            <p:spPr bwMode="auto">
              <a:xfrm>
                <a:off x="4868" y="2215"/>
                <a:ext cx="45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zh-CN" altLang="en-US" sz="1400">
                    <a:solidFill>
                      <a:srgbClr val="FFFF00"/>
                    </a:solidFill>
                    <a:latin typeface="Times New Roman" panose="02020603050405020304" pitchFamily="18" charset="0"/>
                    <a:ea typeface="黑体" panose="02010609060101010101" pitchFamily="49" charset="-122"/>
                  </a:rPr>
                  <a:t>斜率＝</a:t>
                </a:r>
              </a:p>
            </p:txBody>
          </p:sp>
        </p:grpSp>
      </p:grpSp>
      <p:grpSp>
        <p:nvGrpSpPr>
          <p:cNvPr id="252942" name="Group 37">
            <a:extLst>
              <a:ext uri="{FF2B5EF4-FFF2-40B4-BE49-F238E27FC236}">
                <a16:creationId xmlns:a16="http://schemas.microsoft.com/office/drawing/2014/main" id="{C39C0C79-F576-40C7-A079-910674A844A8}"/>
              </a:ext>
            </a:extLst>
          </p:cNvPr>
          <p:cNvGrpSpPr>
            <a:grpSpLocks/>
          </p:cNvGrpSpPr>
          <p:nvPr/>
        </p:nvGrpSpPr>
        <p:grpSpPr bwMode="auto">
          <a:xfrm>
            <a:off x="6486525" y="5205414"/>
            <a:ext cx="865188" cy="600075"/>
            <a:chOff x="3107" y="3475"/>
            <a:chExt cx="545" cy="378"/>
          </a:xfrm>
        </p:grpSpPr>
        <p:grpSp>
          <p:nvGrpSpPr>
            <p:cNvPr id="252958" name="Group 38">
              <a:extLst>
                <a:ext uri="{FF2B5EF4-FFF2-40B4-BE49-F238E27FC236}">
                  <a16:creationId xmlns:a16="http://schemas.microsoft.com/office/drawing/2014/main" id="{52CD0ACA-7EE3-4929-A3B9-AEB05E559C4F}"/>
                </a:ext>
              </a:extLst>
            </p:cNvPr>
            <p:cNvGrpSpPr>
              <a:grpSpLocks/>
            </p:cNvGrpSpPr>
            <p:nvPr/>
          </p:nvGrpSpPr>
          <p:grpSpPr bwMode="auto">
            <a:xfrm>
              <a:off x="3243" y="3475"/>
              <a:ext cx="409" cy="378"/>
              <a:chOff x="4195" y="2886"/>
              <a:chExt cx="409" cy="378"/>
            </a:xfrm>
          </p:grpSpPr>
          <p:sp>
            <p:nvSpPr>
              <p:cNvPr id="252960" name="Text Box 39">
                <a:extLst>
                  <a:ext uri="{FF2B5EF4-FFF2-40B4-BE49-F238E27FC236}">
                    <a16:creationId xmlns:a16="http://schemas.microsoft.com/office/drawing/2014/main" id="{EEB8603B-CA3E-4A1B-B516-1862D1AC9A04}"/>
                  </a:ext>
                </a:extLst>
              </p:cNvPr>
              <p:cNvSpPr txBox="1">
                <a:spLocks noChangeArrowheads="1"/>
              </p:cNvSpPr>
              <p:nvPr/>
            </p:nvSpPr>
            <p:spPr bwMode="auto">
              <a:xfrm>
                <a:off x="4286" y="2886"/>
                <a:ext cx="18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en-GB" altLang="zh-CN" sz="1800">
                    <a:solidFill>
                      <a:srgbClr val="FFFF00"/>
                    </a:solidFill>
                    <a:latin typeface="Times New Roman" panose="02020603050405020304" pitchFamily="18" charset="0"/>
                    <a:ea typeface="黑体" panose="02010609060101010101" pitchFamily="49" charset="-122"/>
                  </a:rPr>
                  <a:t>1</a:t>
                </a:r>
                <a:endParaRPr kumimoji="1" lang="en-US" altLang="zh-CN" sz="1800">
                  <a:solidFill>
                    <a:srgbClr val="FFFF00"/>
                  </a:solidFill>
                  <a:latin typeface="Times New Roman" panose="02020603050405020304" pitchFamily="18" charset="0"/>
                  <a:ea typeface="黑体" panose="02010609060101010101" pitchFamily="49" charset="-122"/>
                </a:endParaRPr>
              </a:p>
            </p:txBody>
          </p:sp>
          <p:sp>
            <p:nvSpPr>
              <p:cNvPr id="252961" name="Text Box 40">
                <a:extLst>
                  <a:ext uri="{FF2B5EF4-FFF2-40B4-BE49-F238E27FC236}">
                    <a16:creationId xmlns:a16="http://schemas.microsoft.com/office/drawing/2014/main" id="{6BB87920-5CE1-4158-9B68-BD674B9DBDA1}"/>
                  </a:ext>
                </a:extLst>
              </p:cNvPr>
              <p:cNvSpPr txBox="1">
                <a:spLocks noChangeArrowheads="1"/>
              </p:cNvSpPr>
              <p:nvPr/>
            </p:nvSpPr>
            <p:spPr bwMode="auto">
              <a:xfrm>
                <a:off x="4195" y="3067"/>
                <a:ext cx="40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spcBef>
                    <a:spcPct val="50000"/>
                  </a:spcBef>
                  <a:buClr>
                    <a:schemeClr val="tx2"/>
                  </a:buClr>
                  <a:buSzPct val="75000"/>
                  <a:buFont typeface="Wingdings" panose="05000000000000000000" pitchFamily="2" charset="2"/>
                  <a:buNone/>
                </a:pPr>
                <a:r>
                  <a:rPr kumimoji="1" lang="en-GB" altLang="zh-CN" sz="1600">
                    <a:solidFill>
                      <a:srgbClr val="FFFF00"/>
                    </a:solidFill>
                    <a:latin typeface="Times New Roman" panose="02020603050405020304" pitchFamily="18" charset="0"/>
                    <a:ea typeface="黑体" panose="02010609060101010101" pitchFamily="49" charset="-122"/>
                  </a:rPr>
                  <a:t>K</a:t>
                </a:r>
                <a:r>
                  <a:rPr kumimoji="1" lang="en-GB" altLang="zh-CN" sz="1600" baseline="-25000">
                    <a:solidFill>
                      <a:srgbClr val="FFFF00"/>
                    </a:solidFill>
                    <a:latin typeface="Times New Roman" panose="02020603050405020304" pitchFamily="18" charset="0"/>
                    <a:ea typeface="黑体" panose="02010609060101010101" pitchFamily="49" charset="-122"/>
                  </a:rPr>
                  <a:t>m</a:t>
                </a:r>
                <a:endParaRPr kumimoji="1" lang="en-US" altLang="zh-CN" sz="1600" baseline="-25000">
                  <a:solidFill>
                    <a:srgbClr val="FFFF00"/>
                  </a:solidFill>
                  <a:latin typeface="Times New Roman" panose="02020603050405020304" pitchFamily="18" charset="0"/>
                  <a:ea typeface="黑体" panose="02010609060101010101" pitchFamily="49" charset="-122"/>
                </a:endParaRPr>
              </a:p>
            </p:txBody>
          </p:sp>
          <p:sp>
            <p:nvSpPr>
              <p:cNvPr id="252962" name="Line 41">
                <a:extLst>
                  <a:ext uri="{FF2B5EF4-FFF2-40B4-BE49-F238E27FC236}">
                    <a16:creationId xmlns:a16="http://schemas.microsoft.com/office/drawing/2014/main" id="{908B32B6-9BE9-4858-9779-411E09FDC40D}"/>
                  </a:ext>
                </a:extLst>
              </p:cNvPr>
              <p:cNvSpPr>
                <a:spLocks noChangeShapeType="1"/>
              </p:cNvSpPr>
              <p:nvPr/>
            </p:nvSpPr>
            <p:spPr bwMode="auto">
              <a:xfrm>
                <a:off x="4286" y="3067"/>
                <a:ext cx="18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2959" name="Text Box 42">
              <a:extLst>
                <a:ext uri="{FF2B5EF4-FFF2-40B4-BE49-F238E27FC236}">
                  <a16:creationId xmlns:a16="http://schemas.microsoft.com/office/drawing/2014/main" id="{2DC53CB1-264F-42A5-8F1B-2B2323C2EBF0}"/>
                </a:ext>
              </a:extLst>
            </p:cNvPr>
            <p:cNvSpPr txBox="1">
              <a:spLocks noChangeArrowheads="1"/>
            </p:cNvSpPr>
            <p:nvPr/>
          </p:nvSpPr>
          <p:spPr bwMode="auto">
            <a:xfrm>
              <a:off x="3107" y="3566"/>
              <a:ext cx="22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zh-CN" altLang="en-US" sz="1600">
                  <a:solidFill>
                    <a:srgbClr val="FFFF00"/>
                  </a:solidFill>
                  <a:latin typeface="Times New Roman" panose="02020603050405020304" pitchFamily="18" charset="0"/>
                  <a:ea typeface="黑体" panose="02010609060101010101" pitchFamily="49" charset="-122"/>
                </a:rPr>
                <a:t>－</a:t>
              </a:r>
            </a:p>
          </p:txBody>
        </p:sp>
      </p:grpSp>
      <p:sp>
        <p:nvSpPr>
          <p:cNvPr id="252943" name="Text Box 43">
            <a:extLst>
              <a:ext uri="{FF2B5EF4-FFF2-40B4-BE49-F238E27FC236}">
                <a16:creationId xmlns:a16="http://schemas.microsoft.com/office/drawing/2014/main" id="{1BD301DB-EFBC-469C-BFB4-509453F360C7}"/>
              </a:ext>
            </a:extLst>
          </p:cNvPr>
          <p:cNvSpPr txBox="1">
            <a:spLocks noChangeArrowheads="1"/>
          </p:cNvSpPr>
          <p:nvPr/>
        </p:nvSpPr>
        <p:spPr bwMode="auto">
          <a:xfrm>
            <a:off x="7391401" y="5175251"/>
            <a:ext cx="576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en-US" altLang="zh-CN" sz="2000">
                <a:solidFill>
                  <a:srgbClr val="FFFF00"/>
                </a:solidFill>
                <a:latin typeface="Times New Roman" panose="02020603050405020304" pitchFamily="18" charset="0"/>
                <a:ea typeface="黑体" panose="02010609060101010101" pitchFamily="49" charset="-122"/>
              </a:rPr>
              <a:t>0</a:t>
            </a:r>
          </a:p>
        </p:txBody>
      </p:sp>
      <p:grpSp>
        <p:nvGrpSpPr>
          <p:cNvPr id="252944" name="Group 44">
            <a:extLst>
              <a:ext uri="{FF2B5EF4-FFF2-40B4-BE49-F238E27FC236}">
                <a16:creationId xmlns:a16="http://schemas.microsoft.com/office/drawing/2014/main" id="{B5C056B6-0BB9-4E41-A117-31DE9C8233A6}"/>
              </a:ext>
            </a:extLst>
          </p:cNvPr>
          <p:cNvGrpSpPr>
            <a:grpSpLocks/>
          </p:cNvGrpSpPr>
          <p:nvPr/>
        </p:nvGrpSpPr>
        <p:grpSpPr bwMode="auto">
          <a:xfrm>
            <a:off x="6888164" y="2438400"/>
            <a:ext cx="649287" cy="571500"/>
            <a:chOff x="4195" y="2886"/>
            <a:chExt cx="409" cy="360"/>
          </a:xfrm>
        </p:grpSpPr>
        <p:sp>
          <p:nvSpPr>
            <p:cNvPr id="252955" name="Text Box 45">
              <a:extLst>
                <a:ext uri="{FF2B5EF4-FFF2-40B4-BE49-F238E27FC236}">
                  <a16:creationId xmlns:a16="http://schemas.microsoft.com/office/drawing/2014/main" id="{20FCFD38-88D5-4AEE-8845-7C8C321C795A}"/>
                </a:ext>
              </a:extLst>
            </p:cNvPr>
            <p:cNvSpPr txBox="1">
              <a:spLocks noChangeArrowheads="1"/>
            </p:cNvSpPr>
            <p:nvPr/>
          </p:nvSpPr>
          <p:spPr bwMode="auto">
            <a:xfrm>
              <a:off x="4286" y="2886"/>
              <a:ext cx="181"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en-GB" altLang="zh-CN" sz="1200">
                  <a:solidFill>
                    <a:srgbClr val="FFFF00"/>
                  </a:solidFill>
                  <a:latin typeface="Times New Roman" panose="02020603050405020304" pitchFamily="18" charset="0"/>
                  <a:ea typeface="黑体" panose="02010609060101010101" pitchFamily="49" charset="-122"/>
                </a:rPr>
                <a:t>1</a:t>
              </a:r>
              <a:endParaRPr kumimoji="1" lang="en-US" altLang="zh-CN" sz="1200">
                <a:solidFill>
                  <a:srgbClr val="FFFF00"/>
                </a:solidFill>
                <a:latin typeface="Times New Roman" panose="02020603050405020304" pitchFamily="18" charset="0"/>
                <a:ea typeface="黑体" panose="02010609060101010101" pitchFamily="49" charset="-122"/>
              </a:endParaRPr>
            </a:p>
          </p:txBody>
        </p:sp>
        <p:sp>
          <p:nvSpPr>
            <p:cNvPr id="252956" name="Text Box 46">
              <a:extLst>
                <a:ext uri="{FF2B5EF4-FFF2-40B4-BE49-F238E27FC236}">
                  <a16:creationId xmlns:a16="http://schemas.microsoft.com/office/drawing/2014/main" id="{596F5B8D-CC66-4F8C-BD53-06488632F726}"/>
                </a:ext>
              </a:extLst>
            </p:cNvPr>
            <p:cNvSpPr txBox="1">
              <a:spLocks noChangeArrowheads="1"/>
            </p:cNvSpPr>
            <p:nvPr/>
          </p:nvSpPr>
          <p:spPr bwMode="auto">
            <a:xfrm>
              <a:off x="4195" y="3067"/>
              <a:ext cx="40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en-GB" altLang="zh-CN" sz="1400">
                  <a:solidFill>
                    <a:srgbClr val="FFFF00"/>
                  </a:solidFill>
                  <a:latin typeface="Times New Roman" panose="02020603050405020304" pitchFamily="18" charset="0"/>
                  <a:ea typeface="黑体" panose="02010609060101010101" pitchFamily="49" charset="-122"/>
                </a:rPr>
                <a:t>   V</a:t>
              </a:r>
              <a:endParaRPr kumimoji="1" lang="en-US" altLang="zh-CN" sz="1400">
                <a:solidFill>
                  <a:srgbClr val="FFFF00"/>
                </a:solidFill>
                <a:latin typeface="Times New Roman" panose="02020603050405020304" pitchFamily="18" charset="0"/>
                <a:ea typeface="黑体" panose="02010609060101010101" pitchFamily="49" charset="-122"/>
              </a:endParaRPr>
            </a:p>
          </p:txBody>
        </p:sp>
        <p:sp>
          <p:nvSpPr>
            <p:cNvPr id="252957" name="Line 47">
              <a:extLst>
                <a:ext uri="{FF2B5EF4-FFF2-40B4-BE49-F238E27FC236}">
                  <a16:creationId xmlns:a16="http://schemas.microsoft.com/office/drawing/2014/main" id="{E4F7DDFB-F34F-41BB-B7B6-7B0EF43715FC}"/>
                </a:ext>
              </a:extLst>
            </p:cNvPr>
            <p:cNvSpPr>
              <a:spLocks noChangeShapeType="1"/>
            </p:cNvSpPr>
            <p:nvPr/>
          </p:nvSpPr>
          <p:spPr bwMode="auto">
            <a:xfrm>
              <a:off x="4286" y="3067"/>
              <a:ext cx="18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2945" name="Group 48">
            <a:extLst>
              <a:ext uri="{FF2B5EF4-FFF2-40B4-BE49-F238E27FC236}">
                <a16:creationId xmlns:a16="http://schemas.microsoft.com/office/drawing/2014/main" id="{60D3D1DB-9821-4FA2-8416-63F65130BBC8}"/>
              </a:ext>
            </a:extLst>
          </p:cNvPr>
          <p:cNvGrpSpPr>
            <a:grpSpLocks/>
          </p:cNvGrpSpPr>
          <p:nvPr/>
        </p:nvGrpSpPr>
        <p:grpSpPr bwMode="auto">
          <a:xfrm>
            <a:off x="10018714" y="5175250"/>
            <a:ext cx="649287" cy="571500"/>
            <a:chOff x="4195" y="2886"/>
            <a:chExt cx="409" cy="360"/>
          </a:xfrm>
        </p:grpSpPr>
        <p:sp>
          <p:nvSpPr>
            <p:cNvPr id="252952" name="Text Box 49">
              <a:extLst>
                <a:ext uri="{FF2B5EF4-FFF2-40B4-BE49-F238E27FC236}">
                  <a16:creationId xmlns:a16="http://schemas.microsoft.com/office/drawing/2014/main" id="{3300C3C6-B4DE-4218-949A-50A82CAC43CD}"/>
                </a:ext>
              </a:extLst>
            </p:cNvPr>
            <p:cNvSpPr txBox="1">
              <a:spLocks noChangeArrowheads="1"/>
            </p:cNvSpPr>
            <p:nvPr/>
          </p:nvSpPr>
          <p:spPr bwMode="auto">
            <a:xfrm>
              <a:off x="4286" y="2886"/>
              <a:ext cx="181"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en-GB" altLang="zh-CN" sz="1200">
                  <a:solidFill>
                    <a:srgbClr val="FFFF00"/>
                  </a:solidFill>
                  <a:latin typeface="Times New Roman" panose="02020603050405020304" pitchFamily="18" charset="0"/>
                  <a:ea typeface="黑体" panose="02010609060101010101" pitchFamily="49" charset="-122"/>
                </a:rPr>
                <a:t>1</a:t>
              </a:r>
              <a:endParaRPr kumimoji="1" lang="en-US" altLang="zh-CN" sz="1200">
                <a:solidFill>
                  <a:srgbClr val="FFFF00"/>
                </a:solidFill>
                <a:latin typeface="Times New Roman" panose="02020603050405020304" pitchFamily="18" charset="0"/>
                <a:ea typeface="黑体" panose="02010609060101010101" pitchFamily="49" charset="-122"/>
              </a:endParaRPr>
            </a:p>
          </p:txBody>
        </p:sp>
        <p:sp>
          <p:nvSpPr>
            <p:cNvPr id="252953" name="Text Box 50">
              <a:extLst>
                <a:ext uri="{FF2B5EF4-FFF2-40B4-BE49-F238E27FC236}">
                  <a16:creationId xmlns:a16="http://schemas.microsoft.com/office/drawing/2014/main" id="{6C63CC7E-0410-49F8-8613-876C2DC38A95}"/>
                </a:ext>
              </a:extLst>
            </p:cNvPr>
            <p:cNvSpPr txBox="1">
              <a:spLocks noChangeArrowheads="1"/>
            </p:cNvSpPr>
            <p:nvPr/>
          </p:nvSpPr>
          <p:spPr bwMode="auto">
            <a:xfrm>
              <a:off x="4195" y="3067"/>
              <a:ext cx="40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en-GB" altLang="zh-CN" sz="1400">
                  <a:solidFill>
                    <a:srgbClr val="FFFF00"/>
                  </a:solidFill>
                  <a:latin typeface="Times New Roman" panose="02020603050405020304" pitchFamily="18" charset="0"/>
                  <a:ea typeface="黑体" panose="02010609060101010101" pitchFamily="49" charset="-122"/>
                </a:rPr>
                <a:t>  [S]</a:t>
              </a:r>
              <a:endParaRPr kumimoji="1" lang="en-US" altLang="zh-CN" sz="1400">
                <a:solidFill>
                  <a:srgbClr val="FFFF00"/>
                </a:solidFill>
                <a:latin typeface="Times New Roman" panose="02020603050405020304" pitchFamily="18" charset="0"/>
                <a:ea typeface="黑体" panose="02010609060101010101" pitchFamily="49" charset="-122"/>
              </a:endParaRPr>
            </a:p>
          </p:txBody>
        </p:sp>
        <p:sp>
          <p:nvSpPr>
            <p:cNvPr id="252954" name="Line 51">
              <a:extLst>
                <a:ext uri="{FF2B5EF4-FFF2-40B4-BE49-F238E27FC236}">
                  <a16:creationId xmlns:a16="http://schemas.microsoft.com/office/drawing/2014/main" id="{110FC7A2-A143-4850-BE17-C8AB8F8F0E6C}"/>
                </a:ext>
              </a:extLst>
            </p:cNvPr>
            <p:cNvSpPr>
              <a:spLocks noChangeShapeType="1"/>
            </p:cNvSpPr>
            <p:nvPr/>
          </p:nvSpPr>
          <p:spPr bwMode="auto">
            <a:xfrm>
              <a:off x="4286" y="3067"/>
              <a:ext cx="18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2946" name="Line 52">
            <a:extLst>
              <a:ext uri="{FF2B5EF4-FFF2-40B4-BE49-F238E27FC236}">
                <a16:creationId xmlns:a16="http://schemas.microsoft.com/office/drawing/2014/main" id="{C32E6B96-9EEF-46C6-9C74-BC93AAE55A26}"/>
              </a:ext>
            </a:extLst>
          </p:cNvPr>
          <p:cNvSpPr>
            <a:spLocks noChangeShapeType="1"/>
          </p:cNvSpPr>
          <p:nvPr/>
        </p:nvSpPr>
        <p:spPr bwMode="auto">
          <a:xfrm>
            <a:off x="7104063" y="2727325"/>
            <a:ext cx="144462"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947" name="Line 53">
            <a:extLst>
              <a:ext uri="{FF2B5EF4-FFF2-40B4-BE49-F238E27FC236}">
                <a16:creationId xmlns:a16="http://schemas.microsoft.com/office/drawing/2014/main" id="{9EB910EB-FD9D-4689-801A-E76C70A95B43}"/>
              </a:ext>
            </a:extLst>
          </p:cNvPr>
          <p:cNvSpPr>
            <a:spLocks noChangeShapeType="1"/>
          </p:cNvSpPr>
          <p:nvPr/>
        </p:nvSpPr>
        <p:spPr bwMode="auto">
          <a:xfrm>
            <a:off x="6888163" y="5464175"/>
            <a:ext cx="2032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948" name="Line 54">
            <a:extLst>
              <a:ext uri="{FF2B5EF4-FFF2-40B4-BE49-F238E27FC236}">
                <a16:creationId xmlns:a16="http://schemas.microsoft.com/office/drawing/2014/main" id="{BAE79743-02B3-46EC-95D3-2BE6BBA68845}"/>
              </a:ext>
            </a:extLst>
          </p:cNvPr>
          <p:cNvSpPr>
            <a:spLocks noChangeShapeType="1"/>
          </p:cNvSpPr>
          <p:nvPr/>
        </p:nvSpPr>
        <p:spPr bwMode="auto">
          <a:xfrm>
            <a:off x="10199688" y="5464175"/>
            <a:ext cx="2032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949" name="Line 55">
            <a:extLst>
              <a:ext uri="{FF2B5EF4-FFF2-40B4-BE49-F238E27FC236}">
                <a16:creationId xmlns:a16="http://schemas.microsoft.com/office/drawing/2014/main" id="{1D620EBA-8875-4553-8307-08A6FCB6F164}"/>
              </a:ext>
            </a:extLst>
          </p:cNvPr>
          <p:cNvSpPr>
            <a:spLocks noChangeShapeType="1"/>
          </p:cNvSpPr>
          <p:nvPr/>
        </p:nvSpPr>
        <p:spPr bwMode="auto">
          <a:xfrm>
            <a:off x="8256588" y="4598988"/>
            <a:ext cx="406400"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950" name="Line 56">
            <a:extLst>
              <a:ext uri="{FF2B5EF4-FFF2-40B4-BE49-F238E27FC236}">
                <a16:creationId xmlns:a16="http://schemas.microsoft.com/office/drawing/2014/main" id="{C622C367-CDC8-4700-938C-9C25B4A353B5}"/>
              </a:ext>
            </a:extLst>
          </p:cNvPr>
          <p:cNvSpPr>
            <a:spLocks noChangeShapeType="1"/>
          </p:cNvSpPr>
          <p:nvPr/>
        </p:nvSpPr>
        <p:spPr bwMode="auto">
          <a:xfrm>
            <a:off x="9912350" y="3375025"/>
            <a:ext cx="406400"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951" name="AutoShape 57">
            <a:extLst>
              <a:ext uri="{FF2B5EF4-FFF2-40B4-BE49-F238E27FC236}">
                <a16:creationId xmlns:a16="http://schemas.microsoft.com/office/drawing/2014/main" id="{C11BD6EB-3491-4E40-901C-F54461C7F5C9}"/>
              </a:ext>
            </a:extLst>
          </p:cNvPr>
          <p:cNvSpPr>
            <a:spLocks noChangeArrowheads="1"/>
          </p:cNvSpPr>
          <p:nvPr/>
        </p:nvSpPr>
        <p:spPr bwMode="auto">
          <a:xfrm>
            <a:off x="2855914" y="404813"/>
            <a:ext cx="5976937" cy="647700"/>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b="1" dirty="0">
                <a:solidFill>
                  <a:schemeClr val="bg1"/>
                </a:solidFill>
                <a:latin typeface="Times New Roman" panose="02020603050405020304" pitchFamily="18" charset="0"/>
                <a:ea typeface="黑体" panose="02010609060101010101" pitchFamily="49" charset="-122"/>
              </a:rPr>
              <a:t>（三）Ｋ</a:t>
            </a:r>
            <a:r>
              <a:rPr kumimoji="1" lang="en-US" altLang="zh-CN" b="1" dirty="0">
                <a:solidFill>
                  <a:schemeClr val="bg1"/>
                </a:solidFill>
                <a:latin typeface="Times New Roman" panose="02020603050405020304" pitchFamily="18" charset="0"/>
                <a:ea typeface="黑体" panose="02010609060101010101" pitchFamily="49" charset="-122"/>
              </a:rPr>
              <a:t>m</a:t>
            </a:r>
            <a:r>
              <a:rPr kumimoji="1" lang="zh-CN" altLang="en-US" b="1" dirty="0">
                <a:solidFill>
                  <a:schemeClr val="bg1"/>
                </a:solidFill>
                <a:latin typeface="Times New Roman" panose="02020603050405020304" pitchFamily="18" charset="0"/>
                <a:ea typeface="黑体" panose="02010609060101010101" pitchFamily="49" charset="-122"/>
              </a:rPr>
              <a:t>值与Ｖ</a:t>
            </a:r>
            <a:r>
              <a:rPr kumimoji="1" lang="en-US" altLang="zh-CN" b="1" dirty="0">
                <a:solidFill>
                  <a:schemeClr val="bg1"/>
                </a:solidFill>
                <a:latin typeface="Times New Roman" panose="02020603050405020304" pitchFamily="18" charset="0"/>
                <a:ea typeface="黑体" panose="02010609060101010101" pitchFamily="49" charset="-122"/>
              </a:rPr>
              <a:t>max</a:t>
            </a:r>
            <a:r>
              <a:rPr kumimoji="1" lang="zh-CN" altLang="en-US" b="1" dirty="0">
                <a:solidFill>
                  <a:schemeClr val="bg1"/>
                </a:solidFill>
                <a:latin typeface="Times New Roman" panose="02020603050405020304" pitchFamily="18" charset="0"/>
                <a:ea typeface="黑体" panose="02010609060101010101" pitchFamily="49" charset="-122"/>
              </a:rPr>
              <a:t>值的测定</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7"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ppt_x</p:attrName>
                                        </p:attrNameLst>
                                      </p:cBhvr>
                                      <p:tavLst>
                                        <p:tav tm="0">
                                          <p:val>
                                            <p:strVal val="#ppt_x"/>
                                          </p:val>
                                        </p:tav>
                                        <p:tav tm="100000">
                                          <p:val>
                                            <p:strVal val="#ppt_x"/>
                                          </p:val>
                                        </p:tav>
                                      </p:tavLst>
                                    </p:anim>
                                    <p:anim calcmode="lin" valueType="num">
                                      <p:cBhvr>
                                        <p:cTn id="12" dur="500" fill="hold"/>
                                        <p:tgtEl>
                                          <p:spTgt spid="5"/>
                                        </p:tgtEl>
                                        <p:attrNameLst>
                                          <p:attrName>ppt_y</p:attrName>
                                        </p:attrNameLst>
                                      </p:cBhvr>
                                      <p:tavLst>
                                        <p:tav tm="0">
                                          <p:val>
                                            <p:strVal val="#ppt_y-#ppt_h/2"/>
                                          </p:val>
                                        </p:tav>
                                        <p:tav tm="100000">
                                          <p:val>
                                            <p:strVal val="#ppt_y"/>
                                          </p:val>
                                        </p:tav>
                                      </p:tavLst>
                                    </p:anim>
                                    <p:anim calcmode="lin" valueType="num">
                                      <p:cBhvr>
                                        <p:cTn id="13" dur="500" fill="hold"/>
                                        <p:tgtEl>
                                          <p:spTgt spid="5"/>
                                        </p:tgtEl>
                                        <p:attrNameLst>
                                          <p:attrName>ppt_w</p:attrName>
                                        </p:attrNameLst>
                                      </p:cBhvr>
                                      <p:tavLst>
                                        <p:tav tm="0">
                                          <p:val>
                                            <p:strVal val="#ppt_w"/>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childTnLst>
                                </p:cTn>
                              </p:par>
                            </p:childTnLst>
                          </p:cTn>
                        </p:par>
                        <p:par>
                          <p:cTn id="15" fill="hold" nodeType="afterGroup">
                            <p:stCondLst>
                              <p:cond delay="500"/>
                            </p:stCondLst>
                            <p:childTnLst>
                              <p:par>
                                <p:cTn id="16" presetID="17" presetClass="entr" presetSubtype="8"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ppt_x</p:attrName>
                                        </p:attrNameLst>
                                      </p:cBhvr>
                                      <p:tavLst>
                                        <p:tav tm="0">
                                          <p:val>
                                            <p:strVal val="#ppt_x-#ppt_w/2"/>
                                          </p:val>
                                        </p:tav>
                                        <p:tav tm="100000">
                                          <p:val>
                                            <p:strVal val="#ppt_x"/>
                                          </p:val>
                                        </p:tav>
                                      </p:tavLst>
                                    </p:anim>
                                    <p:anim calcmode="lin" valueType="num">
                                      <p:cBhvr>
                                        <p:cTn id="19" dur="500" fill="hold"/>
                                        <p:tgtEl>
                                          <p:spTgt spid="4"/>
                                        </p:tgtEl>
                                        <p:attrNameLst>
                                          <p:attrName>ppt_y</p:attrName>
                                        </p:attrNameLst>
                                      </p:cBhvr>
                                      <p:tavLst>
                                        <p:tav tm="0">
                                          <p:val>
                                            <p:strVal val="#ppt_y"/>
                                          </p:val>
                                        </p:tav>
                                        <p:tav tm="100000">
                                          <p:val>
                                            <p:strVal val="#ppt_y"/>
                                          </p:val>
                                        </p:tav>
                                      </p:tavLst>
                                    </p:anim>
                                    <p:anim calcmode="lin" valueType="num">
                                      <p:cBhvr>
                                        <p:cTn id="20" dur="500" fill="hold"/>
                                        <p:tgtEl>
                                          <p:spTgt spid="4"/>
                                        </p:tgtEl>
                                        <p:attrNameLst>
                                          <p:attrName>ppt_w</p:attrName>
                                        </p:attrNameLst>
                                      </p:cBhvr>
                                      <p:tavLst>
                                        <p:tav tm="0">
                                          <p:val>
                                            <p:fltVal val="0"/>
                                          </p:val>
                                        </p:tav>
                                        <p:tav tm="100000">
                                          <p:val>
                                            <p:strVal val="#ppt_w"/>
                                          </p:val>
                                        </p:tav>
                                      </p:tavLst>
                                    </p:anim>
                                    <p:anim calcmode="lin" valueType="num">
                                      <p:cBhvr>
                                        <p:cTn id="21"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2258" name="Rectangle 2">
            <a:extLst>
              <a:ext uri="{FF2B5EF4-FFF2-40B4-BE49-F238E27FC236}">
                <a16:creationId xmlns:a16="http://schemas.microsoft.com/office/drawing/2014/main" id="{51E06159-075D-4FF8-B630-12496EF2D5B2}"/>
              </a:ext>
            </a:extLst>
          </p:cNvPr>
          <p:cNvSpPr>
            <a:spLocks noGrp="1" noChangeArrowheads="1"/>
          </p:cNvSpPr>
          <p:nvPr>
            <p:ph type="body" idx="1"/>
          </p:nvPr>
        </p:nvSpPr>
        <p:spPr>
          <a:xfrm>
            <a:off x="1199456" y="1782002"/>
            <a:ext cx="4178300" cy="2232272"/>
          </a:xfrm>
        </p:spPr>
        <p:txBody>
          <a:bodyPr/>
          <a:lstStyle/>
          <a:p>
            <a:pPr marL="263525" indent="-263525" algn="just" eaLnBrk="1" hangingPunct="1">
              <a:lnSpc>
                <a:spcPct val="120000"/>
              </a:lnSpc>
              <a:spcBef>
                <a:spcPts val="0"/>
              </a:spcBef>
              <a:buClr>
                <a:srgbClr val="99FF33"/>
              </a:buClr>
              <a:buFont typeface="Wingdings" panose="05000000000000000000" pitchFamily="2" charset="2"/>
              <a:buChar char="Ø"/>
            </a:pPr>
            <a:r>
              <a:rPr lang="zh-CN" altLang="en-US" sz="2800" b="0" dirty="0">
                <a:latin typeface="Times New Roman" panose="02020603050405020304" pitchFamily="18" charset="0"/>
                <a:ea typeface="黑体" panose="02010609060101010101" pitchFamily="49" charset="-122"/>
              </a:rPr>
              <a:t>当</a:t>
            </a:r>
            <a:r>
              <a:rPr lang="en-US" altLang="zh-CN" sz="2800" b="0" dirty="0">
                <a:solidFill>
                  <a:srgbClr val="0000CC"/>
                </a:solidFill>
                <a:latin typeface="Times New Roman" panose="02020603050405020304" pitchFamily="18" charset="0"/>
                <a:ea typeface="黑体" panose="02010609060101010101" pitchFamily="49" charset="-122"/>
              </a:rPr>
              <a:t>[S]</a:t>
            </a:r>
            <a:r>
              <a:rPr lang="zh-CN" altLang="en-US" sz="2800" b="0" dirty="0">
                <a:solidFill>
                  <a:srgbClr val="0000CC"/>
                </a:solidFill>
                <a:latin typeface="Times New Roman" panose="02020603050405020304" pitchFamily="18" charset="0"/>
                <a:ea typeface="黑体" panose="02010609060101010101" pitchFamily="49" charset="-122"/>
              </a:rPr>
              <a:t>＞＞</a:t>
            </a:r>
            <a:r>
              <a:rPr lang="en-US" altLang="zh-CN" sz="2800" b="0" dirty="0">
                <a:solidFill>
                  <a:srgbClr val="0000CC"/>
                </a:solidFill>
                <a:latin typeface="Times New Roman" panose="02020603050405020304" pitchFamily="18" charset="0"/>
                <a:ea typeface="黑体" panose="02010609060101010101" pitchFamily="49" charset="-122"/>
              </a:rPr>
              <a:t>[E]</a:t>
            </a:r>
            <a:r>
              <a:rPr lang="zh-CN" altLang="en-US" sz="2800" b="0" dirty="0">
                <a:latin typeface="Times New Roman" panose="02020603050405020304" pitchFamily="18" charset="0"/>
                <a:ea typeface="黑体" panose="02010609060101010101" pitchFamily="49" charset="-122"/>
              </a:rPr>
              <a:t>，酶可被底物饱和的情况下，反应速度与酶浓度</a:t>
            </a:r>
            <a:r>
              <a:rPr lang="zh-CN" altLang="en-US" sz="2800" b="0" dirty="0">
                <a:solidFill>
                  <a:srgbClr val="0000CC"/>
                </a:solidFill>
                <a:latin typeface="Times New Roman" panose="02020603050405020304" pitchFamily="18" charset="0"/>
                <a:ea typeface="黑体" panose="02010609060101010101" pitchFamily="49" charset="-122"/>
              </a:rPr>
              <a:t>成正比。</a:t>
            </a:r>
          </a:p>
          <a:p>
            <a:pPr marL="0" indent="0" algn="just" eaLnBrk="1" hangingPunct="1">
              <a:lnSpc>
                <a:spcPct val="120000"/>
              </a:lnSpc>
              <a:spcBef>
                <a:spcPts val="0"/>
              </a:spcBef>
              <a:buClr>
                <a:srgbClr val="99FF33"/>
              </a:buClr>
              <a:buNone/>
            </a:pPr>
            <a:r>
              <a:rPr lang="en-US" altLang="zh-CN" sz="2800" b="0" dirty="0">
                <a:solidFill>
                  <a:srgbClr val="0000CC"/>
                </a:solidFill>
                <a:latin typeface="Times New Roman" panose="02020603050405020304" pitchFamily="18" charset="0"/>
                <a:ea typeface="黑体" panose="02010609060101010101" pitchFamily="49" charset="-122"/>
              </a:rPr>
              <a:t>   Vmax = K</a:t>
            </a:r>
            <a:r>
              <a:rPr lang="en-US" altLang="zh-CN" sz="2800" b="0" baseline="-25000" dirty="0">
                <a:solidFill>
                  <a:srgbClr val="0000CC"/>
                </a:solidFill>
                <a:latin typeface="Times New Roman" panose="02020603050405020304" pitchFamily="18" charset="0"/>
                <a:ea typeface="黑体" panose="02010609060101010101" pitchFamily="49" charset="-122"/>
              </a:rPr>
              <a:t>3</a:t>
            </a:r>
            <a:r>
              <a:rPr lang="en-US" altLang="zh-CN" sz="2800" b="0" dirty="0">
                <a:solidFill>
                  <a:srgbClr val="0000CC"/>
                </a:solidFill>
                <a:latin typeface="Times New Roman" panose="02020603050405020304" pitchFamily="18" charset="0"/>
                <a:ea typeface="黑体" panose="02010609060101010101" pitchFamily="49" charset="-122"/>
              </a:rPr>
              <a:t> [E</a:t>
            </a:r>
            <a:r>
              <a:rPr lang="en-US" altLang="zh-CN" sz="2400" b="0" dirty="0">
                <a:solidFill>
                  <a:srgbClr val="0000CC"/>
                </a:solidFill>
                <a:latin typeface="Times New Roman" panose="02020603050405020304" pitchFamily="18" charset="0"/>
                <a:ea typeface="黑体" panose="02010609060101010101" pitchFamily="49" charset="-122"/>
              </a:rPr>
              <a:t>]</a:t>
            </a:r>
          </a:p>
        </p:txBody>
      </p:sp>
      <p:grpSp>
        <p:nvGrpSpPr>
          <p:cNvPr id="257027" name="Group 3">
            <a:extLst>
              <a:ext uri="{FF2B5EF4-FFF2-40B4-BE49-F238E27FC236}">
                <a16:creationId xmlns:a16="http://schemas.microsoft.com/office/drawing/2014/main" id="{E231B10D-B767-4A5B-B621-595DC2AE2016}"/>
              </a:ext>
            </a:extLst>
          </p:cNvPr>
          <p:cNvGrpSpPr>
            <a:grpSpLocks/>
          </p:cNvGrpSpPr>
          <p:nvPr/>
        </p:nvGrpSpPr>
        <p:grpSpPr bwMode="auto">
          <a:xfrm>
            <a:off x="6249194" y="1752188"/>
            <a:ext cx="4927490" cy="4269100"/>
            <a:chOff x="2699" y="1071"/>
            <a:chExt cx="3376" cy="2858"/>
          </a:xfrm>
        </p:grpSpPr>
        <p:sp>
          <p:nvSpPr>
            <p:cNvPr id="257029" name="Line 4">
              <a:extLst>
                <a:ext uri="{FF2B5EF4-FFF2-40B4-BE49-F238E27FC236}">
                  <a16:creationId xmlns:a16="http://schemas.microsoft.com/office/drawing/2014/main" id="{342B06BD-316C-426B-BE8D-007788B6A549}"/>
                </a:ext>
              </a:extLst>
            </p:cNvPr>
            <p:cNvSpPr>
              <a:spLocks noChangeShapeType="1"/>
            </p:cNvSpPr>
            <p:nvPr/>
          </p:nvSpPr>
          <p:spPr bwMode="auto">
            <a:xfrm>
              <a:off x="2932" y="1071"/>
              <a:ext cx="0" cy="1940"/>
            </a:xfrm>
            <a:prstGeom prst="line">
              <a:avLst/>
            </a:prstGeom>
            <a:noFill/>
            <a:ln w="19050">
              <a:solidFill>
                <a:srgbClr val="0000CC"/>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30" name="Line 5">
              <a:extLst>
                <a:ext uri="{FF2B5EF4-FFF2-40B4-BE49-F238E27FC236}">
                  <a16:creationId xmlns:a16="http://schemas.microsoft.com/office/drawing/2014/main" id="{6877CB25-6F3E-43AB-96F8-7EAED1249A19}"/>
                </a:ext>
              </a:extLst>
            </p:cNvPr>
            <p:cNvSpPr>
              <a:spLocks noChangeShapeType="1"/>
            </p:cNvSpPr>
            <p:nvPr/>
          </p:nvSpPr>
          <p:spPr bwMode="auto">
            <a:xfrm>
              <a:off x="2932" y="3011"/>
              <a:ext cx="2652" cy="0"/>
            </a:xfrm>
            <a:prstGeom prst="line">
              <a:avLst/>
            </a:prstGeom>
            <a:noFill/>
            <a:ln w="19050">
              <a:solidFill>
                <a:srgbClr val="0000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57031" name="Line 6">
              <a:extLst>
                <a:ext uri="{FF2B5EF4-FFF2-40B4-BE49-F238E27FC236}">
                  <a16:creationId xmlns:a16="http://schemas.microsoft.com/office/drawing/2014/main" id="{97EBA4E7-27A0-47A1-8206-A08967ACF0DD}"/>
                </a:ext>
              </a:extLst>
            </p:cNvPr>
            <p:cNvSpPr>
              <a:spLocks noChangeShapeType="1"/>
            </p:cNvSpPr>
            <p:nvPr/>
          </p:nvSpPr>
          <p:spPr bwMode="auto">
            <a:xfrm flipV="1">
              <a:off x="2932" y="1260"/>
              <a:ext cx="2373" cy="1751"/>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32" name="Text Box 7">
              <a:extLst>
                <a:ext uri="{FF2B5EF4-FFF2-40B4-BE49-F238E27FC236}">
                  <a16:creationId xmlns:a16="http://schemas.microsoft.com/office/drawing/2014/main" id="{BFDE9A9E-59BA-4CC6-B735-7449CC512CDA}"/>
                </a:ext>
              </a:extLst>
            </p:cNvPr>
            <p:cNvSpPr txBox="1">
              <a:spLocks noChangeArrowheads="1"/>
            </p:cNvSpPr>
            <p:nvPr/>
          </p:nvSpPr>
          <p:spPr bwMode="auto">
            <a:xfrm>
              <a:off x="2744" y="2932"/>
              <a:ext cx="337"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400">
                  <a:solidFill>
                    <a:srgbClr val="0000CC"/>
                  </a:solidFill>
                  <a:latin typeface="Times New Roman" panose="02020603050405020304" pitchFamily="18" charset="0"/>
                  <a:ea typeface="黑体" panose="02010609060101010101" pitchFamily="49" charset="-122"/>
                </a:rPr>
                <a:t>0 </a:t>
              </a:r>
              <a:r>
                <a:rPr kumimoji="1" lang="en-US" altLang="zh-CN" sz="2400">
                  <a:solidFill>
                    <a:srgbClr val="FFFFFF"/>
                  </a:solidFill>
                  <a:latin typeface="Times New Roman" panose="02020603050405020304" pitchFamily="18" charset="0"/>
                  <a:ea typeface="黑体" panose="02010609060101010101" pitchFamily="49" charset="-122"/>
                </a:rPr>
                <a:t> </a:t>
              </a:r>
            </a:p>
          </p:txBody>
        </p:sp>
        <p:sp>
          <p:nvSpPr>
            <p:cNvPr id="257033" name="Line 8">
              <a:extLst>
                <a:ext uri="{FF2B5EF4-FFF2-40B4-BE49-F238E27FC236}">
                  <a16:creationId xmlns:a16="http://schemas.microsoft.com/office/drawing/2014/main" id="{E839071A-A3D6-48C9-B608-E6D2F0E69095}"/>
                </a:ext>
              </a:extLst>
            </p:cNvPr>
            <p:cNvSpPr>
              <a:spLocks noChangeShapeType="1"/>
            </p:cNvSpPr>
            <p:nvPr/>
          </p:nvSpPr>
          <p:spPr bwMode="auto">
            <a:xfrm>
              <a:off x="2943" y="1296"/>
              <a:ext cx="47"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34" name="Line 9">
              <a:extLst>
                <a:ext uri="{FF2B5EF4-FFF2-40B4-BE49-F238E27FC236}">
                  <a16:creationId xmlns:a16="http://schemas.microsoft.com/office/drawing/2014/main" id="{BB5889E5-6EFD-4B2F-B525-ED261922E2CE}"/>
                </a:ext>
              </a:extLst>
            </p:cNvPr>
            <p:cNvSpPr>
              <a:spLocks noChangeShapeType="1"/>
            </p:cNvSpPr>
            <p:nvPr/>
          </p:nvSpPr>
          <p:spPr bwMode="auto">
            <a:xfrm>
              <a:off x="2943" y="1639"/>
              <a:ext cx="47"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35" name="Line 10">
              <a:extLst>
                <a:ext uri="{FF2B5EF4-FFF2-40B4-BE49-F238E27FC236}">
                  <a16:creationId xmlns:a16="http://schemas.microsoft.com/office/drawing/2014/main" id="{E9D5EC96-4E5C-477E-A3B4-2208EF9C4889}"/>
                </a:ext>
              </a:extLst>
            </p:cNvPr>
            <p:cNvSpPr>
              <a:spLocks noChangeShapeType="1"/>
            </p:cNvSpPr>
            <p:nvPr/>
          </p:nvSpPr>
          <p:spPr bwMode="auto">
            <a:xfrm>
              <a:off x="2943" y="1993"/>
              <a:ext cx="47"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36" name="Line 11">
              <a:extLst>
                <a:ext uri="{FF2B5EF4-FFF2-40B4-BE49-F238E27FC236}">
                  <a16:creationId xmlns:a16="http://schemas.microsoft.com/office/drawing/2014/main" id="{CABFD53A-A274-4A46-8EC5-44E745C2DE70}"/>
                </a:ext>
              </a:extLst>
            </p:cNvPr>
            <p:cNvSpPr>
              <a:spLocks noChangeShapeType="1"/>
            </p:cNvSpPr>
            <p:nvPr/>
          </p:nvSpPr>
          <p:spPr bwMode="auto">
            <a:xfrm>
              <a:off x="2943" y="2336"/>
              <a:ext cx="47"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37" name="Line 12">
              <a:extLst>
                <a:ext uri="{FF2B5EF4-FFF2-40B4-BE49-F238E27FC236}">
                  <a16:creationId xmlns:a16="http://schemas.microsoft.com/office/drawing/2014/main" id="{B6986666-1758-4DD5-BA01-30D5E9AE9477}"/>
                </a:ext>
              </a:extLst>
            </p:cNvPr>
            <p:cNvSpPr>
              <a:spLocks noChangeShapeType="1"/>
            </p:cNvSpPr>
            <p:nvPr/>
          </p:nvSpPr>
          <p:spPr bwMode="auto">
            <a:xfrm>
              <a:off x="2943" y="2668"/>
              <a:ext cx="47"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38" name="Line 13">
              <a:extLst>
                <a:ext uri="{FF2B5EF4-FFF2-40B4-BE49-F238E27FC236}">
                  <a16:creationId xmlns:a16="http://schemas.microsoft.com/office/drawing/2014/main" id="{9B5C3C26-7C1F-495C-9DA2-352622B298A5}"/>
                </a:ext>
              </a:extLst>
            </p:cNvPr>
            <p:cNvSpPr>
              <a:spLocks noChangeShapeType="1"/>
            </p:cNvSpPr>
            <p:nvPr/>
          </p:nvSpPr>
          <p:spPr bwMode="auto">
            <a:xfrm>
              <a:off x="5340" y="2963"/>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39" name="Line 14">
              <a:extLst>
                <a:ext uri="{FF2B5EF4-FFF2-40B4-BE49-F238E27FC236}">
                  <a16:creationId xmlns:a16="http://schemas.microsoft.com/office/drawing/2014/main" id="{36F91672-5564-4A7B-886E-B97CADE01FD5}"/>
                </a:ext>
              </a:extLst>
            </p:cNvPr>
            <p:cNvSpPr>
              <a:spLocks noChangeShapeType="1"/>
            </p:cNvSpPr>
            <p:nvPr/>
          </p:nvSpPr>
          <p:spPr bwMode="auto">
            <a:xfrm>
              <a:off x="5014" y="2963"/>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40" name="Line 15">
              <a:extLst>
                <a:ext uri="{FF2B5EF4-FFF2-40B4-BE49-F238E27FC236}">
                  <a16:creationId xmlns:a16="http://schemas.microsoft.com/office/drawing/2014/main" id="{6123438E-D8D1-44F5-99EB-085061B972CB}"/>
                </a:ext>
              </a:extLst>
            </p:cNvPr>
            <p:cNvSpPr>
              <a:spLocks noChangeShapeType="1"/>
            </p:cNvSpPr>
            <p:nvPr/>
          </p:nvSpPr>
          <p:spPr bwMode="auto">
            <a:xfrm>
              <a:off x="4665" y="2963"/>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41" name="Line 16">
              <a:extLst>
                <a:ext uri="{FF2B5EF4-FFF2-40B4-BE49-F238E27FC236}">
                  <a16:creationId xmlns:a16="http://schemas.microsoft.com/office/drawing/2014/main" id="{25899378-DEE7-498E-8781-C756A517D999}"/>
                </a:ext>
              </a:extLst>
            </p:cNvPr>
            <p:cNvSpPr>
              <a:spLocks noChangeShapeType="1"/>
            </p:cNvSpPr>
            <p:nvPr/>
          </p:nvSpPr>
          <p:spPr bwMode="auto">
            <a:xfrm>
              <a:off x="4328" y="2963"/>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42" name="Line 17">
              <a:extLst>
                <a:ext uri="{FF2B5EF4-FFF2-40B4-BE49-F238E27FC236}">
                  <a16:creationId xmlns:a16="http://schemas.microsoft.com/office/drawing/2014/main" id="{99D6040D-12EC-49BC-827B-C24CA3FB696C}"/>
                </a:ext>
              </a:extLst>
            </p:cNvPr>
            <p:cNvSpPr>
              <a:spLocks noChangeShapeType="1"/>
            </p:cNvSpPr>
            <p:nvPr/>
          </p:nvSpPr>
          <p:spPr bwMode="auto">
            <a:xfrm>
              <a:off x="3979" y="2963"/>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43" name="Line 18">
              <a:extLst>
                <a:ext uri="{FF2B5EF4-FFF2-40B4-BE49-F238E27FC236}">
                  <a16:creationId xmlns:a16="http://schemas.microsoft.com/office/drawing/2014/main" id="{6C22315A-6285-497A-B943-ABD7B32A3682}"/>
                </a:ext>
              </a:extLst>
            </p:cNvPr>
            <p:cNvSpPr>
              <a:spLocks noChangeShapeType="1"/>
            </p:cNvSpPr>
            <p:nvPr/>
          </p:nvSpPr>
          <p:spPr bwMode="auto">
            <a:xfrm>
              <a:off x="3641" y="2963"/>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44" name="Line 19">
              <a:extLst>
                <a:ext uri="{FF2B5EF4-FFF2-40B4-BE49-F238E27FC236}">
                  <a16:creationId xmlns:a16="http://schemas.microsoft.com/office/drawing/2014/main" id="{D2AB1CBB-54BB-4E6C-A356-66E0414CE4BC}"/>
                </a:ext>
              </a:extLst>
            </p:cNvPr>
            <p:cNvSpPr>
              <a:spLocks noChangeShapeType="1"/>
            </p:cNvSpPr>
            <p:nvPr/>
          </p:nvSpPr>
          <p:spPr bwMode="auto">
            <a:xfrm>
              <a:off x="3292" y="2963"/>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7045" name="Text Box 20">
              <a:extLst>
                <a:ext uri="{FF2B5EF4-FFF2-40B4-BE49-F238E27FC236}">
                  <a16:creationId xmlns:a16="http://schemas.microsoft.com/office/drawing/2014/main" id="{7C733539-B393-4C6C-850E-CADF88C8B531}"/>
                </a:ext>
              </a:extLst>
            </p:cNvPr>
            <p:cNvSpPr txBox="1">
              <a:spLocks noChangeArrowheads="1"/>
            </p:cNvSpPr>
            <p:nvPr/>
          </p:nvSpPr>
          <p:spPr bwMode="auto">
            <a:xfrm>
              <a:off x="2699" y="1099"/>
              <a:ext cx="32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400">
                  <a:solidFill>
                    <a:srgbClr val="0000CC"/>
                  </a:solidFill>
                  <a:latin typeface="Times New Roman" panose="02020603050405020304" pitchFamily="18" charset="0"/>
                  <a:ea typeface="黑体" panose="02010609060101010101" pitchFamily="49" charset="-122"/>
                </a:rPr>
                <a:t>V </a:t>
              </a:r>
            </a:p>
          </p:txBody>
        </p:sp>
        <p:sp>
          <p:nvSpPr>
            <p:cNvPr id="257046" name="Text Box 21">
              <a:extLst>
                <a:ext uri="{FF2B5EF4-FFF2-40B4-BE49-F238E27FC236}">
                  <a16:creationId xmlns:a16="http://schemas.microsoft.com/office/drawing/2014/main" id="{D275D7D8-4917-4CD6-BB2F-1E902A23C272}"/>
                </a:ext>
              </a:extLst>
            </p:cNvPr>
            <p:cNvSpPr txBox="1">
              <a:spLocks noChangeArrowheads="1"/>
            </p:cNvSpPr>
            <p:nvPr/>
          </p:nvSpPr>
          <p:spPr bwMode="auto">
            <a:xfrm>
              <a:off x="5072" y="2980"/>
              <a:ext cx="501"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400">
                  <a:solidFill>
                    <a:srgbClr val="0000CC"/>
                  </a:solidFill>
                  <a:latin typeface="Times New Roman" panose="02020603050405020304" pitchFamily="18" charset="0"/>
                  <a:ea typeface="黑体" panose="02010609060101010101" pitchFamily="49" charset="-122"/>
                </a:rPr>
                <a:t>[E]</a:t>
              </a:r>
              <a:r>
                <a:rPr kumimoji="1" lang="en-US" altLang="zh-CN" sz="2400">
                  <a:solidFill>
                    <a:srgbClr val="FFFFFF"/>
                  </a:solidFill>
                  <a:latin typeface="Times New Roman" panose="02020603050405020304" pitchFamily="18" charset="0"/>
                  <a:ea typeface="黑体" panose="02010609060101010101" pitchFamily="49" charset="-122"/>
                </a:rPr>
                <a:t>  </a:t>
              </a:r>
            </a:p>
          </p:txBody>
        </p:sp>
        <p:sp>
          <p:nvSpPr>
            <p:cNvPr id="257047" name="Text Box 22">
              <a:extLst>
                <a:ext uri="{FF2B5EF4-FFF2-40B4-BE49-F238E27FC236}">
                  <a16:creationId xmlns:a16="http://schemas.microsoft.com/office/drawing/2014/main" id="{4373F54B-2F3A-4882-AA6A-0FA0677D6D92}"/>
                </a:ext>
              </a:extLst>
            </p:cNvPr>
            <p:cNvSpPr txBox="1">
              <a:spLocks noChangeArrowheads="1"/>
            </p:cNvSpPr>
            <p:nvPr/>
          </p:nvSpPr>
          <p:spPr bwMode="auto">
            <a:xfrm>
              <a:off x="3149" y="3278"/>
              <a:ext cx="127"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kumimoji="1" lang="zh-CN" altLang="zh-CN" sz="2000" b="1">
                <a:solidFill>
                  <a:srgbClr val="FFFF00"/>
                </a:solidFill>
                <a:latin typeface="Times New Roman" panose="02020603050405020304" pitchFamily="18" charset="0"/>
                <a:ea typeface="黑体" panose="02010609060101010101" pitchFamily="49" charset="-122"/>
              </a:endParaRPr>
            </a:p>
          </p:txBody>
        </p:sp>
        <p:sp>
          <p:nvSpPr>
            <p:cNvPr id="257048" name="Text Box 23">
              <a:extLst>
                <a:ext uri="{FF2B5EF4-FFF2-40B4-BE49-F238E27FC236}">
                  <a16:creationId xmlns:a16="http://schemas.microsoft.com/office/drawing/2014/main" id="{7F62A6B3-A825-4F03-9CBB-373C30F14BDE}"/>
                </a:ext>
              </a:extLst>
            </p:cNvPr>
            <p:cNvSpPr txBox="1">
              <a:spLocks noChangeArrowheads="1"/>
            </p:cNvSpPr>
            <p:nvPr/>
          </p:nvSpPr>
          <p:spPr bwMode="auto">
            <a:xfrm>
              <a:off x="3107" y="3579"/>
              <a:ext cx="296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b="1" dirty="0">
                  <a:solidFill>
                    <a:srgbClr val="0000CC"/>
                  </a:solidFill>
                  <a:latin typeface="Times New Roman" panose="02020603050405020304" pitchFamily="18" charset="0"/>
                  <a:ea typeface="黑体" panose="02010609060101010101" pitchFamily="49" charset="-122"/>
                </a:rPr>
                <a:t>酶浓度对反应速度的影响</a:t>
              </a:r>
              <a:r>
                <a:rPr kumimoji="1" lang="zh-CN" altLang="en-US" sz="2800" b="1" dirty="0">
                  <a:solidFill>
                    <a:srgbClr val="FFFFFF"/>
                  </a:solidFill>
                  <a:latin typeface="Times New Roman" panose="02020603050405020304" pitchFamily="18" charset="0"/>
                  <a:ea typeface="黑体" panose="02010609060101010101" pitchFamily="49" charset="-122"/>
                </a:rPr>
                <a:t>  </a:t>
              </a:r>
            </a:p>
          </p:txBody>
        </p:sp>
      </p:grpSp>
      <p:sp>
        <p:nvSpPr>
          <p:cNvPr id="257028" name="AutoShape 24">
            <a:extLst>
              <a:ext uri="{FF2B5EF4-FFF2-40B4-BE49-F238E27FC236}">
                <a16:creationId xmlns:a16="http://schemas.microsoft.com/office/drawing/2014/main" id="{71BDB5B8-7154-4391-B363-40ED30132458}"/>
              </a:ext>
            </a:extLst>
          </p:cNvPr>
          <p:cNvSpPr>
            <a:spLocks noChangeArrowheads="1"/>
          </p:cNvSpPr>
          <p:nvPr/>
        </p:nvSpPr>
        <p:spPr bwMode="auto">
          <a:xfrm>
            <a:off x="2711450" y="620713"/>
            <a:ext cx="5905500" cy="647700"/>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b="1">
                <a:solidFill>
                  <a:schemeClr val="bg1"/>
                </a:solidFill>
                <a:latin typeface="Times New Roman" panose="02020603050405020304" pitchFamily="18" charset="0"/>
                <a:ea typeface="黑体" panose="02010609060101010101" pitchFamily="49" charset="-122"/>
              </a:rPr>
              <a:t>二、酶浓度对反应速度的影响</a:t>
            </a:r>
          </a:p>
        </p:txBody>
      </p:sp>
      <p:sp>
        <p:nvSpPr>
          <p:cNvPr id="3" name="文本框 2">
            <a:extLst>
              <a:ext uri="{FF2B5EF4-FFF2-40B4-BE49-F238E27FC236}">
                <a16:creationId xmlns:a16="http://schemas.microsoft.com/office/drawing/2014/main" id="{C66FB91B-B0F5-9BF8-7BA1-C17195ECE3A7}"/>
              </a:ext>
            </a:extLst>
          </p:cNvPr>
          <p:cNvSpPr txBox="1"/>
          <p:nvPr/>
        </p:nvSpPr>
        <p:spPr>
          <a:xfrm>
            <a:off x="1124561" y="4217673"/>
            <a:ext cx="4882344" cy="1815882"/>
          </a:xfrm>
          <a:prstGeom prst="rect">
            <a:avLst/>
          </a:prstGeom>
          <a:noFill/>
        </p:spPr>
        <p:txBody>
          <a:bodyPr wrap="square">
            <a:spAutoFit/>
          </a:bodyPr>
          <a:lstStyle/>
          <a:p>
            <a:pPr marL="342900" indent="-342900">
              <a:buFont typeface="Wingdings" panose="05000000000000000000" pitchFamily="2" charset="2"/>
              <a:buChar char="Ø"/>
            </a:pPr>
            <a:r>
              <a:rPr lang="zh-CN" altLang="en-US" sz="2800" dirty="0">
                <a:latin typeface="Times New Roman" panose="02020603050405020304" pitchFamily="18" charset="0"/>
                <a:ea typeface="黑体" panose="02010609060101010101" pitchFamily="49" charset="-122"/>
              </a:rPr>
              <a:t>生物体内酶的含量通常远低于相应底物的含量，所以，改变酶的含量可以明显影响酶促反应速度。</a:t>
            </a:r>
            <a:endParaRPr lang="en-US" altLang="zh-CN" sz="2800" dirty="0">
              <a:latin typeface="Times New Roman" panose="02020603050405020304" pitchFamily="18" charset="0"/>
              <a:ea typeface="黑体" panose="02010609060101010101" pitchFamily="49"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92258">
                                            <p:txEl>
                                              <p:pRg st="1" end="1"/>
                                            </p:txEl>
                                          </p:spTgt>
                                        </p:tgtEl>
                                        <p:attrNameLst>
                                          <p:attrName>style.visibility</p:attrName>
                                        </p:attrNameLst>
                                      </p:cBhvr>
                                      <p:to>
                                        <p:strVal val="visible"/>
                                      </p:to>
                                    </p:set>
                                    <p:animEffect transition="in" filter="dissolve">
                                      <p:cBhvr>
                                        <p:cTn id="7" dur="500"/>
                                        <p:tgtEl>
                                          <p:spTgt spid="99225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2258" grpId="0" uiExpand="1" build="p"/>
      <p:bldP spid="3" grpId="0"/>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4307" name="Rectangle 3">
            <a:extLst>
              <a:ext uri="{FF2B5EF4-FFF2-40B4-BE49-F238E27FC236}">
                <a16:creationId xmlns:a16="http://schemas.microsoft.com/office/drawing/2014/main" id="{1F1B6C3A-4003-4CE9-B269-D0BDF3E51FD9}"/>
              </a:ext>
            </a:extLst>
          </p:cNvPr>
          <p:cNvSpPr>
            <a:spLocks noChangeArrowheads="1"/>
          </p:cNvSpPr>
          <p:nvPr/>
        </p:nvSpPr>
        <p:spPr bwMode="auto">
          <a:xfrm>
            <a:off x="407369" y="1816800"/>
            <a:ext cx="5722364" cy="2579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179388" indent="719138">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20000"/>
              </a:lnSpc>
              <a:spcBef>
                <a:spcPct val="0"/>
              </a:spcBef>
              <a:buClr>
                <a:schemeClr val="tx2"/>
              </a:buClr>
              <a:buSzPct val="75000"/>
              <a:buNone/>
            </a:pPr>
            <a:r>
              <a:rPr kumimoji="1" lang="zh-CN" altLang="en-US" sz="2800" dirty="0">
                <a:solidFill>
                  <a:schemeClr val="tx2"/>
                </a:solidFill>
                <a:latin typeface="Times New Roman" panose="02020603050405020304" pitchFamily="18" charset="0"/>
                <a:ea typeface="黑体" panose="02010609060101010101" pitchFamily="49" charset="-122"/>
              </a:rPr>
              <a:t>最适温度</a:t>
            </a:r>
            <a:r>
              <a:rPr kumimoji="1" lang="zh-CN" altLang="en-US" sz="2400" dirty="0">
                <a:solidFill>
                  <a:schemeClr val="tx2"/>
                </a:solidFill>
                <a:latin typeface="Times New Roman" panose="02020603050405020304" pitchFamily="18" charset="0"/>
                <a:ea typeface="黑体" panose="02010609060101010101" pitchFamily="49" charset="-122"/>
              </a:rPr>
              <a:t> </a:t>
            </a:r>
            <a:r>
              <a:rPr kumimoji="1" lang="en-US" altLang="zh-CN" sz="2400" dirty="0">
                <a:solidFill>
                  <a:schemeClr val="tx2"/>
                </a:solidFill>
                <a:latin typeface="Times New Roman" panose="02020603050405020304" pitchFamily="18" charset="0"/>
                <a:ea typeface="黑体" panose="02010609060101010101" pitchFamily="49" charset="-122"/>
              </a:rPr>
              <a:t>(optimum temperature)</a:t>
            </a:r>
            <a:r>
              <a:rPr kumimoji="1" lang="zh-CN" altLang="en-US" sz="2800" dirty="0">
                <a:solidFill>
                  <a:schemeClr val="tx2"/>
                </a:solidFill>
                <a:latin typeface="Times New Roman" panose="02020603050405020304" pitchFamily="18" charset="0"/>
                <a:ea typeface="黑体" panose="02010609060101010101" pitchFamily="49" charset="-122"/>
              </a:rPr>
              <a:t>：   </a:t>
            </a:r>
            <a:endParaRPr kumimoji="1" lang="en-US" altLang="zh-CN" sz="2800" dirty="0">
              <a:solidFill>
                <a:schemeClr val="tx2"/>
              </a:solidFill>
              <a:latin typeface="Times New Roman" panose="02020603050405020304" pitchFamily="18" charset="0"/>
              <a:ea typeface="黑体" panose="02010609060101010101" pitchFamily="49" charset="-122"/>
            </a:endParaRPr>
          </a:p>
          <a:p>
            <a:pPr marL="342900" indent="-342900" eaLnBrk="1" hangingPunct="1">
              <a:spcBef>
                <a:spcPct val="0"/>
              </a:spcBef>
              <a:buClr>
                <a:schemeClr val="tx2"/>
              </a:buClr>
              <a:buSzPct val="75000"/>
            </a:pPr>
            <a:r>
              <a:rPr kumimoji="1" lang="zh-CN" altLang="en-US" sz="2400" dirty="0">
                <a:solidFill>
                  <a:srgbClr val="0000CC"/>
                </a:solidFill>
                <a:latin typeface="Times New Roman" panose="02020603050405020304" pitchFamily="18" charset="0"/>
                <a:ea typeface="黑体" panose="02010609060101010101" pitchFamily="49" charset="-122"/>
              </a:rPr>
              <a:t>酶促反应速度最快时的环境温度</a:t>
            </a:r>
            <a:endParaRPr kumimoji="1" lang="en-US" altLang="zh-CN" sz="2400" dirty="0">
              <a:solidFill>
                <a:srgbClr val="0000CC"/>
              </a:solidFill>
              <a:latin typeface="Times New Roman" panose="02020603050405020304" pitchFamily="18" charset="0"/>
              <a:ea typeface="黑体" panose="02010609060101010101" pitchFamily="49" charset="-122"/>
            </a:endParaRPr>
          </a:p>
          <a:p>
            <a:pPr marL="342900" indent="-342900" eaLnBrk="1" hangingPunct="1">
              <a:spcBef>
                <a:spcPct val="0"/>
              </a:spcBef>
              <a:buClr>
                <a:schemeClr val="tx2"/>
              </a:buClr>
              <a:buSzPct val="75000"/>
            </a:pPr>
            <a:r>
              <a:rPr kumimoji="1" lang="zh-CN" altLang="en-US" sz="2400" dirty="0">
                <a:latin typeface="Times New Roman" panose="02020603050405020304" pitchFamily="18" charset="0"/>
                <a:ea typeface="黑体" panose="02010609060101010101" pitchFamily="49" charset="-122"/>
              </a:rPr>
              <a:t>与反应时间有关，酶可以在短时间内耐受较高的温度，延长反应时间，最适温度会降低。故</a:t>
            </a:r>
            <a:r>
              <a:rPr kumimoji="1" lang="zh-CN" altLang="en-US" sz="2400" dirty="0">
                <a:solidFill>
                  <a:srgbClr val="C00000"/>
                </a:solidFill>
                <a:latin typeface="Times New Roman" panose="02020603050405020304" pitchFamily="18" charset="0"/>
                <a:ea typeface="黑体" panose="02010609060101010101" pitchFamily="49" charset="-122"/>
              </a:rPr>
              <a:t>不是酶的特征性常数</a:t>
            </a:r>
            <a:r>
              <a:rPr kumimoji="1" lang="zh-CN" altLang="en-US" sz="2400" dirty="0">
                <a:solidFill>
                  <a:srgbClr val="0000CC"/>
                </a:solidFill>
                <a:latin typeface="Times New Roman" panose="02020603050405020304" pitchFamily="18" charset="0"/>
                <a:ea typeface="黑体" panose="02010609060101010101" pitchFamily="49" charset="-122"/>
              </a:rPr>
              <a:t>。</a:t>
            </a:r>
          </a:p>
        </p:txBody>
      </p:sp>
      <p:grpSp>
        <p:nvGrpSpPr>
          <p:cNvPr id="2" name="Group 5">
            <a:extLst>
              <a:ext uri="{FF2B5EF4-FFF2-40B4-BE49-F238E27FC236}">
                <a16:creationId xmlns:a16="http://schemas.microsoft.com/office/drawing/2014/main" id="{D762D487-437C-452A-A3B3-FB715EF5263E}"/>
              </a:ext>
            </a:extLst>
          </p:cNvPr>
          <p:cNvGrpSpPr>
            <a:grpSpLocks/>
          </p:cNvGrpSpPr>
          <p:nvPr/>
        </p:nvGrpSpPr>
        <p:grpSpPr bwMode="auto">
          <a:xfrm>
            <a:off x="6744072" y="1582381"/>
            <a:ext cx="4714986" cy="4840089"/>
            <a:chOff x="2892" y="709"/>
            <a:chExt cx="3518" cy="3365"/>
          </a:xfrm>
        </p:grpSpPr>
        <p:sp>
          <p:nvSpPr>
            <p:cNvPr id="259079" name="Freeform 6">
              <a:extLst>
                <a:ext uri="{FF2B5EF4-FFF2-40B4-BE49-F238E27FC236}">
                  <a16:creationId xmlns:a16="http://schemas.microsoft.com/office/drawing/2014/main" id="{7435698D-9AF8-495E-A788-EC436156EFEA}"/>
                </a:ext>
              </a:extLst>
            </p:cNvPr>
            <p:cNvSpPr>
              <a:spLocks/>
            </p:cNvSpPr>
            <p:nvPr/>
          </p:nvSpPr>
          <p:spPr bwMode="auto">
            <a:xfrm rot="-1164865">
              <a:off x="3175" y="1039"/>
              <a:ext cx="1920" cy="1600"/>
            </a:xfrm>
            <a:custGeom>
              <a:avLst/>
              <a:gdLst>
                <a:gd name="T0" fmla="*/ 4 w 2184"/>
                <a:gd name="T1" fmla="*/ 1 h 2144"/>
                <a:gd name="T2" fmla="*/ 4 w 2184"/>
                <a:gd name="T3" fmla="*/ 1 h 2144"/>
                <a:gd name="T4" fmla="*/ 4 w 2184"/>
                <a:gd name="T5" fmla="*/ 1 h 2144"/>
                <a:gd name="T6" fmla="*/ 0 w 2184"/>
                <a:gd name="T7" fmla="*/ 1 h 2144"/>
                <a:gd name="T8" fmla="*/ 0 60000 65536"/>
                <a:gd name="T9" fmla="*/ 0 60000 65536"/>
                <a:gd name="T10" fmla="*/ 0 60000 65536"/>
                <a:gd name="T11" fmla="*/ 0 60000 65536"/>
                <a:gd name="T12" fmla="*/ 0 w 2184"/>
                <a:gd name="T13" fmla="*/ 0 h 2144"/>
                <a:gd name="T14" fmla="*/ 2184 w 2184"/>
                <a:gd name="T15" fmla="*/ 2144 h 2144"/>
              </a:gdLst>
              <a:ahLst/>
              <a:cxnLst>
                <a:cxn ang="T8">
                  <a:pos x="T0" y="T1"/>
                </a:cxn>
                <a:cxn ang="T9">
                  <a:pos x="T2" y="T3"/>
                </a:cxn>
                <a:cxn ang="T10">
                  <a:pos x="T4" y="T5"/>
                </a:cxn>
                <a:cxn ang="T11">
                  <a:pos x="T6" y="T7"/>
                </a:cxn>
              </a:cxnLst>
              <a:rect l="T12" t="T13" r="T14" b="T15"/>
              <a:pathLst>
                <a:path w="2184" h="2144">
                  <a:moveTo>
                    <a:pt x="1968" y="1696"/>
                  </a:moveTo>
                  <a:cubicBezTo>
                    <a:pt x="2076" y="848"/>
                    <a:pt x="2184" y="0"/>
                    <a:pt x="1968" y="16"/>
                  </a:cubicBezTo>
                  <a:cubicBezTo>
                    <a:pt x="1752" y="32"/>
                    <a:pt x="1000" y="1440"/>
                    <a:pt x="672" y="1792"/>
                  </a:cubicBezTo>
                  <a:cubicBezTo>
                    <a:pt x="344" y="2144"/>
                    <a:pt x="112" y="2072"/>
                    <a:pt x="0" y="2128"/>
                  </a:cubicBezTo>
                </a:path>
              </a:pathLst>
            </a:custGeom>
            <a:noFill/>
            <a:ln w="38100">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59080" name="Line 7">
              <a:extLst>
                <a:ext uri="{FF2B5EF4-FFF2-40B4-BE49-F238E27FC236}">
                  <a16:creationId xmlns:a16="http://schemas.microsoft.com/office/drawing/2014/main" id="{A2B7CC07-A5AD-47C5-B8A1-00C802CE0398}"/>
                </a:ext>
              </a:extLst>
            </p:cNvPr>
            <p:cNvSpPr>
              <a:spLocks noChangeShapeType="1"/>
            </p:cNvSpPr>
            <p:nvPr/>
          </p:nvSpPr>
          <p:spPr bwMode="auto">
            <a:xfrm>
              <a:off x="3484" y="769"/>
              <a:ext cx="0" cy="2400"/>
            </a:xfrm>
            <a:prstGeom prst="line">
              <a:avLst/>
            </a:prstGeom>
            <a:noFill/>
            <a:ln w="19050">
              <a:solidFill>
                <a:srgbClr val="0000CC"/>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081" name="Line 8">
              <a:extLst>
                <a:ext uri="{FF2B5EF4-FFF2-40B4-BE49-F238E27FC236}">
                  <a16:creationId xmlns:a16="http://schemas.microsoft.com/office/drawing/2014/main" id="{8B556B02-4467-4688-98D2-ABD82B7D60FD}"/>
                </a:ext>
              </a:extLst>
            </p:cNvPr>
            <p:cNvSpPr>
              <a:spLocks noChangeShapeType="1"/>
            </p:cNvSpPr>
            <p:nvPr/>
          </p:nvSpPr>
          <p:spPr bwMode="auto">
            <a:xfrm>
              <a:off x="3484" y="3169"/>
              <a:ext cx="2016" cy="0"/>
            </a:xfrm>
            <a:prstGeom prst="line">
              <a:avLst/>
            </a:prstGeom>
            <a:noFill/>
            <a:ln w="19050">
              <a:solidFill>
                <a:srgbClr val="0000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59082" name="AutoShape 9">
              <a:extLst>
                <a:ext uri="{FF2B5EF4-FFF2-40B4-BE49-F238E27FC236}">
                  <a16:creationId xmlns:a16="http://schemas.microsoft.com/office/drawing/2014/main" id="{86DB620B-30D6-484E-960F-C823E3623856}"/>
                </a:ext>
              </a:extLst>
            </p:cNvPr>
            <p:cNvSpPr>
              <a:spLocks noChangeArrowheads="1"/>
            </p:cNvSpPr>
            <p:nvPr/>
          </p:nvSpPr>
          <p:spPr bwMode="auto">
            <a:xfrm>
              <a:off x="5044" y="2209"/>
              <a:ext cx="48" cy="48"/>
            </a:xfrm>
            <a:prstGeom prst="flowChartConnector">
              <a:avLst/>
            </a:prstGeom>
            <a:solidFill>
              <a:srgbClr val="FF0066"/>
            </a:solidFill>
            <a:ln w="9525">
              <a:solidFill>
                <a:srgbClr val="0000CC"/>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59083" name="AutoShape 10">
              <a:extLst>
                <a:ext uri="{FF2B5EF4-FFF2-40B4-BE49-F238E27FC236}">
                  <a16:creationId xmlns:a16="http://schemas.microsoft.com/office/drawing/2014/main" id="{5CC37BD0-C272-4AD9-9E0E-28CC6E8EA797}"/>
                </a:ext>
              </a:extLst>
            </p:cNvPr>
            <p:cNvSpPr>
              <a:spLocks noChangeArrowheads="1"/>
            </p:cNvSpPr>
            <p:nvPr/>
          </p:nvSpPr>
          <p:spPr bwMode="auto">
            <a:xfrm>
              <a:off x="4804" y="1153"/>
              <a:ext cx="48" cy="48"/>
            </a:xfrm>
            <a:prstGeom prst="flowChartConnector">
              <a:avLst/>
            </a:prstGeom>
            <a:solidFill>
              <a:srgbClr val="FF0066"/>
            </a:solidFill>
            <a:ln w="9525">
              <a:solidFill>
                <a:srgbClr val="0000CC"/>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59084" name="AutoShape 11">
              <a:extLst>
                <a:ext uri="{FF2B5EF4-FFF2-40B4-BE49-F238E27FC236}">
                  <a16:creationId xmlns:a16="http://schemas.microsoft.com/office/drawing/2014/main" id="{0F17F2DD-B3CF-44F6-A6A3-21D066939CCB}"/>
                </a:ext>
              </a:extLst>
            </p:cNvPr>
            <p:cNvSpPr>
              <a:spLocks noChangeArrowheads="1"/>
            </p:cNvSpPr>
            <p:nvPr/>
          </p:nvSpPr>
          <p:spPr bwMode="auto">
            <a:xfrm>
              <a:off x="4588" y="817"/>
              <a:ext cx="48" cy="48"/>
            </a:xfrm>
            <a:prstGeom prst="flowChartConnector">
              <a:avLst/>
            </a:prstGeom>
            <a:solidFill>
              <a:srgbClr val="FF0066"/>
            </a:solidFill>
            <a:ln w="9525">
              <a:solidFill>
                <a:srgbClr val="0000CC"/>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59085" name="AutoShape 12">
              <a:extLst>
                <a:ext uri="{FF2B5EF4-FFF2-40B4-BE49-F238E27FC236}">
                  <a16:creationId xmlns:a16="http://schemas.microsoft.com/office/drawing/2014/main" id="{371DCC2F-A133-4A8F-9893-0976755D1225}"/>
                </a:ext>
              </a:extLst>
            </p:cNvPr>
            <p:cNvSpPr>
              <a:spLocks noChangeArrowheads="1"/>
            </p:cNvSpPr>
            <p:nvPr/>
          </p:nvSpPr>
          <p:spPr bwMode="auto">
            <a:xfrm>
              <a:off x="4468" y="973"/>
              <a:ext cx="48" cy="48"/>
            </a:xfrm>
            <a:prstGeom prst="flowChartConnector">
              <a:avLst/>
            </a:prstGeom>
            <a:solidFill>
              <a:srgbClr val="FF0066"/>
            </a:solidFill>
            <a:ln w="9525">
              <a:solidFill>
                <a:srgbClr val="0000CC"/>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59086" name="AutoShape 13">
              <a:extLst>
                <a:ext uri="{FF2B5EF4-FFF2-40B4-BE49-F238E27FC236}">
                  <a16:creationId xmlns:a16="http://schemas.microsoft.com/office/drawing/2014/main" id="{0D48786B-4A7E-4DF1-AECC-9DF2C22835EA}"/>
                </a:ext>
              </a:extLst>
            </p:cNvPr>
            <p:cNvSpPr>
              <a:spLocks noChangeArrowheads="1"/>
            </p:cNvSpPr>
            <p:nvPr/>
          </p:nvSpPr>
          <p:spPr bwMode="auto">
            <a:xfrm>
              <a:off x="4348" y="1249"/>
              <a:ext cx="48" cy="48"/>
            </a:xfrm>
            <a:prstGeom prst="flowChartConnector">
              <a:avLst/>
            </a:prstGeom>
            <a:solidFill>
              <a:srgbClr val="FF0066"/>
            </a:solidFill>
            <a:ln w="9525">
              <a:solidFill>
                <a:srgbClr val="0000CC"/>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59087" name="AutoShape 14">
              <a:extLst>
                <a:ext uri="{FF2B5EF4-FFF2-40B4-BE49-F238E27FC236}">
                  <a16:creationId xmlns:a16="http://schemas.microsoft.com/office/drawing/2014/main" id="{E0C8B9DF-106B-4684-9A16-E077840A6794}"/>
                </a:ext>
              </a:extLst>
            </p:cNvPr>
            <p:cNvSpPr>
              <a:spLocks noChangeArrowheads="1"/>
            </p:cNvSpPr>
            <p:nvPr/>
          </p:nvSpPr>
          <p:spPr bwMode="auto">
            <a:xfrm>
              <a:off x="4108" y="2017"/>
              <a:ext cx="48" cy="48"/>
            </a:xfrm>
            <a:prstGeom prst="flowChartConnector">
              <a:avLst/>
            </a:prstGeom>
            <a:solidFill>
              <a:srgbClr val="FF0066"/>
            </a:solidFill>
            <a:ln w="9525">
              <a:solidFill>
                <a:srgbClr val="0000CC"/>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59088" name="AutoShape 15">
              <a:extLst>
                <a:ext uri="{FF2B5EF4-FFF2-40B4-BE49-F238E27FC236}">
                  <a16:creationId xmlns:a16="http://schemas.microsoft.com/office/drawing/2014/main" id="{1C2D1580-CEEC-4F9A-AD6C-36E126697727}"/>
                </a:ext>
              </a:extLst>
            </p:cNvPr>
            <p:cNvSpPr>
              <a:spLocks noChangeArrowheads="1"/>
            </p:cNvSpPr>
            <p:nvPr/>
          </p:nvSpPr>
          <p:spPr bwMode="auto">
            <a:xfrm>
              <a:off x="3820" y="2629"/>
              <a:ext cx="48" cy="48"/>
            </a:xfrm>
            <a:prstGeom prst="flowChartConnector">
              <a:avLst/>
            </a:prstGeom>
            <a:solidFill>
              <a:srgbClr val="FF0066"/>
            </a:solidFill>
            <a:ln w="9525">
              <a:solidFill>
                <a:srgbClr val="0000CC"/>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59089" name="AutoShape 16">
              <a:extLst>
                <a:ext uri="{FF2B5EF4-FFF2-40B4-BE49-F238E27FC236}">
                  <a16:creationId xmlns:a16="http://schemas.microsoft.com/office/drawing/2014/main" id="{AE280417-4E35-4AD5-BF64-9EF2CBAC7A9F}"/>
                </a:ext>
              </a:extLst>
            </p:cNvPr>
            <p:cNvSpPr>
              <a:spLocks noChangeArrowheads="1"/>
            </p:cNvSpPr>
            <p:nvPr/>
          </p:nvSpPr>
          <p:spPr bwMode="auto">
            <a:xfrm>
              <a:off x="3628" y="2785"/>
              <a:ext cx="48" cy="48"/>
            </a:xfrm>
            <a:prstGeom prst="flowChartConnector">
              <a:avLst/>
            </a:prstGeom>
            <a:solidFill>
              <a:srgbClr val="FF0066"/>
            </a:solidFill>
            <a:ln w="9525">
              <a:solidFill>
                <a:srgbClr val="0000CC"/>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259090" name="Line 17">
              <a:extLst>
                <a:ext uri="{FF2B5EF4-FFF2-40B4-BE49-F238E27FC236}">
                  <a16:creationId xmlns:a16="http://schemas.microsoft.com/office/drawing/2014/main" id="{931090A1-22D8-4F88-917C-6CA306C8C478}"/>
                </a:ext>
              </a:extLst>
            </p:cNvPr>
            <p:cNvSpPr>
              <a:spLocks noChangeShapeType="1"/>
            </p:cNvSpPr>
            <p:nvPr/>
          </p:nvSpPr>
          <p:spPr bwMode="auto">
            <a:xfrm>
              <a:off x="5020" y="2005"/>
              <a:ext cx="48" cy="24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091" name="Line 18">
              <a:extLst>
                <a:ext uri="{FF2B5EF4-FFF2-40B4-BE49-F238E27FC236}">
                  <a16:creationId xmlns:a16="http://schemas.microsoft.com/office/drawing/2014/main" id="{0C00C943-A510-4CBF-8855-537A44266911}"/>
                </a:ext>
              </a:extLst>
            </p:cNvPr>
            <p:cNvSpPr>
              <a:spLocks noChangeShapeType="1"/>
            </p:cNvSpPr>
            <p:nvPr/>
          </p:nvSpPr>
          <p:spPr bwMode="auto">
            <a:xfrm>
              <a:off x="4528" y="3121"/>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092" name="Line 19">
              <a:extLst>
                <a:ext uri="{FF2B5EF4-FFF2-40B4-BE49-F238E27FC236}">
                  <a16:creationId xmlns:a16="http://schemas.microsoft.com/office/drawing/2014/main" id="{817B93AA-143F-4CE0-A9ED-805392000525}"/>
                </a:ext>
              </a:extLst>
            </p:cNvPr>
            <p:cNvSpPr>
              <a:spLocks noChangeShapeType="1"/>
            </p:cNvSpPr>
            <p:nvPr/>
          </p:nvSpPr>
          <p:spPr bwMode="auto">
            <a:xfrm>
              <a:off x="4792" y="3121"/>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093" name="Line 20">
              <a:extLst>
                <a:ext uri="{FF2B5EF4-FFF2-40B4-BE49-F238E27FC236}">
                  <a16:creationId xmlns:a16="http://schemas.microsoft.com/office/drawing/2014/main" id="{CE03D5A8-F182-424F-AF81-8CC345DF18D9}"/>
                </a:ext>
              </a:extLst>
            </p:cNvPr>
            <p:cNvSpPr>
              <a:spLocks noChangeShapeType="1"/>
            </p:cNvSpPr>
            <p:nvPr/>
          </p:nvSpPr>
          <p:spPr bwMode="auto">
            <a:xfrm>
              <a:off x="5068" y="3121"/>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094" name="Line 21">
              <a:extLst>
                <a:ext uri="{FF2B5EF4-FFF2-40B4-BE49-F238E27FC236}">
                  <a16:creationId xmlns:a16="http://schemas.microsoft.com/office/drawing/2014/main" id="{F9EFD4F0-08E9-47D2-8F37-ADD98910B72F}"/>
                </a:ext>
              </a:extLst>
            </p:cNvPr>
            <p:cNvSpPr>
              <a:spLocks noChangeShapeType="1"/>
            </p:cNvSpPr>
            <p:nvPr/>
          </p:nvSpPr>
          <p:spPr bwMode="auto">
            <a:xfrm>
              <a:off x="3736" y="3121"/>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095" name="Line 22">
              <a:extLst>
                <a:ext uri="{FF2B5EF4-FFF2-40B4-BE49-F238E27FC236}">
                  <a16:creationId xmlns:a16="http://schemas.microsoft.com/office/drawing/2014/main" id="{1D0A3C01-BCC5-4B3B-AF09-724A642CA3A7}"/>
                </a:ext>
              </a:extLst>
            </p:cNvPr>
            <p:cNvSpPr>
              <a:spLocks noChangeShapeType="1"/>
            </p:cNvSpPr>
            <p:nvPr/>
          </p:nvSpPr>
          <p:spPr bwMode="auto">
            <a:xfrm>
              <a:off x="4000" y="3121"/>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096" name="Line 23">
              <a:extLst>
                <a:ext uri="{FF2B5EF4-FFF2-40B4-BE49-F238E27FC236}">
                  <a16:creationId xmlns:a16="http://schemas.microsoft.com/office/drawing/2014/main" id="{1ECC8E08-D192-4779-A8FD-82A54880B1DF}"/>
                </a:ext>
              </a:extLst>
            </p:cNvPr>
            <p:cNvSpPr>
              <a:spLocks noChangeShapeType="1"/>
            </p:cNvSpPr>
            <p:nvPr/>
          </p:nvSpPr>
          <p:spPr bwMode="auto">
            <a:xfrm>
              <a:off x="4264" y="3121"/>
              <a:ext cx="0" cy="48"/>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097" name="Line 24">
              <a:extLst>
                <a:ext uri="{FF2B5EF4-FFF2-40B4-BE49-F238E27FC236}">
                  <a16:creationId xmlns:a16="http://schemas.microsoft.com/office/drawing/2014/main" id="{AE27D8EA-6273-43D5-9609-5FBA27AE262A}"/>
                </a:ext>
              </a:extLst>
            </p:cNvPr>
            <p:cNvSpPr>
              <a:spLocks noChangeShapeType="1"/>
            </p:cNvSpPr>
            <p:nvPr/>
          </p:nvSpPr>
          <p:spPr bwMode="auto">
            <a:xfrm>
              <a:off x="3484" y="1393"/>
              <a:ext cx="48"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098" name="Line 25">
              <a:extLst>
                <a:ext uri="{FF2B5EF4-FFF2-40B4-BE49-F238E27FC236}">
                  <a16:creationId xmlns:a16="http://schemas.microsoft.com/office/drawing/2014/main" id="{923DC5AD-1509-4BA2-9C53-0693B28C07DC}"/>
                </a:ext>
              </a:extLst>
            </p:cNvPr>
            <p:cNvSpPr>
              <a:spLocks noChangeShapeType="1"/>
            </p:cNvSpPr>
            <p:nvPr/>
          </p:nvSpPr>
          <p:spPr bwMode="auto">
            <a:xfrm>
              <a:off x="3496" y="2581"/>
              <a:ext cx="48"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099" name="Line 26">
              <a:extLst>
                <a:ext uri="{FF2B5EF4-FFF2-40B4-BE49-F238E27FC236}">
                  <a16:creationId xmlns:a16="http://schemas.microsoft.com/office/drawing/2014/main" id="{AA7D3C62-188F-4969-9EC2-09D1F6EAF4BE}"/>
                </a:ext>
              </a:extLst>
            </p:cNvPr>
            <p:cNvSpPr>
              <a:spLocks noChangeShapeType="1"/>
            </p:cNvSpPr>
            <p:nvPr/>
          </p:nvSpPr>
          <p:spPr bwMode="auto">
            <a:xfrm>
              <a:off x="3496" y="817"/>
              <a:ext cx="48"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100" name="Line 27">
              <a:extLst>
                <a:ext uri="{FF2B5EF4-FFF2-40B4-BE49-F238E27FC236}">
                  <a16:creationId xmlns:a16="http://schemas.microsoft.com/office/drawing/2014/main" id="{4E979848-907A-4D25-A710-F723F792261C}"/>
                </a:ext>
              </a:extLst>
            </p:cNvPr>
            <p:cNvSpPr>
              <a:spLocks noChangeShapeType="1"/>
            </p:cNvSpPr>
            <p:nvPr/>
          </p:nvSpPr>
          <p:spPr bwMode="auto">
            <a:xfrm>
              <a:off x="3484" y="1969"/>
              <a:ext cx="48"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101" name="Text Box 28">
              <a:extLst>
                <a:ext uri="{FF2B5EF4-FFF2-40B4-BE49-F238E27FC236}">
                  <a16:creationId xmlns:a16="http://schemas.microsoft.com/office/drawing/2014/main" id="{25D5AAF1-3171-4BB9-864A-0E83451C1EFE}"/>
                </a:ext>
              </a:extLst>
            </p:cNvPr>
            <p:cNvSpPr txBox="1">
              <a:spLocks noChangeArrowheads="1"/>
            </p:cNvSpPr>
            <p:nvPr/>
          </p:nvSpPr>
          <p:spPr bwMode="auto">
            <a:xfrm>
              <a:off x="2892" y="782"/>
              <a:ext cx="288" cy="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000" dirty="0">
                  <a:solidFill>
                    <a:srgbClr val="0000CC"/>
                  </a:solidFill>
                  <a:latin typeface="Times New Roman" panose="02020603050405020304" pitchFamily="18" charset="0"/>
                  <a:ea typeface="黑体" panose="02010609060101010101" pitchFamily="49" charset="-122"/>
                </a:rPr>
                <a:t>酶</a:t>
              </a:r>
            </a:p>
            <a:p>
              <a:pPr eaLnBrk="1" hangingPunct="1">
                <a:spcBef>
                  <a:spcPct val="50000"/>
                </a:spcBef>
                <a:buFontTx/>
                <a:buNone/>
              </a:pPr>
              <a:r>
                <a:rPr kumimoji="1" lang="zh-CN" altLang="en-US" sz="2000" dirty="0">
                  <a:solidFill>
                    <a:srgbClr val="0000CC"/>
                  </a:solidFill>
                  <a:latin typeface="Times New Roman" panose="02020603050405020304" pitchFamily="18" charset="0"/>
                  <a:ea typeface="黑体" panose="02010609060101010101" pitchFamily="49" charset="-122"/>
                </a:rPr>
                <a:t>活</a:t>
              </a:r>
            </a:p>
            <a:p>
              <a:pPr eaLnBrk="1" hangingPunct="1">
                <a:spcBef>
                  <a:spcPct val="50000"/>
                </a:spcBef>
                <a:buFontTx/>
                <a:buNone/>
              </a:pPr>
              <a:r>
                <a:rPr kumimoji="1" lang="zh-CN" altLang="en-US" sz="2000" dirty="0">
                  <a:solidFill>
                    <a:srgbClr val="0000CC"/>
                  </a:solidFill>
                  <a:latin typeface="Times New Roman" panose="02020603050405020304" pitchFamily="18" charset="0"/>
                  <a:ea typeface="黑体" panose="02010609060101010101" pitchFamily="49" charset="-122"/>
                </a:rPr>
                <a:t>性</a:t>
              </a:r>
            </a:p>
            <a:p>
              <a:pPr eaLnBrk="1" hangingPunct="1">
                <a:spcBef>
                  <a:spcPct val="50000"/>
                </a:spcBef>
                <a:buFontTx/>
                <a:buNone/>
              </a:pPr>
              <a:endParaRPr kumimoji="1" lang="en-US" altLang="zh-CN" sz="2000" b="1" dirty="0">
                <a:solidFill>
                  <a:srgbClr val="0000CC"/>
                </a:solidFill>
                <a:latin typeface="Times New Roman" panose="02020603050405020304" pitchFamily="18" charset="0"/>
                <a:ea typeface="黑体" panose="02010609060101010101" pitchFamily="49" charset="-122"/>
              </a:endParaRPr>
            </a:p>
          </p:txBody>
        </p:sp>
        <p:sp>
          <p:nvSpPr>
            <p:cNvPr id="259102" name="Text Box 29">
              <a:extLst>
                <a:ext uri="{FF2B5EF4-FFF2-40B4-BE49-F238E27FC236}">
                  <a16:creationId xmlns:a16="http://schemas.microsoft.com/office/drawing/2014/main" id="{DA3863F2-05DA-4E28-8BD7-24A552B61120}"/>
                </a:ext>
              </a:extLst>
            </p:cNvPr>
            <p:cNvSpPr txBox="1">
              <a:spLocks noChangeArrowheads="1"/>
            </p:cNvSpPr>
            <p:nvPr/>
          </p:nvSpPr>
          <p:spPr bwMode="auto">
            <a:xfrm>
              <a:off x="3184" y="2473"/>
              <a:ext cx="353"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800" b="1">
                  <a:solidFill>
                    <a:srgbClr val="0000CC"/>
                  </a:solidFill>
                  <a:latin typeface="Times New Roman" panose="02020603050405020304" pitchFamily="18" charset="0"/>
                  <a:ea typeface="黑体" panose="02010609060101010101" pitchFamily="49" charset="-122"/>
                </a:rPr>
                <a:t>0.5</a:t>
              </a:r>
            </a:p>
          </p:txBody>
        </p:sp>
        <p:sp>
          <p:nvSpPr>
            <p:cNvPr id="259103" name="Text Box 30">
              <a:extLst>
                <a:ext uri="{FF2B5EF4-FFF2-40B4-BE49-F238E27FC236}">
                  <a16:creationId xmlns:a16="http://schemas.microsoft.com/office/drawing/2014/main" id="{6D8AD100-28CE-4DC1-9E0A-F4570E667BD5}"/>
                </a:ext>
              </a:extLst>
            </p:cNvPr>
            <p:cNvSpPr txBox="1">
              <a:spLocks noChangeArrowheads="1"/>
            </p:cNvSpPr>
            <p:nvPr/>
          </p:nvSpPr>
          <p:spPr bwMode="auto">
            <a:xfrm>
              <a:off x="3184" y="1861"/>
              <a:ext cx="353"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800" b="1">
                  <a:solidFill>
                    <a:srgbClr val="0000CC"/>
                  </a:solidFill>
                  <a:latin typeface="Times New Roman" panose="02020603050405020304" pitchFamily="18" charset="0"/>
                  <a:ea typeface="黑体" panose="02010609060101010101" pitchFamily="49" charset="-122"/>
                </a:rPr>
                <a:t>1.0</a:t>
              </a:r>
            </a:p>
          </p:txBody>
        </p:sp>
        <p:sp>
          <p:nvSpPr>
            <p:cNvPr id="259104" name="Text Box 31">
              <a:extLst>
                <a:ext uri="{FF2B5EF4-FFF2-40B4-BE49-F238E27FC236}">
                  <a16:creationId xmlns:a16="http://schemas.microsoft.com/office/drawing/2014/main" id="{AC57A8CD-077A-4CEC-BD53-AF1035807C64}"/>
                </a:ext>
              </a:extLst>
            </p:cNvPr>
            <p:cNvSpPr txBox="1">
              <a:spLocks noChangeArrowheads="1"/>
            </p:cNvSpPr>
            <p:nvPr/>
          </p:nvSpPr>
          <p:spPr bwMode="auto">
            <a:xfrm>
              <a:off x="3184" y="709"/>
              <a:ext cx="353"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800" b="1">
                  <a:solidFill>
                    <a:srgbClr val="0000CC"/>
                  </a:solidFill>
                  <a:latin typeface="Times New Roman" panose="02020603050405020304" pitchFamily="18" charset="0"/>
                  <a:ea typeface="黑体" panose="02010609060101010101" pitchFamily="49" charset="-122"/>
                </a:rPr>
                <a:t>2.0</a:t>
              </a:r>
            </a:p>
          </p:txBody>
        </p:sp>
        <p:sp>
          <p:nvSpPr>
            <p:cNvPr id="259105" name="Text Box 32">
              <a:extLst>
                <a:ext uri="{FF2B5EF4-FFF2-40B4-BE49-F238E27FC236}">
                  <a16:creationId xmlns:a16="http://schemas.microsoft.com/office/drawing/2014/main" id="{8FAB71D6-BEBC-4B47-BC02-803963CFFD35}"/>
                </a:ext>
              </a:extLst>
            </p:cNvPr>
            <p:cNvSpPr txBox="1">
              <a:spLocks noChangeArrowheads="1"/>
            </p:cNvSpPr>
            <p:nvPr/>
          </p:nvSpPr>
          <p:spPr bwMode="auto">
            <a:xfrm>
              <a:off x="3184" y="1273"/>
              <a:ext cx="353"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800" b="1">
                  <a:solidFill>
                    <a:srgbClr val="0000CC"/>
                  </a:solidFill>
                  <a:latin typeface="Times New Roman" panose="02020603050405020304" pitchFamily="18" charset="0"/>
                  <a:ea typeface="黑体" panose="02010609060101010101" pitchFamily="49" charset="-122"/>
                </a:rPr>
                <a:t>1.5</a:t>
              </a:r>
            </a:p>
          </p:txBody>
        </p:sp>
        <p:sp>
          <p:nvSpPr>
            <p:cNvPr id="259106" name="Text Box 33">
              <a:extLst>
                <a:ext uri="{FF2B5EF4-FFF2-40B4-BE49-F238E27FC236}">
                  <a16:creationId xmlns:a16="http://schemas.microsoft.com/office/drawing/2014/main" id="{92D09767-BD50-4865-9040-8F294172BDAB}"/>
                </a:ext>
              </a:extLst>
            </p:cNvPr>
            <p:cNvSpPr txBox="1">
              <a:spLocks noChangeArrowheads="1"/>
            </p:cNvSpPr>
            <p:nvPr/>
          </p:nvSpPr>
          <p:spPr bwMode="auto">
            <a:xfrm>
              <a:off x="3388" y="3181"/>
              <a:ext cx="207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800" b="1">
                  <a:solidFill>
                    <a:srgbClr val="0000CC"/>
                  </a:solidFill>
                  <a:latin typeface="Times New Roman" panose="02020603050405020304" pitchFamily="18" charset="0"/>
                  <a:ea typeface="黑体" panose="02010609060101010101" pitchFamily="49" charset="-122"/>
                </a:rPr>
                <a:t>0    10   20  30  40   50   60  </a:t>
              </a:r>
            </a:p>
          </p:txBody>
        </p:sp>
        <p:sp>
          <p:nvSpPr>
            <p:cNvPr id="259107" name="Text Box 34">
              <a:extLst>
                <a:ext uri="{FF2B5EF4-FFF2-40B4-BE49-F238E27FC236}">
                  <a16:creationId xmlns:a16="http://schemas.microsoft.com/office/drawing/2014/main" id="{9BE5D281-391E-4A2D-A69C-9A29D8F4EF4B}"/>
                </a:ext>
              </a:extLst>
            </p:cNvPr>
            <p:cNvSpPr txBox="1">
              <a:spLocks noChangeArrowheads="1"/>
            </p:cNvSpPr>
            <p:nvPr/>
          </p:nvSpPr>
          <p:spPr bwMode="auto">
            <a:xfrm>
              <a:off x="4830" y="3380"/>
              <a:ext cx="91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a:solidFill>
                    <a:srgbClr val="0000CC"/>
                  </a:solidFill>
                  <a:latin typeface="Times New Roman" panose="02020603050405020304" pitchFamily="18" charset="0"/>
                  <a:ea typeface="黑体" panose="02010609060101010101" pitchFamily="49" charset="-122"/>
                </a:rPr>
                <a:t>温度 </a:t>
              </a:r>
              <a:r>
                <a:rPr kumimoji="1" lang="en-US" altLang="zh-CN" sz="2000" b="1">
                  <a:solidFill>
                    <a:srgbClr val="0000CC"/>
                  </a:solidFill>
                  <a:latin typeface="Times New Roman" panose="02020603050405020304" pitchFamily="18" charset="0"/>
                  <a:ea typeface="黑体" panose="02010609060101010101" pitchFamily="49" charset="-122"/>
                </a:rPr>
                <a:t>ºC   </a:t>
              </a:r>
            </a:p>
          </p:txBody>
        </p:sp>
        <p:sp>
          <p:nvSpPr>
            <p:cNvPr id="259108" name="Text Box 35">
              <a:extLst>
                <a:ext uri="{FF2B5EF4-FFF2-40B4-BE49-F238E27FC236}">
                  <a16:creationId xmlns:a16="http://schemas.microsoft.com/office/drawing/2014/main" id="{F626B09A-A9A0-45D6-99BD-E7CC218105CF}"/>
                </a:ext>
              </a:extLst>
            </p:cNvPr>
            <p:cNvSpPr txBox="1">
              <a:spLocks noChangeArrowheads="1"/>
            </p:cNvSpPr>
            <p:nvPr/>
          </p:nvSpPr>
          <p:spPr bwMode="auto">
            <a:xfrm>
              <a:off x="3245" y="3710"/>
              <a:ext cx="3165"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b="1" dirty="0">
                  <a:solidFill>
                    <a:srgbClr val="0000CC"/>
                  </a:solidFill>
                  <a:latin typeface="Times New Roman" panose="02020603050405020304" pitchFamily="18" charset="0"/>
                  <a:ea typeface="黑体" panose="02010609060101010101" pitchFamily="49" charset="-122"/>
                </a:rPr>
                <a:t>温度对淀粉酶活性的影响</a:t>
              </a:r>
              <a:r>
                <a:rPr kumimoji="1" lang="zh-CN" altLang="en-US" sz="2800" dirty="0">
                  <a:solidFill>
                    <a:srgbClr val="0000CC"/>
                  </a:solidFill>
                  <a:latin typeface="Times New Roman" panose="02020603050405020304" pitchFamily="18" charset="0"/>
                  <a:ea typeface="黑体" panose="02010609060101010101" pitchFamily="49" charset="-122"/>
                </a:rPr>
                <a:t> </a:t>
              </a:r>
            </a:p>
          </p:txBody>
        </p:sp>
      </p:grpSp>
      <p:sp>
        <p:nvSpPr>
          <p:cNvPr id="259078" name="AutoShape 36">
            <a:extLst>
              <a:ext uri="{FF2B5EF4-FFF2-40B4-BE49-F238E27FC236}">
                <a16:creationId xmlns:a16="http://schemas.microsoft.com/office/drawing/2014/main" id="{AB00D340-0F08-4AAF-A1F2-4B3AFFF7D564}"/>
              </a:ext>
            </a:extLst>
          </p:cNvPr>
          <p:cNvSpPr>
            <a:spLocks noChangeArrowheads="1"/>
          </p:cNvSpPr>
          <p:nvPr/>
        </p:nvSpPr>
        <p:spPr bwMode="auto">
          <a:xfrm>
            <a:off x="2495551" y="549276"/>
            <a:ext cx="7089775" cy="576263"/>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b="1" dirty="0">
                <a:solidFill>
                  <a:schemeClr val="bg1"/>
                </a:solidFill>
                <a:latin typeface="Times New Roman" panose="02020603050405020304" pitchFamily="18" charset="0"/>
                <a:ea typeface="黑体" panose="02010609060101010101" pitchFamily="49" charset="-122"/>
              </a:rPr>
              <a:t>三、温度对反应速度的影响具有双重性</a:t>
            </a:r>
          </a:p>
        </p:txBody>
      </p:sp>
      <p:sp>
        <p:nvSpPr>
          <p:cNvPr id="38" name="文本框 37">
            <a:extLst>
              <a:ext uri="{FF2B5EF4-FFF2-40B4-BE49-F238E27FC236}">
                <a16:creationId xmlns:a16="http://schemas.microsoft.com/office/drawing/2014/main" id="{ADDE6990-71E0-4927-996C-9D421D865395}"/>
              </a:ext>
            </a:extLst>
          </p:cNvPr>
          <p:cNvSpPr txBox="1"/>
          <p:nvPr/>
        </p:nvSpPr>
        <p:spPr>
          <a:xfrm>
            <a:off x="565236" y="4427756"/>
            <a:ext cx="5379541" cy="1974836"/>
          </a:xfrm>
          <a:prstGeom prst="rect">
            <a:avLst/>
          </a:prstGeom>
          <a:noFill/>
          <a:ln>
            <a:solidFill>
              <a:srgbClr val="0000CC"/>
            </a:solidFill>
          </a:ln>
        </p:spPr>
        <p:txBody>
          <a:bodyPr wrap="square">
            <a:spAutoFit/>
          </a:bodyPr>
          <a:lstStyle/>
          <a:p>
            <a:pPr eaLnBrk="1" hangingPunct="1">
              <a:lnSpc>
                <a:spcPct val="120000"/>
              </a:lnSpc>
            </a:pPr>
            <a:r>
              <a:rPr lang="zh-CN" altLang="en-US" sz="2600" dirty="0">
                <a:latin typeface="微软雅黑 Light" panose="020B0502040204020203" pitchFamily="34" charset="-122"/>
                <a:ea typeface="微软雅黑 Light" panose="020B0502040204020203" pitchFamily="34" charset="-122"/>
              </a:rPr>
              <a:t>从动物组织提取的酶，最适温度一般在</a:t>
            </a:r>
            <a:r>
              <a:rPr lang="en-US" altLang="zh-CN" sz="2600" dirty="0">
                <a:latin typeface="微软雅黑 Light" panose="020B0502040204020203" pitchFamily="34" charset="-122"/>
                <a:ea typeface="微软雅黑 Light" panose="020B0502040204020203" pitchFamily="34" charset="-122"/>
              </a:rPr>
              <a:t>35°C~40°C</a:t>
            </a:r>
            <a:r>
              <a:rPr lang="zh-CN" altLang="en-US" sz="2600" dirty="0">
                <a:latin typeface="微软雅黑 Light" panose="020B0502040204020203" pitchFamily="34" charset="-122"/>
                <a:ea typeface="微软雅黑 Light" panose="020B0502040204020203" pitchFamily="34" charset="-122"/>
              </a:rPr>
              <a:t>， </a:t>
            </a:r>
            <a:r>
              <a:rPr lang="zh-CN" altLang="en-US" sz="2600" b="1" dirty="0">
                <a:solidFill>
                  <a:srgbClr val="0000CC"/>
                </a:solidFill>
                <a:latin typeface="微软雅黑 Light" panose="020B0502040204020203" pitchFamily="34" charset="-122"/>
                <a:ea typeface="微软雅黑 Light" panose="020B0502040204020203" pitchFamily="34" charset="-122"/>
              </a:rPr>
              <a:t>超过</a:t>
            </a:r>
            <a:r>
              <a:rPr lang="en-US" altLang="zh-CN" sz="2600" b="1" dirty="0">
                <a:solidFill>
                  <a:srgbClr val="0000CC"/>
                </a:solidFill>
                <a:latin typeface="微软雅黑 Light" panose="020B0502040204020203" pitchFamily="34" charset="-122"/>
                <a:ea typeface="微软雅黑 Light" panose="020B0502040204020203" pitchFamily="34" charset="-122"/>
              </a:rPr>
              <a:t>40°C</a:t>
            </a:r>
            <a:r>
              <a:rPr lang="zh-CN" altLang="en-US" sz="2600" b="1" dirty="0">
                <a:solidFill>
                  <a:srgbClr val="0000CC"/>
                </a:solidFill>
                <a:latin typeface="微软雅黑 Light" panose="020B0502040204020203" pitchFamily="34" charset="-122"/>
                <a:ea typeface="微软雅黑 Light" panose="020B0502040204020203" pitchFamily="34" charset="-122"/>
              </a:rPr>
              <a:t>，大多开始变性</a:t>
            </a:r>
            <a:r>
              <a:rPr lang="zh-CN" altLang="en-US" sz="2600" dirty="0">
                <a:latin typeface="微软雅黑 Light" panose="020B0502040204020203" pitchFamily="34" charset="-122"/>
                <a:ea typeface="微软雅黑 Light" panose="020B0502040204020203" pitchFamily="34" charset="-122"/>
              </a:rPr>
              <a:t>，超过</a:t>
            </a:r>
            <a:r>
              <a:rPr lang="en-US" altLang="zh-CN" sz="2600" dirty="0">
                <a:latin typeface="微软雅黑 Light" panose="020B0502040204020203" pitchFamily="34" charset="-122"/>
                <a:ea typeface="微软雅黑 Light" panose="020B0502040204020203" pitchFamily="34" charset="-122"/>
              </a:rPr>
              <a:t>80°C</a:t>
            </a:r>
            <a:r>
              <a:rPr lang="zh-CN" altLang="en-US" sz="2600" dirty="0">
                <a:latin typeface="微软雅黑 Light" panose="020B0502040204020203" pitchFamily="34" charset="-122"/>
                <a:ea typeface="微软雅黑 Light" panose="020B0502040204020203" pitchFamily="34" charset="-122"/>
              </a:rPr>
              <a:t>，变性一般不可逆。 </a:t>
            </a:r>
            <a:endParaRPr lang="en-US" altLang="zh-CN" sz="2600" dirty="0">
              <a:latin typeface="微软雅黑 Light" panose="020B0502040204020203" pitchFamily="34" charset="-122"/>
              <a:ea typeface="微软雅黑 Light" panose="020B0502040204020203" pitchFamily="34"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94307">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E4D0E35D-7DF5-48F6-A741-A75BC7E9B9FC}"/>
              </a:ext>
            </a:extLst>
          </p:cNvPr>
          <p:cNvSpPr>
            <a:spLocks noGrp="1"/>
          </p:cNvSpPr>
          <p:nvPr>
            <p:ph idx="1"/>
          </p:nvPr>
        </p:nvSpPr>
        <p:spPr>
          <a:xfrm>
            <a:off x="1271464" y="1124744"/>
            <a:ext cx="9433048" cy="4392488"/>
          </a:xfrm>
        </p:spPr>
        <p:txBody>
          <a:bodyPr/>
          <a:lstStyle/>
          <a:p>
            <a:pPr>
              <a:lnSpc>
                <a:spcPct val="150000"/>
              </a:lnSpc>
              <a:spcBef>
                <a:spcPts val="0"/>
              </a:spcBef>
            </a:pPr>
            <a:r>
              <a:rPr lang="zh-CN" altLang="en-US" sz="2800" dirty="0">
                <a:latin typeface="微软雅黑 Light" panose="020B0502040204020203" pitchFamily="34" charset="-122"/>
                <a:ea typeface="微软雅黑 Light" panose="020B0502040204020203" pitchFamily="34" charset="-122"/>
              </a:rPr>
              <a:t>用于聚合酶链式反应（</a:t>
            </a:r>
            <a:r>
              <a:rPr lang="en-US" altLang="zh-CN" sz="2800" dirty="0">
                <a:latin typeface="微软雅黑 Light" panose="020B0502040204020203" pitchFamily="34" charset="-122"/>
                <a:ea typeface="微软雅黑 Light" panose="020B0502040204020203" pitchFamily="34" charset="-122"/>
              </a:rPr>
              <a:t>PCR</a:t>
            </a:r>
            <a:r>
              <a:rPr lang="zh-CN" altLang="en-US" sz="2800" dirty="0">
                <a:latin typeface="微软雅黑 Light" panose="020B0502040204020203" pitchFamily="34" charset="-122"/>
                <a:ea typeface="微软雅黑 Light" panose="020B0502040204020203" pitchFamily="34" charset="-122"/>
              </a:rPr>
              <a:t>）的 </a:t>
            </a:r>
            <a:r>
              <a:rPr lang="en-US" altLang="zh-CN" sz="2800" dirty="0">
                <a:solidFill>
                  <a:srgbClr val="C00000"/>
                </a:solidFill>
                <a:latin typeface="微软雅黑 Light" panose="020B0502040204020203" pitchFamily="34" charset="-122"/>
                <a:ea typeface="微软雅黑 Light" panose="020B0502040204020203" pitchFamily="34" charset="-122"/>
              </a:rPr>
              <a:t>Taq DNA</a:t>
            </a:r>
            <a:r>
              <a:rPr lang="zh-CN" altLang="en-US" sz="2800" dirty="0">
                <a:solidFill>
                  <a:srgbClr val="C00000"/>
                </a:solidFill>
                <a:latin typeface="微软雅黑 Light" panose="020B0502040204020203" pitchFamily="34" charset="-122"/>
                <a:ea typeface="微软雅黑 Light" panose="020B0502040204020203" pitchFamily="34" charset="-122"/>
              </a:rPr>
              <a:t>聚合酶</a:t>
            </a:r>
            <a:r>
              <a:rPr lang="zh-CN" altLang="en-US" sz="2800" dirty="0">
                <a:latin typeface="微软雅黑 Light" panose="020B0502040204020203" pitchFamily="34" charset="-122"/>
                <a:ea typeface="微软雅黑 Light" panose="020B0502040204020203" pitchFamily="34" charset="-122"/>
              </a:rPr>
              <a:t>最适合温度约</a:t>
            </a:r>
            <a:r>
              <a:rPr lang="en-US" altLang="zh-CN" sz="2800" dirty="0">
                <a:solidFill>
                  <a:srgbClr val="C00000"/>
                </a:solidFill>
                <a:latin typeface="微软雅黑 Light" panose="020B0502040204020203" pitchFamily="34" charset="-122"/>
                <a:ea typeface="微软雅黑 Light" panose="020B0502040204020203" pitchFamily="34" charset="-122"/>
              </a:rPr>
              <a:t>72℃</a:t>
            </a:r>
            <a:r>
              <a:rPr lang="zh-CN" altLang="en-US" sz="2800" dirty="0">
                <a:latin typeface="微软雅黑 Light" panose="020B0502040204020203" pitchFamily="34" charset="-122"/>
                <a:ea typeface="微软雅黑 Light" panose="020B0502040204020203" pitchFamily="34" charset="-122"/>
              </a:rPr>
              <a:t>。</a:t>
            </a:r>
            <a:endParaRPr lang="en-US" altLang="zh-CN" sz="2800" dirty="0">
              <a:latin typeface="微软雅黑 Light" panose="020B0502040204020203" pitchFamily="34" charset="-122"/>
              <a:ea typeface="微软雅黑 Light" panose="020B0502040204020203" pitchFamily="34" charset="-122"/>
            </a:endParaRPr>
          </a:p>
          <a:p>
            <a:endParaRPr lang="en-US" altLang="zh-CN" dirty="0">
              <a:latin typeface="微软雅黑 Light" panose="020B0502040204020203" pitchFamily="34" charset="-122"/>
              <a:ea typeface="微软雅黑 Light" panose="020B0502040204020203" pitchFamily="34" charset="-122"/>
            </a:endParaRPr>
          </a:p>
          <a:p>
            <a:pPr>
              <a:lnSpc>
                <a:spcPct val="150000"/>
              </a:lnSpc>
            </a:pPr>
            <a:r>
              <a:rPr lang="zh-CN" altLang="en-US" dirty="0">
                <a:latin typeface="微软雅黑 Light" panose="020B0502040204020203" pitchFamily="34" charset="-122"/>
                <a:ea typeface="微软雅黑 Light" panose="020B0502040204020203" pitchFamily="34" charset="-122"/>
              </a:rPr>
              <a:t>低温一般不破坏酶</a:t>
            </a:r>
            <a:endParaRPr lang="en-US" altLang="zh-CN" dirty="0">
              <a:latin typeface="微软雅黑 Light" panose="020B0502040204020203" pitchFamily="34" charset="-122"/>
              <a:ea typeface="微软雅黑 Light" panose="020B0502040204020203" pitchFamily="34" charset="-122"/>
            </a:endParaRPr>
          </a:p>
          <a:p>
            <a:pPr lvl="1">
              <a:lnSpc>
                <a:spcPct val="150000"/>
              </a:lnSpc>
            </a:pPr>
            <a:r>
              <a:rPr lang="zh-CN" altLang="en-US" dirty="0">
                <a:latin typeface="微软雅黑 Light" panose="020B0502040204020203" pitchFamily="34" charset="-122"/>
                <a:ea typeface="微软雅黑 Light" panose="020B0502040204020203" pitchFamily="34" charset="-122"/>
              </a:rPr>
              <a:t>酶多在</a:t>
            </a:r>
            <a:r>
              <a:rPr lang="en-US" altLang="zh-CN" dirty="0">
                <a:latin typeface="微软雅黑 Light" panose="020B0502040204020203" pitchFamily="34" charset="-122"/>
                <a:ea typeface="微软雅黑 Light" panose="020B0502040204020203" pitchFamily="34" charset="-122"/>
              </a:rPr>
              <a:t>5 ℃</a:t>
            </a:r>
            <a:r>
              <a:rPr lang="zh-CN" altLang="en-US" dirty="0">
                <a:latin typeface="微软雅黑 Light" panose="020B0502040204020203" pitchFamily="34" charset="-122"/>
                <a:ea typeface="微软雅黑 Light" panose="020B0502040204020203" pitchFamily="34" charset="-122"/>
              </a:rPr>
              <a:t>以下</a:t>
            </a:r>
            <a:r>
              <a:rPr lang="zh-CN" altLang="en-US" dirty="0">
                <a:solidFill>
                  <a:srgbClr val="0000CC"/>
                </a:solidFill>
                <a:latin typeface="微软雅黑 Light" panose="020B0502040204020203" pitchFamily="34" charset="-122"/>
                <a:ea typeface="微软雅黑 Light" panose="020B0502040204020203" pitchFamily="34" charset="-122"/>
              </a:rPr>
              <a:t>低温储存</a:t>
            </a:r>
            <a:r>
              <a:rPr lang="zh-CN" altLang="en-US" dirty="0">
                <a:latin typeface="微软雅黑 Light" panose="020B0502040204020203" pitchFamily="34" charset="-122"/>
                <a:ea typeface="微软雅黑 Light" panose="020B0502040204020203" pitchFamily="34" charset="-122"/>
              </a:rPr>
              <a:t>，菌种等</a:t>
            </a:r>
            <a:r>
              <a:rPr lang="zh-CN" altLang="en-US" dirty="0">
                <a:solidFill>
                  <a:srgbClr val="0000CC"/>
                </a:solidFill>
                <a:latin typeface="微软雅黑 Light" panose="020B0502040204020203" pitchFamily="34" charset="-122"/>
                <a:ea typeface="微软雅黑 Light" panose="020B0502040204020203" pitchFamily="34" charset="-122"/>
              </a:rPr>
              <a:t>生物样品</a:t>
            </a:r>
            <a:r>
              <a:rPr lang="zh-CN" altLang="en-US" dirty="0">
                <a:latin typeface="微软雅黑 Light" panose="020B0502040204020203" pitchFamily="34" charset="-122"/>
                <a:ea typeface="微软雅黑 Light" panose="020B0502040204020203" pitchFamily="34" charset="-122"/>
              </a:rPr>
              <a:t>低温保存。</a:t>
            </a:r>
            <a:endParaRPr lang="en-US" altLang="zh-CN" dirty="0">
              <a:latin typeface="微软雅黑 Light" panose="020B0502040204020203" pitchFamily="34" charset="-122"/>
              <a:ea typeface="微软雅黑 Light" panose="020B0502040204020203" pitchFamily="34" charset="-122"/>
            </a:endParaRPr>
          </a:p>
          <a:p>
            <a:pPr lvl="1">
              <a:lnSpc>
                <a:spcPct val="150000"/>
              </a:lnSpc>
            </a:pPr>
            <a:r>
              <a:rPr lang="zh-CN" altLang="en-US" dirty="0">
                <a:latin typeface="微软雅黑 Light" panose="020B0502040204020203" pitchFamily="34" charset="-122"/>
                <a:ea typeface="微软雅黑 Light" panose="020B0502040204020203" pitchFamily="34" charset="-122"/>
              </a:rPr>
              <a:t>临床低温麻醉</a:t>
            </a:r>
            <a:r>
              <a:rPr lang="zh-CN" altLang="en-US" sz="2400" dirty="0">
                <a:latin typeface="微软雅黑 Light" panose="020B0502040204020203" pitchFamily="34" charset="-122"/>
                <a:ea typeface="微软雅黑 Light" panose="020B0502040204020203" pitchFamily="34" charset="-122"/>
              </a:rPr>
              <a:t>（降低机体基础代谢、减少氧耗量、保护机体或器官免受缺血缺氧损害）</a:t>
            </a:r>
          </a:p>
        </p:txBody>
      </p:sp>
    </p:spTree>
    <p:extLst>
      <p:ext uri="{BB962C8B-B14F-4D97-AF65-F5344CB8AC3E}">
        <p14:creationId xmlns:p14="http://schemas.microsoft.com/office/powerpoint/2010/main" val="4309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61122" name="图片 1">
            <a:extLst>
              <a:ext uri="{FF2B5EF4-FFF2-40B4-BE49-F238E27FC236}">
                <a16:creationId xmlns:a16="http://schemas.microsoft.com/office/drawing/2014/main" id="{F86F9B1E-F26C-401F-BFCE-7FFC4B192B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47528" y="1431925"/>
            <a:ext cx="7993062" cy="51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1123" name="矩形 2">
            <a:extLst>
              <a:ext uri="{FF2B5EF4-FFF2-40B4-BE49-F238E27FC236}">
                <a16:creationId xmlns:a16="http://schemas.microsoft.com/office/drawing/2014/main" id="{824B93EE-3CFC-49FD-ABBF-22120392C188}"/>
              </a:ext>
            </a:extLst>
          </p:cNvPr>
          <p:cNvSpPr>
            <a:spLocks noChangeArrowheads="1"/>
          </p:cNvSpPr>
          <p:nvPr/>
        </p:nvSpPr>
        <p:spPr bwMode="auto">
          <a:xfrm>
            <a:off x="3863975" y="908051"/>
            <a:ext cx="4535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800" dirty="0">
                <a:solidFill>
                  <a:srgbClr val="000000"/>
                </a:solidFill>
                <a:latin typeface="黑体" panose="02010609060101010101" pitchFamily="49" charset="-122"/>
                <a:ea typeface="黑体" panose="02010609060101010101" pitchFamily="49" charset="-122"/>
              </a:rPr>
              <a:t>北京晨报新闻，</a:t>
            </a:r>
            <a:r>
              <a:rPr lang="en-US" altLang="zh-CN" sz="2800" b="1" dirty="0">
                <a:solidFill>
                  <a:srgbClr val="000000"/>
                </a:solidFill>
                <a:latin typeface="Arial" panose="020B0604020202020204" pitchFamily="34" charset="0"/>
                <a:ea typeface="黑体" panose="02010609060101010101" pitchFamily="49" charset="-122"/>
              </a:rPr>
              <a:t>2016.8.10</a:t>
            </a:r>
            <a:endParaRPr lang="zh-CN" altLang="en-US" sz="2800" dirty="0"/>
          </a:p>
        </p:txBody>
      </p:sp>
      <p:sp>
        <p:nvSpPr>
          <p:cNvPr id="261124" name="矩形 3">
            <a:extLst>
              <a:ext uri="{FF2B5EF4-FFF2-40B4-BE49-F238E27FC236}">
                <a16:creationId xmlns:a16="http://schemas.microsoft.com/office/drawing/2014/main" id="{5E7661F5-FD0E-4940-BD46-4CF59DE63478}"/>
              </a:ext>
            </a:extLst>
          </p:cNvPr>
          <p:cNvSpPr>
            <a:spLocks noChangeArrowheads="1"/>
          </p:cNvSpPr>
          <p:nvPr/>
        </p:nvSpPr>
        <p:spPr bwMode="auto">
          <a:xfrm>
            <a:off x="2927351" y="274638"/>
            <a:ext cx="6340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a:solidFill>
                  <a:srgbClr val="0000CC"/>
                </a:solidFill>
                <a:latin typeface="黑体" panose="02010609060101010101" pitchFamily="49" charset="-122"/>
                <a:ea typeface="黑体" panose="02010609060101010101" pitchFamily="49" charset="-122"/>
              </a:rPr>
              <a:t>患者心脏骤停亚低温治疗抢回一命</a:t>
            </a:r>
            <a:endParaRPr lang="zh-CN" altLang="en-US">
              <a:solidFill>
                <a:srgbClr val="0000CC"/>
              </a:solidFill>
            </a:endParaRPr>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a:extLst>
              <a:ext uri="{FF2B5EF4-FFF2-40B4-BE49-F238E27FC236}">
                <a16:creationId xmlns:a16="http://schemas.microsoft.com/office/drawing/2014/main" id="{CCAB89B0-9EB4-4FCE-B980-F51E329BD371}"/>
              </a:ext>
            </a:extLst>
          </p:cNvPr>
          <p:cNvSpPr>
            <a:spLocks noChangeArrowheads="1"/>
          </p:cNvSpPr>
          <p:nvPr/>
        </p:nvSpPr>
        <p:spPr bwMode="auto">
          <a:xfrm>
            <a:off x="665115" y="2353735"/>
            <a:ext cx="4930825"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4638" indent="-274638">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454025">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20000"/>
              </a:lnSpc>
              <a:buClr>
                <a:schemeClr val="tx2"/>
              </a:buClr>
              <a:buSzPct val="75000"/>
            </a:pPr>
            <a:r>
              <a:rPr kumimoji="1" lang="zh-CN" altLang="en-US" sz="2800" dirty="0">
                <a:solidFill>
                  <a:schemeClr val="tx2"/>
                </a:solidFill>
                <a:latin typeface="黑体" panose="02010609060101010101" pitchFamily="49" charset="-122"/>
                <a:ea typeface="黑体" panose="02010609060101010101" pitchFamily="49" charset="-122"/>
              </a:rPr>
              <a:t> 最适</a:t>
            </a:r>
            <a:r>
              <a:rPr kumimoji="1" lang="en-US" altLang="zh-CN" sz="2800" dirty="0">
                <a:solidFill>
                  <a:schemeClr val="tx2"/>
                </a:solidFill>
                <a:latin typeface="黑体" panose="02010609060101010101" pitchFamily="49" charset="-122"/>
                <a:ea typeface="黑体" panose="02010609060101010101" pitchFamily="49" charset="-122"/>
              </a:rPr>
              <a:t>pH (optimum pH)</a:t>
            </a:r>
            <a:r>
              <a:rPr kumimoji="1" lang="zh-CN" altLang="en-US" sz="2800" dirty="0">
                <a:solidFill>
                  <a:schemeClr val="tx2"/>
                </a:solidFill>
                <a:latin typeface="黑体" panose="02010609060101010101" pitchFamily="49" charset="-122"/>
                <a:ea typeface="黑体" panose="02010609060101010101" pitchFamily="49" charset="-122"/>
              </a:rPr>
              <a:t>：</a:t>
            </a:r>
          </a:p>
          <a:p>
            <a:pPr lvl="1" eaLnBrk="1" hangingPunct="1">
              <a:lnSpc>
                <a:spcPct val="120000"/>
              </a:lnSpc>
              <a:buClr>
                <a:schemeClr val="tx2"/>
              </a:buClr>
              <a:buSzPct val="75000"/>
              <a:buFont typeface="Wingdings" panose="05000000000000000000" pitchFamily="2" charset="2"/>
              <a:buNone/>
            </a:pPr>
            <a:r>
              <a:rPr kumimoji="1" lang="zh-CN" altLang="en-US" dirty="0">
                <a:latin typeface="黑体" panose="02010609060101010101" pitchFamily="49" charset="-122"/>
                <a:ea typeface="黑体" panose="02010609060101010101" pitchFamily="49" charset="-122"/>
              </a:rPr>
              <a:t>酶催化活性最大时的环境</a:t>
            </a:r>
            <a:r>
              <a:rPr kumimoji="1" lang="en-US" altLang="zh-CN" dirty="0">
                <a:latin typeface="黑体" panose="02010609060101010101" pitchFamily="49" charset="-122"/>
                <a:ea typeface="黑体" panose="02010609060101010101" pitchFamily="49" charset="-122"/>
              </a:rPr>
              <a:t>pH</a:t>
            </a:r>
            <a:r>
              <a:rPr kumimoji="1" lang="zh-CN" altLang="en-US" dirty="0">
                <a:latin typeface="黑体" panose="02010609060101010101" pitchFamily="49" charset="-122"/>
                <a:ea typeface="黑体" panose="02010609060101010101" pitchFamily="49" charset="-122"/>
              </a:rPr>
              <a:t>。</a:t>
            </a:r>
          </a:p>
        </p:txBody>
      </p:sp>
      <p:grpSp>
        <p:nvGrpSpPr>
          <p:cNvPr id="262147" name="Group 3">
            <a:extLst>
              <a:ext uri="{FF2B5EF4-FFF2-40B4-BE49-F238E27FC236}">
                <a16:creationId xmlns:a16="http://schemas.microsoft.com/office/drawing/2014/main" id="{4D809579-4DAD-4375-BEFB-AE7438EDD566}"/>
              </a:ext>
            </a:extLst>
          </p:cNvPr>
          <p:cNvGrpSpPr>
            <a:grpSpLocks/>
          </p:cNvGrpSpPr>
          <p:nvPr/>
        </p:nvGrpSpPr>
        <p:grpSpPr bwMode="auto">
          <a:xfrm>
            <a:off x="6409792" y="2318711"/>
            <a:ext cx="4724400" cy="3744913"/>
            <a:chOff x="2592" y="1059"/>
            <a:chExt cx="2976" cy="2359"/>
          </a:xfrm>
        </p:grpSpPr>
        <p:grpSp>
          <p:nvGrpSpPr>
            <p:cNvPr id="262150" name="Group 4">
              <a:extLst>
                <a:ext uri="{FF2B5EF4-FFF2-40B4-BE49-F238E27FC236}">
                  <a16:creationId xmlns:a16="http://schemas.microsoft.com/office/drawing/2014/main" id="{0CA025C5-B74D-47D5-AA2F-8F4AB89AA6F4}"/>
                </a:ext>
              </a:extLst>
            </p:cNvPr>
            <p:cNvGrpSpPr>
              <a:grpSpLocks/>
            </p:cNvGrpSpPr>
            <p:nvPr/>
          </p:nvGrpSpPr>
          <p:grpSpPr bwMode="auto">
            <a:xfrm>
              <a:off x="2928" y="1344"/>
              <a:ext cx="2208" cy="1776"/>
              <a:chOff x="1536" y="1968"/>
              <a:chExt cx="2208" cy="1776"/>
            </a:xfrm>
          </p:grpSpPr>
          <p:sp>
            <p:nvSpPr>
              <p:cNvPr id="262155" name="Freeform 5">
                <a:extLst>
                  <a:ext uri="{FF2B5EF4-FFF2-40B4-BE49-F238E27FC236}">
                    <a16:creationId xmlns:a16="http://schemas.microsoft.com/office/drawing/2014/main" id="{D5AE8E2D-CECC-412F-A8BF-CB96FE6AA93C}"/>
                  </a:ext>
                </a:extLst>
              </p:cNvPr>
              <p:cNvSpPr>
                <a:spLocks/>
              </p:cNvSpPr>
              <p:nvPr/>
            </p:nvSpPr>
            <p:spPr bwMode="auto">
              <a:xfrm>
                <a:off x="1920" y="1984"/>
                <a:ext cx="1536" cy="1520"/>
              </a:xfrm>
              <a:custGeom>
                <a:avLst/>
                <a:gdLst>
                  <a:gd name="T0" fmla="*/ 0 w 1536"/>
                  <a:gd name="T1" fmla="*/ 1424 h 1520"/>
                  <a:gd name="T2" fmla="*/ 672 w 1536"/>
                  <a:gd name="T3" fmla="*/ 32 h 1520"/>
                  <a:gd name="T4" fmla="*/ 1104 w 1536"/>
                  <a:gd name="T5" fmla="*/ 1232 h 1520"/>
                  <a:gd name="T6" fmla="*/ 1536 w 1536"/>
                  <a:gd name="T7" fmla="*/ 1520 h 1520"/>
                  <a:gd name="T8" fmla="*/ 0 60000 65536"/>
                  <a:gd name="T9" fmla="*/ 0 60000 65536"/>
                  <a:gd name="T10" fmla="*/ 0 60000 65536"/>
                  <a:gd name="T11" fmla="*/ 0 60000 65536"/>
                  <a:gd name="T12" fmla="*/ 0 w 1536"/>
                  <a:gd name="T13" fmla="*/ 0 h 1520"/>
                  <a:gd name="T14" fmla="*/ 1536 w 1536"/>
                  <a:gd name="T15" fmla="*/ 1520 h 1520"/>
                </a:gdLst>
                <a:ahLst/>
                <a:cxnLst>
                  <a:cxn ang="T8">
                    <a:pos x="T0" y="T1"/>
                  </a:cxn>
                  <a:cxn ang="T9">
                    <a:pos x="T2" y="T3"/>
                  </a:cxn>
                  <a:cxn ang="T10">
                    <a:pos x="T4" y="T5"/>
                  </a:cxn>
                  <a:cxn ang="T11">
                    <a:pos x="T6" y="T7"/>
                  </a:cxn>
                </a:cxnLst>
                <a:rect l="T12" t="T13" r="T14" b="T15"/>
                <a:pathLst>
                  <a:path w="1536" h="1520">
                    <a:moveTo>
                      <a:pt x="0" y="1424"/>
                    </a:moveTo>
                    <a:cubicBezTo>
                      <a:pt x="244" y="744"/>
                      <a:pt x="488" y="64"/>
                      <a:pt x="672" y="32"/>
                    </a:cubicBezTo>
                    <a:cubicBezTo>
                      <a:pt x="856" y="0"/>
                      <a:pt x="960" y="984"/>
                      <a:pt x="1104" y="1232"/>
                    </a:cubicBezTo>
                    <a:cubicBezTo>
                      <a:pt x="1248" y="1480"/>
                      <a:pt x="1392" y="1500"/>
                      <a:pt x="1536" y="1520"/>
                    </a:cubicBezTo>
                  </a:path>
                </a:pathLst>
              </a:custGeom>
              <a:noFill/>
              <a:ln w="38100">
                <a:solidFill>
                  <a:srgbClr val="0000CC"/>
                </a:solidFill>
                <a:round/>
                <a:headEnd/>
                <a:tailEnd/>
              </a:ln>
              <a:extLst>
                <a:ext uri="{909E8E84-426E-40DD-AFC4-6F175D3DCCD1}">
                  <a14:hiddenFill xmlns:a14="http://schemas.microsoft.com/office/drawing/2010/main">
                    <a:solidFill>
                      <a:srgbClr val="FFFFFF"/>
                    </a:solidFill>
                  </a14:hiddenFill>
                </a:ext>
              </a:extLst>
            </p:spPr>
            <p:txBody>
              <a:bodyPr rIns="18000"/>
              <a:lstStyle/>
              <a:p>
                <a:endParaRPr lang="zh-CN" altLang="en-US"/>
              </a:p>
            </p:txBody>
          </p:sp>
          <p:sp>
            <p:nvSpPr>
              <p:cNvPr id="262156" name="Line 6">
                <a:extLst>
                  <a:ext uri="{FF2B5EF4-FFF2-40B4-BE49-F238E27FC236}">
                    <a16:creationId xmlns:a16="http://schemas.microsoft.com/office/drawing/2014/main" id="{D790D69B-C222-437B-8738-DC010203BB91}"/>
                  </a:ext>
                </a:extLst>
              </p:cNvPr>
              <p:cNvSpPr>
                <a:spLocks noChangeShapeType="1"/>
              </p:cNvSpPr>
              <p:nvPr/>
            </p:nvSpPr>
            <p:spPr bwMode="auto">
              <a:xfrm>
                <a:off x="2160" y="364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rIns="18000"/>
              <a:lstStyle/>
              <a:p>
                <a:endParaRPr lang="zh-CN" altLang="en-US"/>
              </a:p>
            </p:txBody>
          </p:sp>
          <p:sp>
            <p:nvSpPr>
              <p:cNvPr id="262157" name="Line 7">
                <a:extLst>
                  <a:ext uri="{FF2B5EF4-FFF2-40B4-BE49-F238E27FC236}">
                    <a16:creationId xmlns:a16="http://schemas.microsoft.com/office/drawing/2014/main" id="{16F01AE5-0986-4723-88C2-DF3D0D0538CB}"/>
                  </a:ext>
                </a:extLst>
              </p:cNvPr>
              <p:cNvSpPr>
                <a:spLocks noChangeShapeType="1"/>
              </p:cNvSpPr>
              <p:nvPr/>
            </p:nvSpPr>
            <p:spPr bwMode="auto">
              <a:xfrm>
                <a:off x="3024" y="364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rIns="18000"/>
              <a:lstStyle/>
              <a:p>
                <a:endParaRPr lang="zh-CN" altLang="en-US"/>
              </a:p>
            </p:txBody>
          </p:sp>
          <p:sp>
            <p:nvSpPr>
              <p:cNvPr id="262158" name="Line 8">
                <a:extLst>
                  <a:ext uri="{FF2B5EF4-FFF2-40B4-BE49-F238E27FC236}">
                    <a16:creationId xmlns:a16="http://schemas.microsoft.com/office/drawing/2014/main" id="{E17554B0-B302-4E1E-B235-41CD5B5B2A2C}"/>
                  </a:ext>
                </a:extLst>
              </p:cNvPr>
              <p:cNvSpPr>
                <a:spLocks noChangeShapeType="1"/>
              </p:cNvSpPr>
              <p:nvPr/>
            </p:nvSpPr>
            <p:spPr bwMode="auto">
              <a:xfrm>
                <a:off x="1536" y="3648"/>
                <a:ext cx="220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rIns="18000"/>
              <a:lstStyle/>
              <a:p>
                <a:endParaRPr lang="zh-CN" altLang="en-US"/>
              </a:p>
            </p:txBody>
          </p:sp>
          <p:sp>
            <p:nvSpPr>
              <p:cNvPr id="262159" name="Line 9">
                <a:extLst>
                  <a:ext uri="{FF2B5EF4-FFF2-40B4-BE49-F238E27FC236}">
                    <a16:creationId xmlns:a16="http://schemas.microsoft.com/office/drawing/2014/main" id="{4BA7D373-D572-4A5A-A9BA-896F8B4BCB6C}"/>
                  </a:ext>
                </a:extLst>
              </p:cNvPr>
              <p:cNvSpPr>
                <a:spLocks noChangeShapeType="1"/>
              </p:cNvSpPr>
              <p:nvPr/>
            </p:nvSpPr>
            <p:spPr bwMode="auto">
              <a:xfrm>
                <a:off x="1536" y="1968"/>
                <a:ext cx="0" cy="1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rIns="18000"/>
              <a:lstStyle/>
              <a:p>
                <a:endParaRPr lang="zh-CN" altLang="en-US"/>
              </a:p>
            </p:txBody>
          </p:sp>
          <p:sp>
            <p:nvSpPr>
              <p:cNvPr id="262160" name="Line 10">
                <a:extLst>
                  <a:ext uri="{FF2B5EF4-FFF2-40B4-BE49-F238E27FC236}">
                    <a16:creationId xmlns:a16="http://schemas.microsoft.com/office/drawing/2014/main" id="{A8E5456F-BD02-4767-BF00-B68C53471355}"/>
                  </a:ext>
                </a:extLst>
              </p:cNvPr>
              <p:cNvSpPr>
                <a:spLocks noChangeShapeType="1"/>
              </p:cNvSpPr>
              <p:nvPr/>
            </p:nvSpPr>
            <p:spPr bwMode="auto">
              <a:xfrm>
                <a:off x="2592" y="2016"/>
                <a:ext cx="0" cy="1632"/>
              </a:xfrm>
              <a:prstGeom prst="line">
                <a:avLst/>
              </a:prstGeom>
              <a:noFill/>
              <a:ln w="28575">
                <a:solidFill>
                  <a:srgbClr val="0000CC"/>
                </a:solidFill>
                <a:prstDash val="sysDot"/>
                <a:round/>
                <a:headEnd/>
                <a:tailEnd/>
              </a:ln>
              <a:extLst>
                <a:ext uri="{909E8E84-426E-40DD-AFC4-6F175D3DCCD1}">
                  <a14:hiddenFill xmlns:a14="http://schemas.microsoft.com/office/drawing/2010/main">
                    <a:noFill/>
                  </a14:hiddenFill>
                </a:ext>
              </a:extLst>
            </p:spPr>
            <p:txBody>
              <a:bodyPr rIns="18000"/>
              <a:lstStyle/>
              <a:p>
                <a:endParaRPr lang="zh-CN" altLang="en-US"/>
              </a:p>
            </p:txBody>
          </p:sp>
        </p:grpSp>
        <p:sp>
          <p:nvSpPr>
            <p:cNvPr id="996363" name="Text Box 11">
              <a:extLst>
                <a:ext uri="{FF2B5EF4-FFF2-40B4-BE49-F238E27FC236}">
                  <a16:creationId xmlns:a16="http://schemas.microsoft.com/office/drawing/2014/main" id="{40C1E2BA-D381-4232-B6A8-A5E44247D207}"/>
                </a:ext>
              </a:extLst>
            </p:cNvPr>
            <p:cNvSpPr txBox="1">
              <a:spLocks noChangeArrowheads="1"/>
            </p:cNvSpPr>
            <p:nvPr/>
          </p:nvSpPr>
          <p:spPr bwMode="auto">
            <a:xfrm>
              <a:off x="3360" y="3168"/>
              <a:ext cx="1440" cy="250"/>
            </a:xfrm>
            <a:prstGeom prst="rect">
              <a:avLst/>
            </a:prstGeom>
            <a:noFill/>
            <a:ln w="9525">
              <a:noFill/>
              <a:miter lim="800000"/>
              <a:headEnd/>
              <a:tailEnd/>
            </a:ln>
            <a:effectLst/>
          </p:spPr>
          <p:txBody>
            <a:bodyPr rIns="18000">
              <a:spAutoFit/>
            </a:bodyPr>
            <a:lstStyle/>
            <a:p>
              <a:pPr eaLnBrk="1" hangingPunct="1">
                <a:spcBef>
                  <a:spcPct val="50000"/>
                </a:spcBef>
                <a:buClr>
                  <a:schemeClr val="hlink"/>
                </a:buClr>
                <a:buSzPct val="60000"/>
                <a:buFont typeface="Wingdings" pitchFamily="2" charset="2"/>
                <a:buNone/>
                <a:defRPr/>
              </a:pPr>
              <a:r>
                <a:rPr lang="en-US" altLang="zh-CN" sz="2000" b="1">
                  <a:effectLst>
                    <a:outerShdw blurRad="38100" dist="38100" dir="2700000" algn="tl">
                      <a:srgbClr val="C0C0C0"/>
                    </a:outerShdw>
                  </a:effectLst>
                  <a:latin typeface="Times New Roman" pitchFamily="18" charset="0"/>
                  <a:ea typeface="黑体" pitchFamily="49" charset="-122"/>
                </a:rPr>
                <a:t>   6                    10</a:t>
              </a:r>
            </a:p>
          </p:txBody>
        </p:sp>
        <p:sp>
          <p:nvSpPr>
            <p:cNvPr id="262152" name="Text Box 12">
              <a:extLst>
                <a:ext uri="{FF2B5EF4-FFF2-40B4-BE49-F238E27FC236}">
                  <a16:creationId xmlns:a16="http://schemas.microsoft.com/office/drawing/2014/main" id="{3B8D53CF-6B20-40C3-8B7C-A440108973B8}"/>
                </a:ext>
              </a:extLst>
            </p:cNvPr>
            <p:cNvSpPr txBox="1">
              <a:spLocks noChangeArrowheads="1"/>
            </p:cNvSpPr>
            <p:nvPr/>
          </p:nvSpPr>
          <p:spPr bwMode="auto">
            <a:xfrm>
              <a:off x="5088" y="3024"/>
              <a:ext cx="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180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Clr>
                  <a:schemeClr val="hlink"/>
                </a:buClr>
                <a:buSzPct val="60000"/>
                <a:buFont typeface="Wingdings" panose="05000000000000000000" pitchFamily="2" charset="2"/>
                <a:buNone/>
              </a:pPr>
              <a:r>
                <a:rPr lang="en-US" altLang="zh-CN" sz="2800" b="1">
                  <a:latin typeface="Times New Roman" panose="02020603050405020304" pitchFamily="18" charset="0"/>
                  <a:ea typeface="黑体" panose="02010609060101010101" pitchFamily="49" charset="-122"/>
                </a:rPr>
                <a:t>pH</a:t>
              </a:r>
            </a:p>
          </p:txBody>
        </p:sp>
        <p:sp>
          <p:nvSpPr>
            <p:cNvPr id="262153" name="Text Box 13">
              <a:extLst>
                <a:ext uri="{FF2B5EF4-FFF2-40B4-BE49-F238E27FC236}">
                  <a16:creationId xmlns:a16="http://schemas.microsoft.com/office/drawing/2014/main" id="{96376B59-2E12-4E1A-8561-C257C7FCDE0D}"/>
                </a:ext>
              </a:extLst>
            </p:cNvPr>
            <p:cNvSpPr txBox="1">
              <a:spLocks noChangeArrowheads="1"/>
            </p:cNvSpPr>
            <p:nvPr/>
          </p:nvSpPr>
          <p:spPr bwMode="auto">
            <a:xfrm>
              <a:off x="3600" y="1059"/>
              <a:ext cx="103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180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Clr>
                  <a:schemeClr val="hlink"/>
                </a:buClr>
                <a:buSzPct val="60000"/>
                <a:buFont typeface="Wingdings" panose="05000000000000000000" pitchFamily="2" charset="2"/>
                <a:buNone/>
              </a:pPr>
              <a:r>
                <a:rPr lang="zh-CN" altLang="en-US" sz="2800" b="1">
                  <a:latin typeface="Times New Roman" panose="02020603050405020304" pitchFamily="18" charset="0"/>
                  <a:ea typeface="黑体" panose="02010609060101010101" pitchFamily="49" charset="-122"/>
                </a:rPr>
                <a:t>最适</a:t>
              </a:r>
              <a:r>
                <a:rPr lang="en-US" altLang="zh-CN" sz="2800" b="1">
                  <a:latin typeface="Times New Roman" panose="02020603050405020304" pitchFamily="18" charset="0"/>
                  <a:ea typeface="黑体" panose="02010609060101010101" pitchFamily="49" charset="-122"/>
                </a:rPr>
                <a:t>pH</a:t>
              </a:r>
            </a:p>
          </p:txBody>
        </p:sp>
        <p:sp>
          <p:nvSpPr>
            <p:cNvPr id="996366" name="Text Box 14">
              <a:extLst>
                <a:ext uri="{FF2B5EF4-FFF2-40B4-BE49-F238E27FC236}">
                  <a16:creationId xmlns:a16="http://schemas.microsoft.com/office/drawing/2014/main" id="{8CB05034-94DC-451C-B8DE-8D3A27CBD51A}"/>
                </a:ext>
              </a:extLst>
            </p:cNvPr>
            <p:cNvSpPr txBox="1">
              <a:spLocks noChangeArrowheads="1"/>
            </p:cNvSpPr>
            <p:nvPr/>
          </p:nvSpPr>
          <p:spPr bwMode="auto">
            <a:xfrm>
              <a:off x="2592" y="1392"/>
              <a:ext cx="336" cy="733"/>
            </a:xfrm>
            <a:prstGeom prst="rect">
              <a:avLst/>
            </a:prstGeom>
            <a:noFill/>
            <a:ln w="9525">
              <a:noFill/>
              <a:miter lim="800000"/>
              <a:headEnd/>
              <a:tailEnd/>
            </a:ln>
            <a:effectLst/>
          </p:spPr>
          <p:txBody>
            <a:bodyPr rIns="18000">
              <a:spAutoFit/>
            </a:bodyPr>
            <a:lstStyle/>
            <a:p>
              <a:pPr eaLnBrk="1" hangingPunct="1">
                <a:lnSpc>
                  <a:spcPct val="90000"/>
                </a:lnSpc>
                <a:spcBef>
                  <a:spcPct val="10000"/>
                </a:spcBef>
                <a:buClr>
                  <a:schemeClr val="hlink"/>
                </a:buClr>
                <a:buSzPct val="60000"/>
                <a:buFont typeface="Wingdings" pitchFamily="2" charset="2"/>
                <a:buNone/>
                <a:defRPr/>
              </a:pPr>
              <a:r>
                <a:rPr lang="zh-CN" altLang="en-US" sz="2400" dirty="0">
                  <a:effectLst>
                    <a:outerShdw blurRad="38100" dist="38100" dir="2700000" algn="tl">
                      <a:srgbClr val="C0C0C0"/>
                    </a:outerShdw>
                  </a:effectLst>
                  <a:latin typeface="Times New Roman" pitchFamily="18" charset="0"/>
                  <a:ea typeface="黑体" pitchFamily="49" charset="-122"/>
                </a:rPr>
                <a:t>酶</a:t>
              </a:r>
            </a:p>
            <a:p>
              <a:pPr eaLnBrk="1" hangingPunct="1">
                <a:lnSpc>
                  <a:spcPct val="90000"/>
                </a:lnSpc>
                <a:spcBef>
                  <a:spcPct val="10000"/>
                </a:spcBef>
                <a:buClr>
                  <a:schemeClr val="hlink"/>
                </a:buClr>
                <a:buSzPct val="60000"/>
                <a:buFont typeface="Wingdings" pitchFamily="2" charset="2"/>
                <a:buNone/>
                <a:defRPr/>
              </a:pPr>
              <a:r>
                <a:rPr lang="zh-CN" altLang="en-US" sz="2400" dirty="0">
                  <a:effectLst>
                    <a:outerShdw blurRad="38100" dist="38100" dir="2700000" algn="tl">
                      <a:srgbClr val="C0C0C0"/>
                    </a:outerShdw>
                  </a:effectLst>
                  <a:latin typeface="Times New Roman" pitchFamily="18" charset="0"/>
                  <a:ea typeface="黑体" pitchFamily="49" charset="-122"/>
                </a:rPr>
                <a:t>活</a:t>
              </a:r>
            </a:p>
            <a:p>
              <a:pPr eaLnBrk="1" hangingPunct="1">
                <a:lnSpc>
                  <a:spcPct val="90000"/>
                </a:lnSpc>
                <a:spcBef>
                  <a:spcPct val="10000"/>
                </a:spcBef>
                <a:buClr>
                  <a:schemeClr val="hlink"/>
                </a:buClr>
                <a:buSzPct val="60000"/>
                <a:buFont typeface="Wingdings" pitchFamily="2" charset="2"/>
                <a:buNone/>
                <a:defRPr/>
              </a:pPr>
              <a:r>
                <a:rPr lang="zh-CN" altLang="en-US" sz="2400" dirty="0">
                  <a:effectLst>
                    <a:outerShdw blurRad="38100" dist="38100" dir="2700000" algn="tl">
                      <a:srgbClr val="C0C0C0"/>
                    </a:outerShdw>
                  </a:effectLst>
                  <a:latin typeface="Times New Roman" pitchFamily="18" charset="0"/>
                  <a:ea typeface="黑体" pitchFamily="49" charset="-122"/>
                </a:rPr>
                <a:t>性 </a:t>
              </a:r>
            </a:p>
          </p:txBody>
        </p:sp>
      </p:grpSp>
      <p:sp>
        <p:nvSpPr>
          <p:cNvPr id="262148" name="AutoShape 16">
            <a:extLst>
              <a:ext uri="{FF2B5EF4-FFF2-40B4-BE49-F238E27FC236}">
                <a16:creationId xmlns:a16="http://schemas.microsoft.com/office/drawing/2014/main" id="{BD9295C2-D348-4B1E-92F4-A4CA9959B97A}"/>
              </a:ext>
            </a:extLst>
          </p:cNvPr>
          <p:cNvSpPr>
            <a:spLocks noChangeArrowheads="1"/>
          </p:cNvSpPr>
          <p:nvPr/>
        </p:nvSpPr>
        <p:spPr bwMode="auto">
          <a:xfrm>
            <a:off x="2711625" y="418462"/>
            <a:ext cx="7344097" cy="1290633"/>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None/>
            </a:pPr>
            <a:r>
              <a:rPr kumimoji="1" lang="zh-CN" altLang="en-US" b="1" dirty="0">
                <a:solidFill>
                  <a:schemeClr val="bg1"/>
                </a:solidFill>
                <a:latin typeface="Times New Roman" panose="02020603050405020304" pitchFamily="18" charset="0"/>
                <a:ea typeface="黑体" panose="02010609060101010101" pitchFamily="49" charset="-122"/>
              </a:rPr>
              <a:t>四、 </a:t>
            </a:r>
            <a:r>
              <a:rPr kumimoji="1" lang="en-US" altLang="zh-CN" b="1" dirty="0">
                <a:solidFill>
                  <a:schemeClr val="bg1"/>
                </a:solidFill>
                <a:latin typeface="Times New Roman" panose="02020603050405020304" pitchFamily="18" charset="0"/>
                <a:ea typeface="黑体" panose="02010609060101010101" pitchFamily="49" charset="-122"/>
              </a:rPr>
              <a:t>pH </a:t>
            </a:r>
            <a:r>
              <a:rPr kumimoji="1" lang="zh-CN" altLang="en-US" b="1" dirty="0">
                <a:solidFill>
                  <a:schemeClr val="bg1"/>
                </a:solidFill>
                <a:latin typeface="Times New Roman" panose="02020603050405020304" pitchFamily="18" charset="0"/>
                <a:ea typeface="黑体" panose="02010609060101010101" pitchFamily="49" charset="-122"/>
              </a:rPr>
              <a:t>通过改变酶分子及底物分子的</a:t>
            </a:r>
            <a:endParaRPr kumimoji="1" lang="en-US" altLang="zh-CN" b="1" dirty="0">
              <a:solidFill>
                <a:schemeClr val="bg1"/>
              </a:solidFill>
              <a:latin typeface="Times New Roman" panose="02020603050405020304" pitchFamily="18" charset="0"/>
              <a:ea typeface="黑体" panose="02010609060101010101" pitchFamily="49" charset="-122"/>
            </a:endParaRPr>
          </a:p>
          <a:p>
            <a:pPr algn="ctr" eaLnBrk="1" hangingPunct="1">
              <a:lnSpc>
                <a:spcPct val="90000"/>
              </a:lnSpc>
              <a:buClr>
                <a:schemeClr val="tx2"/>
              </a:buClr>
              <a:buSzPct val="75000"/>
              <a:buNone/>
            </a:pPr>
            <a:r>
              <a:rPr kumimoji="1" lang="zh-CN" altLang="en-US" b="1" dirty="0">
                <a:solidFill>
                  <a:schemeClr val="bg1"/>
                </a:solidFill>
                <a:latin typeface="Times New Roman" panose="02020603050405020304" pitchFamily="18" charset="0"/>
                <a:ea typeface="黑体" panose="02010609060101010101" pitchFamily="49" charset="-122"/>
              </a:rPr>
              <a:t>解离状态影响酶促反应速率</a:t>
            </a:r>
          </a:p>
        </p:txBody>
      </p:sp>
      <p:sp>
        <p:nvSpPr>
          <p:cNvPr id="262149" name="矩形 2">
            <a:extLst>
              <a:ext uri="{FF2B5EF4-FFF2-40B4-BE49-F238E27FC236}">
                <a16:creationId xmlns:a16="http://schemas.microsoft.com/office/drawing/2014/main" id="{33812C96-022F-4F68-BCB8-1FC67F4E301B}"/>
              </a:ext>
            </a:extLst>
          </p:cNvPr>
          <p:cNvSpPr>
            <a:spLocks noChangeArrowheads="1"/>
          </p:cNvSpPr>
          <p:nvPr/>
        </p:nvSpPr>
        <p:spPr bwMode="auto">
          <a:xfrm>
            <a:off x="1019444" y="3810704"/>
            <a:ext cx="5161743"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20000"/>
              </a:lnSpc>
              <a:spcBef>
                <a:spcPct val="0"/>
              </a:spcBef>
              <a:buFontTx/>
              <a:buNone/>
            </a:pPr>
            <a:r>
              <a:rPr lang="zh-CN" altLang="en-US" sz="2800" dirty="0">
                <a:latin typeface="黑体" panose="02010609060101010101" pitchFamily="49" charset="-122"/>
                <a:ea typeface="黑体" panose="02010609060101010101" pitchFamily="49" charset="-122"/>
              </a:rPr>
              <a:t>体内酶的最适</a:t>
            </a:r>
            <a:r>
              <a:rPr lang="en-US" altLang="zh-CN" sz="2800" dirty="0">
                <a:latin typeface="黑体" panose="02010609060101010101" pitchFamily="49" charset="-122"/>
                <a:ea typeface="黑体" panose="02010609060101010101" pitchFamily="49" charset="-122"/>
              </a:rPr>
              <a:t>pH</a:t>
            </a:r>
            <a:r>
              <a:rPr lang="zh-CN" altLang="en-US" sz="2800" dirty="0">
                <a:latin typeface="黑体" panose="02010609060101010101" pitchFamily="49" charset="-122"/>
                <a:ea typeface="黑体" panose="02010609060101010101" pitchFamily="49" charset="-122"/>
              </a:rPr>
              <a:t>多在</a:t>
            </a:r>
            <a:r>
              <a:rPr lang="en-US" altLang="zh-CN" sz="2800" dirty="0">
                <a:solidFill>
                  <a:srgbClr val="0000FF"/>
                </a:solidFill>
                <a:latin typeface="黑体" panose="02010609060101010101" pitchFamily="49" charset="-122"/>
                <a:ea typeface="黑体" panose="02010609060101010101" pitchFamily="49" charset="-122"/>
              </a:rPr>
              <a:t>6.5</a:t>
            </a:r>
            <a:r>
              <a:rPr lang="zh-CN" altLang="en-US" sz="2800" dirty="0">
                <a:solidFill>
                  <a:srgbClr val="0000FF"/>
                </a:solidFill>
                <a:latin typeface="黑体" panose="02010609060101010101" pitchFamily="49" charset="-122"/>
                <a:ea typeface="黑体" panose="02010609060101010101" pitchFamily="49" charset="-122"/>
              </a:rPr>
              <a:t>～</a:t>
            </a:r>
            <a:r>
              <a:rPr lang="en-US" altLang="zh-CN" sz="2800" dirty="0">
                <a:solidFill>
                  <a:srgbClr val="0000FF"/>
                </a:solidFill>
                <a:latin typeface="黑体" panose="02010609060101010101" pitchFamily="49" charset="-122"/>
                <a:ea typeface="黑体" panose="02010609060101010101" pitchFamily="49" charset="-122"/>
              </a:rPr>
              <a:t>8</a:t>
            </a:r>
            <a:r>
              <a:rPr lang="zh-CN" altLang="en-US" sz="2800" dirty="0">
                <a:latin typeface="黑体" panose="02010609060101010101" pitchFamily="49" charset="-122"/>
                <a:ea typeface="黑体" panose="02010609060101010101" pitchFamily="49" charset="-122"/>
              </a:rPr>
              <a:t>之间</a:t>
            </a:r>
          </a:p>
        </p:txBody>
      </p:sp>
      <p:sp>
        <p:nvSpPr>
          <p:cNvPr id="3" name="文本框 2">
            <a:extLst>
              <a:ext uri="{FF2B5EF4-FFF2-40B4-BE49-F238E27FC236}">
                <a16:creationId xmlns:a16="http://schemas.microsoft.com/office/drawing/2014/main" id="{C61653D2-BEB9-7913-127C-B84DDC3729FB}"/>
              </a:ext>
            </a:extLst>
          </p:cNvPr>
          <p:cNvSpPr txBox="1"/>
          <p:nvPr/>
        </p:nvSpPr>
        <p:spPr>
          <a:xfrm>
            <a:off x="948933" y="4728372"/>
            <a:ext cx="5442319" cy="1436932"/>
          </a:xfrm>
          <a:prstGeom prst="rect">
            <a:avLst/>
          </a:prstGeom>
          <a:noFill/>
        </p:spPr>
        <p:txBody>
          <a:bodyPr wrap="square">
            <a:spAutoFit/>
          </a:bodyPr>
          <a:lstStyle/>
          <a:p>
            <a:pPr>
              <a:lnSpc>
                <a:spcPct val="120000"/>
              </a:lnSpc>
            </a:pPr>
            <a:r>
              <a:rPr lang="zh-CN" altLang="en-US" sz="2800" dirty="0">
                <a:solidFill>
                  <a:srgbClr val="0000FF"/>
                </a:solidFill>
                <a:latin typeface="黑体" panose="02010609060101010101" pitchFamily="49" charset="-122"/>
                <a:ea typeface="黑体" panose="02010609060101010101" pitchFamily="49" charset="-122"/>
              </a:rPr>
              <a:t>不是酶的特征性常数</a:t>
            </a:r>
            <a:r>
              <a:rPr lang="en-US" altLang="zh-CN" sz="2800" dirty="0">
                <a:solidFill>
                  <a:srgbClr val="0000FF"/>
                </a:solidFill>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受底物浓度，缓冲溶液种类及浓度、酶的纯度等因素影响。</a:t>
            </a:r>
            <a:endParaRPr lang="en-US" altLang="zh-CN" sz="240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4194" name="Group 2">
            <a:extLst>
              <a:ext uri="{FF2B5EF4-FFF2-40B4-BE49-F238E27FC236}">
                <a16:creationId xmlns:a16="http://schemas.microsoft.com/office/drawing/2014/main" id="{DD531FDE-751F-4BDE-A8F7-A3D4795C2524}"/>
              </a:ext>
            </a:extLst>
          </p:cNvPr>
          <p:cNvGrpSpPr>
            <a:grpSpLocks/>
          </p:cNvGrpSpPr>
          <p:nvPr/>
        </p:nvGrpSpPr>
        <p:grpSpPr bwMode="auto">
          <a:xfrm>
            <a:off x="3287713" y="836614"/>
            <a:ext cx="5988050" cy="4752975"/>
            <a:chOff x="1111" y="663"/>
            <a:chExt cx="3772" cy="2994"/>
          </a:xfrm>
        </p:grpSpPr>
        <p:sp>
          <p:nvSpPr>
            <p:cNvPr id="1000451" name="Text Box 3">
              <a:extLst>
                <a:ext uri="{FF2B5EF4-FFF2-40B4-BE49-F238E27FC236}">
                  <a16:creationId xmlns:a16="http://schemas.microsoft.com/office/drawing/2014/main" id="{43581912-CBCA-4DDF-8BFA-72A41DD3A06B}"/>
                </a:ext>
              </a:extLst>
            </p:cNvPr>
            <p:cNvSpPr txBox="1">
              <a:spLocks noChangeArrowheads="1"/>
            </p:cNvSpPr>
            <p:nvPr/>
          </p:nvSpPr>
          <p:spPr bwMode="auto">
            <a:xfrm>
              <a:off x="1338" y="663"/>
              <a:ext cx="2925" cy="441"/>
            </a:xfrm>
            <a:prstGeom prst="rect">
              <a:avLst/>
            </a:prstGeom>
            <a:noFill/>
            <a:ln w="9525">
              <a:noFill/>
              <a:miter lim="800000"/>
              <a:headEnd/>
              <a:tailEnd/>
            </a:ln>
            <a:effectLst/>
          </p:spPr>
          <p:txBody>
            <a:bodyPr wrap="none">
              <a:spAutoFit/>
            </a:bodyPr>
            <a:lstStyle/>
            <a:p>
              <a:pPr eaLnBrk="1" hangingPunct="1">
                <a:lnSpc>
                  <a:spcPct val="140000"/>
                </a:lnSpc>
                <a:defRPr/>
              </a:pPr>
              <a:r>
                <a:rPr kumimoji="1" lang="zh-CN" altLang="en-US" sz="3200" dirty="0">
                  <a:solidFill>
                    <a:srgbClr val="0000CC"/>
                  </a:solidFill>
                  <a:latin typeface="Times New Roman" pitchFamily="18" charset="0"/>
                  <a:ea typeface="黑体" pitchFamily="49" charset="-122"/>
                </a:rPr>
                <a:t>人体部分酶的最适 </a:t>
              </a:r>
              <a:r>
                <a:rPr kumimoji="1" lang="en-US" altLang="zh-CN" sz="3200" dirty="0">
                  <a:solidFill>
                    <a:srgbClr val="0000CC"/>
                  </a:solidFill>
                  <a:latin typeface="Times New Roman" pitchFamily="18" charset="0"/>
                  <a:ea typeface="黑体" pitchFamily="49" charset="-122"/>
                </a:rPr>
                <a:t>pH</a:t>
              </a:r>
              <a:r>
                <a:rPr kumimoji="1" lang="en-US" altLang="zh-CN" sz="3200" dirty="0">
                  <a:solidFill>
                    <a:srgbClr val="0000CC"/>
                  </a:solidFill>
                  <a:effectLst>
                    <a:outerShdw blurRad="38100" dist="38100" dir="2700000" algn="tl">
                      <a:srgbClr val="C0C0C0"/>
                    </a:outerShdw>
                  </a:effectLst>
                  <a:latin typeface="Times New Roman" pitchFamily="18" charset="0"/>
                  <a:ea typeface="黑体" pitchFamily="49" charset="-122"/>
                </a:rPr>
                <a:t> </a:t>
              </a:r>
              <a:r>
                <a:rPr kumimoji="1" lang="zh-CN" altLang="zh-CN" sz="3200" dirty="0">
                  <a:solidFill>
                    <a:srgbClr val="0000CC"/>
                  </a:solidFill>
                  <a:latin typeface="Times New Roman" pitchFamily="18" charset="0"/>
                  <a:ea typeface="黑体" pitchFamily="49" charset="-122"/>
                </a:rPr>
                <a:t>值</a:t>
              </a:r>
              <a:endParaRPr kumimoji="1" lang="zh-CN" altLang="en-US" sz="3200" dirty="0">
                <a:solidFill>
                  <a:srgbClr val="0000CC"/>
                </a:solidFill>
                <a:latin typeface="Times New Roman" pitchFamily="18" charset="0"/>
                <a:ea typeface="黑体" pitchFamily="49" charset="-122"/>
              </a:endParaRPr>
            </a:p>
          </p:txBody>
        </p:sp>
        <p:sp>
          <p:nvSpPr>
            <p:cNvPr id="1000452" name="Text Box 4">
              <a:extLst>
                <a:ext uri="{FF2B5EF4-FFF2-40B4-BE49-F238E27FC236}">
                  <a16:creationId xmlns:a16="http://schemas.microsoft.com/office/drawing/2014/main" id="{D3C48B5F-4021-4C0C-ACA1-4E0337454DD5}"/>
                </a:ext>
              </a:extLst>
            </p:cNvPr>
            <p:cNvSpPr txBox="1">
              <a:spLocks noChangeArrowheads="1"/>
            </p:cNvSpPr>
            <p:nvPr/>
          </p:nvSpPr>
          <p:spPr bwMode="auto">
            <a:xfrm>
              <a:off x="1254" y="1298"/>
              <a:ext cx="3629" cy="2319"/>
            </a:xfrm>
            <a:prstGeom prst="rect">
              <a:avLst/>
            </a:prstGeom>
            <a:noFill/>
            <a:ln w="9525">
              <a:noFill/>
              <a:miter lim="800000"/>
              <a:headEnd/>
              <a:tailEnd/>
            </a:ln>
            <a:effectLst/>
          </p:spPr>
          <p:txBody>
            <a:bodyPr>
              <a:spAutoFit/>
            </a:bodyPr>
            <a:lstStyle/>
            <a:p>
              <a:pPr eaLnBrk="1" hangingPunct="1">
                <a:lnSpc>
                  <a:spcPct val="120000"/>
                </a:lnSpc>
                <a:defRPr/>
              </a:pPr>
              <a:r>
                <a:rPr kumimoji="1" lang="en-US" altLang="zh-CN" sz="2800" dirty="0">
                  <a:solidFill>
                    <a:srgbClr val="FFFF66"/>
                  </a:solidFill>
                  <a:effectLst>
                    <a:outerShdw blurRad="38100" dist="38100" dir="2700000" algn="tl">
                      <a:srgbClr val="C0C0C0"/>
                    </a:outerShdw>
                  </a:effectLst>
                  <a:latin typeface="Times New Roman" pitchFamily="18" charset="0"/>
                  <a:ea typeface="黑体" pitchFamily="49" charset="-122"/>
                </a:rPr>
                <a:t>  </a:t>
              </a:r>
              <a:r>
                <a:rPr kumimoji="1" lang="zh-CN" altLang="en-US" sz="2800" dirty="0">
                  <a:solidFill>
                    <a:srgbClr val="FF3300"/>
                  </a:solidFill>
                  <a:latin typeface="Times New Roman" pitchFamily="18" charset="0"/>
                  <a:ea typeface="黑体" pitchFamily="49" charset="-122"/>
                </a:rPr>
                <a:t>酶                                最适 </a:t>
              </a:r>
              <a:r>
                <a:rPr kumimoji="1" lang="en-US" altLang="zh-CN" sz="2800" dirty="0">
                  <a:solidFill>
                    <a:srgbClr val="FF3300"/>
                  </a:solidFill>
                  <a:latin typeface="Times New Roman" pitchFamily="18" charset="0"/>
                  <a:ea typeface="黑体" pitchFamily="49" charset="-122"/>
                </a:rPr>
                <a:t>pH</a:t>
              </a:r>
            </a:p>
            <a:p>
              <a:pPr eaLnBrk="1" hangingPunct="1">
                <a:lnSpc>
                  <a:spcPct val="120000"/>
                </a:lnSpc>
                <a:defRPr/>
              </a:pPr>
              <a:r>
                <a:rPr kumimoji="1" lang="zh-CN" altLang="en-US" sz="2800" dirty="0">
                  <a:solidFill>
                    <a:srgbClr val="0000CC"/>
                  </a:solidFill>
                  <a:latin typeface="Times New Roman" pitchFamily="18" charset="0"/>
                  <a:ea typeface="黑体" pitchFamily="49" charset="-122"/>
                </a:rPr>
                <a:t>胃蛋白酶                          </a:t>
              </a:r>
              <a:r>
                <a:rPr kumimoji="1" lang="en-US" altLang="zh-CN" sz="2800" dirty="0">
                  <a:solidFill>
                    <a:srgbClr val="FF0000"/>
                  </a:solidFill>
                  <a:latin typeface="Times New Roman" pitchFamily="18" charset="0"/>
                  <a:ea typeface="黑体" pitchFamily="49" charset="-122"/>
                </a:rPr>
                <a:t>1.8</a:t>
              </a:r>
            </a:p>
            <a:p>
              <a:pPr eaLnBrk="1" hangingPunct="1">
                <a:lnSpc>
                  <a:spcPct val="120000"/>
                </a:lnSpc>
                <a:defRPr/>
              </a:pPr>
              <a:r>
                <a:rPr kumimoji="1" lang="zh-CN" altLang="en-US" sz="2800" dirty="0">
                  <a:latin typeface="Times New Roman" pitchFamily="18" charset="0"/>
                  <a:ea typeface="黑体" pitchFamily="49" charset="-122"/>
                </a:rPr>
                <a:t>过氧化氢酶                      </a:t>
              </a:r>
              <a:r>
                <a:rPr kumimoji="1" lang="en-US" altLang="zh-CN" sz="2800" dirty="0">
                  <a:latin typeface="Times New Roman" pitchFamily="18" charset="0"/>
                  <a:ea typeface="黑体" pitchFamily="49" charset="-122"/>
                </a:rPr>
                <a:t>7.6</a:t>
              </a:r>
            </a:p>
            <a:p>
              <a:pPr eaLnBrk="1" hangingPunct="1">
                <a:lnSpc>
                  <a:spcPct val="120000"/>
                </a:lnSpc>
                <a:defRPr/>
              </a:pPr>
              <a:r>
                <a:rPr kumimoji="1" lang="zh-CN" altLang="en-US" sz="2800" dirty="0">
                  <a:latin typeface="Times New Roman" pitchFamily="18" charset="0"/>
                  <a:ea typeface="黑体" pitchFamily="49" charset="-122"/>
                </a:rPr>
                <a:t>胰蛋白酶                          </a:t>
              </a:r>
              <a:r>
                <a:rPr kumimoji="1" lang="en-US" altLang="zh-CN" sz="2800" dirty="0">
                  <a:latin typeface="Times New Roman" pitchFamily="18" charset="0"/>
                  <a:ea typeface="黑体" pitchFamily="49" charset="-122"/>
                </a:rPr>
                <a:t>7.7</a:t>
              </a:r>
            </a:p>
            <a:p>
              <a:pPr eaLnBrk="1" hangingPunct="1">
                <a:lnSpc>
                  <a:spcPct val="120000"/>
                </a:lnSpc>
                <a:defRPr/>
              </a:pPr>
              <a:r>
                <a:rPr kumimoji="1" lang="zh-CN" altLang="en-US" sz="2800" dirty="0">
                  <a:latin typeface="Times New Roman" pitchFamily="18" charset="0"/>
                  <a:ea typeface="黑体" pitchFamily="49" charset="-122"/>
                </a:rPr>
                <a:t>延胡索酸酶                      </a:t>
              </a:r>
              <a:r>
                <a:rPr kumimoji="1" lang="en-US" altLang="zh-CN" sz="2800" dirty="0">
                  <a:latin typeface="Times New Roman" pitchFamily="18" charset="0"/>
                  <a:ea typeface="黑体" pitchFamily="49" charset="-122"/>
                </a:rPr>
                <a:t>7.8</a:t>
              </a:r>
            </a:p>
            <a:p>
              <a:pPr eaLnBrk="1" hangingPunct="1">
                <a:lnSpc>
                  <a:spcPct val="120000"/>
                </a:lnSpc>
                <a:defRPr/>
              </a:pPr>
              <a:r>
                <a:rPr kumimoji="1" lang="zh-CN" altLang="en-US" sz="2800" dirty="0">
                  <a:latin typeface="Times New Roman" pitchFamily="18" charset="0"/>
                  <a:ea typeface="黑体" pitchFamily="49" charset="-122"/>
                </a:rPr>
                <a:t>核糖核酸酶                      </a:t>
              </a:r>
              <a:r>
                <a:rPr kumimoji="1" lang="en-US" altLang="zh-CN" sz="2800" dirty="0">
                  <a:latin typeface="Times New Roman" pitchFamily="18" charset="0"/>
                  <a:ea typeface="黑体" pitchFamily="49" charset="-122"/>
                </a:rPr>
                <a:t>7.8</a:t>
              </a:r>
            </a:p>
            <a:p>
              <a:pPr eaLnBrk="1" hangingPunct="1">
                <a:lnSpc>
                  <a:spcPct val="120000"/>
                </a:lnSpc>
                <a:defRPr/>
              </a:pPr>
              <a:r>
                <a:rPr kumimoji="1" lang="zh-CN" altLang="en-US" sz="2800" dirty="0">
                  <a:solidFill>
                    <a:srgbClr val="0000CC"/>
                  </a:solidFill>
                  <a:latin typeface="Times New Roman" pitchFamily="18" charset="0"/>
                  <a:ea typeface="黑体" pitchFamily="49" charset="-122"/>
                </a:rPr>
                <a:t>精氨酸酶                          </a:t>
              </a:r>
              <a:r>
                <a:rPr kumimoji="1" lang="en-US" altLang="zh-CN" sz="2800" dirty="0">
                  <a:solidFill>
                    <a:srgbClr val="0000CC"/>
                  </a:solidFill>
                  <a:latin typeface="Times New Roman" pitchFamily="18" charset="0"/>
                  <a:ea typeface="黑体" pitchFamily="49" charset="-122"/>
                </a:rPr>
                <a:t>9.8</a:t>
              </a:r>
              <a:endParaRPr kumimoji="1" lang="en-US" altLang="zh-CN" sz="2800" dirty="0">
                <a:solidFill>
                  <a:srgbClr val="0000CC"/>
                </a:solidFill>
                <a:effectLst>
                  <a:outerShdw blurRad="38100" dist="38100" dir="2700000" algn="tl">
                    <a:srgbClr val="C0C0C0"/>
                  </a:outerShdw>
                </a:effectLst>
                <a:latin typeface="Times New Roman" pitchFamily="18" charset="0"/>
                <a:ea typeface="黑体" pitchFamily="49" charset="-122"/>
              </a:endParaRPr>
            </a:p>
          </p:txBody>
        </p:sp>
        <p:sp>
          <p:nvSpPr>
            <p:cNvPr id="264197" name="Line 5">
              <a:extLst>
                <a:ext uri="{FF2B5EF4-FFF2-40B4-BE49-F238E27FC236}">
                  <a16:creationId xmlns:a16="http://schemas.microsoft.com/office/drawing/2014/main" id="{AE14A353-F7B3-4512-A1C4-97A48207D07C}"/>
                </a:ext>
              </a:extLst>
            </p:cNvPr>
            <p:cNvSpPr>
              <a:spLocks noChangeShapeType="1"/>
            </p:cNvSpPr>
            <p:nvPr/>
          </p:nvSpPr>
          <p:spPr bwMode="auto">
            <a:xfrm>
              <a:off x="1118" y="1298"/>
              <a:ext cx="3360"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64198" name="Line 6">
              <a:extLst>
                <a:ext uri="{FF2B5EF4-FFF2-40B4-BE49-F238E27FC236}">
                  <a16:creationId xmlns:a16="http://schemas.microsoft.com/office/drawing/2014/main" id="{1101384E-7C48-4387-A2A1-2DAA2760F063}"/>
                </a:ext>
              </a:extLst>
            </p:cNvPr>
            <p:cNvSpPr>
              <a:spLocks noChangeShapeType="1"/>
            </p:cNvSpPr>
            <p:nvPr/>
          </p:nvSpPr>
          <p:spPr bwMode="auto">
            <a:xfrm flipV="1">
              <a:off x="1163" y="1661"/>
              <a:ext cx="3312"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64199" name="Line 7">
              <a:extLst>
                <a:ext uri="{FF2B5EF4-FFF2-40B4-BE49-F238E27FC236}">
                  <a16:creationId xmlns:a16="http://schemas.microsoft.com/office/drawing/2014/main" id="{B064DEA1-6300-4E48-94B2-631169560F36}"/>
                </a:ext>
              </a:extLst>
            </p:cNvPr>
            <p:cNvSpPr>
              <a:spLocks noChangeShapeType="1"/>
            </p:cNvSpPr>
            <p:nvPr/>
          </p:nvSpPr>
          <p:spPr bwMode="auto">
            <a:xfrm>
              <a:off x="1111" y="3657"/>
              <a:ext cx="3264"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1474" name="Rectangle 2">
            <a:extLst>
              <a:ext uri="{FF2B5EF4-FFF2-40B4-BE49-F238E27FC236}">
                <a16:creationId xmlns:a16="http://schemas.microsoft.com/office/drawing/2014/main" id="{35A21184-E1FA-4517-80E6-F614E90D272E}"/>
              </a:ext>
            </a:extLst>
          </p:cNvPr>
          <p:cNvSpPr>
            <a:spLocks noGrp="1" noChangeArrowheads="1"/>
          </p:cNvSpPr>
          <p:nvPr>
            <p:ph type="body" idx="1"/>
          </p:nvPr>
        </p:nvSpPr>
        <p:spPr>
          <a:xfrm>
            <a:off x="1991544" y="1829246"/>
            <a:ext cx="8640960" cy="1237457"/>
          </a:xfrm>
        </p:spPr>
        <p:txBody>
          <a:bodyPr/>
          <a:lstStyle/>
          <a:p>
            <a:pPr marL="365125" indent="-365125" eaLnBrk="1" fontAlgn="ctr" hangingPunct="1">
              <a:lnSpc>
                <a:spcPct val="110000"/>
              </a:lnSpc>
              <a:buClr>
                <a:schemeClr val="tx1"/>
              </a:buClr>
              <a:buFont typeface="Wingdings" panose="05000000000000000000" pitchFamily="2" charset="2"/>
              <a:buChar char="Ø"/>
            </a:pPr>
            <a:r>
              <a:rPr lang="zh-CN" altLang="en-US" b="0" dirty="0">
                <a:solidFill>
                  <a:srgbClr val="0000CC"/>
                </a:solidFill>
                <a:latin typeface="Times New Roman" panose="02020603050405020304" pitchFamily="18" charset="0"/>
                <a:ea typeface="黑体" panose="02010609060101010101" pitchFamily="49" charset="-122"/>
              </a:rPr>
              <a:t>酶的抑制剂</a:t>
            </a:r>
            <a:r>
              <a:rPr lang="en-US" altLang="zh-CN" b="0" dirty="0">
                <a:solidFill>
                  <a:srgbClr val="0000CC"/>
                </a:solidFill>
                <a:latin typeface="Times New Roman" panose="02020603050405020304" pitchFamily="18" charset="0"/>
                <a:ea typeface="黑体" panose="02010609060101010101" pitchFamily="49" charset="-122"/>
              </a:rPr>
              <a:t>(inhibitor)</a:t>
            </a:r>
            <a:r>
              <a:rPr lang="zh-CN" altLang="en-US" sz="2800" b="0" dirty="0">
                <a:solidFill>
                  <a:srgbClr val="0000CC"/>
                </a:solidFill>
                <a:latin typeface="Times New Roman" panose="02020603050405020304" pitchFamily="18" charset="0"/>
                <a:ea typeface="黑体" panose="02010609060101010101" pitchFamily="49" charset="-122"/>
              </a:rPr>
              <a:t>： </a:t>
            </a:r>
            <a:r>
              <a:rPr lang="zh-CN" altLang="en-US" sz="2800" b="0" dirty="0">
                <a:latin typeface="Times New Roman" panose="02020603050405020304" pitchFamily="18" charset="0"/>
                <a:ea typeface="黑体" panose="02010609060101010101" pitchFamily="49" charset="-122"/>
              </a:rPr>
              <a:t>凡能使</a:t>
            </a:r>
            <a:r>
              <a:rPr lang="zh-CN" altLang="en-US" sz="2800" b="0" dirty="0">
                <a:solidFill>
                  <a:srgbClr val="0000CC"/>
                </a:solidFill>
                <a:latin typeface="Times New Roman" panose="02020603050405020304" pitchFamily="18" charset="0"/>
                <a:ea typeface="黑体" panose="02010609060101010101" pitchFamily="49" charset="-122"/>
              </a:rPr>
              <a:t>酶的催化活性下降或丧失</a:t>
            </a:r>
            <a:r>
              <a:rPr lang="zh-CN" altLang="en-US" sz="2800" b="0" dirty="0">
                <a:latin typeface="Times New Roman" panose="02020603050405020304" pitchFamily="18" charset="0"/>
                <a:ea typeface="黑体" panose="02010609060101010101" pitchFamily="49" charset="-122"/>
              </a:rPr>
              <a:t>而</a:t>
            </a:r>
            <a:r>
              <a:rPr lang="zh-CN" altLang="en-US" sz="2800" b="0" dirty="0">
                <a:solidFill>
                  <a:srgbClr val="0000CC"/>
                </a:solidFill>
                <a:latin typeface="Times New Roman" panose="02020603050405020304" pitchFamily="18" charset="0"/>
                <a:ea typeface="黑体" panose="02010609060101010101" pitchFamily="49" charset="-122"/>
              </a:rPr>
              <a:t>不引起酶蛋白变性</a:t>
            </a:r>
            <a:r>
              <a:rPr lang="zh-CN" altLang="en-US" sz="2800" b="0" dirty="0">
                <a:latin typeface="Times New Roman" panose="02020603050405020304" pitchFamily="18" charset="0"/>
                <a:ea typeface="黑体" panose="02010609060101010101" pitchFamily="49" charset="-122"/>
              </a:rPr>
              <a:t>的物质</a:t>
            </a:r>
            <a:r>
              <a:rPr lang="zh-CN" altLang="en-US" b="0" dirty="0">
                <a:latin typeface="Times New Roman" panose="02020603050405020304" pitchFamily="18" charset="0"/>
                <a:ea typeface="黑体" panose="02010609060101010101" pitchFamily="49" charset="-122"/>
              </a:rPr>
              <a:t>。</a:t>
            </a:r>
            <a:endParaRPr lang="zh-CN" altLang="en-US" sz="2400" b="0" i="1" dirty="0">
              <a:latin typeface="Times New Roman" panose="02020603050405020304" pitchFamily="18" charset="0"/>
              <a:ea typeface="黑体" panose="02010609060101010101" pitchFamily="49" charset="-122"/>
            </a:endParaRPr>
          </a:p>
        </p:txBody>
      </p:sp>
      <p:sp>
        <p:nvSpPr>
          <p:cNvPr id="1001475" name="Text Box 3">
            <a:extLst>
              <a:ext uri="{FF2B5EF4-FFF2-40B4-BE49-F238E27FC236}">
                <a16:creationId xmlns:a16="http://schemas.microsoft.com/office/drawing/2014/main" id="{12C5D34A-D5AF-417C-BB18-B095CFD79AB2}"/>
              </a:ext>
            </a:extLst>
          </p:cNvPr>
          <p:cNvSpPr txBox="1">
            <a:spLocks noChangeArrowheads="1"/>
          </p:cNvSpPr>
          <p:nvPr/>
        </p:nvSpPr>
        <p:spPr bwMode="auto">
          <a:xfrm>
            <a:off x="6340475" y="3750569"/>
            <a:ext cx="184150" cy="519113"/>
          </a:xfrm>
          <a:prstGeom prst="rect">
            <a:avLst/>
          </a:prstGeom>
          <a:noFill/>
          <a:ln w="9525">
            <a:noFill/>
            <a:miter lim="800000"/>
            <a:headEnd/>
            <a:tailEnd/>
          </a:ln>
          <a:effectLst/>
        </p:spPr>
        <p:txBody>
          <a:bodyPr wrap="none">
            <a:spAutoFit/>
          </a:bodyPr>
          <a:lstStyle/>
          <a:p>
            <a:pPr algn="ctr" eaLnBrk="1" hangingPunct="1">
              <a:defRPr/>
            </a:pPr>
            <a:endParaRPr kumimoji="1" lang="zh-CN" altLang="zh-CN" sz="2800">
              <a:effectLst>
                <a:outerShdw blurRad="38100" dist="38100" dir="2700000" algn="tl">
                  <a:srgbClr val="C0C0C0"/>
                </a:outerShdw>
              </a:effectLst>
              <a:latin typeface="Times New Roman" pitchFamily="18" charset="0"/>
              <a:ea typeface="黑体" pitchFamily="49" charset="-122"/>
            </a:endParaRPr>
          </a:p>
        </p:txBody>
      </p:sp>
      <p:sp>
        <p:nvSpPr>
          <p:cNvPr id="1001476" name="Text Box 4">
            <a:extLst>
              <a:ext uri="{FF2B5EF4-FFF2-40B4-BE49-F238E27FC236}">
                <a16:creationId xmlns:a16="http://schemas.microsoft.com/office/drawing/2014/main" id="{D5F028D2-B2E6-4E9E-9544-A2AF68DE1B6F}"/>
              </a:ext>
            </a:extLst>
          </p:cNvPr>
          <p:cNvSpPr txBox="1">
            <a:spLocks noChangeArrowheads="1"/>
          </p:cNvSpPr>
          <p:nvPr/>
        </p:nvSpPr>
        <p:spPr bwMode="auto">
          <a:xfrm>
            <a:off x="6259513" y="4490344"/>
            <a:ext cx="184150" cy="519113"/>
          </a:xfrm>
          <a:prstGeom prst="rect">
            <a:avLst/>
          </a:prstGeom>
          <a:noFill/>
          <a:ln w="9525">
            <a:noFill/>
            <a:miter lim="800000"/>
            <a:headEnd/>
            <a:tailEnd/>
          </a:ln>
          <a:effectLst/>
        </p:spPr>
        <p:txBody>
          <a:bodyPr wrap="none">
            <a:spAutoFit/>
          </a:bodyPr>
          <a:lstStyle/>
          <a:p>
            <a:pPr algn="ctr" eaLnBrk="1" hangingPunct="1">
              <a:defRPr/>
            </a:pPr>
            <a:endParaRPr kumimoji="1" lang="zh-CN" altLang="zh-CN" sz="2800" i="1">
              <a:effectLst>
                <a:outerShdw blurRad="38100" dist="38100" dir="2700000" algn="tl">
                  <a:srgbClr val="C0C0C0"/>
                </a:outerShdw>
              </a:effectLst>
              <a:latin typeface="Times New Roman" pitchFamily="18" charset="0"/>
              <a:ea typeface="黑体" pitchFamily="49" charset="-122"/>
            </a:endParaRPr>
          </a:p>
        </p:txBody>
      </p:sp>
      <p:sp>
        <p:nvSpPr>
          <p:cNvPr id="1001477" name="Text Box 5">
            <a:extLst>
              <a:ext uri="{FF2B5EF4-FFF2-40B4-BE49-F238E27FC236}">
                <a16:creationId xmlns:a16="http://schemas.microsoft.com/office/drawing/2014/main" id="{F7D8E0D0-50AB-48AF-B0E2-F38EC779666A}"/>
              </a:ext>
            </a:extLst>
          </p:cNvPr>
          <p:cNvSpPr txBox="1">
            <a:spLocks noChangeArrowheads="1"/>
          </p:cNvSpPr>
          <p:nvPr/>
        </p:nvSpPr>
        <p:spPr bwMode="auto">
          <a:xfrm>
            <a:off x="2279576" y="3483074"/>
            <a:ext cx="4608512"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Font typeface="Wingdings" panose="05000000000000000000" pitchFamily="2" charset="2"/>
              <a:buChar char="Ø"/>
            </a:pPr>
            <a:r>
              <a:rPr kumimoji="1" lang="en-US" altLang="zh-CN" dirty="0">
                <a:solidFill>
                  <a:srgbClr val="FFFF00"/>
                </a:solidFill>
                <a:latin typeface="Times New Roman" panose="02020603050405020304" pitchFamily="18" charset="0"/>
                <a:ea typeface="黑体" panose="02010609060101010101" pitchFamily="49" charset="-122"/>
              </a:rPr>
              <a:t> </a:t>
            </a:r>
            <a:r>
              <a:rPr kumimoji="1" lang="zh-CN" altLang="en-US" dirty="0">
                <a:solidFill>
                  <a:srgbClr val="FF3300"/>
                </a:solidFill>
                <a:latin typeface="Times New Roman" panose="02020603050405020304" pitchFamily="18" charset="0"/>
                <a:ea typeface="黑体" panose="02010609060101010101" pitchFamily="49" charset="-122"/>
              </a:rPr>
              <a:t>区别于变性剂</a:t>
            </a:r>
          </a:p>
        </p:txBody>
      </p:sp>
      <p:sp>
        <p:nvSpPr>
          <p:cNvPr id="1001478" name="Text Box 6">
            <a:extLst>
              <a:ext uri="{FF2B5EF4-FFF2-40B4-BE49-F238E27FC236}">
                <a16:creationId xmlns:a16="http://schemas.microsoft.com/office/drawing/2014/main" id="{15911FBC-7BEB-48CC-B33E-20F7956CAB76}"/>
              </a:ext>
            </a:extLst>
          </p:cNvPr>
          <p:cNvSpPr txBox="1">
            <a:spLocks noChangeArrowheads="1"/>
          </p:cNvSpPr>
          <p:nvPr/>
        </p:nvSpPr>
        <p:spPr bwMode="auto">
          <a:xfrm>
            <a:off x="2886076" y="3140968"/>
            <a:ext cx="430213" cy="534988"/>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Char char="Ø"/>
              <a:defRPr/>
            </a:pPr>
            <a:endParaRPr kumimoji="1" lang="zh-CN" altLang="zh-CN" sz="3200">
              <a:effectLst>
                <a:outerShdw blurRad="38100" dist="38100" dir="2700000" algn="tl">
                  <a:srgbClr val="C0C0C0"/>
                </a:outerShdw>
              </a:effectLst>
              <a:latin typeface="Times New Roman" pitchFamily="18" charset="0"/>
              <a:ea typeface="黑体" pitchFamily="49" charset="-122"/>
            </a:endParaRPr>
          </a:p>
        </p:txBody>
      </p:sp>
      <p:sp>
        <p:nvSpPr>
          <p:cNvPr id="266248" name="AutoShape 8">
            <a:extLst>
              <a:ext uri="{FF2B5EF4-FFF2-40B4-BE49-F238E27FC236}">
                <a16:creationId xmlns:a16="http://schemas.microsoft.com/office/drawing/2014/main" id="{B9DFA9B5-1E1F-4961-BD5D-117C332D0C79}"/>
              </a:ext>
            </a:extLst>
          </p:cNvPr>
          <p:cNvSpPr>
            <a:spLocks noChangeArrowheads="1"/>
          </p:cNvSpPr>
          <p:nvPr/>
        </p:nvSpPr>
        <p:spPr bwMode="auto">
          <a:xfrm>
            <a:off x="2886075" y="765175"/>
            <a:ext cx="6594301" cy="647700"/>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sz="3600" dirty="0">
                <a:solidFill>
                  <a:schemeClr val="bg1"/>
                </a:solidFill>
                <a:latin typeface="Times New Roman" panose="02020603050405020304" pitchFamily="18" charset="0"/>
                <a:ea typeface="黑体" panose="02010609060101010101" pitchFamily="49" charset="-122"/>
              </a:rPr>
              <a:t>五、抑制剂降低酶促反应速度</a:t>
            </a:r>
          </a:p>
        </p:txBody>
      </p:sp>
      <p:graphicFrame>
        <p:nvGraphicFramePr>
          <p:cNvPr id="2" name="表格 2">
            <a:extLst>
              <a:ext uri="{FF2B5EF4-FFF2-40B4-BE49-F238E27FC236}">
                <a16:creationId xmlns:a16="http://schemas.microsoft.com/office/drawing/2014/main" id="{0D6A8AB2-2A61-45B4-AB09-1FA0AA9A215A}"/>
              </a:ext>
            </a:extLst>
          </p:cNvPr>
          <p:cNvGraphicFramePr>
            <a:graphicFrameLocks noGrp="1"/>
          </p:cNvGraphicFramePr>
          <p:nvPr>
            <p:extLst>
              <p:ext uri="{D42A27DB-BD31-4B8C-83A1-F6EECF244321}">
                <p14:modId xmlns:p14="http://schemas.microsoft.com/office/powerpoint/2010/main" val="2554357056"/>
              </p:ext>
            </p:extLst>
          </p:nvPr>
        </p:nvGraphicFramePr>
        <p:xfrm>
          <a:off x="1984603" y="4149080"/>
          <a:ext cx="8829649" cy="2448271"/>
        </p:xfrm>
        <a:graphic>
          <a:graphicData uri="http://schemas.openxmlformats.org/drawingml/2006/table">
            <a:tbl>
              <a:tblPr firstRow="1" bandRow="1">
                <a:tableStyleId>{21E4AEA4-8DFA-4A89-87EB-49C32662AFE0}</a:tableStyleId>
              </a:tblPr>
              <a:tblGrid>
                <a:gridCol w="2147086">
                  <a:extLst>
                    <a:ext uri="{9D8B030D-6E8A-4147-A177-3AD203B41FA5}">
                      <a16:colId xmlns:a16="http://schemas.microsoft.com/office/drawing/2014/main" val="3103415587"/>
                    </a:ext>
                  </a:extLst>
                </a:gridCol>
                <a:gridCol w="3553169">
                  <a:extLst>
                    <a:ext uri="{9D8B030D-6E8A-4147-A177-3AD203B41FA5}">
                      <a16:colId xmlns:a16="http://schemas.microsoft.com/office/drawing/2014/main" val="2748537044"/>
                    </a:ext>
                  </a:extLst>
                </a:gridCol>
                <a:gridCol w="3129394">
                  <a:extLst>
                    <a:ext uri="{9D8B030D-6E8A-4147-A177-3AD203B41FA5}">
                      <a16:colId xmlns:a16="http://schemas.microsoft.com/office/drawing/2014/main" val="2682116568"/>
                    </a:ext>
                  </a:extLst>
                </a:gridCol>
              </a:tblGrid>
              <a:tr h="535756">
                <a:tc>
                  <a:txBody>
                    <a:bodyPr/>
                    <a:lstStyle/>
                    <a:p>
                      <a:endParaRPr lang="zh-CN" altLang="en-US" sz="2400" dirty="0"/>
                    </a:p>
                  </a:txBody>
                  <a:tcPr>
                    <a:solidFill>
                      <a:srgbClr val="0423A8"/>
                    </a:solidFill>
                  </a:tcPr>
                </a:tc>
                <a:tc>
                  <a:txBody>
                    <a:bodyPr/>
                    <a:lstStyle/>
                    <a:p>
                      <a:pPr algn="ctr"/>
                      <a:r>
                        <a:rPr lang="zh-CN" altLang="en-US" sz="2800" dirty="0">
                          <a:solidFill>
                            <a:srgbClr val="FFFF00"/>
                          </a:solidFill>
                        </a:rPr>
                        <a:t>抑制剂</a:t>
                      </a:r>
                    </a:p>
                  </a:txBody>
                  <a:tcPr>
                    <a:solidFill>
                      <a:srgbClr val="0423A8"/>
                    </a:solidFill>
                  </a:tcPr>
                </a:tc>
                <a:tc>
                  <a:txBody>
                    <a:bodyPr/>
                    <a:lstStyle/>
                    <a:p>
                      <a:pPr algn="ctr"/>
                      <a:r>
                        <a:rPr lang="zh-CN" altLang="en-US" sz="2800" dirty="0">
                          <a:solidFill>
                            <a:srgbClr val="FFFF00"/>
                          </a:solidFill>
                        </a:rPr>
                        <a:t>变性剂</a:t>
                      </a:r>
                    </a:p>
                  </a:txBody>
                  <a:tcPr>
                    <a:solidFill>
                      <a:srgbClr val="0423A8"/>
                    </a:solidFill>
                  </a:tcPr>
                </a:tc>
                <a:extLst>
                  <a:ext uri="{0D108BD9-81ED-4DB2-BD59-A6C34878D82A}">
                    <a16:rowId xmlns:a16="http://schemas.microsoft.com/office/drawing/2014/main" val="1631210078"/>
                  </a:ext>
                </a:extLst>
              </a:tr>
              <a:tr h="535756">
                <a:tc>
                  <a:txBody>
                    <a:bodyPr/>
                    <a:lstStyle/>
                    <a:p>
                      <a:r>
                        <a:rPr lang="zh-CN" altLang="en-US" sz="2200" dirty="0">
                          <a:latin typeface="微软雅黑" panose="020B0503020204020204" pitchFamily="34" charset="-122"/>
                          <a:ea typeface="微软雅黑" panose="020B0503020204020204" pitchFamily="34" charset="-122"/>
                        </a:rPr>
                        <a:t>对酶的选择性</a:t>
                      </a:r>
                    </a:p>
                  </a:txBody>
                  <a:tcPr>
                    <a:solidFill>
                      <a:srgbClr val="C9E8FF"/>
                    </a:solidFill>
                  </a:tcPr>
                </a:tc>
                <a:tc>
                  <a:txBody>
                    <a:bodyPr/>
                    <a:lstStyle/>
                    <a:p>
                      <a:pPr algn="ctr"/>
                      <a:r>
                        <a:rPr lang="zh-CN" altLang="en-US" sz="2200" dirty="0">
                          <a:latin typeface="微软雅黑" panose="020B0503020204020204" pitchFamily="34" charset="-122"/>
                          <a:ea typeface="微软雅黑" panose="020B0503020204020204" pitchFamily="34" charset="-122"/>
                        </a:rPr>
                        <a:t>有</a:t>
                      </a:r>
                    </a:p>
                  </a:txBody>
                  <a:tcPr>
                    <a:solidFill>
                      <a:srgbClr val="C9E8FF"/>
                    </a:solidFill>
                  </a:tcPr>
                </a:tc>
                <a:tc>
                  <a:txBody>
                    <a:bodyPr/>
                    <a:lstStyle/>
                    <a:p>
                      <a:pPr algn="ctr"/>
                      <a:r>
                        <a:rPr lang="zh-CN" altLang="en-US" sz="2200" dirty="0">
                          <a:latin typeface="微软雅黑" panose="020B0503020204020204" pitchFamily="34" charset="-122"/>
                          <a:ea typeface="微软雅黑" panose="020B0503020204020204" pitchFamily="34" charset="-122"/>
                        </a:rPr>
                        <a:t>无</a:t>
                      </a:r>
                    </a:p>
                  </a:txBody>
                  <a:tcPr>
                    <a:solidFill>
                      <a:srgbClr val="C9E8FF"/>
                    </a:solidFill>
                  </a:tcPr>
                </a:tc>
                <a:extLst>
                  <a:ext uri="{0D108BD9-81ED-4DB2-BD59-A6C34878D82A}">
                    <a16:rowId xmlns:a16="http://schemas.microsoft.com/office/drawing/2014/main" val="3133933451"/>
                  </a:ext>
                </a:extLst>
              </a:tr>
              <a:tr h="841003">
                <a:tc>
                  <a:txBody>
                    <a:bodyPr/>
                    <a:lstStyle/>
                    <a:p>
                      <a:r>
                        <a:rPr lang="zh-CN" altLang="en-US" sz="2200" dirty="0">
                          <a:latin typeface="微软雅黑" panose="020B0503020204020204" pitchFamily="34" charset="-122"/>
                          <a:ea typeface="微软雅黑" panose="020B0503020204020204" pitchFamily="34" charset="-122"/>
                        </a:rPr>
                        <a:t>机制</a:t>
                      </a:r>
                    </a:p>
                  </a:txBody>
                  <a:tcPr>
                    <a:solidFill>
                      <a:srgbClr val="FFFFFF"/>
                    </a:solidFill>
                  </a:tcPr>
                </a:tc>
                <a:tc>
                  <a:txBody>
                    <a:bodyPr/>
                    <a:lstStyle/>
                    <a:p>
                      <a:r>
                        <a:rPr lang="zh-CN" altLang="en-US" sz="2200" dirty="0">
                          <a:latin typeface="微软雅黑" panose="020B0503020204020204" pitchFamily="34" charset="-122"/>
                          <a:ea typeface="微软雅黑" panose="020B0503020204020204" pitchFamily="34" charset="-122"/>
                        </a:rPr>
                        <a:t>结合于酶的活性中心，或别构部位（使酶变构）</a:t>
                      </a:r>
                    </a:p>
                  </a:txBody>
                  <a:tcPr>
                    <a:solidFill>
                      <a:srgbClr val="FFFFFF"/>
                    </a:solidFill>
                  </a:tcPr>
                </a:tc>
                <a:tc>
                  <a:txBody>
                    <a:bodyPr/>
                    <a:lstStyle/>
                    <a:p>
                      <a:r>
                        <a:rPr lang="zh-CN" altLang="en-US" sz="2200" dirty="0">
                          <a:latin typeface="微软雅黑" panose="020B0503020204020204" pitchFamily="34" charset="-122"/>
                          <a:ea typeface="微软雅黑" panose="020B0503020204020204" pitchFamily="34" charset="-122"/>
                        </a:rPr>
                        <a:t>破坏次级键或二硫键，破坏蛋白质空间构象</a:t>
                      </a:r>
                    </a:p>
                  </a:txBody>
                  <a:tcPr>
                    <a:solidFill>
                      <a:srgbClr val="FFFFFF"/>
                    </a:solidFill>
                  </a:tcPr>
                </a:tc>
                <a:extLst>
                  <a:ext uri="{0D108BD9-81ED-4DB2-BD59-A6C34878D82A}">
                    <a16:rowId xmlns:a16="http://schemas.microsoft.com/office/drawing/2014/main" val="1358124857"/>
                  </a:ext>
                </a:extLst>
              </a:tr>
              <a:tr h="535756">
                <a:tc>
                  <a:txBody>
                    <a:bodyPr/>
                    <a:lstStyle/>
                    <a:p>
                      <a:r>
                        <a:rPr lang="zh-CN" altLang="en-US" sz="2200" dirty="0">
                          <a:latin typeface="微软雅黑" panose="020B0503020204020204" pitchFamily="34" charset="-122"/>
                          <a:ea typeface="微软雅黑" panose="020B0503020204020204" pitchFamily="34" charset="-122"/>
                        </a:rPr>
                        <a:t>举例</a:t>
                      </a:r>
                    </a:p>
                  </a:txBody>
                  <a:tcPr>
                    <a:solidFill>
                      <a:srgbClr val="C9E8FF"/>
                    </a:solidFill>
                  </a:tcPr>
                </a:tc>
                <a:tc>
                  <a:txBody>
                    <a:bodyPr/>
                    <a:lstStyle/>
                    <a:p>
                      <a:r>
                        <a:rPr lang="zh-CN" altLang="en-US" sz="2200" dirty="0">
                          <a:latin typeface="微软雅黑" panose="020B0503020204020204" pitchFamily="34" charset="-122"/>
                          <a:ea typeface="微软雅黑" panose="020B0503020204020204" pitchFamily="34" charset="-122"/>
                        </a:rPr>
                        <a:t>某些</a:t>
                      </a:r>
                      <a:r>
                        <a:rPr lang="zh-CN" altLang="en-US" sz="2200" dirty="0">
                          <a:solidFill>
                            <a:srgbClr val="FF0000"/>
                          </a:solidFill>
                          <a:latin typeface="微软雅黑" panose="020B0503020204020204" pitchFamily="34" charset="-122"/>
                          <a:ea typeface="微软雅黑" panose="020B0503020204020204" pitchFamily="34" charset="-122"/>
                        </a:rPr>
                        <a:t>代谢产物、药物、毒物</a:t>
                      </a:r>
                    </a:p>
                  </a:txBody>
                  <a:tcPr>
                    <a:solidFill>
                      <a:srgbClr val="C9E8FF"/>
                    </a:solidFill>
                  </a:tcPr>
                </a:tc>
                <a:tc>
                  <a:txBody>
                    <a:bodyPr/>
                    <a:lstStyle/>
                    <a:p>
                      <a:r>
                        <a:rPr lang="zh-CN" altLang="en-US" sz="2200" dirty="0">
                          <a:latin typeface="微软雅黑" panose="020B0503020204020204" pitchFamily="34" charset="-122"/>
                          <a:ea typeface="微软雅黑" panose="020B0503020204020204" pitchFamily="34" charset="-122"/>
                        </a:rPr>
                        <a:t>尿素、巯基乙醇等</a:t>
                      </a:r>
                    </a:p>
                  </a:txBody>
                  <a:tcPr>
                    <a:solidFill>
                      <a:srgbClr val="C9E8FF"/>
                    </a:solidFill>
                  </a:tcPr>
                </a:tc>
                <a:extLst>
                  <a:ext uri="{0D108BD9-81ED-4DB2-BD59-A6C34878D82A}">
                    <a16:rowId xmlns:a16="http://schemas.microsoft.com/office/drawing/2014/main" val="2064815088"/>
                  </a:ext>
                </a:extLst>
              </a:tr>
            </a:tbl>
          </a:graphicData>
        </a:graphic>
      </p:graphicFrame>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01477"/>
                                        </p:tgtEl>
                                        <p:attrNameLst>
                                          <p:attrName>style.visibility</p:attrName>
                                        </p:attrNameLst>
                                      </p:cBhvr>
                                      <p:to>
                                        <p:strVal val="visible"/>
                                      </p:to>
                                    </p:set>
                                    <p:animEffect transition="in" filter="dissolve">
                                      <p:cBhvr>
                                        <p:cTn id="7" dur="500"/>
                                        <p:tgtEl>
                                          <p:spTgt spid="1001477"/>
                                        </p:tgtEl>
                                      </p:cBhvr>
                                    </p:animEffect>
                                  </p:childTnLst>
                                </p:cTn>
                              </p:par>
                              <p:par>
                                <p:cTn id="8" presetID="1"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477" grpId="0"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5FD13E-2A8C-48E5-8626-9EED345756F9}"/>
              </a:ext>
            </a:extLst>
          </p:cNvPr>
          <p:cNvSpPr>
            <a:spLocks noGrp="1"/>
          </p:cNvSpPr>
          <p:nvPr>
            <p:ph type="title"/>
          </p:nvPr>
        </p:nvSpPr>
        <p:spPr>
          <a:xfrm>
            <a:off x="2711624" y="266143"/>
            <a:ext cx="7056784" cy="712037"/>
          </a:xfrm>
        </p:spPr>
        <p:txBody>
          <a:bodyPr/>
          <a:lstStyle/>
          <a:p>
            <a:r>
              <a:rPr lang="zh-CN" altLang="en-US" sz="3600" dirty="0">
                <a:solidFill>
                  <a:srgbClr val="0000CC"/>
                </a:solidFill>
              </a:rPr>
              <a:t>部分常见酶抑制剂药物</a:t>
            </a:r>
          </a:p>
        </p:txBody>
      </p:sp>
      <p:pic>
        <p:nvPicPr>
          <p:cNvPr id="5" name="内容占位符 4">
            <a:extLst>
              <a:ext uri="{FF2B5EF4-FFF2-40B4-BE49-F238E27FC236}">
                <a16:creationId xmlns:a16="http://schemas.microsoft.com/office/drawing/2014/main" id="{8B54933E-BD02-4500-9F89-BFEB1A9F0BDA}"/>
              </a:ext>
            </a:extLst>
          </p:cNvPr>
          <p:cNvPicPr>
            <a:picLocks noGrp="1" noChangeAspect="1"/>
          </p:cNvPicPr>
          <p:nvPr>
            <p:ph idx="1"/>
          </p:nvPr>
        </p:nvPicPr>
        <p:blipFill>
          <a:blip r:embed="rId3"/>
          <a:stretch>
            <a:fillRect/>
          </a:stretch>
        </p:blipFill>
        <p:spPr>
          <a:xfrm>
            <a:off x="1636564" y="971686"/>
            <a:ext cx="8918872" cy="2736304"/>
          </a:xfrm>
        </p:spPr>
      </p:pic>
      <p:sp>
        <p:nvSpPr>
          <p:cNvPr id="7" name="文本框 6">
            <a:extLst>
              <a:ext uri="{FF2B5EF4-FFF2-40B4-BE49-F238E27FC236}">
                <a16:creationId xmlns:a16="http://schemas.microsoft.com/office/drawing/2014/main" id="{4D17EC3F-557C-4F0A-BB95-706CF015BD2A}"/>
              </a:ext>
            </a:extLst>
          </p:cNvPr>
          <p:cNvSpPr txBox="1"/>
          <p:nvPr/>
        </p:nvSpPr>
        <p:spPr>
          <a:xfrm>
            <a:off x="1186500" y="5150878"/>
            <a:ext cx="10297144" cy="1082669"/>
          </a:xfrm>
          <a:prstGeom prst="rect">
            <a:avLst/>
          </a:prstGeom>
          <a:noFill/>
        </p:spPr>
        <p:txBody>
          <a:bodyPr wrap="square">
            <a:spAutoFit/>
          </a:bodyPr>
          <a:lstStyle/>
          <a:p>
            <a:pPr marL="457200" indent="-457200">
              <a:lnSpc>
                <a:spcPct val="12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生物体内化学反应普遍存在</a:t>
            </a:r>
            <a:r>
              <a:rPr lang="zh-CN" altLang="en-US" sz="2800" dirty="0">
                <a:solidFill>
                  <a:srgbClr val="0000CC"/>
                </a:solidFill>
                <a:latin typeface="微软雅黑" panose="020B0503020204020204" pitchFamily="34" charset="-122"/>
                <a:ea typeface="微软雅黑" panose="020B0503020204020204" pitchFamily="34" charset="-122"/>
              </a:rPr>
              <a:t>负反馈机制</a:t>
            </a:r>
            <a:r>
              <a:rPr lang="zh-CN" altLang="en-US" sz="2800" dirty="0">
                <a:latin typeface="微软雅黑" panose="020B0503020204020204" pitchFamily="34" charset="-122"/>
                <a:ea typeface="微软雅黑" panose="020B0503020204020204" pitchFamily="34" charset="-122"/>
              </a:rPr>
              <a:t>，很大程度依赖于</a:t>
            </a:r>
            <a:r>
              <a:rPr lang="zh-CN" altLang="en-US" sz="2800" dirty="0">
                <a:solidFill>
                  <a:srgbClr val="0000CC"/>
                </a:solidFill>
                <a:latin typeface="微软雅黑" panose="020B0503020204020204" pitchFamily="34" charset="-122"/>
                <a:ea typeface="微软雅黑" panose="020B0503020204020204" pitchFamily="34" charset="-122"/>
              </a:rPr>
              <a:t>产物作为可逆性抑制剂</a:t>
            </a:r>
            <a:r>
              <a:rPr lang="zh-CN" altLang="en-US" sz="2800" dirty="0">
                <a:latin typeface="微软雅黑" panose="020B0503020204020204" pitchFamily="34" charset="-122"/>
                <a:ea typeface="微软雅黑" panose="020B0503020204020204" pitchFamily="34" charset="-122"/>
              </a:rPr>
              <a:t>发挥作用。</a:t>
            </a:r>
          </a:p>
        </p:txBody>
      </p:sp>
      <p:sp>
        <p:nvSpPr>
          <p:cNvPr id="4" name="文本框 3">
            <a:extLst>
              <a:ext uri="{FF2B5EF4-FFF2-40B4-BE49-F238E27FC236}">
                <a16:creationId xmlns:a16="http://schemas.microsoft.com/office/drawing/2014/main" id="{F35124FB-23B5-A267-6811-96ECB71AEEB7}"/>
              </a:ext>
            </a:extLst>
          </p:cNvPr>
          <p:cNvSpPr txBox="1"/>
          <p:nvPr/>
        </p:nvSpPr>
        <p:spPr>
          <a:xfrm>
            <a:off x="1199456" y="3786767"/>
            <a:ext cx="10153128" cy="1261884"/>
          </a:xfrm>
          <a:prstGeom prst="rect">
            <a:avLst/>
          </a:prstGeom>
          <a:noFill/>
        </p:spPr>
        <p:txBody>
          <a:bodyPr wrap="square">
            <a:spAutoFit/>
          </a:bodyPr>
          <a:lstStyle/>
          <a:p>
            <a:pPr marL="457200" indent="-4572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制药公司研发药物时，通常首先自动化筛选大量化合物库，</a:t>
            </a:r>
            <a:r>
              <a:rPr lang="zh-CN" altLang="en-US" sz="2400" dirty="0">
                <a:solidFill>
                  <a:srgbClr val="0000CC"/>
                </a:solidFill>
                <a:latin typeface="微软雅黑" panose="020B0503020204020204" pitchFamily="34" charset="-122"/>
                <a:ea typeface="微软雅黑" panose="020B0503020204020204" pitchFamily="34" charset="-122"/>
              </a:rPr>
              <a:t>寻找能够抑制某个酶活性的化合物</a:t>
            </a:r>
            <a:r>
              <a:rPr lang="zh-CN" altLang="en-US" sz="2400" dirty="0">
                <a:latin typeface="微软雅黑" panose="020B0503020204020204" pitchFamily="34" charset="-122"/>
                <a:ea typeface="微软雅黑" panose="020B0503020204020204" pitchFamily="34" charset="-122"/>
              </a:rPr>
              <a:t>。 然后，他们对该化合物进行</a:t>
            </a:r>
            <a:r>
              <a:rPr lang="zh-CN" altLang="en-US" sz="2400" dirty="0">
                <a:solidFill>
                  <a:srgbClr val="0000CC"/>
                </a:solidFill>
                <a:latin typeface="微软雅黑" panose="020B0503020204020204" pitchFamily="34" charset="-122"/>
                <a:ea typeface="微软雅黑" panose="020B0503020204020204" pitchFamily="34" charset="-122"/>
              </a:rPr>
              <a:t>化学修饰</a:t>
            </a:r>
            <a:r>
              <a:rPr lang="zh-CN" altLang="en-US" sz="2400" dirty="0">
                <a:latin typeface="微软雅黑" panose="020B0503020204020204" pitchFamily="34" charset="-122"/>
                <a:ea typeface="微软雅黑" panose="020B0503020204020204" pitchFamily="34" charset="-122"/>
              </a:rPr>
              <a:t>， 使之更为有效，增强它们的结合能力和对靶蛋白的特异性</a:t>
            </a:r>
            <a:r>
              <a:rPr lang="zh-CN" altLang="en-US" sz="28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897027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a:extLst>
              <a:ext uri="{FF2B5EF4-FFF2-40B4-BE49-F238E27FC236}">
                <a16:creationId xmlns:a16="http://schemas.microsoft.com/office/drawing/2014/main" id="{17E961AF-8886-48F1-9323-B0E4D5F8E08F}"/>
              </a:ext>
            </a:extLst>
          </p:cNvPr>
          <p:cNvSpPr>
            <a:spLocks noChangeArrowheads="1"/>
          </p:cNvSpPr>
          <p:nvPr/>
        </p:nvSpPr>
        <p:spPr bwMode="auto">
          <a:xfrm>
            <a:off x="1579392" y="682860"/>
            <a:ext cx="3803650" cy="567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10000"/>
              </a:lnSpc>
              <a:buClr>
                <a:schemeClr val="tx2"/>
              </a:buClr>
              <a:buFont typeface="Wingdings" panose="05000000000000000000" pitchFamily="2" charset="2"/>
              <a:buChar char="Ø"/>
            </a:pPr>
            <a:r>
              <a:rPr kumimoji="1" lang="en-US" altLang="zh-CN" dirty="0">
                <a:latin typeface="黑体" panose="02010609060101010101" pitchFamily="49" charset="-122"/>
                <a:ea typeface="黑体" panose="02010609060101010101" pitchFamily="49" charset="-122"/>
              </a:rPr>
              <a:t> </a:t>
            </a:r>
            <a:r>
              <a:rPr kumimoji="1" lang="zh-CN" altLang="en-US" dirty="0">
                <a:solidFill>
                  <a:schemeClr val="tx2"/>
                </a:solidFill>
                <a:latin typeface="黑体" panose="02010609060101010101" pitchFamily="49" charset="-122"/>
                <a:ea typeface="黑体" panose="02010609060101010101" pitchFamily="49" charset="-122"/>
              </a:rPr>
              <a:t>抑制作用的类型</a:t>
            </a:r>
          </a:p>
        </p:txBody>
      </p:sp>
      <p:sp>
        <p:nvSpPr>
          <p:cNvPr id="1003523" name="Rectangle 3">
            <a:extLst>
              <a:ext uri="{FF2B5EF4-FFF2-40B4-BE49-F238E27FC236}">
                <a16:creationId xmlns:a16="http://schemas.microsoft.com/office/drawing/2014/main" id="{64A662D9-2709-40B4-9227-7AF50A99A7CE}"/>
              </a:ext>
            </a:extLst>
          </p:cNvPr>
          <p:cNvSpPr>
            <a:spLocks noChangeArrowheads="1"/>
          </p:cNvSpPr>
          <p:nvPr/>
        </p:nvSpPr>
        <p:spPr bwMode="auto">
          <a:xfrm>
            <a:off x="1579392" y="1325141"/>
            <a:ext cx="9505056" cy="147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457200" indent="-457200" eaLnBrk="1" hangingPunct="1">
              <a:lnSpc>
                <a:spcPct val="110000"/>
              </a:lnSpc>
              <a:buClr>
                <a:schemeClr val="tx2"/>
              </a:buClr>
              <a:buSzPct val="75000"/>
            </a:pPr>
            <a:r>
              <a:rPr kumimoji="1" lang="zh-CN" altLang="en-US" sz="2800" dirty="0">
                <a:solidFill>
                  <a:srgbClr val="0000CC"/>
                </a:solidFill>
                <a:latin typeface="黑体" panose="02010609060101010101" pitchFamily="49" charset="-122"/>
                <a:ea typeface="黑体" panose="02010609060101010101" pitchFamily="49" charset="-122"/>
              </a:rPr>
              <a:t>不可逆性抑制 </a:t>
            </a:r>
            <a:r>
              <a:rPr kumimoji="1" lang="en-US" altLang="zh-CN" sz="2800" dirty="0">
                <a:solidFill>
                  <a:srgbClr val="0000CC"/>
                </a:solidFill>
                <a:latin typeface="黑体" panose="02010609060101010101" pitchFamily="49" charset="-122"/>
                <a:ea typeface="黑体" panose="02010609060101010101" pitchFamily="49" charset="-122"/>
              </a:rPr>
              <a:t>(irreversible  inhibition):</a:t>
            </a:r>
          </a:p>
          <a:p>
            <a:pPr eaLnBrk="1" hangingPunct="1">
              <a:lnSpc>
                <a:spcPct val="110000"/>
              </a:lnSpc>
              <a:buClr>
                <a:schemeClr val="tx2"/>
              </a:buClr>
              <a:buSzPct val="75000"/>
              <a:buFont typeface="Wingdings" panose="05000000000000000000" pitchFamily="2" charset="2"/>
              <a:buNone/>
            </a:pPr>
            <a:r>
              <a:rPr lang="zh-CN" altLang="en-US" sz="2600" dirty="0">
                <a:latin typeface="黑体" panose="02010609060101010101" pitchFamily="49" charset="-122"/>
                <a:ea typeface="黑体" panose="02010609060101010101" pitchFamily="49" charset="-122"/>
              </a:rPr>
              <a:t>抑制剂与酶紧密结合，不能用透析、超滤等方法除去。大多时候以</a:t>
            </a:r>
            <a:r>
              <a:rPr lang="zh-CN" altLang="en-US" sz="2600" u="sng" dirty="0">
                <a:solidFill>
                  <a:schemeClr val="tx2"/>
                </a:solidFill>
                <a:latin typeface="黑体" panose="02010609060101010101" pitchFamily="49" charset="-122"/>
                <a:ea typeface="黑体" panose="02010609060101010101" pitchFamily="49" charset="-122"/>
              </a:rPr>
              <a:t>共价键</a:t>
            </a:r>
            <a:r>
              <a:rPr lang="zh-CN" altLang="en-US" sz="2600" dirty="0">
                <a:latin typeface="黑体" panose="02010609060101010101" pitchFamily="49" charset="-122"/>
                <a:ea typeface="黑体" panose="02010609060101010101" pitchFamily="49" charset="-122"/>
              </a:rPr>
              <a:t>与酶活性中心的必需基团相结合。</a:t>
            </a:r>
          </a:p>
        </p:txBody>
      </p:sp>
      <p:sp>
        <p:nvSpPr>
          <p:cNvPr id="1003524" name="Rectangle 4">
            <a:extLst>
              <a:ext uri="{FF2B5EF4-FFF2-40B4-BE49-F238E27FC236}">
                <a16:creationId xmlns:a16="http://schemas.microsoft.com/office/drawing/2014/main" id="{8C613182-9A72-40C7-8A6D-56F7CD9D84ED}"/>
              </a:ext>
            </a:extLst>
          </p:cNvPr>
          <p:cNvSpPr>
            <a:spLocks noChangeArrowheads="1"/>
          </p:cNvSpPr>
          <p:nvPr/>
        </p:nvSpPr>
        <p:spPr bwMode="auto">
          <a:xfrm>
            <a:off x="1631504" y="4437112"/>
            <a:ext cx="9505056" cy="137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457200" indent="-457200" eaLnBrk="1" hangingPunct="1">
              <a:lnSpc>
                <a:spcPct val="110000"/>
              </a:lnSpc>
              <a:spcBef>
                <a:spcPct val="0"/>
              </a:spcBef>
            </a:pPr>
            <a:r>
              <a:rPr kumimoji="1" lang="zh-CN" altLang="en-US" sz="2800" dirty="0">
                <a:solidFill>
                  <a:srgbClr val="0000CC"/>
                </a:solidFill>
                <a:latin typeface="黑体" panose="02010609060101010101" pitchFamily="49" charset="-122"/>
                <a:ea typeface="黑体" panose="02010609060101010101" pitchFamily="49" charset="-122"/>
              </a:rPr>
              <a:t>可逆性抑制 </a:t>
            </a:r>
            <a:r>
              <a:rPr kumimoji="1" lang="en-US" altLang="zh-CN" sz="2800" dirty="0">
                <a:solidFill>
                  <a:srgbClr val="0000CC"/>
                </a:solidFill>
                <a:latin typeface="黑体" panose="02010609060101010101" pitchFamily="49" charset="-122"/>
                <a:ea typeface="黑体" panose="02010609060101010101" pitchFamily="49" charset="-122"/>
              </a:rPr>
              <a:t>(reversible  inhibition)</a:t>
            </a:r>
            <a:r>
              <a:rPr kumimoji="1" lang="zh-CN" altLang="en-US" sz="2800" dirty="0">
                <a:solidFill>
                  <a:srgbClr val="0000CC"/>
                </a:solidFill>
                <a:latin typeface="黑体" panose="02010609060101010101" pitchFamily="49" charset="-122"/>
                <a:ea typeface="黑体" panose="02010609060101010101" pitchFamily="49" charset="-122"/>
              </a:rPr>
              <a:t>：</a:t>
            </a:r>
          </a:p>
          <a:p>
            <a:pPr eaLnBrk="1" hangingPunct="1">
              <a:lnSpc>
                <a:spcPct val="110000"/>
              </a:lnSpc>
              <a:spcBef>
                <a:spcPct val="0"/>
              </a:spcBef>
              <a:buFontTx/>
              <a:buNone/>
            </a:pPr>
            <a:r>
              <a:rPr lang="zh-CN" altLang="en-US" sz="2600" dirty="0">
                <a:latin typeface="黑体" panose="02010609060101010101" pitchFamily="49" charset="-122"/>
                <a:ea typeface="黑体" panose="02010609060101010101" pitchFamily="49" charset="-122"/>
              </a:rPr>
              <a:t>抑制剂通常以</a:t>
            </a:r>
            <a:r>
              <a:rPr lang="zh-CN" altLang="en-US" sz="2600" u="sng" dirty="0">
                <a:solidFill>
                  <a:schemeClr val="tx2"/>
                </a:solidFill>
                <a:latin typeface="黑体" panose="02010609060101010101" pitchFamily="49" charset="-122"/>
                <a:ea typeface="黑体" panose="02010609060101010101" pitchFamily="49" charset="-122"/>
              </a:rPr>
              <a:t>非共价键</a:t>
            </a:r>
            <a:r>
              <a:rPr lang="zh-CN" altLang="en-US" sz="2600" dirty="0">
                <a:latin typeface="黑体" panose="02010609060101010101" pitchFamily="49" charset="-122"/>
                <a:ea typeface="黑体" panose="02010609060101010101" pitchFamily="49" charset="-122"/>
              </a:rPr>
              <a:t>与酶或酶</a:t>
            </a:r>
            <a:r>
              <a:rPr lang="en-US" altLang="zh-CN" sz="2600" dirty="0">
                <a:latin typeface="黑体" panose="02010609060101010101" pitchFamily="49" charset="-122"/>
                <a:ea typeface="黑体" panose="02010609060101010101" pitchFamily="49" charset="-122"/>
              </a:rPr>
              <a:t>-</a:t>
            </a:r>
            <a:r>
              <a:rPr lang="zh-CN" altLang="en-US" sz="2600" dirty="0">
                <a:latin typeface="黑体" panose="02010609060101010101" pitchFamily="49" charset="-122"/>
                <a:ea typeface="黑体" panose="02010609060101010101" pitchFamily="49" charset="-122"/>
              </a:rPr>
              <a:t>底物复合物</a:t>
            </a:r>
            <a:r>
              <a:rPr lang="zh-CN" altLang="en-US" sz="2600" u="sng" dirty="0">
                <a:solidFill>
                  <a:schemeClr val="tx2"/>
                </a:solidFill>
                <a:latin typeface="黑体" panose="02010609060101010101" pitchFamily="49" charset="-122"/>
                <a:ea typeface="黑体" panose="02010609060101010101" pitchFamily="49" charset="-122"/>
              </a:rPr>
              <a:t>可逆性结合</a:t>
            </a:r>
            <a:r>
              <a:rPr lang="zh-CN" altLang="en-US" sz="2600" dirty="0">
                <a:latin typeface="黑体" panose="02010609060101010101" pitchFamily="49" charset="-122"/>
                <a:ea typeface="黑体" panose="02010609060101010101" pitchFamily="49" charset="-122"/>
              </a:rPr>
              <a:t>； 抑制剂可用透析、超滤等方法除去。</a:t>
            </a:r>
            <a:endParaRPr kumimoji="1" lang="zh-CN" altLang="en-US" sz="2600"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53955F16-65C2-B5C9-4014-14E821B397BE}"/>
              </a:ext>
            </a:extLst>
          </p:cNvPr>
          <p:cNvSpPr txBox="1"/>
          <p:nvPr/>
        </p:nvSpPr>
        <p:spPr>
          <a:xfrm>
            <a:off x="1955924" y="2934601"/>
            <a:ext cx="8856215" cy="988797"/>
          </a:xfrm>
          <a:prstGeom prst="rect">
            <a:avLst/>
          </a:prstGeom>
          <a:noFill/>
        </p:spPr>
        <p:txBody>
          <a:bodyPr wrap="square">
            <a:spAutoFit/>
          </a:bodyPr>
          <a:lstStyle/>
          <a:p>
            <a:pPr>
              <a:lnSpc>
                <a:spcPct val="120000"/>
              </a:lnSpc>
            </a:pPr>
            <a:r>
              <a:rPr lang="zh-CN" altLang="en-US" sz="2600" dirty="0">
                <a:latin typeface="黑体" panose="02010609060101010101" pitchFamily="49" charset="-122"/>
                <a:ea typeface="黑体" panose="02010609060101010101" pitchFamily="49" charset="-122"/>
              </a:rPr>
              <a:t>不可逆抑制剂很多为剧毒物质：</a:t>
            </a:r>
            <a:endParaRPr lang="en-US" altLang="zh-CN" sz="2600" dirty="0">
              <a:latin typeface="黑体" panose="02010609060101010101" pitchFamily="49" charset="-122"/>
              <a:ea typeface="黑体" panose="02010609060101010101" pitchFamily="49" charset="-122"/>
            </a:endParaRPr>
          </a:p>
          <a:p>
            <a:pPr>
              <a:lnSpc>
                <a:spcPct val="120000"/>
              </a:lnSpc>
            </a:pPr>
            <a:r>
              <a:rPr lang="zh-CN" altLang="en-US" sz="2600" dirty="0">
                <a:latin typeface="黑体" panose="02010609060101010101" pitchFamily="49" charset="-122"/>
                <a:ea typeface="黑体" panose="02010609060101010101" pitchFamily="49" charset="-122"/>
              </a:rPr>
              <a:t>重金属、有机磷、有机汞、有机砷、 氰化物、毒鼠强等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03523">
                                            <p:txEl>
                                              <p:pRg st="1" end="1"/>
                                            </p:txEl>
                                          </p:spTgt>
                                        </p:tgtEl>
                                        <p:attrNameLst>
                                          <p:attrName>style.visibility</p:attrName>
                                        </p:attrNameLst>
                                      </p:cBhvr>
                                      <p:to>
                                        <p:strVal val="visible"/>
                                      </p:to>
                                    </p:set>
                                    <p:animEffect transition="in" filter="dissolve">
                                      <p:cBhvr>
                                        <p:cTn id="7" dur="500"/>
                                        <p:tgtEl>
                                          <p:spTgt spid="10035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003524">
                                            <p:txEl>
                                              <p:pRg st="1" end="1"/>
                                            </p:txEl>
                                          </p:spTgt>
                                        </p:tgtEl>
                                        <p:attrNameLst>
                                          <p:attrName>style.visibility</p:attrName>
                                        </p:attrNameLst>
                                      </p:cBhvr>
                                      <p:to>
                                        <p:strVal val="visible"/>
                                      </p:to>
                                    </p:set>
                                    <p:animEffect transition="in" filter="dissolve">
                                      <p:cBhvr>
                                        <p:cTn id="16" dur="500"/>
                                        <p:tgtEl>
                                          <p:spTgt spid="100352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4">
            <a:extLst>
              <a:ext uri="{FF2B5EF4-FFF2-40B4-BE49-F238E27FC236}">
                <a16:creationId xmlns:a16="http://schemas.microsoft.com/office/drawing/2014/main" id="{DBD05864-F8D7-44A1-8ECD-34DDEC1B4A0B}"/>
              </a:ext>
            </a:extLst>
          </p:cNvPr>
          <p:cNvSpPr>
            <a:spLocks noChangeArrowheads="1"/>
          </p:cNvSpPr>
          <p:nvPr/>
        </p:nvSpPr>
        <p:spPr bwMode="auto">
          <a:xfrm>
            <a:off x="3189288" y="1512888"/>
            <a:ext cx="65960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zh-CN" altLang="en-US" dirty="0">
                <a:solidFill>
                  <a:schemeClr val="tx2"/>
                </a:solidFill>
                <a:latin typeface="Times New Roman" panose="02020603050405020304" pitchFamily="18" charset="0"/>
                <a:ea typeface="黑体" panose="02010609060101010101" pitchFamily="49" charset="-122"/>
              </a:rPr>
              <a:t>有机磷化合物  </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solidFill>
                  <a:schemeClr val="tx2"/>
                </a:solidFill>
                <a:latin typeface="Times New Roman" panose="02020603050405020304" pitchFamily="18" charset="0"/>
                <a:ea typeface="黑体" panose="02010609060101010101" pitchFamily="49" charset="-122"/>
              </a:rPr>
              <a:t>   羟基酶</a:t>
            </a:r>
          </a:p>
        </p:txBody>
      </p:sp>
      <p:sp>
        <p:nvSpPr>
          <p:cNvPr id="270339" name="AutoShape 4">
            <a:extLst>
              <a:ext uri="{FF2B5EF4-FFF2-40B4-BE49-F238E27FC236}">
                <a16:creationId xmlns:a16="http://schemas.microsoft.com/office/drawing/2014/main" id="{FC40B4E4-8D51-4584-B6D6-BE740FD90E38}"/>
              </a:ext>
            </a:extLst>
          </p:cNvPr>
          <p:cNvSpPr>
            <a:spLocks noChangeArrowheads="1"/>
          </p:cNvSpPr>
          <p:nvPr/>
        </p:nvSpPr>
        <p:spPr bwMode="auto">
          <a:xfrm>
            <a:off x="2464152" y="421421"/>
            <a:ext cx="7263697" cy="574675"/>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en-US" altLang="zh-CN" b="1" dirty="0">
                <a:solidFill>
                  <a:schemeClr val="bg1"/>
                </a:solidFill>
                <a:latin typeface="Times New Roman" panose="02020603050405020304" pitchFamily="18" charset="0"/>
                <a:ea typeface="黑体" panose="02010609060101010101" pitchFamily="49" charset="-122"/>
              </a:rPr>
              <a:t>(</a:t>
            </a:r>
            <a:r>
              <a:rPr kumimoji="1" lang="zh-CN" altLang="en-US" b="1" dirty="0">
                <a:solidFill>
                  <a:schemeClr val="bg1"/>
                </a:solidFill>
                <a:latin typeface="Times New Roman" panose="02020603050405020304" pitchFamily="18" charset="0"/>
                <a:ea typeface="黑体" panose="02010609060101010101" pitchFamily="49" charset="-122"/>
              </a:rPr>
              <a:t>一</a:t>
            </a:r>
            <a:r>
              <a:rPr kumimoji="1" lang="en-US" altLang="zh-CN" b="1" dirty="0">
                <a:solidFill>
                  <a:schemeClr val="bg1"/>
                </a:solidFill>
                <a:latin typeface="Times New Roman" panose="02020603050405020304" pitchFamily="18" charset="0"/>
                <a:ea typeface="黑体" panose="02010609060101010101" pitchFamily="49" charset="-122"/>
              </a:rPr>
              <a:t>)  </a:t>
            </a:r>
            <a:r>
              <a:rPr kumimoji="1" lang="zh-CN" altLang="en-US" b="1" dirty="0">
                <a:solidFill>
                  <a:schemeClr val="bg1"/>
                </a:solidFill>
                <a:latin typeface="Times New Roman" panose="02020603050405020304" pitchFamily="18" charset="0"/>
                <a:ea typeface="黑体" panose="02010609060101010101" pitchFamily="49" charset="-122"/>
              </a:rPr>
              <a:t>不可逆性抑制剂与酶共价结合</a:t>
            </a:r>
          </a:p>
        </p:txBody>
      </p:sp>
      <p:pic>
        <p:nvPicPr>
          <p:cNvPr id="270340" name="图片 3">
            <a:extLst>
              <a:ext uri="{FF2B5EF4-FFF2-40B4-BE49-F238E27FC236}">
                <a16:creationId xmlns:a16="http://schemas.microsoft.com/office/drawing/2014/main" id="{4BD120C9-6B33-41B8-A9ED-442E80BCE7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950" y="4094164"/>
            <a:ext cx="7264400" cy="17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0341" name="Text Box 12">
            <a:extLst>
              <a:ext uri="{FF2B5EF4-FFF2-40B4-BE49-F238E27FC236}">
                <a16:creationId xmlns:a16="http://schemas.microsoft.com/office/drawing/2014/main" id="{E34BEE20-01A2-4B09-A49E-933F4BC9790D}"/>
              </a:ext>
            </a:extLst>
          </p:cNvPr>
          <p:cNvSpPr txBox="1">
            <a:spLocks noChangeArrowheads="1"/>
          </p:cNvSpPr>
          <p:nvPr/>
        </p:nvSpPr>
        <p:spPr bwMode="auto">
          <a:xfrm>
            <a:off x="1765300" y="1490663"/>
            <a:ext cx="1512888" cy="519112"/>
          </a:xfrm>
          <a:prstGeom prst="rect">
            <a:avLst/>
          </a:prstGeom>
          <a:solidFill>
            <a:srgbClr val="FFF7A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lang="zh-CN" altLang="en-US" sz="2800">
                <a:latin typeface="黑体" panose="02010609060101010101" pitchFamily="49" charset="-122"/>
                <a:ea typeface="黑体" panose="02010609060101010101" pitchFamily="49" charset="-122"/>
              </a:rPr>
              <a:t>举例</a:t>
            </a:r>
            <a:r>
              <a:rPr lang="en-US" altLang="zh-CN" sz="2800">
                <a:latin typeface="黑体" panose="02010609060101010101" pitchFamily="49" charset="-122"/>
                <a:ea typeface="黑体" panose="02010609060101010101" pitchFamily="49" charset="-122"/>
              </a:rPr>
              <a:t>1</a:t>
            </a:r>
            <a:r>
              <a:rPr lang="zh-CN" altLang="en-US" sz="2800">
                <a:latin typeface="黑体" panose="02010609060101010101" pitchFamily="49" charset="-122"/>
                <a:ea typeface="黑体" panose="02010609060101010101" pitchFamily="49" charset="-122"/>
              </a:rPr>
              <a:t>：</a:t>
            </a:r>
          </a:p>
        </p:txBody>
      </p:sp>
      <p:sp>
        <p:nvSpPr>
          <p:cNvPr id="270342" name="文本框 1">
            <a:extLst>
              <a:ext uri="{FF2B5EF4-FFF2-40B4-BE49-F238E27FC236}">
                <a16:creationId xmlns:a16="http://schemas.microsoft.com/office/drawing/2014/main" id="{C03A2B66-763F-4F93-8819-05A323EAE768}"/>
              </a:ext>
            </a:extLst>
          </p:cNvPr>
          <p:cNvSpPr txBox="1">
            <a:spLocks noChangeArrowheads="1"/>
          </p:cNvSpPr>
          <p:nvPr/>
        </p:nvSpPr>
        <p:spPr bwMode="auto">
          <a:xfrm>
            <a:off x="1963738" y="2354264"/>
            <a:ext cx="8380412" cy="1385887"/>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800" dirty="0">
                <a:latin typeface="黑体" panose="02010609060101010101" pitchFamily="49" charset="-122"/>
                <a:ea typeface="黑体" panose="02010609060101010101" pitchFamily="49" charset="-122"/>
              </a:rPr>
              <a:t>有机磷农药（</a:t>
            </a:r>
            <a:r>
              <a:rPr lang="en-US" altLang="zh-CN" sz="2800" dirty="0">
                <a:latin typeface="黑体" panose="02010609060101010101" pitchFamily="49" charset="-122"/>
                <a:ea typeface="黑体" panose="02010609060101010101" pitchFamily="49" charset="-122"/>
              </a:rPr>
              <a:t>1605</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1059</a:t>
            </a:r>
            <a:r>
              <a:rPr lang="zh-CN" altLang="en-US" sz="2800" dirty="0">
                <a:latin typeface="黑体" panose="02010609060101010101" pitchFamily="49" charset="-122"/>
                <a:ea typeface="黑体" panose="02010609060101010101" pitchFamily="49" charset="-122"/>
              </a:rPr>
              <a:t>、敌敌畏、敌百虫）、沙林、</a:t>
            </a:r>
            <a:r>
              <a:rPr lang="en-US" altLang="zh-CN" sz="2800" dirty="0">
                <a:latin typeface="黑体" panose="02010609060101010101" pitchFamily="49" charset="-122"/>
                <a:ea typeface="黑体" panose="02010609060101010101" pitchFamily="49" charset="-122"/>
              </a:rPr>
              <a:t>DFP(</a:t>
            </a:r>
            <a:r>
              <a:rPr lang="zh-CN" altLang="en-US" sz="2800" dirty="0">
                <a:latin typeface="黑体" panose="02010609060101010101" pitchFamily="49" charset="-122"/>
                <a:ea typeface="黑体" panose="02010609060101010101" pitchFamily="49" charset="-122"/>
              </a:rPr>
              <a:t>二异丙基氟磷酸）等特异性地与</a:t>
            </a:r>
            <a:r>
              <a:rPr lang="zh-CN" altLang="en-US" sz="2800" dirty="0">
                <a:solidFill>
                  <a:srgbClr val="FF0000"/>
                </a:solidFill>
                <a:latin typeface="黑体" panose="02010609060101010101" pitchFamily="49" charset="-122"/>
                <a:ea typeface="黑体" panose="02010609060101010101" pitchFamily="49" charset="-122"/>
              </a:rPr>
              <a:t>胆碱酯酶</a:t>
            </a:r>
            <a:r>
              <a:rPr lang="zh-CN" altLang="en-US" sz="2800" dirty="0">
                <a:solidFill>
                  <a:srgbClr val="0000CC"/>
                </a:solidFill>
                <a:latin typeface="黑体" panose="02010609060101010101" pitchFamily="49" charset="-122"/>
                <a:ea typeface="黑体" panose="02010609060101010101" pitchFamily="49" charset="-122"/>
              </a:rPr>
              <a:t>活性中心丝氨酸残基</a:t>
            </a:r>
            <a:r>
              <a:rPr lang="zh-CN" altLang="en-US" sz="2800" dirty="0">
                <a:latin typeface="黑体" panose="02010609060101010101" pitchFamily="49" charset="-122"/>
                <a:ea typeface="黑体" panose="02010609060101010101" pitchFamily="49" charset="-122"/>
              </a:rPr>
              <a:t>结合，使酶失活。</a:t>
            </a: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E530CA0F-59F5-4AD3-A7A7-5F38A9D35CFC}"/>
              </a:ext>
            </a:extLst>
          </p:cNvPr>
          <p:cNvSpPr>
            <a:spLocks noGrp="1" noChangeArrowheads="1"/>
          </p:cNvSpPr>
          <p:nvPr>
            <p:ph type="body" idx="1"/>
          </p:nvPr>
        </p:nvSpPr>
        <p:spPr>
          <a:xfrm>
            <a:off x="1487488" y="2060577"/>
            <a:ext cx="9073007" cy="3384648"/>
          </a:xfrm>
        </p:spPr>
        <p:txBody>
          <a:bodyPr/>
          <a:lstStyle/>
          <a:p>
            <a:pPr eaLnBrk="1" hangingPunct="1">
              <a:lnSpc>
                <a:spcPct val="150000"/>
              </a:lnSpc>
            </a:pPr>
            <a:r>
              <a:rPr lang="zh-CN" altLang="en-US" sz="2800" b="0" dirty="0">
                <a:latin typeface="黑体" panose="02010609060101010101" pitchFamily="49" charset="-122"/>
                <a:ea typeface="黑体" panose="02010609060101010101" pitchFamily="49" charset="-122"/>
              </a:rPr>
              <a:t>抑制</a:t>
            </a:r>
            <a:r>
              <a:rPr lang="zh-CN" altLang="en-US" sz="2800" b="0" dirty="0">
                <a:solidFill>
                  <a:schemeClr val="tx2"/>
                </a:solidFill>
                <a:latin typeface="黑体" panose="02010609060101010101" pitchFamily="49" charset="-122"/>
                <a:ea typeface="黑体" panose="02010609060101010101" pitchFamily="49" charset="-122"/>
              </a:rPr>
              <a:t>乙酰</a:t>
            </a:r>
            <a:r>
              <a:rPr lang="zh-CN" altLang="en-US" sz="2800" b="0" dirty="0">
                <a:solidFill>
                  <a:srgbClr val="FF3300"/>
                </a:solidFill>
                <a:latin typeface="黑体" panose="02010609060101010101" pitchFamily="49" charset="-122"/>
                <a:ea typeface="黑体" panose="02010609060101010101" pitchFamily="49" charset="-122"/>
              </a:rPr>
              <a:t>胆碱酯酶</a:t>
            </a:r>
            <a:r>
              <a:rPr lang="zh-CN" altLang="en-US" sz="2800" b="0" dirty="0">
                <a:latin typeface="黑体" panose="02010609060101010101" pitchFamily="49" charset="-122"/>
                <a:ea typeface="黑体" panose="02010609060101010101" pitchFamily="49" charset="-122"/>
                <a:cs typeface="Times New Roman" panose="02020603050405020304" pitchFamily="18" charset="0"/>
              </a:rPr>
              <a:t>→ </a:t>
            </a:r>
            <a:r>
              <a:rPr lang="zh-CN" altLang="en-US" sz="2800" b="0" dirty="0">
                <a:latin typeface="黑体" panose="02010609060101010101" pitchFamily="49" charset="-122"/>
                <a:ea typeface="黑体" panose="02010609060101010101" pitchFamily="49" charset="-122"/>
              </a:rPr>
              <a:t>乙酰胆碱蓄积 → 胆碱能神经受到持续冲动，导致</a:t>
            </a:r>
            <a:r>
              <a:rPr lang="zh-CN" altLang="en-US" sz="2800" b="0" dirty="0">
                <a:solidFill>
                  <a:srgbClr val="0000CC"/>
                </a:solidFill>
                <a:latin typeface="黑体" panose="02010609060101010101" pitchFamily="49" charset="-122"/>
                <a:ea typeface="黑体" panose="02010609060101010101" pitchFamily="49" charset="-122"/>
              </a:rPr>
              <a:t>先兴奋后衰竭的一系列症状</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心跳变慢、瞳孔缩小、流口水、多汗和呼吸困难，进而影响神经传导，失去知觉而死亡。</a:t>
            </a:r>
          </a:p>
        </p:txBody>
      </p:sp>
      <p:sp>
        <p:nvSpPr>
          <p:cNvPr id="275459" name="Rectangle 5">
            <a:extLst>
              <a:ext uri="{FF2B5EF4-FFF2-40B4-BE49-F238E27FC236}">
                <a16:creationId xmlns:a16="http://schemas.microsoft.com/office/drawing/2014/main" id="{B01CE725-3CA7-46D0-B88F-69181BAD56BD}"/>
              </a:ext>
            </a:extLst>
          </p:cNvPr>
          <p:cNvSpPr>
            <a:spLocks noGrp="1" noChangeArrowheads="1"/>
          </p:cNvSpPr>
          <p:nvPr>
            <p:ph type="title"/>
          </p:nvPr>
        </p:nvSpPr>
        <p:spPr>
          <a:xfrm>
            <a:off x="2135188" y="765176"/>
            <a:ext cx="7772400" cy="855663"/>
          </a:xfrm>
        </p:spPr>
        <p:txBody>
          <a:bodyPr anchor="ctr" anchorCtr="1"/>
          <a:lstStyle/>
          <a:p>
            <a:pPr eaLnBrk="1" hangingPunct="1"/>
            <a:r>
              <a:rPr lang="zh-CN" altLang="en-US" sz="4000" b="0">
                <a:solidFill>
                  <a:srgbClr val="0000CC"/>
                </a:solidFill>
                <a:latin typeface="黑体" panose="02010609060101010101" pitchFamily="49" charset="-122"/>
                <a:ea typeface="黑体" panose="02010609060101010101" pitchFamily="49" charset="-122"/>
              </a:rPr>
              <a:t>有机磷农药中毒机理</a:t>
            </a:r>
            <a:r>
              <a:rPr lang="zh-CN" altLang="en-US" b="0">
                <a:solidFill>
                  <a:srgbClr val="0000CC"/>
                </a:solidFill>
                <a:latin typeface="黑体" panose="02010609060101010101" pitchFamily="49" charset="-122"/>
                <a:ea typeface="黑体" panose="02010609060101010101" pitchFamily="49" charset="-122"/>
              </a:rPr>
              <a:t> </a:t>
            </a: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2386" name="标题 1">
            <a:extLst>
              <a:ext uri="{FF2B5EF4-FFF2-40B4-BE49-F238E27FC236}">
                <a16:creationId xmlns:a16="http://schemas.microsoft.com/office/drawing/2014/main" id="{EE2DF424-141A-48CF-99B3-4FE2948D1B0E}"/>
              </a:ext>
            </a:extLst>
          </p:cNvPr>
          <p:cNvSpPr>
            <a:spLocks noGrp="1" noChangeArrowheads="1"/>
          </p:cNvSpPr>
          <p:nvPr>
            <p:ph type="title"/>
          </p:nvPr>
        </p:nvSpPr>
        <p:spPr>
          <a:xfrm>
            <a:off x="2424114" y="152401"/>
            <a:ext cx="7056437" cy="925513"/>
          </a:xfrm>
        </p:spPr>
        <p:txBody>
          <a:bodyPr/>
          <a:lstStyle/>
          <a:p>
            <a:r>
              <a:rPr lang="zh-CN" altLang="en-US"/>
              <a:t>病例讨论</a:t>
            </a:r>
          </a:p>
        </p:txBody>
      </p:sp>
      <p:sp>
        <p:nvSpPr>
          <p:cNvPr id="3" name="内容占位符 2">
            <a:extLst>
              <a:ext uri="{FF2B5EF4-FFF2-40B4-BE49-F238E27FC236}">
                <a16:creationId xmlns:a16="http://schemas.microsoft.com/office/drawing/2014/main" id="{498F6522-4DEA-44D0-B9C1-C0A71C381D46}"/>
              </a:ext>
            </a:extLst>
          </p:cNvPr>
          <p:cNvSpPr>
            <a:spLocks noGrp="1"/>
          </p:cNvSpPr>
          <p:nvPr>
            <p:ph idx="1"/>
          </p:nvPr>
        </p:nvSpPr>
        <p:spPr>
          <a:xfrm>
            <a:off x="1343472" y="1268414"/>
            <a:ext cx="9505056" cy="4897437"/>
          </a:xfrm>
        </p:spPr>
        <p:txBody>
          <a:bodyPr/>
          <a:lstStyle/>
          <a:p>
            <a:pPr marL="180000" indent="-180000" algn="just">
              <a:lnSpc>
                <a:spcPct val="110000"/>
              </a:lnSpc>
              <a:spcBef>
                <a:spcPts val="0"/>
              </a:spcBef>
              <a:defRPr/>
            </a:pPr>
            <a:r>
              <a:rPr lang="zh-CN" altLang="zh-CN" sz="2400" kern="100" dirty="0">
                <a:latin typeface="微软雅黑" panose="020B0503020204020204" pitchFamily="34" charset="-122"/>
                <a:ea typeface="微软雅黑" panose="020B0503020204020204" pitchFamily="34" charset="-122"/>
              </a:rPr>
              <a:t>患者：</a:t>
            </a:r>
            <a:r>
              <a:rPr lang="zh-CN" altLang="zh-CN" sz="2400" b="0" kern="100" dirty="0">
                <a:latin typeface="微软雅黑" panose="020B0503020204020204" pitchFamily="34" charset="-122"/>
                <a:ea typeface="微软雅黑" panose="020B0503020204020204" pitchFamily="34" charset="-122"/>
              </a:rPr>
              <a:t>女性，</a:t>
            </a:r>
            <a:r>
              <a:rPr lang="en-US" altLang="zh-CN" sz="2400" b="0" kern="100" dirty="0">
                <a:latin typeface="微软雅黑" panose="020B0503020204020204" pitchFamily="34" charset="-122"/>
                <a:ea typeface="微软雅黑" panose="020B0503020204020204" pitchFamily="34" charset="-122"/>
              </a:rPr>
              <a:t>45</a:t>
            </a:r>
            <a:r>
              <a:rPr lang="zh-CN" altLang="zh-CN" sz="2400" b="0" kern="100" dirty="0">
                <a:latin typeface="微软雅黑" panose="020B0503020204020204" pitchFamily="34" charset="-122"/>
                <a:ea typeface="微软雅黑" panose="020B0503020204020204" pitchFamily="34" charset="-122"/>
              </a:rPr>
              <a:t>岁，已婚，汉族，农民。</a:t>
            </a:r>
            <a:r>
              <a:rPr lang="zh-CN" altLang="zh-CN" sz="2400" b="0" kern="100" dirty="0">
                <a:solidFill>
                  <a:srgbClr val="0000CC"/>
                </a:solidFill>
                <a:latin typeface="微软雅黑" panose="020B0503020204020204" pitchFamily="34" charset="-122"/>
                <a:ea typeface="微软雅黑" panose="020B0503020204020204" pitchFamily="34" charset="-122"/>
              </a:rPr>
              <a:t>自服“敌百虫”</a:t>
            </a:r>
            <a:r>
              <a:rPr lang="zh-CN" altLang="zh-CN" sz="2400" b="0" kern="100" dirty="0">
                <a:latin typeface="微软雅黑" panose="020B0503020204020204" pitchFamily="34" charset="-122"/>
                <a:ea typeface="微软雅黑" panose="020B0503020204020204" pitchFamily="34" charset="-122"/>
              </a:rPr>
              <a:t>（有机磷农药）约</a:t>
            </a:r>
            <a:r>
              <a:rPr lang="en-US" altLang="zh-CN" sz="2400" b="0" kern="100" dirty="0">
                <a:latin typeface="微软雅黑" panose="020B0503020204020204" pitchFamily="34" charset="-122"/>
                <a:ea typeface="微软雅黑" panose="020B0503020204020204" pitchFamily="34" charset="-122"/>
              </a:rPr>
              <a:t>100mL</a:t>
            </a:r>
            <a:r>
              <a:rPr lang="zh-CN" altLang="zh-CN" sz="2400" b="0" kern="100" dirty="0">
                <a:latin typeface="微软雅黑" panose="020B0503020204020204" pitchFamily="34" charset="-122"/>
                <a:ea typeface="微软雅黑" panose="020B0503020204020204" pitchFamily="34" charset="-122"/>
              </a:rPr>
              <a:t>。</a:t>
            </a:r>
          </a:p>
          <a:p>
            <a:pPr marL="180000" indent="-180000" algn="just">
              <a:lnSpc>
                <a:spcPct val="110000"/>
              </a:lnSpc>
              <a:spcBef>
                <a:spcPts val="0"/>
              </a:spcBef>
              <a:defRPr/>
            </a:pPr>
            <a:r>
              <a:rPr lang="zh-CN" altLang="zh-CN" sz="2400" kern="100" dirty="0">
                <a:latin typeface="微软雅黑" panose="020B0503020204020204" pitchFamily="34" charset="-122"/>
                <a:ea typeface="微软雅黑" panose="020B0503020204020204" pitchFamily="34" charset="-122"/>
              </a:rPr>
              <a:t>表现</a:t>
            </a:r>
            <a:r>
              <a:rPr lang="zh-CN" altLang="zh-CN" sz="2400" b="0" kern="100" dirty="0">
                <a:latin typeface="微软雅黑" panose="020B0503020204020204" pitchFamily="34" charset="-122"/>
                <a:ea typeface="微软雅黑" panose="020B0503020204020204" pitchFamily="34" charset="-122"/>
              </a:rPr>
              <a:t>：头晕、恶心、呕吐。神志不清、刺激反应差。体格检查：体温</a:t>
            </a:r>
            <a:r>
              <a:rPr lang="en-US" altLang="zh-CN" sz="2400" b="0" kern="100" dirty="0">
                <a:latin typeface="微软雅黑" panose="020B0503020204020204" pitchFamily="34" charset="-122"/>
                <a:ea typeface="微软雅黑" panose="020B0503020204020204" pitchFamily="34" charset="-122"/>
              </a:rPr>
              <a:t>37.1</a:t>
            </a:r>
            <a:r>
              <a:rPr lang="zh-CN" altLang="zh-CN" sz="2400" b="0" kern="100" dirty="0">
                <a:latin typeface="微软雅黑" panose="020B0503020204020204" pitchFamily="34" charset="-122"/>
                <a:ea typeface="微软雅黑" panose="020B0503020204020204" pitchFamily="34" charset="-122"/>
              </a:rPr>
              <a:t>度，脉搏</a:t>
            </a:r>
            <a:r>
              <a:rPr lang="en-US" altLang="zh-CN" sz="2400" b="0" kern="100" dirty="0">
                <a:latin typeface="微软雅黑" panose="020B0503020204020204" pitchFamily="34" charset="-122"/>
                <a:ea typeface="微软雅黑" panose="020B0503020204020204" pitchFamily="34" charset="-122"/>
              </a:rPr>
              <a:t>85</a:t>
            </a:r>
            <a:r>
              <a:rPr lang="zh-CN" altLang="zh-CN" sz="2400" b="0" kern="100" dirty="0">
                <a:latin typeface="微软雅黑" panose="020B0503020204020204" pitchFamily="34" charset="-122"/>
                <a:ea typeface="微软雅黑" panose="020B0503020204020204" pitchFamily="34" charset="-122"/>
              </a:rPr>
              <a:t>次</a:t>
            </a:r>
            <a:r>
              <a:rPr lang="en-US" altLang="zh-CN" sz="2400" b="0" kern="100" dirty="0">
                <a:latin typeface="微软雅黑" panose="020B0503020204020204" pitchFamily="34" charset="-122"/>
                <a:ea typeface="微软雅黑" panose="020B0503020204020204" pitchFamily="34" charset="-122"/>
              </a:rPr>
              <a:t>/</a:t>
            </a:r>
            <a:r>
              <a:rPr lang="zh-CN" altLang="zh-CN" sz="2400" b="0" kern="100" dirty="0">
                <a:latin typeface="微软雅黑" panose="020B0503020204020204" pitchFamily="34" charset="-122"/>
                <a:ea typeface="微软雅黑" panose="020B0503020204020204" pitchFamily="34" charset="-122"/>
              </a:rPr>
              <a:t>分，呼吸</a:t>
            </a:r>
            <a:r>
              <a:rPr lang="en-US" altLang="zh-CN" sz="2400" b="0" kern="100" dirty="0">
                <a:latin typeface="微软雅黑" panose="020B0503020204020204" pitchFamily="34" charset="-122"/>
                <a:ea typeface="微软雅黑" panose="020B0503020204020204" pitchFamily="34" charset="-122"/>
              </a:rPr>
              <a:t>30</a:t>
            </a:r>
            <a:r>
              <a:rPr lang="zh-CN" altLang="zh-CN" sz="2400" b="0" kern="100" dirty="0">
                <a:latin typeface="微软雅黑" panose="020B0503020204020204" pitchFamily="34" charset="-122"/>
                <a:ea typeface="微软雅黑" panose="020B0503020204020204" pitchFamily="34" charset="-122"/>
              </a:rPr>
              <a:t>次</a:t>
            </a:r>
            <a:r>
              <a:rPr lang="en-US" altLang="zh-CN" sz="2400" b="0" kern="100" dirty="0">
                <a:latin typeface="微软雅黑" panose="020B0503020204020204" pitchFamily="34" charset="-122"/>
                <a:ea typeface="微软雅黑" panose="020B0503020204020204" pitchFamily="34" charset="-122"/>
              </a:rPr>
              <a:t>/</a:t>
            </a:r>
            <a:r>
              <a:rPr lang="zh-CN" altLang="zh-CN" sz="2400" b="0" kern="100" dirty="0">
                <a:latin typeface="微软雅黑" panose="020B0503020204020204" pitchFamily="34" charset="-122"/>
                <a:ea typeface="微软雅黑" panose="020B0503020204020204" pitchFamily="34" charset="-122"/>
              </a:rPr>
              <a:t>分，血压</a:t>
            </a:r>
            <a:r>
              <a:rPr lang="en-US" altLang="zh-CN" sz="2400" b="0" kern="100" dirty="0">
                <a:latin typeface="微软雅黑" panose="020B0503020204020204" pitchFamily="34" charset="-122"/>
                <a:ea typeface="微软雅黑" panose="020B0503020204020204" pitchFamily="34" charset="-122"/>
              </a:rPr>
              <a:t>115/65mmHg</a:t>
            </a:r>
            <a:r>
              <a:rPr lang="zh-CN" altLang="zh-CN" sz="2400" b="0" kern="100" dirty="0">
                <a:latin typeface="微软雅黑" panose="020B0503020204020204" pitchFamily="34" charset="-122"/>
                <a:ea typeface="微软雅黑" panose="020B0503020204020204" pitchFamily="34" charset="-122"/>
              </a:rPr>
              <a:t>，，神智模糊，急性病容，光敏，唇无发绀，</a:t>
            </a:r>
            <a:r>
              <a:rPr lang="zh-CN" altLang="zh-CN" sz="2400" b="0" kern="100" dirty="0">
                <a:solidFill>
                  <a:srgbClr val="0000CC"/>
                </a:solidFill>
                <a:latin typeface="微软雅黑" panose="020B0503020204020204" pitchFamily="34" charset="-122"/>
                <a:ea typeface="微软雅黑" panose="020B0503020204020204" pitchFamily="34" charset="-122"/>
              </a:rPr>
              <a:t>呼吸急促，口吐白沫</a:t>
            </a:r>
            <a:r>
              <a:rPr lang="zh-CN" altLang="zh-CN" sz="2400" b="0" kern="100" dirty="0">
                <a:latin typeface="微软雅黑" panose="020B0503020204020204" pitchFamily="34" charset="-122"/>
                <a:ea typeface="微软雅黑" panose="020B0503020204020204" pitchFamily="34" charset="-122"/>
              </a:rPr>
              <a:t>，双肺湿性罗音，腹平软。</a:t>
            </a:r>
          </a:p>
          <a:p>
            <a:pPr marL="180000" indent="-180000" algn="just">
              <a:lnSpc>
                <a:spcPct val="110000"/>
              </a:lnSpc>
              <a:spcBef>
                <a:spcPts val="0"/>
              </a:spcBef>
              <a:defRPr/>
            </a:pPr>
            <a:r>
              <a:rPr lang="zh-CN" altLang="zh-CN" sz="2400" kern="100" dirty="0">
                <a:latin typeface="微软雅黑" panose="020B0503020204020204" pitchFamily="34" charset="-122"/>
                <a:ea typeface="微软雅黑" panose="020B0503020204020204" pitchFamily="34" charset="-122"/>
              </a:rPr>
              <a:t>治疗方法：</a:t>
            </a:r>
            <a:r>
              <a:rPr lang="zh-CN" altLang="zh-CN" sz="2400" b="0" kern="100" dirty="0">
                <a:solidFill>
                  <a:srgbClr val="0000CC"/>
                </a:solidFill>
                <a:latin typeface="微软雅黑" panose="020B0503020204020204" pitchFamily="34" charset="-122"/>
                <a:ea typeface="微软雅黑" panose="020B0503020204020204" pitchFamily="34" charset="-122"/>
              </a:rPr>
              <a:t>催吐洗胃，硫酸镁导泻，</a:t>
            </a:r>
            <a:r>
              <a:rPr lang="zh-CN" altLang="zh-CN" sz="2400" kern="100" dirty="0">
                <a:solidFill>
                  <a:srgbClr val="0000CC"/>
                </a:solidFill>
                <a:latin typeface="微软雅黑" panose="020B0503020204020204" pitchFamily="34" charset="-122"/>
                <a:ea typeface="微软雅黑" panose="020B0503020204020204" pitchFamily="34" charset="-122"/>
              </a:rPr>
              <a:t>阿托品</a:t>
            </a:r>
            <a:r>
              <a:rPr lang="zh-CN" altLang="zh-CN" sz="2400" b="0" kern="100" dirty="0">
                <a:solidFill>
                  <a:srgbClr val="0000CC"/>
                </a:solidFill>
                <a:latin typeface="微软雅黑" panose="020B0503020204020204" pitchFamily="34" charset="-122"/>
                <a:ea typeface="微软雅黑" panose="020B0503020204020204" pitchFamily="34" charset="-122"/>
              </a:rPr>
              <a:t>和</a:t>
            </a:r>
            <a:r>
              <a:rPr lang="zh-CN" altLang="zh-CN" sz="2400" kern="100" dirty="0">
                <a:solidFill>
                  <a:srgbClr val="0000CC"/>
                </a:solidFill>
                <a:latin typeface="微软雅黑" panose="020B0503020204020204" pitchFamily="34" charset="-122"/>
                <a:ea typeface="微软雅黑" panose="020B0503020204020204" pitchFamily="34" charset="-122"/>
              </a:rPr>
              <a:t>解磷定</a:t>
            </a:r>
            <a:r>
              <a:rPr lang="zh-CN" altLang="zh-CN" sz="2400" b="0" kern="100" dirty="0">
                <a:solidFill>
                  <a:srgbClr val="0000CC"/>
                </a:solidFill>
                <a:latin typeface="微软雅黑" panose="020B0503020204020204" pitchFamily="34" charset="-122"/>
                <a:ea typeface="微软雅黑" panose="020B0503020204020204" pitchFamily="34" charset="-122"/>
              </a:rPr>
              <a:t>静注。</a:t>
            </a:r>
            <a:r>
              <a:rPr lang="zh-CN" altLang="zh-CN" sz="2400" b="0" kern="100" dirty="0">
                <a:latin typeface="微软雅黑" panose="020B0503020204020204" pitchFamily="34" charset="-122"/>
                <a:ea typeface="微软雅黑" panose="020B0503020204020204" pitchFamily="34" charset="-122"/>
              </a:rPr>
              <a:t>病人病情逐渐稳定</a:t>
            </a:r>
          </a:p>
          <a:p>
            <a:pPr algn="just">
              <a:lnSpc>
                <a:spcPct val="150000"/>
              </a:lnSpc>
              <a:defRPr/>
            </a:pPr>
            <a:r>
              <a:rPr lang="zh-CN" altLang="zh-CN" sz="1800" kern="100" dirty="0">
                <a:latin typeface="微软雅黑" panose="020B0503020204020204" pitchFamily="34" charset="-122"/>
                <a:ea typeface="微软雅黑" panose="020B0503020204020204" pitchFamily="34" charset="-122"/>
              </a:rPr>
              <a:t>问题讨论：</a:t>
            </a:r>
          </a:p>
          <a:p>
            <a:pPr algn="just">
              <a:lnSpc>
                <a:spcPct val="150000"/>
              </a:lnSpc>
              <a:buFont typeface="+mj-lt"/>
              <a:buAutoNum type="arabicPeriod"/>
              <a:tabLst>
                <a:tab pos="228600" algn="l"/>
              </a:tabLst>
              <a:defRPr/>
            </a:pPr>
            <a:r>
              <a:rPr lang="zh-CN" altLang="zh-CN" sz="1800" b="0" kern="100" dirty="0">
                <a:latin typeface="微软雅黑" panose="020B0503020204020204" pitchFamily="34" charset="-122"/>
                <a:ea typeface="微软雅黑" panose="020B0503020204020204" pitchFamily="34" charset="-122"/>
              </a:rPr>
              <a:t>该病人发病的原因是什么？</a:t>
            </a:r>
          </a:p>
          <a:p>
            <a:pPr algn="just">
              <a:lnSpc>
                <a:spcPct val="150000"/>
              </a:lnSpc>
              <a:buFont typeface="+mj-lt"/>
              <a:buAutoNum type="arabicPeriod"/>
              <a:tabLst>
                <a:tab pos="228600" algn="l"/>
              </a:tabLst>
              <a:defRPr/>
            </a:pPr>
            <a:r>
              <a:rPr lang="zh-CN" altLang="zh-CN" sz="1800" b="0" kern="100" dirty="0">
                <a:latin typeface="微软雅黑" panose="020B0503020204020204" pitchFamily="34" charset="-122"/>
                <a:ea typeface="微软雅黑" panose="020B0503020204020204" pitchFamily="34" charset="-122"/>
              </a:rPr>
              <a:t>解磷定为何可以起到治疗有机磷中毒的机制？其生化的原理是什么？</a:t>
            </a:r>
          </a:p>
          <a:p>
            <a:pPr>
              <a:defRPr/>
            </a:pPr>
            <a:endParaRPr lang="zh-CN" altLang="en-US"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9554" name="Object 2">
            <a:extLst>
              <a:ext uri="{FF2B5EF4-FFF2-40B4-BE49-F238E27FC236}">
                <a16:creationId xmlns:a16="http://schemas.microsoft.com/office/drawing/2014/main" id="{66C17426-BBDE-4839-8BB5-67D2B5B5ACC7}"/>
              </a:ext>
            </a:extLst>
          </p:cNvPr>
          <p:cNvGraphicFramePr>
            <a:graphicFrameLocks noChangeAspect="1"/>
          </p:cNvGraphicFramePr>
          <p:nvPr>
            <p:extLst>
              <p:ext uri="{D42A27DB-BD31-4B8C-83A1-F6EECF244321}">
                <p14:modId xmlns:p14="http://schemas.microsoft.com/office/powerpoint/2010/main" val="2904622877"/>
              </p:ext>
            </p:extLst>
          </p:nvPr>
        </p:nvGraphicFramePr>
        <p:xfrm>
          <a:off x="3351881" y="765176"/>
          <a:ext cx="6394450" cy="4537075"/>
        </p:xfrm>
        <a:graphic>
          <a:graphicData uri="http://schemas.openxmlformats.org/presentationml/2006/ole">
            <mc:AlternateContent xmlns:mc="http://schemas.openxmlformats.org/markup-compatibility/2006">
              <mc:Choice xmlns:v="urn:schemas-microsoft-com:vml" Requires="v">
                <p:oleObj name="CS ChemDraw Drawing" r:id="rId3" imgW="3383280" imgH="2542540" progId="">
                  <p:embed/>
                </p:oleObj>
              </mc:Choice>
              <mc:Fallback>
                <p:oleObj name="CS ChemDraw Drawing" r:id="rId3" imgW="3383280" imgH="254254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1881" y="765176"/>
                        <a:ext cx="6394450" cy="45370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9555" name="Rectangle 3">
            <a:extLst>
              <a:ext uri="{FF2B5EF4-FFF2-40B4-BE49-F238E27FC236}">
                <a16:creationId xmlns:a16="http://schemas.microsoft.com/office/drawing/2014/main" id="{69CB3421-1A52-405C-8F3C-710C5E0CB687}"/>
              </a:ext>
            </a:extLst>
          </p:cNvPr>
          <p:cNvSpPr>
            <a:spLocks noChangeArrowheads="1"/>
          </p:cNvSpPr>
          <p:nvPr/>
        </p:nvSpPr>
        <p:spPr bwMode="auto">
          <a:xfrm>
            <a:off x="3556668" y="5733256"/>
            <a:ext cx="5984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zh-CN" altLang="en-US" sz="2800" dirty="0">
                <a:solidFill>
                  <a:schemeClr val="tx2"/>
                </a:solidFill>
                <a:latin typeface="Times New Roman" panose="02020603050405020304" pitchFamily="18" charset="0"/>
                <a:ea typeface="黑体" panose="02010609060101010101" pitchFamily="49" charset="-122"/>
              </a:rPr>
              <a:t>有机磷中毒的解毒</a:t>
            </a:r>
            <a:r>
              <a:rPr lang="en-US" altLang="zh-CN" sz="2800" dirty="0">
                <a:latin typeface="Times New Roman" panose="02020603050405020304" pitchFamily="18" charset="0"/>
                <a:ea typeface="黑体" panose="02010609060101010101" pitchFamily="49" charset="-122"/>
              </a:rPr>
              <a:t>-- </a:t>
            </a:r>
            <a:r>
              <a:rPr lang="zh-CN" altLang="en-US" sz="2800" dirty="0">
                <a:solidFill>
                  <a:srgbClr val="C00000"/>
                </a:solidFill>
                <a:latin typeface="Times New Roman" panose="02020603050405020304" pitchFamily="18" charset="0"/>
                <a:ea typeface="黑体" panose="02010609060101010101" pitchFamily="49" charset="-122"/>
              </a:rPr>
              <a:t>解磷定</a:t>
            </a:r>
            <a:r>
              <a:rPr lang="en-US" altLang="zh-CN" sz="2800" dirty="0">
                <a:solidFill>
                  <a:srgbClr val="C00000"/>
                </a:solidFill>
                <a:latin typeface="Times New Roman" panose="02020603050405020304" pitchFamily="18" charset="0"/>
                <a:ea typeface="黑体" panose="02010609060101010101" pitchFamily="49" charset="-122"/>
              </a:rPr>
              <a:t>(PAM)</a:t>
            </a:r>
          </a:p>
        </p:txBody>
      </p:sp>
      <p:sp>
        <p:nvSpPr>
          <p:cNvPr id="3" name="文本框 2">
            <a:extLst>
              <a:ext uri="{FF2B5EF4-FFF2-40B4-BE49-F238E27FC236}">
                <a16:creationId xmlns:a16="http://schemas.microsoft.com/office/drawing/2014/main" id="{7F99FF13-E82E-CADC-E6D0-645A91691787}"/>
              </a:ext>
            </a:extLst>
          </p:cNvPr>
          <p:cNvSpPr txBox="1"/>
          <p:nvPr/>
        </p:nvSpPr>
        <p:spPr>
          <a:xfrm>
            <a:off x="1119236" y="3917256"/>
            <a:ext cx="3888432" cy="1011880"/>
          </a:xfrm>
          <a:prstGeom prst="rect">
            <a:avLst/>
          </a:prstGeom>
          <a:noFill/>
          <a:ln>
            <a:solidFill>
              <a:srgbClr val="0000CC"/>
            </a:solidFill>
          </a:ln>
        </p:spPr>
        <p:txBody>
          <a:bodyPr wrap="square">
            <a:spAutoFit/>
          </a:bodyPr>
          <a:lstStyle/>
          <a:p>
            <a:pPr>
              <a:lnSpc>
                <a:spcPct val="120000"/>
              </a:lnSpc>
            </a:pPr>
            <a:r>
              <a:rPr lang="zh-CN" altLang="en-US" sz="2600" dirty="0">
                <a:latin typeface="微软雅黑" panose="020B0503020204020204" pitchFamily="34" charset="-122"/>
                <a:ea typeface="微软雅黑" panose="020B0503020204020204" pitchFamily="34" charset="-122"/>
              </a:rPr>
              <a:t>中毒早期用药效果较好，治疗慢性中毒无效。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65158F34-8B6B-457E-8F1E-A99344866ED9}"/>
              </a:ext>
            </a:extLst>
          </p:cNvPr>
          <p:cNvSpPr>
            <a:spLocks noChangeArrowheads="1"/>
          </p:cNvSpPr>
          <p:nvPr/>
        </p:nvSpPr>
        <p:spPr bwMode="auto">
          <a:xfrm>
            <a:off x="2999657" y="1374553"/>
            <a:ext cx="6448425" cy="2361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60000"/>
              </a:lnSpc>
              <a:spcBef>
                <a:spcPct val="0"/>
              </a:spcBef>
              <a:buFontTx/>
              <a:buNone/>
            </a:pPr>
            <a:r>
              <a:rPr lang="en-US" altLang="zh-CN" sz="2800" dirty="0">
                <a:latin typeface="Times New Roman" panose="02020603050405020304" pitchFamily="18" charset="0"/>
                <a:ea typeface="黑体" panose="02010609060101010101" pitchFamily="49" charset="-122"/>
              </a:rPr>
              <a:t>Ag</a:t>
            </a:r>
            <a:r>
              <a:rPr lang="en-US" altLang="zh-CN" sz="2800" baseline="30000" dirty="0">
                <a:latin typeface="Times New Roman" panose="02020603050405020304" pitchFamily="18" charset="0"/>
                <a:ea typeface="黑体" panose="02010609060101010101" pitchFamily="49" charset="-122"/>
              </a:rPr>
              <a:t>+ </a:t>
            </a:r>
            <a:r>
              <a:rPr lang="zh-CN" altLang="en-US" sz="2800" dirty="0">
                <a:latin typeface="Times New Roman" panose="02020603050405020304" pitchFamily="18" charset="0"/>
                <a:ea typeface="黑体" panose="02010609060101010101" pitchFamily="49" charset="-122"/>
              </a:rPr>
              <a:t>、 </a:t>
            </a:r>
            <a:r>
              <a:rPr lang="en-US" altLang="zh-CN" sz="2800" dirty="0">
                <a:latin typeface="Times New Roman" panose="02020603050405020304" pitchFamily="18" charset="0"/>
                <a:ea typeface="黑体" panose="02010609060101010101" pitchFamily="49" charset="-122"/>
              </a:rPr>
              <a:t>Hg</a:t>
            </a:r>
            <a:r>
              <a:rPr lang="en-US" altLang="zh-CN" sz="2800" baseline="30000" dirty="0">
                <a:latin typeface="Times New Roman" panose="02020603050405020304" pitchFamily="18" charset="0"/>
                <a:ea typeface="黑体" panose="02010609060101010101" pitchFamily="49" charset="-122"/>
              </a:rPr>
              <a:t>2+ </a:t>
            </a:r>
            <a:r>
              <a:rPr lang="zh-CN" altLang="en-US" sz="2800" dirty="0">
                <a:latin typeface="Times New Roman" panose="02020603050405020304" pitchFamily="18" charset="0"/>
                <a:ea typeface="黑体" panose="02010609060101010101" pitchFamily="49" charset="-122"/>
              </a:rPr>
              <a:t>、 </a:t>
            </a:r>
            <a:r>
              <a:rPr lang="en-US" altLang="zh-CN" sz="2800" dirty="0">
                <a:latin typeface="Times New Roman" panose="02020603050405020304" pitchFamily="18" charset="0"/>
                <a:ea typeface="黑体" panose="02010609060101010101" pitchFamily="49" charset="-122"/>
              </a:rPr>
              <a:t>Pb</a:t>
            </a:r>
            <a:r>
              <a:rPr lang="en-US" altLang="zh-CN" sz="2800" baseline="30000" dirty="0">
                <a:latin typeface="Times New Roman" panose="02020603050405020304" pitchFamily="18" charset="0"/>
                <a:ea typeface="黑体" panose="02010609060101010101" pitchFamily="49" charset="-122"/>
              </a:rPr>
              <a:t>2+ </a:t>
            </a:r>
            <a:r>
              <a:rPr lang="zh-CN" altLang="en-US" sz="2800" dirty="0">
                <a:latin typeface="Times New Roman" panose="02020603050405020304" pitchFamily="18" charset="0"/>
                <a:ea typeface="黑体" panose="02010609060101010101" pitchFamily="49" charset="-122"/>
              </a:rPr>
              <a:t>、 </a:t>
            </a:r>
            <a:r>
              <a:rPr lang="en-US" altLang="zh-CN" sz="2800" dirty="0">
                <a:latin typeface="Times New Roman" panose="02020603050405020304" pitchFamily="18" charset="0"/>
                <a:ea typeface="黑体" panose="02010609060101010101" pitchFamily="49" charset="-122"/>
              </a:rPr>
              <a:t>As</a:t>
            </a:r>
            <a:r>
              <a:rPr lang="en-US" altLang="zh-CN" sz="2800" baseline="30000" dirty="0">
                <a:latin typeface="Times New Roman" panose="02020603050405020304" pitchFamily="18" charset="0"/>
                <a:ea typeface="黑体" panose="02010609060101010101" pitchFamily="49" charset="-122"/>
              </a:rPr>
              <a:t>3+ </a:t>
            </a:r>
            <a:r>
              <a:rPr lang="zh-CN" altLang="en-US" sz="2800" dirty="0">
                <a:latin typeface="Times New Roman" panose="02020603050405020304" pitchFamily="18" charset="0"/>
                <a:ea typeface="黑体" panose="02010609060101010101" pitchFamily="49" charset="-122"/>
              </a:rPr>
              <a:t>等</a:t>
            </a:r>
            <a:endParaRPr lang="en-US" altLang="zh-CN" sz="2800" dirty="0">
              <a:latin typeface="Times New Roman" panose="02020603050405020304" pitchFamily="18" charset="0"/>
              <a:ea typeface="黑体" panose="02010609060101010101" pitchFamily="49" charset="-122"/>
            </a:endParaRPr>
          </a:p>
          <a:p>
            <a:pPr eaLnBrk="1" hangingPunct="1">
              <a:lnSpc>
                <a:spcPct val="120000"/>
              </a:lnSpc>
              <a:spcBef>
                <a:spcPct val="0"/>
              </a:spcBef>
              <a:buFontTx/>
              <a:buNone/>
            </a:pPr>
            <a:r>
              <a:rPr lang="zh-CN" altLang="en-US" sz="3600" dirty="0">
                <a:solidFill>
                  <a:srgbClr val="FF0000"/>
                </a:solidFill>
                <a:latin typeface="Times New Roman" panose="02020603050405020304" pitchFamily="18" charset="0"/>
                <a:ea typeface="黑体" panose="02010609060101010101" pitchFamily="49" charset="-122"/>
              </a:rPr>
              <a:t>    </a:t>
            </a:r>
            <a:r>
              <a:rPr lang="zh-CN" altLang="en-US" sz="3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FF0000"/>
                </a:solidFill>
                <a:latin typeface="Times New Roman" panose="02020603050405020304" pitchFamily="18" charset="0"/>
                <a:ea typeface="黑体" panose="02010609060101010101" pitchFamily="49" charset="-122"/>
              </a:rPr>
              <a:t>巯基酶</a:t>
            </a:r>
            <a:endParaRPr lang="en-US" altLang="zh-CN" sz="2800" dirty="0">
              <a:latin typeface="Times New Roman" panose="02020603050405020304" pitchFamily="18" charset="0"/>
              <a:ea typeface="黑体" panose="02010609060101010101" pitchFamily="49" charset="-122"/>
            </a:endParaRPr>
          </a:p>
          <a:p>
            <a:pPr eaLnBrk="1" hangingPunct="1">
              <a:lnSpc>
                <a:spcPct val="120000"/>
              </a:lnSpc>
              <a:spcBef>
                <a:spcPct val="0"/>
              </a:spcBef>
              <a:buFontTx/>
              <a:buNone/>
            </a:pPr>
            <a:r>
              <a:rPr lang="zh-CN" altLang="en-US" sz="2400" dirty="0">
                <a:latin typeface="Times New Roman" panose="02020603050405020304" pitchFamily="18" charset="0"/>
                <a:ea typeface="黑体" panose="02010609060101010101" pitchFamily="49" charset="-122"/>
              </a:rPr>
              <a:t>低浓度时对酶活性产生抑制。</a:t>
            </a:r>
          </a:p>
          <a:p>
            <a:pPr eaLnBrk="1" hangingPunct="1">
              <a:lnSpc>
                <a:spcPct val="120000"/>
              </a:lnSpc>
              <a:spcBef>
                <a:spcPct val="0"/>
              </a:spcBef>
              <a:buFontTx/>
              <a:buNone/>
            </a:pPr>
            <a:r>
              <a:rPr lang="zh-CN" altLang="en-US" sz="2400" dirty="0">
                <a:latin typeface="Times New Roman" panose="02020603050405020304" pitchFamily="18" charset="0"/>
                <a:ea typeface="黑体" panose="02010609060101010101" pitchFamily="49" charset="-122"/>
              </a:rPr>
              <a:t>高浓度时可使酶蛋白变性失活；</a:t>
            </a:r>
            <a:r>
              <a:rPr lang="zh-CN" altLang="en-US" sz="2800" dirty="0">
                <a:latin typeface="Times New Roman" panose="02020603050405020304" pitchFamily="18" charset="0"/>
                <a:ea typeface="黑体" panose="02010609060101010101" pitchFamily="49" charset="-122"/>
              </a:rPr>
              <a:t>   </a:t>
            </a:r>
          </a:p>
        </p:txBody>
      </p:sp>
      <p:sp>
        <p:nvSpPr>
          <p:cNvPr id="258051" name="Rectangle 3">
            <a:extLst>
              <a:ext uri="{FF2B5EF4-FFF2-40B4-BE49-F238E27FC236}">
                <a16:creationId xmlns:a16="http://schemas.microsoft.com/office/drawing/2014/main" id="{67FAA83C-B8BD-4575-AAC2-61C0598DD13C}"/>
              </a:ext>
            </a:extLst>
          </p:cNvPr>
          <p:cNvSpPr>
            <a:spLocks noChangeArrowheads="1"/>
          </p:cNvSpPr>
          <p:nvPr/>
        </p:nvSpPr>
        <p:spPr bwMode="auto">
          <a:xfrm>
            <a:off x="2567609" y="3785687"/>
            <a:ext cx="8208911"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zh-CN" altLang="en-US" sz="2800" b="1" dirty="0">
                <a:solidFill>
                  <a:srgbClr val="0000CC"/>
                </a:solidFill>
                <a:latin typeface="Times New Roman" panose="02020603050405020304" pitchFamily="18" charset="0"/>
                <a:ea typeface="黑体" panose="02010609060101010101" pitchFamily="49" charset="-122"/>
              </a:rPr>
              <a:t>解毒</a:t>
            </a:r>
            <a:r>
              <a:rPr lang="zh-CN" altLang="en-US" sz="2800" b="1" dirty="0">
                <a:latin typeface="Times New Roman" panose="02020603050405020304" pitchFamily="18" charset="0"/>
                <a:ea typeface="黑体" panose="02010609060101010101" pitchFamily="49" charset="-122"/>
              </a:rPr>
              <a:t>： </a:t>
            </a:r>
            <a:endParaRPr lang="en-US" altLang="zh-CN" sz="2800" b="1" dirty="0">
              <a:latin typeface="Times New Roman" panose="02020603050405020304" pitchFamily="18" charset="0"/>
              <a:ea typeface="黑体" panose="02010609060101010101" pitchFamily="49" charset="-122"/>
            </a:endParaRPr>
          </a:p>
          <a:p>
            <a:pPr marL="457200" indent="-457200" eaLnBrk="1" hangingPunct="1">
              <a:spcBef>
                <a:spcPct val="0"/>
              </a:spcBef>
            </a:pPr>
            <a:r>
              <a:rPr lang="zh-CN" altLang="en-US" sz="2800" dirty="0">
                <a:solidFill>
                  <a:srgbClr val="0000CC"/>
                </a:solidFill>
                <a:latin typeface="微软雅黑" panose="020B0503020204020204" pitchFamily="34" charset="-122"/>
                <a:ea typeface="微软雅黑" panose="020B0503020204020204" pitchFamily="34" charset="-122"/>
              </a:rPr>
              <a:t>金属螯合剂</a:t>
            </a:r>
            <a:r>
              <a:rPr lang="zh-CN" altLang="en-US" sz="2800" dirty="0"/>
              <a:t>比如</a:t>
            </a:r>
            <a:r>
              <a:rPr lang="en-US" altLang="zh-CN" sz="2800" dirty="0">
                <a:latin typeface="Times New Roman" panose="02020603050405020304" pitchFamily="18" charset="0"/>
                <a:ea typeface="黑体" panose="02010609060101010101" pitchFamily="49" charset="-122"/>
              </a:rPr>
              <a:t>EDTA; </a:t>
            </a:r>
          </a:p>
          <a:p>
            <a:pPr marL="457200" indent="-457200" eaLnBrk="1" hangingPunct="1">
              <a:spcBef>
                <a:spcPct val="0"/>
              </a:spcBef>
            </a:pPr>
            <a:r>
              <a:rPr lang="zh-CN" altLang="en-US" sz="2800" dirty="0">
                <a:latin typeface="Times New Roman" panose="02020603050405020304" pitchFamily="18" charset="0"/>
                <a:ea typeface="黑体" panose="02010609060101010101" pitchFamily="49" charset="-122"/>
              </a:rPr>
              <a:t>二巯基丙醇（</a:t>
            </a:r>
            <a:r>
              <a:rPr lang="en-US" altLang="zh-CN" sz="2800" dirty="0">
                <a:latin typeface="Times New Roman" panose="02020603050405020304" pitchFamily="18" charset="0"/>
                <a:ea typeface="黑体" panose="02010609060101010101" pitchFamily="49" charset="-122"/>
              </a:rPr>
              <a:t>BAL）、</a:t>
            </a:r>
            <a:r>
              <a:rPr lang="zh-CN" altLang="en-US" sz="2800" dirty="0">
                <a:latin typeface="Times New Roman" panose="02020603050405020304" pitchFamily="18" charset="0"/>
                <a:ea typeface="黑体" panose="02010609060101010101" pitchFamily="49" charset="-122"/>
              </a:rPr>
              <a:t>二巯基丙碘酸钠等巯基酶保护剂</a:t>
            </a:r>
            <a:endParaRPr lang="en-US" altLang="zh-CN" sz="2800" dirty="0">
              <a:latin typeface="Times New Roman" panose="02020603050405020304" pitchFamily="18" charset="0"/>
              <a:ea typeface="黑体" panose="02010609060101010101" pitchFamily="49" charset="-122"/>
            </a:endParaRPr>
          </a:p>
        </p:txBody>
      </p:sp>
      <p:sp>
        <p:nvSpPr>
          <p:cNvPr id="281604" name="Text Box 12">
            <a:extLst>
              <a:ext uri="{FF2B5EF4-FFF2-40B4-BE49-F238E27FC236}">
                <a16:creationId xmlns:a16="http://schemas.microsoft.com/office/drawing/2014/main" id="{1AAD4B46-E3D2-43DA-B9B7-91DC462EA70F}"/>
              </a:ext>
            </a:extLst>
          </p:cNvPr>
          <p:cNvSpPr txBox="1">
            <a:spLocks noChangeArrowheads="1"/>
          </p:cNvSpPr>
          <p:nvPr/>
        </p:nvSpPr>
        <p:spPr bwMode="auto">
          <a:xfrm>
            <a:off x="2344689" y="804391"/>
            <a:ext cx="1512887" cy="520700"/>
          </a:xfrm>
          <a:prstGeom prst="rect">
            <a:avLst/>
          </a:prstGeom>
          <a:solidFill>
            <a:srgbClr val="FFF7A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lang="zh-CN" altLang="en-US" sz="2800" b="1">
                <a:latin typeface="黑体" panose="02010609060101010101" pitchFamily="49" charset="-122"/>
                <a:ea typeface="黑体" panose="02010609060101010101" pitchFamily="49" charset="-122"/>
              </a:rPr>
              <a:t>举例</a:t>
            </a:r>
            <a:r>
              <a:rPr lang="en-US" altLang="zh-CN" sz="2800" b="1">
                <a:latin typeface="黑体" panose="02010609060101010101" pitchFamily="49" charset="-122"/>
                <a:ea typeface="黑体" panose="02010609060101010101" pitchFamily="49" charset="-122"/>
              </a:rPr>
              <a:t>2</a:t>
            </a:r>
            <a:r>
              <a:rPr lang="zh-CN" altLang="en-US" sz="2800" b="1">
                <a:latin typeface="黑体" panose="02010609060101010101" pitchFamily="49" charset="-122"/>
                <a:ea typeface="黑体" panose="02010609060101010101" pitchFamily="49" charset="-122"/>
              </a:rPr>
              <a:t>：</a:t>
            </a:r>
          </a:p>
        </p:txBody>
      </p:sp>
      <p:sp>
        <p:nvSpPr>
          <p:cNvPr id="281605" name="矩形 1">
            <a:extLst>
              <a:ext uri="{FF2B5EF4-FFF2-40B4-BE49-F238E27FC236}">
                <a16:creationId xmlns:a16="http://schemas.microsoft.com/office/drawing/2014/main" id="{B77B7E94-FCBC-447F-9EDF-3C8B811EB96F}"/>
              </a:ext>
            </a:extLst>
          </p:cNvPr>
          <p:cNvSpPr>
            <a:spLocks noChangeArrowheads="1"/>
          </p:cNvSpPr>
          <p:nvPr/>
        </p:nvSpPr>
        <p:spPr bwMode="auto">
          <a:xfrm>
            <a:off x="4073476" y="764704"/>
            <a:ext cx="56229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dirty="0">
                <a:solidFill>
                  <a:srgbClr val="C00000"/>
                </a:solidFill>
                <a:latin typeface="Times New Roman" panose="02020603050405020304" pitchFamily="18" charset="0"/>
                <a:ea typeface="黑体" panose="02010609060101010101" pitchFamily="49" charset="-122"/>
              </a:rPr>
              <a:t>重金属离子对酶的不可逆抑制 </a:t>
            </a:r>
            <a:endParaRPr lang="zh-CN" altLang="en-US"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58050">
                                            <p:txEl>
                                              <p:pRg st="2" end="2"/>
                                            </p:txEl>
                                          </p:spTgt>
                                        </p:tgtEl>
                                        <p:attrNameLst>
                                          <p:attrName>style.visibility</p:attrName>
                                        </p:attrNameLst>
                                      </p:cBhvr>
                                      <p:to>
                                        <p:strVal val="visible"/>
                                      </p:to>
                                    </p:set>
                                    <p:animEffect transition="in" filter="fade">
                                      <p:cBhvr>
                                        <p:cTn id="7" dur="500"/>
                                        <p:tgtEl>
                                          <p:spTgt spid="258050">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8050">
                                            <p:txEl>
                                              <p:pRg st="3" end="3"/>
                                            </p:txEl>
                                          </p:spTgt>
                                        </p:tgtEl>
                                        <p:attrNameLst>
                                          <p:attrName>style.visibility</p:attrName>
                                        </p:attrNameLst>
                                      </p:cBhvr>
                                      <p:to>
                                        <p:strVal val="visible"/>
                                      </p:to>
                                    </p:set>
                                    <p:animEffect transition="in" filter="fade">
                                      <p:cBhvr>
                                        <p:cTn id="10" dur="500"/>
                                        <p:tgtEl>
                                          <p:spTgt spid="258050">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8051"/>
                                        </p:tgtEl>
                                        <p:attrNameLst>
                                          <p:attrName>style.visibility</p:attrName>
                                        </p:attrNameLst>
                                      </p:cBhvr>
                                      <p:to>
                                        <p:strVal val="visible"/>
                                      </p:to>
                                    </p:set>
                                    <p:animEffect transition="in" filter="fade">
                                      <p:cBhvr>
                                        <p:cTn id="15" dur="500"/>
                                        <p:tgtEl>
                                          <p:spTgt spid="258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1" grpId="0"/>
    </p:bldLst>
  </p:timing>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3650" name="标题 1">
            <a:extLst>
              <a:ext uri="{FF2B5EF4-FFF2-40B4-BE49-F238E27FC236}">
                <a16:creationId xmlns:a16="http://schemas.microsoft.com/office/drawing/2014/main" id="{06B9A681-78DC-4FAA-8CC4-61A33149F876}"/>
              </a:ext>
            </a:extLst>
          </p:cNvPr>
          <p:cNvSpPr>
            <a:spLocks noGrp="1" noChangeArrowheads="1"/>
          </p:cNvSpPr>
          <p:nvPr>
            <p:ph type="title"/>
          </p:nvPr>
        </p:nvSpPr>
        <p:spPr>
          <a:xfrm>
            <a:off x="1677988" y="239713"/>
            <a:ext cx="8496300" cy="925512"/>
          </a:xfrm>
        </p:spPr>
        <p:txBody>
          <a:bodyPr/>
          <a:lstStyle/>
          <a:p>
            <a:r>
              <a:rPr lang="zh-CN" altLang="en-US" sz="3200" b="0" dirty="0">
                <a:solidFill>
                  <a:srgbClr val="0000CC"/>
                </a:solidFill>
                <a:latin typeface="微软雅黑" panose="020B0503020204020204" pitchFamily="34" charset="-122"/>
                <a:ea typeface="微软雅黑" panose="020B0503020204020204" pitchFamily="34" charset="-122"/>
              </a:rPr>
              <a:t>儿童误服了温度计中的水银，怎么办？</a:t>
            </a:r>
          </a:p>
        </p:txBody>
      </p:sp>
      <p:sp>
        <p:nvSpPr>
          <p:cNvPr id="3" name="内容占位符 2">
            <a:extLst>
              <a:ext uri="{FF2B5EF4-FFF2-40B4-BE49-F238E27FC236}">
                <a16:creationId xmlns:a16="http://schemas.microsoft.com/office/drawing/2014/main" id="{8B6C1A21-69DC-4D12-966D-39F95B0C3D4F}"/>
              </a:ext>
            </a:extLst>
          </p:cNvPr>
          <p:cNvSpPr>
            <a:spLocks noGrp="1" noChangeArrowheads="1"/>
          </p:cNvSpPr>
          <p:nvPr>
            <p:ph idx="1"/>
          </p:nvPr>
        </p:nvSpPr>
        <p:spPr>
          <a:xfrm>
            <a:off x="1415480" y="1556792"/>
            <a:ext cx="9505056" cy="4968875"/>
          </a:xfrm>
        </p:spPr>
        <p:txBody>
          <a:bodyPr/>
          <a:lstStyle/>
          <a:p>
            <a:r>
              <a:rPr lang="zh-CN" altLang="en-US" sz="2800" dirty="0">
                <a:solidFill>
                  <a:srgbClr val="0000CC"/>
                </a:solidFill>
              </a:rPr>
              <a:t>儿童误食水银，最好等它排出来</a:t>
            </a:r>
            <a:r>
              <a:rPr lang="zh-CN" altLang="en-US" sz="2800" dirty="0"/>
              <a:t>。无需喝牛奶。</a:t>
            </a:r>
            <a:endParaRPr lang="en-US" altLang="zh-CN" sz="2800" dirty="0"/>
          </a:p>
          <a:p>
            <a:pPr lvl="1"/>
            <a:r>
              <a:rPr lang="zh-CN" altLang="en-US" sz="2400" dirty="0"/>
              <a:t>金属汞（水银）进入胃肠道后的吸收率只有万分之一，基本上认为是不吸收的。</a:t>
            </a:r>
            <a:endParaRPr lang="en-US" altLang="zh-CN" sz="2400" dirty="0"/>
          </a:p>
          <a:p>
            <a:pPr lvl="1"/>
            <a:r>
              <a:rPr lang="zh-CN" altLang="en-US" sz="2400" dirty="0">
                <a:solidFill>
                  <a:srgbClr val="0000CC"/>
                </a:solidFill>
              </a:rPr>
              <a:t>胃肠道完好</a:t>
            </a:r>
            <a:r>
              <a:rPr lang="zh-CN" altLang="en-US" sz="2400" b="0" dirty="0"/>
              <a:t>的患者，误服水银相对安全，</a:t>
            </a:r>
            <a:r>
              <a:rPr lang="zh-CN" altLang="en-US" sz="2400" dirty="0"/>
              <a:t>手术干预反而可能引起中毒症状</a:t>
            </a:r>
            <a:endParaRPr lang="en-US" altLang="zh-CN" sz="2400" dirty="0"/>
          </a:p>
          <a:p>
            <a:pPr lvl="1"/>
            <a:r>
              <a:rPr lang="zh-CN" altLang="en-US" sz="2400" b="0" dirty="0"/>
              <a:t>胃肠道本身就有损伤的患者，误吞了水银也有一定中毒风险</a:t>
            </a:r>
            <a:r>
              <a:rPr lang="zh-CN" altLang="en-US" sz="2400" dirty="0"/>
              <a:t>。</a:t>
            </a:r>
            <a:endParaRPr lang="en-US" altLang="zh-CN" sz="2400" dirty="0"/>
          </a:p>
          <a:p>
            <a:pPr lvl="1"/>
            <a:r>
              <a:rPr lang="zh-CN" altLang="en-US" dirty="0">
                <a:solidFill>
                  <a:srgbClr val="0000CC"/>
                </a:solidFill>
              </a:rPr>
              <a:t>如果有碎玻璃一块吞下，及时去医院！</a:t>
            </a:r>
            <a:endParaRPr lang="en-US" altLang="zh-CN" dirty="0">
              <a:solidFill>
                <a:srgbClr val="0000CC"/>
              </a:solidFill>
            </a:endParaRPr>
          </a:p>
          <a:p>
            <a:endParaRPr lang="en-US" altLang="zh-CN" sz="2800" dirty="0"/>
          </a:p>
          <a:p>
            <a:r>
              <a:rPr lang="zh-CN" altLang="en-US" sz="2800" dirty="0"/>
              <a:t>水银易挥发，吸食蒸气有毒</a:t>
            </a:r>
            <a:r>
              <a:rPr lang="zh-CN" altLang="en-US" sz="2800" b="0" dirty="0"/>
              <a:t>。水银洒了之后，一定要妥善处理。</a:t>
            </a:r>
          </a:p>
          <a:p>
            <a:endParaRPr lang="zh-CN" altLang="en-US" sz="2800" dirty="0"/>
          </a:p>
          <a:p>
            <a:endParaRPr lang="zh-CN" altLang="en-US" sz="28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Text Box 2">
            <a:extLst>
              <a:ext uri="{FF2B5EF4-FFF2-40B4-BE49-F238E27FC236}">
                <a16:creationId xmlns:a16="http://schemas.microsoft.com/office/drawing/2014/main" id="{D666A71F-AE8A-484D-9E6C-C2C1BF58F4D6}"/>
              </a:ext>
            </a:extLst>
          </p:cNvPr>
          <p:cNvSpPr txBox="1">
            <a:spLocks noChangeArrowheads="1"/>
          </p:cNvSpPr>
          <p:nvPr/>
        </p:nvSpPr>
        <p:spPr bwMode="auto">
          <a:xfrm>
            <a:off x="3965575" y="256540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2400" b="1">
                <a:latin typeface="Times New Roman" panose="02020603050405020304" pitchFamily="18" charset="0"/>
                <a:ea typeface="黑体" panose="02010609060101010101" pitchFamily="49" charset="-122"/>
              </a:rPr>
              <a:t>路易士气</a:t>
            </a:r>
          </a:p>
        </p:txBody>
      </p:sp>
      <p:sp>
        <p:nvSpPr>
          <p:cNvPr id="1017859" name="Text Box 3">
            <a:extLst>
              <a:ext uri="{FF2B5EF4-FFF2-40B4-BE49-F238E27FC236}">
                <a16:creationId xmlns:a16="http://schemas.microsoft.com/office/drawing/2014/main" id="{3D24E4FE-4B23-4C58-8B90-04832EB2ED5B}"/>
              </a:ext>
            </a:extLst>
          </p:cNvPr>
          <p:cNvSpPr txBox="1">
            <a:spLocks noChangeArrowheads="1"/>
          </p:cNvSpPr>
          <p:nvPr/>
        </p:nvSpPr>
        <p:spPr bwMode="auto">
          <a:xfrm>
            <a:off x="1962150" y="5643563"/>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黑体" panose="02010609060101010101" pitchFamily="49" charset="-122"/>
              </a:rPr>
              <a:t>失活的酶</a:t>
            </a:r>
          </a:p>
        </p:txBody>
      </p:sp>
      <p:sp>
        <p:nvSpPr>
          <p:cNvPr id="285700" name="Text Box 4">
            <a:extLst>
              <a:ext uri="{FF2B5EF4-FFF2-40B4-BE49-F238E27FC236}">
                <a16:creationId xmlns:a16="http://schemas.microsoft.com/office/drawing/2014/main" id="{06494B32-32F8-404B-BE65-9C7FA7625212}"/>
              </a:ext>
            </a:extLst>
          </p:cNvPr>
          <p:cNvSpPr txBox="1">
            <a:spLocks noChangeArrowheads="1"/>
          </p:cNvSpPr>
          <p:nvPr/>
        </p:nvSpPr>
        <p:spPr bwMode="auto">
          <a:xfrm>
            <a:off x="2095501" y="2593975"/>
            <a:ext cx="1223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400" b="1">
                <a:solidFill>
                  <a:srgbClr val="0000CC"/>
                </a:solidFill>
                <a:latin typeface="Times New Roman" panose="02020603050405020304" pitchFamily="18" charset="0"/>
                <a:ea typeface="黑体" panose="02010609060101010101" pitchFamily="49" charset="-122"/>
              </a:rPr>
              <a:t>巯基酶</a:t>
            </a:r>
          </a:p>
        </p:txBody>
      </p:sp>
      <p:sp>
        <p:nvSpPr>
          <p:cNvPr id="285701" name="Text Box 5">
            <a:extLst>
              <a:ext uri="{FF2B5EF4-FFF2-40B4-BE49-F238E27FC236}">
                <a16:creationId xmlns:a16="http://schemas.microsoft.com/office/drawing/2014/main" id="{F3AE541A-257C-4571-8A64-4A32E6BFFC6E}"/>
              </a:ext>
            </a:extLst>
          </p:cNvPr>
          <p:cNvSpPr txBox="1">
            <a:spLocks noChangeArrowheads="1"/>
          </p:cNvSpPr>
          <p:nvPr/>
        </p:nvSpPr>
        <p:spPr bwMode="auto">
          <a:xfrm>
            <a:off x="7104063" y="2592388"/>
            <a:ext cx="1655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黑体" panose="02010609060101010101" pitchFamily="49" charset="-122"/>
              </a:rPr>
              <a:t>失活的酶</a:t>
            </a:r>
          </a:p>
        </p:txBody>
      </p:sp>
      <p:sp>
        <p:nvSpPr>
          <p:cNvPr id="285702" name="Text Box 6">
            <a:extLst>
              <a:ext uri="{FF2B5EF4-FFF2-40B4-BE49-F238E27FC236}">
                <a16:creationId xmlns:a16="http://schemas.microsoft.com/office/drawing/2014/main" id="{47EB2D4D-2E57-4B93-8C4D-31F1FC859582}"/>
              </a:ext>
            </a:extLst>
          </p:cNvPr>
          <p:cNvSpPr txBox="1">
            <a:spLocks noChangeArrowheads="1"/>
          </p:cNvSpPr>
          <p:nvPr/>
        </p:nvSpPr>
        <p:spPr bwMode="auto">
          <a:xfrm>
            <a:off x="9625013" y="2565401"/>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黑体" panose="02010609060101010101" pitchFamily="49" charset="-122"/>
              </a:rPr>
              <a:t>酸</a:t>
            </a:r>
          </a:p>
        </p:txBody>
      </p:sp>
      <p:sp>
        <p:nvSpPr>
          <p:cNvPr id="1017863" name="Text Box 7">
            <a:extLst>
              <a:ext uri="{FF2B5EF4-FFF2-40B4-BE49-F238E27FC236}">
                <a16:creationId xmlns:a16="http://schemas.microsoft.com/office/drawing/2014/main" id="{427D418E-FE29-496B-818E-18363575687D}"/>
              </a:ext>
            </a:extLst>
          </p:cNvPr>
          <p:cNvSpPr txBox="1">
            <a:spLocks noChangeArrowheads="1"/>
          </p:cNvSpPr>
          <p:nvPr/>
        </p:nvSpPr>
        <p:spPr bwMode="auto">
          <a:xfrm>
            <a:off x="4625976" y="5708650"/>
            <a:ext cx="811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400" b="1">
                <a:solidFill>
                  <a:srgbClr val="0000CC"/>
                </a:solidFill>
                <a:latin typeface="Times New Roman" panose="02020603050405020304" pitchFamily="18" charset="0"/>
                <a:ea typeface="黑体" panose="02010609060101010101" pitchFamily="49" charset="-122"/>
              </a:rPr>
              <a:t>BAL</a:t>
            </a:r>
          </a:p>
        </p:txBody>
      </p:sp>
      <p:sp>
        <p:nvSpPr>
          <p:cNvPr id="1017864" name="Text Box 8">
            <a:extLst>
              <a:ext uri="{FF2B5EF4-FFF2-40B4-BE49-F238E27FC236}">
                <a16:creationId xmlns:a16="http://schemas.microsoft.com/office/drawing/2014/main" id="{847D3A56-F9F3-418D-9D5C-767727F763AD}"/>
              </a:ext>
            </a:extLst>
          </p:cNvPr>
          <p:cNvSpPr txBox="1">
            <a:spLocks noChangeArrowheads="1"/>
          </p:cNvSpPr>
          <p:nvPr/>
        </p:nvSpPr>
        <p:spPr bwMode="auto">
          <a:xfrm>
            <a:off x="6226175" y="5684838"/>
            <a:ext cx="118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黑体" panose="02010609060101010101" pitchFamily="49" charset="-122"/>
              </a:rPr>
              <a:t>巯基酶</a:t>
            </a:r>
          </a:p>
        </p:txBody>
      </p:sp>
      <p:sp>
        <p:nvSpPr>
          <p:cNvPr id="1017865" name="Text Box 9">
            <a:extLst>
              <a:ext uri="{FF2B5EF4-FFF2-40B4-BE49-F238E27FC236}">
                <a16:creationId xmlns:a16="http://schemas.microsoft.com/office/drawing/2014/main" id="{ECB454E4-BA57-42B4-9B36-D7CE6474983F}"/>
              </a:ext>
            </a:extLst>
          </p:cNvPr>
          <p:cNvSpPr txBox="1">
            <a:spLocks noChangeArrowheads="1"/>
          </p:cNvSpPr>
          <p:nvPr/>
        </p:nvSpPr>
        <p:spPr bwMode="auto">
          <a:xfrm>
            <a:off x="7623175" y="5684838"/>
            <a:ext cx="2649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400" b="1">
                <a:latin typeface="Times New Roman" panose="02020603050405020304" pitchFamily="18" charset="0"/>
                <a:ea typeface="黑体" panose="02010609060101010101" pitchFamily="49" charset="-122"/>
              </a:rPr>
              <a:t>BAL</a:t>
            </a:r>
            <a:r>
              <a:rPr kumimoji="1" lang="zh-CN" altLang="en-US" sz="2400" b="1">
                <a:latin typeface="Times New Roman" panose="02020603050405020304" pitchFamily="18" charset="0"/>
                <a:ea typeface="黑体" panose="02010609060101010101" pitchFamily="49" charset="-122"/>
              </a:rPr>
              <a:t>与砷剂结合物</a:t>
            </a:r>
          </a:p>
        </p:txBody>
      </p:sp>
      <p:graphicFrame>
        <p:nvGraphicFramePr>
          <p:cNvPr id="1017866" name="Object 10">
            <a:extLst>
              <a:ext uri="{FF2B5EF4-FFF2-40B4-BE49-F238E27FC236}">
                <a16:creationId xmlns:a16="http://schemas.microsoft.com/office/drawing/2014/main" id="{6A7306D0-02FC-45D3-B7E3-3A5A556A0117}"/>
              </a:ext>
            </a:extLst>
          </p:cNvPr>
          <p:cNvGraphicFramePr>
            <a:graphicFrameLocks noChangeAspect="1"/>
          </p:cNvGraphicFramePr>
          <p:nvPr/>
        </p:nvGraphicFramePr>
        <p:xfrm>
          <a:off x="1919289" y="4029075"/>
          <a:ext cx="8353425" cy="1390650"/>
        </p:xfrm>
        <a:graphic>
          <a:graphicData uri="http://schemas.openxmlformats.org/presentationml/2006/ole">
            <mc:AlternateContent xmlns:mc="http://schemas.openxmlformats.org/markup-compatibility/2006">
              <mc:Choice xmlns:v="urn:schemas-microsoft-com:vml" Requires="v">
                <p:oleObj name="CS ChemDraw Drawing" r:id="rId3" imgW="4455160" imgH="741680" progId="">
                  <p:embed/>
                </p:oleObj>
              </mc:Choice>
              <mc:Fallback>
                <p:oleObj name="CS ChemDraw Drawing" r:id="rId3" imgW="4455160" imgH="741680" progId="">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289" y="4029075"/>
                        <a:ext cx="8353425" cy="1390650"/>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5707" name="Object 11">
            <a:extLst>
              <a:ext uri="{FF2B5EF4-FFF2-40B4-BE49-F238E27FC236}">
                <a16:creationId xmlns:a16="http://schemas.microsoft.com/office/drawing/2014/main" id="{1D226F64-4452-44CC-9FA9-FA6C35C60A73}"/>
              </a:ext>
            </a:extLst>
          </p:cNvPr>
          <p:cNvGraphicFramePr>
            <a:graphicFrameLocks noChangeAspect="1"/>
          </p:cNvGraphicFramePr>
          <p:nvPr/>
        </p:nvGraphicFramePr>
        <p:xfrm>
          <a:off x="1992313" y="1185864"/>
          <a:ext cx="8280400" cy="1216025"/>
        </p:xfrm>
        <a:graphic>
          <a:graphicData uri="http://schemas.openxmlformats.org/presentationml/2006/ole">
            <mc:AlternateContent xmlns:mc="http://schemas.openxmlformats.org/markup-compatibility/2006">
              <mc:Choice xmlns:v="urn:schemas-microsoft-com:vml" Requires="v">
                <p:oleObj name="CS ChemDraw Drawing" r:id="rId5" imgW="4272280" imgH="627380" progId="">
                  <p:embed/>
                </p:oleObj>
              </mc:Choice>
              <mc:Fallback>
                <p:oleObj name="CS ChemDraw Drawing" r:id="rId5" imgW="4272280" imgH="627380" progId="">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2313" y="1185864"/>
                        <a:ext cx="8280400" cy="1216025"/>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5708" name="Text Box 12">
            <a:extLst>
              <a:ext uri="{FF2B5EF4-FFF2-40B4-BE49-F238E27FC236}">
                <a16:creationId xmlns:a16="http://schemas.microsoft.com/office/drawing/2014/main" id="{1BFF8168-F364-44D8-B029-157A0F2448FF}"/>
              </a:ext>
            </a:extLst>
          </p:cNvPr>
          <p:cNvSpPr txBox="1">
            <a:spLocks noChangeArrowheads="1"/>
          </p:cNvSpPr>
          <p:nvPr/>
        </p:nvSpPr>
        <p:spPr bwMode="auto">
          <a:xfrm>
            <a:off x="1774825" y="338138"/>
            <a:ext cx="1512888" cy="519112"/>
          </a:xfrm>
          <a:prstGeom prst="rect">
            <a:avLst/>
          </a:prstGeom>
          <a:solidFill>
            <a:srgbClr val="FFF7A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lang="zh-CN" altLang="en-US" sz="2800" b="1">
                <a:latin typeface="黑体" panose="02010609060101010101" pitchFamily="49" charset="-122"/>
                <a:ea typeface="黑体" panose="02010609060101010101" pitchFamily="49" charset="-122"/>
              </a:rPr>
              <a:t>举例</a:t>
            </a:r>
            <a:r>
              <a:rPr lang="en-US" altLang="zh-CN" sz="2800" b="1">
                <a:latin typeface="黑体" panose="02010609060101010101" pitchFamily="49" charset="-122"/>
                <a:ea typeface="黑体" panose="02010609060101010101" pitchFamily="49" charset="-122"/>
              </a:rPr>
              <a:t>3</a:t>
            </a:r>
            <a:r>
              <a:rPr lang="zh-CN" altLang="en-US" sz="2800" b="1">
                <a:latin typeface="黑体" panose="02010609060101010101" pitchFamily="49" charset="-122"/>
                <a:ea typeface="黑体" panose="02010609060101010101" pitchFamily="49" charset="-122"/>
              </a:rPr>
              <a:t>：</a:t>
            </a:r>
          </a:p>
        </p:txBody>
      </p:sp>
      <p:sp>
        <p:nvSpPr>
          <p:cNvPr id="285709" name="矩形 12">
            <a:extLst>
              <a:ext uri="{FF2B5EF4-FFF2-40B4-BE49-F238E27FC236}">
                <a16:creationId xmlns:a16="http://schemas.microsoft.com/office/drawing/2014/main" id="{F9D370FD-9F61-4525-85DD-9EC83D9D46A6}"/>
              </a:ext>
            </a:extLst>
          </p:cNvPr>
          <p:cNvSpPr>
            <a:spLocks noChangeArrowheads="1"/>
          </p:cNvSpPr>
          <p:nvPr/>
        </p:nvSpPr>
        <p:spPr bwMode="auto">
          <a:xfrm>
            <a:off x="3473450" y="334963"/>
            <a:ext cx="54673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b="1">
                <a:solidFill>
                  <a:srgbClr val="C00000"/>
                </a:solidFill>
              </a:rPr>
              <a:t>  有机砷化合物  </a:t>
            </a:r>
            <a:r>
              <a:rPr lang="zh-CN" altLang="en-US" sz="3600" b="1">
                <a:solidFill>
                  <a:srgbClr val="C00000"/>
                </a:solidFill>
                <a:latin typeface="Times New Roman" panose="02020603050405020304" pitchFamily="18" charset="0"/>
                <a:cs typeface="Times New Roman" panose="02020603050405020304" pitchFamily="18" charset="0"/>
              </a:rPr>
              <a:t>→</a:t>
            </a:r>
            <a:r>
              <a:rPr lang="zh-CN" altLang="en-US" sz="3600" b="1">
                <a:solidFill>
                  <a:srgbClr val="C00000"/>
                </a:solidFill>
              </a:rPr>
              <a:t>  </a:t>
            </a:r>
            <a:r>
              <a:rPr lang="zh-CN" altLang="en-US" b="1">
                <a:solidFill>
                  <a:srgbClr val="C00000"/>
                </a:solidFill>
              </a:rPr>
              <a:t>巯基酶</a:t>
            </a:r>
          </a:p>
        </p:txBody>
      </p:sp>
      <p:sp>
        <p:nvSpPr>
          <p:cNvPr id="2" name="文本框 1">
            <a:extLst>
              <a:ext uri="{FF2B5EF4-FFF2-40B4-BE49-F238E27FC236}">
                <a16:creationId xmlns:a16="http://schemas.microsoft.com/office/drawing/2014/main" id="{840EDB9C-9738-42FF-A7F3-14B1160CBD40}"/>
              </a:ext>
            </a:extLst>
          </p:cNvPr>
          <p:cNvSpPr txBox="1">
            <a:spLocks noChangeArrowheads="1"/>
          </p:cNvSpPr>
          <p:nvPr/>
        </p:nvSpPr>
        <p:spPr bwMode="auto">
          <a:xfrm>
            <a:off x="1919288" y="3379788"/>
            <a:ext cx="8641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800" b="1" dirty="0"/>
              <a:t>二巯基丙醇（</a:t>
            </a:r>
            <a:r>
              <a:rPr lang="en-US" altLang="zh-CN" sz="2800" b="1" dirty="0"/>
              <a:t>BAL</a:t>
            </a:r>
            <a:r>
              <a:rPr lang="zh-CN" altLang="en-US" sz="2800" b="1" dirty="0"/>
              <a:t>）、还原型谷胱甘肽等可解毒</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9" presetClass="entr" presetSubtype="0" fill="hold" nodeType="withEffect">
                                  <p:stCondLst>
                                    <p:cond delay="0"/>
                                  </p:stCondLst>
                                  <p:childTnLst>
                                    <p:set>
                                      <p:cBhvr>
                                        <p:cTn id="9" dur="1" fill="hold">
                                          <p:stCondLst>
                                            <p:cond delay="0"/>
                                          </p:stCondLst>
                                        </p:cTn>
                                        <p:tgtEl>
                                          <p:spTgt spid="1017866"/>
                                        </p:tgtEl>
                                        <p:attrNameLst>
                                          <p:attrName>style.visibility</p:attrName>
                                        </p:attrNameLst>
                                      </p:cBhvr>
                                      <p:to>
                                        <p:strVal val="visible"/>
                                      </p:to>
                                    </p:set>
                                    <p:animEffect transition="in" filter="dissolve">
                                      <p:cBhvr>
                                        <p:cTn id="10" dur="500"/>
                                        <p:tgtEl>
                                          <p:spTgt spid="101786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17859"/>
                                        </p:tgtEl>
                                        <p:attrNameLst>
                                          <p:attrName>style.visibility</p:attrName>
                                        </p:attrNameLst>
                                      </p:cBhvr>
                                      <p:to>
                                        <p:strVal val="visible"/>
                                      </p:to>
                                    </p:set>
                                    <p:animEffect transition="in" filter="dissolve">
                                      <p:cBhvr>
                                        <p:cTn id="13" dur="500"/>
                                        <p:tgtEl>
                                          <p:spTgt spid="101785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017863"/>
                                        </p:tgtEl>
                                        <p:attrNameLst>
                                          <p:attrName>style.visibility</p:attrName>
                                        </p:attrNameLst>
                                      </p:cBhvr>
                                      <p:to>
                                        <p:strVal val="visible"/>
                                      </p:to>
                                    </p:set>
                                    <p:animEffect transition="in" filter="dissolve">
                                      <p:cBhvr>
                                        <p:cTn id="16" dur="500"/>
                                        <p:tgtEl>
                                          <p:spTgt spid="1017863"/>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017864"/>
                                        </p:tgtEl>
                                        <p:attrNameLst>
                                          <p:attrName>style.visibility</p:attrName>
                                        </p:attrNameLst>
                                      </p:cBhvr>
                                      <p:to>
                                        <p:strVal val="visible"/>
                                      </p:to>
                                    </p:set>
                                    <p:animEffect transition="in" filter="dissolve">
                                      <p:cBhvr>
                                        <p:cTn id="19" dur="500"/>
                                        <p:tgtEl>
                                          <p:spTgt spid="101786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017865"/>
                                        </p:tgtEl>
                                        <p:attrNameLst>
                                          <p:attrName>style.visibility</p:attrName>
                                        </p:attrNameLst>
                                      </p:cBhvr>
                                      <p:to>
                                        <p:strVal val="visible"/>
                                      </p:to>
                                    </p:set>
                                    <p:animEffect transition="in" filter="dissolve">
                                      <p:cBhvr>
                                        <p:cTn id="22" dur="500"/>
                                        <p:tgtEl>
                                          <p:spTgt spid="1017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859" grpId="0"/>
      <p:bldP spid="1017863" grpId="0"/>
      <p:bldP spid="1017864" grpId="0"/>
      <p:bldP spid="1017865" grpId="0"/>
      <p:bldP spid="2" grpId="0"/>
    </p:bld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9794" name="AutoShape 3">
            <a:extLst>
              <a:ext uri="{FF2B5EF4-FFF2-40B4-BE49-F238E27FC236}">
                <a16:creationId xmlns:a16="http://schemas.microsoft.com/office/drawing/2014/main" id="{07AB524A-F313-4D04-8D5D-CE938FED6C34}"/>
              </a:ext>
            </a:extLst>
          </p:cNvPr>
          <p:cNvSpPr>
            <a:spLocks noChangeArrowheads="1"/>
          </p:cNvSpPr>
          <p:nvPr/>
        </p:nvSpPr>
        <p:spPr bwMode="auto">
          <a:xfrm>
            <a:off x="3719514" y="765175"/>
            <a:ext cx="4968875" cy="719138"/>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b="1">
                <a:solidFill>
                  <a:schemeClr val="bg1"/>
                </a:solidFill>
                <a:latin typeface="Times New Roman" panose="02020603050405020304" pitchFamily="18" charset="0"/>
                <a:ea typeface="黑体" panose="02010609060101010101" pitchFamily="49" charset="-122"/>
              </a:rPr>
              <a:t>（二） 可逆性抑制作用</a:t>
            </a:r>
          </a:p>
        </p:txBody>
      </p:sp>
      <p:sp>
        <p:nvSpPr>
          <p:cNvPr id="289795" name="Rectangle 4">
            <a:extLst>
              <a:ext uri="{FF2B5EF4-FFF2-40B4-BE49-F238E27FC236}">
                <a16:creationId xmlns:a16="http://schemas.microsoft.com/office/drawing/2014/main" id="{E6877618-6383-4236-BABA-723FDFA12803}"/>
              </a:ext>
            </a:extLst>
          </p:cNvPr>
          <p:cNvSpPr>
            <a:spLocks noChangeArrowheads="1"/>
          </p:cNvSpPr>
          <p:nvPr/>
        </p:nvSpPr>
        <p:spPr bwMode="auto">
          <a:xfrm>
            <a:off x="1830389" y="2205038"/>
            <a:ext cx="8747125"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971550" indent="-5143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lvl="1" eaLnBrk="1" hangingPunct="1">
              <a:lnSpc>
                <a:spcPct val="130000"/>
              </a:lnSpc>
              <a:spcBef>
                <a:spcPct val="50000"/>
              </a:spcBef>
              <a:buClr>
                <a:schemeClr val="tx2"/>
              </a:buClr>
              <a:buSzPct val="75000"/>
              <a:buFont typeface="Comic Sans MS" panose="030F0702030302020204" pitchFamily="66" charset="0"/>
              <a:buAutoNum type="arabicPeriod"/>
            </a:pPr>
            <a:r>
              <a:rPr kumimoji="1" lang="zh-CN" altLang="en-US" dirty="0">
                <a:solidFill>
                  <a:srgbClr val="0000CC"/>
                </a:solidFill>
                <a:latin typeface="黑体" panose="02010609060101010101" pitchFamily="49" charset="-122"/>
                <a:ea typeface="黑体" panose="02010609060101010101" pitchFamily="49" charset="-122"/>
              </a:rPr>
              <a:t>竞争性抑制 </a:t>
            </a:r>
            <a:r>
              <a:rPr kumimoji="1" lang="en-US" altLang="zh-CN" dirty="0">
                <a:solidFill>
                  <a:srgbClr val="0000CC"/>
                </a:solidFill>
                <a:latin typeface="黑体" panose="02010609060101010101" pitchFamily="49" charset="-122"/>
                <a:ea typeface="黑体" panose="02010609060101010101" pitchFamily="49" charset="-122"/>
              </a:rPr>
              <a:t>(competitive inhibition)</a:t>
            </a:r>
          </a:p>
          <a:p>
            <a:pPr lvl="1" eaLnBrk="1" hangingPunct="1">
              <a:lnSpc>
                <a:spcPct val="130000"/>
              </a:lnSpc>
              <a:spcBef>
                <a:spcPct val="50000"/>
              </a:spcBef>
              <a:buClr>
                <a:schemeClr val="tx2"/>
              </a:buClr>
              <a:buSzPct val="75000"/>
              <a:buFont typeface="Comic Sans MS" panose="030F0702030302020204" pitchFamily="66" charset="0"/>
              <a:buAutoNum type="arabicPeriod"/>
            </a:pPr>
            <a:r>
              <a:rPr kumimoji="1" lang="zh-CN" altLang="en-US" dirty="0">
                <a:solidFill>
                  <a:srgbClr val="0000CC"/>
                </a:solidFill>
                <a:latin typeface="黑体" panose="02010609060101010101" pitchFamily="49" charset="-122"/>
                <a:ea typeface="黑体" panose="02010609060101010101" pitchFamily="49" charset="-122"/>
              </a:rPr>
              <a:t>非竞争性抑制 </a:t>
            </a:r>
            <a:r>
              <a:rPr kumimoji="1" lang="en-US" altLang="zh-CN" dirty="0">
                <a:solidFill>
                  <a:srgbClr val="0000CC"/>
                </a:solidFill>
                <a:latin typeface="黑体" panose="02010609060101010101" pitchFamily="49" charset="-122"/>
                <a:ea typeface="黑体" panose="02010609060101010101" pitchFamily="49" charset="-122"/>
              </a:rPr>
              <a:t>(noncompetitive inhibition)</a:t>
            </a:r>
            <a:endParaRPr kumimoji="1" lang="en-US" altLang="zh-CN" i="1" dirty="0">
              <a:solidFill>
                <a:srgbClr val="0000CC"/>
              </a:solidFill>
              <a:latin typeface="黑体" panose="02010609060101010101" pitchFamily="49" charset="-122"/>
              <a:ea typeface="黑体" panose="02010609060101010101" pitchFamily="49" charset="-122"/>
            </a:endParaRPr>
          </a:p>
          <a:p>
            <a:pPr lvl="1" eaLnBrk="1" hangingPunct="1">
              <a:lnSpc>
                <a:spcPct val="130000"/>
              </a:lnSpc>
              <a:spcBef>
                <a:spcPct val="50000"/>
              </a:spcBef>
              <a:buClr>
                <a:schemeClr val="tx2"/>
              </a:buClr>
              <a:buSzPct val="75000"/>
              <a:buFont typeface="Comic Sans MS" panose="030F0702030302020204" pitchFamily="66" charset="0"/>
              <a:buAutoNum type="arabicPeriod"/>
            </a:pPr>
            <a:r>
              <a:rPr kumimoji="1" lang="zh-CN" altLang="en-US" dirty="0">
                <a:solidFill>
                  <a:srgbClr val="0000CC"/>
                </a:solidFill>
                <a:latin typeface="黑体" panose="02010609060101010101" pitchFamily="49" charset="-122"/>
                <a:ea typeface="黑体" panose="02010609060101010101" pitchFamily="49" charset="-122"/>
              </a:rPr>
              <a:t>反竞争性抑制 </a:t>
            </a:r>
            <a:r>
              <a:rPr kumimoji="1" lang="en-US" altLang="zh-CN" dirty="0">
                <a:solidFill>
                  <a:srgbClr val="0000CC"/>
                </a:solidFill>
                <a:latin typeface="黑体" panose="02010609060101010101" pitchFamily="49" charset="-122"/>
                <a:ea typeface="黑体" panose="02010609060101010101" pitchFamily="49" charset="-122"/>
              </a:rPr>
              <a:t>(uncompetitive inhibition)</a:t>
            </a:r>
          </a:p>
        </p:txBody>
      </p:sp>
    </p:spTree>
  </p:cSld>
  <p:clrMapOvr>
    <a:masterClrMapping/>
  </p:clrMapOvr>
  <p:transition spd="slow">
    <p:circle/>
  </p:transition>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42" name="Rectangle 2">
            <a:extLst>
              <a:ext uri="{FF2B5EF4-FFF2-40B4-BE49-F238E27FC236}">
                <a16:creationId xmlns:a16="http://schemas.microsoft.com/office/drawing/2014/main" id="{65756797-02DC-437E-A7C4-8B01A6ED7C43}"/>
              </a:ext>
            </a:extLst>
          </p:cNvPr>
          <p:cNvSpPr>
            <a:spLocks noGrp="1" noChangeArrowheads="1"/>
          </p:cNvSpPr>
          <p:nvPr>
            <p:ph type="body" sz="half" idx="1"/>
          </p:nvPr>
        </p:nvSpPr>
        <p:spPr>
          <a:xfrm>
            <a:off x="2208214" y="1628775"/>
            <a:ext cx="7991475" cy="4032250"/>
          </a:xfrm>
        </p:spPr>
        <p:txBody>
          <a:bodyPr/>
          <a:lstStyle/>
          <a:p>
            <a:pPr marL="0" indent="0" algn="just" eaLnBrk="1" hangingPunct="1">
              <a:lnSpc>
                <a:spcPct val="140000"/>
              </a:lnSpc>
              <a:buNone/>
              <a:defRPr/>
            </a:pPr>
            <a:r>
              <a:rPr lang="zh-CN" altLang="en-US" sz="2800" dirty="0">
                <a:solidFill>
                  <a:srgbClr val="0000CC"/>
                </a:solidFill>
                <a:latin typeface="Times New Roman" panose="02020603050405020304" pitchFamily="18" charset="0"/>
                <a:ea typeface="黑体" panose="02010609060101010101" pitchFamily="49" charset="-122"/>
              </a:rPr>
              <a:t> 定义</a:t>
            </a:r>
          </a:p>
          <a:p>
            <a:pPr marL="179388" lvl="1" indent="719138" algn="just" eaLnBrk="1" hangingPunct="1">
              <a:lnSpc>
                <a:spcPct val="140000"/>
              </a:lnSpc>
              <a:buNone/>
              <a:defRPr/>
            </a:pPr>
            <a:r>
              <a:rPr lang="zh-CN" altLang="en-US" dirty="0">
                <a:latin typeface="Times New Roman" panose="02020603050405020304" pitchFamily="18" charset="0"/>
                <a:ea typeface="黑体" panose="02010609060101010101" pitchFamily="49" charset="-122"/>
              </a:rPr>
              <a:t>抑制剂</a:t>
            </a:r>
            <a:r>
              <a:rPr lang="en-US" altLang="zh-CN" dirty="0">
                <a:latin typeface="Times New Roman" panose="02020603050405020304" pitchFamily="18" charset="0"/>
                <a:ea typeface="黑体" panose="02010609060101010101" pitchFamily="49" charset="-122"/>
              </a:rPr>
              <a:t>(inhibitor)</a:t>
            </a:r>
            <a:r>
              <a:rPr lang="zh-CN" altLang="en-US" dirty="0">
                <a:latin typeface="Times New Roman" panose="02020603050405020304" pitchFamily="18" charset="0"/>
                <a:ea typeface="黑体" panose="02010609060101010101" pitchFamily="49" charset="-122"/>
              </a:rPr>
              <a:t>和底物</a:t>
            </a:r>
            <a:r>
              <a:rPr lang="zh-CN" altLang="en-US" dirty="0">
                <a:solidFill>
                  <a:srgbClr val="0000CC"/>
                </a:solidFill>
                <a:latin typeface="Times New Roman" panose="02020603050405020304" pitchFamily="18" charset="0"/>
                <a:ea typeface="黑体" panose="02010609060101010101" pitchFamily="49" charset="-122"/>
              </a:rPr>
              <a:t>都只与游离的酶结合</a:t>
            </a:r>
            <a:r>
              <a:rPr lang="zh-CN" altLang="en-US" dirty="0">
                <a:latin typeface="Times New Roman" panose="02020603050405020304" pitchFamily="18" charset="0"/>
                <a:ea typeface="黑体" panose="02010609060101010101" pitchFamily="49" charset="-122"/>
              </a:rPr>
              <a:t>，抑制剂与酶结合后不能再与底物结合，从而</a:t>
            </a:r>
            <a:r>
              <a:rPr lang="zh-CN" altLang="en-US" dirty="0">
                <a:solidFill>
                  <a:srgbClr val="0000CC"/>
                </a:solidFill>
                <a:latin typeface="Times New Roman" panose="02020603050405020304" pitchFamily="18" charset="0"/>
                <a:ea typeface="黑体" panose="02010609060101010101" pitchFamily="49" charset="-122"/>
              </a:rPr>
              <a:t>阻碍酶</a:t>
            </a:r>
            <a:r>
              <a:rPr lang="en-US" altLang="zh-CN" dirty="0">
                <a:solidFill>
                  <a:srgbClr val="0000CC"/>
                </a:solidFill>
                <a:latin typeface="Times New Roman" panose="02020603050405020304" pitchFamily="18" charset="0"/>
                <a:ea typeface="黑体" panose="02010609060101010101" pitchFamily="49" charset="-122"/>
              </a:rPr>
              <a:t>-</a:t>
            </a:r>
            <a:r>
              <a:rPr lang="zh-CN" altLang="en-US" dirty="0">
                <a:solidFill>
                  <a:srgbClr val="0000CC"/>
                </a:solidFill>
                <a:latin typeface="Times New Roman" panose="02020603050405020304" pitchFamily="18" charset="0"/>
                <a:ea typeface="黑体" panose="02010609060101010101" pitchFamily="49" charset="-122"/>
              </a:rPr>
              <a:t>底物复合物的形成</a:t>
            </a:r>
            <a:r>
              <a:rPr lang="zh-CN" altLang="en-US" dirty="0">
                <a:latin typeface="Times New Roman" panose="02020603050405020304" pitchFamily="18" charset="0"/>
                <a:ea typeface="黑体" panose="02010609060101010101" pitchFamily="49" charset="-122"/>
              </a:rPr>
              <a:t>。 </a:t>
            </a:r>
            <a:endParaRPr lang="en-US" altLang="zh-CN" dirty="0">
              <a:latin typeface="Times New Roman" panose="02020603050405020304" pitchFamily="18" charset="0"/>
              <a:ea typeface="黑体" panose="02010609060101010101" pitchFamily="49" charset="-122"/>
            </a:endParaRPr>
          </a:p>
          <a:p>
            <a:pPr marL="179388" lvl="1" indent="719138" algn="just" eaLnBrk="1" hangingPunct="1">
              <a:lnSpc>
                <a:spcPct val="140000"/>
              </a:lnSpc>
              <a:buNone/>
              <a:defRPr/>
            </a:pPr>
            <a:r>
              <a:rPr lang="zh-CN" altLang="en-US" dirty="0">
                <a:latin typeface="Times New Roman" panose="02020603050405020304" pitchFamily="18" charset="0"/>
                <a:ea typeface="黑体" panose="02010609060101010101" pitchFamily="49" charset="-122"/>
              </a:rPr>
              <a:t>这类抑制剂</a:t>
            </a:r>
            <a:r>
              <a:rPr lang="zh-CN" altLang="en-US" dirty="0">
                <a:solidFill>
                  <a:srgbClr val="C00000"/>
                </a:solidFill>
                <a:latin typeface="Times New Roman" panose="02020603050405020304" pitchFamily="18" charset="0"/>
                <a:ea typeface="黑体" panose="02010609060101010101" pitchFamily="49" charset="-122"/>
              </a:rPr>
              <a:t>大多与底物的结构相似</a:t>
            </a:r>
            <a:r>
              <a:rPr lang="zh-CN" altLang="en-US" dirty="0">
                <a:latin typeface="Times New Roman" panose="02020603050405020304" pitchFamily="18" charset="0"/>
                <a:ea typeface="黑体" panose="02010609060101010101" pitchFamily="49" charset="-122"/>
              </a:rPr>
              <a:t>，</a:t>
            </a:r>
            <a:r>
              <a:rPr lang="zh-CN" altLang="en-US" dirty="0">
                <a:solidFill>
                  <a:srgbClr val="C00000"/>
                </a:solidFill>
                <a:latin typeface="Times New Roman" panose="02020603050405020304" pitchFamily="18" charset="0"/>
                <a:ea typeface="黑体" panose="02010609060101010101" pitchFamily="49" charset="-122"/>
              </a:rPr>
              <a:t>竞争酶的活性中心</a:t>
            </a:r>
            <a:r>
              <a:rPr lang="zh-CN" altLang="en-US" dirty="0">
                <a:solidFill>
                  <a:schemeClr val="tx1">
                    <a:lumMod val="95000"/>
                    <a:lumOff val="5000"/>
                  </a:schemeClr>
                </a:solidFill>
                <a:latin typeface="Times New Roman" panose="02020603050405020304" pitchFamily="18" charset="0"/>
                <a:ea typeface="黑体" panose="02010609060101010101" pitchFamily="49" charset="-122"/>
              </a:rPr>
              <a:t>。</a:t>
            </a:r>
            <a:endParaRPr lang="en-US" altLang="zh-CN" dirty="0">
              <a:latin typeface="Times New Roman" panose="02020603050405020304" pitchFamily="18" charset="0"/>
              <a:ea typeface="黑体" panose="02010609060101010101" pitchFamily="49" charset="-122"/>
            </a:endParaRPr>
          </a:p>
        </p:txBody>
      </p:sp>
      <p:sp>
        <p:nvSpPr>
          <p:cNvPr id="291843" name="AutoShape 3">
            <a:extLst>
              <a:ext uri="{FF2B5EF4-FFF2-40B4-BE49-F238E27FC236}">
                <a16:creationId xmlns:a16="http://schemas.microsoft.com/office/drawing/2014/main" id="{660F7F1F-EE0B-49B0-8E30-F0DDD63B91A1}"/>
              </a:ext>
            </a:extLst>
          </p:cNvPr>
          <p:cNvSpPr>
            <a:spLocks noChangeArrowheads="1"/>
          </p:cNvSpPr>
          <p:nvPr/>
        </p:nvSpPr>
        <p:spPr bwMode="auto">
          <a:xfrm>
            <a:off x="3935413" y="692150"/>
            <a:ext cx="4608512" cy="647700"/>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a:solidFill>
                  <a:schemeClr val="bg1"/>
                </a:solidFill>
                <a:latin typeface="Times New Roman" panose="02020603050405020304" pitchFamily="18" charset="0"/>
                <a:ea typeface="黑体" panose="02010609060101010101" pitchFamily="49" charset="-122"/>
              </a:rPr>
              <a:t>１</a:t>
            </a:r>
            <a:r>
              <a:rPr kumimoji="1" lang="en-US" altLang="zh-CN">
                <a:solidFill>
                  <a:schemeClr val="bg1"/>
                </a:solidFill>
                <a:latin typeface="Times New Roman" panose="02020603050405020304" pitchFamily="18" charset="0"/>
                <a:ea typeface="黑体" panose="02010609060101010101" pitchFamily="49" charset="-122"/>
              </a:rPr>
              <a:t>.  </a:t>
            </a:r>
            <a:r>
              <a:rPr kumimoji="1" lang="zh-CN" altLang="en-US">
                <a:solidFill>
                  <a:schemeClr val="bg1"/>
                </a:solidFill>
                <a:latin typeface="Times New Roman" panose="02020603050405020304" pitchFamily="18" charset="0"/>
                <a:ea typeface="黑体" panose="02010609060101010101" pitchFamily="49" charset="-122"/>
              </a:rPr>
              <a:t>竞争性抑制作用</a:t>
            </a:r>
          </a:p>
        </p:txBody>
      </p:sp>
    </p:spTree>
  </p:cSld>
  <p:clrMapOvr>
    <a:masterClrMapping/>
  </p:clrMapOvr>
  <p:transition spd="slow">
    <p:circle/>
  </p:transition>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6562" name="图片 1">
            <a:extLst>
              <a:ext uri="{FF2B5EF4-FFF2-40B4-BE49-F238E27FC236}">
                <a16:creationId xmlns:a16="http://schemas.microsoft.com/office/drawing/2014/main" id="{D75A0BC2-FC14-4F83-A11F-0EEAB3916C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92314" y="1341439"/>
            <a:ext cx="8174037"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标题 2">
            <a:extLst>
              <a:ext uri="{FF2B5EF4-FFF2-40B4-BE49-F238E27FC236}">
                <a16:creationId xmlns:a16="http://schemas.microsoft.com/office/drawing/2014/main" id="{82B3F85D-4564-4F78-B4CA-0E115D0B2BBF}"/>
              </a:ext>
            </a:extLst>
          </p:cNvPr>
          <p:cNvSpPr>
            <a:spLocks noGrp="1" noChangeArrowheads="1"/>
          </p:cNvSpPr>
          <p:nvPr>
            <p:ph type="title"/>
          </p:nvPr>
        </p:nvSpPr>
        <p:spPr>
          <a:xfrm>
            <a:off x="2209800" y="152400"/>
            <a:ext cx="7486650" cy="973138"/>
          </a:xfrm>
        </p:spPr>
        <p:txBody>
          <a:bodyPr/>
          <a:lstStyle/>
          <a:p>
            <a:r>
              <a:rPr lang="zh-CN" altLang="en-US"/>
              <a:t>竞争性抑制可能的情形</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3890" name="Rectangle 30">
            <a:extLst>
              <a:ext uri="{FF2B5EF4-FFF2-40B4-BE49-F238E27FC236}">
                <a16:creationId xmlns:a16="http://schemas.microsoft.com/office/drawing/2014/main" id="{2F55571A-4568-48BD-99EB-8759B989E044}"/>
              </a:ext>
            </a:extLst>
          </p:cNvPr>
          <p:cNvSpPr>
            <a:spLocks noChangeArrowheads="1"/>
          </p:cNvSpPr>
          <p:nvPr/>
        </p:nvSpPr>
        <p:spPr bwMode="auto">
          <a:xfrm>
            <a:off x="1985963" y="642938"/>
            <a:ext cx="7169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11200" indent="-711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buFontTx/>
              <a:buNone/>
            </a:pPr>
            <a:r>
              <a:rPr lang="en-US" altLang="zh-CN" b="1" dirty="0">
                <a:solidFill>
                  <a:srgbClr val="FF0000"/>
                </a:solidFill>
                <a:latin typeface="Times New Roman" panose="02020603050405020304" pitchFamily="18" charset="0"/>
                <a:ea typeface="黑体" panose="02010609060101010101" pitchFamily="49" charset="-122"/>
              </a:rPr>
              <a:t>* </a:t>
            </a:r>
            <a:r>
              <a:rPr lang="zh-CN" altLang="en-US" b="1" dirty="0">
                <a:solidFill>
                  <a:srgbClr val="FF0000"/>
                </a:solidFill>
                <a:latin typeface="Times New Roman" panose="02020603050405020304" pitchFamily="18" charset="0"/>
                <a:ea typeface="黑体" panose="02010609060101010101" pitchFamily="49" charset="-122"/>
              </a:rPr>
              <a:t>竞争性抑制（</a:t>
            </a:r>
            <a:r>
              <a:rPr lang="en-US" altLang="zh-CN" b="1" dirty="0">
                <a:solidFill>
                  <a:srgbClr val="FF0000"/>
                </a:solidFill>
                <a:latin typeface="Times New Roman" panose="02020603050405020304" pitchFamily="18" charset="0"/>
                <a:ea typeface="黑体" panose="02010609060101010101" pitchFamily="49" charset="-122"/>
              </a:rPr>
              <a:t>competitive inhibition)</a:t>
            </a:r>
            <a:endParaRPr lang="zh-CN" altLang="en-US" b="1" dirty="0">
              <a:solidFill>
                <a:srgbClr val="FF0000"/>
              </a:solidFill>
              <a:latin typeface="Times New Roman" panose="02020603050405020304" pitchFamily="18" charset="0"/>
              <a:ea typeface="黑体" panose="02010609060101010101" pitchFamily="49" charset="-122"/>
            </a:endParaRPr>
          </a:p>
        </p:txBody>
      </p:sp>
      <p:pic>
        <p:nvPicPr>
          <p:cNvPr id="293891" name="Picture 3">
            <a:extLst>
              <a:ext uri="{FF2B5EF4-FFF2-40B4-BE49-F238E27FC236}">
                <a16:creationId xmlns:a16="http://schemas.microsoft.com/office/drawing/2014/main" id="{B490BB9F-1516-40F3-9FD7-F96E6BE562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963" y="1458914"/>
            <a:ext cx="3721100" cy="1423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93892" name="Rectangle 4">
            <a:extLst>
              <a:ext uri="{FF2B5EF4-FFF2-40B4-BE49-F238E27FC236}">
                <a16:creationId xmlns:a16="http://schemas.microsoft.com/office/drawing/2014/main" id="{200C1FC7-E8B8-40D7-B0B4-871A52BFD7E9}"/>
              </a:ext>
            </a:extLst>
          </p:cNvPr>
          <p:cNvSpPr>
            <a:spLocks noChangeArrowheads="1"/>
          </p:cNvSpPr>
          <p:nvPr/>
        </p:nvSpPr>
        <p:spPr bwMode="auto">
          <a:xfrm>
            <a:off x="2325688" y="4945063"/>
            <a:ext cx="2952750" cy="10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40000"/>
              </a:lnSpc>
              <a:spcBef>
                <a:spcPct val="0"/>
              </a:spcBef>
              <a:buFontTx/>
              <a:buNone/>
            </a:pPr>
            <a:r>
              <a:rPr lang="en-US" altLang="zh-CN" sz="2400">
                <a:latin typeface="Times New Roman" panose="02020603050405020304" pitchFamily="18" charset="0"/>
                <a:ea typeface="黑体" panose="02010609060101010101" pitchFamily="49" charset="-122"/>
              </a:rPr>
              <a:t>Ki</a:t>
            </a:r>
            <a:r>
              <a:rPr lang="zh-CN" altLang="en-US" sz="2400">
                <a:latin typeface="Times New Roman" panose="02020603050405020304" pitchFamily="18" charset="0"/>
                <a:ea typeface="黑体" panose="02010609060101010101" pitchFamily="49" charset="-122"/>
              </a:rPr>
              <a:t>为</a:t>
            </a:r>
            <a:r>
              <a:rPr lang="en-US" altLang="zh-CN" sz="2400">
                <a:latin typeface="Times New Roman" panose="02020603050405020304" pitchFamily="18" charset="0"/>
                <a:ea typeface="黑体" panose="02010609060101010101" pitchFamily="49" charset="-122"/>
              </a:rPr>
              <a:t>EI</a:t>
            </a:r>
            <a:r>
              <a:rPr lang="zh-CN" altLang="en-US" sz="2400">
                <a:latin typeface="Times New Roman" panose="02020603050405020304" pitchFamily="18" charset="0"/>
                <a:ea typeface="黑体" panose="02010609060101010101" pitchFamily="49" charset="-122"/>
              </a:rPr>
              <a:t>的解离常数</a:t>
            </a:r>
          </a:p>
          <a:p>
            <a:pPr eaLnBrk="1" hangingPunct="1">
              <a:lnSpc>
                <a:spcPct val="140000"/>
              </a:lnSpc>
              <a:spcBef>
                <a:spcPct val="0"/>
              </a:spcBef>
              <a:buFontTx/>
              <a:buNone/>
            </a:pPr>
            <a:r>
              <a:rPr lang="en-US" altLang="zh-CN" sz="2400">
                <a:latin typeface="Times New Roman" panose="02020603050405020304" pitchFamily="18" charset="0"/>
                <a:ea typeface="黑体" panose="02010609060101010101" pitchFamily="49" charset="-122"/>
              </a:rPr>
              <a:t>ki = [E][I]/[EI]</a:t>
            </a:r>
          </a:p>
        </p:txBody>
      </p:sp>
      <p:sp>
        <p:nvSpPr>
          <p:cNvPr id="293893" name="Text Box 2">
            <a:extLst>
              <a:ext uri="{FF2B5EF4-FFF2-40B4-BE49-F238E27FC236}">
                <a16:creationId xmlns:a16="http://schemas.microsoft.com/office/drawing/2014/main" id="{EE32CF55-7B1E-430C-BC9F-B622233A336B}"/>
              </a:ext>
            </a:extLst>
          </p:cNvPr>
          <p:cNvSpPr txBox="1">
            <a:spLocks noChangeArrowheads="1"/>
          </p:cNvSpPr>
          <p:nvPr/>
        </p:nvSpPr>
        <p:spPr bwMode="auto">
          <a:xfrm>
            <a:off x="2111375" y="5502276"/>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endParaRPr kumimoji="1" lang="zh-CN" altLang="zh-CN" sz="2800">
              <a:latin typeface="Times New Roman" panose="02020603050405020304" pitchFamily="18" charset="0"/>
              <a:ea typeface="黑体" panose="02010609060101010101" pitchFamily="49" charset="-122"/>
            </a:endParaRPr>
          </a:p>
        </p:txBody>
      </p:sp>
      <p:pic>
        <p:nvPicPr>
          <p:cNvPr id="293894" name="Picture 18">
            <a:extLst>
              <a:ext uri="{FF2B5EF4-FFF2-40B4-BE49-F238E27FC236}">
                <a16:creationId xmlns:a16="http://schemas.microsoft.com/office/drawing/2014/main" id="{7C1F51D4-934F-499A-9AFC-6948E19337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796"/>
          <a:stretch>
            <a:fillRect/>
          </a:stretch>
        </p:blipFill>
        <p:spPr bwMode="auto">
          <a:xfrm>
            <a:off x="1985963" y="3652838"/>
            <a:ext cx="3829050"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3895" name="图片 1">
            <a:extLst>
              <a:ext uri="{FF2B5EF4-FFF2-40B4-BE49-F238E27FC236}">
                <a16:creationId xmlns:a16="http://schemas.microsoft.com/office/drawing/2014/main" id="{7A8B857C-A99D-43D9-91AF-9D50DF85E27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97638" y="1839914"/>
            <a:ext cx="4170362"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3896" name="Picture 15">
            <a:extLst>
              <a:ext uri="{FF2B5EF4-FFF2-40B4-BE49-F238E27FC236}">
                <a16:creationId xmlns:a16="http://schemas.microsoft.com/office/drawing/2014/main" id="{19EC3810-B2A4-427D-A2A0-F413788750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0938" y="4602163"/>
            <a:ext cx="1604962" cy="552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5938" name="图片 1">
            <a:extLst>
              <a:ext uri="{FF2B5EF4-FFF2-40B4-BE49-F238E27FC236}">
                <a16:creationId xmlns:a16="http://schemas.microsoft.com/office/drawing/2014/main" id="{9A209867-2AF7-4D19-9F1C-2E4A6DAD37E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23231" y="2636912"/>
            <a:ext cx="8745538" cy="351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4">
            <a:extLst>
              <a:ext uri="{FF2B5EF4-FFF2-40B4-BE49-F238E27FC236}">
                <a16:creationId xmlns:a16="http://schemas.microsoft.com/office/drawing/2014/main" id="{7FAB1254-FBC4-4AE1-B55D-FB09BD2BC8B3}"/>
              </a:ext>
            </a:extLst>
          </p:cNvPr>
          <p:cNvSpPr txBox="1">
            <a:spLocks noChangeArrowheads="1"/>
          </p:cNvSpPr>
          <p:nvPr/>
        </p:nvSpPr>
        <p:spPr bwMode="auto">
          <a:xfrm>
            <a:off x="2063750" y="333376"/>
            <a:ext cx="860425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0"/>
              </a:spcBef>
              <a:buClr>
                <a:srgbClr val="66FFFF"/>
              </a:buClr>
              <a:buFontTx/>
              <a:buNone/>
            </a:pPr>
            <a:r>
              <a:rPr kumimoji="1" lang="zh-CN" altLang="en-US" sz="2800" dirty="0">
                <a:solidFill>
                  <a:srgbClr val="C00000"/>
                </a:solidFill>
                <a:latin typeface="Times New Roman" panose="02020603050405020304" pitchFamily="18" charset="0"/>
                <a:ea typeface="黑体" panose="02010609060101010101" pitchFamily="49" charset="-122"/>
              </a:rPr>
              <a:t>竞争性抑制作用特点：</a:t>
            </a:r>
            <a:endParaRPr kumimoji="1" lang="en-US" altLang="zh-CN" sz="2800" dirty="0">
              <a:solidFill>
                <a:srgbClr val="C00000"/>
              </a:solidFill>
              <a:latin typeface="Times New Roman" panose="02020603050405020304" pitchFamily="18" charset="0"/>
              <a:ea typeface="黑体" panose="02010609060101010101" pitchFamily="49" charset="-122"/>
            </a:endParaRPr>
          </a:p>
          <a:p>
            <a:pPr algn="just" eaLnBrk="1" hangingPunct="1">
              <a:lnSpc>
                <a:spcPct val="130000"/>
              </a:lnSpc>
              <a:spcBef>
                <a:spcPct val="0"/>
              </a:spcBef>
              <a:buClr>
                <a:srgbClr val="000066"/>
              </a:buClr>
            </a:pPr>
            <a:r>
              <a:rPr kumimoji="1" lang="en-US" altLang="zh-CN" sz="2400" dirty="0">
                <a:solidFill>
                  <a:srgbClr val="0000CC"/>
                </a:solidFill>
                <a:latin typeface="Times New Roman" panose="02020603050405020304" pitchFamily="18" charset="0"/>
                <a:ea typeface="黑体" panose="02010609060101010101" pitchFamily="49" charset="-122"/>
              </a:rPr>
              <a:t> I </a:t>
            </a:r>
            <a:r>
              <a:rPr kumimoji="1" lang="zh-CN" altLang="en-US" sz="2400" dirty="0">
                <a:solidFill>
                  <a:srgbClr val="0000CC"/>
                </a:solidFill>
                <a:latin typeface="Times New Roman" panose="02020603050405020304" pitchFamily="18" charset="0"/>
                <a:ea typeface="黑体" panose="02010609060101010101" pitchFamily="49" charset="-122"/>
              </a:rPr>
              <a:t>只与游离酶结合。</a:t>
            </a:r>
            <a:r>
              <a:rPr kumimoji="1" lang="en-US" altLang="zh-CN" sz="2400" dirty="0">
                <a:solidFill>
                  <a:srgbClr val="0000CC"/>
                </a:solidFill>
                <a:latin typeface="Times New Roman" panose="02020603050405020304" pitchFamily="18" charset="0"/>
                <a:ea typeface="黑体" panose="02010609060101010101" pitchFamily="49" charset="-122"/>
              </a:rPr>
              <a:t>I </a:t>
            </a:r>
            <a:r>
              <a:rPr kumimoji="1" lang="zh-CN" altLang="en-US" sz="2400" dirty="0">
                <a:latin typeface="Times New Roman" panose="02020603050405020304" pitchFamily="18" charset="0"/>
                <a:ea typeface="黑体" panose="02010609060101010101" pitchFamily="49" charset="-122"/>
              </a:rPr>
              <a:t>通常</a:t>
            </a:r>
            <a:r>
              <a:rPr kumimoji="1" lang="zh-CN" altLang="en-US" sz="2400" dirty="0">
                <a:solidFill>
                  <a:srgbClr val="0000CC"/>
                </a:solidFill>
                <a:latin typeface="Times New Roman" panose="02020603050405020304" pitchFamily="18" charset="0"/>
                <a:ea typeface="黑体" panose="02010609060101010101" pitchFamily="49" charset="-122"/>
              </a:rPr>
              <a:t>与</a:t>
            </a:r>
            <a:r>
              <a:rPr kumimoji="1" lang="en-US" altLang="zh-CN" sz="2400" dirty="0">
                <a:solidFill>
                  <a:srgbClr val="0000CC"/>
                </a:solidFill>
                <a:latin typeface="Times New Roman" panose="02020603050405020304" pitchFamily="18" charset="0"/>
                <a:ea typeface="黑体" panose="02010609060101010101" pitchFamily="49" charset="-122"/>
              </a:rPr>
              <a:t>S</a:t>
            </a:r>
            <a:r>
              <a:rPr kumimoji="1" lang="zh-CN" altLang="en-US" sz="2400" dirty="0">
                <a:solidFill>
                  <a:srgbClr val="0000CC"/>
                </a:solidFill>
                <a:latin typeface="Times New Roman" panose="02020603050405020304" pitchFamily="18" charset="0"/>
                <a:ea typeface="黑体" panose="02010609060101010101" pitchFamily="49" charset="-122"/>
              </a:rPr>
              <a:t>结构类似</a:t>
            </a:r>
            <a:r>
              <a:rPr kumimoji="1" lang="zh-CN" altLang="en-US" sz="2400" dirty="0">
                <a:latin typeface="Times New Roman" panose="02020603050405020304" pitchFamily="18" charset="0"/>
                <a:ea typeface="黑体" panose="02010609060101010101" pitchFamily="49" charset="-122"/>
              </a:rPr>
              <a:t>，竞争酶的活性中心；</a:t>
            </a:r>
            <a:endParaRPr kumimoji="1" lang="en-US" altLang="zh-CN" sz="2400" dirty="0">
              <a:latin typeface="Times New Roman" panose="02020603050405020304" pitchFamily="18" charset="0"/>
              <a:ea typeface="黑体" panose="02010609060101010101" pitchFamily="49" charset="-122"/>
            </a:endParaRPr>
          </a:p>
          <a:p>
            <a:pPr algn="just" eaLnBrk="1" hangingPunct="1">
              <a:lnSpc>
                <a:spcPct val="130000"/>
              </a:lnSpc>
              <a:spcBef>
                <a:spcPct val="0"/>
              </a:spcBef>
              <a:buClr>
                <a:srgbClr val="000066"/>
              </a:buClr>
            </a:pPr>
            <a:r>
              <a:rPr kumimoji="1" lang="zh-CN" altLang="en-US" sz="2400" dirty="0">
                <a:latin typeface="Times New Roman" panose="02020603050405020304" pitchFamily="18" charset="0"/>
                <a:ea typeface="黑体" panose="02010609060101010101" pitchFamily="49" charset="-122"/>
              </a:rPr>
              <a:t> 抑制程度主要取决于</a:t>
            </a:r>
            <a:r>
              <a:rPr kumimoji="1" lang="en-US" altLang="zh-CN" sz="2400" dirty="0">
                <a:latin typeface="Times New Roman" panose="02020603050405020304" pitchFamily="18" charset="0"/>
                <a:ea typeface="黑体" panose="02010609060101010101" pitchFamily="49" charset="-122"/>
              </a:rPr>
              <a:t>I</a:t>
            </a:r>
            <a:r>
              <a:rPr kumimoji="1" lang="zh-CN" altLang="en-US" sz="2400" dirty="0">
                <a:latin typeface="Times New Roman" panose="02020603050405020304" pitchFamily="18" charset="0"/>
                <a:ea typeface="黑体" panose="02010609060101010101" pitchFamily="49" charset="-122"/>
              </a:rPr>
              <a:t>与</a:t>
            </a:r>
            <a:r>
              <a:rPr kumimoji="1" lang="en-US" altLang="zh-CN" sz="2400" dirty="0">
                <a:latin typeface="Times New Roman" panose="02020603050405020304" pitchFamily="18" charset="0"/>
                <a:ea typeface="黑体" panose="02010609060101010101" pitchFamily="49" charset="-122"/>
              </a:rPr>
              <a:t>S</a:t>
            </a:r>
            <a:r>
              <a:rPr kumimoji="1" lang="zh-CN" altLang="en-US" sz="2400" dirty="0">
                <a:latin typeface="Times New Roman" panose="02020603050405020304" pitchFamily="18" charset="0"/>
                <a:ea typeface="黑体" panose="02010609060101010101" pitchFamily="49" charset="-122"/>
              </a:rPr>
              <a:t>的相对浓度；</a:t>
            </a:r>
            <a:r>
              <a:rPr kumimoji="1" lang="zh-CN" altLang="en-US" sz="2400" dirty="0">
                <a:solidFill>
                  <a:srgbClr val="0000CC"/>
                </a:solidFill>
                <a:latin typeface="Times New Roman" panose="02020603050405020304" pitchFamily="18" charset="0"/>
                <a:ea typeface="黑体" panose="02010609060101010101" pitchFamily="49" charset="-122"/>
              </a:rPr>
              <a:t>增大</a:t>
            </a:r>
            <a:r>
              <a:rPr kumimoji="1" lang="en-US" altLang="zh-CN" sz="2400" dirty="0">
                <a:solidFill>
                  <a:srgbClr val="0000CC"/>
                </a:solidFill>
                <a:latin typeface="Times New Roman" panose="02020603050405020304" pitchFamily="18" charset="0"/>
                <a:ea typeface="黑体" panose="02010609060101010101" pitchFamily="49" charset="-122"/>
              </a:rPr>
              <a:t>S</a:t>
            </a:r>
            <a:r>
              <a:rPr kumimoji="1" lang="zh-CN" altLang="en-US" sz="2400" dirty="0">
                <a:solidFill>
                  <a:srgbClr val="0000CC"/>
                </a:solidFill>
                <a:latin typeface="Times New Roman" panose="02020603050405020304" pitchFamily="18" charset="0"/>
                <a:ea typeface="黑体" panose="02010609060101010101" pitchFamily="49" charset="-122"/>
              </a:rPr>
              <a:t>可消除</a:t>
            </a:r>
            <a:r>
              <a:rPr kumimoji="1" lang="en-US" altLang="zh-CN" sz="2400" dirty="0">
                <a:solidFill>
                  <a:srgbClr val="0000CC"/>
                </a:solidFill>
                <a:latin typeface="Times New Roman" panose="02020603050405020304" pitchFamily="18" charset="0"/>
                <a:ea typeface="黑体" panose="02010609060101010101" pitchFamily="49" charset="-122"/>
              </a:rPr>
              <a:t>I</a:t>
            </a:r>
            <a:r>
              <a:rPr kumimoji="1" lang="zh-CN" altLang="en-US" sz="2400" dirty="0">
                <a:solidFill>
                  <a:srgbClr val="0000CC"/>
                </a:solidFill>
                <a:latin typeface="Times New Roman" panose="02020603050405020304" pitchFamily="18" charset="0"/>
                <a:ea typeface="黑体" panose="02010609060101010101" pitchFamily="49" charset="-122"/>
              </a:rPr>
              <a:t>的抑制</a:t>
            </a:r>
            <a:endParaRPr kumimoji="1" lang="en-US" altLang="zh-CN" sz="2400" dirty="0">
              <a:solidFill>
                <a:srgbClr val="0000CC"/>
              </a:solidFill>
              <a:latin typeface="Times New Roman" panose="02020603050405020304" pitchFamily="18" charset="0"/>
              <a:ea typeface="黑体" panose="02010609060101010101" pitchFamily="49" charset="-122"/>
            </a:endParaRPr>
          </a:p>
          <a:p>
            <a:pPr algn="just" eaLnBrk="1" hangingPunct="1">
              <a:lnSpc>
                <a:spcPct val="130000"/>
              </a:lnSpc>
              <a:spcBef>
                <a:spcPct val="0"/>
              </a:spcBef>
              <a:buClr>
                <a:srgbClr val="000066"/>
              </a:buClr>
            </a:pPr>
            <a:r>
              <a:rPr kumimoji="1" lang="zh-CN" altLang="en-US" sz="2400" dirty="0">
                <a:latin typeface="Times New Roman" panose="02020603050405020304" pitchFamily="18" charset="0"/>
                <a:ea typeface="黑体" panose="02010609060101010101" pitchFamily="49" charset="-122"/>
              </a:rPr>
              <a:t> 动力学特点：</a:t>
            </a:r>
            <a:r>
              <a:rPr kumimoji="1" lang="en-US" altLang="zh-CN" sz="2400" dirty="0">
                <a:solidFill>
                  <a:srgbClr val="C00000"/>
                </a:solidFill>
                <a:latin typeface="Times New Roman" panose="02020603050405020304" pitchFamily="18" charset="0"/>
                <a:ea typeface="黑体" panose="02010609060101010101" pitchFamily="49" charset="-122"/>
              </a:rPr>
              <a:t>Vmax</a:t>
            </a:r>
            <a:r>
              <a:rPr kumimoji="1" lang="zh-CN" altLang="en-US" sz="2400" dirty="0">
                <a:solidFill>
                  <a:srgbClr val="C00000"/>
                </a:solidFill>
                <a:latin typeface="Times New Roman" panose="02020603050405020304" pitchFamily="18" charset="0"/>
                <a:ea typeface="黑体" panose="02010609060101010101" pitchFamily="49" charset="-122"/>
              </a:rPr>
              <a:t>不变，表观</a:t>
            </a:r>
            <a:r>
              <a:rPr kumimoji="1" lang="en-US" altLang="zh-CN" sz="2400" dirty="0">
                <a:solidFill>
                  <a:srgbClr val="C00000"/>
                </a:solidFill>
                <a:latin typeface="Times New Roman" panose="02020603050405020304" pitchFamily="18" charset="0"/>
                <a:ea typeface="黑体" panose="02010609060101010101" pitchFamily="49" charset="-122"/>
              </a:rPr>
              <a:t>Km</a:t>
            </a:r>
            <a:r>
              <a:rPr kumimoji="1" lang="zh-CN" altLang="en-US" sz="2400" dirty="0">
                <a:solidFill>
                  <a:srgbClr val="C00000"/>
                </a:solidFill>
                <a:latin typeface="Times New Roman" panose="02020603050405020304" pitchFamily="18" charset="0"/>
                <a:ea typeface="黑体" panose="02010609060101010101" pitchFamily="49" charset="-122"/>
              </a:rPr>
              <a:t>增大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Text Box 2">
            <a:extLst>
              <a:ext uri="{FF2B5EF4-FFF2-40B4-BE49-F238E27FC236}">
                <a16:creationId xmlns:a16="http://schemas.microsoft.com/office/drawing/2014/main" id="{A58B21E1-4016-40E5-9FC8-18ED33577744}"/>
              </a:ext>
            </a:extLst>
          </p:cNvPr>
          <p:cNvSpPr txBox="1">
            <a:spLocks noChangeArrowheads="1"/>
          </p:cNvSpPr>
          <p:nvPr/>
        </p:nvSpPr>
        <p:spPr bwMode="auto">
          <a:xfrm>
            <a:off x="2351088" y="466726"/>
            <a:ext cx="1441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Clr>
                <a:srgbClr val="66FFFF"/>
              </a:buClr>
              <a:buFontTx/>
              <a:buNone/>
            </a:pPr>
            <a:r>
              <a:rPr kumimoji="1" lang="en-US" altLang="zh-CN" sz="2800">
                <a:solidFill>
                  <a:srgbClr val="0000CC"/>
                </a:solidFill>
                <a:latin typeface="Times New Roman" panose="02020603050405020304" pitchFamily="18" charset="0"/>
                <a:ea typeface="黑体" panose="02010609060101010101" pitchFamily="49" charset="-122"/>
              </a:rPr>
              <a:t>* </a:t>
            </a:r>
            <a:r>
              <a:rPr kumimoji="1" lang="zh-CN" altLang="en-US" sz="2800">
                <a:solidFill>
                  <a:srgbClr val="0000CC"/>
                </a:solidFill>
                <a:latin typeface="Times New Roman" panose="02020603050405020304" pitchFamily="18" charset="0"/>
                <a:ea typeface="黑体" panose="02010609060101010101" pitchFamily="49" charset="-122"/>
              </a:rPr>
              <a:t>举例</a:t>
            </a:r>
          </a:p>
        </p:txBody>
      </p:sp>
      <p:sp>
        <p:nvSpPr>
          <p:cNvPr id="297987" name="Text Box 3">
            <a:extLst>
              <a:ext uri="{FF2B5EF4-FFF2-40B4-BE49-F238E27FC236}">
                <a16:creationId xmlns:a16="http://schemas.microsoft.com/office/drawing/2014/main" id="{832EAE30-64FA-4A3F-9663-12DB5B86A1AB}"/>
              </a:ext>
            </a:extLst>
          </p:cNvPr>
          <p:cNvSpPr txBox="1">
            <a:spLocks noChangeArrowheads="1"/>
          </p:cNvSpPr>
          <p:nvPr/>
        </p:nvSpPr>
        <p:spPr bwMode="auto">
          <a:xfrm>
            <a:off x="2855913" y="1196976"/>
            <a:ext cx="6769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Clr>
                <a:schemeClr val="tx2"/>
              </a:buClr>
            </a:pPr>
            <a:r>
              <a:rPr kumimoji="1" lang="en-US" altLang="zh-CN" sz="2800">
                <a:solidFill>
                  <a:srgbClr val="FFFF00"/>
                </a:solidFill>
                <a:latin typeface="Times New Roman" panose="02020603050405020304" pitchFamily="18" charset="0"/>
                <a:ea typeface="黑体" panose="02010609060101010101" pitchFamily="49" charset="-122"/>
              </a:rPr>
              <a:t>  </a:t>
            </a:r>
            <a:r>
              <a:rPr kumimoji="1" lang="en-US" altLang="zh-CN" sz="2800">
                <a:solidFill>
                  <a:srgbClr val="0000CC"/>
                </a:solidFill>
                <a:latin typeface="Times New Roman" panose="02020603050405020304" pitchFamily="18" charset="0"/>
                <a:ea typeface="黑体" panose="02010609060101010101" pitchFamily="49" charset="-122"/>
              </a:rPr>
              <a:t> </a:t>
            </a:r>
            <a:r>
              <a:rPr kumimoji="1" lang="zh-CN" altLang="en-US" sz="2800">
                <a:solidFill>
                  <a:srgbClr val="0000CC"/>
                </a:solidFill>
                <a:latin typeface="Times New Roman" panose="02020603050405020304" pitchFamily="18" charset="0"/>
                <a:ea typeface="黑体" panose="02010609060101010101" pitchFamily="49" charset="-122"/>
              </a:rPr>
              <a:t>丙二酸</a:t>
            </a:r>
            <a:r>
              <a:rPr kumimoji="1" lang="zh-CN" altLang="en-US" sz="2800">
                <a:latin typeface="Times New Roman" panose="02020603050405020304" pitchFamily="18" charset="0"/>
                <a:ea typeface="黑体" panose="02010609060101010101" pitchFamily="49" charset="-122"/>
              </a:rPr>
              <a:t>与琥珀酸竞争琥珀酸脱氢酶</a:t>
            </a:r>
          </a:p>
        </p:txBody>
      </p:sp>
      <p:sp>
        <p:nvSpPr>
          <p:cNvPr id="297988" name="Line 4">
            <a:extLst>
              <a:ext uri="{FF2B5EF4-FFF2-40B4-BE49-F238E27FC236}">
                <a16:creationId xmlns:a16="http://schemas.microsoft.com/office/drawing/2014/main" id="{44AD2F8C-A8D3-4D7A-AA9B-C353AB899D5A}"/>
              </a:ext>
            </a:extLst>
          </p:cNvPr>
          <p:cNvSpPr>
            <a:spLocks noChangeShapeType="1"/>
          </p:cNvSpPr>
          <p:nvPr/>
        </p:nvSpPr>
        <p:spPr bwMode="auto">
          <a:xfrm>
            <a:off x="4038600" y="5715000"/>
            <a:ext cx="3810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97989" name="Group 7">
            <a:extLst>
              <a:ext uri="{FF2B5EF4-FFF2-40B4-BE49-F238E27FC236}">
                <a16:creationId xmlns:a16="http://schemas.microsoft.com/office/drawing/2014/main" id="{310F5BF0-E5B9-4C54-9165-82370B6B2ACF}"/>
              </a:ext>
            </a:extLst>
          </p:cNvPr>
          <p:cNvGrpSpPr>
            <a:grpSpLocks/>
          </p:cNvGrpSpPr>
          <p:nvPr/>
        </p:nvGrpSpPr>
        <p:grpSpPr bwMode="auto">
          <a:xfrm>
            <a:off x="3359696" y="1946276"/>
            <a:ext cx="6070600" cy="1427163"/>
            <a:chOff x="1383" y="1302"/>
            <a:chExt cx="3707" cy="899"/>
          </a:xfrm>
        </p:grpSpPr>
        <p:sp>
          <p:nvSpPr>
            <p:cNvPr id="297993" name="Line 8">
              <a:extLst>
                <a:ext uri="{FF2B5EF4-FFF2-40B4-BE49-F238E27FC236}">
                  <a16:creationId xmlns:a16="http://schemas.microsoft.com/office/drawing/2014/main" id="{8909EF58-FEBF-48A2-8A2A-5C1599DC3DA9}"/>
                </a:ext>
              </a:extLst>
            </p:cNvPr>
            <p:cNvSpPr>
              <a:spLocks noChangeShapeType="1"/>
            </p:cNvSpPr>
            <p:nvPr/>
          </p:nvSpPr>
          <p:spPr bwMode="auto">
            <a:xfrm flipV="1">
              <a:off x="2647" y="1684"/>
              <a:ext cx="288" cy="21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994" name="Line 9">
              <a:extLst>
                <a:ext uri="{FF2B5EF4-FFF2-40B4-BE49-F238E27FC236}">
                  <a16:creationId xmlns:a16="http://schemas.microsoft.com/office/drawing/2014/main" id="{8A0EF249-7B5E-4265-9650-AD289600CBF2}"/>
                </a:ext>
              </a:extLst>
            </p:cNvPr>
            <p:cNvSpPr>
              <a:spLocks noChangeShapeType="1"/>
            </p:cNvSpPr>
            <p:nvPr/>
          </p:nvSpPr>
          <p:spPr bwMode="auto">
            <a:xfrm>
              <a:off x="3367" y="1684"/>
              <a:ext cx="288" cy="21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97995" name="Group 10">
              <a:extLst>
                <a:ext uri="{FF2B5EF4-FFF2-40B4-BE49-F238E27FC236}">
                  <a16:creationId xmlns:a16="http://schemas.microsoft.com/office/drawing/2014/main" id="{17577FDD-DD69-435A-89D4-0B7BF5CC11B4}"/>
                </a:ext>
              </a:extLst>
            </p:cNvPr>
            <p:cNvGrpSpPr>
              <a:grpSpLocks/>
            </p:cNvGrpSpPr>
            <p:nvPr/>
          </p:nvGrpSpPr>
          <p:grpSpPr bwMode="auto">
            <a:xfrm>
              <a:off x="1383" y="1302"/>
              <a:ext cx="3707" cy="899"/>
              <a:chOff x="1383" y="1302"/>
              <a:chExt cx="3707" cy="899"/>
            </a:xfrm>
          </p:grpSpPr>
          <p:grpSp>
            <p:nvGrpSpPr>
              <p:cNvPr id="297996" name="Group 11">
                <a:extLst>
                  <a:ext uri="{FF2B5EF4-FFF2-40B4-BE49-F238E27FC236}">
                    <a16:creationId xmlns:a16="http://schemas.microsoft.com/office/drawing/2014/main" id="{532B6FBD-A17B-4B4D-9F9F-08EEC2A6D2D2}"/>
                  </a:ext>
                </a:extLst>
              </p:cNvPr>
              <p:cNvGrpSpPr>
                <a:grpSpLocks/>
              </p:cNvGrpSpPr>
              <p:nvPr/>
            </p:nvGrpSpPr>
            <p:grpSpPr bwMode="auto">
              <a:xfrm>
                <a:off x="1383" y="1302"/>
                <a:ext cx="2656" cy="899"/>
                <a:chOff x="1383" y="1302"/>
                <a:chExt cx="2656" cy="899"/>
              </a:xfrm>
            </p:grpSpPr>
            <p:sp>
              <p:nvSpPr>
                <p:cNvPr id="297998" name="Text Box 12">
                  <a:extLst>
                    <a:ext uri="{FF2B5EF4-FFF2-40B4-BE49-F238E27FC236}">
                      <a16:creationId xmlns:a16="http://schemas.microsoft.com/office/drawing/2014/main" id="{D1255C1C-A583-4A1F-9C06-C782BB9A7455}"/>
                    </a:ext>
                  </a:extLst>
                </p:cNvPr>
                <p:cNvSpPr txBox="1">
                  <a:spLocks noChangeArrowheads="1"/>
                </p:cNvSpPr>
                <p:nvPr/>
              </p:nvSpPr>
              <p:spPr bwMode="auto">
                <a:xfrm>
                  <a:off x="1383" y="1525"/>
                  <a:ext cx="76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a:latin typeface="Times New Roman" panose="02020603050405020304" pitchFamily="18" charset="0"/>
                      <a:ea typeface="黑体" panose="02010609060101010101" pitchFamily="49" charset="-122"/>
                    </a:rPr>
                    <a:t>琥珀酸</a:t>
                  </a:r>
                </a:p>
              </p:txBody>
            </p:sp>
            <p:sp>
              <p:nvSpPr>
                <p:cNvPr id="1132557" name="AutoShape 13">
                  <a:extLst>
                    <a:ext uri="{FF2B5EF4-FFF2-40B4-BE49-F238E27FC236}">
                      <a16:creationId xmlns:a16="http://schemas.microsoft.com/office/drawing/2014/main" id="{85FF5130-A6AF-4C46-A7CF-5EA62DFEE915}"/>
                    </a:ext>
                  </a:extLst>
                </p:cNvPr>
                <p:cNvSpPr>
                  <a:spLocks noChangeArrowheads="1"/>
                </p:cNvSpPr>
                <p:nvPr/>
              </p:nvSpPr>
              <p:spPr bwMode="auto">
                <a:xfrm>
                  <a:off x="2224" y="1629"/>
                  <a:ext cx="1815" cy="109"/>
                </a:xfrm>
                <a:prstGeom prst="leftRightArrow">
                  <a:avLst>
                    <a:gd name="adj1" fmla="val 50000"/>
                    <a:gd name="adj2" fmla="val 333028"/>
                  </a:avLst>
                </a:prstGeom>
                <a:solidFill>
                  <a:schemeClr val="tx1"/>
                </a:solidFill>
                <a:ln w="9525">
                  <a:solidFill>
                    <a:schemeClr val="tx1"/>
                  </a:solidFill>
                  <a:miter lim="800000"/>
                  <a:headEnd/>
                  <a:tailEnd/>
                </a:ln>
                <a:effectLst/>
              </p:spPr>
              <p:txBody>
                <a:bodyPr wrap="none" anchor="ctr"/>
                <a:lstStyle/>
                <a:p>
                  <a:pPr marL="609600" indent="-609600" algn="ctr" eaLnBrk="1" hangingPunct="1">
                    <a:lnSpc>
                      <a:spcPct val="90000"/>
                    </a:lnSpc>
                    <a:spcBef>
                      <a:spcPct val="20000"/>
                    </a:spcBef>
                    <a:buClr>
                      <a:schemeClr val="tx2"/>
                    </a:buClr>
                    <a:buSzPct val="75000"/>
                    <a:defRPr/>
                  </a:pPr>
                  <a:endParaRPr kumimoji="1" lang="zh-CN" altLang="zh-CN" sz="2400">
                    <a:effectLst>
                      <a:outerShdw blurRad="38100" dist="38100" dir="2700000" algn="tl">
                        <a:srgbClr val="FFFFFF"/>
                      </a:outerShdw>
                    </a:effectLst>
                    <a:latin typeface="Times New Roman" pitchFamily="18" charset="0"/>
                    <a:ea typeface="黑体" pitchFamily="49" charset="-122"/>
                  </a:endParaRPr>
                </a:p>
              </p:txBody>
            </p:sp>
            <p:sp>
              <p:nvSpPr>
                <p:cNvPr id="298000" name="Text Box 14">
                  <a:extLst>
                    <a:ext uri="{FF2B5EF4-FFF2-40B4-BE49-F238E27FC236}">
                      <a16:creationId xmlns:a16="http://schemas.microsoft.com/office/drawing/2014/main" id="{FCE52E03-4C90-4FE1-838E-1D4EA07EA2B5}"/>
                    </a:ext>
                  </a:extLst>
                </p:cNvPr>
                <p:cNvSpPr txBox="1">
                  <a:spLocks noChangeArrowheads="1"/>
                </p:cNvSpPr>
                <p:nvPr/>
              </p:nvSpPr>
              <p:spPr bwMode="auto">
                <a:xfrm>
                  <a:off x="2407" y="1302"/>
                  <a:ext cx="1235"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400" dirty="0">
                      <a:latin typeface="Times New Roman" panose="02020603050405020304" pitchFamily="18" charset="0"/>
                      <a:ea typeface="黑体" panose="02010609060101010101" pitchFamily="49" charset="-122"/>
                    </a:rPr>
                    <a:t>琥珀酸脱氢酶</a:t>
                  </a:r>
                </a:p>
              </p:txBody>
            </p:sp>
            <p:sp>
              <p:nvSpPr>
                <p:cNvPr id="298001" name="Text Box 15">
                  <a:extLst>
                    <a:ext uri="{FF2B5EF4-FFF2-40B4-BE49-F238E27FC236}">
                      <a16:creationId xmlns:a16="http://schemas.microsoft.com/office/drawing/2014/main" id="{6A4C7326-4818-44B4-8641-C870555B8A10}"/>
                    </a:ext>
                  </a:extLst>
                </p:cNvPr>
                <p:cNvSpPr txBox="1">
                  <a:spLocks noChangeArrowheads="1"/>
                </p:cNvSpPr>
                <p:nvPr/>
              </p:nvSpPr>
              <p:spPr bwMode="auto">
                <a:xfrm>
                  <a:off x="2359" y="1933"/>
                  <a:ext cx="47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sz="2400">
                      <a:latin typeface="Times New Roman" panose="02020603050405020304" pitchFamily="18" charset="0"/>
                      <a:ea typeface="黑体" panose="02010609060101010101" pitchFamily="49" charset="-122"/>
                    </a:rPr>
                    <a:t>FAD</a:t>
                  </a:r>
                </a:p>
              </p:txBody>
            </p:sp>
            <p:sp>
              <p:nvSpPr>
                <p:cNvPr id="298002" name="Text Box 16">
                  <a:extLst>
                    <a:ext uri="{FF2B5EF4-FFF2-40B4-BE49-F238E27FC236}">
                      <a16:creationId xmlns:a16="http://schemas.microsoft.com/office/drawing/2014/main" id="{94B22BBD-45A9-460C-A576-265177AAA9DB}"/>
                    </a:ext>
                  </a:extLst>
                </p:cNvPr>
                <p:cNvSpPr txBox="1">
                  <a:spLocks noChangeArrowheads="1"/>
                </p:cNvSpPr>
                <p:nvPr/>
              </p:nvSpPr>
              <p:spPr bwMode="auto">
                <a:xfrm>
                  <a:off x="3271" y="1933"/>
                  <a:ext cx="67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en-US" altLang="zh-CN" sz="2400">
                      <a:latin typeface="Times New Roman" panose="02020603050405020304" pitchFamily="18" charset="0"/>
                      <a:ea typeface="黑体" panose="02010609060101010101" pitchFamily="49" charset="-122"/>
                    </a:rPr>
                    <a:t>FADH</a:t>
                  </a:r>
                  <a:r>
                    <a:rPr kumimoji="1" lang="en-US" altLang="zh-CN" sz="2400" baseline="-25000">
                      <a:latin typeface="Times New Roman" panose="02020603050405020304" pitchFamily="18" charset="0"/>
                      <a:ea typeface="黑体" panose="02010609060101010101" pitchFamily="49" charset="-122"/>
                    </a:rPr>
                    <a:t>2</a:t>
                  </a:r>
                  <a:endParaRPr kumimoji="1" lang="en-US" altLang="zh-CN" sz="2400">
                    <a:latin typeface="Times New Roman" panose="02020603050405020304" pitchFamily="18" charset="0"/>
                    <a:ea typeface="黑体" panose="02010609060101010101" pitchFamily="49" charset="-122"/>
                  </a:endParaRPr>
                </a:p>
              </p:txBody>
            </p:sp>
          </p:grpSp>
          <p:sp>
            <p:nvSpPr>
              <p:cNvPr id="297997" name="Text Box 17">
                <a:extLst>
                  <a:ext uri="{FF2B5EF4-FFF2-40B4-BE49-F238E27FC236}">
                    <a16:creationId xmlns:a16="http://schemas.microsoft.com/office/drawing/2014/main" id="{2DA22469-CB59-4284-997F-7A01D82AA51B}"/>
                  </a:ext>
                </a:extLst>
              </p:cNvPr>
              <p:cNvSpPr txBox="1">
                <a:spLocks noChangeArrowheads="1"/>
              </p:cNvSpPr>
              <p:nvPr/>
            </p:nvSpPr>
            <p:spPr bwMode="auto">
              <a:xfrm>
                <a:off x="4105" y="1525"/>
                <a:ext cx="985"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kumimoji="1" lang="zh-CN" altLang="en-US" sz="2800">
                    <a:latin typeface="Times New Roman" panose="02020603050405020304" pitchFamily="18" charset="0"/>
                    <a:ea typeface="黑体" panose="02010609060101010101" pitchFamily="49" charset="-122"/>
                  </a:rPr>
                  <a:t>延胡索酸</a:t>
                </a:r>
              </a:p>
            </p:txBody>
          </p:sp>
        </p:grpSp>
      </p:grpSp>
      <p:pic>
        <p:nvPicPr>
          <p:cNvPr id="297990" name="图片 2">
            <a:extLst>
              <a:ext uri="{FF2B5EF4-FFF2-40B4-BE49-F238E27FC236}">
                <a16:creationId xmlns:a16="http://schemas.microsoft.com/office/drawing/2014/main" id="{74FE2CBA-D6D7-4BEF-A063-2ECCC1C33D5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59575" y="3360739"/>
            <a:ext cx="1241425" cy="229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91" name="图片 3">
            <a:extLst>
              <a:ext uri="{FF2B5EF4-FFF2-40B4-BE49-F238E27FC236}">
                <a16:creationId xmlns:a16="http://schemas.microsoft.com/office/drawing/2014/main" id="{74166A1F-937F-4599-8A62-90BE0AD3D2C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67425" y="3690938"/>
            <a:ext cx="1563688"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992" name="文本框 2">
            <a:extLst>
              <a:ext uri="{FF2B5EF4-FFF2-40B4-BE49-F238E27FC236}">
                <a16:creationId xmlns:a16="http://schemas.microsoft.com/office/drawing/2014/main" id="{BA2F1E2F-B23F-43A8-9258-902F01251400}"/>
              </a:ext>
            </a:extLst>
          </p:cNvPr>
          <p:cNvSpPr txBox="1">
            <a:spLocks noChangeArrowheads="1"/>
          </p:cNvSpPr>
          <p:nvPr/>
        </p:nvSpPr>
        <p:spPr bwMode="auto">
          <a:xfrm>
            <a:off x="6704013" y="5764214"/>
            <a:ext cx="1365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800" b="1"/>
              <a:t>丙二酸</a:t>
            </a: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0034" name="Picture 3" descr="folate">
            <a:extLst>
              <a:ext uri="{FF2B5EF4-FFF2-40B4-BE49-F238E27FC236}">
                <a16:creationId xmlns:a16="http://schemas.microsoft.com/office/drawing/2014/main" id="{91EAB44F-12A3-4A21-A08A-8014FAB159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575" y="2632075"/>
            <a:ext cx="8731250" cy="24717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5" name="Text Box 4">
            <a:extLst>
              <a:ext uri="{FF2B5EF4-FFF2-40B4-BE49-F238E27FC236}">
                <a16:creationId xmlns:a16="http://schemas.microsoft.com/office/drawing/2014/main" id="{F4B6A9CF-F1AE-42D5-BB55-DECA99858E44}"/>
              </a:ext>
            </a:extLst>
          </p:cNvPr>
          <p:cNvSpPr txBox="1">
            <a:spLocks noChangeArrowheads="1"/>
          </p:cNvSpPr>
          <p:nvPr/>
        </p:nvSpPr>
        <p:spPr bwMode="auto">
          <a:xfrm>
            <a:off x="3078163" y="5724526"/>
            <a:ext cx="1447800" cy="523875"/>
          </a:xfrm>
          <a:prstGeom prst="rect">
            <a:avLst/>
          </a:prstGeom>
          <a:noFill/>
          <a:ln w="9525">
            <a:noFill/>
            <a:miter lim="800000"/>
            <a:headEnd/>
            <a:tailEnd/>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defRPr/>
            </a:pPr>
            <a:r>
              <a:rPr kumimoji="0" lang="zh-CN" altLang="en-US" sz="2800" dirty="0">
                <a:solidFill>
                  <a:schemeClr val="tx1">
                    <a:lumMod val="95000"/>
                    <a:lumOff val="5000"/>
                  </a:schemeClr>
                </a:solidFill>
                <a:ea typeface="楷体_GB2312" pitchFamily="49" charset="-122"/>
              </a:rPr>
              <a:t>蝶啶</a:t>
            </a:r>
          </a:p>
        </p:txBody>
      </p:sp>
      <p:sp>
        <p:nvSpPr>
          <p:cNvPr id="7" name="Text Box 5">
            <a:extLst>
              <a:ext uri="{FF2B5EF4-FFF2-40B4-BE49-F238E27FC236}">
                <a16:creationId xmlns:a16="http://schemas.microsoft.com/office/drawing/2014/main" id="{284D2759-68CE-45CF-B325-2E72AB18902D}"/>
              </a:ext>
            </a:extLst>
          </p:cNvPr>
          <p:cNvSpPr txBox="1">
            <a:spLocks noChangeArrowheads="1"/>
          </p:cNvSpPr>
          <p:nvPr/>
        </p:nvSpPr>
        <p:spPr bwMode="auto">
          <a:xfrm>
            <a:off x="5951538" y="5676900"/>
            <a:ext cx="2667000" cy="522288"/>
          </a:xfrm>
          <a:prstGeom prst="rect">
            <a:avLst/>
          </a:prstGeom>
          <a:noFill/>
          <a:ln w="9525">
            <a:noFill/>
            <a:miter lim="800000"/>
            <a:headEnd/>
            <a:tailEnd/>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kumimoji="0" lang="zh-CN" altLang="en-US" sz="2800" dirty="0">
                <a:solidFill>
                  <a:schemeClr val="tx1">
                    <a:lumMod val="95000"/>
                    <a:lumOff val="5000"/>
                  </a:schemeClr>
                </a:solidFill>
                <a:ea typeface="楷体_GB2312" pitchFamily="49" charset="-122"/>
              </a:rPr>
              <a:t>对氨基苯甲酸</a:t>
            </a:r>
          </a:p>
        </p:txBody>
      </p:sp>
      <p:sp>
        <p:nvSpPr>
          <p:cNvPr id="9" name="Text Box 6">
            <a:extLst>
              <a:ext uri="{FF2B5EF4-FFF2-40B4-BE49-F238E27FC236}">
                <a16:creationId xmlns:a16="http://schemas.microsoft.com/office/drawing/2014/main" id="{4A9E8FBD-F39B-47EB-A4F7-02F354755444}"/>
              </a:ext>
            </a:extLst>
          </p:cNvPr>
          <p:cNvSpPr txBox="1">
            <a:spLocks noChangeArrowheads="1"/>
          </p:cNvSpPr>
          <p:nvPr/>
        </p:nvSpPr>
        <p:spPr bwMode="auto">
          <a:xfrm>
            <a:off x="8864600" y="5676900"/>
            <a:ext cx="1447800" cy="522288"/>
          </a:xfrm>
          <a:prstGeom prst="rect">
            <a:avLst/>
          </a:prstGeom>
          <a:noFill/>
          <a:ln w="9525">
            <a:noFill/>
            <a:miter lim="800000"/>
            <a:headEnd/>
            <a:tailEnd/>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kumimoji="0" lang="zh-CN" altLang="en-US" sz="2800" dirty="0">
                <a:solidFill>
                  <a:schemeClr val="tx1">
                    <a:lumMod val="95000"/>
                    <a:lumOff val="5000"/>
                  </a:schemeClr>
                </a:solidFill>
                <a:ea typeface="楷体_GB2312" pitchFamily="49" charset="-122"/>
              </a:rPr>
              <a:t>谷氨酸</a:t>
            </a:r>
          </a:p>
        </p:txBody>
      </p:sp>
      <p:sp>
        <p:nvSpPr>
          <p:cNvPr id="11" name="AutoShape 7">
            <a:extLst>
              <a:ext uri="{FF2B5EF4-FFF2-40B4-BE49-F238E27FC236}">
                <a16:creationId xmlns:a16="http://schemas.microsoft.com/office/drawing/2014/main" id="{BD67EC32-0EAF-4B03-8D01-8C7E3ADB475D}"/>
              </a:ext>
            </a:extLst>
          </p:cNvPr>
          <p:cNvSpPr>
            <a:spLocks/>
          </p:cNvSpPr>
          <p:nvPr/>
        </p:nvSpPr>
        <p:spPr bwMode="auto">
          <a:xfrm rot="16206087">
            <a:off x="3713163" y="3522663"/>
            <a:ext cx="304800" cy="3733800"/>
          </a:xfrm>
          <a:prstGeom prst="leftBrace">
            <a:avLst>
              <a:gd name="adj1" fmla="val 102083"/>
              <a:gd name="adj2" fmla="val 48773"/>
            </a:avLst>
          </a:prstGeom>
          <a:noFill/>
          <a:ln w="28575">
            <a:solidFill>
              <a:schemeClr val="tx1">
                <a:lumMod val="95000"/>
                <a:lumOff val="5000"/>
              </a:schemeClr>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endParaRPr lang="zh-CN" altLang="en-US">
              <a:solidFill>
                <a:schemeClr val="tx1">
                  <a:lumMod val="95000"/>
                  <a:lumOff val="5000"/>
                </a:schemeClr>
              </a:solidFill>
              <a:ea typeface="楷体_GB2312" pitchFamily="49" charset="-122"/>
            </a:endParaRPr>
          </a:p>
        </p:txBody>
      </p:sp>
      <p:sp>
        <p:nvSpPr>
          <p:cNvPr id="13" name="AutoShape 8">
            <a:extLst>
              <a:ext uri="{FF2B5EF4-FFF2-40B4-BE49-F238E27FC236}">
                <a16:creationId xmlns:a16="http://schemas.microsoft.com/office/drawing/2014/main" id="{07492DFF-4946-4EC2-9F03-5BDE5E6DDC7A}"/>
              </a:ext>
            </a:extLst>
          </p:cNvPr>
          <p:cNvSpPr>
            <a:spLocks/>
          </p:cNvSpPr>
          <p:nvPr/>
        </p:nvSpPr>
        <p:spPr bwMode="auto">
          <a:xfrm rot="16206087">
            <a:off x="7057232" y="4209257"/>
            <a:ext cx="312738" cy="2352675"/>
          </a:xfrm>
          <a:prstGeom prst="leftBrace">
            <a:avLst>
              <a:gd name="adj1" fmla="val 58377"/>
              <a:gd name="adj2" fmla="val 48773"/>
            </a:avLst>
          </a:prstGeom>
          <a:noFill/>
          <a:ln w="28575">
            <a:solidFill>
              <a:schemeClr val="tx1">
                <a:lumMod val="95000"/>
                <a:lumOff val="5000"/>
              </a:schemeClr>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endParaRPr lang="zh-CN" altLang="en-US">
              <a:solidFill>
                <a:schemeClr val="tx1">
                  <a:lumMod val="95000"/>
                  <a:lumOff val="5000"/>
                </a:schemeClr>
              </a:solidFill>
              <a:ea typeface="楷体_GB2312" pitchFamily="49" charset="-122"/>
            </a:endParaRPr>
          </a:p>
        </p:txBody>
      </p:sp>
      <p:sp>
        <p:nvSpPr>
          <p:cNvPr id="15" name="AutoShape 9">
            <a:extLst>
              <a:ext uri="{FF2B5EF4-FFF2-40B4-BE49-F238E27FC236}">
                <a16:creationId xmlns:a16="http://schemas.microsoft.com/office/drawing/2014/main" id="{D3046C50-7689-417A-8B05-374E2D72C468}"/>
              </a:ext>
            </a:extLst>
          </p:cNvPr>
          <p:cNvSpPr>
            <a:spLocks/>
          </p:cNvSpPr>
          <p:nvPr/>
        </p:nvSpPr>
        <p:spPr bwMode="auto">
          <a:xfrm rot="16206087">
            <a:off x="9305132" y="4429919"/>
            <a:ext cx="358775" cy="1862138"/>
          </a:xfrm>
          <a:prstGeom prst="leftBrace">
            <a:avLst>
              <a:gd name="adj1" fmla="val 39583"/>
              <a:gd name="adj2" fmla="val 48773"/>
            </a:avLst>
          </a:prstGeom>
          <a:noFill/>
          <a:ln w="28575">
            <a:solidFill>
              <a:schemeClr val="tx1">
                <a:lumMod val="95000"/>
                <a:lumOff val="5000"/>
              </a:schemeClr>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endParaRPr lang="zh-CN" altLang="en-US">
              <a:solidFill>
                <a:schemeClr val="tx1">
                  <a:lumMod val="95000"/>
                  <a:lumOff val="5000"/>
                </a:schemeClr>
              </a:solidFill>
              <a:ea typeface="楷体_GB2312" pitchFamily="49" charset="-122"/>
            </a:endParaRPr>
          </a:p>
        </p:txBody>
      </p:sp>
      <p:sp>
        <p:nvSpPr>
          <p:cNvPr id="20" name="Rectangle 2">
            <a:extLst>
              <a:ext uri="{FF2B5EF4-FFF2-40B4-BE49-F238E27FC236}">
                <a16:creationId xmlns:a16="http://schemas.microsoft.com/office/drawing/2014/main" id="{4369E539-7CE7-43E2-8881-2138E3253646}"/>
              </a:ext>
            </a:extLst>
          </p:cNvPr>
          <p:cNvSpPr txBox="1">
            <a:spLocks noChangeArrowheads="1"/>
          </p:cNvSpPr>
          <p:nvPr/>
        </p:nvSpPr>
        <p:spPr>
          <a:xfrm>
            <a:off x="1974850" y="584200"/>
            <a:ext cx="7772400" cy="1143000"/>
          </a:xfrm>
          <a:prstGeom prst="rect">
            <a:avLst/>
          </a:prstGeom>
        </p:spPr>
        <p:txBody>
          <a:bodyPr/>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itchFamily="66" charset="0"/>
                <a:ea typeface="宋体" pitchFamily="2" charset="-122"/>
              </a:defRPr>
            </a:lvl2pPr>
            <a:lvl3pPr algn="ctr" rtl="0" eaLnBrk="0" fontAlgn="base" hangingPunct="0">
              <a:spcBef>
                <a:spcPct val="0"/>
              </a:spcBef>
              <a:spcAft>
                <a:spcPct val="0"/>
              </a:spcAft>
              <a:defRPr sz="4400">
                <a:solidFill>
                  <a:schemeClr val="tx1"/>
                </a:solidFill>
                <a:latin typeface="Comic Sans MS" pitchFamily="66" charset="0"/>
                <a:ea typeface="宋体" pitchFamily="2" charset="-122"/>
              </a:defRPr>
            </a:lvl3pPr>
            <a:lvl4pPr algn="ctr" rtl="0" eaLnBrk="0" fontAlgn="base" hangingPunct="0">
              <a:spcBef>
                <a:spcPct val="0"/>
              </a:spcBef>
              <a:spcAft>
                <a:spcPct val="0"/>
              </a:spcAft>
              <a:defRPr sz="4400">
                <a:solidFill>
                  <a:schemeClr val="tx1"/>
                </a:solidFill>
                <a:latin typeface="Comic Sans MS" pitchFamily="66" charset="0"/>
                <a:ea typeface="宋体" pitchFamily="2" charset="-122"/>
              </a:defRPr>
            </a:lvl4pPr>
            <a:lvl5pPr algn="ctr" rtl="0" eaLnBrk="0" fontAlgn="base" hangingPunct="0">
              <a:spcBef>
                <a:spcPct val="0"/>
              </a:spcBef>
              <a:spcAft>
                <a:spcPct val="0"/>
              </a:spcAft>
              <a:defRPr sz="4400">
                <a:solidFill>
                  <a:schemeClr val="tx1"/>
                </a:solidFill>
                <a:latin typeface="Comic Sans MS" pitchFamily="66" charset="0"/>
                <a:ea typeface="宋体" pitchFamily="2" charset="-122"/>
              </a:defRPr>
            </a:lvl5pPr>
            <a:lvl6pPr marL="457200" algn="ctr" rtl="0" fontAlgn="base">
              <a:spcBef>
                <a:spcPct val="0"/>
              </a:spcBef>
              <a:spcAft>
                <a:spcPct val="0"/>
              </a:spcAft>
              <a:defRPr sz="4400">
                <a:solidFill>
                  <a:schemeClr val="tx1"/>
                </a:solidFill>
                <a:latin typeface="Comic Sans MS" pitchFamily="66" charset="0"/>
                <a:ea typeface="宋体" pitchFamily="2" charset="-122"/>
              </a:defRPr>
            </a:lvl6pPr>
            <a:lvl7pPr marL="914400" algn="ctr" rtl="0" fontAlgn="base">
              <a:spcBef>
                <a:spcPct val="0"/>
              </a:spcBef>
              <a:spcAft>
                <a:spcPct val="0"/>
              </a:spcAft>
              <a:defRPr sz="4400">
                <a:solidFill>
                  <a:schemeClr val="tx1"/>
                </a:solidFill>
                <a:latin typeface="Comic Sans MS" pitchFamily="66" charset="0"/>
                <a:ea typeface="宋体" pitchFamily="2" charset="-122"/>
              </a:defRPr>
            </a:lvl7pPr>
            <a:lvl8pPr marL="1371600" algn="ctr" rtl="0" fontAlgn="base">
              <a:spcBef>
                <a:spcPct val="0"/>
              </a:spcBef>
              <a:spcAft>
                <a:spcPct val="0"/>
              </a:spcAft>
              <a:defRPr sz="4400">
                <a:solidFill>
                  <a:schemeClr val="tx1"/>
                </a:solidFill>
                <a:latin typeface="Comic Sans MS" pitchFamily="66" charset="0"/>
                <a:ea typeface="宋体" pitchFamily="2" charset="-122"/>
              </a:defRPr>
            </a:lvl8pPr>
            <a:lvl9pPr marL="1828800" algn="ctr" rtl="0" fontAlgn="base">
              <a:spcBef>
                <a:spcPct val="0"/>
              </a:spcBef>
              <a:spcAft>
                <a:spcPct val="0"/>
              </a:spcAft>
              <a:defRPr sz="4400">
                <a:solidFill>
                  <a:schemeClr val="tx1"/>
                </a:solidFill>
                <a:latin typeface="Comic Sans MS" pitchFamily="66" charset="0"/>
                <a:ea typeface="宋体" pitchFamily="2" charset="-122"/>
              </a:defRPr>
            </a:lvl9pPr>
          </a:lstStyle>
          <a:p>
            <a:pPr>
              <a:defRPr/>
            </a:pPr>
            <a:r>
              <a:rPr lang="zh-CN" altLang="en-US" sz="4000" b="1" kern="0" dirty="0">
                <a:solidFill>
                  <a:schemeClr val="tx1">
                    <a:lumMod val="95000"/>
                    <a:lumOff val="5000"/>
                  </a:schemeClr>
                </a:solidFill>
                <a:ea typeface="楷体_GB2312" pitchFamily="49" charset="-122"/>
              </a:rPr>
              <a:t>叶酸（蝶酰谷氨酸，</a:t>
            </a:r>
            <a:r>
              <a:rPr lang="en-US" altLang="zh-CN" sz="4000" b="1" kern="0" dirty="0">
                <a:solidFill>
                  <a:schemeClr val="tx1">
                    <a:lumMod val="95000"/>
                    <a:lumOff val="5000"/>
                  </a:schemeClr>
                </a:solidFill>
                <a:ea typeface="楷体_GB2312" pitchFamily="49" charset="-122"/>
              </a:rPr>
              <a:t>folic acid)</a:t>
            </a:r>
          </a:p>
        </p:txBody>
      </p:sp>
      <p:cxnSp>
        <p:nvCxnSpPr>
          <p:cNvPr id="22" name="直接连接符 21">
            <a:extLst>
              <a:ext uri="{FF2B5EF4-FFF2-40B4-BE49-F238E27FC236}">
                <a16:creationId xmlns:a16="http://schemas.microsoft.com/office/drawing/2014/main" id="{E7A8F28C-062F-4D05-B87C-8FFF417C210C}"/>
              </a:ext>
            </a:extLst>
          </p:cNvPr>
          <p:cNvCxnSpPr/>
          <p:nvPr/>
        </p:nvCxnSpPr>
        <p:spPr>
          <a:xfrm>
            <a:off x="5951538" y="2711451"/>
            <a:ext cx="0" cy="2392363"/>
          </a:xfrm>
          <a:prstGeom prst="line">
            <a:avLst/>
          </a:prstGeom>
          <a:ln w="38100">
            <a:solidFill>
              <a:srgbClr val="7030A0"/>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29EAA522-F13E-4AF5-BD5F-493244B6C6B5}"/>
              </a:ext>
            </a:extLst>
          </p:cNvPr>
          <p:cNvCxnSpPr/>
          <p:nvPr/>
        </p:nvCxnSpPr>
        <p:spPr>
          <a:xfrm>
            <a:off x="8553450" y="2711451"/>
            <a:ext cx="0" cy="2392363"/>
          </a:xfrm>
          <a:prstGeom prst="line">
            <a:avLst/>
          </a:prstGeom>
          <a:ln w="38100">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25" name="左大括号 24">
            <a:extLst>
              <a:ext uri="{FF2B5EF4-FFF2-40B4-BE49-F238E27FC236}">
                <a16:creationId xmlns:a16="http://schemas.microsoft.com/office/drawing/2014/main" id="{E4A6B099-398F-426E-942A-D5D470B6DD59}"/>
              </a:ext>
            </a:extLst>
          </p:cNvPr>
          <p:cNvSpPr/>
          <p:nvPr/>
        </p:nvSpPr>
        <p:spPr>
          <a:xfrm rot="5400000">
            <a:off x="4987925" y="-1073150"/>
            <a:ext cx="419100" cy="6711950"/>
          </a:xfrm>
          <a:prstGeom prst="leftBrac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26" name="Text Box 4">
            <a:extLst>
              <a:ext uri="{FF2B5EF4-FFF2-40B4-BE49-F238E27FC236}">
                <a16:creationId xmlns:a16="http://schemas.microsoft.com/office/drawing/2014/main" id="{EF872CB3-3F4F-4772-8DE7-3A7901B5231F}"/>
              </a:ext>
            </a:extLst>
          </p:cNvPr>
          <p:cNvSpPr txBox="1">
            <a:spLocks noChangeArrowheads="1"/>
          </p:cNvSpPr>
          <p:nvPr/>
        </p:nvSpPr>
        <p:spPr bwMode="auto">
          <a:xfrm>
            <a:off x="4384675" y="1563688"/>
            <a:ext cx="1682750" cy="584200"/>
          </a:xfrm>
          <a:prstGeom prst="rect">
            <a:avLst/>
          </a:prstGeom>
          <a:noFill/>
          <a:ln w="9525">
            <a:noFill/>
            <a:miter lim="800000"/>
            <a:headEnd/>
            <a:tailEnd/>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defRPr/>
            </a:pPr>
            <a:r>
              <a:rPr kumimoji="0" lang="zh-CN" altLang="en-US" dirty="0">
                <a:solidFill>
                  <a:schemeClr val="tx1">
                    <a:lumMod val="95000"/>
                    <a:lumOff val="5000"/>
                  </a:schemeClr>
                </a:solidFill>
                <a:latin typeface="微软雅黑" panose="020B0503020204020204" pitchFamily="34" charset="-122"/>
                <a:ea typeface="微软雅黑" panose="020B0503020204020204" pitchFamily="34" charset="-122"/>
              </a:rPr>
              <a:t>蝶酸</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36FF52DD-F0DE-45C0-9AF6-8E5D3ACA0B97}"/>
              </a:ext>
            </a:extLst>
          </p:cNvPr>
          <p:cNvSpPr>
            <a:spLocks noChangeArrowheads="1"/>
          </p:cNvSpPr>
          <p:nvPr/>
        </p:nvSpPr>
        <p:spPr bwMode="auto">
          <a:xfrm>
            <a:off x="2207568" y="260649"/>
            <a:ext cx="8136904" cy="1448923"/>
          </a:xfrm>
          <a:prstGeom prst="rect">
            <a:avLst/>
          </a:prstGeom>
          <a:noFill/>
          <a:ln>
            <a:noFill/>
          </a:ln>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indent="625475">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40000"/>
              </a:lnSpc>
              <a:spcBef>
                <a:spcPct val="50000"/>
              </a:spcBef>
              <a:buClr>
                <a:srgbClr val="000066"/>
              </a:buClr>
              <a:defRPr/>
            </a:pPr>
            <a:r>
              <a:rPr kumimoji="1" lang="en-US" altLang="zh-CN" sz="2800" dirty="0">
                <a:latin typeface="微软雅黑" panose="020B0503020204020204" pitchFamily="34" charset="-122"/>
                <a:ea typeface="微软雅黑" panose="020B0503020204020204" pitchFamily="34" charset="-122"/>
              </a:rPr>
              <a:t> </a:t>
            </a:r>
            <a:r>
              <a:rPr kumimoji="1" lang="zh-CN" altLang="en-US" sz="2800" dirty="0">
                <a:solidFill>
                  <a:srgbClr val="0000CC"/>
                </a:solidFill>
                <a:latin typeface="微软雅黑" panose="020B0503020204020204" pitchFamily="34" charset="-122"/>
                <a:ea typeface="微软雅黑" panose="020B0503020204020204" pitchFamily="34" charset="-122"/>
              </a:rPr>
              <a:t>磺胺类药物</a:t>
            </a:r>
            <a:r>
              <a:rPr kumimoji="1" lang="zh-CN" altLang="en-US" sz="2800" dirty="0">
                <a:latin typeface="微软雅黑" panose="020B0503020204020204" pitchFamily="34" charset="-122"/>
                <a:ea typeface="微软雅黑" panose="020B0503020204020204" pitchFamily="34" charset="-122"/>
              </a:rPr>
              <a:t>与对氨基苯甲酸竞争</a:t>
            </a:r>
            <a:r>
              <a:rPr kumimoji="1" lang="zh-CN" altLang="en-US" sz="2800" dirty="0">
                <a:solidFill>
                  <a:srgbClr val="0000CC"/>
                </a:solidFill>
                <a:latin typeface="微软雅黑" panose="020B0503020204020204" pitchFamily="34" charset="-122"/>
                <a:ea typeface="微软雅黑" panose="020B0503020204020204" pitchFamily="34" charset="-122"/>
              </a:rPr>
              <a:t>二氢蝶酸合酶</a:t>
            </a:r>
            <a:endParaRPr kumimoji="1" lang="en-US" altLang="zh-CN" sz="2800" dirty="0">
              <a:solidFill>
                <a:srgbClr val="0000CC"/>
              </a:solidFill>
              <a:latin typeface="微软雅黑" panose="020B0503020204020204" pitchFamily="34" charset="-122"/>
              <a:ea typeface="微软雅黑" panose="020B0503020204020204" pitchFamily="34" charset="-122"/>
            </a:endParaRPr>
          </a:p>
          <a:p>
            <a:pPr eaLnBrk="1" hangingPunct="1">
              <a:lnSpc>
                <a:spcPct val="140000"/>
              </a:lnSpc>
              <a:spcBef>
                <a:spcPct val="50000"/>
              </a:spcBef>
              <a:buClr>
                <a:srgbClr val="000066"/>
              </a:buClr>
              <a:defRPr/>
            </a:pPr>
            <a:r>
              <a:rPr lang="zh-CN" altLang="en-US" sz="2800" dirty="0">
                <a:latin typeface="微软雅黑" panose="020B0503020204020204" pitchFamily="34" charset="-122"/>
                <a:ea typeface="微软雅黑" panose="020B0503020204020204" pitchFamily="34" charset="-122"/>
              </a:rPr>
              <a:t> 抗癌药</a:t>
            </a:r>
            <a:r>
              <a:rPr lang="zh-CN" altLang="en-US" sz="2800" dirty="0">
                <a:solidFill>
                  <a:srgbClr val="7030A0"/>
                </a:solidFill>
                <a:latin typeface="微软雅黑" panose="020B0503020204020204" pitchFamily="34" charset="-122"/>
                <a:ea typeface="微软雅黑" panose="020B0503020204020204" pitchFamily="34" charset="-122"/>
              </a:rPr>
              <a:t>甲氨蝶呤</a:t>
            </a:r>
            <a:r>
              <a:rPr lang="zh-CN" altLang="en-US" sz="2800" dirty="0">
                <a:latin typeface="微软雅黑" panose="020B0503020204020204" pitchFamily="34" charset="-122"/>
                <a:ea typeface="微软雅黑" panose="020B0503020204020204" pitchFamily="34" charset="-122"/>
              </a:rPr>
              <a:t>竞争性抑制</a:t>
            </a:r>
            <a:r>
              <a:rPr lang="zh-CN" altLang="en-US" sz="2800" dirty="0">
                <a:solidFill>
                  <a:srgbClr val="7030A0"/>
                </a:solidFill>
                <a:latin typeface="微软雅黑" panose="020B0503020204020204" pitchFamily="34" charset="-122"/>
                <a:ea typeface="微软雅黑" panose="020B0503020204020204" pitchFamily="34" charset="-122"/>
              </a:rPr>
              <a:t>二氢叶酸还原酶</a:t>
            </a:r>
          </a:p>
        </p:txBody>
      </p:sp>
      <p:sp>
        <p:nvSpPr>
          <p:cNvPr id="302084" name="矩形 4">
            <a:extLst>
              <a:ext uri="{FF2B5EF4-FFF2-40B4-BE49-F238E27FC236}">
                <a16:creationId xmlns:a16="http://schemas.microsoft.com/office/drawing/2014/main" id="{90E50A9C-D9BA-44CA-836B-1E156F3A6AEE}"/>
              </a:ext>
            </a:extLst>
          </p:cNvPr>
          <p:cNvSpPr>
            <a:spLocks noChangeArrowheads="1"/>
          </p:cNvSpPr>
          <p:nvPr/>
        </p:nvSpPr>
        <p:spPr bwMode="auto">
          <a:xfrm>
            <a:off x="4511676" y="4437064"/>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30000"/>
              </a:spcBef>
              <a:buFontTx/>
              <a:buNone/>
            </a:pPr>
            <a:r>
              <a:rPr lang="zh-CN" altLang="en-US" sz="1800" b="1">
                <a:solidFill>
                  <a:srgbClr val="0000CC"/>
                </a:solidFill>
                <a:latin typeface="Arial" panose="020B0604020202020204" pitchFamily="34" charset="0"/>
              </a:rPr>
              <a:t>磺胺类药</a:t>
            </a:r>
          </a:p>
        </p:txBody>
      </p:sp>
      <p:sp>
        <p:nvSpPr>
          <p:cNvPr id="7" name="矩形 6">
            <a:extLst>
              <a:ext uri="{FF2B5EF4-FFF2-40B4-BE49-F238E27FC236}">
                <a16:creationId xmlns:a16="http://schemas.microsoft.com/office/drawing/2014/main" id="{2CA50CEA-CC0E-49B1-9978-3D05F2B55320}"/>
              </a:ext>
            </a:extLst>
          </p:cNvPr>
          <p:cNvSpPr/>
          <p:nvPr/>
        </p:nvSpPr>
        <p:spPr>
          <a:xfrm>
            <a:off x="7032626" y="4437064"/>
            <a:ext cx="1114425" cy="369887"/>
          </a:xfrm>
          <a:prstGeom prst="rect">
            <a:avLst/>
          </a:prstGeom>
        </p:spPr>
        <p:txBody>
          <a:bodyPr wrap="none">
            <a:spAutoFit/>
          </a:bodyPr>
          <a:lstStyle/>
          <a:p>
            <a:pPr>
              <a:defRPr/>
            </a:pPr>
            <a:r>
              <a:rPr lang="zh-CN" altLang="en-US" b="1" dirty="0">
                <a:solidFill>
                  <a:srgbClr val="0000CC"/>
                </a:solidFill>
                <a:latin typeface="+mn-ea"/>
              </a:rPr>
              <a:t>甲氨蝶呤</a:t>
            </a:r>
            <a:endParaRPr lang="zh-CN" altLang="en-US" dirty="0"/>
          </a:p>
        </p:txBody>
      </p:sp>
      <p:pic>
        <p:nvPicPr>
          <p:cNvPr id="3" name="图片 2">
            <a:extLst>
              <a:ext uri="{FF2B5EF4-FFF2-40B4-BE49-F238E27FC236}">
                <a16:creationId xmlns:a16="http://schemas.microsoft.com/office/drawing/2014/main" id="{6CF09AC3-F8F5-AF1F-AD82-4ACDF3E00153}"/>
              </a:ext>
            </a:extLst>
          </p:cNvPr>
          <p:cNvPicPr>
            <a:picLocks noChangeAspect="1"/>
          </p:cNvPicPr>
          <p:nvPr/>
        </p:nvPicPr>
        <p:blipFill>
          <a:blip r:embed="rId3"/>
          <a:stretch>
            <a:fillRect/>
          </a:stretch>
        </p:blipFill>
        <p:spPr>
          <a:xfrm>
            <a:off x="2135560" y="2060849"/>
            <a:ext cx="8114286" cy="3942857"/>
          </a:xfrm>
          <a:prstGeom prst="rect">
            <a:avLst/>
          </a:prstGeom>
        </p:spPr>
      </p:pic>
      <p:cxnSp>
        <p:nvCxnSpPr>
          <p:cNvPr id="4" name="直接连接符 3">
            <a:extLst>
              <a:ext uri="{FF2B5EF4-FFF2-40B4-BE49-F238E27FC236}">
                <a16:creationId xmlns:a16="http://schemas.microsoft.com/office/drawing/2014/main" id="{0D3BE48A-980B-53D4-B356-53960ED2E7C1}"/>
              </a:ext>
            </a:extLst>
          </p:cNvPr>
          <p:cNvCxnSpPr/>
          <p:nvPr/>
        </p:nvCxnSpPr>
        <p:spPr>
          <a:xfrm>
            <a:off x="6312024" y="3861048"/>
            <a:ext cx="165618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a:extLst>
              <a:ext uri="{FF2B5EF4-FFF2-40B4-BE49-F238E27FC236}">
                <a16:creationId xmlns:a16="http://schemas.microsoft.com/office/drawing/2014/main" id="{6BF2BD06-F87E-4731-A490-2F0B9B15DA44}"/>
              </a:ext>
            </a:extLst>
          </p:cNvPr>
          <p:cNvSpPr>
            <a:spLocks noChangeArrowheads="1"/>
          </p:cNvSpPr>
          <p:nvPr/>
        </p:nvSpPr>
        <p:spPr bwMode="auto">
          <a:xfrm>
            <a:off x="2063551" y="1406330"/>
            <a:ext cx="8784976" cy="2022670"/>
          </a:xfrm>
          <a:prstGeom prst="rect">
            <a:avLst/>
          </a:prstGeom>
          <a:noFill/>
          <a:ln>
            <a:noFill/>
          </a:ln>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50000"/>
              </a:spcBef>
              <a:buFontTx/>
              <a:buNone/>
              <a:defRPr/>
            </a:pPr>
            <a:r>
              <a:rPr kumimoji="1" lang="zh-CN" altLang="en-US" dirty="0">
                <a:latin typeface="黑体" panose="02010609060101010101" pitchFamily="49" charset="-122"/>
                <a:ea typeface="黑体" panose="02010609060101010101" pitchFamily="49" charset="-122"/>
              </a:rPr>
              <a:t>通过竞争性抑制机理发挥作用的药物较多， 例：</a:t>
            </a:r>
            <a:r>
              <a:rPr lang="zh-CN" altLang="en-US" sz="2800" dirty="0">
                <a:solidFill>
                  <a:srgbClr val="0000CC"/>
                </a:solidFill>
                <a:latin typeface="黑体" panose="02010609060101010101" pitchFamily="49" charset="-122"/>
                <a:ea typeface="黑体" panose="02010609060101010101" pitchFamily="49" charset="-122"/>
              </a:rPr>
              <a:t>他汀类降脂药</a:t>
            </a:r>
            <a:r>
              <a:rPr lang="zh-CN" altLang="en-US" sz="2800" dirty="0">
                <a:latin typeface="黑体" panose="02010609060101010101" pitchFamily="49" charset="-122"/>
                <a:ea typeface="黑体" panose="02010609060101010101" pitchFamily="49" charset="-122"/>
              </a:rPr>
              <a:t>竞争性抑制</a:t>
            </a:r>
            <a:r>
              <a:rPr lang="en-US" altLang="zh-CN" sz="2800" dirty="0">
                <a:solidFill>
                  <a:srgbClr val="0000CC"/>
                </a:solidFill>
                <a:latin typeface="黑体" panose="02010609060101010101" pitchFamily="49" charset="-122"/>
                <a:ea typeface="黑体" panose="02010609060101010101" pitchFamily="49" charset="-122"/>
              </a:rPr>
              <a:t>HMG-CoA</a:t>
            </a:r>
            <a:r>
              <a:rPr lang="zh-CN" altLang="en-US" sz="2800" dirty="0">
                <a:solidFill>
                  <a:srgbClr val="0000CC"/>
                </a:solidFill>
                <a:latin typeface="黑体" panose="02010609060101010101" pitchFamily="49" charset="-122"/>
                <a:ea typeface="黑体" panose="02010609060101010101" pitchFamily="49" charset="-122"/>
              </a:rPr>
              <a:t>还原酶</a:t>
            </a:r>
            <a:r>
              <a:rPr lang="zh-CN" altLang="en-US" sz="2800" dirty="0">
                <a:latin typeface="黑体" panose="02010609060101010101" pitchFamily="49" charset="-122"/>
                <a:ea typeface="黑体" panose="02010609060101010101" pitchFamily="49" charset="-122"/>
              </a:rPr>
              <a:t>（胆固醇合成过程中的关键酶）</a:t>
            </a:r>
            <a:endParaRPr lang="en-US" altLang="zh-CN" sz="2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C403046A-3CF7-4D34-B3BA-CBBBBAF5B40F}"/>
              </a:ext>
            </a:extLst>
          </p:cNvPr>
          <p:cNvSpPr txBox="1"/>
          <p:nvPr/>
        </p:nvSpPr>
        <p:spPr>
          <a:xfrm>
            <a:off x="2064432" y="4077072"/>
            <a:ext cx="8784095" cy="1082669"/>
          </a:xfrm>
          <a:prstGeom prst="rect">
            <a:avLst/>
          </a:prstGeom>
          <a:noFill/>
        </p:spPr>
        <p:txBody>
          <a:bodyPr wrap="square">
            <a:spAutoFit/>
          </a:bodyPr>
          <a:lstStyle/>
          <a:p>
            <a:pPr>
              <a:lnSpc>
                <a:spcPct val="120000"/>
              </a:lnSpc>
            </a:pPr>
            <a:r>
              <a:rPr lang="zh-CN" altLang="en-US" sz="2800" dirty="0">
                <a:solidFill>
                  <a:srgbClr val="0000CC"/>
                </a:solidFill>
                <a:latin typeface="微软雅黑" panose="020B0503020204020204" pitchFamily="34" charset="-122"/>
                <a:ea typeface="微软雅黑" panose="020B0503020204020204" pitchFamily="34" charset="-122"/>
              </a:rPr>
              <a:t>药物作为竞争性抑制剂起作用时，必须有足够的浓度，以达到效果，比如抑菌的效果。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6178" name="图片 2">
            <a:extLst>
              <a:ext uri="{FF2B5EF4-FFF2-40B4-BE49-F238E27FC236}">
                <a16:creationId xmlns:a16="http://schemas.microsoft.com/office/drawing/2014/main" id="{FEEC82AC-E4E6-4728-A644-3915DF95D7A0}"/>
              </a:ext>
            </a:extLst>
          </p:cNvPr>
          <p:cNvPicPr>
            <a:picLocks noChangeAspect="1"/>
          </p:cNvPicPr>
          <p:nvPr/>
        </p:nvPicPr>
        <p:blipFill rotWithShape="1">
          <a:blip r:embed="rId3">
            <a:extLst>
              <a:ext uri="{28A0092B-C50C-407E-A947-70E740481C1C}">
                <a14:useLocalDpi xmlns:a14="http://schemas.microsoft.com/office/drawing/2010/main" val="0"/>
              </a:ext>
            </a:extLst>
          </a:blip>
          <a:srcRect b="81738"/>
          <a:stretch/>
        </p:blipFill>
        <p:spPr bwMode="auto">
          <a:xfrm>
            <a:off x="1535078" y="366130"/>
            <a:ext cx="6793170" cy="1118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6179" name="矩形 1">
            <a:extLst>
              <a:ext uri="{FF2B5EF4-FFF2-40B4-BE49-F238E27FC236}">
                <a16:creationId xmlns:a16="http://schemas.microsoft.com/office/drawing/2014/main" id="{972558EA-79E1-4B83-926C-FCE923F5C7AF}"/>
              </a:ext>
            </a:extLst>
          </p:cNvPr>
          <p:cNvSpPr>
            <a:spLocks noChangeArrowheads="1"/>
          </p:cNvSpPr>
          <p:nvPr/>
        </p:nvSpPr>
        <p:spPr bwMode="auto">
          <a:xfrm>
            <a:off x="6384032" y="1228095"/>
            <a:ext cx="5390424" cy="522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dirty="0">
                <a:solidFill>
                  <a:srgbClr val="0000CC"/>
                </a:solidFill>
                <a:latin typeface="微软雅黑" panose="020B0503020204020204" pitchFamily="34" charset="-122"/>
                <a:ea typeface="微软雅黑" panose="020B0503020204020204" pitchFamily="34" charset="-122"/>
              </a:rPr>
              <a:t>一边透析，一边喝酒，并配合药物治疗</a:t>
            </a:r>
            <a:endParaRPr lang="en-US" altLang="zh-CN" sz="2400" dirty="0">
              <a:latin typeface="微软雅黑" panose="020B0503020204020204" pitchFamily="34" charset="-122"/>
              <a:ea typeface="微软雅黑" panose="020B0503020204020204" pitchFamily="34" charset="-122"/>
            </a:endParaRPr>
          </a:p>
          <a:p>
            <a:pPr>
              <a:spcBef>
                <a:spcPct val="0"/>
              </a:spcBef>
              <a:buFontTx/>
              <a:buNone/>
            </a:pPr>
            <a:endParaRPr lang="en-US" altLang="zh-CN" sz="2400" dirty="0">
              <a:latin typeface="微软雅黑" panose="020B0503020204020204" pitchFamily="34" charset="-122"/>
              <a:ea typeface="微软雅黑" panose="020B0503020204020204" pitchFamily="34" charset="-122"/>
            </a:endParaRPr>
          </a:p>
          <a:p>
            <a:pPr>
              <a:lnSpc>
                <a:spcPct val="120000"/>
              </a:lnSpc>
              <a:spcBef>
                <a:spcPct val="0"/>
              </a:spcBef>
              <a:buFontTx/>
              <a:buNone/>
            </a:pPr>
            <a:r>
              <a:rPr lang="zh-CN" altLang="en-US" sz="2400" dirty="0">
                <a:latin typeface="微软雅黑" panose="020B0503020204020204" pitchFamily="34" charset="-122"/>
                <a:ea typeface="微软雅黑" panose="020B0503020204020204" pitchFamily="34" charset="-122"/>
              </a:rPr>
              <a:t>第一个半小时，医生们让傅先生喝了</a:t>
            </a:r>
            <a:r>
              <a:rPr lang="en-US" altLang="zh-CN" sz="2400" dirty="0">
                <a:latin typeface="微软雅黑" panose="020B0503020204020204" pitchFamily="34" charset="-122"/>
                <a:ea typeface="微软雅黑" panose="020B0503020204020204" pitchFamily="34" charset="-122"/>
              </a:rPr>
              <a:t>100ml</a:t>
            </a:r>
            <a:r>
              <a:rPr lang="zh-CN" altLang="en-US" sz="2400" dirty="0">
                <a:latin typeface="微软雅黑" panose="020B0503020204020204" pitchFamily="34" charset="-122"/>
                <a:ea typeface="微软雅黑" panose="020B0503020204020204" pitchFamily="34" charset="-122"/>
              </a:rPr>
              <a:t>高度白酒。此后每小时喝一次，做透析时，每小时喝</a:t>
            </a:r>
            <a:r>
              <a:rPr lang="en-US" altLang="zh-CN" sz="2400" dirty="0">
                <a:latin typeface="微软雅黑" panose="020B0503020204020204" pitchFamily="34" charset="-122"/>
                <a:ea typeface="微软雅黑" panose="020B0503020204020204" pitchFamily="34" charset="-122"/>
              </a:rPr>
              <a:t>35ml</a:t>
            </a:r>
            <a:r>
              <a:rPr lang="zh-CN" altLang="en-US" sz="2400" dirty="0">
                <a:latin typeface="微软雅黑" panose="020B0503020204020204" pitchFamily="34" charset="-122"/>
                <a:ea typeface="微软雅黑" panose="020B0503020204020204" pitchFamily="34" charset="-122"/>
              </a:rPr>
              <a:t>白酒，平时每小时喝</a:t>
            </a:r>
            <a:r>
              <a:rPr lang="en-US" altLang="zh-CN" sz="2400" dirty="0">
                <a:latin typeface="微软雅黑" panose="020B0503020204020204" pitchFamily="34" charset="-122"/>
                <a:ea typeface="微软雅黑" panose="020B0503020204020204" pitchFamily="34" charset="-122"/>
              </a:rPr>
              <a:t>15-20ml</a:t>
            </a:r>
            <a:r>
              <a:rPr lang="zh-CN" altLang="en-US" sz="2400" dirty="0">
                <a:latin typeface="微软雅黑" panose="020B0503020204020204" pitchFamily="34" charset="-122"/>
                <a:ea typeface="微软雅黑" panose="020B0503020204020204" pitchFamily="34" charset="-122"/>
              </a:rPr>
              <a:t>白酒。</a:t>
            </a:r>
            <a:endParaRPr lang="en-US" altLang="zh-CN" sz="2400" dirty="0">
              <a:latin typeface="微软雅黑" panose="020B0503020204020204" pitchFamily="34" charset="-122"/>
              <a:ea typeface="微软雅黑" panose="020B0503020204020204" pitchFamily="34" charset="-122"/>
            </a:endParaRPr>
          </a:p>
          <a:p>
            <a:pPr>
              <a:lnSpc>
                <a:spcPct val="120000"/>
              </a:lnSpc>
              <a:spcBef>
                <a:spcPct val="0"/>
              </a:spcBef>
              <a:buFontTx/>
              <a:buNone/>
            </a:pPr>
            <a:r>
              <a:rPr lang="zh-CN" altLang="en-US" sz="2400" dirty="0">
                <a:latin typeface="微软雅黑" panose="020B0503020204020204" pitchFamily="34" charset="-122"/>
                <a:ea typeface="微软雅黑" panose="020B0503020204020204" pitchFamily="34" charset="-122"/>
              </a:rPr>
              <a:t>因为医生们都是头一次碰到，大家只能通过</a:t>
            </a:r>
            <a:r>
              <a:rPr lang="en-US" altLang="zh-CN" sz="2400" dirty="0">
                <a:latin typeface="微软雅黑" panose="020B0503020204020204" pitchFamily="34" charset="-122"/>
                <a:ea typeface="微软雅黑" panose="020B0503020204020204" pitchFamily="34" charset="-122"/>
              </a:rPr>
              <a:t>24</a:t>
            </a:r>
            <a:r>
              <a:rPr lang="zh-CN" altLang="en-US" sz="2400" dirty="0">
                <a:latin typeface="微软雅黑" panose="020B0503020204020204" pitchFamily="34" charset="-122"/>
                <a:ea typeface="微软雅黑" panose="020B0503020204020204" pitchFamily="34" charset="-122"/>
              </a:rPr>
              <a:t>小时不间断观察傅先生身体情况、反复调节用量、</a:t>
            </a:r>
            <a:r>
              <a:rPr lang="zh-CN" altLang="en-US" sz="2400" dirty="0">
                <a:solidFill>
                  <a:srgbClr val="0000CC"/>
                </a:solidFill>
                <a:latin typeface="微软雅黑" panose="020B0503020204020204" pitchFamily="34" charset="-122"/>
                <a:ea typeface="微软雅黑" panose="020B0503020204020204" pitchFamily="34" charset="-122"/>
              </a:rPr>
              <a:t>监测血乙醇水平</a:t>
            </a:r>
            <a:r>
              <a:rPr lang="zh-CN" altLang="en-US" sz="2400" dirty="0">
                <a:latin typeface="微软雅黑" panose="020B0503020204020204" pitchFamily="34" charset="-122"/>
                <a:ea typeface="微软雅黑" panose="020B0503020204020204" pitchFamily="34" charset="-122"/>
              </a:rPr>
              <a:t>，来判断治疗的效果。</a:t>
            </a:r>
          </a:p>
          <a:p>
            <a:pPr>
              <a:lnSpc>
                <a:spcPct val="120000"/>
              </a:lnSpc>
              <a:spcBef>
                <a:spcPct val="0"/>
              </a:spcBef>
              <a:buFontTx/>
              <a:buNone/>
            </a:pPr>
            <a:r>
              <a:rPr lang="zh-CN" altLang="en-US" sz="2400" dirty="0">
                <a:latin typeface="微软雅黑" panose="020B0503020204020204" pitchFamily="34" charset="-122"/>
                <a:ea typeface="微软雅黑" panose="020B0503020204020204" pitchFamily="34" charset="-122"/>
              </a:rPr>
              <a:t>最终，经过</a:t>
            </a:r>
            <a:r>
              <a:rPr lang="en-US" altLang="zh-CN" sz="2400" b="1" dirty="0">
                <a:latin typeface="微软雅黑" panose="020B0503020204020204" pitchFamily="34" charset="-122"/>
                <a:ea typeface="微软雅黑" panose="020B0503020204020204" pitchFamily="34" charset="-122"/>
              </a:rPr>
              <a:t>6</a:t>
            </a:r>
            <a:r>
              <a:rPr lang="zh-CN" altLang="en-US" sz="2400" b="1" dirty="0">
                <a:latin typeface="微软雅黑" panose="020B0503020204020204" pitchFamily="34" charset="-122"/>
                <a:ea typeface="微软雅黑" panose="020B0503020204020204" pitchFamily="34" charset="-122"/>
              </a:rPr>
              <a:t>天的治疗</a:t>
            </a:r>
            <a:r>
              <a:rPr lang="zh-CN" altLang="en-US" sz="2400" dirty="0">
                <a:latin typeface="微软雅黑" panose="020B0503020204020204" pitchFamily="34" charset="-122"/>
                <a:ea typeface="微软雅黑" panose="020B0503020204020204" pitchFamily="34" charset="-122"/>
              </a:rPr>
              <a:t>，傅先生在</a:t>
            </a:r>
            <a:r>
              <a:rPr lang="zh-CN" altLang="en-US" sz="2400" b="1" dirty="0">
                <a:latin typeface="微软雅黑" panose="020B0503020204020204" pitchFamily="34" charset="-122"/>
                <a:ea typeface="微软雅黑" panose="020B0503020204020204" pitchFamily="34" charset="-122"/>
              </a:rPr>
              <a:t>喝了将近两斤白酒</a:t>
            </a:r>
            <a:r>
              <a:rPr lang="zh-CN" altLang="en-US" sz="2400" dirty="0">
                <a:latin typeface="微软雅黑" panose="020B0503020204020204" pitchFamily="34" charset="-122"/>
                <a:ea typeface="微软雅黑" panose="020B0503020204020204" pitchFamily="34" charset="-122"/>
              </a:rPr>
              <a:t>后，出院了。</a:t>
            </a:r>
          </a:p>
        </p:txBody>
      </p:sp>
      <p:pic>
        <p:nvPicPr>
          <p:cNvPr id="4" name="图片 3">
            <a:extLst>
              <a:ext uri="{FF2B5EF4-FFF2-40B4-BE49-F238E27FC236}">
                <a16:creationId xmlns:a16="http://schemas.microsoft.com/office/drawing/2014/main" id="{7F92850C-6413-69DB-2906-E69DA5764C48}"/>
              </a:ext>
            </a:extLst>
          </p:cNvPr>
          <p:cNvPicPr>
            <a:picLocks noChangeAspect="1"/>
          </p:cNvPicPr>
          <p:nvPr/>
        </p:nvPicPr>
        <p:blipFill>
          <a:blip r:embed="rId4"/>
          <a:stretch>
            <a:fillRect/>
          </a:stretch>
        </p:blipFill>
        <p:spPr>
          <a:xfrm>
            <a:off x="1055440" y="1716050"/>
            <a:ext cx="4931311" cy="3453874"/>
          </a:xfrm>
          <a:prstGeom prst="rect">
            <a:avLst/>
          </a:prstGeom>
        </p:spPr>
      </p:pic>
      <p:sp>
        <p:nvSpPr>
          <p:cNvPr id="6" name="文本框 5">
            <a:extLst>
              <a:ext uri="{FF2B5EF4-FFF2-40B4-BE49-F238E27FC236}">
                <a16:creationId xmlns:a16="http://schemas.microsoft.com/office/drawing/2014/main" id="{FBE21209-F424-134C-13FC-5DACE4A8972A}"/>
              </a:ext>
            </a:extLst>
          </p:cNvPr>
          <p:cNvSpPr txBox="1"/>
          <p:nvPr/>
        </p:nvSpPr>
        <p:spPr>
          <a:xfrm>
            <a:off x="960166" y="5326638"/>
            <a:ext cx="5026585" cy="1200329"/>
          </a:xfrm>
          <a:prstGeom prst="rect">
            <a:avLst/>
          </a:prstGeom>
          <a:noFill/>
        </p:spPr>
        <p:txBody>
          <a:bodyPr wrap="square">
            <a:spAutoFit/>
          </a:bodyPr>
          <a:lstStyle/>
          <a:p>
            <a:r>
              <a:rPr lang="zh-CN" altLang="en-US" sz="2400" b="1" dirty="0">
                <a:solidFill>
                  <a:srgbClr val="0000CC"/>
                </a:solidFill>
                <a:latin typeface="微软雅黑" panose="020B0503020204020204" pitchFamily="34" charset="-122"/>
                <a:ea typeface="微软雅黑" panose="020B0503020204020204" pitchFamily="34" charset="-122"/>
              </a:rPr>
              <a:t>甲吡唑</a:t>
            </a:r>
            <a:r>
              <a:rPr lang="zh-CN" altLang="en-US" sz="2400" dirty="0">
                <a:solidFill>
                  <a:srgbClr val="0000CC"/>
                </a:solidFill>
                <a:latin typeface="微软雅黑" panose="020B0503020204020204" pitchFamily="34" charset="-122"/>
                <a:ea typeface="微软雅黑" panose="020B0503020204020204" pitchFamily="34" charset="-122"/>
              </a:rPr>
              <a:t>是甲醇中毒的首选解毒剂</a:t>
            </a:r>
            <a:r>
              <a:rPr lang="zh-CN" altLang="en-US" sz="2400" dirty="0">
                <a:latin typeface="微软雅黑" panose="020B0503020204020204" pitchFamily="34" charset="-122"/>
                <a:ea typeface="微软雅黑" panose="020B0503020204020204" pitchFamily="34" charset="-122"/>
              </a:rPr>
              <a:t>，但很少有！  当时缺此药，才让这位患者喝白酒。</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8226" name="标题 1">
            <a:extLst>
              <a:ext uri="{FF2B5EF4-FFF2-40B4-BE49-F238E27FC236}">
                <a16:creationId xmlns:a16="http://schemas.microsoft.com/office/drawing/2014/main" id="{5EB80D17-7387-453B-B359-3F4A2A73EBA9}"/>
              </a:ext>
            </a:extLst>
          </p:cNvPr>
          <p:cNvSpPr>
            <a:spLocks noGrp="1" noChangeArrowheads="1"/>
          </p:cNvSpPr>
          <p:nvPr>
            <p:ph type="title"/>
          </p:nvPr>
        </p:nvSpPr>
        <p:spPr>
          <a:xfrm>
            <a:off x="2681288" y="44451"/>
            <a:ext cx="6870700" cy="949325"/>
          </a:xfrm>
        </p:spPr>
        <p:txBody>
          <a:bodyPr/>
          <a:lstStyle/>
          <a:p>
            <a:r>
              <a:rPr lang="zh-CN" altLang="en-US" sz="4000">
                <a:solidFill>
                  <a:srgbClr val="0000CC"/>
                </a:solidFill>
              </a:rPr>
              <a:t>甲醇中毒后的解毒</a:t>
            </a:r>
          </a:p>
        </p:txBody>
      </p:sp>
      <p:sp>
        <p:nvSpPr>
          <p:cNvPr id="146435" name="内容占位符 2">
            <a:extLst>
              <a:ext uri="{FF2B5EF4-FFF2-40B4-BE49-F238E27FC236}">
                <a16:creationId xmlns:a16="http://schemas.microsoft.com/office/drawing/2014/main" id="{73D14EBA-D0F2-42B3-A83F-83ADA655D8F8}"/>
              </a:ext>
            </a:extLst>
          </p:cNvPr>
          <p:cNvSpPr>
            <a:spLocks noGrp="1"/>
          </p:cNvSpPr>
          <p:nvPr>
            <p:ph idx="1"/>
          </p:nvPr>
        </p:nvSpPr>
        <p:spPr>
          <a:xfrm>
            <a:off x="1055440" y="1376772"/>
            <a:ext cx="10513168" cy="4104456"/>
          </a:xfrm>
        </p:spPr>
        <p:txBody>
          <a:bodyPr/>
          <a:lstStyle/>
          <a:p>
            <a:pPr>
              <a:lnSpc>
                <a:spcPct val="130000"/>
              </a:lnSpc>
              <a:spcBef>
                <a:spcPts val="1200"/>
              </a:spcBef>
              <a:defRPr/>
            </a:pPr>
            <a:r>
              <a:rPr lang="zh-CN" altLang="en-US" sz="2400" b="0" dirty="0">
                <a:latin typeface="微软雅黑" panose="020B0503020204020204" pitchFamily="34" charset="-122"/>
                <a:ea typeface="微软雅黑" panose="020B0503020204020204" pitchFamily="34" charset="-122"/>
              </a:rPr>
              <a:t>甲醇中毒可致头痛、恶心、呕吐、视线模糊。严重者会</a:t>
            </a:r>
            <a:r>
              <a:rPr lang="zh-CN" altLang="en-US" sz="2400" b="0" dirty="0">
                <a:solidFill>
                  <a:srgbClr val="0000CC"/>
                </a:solidFill>
                <a:latin typeface="微软雅黑" panose="020B0503020204020204" pitchFamily="34" charset="-122"/>
                <a:ea typeface="微软雅黑" panose="020B0503020204020204" pitchFamily="34" charset="-122"/>
              </a:rPr>
              <a:t>失明</a:t>
            </a:r>
            <a:r>
              <a:rPr lang="zh-CN" altLang="en-US" sz="2400" b="0" dirty="0">
                <a:latin typeface="微软雅黑" panose="020B0503020204020204" pitchFamily="34" charset="-122"/>
                <a:ea typeface="微软雅黑" panose="020B0503020204020204" pitchFamily="34" charset="-122"/>
              </a:rPr>
              <a:t>，乃至丧命。</a:t>
            </a:r>
            <a:endParaRPr lang="en-US" altLang="zh-CN" sz="2400" b="0" dirty="0">
              <a:latin typeface="微软雅黑" panose="020B0503020204020204" pitchFamily="34" charset="-122"/>
              <a:ea typeface="微软雅黑" panose="020B0503020204020204" pitchFamily="34" charset="-122"/>
            </a:endParaRPr>
          </a:p>
          <a:p>
            <a:pPr>
              <a:lnSpc>
                <a:spcPct val="130000"/>
              </a:lnSpc>
              <a:spcBef>
                <a:spcPts val="1200"/>
              </a:spcBef>
              <a:defRPr/>
            </a:pPr>
            <a:r>
              <a:rPr lang="zh-CN" altLang="en-US" sz="2400" b="0" dirty="0">
                <a:solidFill>
                  <a:srgbClr val="0000FF"/>
                </a:solidFill>
                <a:latin typeface="微软雅黑" panose="020B0503020204020204" pitchFamily="34" charset="-122"/>
                <a:ea typeface="微软雅黑" panose="020B0503020204020204" pitchFamily="34" charset="-122"/>
              </a:rPr>
              <a:t>甲醇本身无毒（</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可经肾脏随尿排出和经肺部呼出）</a:t>
            </a:r>
            <a:r>
              <a:rPr lang="zh-CN" altLang="en-US" sz="2400" b="0" dirty="0">
                <a:latin typeface="微软雅黑" panose="020B0503020204020204" pitchFamily="34" charset="-122"/>
                <a:ea typeface="微软雅黑" panose="020B0503020204020204" pitchFamily="34" charset="-122"/>
              </a:rPr>
              <a:t>，在</a:t>
            </a:r>
            <a:r>
              <a:rPr lang="zh-CN" altLang="en-US" sz="2400" b="0" dirty="0">
                <a:solidFill>
                  <a:srgbClr val="0000CC"/>
                </a:solidFill>
                <a:latin typeface="微软雅黑" panose="020B0503020204020204" pitchFamily="34" charset="-122"/>
                <a:ea typeface="微软雅黑" panose="020B0503020204020204" pitchFamily="34" charset="-122"/>
              </a:rPr>
              <a:t>乙醇脱氢酶</a:t>
            </a:r>
            <a:r>
              <a:rPr lang="zh-CN" altLang="en-US" sz="2400" b="0" dirty="0">
                <a:latin typeface="微软雅黑" panose="020B0503020204020204" pitchFamily="34" charset="-122"/>
                <a:ea typeface="微软雅黑" panose="020B0503020204020204" pitchFamily="34" charset="-122"/>
              </a:rPr>
              <a:t>作用下转变为</a:t>
            </a:r>
            <a:r>
              <a:rPr lang="zh-CN" altLang="en-US" sz="2400" b="0" dirty="0">
                <a:solidFill>
                  <a:srgbClr val="0000CC"/>
                </a:solidFill>
                <a:latin typeface="微软雅黑" panose="020B0503020204020204" pitchFamily="34" charset="-122"/>
                <a:ea typeface="微软雅黑" panose="020B0503020204020204" pitchFamily="34" charset="-122"/>
              </a:rPr>
              <a:t>甲醛</a:t>
            </a:r>
            <a:r>
              <a:rPr lang="zh-CN" altLang="en-US" sz="2400" b="0" dirty="0">
                <a:latin typeface="微软雅黑" panose="020B0503020204020204" pitchFamily="34" charset="-122"/>
                <a:ea typeface="微软雅黑" panose="020B0503020204020204" pitchFamily="34" charset="-122"/>
              </a:rPr>
              <a:t>，进一步氧化成</a:t>
            </a:r>
            <a:r>
              <a:rPr lang="zh-CN" altLang="en-US" sz="2400" b="0" dirty="0">
                <a:solidFill>
                  <a:srgbClr val="0000CC"/>
                </a:solidFill>
                <a:latin typeface="微软雅黑" panose="020B0503020204020204" pitchFamily="34" charset="-122"/>
                <a:ea typeface="微软雅黑" panose="020B0503020204020204" pitchFamily="34" charset="-122"/>
              </a:rPr>
              <a:t>甲酸</a:t>
            </a:r>
            <a:r>
              <a:rPr lang="zh-CN" altLang="en-US" sz="2400" b="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甲醛和甲酸损伤组织细胞</a:t>
            </a:r>
            <a:r>
              <a:rPr lang="zh-CN" altLang="en-US" sz="2400" b="0" dirty="0">
                <a:latin typeface="微软雅黑" panose="020B0503020204020204" pitchFamily="34" charset="-122"/>
                <a:ea typeface="微软雅黑" panose="020B0503020204020204" pitchFamily="34" charset="-122"/>
              </a:rPr>
              <a:t>。</a:t>
            </a:r>
            <a:endParaRPr lang="en-US" altLang="zh-CN" sz="2400" b="0" dirty="0">
              <a:latin typeface="微软雅黑" panose="020B0503020204020204" pitchFamily="34" charset="-122"/>
              <a:ea typeface="微软雅黑" panose="020B0503020204020204" pitchFamily="34" charset="-122"/>
            </a:endParaRPr>
          </a:p>
          <a:p>
            <a:pPr>
              <a:lnSpc>
                <a:spcPct val="130000"/>
              </a:lnSpc>
              <a:spcBef>
                <a:spcPts val="1200"/>
              </a:spcBef>
              <a:defRPr/>
            </a:pPr>
            <a:endParaRPr lang="en-US" altLang="zh-CN" sz="2800" b="0" dirty="0">
              <a:latin typeface="微软雅黑" panose="020B0503020204020204" pitchFamily="34" charset="-122"/>
              <a:ea typeface="微软雅黑" panose="020B0503020204020204" pitchFamily="34" charset="-122"/>
            </a:endParaRPr>
          </a:p>
          <a:p>
            <a:pPr>
              <a:lnSpc>
                <a:spcPct val="130000"/>
              </a:lnSpc>
              <a:spcBef>
                <a:spcPts val="1200"/>
              </a:spcBef>
              <a:defRPr/>
            </a:pPr>
            <a:r>
              <a:rPr lang="zh-CN" altLang="en-US" sz="2600" b="0" dirty="0">
                <a:solidFill>
                  <a:srgbClr val="C00000"/>
                </a:solidFill>
                <a:latin typeface="微软雅黑" panose="020B0503020204020204" pitchFamily="34" charset="-122"/>
                <a:ea typeface="微软雅黑" panose="020B0503020204020204" pitchFamily="34" charset="-122"/>
              </a:rPr>
              <a:t>治疗：</a:t>
            </a:r>
            <a:r>
              <a:rPr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催吐、洗胃、导泻、纠正酸中毒、透析等。</a:t>
            </a:r>
            <a:endParaRPr lang="en-US" altLang="zh-CN" sz="2600" b="0" dirty="0">
              <a:solidFill>
                <a:schemeClr val="tx1">
                  <a:lumMod val="95000"/>
                  <a:lumOff val="5000"/>
                </a:schemeClr>
              </a:solidFill>
              <a:latin typeface="微软雅黑" panose="020B0503020204020204" pitchFamily="34" charset="-122"/>
              <a:ea typeface="微软雅黑" panose="020B0503020204020204" pitchFamily="34" charset="-122"/>
            </a:endParaRPr>
          </a:p>
          <a:p>
            <a:pPr marL="349250" indent="-349250">
              <a:lnSpc>
                <a:spcPct val="130000"/>
              </a:lnSpc>
              <a:spcBef>
                <a:spcPts val="1200"/>
              </a:spcBef>
              <a:buNone/>
              <a:defRPr/>
            </a:pPr>
            <a:r>
              <a:rPr lang="zh-CN" altLang="en-US" sz="2600" b="0" dirty="0">
                <a:solidFill>
                  <a:srgbClr val="C00000"/>
                </a:solidFill>
                <a:latin typeface="微软雅黑" panose="020B0503020204020204" pitchFamily="34" charset="-122"/>
                <a:ea typeface="微软雅黑" panose="020B0503020204020204" pitchFamily="34" charset="-122"/>
              </a:rPr>
              <a:t>    缓慢静脉滴注乙醇</a:t>
            </a:r>
            <a:r>
              <a:rPr lang="zh-CN" altLang="en-US" sz="2600" b="0" dirty="0">
                <a:latin typeface="微软雅黑" panose="020B0503020204020204" pitchFamily="34" charset="-122"/>
                <a:ea typeface="微软雅黑" panose="020B0503020204020204" pitchFamily="34" charset="-122"/>
              </a:rPr>
              <a:t>（需严格控制血液中乙醇浓度），</a:t>
            </a:r>
            <a:r>
              <a:rPr lang="zh-CN" altLang="en-US" sz="2600" b="0" dirty="0">
                <a:solidFill>
                  <a:srgbClr val="0000CC"/>
                </a:solidFill>
                <a:latin typeface="微软雅黑" panose="020B0503020204020204" pitchFamily="34" charset="-122"/>
                <a:ea typeface="微软雅黑" panose="020B0503020204020204" pitchFamily="34" charset="-122"/>
              </a:rPr>
              <a:t>乙醇</a:t>
            </a:r>
            <a:r>
              <a:rPr lang="zh-CN" altLang="en-US" sz="2600" b="0" dirty="0">
                <a:latin typeface="微软雅黑" panose="020B0503020204020204" pitchFamily="34" charset="-122"/>
                <a:ea typeface="微软雅黑" panose="020B0503020204020204" pitchFamily="34" charset="-122"/>
              </a:rPr>
              <a:t>与</a:t>
            </a:r>
            <a:r>
              <a:rPr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甲醇</a:t>
            </a:r>
            <a:r>
              <a:rPr lang="zh-CN" altLang="en-US" sz="2600" b="0" dirty="0">
                <a:solidFill>
                  <a:srgbClr val="C00000"/>
                </a:solidFill>
                <a:latin typeface="微软雅黑" panose="020B0503020204020204" pitchFamily="34" charset="-122"/>
                <a:ea typeface="微软雅黑" panose="020B0503020204020204" pitchFamily="34" charset="-122"/>
              </a:rPr>
              <a:t>竞争乙醇脱氢酶</a:t>
            </a:r>
            <a:r>
              <a:rPr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（乙醇对醇脱氢酶的亲和力比甲醇大</a:t>
            </a:r>
            <a:r>
              <a:rPr lang="en-US" altLang="zh-CN" sz="2600" b="0" dirty="0">
                <a:solidFill>
                  <a:schemeClr val="tx1">
                    <a:lumMod val="95000"/>
                    <a:lumOff val="5000"/>
                  </a:schemeClr>
                </a:solidFill>
                <a:latin typeface="微软雅黑" panose="020B0503020204020204" pitchFamily="34" charset="-122"/>
                <a:ea typeface="微软雅黑" panose="020B0503020204020204" pitchFamily="34" charset="-122"/>
              </a:rPr>
              <a:t>20</a:t>
            </a:r>
            <a:r>
              <a:rPr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倍）</a:t>
            </a:r>
            <a:r>
              <a:rPr lang="en-US" altLang="zh-CN" sz="2600" b="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抑制甲醇的转变。</a:t>
            </a:r>
            <a:r>
              <a:rPr lang="zh-CN" altLang="en-US" sz="2600" b="0" dirty="0">
                <a:solidFill>
                  <a:srgbClr val="0000CC"/>
                </a:solidFill>
                <a:latin typeface="微软雅黑" panose="020B0503020204020204" pitchFamily="34" charset="-122"/>
                <a:ea typeface="微软雅黑" panose="020B0503020204020204" pitchFamily="34" charset="-122"/>
              </a:rPr>
              <a:t> </a:t>
            </a:r>
            <a:r>
              <a:rPr lang="en-US" altLang="zh-CN" sz="2600" b="0" dirty="0">
                <a:solidFill>
                  <a:srgbClr val="0000CC"/>
                </a:solidFill>
                <a:latin typeface="微软雅黑" panose="020B0503020204020204" pitchFamily="34" charset="-122"/>
                <a:ea typeface="微软雅黑" panose="020B0503020204020204"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46435">
                                            <p:txEl>
                                              <p:pRg st="3" end="3"/>
                                            </p:txEl>
                                          </p:spTgt>
                                        </p:tgtEl>
                                        <p:attrNameLst>
                                          <p:attrName>style.visibility</p:attrName>
                                        </p:attrNameLst>
                                      </p:cBhvr>
                                      <p:to>
                                        <p:strVal val="visible"/>
                                      </p:to>
                                    </p:set>
                                    <p:animEffect transition="in" filter="fade">
                                      <p:cBhvr>
                                        <p:cTn id="7" dur="500"/>
                                        <p:tgtEl>
                                          <p:spTgt spid="146435">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6435">
                                            <p:txEl>
                                              <p:pRg st="4" end="4"/>
                                            </p:txEl>
                                          </p:spTgt>
                                        </p:tgtEl>
                                        <p:attrNameLst>
                                          <p:attrName>style.visibility</p:attrName>
                                        </p:attrNameLst>
                                      </p:cBhvr>
                                      <p:to>
                                        <p:strVal val="visible"/>
                                      </p:to>
                                    </p:set>
                                    <p:animEffect transition="in" filter="fade">
                                      <p:cBhvr>
                                        <p:cTn id="10" dur="500"/>
                                        <p:tgtEl>
                                          <p:spTgt spid="1464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6755" name="Text Box 3">
            <a:extLst>
              <a:ext uri="{FF2B5EF4-FFF2-40B4-BE49-F238E27FC236}">
                <a16:creationId xmlns:a16="http://schemas.microsoft.com/office/drawing/2014/main" id="{DF864EFB-E8D0-4BEC-8241-328DC349E842}"/>
              </a:ext>
            </a:extLst>
          </p:cNvPr>
          <p:cNvSpPr txBox="1">
            <a:spLocks noChangeArrowheads="1"/>
          </p:cNvSpPr>
          <p:nvPr/>
        </p:nvSpPr>
        <p:spPr bwMode="auto">
          <a:xfrm>
            <a:off x="1154671" y="1262175"/>
            <a:ext cx="374449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Clr>
                <a:schemeClr val="tx1"/>
              </a:buClr>
              <a:buFont typeface="Arial" panose="020B0604020202020204" pitchFamily="34" charset="0"/>
              <a:buChar char="•"/>
            </a:pPr>
            <a:r>
              <a:rPr kumimoji="1" lang="zh-CN" altLang="en-US" sz="2800" dirty="0">
                <a:latin typeface="Times New Roman" panose="02020603050405020304" pitchFamily="18" charset="0"/>
                <a:ea typeface="黑体" panose="02010609060101010101" pitchFamily="49" charset="-122"/>
              </a:rPr>
              <a:t>抑制剂</a:t>
            </a:r>
            <a:r>
              <a:rPr kumimoji="1" lang="zh-CN" altLang="en-US" sz="2800" dirty="0">
                <a:solidFill>
                  <a:srgbClr val="0000CC"/>
                </a:solidFill>
                <a:latin typeface="Times New Roman" panose="02020603050405020304" pitchFamily="18" charset="0"/>
                <a:ea typeface="黑体" panose="02010609060101010101" pitchFamily="49" charset="-122"/>
              </a:rPr>
              <a:t>只与酶</a:t>
            </a:r>
            <a:r>
              <a:rPr kumimoji="1" lang="en-US" altLang="zh-CN" sz="2800" dirty="0">
                <a:solidFill>
                  <a:srgbClr val="0000CC"/>
                </a:solidFill>
                <a:latin typeface="Times New Roman" panose="02020603050405020304" pitchFamily="18" charset="0"/>
                <a:ea typeface="黑体" panose="02010609060101010101" pitchFamily="49" charset="-122"/>
              </a:rPr>
              <a:t>-</a:t>
            </a:r>
            <a:r>
              <a:rPr kumimoji="1" lang="zh-CN" altLang="en-US" sz="2800" dirty="0">
                <a:solidFill>
                  <a:srgbClr val="0000CC"/>
                </a:solidFill>
                <a:latin typeface="Times New Roman" panose="02020603050405020304" pitchFamily="18" charset="0"/>
                <a:ea typeface="黑体" panose="02010609060101010101" pitchFamily="49" charset="-122"/>
              </a:rPr>
              <a:t>底物复合物结合；不与游离酶结合</a:t>
            </a:r>
          </a:p>
        </p:txBody>
      </p:sp>
      <p:sp>
        <p:nvSpPr>
          <p:cNvPr id="1226756" name="Text Box 4">
            <a:extLst>
              <a:ext uri="{FF2B5EF4-FFF2-40B4-BE49-F238E27FC236}">
                <a16:creationId xmlns:a16="http://schemas.microsoft.com/office/drawing/2014/main" id="{C7AAEC36-05D0-4286-B8BD-BEE45AD991F7}"/>
              </a:ext>
            </a:extLst>
          </p:cNvPr>
          <p:cNvSpPr txBox="1">
            <a:spLocks noChangeArrowheads="1"/>
          </p:cNvSpPr>
          <p:nvPr/>
        </p:nvSpPr>
        <p:spPr bwMode="auto">
          <a:xfrm>
            <a:off x="1145841" y="2854561"/>
            <a:ext cx="403872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Clr>
                <a:schemeClr val="tx1">
                  <a:lumMod val="95000"/>
                  <a:lumOff val="5000"/>
                </a:schemeClr>
              </a:buClr>
            </a:pPr>
            <a:r>
              <a:rPr kumimoji="1" lang="zh-CN" altLang="en-US" sz="2400" dirty="0">
                <a:latin typeface="Times New Roman" panose="02020603050405020304" pitchFamily="18" charset="0"/>
                <a:ea typeface="黑体" panose="02010609060101010101" pitchFamily="49" charset="-122"/>
              </a:rPr>
              <a:t>抑制程度取决于抑制剂的浓度及底物的浓度；</a:t>
            </a:r>
            <a:r>
              <a:rPr kumimoji="1" lang="zh-CN" altLang="en-US" sz="2400" dirty="0">
                <a:solidFill>
                  <a:srgbClr val="0000CC"/>
                </a:solidFill>
                <a:latin typeface="Times New Roman" panose="02020603050405020304" pitchFamily="18" charset="0"/>
                <a:ea typeface="黑体" panose="02010609060101010101" pitchFamily="49" charset="-122"/>
              </a:rPr>
              <a:t>底物浓度越大，抑制作用越强</a:t>
            </a:r>
          </a:p>
        </p:txBody>
      </p:sp>
      <p:sp>
        <p:nvSpPr>
          <p:cNvPr id="1226757" name="Text Box 5">
            <a:extLst>
              <a:ext uri="{FF2B5EF4-FFF2-40B4-BE49-F238E27FC236}">
                <a16:creationId xmlns:a16="http://schemas.microsoft.com/office/drawing/2014/main" id="{CC61539B-7B06-401D-B6FB-DFD6A22BAF07}"/>
              </a:ext>
            </a:extLst>
          </p:cNvPr>
          <p:cNvSpPr txBox="1">
            <a:spLocks noChangeArrowheads="1"/>
          </p:cNvSpPr>
          <p:nvPr/>
        </p:nvSpPr>
        <p:spPr bwMode="auto">
          <a:xfrm>
            <a:off x="1182507" y="4352958"/>
            <a:ext cx="3091405" cy="1712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0"/>
              </a:spcBef>
              <a:buClr>
                <a:schemeClr val="tx1">
                  <a:lumMod val="95000"/>
                  <a:lumOff val="5000"/>
                </a:schemeClr>
              </a:buClr>
            </a:pPr>
            <a:r>
              <a:rPr kumimoji="1" lang="zh-CN" altLang="en-US" sz="2800" dirty="0">
                <a:latin typeface="Times New Roman" panose="02020603050405020304" pitchFamily="18" charset="0"/>
                <a:ea typeface="黑体" panose="02010609060101010101" pitchFamily="49" charset="-122"/>
              </a:rPr>
              <a:t>动力学特点：</a:t>
            </a:r>
            <a:r>
              <a:rPr kumimoji="1" lang="en-US" altLang="zh-CN" sz="2800" dirty="0">
                <a:solidFill>
                  <a:srgbClr val="FF0000"/>
                </a:solidFill>
                <a:latin typeface="Times New Roman" panose="02020603050405020304" pitchFamily="18" charset="0"/>
                <a:ea typeface="黑体" panose="02010609060101010101" pitchFamily="49" charset="-122"/>
              </a:rPr>
              <a:t>V</a:t>
            </a:r>
            <a:r>
              <a:rPr kumimoji="1" lang="en-US" altLang="zh-CN" sz="2800" baseline="-25000" dirty="0">
                <a:solidFill>
                  <a:srgbClr val="FF0000"/>
                </a:solidFill>
                <a:latin typeface="Times New Roman" panose="02020603050405020304" pitchFamily="18" charset="0"/>
                <a:ea typeface="黑体" panose="02010609060101010101" pitchFamily="49" charset="-122"/>
              </a:rPr>
              <a:t>max</a:t>
            </a:r>
            <a:r>
              <a:rPr kumimoji="1" lang="zh-CN" altLang="en-US" sz="2800" dirty="0">
                <a:solidFill>
                  <a:srgbClr val="FF0000"/>
                </a:solidFill>
                <a:latin typeface="Times New Roman" panose="02020603050405020304" pitchFamily="18" charset="0"/>
                <a:ea typeface="黑体" panose="02010609060101010101" pitchFamily="49" charset="-122"/>
              </a:rPr>
              <a:t>降低，表观</a:t>
            </a:r>
            <a:r>
              <a:rPr kumimoji="1" lang="en-US" altLang="zh-CN" sz="2800" dirty="0">
                <a:solidFill>
                  <a:srgbClr val="FF0000"/>
                </a:solidFill>
                <a:latin typeface="Times New Roman" panose="02020603050405020304" pitchFamily="18" charset="0"/>
                <a:ea typeface="黑体" panose="02010609060101010101" pitchFamily="49" charset="-122"/>
              </a:rPr>
              <a:t>K</a:t>
            </a:r>
            <a:r>
              <a:rPr kumimoji="1" lang="en-US" altLang="zh-CN" sz="2800" baseline="-25000" dirty="0">
                <a:solidFill>
                  <a:srgbClr val="FF0000"/>
                </a:solidFill>
                <a:latin typeface="Times New Roman" panose="02020603050405020304" pitchFamily="18" charset="0"/>
                <a:ea typeface="黑体" panose="02010609060101010101" pitchFamily="49" charset="-122"/>
              </a:rPr>
              <a:t>m</a:t>
            </a:r>
            <a:r>
              <a:rPr kumimoji="1" lang="zh-CN" altLang="en-US" sz="2800" dirty="0">
                <a:solidFill>
                  <a:srgbClr val="FF0000"/>
                </a:solidFill>
                <a:latin typeface="Times New Roman" panose="02020603050405020304" pitchFamily="18" charset="0"/>
                <a:ea typeface="黑体" panose="02010609060101010101" pitchFamily="49" charset="-122"/>
              </a:rPr>
              <a:t>降低</a:t>
            </a:r>
            <a:r>
              <a:rPr kumimoji="1" lang="zh-CN" altLang="en-US" sz="2800" dirty="0">
                <a:latin typeface="Times New Roman" panose="02020603050405020304" pitchFamily="18" charset="0"/>
                <a:ea typeface="黑体" panose="02010609060101010101" pitchFamily="49" charset="-122"/>
              </a:rPr>
              <a:t>。                                 </a:t>
            </a:r>
          </a:p>
        </p:txBody>
      </p:sp>
      <p:grpSp>
        <p:nvGrpSpPr>
          <p:cNvPr id="2" name="Group 6">
            <a:extLst>
              <a:ext uri="{FF2B5EF4-FFF2-40B4-BE49-F238E27FC236}">
                <a16:creationId xmlns:a16="http://schemas.microsoft.com/office/drawing/2014/main" id="{99B916D9-CE33-4B5E-B7F8-8F42491085EE}"/>
              </a:ext>
            </a:extLst>
          </p:cNvPr>
          <p:cNvGrpSpPr>
            <a:grpSpLocks/>
          </p:cNvGrpSpPr>
          <p:nvPr/>
        </p:nvGrpSpPr>
        <p:grpSpPr bwMode="auto">
          <a:xfrm>
            <a:off x="5375920" y="2746859"/>
            <a:ext cx="5779935" cy="3317875"/>
            <a:chOff x="2071" y="1752"/>
            <a:chExt cx="3676" cy="2064"/>
          </a:xfrm>
        </p:grpSpPr>
        <p:sp>
          <p:nvSpPr>
            <p:cNvPr id="310282" name="Line 7">
              <a:extLst>
                <a:ext uri="{FF2B5EF4-FFF2-40B4-BE49-F238E27FC236}">
                  <a16:creationId xmlns:a16="http://schemas.microsoft.com/office/drawing/2014/main" id="{F02F8A60-6B38-4D80-8FB3-1276257E732C}"/>
                </a:ext>
              </a:extLst>
            </p:cNvPr>
            <p:cNvSpPr>
              <a:spLocks noChangeShapeType="1"/>
            </p:cNvSpPr>
            <p:nvPr/>
          </p:nvSpPr>
          <p:spPr bwMode="auto">
            <a:xfrm flipV="1">
              <a:off x="3056" y="2120"/>
              <a:ext cx="1553" cy="1019"/>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310283" name="Line 8">
              <a:extLst>
                <a:ext uri="{FF2B5EF4-FFF2-40B4-BE49-F238E27FC236}">
                  <a16:creationId xmlns:a16="http://schemas.microsoft.com/office/drawing/2014/main" id="{398E3868-4C02-47FE-8A3E-5A35B2B4D424}"/>
                </a:ext>
              </a:extLst>
            </p:cNvPr>
            <p:cNvSpPr>
              <a:spLocks noChangeShapeType="1"/>
            </p:cNvSpPr>
            <p:nvPr/>
          </p:nvSpPr>
          <p:spPr bwMode="auto">
            <a:xfrm flipV="1">
              <a:off x="3101" y="1797"/>
              <a:ext cx="1443" cy="1056"/>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310284" name="Line 9">
              <a:extLst>
                <a:ext uri="{FF2B5EF4-FFF2-40B4-BE49-F238E27FC236}">
                  <a16:creationId xmlns:a16="http://schemas.microsoft.com/office/drawing/2014/main" id="{F03C9C9A-8BD2-4BBA-BC28-12C0B6B5D2EF}"/>
                </a:ext>
              </a:extLst>
            </p:cNvPr>
            <p:cNvSpPr>
              <a:spLocks noChangeShapeType="1"/>
            </p:cNvSpPr>
            <p:nvPr/>
          </p:nvSpPr>
          <p:spPr bwMode="auto">
            <a:xfrm flipV="1">
              <a:off x="2290" y="2869"/>
              <a:ext cx="811" cy="556"/>
            </a:xfrm>
            <a:prstGeom prst="line">
              <a:avLst/>
            </a:prstGeom>
            <a:noFill/>
            <a:ln w="38100">
              <a:solidFill>
                <a:srgbClr val="C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85" name="Line 10">
              <a:extLst>
                <a:ext uri="{FF2B5EF4-FFF2-40B4-BE49-F238E27FC236}">
                  <a16:creationId xmlns:a16="http://schemas.microsoft.com/office/drawing/2014/main" id="{AD5E59EE-9E12-4596-9160-83302DB4BD88}"/>
                </a:ext>
              </a:extLst>
            </p:cNvPr>
            <p:cNvSpPr>
              <a:spLocks noChangeShapeType="1"/>
            </p:cNvSpPr>
            <p:nvPr/>
          </p:nvSpPr>
          <p:spPr bwMode="auto">
            <a:xfrm flipV="1">
              <a:off x="2651" y="3103"/>
              <a:ext cx="450" cy="309"/>
            </a:xfrm>
            <a:prstGeom prst="line">
              <a:avLst/>
            </a:prstGeom>
            <a:noFill/>
            <a:ln w="38100">
              <a:solidFill>
                <a:srgbClr val="C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86" name="Line 11">
              <a:extLst>
                <a:ext uri="{FF2B5EF4-FFF2-40B4-BE49-F238E27FC236}">
                  <a16:creationId xmlns:a16="http://schemas.microsoft.com/office/drawing/2014/main" id="{D271168E-7CC9-4CF3-A08B-95117FEC6D3F}"/>
                </a:ext>
              </a:extLst>
            </p:cNvPr>
            <p:cNvSpPr>
              <a:spLocks noChangeShapeType="1"/>
            </p:cNvSpPr>
            <p:nvPr/>
          </p:nvSpPr>
          <p:spPr bwMode="auto">
            <a:xfrm>
              <a:off x="2071" y="3432"/>
              <a:ext cx="307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310287" name="Line 12">
              <a:extLst>
                <a:ext uri="{FF2B5EF4-FFF2-40B4-BE49-F238E27FC236}">
                  <a16:creationId xmlns:a16="http://schemas.microsoft.com/office/drawing/2014/main" id="{BD7D269B-3A28-4BF2-B3CA-49D4879911C0}"/>
                </a:ext>
              </a:extLst>
            </p:cNvPr>
            <p:cNvSpPr>
              <a:spLocks noChangeShapeType="1"/>
            </p:cNvSpPr>
            <p:nvPr/>
          </p:nvSpPr>
          <p:spPr bwMode="auto">
            <a:xfrm flipV="1">
              <a:off x="3271" y="1896"/>
              <a:ext cx="0" cy="192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ot="10800000" vert="eaVert" wrap="none">
              <a:spAutoFit/>
            </a:bodyPr>
            <a:lstStyle/>
            <a:p>
              <a:endParaRPr lang="zh-CN" altLang="en-US"/>
            </a:p>
          </p:txBody>
        </p:sp>
        <p:sp>
          <p:nvSpPr>
            <p:cNvPr id="310288" name="Line 13">
              <a:extLst>
                <a:ext uri="{FF2B5EF4-FFF2-40B4-BE49-F238E27FC236}">
                  <a16:creationId xmlns:a16="http://schemas.microsoft.com/office/drawing/2014/main" id="{797FE454-8934-49EF-B521-8F932689E959}"/>
                </a:ext>
              </a:extLst>
            </p:cNvPr>
            <p:cNvSpPr>
              <a:spLocks noChangeShapeType="1"/>
            </p:cNvSpPr>
            <p:nvPr/>
          </p:nvSpPr>
          <p:spPr bwMode="auto">
            <a:xfrm flipV="1">
              <a:off x="3271" y="2435"/>
              <a:ext cx="1392" cy="8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310289" name="Text Box 14">
              <a:extLst>
                <a:ext uri="{FF2B5EF4-FFF2-40B4-BE49-F238E27FC236}">
                  <a16:creationId xmlns:a16="http://schemas.microsoft.com/office/drawing/2014/main" id="{A08EB665-B6A7-4CCA-B0C4-18FEBDC821C7}"/>
                </a:ext>
              </a:extLst>
            </p:cNvPr>
            <p:cNvSpPr txBox="1">
              <a:spLocks noChangeArrowheads="1"/>
            </p:cNvSpPr>
            <p:nvPr/>
          </p:nvSpPr>
          <p:spPr bwMode="auto">
            <a:xfrm>
              <a:off x="4540" y="1819"/>
              <a:ext cx="10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2800" b="1">
                  <a:solidFill>
                    <a:srgbClr val="C00000"/>
                  </a:solidFill>
                  <a:latin typeface="Times New Roman" panose="02020603050405020304" pitchFamily="18" charset="0"/>
                  <a:ea typeface="黑体" panose="02010609060101010101" pitchFamily="49" charset="-122"/>
                </a:rPr>
                <a:t>抑制剂↑  </a:t>
              </a:r>
            </a:p>
          </p:txBody>
        </p:sp>
        <p:sp>
          <p:nvSpPr>
            <p:cNvPr id="310290" name="Text Box 15">
              <a:extLst>
                <a:ext uri="{FF2B5EF4-FFF2-40B4-BE49-F238E27FC236}">
                  <a16:creationId xmlns:a16="http://schemas.microsoft.com/office/drawing/2014/main" id="{6D33A595-7D45-4180-9C38-925F56865710}"/>
                </a:ext>
              </a:extLst>
            </p:cNvPr>
            <p:cNvSpPr txBox="1">
              <a:spLocks noChangeArrowheads="1"/>
            </p:cNvSpPr>
            <p:nvPr/>
          </p:nvSpPr>
          <p:spPr bwMode="auto">
            <a:xfrm>
              <a:off x="2732" y="1752"/>
              <a:ext cx="570"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1/V  </a:t>
              </a:r>
            </a:p>
          </p:txBody>
        </p:sp>
        <p:sp>
          <p:nvSpPr>
            <p:cNvPr id="310291" name="Text Box 16">
              <a:extLst>
                <a:ext uri="{FF2B5EF4-FFF2-40B4-BE49-F238E27FC236}">
                  <a16:creationId xmlns:a16="http://schemas.microsoft.com/office/drawing/2014/main" id="{D89B14CC-CAB2-43BE-8BAE-D98F24CDDCF1}"/>
                </a:ext>
              </a:extLst>
            </p:cNvPr>
            <p:cNvSpPr txBox="1">
              <a:spLocks noChangeArrowheads="1"/>
            </p:cNvSpPr>
            <p:nvPr/>
          </p:nvSpPr>
          <p:spPr bwMode="auto">
            <a:xfrm>
              <a:off x="4800" y="3426"/>
              <a:ext cx="68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1/[S]  </a:t>
              </a:r>
            </a:p>
          </p:txBody>
        </p:sp>
        <p:sp>
          <p:nvSpPr>
            <p:cNvPr id="310292" name="Text Box 17">
              <a:extLst>
                <a:ext uri="{FF2B5EF4-FFF2-40B4-BE49-F238E27FC236}">
                  <a16:creationId xmlns:a16="http://schemas.microsoft.com/office/drawing/2014/main" id="{8249859D-85E2-4394-AC80-2B75F7F2A935}"/>
                </a:ext>
              </a:extLst>
            </p:cNvPr>
            <p:cNvSpPr txBox="1">
              <a:spLocks noChangeArrowheads="1"/>
            </p:cNvSpPr>
            <p:nvPr/>
          </p:nvSpPr>
          <p:spPr bwMode="auto">
            <a:xfrm>
              <a:off x="4598" y="2350"/>
              <a:ext cx="114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黑体" panose="02010609060101010101" pitchFamily="49" charset="-122"/>
                </a:rPr>
                <a:t>无抑制剂  </a:t>
              </a:r>
            </a:p>
          </p:txBody>
        </p:sp>
        <p:sp>
          <p:nvSpPr>
            <p:cNvPr id="310293" name="Line 18">
              <a:extLst>
                <a:ext uri="{FF2B5EF4-FFF2-40B4-BE49-F238E27FC236}">
                  <a16:creationId xmlns:a16="http://schemas.microsoft.com/office/drawing/2014/main" id="{8DA32D41-674C-4C78-815F-19FCD16AA148}"/>
                </a:ext>
              </a:extLst>
            </p:cNvPr>
            <p:cNvSpPr>
              <a:spLocks noChangeShapeType="1"/>
            </p:cNvSpPr>
            <p:nvPr/>
          </p:nvSpPr>
          <p:spPr bwMode="auto">
            <a:xfrm flipV="1">
              <a:off x="3031" y="3283"/>
              <a:ext cx="240" cy="142"/>
            </a:xfrm>
            <a:prstGeom prst="line">
              <a:avLst/>
            </a:prstGeom>
            <a:noFill/>
            <a:ln w="38100">
              <a:solidFill>
                <a:srgbClr val="0000CC"/>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173065" name="Picture 23">
            <a:extLst>
              <a:ext uri="{FF2B5EF4-FFF2-40B4-BE49-F238E27FC236}">
                <a16:creationId xmlns:a16="http://schemas.microsoft.com/office/drawing/2014/main" id="{2248D0BE-1899-4E07-8073-65190292CB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549" r="54564"/>
          <a:stretch>
            <a:fillRect/>
          </a:stretch>
        </p:blipFill>
        <p:spPr bwMode="auto">
          <a:xfrm>
            <a:off x="6028382" y="3539022"/>
            <a:ext cx="1166813" cy="771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73066" name="Picture 24">
            <a:extLst>
              <a:ext uri="{FF2B5EF4-FFF2-40B4-BE49-F238E27FC236}">
                <a16:creationId xmlns:a16="http://schemas.microsoft.com/office/drawing/2014/main" id="{95D30F13-77CC-415A-8ED2-EBD292B503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5129" r="76839" b="31044"/>
          <a:stretch>
            <a:fillRect/>
          </a:stretch>
        </p:blipFill>
        <p:spPr bwMode="auto">
          <a:xfrm>
            <a:off x="5367982" y="5575783"/>
            <a:ext cx="1020763"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0280" name="AutoShape 0">
            <a:extLst>
              <a:ext uri="{FF2B5EF4-FFF2-40B4-BE49-F238E27FC236}">
                <a16:creationId xmlns:a16="http://schemas.microsoft.com/office/drawing/2014/main" id="{79DB3B4A-18EE-47AE-9511-1059B0C8CAC5}"/>
              </a:ext>
            </a:extLst>
          </p:cNvPr>
          <p:cNvSpPr>
            <a:spLocks noChangeArrowheads="1"/>
          </p:cNvSpPr>
          <p:nvPr/>
        </p:nvSpPr>
        <p:spPr bwMode="auto">
          <a:xfrm>
            <a:off x="2019301" y="207963"/>
            <a:ext cx="8208963" cy="576262"/>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en-US" altLang="zh-CN" b="1">
                <a:solidFill>
                  <a:schemeClr val="bg1"/>
                </a:solidFill>
                <a:latin typeface="Times New Roman" panose="02020603050405020304" pitchFamily="18" charset="0"/>
                <a:ea typeface="黑体" panose="02010609060101010101" pitchFamily="49" charset="-122"/>
              </a:rPr>
              <a:t>2.  </a:t>
            </a:r>
            <a:r>
              <a:rPr kumimoji="1" lang="zh-CN" altLang="en-US" b="1">
                <a:solidFill>
                  <a:schemeClr val="bg1"/>
                </a:solidFill>
                <a:latin typeface="Times New Roman" panose="02020603050405020304" pitchFamily="18" charset="0"/>
                <a:ea typeface="黑体" panose="02010609060101010101" pitchFamily="49" charset="-122"/>
              </a:rPr>
              <a:t>反竞争性抑制（</a:t>
            </a:r>
            <a:r>
              <a:rPr kumimoji="1" lang="en-US" altLang="zh-CN" b="1">
                <a:solidFill>
                  <a:schemeClr val="bg1"/>
                </a:solidFill>
                <a:latin typeface="Times New Roman" panose="02020603050405020304" pitchFamily="18" charset="0"/>
                <a:ea typeface="黑体" panose="02010609060101010101" pitchFamily="49" charset="-122"/>
              </a:rPr>
              <a:t>uncompetitive inhibition)</a:t>
            </a:r>
            <a:endParaRPr kumimoji="1" lang="zh-CN" altLang="en-US" b="1">
              <a:solidFill>
                <a:schemeClr val="bg1"/>
              </a:solidFill>
              <a:latin typeface="Times New Roman" panose="02020603050405020304" pitchFamily="18" charset="0"/>
              <a:ea typeface="黑体" panose="02010609060101010101" pitchFamily="49" charset="-122"/>
            </a:endParaRPr>
          </a:p>
        </p:txBody>
      </p:sp>
      <p:pic>
        <p:nvPicPr>
          <p:cNvPr id="310281" name="图片 4">
            <a:extLst>
              <a:ext uri="{FF2B5EF4-FFF2-40B4-BE49-F238E27FC236}">
                <a16:creationId xmlns:a16="http://schemas.microsoft.com/office/drawing/2014/main" id="{B7B21A12-77B4-486A-AC34-3AAC8362597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664200" y="1233489"/>
            <a:ext cx="4560888"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22675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1226756"/>
                                        </p:tgtEl>
                                        <p:attrNameLst>
                                          <p:attrName>style.visibility</p:attrName>
                                        </p:attrNameLst>
                                      </p:cBhvr>
                                      <p:to>
                                        <p:strVal val="visible"/>
                                      </p:to>
                                    </p:set>
                                    <p:animEffect transition="in" filter="checkerboard(across)">
                                      <p:cBhvr>
                                        <p:cTn id="11" dur="500"/>
                                        <p:tgtEl>
                                          <p:spTgt spid="122675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12"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trips(downLeft)">
                                      <p:cBhvr>
                                        <p:cTn id="16" dur="500"/>
                                        <p:tgtEl>
                                          <p:spTgt spid="2"/>
                                        </p:tgtEl>
                                      </p:cBhvr>
                                    </p:animEffect>
                                  </p:childTnLst>
                                </p:cTn>
                              </p:par>
                              <p:par>
                                <p:cTn id="17" presetID="3" presetClass="entr" presetSubtype="10" fill="hold" nodeType="withEffect">
                                  <p:stCondLst>
                                    <p:cond delay="0"/>
                                  </p:stCondLst>
                                  <p:childTnLst>
                                    <p:set>
                                      <p:cBhvr>
                                        <p:cTn id="18" dur="1" fill="hold">
                                          <p:stCondLst>
                                            <p:cond delay="0"/>
                                          </p:stCondLst>
                                        </p:cTn>
                                        <p:tgtEl>
                                          <p:spTgt spid="173065"/>
                                        </p:tgtEl>
                                        <p:attrNameLst>
                                          <p:attrName>style.visibility</p:attrName>
                                        </p:attrNameLst>
                                      </p:cBhvr>
                                      <p:to>
                                        <p:strVal val="visible"/>
                                      </p:to>
                                    </p:set>
                                    <p:animEffect transition="in" filter="blinds(horizontal)">
                                      <p:cBhvr>
                                        <p:cTn id="19" dur="500"/>
                                        <p:tgtEl>
                                          <p:spTgt spid="173065"/>
                                        </p:tgtEl>
                                      </p:cBhvr>
                                    </p:animEffect>
                                  </p:childTnLst>
                                </p:cTn>
                              </p:par>
                              <p:par>
                                <p:cTn id="20" presetID="3" presetClass="entr" presetSubtype="10" fill="hold" nodeType="withEffect">
                                  <p:stCondLst>
                                    <p:cond delay="0"/>
                                  </p:stCondLst>
                                  <p:childTnLst>
                                    <p:set>
                                      <p:cBhvr>
                                        <p:cTn id="21" dur="1" fill="hold">
                                          <p:stCondLst>
                                            <p:cond delay="0"/>
                                          </p:stCondLst>
                                        </p:cTn>
                                        <p:tgtEl>
                                          <p:spTgt spid="173066"/>
                                        </p:tgtEl>
                                        <p:attrNameLst>
                                          <p:attrName>style.visibility</p:attrName>
                                        </p:attrNameLst>
                                      </p:cBhvr>
                                      <p:to>
                                        <p:strVal val="visible"/>
                                      </p:to>
                                    </p:set>
                                    <p:animEffect transition="in" filter="blinds(horizontal)">
                                      <p:cBhvr>
                                        <p:cTn id="22" dur="500"/>
                                        <p:tgtEl>
                                          <p:spTgt spid="1730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1" presetClass="entr" presetSubtype="4" fill="hold" grpId="0" nodeType="clickEffect">
                                  <p:stCondLst>
                                    <p:cond delay="0"/>
                                  </p:stCondLst>
                                  <p:childTnLst>
                                    <p:set>
                                      <p:cBhvr>
                                        <p:cTn id="26" dur="1" fill="hold">
                                          <p:stCondLst>
                                            <p:cond delay="0"/>
                                          </p:stCondLst>
                                        </p:cTn>
                                        <p:tgtEl>
                                          <p:spTgt spid="1226757"/>
                                        </p:tgtEl>
                                        <p:attrNameLst>
                                          <p:attrName>style.visibility</p:attrName>
                                        </p:attrNameLst>
                                      </p:cBhvr>
                                      <p:to>
                                        <p:strVal val="visible"/>
                                      </p:to>
                                    </p:set>
                                    <p:animEffect transition="in" filter="wheel(4)">
                                      <p:cBhvr>
                                        <p:cTn id="27" dur="500"/>
                                        <p:tgtEl>
                                          <p:spTgt spid="12267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6755" grpId="0" autoUpdateAnimBg="0"/>
      <p:bldP spid="1226756" grpId="0" autoUpdateAnimBg="0"/>
      <p:bldP spid="1226757" grpId="0"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12322" name="图片 1">
            <a:extLst>
              <a:ext uri="{FF2B5EF4-FFF2-40B4-BE49-F238E27FC236}">
                <a16:creationId xmlns:a16="http://schemas.microsoft.com/office/drawing/2014/main" id="{32700E14-D343-4539-BD97-6FB9F8B29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8214" y="1425576"/>
            <a:ext cx="4137025"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2323" name="标题 2">
            <a:extLst>
              <a:ext uri="{FF2B5EF4-FFF2-40B4-BE49-F238E27FC236}">
                <a16:creationId xmlns:a16="http://schemas.microsoft.com/office/drawing/2014/main" id="{5F84744C-0C25-4B16-B399-EDDA31E9FC35}"/>
              </a:ext>
            </a:extLst>
          </p:cNvPr>
          <p:cNvSpPr>
            <a:spLocks noGrp="1" noChangeArrowheads="1"/>
          </p:cNvSpPr>
          <p:nvPr>
            <p:ph type="title"/>
          </p:nvPr>
        </p:nvSpPr>
        <p:spPr>
          <a:xfrm>
            <a:off x="1785939" y="255589"/>
            <a:ext cx="8891587" cy="744537"/>
          </a:xfrm>
        </p:spPr>
        <p:txBody>
          <a:bodyPr/>
          <a:lstStyle/>
          <a:p>
            <a:r>
              <a:rPr lang="en-US" altLang="zh-CN" sz="4000">
                <a:solidFill>
                  <a:srgbClr val="C00000"/>
                </a:solidFill>
              </a:rPr>
              <a:t>3.</a:t>
            </a:r>
            <a:r>
              <a:rPr lang="zh-CN" altLang="en-US" sz="4000">
                <a:solidFill>
                  <a:srgbClr val="C00000"/>
                </a:solidFill>
              </a:rPr>
              <a:t>混合性抑制（</a:t>
            </a:r>
            <a:r>
              <a:rPr lang="en-US" altLang="zh-CN" sz="4000">
                <a:solidFill>
                  <a:srgbClr val="C00000"/>
                </a:solidFill>
              </a:rPr>
              <a:t>mixed inhibition)</a:t>
            </a:r>
            <a:endParaRPr lang="zh-CN" altLang="en-US" sz="4000">
              <a:solidFill>
                <a:srgbClr val="C00000"/>
              </a:solidFill>
            </a:endParaRPr>
          </a:p>
        </p:txBody>
      </p:sp>
      <p:sp>
        <p:nvSpPr>
          <p:cNvPr id="284676" name="内容占位符 3">
            <a:extLst>
              <a:ext uri="{FF2B5EF4-FFF2-40B4-BE49-F238E27FC236}">
                <a16:creationId xmlns:a16="http://schemas.microsoft.com/office/drawing/2014/main" id="{21082FD8-8B1E-4FB9-A78B-85A8B658C2F7}"/>
              </a:ext>
            </a:extLst>
          </p:cNvPr>
          <p:cNvSpPr>
            <a:spLocks noGrp="1" noChangeArrowheads="1"/>
          </p:cNvSpPr>
          <p:nvPr>
            <p:ph idx="1"/>
          </p:nvPr>
        </p:nvSpPr>
        <p:spPr>
          <a:xfrm>
            <a:off x="1565275" y="4933950"/>
            <a:ext cx="8655050" cy="1612900"/>
          </a:xfrm>
        </p:spPr>
        <p:txBody>
          <a:bodyPr/>
          <a:lstStyle/>
          <a:p>
            <a:pPr>
              <a:lnSpc>
                <a:spcPct val="120000"/>
              </a:lnSpc>
            </a:pPr>
            <a:r>
              <a:rPr lang="zh-CN" altLang="en-US" sz="2800" dirty="0"/>
              <a:t>动力学特点是： </a:t>
            </a:r>
            <a:r>
              <a:rPr lang="en-US" altLang="zh-CN" sz="2800" dirty="0">
                <a:solidFill>
                  <a:srgbClr val="C00000"/>
                </a:solidFill>
              </a:rPr>
              <a:t>Vmax</a:t>
            </a:r>
            <a:r>
              <a:rPr lang="zh-CN" altLang="en-US" sz="2800" dirty="0">
                <a:solidFill>
                  <a:srgbClr val="C00000"/>
                </a:solidFill>
              </a:rPr>
              <a:t>降低，表观</a:t>
            </a:r>
            <a:r>
              <a:rPr lang="en-US" altLang="zh-CN" sz="2800" dirty="0">
                <a:solidFill>
                  <a:srgbClr val="C00000"/>
                </a:solidFill>
              </a:rPr>
              <a:t>Km</a:t>
            </a:r>
            <a:r>
              <a:rPr lang="zh-CN" altLang="en-US" sz="2800" dirty="0">
                <a:solidFill>
                  <a:srgbClr val="C00000"/>
                </a:solidFill>
              </a:rPr>
              <a:t>增大（多见）</a:t>
            </a:r>
            <a:endParaRPr lang="en-US" altLang="zh-CN" sz="2800" dirty="0">
              <a:solidFill>
                <a:srgbClr val="C00000"/>
              </a:solidFill>
            </a:endParaRPr>
          </a:p>
          <a:p>
            <a:pPr>
              <a:lnSpc>
                <a:spcPct val="120000"/>
              </a:lnSpc>
            </a:pPr>
            <a:r>
              <a:rPr lang="zh-CN" altLang="en-US" sz="2800" dirty="0"/>
              <a:t>如果抑制剂与游离的酶和与</a:t>
            </a:r>
            <a:r>
              <a:rPr lang="en-US" altLang="zh-CN" sz="2800" dirty="0"/>
              <a:t>ES</a:t>
            </a:r>
            <a:r>
              <a:rPr lang="zh-CN" altLang="en-US" sz="2800" dirty="0"/>
              <a:t>的亲合力完全相同，这种抑制就是</a:t>
            </a:r>
            <a:r>
              <a:rPr lang="zh-CN" altLang="en-US" sz="2800" dirty="0">
                <a:solidFill>
                  <a:srgbClr val="0000CC"/>
                </a:solidFill>
              </a:rPr>
              <a:t>非竞争性抑制</a:t>
            </a:r>
            <a:r>
              <a:rPr lang="zh-CN" altLang="en-US" sz="2800" dirty="0"/>
              <a:t>。</a:t>
            </a:r>
            <a:endParaRPr lang="zh-CN" altLang="en-US" sz="2800" dirty="0">
              <a:solidFill>
                <a:srgbClr val="C00000"/>
              </a:solidFill>
            </a:endParaRPr>
          </a:p>
        </p:txBody>
      </p:sp>
      <p:pic>
        <p:nvPicPr>
          <p:cNvPr id="312325" name="图片 4">
            <a:extLst>
              <a:ext uri="{FF2B5EF4-FFF2-40B4-BE49-F238E27FC236}">
                <a16:creationId xmlns:a16="http://schemas.microsoft.com/office/drawing/2014/main" id="{E7ACAE20-9625-4391-9F10-5D20B8D3F2F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48488" y="1168400"/>
            <a:ext cx="3179762"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467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3683" name="Text Box 3">
            <a:extLst>
              <a:ext uri="{FF2B5EF4-FFF2-40B4-BE49-F238E27FC236}">
                <a16:creationId xmlns:a16="http://schemas.microsoft.com/office/drawing/2014/main" id="{91FD306D-A1C7-4CB5-951B-B1BF43800C8F}"/>
              </a:ext>
            </a:extLst>
          </p:cNvPr>
          <p:cNvSpPr txBox="1">
            <a:spLocks noChangeArrowheads="1"/>
          </p:cNvSpPr>
          <p:nvPr/>
        </p:nvSpPr>
        <p:spPr bwMode="auto">
          <a:xfrm>
            <a:off x="717107" y="1381759"/>
            <a:ext cx="5106224" cy="159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20000"/>
              </a:lnSpc>
              <a:spcBef>
                <a:spcPct val="0"/>
              </a:spcBef>
              <a:buClr>
                <a:schemeClr val="tx1">
                  <a:lumMod val="95000"/>
                  <a:lumOff val="5000"/>
                </a:schemeClr>
              </a:buClr>
            </a:pPr>
            <a:r>
              <a:rPr kumimoji="1" lang="zh-CN" altLang="en-US" sz="2800" dirty="0">
                <a:solidFill>
                  <a:srgbClr val="0000CC"/>
                </a:solidFill>
                <a:latin typeface="Times New Roman" panose="02020603050405020304" pitchFamily="18" charset="0"/>
                <a:ea typeface="黑体" panose="02010609060101010101" pitchFamily="49" charset="-122"/>
              </a:rPr>
              <a:t>抑制剂结合在活性中心以外</a:t>
            </a:r>
            <a:endParaRPr kumimoji="1" lang="en-US" altLang="zh-CN" sz="2800" dirty="0">
              <a:solidFill>
                <a:srgbClr val="0000CC"/>
              </a:solidFill>
              <a:latin typeface="Times New Roman" panose="02020603050405020304" pitchFamily="18" charset="0"/>
              <a:ea typeface="黑体" panose="02010609060101010101" pitchFamily="49" charset="-122"/>
            </a:endParaRPr>
          </a:p>
          <a:p>
            <a:pPr algn="just" eaLnBrk="1" hangingPunct="1">
              <a:lnSpc>
                <a:spcPct val="120000"/>
              </a:lnSpc>
              <a:spcBef>
                <a:spcPct val="0"/>
              </a:spcBef>
              <a:buClr>
                <a:schemeClr val="tx1">
                  <a:lumMod val="95000"/>
                  <a:lumOff val="5000"/>
                </a:schemeClr>
              </a:buClr>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底物和抑制剂与酶的结合互不干扰；</a:t>
            </a:r>
          </a:p>
        </p:txBody>
      </p:sp>
      <p:sp>
        <p:nvSpPr>
          <p:cNvPr id="1223684" name="Text Box 4">
            <a:extLst>
              <a:ext uri="{FF2B5EF4-FFF2-40B4-BE49-F238E27FC236}">
                <a16:creationId xmlns:a16="http://schemas.microsoft.com/office/drawing/2014/main" id="{7FA0DE7A-6EB1-46AD-9C39-A9F08AE3EAC7}"/>
              </a:ext>
            </a:extLst>
          </p:cNvPr>
          <p:cNvSpPr txBox="1">
            <a:spLocks noChangeArrowheads="1"/>
          </p:cNvSpPr>
          <p:nvPr/>
        </p:nvSpPr>
        <p:spPr bwMode="auto">
          <a:xfrm>
            <a:off x="691010" y="3128275"/>
            <a:ext cx="487273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Clr>
                <a:schemeClr val="tx1">
                  <a:lumMod val="95000"/>
                  <a:lumOff val="5000"/>
                </a:schemeClr>
              </a:buClr>
            </a:pPr>
            <a:r>
              <a:rPr kumimoji="1" lang="zh-CN" altLang="en-US" sz="2800" dirty="0">
                <a:solidFill>
                  <a:srgbClr val="0000CC"/>
                </a:solidFill>
                <a:latin typeface="Times New Roman" panose="02020603050405020304" pitchFamily="18" charset="0"/>
                <a:ea typeface="黑体" panose="02010609060101010101" pitchFamily="49" charset="-122"/>
              </a:rPr>
              <a:t>抑制程度取决于抑制剂的浓度；</a:t>
            </a:r>
          </a:p>
        </p:txBody>
      </p:sp>
      <p:sp>
        <p:nvSpPr>
          <p:cNvPr id="1223685" name="Text Box 5">
            <a:extLst>
              <a:ext uri="{FF2B5EF4-FFF2-40B4-BE49-F238E27FC236}">
                <a16:creationId xmlns:a16="http://schemas.microsoft.com/office/drawing/2014/main" id="{DEEE7EB6-FEE4-489D-979B-5123A5F6C27A}"/>
              </a:ext>
            </a:extLst>
          </p:cNvPr>
          <p:cNvSpPr txBox="1">
            <a:spLocks noChangeArrowheads="1"/>
          </p:cNvSpPr>
          <p:nvPr/>
        </p:nvSpPr>
        <p:spPr bwMode="auto">
          <a:xfrm>
            <a:off x="717107" y="4259263"/>
            <a:ext cx="3793736" cy="159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20000"/>
              </a:lnSpc>
              <a:spcBef>
                <a:spcPct val="0"/>
              </a:spcBef>
              <a:buClr>
                <a:schemeClr val="tx1">
                  <a:lumMod val="95000"/>
                  <a:lumOff val="5000"/>
                </a:schemeClr>
              </a:buClr>
              <a:buFont typeface="Arial" panose="020B0604020202020204" pitchFamily="34" charset="0"/>
              <a:buChar char="•"/>
            </a:pPr>
            <a:r>
              <a:rPr kumimoji="1" lang="en-US" altLang="zh-CN" sz="2800" dirty="0">
                <a:latin typeface="Times New Roman" panose="02020603050405020304" pitchFamily="18" charset="0"/>
                <a:ea typeface="黑体" panose="02010609060101010101" pitchFamily="49" charset="-122"/>
              </a:rPr>
              <a:t>d) </a:t>
            </a:r>
            <a:r>
              <a:rPr kumimoji="1" lang="zh-CN" altLang="en-US" sz="2800" dirty="0">
                <a:latin typeface="Times New Roman" panose="02020603050405020304" pitchFamily="18" charset="0"/>
                <a:ea typeface="黑体" panose="02010609060101010101" pitchFamily="49" charset="-122"/>
              </a:rPr>
              <a:t>动力学特点： </a:t>
            </a:r>
            <a:endParaRPr kumimoji="1" lang="en-US" altLang="zh-CN" sz="2800" dirty="0">
              <a:latin typeface="Times New Roman" panose="02020603050405020304" pitchFamily="18" charset="0"/>
              <a:ea typeface="黑体" panose="02010609060101010101" pitchFamily="49" charset="-122"/>
            </a:endParaRPr>
          </a:p>
          <a:p>
            <a:pPr marL="0" indent="0" algn="just" eaLnBrk="1" hangingPunct="1">
              <a:lnSpc>
                <a:spcPct val="120000"/>
              </a:lnSpc>
              <a:spcBef>
                <a:spcPct val="0"/>
              </a:spcBef>
              <a:buClr>
                <a:schemeClr val="tx1">
                  <a:lumMod val="95000"/>
                  <a:lumOff val="5000"/>
                </a:schemeClr>
              </a:buClr>
              <a:buNone/>
            </a:pPr>
            <a:r>
              <a:rPr kumimoji="1" lang="en-US" altLang="zh-CN" sz="2800" dirty="0">
                <a:solidFill>
                  <a:srgbClr val="FF0000"/>
                </a:solidFill>
                <a:latin typeface="Times New Roman" panose="02020603050405020304" pitchFamily="18" charset="0"/>
                <a:ea typeface="黑体" panose="02010609060101010101" pitchFamily="49" charset="-122"/>
              </a:rPr>
              <a:t>         V</a:t>
            </a:r>
            <a:r>
              <a:rPr kumimoji="1" lang="en-US" altLang="zh-CN" sz="2800" baseline="-25000" dirty="0">
                <a:solidFill>
                  <a:srgbClr val="FF0000"/>
                </a:solidFill>
                <a:latin typeface="Times New Roman" panose="02020603050405020304" pitchFamily="18" charset="0"/>
                <a:ea typeface="黑体" panose="02010609060101010101" pitchFamily="49" charset="-122"/>
              </a:rPr>
              <a:t>max</a:t>
            </a:r>
            <a:r>
              <a:rPr kumimoji="1" lang="zh-CN" altLang="en-US" sz="2800" dirty="0">
                <a:solidFill>
                  <a:srgbClr val="FF0000"/>
                </a:solidFill>
                <a:latin typeface="Times New Roman" panose="02020603050405020304" pitchFamily="18" charset="0"/>
                <a:ea typeface="黑体" panose="02010609060101010101" pitchFamily="49" charset="-122"/>
              </a:rPr>
              <a:t>降低</a:t>
            </a:r>
            <a:endParaRPr kumimoji="1" lang="en-US" altLang="zh-CN" sz="2800" dirty="0">
              <a:solidFill>
                <a:srgbClr val="FF0000"/>
              </a:solidFill>
              <a:latin typeface="Times New Roman" panose="02020603050405020304" pitchFamily="18" charset="0"/>
              <a:ea typeface="黑体" panose="02010609060101010101" pitchFamily="49" charset="-122"/>
            </a:endParaRPr>
          </a:p>
          <a:p>
            <a:pPr marL="0" indent="0" algn="just" eaLnBrk="1" hangingPunct="1">
              <a:lnSpc>
                <a:spcPct val="120000"/>
              </a:lnSpc>
              <a:spcBef>
                <a:spcPct val="0"/>
              </a:spcBef>
              <a:buClr>
                <a:schemeClr val="tx1">
                  <a:lumMod val="95000"/>
                  <a:lumOff val="5000"/>
                </a:schemeClr>
              </a:buClr>
              <a:buNone/>
            </a:pPr>
            <a:r>
              <a:rPr kumimoji="1" lang="en-US" altLang="zh-CN" sz="2800" dirty="0">
                <a:solidFill>
                  <a:srgbClr val="FF0000"/>
                </a:solidFill>
                <a:latin typeface="Times New Roman" panose="02020603050405020304" pitchFamily="18" charset="0"/>
                <a:ea typeface="黑体" panose="02010609060101010101" pitchFamily="49" charset="-122"/>
              </a:rPr>
              <a:t>        </a:t>
            </a:r>
            <a:r>
              <a:rPr kumimoji="1" lang="zh-CN" altLang="en-US" sz="2800" dirty="0">
                <a:solidFill>
                  <a:srgbClr val="FF0000"/>
                </a:solidFill>
                <a:latin typeface="Times New Roman" panose="02020603050405020304" pitchFamily="18" charset="0"/>
                <a:ea typeface="黑体" panose="02010609060101010101" pitchFamily="49" charset="-122"/>
              </a:rPr>
              <a:t>表观 </a:t>
            </a:r>
            <a:r>
              <a:rPr kumimoji="1" lang="en-US" altLang="zh-CN" sz="2800" dirty="0">
                <a:solidFill>
                  <a:srgbClr val="FF0000"/>
                </a:solidFill>
                <a:latin typeface="Times New Roman" panose="02020603050405020304" pitchFamily="18" charset="0"/>
                <a:ea typeface="黑体" panose="02010609060101010101" pitchFamily="49" charset="-122"/>
              </a:rPr>
              <a:t>K</a:t>
            </a:r>
            <a:r>
              <a:rPr kumimoji="1" lang="en-US" altLang="zh-CN" sz="2800" baseline="-25000" dirty="0">
                <a:solidFill>
                  <a:srgbClr val="FF0000"/>
                </a:solidFill>
                <a:latin typeface="Times New Roman" panose="02020603050405020304" pitchFamily="18" charset="0"/>
                <a:ea typeface="黑体" panose="02010609060101010101" pitchFamily="49" charset="-122"/>
              </a:rPr>
              <a:t>m</a:t>
            </a:r>
            <a:r>
              <a:rPr kumimoji="1" lang="zh-CN" altLang="en-US" sz="2800" dirty="0">
                <a:solidFill>
                  <a:srgbClr val="FF0000"/>
                </a:solidFill>
                <a:latin typeface="Times New Roman" panose="02020603050405020304" pitchFamily="18" charset="0"/>
                <a:ea typeface="黑体" panose="02010609060101010101" pitchFamily="49" charset="-122"/>
              </a:rPr>
              <a:t>不变 </a:t>
            </a:r>
            <a:r>
              <a:rPr kumimoji="1" lang="zh-CN" altLang="en-US" sz="2800" dirty="0">
                <a:latin typeface="Times New Roman" panose="02020603050405020304" pitchFamily="18" charset="0"/>
                <a:ea typeface="黑体" panose="02010609060101010101" pitchFamily="49" charset="-122"/>
              </a:rPr>
              <a:t>                           </a:t>
            </a:r>
          </a:p>
        </p:txBody>
      </p:sp>
      <p:grpSp>
        <p:nvGrpSpPr>
          <p:cNvPr id="2" name="Group 6">
            <a:extLst>
              <a:ext uri="{FF2B5EF4-FFF2-40B4-BE49-F238E27FC236}">
                <a16:creationId xmlns:a16="http://schemas.microsoft.com/office/drawing/2014/main" id="{60594A90-1FC4-476F-A5A5-1BC4661BEE86}"/>
              </a:ext>
            </a:extLst>
          </p:cNvPr>
          <p:cNvGrpSpPr>
            <a:grpSpLocks/>
          </p:cNvGrpSpPr>
          <p:nvPr/>
        </p:nvGrpSpPr>
        <p:grpSpPr bwMode="auto">
          <a:xfrm>
            <a:off x="6240016" y="1651000"/>
            <a:ext cx="5372100" cy="3556000"/>
            <a:chOff x="2328" y="1645"/>
            <a:chExt cx="3384" cy="2240"/>
          </a:xfrm>
        </p:grpSpPr>
        <p:sp>
          <p:nvSpPr>
            <p:cNvPr id="314376" name="Line 7">
              <a:extLst>
                <a:ext uri="{FF2B5EF4-FFF2-40B4-BE49-F238E27FC236}">
                  <a16:creationId xmlns:a16="http://schemas.microsoft.com/office/drawing/2014/main" id="{61425974-0F6F-42A9-B98E-9F2137EAB251}"/>
                </a:ext>
              </a:extLst>
            </p:cNvPr>
            <p:cNvSpPr>
              <a:spLocks noChangeShapeType="1"/>
            </p:cNvSpPr>
            <p:nvPr/>
          </p:nvSpPr>
          <p:spPr bwMode="auto">
            <a:xfrm flipV="1">
              <a:off x="2816" y="3120"/>
              <a:ext cx="432" cy="336"/>
            </a:xfrm>
            <a:prstGeom prst="line">
              <a:avLst/>
            </a:prstGeom>
            <a:noFill/>
            <a:ln w="38100">
              <a:solidFill>
                <a:srgbClr val="C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377" name="Text Box 8">
              <a:extLst>
                <a:ext uri="{FF2B5EF4-FFF2-40B4-BE49-F238E27FC236}">
                  <a16:creationId xmlns:a16="http://schemas.microsoft.com/office/drawing/2014/main" id="{D3F9F98D-2A2E-43FA-AB7C-52CFD2CB9541}"/>
                </a:ext>
              </a:extLst>
            </p:cNvPr>
            <p:cNvSpPr txBox="1">
              <a:spLocks noChangeArrowheads="1"/>
            </p:cNvSpPr>
            <p:nvPr/>
          </p:nvSpPr>
          <p:spPr bwMode="auto">
            <a:xfrm>
              <a:off x="2622" y="1995"/>
              <a:ext cx="11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endParaRPr kumimoji="1" lang="zh-CN" altLang="zh-CN" b="1">
                <a:latin typeface="Times New Roman" panose="02020603050405020304" pitchFamily="18" charset="0"/>
                <a:ea typeface="黑体" panose="02010609060101010101" pitchFamily="49" charset="-122"/>
              </a:endParaRPr>
            </a:p>
          </p:txBody>
        </p:sp>
        <p:sp>
          <p:nvSpPr>
            <p:cNvPr id="314378" name="Line 9">
              <a:extLst>
                <a:ext uri="{FF2B5EF4-FFF2-40B4-BE49-F238E27FC236}">
                  <a16:creationId xmlns:a16="http://schemas.microsoft.com/office/drawing/2014/main" id="{434F707F-AE8A-4BF4-ACA7-B37D1C481F5C}"/>
                </a:ext>
              </a:extLst>
            </p:cNvPr>
            <p:cNvSpPr>
              <a:spLocks noChangeShapeType="1"/>
            </p:cNvSpPr>
            <p:nvPr/>
          </p:nvSpPr>
          <p:spPr bwMode="auto">
            <a:xfrm flipV="1">
              <a:off x="3232" y="1645"/>
              <a:ext cx="1392" cy="1392"/>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314379" name="Line 10">
              <a:extLst>
                <a:ext uri="{FF2B5EF4-FFF2-40B4-BE49-F238E27FC236}">
                  <a16:creationId xmlns:a16="http://schemas.microsoft.com/office/drawing/2014/main" id="{DA9EE2D3-EE55-491E-AA79-3445EA435BEC}"/>
                </a:ext>
              </a:extLst>
            </p:cNvPr>
            <p:cNvSpPr>
              <a:spLocks noChangeShapeType="1"/>
            </p:cNvSpPr>
            <p:nvPr/>
          </p:nvSpPr>
          <p:spPr bwMode="auto">
            <a:xfrm flipV="1">
              <a:off x="3232" y="2125"/>
              <a:ext cx="1344" cy="1017"/>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314380" name="Text Box 11">
              <a:extLst>
                <a:ext uri="{FF2B5EF4-FFF2-40B4-BE49-F238E27FC236}">
                  <a16:creationId xmlns:a16="http://schemas.microsoft.com/office/drawing/2014/main" id="{B98FFE6B-6D6A-4328-9576-308A0DDE184B}"/>
                </a:ext>
              </a:extLst>
            </p:cNvPr>
            <p:cNvSpPr txBox="1">
              <a:spLocks noChangeArrowheads="1"/>
            </p:cNvSpPr>
            <p:nvPr/>
          </p:nvSpPr>
          <p:spPr bwMode="auto">
            <a:xfrm>
              <a:off x="4618" y="1859"/>
              <a:ext cx="102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2800" b="1">
                  <a:solidFill>
                    <a:srgbClr val="C00000"/>
                  </a:solidFill>
                  <a:latin typeface="Times New Roman" panose="02020603050405020304" pitchFamily="18" charset="0"/>
                  <a:ea typeface="黑体" panose="02010609060101010101" pitchFamily="49" charset="-122"/>
                </a:rPr>
                <a:t>抑制剂↑  </a:t>
              </a:r>
            </a:p>
          </p:txBody>
        </p:sp>
        <p:sp>
          <p:nvSpPr>
            <p:cNvPr id="314381" name="Line 12">
              <a:extLst>
                <a:ext uri="{FF2B5EF4-FFF2-40B4-BE49-F238E27FC236}">
                  <a16:creationId xmlns:a16="http://schemas.microsoft.com/office/drawing/2014/main" id="{ADD5B9CD-7AF5-4F51-B653-0E536EAC8B48}"/>
                </a:ext>
              </a:extLst>
            </p:cNvPr>
            <p:cNvSpPr>
              <a:spLocks noChangeShapeType="1"/>
            </p:cNvSpPr>
            <p:nvPr/>
          </p:nvSpPr>
          <p:spPr bwMode="auto">
            <a:xfrm flipV="1">
              <a:off x="2856" y="3021"/>
              <a:ext cx="432" cy="432"/>
            </a:xfrm>
            <a:prstGeom prst="line">
              <a:avLst/>
            </a:prstGeom>
            <a:noFill/>
            <a:ln w="38100">
              <a:solidFill>
                <a:srgbClr val="C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382" name="Line 13">
              <a:extLst>
                <a:ext uri="{FF2B5EF4-FFF2-40B4-BE49-F238E27FC236}">
                  <a16:creationId xmlns:a16="http://schemas.microsoft.com/office/drawing/2014/main" id="{71F54B21-28CE-484D-81E5-5C6BD8FAE485}"/>
                </a:ext>
              </a:extLst>
            </p:cNvPr>
            <p:cNvSpPr>
              <a:spLocks noChangeShapeType="1"/>
            </p:cNvSpPr>
            <p:nvPr/>
          </p:nvSpPr>
          <p:spPr bwMode="auto">
            <a:xfrm flipV="1">
              <a:off x="2328" y="3453"/>
              <a:ext cx="273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314383" name="Line 14">
              <a:extLst>
                <a:ext uri="{FF2B5EF4-FFF2-40B4-BE49-F238E27FC236}">
                  <a16:creationId xmlns:a16="http://schemas.microsoft.com/office/drawing/2014/main" id="{93D96BBF-813F-4828-979E-87C8A119FEE8}"/>
                </a:ext>
              </a:extLst>
            </p:cNvPr>
            <p:cNvSpPr>
              <a:spLocks noChangeShapeType="1"/>
            </p:cNvSpPr>
            <p:nvPr/>
          </p:nvSpPr>
          <p:spPr bwMode="auto">
            <a:xfrm flipV="1">
              <a:off x="3288" y="1869"/>
              <a:ext cx="0" cy="201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314384" name="Line 15">
              <a:extLst>
                <a:ext uri="{FF2B5EF4-FFF2-40B4-BE49-F238E27FC236}">
                  <a16:creationId xmlns:a16="http://schemas.microsoft.com/office/drawing/2014/main" id="{30C8743C-9EEA-43C3-B874-4E770F810963}"/>
                </a:ext>
              </a:extLst>
            </p:cNvPr>
            <p:cNvSpPr>
              <a:spLocks noChangeShapeType="1"/>
            </p:cNvSpPr>
            <p:nvPr/>
          </p:nvSpPr>
          <p:spPr bwMode="auto">
            <a:xfrm flipV="1">
              <a:off x="3288" y="2541"/>
              <a:ext cx="1392" cy="696"/>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txBody>
            <a:bodyPr rot="10800000" vert="eaVert">
              <a:spAutoFit/>
            </a:bodyPr>
            <a:lstStyle/>
            <a:p>
              <a:endParaRPr lang="zh-CN" altLang="en-US"/>
            </a:p>
          </p:txBody>
        </p:sp>
        <p:sp>
          <p:nvSpPr>
            <p:cNvPr id="314385" name="Text Box 16">
              <a:extLst>
                <a:ext uri="{FF2B5EF4-FFF2-40B4-BE49-F238E27FC236}">
                  <a16:creationId xmlns:a16="http://schemas.microsoft.com/office/drawing/2014/main" id="{2944C6FD-D5BD-429C-A948-2B88681618B9}"/>
                </a:ext>
              </a:extLst>
            </p:cNvPr>
            <p:cNvSpPr txBox="1">
              <a:spLocks noChangeArrowheads="1"/>
            </p:cNvSpPr>
            <p:nvPr/>
          </p:nvSpPr>
          <p:spPr bwMode="auto">
            <a:xfrm>
              <a:off x="2576" y="1789"/>
              <a:ext cx="6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1 / V  </a:t>
              </a:r>
            </a:p>
          </p:txBody>
        </p:sp>
        <p:sp>
          <p:nvSpPr>
            <p:cNvPr id="314386" name="Text Box 17">
              <a:extLst>
                <a:ext uri="{FF2B5EF4-FFF2-40B4-BE49-F238E27FC236}">
                  <a16:creationId xmlns:a16="http://schemas.microsoft.com/office/drawing/2014/main" id="{481255BB-753D-4402-A277-518380541FB2}"/>
                </a:ext>
              </a:extLst>
            </p:cNvPr>
            <p:cNvSpPr txBox="1">
              <a:spLocks noChangeArrowheads="1"/>
            </p:cNvSpPr>
            <p:nvPr/>
          </p:nvSpPr>
          <p:spPr bwMode="auto">
            <a:xfrm>
              <a:off x="4488" y="3453"/>
              <a:ext cx="67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1/[S]  </a:t>
              </a:r>
            </a:p>
          </p:txBody>
        </p:sp>
        <p:sp>
          <p:nvSpPr>
            <p:cNvPr id="314387" name="Text Box 18">
              <a:extLst>
                <a:ext uri="{FF2B5EF4-FFF2-40B4-BE49-F238E27FC236}">
                  <a16:creationId xmlns:a16="http://schemas.microsoft.com/office/drawing/2014/main" id="{B70346A8-4911-496B-B54C-EAE777222724}"/>
                </a:ext>
              </a:extLst>
            </p:cNvPr>
            <p:cNvSpPr txBox="1">
              <a:spLocks noChangeArrowheads="1"/>
            </p:cNvSpPr>
            <p:nvPr/>
          </p:nvSpPr>
          <p:spPr bwMode="auto">
            <a:xfrm>
              <a:off x="4584" y="2515"/>
              <a:ext cx="11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b="1">
                  <a:solidFill>
                    <a:schemeClr val="tx2"/>
                  </a:solidFill>
                  <a:latin typeface="Times New Roman" panose="02020603050405020304" pitchFamily="18" charset="0"/>
                  <a:ea typeface="黑体" panose="02010609060101010101" pitchFamily="49" charset="-122"/>
                </a:rPr>
                <a:t>无抑制剂  </a:t>
              </a:r>
            </a:p>
          </p:txBody>
        </p:sp>
        <p:sp>
          <p:nvSpPr>
            <p:cNvPr id="314388" name="Line 19">
              <a:extLst>
                <a:ext uri="{FF2B5EF4-FFF2-40B4-BE49-F238E27FC236}">
                  <a16:creationId xmlns:a16="http://schemas.microsoft.com/office/drawing/2014/main" id="{BA57840F-0AFB-4713-97F0-97F870D6DB64}"/>
                </a:ext>
              </a:extLst>
            </p:cNvPr>
            <p:cNvSpPr>
              <a:spLocks noChangeShapeType="1"/>
            </p:cNvSpPr>
            <p:nvPr/>
          </p:nvSpPr>
          <p:spPr bwMode="auto">
            <a:xfrm flipV="1">
              <a:off x="2856" y="3261"/>
              <a:ext cx="432" cy="192"/>
            </a:xfrm>
            <a:prstGeom prst="line">
              <a:avLst/>
            </a:prstGeom>
            <a:noFill/>
            <a:ln w="38100">
              <a:solidFill>
                <a:srgbClr val="0000CC"/>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16393" name="Picture 22">
            <a:extLst>
              <a:ext uri="{FF2B5EF4-FFF2-40B4-BE49-F238E27FC236}">
                <a16:creationId xmlns:a16="http://schemas.microsoft.com/office/drawing/2014/main" id="{7951C76E-722C-4C9E-9CCE-FBF137CFB8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549" r="54564"/>
          <a:stretch>
            <a:fillRect/>
          </a:stretch>
        </p:blipFill>
        <p:spPr bwMode="auto">
          <a:xfrm>
            <a:off x="6394767" y="2767431"/>
            <a:ext cx="1304097" cy="762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14375" name="标题 4">
            <a:extLst>
              <a:ext uri="{FF2B5EF4-FFF2-40B4-BE49-F238E27FC236}">
                <a16:creationId xmlns:a16="http://schemas.microsoft.com/office/drawing/2014/main" id="{19BDC703-5664-4640-BB6E-B81B2807F934}"/>
              </a:ext>
            </a:extLst>
          </p:cNvPr>
          <p:cNvSpPr txBox="1">
            <a:spLocks/>
          </p:cNvSpPr>
          <p:nvPr/>
        </p:nvSpPr>
        <p:spPr bwMode="auto">
          <a:xfrm>
            <a:off x="1677989" y="279401"/>
            <a:ext cx="8931275" cy="593725"/>
          </a:xfrm>
          <a:prstGeom prst="rect">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Tx/>
              <a:buNone/>
            </a:pPr>
            <a:r>
              <a:rPr kumimoji="1" lang="zh-CN" altLang="en-US" b="1" dirty="0">
                <a:solidFill>
                  <a:schemeClr val="bg1"/>
                </a:solidFill>
                <a:latin typeface="Times New Roman" panose="02020603050405020304" pitchFamily="18" charset="0"/>
                <a:ea typeface="黑体" panose="02010609060101010101" pitchFamily="49" charset="-122"/>
              </a:rPr>
              <a:t> </a:t>
            </a:r>
            <a:r>
              <a:rPr kumimoji="1" lang="en-US" altLang="zh-CN" b="1" dirty="0">
                <a:solidFill>
                  <a:schemeClr val="bg1"/>
                </a:solidFill>
                <a:latin typeface="Times New Roman" panose="02020603050405020304" pitchFamily="18" charset="0"/>
                <a:ea typeface="黑体" panose="02010609060101010101" pitchFamily="49" charset="-122"/>
              </a:rPr>
              <a:t>3.</a:t>
            </a:r>
            <a:r>
              <a:rPr kumimoji="1" lang="zh-CN" altLang="en-US" b="1" dirty="0">
                <a:solidFill>
                  <a:schemeClr val="bg1"/>
                </a:solidFill>
                <a:latin typeface="Times New Roman" panose="02020603050405020304" pitchFamily="18" charset="0"/>
                <a:ea typeface="黑体" panose="02010609060101010101" pitchFamily="49" charset="-122"/>
              </a:rPr>
              <a:t> 非竞争性抑制作用（</a:t>
            </a:r>
            <a:r>
              <a:rPr kumimoji="1" lang="en-US" altLang="zh-CN" b="1" dirty="0">
                <a:solidFill>
                  <a:schemeClr val="bg1"/>
                </a:solidFill>
                <a:latin typeface="Times New Roman" panose="02020603050405020304" pitchFamily="18" charset="0"/>
                <a:ea typeface="黑体" panose="02010609060101010101" pitchFamily="49" charset="-122"/>
              </a:rPr>
              <a:t>noncompetitive inhibition)</a:t>
            </a:r>
            <a:endParaRPr kumimoji="1" lang="zh-CN" altLang="en-US" b="1" dirty="0">
              <a:solidFill>
                <a:schemeClr val="bg1"/>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0" presetClass="entr" presetSubtype="0" fill="hold" grpId="0" nodeType="afterEffect">
                                  <p:stCondLst>
                                    <p:cond delay="0"/>
                                  </p:stCondLst>
                                  <p:childTnLst>
                                    <p:set>
                                      <p:cBhvr>
                                        <p:cTn id="6" dur="1" fill="hold">
                                          <p:stCondLst>
                                            <p:cond delay="0"/>
                                          </p:stCondLst>
                                        </p:cTn>
                                        <p:tgtEl>
                                          <p:spTgt spid="1223683"/>
                                        </p:tgtEl>
                                        <p:attrNameLst>
                                          <p:attrName>style.visibility</p:attrName>
                                        </p:attrNameLst>
                                      </p:cBhvr>
                                      <p:to>
                                        <p:strVal val="visible"/>
                                      </p:to>
                                    </p:set>
                                    <p:animEffect transition="in" filter="wedge">
                                      <p:cBhvr>
                                        <p:cTn id="7" dur="500"/>
                                        <p:tgtEl>
                                          <p:spTgt spid="12236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223684"/>
                                        </p:tgtEl>
                                        <p:attrNameLst>
                                          <p:attrName>style.visibility</p:attrName>
                                        </p:attrNameLst>
                                      </p:cBhvr>
                                      <p:to>
                                        <p:strVal val="visible"/>
                                      </p:to>
                                    </p:set>
                                  </p:childTnLst>
                                </p:cTn>
                              </p:par>
                              <p:par>
                                <p:cTn id="12" presetID="18" presetClass="entr" presetSubtype="12"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strips(downLeft)">
                                      <p:cBhvr>
                                        <p:cTn id="14" dur="500"/>
                                        <p:tgtEl>
                                          <p:spTgt spid="2"/>
                                        </p:tgtEl>
                                      </p:cBhvr>
                                    </p:animEffect>
                                  </p:childTnLst>
                                </p:cTn>
                              </p:par>
                              <p:par>
                                <p:cTn id="15" presetID="3" presetClass="entr" presetSubtype="10" fill="hold" nodeType="withEffect">
                                  <p:stCondLst>
                                    <p:cond delay="0"/>
                                  </p:stCondLst>
                                  <p:childTnLst>
                                    <p:set>
                                      <p:cBhvr>
                                        <p:cTn id="16" dur="1" fill="hold">
                                          <p:stCondLst>
                                            <p:cond delay="0"/>
                                          </p:stCondLst>
                                        </p:cTn>
                                        <p:tgtEl>
                                          <p:spTgt spid="16393"/>
                                        </p:tgtEl>
                                        <p:attrNameLst>
                                          <p:attrName>style.visibility</p:attrName>
                                        </p:attrNameLst>
                                      </p:cBhvr>
                                      <p:to>
                                        <p:strVal val="visible"/>
                                      </p:to>
                                    </p:set>
                                    <p:animEffect transition="in" filter="blinds(horizontal)">
                                      <p:cBhvr>
                                        <p:cTn id="17" dur="500"/>
                                        <p:tgtEl>
                                          <p:spTgt spid="163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2236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3683" grpId="0" autoUpdateAnimBg="0"/>
      <p:bldP spid="1223684" grpId="0" autoUpdateAnimBg="0"/>
      <p:bldP spid="1223685" grpId="0"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a:extLst>
              <a:ext uri="{FF2B5EF4-FFF2-40B4-BE49-F238E27FC236}">
                <a16:creationId xmlns:a16="http://schemas.microsoft.com/office/drawing/2014/main" id="{A0B735FE-C222-4A18-BE69-220A2C93C1C7}"/>
              </a:ext>
            </a:extLst>
          </p:cNvPr>
          <p:cNvSpPr>
            <a:spLocks noChangeArrowheads="1"/>
          </p:cNvSpPr>
          <p:nvPr/>
        </p:nvSpPr>
        <p:spPr bwMode="auto">
          <a:xfrm>
            <a:off x="3935760" y="719674"/>
            <a:ext cx="51831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zh-CN" altLang="en-US" b="1" dirty="0">
                <a:solidFill>
                  <a:srgbClr val="FF3300"/>
                </a:solidFill>
                <a:latin typeface="Times New Roman" panose="02020603050405020304" pitchFamily="18" charset="0"/>
                <a:ea typeface="黑体" panose="02010609060101010101" pitchFamily="49" charset="-122"/>
              </a:rPr>
              <a:t>三种可逆性抑制的比较</a:t>
            </a:r>
            <a:r>
              <a:rPr kumimoji="1" lang="zh-CN" altLang="en-US" b="1" dirty="0">
                <a:solidFill>
                  <a:srgbClr val="0000FF"/>
                </a:solidFill>
                <a:latin typeface="Times New Roman" panose="02020603050405020304" pitchFamily="18" charset="0"/>
                <a:ea typeface="黑体" panose="02010609060101010101" pitchFamily="49" charset="-122"/>
              </a:rPr>
              <a:t> </a:t>
            </a:r>
          </a:p>
        </p:txBody>
      </p:sp>
      <p:pic>
        <p:nvPicPr>
          <p:cNvPr id="3" name="图片 2">
            <a:extLst>
              <a:ext uri="{FF2B5EF4-FFF2-40B4-BE49-F238E27FC236}">
                <a16:creationId xmlns:a16="http://schemas.microsoft.com/office/drawing/2014/main" id="{4B900CDC-94CE-CC75-B24A-19EE4D7B5438}"/>
              </a:ext>
            </a:extLst>
          </p:cNvPr>
          <p:cNvPicPr>
            <a:picLocks noChangeAspect="1"/>
          </p:cNvPicPr>
          <p:nvPr/>
        </p:nvPicPr>
        <p:blipFill>
          <a:blip r:embed="rId3"/>
          <a:stretch>
            <a:fillRect/>
          </a:stretch>
        </p:blipFill>
        <p:spPr>
          <a:xfrm>
            <a:off x="486763" y="1643676"/>
            <a:ext cx="11218474" cy="4464495"/>
          </a:xfrm>
          <a:prstGeom prst="rect">
            <a:avLst/>
          </a:prstGeom>
        </p:spPr>
      </p:pic>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20514" name="标题 6">
            <a:extLst>
              <a:ext uri="{FF2B5EF4-FFF2-40B4-BE49-F238E27FC236}">
                <a16:creationId xmlns:a16="http://schemas.microsoft.com/office/drawing/2014/main" id="{5A804D19-1CA3-4C75-ACDE-9328564EC3EB}"/>
              </a:ext>
            </a:extLst>
          </p:cNvPr>
          <p:cNvSpPr>
            <a:spLocks noGrp="1" noChangeArrowheads="1"/>
          </p:cNvSpPr>
          <p:nvPr>
            <p:ph type="title"/>
          </p:nvPr>
        </p:nvSpPr>
        <p:spPr>
          <a:xfrm>
            <a:off x="2317751" y="109538"/>
            <a:ext cx="7847013" cy="881062"/>
          </a:xfrm>
        </p:spPr>
        <p:txBody>
          <a:bodyPr/>
          <a:lstStyle/>
          <a:p>
            <a:r>
              <a:rPr lang="zh-CN" altLang="en-US" sz="3200" b="1">
                <a:solidFill>
                  <a:srgbClr val="0000CC"/>
                </a:solidFill>
              </a:rPr>
              <a:t>双倒数做图可用于判断抑制剂的类型</a:t>
            </a:r>
          </a:p>
        </p:txBody>
      </p:sp>
      <p:pic>
        <p:nvPicPr>
          <p:cNvPr id="320515" name="图片 8">
            <a:extLst>
              <a:ext uri="{FF2B5EF4-FFF2-40B4-BE49-F238E27FC236}">
                <a16:creationId xmlns:a16="http://schemas.microsoft.com/office/drawing/2014/main" id="{3FFCAA1F-F323-4BE7-884E-0688ACE11E6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74825" y="1557338"/>
            <a:ext cx="8662988"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0516" name="文本框 9">
            <a:extLst>
              <a:ext uri="{FF2B5EF4-FFF2-40B4-BE49-F238E27FC236}">
                <a16:creationId xmlns:a16="http://schemas.microsoft.com/office/drawing/2014/main" id="{3695E340-E3BC-4F1B-B04D-3011DEEFB97C}"/>
              </a:ext>
            </a:extLst>
          </p:cNvPr>
          <p:cNvSpPr txBox="1">
            <a:spLocks noChangeArrowheads="1"/>
          </p:cNvSpPr>
          <p:nvPr/>
        </p:nvSpPr>
        <p:spPr bwMode="auto">
          <a:xfrm>
            <a:off x="2257425" y="5127626"/>
            <a:ext cx="7907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b="1">
                <a:solidFill>
                  <a:srgbClr val="006600"/>
                </a:solidFill>
              </a:rPr>
              <a:t>竞争性抑制          反竞争性抑制          混合性抑制</a:t>
            </a: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34946" name="Text Box 2">
            <a:extLst>
              <a:ext uri="{FF2B5EF4-FFF2-40B4-BE49-F238E27FC236}">
                <a16:creationId xmlns:a16="http://schemas.microsoft.com/office/drawing/2014/main" id="{07486759-0EAC-4259-9BDD-63D03681C128}"/>
              </a:ext>
            </a:extLst>
          </p:cNvPr>
          <p:cNvSpPr txBox="1">
            <a:spLocks noChangeArrowheads="1"/>
          </p:cNvSpPr>
          <p:nvPr/>
        </p:nvSpPr>
        <p:spPr bwMode="auto">
          <a:xfrm>
            <a:off x="3432176" y="3860801"/>
            <a:ext cx="5184775" cy="519113"/>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endParaRPr lang="zh-CN" altLang="zh-CN" sz="2800">
              <a:latin typeface="Arial" panose="020B0604020202020204" pitchFamily="34" charset="0"/>
            </a:endParaRPr>
          </a:p>
        </p:txBody>
      </p:sp>
      <p:sp>
        <p:nvSpPr>
          <p:cNvPr id="322563" name="Rectangle 3">
            <a:extLst>
              <a:ext uri="{FF2B5EF4-FFF2-40B4-BE49-F238E27FC236}">
                <a16:creationId xmlns:a16="http://schemas.microsoft.com/office/drawing/2014/main" id="{F2297256-5F3E-4679-BE73-44202E9C7857}"/>
              </a:ext>
            </a:extLst>
          </p:cNvPr>
          <p:cNvSpPr>
            <a:spLocks noChangeArrowheads="1"/>
          </p:cNvSpPr>
          <p:nvPr/>
        </p:nvSpPr>
        <p:spPr bwMode="auto">
          <a:xfrm>
            <a:off x="2279651" y="1052514"/>
            <a:ext cx="88566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None/>
            </a:pPr>
            <a:r>
              <a:rPr lang="zh-CN" altLang="en-US" sz="2800" dirty="0">
                <a:solidFill>
                  <a:srgbClr val="0000CC"/>
                </a:solidFill>
                <a:latin typeface="Times New Roman" panose="02020603050405020304" pitchFamily="18" charset="0"/>
                <a:ea typeface="黑体" panose="02010609060101010101" pitchFamily="49" charset="-122"/>
              </a:rPr>
              <a:t>非竞争性抑制剂存在时，酶促反应动力学的特点是：</a:t>
            </a:r>
          </a:p>
        </p:txBody>
      </p:sp>
      <p:sp>
        <p:nvSpPr>
          <p:cNvPr id="322564" name="Rectangle 4">
            <a:extLst>
              <a:ext uri="{FF2B5EF4-FFF2-40B4-BE49-F238E27FC236}">
                <a16:creationId xmlns:a16="http://schemas.microsoft.com/office/drawing/2014/main" id="{4D8E87CE-BDE5-40E7-ACE4-96FD58DC1A3D}"/>
              </a:ext>
            </a:extLst>
          </p:cNvPr>
          <p:cNvSpPr>
            <a:spLocks noChangeArrowheads="1"/>
          </p:cNvSpPr>
          <p:nvPr/>
        </p:nvSpPr>
        <p:spPr bwMode="auto">
          <a:xfrm>
            <a:off x="3648075" y="1773238"/>
            <a:ext cx="46482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buClr>
                <a:schemeClr val="tx1"/>
              </a:buClr>
              <a:buFontTx/>
              <a:buAutoNum type="alphaUcPeriod"/>
            </a:pPr>
            <a:r>
              <a:rPr lang="en-US" altLang="zh-CN" sz="2800" b="1">
                <a:latin typeface="Times New Roman" panose="02020603050405020304" pitchFamily="18" charset="0"/>
                <a:ea typeface="黑体" panose="02010609060101010101" pitchFamily="49" charset="-122"/>
              </a:rPr>
              <a:t>K</a:t>
            </a:r>
            <a:r>
              <a:rPr lang="en-GB" altLang="zh-CN" sz="2800" b="1">
                <a:latin typeface="Times New Roman" panose="02020603050405020304" pitchFamily="18" charset="0"/>
                <a:ea typeface="黑体" panose="02010609060101010101" pitchFamily="49" charset="-122"/>
              </a:rPr>
              <a:t>m</a:t>
            </a:r>
            <a:r>
              <a:rPr lang="zh-CN" altLang="en-GB" sz="2800" b="1">
                <a:latin typeface="Times New Roman" panose="02020603050405020304" pitchFamily="18" charset="0"/>
                <a:ea typeface="黑体" panose="02010609060101010101" pitchFamily="49" charset="-122"/>
              </a:rPr>
              <a:t>值增大，</a:t>
            </a:r>
            <a:r>
              <a:rPr lang="en-GB" altLang="zh-CN" sz="2800" b="1">
                <a:latin typeface="Times New Roman" panose="02020603050405020304" pitchFamily="18" charset="0"/>
                <a:ea typeface="黑体" panose="02010609060101010101" pitchFamily="49" charset="-122"/>
              </a:rPr>
              <a:t>Vmax</a:t>
            </a:r>
            <a:r>
              <a:rPr lang="zh-CN" altLang="en-GB" sz="2800" b="1">
                <a:latin typeface="Times New Roman" panose="02020603050405020304" pitchFamily="18" charset="0"/>
                <a:ea typeface="黑体" panose="02010609060101010101" pitchFamily="49" charset="-122"/>
              </a:rPr>
              <a:t>不变</a:t>
            </a:r>
          </a:p>
          <a:p>
            <a:pPr eaLnBrk="1" hangingPunct="1">
              <a:lnSpc>
                <a:spcPct val="150000"/>
              </a:lnSpc>
              <a:spcBef>
                <a:spcPct val="0"/>
              </a:spcBef>
              <a:buClr>
                <a:schemeClr val="tx1"/>
              </a:buClr>
              <a:buFontTx/>
              <a:buAutoNum type="alphaUcPeriod"/>
            </a:pPr>
            <a:r>
              <a:rPr lang="en-US" altLang="zh-CN" sz="2800" b="1">
                <a:latin typeface="Times New Roman" panose="02020603050405020304" pitchFamily="18" charset="0"/>
                <a:ea typeface="黑体" panose="02010609060101010101" pitchFamily="49" charset="-122"/>
              </a:rPr>
              <a:t>K</a:t>
            </a:r>
            <a:r>
              <a:rPr lang="en-GB" altLang="zh-CN" sz="2800" b="1">
                <a:latin typeface="Times New Roman" panose="02020603050405020304" pitchFamily="18" charset="0"/>
                <a:ea typeface="黑体" panose="02010609060101010101" pitchFamily="49" charset="-122"/>
              </a:rPr>
              <a:t>m</a:t>
            </a:r>
            <a:r>
              <a:rPr lang="zh-CN" altLang="en-GB" sz="2800" b="1">
                <a:latin typeface="Times New Roman" panose="02020603050405020304" pitchFamily="18" charset="0"/>
                <a:ea typeface="黑体" panose="02010609060101010101" pitchFamily="49" charset="-122"/>
              </a:rPr>
              <a:t>值降低，</a:t>
            </a:r>
            <a:r>
              <a:rPr lang="en-GB" altLang="zh-CN" sz="2800" b="1">
                <a:latin typeface="Times New Roman" panose="02020603050405020304" pitchFamily="18" charset="0"/>
                <a:ea typeface="黑体" panose="02010609060101010101" pitchFamily="49" charset="-122"/>
              </a:rPr>
              <a:t>Vmax</a:t>
            </a:r>
            <a:r>
              <a:rPr lang="zh-CN" altLang="en-GB" sz="2800" b="1">
                <a:latin typeface="Times New Roman" panose="02020603050405020304" pitchFamily="18" charset="0"/>
                <a:ea typeface="黑体" panose="02010609060101010101" pitchFamily="49" charset="-122"/>
              </a:rPr>
              <a:t>不变</a:t>
            </a:r>
          </a:p>
          <a:p>
            <a:pPr eaLnBrk="1" hangingPunct="1">
              <a:lnSpc>
                <a:spcPct val="150000"/>
              </a:lnSpc>
              <a:spcBef>
                <a:spcPct val="0"/>
              </a:spcBef>
              <a:buClr>
                <a:schemeClr val="tx1"/>
              </a:buClr>
              <a:buFontTx/>
              <a:buAutoNum type="alphaUcPeriod"/>
            </a:pPr>
            <a:r>
              <a:rPr lang="en-US" altLang="zh-CN" sz="2800" b="1">
                <a:latin typeface="Times New Roman" panose="02020603050405020304" pitchFamily="18" charset="0"/>
                <a:ea typeface="黑体" panose="02010609060101010101" pitchFamily="49" charset="-122"/>
              </a:rPr>
              <a:t>K</a:t>
            </a:r>
            <a:r>
              <a:rPr lang="en-GB" altLang="zh-CN" sz="2800" b="1">
                <a:latin typeface="Times New Roman" panose="02020603050405020304" pitchFamily="18" charset="0"/>
                <a:ea typeface="黑体" panose="02010609060101010101" pitchFamily="49" charset="-122"/>
              </a:rPr>
              <a:t>m</a:t>
            </a:r>
            <a:r>
              <a:rPr lang="zh-CN" altLang="en-GB" sz="2800" b="1">
                <a:latin typeface="Times New Roman" panose="02020603050405020304" pitchFamily="18" charset="0"/>
                <a:ea typeface="黑体" panose="02010609060101010101" pitchFamily="49" charset="-122"/>
              </a:rPr>
              <a:t>值不变，</a:t>
            </a:r>
            <a:r>
              <a:rPr lang="en-GB" altLang="zh-CN" sz="2800" b="1">
                <a:latin typeface="Times New Roman" panose="02020603050405020304" pitchFamily="18" charset="0"/>
                <a:ea typeface="黑体" panose="02010609060101010101" pitchFamily="49" charset="-122"/>
              </a:rPr>
              <a:t>Vmax</a:t>
            </a:r>
            <a:r>
              <a:rPr lang="zh-CN" altLang="en-GB" sz="2800" b="1">
                <a:latin typeface="Times New Roman" panose="02020603050405020304" pitchFamily="18" charset="0"/>
                <a:ea typeface="黑体" panose="02010609060101010101" pitchFamily="49" charset="-122"/>
              </a:rPr>
              <a:t>增大</a:t>
            </a:r>
          </a:p>
          <a:p>
            <a:pPr eaLnBrk="1" hangingPunct="1">
              <a:lnSpc>
                <a:spcPct val="150000"/>
              </a:lnSpc>
              <a:spcBef>
                <a:spcPct val="0"/>
              </a:spcBef>
              <a:buClr>
                <a:schemeClr val="tx1"/>
              </a:buClr>
              <a:buFontTx/>
              <a:buAutoNum type="alphaUcPeriod"/>
            </a:pPr>
            <a:r>
              <a:rPr lang="en-US" altLang="zh-CN" sz="2800" b="1">
                <a:latin typeface="Times New Roman" panose="02020603050405020304" pitchFamily="18" charset="0"/>
                <a:ea typeface="黑体" panose="02010609060101010101" pitchFamily="49" charset="-122"/>
              </a:rPr>
              <a:t>K</a:t>
            </a:r>
            <a:r>
              <a:rPr lang="en-GB" altLang="zh-CN" sz="2800" b="1">
                <a:latin typeface="Times New Roman" panose="02020603050405020304" pitchFamily="18" charset="0"/>
                <a:ea typeface="黑体" panose="02010609060101010101" pitchFamily="49" charset="-122"/>
              </a:rPr>
              <a:t>m</a:t>
            </a:r>
            <a:r>
              <a:rPr lang="zh-CN" altLang="en-GB" sz="2800" b="1">
                <a:latin typeface="Times New Roman" panose="02020603050405020304" pitchFamily="18" charset="0"/>
                <a:ea typeface="黑体" panose="02010609060101010101" pitchFamily="49" charset="-122"/>
              </a:rPr>
              <a:t>值不变，</a:t>
            </a:r>
            <a:r>
              <a:rPr lang="en-GB" altLang="zh-CN" sz="2800" b="1">
                <a:latin typeface="Times New Roman" panose="02020603050405020304" pitchFamily="18" charset="0"/>
                <a:ea typeface="黑体" panose="02010609060101010101" pitchFamily="49" charset="-122"/>
              </a:rPr>
              <a:t>Vmax</a:t>
            </a:r>
            <a:r>
              <a:rPr lang="zh-CN" altLang="en-GB" sz="2800" b="1">
                <a:latin typeface="Times New Roman" panose="02020603050405020304" pitchFamily="18" charset="0"/>
                <a:ea typeface="黑体" panose="02010609060101010101" pitchFamily="49" charset="-122"/>
              </a:rPr>
              <a:t>降低</a:t>
            </a:r>
          </a:p>
          <a:p>
            <a:pPr eaLnBrk="1" hangingPunct="1">
              <a:lnSpc>
                <a:spcPct val="150000"/>
              </a:lnSpc>
              <a:spcBef>
                <a:spcPct val="0"/>
              </a:spcBef>
              <a:buClr>
                <a:schemeClr val="tx1"/>
              </a:buClr>
              <a:buFontTx/>
              <a:buAutoNum type="alphaUcPeriod"/>
            </a:pPr>
            <a:r>
              <a:rPr lang="en-US" altLang="zh-CN" sz="2800" b="1">
                <a:latin typeface="Times New Roman" panose="02020603050405020304" pitchFamily="18" charset="0"/>
                <a:ea typeface="黑体" panose="02010609060101010101" pitchFamily="49" charset="-122"/>
              </a:rPr>
              <a:t>K</a:t>
            </a:r>
            <a:r>
              <a:rPr lang="en-GB" altLang="zh-CN" sz="2800" b="1">
                <a:latin typeface="Times New Roman" panose="02020603050405020304" pitchFamily="18" charset="0"/>
                <a:ea typeface="黑体" panose="02010609060101010101" pitchFamily="49" charset="-122"/>
              </a:rPr>
              <a:t>m</a:t>
            </a:r>
            <a:r>
              <a:rPr lang="zh-CN" altLang="en-GB" sz="2800" b="1">
                <a:latin typeface="Times New Roman" panose="02020603050405020304" pitchFamily="18" charset="0"/>
                <a:ea typeface="黑体" panose="02010609060101010101" pitchFamily="49" charset="-122"/>
              </a:rPr>
              <a:t>值和</a:t>
            </a:r>
            <a:r>
              <a:rPr lang="en-GB" altLang="zh-CN" sz="2800" b="1">
                <a:latin typeface="Times New Roman" panose="02020603050405020304" pitchFamily="18" charset="0"/>
                <a:ea typeface="黑体" panose="02010609060101010101" pitchFamily="49" charset="-122"/>
              </a:rPr>
              <a:t>Vmax</a:t>
            </a:r>
            <a:r>
              <a:rPr lang="zh-CN" altLang="en-GB" sz="2800" b="1">
                <a:latin typeface="Times New Roman" panose="02020603050405020304" pitchFamily="18" charset="0"/>
                <a:ea typeface="黑体" panose="02010609060101010101" pitchFamily="49" charset="-122"/>
              </a:rPr>
              <a:t>均降低</a:t>
            </a:r>
            <a:endParaRPr lang="zh-CN" altLang="en-US" sz="2800" b="1">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4946"/>
                                        </p:tgtEl>
                                        <p:attrNameLst>
                                          <p:attrName>style.visibility</p:attrName>
                                        </p:attrNameLst>
                                      </p:cBhvr>
                                      <p:to>
                                        <p:strVal val="visible"/>
                                      </p:to>
                                    </p:set>
                                    <p:animEffect transition="in" filter="wipe(left)">
                                      <p:cBhvr>
                                        <p:cTn id="7" dur="500"/>
                                        <p:tgtEl>
                                          <p:spTgt spid="1234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4946" grpId="0" animBg="1"/>
    </p:bldLst>
  </p:timing>
</p:sld>
</file>

<file path=ppt/slides/slide1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6994" name="Rectangle 2">
            <a:extLst>
              <a:ext uri="{FF2B5EF4-FFF2-40B4-BE49-F238E27FC236}">
                <a16:creationId xmlns:a16="http://schemas.microsoft.com/office/drawing/2014/main" id="{E462C509-5CE1-4806-905A-5C0B4D37E04B}"/>
              </a:ext>
            </a:extLst>
          </p:cNvPr>
          <p:cNvSpPr>
            <a:spLocks noGrp="1" noChangeArrowheads="1"/>
          </p:cNvSpPr>
          <p:nvPr>
            <p:ph type="body" idx="1"/>
          </p:nvPr>
        </p:nvSpPr>
        <p:spPr>
          <a:xfrm>
            <a:off x="2208213" y="1773239"/>
            <a:ext cx="8064500" cy="4537075"/>
          </a:xfrm>
        </p:spPr>
        <p:txBody>
          <a:bodyPr/>
          <a:lstStyle/>
          <a:p>
            <a:pPr marL="355600" indent="-355600" eaLnBrk="1" hangingPunct="1">
              <a:buFont typeface="Wingdings" panose="05000000000000000000" pitchFamily="2" charset="2"/>
              <a:buChar char="Ø"/>
            </a:pPr>
            <a:r>
              <a:rPr lang="zh-CN" altLang="en-US" b="0" dirty="0">
                <a:solidFill>
                  <a:srgbClr val="FF3300"/>
                </a:solidFill>
                <a:latin typeface="Times New Roman" panose="02020603050405020304" pitchFamily="18" charset="0"/>
                <a:ea typeface="黑体" panose="02010609060101010101" pitchFamily="49" charset="-122"/>
              </a:rPr>
              <a:t>激活剂</a:t>
            </a:r>
            <a:r>
              <a:rPr lang="en-US" altLang="zh-CN" b="0" dirty="0">
                <a:solidFill>
                  <a:srgbClr val="FF3300"/>
                </a:solidFill>
                <a:latin typeface="Times New Roman" panose="02020603050405020304" pitchFamily="18" charset="0"/>
                <a:ea typeface="黑体" panose="02010609060101010101" pitchFamily="49" charset="-122"/>
              </a:rPr>
              <a:t>(activator)</a:t>
            </a:r>
          </a:p>
          <a:p>
            <a:pPr marL="355600" indent="-355600" eaLnBrk="1" hangingPunct="1">
              <a:buNone/>
            </a:pPr>
            <a:r>
              <a:rPr lang="en-US" altLang="zh-CN" b="0" dirty="0">
                <a:latin typeface="Times New Roman" panose="02020603050405020304" pitchFamily="18" charset="0"/>
                <a:ea typeface="黑体" panose="02010609060101010101" pitchFamily="49" charset="-122"/>
              </a:rPr>
              <a:t>   </a:t>
            </a:r>
            <a:r>
              <a:rPr lang="zh-CN" altLang="en-US" sz="2800" b="0" dirty="0">
                <a:latin typeface="Times New Roman" panose="02020603050405020304" pitchFamily="18" charset="0"/>
                <a:ea typeface="黑体" panose="02010609060101010101" pitchFamily="49" charset="-122"/>
              </a:rPr>
              <a:t>使酶由无活性变为有活性或使酶活性增加的物质，大多为金属离子。</a:t>
            </a:r>
            <a:endParaRPr lang="zh-CN" altLang="en-US" b="0" dirty="0">
              <a:latin typeface="Times New Roman" panose="02020603050405020304" pitchFamily="18" charset="0"/>
              <a:ea typeface="黑体" panose="02010609060101010101" pitchFamily="49" charset="-122"/>
            </a:endParaRPr>
          </a:p>
          <a:p>
            <a:pPr marL="714375" lvl="2" indent="184150" eaLnBrk="1" hangingPunct="1">
              <a:buNone/>
            </a:pPr>
            <a:r>
              <a:rPr lang="en-US" altLang="zh-CN" sz="2800" b="0" dirty="0">
                <a:solidFill>
                  <a:srgbClr val="0000CC"/>
                </a:solidFill>
                <a:latin typeface="Times New Roman" panose="02020603050405020304" pitchFamily="18" charset="0"/>
                <a:ea typeface="黑体" panose="02010609060101010101" pitchFamily="49" charset="-122"/>
              </a:rPr>
              <a:t>• </a:t>
            </a:r>
            <a:r>
              <a:rPr lang="zh-CN" altLang="en-US" sz="2800" b="0" dirty="0">
                <a:solidFill>
                  <a:srgbClr val="0000CC"/>
                </a:solidFill>
                <a:latin typeface="Times New Roman" panose="02020603050405020304" pitchFamily="18" charset="0"/>
                <a:ea typeface="黑体" panose="02010609060101010101" pitchFamily="49" charset="-122"/>
              </a:rPr>
              <a:t>必需激活剂 </a:t>
            </a:r>
            <a:r>
              <a:rPr lang="en-US" altLang="zh-CN" sz="2800" b="0" dirty="0">
                <a:solidFill>
                  <a:srgbClr val="0000CC"/>
                </a:solidFill>
                <a:latin typeface="Times New Roman" panose="02020603050405020304" pitchFamily="18" charset="0"/>
                <a:ea typeface="黑体" panose="02010609060101010101" pitchFamily="49" charset="-122"/>
              </a:rPr>
              <a:t>(essential activator)</a:t>
            </a:r>
          </a:p>
          <a:p>
            <a:pPr marL="714375" lvl="2" indent="184150" eaLnBrk="1" hangingPunct="1">
              <a:buNone/>
            </a:pPr>
            <a:r>
              <a:rPr lang="en-GB" altLang="zh-CN" sz="2800" b="0" dirty="0">
                <a:solidFill>
                  <a:schemeClr val="tx2"/>
                </a:solidFill>
                <a:latin typeface="Times New Roman" panose="02020603050405020304" pitchFamily="18" charset="0"/>
                <a:ea typeface="黑体" panose="02010609060101010101" pitchFamily="49" charset="-122"/>
              </a:rPr>
              <a:t>          </a:t>
            </a:r>
            <a:r>
              <a:rPr lang="en-GB" altLang="zh-CN" b="0" dirty="0">
                <a:solidFill>
                  <a:schemeClr val="tx2"/>
                </a:solidFill>
                <a:latin typeface="Times New Roman" panose="02020603050405020304" pitchFamily="18" charset="0"/>
                <a:ea typeface="黑体" panose="02010609060101010101" pitchFamily="49" charset="-122"/>
              </a:rPr>
              <a:t>Mg</a:t>
            </a:r>
            <a:r>
              <a:rPr lang="en-GB" altLang="zh-CN" b="0" baseline="30000" dirty="0">
                <a:solidFill>
                  <a:schemeClr val="tx2"/>
                </a:solidFill>
                <a:latin typeface="Times New Roman" panose="02020603050405020304" pitchFamily="18" charset="0"/>
                <a:ea typeface="黑体" panose="02010609060101010101" pitchFamily="49" charset="-122"/>
              </a:rPr>
              <a:t>2+ </a:t>
            </a:r>
            <a:r>
              <a:rPr lang="zh-CN" altLang="en-GB" b="0" dirty="0">
                <a:solidFill>
                  <a:schemeClr val="tx2"/>
                </a:solidFill>
                <a:latin typeface="Times New Roman" panose="02020603050405020304" pitchFamily="18" charset="0"/>
                <a:ea typeface="黑体" panose="02010609060101010101" pitchFamily="49" charset="-122"/>
              </a:rPr>
              <a:t>对于</a:t>
            </a:r>
            <a:r>
              <a:rPr lang="zh-CN" altLang="en-US" b="0" dirty="0">
                <a:solidFill>
                  <a:schemeClr val="tx2"/>
                </a:solidFill>
                <a:latin typeface="Times New Roman" panose="02020603050405020304" pitchFamily="18" charset="0"/>
                <a:ea typeface="黑体" panose="02010609060101010101" pitchFamily="49" charset="-122"/>
              </a:rPr>
              <a:t>己</a:t>
            </a:r>
            <a:r>
              <a:rPr lang="zh-CN" altLang="en-GB" b="0" dirty="0">
                <a:solidFill>
                  <a:schemeClr val="tx2"/>
                </a:solidFill>
                <a:latin typeface="Times New Roman" panose="02020603050405020304" pitchFamily="18" charset="0"/>
                <a:ea typeface="黑体" panose="02010609060101010101" pitchFamily="49" charset="-122"/>
              </a:rPr>
              <a:t>糖激酶</a:t>
            </a:r>
            <a:endParaRPr lang="zh-CN" altLang="en-US" b="0" dirty="0">
              <a:solidFill>
                <a:schemeClr val="tx2"/>
              </a:solidFill>
              <a:latin typeface="Times New Roman" panose="02020603050405020304" pitchFamily="18" charset="0"/>
              <a:ea typeface="黑体" panose="02010609060101010101" pitchFamily="49" charset="-122"/>
            </a:endParaRPr>
          </a:p>
          <a:p>
            <a:pPr marL="714375" lvl="2" indent="184150" eaLnBrk="1" hangingPunct="1">
              <a:lnSpc>
                <a:spcPct val="150000"/>
              </a:lnSpc>
              <a:buNone/>
            </a:pPr>
            <a:r>
              <a:rPr lang="en-US" altLang="zh-CN" sz="2800" b="0" dirty="0">
                <a:solidFill>
                  <a:srgbClr val="0000CC"/>
                </a:solidFill>
                <a:latin typeface="Times New Roman" panose="02020603050405020304" pitchFamily="18" charset="0"/>
                <a:ea typeface="黑体" panose="02010609060101010101" pitchFamily="49" charset="-122"/>
              </a:rPr>
              <a:t>• </a:t>
            </a:r>
            <a:r>
              <a:rPr lang="zh-CN" altLang="en-US" sz="2800" b="0" dirty="0">
                <a:solidFill>
                  <a:srgbClr val="0000CC"/>
                </a:solidFill>
                <a:latin typeface="Times New Roman" panose="02020603050405020304" pitchFamily="18" charset="0"/>
                <a:ea typeface="黑体" panose="02010609060101010101" pitchFamily="49" charset="-122"/>
              </a:rPr>
              <a:t>非必需激活剂 </a:t>
            </a:r>
            <a:r>
              <a:rPr lang="en-US" altLang="zh-CN" sz="2800" b="0" dirty="0">
                <a:solidFill>
                  <a:srgbClr val="0000CC"/>
                </a:solidFill>
                <a:latin typeface="Times New Roman" panose="02020603050405020304" pitchFamily="18" charset="0"/>
                <a:ea typeface="黑体" panose="02010609060101010101" pitchFamily="49" charset="-122"/>
              </a:rPr>
              <a:t>(non-essential activator)</a:t>
            </a:r>
          </a:p>
          <a:p>
            <a:pPr marL="714375" lvl="2" indent="184150" eaLnBrk="1" hangingPunct="1">
              <a:buNone/>
            </a:pPr>
            <a:r>
              <a:rPr lang="en-US" altLang="zh-CN" sz="2800" b="0" dirty="0">
                <a:solidFill>
                  <a:schemeClr val="tx2"/>
                </a:solidFill>
                <a:latin typeface="Times New Roman" panose="02020603050405020304" pitchFamily="18" charset="0"/>
                <a:ea typeface="黑体" panose="02010609060101010101" pitchFamily="49" charset="-122"/>
              </a:rPr>
              <a:t>          </a:t>
            </a:r>
            <a:r>
              <a:rPr lang="en-US" altLang="zh-CN" b="0" dirty="0">
                <a:solidFill>
                  <a:schemeClr val="tx2"/>
                </a:solidFill>
                <a:latin typeface="Times New Roman" panose="02020603050405020304" pitchFamily="18" charset="0"/>
                <a:ea typeface="黑体" panose="02010609060101010101" pitchFamily="49" charset="-122"/>
              </a:rPr>
              <a:t>Cl</a:t>
            </a:r>
            <a:r>
              <a:rPr lang="en-US" altLang="zh-CN" b="0" baseline="30000" dirty="0">
                <a:solidFill>
                  <a:schemeClr val="tx2"/>
                </a:solidFill>
                <a:latin typeface="Times New Roman" panose="02020603050405020304" pitchFamily="18" charset="0"/>
                <a:ea typeface="黑体" panose="02010609060101010101" pitchFamily="49" charset="-122"/>
              </a:rPr>
              <a:t>- </a:t>
            </a:r>
            <a:r>
              <a:rPr lang="zh-CN" altLang="en-US" b="0" dirty="0">
                <a:solidFill>
                  <a:schemeClr val="tx2"/>
                </a:solidFill>
                <a:latin typeface="Times New Roman" panose="02020603050405020304" pitchFamily="18" charset="0"/>
                <a:ea typeface="黑体" panose="02010609060101010101" pitchFamily="49" charset="-122"/>
              </a:rPr>
              <a:t>对于唾液淀粉酶</a:t>
            </a:r>
          </a:p>
        </p:txBody>
      </p:sp>
      <p:sp>
        <p:nvSpPr>
          <p:cNvPr id="324611" name="AutoShape 3">
            <a:extLst>
              <a:ext uri="{FF2B5EF4-FFF2-40B4-BE49-F238E27FC236}">
                <a16:creationId xmlns:a16="http://schemas.microsoft.com/office/drawing/2014/main" id="{71FF5DCF-9465-4BBA-A0F8-7A146E1B847D}"/>
              </a:ext>
            </a:extLst>
          </p:cNvPr>
          <p:cNvSpPr>
            <a:spLocks noChangeArrowheads="1"/>
          </p:cNvSpPr>
          <p:nvPr/>
        </p:nvSpPr>
        <p:spPr bwMode="auto">
          <a:xfrm>
            <a:off x="3359944" y="534988"/>
            <a:ext cx="5472112" cy="720725"/>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lang="zh-CN" altLang="en-US" b="1">
                <a:solidFill>
                  <a:schemeClr val="bg1"/>
                </a:solidFill>
                <a:latin typeface="Times New Roman" panose="02020603050405020304" pitchFamily="18" charset="0"/>
                <a:ea typeface="黑体" panose="02010609060101010101" pitchFamily="49" charset="-122"/>
              </a:rPr>
              <a:t>六、激活剂对反应速度的影响</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3699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699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699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3699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3699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3699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6994" grpId="0" build="p" autoUpdateAnimBg="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a:extLst>
              <a:ext uri="{FF2B5EF4-FFF2-40B4-BE49-F238E27FC236}">
                <a16:creationId xmlns:a16="http://schemas.microsoft.com/office/drawing/2014/main" id="{D94780DD-182F-4C1E-83B6-0FBEDFCAD07F}"/>
              </a:ext>
            </a:extLst>
          </p:cNvPr>
          <p:cNvSpPr>
            <a:spLocks noGrp="1" noChangeArrowheads="1"/>
          </p:cNvSpPr>
          <p:nvPr>
            <p:ph type="title"/>
          </p:nvPr>
        </p:nvSpPr>
        <p:spPr>
          <a:xfrm>
            <a:off x="3133726" y="188913"/>
            <a:ext cx="5699125" cy="844550"/>
          </a:xfrm>
        </p:spPr>
        <p:txBody>
          <a:bodyPr/>
          <a:lstStyle/>
          <a:p>
            <a:pPr eaLnBrk="1" hangingPunct="1"/>
            <a:r>
              <a:rPr lang="zh-CN" altLang="en-US" sz="3600">
                <a:solidFill>
                  <a:srgbClr val="FF0000"/>
                </a:solidFill>
                <a:latin typeface="Times New Roman" panose="02020603050405020304" pitchFamily="18" charset="0"/>
                <a:ea typeface="黑体" panose="02010609060101010101" pitchFamily="49" charset="-122"/>
              </a:rPr>
              <a:t> 酶促反应动力学小结</a:t>
            </a:r>
          </a:p>
        </p:txBody>
      </p:sp>
      <p:sp>
        <p:nvSpPr>
          <p:cNvPr id="326659" name="Rectangle 3">
            <a:extLst>
              <a:ext uri="{FF2B5EF4-FFF2-40B4-BE49-F238E27FC236}">
                <a16:creationId xmlns:a16="http://schemas.microsoft.com/office/drawing/2014/main" id="{1A30B4E4-1C9B-4824-A0AD-7439EEA99BF6}"/>
              </a:ext>
            </a:extLst>
          </p:cNvPr>
          <p:cNvSpPr>
            <a:spLocks noGrp="1" noChangeArrowheads="1"/>
          </p:cNvSpPr>
          <p:nvPr>
            <p:ph type="body" idx="1"/>
          </p:nvPr>
        </p:nvSpPr>
        <p:spPr>
          <a:xfrm>
            <a:off x="1847851" y="1700213"/>
            <a:ext cx="2735263" cy="4608512"/>
          </a:xfrm>
        </p:spPr>
        <p:txBody>
          <a:bodyPr/>
          <a:lstStyle/>
          <a:p>
            <a:pPr eaLnBrk="1" hangingPunct="1">
              <a:lnSpc>
                <a:spcPct val="130000"/>
              </a:lnSpc>
            </a:pPr>
            <a:r>
              <a:rPr lang="zh-CN" altLang="en-US">
                <a:solidFill>
                  <a:srgbClr val="0000CC"/>
                </a:solidFill>
                <a:latin typeface="Times New Roman" panose="02020603050405020304" pitchFamily="18" charset="0"/>
                <a:ea typeface="黑体" panose="02010609060101010101" pitchFamily="49" charset="-122"/>
              </a:rPr>
              <a:t>底物浓度</a:t>
            </a:r>
          </a:p>
          <a:p>
            <a:pPr eaLnBrk="1" hangingPunct="1">
              <a:lnSpc>
                <a:spcPct val="130000"/>
              </a:lnSpc>
            </a:pPr>
            <a:r>
              <a:rPr lang="zh-CN" altLang="en-US">
                <a:latin typeface="Times New Roman" panose="02020603050405020304" pitchFamily="18" charset="0"/>
                <a:ea typeface="黑体" panose="02010609060101010101" pitchFamily="49" charset="-122"/>
              </a:rPr>
              <a:t>酶浓度</a:t>
            </a:r>
          </a:p>
          <a:p>
            <a:pPr eaLnBrk="1" hangingPunct="1">
              <a:lnSpc>
                <a:spcPct val="130000"/>
              </a:lnSpc>
            </a:pPr>
            <a:r>
              <a:rPr lang="zh-CN" altLang="en-US">
                <a:latin typeface="Times New Roman" panose="02020603050405020304" pitchFamily="18" charset="0"/>
                <a:ea typeface="黑体" panose="02010609060101010101" pitchFamily="49" charset="-122"/>
              </a:rPr>
              <a:t>温度</a:t>
            </a:r>
          </a:p>
          <a:p>
            <a:pPr eaLnBrk="1" hangingPunct="1">
              <a:lnSpc>
                <a:spcPct val="130000"/>
              </a:lnSpc>
            </a:pPr>
            <a:r>
              <a:rPr lang="en-US" altLang="zh-CN">
                <a:latin typeface="Times New Roman" panose="02020603050405020304" pitchFamily="18" charset="0"/>
                <a:ea typeface="黑体" panose="02010609060101010101" pitchFamily="49" charset="-122"/>
              </a:rPr>
              <a:t>pH</a:t>
            </a:r>
          </a:p>
          <a:p>
            <a:pPr eaLnBrk="1" hangingPunct="1">
              <a:lnSpc>
                <a:spcPct val="130000"/>
              </a:lnSpc>
            </a:pPr>
            <a:r>
              <a:rPr lang="zh-CN" altLang="en-US">
                <a:solidFill>
                  <a:srgbClr val="0000CC"/>
                </a:solidFill>
                <a:latin typeface="Times New Roman" panose="02020603050405020304" pitchFamily="18" charset="0"/>
                <a:ea typeface="黑体" panose="02010609060101010101" pitchFamily="49" charset="-122"/>
              </a:rPr>
              <a:t>抑制剂</a:t>
            </a:r>
          </a:p>
          <a:p>
            <a:pPr eaLnBrk="1" hangingPunct="1">
              <a:lnSpc>
                <a:spcPct val="130000"/>
              </a:lnSpc>
            </a:pPr>
            <a:r>
              <a:rPr lang="zh-CN" altLang="en-US">
                <a:latin typeface="Times New Roman" panose="02020603050405020304" pitchFamily="18" charset="0"/>
                <a:ea typeface="黑体" panose="02010609060101010101" pitchFamily="49" charset="-122"/>
              </a:rPr>
              <a:t>激活剂</a:t>
            </a:r>
          </a:p>
        </p:txBody>
      </p:sp>
      <p:grpSp>
        <p:nvGrpSpPr>
          <p:cNvPr id="2" name="Group 4">
            <a:extLst>
              <a:ext uri="{FF2B5EF4-FFF2-40B4-BE49-F238E27FC236}">
                <a16:creationId xmlns:a16="http://schemas.microsoft.com/office/drawing/2014/main" id="{85FD34B2-F9A3-44EC-B9F4-537D779E8238}"/>
              </a:ext>
            </a:extLst>
          </p:cNvPr>
          <p:cNvGrpSpPr>
            <a:grpSpLocks/>
          </p:cNvGrpSpPr>
          <p:nvPr/>
        </p:nvGrpSpPr>
        <p:grpSpPr bwMode="auto">
          <a:xfrm>
            <a:off x="4727575" y="1341438"/>
            <a:ext cx="2617788" cy="1968500"/>
            <a:chOff x="204" y="1213"/>
            <a:chExt cx="2724" cy="2105"/>
          </a:xfrm>
        </p:grpSpPr>
        <p:sp>
          <p:nvSpPr>
            <p:cNvPr id="326723" name="Freeform 5">
              <a:extLst>
                <a:ext uri="{FF2B5EF4-FFF2-40B4-BE49-F238E27FC236}">
                  <a16:creationId xmlns:a16="http://schemas.microsoft.com/office/drawing/2014/main" id="{48CFEA96-DA26-4EAC-8F35-8FECFD7B7990}"/>
                </a:ext>
              </a:extLst>
            </p:cNvPr>
            <p:cNvSpPr>
              <a:spLocks/>
            </p:cNvSpPr>
            <p:nvPr/>
          </p:nvSpPr>
          <p:spPr bwMode="auto">
            <a:xfrm>
              <a:off x="997" y="1842"/>
              <a:ext cx="1510" cy="954"/>
            </a:xfrm>
            <a:custGeom>
              <a:avLst/>
              <a:gdLst>
                <a:gd name="T0" fmla="*/ 0 w 1344"/>
                <a:gd name="T1" fmla="*/ 4344805 h 864"/>
                <a:gd name="T2" fmla="*/ 6471613 w 1344"/>
                <a:gd name="T3" fmla="*/ 722594 h 864"/>
                <a:gd name="T4" fmla="*/ 30086756 w 1344"/>
                <a:gd name="T5" fmla="*/ 0 h 864"/>
                <a:gd name="T6" fmla="*/ 0 60000 65536"/>
                <a:gd name="T7" fmla="*/ 0 60000 65536"/>
                <a:gd name="T8" fmla="*/ 0 60000 65536"/>
                <a:gd name="T9" fmla="*/ 0 w 1344"/>
                <a:gd name="T10" fmla="*/ 0 h 864"/>
                <a:gd name="T11" fmla="*/ 1344 w 1344"/>
                <a:gd name="T12" fmla="*/ 864 h 864"/>
              </a:gdLst>
              <a:ahLst/>
              <a:cxnLst>
                <a:cxn ang="T6">
                  <a:pos x="T0" y="T1"/>
                </a:cxn>
                <a:cxn ang="T7">
                  <a:pos x="T2" y="T3"/>
                </a:cxn>
                <a:cxn ang="T8">
                  <a:pos x="T4" y="T5"/>
                </a:cxn>
              </a:cxnLst>
              <a:rect l="T9" t="T10" r="T11" b="T12"/>
              <a:pathLst>
                <a:path w="1344" h="864">
                  <a:moveTo>
                    <a:pt x="0" y="864"/>
                  </a:moveTo>
                  <a:cubicBezTo>
                    <a:pt x="32" y="576"/>
                    <a:pt x="64" y="288"/>
                    <a:pt x="288" y="144"/>
                  </a:cubicBezTo>
                  <a:cubicBezTo>
                    <a:pt x="512" y="0"/>
                    <a:pt x="1176" y="24"/>
                    <a:pt x="1344" y="0"/>
                  </a:cubicBezTo>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6724" name="Line 6">
              <a:extLst>
                <a:ext uri="{FF2B5EF4-FFF2-40B4-BE49-F238E27FC236}">
                  <a16:creationId xmlns:a16="http://schemas.microsoft.com/office/drawing/2014/main" id="{C911E11B-230F-4B59-8A47-2EB86A0A257D}"/>
                </a:ext>
              </a:extLst>
            </p:cNvPr>
            <p:cNvSpPr>
              <a:spLocks noChangeShapeType="1"/>
            </p:cNvSpPr>
            <p:nvPr/>
          </p:nvSpPr>
          <p:spPr bwMode="auto">
            <a:xfrm>
              <a:off x="1022" y="1782"/>
              <a:ext cx="1495"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047" name="Text Box 7">
              <a:extLst>
                <a:ext uri="{FF2B5EF4-FFF2-40B4-BE49-F238E27FC236}">
                  <a16:creationId xmlns:a16="http://schemas.microsoft.com/office/drawing/2014/main" id="{39B14A2A-E1AF-4400-9FA4-233CFE813D2E}"/>
                </a:ext>
              </a:extLst>
            </p:cNvPr>
            <p:cNvSpPr txBox="1">
              <a:spLocks noChangeArrowheads="1"/>
            </p:cNvSpPr>
            <p:nvPr/>
          </p:nvSpPr>
          <p:spPr bwMode="auto">
            <a:xfrm>
              <a:off x="301" y="1675"/>
              <a:ext cx="711" cy="395"/>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000" b="1">
                  <a:effectLst>
                    <a:outerShdw blurRad="38100" dist="38100" dir="2700000" algn="tl">
                      <a:srgbClr val="C0C0C0"/>
                    </a:outerShdw>
                  </a:effectLst>
                  <a:latin typeface="Times New Roman" pitchFamily="18" charset="0"/>
                  <a:ea typeface="黑体" pitchFamily="49" charset="-122"/>
                </a:rPr>
                <a:t>V</a:t>
              </a:r>
              <a:r>
                <a:rPr kumimoji="1" lang="en-US" altLang="zh-CN" sz="2000" b="1" baseline="-25000">
                  <a:effectLst>
                    <a:outerShdw blurRad="38100" dist="38100" dir="2700000" algn="tl">
                      <a:srgbClr val="C0C0C0"/>
                    </a:outerShdw>
                  </a:effectLst>
                  <a:latin typeface="Times New Roman" pitchFamily="18" charset="0"/>
                  <a:ea typeface="黑体" pitchFamily="49" charset="-122"/>
                </a:rPr>
                <a:t>max</a:t>
              </a:r>
            </a:p>
          </p:txBody>
        </p:sp>
        <p:sp>
          <p:nvSpPr>
            <p:cNvPr id="326726" name="Line 8">
              <a:extLst>
                <a:ext uri="{FF2B5EF4-FFF2-40B4-BE49-F238E27FC236}">
                  <a16:creationId xmlns:a16="http://schemas.microsoft.com/office/drawing/2014/main" id="{6F094610-D497-4D6C-8337-3B32534BA43C}"/>
                </a:ext>
              </a:extLst>
            </p:cNvPr>
            <p:cNvSpPr>
              <a:spLocks noChangeShapeType="1"/>
            </p:cNvSpPr>
            <p:nvPr/>
          </p:nvSpPr>
          <p:spPr bwMode="auto">
            <a:xfrm>
              <a:off x="494" y="2805"/>
              <a:ext cx="219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6727" name="Line 9">
              <a:extLst>
                <a:ext uri="{FF2B5EF4-FFF2-40B4-BE49-F238E27FC236}">
                  <a16:creationId xmlns:a16="http://schemas.microsoft.com/office/drawing/2014/main" id="{5A7A1CBA-9002-4554-9382-02E985695A2C}"/>
                </a:ext>
              </a:extLst>
            </p:cNvPr>
            <p:cNvSpPr>
              <a:spLocks noChangeShapeType="1"/>
            </p:cNvSpPr>
            <p:nvPr/>
          </p:nvSpPr>
          <p:spPr bwMode="auto">
            <a:xfrm flipV="1">
              <a:off x="988" y="1213"/>
              <a:ext cx="0" cy="210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050" name="Text Box 10">
              <a:extLst>
                <a:ext uri="{FF2B5EF4-FFF2-40B4-BE49-F238E27FC236}">
                  <a16:creationId xmlns:a16="http://schemas.microsoft.com/office/drawing/2014/main" id="{18706B28-7977-4B01-A830-ADAC8E82FA06}"/>
                </a:ext>
              </a:extLst>
            </p:cNvPr>
            <p:cNvSpPr txBox="1">
              <a:spLocks noChangeArrowheads="1"/>
            </p:cNvSpPr>
            <p:nvPr/>
          </p:nvSpPr>
          <p:spPr bwMode="auto">
            <a:xfrm>
              <a:off x="658" y="1259"/>
              <a:ext cx="383" cy="392"/>
            </a:xfrm>
            <a:prstGeom prst="rect">
              <a:avLst/>
            </a:prstGeom>
            <a:noFill/>
            <a:ln w="9525">
              <a:noFill/>
              <a:miter lim="800000"/>
              <a:headEnd/>
              <a:tailEnd/>
            </a:ln>
            <a:effec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20000"/>
                </a:spcBef>
                <a:buClr>
                  <a:schemeClr val="tx2"/>
                </a:buClr>
                <a:buSzPct val="75000"/>
                <a:buFont typeface="Wingdings" panose="05000000000000000000" pitchFamily="2" charset="2"/>
                <a:buNone/>
                <a:defRPr/>
              </a:pPr>
              <a:r>
                <a:rPr kumimoji="1"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V</a:t>
              </a:r>
            </a:p>
          </p:txBody>
        </p:sp>
        <p:sp>
          <p:nvSpPr>
            <p:cNvPr id="1239051" name="Text Box 11">
              <a:extLst>
                <a:ext uri="{FF2B5EF4-FFF2-40B4-BE49-F238E27FC236}">
                  <a16:creationId xmlns:a16="http://schemas.microsoft.com/office/drawing/2014/main" id="{53ED6869-349B-4009-8E37-158843673D24}"/>
                </a:ext>
              </a:extLst>
            </p:cNvPr>
            <p:cNvSpPr txBox="1">
              <a:spLocks noChangeArrowheads="1"/>
            </p:cNvSpPr>
            <p:nvPr/>
          </p:nvSpPr>
          <p:spPr bwMode="auto">
            <a:xfrm>
              <a:off x="2414" y="2924"/>
              <a:ext cx="514" cy="392"/>
            </a:xfrm>
            <a:prstGeom prst="rect">
              <a:avLst/>
            </a:prstGeom>
            <a:noFill/>
            <a:ln w="9525">
              <a:noFill/>
              <a:miter lim="800000"/>
              <a:headEnd/>
              <a:tailEnd/>
            </a:ln>
            <a:effectLst/>
          </p:spPr>
          <p:txBody>
            <a:bodyPr wrap="none">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000" b="1">
                  <a:effectLst>
                    <a:outerShdw blurRad="38100" dist="38100" dir="2700000" algn="tl">
                      <a:srgbClr val="C0C0C0"/>
                    </a:outerShdw>
                  </a:effectLst>
                  <a:latin typeface="Times New Roman" pitchFamily="18" charset="0"/>
                  <a:ea typeface="黑体" pitchFamily="49" charset="-122"/>
                </a:rPr>
                <a:t>[S]</a:t>
              </a:r>
            </a:p>
          </p:txBody>
        </p:sp>
        <p:sp>
          <p:nvSpPr>
            <p:cNvPr id="1239052" name="Text Box 12">
              <a:extLst>
                <a:ext uri="{FF2B5EF4-FFF2-40B4-BE49-F238E27FC236}">
                  <a16:creationId xmlns:a16="http://schemas.microsoft.com/office/drawing/2014/main" id="{35F16480-E20F-4F46-9799-D3EFB3378B3E}"/>
                </a:ext>
              </a:extLst>
            </p:cNvPr>
            <p:cNvSpPr txBox="1">
              <a:spLocks noChangeArrowheads="1"/>
            </p:cNvSpPr>
            <p:nvPr/>
          </p:nvSpPr>
          <p:spPr bwMode="auto">
            <a:xfrm>
              <a:off x="1020" y="2839"/>
              <a:ext cx="578" cy="392"/>
            </a:xfrm>
            <a:prstGeom prst="rect">
              <a:avLst/>
            </a:prstGeom>
            <a:noFill/>
            <a:ln w="9525">
              <a:noFill/>
              <a:miter lim="800000"/>
              <a:headEnd/>
              <a:tailEnd/>
            </a:ln>
            <a:effectLst/>
          </p:spPr>
          <p:txBody>
            <a:bodyPr>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sz="2000" b="1">
                  <a:effectLst>
                    <a:outerShdw blurRad="38100" dist="38100" dir="2700000" algn="tl">
                      <a:srgbClr val="C0C0C0"/>
                    </a:outerShdw>
                  </a:effectLst>
                  <a:latin typeface="Times New Roman" pitchFamily="18" charset="0"/>
                  <a:ea typeface="黑体" pitchFamily="49" charset="-122"/>
                </a:rPr>
                <a:t>K</a:t>
              </a:r>
              <a:r>
                <a:rPr kumimoji="1" lang="en-US" altLang="zh-CN" sz="2000" b="1" baseline="-25000">
                  <a:effectLst>
                    <a:outerShdw blurRad="38100" dist="38100" dir="2700000" algn="tl">
                      <a:srgbClr val="C0C0C0"/>
                    </a:outerShdw>
                  </a:effectLst>
                  <a:latin typeface="Times New Roman" pitchFamily="18" charset="0"/>
                  <a:ea typeface="黑体" pitchFamily="49" charset="-122"/>
                </a:rPr>
                <a:t>m</a:t>
              </a:r>
            </a:p>
          </p:txBody>
        </p:sp>
        <p:sp>
          <p:nvSpPr>
            <p:cNvPr id="326731" name="Line 13">
              <a:extLst>
                <a:ext uri="{FF2B5EF4-FFF2-40B4-BE49-F238E27FC236}">
                  <a16:creationId xmlns:a16="http://schemas.microsoft.com/office/drawing/2014/main" id="{77C52CD8-9E81-4D55-A608-73FBE93A31EE}"/>
                </a:ext>
              </a:extLst>
            </p:cNvPr>
            <p:cNvSpPr>
              <a:spLocks noChangeShapeType="1"/>
            </p:cNvSpPr>
            <p:nvPr/>
          </p:nvSpPr>
          <p:spPr bwMode="auto">
            <a:xfrm>
              <a:off x="975" y="2296"/>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054" name="Text Box 14">
              <a:extLst>
                <a:ext uri="{FF2B5EF4-FFF2-40B4-BE49-F238E27FC236}">
                  <a16:creationId xmlns:a16="http://schemas.microsoft.com/office/drawing/2014/main" id="{C29D9069-B9C3-4523-8B4B-C2362FCFB8BC}"/>
                </a:ext>
              </a:extLst>
            </p:cNvPr>
            <p:cNvSpPr txBox="1">
              <a:spLocks noChangeArrowheads="1"/>
            </p:cNvSpPr>
            <p:nvPr/>
          </p:nvSpPr>
          <p:spPr bwMode="auto">
            <a:xfrm>
              <a:off x="204" y="2160"/>
              <a:ext cx="773" cy="774"/>
            </a:xfrm>
            <a:prstGeom prst="rect">
              <a:avLst/>
            </a:prstGeom>
            <a:noFill/>
            <a:ln w="9525">
              <a:noFill/>
              <a:miter lim="800000"/>
              <a:headEnd/>
              <a:tailEnd/>
            </a:ln>
            <a:effectLst/>
          </p:spPr>
          <p:txBody>
            <a:bodyPr>
              <a:spAutoFit/>
            </a:bodyPr>
            <a:lstStyle/>
            <a:p>
              <a:pPr eaLnBrk="1" hangingPunct="1">
                <a:lnSpc>
                  <a:spcPct val="90000"/>
                </a:lnSpc>
                <a:spcBef>
                  <a:spcPct val="20000"/>
                </a:spcBef>
                <a:buClr>
                  <a:schemeClr val="tx2"/>
                </a:buClr>
                <a:buSzPct val="75000"/>
                <a:buFont typeface="Wingdings" pitchFamily="2" charset="2"/>
                <a:buNone/>
                <a:defRPr/>
              </a:pPr>
              <a:r>
                <a:rPr kumimoji="1" lang="en-US" altLang="zh-CN" b="1">
                  <a:effectLst>
                    <a:outerShdw blurRad="38100" dist="38100" dir="2700000" algn="tl">
                      <a:srgbClr val="C0C0C0"/>
                    </a:outerShdw>
                  </a:effectLst>
                  <a:latin typeface="Times New Roman" pitchFamily="18" charset="0"/>
                  <a:ea typeface="黑体" pitchFamily="49" charset="-122"/>
                </a:rPr>
                <a:t>V</a:t>
              </a:r>
              <a:r>
                <a:rPr kumimoji="1" lang="en-US" altLang="zh-CN" b="1" baseline="-25000">
                  <a:effectLst>
                    <a:outerShdw blurRad="38100" dist="38100" dir="2700000" algn="tl">
                      <a:srgbClr val="C0C0C0"/>
                    </a:outerShdw>
                  </a:effectLst>
                  <a:latin typeface="Times New Roman" pitchFamily="18" charset="0"/>
                  <a:ea typeface="黑体" pitchFamily="49" charset="-122"/>
                </a:rPr>
                <a:t>max</a:t>
              </a:r>
              <a:r>
                <a:rPr kumimoji="1" lang="en-US" altLang="zh-CN" b="1">
                  <a:effectLst>
                    <a:outerShdw blurRad="38100" dist="38100" dir="2700000" algn="tl">
                      <a:srgbClr val="C0C0C0"/>
                    </a:outerShdw>
                  </a:effectLst>
                  <a:latin typeface="Times New Roman" pitchFamily="18" charset="0"/>
                  <a:ea typeface="黑体" pitchFamily="49" charset="-122"/>
                </a:rPr>
                <a:t>/2</a:t>
              </a:r>
              <a:r>
                <a:rPr kumimoji="1" lang="en-US" altLang="zh-CN" sz="2800" b="1">
                  <a:effectLst>
                    <a:outerShdw blurRad="38100" dist="38100" dir="2700000" algn="tl">
                      <a:srgbClr val="C0C0C0"/>
                    </a:outerShdw>
                  </a:effectLst>
                  <a:latin typeface="Times New Roman" pitchFamily="18" charset="0"/>
                  <a:ea typeface="黑体" pitchFamily="49" charset="-122"/>
                </a:rPr>
                <a:t>    </a:t>
              </a:r>
            </a:p>
          </p:txBody>
        </p:sp>
        <p:sp>
          <p:nvSpPr>
            <p:cNvPr id="326733" name="Line 15">
              <a:extLst>
                <a:ext uri="{FF2B5EF4-FFF2-40B4-BE49-F238E27FC236}">
                  <a16:creationId xmlns:a16="http://schemas.microsoft.com/office/drawing/2014/main" id="{2FF4808B-2745-4B33-9430-21A8E74F98B2}"/>
                </a:ext>
              </a:extLst>
            </p:cNvPr>
            <p:cNvSpPr>
              <a:spLocks noChangeShapeType="1"/>
            </p:cNvSpPr>
            <p:nvPr/>
          </p:nvSpPr>
          <p:spPr bwMode="auto">
            <a:xfrm>
              <a:off x="1106" y="2296"/>
              <a:ext cx="0"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6">
            <a:extLst>
              <a:ext uri="{FF2B5EF4-FFF2-40B4-BE49-F238E27FC236}">
                <a16:creationId xmlns:a16="http://schemas.microsoft.com/office/drawing/2014/main" id="{45E5B085-C7AA-4008-8CFF-FEC458AC79D8}"/>
              </a:ext>
            </a:extLst>
          </p:cNvPr>
          <p:cNvGrpSpPr>
            <a:grpSpLocks/>
          </p:cNvGrpSpPr>
          <p:nvPr/>
        </p:nvGrpSpPr>
        <p:grpSpPr bwMode="auto">
          <a:xfrm>
            <a:off x="7751763" y="1125539"/>
            <a:ext cx="2366962" cy="2155825"/>
            <a:chOff x="2064" y="2205"/>
            <a:chExt cx="1916" cy="1787"/>
          </a:xfrm>
        </p:grpSpPr>
        <p:sp>
          <p:nvSpPr>
            <p:cNvPr id="326708" name="Line 17">
              <a:extLst>
                <a:ext uri="{FF2B5EF4-FFF2-40B4-BE49-F238E27FC236}">
                  <a16:creationId xmlns:a16="http://schemas.microsoft.com/office/drawing/2014/main" id="{96E79DA5-B872-46CA-AE13-B83A51DA2D60}"/>
                </a:ext>
              </a:extLst>
            </p:cNvPr>
            <p:cNvSpPr>
              <a:spLocks noChangeShapeType="1"/>
            </p:cNvSpPr>
            <p:nvPr/>
          </p:nvSpPr>
          <p:spPr bwMode="auto">
            <a:xfrm>
              <a:off x="2281" y="2205"/>
              <a:ext cx="0" cy="1388"/>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709" name="Line 18">
              <a:extLst>
                <a:ext uri="{FF2B5EF4-FFF2-40B4-BE49-F238E27FC236}">
                  <a16:creationId xmlns:a16="http://schemas.microsoft.com/office/drawing/2014/main" id="{20CA8FC5-8001-4C96-AA19-A56B88ABF323}"/>
                </a:ext>
              </a:extLst>
            </p:cNvPr>
            <p:cNvSpPr>
              <a:spLocks noChangeShapeType="1"/>
            </p:cNvSpPr>
            <p:nvPr/>
          </p:nvSpPr>
          <p:spPr bwMode="auto">
            <a:xfrm>
              <a:off x="2281" y="3593"/>
              <a:ext cx="15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6710" name="Line 19">
              <a:extLst>
                <a:ext uri="{FF2B5EF4-FFF2-40B4-BE49-F238E27FC236}">
                  <a16:creationId xmlns:a16="http://schemas.microsoft.com/office/drawing/2014/main" id="{514E7370-14F3-4CA3-A80B-CDFFACF048A9}"/>
                </a:ext>
              </a:extLst>
            </p:cNvPr>
            <p:cNvSpPr>
              <a:spLocks noChangeShapeType="1"/>
            </p:cNvSpPr>
            <p:nvPr/>
          </p:nvSpPr>
          <p:spPr bwMode="auto">
            <a:xfrm flipV="1">
              <a:off x="2281" y="2756"/>
              <a:ext cx="1143" cy="837"/>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711" name="Text Box 20">
              <a:extLst>
                <a:ext uri="{FF2B5EF4-FFF2-40B4-BE49-F238E27FC236}">
                  <a16:creationId xmlns:a16="http://schemas.microsoft.com/office/drawing/2014/main" id="{7866EC09-9E40-4C35-B7BA-E543DB0DC728}"/>
                </a:ext>
              </a:extLst>
            </p:cNvPr>
            <p:cNvSpPr txBox="1">
              <a:spLocks noChangeArrowheads="1"/>
            </p:cNvSpPr>
            <p:nvPr/>
          </p:nvSpPr>
          <p:spPr bwMode="auto">
            <a:xfrm>
              <a:off x="2142" y="3533"/>
              <a:ext cx="396"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ea typeface="黑体" panose="02010609060101010101" pitchFamily="49" charset="-122"/>
                </a:rPr>
                <a:t>0  </a:t>
              </a:r>
            </a:p>
          </p:txBody>
        </p:sp>
        <p:sp>
          <p:nvSpPr>
            <p:cNvPr id="326712" name="Line 21">
              <a:extLst>
                <a:ext uri="{FF2B5EF4-FFF2-40B4-BE49-F238E27FC236}">
                  <a16:creationId xmlns:a16="http://schemas.microsoft.com/office/drawing/2014/main" id="{181BB179-47BB-4318-B326-8E4991652FE9}"/>
                </a:ext>
              </a:extLst>
            </p:cNvPr>
            <p:cNvSpPr>
              <a:spLocks noChangeShapeType="1"/>
            </p:cNvSpPr>
            <p:nvPr/>
          </p:nvSpPr>
          <p:spPr bwMode="auto">
            <a:xfrm>
              <a:off x="2289" y="2533"/>
              <a:ext cx="35" cy="0"/>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713" name="Line 22">
              <a:extLst>
                <a:ext uri="{FF2B5EF4-FFF2-40B4-BE49-F238E27FC236}">
                  <a16:creationId xmlns:a16="http://schemas.microsoft.com/office/drawing/2014/main" id="{43DF1255-AE5E-41B4-BE75-7AA416FF745F}"/>
                </a:ext>
              </a:extLst>
            </p:cNvPr>
            <p:cNvSpPr>
              <a:spLocks noChangeShapeType="1"/>
            </p:cNvSpPr>
            <p:nvPr/>
          </p:nvSpPr>
          <p:spPr bwMode="auto">
            <a:xfrm>
              <a:off x="2289" y="2807"/>
              <a:ext cx="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714" name="Line 23">
              <a:extLst>
                <a:ext uri="{FF2B5EF4-FFF2-40B4-BE49-F238E27FC236}">
                  <a16:creationId xmlns:a16="http://schemas.microsoft.com/office/drawing/2014/main" id="{EF2D54A8-ADAA-4C87-91D5-F1CC4E801CB0}"/>
                </a:ext>
              </a:extLst>
            </p:cNvPr>
            <p:cNvSpPr>
              <a:spLocks noChangeShapeType="1"/>
            </p:cNvSpPr>
            <p:nvPr/>
          </p:nvSpPr>
          <p:spPr bwMode="auto">
            <a:xfrm>
              <a:off x="2289" y="3072"/>
              <a:ext cx="35" cy="0"/>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715" name="Line 24">
              <a:extLst>
                <a:ext uri="{FF2B5EF4-FFF2-40B4-BE49-F238E27FC236}">
                  <a16:creationId xmlns:a16="http://schemas.microsoft.com/office/drawing/2014/main" id="{642FDFE1-014D-4145-AD75-2140997E2838}"/>
                </a:ext>
              </a:extLst>
            </p:cNvPr>
            <p:cNvSpPr>
              <a:spLocks noChangeShapeType="1"/>
            </p:cNvSpPr>
            <p:nvPr/>
          </p:nvSpPr>
          <p:spPr bwMode="auto">
            <a:xfrm>
              <a:off x="2289" y="3328"/>
              <a:ext cx="35" cy="0"/>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716" name="Line 25">
              <a:extLst>
                <a:ext uri="{FF2B5EF4-FFF2-40B4-BE49-F238E27FC236}">
                  <a16:creationId xmlns:a16="http://schemas.microsoft.com/office/drawing/2014/main" id="{689554FC-BB0B-4950-98FC-AF20ADB767B3}"/>
                </a:ext>
              </a:extLst>
            </p:cNvPr>
            <p:cNvSpPr>
              <a:spLocks noChangeShapeType="1"/>
            </p:cNvSpPr>
            <p:nvPr/>
          </p:nvSpPr>
          <p:spPr bwMode="auto">
            <a:xfrm>
              <a:off x="3561" y="3556"/>
              <a:ext cx="0" cy="37"/>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717" name="Line 26">
              <a:extLst>
                <a:ext uri="{FF2B5EF4-FFF2-40B4-BE49-F238E27FC236}">
                  <a16:creationId xmlns:a16="http://schemas.microsoft.com/office/drawing/2014/main" id="{1EA2E297-39E6-4BA8-9B02-2D159F32F4FA}"/>
                </a:ext>
              </a:extLst>
            </p:cNvPr>
            <p:cNvSpPr>
              <a:spLocks noChangeShapeType="1"/>
            </p:cNvSpPr>
            <p:nvPr/>
          </p:nvSpPr>
          <p:spPr bwMode="auto">
            <a:xfrm>
              <a:off x="3312" y="3556"/>
              <a:ext cx="0" cy="37"/>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718" name="Line 27">
              <a:extLst>
                <a:ext uri="{FF2B5EF4-FFF2-40B4-BE49-F238E27FC236}">
                  <a16:creationId xmlns:a16="http://schemas.microsoft.com/office/drawing/2014/main" id="{4F6B7C7C-B9CA-4D41-B7C7-10991CC2CABB}"/>
                </a:ext>
              </a:extLst>
            </p:cNvPr>
            <p:cNvSpPr>
              <a:spLocks noChangeShapeType="1"/>
            </p:cNvSpPr>
            <p:nvPr/>
          </p:nvSpPr>
          <p:spPr bwMode="auto">
            <a:xfrm>
              <a:off x="3054" y="3556"/>
              <a:ext cx="0" cy="37"/>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719" name="Line 28">
              <a:extLst>
                <a:ext uri="{FF2B5EF4-FFF2-40B4-BE49-F238E27FC236}">
                  <a16:creationId xmlns:a16="http://schemas.microsoft.com/office/drawing/2014/main" id="{D7E1D7A8-022E-4B09-89CF-9502BA792127}"/>
                </a:ext>
              </a:extLst>
            </p:cNvPr>
            <p:cNvSpPr>
              <a:spLocks noChangeShapeType="1"/>
            </p:cNvSpPr>
            <p:nvPr/>
          </p:nvSpPr>
          <p:spPr bwMode="auto">
            <a:xfrm>
              <a:off x="2805" y="3556"/>
              <a:ext cx="0" cy="37"/>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720" name="Line 29">
              <a:extLst>
                <a:ext uri="{FF2B5EF4-FFF2-40B4-BE49-F238E27FC236}">
                  <a16:creationId xmlns:a16="http://schemas.microsoft.com/office/drawing/2014/main" id="{DC440FF3-9F82-4C92-B10E-0817E682DE00}"/>
                </a:ext>
              </a:extLst>
            </p:cNvPr>
            <p:cNvSpPr>
              <a:spLocks noChangeShapeType="1"/>
            </p:cNvSpPr>
            <p:nvPr/>
          </p:nvSpPr>
          <p:spPr bwMode="auto">
            <a:xfrm>
              <a:off x="2547" y="3556"/>
              <a:ext cx="0" cy="37"/>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721" name="Text Box 30">
              <a:extLst>
                <a:ext uri="{FF2B5EF4-FFF2-40B4-BE49-F238E27FC236}">
                  <a16:creationId xmlns:a16="http://schemas.microsoft.com/office/drawing/2014/main" id="{265D5F4C-30AE-40B8-8C2D-8BEAC01568B2}"/>
                </a:ext>
              </a:extLst>
            </p:cNvPr>
            <p:cNvSpPr txBox="1">
              <a:spLocks noChangeArrowheads="1"/>
            </p:cNvSpPr>
            <p:nvPr/>
          </p:nvSpPr>
          <p:spPr bwMode="auto">
            <a:xfrm>
              <a:off x="2064" y="2206"/>
              <a:ext cx="329"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600" b="1">
                  <a:latin typeface="Times New Roman" panose="02020603050405020304" pitchFamily="18" charset="0"/>
                  <a:ea typeface="黑体" panose="02010609060101010101" pitchFamily="49" charset="-122"/>
                </a:rPr>
                <a:t>V</a:t>
              </a:r>
              <a:r>
                <a:rPr kumimoji="1" lang="en-US" altLang="zh-CN" sz="2400">
                  <a:latin typeface="Times New Roman" panose="02020603050405020304" pitchFamily="18" charset="0"/>
                  <a:ea typeface="黑体" panose="02010609060101010101" pitchFamily="49" charset="-122"/>
                </a:rPr>
                <a:t> </a:t>
              </a:r>
            </a:p>
          </p:txBody>
        </p:sp>
        <p:sp>
          <p:nvSpPr>
            <p:cNvPr id="326722" name="Text Box 31">
              <a:extLst>
                <a:ext uri="{FF2B5EF4-FFF2-40B4-BE49-F238E27FC236}">
                  <a16:creationId xmlns:a16="http://schemas.microsoft.com/office/drawing/2014/main" id="{6C0E3B67-F1BB-4F90-9945-ED88A8637475}"/>
                </a:ext>
              </a:extLst>
            </p:cNvPr>
            <p:cNvSpPr txBox="1">
              <a:spLocks noChangeArrowheads="1"/>
            </p:cNvSpPr>
            <p:nvPr/>
          </p:nvSpPr>
          <p:spPr bwMode="auto">
            <a:xfrm>
              <a:off x="3471" y="3613"/>
              <a:ext cx="509"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800">
                  <a:latin typeface="Times New Roman" panose="02020603050405020304" pitchFamily="18" charset="0"/>
                  <a:ea typeface="黑体" panose="02010609060101010101" pitchFamily="49" charset="-122"/>
                </a:rPr>
                <a:t>[E]</a:t>
              </a:r>
              <a:r>
                <a:rPr kumimoji="1" lang="en-US" altLang="zh-CN" sz="2400">
                  <a:latin typeface="Times New Roman" panose="02020603050405020304" pitchFamily="18" charset="0"/>
                  <a:ea typeface="黑体" panose="02010609060101010101" pitchFamily="49" charset="-122"/>
                </a:rPr>
                <a:t>  </a:t>
              </a:r>
            </a:p>
          </p:txBody>
        </p:sp>
      </p:grpSp>
      <p:grpSp>
        <p:nvGrpSpPr>
          <p:cNvPr id="4" name="Group 32">
            <a:extLst>
              <a:ext uri="{FF2B5EF4-FFF2-40B4-BE49-F238E27FC236}">
                <a16:creationId xmlns:a16="http://schemas.microsoft.com/office/drawing/2014/main" id="{9FE6D796-6456-49BD-B98D-C518815006E5}"/>
              </a:ext>
            </a:extLst>
          </p:cNvPr>
          <p:cNvGrpSpPr>
            <a:grpSpLocks/>
          </p:cNvGrpSpPr>
          <p:nvPr/>
        </p:nvGrpSpPr>
        <p:grpSpPr bwMode="auto">
          <a:xfrm>
            <a:off x="7312026" y="3429000"/>
            <a:ext cx="3355975" cy="3132138"/>
            <a:chOff x="2592" y="1104"/>
            <a:chExt cx="2976" cy="2718"/>
          </a:xfrm>
        </p:grpSpPr>
        <p:grpSp>
          <p:nvGrpSpPr>
            <p:cNvPr id="326696" name="Group 33">
              <a:extLst>
                <a:ext uri="{FF2B5EF4-FFF2-40B4-BE49-F238E27FC236}">
                  <a16:creationId xmlns:a16="http://schemas.microsoft.com/office/drawing/2014/main" id="{9FE30015-FDBF-41E1-A33D-B7163196F8DE}"/>
                </a:ext>
              </a:extLst>
            </p:cNvPr>
            <p:cNvGrpSpPr>
              <a:grpSpLocks/>
            </p:cNvGrpSpPr>
            <p:nvPr/>
          </p:nvGrpSpPr>
          <p:grpSpPr bwMode="auto">
            <a:xfrm>
              <a:off x="2928" y="1344"/>
              <a:ext cx="2208" cy="1776"/>
              <a:chOff x="1536" y="1968"/>
              <a:chExt cx="2208" cy="1776"/>
            </a:xfrm>
          </p:grpSpPr>
          <p:sp>
            <p:nvSpPr>
              <p:cNvPr id="326702" name="Freeform 34">
                <a:extLst>
                  <a:ext uri="{FF2B5EF4-FFF2-40B4-BE49-F238E27FC236}">
                    <a16:creationId xmlns:a16="http://schemas.microsoft.com/office/drawing/2014/main" id="{85D68E1B-1642-4774-813C-DAF624D92708}"/>
                  </a:ext>
                </a:extLst>
              </p:cNvPr>
              <p:cNvSpPr>
                <a:spLocks/>
              </p:cNvSpPr>
              <p:nvPr/>
            </p:nvSpPr>
            <p:spPr bwMode="auto">
              <a:xfrm>
                <a:off x="1920" y="1984"/>
                <a:ext cx="1536" cy="1520"/>
              </a:xfrm>
              <a:custGeom>
                <a:avLst/>
                <a:gdLst>
                  <a:gd name="T0" fmla="*/ 0 w 1536"/>
                  <a:gd name="T1" fmla="*/ 1424 h 1520"/>
                  <a:gd name="T2" fmla="*/ 672 w 1536"/>
                  <a:gd name="T3" fmla="*/ 32 h 1520"/>
                  <a:gd name="T4" fmla="*/ 1104 w 1536"/>
                  <a:gd name="T5" fmla="*/ 1232 h 1520"/>
                  <a:gd name="T6" fmla="*/ 1536 w 1536"/>
                  <a:gd name="T7" fmla="*/ 1520 h 1520"/>
                  <a:gd name="T8" fmla="*/ 0 60000 65536"/>
                  <a:gd name="T9" fmla="*/ 0 60000 65536"/>
                  <a:gd name="T10" fmla="*/ 0 60000 65536"/>
                  <a:gd name="T11" fmla="*/ 0 60000 65536"/>
                  <a:gd name="T12" fmla="*/ 0 w 1536"/>
                  <a:gd name="T13" fmla="*/ 0 h 1520"/>
                  <a:gd name="T14" fmla="*/ 1536 w 1536"/>
                  <a:gd name="T15" fmla="*/ 1520 h 1520"/>
                </a:gdLst>
                <a:ahLst/>
                <a:cxnLst>
                  <a:cxn ang="T8">
                    <a:pos x="T0" y="T1"/>
                  </a:cxn>
                  <a:cxn ang="T9">
                    <a:pos x="T2" y="T3"/>
                  </a:cxn>
                  <a:cxn ang="T10">
                    <a:pos x="T4" y="T5"/>
                  </a:cxn>
                  <a:cxn ang="T11">
                    <a:pos x="T6" y="T7"/>
                  </a:cxn>
                </a:cxnLst>
                <a:rect l="T12" t="T13" r="T14" b="T15"/>
                <a:pathLst>
                  <a:path w="1536" h="1520">
                    <a:moveTo>
                      <a:pt x="0" y="1424"/>
                    </a:moveTo>
                    <a:cubicBezTo>
                      <a:pt x="244" y="744"/>
                      <a:pt x="488" y="64"/>
                      <a:pt x="672" y="32"/>
                    </a:cubicBezTo>
                    <a:cubicBezTo>
                      <a:pt x="856" y="0"/>
                      <a:pt x="960" y="984"/>
                      <a:pt x="1104" y="1232"/>
                    </a:cubicBezTo>
                    <a:cubicBezTo>
                      <a:pt x="1248" y="1480"/>
                      <a:pt x="1392" y="1500"/>
                      <a:pt x="1536" y="1520"/>
                    </a:cubicBezTo>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Ins="18000"/>
              <a:lstStyle/>
              <a:p>
                <a:endParaRPr lang="zh-CN" altLang="en-US"/>
              </a:p>
            </p:txBody>
          </p:sp>
          <p:sp>
            <p:nvSpPr>
              <p:cNvPr id="326703" name="Line 35">
                <a:extLst>
                  <a:ext uri="{FF2B5EF4-FFF2-40B4-BE49-F238E27FC236}">
                    <a16:creationId xmlns:a16="http://schemas.microsoft.com/office/drawing/2014/main" id="{AC891839-CE9A-4728-9F1F-520616C577FD}"/>
                  </a:ext>
                </a:extLst>
              </p:cNvPr>
              <p:cNvSpPr>
                <a:spLocks noChangeShapeType="1"/>
              </p:cNvSpPr>
              <p:nvPr/>
            </p:nvSpPr>
            <p:spPr bwMode="auto">
              <a:xfrm>
                <a:off x="2160" y="364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rIns="18000"/>
              <a:lstStyle/>
              <a:p>
                <a:endParaRPr lang="zh-CN" altLang="en-US"/>
              </a:p>
            </p:txBody>
          </p:sp>
          <p:sp>
            <p:nvSpPr>
              <p:cNvPr id="326704" name="Line 36">
                <a:extLst>
                  <a:ext uri="{FF2B5EF4-FFF2-40B4-BE49-F238E27FC236}">
                    <a16:creationId xmlns:a16="http://schemas.microsoft.com/office/drawing/2014/main" id="{FA86BBEE-67A0-4FAC-895F-563C86E27DDE}"/>
                  </a:ext>
                </a:extLst>
              </p:cNvPr>
              <p:cNvSpPr>
                <a:spLocks noChangeShapeType="1"/>
              </p:cNvSpPr>
              <p:nvPr/>
            </p:nvSpPr>
            <p:spPr bwMode="auto">
              <a:xfrm>
                <a:off x="3024" y="364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rIns="18000"/>
              <a:lstStyle/>
              <a:p>
                <a:endParaRPr lang="zh-CN" altLang="en-US"/>
              </a:p>
            </p:txBody>
          </p:sp>
          <p:sp>
            <p:nvSpPr>
              <p:cNvPr id="326705" name="Line 37">
                <a:extLst>
                  <a:ext uri="{FF2B5EF4-FFF2-40B4-BE49-F238E27FC236}">
                    <a16:creationId xmlns:a16="http://schemas.microsoft.com/office/drawing/2014/main" id="{C5C1820D-28AC-4A9F-9E5C-6CE36B5230F1}"/>
                  </a:ext>
                </a:extLst>
              </p:cNvPr>
              <p:cNvSpPr>
                <a:spLocks noChangeShapeType="1"/>
              </p:cNvSpPr>
              <p:nvPr/>
            </p:nvSpPr>
            <p:spPr bwMode="auto">
              <a:xfrm>
                <a:off x="1536" y="3648"/>
                <a:ext cx="220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rIns="18000"/>
              <a:lstStyle/>
              <a:p>
                <a:endParaRPr lang="zh-CN" altLang="en-US"/>
              </a:p>
            </p:txBody>
          </p:sp>
          <p:sp>
            <p:nvSpPr>
              <p:cNvPr id="326706" name="Line 38">
                <a:extLst>
                  <a:ext uri="{FF2B5EF4-FFF2-40B4-BE49-F238E27FC236}">
                    <a16:creationId xmlns:a16="http://schemas.microsoft.com/office/drawing/2014/main" id="{912CDF0C-0F96-4D80-87A0-AF122B8C6870}"/>
                  </a:ext>
                </a:extLst>
              </p:cNvPr>
              <p:cNvSpPr>
                <a:spLocks noChangeShapeType="1"/>
              </p:cNvSpPr>
              <p:nvPr/>
            </p:nvSpPr>
            <p:spPr bwMode="auto">
              <a:xfrm>
                <a:off x="1536" y="1968"/>
                <a:ext cx="0" cy="1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rIns="18000"/>
              <a:lstStyle/>
              <a:p>
                <a:endParaRPr lang="zh-CN" altLang="en-US"/>
              </a:p>
            </p:txBody>
          </p:sp>
          <p:sp>
            <p:nvSpPr>
              <p:cNvPr id="326707" name="Line 39">
                <a:extLst>
                  <a:ext uri="{FF2B5EF4-FFF2-40B4-BE49-F238E27FC236}">
                    <a16:creationId xmlns:a16="http://schemas.microsoft.com/office/drawing/2014/main" id="{9C4C1342-80B3-48FC-A186-6FADF05E6690}"/>
                  </a:ext>
                </a:extLst>
              </p:cNvPr>
              <p:cNvSpPr>
                <a:spLocks noChangeShapeType="1"/>
              </p:cNvSpPr>
              <p:nvPr/>
            </p:nvSpPr>
            <p:spPr bwMode="auto">
              <a:xfrm>
                <a:off x="2592" y="2016"/>
                <a:ext cx="0" cy="1632"/>
              </a:xfrm>
              <a:prstGeom prst="line">
                <a:avLst/>
              </a:prstGeom>
              <a:noFill/>
              <a:ln w="28575">
                <a:solidFill>
                  <a:srgbClr val="0000CC"/>
                </a:solidFill>
                <a:prstDash val="sysDot"/>
                <a:round/>
                <a:headEnd/>
                <a:tailEnd/>
              </a:ln>
              <a:extLst>
                <a:ext uri="{909E8E84-426E-40DD-AFC4-6F175D3DCCD1}">
                  <a14:hiddenFill xmlns:a14="http://schemas.microsoft.com/office/drawing/2010/main">
                    <a:noFill/>
                  </a14:hiddenFill>
                </a:ext>
              </a:extLst>
            </p:spPr>
            <p:txBody>
              <a:bodyPr rIns="18000"/>
              <a:lstStyle/>
              <a:p>
                <a:endParaRPr lang="zh-CN" altLang="en-US"/>
              </a:p>
            </p:txBody>
          </p:sp>
        </p:grpSp>
        <p:sp>
          <p:nvSpPr>
            <p:cNvPr id="1239080" name="Text Box 40">
              <a:extLst>
                <a:ext uri="{FF2B5EF4-FFF2-40B4-BE49-F238E27FC236}">
                  <a16:creationId xmlns:a16="http://schemas.microsoft.com/office/drawing/2014/main" id="{0AB9F9B0-8F9D-45C9-A389-2BC378D08297}"/>
                </a:ext>
              </a:extLst>
            </p:cNvPr>
            <p:cNvSpPr txBox="1">
              <a:spLocks noChangeArrowheads="1"/>
            </p:cNvSpPr>
            <p:nvPr/>
          </p:nvSpPr>
          <p:spPr bwMode="auto">
            <a:xfrm>
              <a:off x="3361" y="3168"/>
              <a:ext cx="1439" cy="344"/>
            </a:xfrm>
            <a:prstGeom prst="rect">
              <a:avLst/>
            </a:prstGeom>
            <a:noFill/>
            <a:ln w="9525">
              <a:noFill/>
              <a:miter lim="800000"/>
              <a:headEnd/>
              <a:tailEnd/>
            </a:ln>
            <a:effectLst/>
          </p:spPr>
          <p:txBody>
            <a:bodyPr rIns="18000">
              <a:spAutoFit/>
            </a:bodyPr>
            <a:lstStyle/>
            <a:p>
              <a:pPr eaLnBrk="1" hangingPunct="1">
                <a:spcBef>
                  <a:spcPct val="50000"/>
                </a:spcBef>
                <a:buClr>
                  <a:schemeClr val="hlink"/>
                </a:buClr>
                <a:buSzPct val="60000"/>
                <a:buFont typeface="Wingdings" pitchFamily="2" charset="2"/>
                <a:buNone/>
                <a:defRPr/>
              </a:pPr>
              <a:r>
                <a:rPr lang="en-US" altLang="zh-CN" sz="2000" b="1">
                  <a:effectLst>
                    <a:outerShdw blurRad="38100" dist="38100" dir="2700000" algn="tl">
                      <a:srgbClr val="C0C0C0"/>
                    </a:outerShdw>
                  </a:effectLst>
                  <a:latin typeface="Times New Roman" pitchFamily="18" charset="0"/>
                  <a:ea typeface="黑体" pitchFamily="49" charset="-122"/>
                </a:rPr>
                <a:t>   </a:t>
              </a:r>
              <a:r>
                <a:rPr lang="en-US" altLang="zh-CN" sz="1200" b="1">
                  <a:effectLst>
                    <a:outerShdw blurRad="38100" dist="38100" dir="2700000" algn="tl">
                      <a:srgbClr val="C0C0C0"/>
                    </a:outerShdw>
                  </a:effectLst>
                  <a:latin typeface="Times New Roman" pitchFamily="18" charset="0"/>
                  <a:ea typeface="黑体" pitchFamily="49" charset="-122"/>
                </a:rPr>
                <a:t>6                    10</a:t>
              </a:r>
            </a:p>
          </p:txBody>
        </p:sp>
        <p:sp>
          <p:nvSpPr>
            <p:cNvPr id="1239081" name="Text Box 41">
              <a:extLst>
                <a:ext uri="{FF2B5EF4-FFF2-40B4-BE49-F238E27FC236}">
                  <a16:creationId xmlns:a16="http://schemas.microsoft.com/office/drawing/2014/main" id="{D59CE990-FEB3-433A-A30B-C7DEC74A8CD0}"/>
                </a:ext>
              </a:extLst>
            </p:cNvPr>
            <p:cNvSpPr txBox="1">
              <a:spLocks noChangeArrowheads="1"/>
            </p:cNvSpPr>
            <p:nvPr/>
          </p:nvSpPr>
          <p:spPr bwMode="auto">
            <a:xfrm>
              <a:off x="5088" y="3023"/>
              <a:ext cx="480" cy="292"/>
            </a:xfrm>
            <a:prstGeom prst="rect">
              <a:avLst/>
            </a:prstGeom>
            <a:noFill/>
            <a:ln w="9525">
              <a:noFill/>
              <a:miter lim="800000"/>
              <a:headEnd/>
              <a:tailEnd/>
            </a:ln>
            <a:effectLst/>
          </p:spPr>
          <p:txBody>
            <a:bodyPr rIns="18000">
              <a:spAutoFit/>
            </a:bodyPr>
            <a:lstStyle/>
            <a:p>
              <a:pPr eaLnBrk="1" hangingPunct="1">
                <a:spcBef>
                  <a:spcPct val="50000"/>
                </a:spcBef>
                <a:buClr>
                  <a:schemeClr val="hlink"/>
                </a:buClr>
                <a:buSzPct val="60000"/>
                <a:buFont typeface="Wingdings" pitchFamily="2" charset="2"/>
                <a:buNone/>
                <a:defRPr/>
              </a:pPr>
              <a:r>
                <a:rPr lang="en-US" altLang="zh-CN" sz="1600" b="1">
                  <a:effectLst>
                    <a:outerShdw blurRad="38100" dist="38100" dir="2700000" algn="tl">
                      <a:srgbClr val="C0C0C0"/>
                    </a:outerShdw>
                  </a:effectLst>
                  <a:latin typeface="Times New Roman" pitchFamily="18" charset="0"/>
                  <a:ea typeface="黑体" pitchFamily="49" charset="-122"/>
                </a:rPr>
                <a:t>pH</a:t>
              </a:r>
            </a:p>
          </p:txBody>
        </p:sp>
        <p:sp>
          <p:nvSpPr>
            <p:cNvPr id="1239082" name="Text Box 42">
              <a:extLst>
                <a:ext uri="{FF2B5EF4-FFF2-40B4-BE49-F238E27FC236}">
                  <a16:creationId xmlns:a16="http://schemas.microsoft.com/office/drawing/2014/main" id="{CF43E6E4-36F1-4ACE-82B9-FEA638E60385}"/>
                </a:ext>
              </a:extLst>
            </p:cNvPr>
            <p:cNvSpPr txBox="1">
              <a:spLocks noChangeArrowheads="1"/>
            </p:cNvSpPr>
            <p:nvPr/>
          </p:nvSpPr>
          <p:spPr bwMode="auto">
            <a:xfrm>
              <a:off x="3600" y="1104"/>
              <a:ext cx="769" cy="267"/>
            </a:xfrm>
            <a:prstGeom prst="rect">
              <a:avLst/>
            </a:prstGeom>
            <a:noFill/>
            <a:ln w="9525">
              <a:noFill/>
              <a:miter lim="800000"/>
              <a:headEnd/>
              <a:tailEnd/>
            </a:ln>
            <a:effectLst/>
          </p:spPr>
          <p:txBody>
            <a:bodyPr rIns="18000">
              <a:spAutoFit/>
            </a:bodyPr>
            <a:lstStyle/>
            <a:p>
              <a:pPr eaLnBrk="1" hangingPunct="1">
                <a:spcBef>
                  <a:spcPct val="50000"/>
                </a:spcBef>
                <a:buClr>
                  <a:schemeClr val="hlink"/>
                </a:buClr>
                <a:buSzPct val="60000"/>
                <a:buFont typeface="Wingdings" pitchFamily="2" charset="2"/>
                <a:buNone/>
                <a:defRPr/>
              </a:pPr>
              <a:r>
                <a:rPr lang="zh-CN" altLang="en-US" sz="1400" b="1">
                  <a:effectLst>
                    <a:outerShdw blurRad="38100" dist="38100" dir="2700000" algn="tl">
                      <a:srgbClr val="C0C0C0"/>
                    </a:outerShdw>
                  </a:effectLst>
                  <a:latin typeface="Times New Roman" pitchFamily="18" charset="0"/>
                  <a:ea typeface="黑体" pitchFamily="49" charset="-122"/>
                </a:rPr>
                <a:t>最适</a:t>
              </a:r>
              <a:r>
                <a:rPr lang="en-US" altLang="zh-CN" sz="1400" b="1">
                  <a:effectLst>
                    <a:outerShdw blurRad="38100" dist="38100" dir="2700000" algn="tl">
                      <a:srgbClr val="C0C0C0"/>
                    </a:outerShdw>
                  </a:effectLst>
                  <a:latin typeface="Times New Roman" pitchFamily="18" charset="0"/>
                  <a:ea typeface="黑体" pitchFamily="49" charset="-122"/>
                </a:rPr>
                <a:t>pH</a:t>
              </a:r>
            </a:p>
          </p:txBody>
        </p:sp>
        <p:sp>
          <p:nvSpPr>
            <p:cNvPr id="1239083" name="Text Box 43">
              <a:extLst>
                <a:ext uri="{FF2B5EF4-FFF2-40B4-BE49-F238E27FC236}">
                  <a16:creationId xmlns:a16="http://schemas.microsoft.com/office/drawing/2014/main" id="{BEDF1DCD-DF38-4A9D-868C-80662DBC3F53}"/>
                </a:ext>
              </a:extLst>
            </p:cNvPr>
            <p:cNvSpPr txBox="1">
              <a:spLocks noChangeArrowheads="1"/>
            </p:cNvSpPr>
            <p:nvPr/>
          </p:nvSpPr>
          <p:spPr bwMode="auto">
            <a:xfrm>
              <a:off x="2592" y="1392"/>
              <a:ext cx="336" cy="850"/>
            </a:xfrm>
            <a:prstGeom prst="rect">
              <a:avLst/>
            </a:prstGeom>
            <a:noFill/>
            <a:ln w="9525">
              <a:noFill/>
              <a:miter lim="800000"/>
              <a:headEnd/>
              <a:tailEnd/>
            </a:ln>
            <a:effectLst/>
          </p:spPr>
          <p:txBody>
            <a:bodyPr rIns="18000">
              <a:spAutoFit/>
            </a:bodyPr>
            <a:lstStyle/>
            <a:p>
              <a:pPr eaLnBrk="1" hangingPunct="1">
                <a:lnSpc>
                  <a:spcPct val="90000"/>
                </a:lnSpc>
                <a:spcBef>
                  <a:spcPct val="10000"/>
                </a:spcBef>
                <a:buClr>
                  <a:schemeClr val="hlink"/>
                </a:buClr>
                <a:buSzPct val="60000"/>
                <a:buFont typeface="Wingdings" pitchFamily="2" charset="2"/>
                <a:buNone/>
                <a:defRPr/>
              </a:pPr>
              <a:r>
                <a:rPr lang="zh-CN" altLang="en-US" b="1">
                  <a:effectLst>
                    <a:outerShdw blurRad="38100" dist="38100" dir="2700000" algn="tl">
                      <a:srgbClr val="C0C0C0"/>
                    </a:outerShdw>
                  </a:effectLst>
                  <a:latin typeface="Times New Roman" pitchFamily="18" charset="0"/>
                  <a:ea typeface="黑体" pitchFamily="49" charset="-122"/>
                </a:rPr>
                <a:t>酶</a:t>
              </a:r>
            </a:p>
            <a:p>
              <a:pPr eaLnBrk="1" hangingPunct="1">
                <a:lnSpc>
                  <a:spcPct val="90000"/>
                </a:lnSpc>
                <a:spcBef>
                  <a:spcPct val="10000"/>
                </a:spcBef>
                <a:buClr>
                  <a:schemeClr val="hlink"/>
                </a:buClr>
                <a:buSzPct val="60000"/>
                <a:buFont typeface="Wingdings" pitchFamily="2" charset="2"/>
                <a:buNone/>
                <a:defRPr/>
              </a:pPr>
              <a:r>
                <a:rPr lang="zh-CN" altLang="en-US" b="1">
                  <a:effectLst>
                    <a:outerShdw blurRad="38100" dist="38100" dir="2700000" algn="tl">
                      <a:srgbClr val="C0C0C0"/>
                    </a:outerShdw>
                  </a:effectLst>
                  <a:latin typeface="Times New Roman" pitchFamily="18" charset="0"/>
                  <a:ea typeface="黑体" pitchFamily="49" charset="-122"/>
                </a:rPr>
                <a:t>活</a:t>
              </a:r>
            </a:p>
            <a:p>
              <a:pPr eaLnBrk="1" hangingPunct="1">
                <a:lnSpc>
                  <a:spcPct val="90000"/>
                </a:lnSpc>
                <a:spcBef>
                  <a:spcPct val="10000"/>
                </a:spcBef>
                <a:buClr>
                  <a:schemeClr val="hlink"/>
                </a:buClr>
                <a:buSzPct val="60000"/>
                <a:buFont typeface="Wingdings" pitchFamily="2" charset="2"/>
                <a:buNone/>
                <a:defRPr/>
              </a:pPr>
              <a:r>
                <a:rPr lang="zh-CN" altLang="en-US" b="1">
                  <a:effectLst>
                    <a:outerShdw blurRad="38100" dist="38100" dir="2700000" algn="tl">
                      <a:srgbClr val="C0C0C0"/>
                    </a:outerShdw>
                  </a:effectLst>
                  <a:latin typeface="Times New Roman" pitchFamily="18" charset="0"/>
                  <a:ea typeface="黑体" pitchFamily="49" charset="-122"/>
                </a:rPr>
                <a:t>性</a:t>
              </a:r>
              <a:r>
                <a:rPr lang="zh-CN" altLang="en-US" sz="2400" b="1">
                  <a:effectLst>
                    <a:outerShdw blurRad="38100" dist="38100" dir="2700000" algn="tl">
                      <a:srgbClr val="C0C0C0"/>
                    </a:outerShdw>
                  </a:effectLst>
                  <a:latin typeface="Times New Roman" pitchFamily="18" charset="0"/>
                  <a:ea typeface="黑体" pitchFamily="49" charset="-122"/>
                </a:rPr>
                <a:t> </a:t>
              </a:r>
              <a:endParaRPr lang="zh-CN" altLang="en-US" sz="3200" b="1">
                <a:effectLst>
                  <a:outerShdw blurRad="38100" dist="38100" dir="2700000" algn="tl">
                    <a:srgbClr val="C0C0C0"/>
                  </a:outerShdw>
                </a:effectLst>
                <a:latin typeface="Times New Roman" pitchFamily="18" charset="0"/>
                <a:ea typeface="黑体" pitchFamily="49" charset="-122"/>
              </a:endParaRPr>
            </a:p>
          </p:txBody>
        </p:sp>
        <p:sp>
          <p:nvSpPr>
            <p:cNvPr id="1239084" name="Text Box 44">
              <a:extLst>
                <a:ext uri="{FF2B5EF4-FFF2-40B4-BE49-F238E27FC236}">
                  <a16:creationId xmlns:a16="http://schemas.microsoft.com/office/drawing/2014/main" id="{54E310A5-BE74-4CE7-8AB9-1A7BA49CFBF7}"/>
                </a:ext>
              </a:extLst>
            </p:cNvPr>
            <p:cNvSpPr txBox="1">
              <a:spLocks noChangeArrowheads="1"/>
            </p:cNvSpPr>
            <p:nvPr/>
          </p:nvSpPr>
          <p:spPr bwMode="auto">
            <a:xfrm>
              <a:off x="3264" y="3504"/>
              <a:ext cx="1920" cy="318"/>
            </a:xfrm>
            <a:prstGeom prst="rect">
              <a:avLst/>
            </a:prstGeom>
            <a:noFill/>
            <a:ln w="9525">
              <a:noFill/>
              <a:miter lim="800000"/>
              <a:headEnd/>
              <a:tailEnd/>
            </a:ln>
            <a:effectLst/>
          </p:spPr>
          <p:txBody>
            <a:bodyPr rIns="18000">
              <a:spAutoFit/>
            </a:bodyPr>
            <a:lstStyle/>
            <a:p>
              <a:pPr algn="ctr" eaLnBrk="1" hangingPunct="1">
                <a:spcBef>
                  <a:spcPct val="50000"/>
                </a:spcBef>
                <a:buClr>
                  <a:schemeClr val="hlink"/>
                </a:buClr>
                <a:buSzPct val="60000"/>
                <a:buFont typeface="Wingdings" pitchFamily="2" charset="2"/>
                <a:buNone/>
                <a:defRPr/>
              </a:pPr>
              <a:r>
                <a:rPr lang="en-US" altLang="zh-CN" b="1">
                  <a:effectLst>
                    <a:outerShdw blurRad="38100" dist="38100" dir="2700000" algn="tl">
                      <a:srgbClr val="C0C0C0"/>
                    </a:outerShdw>
                  </a:effectLst>
                  <a:latin typeface="Times New Roman" pitchFamily="18" charset="0"/>
                  <a:ea typeface="黑体" pitchFamily="49" charset="-122"/>
                </a:rPr>
                <a:t>pH</a:t>
              </a:r>
              <a:r>
                <a:rPr lang="zh-CN" altLang="en-US" b="1">
                  <a:effectLst>
                    <a:outerShdw blurRad="38100" dist="38100" dir="2700000" algn="tl">
                      <a:srgbClr val="C0C0C0"/>
                    </a:outerShdw>
                  </a:effectLst>
                  <a:latin typeface="Times New Roman" pitchFamily="18" charset="0"/>
                  <a:ea typeface="黑体" pitchFamily="49" charset="-122"/>
                </a:rPr>
                <a:t>与酶活性的关系</a:t>
              </a:r>
            </a:p>
          </p:txBody>
        </p:sp>
      </p:grpSp>
      <p:grpSp>
        <p:nvGrpSpPr>
          <p:cNvPr id="6" name="Group 45">
            <a:extLst>
              <a:ext uri="{FF2B5EF4-FFF2-40B4-BE49-F238E27FC236}">
                <a16:creationId xmlns:a16="http://schemas.microsoft.com/office/drawing/2014/main" id="{2E4E7C3C-F50C-44FC-9DF7-831964453CD0}"/>
              </a:ext>
            </a:extLst>
          </p:cNvPr>
          <p:cNvGrpSpPr>
            <a:grpSpLocks/>
          </p:cNvGrpSpPr>
          <p:nvPr/>
        </p:nvGrpSpPr>
        <p:grpSpPr bwMode="auto">
          <a:xfrm>
            <a:off x="4656138" y="3644901"/>
            <a:ext cx="2736850" cy="3025775"/>
            <a:chOff x="1837" y="2213"/>
            <a:chExt cx="1648" cy="1914"/>
          </a:xfrm>
        </p:grpSpPr>
        <p:grpSp>
          <p:nvGrpSpPr>
            <p:cNvPr id="326666" name="Group 46">
              <a:extLst>
                <a:ext uri="{FF2B5EF4-FFF2-40B4-BE49-F238E27FC236}">
                  <a16:creationId xmlns:a16="http://schemas.microsoft.com/office/drawing/2014/main" id="{68DFD99D-0E0E-459F-A3E5-786F3A8CF4B3}"/>
                </a:ext>
              </a:extLst>
            </p:cNvPr>
            <p:cNvGrpSpPr>
              <a:grpSpLocks/>
            </p:cNvGrpSpPr>
            <p:nvPr/>
          </p:nvGrpSpPr>
          <p:grpSpPr bwMode="auto">
            <a:xfrm>
              <a:off x="1837" y="2213"/>
              <a:ext cx="1602" cy="1914"/>
              <a:chOff x="2971" y="769"/>
              <a:chExt cx="2529" cy="3347"/>
            </a:xfrm>
          </p:grpSpPr>
          <p:sp>
            <p:nvSpPr>
              <p:cNvPr id="326668" name="Freeform 47">
                <a:extLst>
                  <a:ext uri="{FF2B5EF4-FFF2-40B4-BE49-F238E27FC236}">
                    <a16:creationId xmlns:a16="http://schemas.microsoft.com/office/drawing/2014/main" id="{0BEF25E3-D126-4B1E-8F72-524E1DA4AF94}"/>
                  </a:ext>
                </a:extLst>
              </p:cNvPr>
              <p:cNvSpPr>
                <a:spLocks/>
              </p:cNvSpPr>
              <p:nvPr/>
            </p:nvSpPr>
            <p:spPr bwMode="auto">
              <a:xfrm rot="-1164865">
                <a:off x="3175" y="1039"/>
                <a:ext cx="1920" cy="1600"/>
              </a:xfrm>
              <a:custGeom>
                <a:avLst/>
                <a:gdLst>
                  <a:gd name="T0" fmla="*/ 4 w 2184"/>
                  <a:gd name="T1" fmla="*/ 1 h 2144"/>
                  <a:gd name="T2" fmla="*/ 4 w 2184"/>
                  <a:gd name="T3" fmla="*/ 1 h 2144"/>
                  <a:gd name="T4" fmla="*/ 4 w 2184"/>
                  <a:gd name="T5" fmla="*/ 1 h 2144"/>
                  <a:gd name="T6" fmla="*/ 0 w 2184"/>
                  <a:gd name="T7" fmla="*/ 1 h 2144"/>
                  <a:gd name="T8" fmla="*/ 0 60000 65536"/>
                  <a:gd name="T9" fmla="*/ 0 60000 65536"/>
                  <a:gd name="T10" fmla="*/ 0 60000 65536"/>
                  <a:gd name="T11" fmla="*/ 0 60000 65536"/>
                  <a:gd name="T12" fmla="*/ 0 w 2184"/>
                  <a:gd name="T13" fmla="*/ 0 h 2144"/>
                  <a:gd name="T14" fmla="*/ 2184 w 2184"/>
                  <a:gd name="T15" fmla="*/ 2144 h 2144"/>
                </a:gdLst>
                <a:ahLst/>
                <a:cxnLst>
                  <a:cxn ang="T8">
                    <a:pos x="T0" y="T1"/>
                  </a:cxn>
                  <a:cxn ang="T9">
                    <a:pos x="T2" y="T3"/>
                  </a:cxn>
                  <a:cxn ang="T10">
                    <a:pos x="T4" y="T5"/>
                  </a:cxn>
                  <a:cxn ang="T11">
                    <a:pos x="T6" y="T7"/>
                  </a:cxn>
                </a:cxnLst>
                <a:rect l="T12" t="T13" r="T14" b="T15"/>
                <a:pathLst>
                  <a:path w="2184" h="2144">
                    <a:moveTo>
                      <a:pt x="1968" y="1696"/>
                    </a:moveTo>
                    <a:cubicBezTo>
                      <a:pt x="2076" y="848"/>
                      <a:pt x="2184" y="0"/>
                      <a:pt x="1968" y="16"/>
                    </a:cubicBezTo>
                    <a:cubicBezTo>
                      <a:pt x="1752" y="32"/>
                      <a:pt x="1000" y="1440"/>
                      <a:pt x="672" y="1792"/>
                    </a:cubicBezTo>
                    <a:cubicBezTo>
                      <a:pt x="344" y="2144"/>
                      <a:pt x="112" y="2072"/>
                      <a:pt x="0" y="2128"/>
                    </a:cubicBezTo>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26669" name="Line 48">
                <a:extLst>
                  <a:ext uri="{FF2B5EF4-FFF2-40B4-BE49-F238E27FC236}">
                    <a16:creationId xmlns:a16="http://schemas.microsoft.com/office/drawing/2014/main" id="{A3CE03AB-A594-4792-AF83-7941BB649080}"/>
                  </a:ext>
                </a:extLst>
              </p:cNvPr>
              <p:cNvSpPr>
                <a:spLocks noChangeShapeType="1"/>
              </p:cNvSpPr>
              <p:nvPr/>
            </p:nvSpPr>
            <p:spPr bwMode="auto">
              <a:xfrm>
                <a:off x="3484" y="769"/>
                <a:ext cx="0" cy="24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670" name="Line 49">
                <a:extLst>
                  <a:ext uri="{FF2B5EF4-FFF2-40B4-BE49-F238E27FC236}">
                    <a16:creationId xmlns:a16="http://schemas.microsoft.com/office/drawing/2014/main" id="{F0A0ECA0-866A-48A1-BF7A-8AD44BBFD5A6}"/>
                  </a:ext>
                </a:extLst>
              </p:cNvPr>
              <p:cNvSpPr>
                <a:spLocks noChangeShapeType="1"/>
              </p:cNvSpPr>
              <p:nvPr/>
            </p:nvSpPr>
            <p:spPr bwMode="auto">
              <a:xfrm>
                <a:off x="3484" y="3169"/>
                <a:ext cx="20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6671" name="AutoShape 51">
                <a:extLst>
                  <a:ext uri="{FF2B5EF4-FFF2-40B4-BE49-F238E27FC236}">
                    <a16:creationId xmlns:a16="http://schemas.microsoft.com/office/drawing/2014/main" id="{A27D1394-218F-490E-BE9F-85CAE28619EA}"/>
                  </a:ext>
                </a:extLst>
              </p:cNvPr>
              <p:cNvSpPr>
                <a:spLocks noChangeArrowheads="1"/>
              </p:cNvSpPr>
              <p:nvPr/>
            </p:nvSpPr>
            <p:spPr bwMode="auto">
              <a:xfrm>
                <a:off x="4804" y="1153"/>
                <a:ext cx="48" cy="48"/>
              </a:xfrm>
              <a:prstGeom prst="flowChartConnector">
                <a:avLst/>
              </a:prstGeom>
              <a:solidFill>
                <a:srgbClr val="FF0066"/>
              </a:solidFill>
              <a:ln w="9525">
                <a:solidFill>
                  <a:srgbClr val="FFFFFF"/>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326672" name="AutoShape 52">
                <a:extLst>
                  <a:ext uri="{FF2B5EF4-FFF2-40B4-BE49-F238E27FC236}">
                    <a16:creationId xmlns:a16="http://schemas.microsoft.com/office/drawing/2014/main" id="{AC81B24E-A5A2-4108-8BC3-37C69C2F7AD0}"/>
                  </a:ext>
                </a:extLst>
              </p:cNvPr>
              <p:cNvSpPr>
                <a:spLocks noChangeArrowheads="1"/>
              </p:cNvSpPr>
              <p:nvPr/>
            </p:nvSpPr>
            <p:spPr bwMode="auto">
              <a:xfrm>
                <a:off x="4588" y="817"/>
                <a:ext cx="48" cy="48"/>
              </a:xfrm>
              <a:prstGeom prst="flowChartConnector">
                <a:avLst/>
              </a:prstGeom>
              <a:solidFill>
                <a:srgbClr val="FF0066"/>
              </a:solidFill>
              <a:ln w="9525">
                <a:solidFill>
                  <a:srgbClr val="FFFFFF"/>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326673" name="AutoShape 53">
                <a:extLst>
                  <a:ext uri="{FF2B5EF4-FFF2-40B4-BE49-F238E27FC236}">
                    <a16:creationId xmlns:a16="http://schemas.microsoft.com/office/drawing/2014/main" id="{E7CCD747-5D8E-4989-8995-4AFC9E5B6126}"/>
                  </a:ext>
                </a:extLst>
              </p:cNvPr>
              <p:cNvSpPr>
                <a:spLocks noChangeArrowheads="1"/>
              </p:cNvSpPr>
              <p:nvPr/>
            </p:nvSpPr>
            <p:spPr bwMode="auto">
              <a:xfrm>
                <a:off x="4468" y="973"/>
                <a:ext cx="48" cy="48"/>
              </a:xfrm>
              <a:prstGeom prst="flowChartConnector">
                <a:avLst/>
              </a:prstGeom>
              <a:solidFill>
                <a:srgbClr val="FF0066"/>
              </a:solidFill>
              <a:ln w="9525">
                <a:solidFill>
                  <a:srgbClr val="FFFFFF"/>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326674" name="AutoShape 54">
                <a:extLst>
                  <a:ext uri="{FF2B5EF4-FFF2-40B4-BE49-F238E27FC236}">
                    <a16:creationId xmlns:a16="http://schemas.microsoft.com/office/drawing/2014/main" id="{749B53F0-99DC-466E-ABC0-A1672B75E71E}"/>
                  </a:ext>
                </a:extLst>
              </p:cNvPr>
              <p:cNvSpPr>
                <a:spLocks noChangeArrowheads="1"/>
              </p:cNvSpPr>
              <p:nvPr/>
            </p:nvSpPr>
            <p:spPr bwMode="auto">
              <a:xfrm>
                <a:off x="4348" y="1249"/>
                <a:ext cx="48" cy="48"/>
              </a:xfrm>
              <a:prstGeom prst="flowChartConnector">
                <a:avLst/>
              </a:prstGeom>
              <a:solidFill>
                <a:srgbClr val="FF0066"/>
              </a:solidFill>
              <a:ln w="9525">
                <a:solidFill>
                  <a:srgbClr val="FFFFFF"/>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326675" name="AutoShape 55">
                <a:extLst>
                  <a:ext uri="{FF2B5EF4-FFF2-40B4-BE49-F238E27FC236}">
                    <a16:creationId xmlns:a16="http://schemas.microsoft.com/office/drawing/2014/main" id="{D6786AF3-34DA-4622-B263-0AB8E951DB82}"/>
                  </a:ext>
                </a:extLst>
              </p:cNvPr>
              <p:cNvSpPr>
                <a:spLocks noChangeArrowheads="1"/>
              </p:cNvSpPr>
              <p:nvPr/>
            </p:nvSpPr>
            <p:spPr bwMode="auto">
              <a:xfrm>
                <a:off x="4108" y="2017"/>
                <a:ext cx="48" cy="48"/>
              </a:xfrm>
              <a:prstGeom prst="flowChartConnector">
                <a:avLst/>
              </a:prstGeom>
              <a:solidFill>
                <a:srgbClr val="FF0066"/>
              </a:solidFill>
              <a:ln w="9525">
                <a:solidFill>
                  <a:srgbClr val="FFFFFF"/>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326676" name="AutoShape 56">
                <a:extLst>
                  <a:ext uri="{FF2B5EF4-FFF2-40B4-BE49-F238E27FC236}">
                    <a16:creationId xmlns:a16="http://schemas.microsoft.com/office/drawing/2014/main" id="{767EEBE0-AA70-4BDF-99E3-92CAE936221B}"/>
                  </a:ext>
                </a:extLst>
              </p:cNvPr>
              <p:cNvSpPr>
                <a:spLocks noChangeArrowheads="1"/>
              </p:cNvSpPr>
              <p:nvPr/>
            </p:nvSpPr>
            <p:spPr bwMode="auto">
              <a:xfrm>
                <a:off x="3820" y="2629"/>
                <a:ext cx="48" cy="48"/>
              </a:xfrm>
              <a:prstGeom prst="flowChartConnector">
                <a:avLst/>
              </a:prstGeom>
              <a:solidFill>
                <a:srgbClr val="FF0066"/>
              </a:solidFill>
              <a:ln w="9525">
                <a:solidFill>
                  <a:srgbClr val="FFFFFF"/>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326677" name="AutoShape 57">
                <a:extLst>
                  <a:ext uri="{FF2B5EF4-FFF2-40B4-BE49-F238E27FC236}">
                    <a16:creationId xmlns:a16="http://schemas.microsoft.com/office/drawing/2014/main" id="{0D103018-007F-4774-B168-E3D8A46E8486}"/>
                  </a:ext>
                </a:extLst>
              </p:cNvPr>
              <p:cNvSpPr>
                <a:spLocks noChangeArrowheads="1"/>
              </p:cNvSpPr>
              <p:nvPr/>
            </p:nvSpPr>
            <p:spPr bwMode="auto">
              <a:xfrm>
                <a:off x="3628" y="2785"/>
                <a:ext cx="48" cy="48"/>
              </a:xfrm>
              <a:prstGeom prst="flowChartConnector">
                <a:avLst/>
              </a:prstGeom>
              <a:solidFill>
                <a:srgbClr val="FF0066"/>
              </a:solidFill>
              <a:ln w="9525">
                <a:solidFill>
                  <a:srgbClr val="FFFFFF"/>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326678" name="Line 59">
                <a:extLst>
                  <a:ext uri="{FF2B5EF4-FFF2-40B4-BE49-F238E27FC236}">
                    <a16:creationId xmlns:a16="http://schemas.microsoft.com/office/drawing/2014/main" id="{C02DCC28-4420-401F-8D28-31A036F5DAE8}"/>
                  </a:ext>
                </a:extLst>
              </p:cNvPr>
              <p:cNvSpPr>
                <a:spLocks noChangeShapeType="1"/>
              </p:cNvSpPr>
              <p:nvPr/>
            </p:nvSpPr>
            <p:spPr bwMode="auto">
              <a:xfrm>
                <a:off x="4528" y="3121"/>
                <a:ext cx="0" cy="48"/>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679" name="Line 60">
                <a:extLst>
                  <a:ext uri="{FF2B5EF4-FFF2-40B4-BE49-F238E27FC236}">
                    <a16:creationId xmlns:a16="http://schemas.microsoft.com/office/drawing/2014/main" id="{1CF16550-898E-45C1-8DBC-DBE46F384A39}"/>
                  </a:ext>
                </a:extLst>
              </p:cNvPr>
              <p:cNvSpPr>
                <a:spLocks noChangeShapeType="1"/>
              </p:cNvSpPr>
              <p:nvPr/>
            </p:nvSpPr>
            <p:spPr bwMode="auto">
              <a:xfrm>
                <a:off x="4792" y="3121"/>
                <a:ext cx="0" cy="48"/>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680" name="Line 61">
                <a:extLst>
                  <a:ext uri="{FF2B5EF4-FFF2-40B4-BE49-F238E27FC236}">
                    <a16:creationId xmlns:a16="http://schemas.microsoft.com/office/drawing/2014/main" id="{77F27BCB-66EC-406B-B119-FEABFA5F2C40}"/>
                  </a:ext>
                </a:extLst>
              </p:cNvPr>
              <p:cNvSpPr>
                <a:spLocks noChangeShapeType="1"/>
              </p:cNvSpPr>
              <p:nvPr/>
            </p:nvSpPr>
            <p:spPr bwMode="auto">
              <a:xfrm>
                <a:off x="5068" y="3121"/>
                <a:ext cx="0" cy="48"/>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681" name="Line 62">
                <a:extLst>
                  <a:ext uri="{FF2B5EF4-FFF2-40B4-BE49-F238E27FC236}">
                    <a16:creationId xmlns:a16="http://schemas.microsoft.com/office/drawing/2014/main" id="{9D9D84DE-102F-43D9-998C-0419BF8C3665}"/>
                  </a:ext>
                </a:extLst>
              </p:cNvPr>
              <p:cNvSpPr>
                <a:spLocks noChangeShapeType="1"/>
              </p:cNvSpPr>
              <p:nvPr/>
            </p:nvSpPr>
            <p:spPr bwMode="auto">
              <a:xfrm>
                <a:off x="3736" y="3121"/>
                <a:ext cx="0" cy="48"/>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682" name="Line 63">
                <a:extLst>
                  <a:ext uri="{FF2B5EF4-FFF2-40B4-BE49-F238E27FC236}">
                    <a16:creationId xmlns:a16="http://schemas.microsoft.com/office/drawing/2014/main" id="{E0CD8EAD-BECE-4D11-9566-E6A6CF514591}"/>
                  </a:ext>
                </a:extLst>
              </p:cNvPr>
              <p:cNvSpPr>
                <a:spLocks noChangeShapeType="1"/>
              </p:cNvSpPr>
              <p:nvPr/>
            </p:nvSpPr>
            <p:spPr bwMode="auto">
              <a:xfrm>
                <a:off x="4000" y="3121"/>
                <a:ext cx="0" cy="48"/>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683" name="Line 64">
                <a:extLst>
                  <a:ext uri="{FF2B5EF4-FFF2-40B4-BE49-F238E27FC236}">
                    <a16:creationId xmlns:a16="http://schemas.microsoft.com/office/drawing/2014/main" id="{C75FF416-72E3-4B5D-B2D1-4595AF979973}"/>
                  </a:ext>
                </a:extLst>
              </p:cNvPr>
              <p:cNvSpPr>
                <a:spLocks noChangeShapeType="1"/>
              </p:cNvSpPr>
              <p:nvPr/>
            </p:nvSpPr>
            <p:spPr bwMode="auto">
              <a:xfrm>
                <a:off x="4264" y="3121"/>
                <a:ext cx="0" cy="48"/>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684" name="Line 65">
                <a:extLst>
                  <a:ext uri="{FF2B5EF4-FFF2-40B4-BE49-F238E27FC236}">
                    <a16:creationId xmlns:a16="http://schemas.microsoft.com/office/drawing/2014/main" id="{EE09FFFA-04D7-454D-A288-2D4BC3A67400}"/>
                  </a:ext>
                </a:extLst>
              </p:cNvPr>
              <p:cNvSpPr>
                <a:spLocks noChangeShapeType="1"/>
              </p:cNvSpPr>
              <p:nvPr/>
            </p:nvSpPr>
            <p:spPr bwMode="auto">
              <a:xfrm>
                <a:off x="3484" y="1393"/>
                <a:ext cx="48" cy="0"/>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685" name="Line 66">
                <a:extLst>
                  <a:ext uri="{FF2B5EF4-FFF2-40B4-BE49-F238E27FC236}">
                    <a16:creationId xmlns:a16="http://schemas.microsoft.com/office/drawing/2014/main" id="{B27DDF2A-1DF6-481E-BBF5-F8D4B06A7C12}"/>
                  </a:ext>
                </a:extLst>
              </p:cNvPr>
              <p:cNvSpPr>
                <a:spLocks noChangeShapeType="1"/>
              </p:cNvSpPr>
              <p:nvPr/>
            </p:nvSpPr>
            <p:spPr bwMode="auto">
              <a:xfrm>
                <a:off x="3496" y="2581"/>
                <a:ext cx="48" cy="0"/>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686" name="Line 67">
                <a:extLst>
                  <a:ext uri="{FF2B5EF4-FFF2-40B4-BE49-F238E27FC236}">
                    <a16:creationId xmlns:a16="http://schemas.microsoft.com/office/drawing/2014/main" id="{62DFD952-09F0-4F85-80C9-959DB766E060}"/>
                  </a:ext>
                </a:extLst>
              </p:cNvPr>
              <p:cNvSpPr>
                <a:spLocks noChangeShapeType="1"/>
              </p:cNvSpPr>
              <p:nvPr/>
            </p:nvSpPr>
            <p:spPr bwMode="auto">
              <a:xfrm>
                <a:off x="3496" y="817"/>
                <a:ext cx="48" cy="0"/>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687" name="Line 68">
                <a:extLst>
                  <a:ext uri="{FF2B5EF4-FFF2-40B4-BE49-F238E27FC236}">
                    <a16:creationId xmlns:a16="http://schemas.microsoft.com/office/drawing/2014/main" id="{FC45A7F4-120B-4487-BA59-4214807DEA7D}"/>
                  </a:ext>
                </a:extLst>
              </p:cNvPr>
              <p:cNvSpPr>
                <a:spLocks noChangeShapeType="1"/>
              </p:cNvSpPr>
              <p:nvPr/>
            </p:nvSpPr>
            <p:spPr bwMode="auto">
              <a:xfrm>
                <a:off x="3484" y="1969"/>
                <a:ext cx="48" cy="0"/>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6688" name="Text Box 69">
                <a:extLst>
                  <a:ext uri="{FF2B5EF4-FFF2-40B4-BE49-F238E27FC236}">
                    <a16:creationId xmlns:a16="http://schemas.microsoft.com/office/drawing/2014/main" id="{39CB661E-C282-49DF-825A-FDB0A9D94037}"/>
                  </a:ext>
                </a:extLst>
              </p:cNvPr>
              <p:cNvSpPr txBox="1">
                <a:spLocks noChangeArrowheads="1"/>
              </p:cNvSpPr>
              <p:nvPr/>
            </p:nvSpPr>
            <p:spPr bwMode="auto">
              <a:xfrm>
                <a:off x="2971" y="799"/>
                <a:ext cx="287" cy="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FontTx/>
                  <a:buNone/>
                </a:pPr>
                <a:r>
                  <a:rPr kumimoji="1" lang="zh-CN" altLang="en-US" sz="1800" b="1">
                    <a:latin typeface="Times New Roman" panose="02020603050405020304" pitchFamily="18" charset="0"/>
                    <a:ea typeface="黑体" panose="02010609060101010101" pitchFamily="49" charset="-122"/>
                  </a:rPr>
                  <a:t>酶</a:t>
                </a:r>
              </a:p>
              <a:p>
                <a:pPr eaLnBrk="1" hangingPunct="1">
                  <a:lnSpc>
                    <a:spcPct val="90000"/>
                  </a:lnSpc>
                  <a:spcBef>
                    <a:spcPct val="50000"/>
                  </a:spcBef>
                  <a:buFontTx/>
                  <a:buNone/>
                </a:pPr>
                <a:r>
                  <a:rPr kumimoji="1" lang="zh-CN" altLang="en-US" sz="1800" b="1">
                    <a:latin typeface="Times New Roman" panose="02020603050405020304" pitchFamily="18" charset="0"/>
                    <a:ea typeface="黑体" panose="02010609060101010101" pitchFamily="49" charset="-122"/>
                  </a:rPr>
                  <a:t>活</a:t>
                </a:r>
              </a:p>
              <a:p>
                <a:pPr eaLnBrk="1" hangingPunct="1">
                  <a:lnSpc>
                    <a:spcPct val="90000"/>
                  </a:lnSpc>
                  <a:spcBef>
                    <a:spcPct val="50000"/>
                  </a:spcBef>
                  <a:buFontTx/>
                  <a:buNone/>
                </a:pPr>
                <a:r>
                  <a:rPr kumimoji="1" lang="zh-CN" altLang="en-US" sz="1800" b="1">
                    <a:latin typeface="Times New Roman" panose="02020603050405020304" pitchFamily="18" charset="0"/>
                    <a:ea typeface="黑体" panose="02010609060101010101" pitchFamily="49" charset="-122"/>
                  </a:rPr>
                  <a:t>性</a:t>
                </a:r>
              </a:p>
              <a:p>
                <a:pPr eaLnBrk="1" hangingPunct="1">
                  <a:spcBef>
                    <a:spcPct val="50000"/>
                  </a:spcBef>
                  <a:buFontTx/>
                  <a:buNone/>
                </a:pPr>
                <a:endParaRPr kumimoji="1" lang="en-US" altLang="zh-CN" sz="1600" b="1">
                  <a:latin typeface="Times New Roman" panose="02020603050405020304" pitchFamily="18" charset="0"/>
                  <a:ea typeface="黑体" panose="02010609060101010101" pitchFamily="49" charset="-122"/>
                </a:endParaRPr>
              </a:p>
            </p:txBody>
          </p:sp>
          <p:sp>
            <p:nvSpPr>
              <p:cNvPr id="326689" name="Text Box 70">
                <a:extLst>
                  <a:ext uri="{FF2B5EF4-FFF2-40B4-BE49-F238E27FC236}">
                    <a16:creationId xmlns:a16="http://schemas.microsoft.com/office/drawing/2014/main" id="{05BDDE75-5B55-4183-85BD-686DA3D4F21B}"/>
                  </a:ext>
                </a:extLst>
              </p:cNvPr>
              <p:cNvSpPr txBox="1">
                <a:spLocks noChangeArrowheads="1"/>
              </p:cNvSpPr>
              <p:nvPr/>
            </p:nvSpPr>
            <p:spPr bwMode="auto">
              <a:xfrm>
                <a:off x="3185" y="2574"/>
                <a:ext cx="32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000" b="1">
                    <a:latin typeface="Times New Roman" panose="02020603050405020304" pitchFamily="18" charset="0"/>
                    <a:ea typeface="黑体" panose="02010609060101010101" pitchFamily="49" charset="-122"/>
                  </a:rPr>
                  <a:t>0.5</a:t>
                </a:r>
              </a:p>
            </p:txBody>
          </p:sp>
          <p:sp>
            <p:nvSpPr>
              <p:cNvPr id="326690" name="Text Box 71">
                <a:extLst>
                  <a:ext uri="{FF2B5EF4-FFF2-40B4-BE49-F238E27FC236}">
                    <a16:creationId xmlns:a16="http://schemas.microsoft.com/office/drawing/2014/main" id="{E5D7258B-B7E0-4D3A-9CC0-3E670C4E5853}"/>
                  </a:ext>
                </a:extLst>
              </p:cNvPr>
              <p:cNvSpPr txBox="1">
                <a:spLocks noChangeArrowheads="1"/>
              </p:cNvSpPr>
              <p:nvPr/>
            </p:nvSpPr>
            <p:spPr bwMode="auto">
              <a:xfrm>
                <a:off x="3185" y="1961"/>
                <a:ext cx="32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000" b="1">
                    <a:latin typeface="Times New Roman" panose="02020603050405020304" pitchFamily="18" charset="0"/>
                    <a:ea typeface="黑体" panose="02010609060101010101" pitchFamily="49" charset="-122"/>
                  </a:rPr>
                  <a:t>1.0</a:t>
                </a:r>
              </a:p>
            </p:txBody>
          </p:sp>
          <p:sp>
            <p:nvSpPr>
              <p:cNvPr id="326691" name="Text Box 72">
                <a:extLst>
                  <a:ext uri="{FF2B5EF4-FFF2-40B4-BE49-F238E27FC236}">
                    <a16:creationId xmlns:a16="http://schemas.microsoft.com/office/drawing/2014/main" id="{F5695212-5BE6-480F-AE73-11F8C79DF70E}"/>
                  </a:ext>
                </a:extLst>
              </p:cNvPr>
              <p:cNvSpPr txBox="1">
                <a:spLocks noChangeArrowheads="1"/>
              </p:cNvSpPr>
              <p:nvPr/>
            </p:nvSpPr>
            <p:spPr bwMode="auto">
              <a:xfrm>
                <a:off x="3185" y="809"/>
                <a:ext cx="32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000" b="1">
                    <a:latin typeface="Times New Roman" panose="02020603050405020304" pitchFamily="18" charset="0"/>
                    <a:ea typeface="黑体" panose="02010609060101010101" pitchFamily="49" charset="-122"/>
                  </a:rPr>
                  <a:t>2.0</a:t>
                </a:r>
              </a:p>
            </p:txBody>
          </p:sp>
          <p:sp>
            <p:nvSpPr>
              <p:cNvPr id="326692" name="Text Box 73">
                <a:extLst>
                  <a:ext uri="{FF2B5EF4-FFF2-40B4-BE49-F238E27FC236}">
                    <a16:creationId xmlns:a16="http://schemas.microsoft.com/office/drawing/2014/main" id="{D504C501-BBD1-4DB0-B782-49757AE7C3F6}"/>
                  </a:ext>
                </a:extLst>
              </p:cNvPr>
              <p:cNvSpPr txBox="1">
                <a:spLocks noChangeArrowheads="1"/>
              </p:cNvSpPr>
              <p:nvPr/>
            </p:nvSpPr>
            <p:spPr bwMode="auto">
              <a:xfrm>
                <a:off x="3185" y="1375"/>
                <a:ext cx="326"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000" b="1">
                    <a:latin typeface="Times New Roman" panose="02020603050405020304" pitchFamily="18" charset="0"/>
                    <a:ea typeface="黑体" panose="02010609060101010101" pitchFamily="49" charset="-122"/>
                  </a:rPr>
                  <a:t>1.5</a:t>
                </a:r>
              </a:p>
            </p:txBody>
          </p:sp>
          <p:sp>
            <p:nvSpPr>
              <p:cNvPr id="326693" name="Text Box 74">
                <a:extLst>
                  <a:ext uri="{FF2B5EF4-FFF2-40B4-BE49-F238E27FC236}">
                    <a16:creationId xmlns:a16="http://schemas.microsoft.com/office/drawing/2014/main" id="{051FE235-AE6B-4F56-8554-BB488221D893}"/>
                  </a:ext>
                </a:extLst>
              </p:cNvPr>
              <p:cNvSpPr txBox="1">
                <a:spLocks noChangeArrowheads="1"/>
              </p:cNvSpPr>
              <p:nvPr/>
            </p:nvSpPr>
            <p:spPr bwMode="auto">
              <a:xfrm>
                <a:off x="3389" y="3182"/>
                <a:ext cx="1841"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1200" b="1">
                    <a:latin typeface="Times New Roman" panose="02020603050405020304" pitchFamily="18" charset="0"/>
                    <a:ea typeface="黑体" panose="02010609060101010101" pitchFamily="49" charset="-122"/>
                  </a:rPr>
                  <a:t>0    10   20  30  40   50   60</a:t>
                </a:r>
                <a:r>
                  <a:rPr kumimoji="1" lang="en-US" altLang="zh-CN" sz="1800" b="1">
                    <a:latin typeface="Times New Roman" panose="02020603050405020304" pitchFamily="18" charset="0"/>
                    <a:ea typeface="黑体" panose="02010609060101010101" pitchFamily="49" charset="-122"/>
                  </a:rPr>
                  <a:t>  </a:t>
                </a:r>
              </a:p>
            </p:txBody>
          </p:sp>
          <p:sp>
            <p:nvSpPr>
              <p:cNvPr id="326694" name="Text Box 75">
                <a:extLst>
                  <a:ext uri="{FF2B5EF4-FFF2-40B4-BE49-F238E27FC236}">
                    <a16:creationId xmlns:a16="http://schemas.microsoft.com/office/drawing/2014/main" id="{F1275134-6781-4BE9-B55A-600BDC2EF166}"/>
                  </a:ext>
                </a:extLst>
              </p:cNvPr>
              <p:cNvSpPr txBox="1">
                <a:spLocks noChangeArrowheads="1"/>
              </p:cNvSpPr>
              <p:nvPr/>
            </p:nvSpPr>
            <p:spPr bwMode="auto">
              <a:xfrm>
                <a:off x="4830" y="3363"/>
                <a:ext cx="17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kumimoji="1" lang="zh-CN" altLang="zh-CN" sz="2000" b="1">
                  <a:solidFill>
                    <a:srgbClr val="FFFFFF"/>
                  </a:solidFill>
                  <a:latin typeface="Times New Roman" panose="02020603050405020304" pitchFamily="18" charset="0"/>
                  <a:ea typeface="黑体" panose="02010609060101010101" pitchFamily="49" charset="-122"/>
                </a:endParaRPr>
              </a:p>
            </p:txBody>
          </p:sp>
          <p:sp>
            <p:nvSpPr>
              <p:cNvPr id="326695" name="Text Box 76">
                <a:extLst>
                  <a:ext uri="{FF2B5EF4-FFF2-40B4-BE49-F238E27FC236}">
                    <a16:creationId xmlns:a16="http://schemas.microsoft.com/office/drawing/2014/main" id="{398E9599-0C84-4E49-B50F-9916D27FA1A2}"/>
                  </a:ext>
                </a:extLst>
              </p:cNvPr>
              <p:cNvSpPr txBox="1">
                <a:spLocks noChangeArrowheads="1"/>
              </p:cNvSpPr>
              <p:nvPr/>
            </p:nvSpPr>
            <p:spPr bwMode="auto">
              <a:xfrm>
                <a:off x="3208" y="3610"/>
                <a:ext cx="175"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kumimoji="1" lang="zh-CN" altLang="zh-CN" sz="2400">
                  <a:solidFill>
                    <a:srgbClr val="FFFFFF"/>
                  </a:solidFill>
                  <a:latin typeface="Times New Roman" panose="02020603050405020304" pitchFamily="18" charset="0"/>
                  <a:ea typeface="黑体" panose="02010609060101010101" pitchFamily="49" charset="-122"/>
                </a:endParaRPr>
              </a:p>
            </p:txBody>
          </p:sp>
        </p:grpSp>
        <p:sp>
          <p:nvSpPr>
            <p:cNvPr id="1239117" name="Rectangle 77">
              <a:extLst>
                <a:ext uri="{FF2B5EF4-FFF2-40B4-BE49-F238E27FC236}">
                  <a16:creationId xmlns:a16="http://schemas.microsoft.com/office/drawing/2014/main" id="{BBD8FD39-6930-485A-8BDF-DB4DFBC402A1}"/>
                </a:ext>
              </a:extLst>
            </p:cNvPr>
            <p:cNvSpPr>
              <a:spLocks noChangeArrowheads="1"/>
            </p:cNvSpPr>
            <p:nvPr/>
          </p:nvSpPr>
          <p:spPr bwMode="auto">
            <a:xfrm>
              <a:off x="2064" y="3783"/>
              <a:ext cx="1421" cy="234"/>
            </a:xfrm>
            <a:prstGeom prst="rect">
              <a:avLst/>
            </a:prstGeom>
            <a:noFill/>
            <a:ln w="9525">
              <a:noFill/>
              <a:miter lim="800000"/>
              <a:headEnd/>
              <a:tailEnd/>
            </a:ln>
            <a:effectLst/>
          </p:spPr>
          <p:txBody>
            <a:bodyPr>
              <a:spAutoFit/>
            </a:bodyPr>
            <a:lstStyle/>
            <a:p>
              <a:pPr eaLnBrk="1" hangingPunct="1">
                <a:defRPr/>
              </a:pPr>
              <a:r>
                <a:rPr lang="zh-CN" altLang="en-US" b="1">
                  <a:effectLst>
                    <a:outerShdw blurRad="38100" dist="38100" dir="2700000" algn="tl">
                      <a:srgbClr val="C0C0C0"/>
                    </a:outerShdw>
                  </a:effectLst>
                  <a:latin typeface="Times New Roman" pitchFamily="18" charset="0"/>
                  <a:ea typeface="黑体" pitchFamily="49" charset="-122"/>
                </a:rPr>
                <a:t>温度与酶活性的关系</a:t>
              </a:r>
            </a:p>
          </p:txBody>
        </p:sp>
      </p:grpSp>
      <p:sp>
        <p:nvSpPr>
          <p:cNvPr id="1239118" name="AutoShape 78">
            <a:extLst>
              <a:ext uri="{FF2B5EF4-FFF2-40B4-BE49-F238E27FC236}">
                <a16:creationId xmlns:a16="http://schemas.microsoft.com/office/drawing/2014/main" id="{B21F64EE-F972-4415-8CD3-F2F062DB4914}"/>
              </a:ext>
            </a:extLst>
          </p:cNvPr>
          <p:cNvSpPr>
            <a:spLocks noChangeArrowheads="1"/>
          </p:cNvSpPr>
          <p:nvPr/>
        </p:nvSpPr>
        <p:spPr bwMode="auto">
          <a:xfrm>
            <a:off x="3838576" y="4797426"/>
            <a:ext cx="288925" cy="504825"/>
          </a:xfrm>
          <a:prstGeom prst="downArrow">
            <a:avLst>
              <a:gd name="adj1" fmla="val 50000"/>
              <a:gd name="adj2" fmla="val 43681"/>
            </a:avLst>
          </a:prstGeom>
          <a:solidFill>
            <a:srgbClr val="006600"/>
          </a:solidFill>
          <a:ln w="9525">
            <a:solidFill>
              <a:srgbClr val="0000CC"/>
            </a:solidFill>
            <a:miter lim="800000"/>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1239119" name="AutoShape 79">
            <a:extLst>
              <a:ext uri="{FF2B5EF4-FFF2-40B4-BE49-F238E27FC236}">
                <a16:creationId xmlns:a16="http://schemas.microsoft.com/office/drawing/2014/main" id="{02A57FC3-FC63-4D8D-A54C-D7E59CB43732}"/>
              </a:ext>
            </a:extLst>
          </p:cNvPr>
          <p:cNvSpPr>
            <a:spLocks noChangeArrowheads="1"/>
          </p:cNvSpPr>
          <p:nvPr/>
        </p:nvSpPr>
        <p:spPr bwMode="auto">
          <a:xfrm>
            <a:off x="3863976" y="5516564"/>
            <a:ext cx="288925" cy="504825"/>
          </a:xfrm>
          <a:prstGeom prst="upArrow">
            <a:avLst>
              <a:gd name="adj1" fmla="val 50000"/>
              <a:gd name="adj2" fmla="val 43681"/>
            </a:avLst>
          </a:prstGeom>
          <a:solidFill>
            <a:srgbClr val="006600"/>
          </a:solidFill>
          <a:ln w="9525">
            <a:solidFill>
              <a:srgbClr val="FFFF66"/>
            </a:solidFill>
            <a:miter lim="800000"/>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239118"/>
                                        </p:tgtEl>
                                        <p:attrNameLst>
                                          <p:attrName>style.visibility</p:attrName>
                                        </p:attrNameLst>
                                      </p:cBhvr>
                                      <p:to>
                                        <p:strVal val="visible"/>
                                      </p:to>
                                    </p:set>
                                    <p:animEffect transition="in" filter="wipe(up)">
                                      <p:cBhvr>
                                        <p:cTn id="27" dur="1000"/>
                                        <p:tgtEl>
                                          <p:spTgt spid="12391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39119"/>
                                        </p:tgtEl>
                                        <p:attrNameLst>
                                          <p:attrName>style.visibility</p:attrName>
                                        </p:attrNameLst>
                                      </p:cBhvr>
                                      <p:to>
                                        <p:strVal val="visible"/>
                                      </p:to>
                                    </p:set>
                                    <p:animEffect transition="in" filter="wipe(down)">
                                      <p:cBhvr>
                                        <p:cTn id="32" dur="1000"/>
                                        <p:tgtEl>
                                          <p:spTgt spid="1239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18" grpId="0" animBg="1"/>
      <p:bldP spid="1239119"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a:extLst>
              <a:ext uri="{FF2B5EF4-FFF2-40B4-BE49-F238E27FC236}">
                <a16:creationId xmlns:a16="http://schemas.microsoft.com/office/drawing/2014/main" id="{46FFB331-FC9D-4FC4-9C0C-ACA75AF32DD2}"/>
              </a:ext>
            </a:extLst>
          </p:cNvPr>
          <p:cNvSpPr>
            <a:spLocks noGrp="1" noChangeArrowheads="1"/>
          </p:cNvSpPr>
          <p:nvPr>
            <p:ph type="title"/>
          </p:nvPr>
        </p:nvSpPr>
        <p:spPr>
          <a:xfrm>
            <a:off x="2424113" y="1196975"/>
            <a:ext cx="7416800" cy="3816350"/>
          </a:xfrm>
        </p:spPr>
        <p:txBody>
          <a:bodyPr vert="horz" wrap="square" lIns="92075" tIns="46038" rIns="92075" bIns="46038" numCol="1" anchor="ctr" anchorCtr="0" compatLnSpc="1">
            <a:prstTxWarp prst="textNoShape">
              <a:avLst/>
            </a:prstTxWarp>
          </a:bodyPr>
          <a:lstStyle/>
          <a:p>
            <a:pPr eaLnBrk="1" hangingPunct="1">
              <a:lnSpc>
                <a:spcPct val="110000"/>
              </a:lnSpc>
            </a:pPr>
            <a:r>
              <a:rPr lang="zh-CN" altLang="en-US" sz="4800" b="1" dirty="0">
                <a:solidFill>
                  <a:srgbClr val="FF3300"/>
                </a:solidFill>
                <a:latin typeface="Times New Roman" panose="02020603050405020304" pitchFamily="18" charset="0"/>
                <a:ea typeface="黑体" panose="02010609060101010101" pitchFamily="49" charset="-122"/>
              </a:rPr>
              <a:t>第 四 节</a:t>
            </a:r>
            <a:r>
              <a:rPr lang="zh-CN" altLang="en-US" sz="5400" b="1" dirty="0">
                <a:solidFill>
                  <a:srgbClr val="FF3300"/>
                </a:solidFill>
                <a:latin typeface="Times New Roman" panose="02020603050405020304" pitchFamily="18" charset="0"/>
                <a:ea typeface="黑体" panose="02010609060101010101" pitchFamily="49" charset="-122"/>
              </a:rPr>
              <a:t>     </a:t>
            </a:r>
            <a:br>
              <a:rPr lang="zh-CN" altLang="en-US" sz="5400" b="1" dirty="0">
                <a:solidFill>
                  <a:srgbClr val="FF3300"/>
                </a:solidFill>
                <a:latin typeface="Times New Roman" panose="02020603050405020304" pitchFamily="18" charset="0"/>
                <a:ea typeface="黑体" panose="02010609060101010101" pitchFamily="49" charset="-122"/>
              </a:rPr>
            </a:br>
            <a:br>
              <a:rPr lang="zh-CN" altLang="en-US" sz="4800" b="1" dirty="0">
                <a:solidFill>
                  <a:srgbClr val="FF3300"/>
                </a:solidFill>
                <a:latin typeface="Times New Roman" panose="02020603050405020304" pitchFamily="18" charset="0"/>
                <a:ea typeface="黑体" panose="02010609060101010101" pitchFamily="49" charset="-122"/>
              </a:rPr>
            </a:br>
            <a:r>
              <a:rPr lang="zh-CN" altLang="en-US" sz="4800" b="1" dirty="0">
                <a:solidFill>
                  <a:srgbClr val="FF3300"/>
                </a:solidFill>
                <a:latin typeface="Times New Roman" panose="02020603050405020304" pitchFamily="18" charset="0"/>
                <a:ea typeface="黑体" panose="02010609060101010101" pitchFamily="49" charset="-122"/>
              </a:rPr>
              <a:t>酶的调节</a:t>
            </a:r>
            <a:br>
              <a:rPr lang="zh-CN" altLang="en-US" sz="6000" b="1" dirty="0">
                <a:solidFill>
                  <a:srgbClr val="FFCC66"/>
                </a:solidFill>
                <a:latin typeface="Times New Roman" panose="02020603050405020304" pitchFamily="18" charset="0"/>
                <a:ea typeface="黑体" panose="02010609060101010101" pitchFamily="49" charset="-122"/>
              </a:rPr>
            </a:br>
            <a:r>
              <a:rPr lang="en-US" altLang="zh-CN" sz="3600" b="1" dirty="0">
                <a:latin typeface="Times New Roman" panose="02020603050405020304" pitchFamily="18" charset="0"/>
                <a:ea typeface="黑体" panose="02010609060101010101" pitchFamily="49" charset="-122"/>
              </a:rPr>
              <a:t>Regulation of Enzyme Activity</a:t>
            </a: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82" name="Text Box 2">
            <a:extLst>
              <a:ext uri="{FF2B5EF4-FFF2-40B4-BE49-F238E27FC236}">
                <a16:creationId xmlns:a16="http://schemas.microsoft.com/office/drawing/2014/main" id="{620C162E-95B9-46BA-BF3B-6958D6ACE2F1}"/>
              </a:ext>
            </a:extLst>
          </p:cNvPr>
          <p:cNvSpPr txBox="1">
            <a:spLocks noChangeArrowheads="1"/>
          </p:cNvSpPr>
          <p:nvPr/>
        </p:nvSpPr>
        <p:spPr bwMode="auto">
          <a:xfrm>
            <a:off x="2027238" y="765175"/>
            <a:ext cx="799306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Clr>
                <a:schemeClr val="tx2"/>
              </a:buClr>
              <a:buFont typeface="Wingdings" panose="05000000000000000000" pitchFamily="2" charset="2"/>
              <a:buChar char="Ø"/>
            </a:pPr>
            <a:r>
              <a:rPr kumimoji="1" lang="en-US" altLang="zh-CN">
                <a:solidFill>
                  <a:srgbClr val="0000CC"/>
                </a:solidFill>
                <a:latin typeface="黑体" panose="02010609060101010101" pitchFamily="49" charset="-122"/>
                <a:ea typeface="黑体" panose="02010609060101010101" pitchFamily="49" charset="-122"/>
              </a:rPr>
              <a:t> </a:t>
            </a:r>
            <a:r>
              <a:rPr kumimoji="1" lang="zh-CN" altLang="en-US">
                <a:solidFill>
                  <a:srgbClr val="0000CC"/>
                </a:solidFill>
                <a:latin typeface="黑体" panose="02010609060101010101" pitchFamily="49" charset="-122"/>
                <a:ea typeface="黑体" panose="02010609060101010101" pitchFamily="49" charset="-122"/>
              </a:rPr>
              <a:t>调节对象：</a:t>
            </a:r>
            <a:r>
              <a:rPr kumimoji="1" lang="zh-CN" altLang="en-US">
                <a:solidFill>
                  <a:srgbClr val="FF0000"/>
                </a:solidFill>
                <a:latin typeface="黑体" panose="02010609060101010101" pitchFamily="49" charset="-122"/>
                <a:ea typeface="黑体" panose="02010609060101010101" pitchFamily="49" charset="-122"/>
              </a:rPr>
              <a:t>关键酶</a:t>
            </a:r>
          </a:p>
        </p:txBody>
      </p:sp>
      <p:sp>
        <p:nvSpPr>
          <p:cNvPr id="1300483" name="Rectangle 3">
            <a:extLst>
              <a:ext uri="{FF2B5EF4-FFF2-40B4-BE49-F238E27FC236}">
                <a16:creationId xmlns:a16="http://schemas.microsoft.com/office/drawing/2014/main" id="{D7A38B95-3C17-400F-99C0-0D1070AE2310}"/>
              </a:ext>
            </a:extLst>
          </p:cNvPr>
          <p:cNvSpPr>
            <a:spLocks noChangeArrowheads="1"/>
          </p:cNvSpPr>
          <p:nvPr/>
        </p:nvSpPr>
        <p:spPr bwMode="auto">
          <a:xfrm>
            <a:off x="1703512" y="1556792"/>
            <a:ext cx="8856984" cy="4305300"/>
          </a:xfrm>
          <a:prstGeom prst="rect">
            <a:avLst/>
          </a:prstGeom>
          <a:noFill/>
          <a:ln>
            <a:noFill/>
          </a:ln>
        </p:spPr>
        <p:txBody>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40000"/>
              </a:lnSpc>
              <a:spcBef>
                <a:spcPct val="0"/>
              </a:spcBef>
              <a:buClr>
                <a:schemeClr val="tx2"/>
              </a:buClr>
              <a:buFont typeface="Wingdings" panose="05000000000000000000" pitchFamily="2" charset="2"/>
              <a:buChar char="u"/>
              <a:defRPr/>
            </a:pPr>
            <a:r>
              <a:rPr lang="zh-CN" altLang="en-US" sz="2800" dirty="0">
                <a:latin typeface="黑体" panose="02010609060101010101" pitchFamily="49" charset="-122"/>
                <a:ea typeface="黑体" panose="02010609060101010101" pitchFamily="49" charset="-122"/>
              </a:rPr>
              <a:t>代谢途径实质上是一系列酶催化的化学反应，其速度和方向不是由这条途径中每一个酶</a:t>
            </a: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而是</a:t>
            </a:r>
            <a:r>
              <a:rPr lang="zh-CN" altLang="en-US" sz="2800" dirty="0">
                <a:solidFill>
                  <a:srgbClr val="0000CC"/>
                </a:solidFill>
                <a:latin typeface="黑体" panose="02010609060101010101" pitchFamily="49" charset="-122"/>
                <a:ea typeface="黑体" panose="02010609060101010101" pitchFamily="49" charset="-122"/>
              </a:rPr>
              <a:t>其中一个或几个具有调节作用的关键酶的活性</a:t>
            </a:r>
            <a:r>
              <a:rPr lang="zh-CN" altLang="en-US" sz="2800" dirty="0">
                <a:latin typeface="黑体" panose="02010609060101010101" pitchFamily="49" charset="-122"/>
                <a:ea typeface="黑体" panose="02010609060101010101" pitchFamily="49" charset="-122"/>
              </a:rPr>
              <a:t>所决定。</a:t>
            </a:r>
          </a:p>
          <a:p>
            <a:pPr eaLnBrk="1" hangingPunct="1">
              <a:lnSpc>
                <a:spcPct val="140000"/>
              </a:lnSpc>
              <a:spcBef>
                <a:spcPct val="0"/>
              </a:spcBef>
              <a:buClr>
                <a:schemeClr val="tx2"/>
              </a:buClr>
              <a:buFont typeface="Wingdings" panose="05000000000000000000" pitchFamily="2" charset="2"/>
              <a:buChar char="u"/>
              <a:defRPr/>
            </a:pPr>
            <a:endParaRPr lang="zh-CN" altLang="en-US" sz="2800" dirty="0">
              <a:latin typeface="黑体" panose="02010609060101010101" pitchFamily="49" charset="-122"/>
              <a:ea typeface="黑体" panose="02010609060101010101" pitchFamily="49" charset="-122"/>
            </a:endParaRPr>
          </a:p>
          <a:p>
            <a:pPr eaLnBrk="1" hangingPunct="1">
              <a:lnSpc>
                <a:spcPct val="140000"/>
              </a:lnSpc>
              <a:spcBef>
                <a:spcPct val="0"/>
              </a:spcBef>
              <a:buClr>
                <a:schemeClr val="tx2"/>
              </a:buClr>
              <a:buFont typeface="Wingdings" panose="05000000000000000000" pitchFamily="2" charset="2"/>
              <a:buChar char="u"/>
              <a:defRPr/>
            </a:pPr>
            <a:r>
              <a:rPr lang="zh-CN" altLang="en-US" sz="2800" dirty="0">
                <a:latin typeface="黑体" panose="02010609060101010101" pitchFamily="49" charset="-122"/>
                <a:ea typeface="黑体" panose="02010609060101010101" pitchFamily="49" charset="-122"/>
              </a:rPr>
              <a:t>能影响和调节反应途径反应速率的酶即</a:t>
            </a:r>
            <a:r>
              <a:rPr lang="zh-CN" altLang="en-US" sz="2800" dirty="0">
                <a:solidFill>
                  <a:schemeClr val="tx2"/>
                </a:solidFill>
                <a:latin typeface="黑体" panose="02010609060101010101" pitchFamily="49" charset="-122"/>
                <a:ea typeface="黑体" panose="02010609060101010101" pitchFamily="49" charset="-122"/>
              </a:rPr>
              <a:t>关键酶</a:t>
            </a:r>
            <a:r>
              <a:rPr lang="zh-CN" altLang="en-US" sz="2800" dirty="0">
                <a:solidFill>
                  <a:schemeClr val="tx1">
                    <a:lumMod val="95000"/>
                    <a:lumOff val="5000"/>
                  </a:schemeClr>
                </a:solidFill>
                <a:latin typeface="黑体" panose="02010609060101010101" pitchFamily="49" charset="-122"/>
                <a:ea typeface="黑体" panose="02010609060101010101" pitchFamily="49" charset="-122"/>
              </a:rPr>
              <a:t>，也称</a:t>
            </a:r>
            <a:r>
              <a:rPr lang="zh-CN" altLang="en-US" sz="2800" dirty="0">
                <a:solidFill>
                  <a:schemeClr val="tx2"/>
                </a:solidFill>
                <a:latin typeface="黑体" panose="02010609060101010101" pitchFamily="49" charset="-122"/>
                <a:ea typeface="黑体" panose="02010609060101010101" pitchFamily="49" charset="-122"/>
              </a:rPr>
              <a:t>调节酶</a:t>
            </a:r>
            <a:r>
              <a:rPr lang="en-US" altLang="zh-CN" sz="2800" dirty="0">
                <a:solidFill>
                  <a:schemeClr val="tx2"/>
                </a:solidFill>
                <a:latin typeface="黑体" panose="02010609060101010101" pitchFamily="49" charset="-122"/>
                <a:ea typeface="黑体" panose="02010609060101010101" pitchFamily="49" charset="-122"/>
              </a:rPr>
              <a:t>(regulatory enzymes)</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Text Box 2">
            <a:extLst>
              <a:ext uri="{FF2B5EF4-FFF2-40B4-BE49-F238E27FC236}">
                <a16:creationId xmlns:a16="http://schemas.microsoft.com/office/drawing/2014/main" id="{D959CBAF-FEA5-473A-80F8-1C097E4461D4}"/>
              </a:ext>
            </a:extLst>
          </p:cNvPr>
          <p:cNvSpPr txBox="1">
            <a:spLocks noChangeArrowheads="1"/>
          </p:cNvSpPr>
          <p:nvPr/>
        </p:nvSpPr>
        <p:spPr bwMode="auto">
          <a:xfrm>
            <a:off x="2640014" y="836614"/>
            <a:ext cx="51847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Clr>
                <a:schemeClr val="tx2"/>
              </a:buClr>
              <a:buFont typeface="Wingdings" panose="05000000000000000000" pitchFamily="2" charset="2"/>
              <a:buChar char="Ø"/>
            </a:pPr>
            <a:r>
              <a:rPr kumimoji="1" lang="en-US" altLang="zh-CN">
                <a:solidFill>
                  <a:schemeClr val="tx2"/>
                </a:solidFill>
                <a:latin typeface="黑体" panose="02010609060101010101" pitchFamily="49" charset="-122"/>
                <a:ea typeface="黑体" panose="02010609060101010101" pitchFamily="49" charset="-122"/>
              </a:rPr>
              <a:t> </a:t>
            </a:r>
            <a:r>
              <a:rPr kumimoji="1" lang="zh-CN" altLang="en-US">
                <a:solidFill>
                  <a:schemeClr val="tx2"/>
                </a:solidFill>
                <a:latin typeface="黑体" panose="02010609060101010101" pitchFamily="49" charset="-122"/>
                <a:ea typeface="黑体" panose="02010609060101010101" pitchFamily="49" charset="-122"/>
              </a:rPr>
              <a:t>关键酶的特点</a:t>
            </a:r>
            <a:endParaRPr kumimoji="1" lang="zh-CN" altLang="en-US">
              <a:solidFill>
                <a:srgbClr val="0000CC"/>
              </a:solidFill>
              <a:latin typeface="黑体" panose="02010609060101010101" pitchFamily="49" charset="-122"/>
              <a:ea typeface="黑体" panose="02010609060101010101" pitchFamily="49" charset="-122"/>
            </a:endParaRPr>
          </a:p>
        </p:txBody>
      </p:sp>
      <p:sp>
        <p:nvSpPr>
          <p:cNvPr id="1302531" name="Rectangle 3">
            <a:extLst>
              <a:ext uri="{FF2B5EF4-FFF2-40B4-BE49-F238E27FC236}">
                <a16:creationId xmlns:a16="http://schemas.microsoft.com/office/drawing/2014/main" id="{F3C1EE9E-15CB-4BD8-9B32-48DC9F409A05}"/>
              </a:ext>
            </a:extLst>
          </p:cNvPr>
          <p:cNvSpPr>
            <a:spLocks noChangeArrowheads="1"/>
          </p:cNvSpPr>
          <p:nvPr/>
        </p:nvSpPr>
        <p:spPr bwMode="auto">
          <a:xfrm>
            <a:off x="3071664" y="1850231"/>
            <a:ext cx="6553200" cy="315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40000"/>
              </a:lnSpc>
              <a:buFontTx/>
              <a:buAutoNum type="arabicPeriod"/>
            </a:pPr>
            <a:r>
              <a:rPr lang="zh-CN" altLang="en-US" sz="2800" dirty="0">
                <a:latin typeface="黑体" panose="02010609060101010101" pitchFamily="49" charset="-122"/>
                <a:ea typeface="黑体" panose="02010609060101010101" pitchFamily="49" charset="-122"/>
              </a:rPr>
              <a:t>一般位于代谢途径的起始或分支处</a:t>
            </a:r>
          </a:p>
          <a:p>
            <a:pPr eaLnBrk="1" hangingPunct="1">
              <a:lnSpc>
                <a:spcPct val="140000"/>
              </a:lnSpc>
              <a:buFontTx/>
              <a:buAutoNum type="arabicPeriod"/>
            </a:pPr>
            <a:r>
              <a:rPr lang="zh-CN" altLang="en-US" sz="2800" dirty="0">
                <a:latin typeface="黑体" panose="02010609060101010101" pitchFamily="49" charset="-122"/>
                <a:ea typeface="黑体" panose="02010609060101010101" pitchFamily="49" charset="-122"/>
              </a:rPr>
              <a:t>多催化单向不可逆反应</a:t>
            </a:r>
          </a:p>
          <a:p>
            <a:pPr eaLnBrk="1" hangingPunct="1">
              <a:lnSpc>
                <a:spcPct val="140000"/>
              </a:lnSpc>
              <a:buFontTx/>
              <a:buAutoNum type="arabicPeriod"/>
            </a:pPr>
            <a:r>
              <a:rPr lang="zh-CN" altLang="en-US" sz="2800" dirty="0">
                <a:latin typeface="黑体" panose="02010609060101010101" pitchFamily="49" charset="-122"/>
                <a:ea typeface="黑体" panose="02010609060101010101" pitchFamily="49" charset="-122"/>
              </a:rPr>
              <a:t>活性较低</a:t>
            </a:r>
          </a:p>
          <a:p>
            <a:pPr eaLnBrk="1" hangingPunct="1">
              <a:lnSpc>
                <a:spcPct val="140000"/>
              </a:lnSpc>
              <a:buFontTx/>
              <a:buAutoNum type="arabicPeriod"/>
            </a:pPr>
            <a:r>
              <a:rPr lang="zh-CN" altLang="en-US" sz="2800" dirty="0">
                <a:latin typeface="黑体" panose="02010609060101010101" pitchFamily="49" charset="-122"/>
                <a:ea typeface="黑体" panose="02010609060101010101" pitchFamily="49" charset="-122"/>
              </a:rPr>
              <a:t>酶活性受多种代谢物或效应剂的调节</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02531">
                                            <p:txEl>
                                              <p:pRg st="0" end="0"/>
                                            </p:txEl>
                                          </p:spTgt>
                                        </p:tgtEl>
                                        <p:attrNameLst>
                                          <p:attrName>style.visibility</p:attrName>
                                        </p:attrNameLst>
                                      </p:cBhvr>
                                      <p:to>
                                        <p:strVal val="visible"/>
                                      </p:to>
                                    </p:set>
                                    <p:animEffect transition="in" filter="wipe(left)">
                                      <p:cBhvr>
                                        <p:cTn id="7" dur="500"/>
                                        <p:tgtEl>
                                          <p:spTgt spid="13025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02531">
                                            <p:txEl>
                                              <p:pRg st="1" end="1"/>
                                            </p:txEl>
                                          </p:spTgt>
                                        </p:tgtEl>
                                        <p:attrNameLst>
                                          <p:attrName>style.visibility</p:attrName>
                                        </p:attrNameLst>
                                      </p:cBhvr>
                                      <p:to>
                                        <p:strVal val="visible"/>
                                      </p:to>
                                    </p:set>
                                    <p:animEffect transition="in" filter="wipe(left)">
                                      <p:cBhvr>
                                        <p:cTn id="12" dur="500"/>
                                        <p:tgtEl>
                                          <p:spTgt spid="13025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02531">
                                            <p:txEl>
                                              <p:pRg st="2" end="2"/>
                                            </p:txEl>
                                          </p:spTgt>
                                        </p:tgtEl>
                                        <p:attrNameLst>
                                          <p:attrName>style.visibility</p:attrName>
                                        </p:attrNameLst>
                                      </p:cBhvr>
                                      <p:to>
                                        <p:strVal val="visible"/>
                                      </p:to>
                                    </p:set>
                                    <p:animEffect transition="in" filter="wipe(left)">
                                      <p:cBhvr>
                                        <p:cTn id="17" dur="500"/>
                                        <p:tgtEl>
                                          <p:spTgt spid="13025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1302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4850" name="Group 2">
            <a:extLst>
              <a:ext uri="{FF2B5EF4-FFF2-40B4-BE49-F238E27FC236}">
                <a16:creationId xmlns:a16="http://schemas.microsoft.com/office/drawing/2014/main" id="{5B5BA243-9F4E-4DC5-A9D0-810E7A8EE6FE}"/>
              </a:ext>
            </a:extLst>
          </p:cNvPr>
          <p:cNvGrpSpPr>
            <a:grpSpLocks/>
          </p:cNvGrpSpPr>
          <p:nvPr/>
        </p:nvGrpSpPr>
        <p:grpSpPr bwMode="auto">
          <a:xfrm>
            <a:off x="4413250" y="4229100"/>
            <a:ext cx="185738" cy="1651000"/>
            <a:chOff x="1712" y="2671"/>
            <a:chExt cx="110" cy="1040"/>
          </a:xfrm>
        </p:grpSpPr>
        <p:sp>
          <p:nvSpPr>
            <p:cNvPr id="334853" name="Text Box 3">
              <a:extLst>
                <a:ext uri="{FF2B5EF4-FFF2-40B4-BE49-F238E27FC236}">
                  <a16:creationId xmlns:a16="http://schemas.microsoft.com/office/drawing/2014/main" id="{D75C3062-BD8A-4C45-9F50-D102BEBD5A33}"/>
                </a:ext>
              </a:extLst>
            </p:cNvPr>
            <p:cNvSpPr txBox="1">
              <a:spLocks noChangeArrowheads="1"/>
            </p:cNvSpPr>
            <p:nvPr/>
          </p:nvSpPr>
          <p:spPr bwMode="auto">
            <a:xfrm>
              <a:off x="1713" y="2671"/>
              <a:ext cx="10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kumimoji="1" lang="zh-CN" altLang="en-US">
                <a:latin typeface="黑体" panose="02010609060101010101" pitchFamily="49" charset="-122"/>
                <a:ea typeface="黑体" panose="02010609060101010101" pitchFamily="49" charset="-122"/>
              </a:endParaRPr>
            </a:p>
          </p:txBody>
        </p:sp>
        <p:sp>
          <p:nvSpPr>
            <p:cNvPr id="334854" name="Text Box 4">
              <a:extLst>
                <a:ext uri="{FF2B5EF4-FFF2-40B4-BE49-F238E27FC236}">
                  <a16:creationId xmlns:a16="http://schemas.microsoft.com/office/drawing/2014/main" id="{3177AD23-28C5-4CC0-9A5D-D48DDA4A4FAA}"/>
                </a:ext>
              </a:extLst>
            </p:cNvPr>
            <p:cNvSpPr txBox="1">
              <a:spLocks noChangeArrowheads="1"/>
            </p:cNvSpPr>
            <p:nvPr/>
          </p:nvSpPr>
          <p:spPr bwMode="auto">
            <a:xfrm>
              <a:off x="1712" y="3343"/>
              <a:ext cx="10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kumimoji="1" lang="zh-CN" altLang="en-US">
                <a:latin typeface="黑体" panose="02010609060101010101" pitchFamily="49" charset="-122"/>
                <a:ea typeface="黑体" panose="02010609060101010101" pitchFamily="49" charset="-122"/>
              </a:endParaRPr>
            </a:p>
          </p:txBody>
        </p:sp>
      </p:grpSp>
      <p:sp>
        <p:nvSpPr>
          <p:cNvPr id="334851" name="标题 2">
            <a:extLst>
              <a:ext uri="{FF2B5EF4-FFF2-40B4-BE49-F238E27FC236}">
                <a16:creationId xmlns:a16="http://schemas.microsoft.com/office/drawing/2014/main" id="{6D811CEE-E579-4CE2-896F-A1FCE89498A6}"/>
              </a:ext>
            </a:extLst>
          </p:cNvPr>
          <p:cNvSpPr>
            <a:spLocks noGrp="1" noChangeArrowheads="1"/>
          </p:cNvSpPr>
          <p:nvPr>
            <p:ph type="title"/>
          </p:nvPr>
        </p:nvSpPr>
        <p:spPr>
          <a:xfrm>
            <a:off x="2660650" y="724638"/>
            <a:ext cx="6870700" cy="777875"/>
          </a:xfrm>
        </p:spPr>
        <p:txBody>
          <a:bodyPr/>
          <a:lstStyle/>
          <a:p>
            <a:r>
              <a:rPr lang="zh-CN" altLang="en-US" sz="4000" b="0" dirty="0">
                <a:solidFill>
                  <a:srgbClr val="FF0000"/>
                </a:solidFill>
                <a:latin typeface="黑体" panose="02010609060101010101" pitchFamily="49" charset="-122"/>
                <a:ea typeface="黑体" panose="02010609060101010101" pitchFamily="49" charset="-122"/>
              </a:rPr>
              <a:t>酶活性调节方式</a:t>
            </a:r>
          </a:p>
        </p:txBody>
      </p:sp>
      <p:sp>
        <p:nvSpPr>
          <p:cNvPr id="4" name="内容占位符 3">
            <a:extLst>
              <a:ext uri="{FF2B5EF4-FFF2-40B4-BE49-F238E27FC236}">
                <a16:creationId xmlns:a16="http://schemas.microsoft.com/office/drawing/2014/main" id="{1C198914-523D-4012-999A-C6A5D39BE7E6}"/>
              </a:ext>
            </a:extLst>
          </p:cNvPr>
          <p:cNvSpPr>
            <a:spLocks noGrp="1" noChangeArrowheads="1"/>
          </p:cNvSpPr>
          <p:nvPr>
            <p:ph idx="1"/>
          </p:nvPr>
        </p:nvSpPr>
        <p:spPr>
          <a:xfrm>
            <a:off x="2567609" y="1743813"/>
            <a:ext cx="7489825" cy="4105275"/>
          </a:xfrm>
        </p:spPr>
        <p:txBody>
          <a:bodyPr/>
          <a:lstStyle/>
          <a:p>
            <a:pPr>
              <a:lnSpc>
                <a:spcPct val="150000"/>
              </a:lnSpc>
              <a:buFont typeface="Wingdings" panose="05000000000000000000" pitchFamily="2" charset="2"/>
              <a:buChar char="Ø"/>
            </a:pPr>
            <a:r>
              <a:rPr lang="zh-CN" altLang="en-US" sz="2800" b="0" dirty="0">
                <a:solidFill>
                  <a:srgbClr val="0000CC"/>
                </a:solidFill>
                <a:latin typeface="黑体" panose="02010609060101010101" pitchFamily="49" charset="-122"/>
                <a:ea typeface="黑体" panose="02010609060101010101" pitchFamily="49" charset="-122"/>
              </a:rPr>
              <a:t>酶活性（活力）调节</a:t>
            </a:r>
            <a:r>
              <a:rPr lang="zh-CN" altLang="en-US" sz="2800" b="0" dirty="0">
                <a:latin typeface="黑体" panose="02010609060101010101" pitchFamily="49" charset="-122"/>
                <a:ea typeface="黑体" panose="02010609060101010101" pitchFamily="49" charset="-122"/>
              </a:rPr>
              <a:t>（</a:t>
            </a:r>
            <a:r>
              <a:rPr lang="zh-CN" altLang="en-US" sz="2800" b="0" dirty="0">
                <a:solidFill>
                  <a:srgbClr val="FF0000"/>
                </a:solidFill>
                <a:latin typeface="黑体" panose="02010609060101010101" pitchFamily="49" charset="-122"/>
                <a:ea typeface="黑体" panose="02010609060101010101" pitchFamily="49" charset="-122"/>
              </a:rPr>
              <a:t>快速</a:t>
            </a:r>
            <a:r>
              <a:rPr lang="zh-CN" altLang="en-US" sz="2800" b="0" dirty="0">
                <a:latin typeface="黑体" panose="02010609060101010101" pitchFamily="49" charset="-122"/>
                <a:ea typeface="黑体" panose="02010609060101010101" pitchFamily="49" charset="-122"/>
              </a:rPr>
              <a:t>调节）</a:t>
            </a:r>
            <a:endParaRPr lang="en-US" altLang="zh-CN" sz="2800" b="0" dirty="0">
              <a:latin typeface="黑体" panose="02010609060101010101" pitchFamily="49" charset="-122"/>
              <a:ea typeface="黑体" panose="02010609060101010101" pitchFamily="49" charset="-122"/>
            </a:endParaRPr>
          </a:p>
          <a:p>
            <a:pPr marL="400050" lvl="2" indent="0">
              <a:lnSpc>
                <a:spcPct val="150000"/>
              </a:lnSpc>
              <a:spcBef>
                <a:spcPct val="0"/>
              </a:spcBef>
            </a:pPr>
            <a:r>
              <a:rPr lang="zh-CN" altLang="en-US" b="0" dirty="0">
                <a:latin typeface="黑体" panose="02010609060101010101" pitchFamily="49" charset="-122"/>
                <a:ea typeface="黑体" panose="02010609060101010101" pitchFamily="49" charset="-122"/>
              </a:rPr>
              <a:t>通过激活或抑制，改变细胞内现有酶分子的活性。</a:t>
            </a:r>
            <a:endParaRPr lang="en-US" altLang="zh-CN" b="0" dirty="0">
              <a:latin typeface="黑体" panose="02010609060101010101" pitchFamily="49" charset="-122"/>
              <a:ea typeface="黑体" panose="02010609060101010101" pitchFamily="49" charset="-122"/>
            </a:endParaRPr>
          </a:p>
          <a:p>
            <a:pPr marL="400050" lvl="2" indent="0">
              <a:lnSpc>
                <a:spcPct val="150000"/>
              </a:lnSpc>
              <a:spcBef>
                <a:spcPct val="0"/>
              </a:spcBef>
            </a:pPr>
            <a:r>
              <a:rPr lang="zh-CN" altLang="en-US" b="0" dirty="0">
                <a:solidFill>
                  <a:srgbClr val="0000CC"/>
                </a:solidFill>
                <a:latin typeface="黑体" panose="02010609060101010101" pitchFamily="49" charset="-122"/>
                <a:ea typeface="黑体" panose="02010609060101010101" pitchFamily="49" charset="-122"/>
              </a:rPr>
              <a:t>主要有三种方式：</a:t>
            </a:r>
            <a:endParaRPr lang="en-US" altLang="zh-CN" b="0" dirty="0">
              <a:solidFill>
                <a:srgbClr val="0000CC"/>
              </a:solidFill>
              <a:latin typeface="黑体" panose="02010609060101010101" pitchFamily="49" charset="-122"/>
              <a:ea typeface="黑体" panose="02010609060101010101" pitchFamily="49" charset="-122"/>
            </a:endParaRPr>
          </a:p>
          <a:p>
            <a:pPr marL="857250" lvl="3" indent="0">
              <a:lnSpc>
                <a:spcPct val="150000"/>
              </a:lnSpc>
              <a:spcBef>
                <a:spcPct val="0"/>
              </a:spcBef>
              <a:buNone/>
            </a:pPr>
            <a:r>
              <a:rPr lang="zh-CN" altLang="en-US" sz="2400" b="0" dirty="0">
                <a:solidFill>
                  <a:srgbClr val="0000CC"/>
                </a:solidFill>
                <a:latin typeface="黑体" panose="02010609060101010101" pitchFamily="49" charset="-122"/>
                <a:ea typeface="黑体" panose="02010609060101010101" pitchFamily="49" charset="-122"/>
              </a:rPr>
              <a:t>别构调节</a:t>
            </a:r>
            <a:r>
              <a:rPr lang="zh-CN" altLang="en-US" sz="2400" b="0" dirty="0">
                <a:latin typeface="黑体" panose="02010609060101010101" pitchFamily="49" charset="-122"/>
                <a:ea typeface="黑体" panose="02010609060101010101" pitchFamily="49" charset="-122"/>
              </a:rPr>
              <a:t>、</a:t>
            </a:r>
            <a:r>
              <a:rPr lang="zh-CN" altLang="en-US" sz="2400" b="0" dirty="0">
                <a:solidFill>
                  <a:srgbClr val="0000CC"/>
                </a:solidFill>
                <a:latin typeface="黑体" panose="02010609060101010101" pitchFamily="49" charset="-122"/>
                <a:ea typeface="黑体" panose="02010609060101010101" pitchFamily="49" charset="-122"/>
              </a:rPr>
              <a:t>共价修饰调节、酶原激活</a:t>
            </a:r>
            <a:endParaRPr lang="en-US" altLang="zh-CN" sz="2400" b="0" dirty="0">
              <a:solidFill>
                <a:srgbClr val="0000CC"/>
              </a:solidFill>
              <a:latin typeface="黑体" panose="02010609060101010101" pitchFamily="49" charset="-122"/>
              <a:ea typeface="黑体" panose="02010609060101010101" pitchFamily="49" charset="-122"/>
            </a:endParaRPr>
          </a:p>
          <a:p>
            <a:pPr>
              <a:lnSpc>
                <a:spcPct val="150000"/>
              </a:lnSpc>
              <a:buFont typeface="Wingdings" panose="05000000000000000000" pitchFamily="2" charset="2"/>
              <a:buChar char="Ø"/>
            </a:pPr>
            <a:r>
              <a:rPr kumimoji="1" lang="zh-CN" altLang="en-US" sz="2800" b="0" dirty="0">
                <a:solidFill>
                  <a:srgbClr val="0000CC"/>
                </a:solidFill>
                <a:latin typeface="黑体" panose="02010609060101010101" pitchFamily="49" charset="-122"/>
                <a:ea typeface="黑体" panose="02010609060101010101" pitchFamily="49" charset="-122"/>
              </a:rPr>
              <a:t>酶含量的调节</a:t>
            </a:r>
            <a:r>
              <a:rPr kumimoji="1" lang="zh-CN" altLang="en-US" sz="2800" b="0" dirty="0">
                <a:latin typeface="黑体" panose="02010609060101010101" pitchFamily="49" charset="-122"/>
                <a:ea typeface="黑体" panose="02010609060101010101" pitchFamily="49" charset="-122"/>
              </a:rPr>
              <a:t>（</a:t>
            </a:r>
            <a:r>
              <a:rPr kumimoji="1" lang="zh-CN" altLang="en-US" sz="2800" b="0" dirty="0">
                <a:solidFill>
                  <a:srgbClr val="FF3300"/>
                </a:solidFill>
                <a:latin typeface="黑体" panose="02010609060101010101" pitchFamily="49" charset="-122"/>
                <a:ea typeface="黑体" panose="02010609060101010101" pitchFamily="49" charset="-122"/>
              </a:rPr>
              <a:t>缓慢</a:t>
            </a:r>
            <a:r>
              <a:rPr kumimoji="1" lang="zh-CN" altLang="en-US" sz="2800" b="0" dirty="0">
                <a:latin typeface="黑体" panose="02010609060101010101" pitchFamily="49" charset="-122"/>
                <a:ea typeface="黑体" panose="02010609060101010101" pitchFamily="49" charset="-122"/>
              </a:rPr>
              <a:t>调节）</a:t>
            </a:r>
            <a:endParaRPr kumimoji="1" lang="en-US" altLang="zh-CN" sz="2800" b="0" dirty="0">
              <a:latin typeface="黑体" panose="02010609060101010101" pitchFamily="49" charset="-122"/>
              <a:ea typeface="黑体" panose="02010609060101010101" pitchFamily="49" charset="-122"/>
            </a:endParaRPr>
          </a:p>
          <a:p>
            <a:pPr lvl="1" indent="-342900">
              <a:lnSpc>
                <a:spcPct val="150000"/>
              </a:lnSpc>
              <a:buFont typeface="Arial" panose="020B0604020202020204" pitchFamily="34" charset="0"/>
              <a:buChar char="•"/>
            </a:pPr>
            <a:r>
              <a:rPr lang="zh-CN" altLang="en-US" sz="2400" b="0" dirty="0">
                <a:latin typeface="黑体" panose="02010609060101010101" pitchFamily="49" charset="-122"/>
                <a:ea typeface="黑体" panose="02010609060101010101" pitchFamily="49" charset="-122"/>
              </a:rPr>
              <a:t>通过酶的合成或降解改变现有酶分子的数量。</a:t>
            </a:r>
            <a:endParaRPr lang="en-US" altLang="zh-CN" sz="2400" b="0" dirty="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6898" name="Rectangle 2">
            <a:extLst>
              <a:ext uri="{FF2B5EF4-FFF2-40B4-BE49-F238E27FC236}">
                <a16:creationId xmlns:a16="http://schemas.microsoft.com/office/drawing/2014/main" id="{FB0A9F9C-7B11-42E5-9B0B-935DBD4FF680}"/>
              </a:ext>
            </a:extLst>
          </p:cNvPr>
          <p:cNvSpPr>
            <a:spLocks noGrp="1" noChangeArrowheads="1"/>
          </p:cNvSpPr>
          <p:nvPr>
            <p:ph type="title"/>
          </p:nvPr>
        </p:nvSpPr>
        <p:spPr>
          <a:xfrm>
            <a:off x="2063552" y="1056585"/>
            <a:ext cx="7844665" cy="693738"/>
          </a:xfrm>
        </p:spPr>
        <p:txBody>
          <a:bodyPr/>
          <a:lstStyle/>
          <a:p>
            <a:pPr algn="l" eaLnBrk="1" hangingPunct="1"/>
            <a:r>
              <a:rPr lang="en-US" altLang="zh-CN" sz="2800" b="0" dirty="0">
                <a:solidFill>
                  <a:srgbClr val="FF3300"/>
                </a:solidFill>
                <a:latin typeface="黑体" panose="02010609060101010101" pitchFamily="49" charset="-122"/>
                <a:ea typeface="黑体" panose="02010609060101010101" pitchFamily="49" charset="-122"/>
              </a:rPr>
              <a:t>1.</a:t>
            </a:r>
            <a:r>
              <a:rPr lang="zh-CN" altLang="en-US" sz="2800" b="0" dirty="0">
                <a:solidFill>
                  <a:srgbClr val="FF3300"/>
                </a:solidFill>
                <a:latin typeface="黑体" panose="02010609060101010101" pitchFamily="49" charset="-122"/>
                <a:ea typeface="黑体" panose="02010609060101010101" pitchFamily="49" charset="-122"/>
              </a:rPr>
              <a:t>别构调节物通过改变酶的构象而调节酶活性</a:t>
            </a:r>
            <a:endParaRPr kumimoji="1" lang="en-US" altLang="zh-CN" sz="2800" b="0" i="1" dirty="0">
              <a:solidFill>
                <a:srgbClr val="FF3300"/>
              </a:solidFill>
              <a:latin typeface="黑体" panose="02010609060101010101" pitchFamily="49" charset="-122"/>
              <a:ea typeface="黑体" panose="02010609060101010101" pitchFamily="49" charset="-122"/>
            </a:endParaRPr>
          </a:p>
        </p:txBody>
      </p:sp>
      <p:sp>
        <p:nvSpPr>
          <p:cNvPr id="1359875" name="Rectangle 3">
            <a:extLst>
              <a:ext uri="{FF2B5EF4-FFF2-40B4-BE49-F238E27FC236}">
                <a16:creationId xmlns:a16="http://schemas.microsoft.com/office/drawing/2014/main" id="{255F4192-612E-47FA-9D73-92B48812C477}"/>
              </a:ext>
            </a:extLst>
          </p:cNvPr>
          <p:cNvSpPr>
            <a:spLocks noGrp="1" noChangeArrowheads="1"/>
          </p:cNvSpPr>
          <p:nvPr>
            <p:ph type="body" idx="1"/>
          </p:nvPr>
        </p:nvSpPr>
        <p:spPr>
          <a:xfrm>
            <a:off x="2930029" y="4642023"/>
            <a:ext cx="6481762" cy="1536700"/>
          </a:xfrm>
        </p:spPr>
        <p:txBody>
          <a:bodyPr/>
          <a:lstStyle/>
          <a:p>
            <a:pPr eaLnBrk="1" hangingPunct="1">
              <a:defRPr/>
            </a:pPr>
            <a:r>
              <a:rPr lang="zh-CN" altLang="en-US" sz="2400" b="0" dirty="0">
                <a:solidFill>
                  <a:schemeClr val="tx2"/>
                </a:solidFill>
                <a:latin typeface="黑体" panose="02010609060101010101" pitchFamily="49" charset="-122"/>
                <a:ea typeface="黑体" panose="02010609060101010101" pitchFamily="49" charset="-122"/>
              </a:rPr>
              <a:t>别构调节物（</a:t>
            </a:r>
            <a:r>
              <a:rPr lang="en-US" altLang="zh-CN" sz="2400" b="0" dirty="0">
                <a:solidFill>
                  <a:schemeClr val="tx2"/>
                </a:solidFill>
                <a:latin typeface="黑体" panose="02010609060101010101" pitchFamily="49" charset="-122"/>
                <a:ea typeface="黑体" panose="02010609060101010101" pitchFamily="49" charset="-122"/>
              </a:rPr>
              <a:t>allosteric modulator)/</a:t>
            </a:r>
            <a:r>
              <a:rPr lang="zh-CN" altLang="en-US" sz="2400" b="0" dirty="0">
                <a:solidFill>
                  <a:schemeClr val="tx2"/>
                </a:solidFill>
                <a:latin typeface="黑体" panose="02010609060101010101" pitchFamily="49" charset="-122"/>
                <a:ea typeface="黑体" panose="02010609060101010101" pitchFamily="49" charset="-122"/>
              </a:rPr>
              <a:t>别构效应剂 </a:t>
            </a:r>
            <a:r>
              <a:rPr lang="en-US" altLang="zh-CN" sz="2400" b="0" dirty="0">
                <a:solidFill>
                  <a:schemeClr val="tx2"/>
                </a:solidFill>
                <a:latin typeface="黑体" panose="02010609060101010101" pitchFamily="49" charset="-122"/>
                <a:ea typeface="黑体" panose="02010609060101010101" pitchFamily="49" charset="-122"/>
              </a:rPr>
              <a:t>(allosteric effector)</a:t>
            </a:r>
          </a:p>
          <a:p>
            <a:pPr lvl="1" eaLnBrk="1" hangingPunct="1">
              <a:defRPr/>
            </a:pPr>
            <a:r>
              <a:rPr lang="zh-CN" altLang="en-US" sz="2400" b="0" dirty="0">
                <a:solidFill>
                  <a:schemeClr val="tx1">
                    <a:lumMod val="95000"/>
                    <a:lumOff val="5000"/>
                  </a:schemeClr>
                </a:solidFill>
                <a:latin typeface="黑体" panose="02010609060101010101" pitchFamily="49" charset="-122"/>
                <a:ea typeface="黑体" panose="02010609060101010101" pitchFamily="49" charset="-122"/>
              </a:rPr>
              <a:t>别构激活剂（</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rPr>
              <a:t>allosteric activator)</a:t>
            </a:r>
          </a:p>
          <a:p>
            <a:pPr lvl="1" eaLnBrk="1" hangingPunct="1">
              <a:defRPr/>
            </a:pPr>
            <a:r>
              <a:rPr lang="zh-CN" altLang="en-US" sz="2400" b="0" dirty="0">
                <a:solidFill>
                  <a:schemeClr val="tx1">
                    <a:lumMod val="95000"/>
                    <a:lumOff val="5000"/>
                  </a:schemeClr>
                </a:solidFill>
                <a:latin typeface="黑体" panose="02010609060101010101" pitchFamily="49" charset="-122"/>
                <a:ea typeface="黑体" panose="02010609060101010101" pitchFamily="49" charset="-122"/>
              </a:rPr>
              <a:t>别构抑制剂</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rPr>
              <a:t>(allosteric inhibitor)</a:t>
            </a:r>
          </a:p>
          <a:p>
            <a:pPr eaLnBrk="1" hangingPunct="1">
              <a:defRPr/>
            </a:pPr>
            <a:endParaRPr lang="en-US" altLang="zh-CN" sz="2800" b="0" dirty="0">
              <a:solidFill>
                <a:schemeClr val="tx2"/>
              </a:solidFill>
              <a:latin typeface="黑体" panose="02010609060101010101" pitchFamily="49" charset="-122"/>
              <a:ea typeface="黑体" panose="02010609060101010101" pitchFamily="49" charset="-122"/>
            </a:endParaRPr>
          </a:p>
        </p:txBody>
      </p:sp>
      <p:sp>
        <p:nvSpPr>
          <p:cNvPr id="1359880" name="Rectangle 8">
            <a:extLst>
              <a:ext uri="{FF2B5EF4-FFF2-40B4-BE49-F238E27FC236}">
                <a16:creationId xmlns:a16="http://schemas.microsoft.com/office/drawing/2014/main" id="{3599C343-114B-47EB-B6D1-88DD4F1AF7B5}"/>
              </a:ext>
            </a:extLst>
          </p:cNvPr>
          <p:cNvSpPr>
            <a:spLocks noChangeArrowheads="1"/>
          </p:cNvSpPr>
          <p:nvPr/>
        </p:nvSpPr>
        <p:spPr bwMode="auto">
          <a:xfrm>
            <a:off x="2927648" y="3720155"/>
            <a:ext cx="5835650" cy="461963"/>
          </a:xfrm>
          <a:prstGeom prst="rect">
            <a:avLst/>
          </a:prstGeom>
          <a:noFill/>
          <a:ln w="9525">
            <a:noFill/>
            <a:miter lim="800000"/>
            <a:headEnd/>
            <a:tailEnd/>
          </a:ln>
          <a:effectLst/>
        </p:spPr>
        <p:txBody>
          <a:bodyPr>
            <a:spAutoFit/>
          </a:bodyPr>
          <a:lstStyle/>
          <a:p>
            <a:pPr eaLnBrk="1" hangingPunct="1">
              <a:buClr>
                <a:schemeClr val="tx2"/>
              </a:buClr>
              <a:buFontTx/>
              <a:buChar char="•"/>
              <a:defRPr/>
            </a:pPr>
            <a:r>
              <a:rPr kumimoji="1" lang="en-US" altLang="zh-CN" sz="2400" dirty="0">
                <a:solidFill>
                  <a:schemeClr val="tx2"/>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kumimoji="1" lang="zh-CN" altLang="en-US" sz="2400" dirty="0">
                <a:solidFill>
                  <a:schemeClr val="tx2"/>
                </a:solidFill>
                <a:latin typeface="黑体" panose="02010609060101010101" pitchFamily="49" charset="-122"/>
                <a:ea typeface="黑体" panose="02010609060101010101" pitchFamily="49" charset="-122"/>
              </a:rPr>
              <a:t>别构酶 </a:t>
            </a:r>
            <a:r>
              <a:rPr kumimoji="1" lang="en-US" altLang="zh-CN" sz="2400" dirty="0">
                <a:solidFill>
                  <a:schemeClr val="tx2"/>
                </a:solidFill>
                <a:latin typeface="黑体" panose="02010609060101010101" pitchFamily="49" charset="-122"/>
                <a:ea typeface="黑体" panose="02010609060101010101" pitchFamily="49" charset="-122"/>
              </a:rPr>
              <a:t>(allosteric enzyme)</a:t>
            </a:r>
          </a:p>
        </p:txBody>
      </p:sp>
      <p:sp>
        <p:nvSpPr>
          <p:cNvPr id="1359881" name="Text Box 9">
            <a:extLst>
              <a:ext uri="{FF2B5EF4-FFF2-40B4-BE49-F238E27FC236}">
                <a16:creationId xmlns:a16="http://schemas.microsoft.com/office/drawing/2014/main" id="{0D157C18-46FB-42BA-886D-C570CB61DB19}"/>
              </a:ext>
            </a:extLst>
          </p:cNvPr>
          <p:cNvSpPr txBox="1">
            <a:spLocks noChangeArrowheads="1"/>
          </p:cNvSpPr>
          <p:nvPr/>
        </p:nvSpPr>
        <p:spPr bwMode="auto">
          <a:xfrm>
            <a:off x="2910948" y="4200139"/>
            <a:ext cx="6072187"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Clr>
                <a:schemeClr val="tx2"/>
              </a:buClr>
            </a:pPr>
            <a:r>
              <a:rPr kumimoji="1" lang="zh-CN" altLang="en-US" sz="2400" dirty="0">
                <a:solidFill>
                  <a:schemeClr val="tx2"/>
                </a:solidFill>
                <a:latin typeface="黑体" panose="02010609060101010101" pitchFamily="49" charset="-122"/>
                <a:ea typeface="黑体" panose="02010609060101010101" pitchFamily="49" charset="-122"/>
              </a:rPr>
              <a:t> 别构部位 </a:t>
            </a:r>
            <a:r>
              <a:rPr kumimoji="1" lang="en-US" altLang="zh-CN" sz="2400" dirty="0">
                <a:solidFill>
                  <a:schemeClr val="tx2"/>
                </a:solidFill>
                <a:latin typeface="黑体" panose="02010609060101010101" pitchFamily="49" charset="-122"/>
                <a:ea typeface="黑体" panose="02010609060101010101" pitchFamily="49" charset="-122"/>
              </a:rPr>
              <a:t>(allosteric site)</a:t>
            </a:r>
            <a:endParaRPr kumimoji="1" lang="en-US" altLang="zh-CN" sz="2400" i="1" dirty="0">
              <a:solidFill>
                <a:schemeClr val="tx2"/>
              </a:solidFill>
              <a:latin typeface="黑体" panose="02010609060101010101" pitchFamily="49" charset="-122"/>
              <a:ea typeface="黑体" panose="02010609060101010101" pitchFamily="49" charset="-122"/>
            </a:endParaRPr>
          </a:p>
        </p:txBody>
      </p:sp>
      <p:sp>
        <p:nvSpPr>
          <p:cNvPr id="1359882" name="Text Box 10">
            <a:extLst>
              <a:ext uri="{FF2B5EF4-FFF2-40B4-BE49-F238E27FC236}">
                <a16:creationId xmlns:a16="http://schemas.microsoft.com/office/drawing/2014/main" id="{1C0658DF-AB66-452E-8EAC-3EE6D3E3CBB1}"/>
              </a:ext>
            </a:extLst>
          </p:cNvPr>
          <p:cNvSpPr txBox="1">
            <a:spLocks noChangeArrowheads="1"/>
          </p:cNvSpPr>
          <p:nvPr/>
        </p:nvSpPr>
        <p:spPr bwMode="auto">
          <a:xfrm>
            <a:off x="2063552" y="1897984"/>
            <a:ext cx="8865327" cy="1381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15963">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10000"/>
              </a:lnSpc>
              <a:buClr>
                <a:schemeClr val="tx2"/>
              </a:buClr>
              <a:buSzPct val="75000"/>
              <a:buFont typeface="Wingdings" panose="05000000000000000000" pitchFamily="2" charset="2"/>
              <a:buNone/>
            </a:pPr>
            <a:r>
              <a:rPr kumimoji="1" lang="zh-CN" altLang="en-US" sz="2600" dirty="0">
                <a:latin typeface="微软雅黑" panose="020B0503020204020204" pitchFamily="34" charset="-122"/>
                <a:ea typeface="微软雅黑" panose="020B0503020204020204" pitchFamily="34" charset="-122"/>
              </a:rPr>
              <a:t>酶分子的</a:t>
            </a:r>
            <a:r>
              <a:rPr kumimoji="1" lang="zh-CN" altLang="en-US" sz="2600" dirty="0">
                <a:solidFill>
                  <a:srgbClr val="0000CC"/>
                </a:solidFill>
                <a:latin typeface="微软雅黑" panose="020B0503020204020204" pitchFamily="34" charset="-122"/>
                <a:ea typeface="微软雅黑" panose="020B0503020204020204" pitchFamily="34" charset="-122"/>
              </a:rPr>
              <a:t>非催化部位</a:t>
            </a:r>
            <a:r>
              <a:rPr kumimoji="1" lang="zh-CN" altLang="en-US" sz="2600" dirty="0">
                <a:latin typeface="微软雅黑" panose="020B0503020204020204" pitchFamily="34" charset="-122"/>
                <a:ea typeface="微软雅黑" panose="020B0503020204020204" pitchFamily="34" charset="-122"/>
              </a:rPr>
              <a:t>与某些化合物</a:t>
            </a:r>
            <a:r>
              <a:rPr kumimoji="1" lang="zh-CN" altLang="en-US" sz="2600" dirty="0">
                <a:solidFill>
                  <a:srgbClr val="0000CC"/>
                </a:solidFill>
                <a:latin typeface="微软雅黑" panose="020B0503020204020204" pitchFamily="34" charset="-122"/>
                <a:ea typeface="微软雅黑" panose="020B0503020204020204" pitchFamily="34" charset="-122"/>
              </a:rPr>
              <a:t>可逆地非共价结合</a:t>
            </a:r>
            <a:r>
              <a:rPr kumimoji="1" lang="zh-CN" altLang="en-US" sz="2600" dirty="0">
                <a:latin typeface="微软雅黑" panose="020B0503020204020204" pitchFamily="34" charset="-122"/>
                <a:ea typeface="微软雅黑" panose="020B0503020204020204" pitchFamily="34" charset="-122"/>
              </a:rPr>
              <a:t>后发生</a:t>
            </a:r>
            <a:r>
              <a:rPr kumimoji="1" lang="zh-CN" altLang="en-US" sz="2600" dirty="0">
                <a:solidFill>
                  <a:srgbClr val="0000CC"/>
                </a:solidFill>
                <a:latin typeface="微软雅黑" panose="020B0503020204020204" pitchFamily="34" charset="-122"/>
                <a:ea typeface="微软雅黑" panose="020B0503020204020204" pitchFamily="34" charset="-122"/>
              </a:rPr>
              <a:t>构象改变</a:t>
            </a:r>
            <a:r>
              <a:rPr kumimoji="1" lang="zh-CN" altLang="en-US" sz="2600" dirty="0">
                <a:latin typeface="微软雅黑" panose="020B0503020204020204" pitchFamily="34" charset="-122"/>
                <a:ea typeface="微软雅黑" panose="020B0503020204020204" pitchFamily="34" charset="-122"/>
              </a:rPr>
              <a:t>，进而改变酶活性状态的现象，称为酶的</a:t>
            </a:r>
            <a:r>
              <a:rPr kumimoji="1" lang="zh-CN" altLang="en-US" sz="2600" dirty="0">
                <a:solidFill>
                  <a:srgbClr val="FF0000"/>
                </a:solidFill>
                <a:latin typeface="微软雅黑" panose="020B0503020204020204" pitchFamily="34" charset="-122"/>
                <a:ea typeface="微软雅黑" panose="020B0503020204020204" pitchFamily="34" charset="-122"/>
              </a:rPr>
              <a:t>别构调节（</a:t>
            </a:r>
            <a:r>
              <a:rPr kumimoji="1" lang="en-US" altLang="zh-CN" sz="2600" dirty="0">
                <a:solidFill>
                  <a:srgbClr val="FF0000"/>
                </a:solidFill>
                <a:latin typeface="微软雅黑" panose="020B0503020204020204" pitchFamily="34" charset="-122"/>
                <a:ea typeface="微软雅黑" panose="020B0503020204020204" pitchFamily="34" charset="-122"/>
              </a:rPr>
              <a:t>allosteric regulation</a:t>
            </a:r>
            <a:r>
              <a:rPr kumimoji="1" lang="zh-CN" altLang="en-US" sz="2600" dirty="0">
                <a:solidFill>
                  <a:srgbClr val="FF0000"/>
                </a:solidFill>
                <a:latin typeface="微软雅黑" panose="020B0503020204020204" pitchFamily="34" charset="-122"/>
                <a:ea typeface="微软雅黑" panose="020B0503020204020204" pitchFamily="34" charset="-122"/>
              </a:rPr>
              <a:t>）</a:t>
            </a:r>
            <a:r>
              <a:rPr kumimoji="1" lang="zh-CN" altLang="en-US" sz="2600" dirty="0">
                <a:latin typeface="微软雅黑" panose="020B0503020204020204" pitchFamily="34" charset="-122"/>
                <a:ea typeface="微软雅黑" panose="020B0503020204020204" pitchFamily="34" charset="-122"/>
              </a:rPr>
              <a:t>，亦曾称变构调节。</a:t>
            </a:r>
          </a:p>
        </p:txBody>
      </p:sp>
      <p:sp>
        <p:nvSpPr>
          <p:cNvPr id="336903" name="AutoShape 6">
            <a:extLst>
              <a:ext uri="{FF2B5EF4-FFF2-40B4-BE49-F238E27FC236}">
                <a16:creationId xmlns:a16="http://schemas.microsoft.com/office/drawing/2014/main" id="{20E23EDB-658F-4F31-989B-0A3CCD6D6421}"/>
              </a:ext>
            </a:extLst>
          </p:cNvPr>
          <p:cNvSpPr>
            <a:spLocks noChangeArrowheads="1"/>
          </p:cNvSpPr>
          <p:nvPr/>
        </p:nvSpPr>
        <p:spPr bwMode="auto">
          <a:xfrm>
            <a:off x="1739659" y="254468"/>
            <a:ext cx="8712683" cy="741363"/>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ts val="600"/>
              </a:spcBef>
              <a:buClr>
                <a:schemeClr val="tx2"/>
              </a:buClr>
              <a:buSzPct val="75000"/>
              <a:buNone/>
            </a:pPr>
            <a:r>
              <a:rPr lang="zh-CN" altLang="en-US" b="1" dirty="0">
                <a:solidFill>
                  <a:schemeClr val="bg1"/>
                </a:solidFill>
                <a:latin typeface="Times New Roman" panose="02020603050405020304" pitchFamily="18" charset="0"/>
                <a:ea typeface="黑体" panose="02010609060101010101" pitchFamily="49" charset="-122"/>
              </a:rPr>
              <a:t>一、酶活性的调节是对酶促反应速率的快速调节</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359882"/>
                                        </p:tgtEl>
                                        <p:attrNameLst>
                                          <p:attrName>style.visibility</p:attrName>
                                        </p:attrNameLst>
                                      </p:cBhvr>
                                      <p:to>
                                        <p:strVal val="visible"/>
                                      </p:to>
                                    </p:set>
                                    <p:animEffect transition="in" filter="box(out)">
                                      <p:cBhvr>
                                        <p:cTn id="7" dur="500"/>
                                        <p:tgtEl>
                                          <p:spTgt spid="13598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359880"/>
                                        </p:tgtEl>
                                        <p:attrNameLst>
                                          <p:attrName>style.visibility</p:attrName>
                                        </p:attrNameLst>
                                      </p:cBhvr>
                                      <p:to>
                                        <p:strVal val="visible"/>
                                      </p:to>
                                    </p:set>
                                    <p:animEffect transition="in" filter="strips(downRight)">
                                      <p:cBhvr>
                                        <p:cTn id="12" dur="500"/>
                                        <p:tgtEl>
                                          <p:spTgt spid="1359880"/>
                                        </p:tgtEl>
                                      </p:cBhvr>
                                    </p:animEffect>
                                  </p:childTnLst>
                                </p:cTn>
                              </p:par>
                              <p:par>
                                <p:cTn id="13" presetID="18" presetClass="entr" presetSubtype="6" fill="hold" grpId="0" nodeType="withEffect">
                                  <p:stCondLst>
                                    <p:cond delay="0"/>
                                  </p:stCondLst>
                                  <p:childTnLst>
                                    <p:set>
                                      <p:cBhvr>
                                        <p:cTn id="14" dur="1" fill="hold">
                                          <p:stCondLst>
                                            <p:cond delay="0"/>
                                          </p:stCondLst>
                                        </p:cTn>
                                        <p:tgtEl>
                                          <p:spTgt spid="1359881"/>
                                        </p:tgtEl>
                                        <p:attrNameLst>
                                          <p:attrName>style.visibility</p:attrName>
                                        </p:attrNameLst>
                                      </p:cBhvr>
                                      <p:to>
                                        <p:strVal val="visible"/>
                                      </p:to>
                                    </p:set>
                                    <p:animEffect transition="in" filter="strips(downRight)">
                                      <p:cBhvr>
                                        <p:cTn id="15" dur="500"/>
                                        <p:tgtEl>
                                          <p:spTgt spid="1359881"/>
                                        </p:tgtEl>
                                      </p:cBhvr>
                                    </p:animEffect>
                                  </p:childTnLst>
                                </p:cTn>
                              </p:par>
                              <p:par>
                                <p:cTn id="16" presetID="18" presetClass="entr" presetSubtype="6" fill="hold" grpId="0" nodeType="withEffect">
                                  <p:stCondLst>
                                    <p:cond delay="0"/>
                                  </p:stCondLst>
                                  <p:childTnLst>
                                    <p:set>
                                      <p:cBhvr>
                                        <p:cTn id="17" dur="1" fill="hold">
                                          <p:stCondLst>
                                            <p:cond delay="0"/>
                                          </p:stCondLst>
                                        </p:cTn>
                                        <p:tgtEl>
                                          <p:spTgt spid="1359875">
                                            <p:txEl>
                                              <p:pRg st="0" end="0"/>
                                            </p:txEl>
                                          </p:spTgt>
                                        </p:tgtEl>
                                        <p:attrNameLst>
                                          <p:attrName>style.visibility</p:attrName>
                                        </p:attrNameLst>
                                      </p:cBhvr>
                                      <p:to>
                                        <p:strVal val="visible"/>
                                      </p:to>
                                    </p:set>
                                    <p:animEffect transition="in" filter="strips(downRight)">
                                      <p:cBhvr>
                                        <p:cTn id="18" dur="500"/>
                                        <p:tgtEl>
                                          <p:spTgt spid="1359875">
                                            <p:txEl>
                                              <p:pRg st="0" end="0"/>
                                            </p:txEl>
                                          </p:spTgt>
                                        </p:tgtEl>
                                      </p:cBhvr>
                                    </p:animEffect>
                                  </p:childTnLst>
                                </p:cTn>
                              </p:par>
                              <p:par>
                                <p:cTn id="19" presetID="18" presetClass="entr" presetSubtype="6" fill="hold" grpId="0" nodeType="withEffect">
                                  <p:stCondLst>
                                    <p:cond delay="0"/>
                                  </p:stCondLst>
                                  <p:childTnLst>
                                    <p:set>
                                      <p:cBhvr>
                                        <p:cTn id="20" dur="1" fill="hold">
                                          <p:stCondLst>
                                            <p:cond delay="0"/>
                                          </p:stCondLst>
                                        </p:cTn>
                                        <p:tgtEl>
                                          <p:spTgt spid="1359875">
                                            <p:txEl>
                                              <p:pRg st="1" end="1"/>
                                            </p:txEl>
                                          </p:spTgt>
                                        </p:tgtEl>
                                        <p:attrNameLst>
                                          <p:attrName>style.visibility</p:attrName>
                                        </p:attrNameLst>
                                      </p:cBhvr>
                                      <p:to>
                                        <p:strVal val="visible"/>
                                      </p:to>
                                    </p:set>
                                    <p:animEffect transition="in" filter="strips(downRight)">
                                      <p:cBhvr>
                                        <p:cTn id="21" dur="500"/>
                                        <p:tgtEl>
                                          <p:spTgt spid="1359875">
                                            <p:txEl>
                                              <p:pRg st="1" end="1"/>
                                            </p:txEl>
                                          </p:spTgt>
                                        </p:tgtEl>
                                      </p:cBhvr>
                                    </p:animEffect>
                                  </p:childTnLst>
                                </p:cTn>
                              </p:par>
                              <p:par>
                                <p:cTn id="22" presetID="18" presetClass="entr" presetSubtype="6" fill="hold" grpId="0" nodeType="withEffect">
                                  <p:stCondLst>
                                    <p:cond delay="0"/>
                                  </p:stCondLst>
                                  <p:childTnLst>
                                    <p:set>
                                      <p:cBhvr>
                                        <p:cTn id="23" dur="1" fill="hold">
                                          <p:stCondLst>
                                            <p:cond delay="0"/>
                                          </p:stCondLst>
                                        </p:cTn>
                                        <p:tgtEl>
                                          <p:spTgt spid="1359875">
                                            <p:txEl>
                                              <p:pRg st="2" end="2"/>
                                            </p:txEl>
                                          </p:spTgt>
                                        </p:tgtEl>
                                        <p:attrNameLst>
                                          <p:attrName>style.visibility</p:attrName>
                                        </p:attrNameLst>
                                      </p:cBhvr>
                                      <p:to>
                                        <p:strVal val="visible"/>
                                      </p:to>
                                    </p:set>
                                    <p:animEffect transition="in" filter="strips(downRight)">
                                      <p:cBhvr>
                                        <p:cTn id="24" dur="500"/>
                                        <p:tgtEl>
                                          <p:spTgt spid="13598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9875" grpId="0" build="p" autoUpdateAnimBg="0"/>
      <p:bldP spid="1359880" grpId="0" autoUpdateAnimBg="0"/>
      <p:bldP spid="1359881" grpId="0" autoUpdateAnimBg="0"/>
      <p:bldP spid="1359882" grpId="0"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标题 1">
            <a:extLst>
              <a:ext uri="{FF2B5EF4-FFF2-40B4-BE49-F238E27FC236}">
                <a16:creationId xmlns:a16="http://schemas.microsoft.com/office/drawing/2014/main" id="{4A9B35C8-8CE3-4A10-8A62-6FE11B892F71}"/>
              </a:ext>
            </a:extLst>
          </p:cNvPr>
          <p:cNvSpPr>
            <a:spLocks noGrp="1" noChangeArrowheads="1"/>
          </p:cNvSpPr>
          <p:nvPr>
            <p:ph type="title"/>
          </p:nvPr>
        </p:nvSpPr>
        <p:spPr>
          <a:xfrm>
            <a:off x="2243138" y="354013"/>
            <a:ext cx="7416800" cy="925512"/>
          </a:xfrm>
        </p:spPr>
        <p:txBody>
          <a:bodyPr/>
          <a:lstStyle/>
          <a:p>
            <a:r>
              <a:rPr lang="zh-CN" altLang="en-US" sz="3200" dirty="0">
                <a:solidFill>
                  <a:srgbClr val="0000CC"/>
                </a:solidFill>
                <a:latin typeface="黑体" panose="02010609060101010101" pitchFamily="49" charset="-122"/>
                <a:ea typeface="黑体" panose="02010609060101010101" pitchFamily="49" charset="-122"/>
              </a:rPr>
              <a:t>别构效应剂多为代谢终产物或中间产物</a:t>
            </a:r>
          </a:p>
        </p:txBody>
      </p:sp>
      <p:sp>
        <p:nvSpPr>
          <p:cNvPr id="338947" name="内容占位符 2">
            <a:extLst>
              <a:ext uri="{FF2B5EF4-FFF2-40B4-BE49-F238E27FC236}">
                <a16:creationId xmlns:a16="http://schemas.microsoft.com/office/drawing/2014/main" id="{036FD1D9-A8B2-4200-9E82-CAD87492F56E}"/>
              </a:ext>
            </a:extLst>
          </p:cNvPr>
          <p:cNvSpPr>
            <a:spLocks noGrp="1" noChangeArrowheads="1"/>
          </p:cNvSpPr>
          <p:nvPr>
            <p:ph idx="1"/>
          </p:nvPr>
        </p:nvSpPr>
        <p:spPr>
          <a:xfrm>
            <a:off x="1199456" y="1844824"/>
            <a:ext cx="9793088" cy="3600400"/>
          </a:xfrm>
        </p:spPr>
        <p:txBody>
          <a:bodyPr/>
          <a:lstStyle/>
          <a:p>
            <a:r>
              <a:rPr lang="zh-CN" altLang="en-US" sz="2800" b="0" dirty="0">
                <a:latin typeface="黑体" panose="02010609060101010101" pitchFamily="49" charset="-122"/>
                <a:ea typeface="黑体" panose="02010609060101010101" pitchFamily="49" charset="-122"/>
              </a:rPr>
              <a:t>生物体内普遍存在</a:t>
            </a:r>
            <a:r>
              <a:rPr lang="zh-CN" altLang="en-US" sz="2800" b="0" dirty="0">
                <a:solidFill>
                  <a:srgbClr val="0000CC"/>
                </a:solidFill>
                <a:latin typeface="黑体" panose="02010609060101010101" pitchFamily="49" charset="-122"/>
                <a:ea typeface="黑体" panose="02010609060101010101" pitchFamily="49" charset="-122"/>
              </a:rPr>
              <a:t>负反馈调节机制</a:t>
            </a:r>
            <a:r>
              <a:rPr lang="zh-CN" altLang="en-US"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feedback regulation)</a:t>
            </a:r>
          </a:p>
          <a:p>
            <a:endParaRPr lang="en-US" altLang="zh-CN" sz="2800" b="0" dirty="0">
              <a:latin typeface="黑体" panose="02010609060101010101" pitchFamily="49" charset="-122"/>
              <a:ea typeface="黑体" panose="02010609060101010101" pitchFamily="49" charset="-122"/>
            </a:endParaRPr>
          </a:p>
          <a:p>
            <a:pPr>
              <a:lnSpc>
                <a:spcPct val="120000"/>
              </a:lnSpc>
              <a:spcBef>
                <a:spcPct val="0"/>
              </a:spcBef>
            </a:pPr>
            <a:r>
              <a:rPr lang="zh-CN" altLang="en-US" sz="2800" b="0" dirty="0">
                <a:latin typeface="黑体" panose="02010609060101010101" pitchFamily="49" charset="-122"/>
                <a:ea typeface="黑体" panose="02010609060101010101" pitchFamily="49" charset="-122"/>
              </a:rPr>
              <a:t>代谢途径（</a:t>
            </a:r>
            <a:r>
              <a:rPr lang="en-US" altLang="zh-CN" sz="2800" b="0" dirty="0">
                <a:latin typeface="黑体" panose="02010609060101010101" pitchFamily="49" charset="-122"/>
                <a:ea typeface="黑体" panose="02010609060101010101" pitchFamily="49" charset="-122"/>
              </a:rPr>
              <a:t>pathway)</a:t>
            </a:r>
            <a:r>
              <a:rPr lang="zh-CN" altLang="en-US" sz="2800" dirty="0">
                <a:latin typeface="黑体" panose="02010609060101010101" pitchFamily="49" charset="-122"/>
                <a:ea typeface="黑体" panose="02010609060101010101" pitchFamily="49" charset="-122"/>
              </a:rPr>
              <a:t>终产物</a:t>
            </a:r>
            <a:r>
              <a:rPr lang="zh-CN" altLang="en-US" sz="2800" b="0" dirty="0">
                <a:latin typeface="黑体" panose="02010609060101010101" pitchFamily="49" charset="-122"/>
                <a:ea typeface="黑体" panose="02010609060101010101" pitchFamily="49" charset="-122"/>
              </a:rPr>
              <a:t>或</a:t>
            </a:r>
            <a:r>
              <a:rPr lang="zh-CN" altLang="en-US" sz="2800" dirty="0">
                <a:latin typeface="黑体" panose="02010609060101010101" pitchFamily="49" charset="-122"/>
                <a:ea typeface="黑体" panose="02010609060101010101" pitchFamily="49" charset="-122"/>
              </a:rPr>
              <a:t>某些中间产物</a:t>
            </a:r>
            <a:r>
              <a:rPr lang="zh-CN" altLang="en-US" sz="2800" b="0" dirty="0">
                <a:solidFill>
                  <a:srgbClr val="0000CC"/>
                </a:solidFill>
                <a:latin typeface="黑体" panose="02010609060101010101" pitchFamily="49" charset="-122"/>
                <a:ea typeface="黑体" panose="02010609060101010101" pitchFamily="49" charset="-122"/>
              </a:rPr>
              <a:t>浓度升高时</a:t>
            </a:r>
            <a:r>
              <a:rPr lang="zh-CN" altLang="en-US" sz="2800" b="0" dirty="0">
                <a:latin typeface="黑体" panose="02010609060101010101" pitchFamily="49" charset="-122"/>
                <a:ea typeface="黑体" panose="02010609060101010101" pitchFamily="49" charset="-122"/>
              </a:rPr>
              <a:t>，通常成为该条代谢路径中</a:t>
            </a:r>
            <a:r>
              <a:rPr lang="zh-CN" altLang="en-US" sz="2800" b="0" dirty="0">
                <a:solidFill>
                  <a:srgbClr val="0000CC"/>
                </a:solidFill>
                <a:latin typeface="黑体" panose="02010609060101010101" pitchFamily="49" charset="-122"/>
                <a:ea typeface="黑体" panose="02010609060101010101" pitchFamily="49" charset="-122"/>
              </a:rPr>
              <a:t>关键酶的可逆性抑制剂</a:t>
            </a:r>
            <a:r>
              <a:rPr lang="zh-CN" altLang="en-US" sz="2800" b="0" dirty="0">
                <a:latin typeface="黑体" panose="02010609060101010101" pitchFamily="49" charset="-122"/>
                <a:ea typeface="黑体" panose="02010609060101010101" pitchFamily="49" charset="-122"/>
              </a:rPr>
              <a:t>，从而降低该条路径的反应速度，减少其生成，而当其含量降低时，抑制作用解除。 </a:t>
            </a:r>
            <a:endParaRPr lang="en-US" altLang="zh-CN" sz="2800" b="0" dirty="0">
              <a:latin typeface="黑体" panose="02010609060101010101" pitchFamily="49" charset="-122"/>
              <a:ea typeface="黑体" panose="02010609060101010101" pitchFamily="49" charset="-122"/>
            </a:endParaRPr>
          </a:p>
          <a:p>
            <a:endParaRPr lang="en-US" altLang="zh-CN"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5" name="内容占位符 3">
            <a:extLst>
              <a:ext uri="{FF2B5EF4-FFF2-40B4-BE49-F238E27FC236}">
                <a16:creationId xmlns:a16="http://schemas.microsoft.com/office/drawing/2014/main" id="{2BE2FE2E-D68E-43EE-BF14-A5E3ABC7BE40}"/>
              </a:ext>
            </a:extLst>
          </p:cNvPr>
          <p:cNvSpPr>
            <a:spLocks noGrp="1" noChangeArrowheads="1"/>
          </p:cNvSpPr>
          <p:nvPr>
            <p:ph idx="1"/>
          </p:nvPr>
        </p:nvSpPr>
        <p:spPr>
          <a:xfrm>
            <a:off x="1847528" y="4437113"/>
            <a:ext cx="8352928" cy="1368573"/>
          </a:xfrm>
        </p:spPr>
        <p:txBody>
          <a:bodyPr/>
          <a:lstStyle/>
          <a:p>
            <a:r>
              <a:rPr lang="zh-CN" altLang="en-US" b="0" dirty="0">
                <a:latin typeface="黑体" panose="02010609060101010101" pitchFamily="49" charset="-122"/>
                <a:ea typeface="黑体" panose="02010609060101010101" pitchFamily="49" charset="-122"/>
              </a:rPr>
              <a:t>产物作为可逆性抑制剂（常为</a:t>
            </a:r>
            <a:r>
              <a:rPr lang="zh-CN" altLang="en-US" b="0" dirty="0">
                <a:solidFill>
                  <a:srgbClr val="0000CC"/>
                </a:solidFill>
                <a:latin typeface="黑体" panose="02010609060101010101" pitchFamily="49" charset="-122"/>
                <a:ea typeface="黑体" panose="02010609060101010101" pitchFamily="49" charset="-122"/>
              </a:rPr>
              <a:t>别构抑制剂</a:t>
            </a:r>
            <a:r>
              <a:rPr lang="zh-CN" altLang="en-US" b="0" dirty="0">
                <a:latin typeface="黑体" panose="02010609060101010101" pitchFamily="49" charset="-122"/>
                <a:ea typeface="黑体" panose="02010609060101010101" pitchFamily="49" charset="-122"/>
              </a:rPr>
              <a:t>）暂时抑制关键酶的活性。</a:t>
            </a:r>
          </a:p>
        </p:txBody>
      </p:sp>
      <p:pic>
        <p:nvPicPr>
          <p:cNvPr id="4" name="图片 1">
            <a:extLst>
              <a:ext uri="{FF2B5EF4-FFF2-40B4-BE49-F238E27FC236}">
                <a16:creationId xmlns:a16="http://schemas.microsoft.com/office/drawing/2014/main" id="{B72C37D3-48F9-4AC8-B042-16D6D6B074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3184" y="836712"/>
            <a:ext cx="87376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a:extLst>
              <a:ext uri="{FF2B5EF4-FFF2-40B4-BE49-F238E27FC236}">
                <a16:creationId xmlns:a16="http://schemas.microsoft.com/office/drawing/2014/main" id="{13DAA53C-51FC-4C9E-90FB-25B3733718FF}"/>
              </a:ext>
            </a:extLst>
          </p:cNvPr>
          <p:cNvSpPr>
            <a:spLocks noGrp="1" noChangeArrowheads="1"/>
          </p:cNvSpPr>
          <p:nvPr>
            <p:ph type="title"/>
          </p:nvPr>
        </p:nvSpPr>
        <p:spPr>
          <a:xfrm>
            <a:off x="3215680" y="692696"/>
            <a:ext cx="5505450" cy="685800"/>
          </a:xfrm>
        </p:spPr>
        <p:txBody>
          <a:bodyPr/>
          <a:lstStyle/>
          <a:p>
            <a:pPr eaLnBrk="1" hangingPunct="1"/>
            <a:r>
              <a:rPr lang="zh-CN" altLang="en-US" sz="3200" b="0" dirty="0">
                <a:solidFill>
                  <a:srgbClr val="FF0000"/>
                </a:solidFill>
                <a:latin typeface="黑体" panose="02010609060101010101" pitchFamily="49" charset="-122"/>
                <a:ea typeface="黑体" panose="02010609060101010101" pitchFamily="49" charset="-122"/>
              </a:rPr>
              <a:t>别构酶（非米氏酶）的特点</a:t>
            </a:r>
          </a:p>
        </p:txBody>
      </p:sp>
      <p:sp>
        <p:nvSpPr>
          <p:cNvPr id="1360899" name="Rectangle 3">
            <a:extLst>
              <a:ext uri="{FF2B5EF4-FFF2-40B4-BE49-F238E27FC236}">
                <a16:creationId xmlns:a16="http://schemas.microsoft.com/office/drawing/2014/main" id="{455E0167-FBE9-410A-B9B8-1C7D8CC284DD}"/>
              </a:ext>
            </a:extLst>
          </p:cNvPr>
          <p:cNvSpPr>
            <a:spLocks noGrp="1" noChangeArrowheads="1"/>
          </p:cNvSpPr>
          <p:nvPr>
            <p:ph type="body" idx="1"/>
          </p:nvPr>
        </p:nvSpPr>
        <p:spPr>
          <a:xfrm>
            <a:off x="2027548" y="1916832"/>
            <a:ext cx="9181020" cy="3960440"/>
          </a:xfrm>
        </p:spPr>
        <p:txBody>
          <a:bodyPr/>
          <a:lstStyle/>
          <a:p>
            <a:pPr eaLnBrk="1" hangingPunct="1">
              <a:lnSpc>
                <a:spcPct val="130000"/>
              </a:lnSpc>
              <a:spcBef>
                <a:spcPts val="600"/>
              </a:spcBef>
              <a:buNone/>
            </a:pPr>
            <a:r>
              <a:rPr lang="en-US" altLang="zh-CN" sz="2800" b="0" dirty="0">
                <a:latin typeface="黑体" panose="02010609060101010101" pitchFamily="49" charset="-122"/>
                <a:ea typeface="黑体" panose="02010609060101010101" pitchFamily="49" charset="-122"/>
              </a:rPr>
              <a:t>①</a:t>
            </a:r>
            <a:r>
              <a:rPr lang="en-US" altLang="zh-CN" sz="3600" b="0" dirty="0">
                <a:latin typeface="黑体" panose="02010609060101010101" pitchFamily="49" charset="-122"/>
                <a:ea typeface="黑体" panose="02010609060101010101" pitchFamily="49" charset="-122"/>
                <a:cs typeface="Times New Roman" panose="02020603050405020304" pitchFamily="18" charset="0"/>
              </a:rPr>
              <a:t> </a:t>
            </a:r>
            <a:r>
              <a:rPr lang="zh-CN" altLang="en-US" sz="2800" b="0" dirty="0">
                <a:latin typeface="黑体" panose="02010609060101010101" pitchFamily="49" charset="-122"/>
                <a:ea typeface="黑体" panose="02010609060101010101" pitchFamily="49" charset="-122"/>
              </a:rPr>
              <a:t>别构酶通常是有四级结构的</a:t>
            </a:r>
            <a:r>
              <a:rPr lang="zh-CN" altLang="en-US" sz="2800" b="0" dirty="0">
                <a:solidFill>
                  <a:srgbClr val="0000CC"/>
                </a:solidFill>
                <a:latin typeface="黑体" panose="02010609060101010101" pitchFamily="49" charset="-122"/>
                <a:ea typeface="黑体" panose="02010609060101010101" pitchFamily="49" charset="-122"/>
              </a:rPr>
              <a:t>寡聚体</a:t>
            </a:r>
            <a:r>
              <a:rPr lang="zh-CN" altLang="en-US" sz="2800" b="0" dirty="0">
                <a:latin typeface="黑体" panose="02010609060101010101" pitchFamily="49" charset="-122"/>
                <a:ea typeface="黑体" panose="02010609060101010101" pitchFamily="49" charset="-122"/>
              </a:rPr>
              <a:t>，</a:t>
            </a:r>
            <a:endParaRPr lang="en-US" altLang="zh-CN" sz="2800" b="0" dirty="0">
              <a:latin typeface="黑体" panose="02010609060101010101" pitchFamily="49" charset="-122"/>
              <a:ea typeface="黑体" panose="02010609060101010101" pitchFamily="49" charset="-122"/>
            </a:endParaRPr>
          </a:p>
          <a:p>
            <a:pPr eaLnBrk="1" hangingPunct="1">
              <a:lnSpc>
                <a:spcPct val="130000"/>
              </a:lnSpc>
              <a:spcBef>
                <a:spcPts val="600"/>
              </a:spcBef>
              <a:buNone/>
            </a:pPr>
            <a:r>
              <a:rPr lang="zh-CN" altLang="en-US" sz="2800" b="0" dirty="0">
                <a:latin typeface="黑体" panose="02010609060101010101" pitchFamily="49" charset="-122"/>
                <a:ea typeface="黑体" panose="02010609060101010101" pitchFamily="49" charset="-122"/>
              </a:rPr>
              <a:t>② 含有</a:t>
            </a:r>
            <a:r>
              <a:rPr lang="zh-CN" altLang="en-US" sz="2800" b="0" dirty="0">
                <a:solidFill>
                  <a:srgbClr val="0000CC"/>
                </a:solidFill>
                <a:latin typeface="黑体" panose="02010609060101010101" pitchFamily="49" charset="-122"/>
                <a:ea typeface="黑体" panose="02010609060101010101" pitchFamily="49" charset="-122"/>
              </a:rPr>
              <a:t>催化部位</a:t>
            </a:r>
            <a:r>
              <a:rPr lang="zh-CN" altLang="en-US" sz="2800" b="0" dirty="0">
                <a:latin typeface="黑体" panose="02010609060101010101" pitchFamily="49" charset="-122"/>
                <a:ea typeface="黑体" panose="02010609060101010101" pitchFamily="49" charset="-122"/>
              </a:rPr>
              <a:t>和</a:t>
            </a:r>
            <a:r>
              <a:rPr lang="zh-CN" altLang="en-US" sz="2800" b="0" dirty="0">
                <a:solidFill>
                  <a:srgbClr val="0000CC"/>
                </a:solidFill>
                <a:latin typeface="黑体" panose="02010609060101010101" pitchFamily="49" charset="-122"/>
                <a:ea typeface="黑体" panose="02010609060101010101" pitchFamily="49" charset="-122"/>
              </a:rPr>
              <a:t>调节部位</a:t>
            </a:r>
            <a:r>
              <a:rPr lang="zh-CN" altLang="en-US" sz="2800" b="0" dirty="0">
                <a:latin typeface="黑体" panose="02010609060101010101" pitchFamily="49" charset="-122"/>
                <a:ea typeface="黑体" panose="02010609060101010101" pitchFamily="49" charset="-122"/>
              </a:rPr>
              <a:t>（即双中心）</a:t>
            </a:r>
            <a:endParaRPr lang="en-US" altLang="zh-CN" sz="2800" b="0" dirty="0">
              <a:latin typeface="黑体" panose="02010609060101010101" pitchFamily="49" charset="-122"/>
              <a:ea typeface="黑体" panose="02010609060101010101" pitchFamily="49" charset="-122"/>
            </a:endParaRPr>
          </a:p>
          <a:p>
            <a:pPr marL="457200" lvl="1" indent="0" eaLnBrk="1" hangingPunct="1">
              <a:spcBef>
                <a:spcPts val="600"/>
              </a:spcBef>
              <a:buNone/>
            </a:pPr>
            <a:r>
              <a:rPr lang="zh-CN" altLang="en-US" sz="2400" b="0" dirty="0">
                <a:latin typeface="黑体" panose="02010609060101010101" pitchFamily="49" charset="-122"/>
                <a:ea typeface="黑体" panose="02010609060101010101" pitchFamily="49" charset="-122"/>
              </a:rPr>
              <a:t>这两个部位可以在同一个亚基上，也可以在不同亚基上</a:t>
            </a:r>
          </a:p>
          <a:p>
            <a:pPr eaLnBrk="1" hangingPunct="1">
              <a:lnSpc>
                <a:spcPct val="130000"/>
              </a:lnSpc>
              <a:spcBef>
                <a:spcPts val="600"/>
              </a:spcBef>
              <a:buNone/>
            </a:pPr>
            <a:r>
              <a:rPr lang="zh-CN" altLang="en-US" sz="2800" b="0" dirty="0">
                <a:latin typeface="黑体" panose="02010609060101010101" pitchFamily="49" charset="-122"/>
                <a:ea typeface="黑体" panose="02010609060101010101" pitchFamily="49" charset="-122"/>
              </a:rPr>
              <a:t>③效应物通常</a:t>
            </a:r>
            <a:r>
              <a:rPr lang="zh-CN" altLang="en-US" sz="2800" b="0" dirty="0">
                <a:solidFill>
                  <a:srgbClr val="0000CC"/>
                </a:solidFill>
                <a:latin typeface="黑体" panose="02010609060101010101" pitchFamily="49" charset="-122"/>
                <a:ea typeface="黑体" panose="02010609060101010101" pitchFamily="49" charset="-122"/>
              </a:rPr>
              <a:t>以非共价键结合</a:t>
            </a:r>
            <a:r>
              <a:rPr lang="zh-CN" altLang="en-US" sz="2800" b="0" dirty="0">
                <a:latin typeface="黑体" panose="02010609060101010101" pitchFamily="49" charset="-122"/>
                <a:ea typeface="黑体" panose="02010609060101010101" pitchFamily="49" charset="-122"/>
              </a:rPr>
              <a:t>到调节部位</a:t>
            </a:r>
            <a:endParaRPr lang="en-US" altLang="zh-CN" sz="2800" b="0" dirty="0">
              <a:latin typeface="黑体" panose="02010609060101010101" pitchFamily="49" charset="-122"/>
              <a:ea typeface="黑体" panose="02010609060101010101" pitchFamily="49" charset="-122"/>
            </a:endParaRPr>
          </a:p>
          <a:p>
            <a:pPr eaLnBrk="1" hangingPunct="1">
              <a:lnSpc>
                <a:spcPct val="130000"/>
              </a:lnSpc>
              <a:spcBef>
                <a:spcPts val="600"/>
              </a:spcBef>
              <a:buNone/>
            </a:pPr>
            <a:r>
              <a:rPr lang="zh-CN" altLang="en-US" sz="2800" b="0" dirty="0">
                <a:latin typeface="黑体" panose="02010609060101010101" pitchFamily="49" charset="-122"/>
                <a:ea typeface="黑体" panose="02010609060101010101" pitchFamily="49" charset="-122"/>
              </a:rPr>
              <a:t>④具有协同效应，</a:t>
            </a:r>
            <a:r>
              <a:rPr lang="en-US" altLang="zh-CN" sz="2800" b="0" dirty="0">
                <a:latin typeface="黑体" panose="02010609060101010101" pitchFamily="49" charset="-122"/>
                <a:ea typeface="黑体" panose="02010609060101010101" pitchFamily="49" charset="-122"/>
              </a:rPr>
              <a:t>[S]-V</a:t>
            </a:r>
            <a:r>
              <a:rPr lang="zh-CN" altLang="en-US" sz="2800" b="0" dirty="0">
                <a:latin typeface="黑体" panose="02010609060101010101" pitchFamily="49" charset="-122"/>
                <a:ea typeface="黑体" panose="02010609060101010101" pitchFamily="49" charset="-122"/>
              </a:rPr>
              <a:t>关系曲线大多为</a:t>
            </a:r>
            <a:r>
              <a:rPr lang="en-US" altLang="zh-CN" sz="2800" b="0" dirty="0">
                <a:solidFill>
                  <a:srgbClr val="FF0000"/>
                </a:solidFill>
                <a:latin typeface="黑体" panose="02010609060101010101" pitchFamily="49" charset="-122"/>
                <a:ea typeface="黑体" panose="02010609060101010101" pitchFamily="49" charset="-122"/>
              </a:rPr>
              <a:t>S</a:t>
            </a:r>
            <a:r>
              <a:rPr lang="zh-CN" altLang="en-US" sz="2800" b="0" dirty="0">
                <a:solidFill>
                  <a:srgbClr val="FF0000"/>
                </a:solidFill>
                <a:latin typeface="黑体" panose="02010609060101010101" pitchFamily="49" charset="-122"/>
                <a:ea typeface="黑体" panose="02010609060101010101" pitchFamily="49" charset="-122"/>
              </a:rPr>
              <a:t>形</a:t>
            </a:r>
            <a:endParaRPr lang="en-US" altLang="zh-CN" sz="2800" b="0" dirty="0">
              <a:solidFill>
                <a:srgbClr val="FF0000"/>
              </a:solidFill>
              <a:latin typeface="黑体" panose="02010609060101010101" pitchFamily="49" charset="-122"/>
              <a:ea typeface="黑体" panose="02010609060101010101" pitchFamily="49" charset="-122"/>
            </a:endParaRPr>
          </a:p>
          <a:p>
            <a:pPr eaLnBrk="1" hangingPunct="1">
              <a:lnSpc>
                <a:spcPct val="130000"/>
              </a:lnSpc>
              <a:spcBef>
                <a:spcPts val="600"/>
              </a:spcBef>
              <a:buNone/>
            </a:pPr>
            <a:endParaRPr lang="zh-CN" altLang="en-US" b="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60899">
                                            <p:txEl>
                                              <p:pRg st="0" end="0"/>
                                            </p:txEl>
                                          </p:spTgt>
                                        </p:tgtEl>
                                        <p:attrNameLst>
                                          <p:attrName>style.visibility</p:attrName>
                                        </p:attrNameLst>
                                      </p:cBhvr>
                                      <p:to>
                                        <p:strVal val="visible"/>
                                      </p:to>
                                    </p:set>
                                    <p:animEffect transition="in" filter="checkerboard(across)">
                                      <p:cBhvr>
                                        <p:cTn id="7" dur="500"/>
                                        <p:tgtEl>
                                          <p:spTgt spid="13608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360899">
                                            <p:txEl>
                                              <p:pRg st="1" end="1"/>
                                            </p:txEl>
                                          </p:spTgt>
                                        </p:tgtEl>
                                        <p:attrNameLst>
                                          <p:attrName>style.visibility</p:attrName>
                                        </p:attrNameLst>
                                      </p:cBhvr>
                                      <p:to>
                                        <p:strVal val="visible"/>
                                      </p:to>
                                    </p:set>
                                    <p:animEffect transition="in" filter="checkerboard(across)">
                                      <p:cBhvr>
                                        <p:cTn id="12" dur="500"/>
                                        <p:tgtEl>
                                          <p:spTgt spid="1360899">
                                            <p:txEl>
                                              <p:pRg st="1" end="1"/>
                                            </p:txEl>
                                          </p:spTgt>
                                        </p:tgtEl>
                                      </p:cBhvr>
                                    </p:animEffect>
                                  </p:childTnLst>
                                </p:cTn>
                              </p:par>
                            </p:childTnLst>
                          </p:cTn>
                        </p:par>
                        <p:par>
                          <p:cTn id="13" fill="hold">
                            <p:stCondLst>
                              <p:cond delay="500"/>
                            </p:stCondLst>
                            <p:childTnLst>
                              <p:par>
                                <p:cTn id="14" presetID="5" presetClass="entr" presetSubtype="10" fill="hold" nodeType="afterEffect">
                                  <p:stCondLst>
                                    <p:cond delay="0"/>
                                  </p:stCondLst>
                                  <p:childTnLst>
                                    <p:set>
                                      <p:cBhvr>
                                        <p:cTn id="15" dur="1" fill="hold">
                                          <p:stCondLst>
                                            <p:cond delay="0"/>
                                          </p:stCondLst>
                                        </p:cTn>
                                        <p:tgtEl>
                                          <p:spTgt spid="1360899">
                                            <p:txEl>
                                              <p:pRg st="2" end="2"/>
                                            </p:txEl>
                                          </p:spTgt>
                                        </p:tgtEl>
                                        <p:attrNameLst>
                                          <p:attrName>style.visibility</p:attrName>
                                        </p:attrNameLst>
                                      </p:cBhvr>
                                      <p:to>
                                        <p:strVal val="visible"/>
                                      </p:to>
                                    </p:set>
                                    <p:animEffect transition="in" filter="checkerboard(across)">
                                      <p:cBhvr>
                                        <p:cTn id="16" dur="500"/>
                                        <p:tgtEl>
                                          <p:spTgt spid="1360899">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1360899">
                                            <p:txEl>
                                              <p:pRg st="3" end="3"/>
                                            </p:txEl>
                                          </p:spTgt>
                                        </p:tgtEl>
                                        <p:attrNameLst>
                                          <p:attrName>style.visibility</p:attrName>
                                        </p:attrNameLst>
                                      </p:cBhvr>
                                      <p:to>
                                        <p:strVal val="visible"/>
                                      </p:to>
                                    </p:set>
                                    <p:animEffect transition="in" filter="checkerboard(across)">
                                      <p:cBhvr>
                                        <p:cTn id="21" dur="500"/>
                                        <p:tgtEl>
                                          <p:spTgt spid="1360899">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nodeType="clickEffect">
                                  <p:stCondLst>
                                    <p:cond delay="0"/>
                                  </p:stCondLst>
                                  <p:childTnLst>
                                    <p:set>
                                      <p:cBhvr>
                                        <p:cTn id="25" dur="1" fill="hold">
                                          <p:stCondLst>
                                            <p:cond delay="0"/>
                                          </p:stCondLst>
                                        </p:cTn>
                                        <p:tgtEl>
                                          <p:spTgt spid="1360899">
                                            <p:txEl>
                                              <p:pRg st="4" end="4"/>
                                            </p:txEl>
                                          </p:spTgt>
                                        </p:tgtEl>
                                        <p:attrNameLst>
                                          <p:attrName>style.visibility</p:attrName>
                                        </p:attrNameLst>
                                      </p:cBhvr>
                                      <p:to>
                                        <p:strVal val="visible"/>
                                      </p:to>
                                    </p:set>
                                    <p:animEffect transition="in" filter="checkerboard(across)">
                                      <p:cBhvr>
                                        <p:cTn id="26" dur="500"/>
                                        <p:tgtEl>
                                          <p:spTgt spid="13608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6114" name="图片 1">
            <a:extLst>
              <a:ext uri="{FF2B5EF4-FFF2-40B4-BE49-F238E27FC236}">
                <a16:creationId xmlns:a16="http://schemas.microsoft.com/office/drawing/2014/main" id="{B3A31ADA-58B3-4F09-9DA2-D3C10CAE56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1464" y="1485105"/>
            <a:ext cx="4419600"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6115" name="内容占位符 4">
            <a:extLst>
              <a:ext uri="{FF2B5EF4-FFF2-40B4-BE49-F238E27FC236}">
                <a16:creationId xmlns:a16="http://schemas.microsoft.com/office/drawing/2014/main" id="{1DE2D845-691F-40FC-B45A-E12AFAECC5E1}"/>
              </a:ext>
            </a:extLst>
          </p:cNvPr>
          <p:cNvSpPr>
            <a:spLocks noGrp="1" noChangeArrowheads="1"/>
          </p:cNvSpPr>
          <p:nvPr>
            <p:ph idx="1"/>
          </p:nvPr>
        </p:nvSpPr>
        <p:spPr>
          <a:xfrm>
            <a:off x="1681606" y="5372893"/>
            <a:ext cx="9217024" cy="1081087"/>
          </a:xfrm>
        </p:spPr>
        <p:txBody>
          <a:bodyPr/>
          <a:lstStyle/>
          <a:p>
            <a:r>
              <a:rPr lang="zh-CN" altLang="en-US" sz="2800" b="0" dirty="0">
                <a:latin typeface="黑体" panose="02010609060101010101" pitchFamily="49" charset="-122"/>
                <a:ea typeface="黑体" panose="02010609060101010101" pitchFamily="49" charset="-122"/>
              </a:rPr>
              <a:t>别构效应剂引起别构酶在相对</a:t>
            </a:r>
            <a:r>
              <a:rPr lang="zh-CN" altLang="en-US" sz="2800" dirty="0">
                <a:latin typeface="黑体" panose="02010609060101010101" pitchFamily="49" charset="-122"/>
                <a:ea typeface="黑体" panose="02010609060101010101" pitchFamily="49" charset="-122"/>
              </a:rPr>
              <a:t>无活性的</a:t>
            </a:r>
            <a:r>
              <a:rPr lang="en-US" altLang="zh-CN" sz="2800" dirty="0">
                <a:latin typeface="黑体" panose="02010609060101010101" pitchFamily="49" charset="-122"/>
                <a:ea typeface="黑体" panose="02010609060101010101" pitchFamily="49" charset="-122"/>
              </a:rPr>
              <a:t>T</a:t>
            </a:r>
            <a:r>
              <a:rPr lang="zh-CN" altLang="en-US" sz="2800" dirty="0">
                <a:latin typeface="黑体" panose="02010609060101010101" pitchFamily="49" charset="-122"/>
                <a:ea typeface="黑体" panose="02010609060101010101" pitchFamily="49" charset="-122"/>
              </a:rPr>
              <a:t>态</a:t>
            </a:r>
            <a:r>
              <a:rPr lang="zh-CN" altLang="en-US"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T state)</a:t>
            </a:r>
            <a:r>
              <a:rPr lang="zh-CN" altLang="en-US" sz="2800" b="0" dirty="0">
                <a:latin typeface="黑体" panose="02010609060101010101" pitchFamily="49" charset="-122"/>
                <a:ea typeface="黑体" panose="02010609060101010101" pitchFamily="49" charset="-122"/>
              </a:rPr>
              <a:t>和相对</a:t>
            </a:r>
            <a:r>
              <a:rPr lang="zh-CN" altLang="en-US" sz="2800" dirty="0">
                <a:latin typeface="黑体" panose="02010609060101010101" pitchFamily="49" charset="-122"/>
                <a:ea typeface="黑体" panose="02010609060101010101" pitchFamily="49" charset="-122"/>
              </a:rPr>
              <a:t>有活性的</a:t>
            </a:r>
            <a:r>
              <a:rPr lang="en-US" altLang="zh-CN" sz="2800" dirty="0">
                <a:latin typeface="黑体" panose="02010609060101010101" pitchFamily="49" charset="-122"/>
                <a:ea typeface="黑体" panose="02010609060101010101" pitchFamily="49" charset="-122"/>
              </a:rPr>
              <a:t>R</a:t>
            </a:r>
            <a:r>
              <a:rPr lang="zh-CN" altLang="en-US" sz="2800" dirty="0">
                <a:latin typeface="黑体" panose="02010609060101010101" pitchFamily="49" charset="-122"/>
                <a:ea typeface="黑体" panose="02010609060101010101" pitchFamily="49" charset="-122"/>
              </a:rPr>
              <a:t>态</a:t>
            </a:r>
            <a:r>
              <a:rPr lang="zh-CN" altLang="en-US"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R state)</a:t>
            </a:r>
            <a:r>
              <a:rPr lang="zh-CN" altLang="en-US" sz="2800" b="0" dirty="0">
                <a:latin typeface="黑体" panose="02010609060101010101" pitchFamily="49" charset="-122"/>
                <a:ea typeface="黑体" panose="02010609060101010101" pitchFamily="49" charset="-122"/>
              </a:rPr>
              <a:t>之间转变。</a:t>
            </a:r>
          </a:p>
        </p:txBody>
      </p:sp>
      <p:sp>
        <p:nvSpPr>
          <p:cNvPr id="346116" name="标题 5">
            <a:extLst>
              <a:ext uri="{FF2B5EF4-FFF2-40B4-BE49-F238E27FC236}">
                <a16:creationId xmlns:a16="http://schemas.microsoft.com/office/drawing/2014/main" id="{2775B5E3-5711-4E9E-88E8-F5D4B05991A2}"/>
              </a:ext>
            </a:extLst>
          </p:cNvPr>
          <p:cNvSpPr>
            <a:spLocks noGrp="1" noChangeArrowheads="1"/>
          </p:cNvSpPr>
          <p:nvPr>
            <p:ph type="title"/>
          </p:nvPr>
        </p:nvSpPr>
        <p:spPr>
          <a:xfrm>
            <a:off x="1530351" y="346075"/>
            <a:ext cx="8856663" cy="755650"/>
          </a:xfrm>
        </p:spPr>
        <p:txBody>
          <a:bodyPr/>
          <a:lstStyle/>
          <a:p>
            <a:r>
              <a:rPr lang="zh-CN" altLang="en-US" sz="3200">
                <a:solidFill>
                  <a:srgbClr val="C00000"/>
                </a:solidFill>
              </a:rPr>
              <a:t>别构酶催化反应的动力学特点：</a:t>
            </a:r>
            <a:r>
              <a:rPr lang="en-US" altLang="zh-CN" sz="3200">
                <a:solidFill>
                  <a:srgbClr val="C00000"/>
                </a:solidFill>
              </a:rPr>
              <a:t>S</a:t>
            </a:r>
            <a:r>
              <a:rPr lang="zh-CN" altLang="en-US" sz="3200">
                <a:solidFill>
                  <a:srgbClr val="C00000"/>
                </a:solidFill>
              </a:rPr>
              <a:t>形动力学曲线</a:t>
            </a:r>
          </a:p>
        </p:txBody>
      </p:sp>
      <p:sp>
        <p:nvSpPr>
          <p:cNvPr id="7" name="内容占位符 2">
            <a:extLst>
              <a:ext uri="{FF2B5EF4-FFF2-40B4-BE49-F238E27FC236}">
                <a16:creationId xmlns:a16="http://schemas.microsoft.com/office/drawing/2014/main" id="{3E2E81BF-9105-49C0-BD30-C210C05AED0D}"/>
              </a:ext>
            </a:extLst>
          </p:cNvPr>
          <p:cNvSpPr txBox="1">
            <a:spLocks/>
          </p:cNvSpPr>
          <p:nvPr/>
        </p:nvSpPr>
        <p:spPr bwMode="auto">
          <a:xfrm>
            <a:off x="5303912" y="1816497"/>
            <a:ext cx="5976664" cy="3152775"/>
          </a:xfrm>
          <a:prstGeom prst="rect">
            <a:avLst/>
          </a:prstGeom>
          <a:noFill/>
          <a:ln>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lvl="1">
              <a:lnSpc>
                <a:spcPct val="120000"/>
              </a:lnSpc>
              <a:spcBef>
                <a:spcPts val="0"/>
              </a:spcBef>
              <a:defRPr/>
            </a:pPr>
            <a:r>
              <a:rPr lang="zh-CN" altLang="en-US" b="0" kern="0" dirty="0">
                <a:latin typeface="黑体" panose="02010609060101010101" pitchFamily="49" charset="-122"/>
                <a:ea typeface="黑体" panose="02010609060101010101" pitchFamily="49" charset="-122"/>
              </a:rPr>
              <a:t>在曲线的陡峭部分，</a:t>
            </a:r>
            <a:r>
              <a:rPr lang="en-US" altLang="zh-CN" b="0" kern="0" dirty="0">
                <a:latin typeface="黑体" panose="02010609060101010101" pitchFamily="49" charset="-122"/>
                <a:ea typeface="黑体" panose="02010609060101010101" pitchFamily="49" charset="-122"/>
              </a:rPr>
              <a:t> </a:t>
            </a:r>
            <a:r>
              <a:rPr lang="en-US" altLang="zh-CN" b="0" kern="0" dirty="0">
                <a:solidFill>
                  <a:srgbClr val="0000CC"/>
                </a:solidFill>
                <a:latin typeface="黑体" panose="02010609060101010101" pitchFamily="49" charset="-122"/>
                <a:ea typeface="黑体" panose="02010609060101010101" pitchFamily="49" charset="-122"/>
              </a:rPr>
              <a:t>[S]</a:t>
            </a:r>
            <a:r>
              <a:rPr lang="zh-CN" altLang="en-US" b="0" kern="0" dirty="0">
                <a:solidFill>
                  <a:srgbClr val="0000CC"/>
                </a:solidFill>
                <a:latin typeface="黑体" panose="02010609060101010101" pitchFamily="49" charset="-122"/>
                <a:ea typeface="黑体" panose="02010609060101010101" pitchFamily="49" charset="-122"/>
              </a:rPr>
              <a:t>的相对较小变化能引起</a:t>
            </a:r>
            <a:r>
              <a:rPr lang="en-US" altLang="zh-CN" b="0" kern="0" dirty="0">
                <a:solidFill>
                  <a:srgbClr val="0000CC"/>
                </a:solidFill>
                <a:latin typeface="黑体" panose="02010609060101010101" pitchFamily="49" charset="-122"/>
                <a:ea typeface="黑体" panose="02010609060101010101" pitchFamily="49" charset="-122"/>
              </a:rPr>
              <a:t>V</a:t>
            </a:r>
            <a:r>
              <a:rPr lang="zh-CN" altLang="en-US" b="0" kern="0" dirty="0">
                <a:solidFill>
                  <a:srgbClr val="0000CC"/>
                </a:solidFill>
                <a:latin typeface="黑体" panose="02010609060101010101" pitchFamily="49" charset="-122"/>
                <a:ea typeface="黑体" panose="02010609060101010101" pitchFamily="49" charset="-122"/>
              </a:rPr>
              <a:t>的较大变化</a:t>
            </a:r>
            <a:r>
              <a:rPr lang="zh-CN" altLang="en-US" b="0" kern="0" dirty="0">
                <a:latin typeface="黑体" panose="02010609060101010101" pitchFamily="49" charset="-122"/>
                <a:ea typeface="黑体" panose="02010609060101010101" pitchFamily="49" charset="-122"/>
              </a:rPr>
              <a:t>，这样使细胞对代谢速率的调节更加灵敏，</a:t>
            </a:r>
            <a:r>
              <a:rPr lang="zh-CN" altLang="en-US" b="0" kern="0" dirty="0">
                <a:solidFill>
                  <a:srgbClr val="0000CC"/>
                </a:solidFill>
                <a:latin typeface="黑体" panose="02010609060101010101" pitchFamily="49" charset="-122"/>
                <a:ea typeface="黑体" panose="02010609060101010101" pitchFamily="49" charset="-122"/>
              </a:rPr>
              <a:t>便于使代谢物浓度在一个较恒定的水平</a:t>
            </a:r>
            <a:r>
              <a:rPr lang="zh-CN" altLang="en-US" b="0" kern="0" dirty="0">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62" name="图片 1">
            <a:extLst>
              <a:ext uri="{FF2B5EF4-FFF2-40B4-BE49-F238E27FC236}">
                <a16:creationId xmlns:a16="http://schemas.microsoft.com/office/drawing/2014/main" id="{D150754C-DB02-461B-B5E9-FA9DA185CB4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4325" y="1196975"/>
            <a:ext cx="4800600" cy="4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63" name="标题 2">
            <a:extLst>
              <a:ext uri="{FF2B5EF4-FFF2-40B4-BE49-F238E27FC236}">
                <a16:creationId xmlns:a16="http://schemas.microsoft.com/office/drawing/2014/main" id="{F325956A-72A7-4E77-8AE5-E1B6FF96E96E}"/>
              </a:ext>
            </a:extLst>
          </p:cNvPr>
          <p:cNvSpPr>
            <a:spLocks noGrp="1" noChangeArrowheads="1"/>
          </p:cNvSpPr>
          <p:nvPr>
            <p:ph type="title"/>
          </p:nvPr>
        </p:nvSpPr>
        <p:spPr>
          <a:xfrm>
            <a:off x="2482850" y="369889"/>
            <a:ext cx="7505700" cy="720725"/>
          </a:xfrm>
        </p:spPr>
        <p:txBody>
          <a:bodyPr/>
          <a:lstStyle/>
          <a:p>
            <a:r>
              <a:rPr lang="zh-CN" altLang="en-US" sz="3600">
                <a:solidFill>
                  <a:srgbClr val="C00000"/>
                </a:solidFill>
              </a:rPr>
              <a:t>别构效应剂使得</a:t>
            </a:r>
            <a:r>
              <a:rPr lang="en-US" altLang="zh-CN" sz="3600">
                <a:solidFill>
                  <a:srgbClr val="C00000"/>
                </a:solidFill>
              </a:rPr>
              <a:t>S</a:t>
            </a:r>
            <a:r>
              <a:rPr lang="zh-CN" altLang="en-US" sz="3600">
                <a:solidFill>
                  <a:srgbClr val="C00000"/>
                </a:solidFill>
              </a:rPr>
              <a:t>形曲线左移或右移</a:t>
            </a:r>
          </a:p>
        </p:txBody>
      </p:sp>
      <p:sp>
        <p:nvSpPr>
          <p:cNvPr id="348164" name="内容占位符 3">
            <a:extLst>
              <a:ext uri="{FF2B5EF4-FFF2-40B4-BE49-F238E27FC236}">
                <a16:creationId xmlns:a16="http://schemas.microsoft.com/office/drawing/2014/main" id="{F1CA1035-D69F-4290-A41A-6FF15E33489C}"/>
              </a:ext>
            </a:extLst>
          </p:cNvPr>
          <p:cNvSpPr>
            <a:spLocks noGrp="1" noChangeArrowheads="1"/>
          </p:cNvSpPr>
          <p:nvPr>
            <p:ph idx="1"/>
          </p:nvPr>
        </p:nvSpPr>
        <p:spPr>
          <a:xfrm>
            <a:off x="2509839" y="5291138"/>
            <a:ext cx="5761037" cy="1377950"/>
          </a:xfrm>
        </p:spPr>
        <p:txBody>
          <a:bodyPr/>
          <a:lstStyle/>
          <a:p>
            <a:pPr marL="0" indent="0">
              <a:buNone/>
            </a:pPr>
            <a:r>
              <a:rPr lang="zh-CN" altLang="en-US" sz="2400">
                <a:solidFill>
                  <a:srgbClr val="0000CC"/>
                </a:solidFill>
              </a:rPr>
              <a:t>特点：  </a:t>
            </a:r>
            <a:r>
              <a:rPr lang="en-US" altLang="zh-CN" sz="2400">
                <a:solidFill>
                  <a:srgbClr val="0000CC"/>
                </a:solidFill>
              </a:rPr>
              <a:t>K</a:t>
            </a:r>
            <a:r>
              <a:rPr lang="en-US" altLang="zh-CN" sz="2400" baseline="-25000">
                <a:solidFill>
                  <a:srgbClr val="0000CC"/>
                </a:solidFill>
              </a:rPr>
              <a:t>0.5</a:t>
            </a:r>
            <a:r>
              <a:rPr lang="zh-CN" altLang="en-US" sz="2400">
                <a:solidFill>
                  <a:srgbClr val="0000CC"/>
                </a:solidFill>
              </a:rPr>
              <a:t>变化，</a:t>
            </a:r>
            <a:r>
              <a:rPr lang="en-US" altLang="zh-CN" sz="2400">
                <a:solidFill>
                  <a:srgbClr val="0000CC"/>
                </a:solidFill>
              </a:rPr>
              <a:t>Vmax</a:t>
            </a:r>
            <a:r>
              <a:rPr lang="zh-CN" altLang="en-US" sz="2400">
                <a:solidFill>
                  <a:srgbClr val="0000CC"/>
                </a:solidFill>
              </a:rPr>
              <a:t>不变</a:t>
            </a:r>
            <a:endParaRPr lang="en-US" altLang="zh-CN" sz="2400">
              <a:solidFill>
                <a:srgbClr val="0000CC"/>
              </a:solidFill>
            </a:endParaRPr>
          </a:p>
          <a:p>
            <a:pPr marL="0" indent="0">
              <a:buNone/>
            </a:pPr>
            <a:r>
              <a:rPr lang="en-US" altLang="zh-CN" sz="2400">
                <a:solidFill>
                  <a:srgbClr val="0000CC"/>
                </a:solidFill>
              </a:rPr>
              <a:t>+</a:t>
            </a:r>
            <a:r>
              <a:rPr lang="zh-CN" altLang="en-US" sz="2400">
                <a:solidFill>
                  <a:srgbClr val="0000CC"/>
                </a:solidFill>
              </a:rPr>
              <a:t>：</a:t>
            </a:r>
            <a:r>
              <a:rPr lang="zh-CN" altLang="en-US" sz="2400"/>
              <a:t>别构激活剂随箭头方向浓度逐渐增大</a:t>
            </a:r>
            <a:endParaRPr lang="en-US" altLang="zh-CN" sz="2400"/>
          </a:p>
          <a:p>
            <a:pPr marL="0" indent="0">
              <a:buNone/>
            </a:pPr>
            <a:r>
              <a:rPr lang="en-US" altLang="zh-CN" sz="2400">
                <a:solidFill>
                  <a:srgbClr val="FF0066"/>
                </a:solidFill>
              </a:rPr>
              <a:t>-</a:t>
            </a:r>
            <a:r>
              <a:rPr lang="zh-CN" altLang="en-US" sz="2400">
                <a:solidFill>
                  <a:srgbClr val="FF0066"/>
                </a:solidFill>
              </a:rPr>
              <a:t>：</a:t>
            </a:r>
            <a:r>
              <a:rPr lang="zh-CN" altLang="en-US" sz="2400"/>
              <a:t>别构抑制剂随箭头方向浓度逐渐增大</a:t>
            </a:r>
            <a:endParaRPr lang="en-US" altLang="zh-CN" sz="2400"/>
          </a:p>
        </p:txBody>
      </p:sp>
      <p:sp>
        <p:nvSpPr>
          <p:cNvPr id="5" name="矩形 4">
            <a:extLst>
              <a:ext uri="{FF2B5EF4-FFF2-40B4-BE49-F238E27FC236}">
                <a16:creationId xmlns:a16="http://schemas.microsoft.com/office/drawing/2014/main" id="{9DD512F7-030F-413C-8E11-4E4C41205AD3}"/>
              </a:ext>
            </a:extLst>
          </p:cNvPr>
          <p:cNvSpPr>
            <a:spLocks noChangeArrowheads="1"/>
          </p:cNvSpPr>
          <p:nvPr/>
        </p:nvSpPr>
        <p:spPr bwMode="auto">
          <a:xfrm>
            <a:off x="6384924" y="1527175"/>
            <a:ext cx="4895651" cy="292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30000"/>
              </a:lnSpc>
              <a:spcBef>
                <a:spcPct val="0"/>
              </a:spcBef>
              <a:buFont typeface="Wingdings" panose="05000000000000000000" pitchFamily="2" charset="2"/>
              <a:buChar char="u"/>
            </a:pPr>
            <a:r>
              <a:rPr lang="zh-CN" altLang="en-US" sz="2400" b="1" dirty="0"/>
              <a:t>不同别构酶在生物体内可能担当不同生理条件下的调节功能。</a:t>
            </a:r>
            <a:endParaRPr lang="en-US" altLang="zh-CN" sz="2400" b="1" dirty="0"/>
          </a:p>
          <a:p>
            <a:pPr>
              <a:lnSpc>
                <a:spcPct val="130000"/>
              </a:lnSpc>
              <a:spcBef>
                <a:spcPct val="0"/>
              </a:spcBef>
              <a:buFont typeface="Wingdings" panose="05000000000000000000" pitchFamily="2" charset="2"/>
              <a:buChar char="u"/>
            </a:pPr>
            <a:endParaRPr lang="en-US" altLang="zh-CN" sz="2400" b="1" dirty="0"/>
          </a:p>
          <a:p>
            <a:pPr>
              <a:lnSpc>
                <a:spcPct val="130000"/>
              </a:lnSpc>
              <a:spcBef>
                <a:spcPct val="0"/>
              </a:spcBef>
              <a:buFont typeface="Wingdings" panose="05000000000000000000" pitchFamily="2" charset="2"/>
              <a:buChar char="u"/>
            </a:pPr>
            <a:r>
              <a:rPr lang="zh-CN" altLang="en-US" sz="2400" b="1" dirty="0">
                <a:solidFill>
                  <a:srgbClr val="0000CC"/>
                </a:solidFill>
              </a:rPr>
              <a:t>本系统（即</a:t>
            </a:r>
            <a:r>
              <a:rPr lang="en-US" altLang="zh-CN" sz="2400" b="1" dirty="0">
                <a:solidFill>
                  <a:srgbClr val="0000CC"/>
                </a:solidFill>
              </a:rPr>
              <a:t>K</a:t>
            </a:r>
            <a:r>
              <a:rPr lang="zh-CN" altLang="en-US" sz="2400" b="1" dirty="0">
                <a:solidFill>
                  <a:srgbClr val="0000CC"/>
                </a:solidFill>
              </a:rPr>
              <a:t>系统）适于体内的</a:t>
            </a:r>
            <a:r>
              <a:rPr lang="en-US" altLang="zh-CN" sz="2400" b="1" dirty="0">
                <a:solidFill>
                  <a:srgbClr val="0000CC"/>
                </a:solidFill>
              </a:rPr>
              <a:t>[S]</a:t>
            </a:r>
            <a:r>
              <a:rPr lang="zh-CN" altLang="en-US" sz="2400" b="1" dirty="0">
                <a:solidFill>
                  <a:srgbClr val="0000CC"/>
                </a:solidFill>
              </a:rPr>
              <a:t>经常处在</a:t>
            </a:r>
            <a:r>
              <a:rPr lang="en-US" altLang="zh-CN" sz="2400" b="1" dirty="0">
                <a:solidFill>
                  <a:srgbClr val="0000CC"/>
                </a:solidFill>
              </a:rPr>
              <a:t>K</a:t>
            </a:r>
            <a:r>
              <a:rPr lang="en-US" altLang="zh-CN" sz="2400" b="1" baseline="-25000" dirty="0">
                <a:solidFill>
                  <a:srgbClr val="0000CC"/>
                </a:solidFill>
              </a:rPr>
              <a:t>0.5</a:t>
            </a:r>
            <a:r>
              <a:rPr lang="zh-CN" altLang="en-US" sz="2400" b="1" dirty="0">
                <a:solidFill>
                  <a:srgbClr val="0000CC"/>
                </a:solidFill>
              </a:rPr>
              <a:t>附近，且是限速浓度；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4066" name="内容占位符 3">
            <a:extLst>
              <a:ext uri="{FF2B5EF4-FFF2-40B4-BE49-F238E27FC236}">
                <a16:creationId xmlns:a16="http://schemas.microsoft.com/office/drawing/2014/main" id="{C7AE8B48-5480-4874-9E68-447F917315C7}"/>
              </a:ext>
            </a:extLst>
          </p:cNvPr>
          <p:cNvSpPr>
            <a:spLocks noGrp="1" noChangeArrowheads="1"/>
          </p:cNvSpPr>
          <p:nvPr>
            <p:ph idx="1"/>
          </p:nvPr>
        </p:nvSpPr>
        <p:spPr>
          <a:xfrm>
            <a:off x="789552" y="592844"/>
            <a:ext cx="11343146" cy="753294"/>
          </a:xfrm>
        </p:spPr>
        <p:txBody>
          <a:bodyPr/>
          <a:lstStyle/>
          <a:p>
            <a:r>
              <a:rPr lang="zh-CN" altLang="en-US" sz="2800" b="0" dirty="0">
                <a:solidFill>
                  <a:srgbClr val="C00000"/>
                </a:solidFill>
                <a:latin typeface="黑体" panose="02010609060101010101" pitchFamily="49" charset="-122"/>
                <a:ea typeface="黑体" panose="02010609060101010101" pitchFamily="49" charset="-122"/>
              </a:rPr>
              <a:t>别构抑制（</a:t>
            </a:r>
            <a:r>
              <a:rPr lang="en-US" altLang="zh-CN" sz="2800" b="0" dirty="0">
                <a:solidFill>
                  <a:srgbClr val="C00000"/>
                </a:solidFill>
                <a:latin typeface="黑体" panose="02010609060101010101" pitchFamily="49" charset="-122"/>
                <a:ea typeface="黑体" panose="02010609060101010101" pitchFamily="49" charset="-122"/>
              </a:rPr>
              <a:t>allosteric inhibition)</a:t>
            </a:r>
            <a:r>
              <a:rPr lang="zh-CN" altLang="en-US" sz="2800" b="0" dirty="0">
                <a:latin typeface="黑体" panose="02010609060101010101" pitchFamily="49" charset="-122"/>
                <a:ea typeface="黑体" panose="02010609060101010101" pitchFamily="49" charset="-122"/>
              </a:rPr>
              <a:t>类似竞争性抑制或非竞争性抑制</a:t>
            </a:r>
          </a:p>
        </p:txBody>
      </p:sp>
      <p:pic>
        <p:nvPicPr>
          <p:cNvPr id="344067" name="图片 4">
            <a:extLst>
              <a:ext uri="{FF2B5EF4-FFF2-40B4-BE49-F238E27FC236}">
                <a16:creationId xmlns:a16="http://schemas.microsoft.com/office/drawing/2014/main" id="{6E5025FC-9D3D-4163-8F50-6FB6FA59AD7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51088" y="1456060"/>
            <a:ext cx="2087562" cy="4557712"/>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pic>
      <p:pic>
        <p:nvPicPr>
          <p:cNvPr id="344068" name="图片 5">
            <a:extLst>
              <a:ext uri="{FF2B5EF4-FFF2-40B4-BE49-F238E27FC236}">
                <a16:creationId xmlns:a16="http://schemas.microsoft.com/office/drawing/2014/main" id="{984D26C5-2908-4E0D-A4F1-2E4EE5DCCCC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02895" y="2051800"/>
            <a:ext cx="5270238" cy="3736900"/>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pic>
      <p:sp>
        <p:nvSpPr>
          <p:cNvPr id="344070" name="文本框 7">
            <a:extLst>
              <a:ext uri="{FF2B5EF4-FFF2-40B4-BE49-F238E27FC236}">
                <a16:creationId xmlns:a16="http://schemas.microsoft.com/office/drawing/2014/main" id="{A65E2D81-0AF3-439A-8484-23DA5DC09F6F}"/>
              </a:ext>
            </a:extLst>
          </p:cNvPr>
          <p:cNvSpPr txBox="1">
            <a:spLocks noChangeArrowheads="1"/>
          </p:cNvSpPr>
          <p:nvPr/>
        </p:nvSpPr>
        <p:spPr bwMode="auto">
          <a:xfrm>
            <a:off x="1703512" y="1576121"/>
            <a:ext cx="2349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a:t>1</a:t>
            </a:r>
            <a:endParaRPr lang="zh-CN" altLang="en-US" sz="2800"/>
          </a:p>
        </p:txBody>
      </p:sp>
      <p:sp>
        <p:nvSpPr>
          <p:cNvPr id="344071" name="文本框 8">
            <a:extLst>
              <a:ext uri="{FF2B5EF4-FFF2-40B4-BE49-F238E27FC236}">
                <a16:creationId xmlns:a16="http://schemas.microsoft.com/office/drawing/2014/main" id="{6CBC09F4-2C34-4D07-AA03-731E0AC49941}"/>
              </a:ext>
            </a:extLst>
          </p:cNvPr>
          <p:cNvSpPr txBox="1">
            <a:spLocks noChangeArrowheads="1"/>
          </p:cNvSpPr>
          <p:nvPr/>
        </p:nvSpPr>
        <p:spPr bwMode="auto">
          <a:xfrm>
            <a:off x="10742231" y="1437359"/>
            <a:ext cx="2639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800" dirty="0"/>
              <a:t>2</a:t>
            </a:r>
            <a:endParaRPr lang="zh-CN" altLang="en-US" sz="2800" dirty="0"/>
          </a:p>
        </p:txBody>
      </p:sp>
      <p:sp>
        <p:nvSpPr>
          <p:cNvPr id="344073" name="矩形 1">
            <a:extLst>
              <a:ext uri="{FF2B5EF4-FFF2-40B4-BE49-F238E27FC236}">
                <a16:creationId xmlns:a16="http://schemas.microsoft.com/office/drawing/2014/main" id="{33265CD6-168A-4740-A43E-C9790042E5F6}"/>
              </a:ext>
            </a:extLst>
          </p:cNvPr>
          <p:cNvSpPr>
            <a:spLocks noChangeArrowheads="1"/>
          </p:cNvSpPr>
          <p:nvPr/>
        </p:nvSpPr>
        <p:spPr bwMode="auto">
          <a:xfrm>
            <a:off x="2532856" y="6265156"/>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dirty="0">
                <a:solidFill>
                  <a:srgbClr val="0000CC"/>
                </a:solidFill>
              </a:rPr>
              <a:t>竞争性抑制</a:t>
            </a:r>
          </a:p>
        </p:txBody>
      </p:sp>
      <p:sp>
        <p:nvSpPr>
          <p:cNvPr id="344074" name="矩形 2">
            <a:extLst>
              <a:ext uri="{FF2B5EF4-FFF2-40B4-BE49-F238E27FC236}">
                <a16:creationId xmlns:a16="http://schemas.microsoft.com/office/drawing/2014/main" id="{67D5E020-6309-4B6B-B937-FB2DB1254DFB}"/>
              </a:ext>
            </a:extLst>
          </p:cNvPr>
          <p:cNvSpPr>
            <a:spLocks noChangeArrowheads="1"/>
          </p:cNvSpPr>
          <p:nvPr/>
        </p:nvSpPr>
        <p:spPr bwMode="auto">
          <a:xfrm>
            <a:off x="7426896" y="6119897"/>
            <a:ext cx="22322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dirty="0">
                <a:solidFill>
                  <a:srgbClr val="0000CC"/>
                </a:solidFill>
              </a:rPr>
              <a:t>非竞争性抑制</a:t>
            </a:r>
          </a:p>
        </p:txBody>
      </p:sp>
    </p:spTree>
    <p:extLst>
      <p:ext uri="{BB962C8B-B14F-4D97-AF65-F5344CB8AC3E}">
        <p14:creationId xmlns:p14="http://schemas.microsoft.com/office/powerpoint/2010/main" val="393138410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40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40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4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71" grpId="0"/>
      <p:bldP spid="344074" grpId="0"/>
    </p:bldLst>
  </p:timing>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0210" name="Rectangle 2">
            <a:extLst>
              <a:ext uri="{FF2B5EF4-FFF2-40B4-BE49-F238E27FC236}">
                <a16:creationId xmlns:a16="http://schemas.microsoft.com/office/drawing/2014/main" id="{3C8CE48E-C2B2-4C7A-8A83-6F0D28523181}"/>
              </a:ext>
            </a:extLst>
          </p:cNvPr>
          <p:cNvSpPr>
            <a:spLocks noGrp="1" noChangeArrowheads="1"/>
          </p:cNvSpPr>
          <p:nvPr>
            <p:ph type="title"/>
          </p:nvPr>
        </p:nvSpPr>
        <p:spPr>
          <a:xfrm>
            <a:off x="2815431" y="384601"/>
            <a:ext cx="6561137" cy="735013"/>
          </a:xfrm>
        </p:spPr>
        <p:txBody>
          <a:bodyPr/>
          <a:lstStyle/>
          <a:p>
            <a:pPr algn="ctr" eaLnBrk="1" hangingPunct="1">
              <a:spcBef>
                <a:spcPct val="50000"/>
              </a:spcBef>
              <a:buFontTx/>
              <a:buNone/>
            </a:pPr>
            <a:r>
              <a:rPr lang="zh-CN" altLang="en-US" sz="3600" b="1" dirty="0">
                <a:solidFill>
                  <a:srgbClr val="0000CC"/>
                </a:solidFill>
                <a:latin typeface="Times New Roman" panose="02020603050405020304" pitchFamily="18" charset="0"/>
                <a:ea typeface="黑体" panose="02010609060101010101" pitchFamily="49" charset="-122"/>
              </a:rPr>
              <a:t>蛋白激酶</a:t>
            </a:r>
            <a:r>
              <a:rPr lang="en-US" altLang="zh-CN" sz="3600" b="1" dirty="0">
                <a:solidFill>
                  <a:srgbClr val="0000CC"/>
                </a:solidFill>
                <a:latin typeface="Times New Roman" panose="02020603050405020304" pitchFamily="18" charset="0"/>
                <a:ea typeface="黑体" panose="02010609060101010101" pitchFamily="49" charset="-122"/>
              </a:rPr>
              <a:t>A</a:t>
            </a:r>
            <a:r>
              <a:rPr lang="zh-CN" altLang="en-US" sz="3600" b="1" dirty="0">
                <a:solidFill>
                  <a:srgbClr val="0000CC"/>
                </a:solidFill>
                <a:latin typeface="Times New Roman" panose="02020603050405020304" pitchFamily="18" charset="0"/>
                <a:ea typeface="黑体" panose="02010609060101010101" pitchFamily="49" charset="-122"/>
              </a:rPr>
              <a:t>的激活</a:t>
            </a:r>
          </a:p>
        </p:txBody>
      </p:sp>
      <p:sp>
        <p:nvSpPr>
          <p:cNvPr id="350211" name="Rectangle 3">
            <a:extLst>
              <a:ext uri="{FF2B5EF4-FFF2-40B4-BE49-F238E27FC236}">
                <a16:creationId xmlns:a16="http://schemas.microsoft.com/office/drawing/2014/main" id="{0D66FF4E-ECF4-45ED-8E34-1968D7B5EF3B}"/>
              </a:ext>
            </a:extLst>
          </p:cNvPr>
          <p:cNvSpPr>
            <a:spLocks noGrp="1" noChangeArrowheads="1"/>
          </p:cNvSpPr>
          <p:nvPr>
            <p:ph type="body" sz="half" idx="1"/>
          </p:nvPr>
        </p:nvSpPr>
        <p:spPr>
          <a:xfrm>
            <a:off x="2209801" y="1541463"/>
            <a:ext cx="3776663" cy="3657600"/>
          </a:xfrm>
        </p:spPr>
        <p:txBody>
          <a:bodyPr/>
          <a:lstStyle/>
          <a:p>
            <a:pPr eaLnBrk="1" hangingPunct="1">
              <a:buFontTx/>
              <a:buNone/>
            </a:pPr>
            <a:r>
              <a:rPr lang="zh-CN" altLang="en-US" sz="2800">
                <a:latin typeface="Times New Roman" panose="02020603050405020304" pitchFamily="18" charset="0"/>
                <a:ea typeface="黑体" panose="02010609060101010101" pitchFamily="49" charset="-122"/>
              </a:rPr>
              <a:t>　</a:t>
            </a:r>
          </a:p>
        </p:txBody>
      </p:sp>
      <p:graphicFrame>
        <p:nvGraphicFramePr>
          <p:cNvPr id="350212" name="Object 4">
            <a:extLst>
              <a:ext uri="{FF2B5EF4-FFF2-40B4-BE49-F238E27FC236}">
                <a16:creationId xmlns:a16="http://schemas.microsoft.com/office/drawing/2014/main" id="{7BE2D745-FA70-44FE-8873-C3B6E2CCC76A}"/>
              </a:ext>
            </a:extLst>
          </p:cNvPr>
          <p:cNvGraphicFramePr>
            <a:graphicFrameLocks noGrp="1" noChangeAspect="1"/>
          </p:cNvGraphicFramePr>
          <p:nvPr>
            <p:ph sz="half" idx="2"/>
            <p:extLst>
              <p:ext uri="{D42A27DB-BD31-4B8C-83A1-F6EECF244321}">
                <p14:modId xmlns:p14="http://schemas.microsoft.com/office/powerpoint/2010/main" val="3853405820"/>
              </p:ext>
            </p:extLst>
          </p:nvPr>
        </p:nvGraphicFramePr>
        <p:xfrm>
          <a:off x="2788815" y="1412776"/>
          <a:ext cx="6833445" cy="2850183"/>
        </p:xfrm>
        <a:graphic>
          <a:graphicData uri="http://schemas.openxmlformats.org/presentationml/2006/ole">
            <mc:AlternateContent xmlns:mc="http://schemas.openxmlformats.org/markup-compatibility/2006">
              <mc:Choice xmlns:v="urn:schemas-microsoft-com:vml" Requires="v">
                <p:oleObj name="Visio" r:id="rId3" imgW="7160768" imgH="3454683" progId="">
                  <p:embed/>
                </p:oleObj>
              </mc:Choice>
              <mc:Fallback>
                <p:oleObj name="Visio" r:id="rId3" imgW="7160768" imgH="3454683" progId="">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8815" y="1412776"/>
                        <a:ext cx="6833445" cy="2850183"/>
                      </a:xfrm>
                      <a:prstGeom prst="rect">
                        <a:avLst/>
                      </a:prstGeom>
                      <a:solidFill>
                        <a:srgbClr val="CCFFFF"/>
                      </a:solidFill>
                      <a:ln>
                        <a:noFill/>
                      </a:ln>
                      <a:effectLst/>
                    </p:spPr>
                  </p:pic>
                </p:oleObj>
              </mc:Fallback>
            </mc:AlternateContent>
          </a:graphicData>
        </a:graphic>
      </p:graphicFrame>
      <p:sp>
        <p:nvSpPr>
          <p:cNvPr id="7" name="文本框 6">
            <a:extLst>
              <a:ext uri="{FF2B5EF4-FFF2-40B4-BE49-F238E27FC236}">
                <a16:creationId xmlns:a16="http://schemas.microsoft.com/office/drawing/2014/main" id="{EC1C096C-8960-4422-8AEA-BA96F069D014}"/>
              </a:ext>
            </a:extLst>
          </p:cNvPr>
          <p:cNvSpPr txBox="1"/>
          <p:nvPr/>
        </p:nvSpPr>
        <p:spPr>
          <a:xfrm>
            <a:off x="1342710" y="4501256"/>
            <a:ext cx="9506580" cy="1972143"/>
          </a:xfrm>
          <a:prstGeom prst="rect">
            <a:avLst/>
          </a:prstGeom>
          <a:noFill/>
        </p:spPr>
        <p:txBody>
          <a:bodyPr wrap="square">
            <a:spAutoFit/>
          </a:bodyPr>
          <a:lstStyle/>
          <a:p>
            <a:pPr marL="342900" indent="-342900">
              <a:lnSpc>
                <a:spcPct val="120000"/>
              </a:lnSpc>
              <a:buFont typeface="Arial" panose="020B0604020202020204" pitchFamily="34" charset="0"/>
              <a:buChar char="•"/>
            </a:pPr>
            <a:r>
              <a:rPr lang="zh-CN" altLang="en-US" sz="2600" dirty="0">
                <a:solidFill>
                  <a:srgbClr val="0000CC"/>
                </a:solidFill>
                <a:latin typeface="微软雅黑" panose="020B0503020204020204" pitchFamily="34" charset="-122"/>
                <a:ea typeface="微软雅黑" panose="020B0503020204020204" pitchFamily="34" charset="-122"/>
              </a:rPr>
              <a:t>蛋白激酶</a:t>
            </a:r>
            <a:r>
              <a:rPr lang="en-US" altLang="zh-CN" sz="2600" dirty="0">
                <a:solidFill>
                  <a:srgbClr val="0000CC"/>
                </a:solidFill>
                <a:latin typeface="微软雅黑" panose="020B0503020204020204" pitchFamily="34" charset="-122"/>
                <a:ea typeface="微软雅黑" panose="020B0503020204020204" pitchFamily="34" charset="-122"/>
              </a:rPr>
              <a:t>A(protein kinase A, PKA)</a:t>
            </a:r>
            <a:r>
              <a:rPr lang="zh-CN" altLang="en-US" sz="2600" dirty="0">
                <a:latin typeface="微软雅黑" panose="020B0503020204020204" pitchFamily="34" charset="-122"/>
                <a:ea typeface="微软雅黑" panose="020B0503020204020204" pitchFamily="34" charset="-122"/>
              </a:rPr>
              <a:t>含两个相同的调节亚基和两个相同的催化亚基，每个调节亚基可结合</a:t>
            </a:r>
            <a:r>
              <a:rPr lang="en-US" altLang="zh-CN" sz="2600" dirty="0">
                <a:latin typeface="微软雅黑" panose="020B0503020204020204" pitchFamily="34" charset="-122"/>
                <a:ea typeface="微软雅黑" panose="020B0503020204020204" pitchFamily="34" charset="-122"/>
              </a:rPr>
              <a:t>2</a:t>
            </a:r>
            <a:r>
              <a:rPr lang="zh-CN" altLang="en-US" sz="2600" dirty="0">
                <a:latin typeface="微软雅黑" panose="020B0503020204020204" pitchFamily="34" charset="-122"/>
                <a:ea typeface="微软雅黑" panose="020B0503020204020204" pitchFamily="34" charset="-122"/>
              </a:rPr>
              <a:t>分子</a:t>
            </a:r>
            <a:r>
              <a:rPr lang="en-US" altLang="zh-CN" sz="2600" dirty="0">
                <a:latin typeface="微软雅黑" panose="020B0503020204020204" pitchFamily="34" charset="-122"/>
                <a:ea typeface="微软雅黑" panose="020B0503020204020204" pitchFamily="34" charset="-122"/>
              </a:rPr>
              <a:t>cAMP,  </a:t>
            </a:r>
            <a:r>
              <a:rPr lang="zh-CN" altLang="en-US" sz="2600" dirty="0">
                <a:solidFill>
                  <a:srgbClr val="0000CC"/>
                </a:solidFill>
                <a:latin typeface="微软雅黑" panose="020B0503020204020204" pitchFamily="34" charset="-122"/>
                <a:ea typeface="微软雅黑" panose="020B0503020204020204" pitchFamily="34" charset="-122"/>
              </a:rPr>
              <a:t>每个催化亚基含一个活性中心</a:t>
            </a:r>
            <a:r>
              <a:rPr lang="zh-CN" altLang="en-US" sz="2600" dirty="0">
                <a:latin typeface="微软雅黑" panose="020B0503020204020204" pitchFamily="34" charset="-122"/>
                <a:ea typeface="微软雅黑" panose="020B0503020204020204" pitchFamily="34" charset="-122"/>
              </a:rPr>
              <a:t>。给合了</a:t>
            </a:r>
            <a:r>
              <a:rPr lang="en-US" altLang="zh-CN" sz="2600" dirty="0">
                <a:latin typeface="微软雅黑" panose="020B0503020204020204" pitchFamily="34" charset="-122"/>
                <a:ea typeface="微软雅黑" panose="020B0503020204020204" pitchFamily="34" charset="-122"/>
              </a:rPr>
              <a:t>cAMP</a:t>
            </a:r>
            <a:r>
              <a:rPr lang="zh-CN" altLang="en-US" sz="2600" dirty="0">
                <a:latin typeface="微软雅黑" panose="020B0503020204020204" pitchFamily="34" charset="-122"/>
                <a:ea typeface="微软雅黑" panose="020B0503020204020204" pitchFamily="34" charset="-122"/>
              </a:rPr>
              <a:t>后，释放的催化亚基才呈现活性。 </a:t>
            </a:r>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9442" name="Rectangle 2">
            <a:extLst>
              <a:ext uri="{FF2B5EF4-FFF2-40B4-BE49-F238E27FC236}">
                <a16:creationId xmlns:a16="http://schemas.microsoft.com/office/drawing/2014/main" id="{8816305A-4396-477D-9F0F-41BF03D04F50}"/>
              </a:ext>
            </a:extLst>
          </p:cNvPr>
          <p:cNvSpPr>
            <a:spLocks noChangeArrowheads="1"/>
          </p:cNvSpPr>
          <p:nvPr/>
        </p:nvSpPr>
        <p:spPr bwMode="auto">
          <a:xfrm>
            <a:off x="928175" y="1641253"/>
            <a:ext cx="52974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2800" dirty="0">
                <a:latin typeface="黑体" panose="02010609060101010101" pitchFamily="49" charset="-122"/>
                <a:ea typeface="黑体" panose="02010609060101010101" pitchFamily="49" charset="-122"/>
              </a:rPr>
              <a:t>别构效应剂 </a:t>
            </a:r>
            <a:r>
              <a:rPr kumimoji="1" lang="en-US" altLang="zh-CN" sz="2800" dirty="0">
                <a:latin typeface="黑体" panose="02010609060101010101" pitchFamily="49" charset="-122"/>
                <a:ea typeface="黑体" panose="02010609060101010101" pitchFamily="49" charset="-122"/>
              </a:rPr>
              <a:t>+ </a:t>
            </a:r>
            <a:r>
              <a:rPr kumimoji="1" lang="zh-CN" altLang="en-US" sz="2800" dirty="0">
                <a:latin typeface="黑体" panose="02010609060101010101" pitchFamily="49" charset="-122"/>
                <a:ea typeface="黑体" panose="02010609060101010101" pitchFamily="49" charset="-122"/>
              </a:rPr>
              <a:t>酶的调节亚基</a:t>
            </a:r>
          </a:p>
        </p:txBody>
      </p:sp>
      <p:grpSp>
        <p:nvGrpSpPr>
          <p:cNvPr id="2" name="Group 3">
            <a:extLst>
              <a:ext uri="{FF2B5EF4-FFF2-40B4-BE49-F238E27FC236}">
                <a16:creationId xmlns:a16="http://schemas.microsoft.com/office/drawing/2014/main" id="{15D71E78-DE63-4B0E-93FC-2DA63841B7BA}"/>
              </a:ext>
            </a:extLst>
          </p:cNvPr>
          <p:cNvGrpSpPr>
            <a:grpSpLocks/>
          </p:cNvGrpSpPr>
          <p:nvPr/>
        </p:nvGrpSpPr>
        <p:grpSpPr bwMode="auto">
          <a:xfrm>
            <a:off x="935472" y="2571527"/>
            <a:ext cx="2952750" cy="1527175"/>
            <a:chOff x="1338" y="1298"/>
            <a:chExt cx="1860" cy="962"/>
          </a:xfrm>
        </p:grpSpPr>
        <p:sp>
          <p:nvSpPr>
            <p:cNvPr id="352271" name="Rectangle 4">
              <a:extLst>
                <a:ext uri="{FF2B5EF4-FFF2-40B4-BE49-F238E27FC236}">
                  <a16:creationId xmlns:a16="http://schemas.microsoft.com/office/drawing/2014/main" id="{4458A993-E511-424A-8F39-CF66BF9BD03F}"/>
                </a:ext>
              </a:extLst>
            </p:cNvPr>
            <p:cNvSpPr>
              <a:spLocks noChangeArrowheads="1"/>
            </p:cNvSpPr>
            <p:nvPr/>
          </p:nvSpPr>
          <p:spPr bwMode="auto">
            <a:xfrm>
              <a:off x="1338" y="1933"/>
              <a:ext cx="18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a:spcBef>
                  <a:spcPct val="0"/>
                </a:spcBef>
                <a:buFontTx/>
                <a:buNone/>
              </a:pPr>
              <a:r>
                <a:rPr kumimoji="1" lang="zh-CN" altLang="en-US" sz="2800">
                  <a:solidFill>
                    <a:srgbClr val="0000CC"/>
                  </a:solidFill>
                  <a:latin typeface="黑体" panose="02010609060101010101" pitchFamily="49" charset="-122"/>
                  <a:ea typeface="黑体" panose="02010609060101010101" pitchFamily="49" charset="-122"/>
                </a:rPr>
                <a:t>酶的构象改变</a:t>
              </a:r>
            </a:p>
          </p:txBody>
        </p:sp>
        <p:sp>
          <p:nvSpPr>
            <p:cNvPr id="352272" name="Line 5">
              <a:extLst>
                <a:ext uri="{FF2B5EF4-FFF2-40B4-BE49-F238E27FC236}">
                  <a16:creationId xmlns:a16="http://schemas.microsoft.com/office/drawing/2014/main" id="{BCA91685-6351-4C0B-9569-2008634601A1}"/>
                </a:ext>
              </a:extLst>
            </p:cNvPr>
            <p:cNvSpPr>
              <a:spLocks noChangeShapeType="1"/>
            </p:cNvSpPr>
            <p:nvPr/>
          </p:nvSpPr>
          <p:spPr bwMode="auto">
            <a:xfrm>
              <a:off x="2364" y="1298"/>
              <a:ext cx="0" cy="48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6">
            <a:extLst>
              <a:ext uri="{FF2B5EF4-FFF2-40B4-BE49-F238E27FC236}">
                <a16:creationId xmlns:a16="http://schemas.microsoft.com/office/drawing/2014/main" id="{DE934B0D-82F5-4CB9-A420-C177AE6E790F}"/>
              </a:ext>
            </a:extLst>
          </p:cNvPr>
          <p:cNvGrpSpPr>
            <a:grpSpLocks/>
          </p:cNvGrpSpPr>
          <p:nvPr/>
        </p:nvGrpSpPr>
        <p:grpSpPr bwMode="auto">
          <a:xfrm>
            <a:off x="1006910" y="4371752"/>
            <a:ext cx="3048000" cy="1849437"/>
            <a:chOff x="1383" y="2432"/>
            <a:chExt cx="1920" cy="1165"/>
          </a:xfrm>
        </p:grpSpPr>
        <p:sp>
          <p:nvSpPr>
            <p:cNvPr id="352269" name="Rectangle 7">
              <a:extLst>
                <a:ext uri="{FF2B5EF4-FFF2-40B4-BE49-F238E27FC236}">
                  <a16:creationId xmlns:a16="http://schemas.microsoft.com/office/drawing/2014/main" id="{6C5B4CAE-F6CA-4B32-921C-F62F8EA6C492}"/>
                </a:ext>
              </a:extLst>
            </p:cNvPr>
            <p:cNvSpPr>
              <a:spLocks noChangeArrowheads="1"/>
            </p:cNvSpPr>
            <p:nvPr/>
          </p:nvSpPr>
          <p:spPr bwMode="auto">
            <a:xfrm>
              <a:off x="1383" y="2931"/>
              <a:ext cx="1920" cy="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a:lnSpc>
                  <a:spcPct val="120000"/>
                </a:lnSpc>
                <a:spcBef>
                  <a:spcPct val="0"/>
                </a:spcBef>
                <a:buFontTx/>
                <a:buNone/>
              </a:pPr>
              <a:r>
                <a:rPr kumimoji="1" lang="zh-CN" altLang="en-US" sz="2800">
                  <a:solidFill>
                    <a:schemeClr val="tx2"/>
                  </a:solidFill>
                  <a:latin typeface="黑体" panose="02010609060101010101" pitchFamily="49" charset="-122"/>
                  <a:ea typeface="黑体" panose="02010609060101010101" pitchFamily="49" charset="-122"/>
                </a:rPr>
                <a:t>酶的活性改变</a:t>
              </a:r>
            </a:p>
            <a:p>
              <a:pPr algn="ctr">
                <a:lnSpc>
                  <a:spcPct val="120000"/>
                </a:lnSpc>
                <a:spcBef>
                  <a:spcPct val="0"/>
                </a:spcBef>
                <a:buFontTx/>
                <a:buNone/>
              </a:pPr>
              <a:r>
                <a:rPr kumimoji="1" lang="zh-CN" altLang="en-US" sz="2800">
                  <a:latin typeface="黑体" panose="02010609060101010101" pitchFamily="49" charset="-122"/>
                  <a:ea typeface="黑体" panose="02010609060101010101" pitchFamily="49" charset="-122"/>
                </a:rPr>
                <a:t>（激活或抑制 ）</a:t>
              </a:r>
            </a:p>
          </p:txBody>
        </p:sp>
        <p:sp>
          <p:nvSpPr>
            <p:cNvPr id="352270" name="Line 8">
              <a:extLst>
                <a:ext uri="{FF2B5EF4-FFF2-40B4-BE49-F238E27FC236}">
                  <a16:creationId xmlns:a16="http://schemas.microsoft.com/office/drawing/2014/main" id="{F85A130E-26E4-4DAE-BB3A-B3B8107FB2B7}"/>
                </a:ext>
              </a:extLst>
            </p:cNvPr>
            <p:cNvSpPr>
              <a:spLocks noChangeShapeType="1"/>
            </p:cNvSpPr>
            <p:nvPr/>
          </p:nvSpPr>
          <p:spPr bwMode="auto">
            <a:xfrm>
              <a:off x="2364" y="2432"/>
              <a:ext cx="0" cy="472"/>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9">
            <a:extLst>
              <a:ext uri="{FF2B5EF4-FFF2-40B4-BE49-F238E27FC236}">
                <a16:creationId xmlns:a16="http://schemas.microsoft.com/office/drawing/2014/main" id="{B5A47994-27A6-4DFD-AB24-09AAC4779519}"/>
              </a:ext>
            </a:extLst>
          </p:cNvPr>
          <p:cNvGrpSpPr>
            <a:grpSpLocks/>
          </p:cNvGrpSpPr>
          <p:nvPr/>
        </p:nvGrpSpPr>
        <p:grpSpPr bwMode="auto">
          <a:xfrm>
            <a:off x="3576919" y="2422639"/>
            <a:ext cx="3311525" cy="2822575"/>
            <a:chOff x="3470" y="1253"/>
            <a:chExt cx="2086" cy="1778"/>
          </a:xfrm>
        </p:grpSpPr>
        <p:sp>
          <p:nvSpPr>
            <p:cNvPr id="352263" name="Rectangle 10">
              <a:extLst>
                <a:ext uri="{FF2B5EF4-FFF2-40B4-BE49-F238E27FC236}">
                  <a16:creationId xmlns:a16="http://schemas.microsoft.com/office/drawing/2014/main" id="{5AD0FE18-7BE7-4F48-A2EF-61556476E669}"/>
                </a:ext>
              </a:extLst>
            </p:cNvPr>
            <p:cNvSpPr>
              <a:spLocks noChangeArrowheads="1"/>
            </p:cNvSpPr>
            <p:nvPr/>
          </p:nvSpPr>
          <p:spPr bwMode="auto">
            <a:xfrm>
              <a:off x="3696" y="1253"/>
              <a:ext cx="10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2800">
                  <a:solidFill>
                    <a:srgbClr val="FF3300"/>
                  </a:solidFill>
                  <a:latin typeface="黑体" panose="02010609060101010101" pitchFamily="49" charset="-122"/>
                  <a:ea typeface="黑体" panose="02010609060101010101" pitchFamily="49" charset="-122"/>
                </a:rPr>
                <a:t>疏松</a:t>
              </a:r>
            </a:p>
          </p:txBody>
        </p:sp>
        <p:sp>
          <p:nvSpPr>
            <p:cNvPr id="352264" name="Rectangle 11">
              <a:extLst>
                <a:ext uri="{FF2B5EF4-FFF2-40B4-BE49-F238E27FC236}">
                  <a16:creationId xmlns:a16="http://schemas.microsoft.com/office/drawing/2014/main" id="{C724EA1A-22BB-4975-98DE-4B90AF697788}"/>
                </a:ext>
              </a:extLst>
            </p:cNvPr>
            <p:cNvSpPr>
              <a:spLocks noChangeArrowheads="1"/>
            </p:cNvSpPr>
            <p:nvPr/>
          </p:nvSpPr>
          <p:spPr bwMode="auto">
            <a:xfrm>
              <a:off x="3672" y="1975"/>
              <a:ext cx="11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2800">
                  <a:solidFill>
                    <a:srgbClr val="FF3300"/>
                  </a:solidFill>
                  <a:latin typeface="黑体" panose="02010609060101010101" pitchFamily="49" charset="-122"/>
                  <a:ea typeface="黑体" panose="02010609060101010101" pitchFamily="49" charset="-122"/>
                </a:rPr>
                <a:t>亚基聚合</a:t>
              </a:r>
            </a:p>
          </p:txBody>
        </p:sp>
        <p:sp>
          <p:nvSpPr>
            <p:cNvPr id="352265" name="Rectangle 12">
              <a:extLst>
                <a:ext uri="{FF2B5EF4-FFF2-40B4-BE49-F238E27FC236}">
                  <a16:creationId xmlns:a16="http://schemas.microsoft.com/office/drawing/2014/main" id="{23ABF1F1-837D-456E-9057-ED6EF1BB9A45}"/>
                </a:ext>
              </a:extLst>
            </p:cNvPr>
            <p:cNvSpPr>
              <a:spLocks noChangeArrowheads="1"/>
            </p:cNvSpPr>
            <p:nvPr/>
          </p:nvSpPr>
          <p:spPr bwMode="auto">
            <a:xfrm>
              <a:off x="3696" y="1616"/>
              <a:ext cx="11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2800">
                  <a:solidFill>
                    <a:srgbClr val="FF3300"/>
                  </a:solidFill>
                  <a:latin typeface="黑体" panose="02010609060101010101" pitchFamily="49" charset="-122"/>
                  <a:ea typeface="黑体" panose="02010609060101010101" pitchFamily="49" charset="-122"/>
                </a:rPr>
                <a:t>紧密</a:t>
              </a:r>
            </a:p>
          </p:txBody>
        </p:sp>
        <p:sp>
          <p:nvSpPr>
            <p:cNvPr id="352266" name="Rectangle 13">
              <a:extLst>
                <a:ext uri="{FF2B5EF4-FFF2-40B4-BE49-F238E27FC236}">
                  <a16:creationId xmlns:a16="http://schemas.microsoft.com/office/drawing/2014/main" id="{B4D1CC05-82F4-48DC-9779-CEC24A8568BC}"/>
                </a:ext>
              </a:extLst>
            </p:cNvPr>
            <p:cNvSpPr>
              <a:spLocks noChangeArrowheads="1"/>
            </p:cNvSpPr>
            <p:nvPr/>
          </p:nvSpPr>
          <p:spPr bwMode="auto">
            <a:xfrm>
              <a:off x="3651" y="2341"/>
              <a:ext cx="14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2800" dirty="0">
                  <a:solidFill>
                    <a:srgbClr val="FF3300"/>
                  </a:solidFill>
                  <a:latin typeface="黑体" panose="02010609060101010101" pitchFamily="49" charset="-122"/>
                  <a:ea typeface="黑体" panose="02010609060101010101" pitchFamily="49" charset="-122"/>
                </a:rPr>
                <a:t>亚基解聚</a:t>
              </a:r>
            </a:p>
          </p:txBody>
        </p:sp>
        <p:sp>
          <p:nvSpPr>
            <p:cNvPr id="352267" name="Rectangle 14">
              <a:extLst>
                <a:ext uri="{FF2B5EF4-FFF2-40B4-BE49-F238E27FC236}">
                  <a16:creationId xmlns:a16="http://schemas.microsoft.com/office/drawing/2014/main" id="{76D5D8D6-90E1-418A-9080-1E8837258E71}"/>
                </a:ext>
              </a:extLst>
            </p:cNvPr>
            <p:cNvSpPr>
              <a:spLocks noChangeArrowheads="1"/>
            </p:cNvSpPr>
            <p:nvPr/>
          </p:nvSpPr>
          <p:spPr bwMode="auto">
            <a:xfrm>
              <a:off x="3696" y="2704"/>
              <a:ext cx="18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2800">
                  <a:solidFill>
                    <a:srgbClr val="FF3300"/>
                  </a:solidFill>
                  <a:latin typeface="黑体" panose="02010609060101010101" pitchFamily="49" charset="-122"/>
                  <a:ea typeface="黑体" panose="02010609060101010101" pitchFamily="49" charset="-122"/>
                </a:rPr>
                <a:t>酶分子多聚化</a:t>
              </a:r>
            </a:p>
          </p:txBody>
        </p:sp>
        <p:sp>
          <p:nvSpPr>
            <p:cNvPr id="352268" name="AutoShape 15">
              <a:extLst>
                <a:ext uri="{FF2B5EF4-FFF2-40B4-BE49-F238E27FC236}">
                  <a16:creationId xmlns:a16="http://schemas.microsoft.com/office/drawing/2014/main" id="{447DA203-27E7-4F26-B90D-9A31A1A4491D}"/>
                </a:ext>
              </a:extLst>
            </p:cNvPr>
            <p:cNvSpPr>
              <a:spLocks/>
            </p:cNvSpPr>
            <p:nvPr/>
          </p:nvSpPr>
          <p:spPr bwMode="auto">
            <a:xfrm>
              <a:off x="3470" y="1434"/>
              <a:ext cx="227" cy="1452"/>
            </a:xfrm>
            <a:prstGeom prst="leftBrace">
              <a:avLst>
                <a:gd name="adj1" fmla="val 53304"/>
                <a:gd name="adj2" fmla="val 50000"/>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latin typeface="黑体" panose="02010609060101010101" pitchFamily="49" charset="-122"/>
                <a:ea typeface="黑体" panose="02010609060101010101" pitchFamily="49" charset="-122"/>
              </a:endParaRPr>
            </a:p>
          </p:txBody>
        </p:sp>
      </p:grpSp>
      <p:sp>
        <p:nvSpPr>
          <p:cNvPr id="352262" name="Rectangle 16">
            <a:extLst>
              <a:ext uri="{FF2B5EF4-FFF2-40B4-BE49-F238E27FC236}">
                <a16:creationId xmlns:a16="http://schemas.microsoft.com/office/drawing/2014/main" id="{C55AA17A-2570-4371-9DC0-ADE3835E928F}"/>
              </a:ext>
            </a:extLst>
          </p:cNvPr>
          <p:cNvSpPr>
            <a:spLocks noChangeArrowheads="1"/>
          </p:cNvSpPr>
          <p:nvPr/>
        </p:nvSpPr>
        <p:spPr bwMode="auto">
          <a:xfrm>
            <a:off x="2604293" y="451594"/>
            <a:ext cx="26558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dirty="0">
                <a:solidFill>
                  <a:srgbClr val="FF3300"/>
                </a:solidFill>
                <a:latin typeface="黑体" panose="02010609060101010101" pitchFamily="49" charset="-122"/>
                <a:ea typeface="黑体" panose="02010609060101010101" pitchFamily="49" charset="-122"/>
              </a:rPr>
              <a:t>别构调节原理</a:t>
            </a:r>
          </a:p>
        </p:txBody>
      </p:sp>
      <p:sp>
        <p:nvSpPr>
          <p:cNvPr id="6" name="文本框 5">
            <a:extLst>
              <a:ext uri="{FF2B5EF4-FFF2-40B4-BE49-F238E27FC236}">
                <a16:creationId xmlns:a16="http://schemas.microsoft.com/office/drawing/2014/main" id="{8115DC9B-114A-A587-D536-62EDCBE6F441}"/>
              </a:ext>
            </a:extLst>
          </p:cNvPr>
          <p:cNvSpPr txBox="1"/>
          <p:nvPr/>
        </p:nvSpPr>
        <p:spPr>
          <a:xfrm>
            <a:off x="6497358" y="1641970"/>
            <a:ext cx="5038847" cy="4372800"/>
          </a:xfrm>
          <a:prstGeom prst="rect">
            <a:avLst/>
          </a:prstGeom>
          <a:noFill/>
        </p:spPr>
        <p:txBody>
          <a:bodyPr wrap="square">
            <a:spAutoFit/>
          </a:bodyPr>
          <a:lstStyle/>
          <a:p>
            <a:pPr marL="457200" indent="-457200">
              <a:lnSpc>
                <a:spcPct val="12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反馈抑制具有普遍性，且几乎都能在</a:t>
            </a:r>
            <a:r>
              <a:rPr lang="zh-CN" altLang="en-US" sz="2600" dirty="0">
                <a:solidFill>
                  <a:srgbClr val="C00000"/>
                </a:solidFill>
                <a:latin typeface="微软雅黑" panose="020B0503020204020204" pitchFamily="34" charset="-122"/>
                <a:ea typeface="微软雅黑" panose="020B0503020204020204" pitchFamily="34" charset="-122"/>
              </a:rPr>
              <a:t>瞬间发挥作用</a:t>
            </a:r>
            <a:r>
              <a:rPr lang="zh-CN" altLang="en-US" sz="2600" dirty="0">
                <a:latin typeface="微软雅黑" panose="020B0503020204020204" pitchFamily="34" charset="-122"/>
                <a:ea typeface="微软雅黑" panose="020B0503020204020204" pitchFamily="34" charset="-122"/>
              </a:rPr>
              <a:t>，并可在产物的数量下降时，又迅速逆转。  </a:t>
            </a:r>
            <a:endParaRPr lang="en-US" altLang="zh-CN" sz="2600"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endParaRPr lang="en-US" altLang="zh-CN" sz="2600"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因为别构效应剂与酶的结合是以非共价键相连，</a:t>
            </a:r>
            <a:r>
              <a:rPr lang="zh-CN" altLang="en-US" sz="2600" dirty="0">
                <a:solidFill>
                  <a:srgbClr val="0000CC"/>
                </a:solidFill>
                <a:latin typeface="微软雅黑" panose="020B0503020204020204" pitchFamily="34" charset="-122"/>
                <a:ea typeface="微软雅黑" panose="020B0503020204020204" pitchFamily="34" charset="-122"/>
              </a:rPr>
              <a:t>当效应剂浓度降低</a:t>
            </a:r>
            <a:r>
              <a:rPr lang="zh-CN" altLang="en-US" sz="2600" dirty="0">
                <a:latin typeface="微软雅黑" panose="020B0503020204020204" pitchFamily="34" charset="-122"/>
                <a:ea typeface="微软雅黑" panose="020B0503020204020204" pitchFamily="34" charset="-122"/>
              </a:rPr>
              <a:t>时，就从别构酶上脱落，</a:t>
            </a:r>
            <a:r>
              <a:rPr lang="zh-CN" altLang="en-US" sz="2600" dirty="0">
                <a:solidFill>
                  <a:srgbClr val="0000CC"/>
                </a:solidFill>
                <a:latin typeface="微软雅黑" panose="020B0503020204020204" pitchFamily="34" charset="-122"/>
                <a:ea typeface="微软雅黑" panose="020B0503020204020204" pitchFamily="34" charset="-122"/>
              </a:rPr>
              <a:t>酶恢复原有活性</a:t>
            </a:r>
            <a:r>
              <a:rPr lang="zh-CN" altLang="en-US" sz="2600" dirty="0">
                <a:latin typeface="微软雅黑" panose="020B0503020204020204" pitchFamily="34" charset="-122"/>
                <a:ea typeface="微软雅黑" panose="020B0503020204020204" pitchFamily="34" charset="-122"/>
              </a:rPr>
              <a:t>。 </a:t>
            </a:r>
            <a:endParaRPr lang="en-US" altLang="zh-CN" sz="26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469442"/>
                                        </p:tgtEl>
                                        <p:attrNameLst>
                                          <p:attrName>style.visibility</p:attrName>
                                        </p:attrNameLst>
                                      </p:cBhvr>
                                      <p:to>
                                        <p:strVal val="visible"/>
                                      </p:to>
                                    </p:set>
                                    <p:animEffect transition="in" filter="dissolve">
                                      <p:cBhvr>
                                        <p:cTn id="7" dur="500"/>
                                        <p:tgtEl>
                                          <p:spTgt spid="14694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9442" grpId="0" autoUpdateAnimBg="0"/>
      <p:bldP spid="6" grpId="0"/>
    </p:bldLst>
  </p:timing>
</p:sld>
</file>

<file path=ppt/slides/slide1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0466" name="Rectangle 2">
            <a:extLst>
              <a:ext uri="{FF2B5EF4-FFF2-40B4-BE49-F238E27FC236}">
                <a16:creationId xmlns:a16="http://schemas.microsoft.com/office/drawing/2014/main" id="{FA52478F-0856-4F85-B6B0-B4E612E8AB90}"/>
              </a:ext>
            </a:extLst>
          </p:cNvPr>
          <p:cNvSpPr>
            <a:spLocks noGrp="1" noChangeArrowheads="1"/>
          </p:cNvSpPr>
          <p:nvPr>
            <p:ph type="body" idx="1"/>
          </p:nvPr>
        </p:nvSpPr>
        <p:spPr>
          <a:xfrm>
            <a:off x="1577058" y="1340200"/>
            <a:ext cx="9037884" cy="2159000"/>
          </a:xfrm>
        </p:spPr>
        <p:txBody>
          <a:bodyPr/>
          <a:lstStyle/>
          <a:p>
            <a:pPr eaLnBrk="1" hangingPunct="1">
              <a:lnSpc>
                <a:spcPct val="110000"/>
              </a:lnSpc>
              <a:buFont typeface="Wingdings" panose="05000000000000000000" pitchFamily="2" charset="2"/>
              <a:buChar char="Ø"/>
              <a:defRPr/>
            </a:pPr>
            <a:r>
              <a:rPr lang="zh-CN" altLang="en-US" sz="2800" b="0" dirty="0">
                <a:solidFill>
                  <a:srgbClr val="FF0000"/>
                </a:solidFill>
                <a:latin typeface="Times New Roman" panose="02020603050405020304" pitchFamily="18" charset="0"/>
                <a:ea typeface="黑体" panose="02010609060101010101" pitchFamily="49" charset="-122"/>
              </a:rPr>
              <a:t>共价修饰</a:t>
            </a:r>
            <a:r>
              <a:rPr lang="en-US" altLang="zh-CN" sz="2800" b="0" dirty="0">
                <a:solidFill>
                  <a:srgbClr val="FF0000"/>
                </a:solidFill>
                <a:latin typeface="Times New Roman" panose="02020603050405020304" pitchFamily="18" charset="0"/>
                <a:ea typeface="黑体" panose="02010609060101010101" pitchFamily="49" charset="-122"/>
              </a:rPr>
              <a:t>(covalent modification)</a:t>
            </a:r>
          </a:p>
          <a:p>
            <a:pPr marL="171450" lvl="1" indent="636588" algn="just" eaLnBrk="1" hangingPunct="1">
              <a:lnSpc>
                <a:spcPct val="120000"/>
              </a:lnSpc>
              <a:buNone/>
              <a:defRPr/>
            </a:pPr>
            <a:r>
              <a:rPr lang="zh-CN" altLang="en-US" sz="2400" b="0" dirty="0">
                <a:latin typeface="Times New Roman" panose="02020603050405020304" pitchFamily="18" charset="0"/>
                <a:ea typeface="黑体" panose="02010609060101010101" pitchFamily="49" charset="-122"/>
              </a:rPr>
              <a:t>在</a:t>
            </a:r>
            <a:r>
              <a:rPr lang="zh-CN" altLang="en-US" sz="2400" b="0" dirty="0">
                <a:solidFill>
                  <a:srgbClr val="0000CC"/>
                </a:solidFill>
                <a:latin typeface="Times New Roman" panose="02020603050405020304" pitchFamily="18" charset="0"/>
                <a:ea typeface="黑体" panose="02010609060101010101" pitchFamily="49" charset="-122"/>
              </a:rPr>
              <a:t>其他酶</a:t>
            </a:r>
            <a:r>
              <a:rPr lang="zh-CN" altLang="en-US" sz="2400" b="0" dirty="0">
                <a:latin typeface="Times New Roman" panose="02020603050405020304" pitchFamily="18" charset="0"/>
                <a:ea typeface="黑体" panose="02010609060101010101" pitchFamily="49" charset="-122"/>
              </a:rPr>
              <a:t>的催化作用下，待修饰的酶蛋白肽链上的一些基团</a:t>
            </a:r>
            <a:r>
              <a:rPr lang="zh-CN" altLang="en-US" sz="2400" b="0" dirty="0">
                <a:solidFill>
                  <a:schemeClr val="tx1">
                    <a:lumMod val="95000"/>
                    <a:lumOff val="5000"/>
                  </a:schemeClr>
                </a:solidFill>
                <a:latin typeface="Times New Roman" panose="02020603050405020304" pitchFamily="18" charset="0"/>
                <a:ea typeface="黑体" panose="02010609060101010101" pitchFamily="49" charset="-122"/>
              </a:rPr>
              <a:t>可与某种化学基团</a:t>
            </a:r>
            <a:r>
              <a:rPr lang="zh-CN" altLang="en-US" sz="2400" b="0" dirty="0">
                <a:solidFill>
                  <a:srgbClr val="0000CC"/>
                </a:solidFill>
                <a:latin typeface="Times New Roman" panose="02020603050405020304" pitchFamily="18" charset="0"/>
                <a:ea typeface="黑体" panose="02010609060101010101" pitchFamily="49" charset="-122"/>
              </a:rPr>
              <a:t>可逆地</a:t>
            </a:r>
            <a:r>
              <a:rPr lang="zh-CN" altLang="en-US" sz="2400" b="0" dirty="0">
                <a:solidFill>
                  <a:srgbClr val="0000FF"/>
                </a:solidFill>
                <a:latin typeface="Times New Roman" panose="02020603050405020304" pitchFamily="18" charset="0"/>
                <a:ea typeface="黑体" panose="02010609060101010101" pitchFamily="49" charset="-122"/>
              </a:rPr>
              <a:t>共价结合</a:t>
            </a:r>
            <a:r>
              <a:rPr lang="zh-CN" altLang="en-US" sz="2400" b="0" dirty="0">
                <a:latin typeface="Times New Roman" panose="02020603050405020304" pitchFamily="18" charset="0"/>
                <a:ea typeface="黑体" panose="02010609060101010101" pitchFamily="49" charset="-122"/>
              </a:rPr>
              <a:t>，从而改变酶的活性，此过程称为共价修饰，也称</a:t>
            </a:r>
            <a:r>
              <a:rPr lang="zh-CN" altLang="en-US" sz="2400" b="0" dirty="0">
                <a:solidFill>
                  <a:srgbClr val="0000CC"/>
                </a:solidFill>
                <a:latin typeface="Times New Roman" panose="02020603050405020304" pitchFamily="18" charset="0"/>
                <a:ea typeface="黑体" panose="02010609060101010101" pitchFamily="49" charset="-122"/>
              </a:rPr>
              <a:t>化学修饰</a:t>
            </a:r>
            <a:r>
              <a:rPr lang="zh-CN" altLang="en-US" sz="2400" b="0" dirty="0">
                <a:latin typeface="Times New Roman" panose="02020603050405020304" pitchFamily="18" charset="0"/>
                <a:ea typeface="黑体" panose="02010609060101010101" pitchFamily="49" charset="-122"/>
              </a:rPr>
              <a:t>。</a:t>
            </a:r>
            <a:endParaRPr lang="en-US" altLang="zh-CN" sz="2400" b="0" dirty="0">
              <a:latin typeface="Times New Roman" panose="02020603050405020304" pitchFamily="18" charset="0"/>
              <a:ea typeface="黑体" panose="02010609060101010101" pitchFamily="49" charset="-122"/>
            </a:endParaRPr>
          </a:p>
          <a:p>
            <a:pPr marL="171450" lvl="1" indent="636588" algn="just" eaLnBrk="1" hangingPunct="1">
              <a:lnSpc>
                <a:spcPct val="120000"/>
              </a:lnSpc>
              <a:buNone/>
              <a:defRPr/>
            </a:pPr>
            <a:endParaRPr lang="zh-CN" altLang="en-US" sz="2400" b="0" dirty="0">
              <a:latin typeface="Times New Roman" panose="02020603050405020304" pitchFamily="18" charset="0"/>
              <a:ea typeface="黑体" panose="02010609060101010101" pitchFamily="49" charset="-122"/>
            </a:endParaRPr>
          </a:p>
        </p:txBody>
      </p:sp>
      <p:sp>
        <p:nvSpPr>
          <p:cNvPr id="1470467" name="Rectangle 3">
            <a:extLst>
              <a:ext uri="{FF2B5EF4-FFF2-40B4-BE49-F238E27FC236}">
                <a16:creationId xmlns:a16="http://schemas.microsoft.com/office/drawing/2014/main" id="{12B656CA-6D64-446E-9E12-28F6AE49AC8A}"/>
              </a:ext>
            </a:extLst>
          </p:cNvPr>
          <p:cNvSpPr>
            <a:spLocks noChangeArrowheads="1"/>
          </p:cNvSpPr>
          <p:nvPr/>
        </p:nvSpPr>
        <p:spPr bwMode="auto">
          <a:xfrm>
            <a:off x="2387600" y="3634035"/>
            <a:ext cx="74168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indent="701675">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80000"/>
              </a:lnSpc>
              <a:spcBef>
                <a:spcPct val="50000"/>
              </a:spcBef>
              <a:buClr>
                <a:schemeClr val="tx2"/>
              </a:buClr>
              <a:buSzPct val="75000"/>
              <a:buFont typeface="Wingdings" panose="05000000000000000000" pitchFamily="2" charset="2"/>
              <a:buChar char="Ø"/>
            </a:pPr>
            <a:r>
              <a:rPr kumimoji="1" lang="en-US" altLang="zh-CN" sz="2800" dirty="0">
                <a:solidFill>
                  <a:schemeClr val="tx2"/>
                </a:solidFill>
                <a:latin typeface="Times New Roman" panose="02020603050405020304" pitchFamily="18" charset="0"/>
                <a:ea typeface="黑体" panose="02010609060101010101" pitchFamily="49" charset="-122"/>
              </a:rPr>
              <a:t> </a:t>
            </a:r>
            <a:r>
              <a:rPr kumimoji="1" lang="zh-CN" altLang="en-US" sz="2800" dirty="0">
                <a:solidFill>
                  <a:schemeClr val="tx2"/>
                </a:solidFill>
                <a:latin typeface="Times New Roman" panose="02020603050405020304" pitchFamily="18" charset="0"/>
                <a:ea typeface="黑体" panose="02010609060101010101" pitchFamily="49" charset="-122"/>
              </a:rPr>
              <a:t>常见类型</a:t>
            </a:r>
          </a:p>
          <a:p>
            <a:pPr lvl="1" eaLnBrk="1" hangingPunct="1">
              <a:lnSpc>
                <a:spcPct val="80000"/>
              </a:lnSpc>
              <a:spcBef>
                <a:spcPct val="50000"/>
              </a:spcBef>
              <a:buClr>
                <a:schemeClr val="tx2"/>
              </a:buClr>
              <a:buSzPct val="75000"/>
              <a:buFont typeface="Wingdings" panose="05000000000000000000" pitchFamily="2" charset="2"/>
              <a:buNone/>
            </a:pPr>
            <a:r>
              <a:rPr kumimoji="1" lang="zh-CN" altLang="en-US" sz="2400" dirty="0">
                <a:solidFill>
                  <a:srgbClr val="FF0000"/>
                </a:solidFill>
                <a:latin typeface="Times New Roman" panose="02020603050405020304" pitchFamily="18" charset="0"/>
                <a:ea typeface="黑体" panose="02010609060101010101" pitchFamily="49" charset="-122"/>
              </a:rPr>
              <a:t>磷酸化与脱磷酸化（最常见）</a:t>
            </a:r>
          </a:p>
          <a:p>
            <a:pPr lvl="1" eaLnBrk="1" hangingPunct="1">
              <a:lnSpc>
                <a:spcPct val="80000"/>
              </a:lnSpc>
              <a:spcBef>
                <a:spcPct val="50000"/>
              </a:spcBef>
              <a:buClr>
                <a:schemeClr val="tx2"/>
              </a:buClr>
              <a:buSzPct val="75000"/>
              <a:buFont typeface="Wingdings" panose="05000000000000000000" pitchFamily="2" charset="2"/>
              <a:buNone/>
            </a:pPr>
            <a:r>
              <a:rPr kumimoji="1" lang="zh-CN" altLang="en-US" sz="2400" dirty="0">
                <a:latin typeface="Times New Roman" panose="02020603050405020304" pitchFamily="18" charset="0"/>
                <a:ea typeface="黑体" panose="02010609060101010101" pitchFamily="49" charset="-122"/>
              </a:rPr>
              <a:t>乙酰化和脱乙酰化</a:t>
            </a:r>
          </a:p>
          <a:p>
            <a:pPr lvl="1" eaLnBrk="1" hangingPunct="1">
              <a:lnSpc>
                <a:spcPct val="80000"/>
              </a:lnSpc>
              <a:spcBef>
                <a:spcPct val="50000"/>
              </a:spcBef>
              <a:buClr>
                <a:schemeClr val="tx2"/>
              </a:buClr>
              <a:buSzPct val="75000"/>
              <a:buFont typeface="Wingdings" panose="05000000000000000000" pitchFamily="2" charset="2"/>
              <a:buNone/>
            </a:pPr>
            <a:r>
              <a:rPr kumimoji="1" lang="zh-CN" altLang="en-US" sz="2400" dirty="0">
                <a:latin typeface="Times New Roman" panose="02020603050405020304" pitchFamily="18" charset="0"/>
                <a:ea typeface="黑体" panose="02010609060101010101" pitchFamily="49" charset="-122"/>
              </a:rPr>
              <a:t>甲基化和脱甲基化</a:t>
            </a:r>
          </a:p>
          <a:p>
            <a:pPr lvl="1" eaLnBrk="1" hangingPunct="1">
              <a:lnSpc>
                <a:spcPct val="80000"/>
              </a:lnSpc>
              <a:spcBef>
                <a:spcPct val="50000"/>
              </a:spcBef>
              <a:buClr>
                <a:schemeClr val="tx2"/>
              </a:buClr>
              <a:buSzPct val="75000"/>
              <a:buFont typeface="Wingdings" panose="05000000000000000000" pitchFamily="2" charset="2"/>
              <a:buNone/>
            </a:pPr>
            <a:r>
              <a:rPr kumimoji="1" lang="zh-CN" altLang="en-US" sz="2400" dirty="0">
                <a:latin typeface="Times New Roman" panose="02020603050405020304" pitchFamily="18" charset="0"/>
                <a:ea typeface="黑体" panose="02010609060101010101" pitchFamily="49" charset="-122"/>
              </a:rPr>
              <a:t>腺苷化和脱腺苷化</a:t>
            </a:r>
          </a:p>
          <a:p>
            <a:pPr lvl="1" eaLnBrk="1" hangingPunct="1">
              <a:lnSpc>
                <a:spcPct val="80000"/>
              </a:lnSpc>
              <a:spcBef>
                <a:spcPct val="50000"/>
              </a:spcBef>
              <a:buClr>
                <a:schemeClr val="tx2"/>
              </a:buClr>
              <a:buSzPct val="75000"/>
              <a:buFont typeface="Wingdings" panose="05000000000000000000" pitchFamily="2" charset="2"/>
              <a:buNone/>
            </a:pPr>
            <a:r>
              <a:rPr kumimoji="1" lang="zh-CN" altLang="en-US" sz="2400" dirty="0">
                <a:latin typeface="Times New Roman" panose="02020603050405020304" pitchFamily="18" charset="0"/>
                <a:ea typeface="黑体" panose="02010609060101010101" pitchFamily="49" charset="-122"/>
              </a:rPr>
              <a:t>－</a:t>
            </a:r>
            <a:r>
              <a:rPr kumimoji="1" lang="en-US" altLang="zh-CN" sz="2400" dirty="0">
                <a:latin typeface="Times New Roman" panose="02020603050405020304" pitchFamily="18" charset="0"/>
                <a:ea typeface="黑体" panose="02010609060101010101" pitchFamily="49" charset="-122"/>
              </a:rPr>
              <a:t>SH</a:t>
            </a:r>
            <a:r>
              <a:rPr kumimoji="1" lang="zh-CN" altLang="en-US" sz="2400" dirty="0">
                <a:latin typeface="Times New Roman" panose="02020603050405020304" pitchFamily="18" charset="0"/>
                <a:ea typeface="黑体" panose="02010609060101010101" pitchFamily="49" charset="-122"/>
              </a:rPr>
              <a:t>与－</a:t>
            </a:r>
            <a:r>
              <a:rPr kumimoji="1" lang="en-US" altLang="zh-CN" sz="2400" dirty="0">
                <a:latin typeface="Times New Roman" panose="02020603050405020304" pitchFamily="18" charset="0"/>
                <a:ea typeface="黑体" panose="02010609060101010101" pitchFamily="49" charset="-122"/>
              </a:rPr>
              <a:t>S</a:t>
            </a:r>
            <a:r>
              <a:rPr kumimoji="1" lang="zh-CN" altLang="en-US" sz="2400" dirty="0">
                <a:latin typeface="Times New Roman" panose="02020603050405020304" pitchFamily="18" charset="0"/>
                <a:ea typeface="黑体" panose="02010609060101010101" pitchFamily="49" charset="-122"/>
              </a:rPr>
              <a:t>－</a:t>
            </a:r>
            <a:r>
              <a:rPr kumimoji="1" lang="en-US" altLang="zh-CN" sz="2400" dirty="0">
                <a:latin typeface="Times New Roman" panose="02020603050405020304" pitchFamily="18" charset="0"/>
                <a:ea typeface="黑体" panose="02010609060101010101" pitchFamily="49" charset="-122"/>
              </a:rPr>
              <a:t>S</a:t>
            </a:r>
            <a:r>
              <a:rPr kumimoji="1" lang="zh-CN" altLang="en-US" sz="2400" dirty="0">
                <a:latin typeface="Times New Roman" panose="02020603050405020304" pitchFamily="18" charset="0"/>
                <a:ea typeface="黑体" panose="02010609060101010101" pitchFamily="49" charset="-122"/>
              </a:rPr>
              <a:t>互变</a:t>
            </a:r>
          </a:p>
        </p:txBody>
      </p:sp>
      <p:sp>
        <p:nvSpPr>
          <p:cNvPr id="354308" name="Rectangle 4">
            <a:extLst>
              <a:ext uri="{FF2B5EF4-FFF2-40B4-BE49-F238E27FC236}">
                <a16:creationId xmlns:a16="http://schemas.microsoft.com/office/drawing/2014/main" id="{78115A23-47C6-4E0B-8F14-1AD3E0CE2045}"/>
              </a:ext>
            </a:extLst>
          </p:cNvPr>
          <p:cNvSpPr>
            <a:spLocks noChangeArrowheads="1"/>
          </p:cNvSpPr>
          <p:nvPr/>
        </p:nvSpPr>
        <p:spPr bwMode="auto">
          <a:xfrm>
            <a:off x="1919288" y="549276"/>
            <a:ext cx="57358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en-US" altLang="zh-CN" dirty="0">
                <a:solidFill>
                  <a:srgbClr val="FF0000"/>
                </a:solidFill>
                <a:latin typeface="Times New Roman" panose="02020603050405020304" pitchFamily="18" charset="0"/>
                <a:ea typeface="黑体" panose="02010609060101010101" pitchFamily="49" charset="-122"/>
              </a:rPr>
              <a:t>2.  </a:t>
            </a:r>
            <a:r>
              <a:rPr lang="zh-CN" altLang="en-US" dirty="0">
                <a:solidFill>
                  <a:srgbClr val="FF0000"/>
                </a:solidFill>
                <a:latin typeface="Times New Roman" panose="02020603050405020304" pitchFamily="18" charset="0"/>
                <a:ea typeface="黑体" panose="02010609060101010101" pitchFamily="49" charset="-122"/>
              </a:rPr>
              <a:t>酶的化学修饰</a:t>
            </a:r>
            <a:r>
              <a:rPr lang="en-US" altLang="zh-CN" dirty="0">
                <a:solidFill>
                  <a:srgbClr val="FF0000"/>
                </a:solidFill>
                <a:latin typeface="Times New Roman" panose="02020603050405020304" pitchFamily="18" charset="0"/>
                <a:ea typeface="黑体" panose="02010609060101010101" pitchFamily="49" charset="-122"/>
              </a:rPr>
              <a:t>/</a:t>
            </a:r>
            <a:r>
              <a:rPr lang="zh-CN" altLang="en-US" dirty="0">
                <a:solidFill>
                  <a:srgbClr val="FF0000"/>
                </a:solidFill>
                <a:latin typeface="Times New Roman" panose="02020603050405020304" pitchFamily="18" charset="0"/>
                <a:ea typeface="黑体" panose="02010609060101010101" pitchFamily="49" charset="-122"/>
              </a:rPr>
              <a:t>共价修饰调节</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1470466">
                                            <p:txEl>
                                              <p:pRg st="0" end="0"/>
                                            </p:txEl>
                                          </p:spTgt>
                                        </p:tgtEl>
                                        <p:attrNameLst>
                                          <p:attrName>style.visibility</p:attrName>
                                        </p:attrNameLst>
                                      </p:cBhvr>
                                      <p:to>
                                        <p:strVal val="visible"/>
                                      </p:to>
                                    </p:set>
                                    <p:animEffect transition="in" filter="strips(upRight)">
                                      <p:cBhvr>
                                        <p:cTn id="7" dur="500"/>
                                        <p:tgtEl>
                                          <p:spTgt spid="1470466">
                                            <p:txEl>
                                              <p:pRg st="0" end="0"/>
                                            </p:txEl>
                                          </p:spTgt>
                                        </p:tgtEl>
                                      </p:cBhvr>
                                    </p:animEffect>
                                  </p:childTnLst>
                                </p:cTn>
                              </p:par>
                              <p:par>
                                <p:cTn id="8" presetID="18" presetClass="entr" presetSubtype="3" fill="hold" grpId="0" nodeType="withEffect">
                                  <p:stCondLst>
                                    <p:cond delay="0"/>
                                  </p:stCondLst>
                                  <p:childTnLst>
                                    <p:set>
                                      <p:cBhvr>
                                        <p:cTn id="9" dur="1" fill="hold">
                                          <p:stCondLst>
                                            <p:cond delay="0"/>
                                          </p:stCondLst>
                                        </p:cTn>
                                        <p:tgtEl>
                                          <p:spTgt spid="1470466">
                                            <p:txEl>
                                              <p:pRg st="1" end="1"/>
                                            </p:txEl>
                                          </p:spTgt>
                                        </p:tgtEl>
                                        <p:attrNameLst>
                                          <p:attrName>style.visibility</p:attrName>
                                        </p:attrNameLst>
                                      </p:cBhvr>
                                      <p:to>
                                        <p:strVal val="visible"/>
                                      </p:to>
                                    </p:set>
                                    <p:animEffect transition="in" filter="strips(upRight)">
                                      <p:cBhvr>
                                        <p:cTn id="10" dur="500"/>
                                        <p:tgtEl>
                                          <p:spTgt spid="1470466">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470467"/>
                                        </p:tgtEl>
                                        <p:attrNameLst>
                                          <p:attrName>style.visibility</p:attrName>
                                        </p:attrNameLst>
                                      </p:cBhvr>
                                      <p:to>
                                        <p:strVal val="visible"/>
                                      </p:to>
                                    </p:set>
                                    <p:animEffect transition="in" filter="wipe(up)">
                                      <p:cBhvr>
                                        <p:cTn id="15" dur="500"/>
                                        <p:tgtEl>
                                          <p:spTgt spid="1470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0466" grpId="0" build="p" autoUpdateAnimBg="0" advAuto="0"/>
      <p:bldP spid="1470467" grpId="0" autoUpdateAnimBg="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2514" name="Oval 2">
            <a:extLst>
              <a:ext uri="{FF2B5EF4-FFF2-40B4-BE49-F238E27FC236}">
                <a16:creationId xmlns:a16="http://schemas.microsoft.com/office/drawing/2014/main" id="{DF632E2B-C555-4DDF-B9D8-4DBDE028CA8D}"/>
              </a:ext>
            </a:extLst>
          </p:cNvPr>
          <p:cNvSpPr>
            <a:spLocks noChangeArrowheads="1"/>
          </p:cNvSpPr>
          <p:nvPr/>
        </p:nvSpPr>
        <p:spPr bwMode="auto">
          <a:xfrm>
            <a:off x="9263064" y="3068638"/>
            <a:ext cx="720725" cy="79216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latin typeface="黑体" panose="02010609060101010101" pitchFamily="49" charset="-122"/>
              <a:ea typeface="黑体" panose="02010609060101010101" pitchFamily="49" charset="-122"/>
            </a:endParaRPr>
          </a:p>
        </p:txBody>
      </p:sp>
      <p:sp>
        <p:nvSpPr>
          <p:cNvPr id="356355" name="Text Box 3">
            <a:extLst>
              <a:ext uri="{FF2B5EF4-FFF2-40B4-BE49-F238E27FC236}">
                <a16:creationId xmlns:a16="http://schemas.microsoft.com/office/drawing/2014/main" id="{65013D17-D71B-4B69-9165-BC125E03ACB7}"/>
              </a:ext>
            </a:extLst>
          </p:cNvPr>
          <p:cNvSpPr txBox="1">
            <a:spLocks noChangeArrowheads="1"/>
          </p:cNvSpPr>
          <p:nvPr/>
        </p:nvSpPr>
        <p:spPr bwMode="auto">
          <a:xfrm>
            <a:off x="3779838" y="333375"/>
            <a:ext cx="4476750" cy="528638"/>
          </a:xfrm>
          <a:prstGeom prst="rect">
            <a:avLst/>
          </a:prstGeom>
          <a:solidFill>
            <a:srgbClr val="008000"/>
          </a:solidFill>
          <a:ln w="9525">
            <a:solidFill>
              <a:srgbClr val="008000"/>
            </a:solidFill>
            <a:miter lim="800000"/>
            <a:headEnd/>
            <a:tailEnd/>
          </a:ln>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ea typeface="黑体" panose="02010609060101010101" pitchFamily="49" charset="-122"/>
              </a:rPr>
              <a:t>    </a:t>
            </a:r>
            <a:r>
              <a:rPr kumimoji="1" lang="zh-CN" altLang="en-US" sz="2800" b="1">
                <a:solidFill>
                  <a:schemeClr val="bg1"/>
                </a:solidFill>
                <a:latin typeface="Times New Roman" panose="02020603050405020304" pitchFamily="18" charset="0"/>
                <a:ea typeface="黑体" panose="02010609060101010101" pitchFamily="49" charset="-122"/>
              </a:rPr>
              <a:t>酶的磷酸化与脱磷酸化</a:t>
            </a:r>
            <a:r>
              <a:rPr kumimoji="1" lang="zh-CN" altLang="en-US" sz="2800" b="1">
                <a:solidFill>
                  <a:srgbClr val="4D4D4D"/>
                </a:solidFill>
                <a:latin typeface="Times New Roman" panose="02020603050405020304" pitchFamily="18" charset="0"/>
                <a:ea typeface="黑体" panose="02010609060101010101" pitchFamily="49" charset="-122"/>
              </a:rPr>
              <a:t>    </a:t>
            </a:r>
          </a:p>
        </p:txBody>
      </p:sp>
      <p:grpSp>
        <p:nvGrpSpPr>
          <p:cNvPr id="2" name="Group 4">
            <a:extLst>
              <a:ext uri="{FF2B5EF4-FFF2-40B4-BE49-F238E27FC236}">
                <a16:creationId xmlns:a16="http://schemas.microsoft.com/office/drawing/2014/main" id="{A0385907-EFBB-41B0-B8EC-06B47CE47C31}"/>
              </a:ext>
            </a:extLst>
          </p:cNvPr>
          <p:cNvGrpSpPr>
            <a:grpSpLocks/>
          </p:cNvGrpSpPr>
          <p:nvPr/>
        </p:nvGrpSpPr>
        <p:grpSpPr bwMode="auto">
          <a:xfrm>
            <a:off x="2566989" y="2420938"/>
            <a:ext cx="2484437" cy="2614612"/>
            <a:chOff x="816" y="1248"/>
            <a:chExt cx="1565" cy="1647"/>
          </a:xfrm>
        </p:grpSpPr>
        <p:sp>
          <p:nvSpPr>
            <p:cNvPr id="356375" name="Text Box 5">
              <a:extLst>
                <a:ext uri="{FF2B5EF4-FFF2-40B4-BE49-F238E27FC236}">
                  <a16:creationId xmlns:a16="http://schemas.microsoft.com/office/drawing/2014/main" id="{3C1DD11B-2F9D-444E-A440-A9D6A88F4F25}"/>
                </a:ext>
              </a:extLst>
            </p:cNvPr>
            <p:cNvSpPr txBox="1">
              <a:spLocks noChangeArrowheads="1"/>
            </p:cNvSpPr>
            <p:nvPr/>
          </p:nvSpPr>
          <p:spPr bwMode="auto">
            <a:xfrm>
              <a:off x="1565" y="1706"/>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kumimoji="1" lang="en-US" altLang="zh-CN" sz="2400">
                  <a:solidFill>
                    <a:srgbClr val="FF0000"/>
                  </a:solidFill>
                  <a:latin typeface="黑体" panose="02010609060101010101" pitchFamily="49" charset="-122"/>
                  <a:ea typeface="黑体" panose="02010609060101010101" pitchFamily="49" charset="-122"/>
                  <a:cs typeface="Times New Roman" panose="02020603050405020304" pitchFamily="18" charset="0"/>
                </a:rPr>
                <a:t>-OH</a:t>
              </a:r>
            </a:p>
          </p:txBody>
        </p:sp>
        <p:grpSp>
          <p:nvGrpSpPr>
            <p:cNvPr id="356376" name="Group 6">
              <a:extLst>
                <a:ext uri="{FF2B5EF4-FFF2-40B4-BE49-F238E27FC236}">
                  <a16:creationId xmlns:a16="http://schemas.microsoft.com/office/drawing/2014/main" id="{D8336AED-BF80-4DD3-9FEB-267D0BDC12FC}"/>
                </a:ext>
              </a:extLst>
            </p:cNvPr>
            <p:cNvGrpSpPr>
              <a:grpSpLocks/>
            </p:cNvGrpSpPr>
            <p:nvPr/>
          </p:nvGrpSpPr>
          <p:grpSpPr bwMode="auto">
            <a:xfrm>
              <a:off x="816" y="1248"/>
              <a:ext cx="1157" cy="1647"/>
              <a:chOff x="816" y="1248"/>
              <a:chExt cx="1157" cy="1647"/>
            </a:xfrm>
          </p:grpSpPr>
          <p:grpSp>
            <p:nvGrpSpPr>
              <p:cNvPr id="356377" name="Group 7">
                <a:extLst>
                  <a:ext uri="{FF2B5EF4-FFF2-40B4-BE49-F238E27FC236}">
                    <a16:creationId xmlns:a16="http://schemas.microsoft.com/office/drawing/2014/main" id="{477CC8B6-435D-4D9B-BB6C-FA13A04DE794}"/>
                  </a:ext>
                </a:extLst>
              </p:cNvPr>
              <p:cNvGrpSpPr>
                <a:grpSpLocks/>
              </p:cNvGrpSpPr>
              <p:nvPr/>
            </p:nvGrpSpPr>
            <p:grpSpPr bwMode="auto">
              <a:xfrm>
                <a:off x="816" y="1248"/>
                <a:ext cx="816" cy="1248"/>
                <a:chOff x="528" y="1536"/>
                <a:chExt cx="816" cy="1248"/>
              </a:xfrm>
            </p:grpSpPr>
            <p:sp>
              <p:nvSpPr>
                <p:cNvPr id="356379" name="Oval 8">
                  <a:extLst>
                    <a:ext uri="{FF2B5EF4-FFF2-40B4-BE49-F238E27FC236}">
                      <a16:creationId xmlns:a16="http://schemas.microsoft.com/office/drawing/2014/main" id="{3678EF10-FC1E-4AE1-94E0-8913A60F3821}"/>
                    </a:ext>
                  </a:extLst>
                </p:cNvPr>
                <p:cNvSpPr>
                  <a:spLocks noChangeArrowheads="1"/>
                </p:cNvSpPr>
                <p:nvPr/>
              </p:nvSpPr>
              <p:spPr bwMode="auto">
                <a:xfrm>
                  <a:off x="528" y="1536"/>
                  <a:ext cx="816" cy="1248"/>
                </a:xfrm>
                <a:prstGeom prst="ellipse">
                  <a:avLst/>
                </a:prstGeom>
                <a:solidFill>
                  <a:srgbClr val="0000FF"/>
                </a:solidFill>
                <a:ln w="12700" cap="sq">
                  <a:solidFill>
                    <a:srgbClr val="99CCFF"/>
                  </a:solidFill>
                  <a:round/>
                  <a:headEnd type="none" w="sm" len="sm"/>
                  <a:tailEnd type="none" w="sm" len="sm"/>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latin typeface="黑体" panose="02010609060101010101" pitchFamily="49" charset="-122"/>
                    <a:ea typeface="黑体" panose="02010609060101010101" pitchFamily="49" charset="-122"/>
                  </a:endParaRPr>
                </a:p>
              </p:txBody>
            </p:sp>
            <p:sp>
              <p:nvSpPr>
                <p:cNvPr id="356380" name="Text Box 9">
                  <a:extLst>
                    <a:ext uri="{FF2B5EF4-FFF2-40B4-BE49-F238E27FC236}">
                      <a16:creationId xmlns:a16="http://schemas.microsoft.com/office/drawing/2014/main" id="{2ADE7191-01D6-4AFF-9C18-519E6F59F05E}"/>
                    </a:ext>
                  </a:extLst>
                </p:cNvPr>
                <p:cNvSpPr txBox="1">
                  <a:spLocks noChangeArrowheads="1"/>
                </p:cNvSpPr>
                <p:nvPr/>
              </p:nvSpPr>
              <p:spPr bwMode="auto">
                <a:xfrm>
                  <a:off x="710" y="1647"/>
                  <a:ext cx="480"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kumimoji="1" lang="en-US" altLang="zh-CN" sz="2400">
                      <a:solidFill>
                        <a:schemeClr val="bg1"/>
                      </a:solidFill>
                      <a:latin typeface="黑体" panose="02010609060101010101" pitchFamily="49" charset="-122"/>
                      <a:ea typeface="黑体" panose="02010609060101010101" pitchFamily="49" charset="-122"/>
                    </a:rPr>
                    <a:t>Thr</a:t>
                  </a:r>
                </a:p>
                <a:p>
                  <a:pPr>
                    <a:spcBef>
                      <a:spcPct val="50000"/>
                    </a:spcBef>
                    <a:buFontTx/>
                    <a:buNone/>
                  </a:pPr>
                  <a:r>
                    <a:rPr kumimoji="1" lang="en-US" altLang="zh-CN" sz="2400">
                      <a:solidFill>
                        <a:schemeClr val="bg1"/>
                      </a:solidFill>
                      <a:latin typeface="黑体" panose="02010609060101010101" pitchFamily="49" charset="-122"/>
                      <a:ea typeface="黑体" panose="02010609060101010101" pitchFamily="49" charset="-122"/>
                    </a:rPr>
                    <a:t>Ser</a:t>
                  </a:r>
                </a:p>
                <a:p>
                  <a:pPr>
                    <a:spcBef>
                      <a:spcPct val="50000"/>
                    </a:spcBef>
                    <a:buFontTx/>
                    <a:buNone/>
                  </a:pPr>
                  <a:r>
                    <a:rPr kumimoji="1" lang="en-US" altLang="zh-CN" sz="2400">
                      <a:solidFill>
                        <a:schemeClr val="bg1"/>
                      </a:solidFill>
                      <a:latin typeface="黑体" panose="02010609060101010101" pitchFamily="49" charset="-122"/>
                      <a:ea typeface="黑体" panose="02010609060101010101" pitchFamily="49" charset="-122"/>
                    </a:rPr>
                    <a:t>Tyr</a:t>
                  </a:r>
                </a:p>
              </p:txBody>
            </p:sp>
          </p:grpSp>
          <p:sp>
            <p:nvSpPr>
              <p:cNvPr id="356378" name="Text Box 10">
                <a:extLst>
                  <a:ext uri="{FF2B5EF4-FFF2-40B4-BE49-F238E27FC236}">
                    <a16:creationId xmlns:a16="http://schemas.microsoft.com/office/drawing/2014/main" id="{BA27DF5F-6103-4D77-B831-DEC78D6E4C83}"/>
                  </a:ext>
                </a:extLst>
              </p:cNvPr>
              <p:cNvSpPr txBox="1">
                <a:spLocks noChangeArrowheads="1"/>
              </p:cNvSpPr>
              <p:nvPr/>
            </p:nvSpPr>
            <p:spPr bwMode="auto">
              <a:xfrm>
                <a:off x="839" y="2568"/>
                <a:ext cx="113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kumimoji="1" lang="zh-CN" altLang="en-US" sz="2800">
                    <a:latin typeface="黑体" panose="02010609060101010101" pitchFamily="49" charset="-122"/>
                    <a:ea typeface="黑体" panose="02010609060101010101" pitchFamily="49" charset="-122"/>
                  </a:rPr>
                  <a:t>酶蛋白</a:t>
                </a:r>
              </a:p>
            </p:txBody>
          </p:sp>
        </p:grpSp>
      </p:grpSp>
      <p:grpSp>
        <p:nvGrpSpPr>
          <p:cNvPr id="5" name="Group 11">
            <a:extLst>
              <a:ext uri="{FF2B5EF4-FFF2-40B4-BE49-F238E27FC236}">
                <a16:creationId xmlns:a16="http://schemas.microsoft.com/office/drawing/2014/main" id="{E9C1C21C-B884-4F70-ADA7-E7CFC85E44B3}"/>
              </a:ext>
            </a:extLst>
          </p:cNvPr>
          <p:cNvGrpSpPr>
            <a:grpSpLocks/>
          </p:cNvGrpSpPr>
          <p:nvPr/>
        </p:nvGrpSpPr>
        <p:grpSpPr bwMode="auto">
          <a:xfrm>
            <a:off x="3821113" y="3613151"/>
            <a:ext cx="3810000" cy="2068513"/>
            <a:chOff x="1584" y="1913"/>
            <a:chExt cx="2400" cy="1303"/>
          </a:xfrm>
        </p:grpSpPr>
        <p:sp>
          <p:nvSpPr>
            <p:cNvPr id="356369" name="Freeform 12">
              <a:extLst>
                <a:ext uri="{FF2B5EF4-FFF2-40B4-BE49-F238E27FC236}">
                  <a16:creationId xmlns:a16="http://schemas.microsoft.com/office/drawing/2014/main" id="{5914EFC5-4921-4ACC-80DC-36DC9E50CF82}"/>
                </a:ext>
              </a:extLst>
            </p:cNvPr>
            <p:cNvSpPr>
              <a:spLocks/>
            </p:cNvSpPr>
            <p:nvPr/>
          </p:nvSpPr>
          <p:spPr bwMode="auto">
            <a:xfrm flipH="1">
              <a:off x="2016" y="2688"/>
              <a:ext cx="1440" cy="240"/>
            </a:xfrm>
            <a:custGeom>
              <a:avLst/>
              <a:gdLst>
                <a:gd name="T0" fmla="*/ 0 w 2688"/>
                <a:gd name="T1" fmla="*/ 240 h 240"/>
                <a:gd name="T2" fmla="*/ 1 w 2688"/>
                <a:gd name="T3" fmla="*/ 0 h 240"/>
                <a:gd name="T4" fmla="*/ 1 w 2688"/>
                <a:gd name="T5" fmla="*/ 240 h 240"/>
                <a:gd name="T6" fmla="*/ 0 60000 65536"/>
                <a:gd name="T7" fmla="*/ 0 60000 65536"/>
                <a:gd name="T8" fmla="*/ 0 60000 65536"/>
                <a:gd name="T9" fmla="*/ 0 w 2688"/>
                <a:gd name="T10" fmla="*/ 0 h 240"/>
                <a:gd name="T11" fmla="*/ 2688 w 2688"/>
                <a:gd name="T12" fmla="*/ 240 h 240"/>
              </a:gdLst>
              <a:ahLst/>
              <a:cxnLst>
                <a:cxn ang="T6">
                  <a:pos x="T0" y="T1"/>
                </a:cxn>
                <a:cxn ang="T7">
                  <a:pos x="T2" y="T3"/>
                </a:cxn>
                <a:cxn ang="T8">
                  <a:pos x="T4" y="T5"/>
                </a:cxn>
              </a:cxnLst>
              <a:rect l="T9" t="T10" r="T11" b="T12"/>
              <a:pathLst>
                <a:path w="2688" h="240">
                  <a:moveTo>
                    <a:pt x="0" y="240"/>
                  </a:moveTo>
                  <a:cubicBezTo>
                    <a:pt x="424" y="120"/>
                    <a:pt x="848" y="0"/>
                    <a:pt x="1296" y="0"/>
                  </a:cubicBezTo>
                  <a:cubicBezTo>
                    <a:pt x="1744" y="0"/>
                    <a:pt x="2456" y="200"/>
                    <a:pt x="2688" y="240"/>
                  </a:cubicBezTo>
                </a:path>
              </a:pathLst>
            </a:custGeom>
            <a:noFill/>
            <a:ln w="28575"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6370" name="Text Box 13">
              <a:extLst>
                <a:ext uri="{FF2B5EF4-FFF2-40B4-BE49-F238E27FC236}">
                  <a16:creationId xmlns:a16="http://schemas.microsoft.com/office/drawing/2014/main" id="{8F8DF680-FCA6-4D59-9348-2B841BA65AC3}"/>
                </a:ext>
              </a:extLst>
            </p:cNvPr>
            <p:cNvSpPr txBox="1">
              <a:spLocks noChangeArrowheads="1"/>
            </p:cNvSpPr>
            <p:nvPr/>
          </p:nvSpPr>
          <p:spPr bwMode="auto">
            <a:xfrm>
              <a:off x="3312" y="2928"/>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kumimoji="1" lang="en-US" altLang="zh-CN" sz="2400">
                  <a:latin typeface="黑体" panose="02010609060101010101" pitchFamily="49" charset="-122"/>
                  <a:ea typeface="黑体" panose="02010609060101010101" pitchFamily="49" charset="-122"/>
                </a:rPr>
                <a:t>H</a:t>
              </a:r>
              <a:r>
                <a:rPr kumimoji="1" lang="en-US" altLang="zh-CN" sz="2400" baseline="-25000">
                  <a:latin typeface="黑体" panose="02010609060101010101" pitchFamily="49" charset="-122"/>
                  <a:ea typeface="黑体" panose="02010609060101010101" pitchFamily="49" charset="-122"/>
                </a:rPr>
                <a:t>2</a:t>
              </a:r>
              <a:r>
                <a:rPr kumimoji="1" lang="en-US" altLang="zh-CN" sz="2400">
                  <a:latin typeface="黑体" panose="02010609060101010101" pitchFamily="49" charset="-122"/>
                  <a:ea typeface="黑体" panose="02010609060101010101" pitchFamily="49" charset="-122"/>
                </a:rPr>
                <a:t>O</a:t>
              </a:r>
            </a:p>
          </p:txBody>
        </p:sp>
        <p:grpSp>
          <p:nvGrpSpPr>
            <p:cNvPr id="356371" name="Group 14">
              <a:extLst>
                <a:ext uri="{FF2B5EF4-FFF2-40B4-BE49-F238E27FC236}">
                  <a16:creationId xmlns:a16="http://schemas.microsoft.com/office/drawing/2014/main" id="{18280833-9678-469D-B289-5AC97367F6B3}"/>
                </a:ext>
              </a:extLst>
            </p:cNvPr>
            <p:cNvGrpSpPr>
              <a:grpSpLocks/>
            </p:cNvGrpSpPr>
            <p:nvPr/>
          </p:nvGrpSpPr>
          <p:grpSpPr bwMode="auto">
            <a:xfrm>
              <a:off x="1584" y="1913"/>
              <a:ext cx="2400" cy="1303"/>
              <a:chOff x="1584" y="1913"/>
              <a:chExt cx="2400" cy="1303"/>
            </a:xfrm>
          </p:grpSpPr>
          <p:sp>
            <p:nvSpPr>
              <p:cNvPr id="356372" name="Freeform 15">
                <a:extLst>
                  <a:ext uri="{FF2B5EF4-FFF2-40B4-BE49-F238E27FC236}">
                    <a16:creationId xmlns:a16="http://schemas.microsoft.com/office/drawing/2014/main" id="{A681987B-CC91-4DF8-B230-5BA84BA04D16}"/>
                  </a:ext>
                </a:extLst>
              </p:cNvPr>
              <p:cNvSpPr>
                <a:spLocks/>
              </p:cNvSpPr>
              <p:nvPr/>
            </p:nvSpPr>
            <p:spPr bwMode="auto">
              <a:xfrm flipH="1" flipV="1">
                <a:off x="1584" y="2352"/>
                <a:ext cx="2400" cy="336"/>
              </a:xfrm>
              <a:custGeom>
                <a:avLst/>
                <a:gdLst>
                  <a:gd name="T0" fmla="*/ 0 w 2688"/>
                  <a:gd name="T1" fmla="*/ 2147483646 h 240"/>
                  <a:gd name="T2" fmla="*/ 4 w 2688"/>
                  <a:gd name="T3" fmla="*/ 0 h 240"/>
                  <a:gd name="T4" fmla="*/ 4 w 2688"/>
                  <a:gd name="T5" fmla="*/ 2147483646 h 240"/>
                  <a:gd name="T6" fmla="*/ 0 60000 65536"/>
                  <a:gd name="T7" fmla="*/ 0 60000 65536"/>
                  <a:gd name="T8" fmla="*/ 0 60000 65536"/>
                  <a:gd name="T9" fmla="*/ 0 w 2688"/>
                  <a:gd name="T10" fmla="*/ 0 h 240"/>
                  <a:gd name="T11" fmla="*/ 2688 w 2688"/>
                  <a:gd name="T12" fmla="*/ 240 h 240"/>
                </a:gdLst>
                <a:ahLst/>
                <a:cxnLst>
                  <a:cxn ang="T6">
                    <a:pos x="T0" y="T1"/>
                  </a:cxn>
                  <a:cxn ang="T7">
                    <a:pos x="T2" y="T3"/>
                  </a:cxn>
                  <a:cxn ang="T8">
                    <a:pos x="T4" y="T5"/>
                  </a:cxn>
                </a:cxnLst>
                <a:rect l="T9" t="T10" r="T11" b="T12"/>
                <a:pathLst>
                  <a:path w="2688" h="240">
                    <a:moveTo>
                      <a:pt x="0" y="240"/>
                    </a:moveTo>
                    <a:cubicBezTo>
                      <a:pt x="424" y="120"/>
                      <a:pt x="848" y="0"/>
                      <a:pt x="1296" y="0"/>
                    </a:cubicBezTo>
                    <a:cubicBezTo>
                      <a:pt x="1744" y="0"/>
                      <a:pt x="2456" y="200"/>
                      <a:pt x="2688" y="240"/>
                    </a:cubicBezTo>
                  </a:path>
                </a:pathLst>
              </a:custGeom>
              <a:noFill/>
              <a:ln w="28575"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6373" name="Text Box 16">
                <a:extLst>
                  <a:ext uri="{FF2B5EF4-FFF2-40B4-BE49-F238E27FC236}">
                    <a16:creationId xmlns:a16="http://schemas.microsoft.com/office/drawing/2014/main" id="{586DC9A3-D0EF-4422-8108-499E258E0177}"/>
                  </a:ext>
                </a:extLst>
              </p:cNvPr>
              <p:cNvSpPr txBox="1">
                <a:spLocks noChangeArrowheads="1"/>
              </p:cNvSpPr>
              <p:nvPr/>
            </p:nvSpPr>
            <p:spPr bwMode="auto">
              <a:xfrm>
                <a:off x="1824" y="2928"/>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kumimoji="1" lang="en-US" altLang="zh-CN" sz="2400">
                    <a:latin typeface="黑体" panose="02010609060101010101" pitchFamily="49" charset="-122"/>
                    <a:ea typeface="黑体" panose="02010609060101010101" pitchFamily="49" charset="-122"/>
                  </a:rPr>
                  <a:t>Pi</a:t>
                </a:r>
              </a:p>
            </p:txBody>
          </p:sp>
          <p:sp>
            <p:nvSpPr>
              <p:cNvPr id="356374" name="Text Box 17">
                <a:extLst>
                  <a:ext uri="{FF2B5EF4-FFF2-40B4-BE49-F238E27FC236}">
                    <a16:creationId xmlns:a16="http://schemas.microsoft.com/office/drawing/2014/main" id="{AEE68FD7-FB57-4064-AD74-ABDE6FFD4A00}"/>
                  </a:ext>
                </a:extLst>
              </p:cNvPr>
              <p:cNvSpPr txBox="1">
                <a:spLocks noChangeArrowheads="1"/>
              </p:cNvSpPr>
              <p:nvPr/>
            </p:nvSpPr>
            <p:spPr bwMode="auto">
              <a:xfrm>
                <a:off x="1880" y="1913"/>
                <a:ext cx="2038"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a:spcBef>
                    <a:spcPct val="0"/>
                  </a:spcBef>
                  <a:buFontTx/>
                  <a:buNone/>
                </a:pPr>
                <a:r>
                  <a:rPr kumimoji="1" lang="zh-CN" altLang="en-US" sz="2800">
                    <a:solidFill>
                      <a:srgbClr val="0000FF"/>
                    </a:solidFill>
                    <a:latin typeface="黑体" panose="02010609060101010101" pitchFamily="49" charset="-122"/>
                    <a:ea typeface="黑体" panose="02010609060101010101" pitchFamily="49" charset="-122"/>
                  </a:rPr>
                  <a:t>磷蛋白磷酸酶</a:t>
                </a:r>
                <a:endParaRPr kumimoji="1" lang="en-US" altLang="zh-CN" sz="2800">
                  <a:solidFill>
                    <a:srgbClr val="0000FF"/>
                  </a:solidFill>
                  <a:latin typeface="黑体" panose="02010609060101010101" pitchFamily="49" charset="-122"/>
                  <a:ea typeface="黑体" panose="02010609060101010101" pitchFamily="49" charset="-122"/>
                </a:endParaRPr>
              </a:p>
              <a:p>
                <a:pPr algn="ctr">
                  <a:spcBef>
                    <a:spcPct val="0"/>
                  </a:spcBef>
                  <a:buFontTx/>
                  <a:buNone/>
                </a:pPr>
                <a:r>
                  <a:rPr kumimoji="1" lang="en-US" altLang="zh-CN" sz="2400">
                    <a:solidFill>
                      <a:srgbClr val="0000FF"/>
                    </a:solidFill>
                    <a:latin typeface="黑体" panose="02010609060101010101" pitchFamily="49" charset="-122"/>
                    <a:ea typeface="黑体" panose="02010609060101010101" pitchFamily="49" charset="-122"/>
                  </a:rPr>
                  <a:t>protein phosphatase</a:t>
                </a:r>
                <a:endParaRPr kumimoji="1" lang="zh-CN" altLang="en-US" sz="2400">
                  <a:solidFill>
                    <a:srgbClr val="0000FF"/>
                  </a:solidFill>
                  <a:latin typeface="黑体" panose="02010609060101010101" pitchFamily="49" charset="-122"/>
                  <a:ea typeface="黑体" panose="02010609060101010101" pitchFamily="49" charset="-122"/>
                </a:endParaRPr>
              </a:p>
            </p:txBody>
          </p:sp>
        </p:grpSp>
      </p:grpSp>
      <p:grpSp>
        <p:nvGrpSpPr>
          <p:cNvPr id="7" name="Group 18">
            <a:extLst>
              <a:ext uri="{FF2B5EF4-FFF2-40B4-BE49-F238E27FC236}">
                <a16:creationId xmlns:a16="http://schemas.microsoft.com/office/drawing/2014/main" id="{5838910D-E636-456F-967C-81C11E66518C}"/>
              </a:ext>
            </a:extLst>
          </p:cNvPr>
          <p:cNvGrpSpPr>
            <a:grpSpLocks/>
          </p:cNvGrpSpPr>
          <p:nvPr/>
        </p:nvGrpSpPr>
        <p:grpSpPr bwMode="auto">
          <a:xfrm>
            <a:off x="3862389" y="1268414"/>
            <a:ext cx="6262687" cy="3838575"/>
            <a:chOff x="1678" y="432"/>
            <a:chExt cx="3945" cy="2418"/>
          </a:xfrm>
        </p:grpSpPr>
        <p:sp>
          <p:nvSpPr>
            <p:cNvPr id="356359" name="Freeform 19">
              <a:extLst>
                <a:ext uri="{FF2B5EF4-FFF2-40B4-BE49-F238E27FC236}">
                  <a16:creationId xmlns:a16="http://schemas.microsoft.com/office/drawing/2014/main" id="{0821877A-CA46-44FE-951F-80AD9ECC7F81}"/>
                </a:ext>
              </a:extLst>
            </p:cNvPr>
            <p:cNvSpPr>
              <a:spLocks/>
            </p:cNvSpPr>
            <p:nvPr/>
          </p:nvSpPr>
          <p:spPr bwMode="auto">
            <a:xfrm>
              <a:off x="1678" y="1008"/>
              <a:ext cx="2400" cy="336"/>
            </a:xfrm>
            <a:custGeom>
              <a:avLst/>
              <a:gdLst>
                <a:gd name="T0" fmla="*/ 0 w 2688"/>
                <a:gd name="T1" fmla="*/ 2147483646 h 240"/>
                <a:gd name="T2" fmla="*/ 4 w 2688"/>
                <a:gd name="T3" fmla="*/ 0 h 240"/>
                <a:gd name="T4" fmla="*/ 4 w 2688"/>
                <a:gd name="T5" fmla="*/ 2147483646 h 240"/>
                <a:gd name="T6" fmla="*/ 0 60000 65536"/>
                <a:gd name="T7" fmla="*/ 0 60000 65536"/>
                <a:gd name="T8" fmla="*/ 0 60000 65536"/>
                <a:gd name="T9" fmla="*/ 0 w 2688"/>
                <a:gd name="T10" fmla="*/ 0 h 240"/>
                <a:gd name="T11" fmla="*/ 2688 w 2688"/>
                <a:gd name="T12" fmla="*/ 240 h 240"/>
              </a:gdLst>
              <a:ahLst/>
              <a:cxnLst>
                <a:cxn ang="T6">
                  <a:pos x="T0" y="T1"/>
                </a:cxn>
                <a:cxn ang="T7">
                  <a:pos x="T2" y="T3"/>
                </a:cxn>
                <a:cxn ang="T8">
                  <a:pos x="T4" y="T5"/>
                </a:cxn>
              </a:cxnLst>
              <a:rect l="T9" t="T10" r="T11" b="T12"/>
              <a:pathLst>
                <a:path w="2688" h="240">
                  <a:moveTo>
                    <a:pt x="0" y="240"/>
                  </a:moveTo>
                  <a:cubicBezTo>
                    <a:pt x="424" y="120"/>
                    <a:pt x="848" y="0"/>
                    <a:pt x="1296" y="0"/>
                  </a:cubicBezTo>
                  <a:cubicBezTo>
                    <a:pt x="1744" y="0"/>
                    <a:pt x="2456" y="200"/>
                    <a:pt x="2688" y="240"/>
                  </a:cubicBezTo>
                </a:path>
              </a:pathLst>
            </a:custGeom>
            <a:noFill/>
            <a:ln w="28575"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6360" name="Text Box 20">
              <a:extLst>
                <a:ext uri="{FF2B5EF4-FFF2-40B4-BE49-F238E27FC236}">
                  <a16:creationId xmlns:a16="http://schemas.microsoft.com/office/drawing/2014/main" id="{1119EB18-C499-42F5-A90E-959424194D15}"/>
                </a:ext>
              </a:extLst>
            </p:cNvPr>
            <p:cNvSpPr txBox="1">
              <a:spLocks noChangeArrowheads="1"/>
            </p:cNvSpPr>
            <p:nvPr/>
          </p:nvSpPr>
          <p:spPr bwMode="auto">
            <a:xfrm>
              <a:off x="1774" y="432"/>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kumimoji="1" lang="en-US" altLang="zh-CN" sz="2400">
                  <a:latin typeface="黑体" panose="02010609060101010101" pitchFamily="49" charset="-122"/>
                  <a:ea typeface="黑体" panose="02010609060101010101" pitchFamily="49" charset="-122"/>
                </a:rPr>
                <a:t> ATP</a:t>
              </a:r>
            </a:p>
          </p:txBody>
        </p:sp>
        <p:sp>
          <p:nvSpPr>
            <p:cNvPr id="356361" name="Freeform 21">
              <a:extLst>
                <a:ext uri="{FF2B5EF4-FFF2-40B4-BE49-F238E27FC236}">
                  <a16:creationId xmlns:a16="http://schemas.microsoft.com/office/drawing/2014/main" id="{DB54E697-B88F-4054-9400-102DEA5EC67C}"/>
                </a:ext>
              </a:extLst>
            </p:cNvPr>
            <p:cNvSpPr>
              <a:spLocks/>
            </p:cNvSpPr>
            <p:nvPr/>
          </p:nvSpPr>
          <p:spPr bwMode="auto">
            <a:xfrm flipV="1">
              <a:off x="2158" y="768"/>
              <a:ext cx="1440" cy="240"/>
            </a:xfrm>
            <a:custGeom>
              <a:avLst/>
              <a:gdLst>
                <a:gd name="T0" fmla="*/ 0 w 2688"/>
                <a:gd name="T1" fmla="*/ 240 h 240"/>
                <a:gd name="T2" fmla="*/ 1 w 2688"/>
                <a:gd name="T3" fmla="*/ 0 h 240"/>
                <a:gd name="T4" fmla="*/ 1 w 2688"/>
                <a:gd name="T5" fmla="*/ 240 h 240"/>
                <a:gd name="T6" fmla="*/ 0 60000 65536"/>
                <a:gd name="T7" fmla="*/ 0 60000 65536"/>
                <a:gd name="T8" fmla="*/ 0 60000 65536"/>
                <a:gd name="T9" fmla="*/ 0 w 2688"/>
                <a:gd name="T10" fmla="*/ 0 h 240"/>
                <a:gd name="T11" fmla="*/ 2688 w 2688"/>
                <a:gd name="T12" fmla="*/ 240 h 240"/>
              </a:gdLst>
              <a:ahLst/>
              <a:cxnLst>
                <a:cxn ang="T6">
                  <a:pos x="T0" y="T1"/>
                </a:cxn>
                <a:cxn ang="T7">
                  <a:pos x="T2" y="T3"/>
                </a:cxn>
                <a:cxn ang="T8">
                  <a:pos x="T4" y="T5"/>
                </a:cxn>
              </a:cxnLst>
              <a:rect l="T9" t="T10" r="T11" b="T12"/>
              <a:pathLst>
                <a:path w="2688" h="240">
                  <a:moveTo>
                    <a:pt x="0" y="240"/>
                  </a:moveTo>
                  <a:cubicBezTo>
                    <a:pt x="424" y="120"/>
                    <a:pt x="848" y="0"/>
                    <a:pt x="1296" y="0"/>
                  </a:cubicBezTo>
                  <a:cubicBezTo>
                    <a:pt x="1744" y="0"/>
                    <a:pt x="2456" y="200"/>
                    <a:pt x="2688" y="240"/>
                  </a:cubicBezTo>
                </a:path>
              </a:pathLst>
            </a:custGeom>
            <a:noFill/>
            <a:ln w="28575"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6362" name="Text Box 22">
              <a:extLst>
                <a:ext uri="{FF2B5EF4-FFF2-40B4-BE49-F238E27FC236}">
                  <a16:creationId xmlns:a16="http://schemas.microsoft.com/office/drawing/2014/main" id="{A2521973-0E5A-42FC-A2D4-7DF6EB44642A}"/>
                </a:ext>
              </a:extLst>
            </p:cNvPr>
            <p:cNvSpPr txBox="1">
              <a:spLocks noChangeArrowheads="1"/>
            </p:cNvSpPr>
            <p:nvPr/>
          </p:nvSpPr>
          <p:spPr bwMode="auto">
            <a:xfrm>
              <a:off x="3406" y="432"/>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kumimoji="1" lang="en-US" altLang="zh-CN" sz="2400">
                  <a:latin typeface="黑体" panose="02010609060101010101" pitchFamily="49" charset="-122"/>
                  <a:ea typeface="黑体" panose="02010609060101010101" pitchFamily="49" charset="-122"/>
                </a:rPr>
                <a:t>ADP</a:t>
              </a:r>
            </a:p>
          </p:txBody>
        </p:sp>
        <p:sp>
          <p:nvSpPr>
            <p:cNvPr id="356363" name="Text Box 23">
              <a:extLst>
                <a:ext uri="{FF2B5EF4-FFF2-40B4-BE49-F238E27FC236}">
                  <a16:creationId xmlns:a16="http://schemas.microsoft.com/office/drawing/2014/main" id="{6D3C1FAB-0E91-4C34-86CD-C9506C8DB6CF}"/>
                </a:ext>
              </a:extLst>
            </p:cNvPr>
            <p:cNvSpPr txBox="1">
              <a:spLocks noChangeArrowheads="1"/>
            </p:cNvSpPr>
            <p:nvPr/>
          </p:nvSpPr>
          <p:spPr bwMode="auto">
            <a:xfrm>
              <a:off x="1859" y="1015"/>
              <a:ext cx="203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a:spcBef>
                  <a:spcPct val="0"/>
                </a:spcBef>
                <a:buFontTx/>
                <a:buNone/>
              </a:pPr>
              <a:r>
                <a:rPr kumimoji="1" lang="zh-CN" altLang="en-US" sz="2800">
                  <a:solidFill>
                    <a:srgbClr val="0000FF"/>
                  </a:solidFill>
                  <a:latin typeface="黑体" panose="02010609060101010101" pitchFamily="49" charset="-122"/>
                  <a:ea typeface="黑体" panose="02010609060101010101" pitchFamily="49" charset="-122"/>
                </a:rPr>
                <a:t>蛋白激酶</a:t>
              </a:r>
              <a:endParaRPr kumimoji="1" lang="en-US" altLang="zh-CN" sz="2800">
                <a:solidFill>
                  <a:srgbClr val="0000FF"/>
                </a:solidFill>
                <a:latin typeface="黑体" panose="02010609060101010101" pitchFamily="49" charset="-122"/>
                <a:ea typeface="黑体" panose="02010609060101010101" pitchFamily="49" charset="-122"/>
              </a:endParaRPr>
            </a:p>
            <a:p>
              <a:pPr algn="ctr">
                <a:spcBef>
                  <a:spcPct val="0"/>
                </a:spcBef>
                <a:buFontTx/>
                <a:buNone/>
              </a:pPr>
              <a:r>
                <a:rPr kumimoji="1" lang="en-US" altLang="zh-CN" sz="2800">
                  <a:solidFill>
                    <a:srgbClr val="0000FF"/>
                  </a:solidFill>
                  <a:latin typeface="黑体" panose="02010609060101010101" pitchFamily="49" charset="-122"/>
                  <a:ea typeface="黑体" panose="02010609060101010101" pitchFamily="49" charset="-122"/>
                </a:rPr>
                <a:t>protein kinase</a:t>
              </a:r>
              <a:endParaRPr kumimoji="1" lang="zh-CN" altLang="en-US" sz="2800">
                <a:solidFill>
                  <a:srgbClr val="0000FF"/>
                </a:solidFill>
                <a:latin typeface="黑体" panose="02010609060101010101" pitchFamily="49" charset="-122"/>
                <a:ea typeface="黑体" panose="02010609060101010101" pitchFamily="49" charset="-122"/>
              </a:endParaRPr>
            </a:p>
          </p:txBody>
        </p:sp>
        <p:grpSp>
          <p:nvGrpSpPr>
            <p:cNvPr id="356364" name="Group 24">
              <a:extLst>
                <a:ext uri="{FF2B5EF4-FFF2-40B4-BE49-F238E27FC236}">
                  <a16:creationId xmlns:a16="http://schemas.microsoft.com/office/drawing/2014/main" id="{1218A6A6-58A5-4A7C-A255-81AAFBACA2C6}"/>
                </a:ext>
              </a:extLst>
            </p:cNvPr>
            <p:cNvGrpSpPr>
              <a:grpSpLocks/>
            </p:cNvGrpSpPr>
            <p:nvPr/>
          </p:nvGrpSpPr>
          <p:grpSpPr bwMode="auto">
            <a:xfrm>
              <a:off x="4014" y="1253"/>
              <a:ext cx="816" cy="1248"/>
              <a:chOff x="528" y="1536"/>
              <a:chExt cx="816" cy="1248"/>
            </a:xfrm>
          </p:grpSpPr>
          <p:sp>
            <p:nvSpPr>
              <p:cNvPr id="356367" name="Oval 25">
                <a:extLst>
                  <a:ext uri="{FF2B5EF4-FFF2-40B4-BE49-F238E27FC236}">
                    <a16:creationId xmlns:a16="http://schemas.microsoft.com/office/drawing/2014/main" id="{9D245B4B-9FE0-4AC1-B45B-A9053E4FD2D8}"/>
                  </a:ext>
                </a:extLst>
              </p:cNvPr>
              <p:cNvSpPr>
                <a:spLocks noChangeArrowheads="1"/>
              </p:cNvSpPr>
              <p:nvPr/>
            </p:nvSpPr>
            <p:spPr bwMode="auto">
              <a:xfrm>
                <a:off x="528" y="1536"/>
                <a:ext cx="816" cy="1248"/>
              </a:xfrm>
              <a:prstGeom prst="ellipse">
                <a:avLst/>
              </a:prstGeom>
              <a:solidFill>
                <a:srgbClr val="0000FF"/>
              </a:solidFill>
              <a:ln w="12700" cap="sq">
                <a:solidFill>
                  <a:srgbClr val="99CCFF"/>
                </a:solidFill>
                <a:round/>
                <a:headEnd type="none" w="sm" len="sm"/>
                <a:tailEnd type="none" w="sm" len="sm"/>
              </a:ln>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latin typeface="黑体" panose="02010609060101010101" pitchFamily="49" charset="-122"/>
                  <a:ea typeface="黑体" panose="02010609060101010101" pitchFamily="49" charset="-122"/>
                </a:endParaRPr>
              </a:p>
            </p:txBody>
          </p:sp>
          <p:sp>
            <p:nvSpPr>
              <p:cNvPr id="356368" name="Text Box 26">
                <a:extLst>
                  <a:ext uri="{FF2B5EF4-FFF2-40B4-BE49-F238E27FC236}">
                    <a16:creationId xmlns:a16="http://schemas.microsoft.com/office/drawing/2014/main" id="{237B98E6-70AC-49F2-A571-89C34B305E1C}"/>
                  </a:ext>
                </a:extLst>
              </p:cNvPr>
              <p:cNvSpPr txBox="1">
                <a:spLocks noChangeArrowheads="1"/>
              </p:cNvSpPr>
              <p:nvPr/>
            </p:nvSpPr>
            <p:spPr bwMode="auto">
              <a:xfrm>
                <a:off x="733" y="1688"/>
                <a:ext cx="480"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kumimoji="1" lang="en-US" altLang="zh-CN" sz="2400">
                    <a:solidFill>
                      <a:schemeClr val="bg1"/>
                    </a:solidFill>
                    <a:latin typeface="黑体" panose="02010609060101010101" pitchFamily="49" charset="-122"/>
                    <a:ea typeface="黑体" panose="02010609060101010101" pitchFamily="49" charset="-122"/>
                  </a:rPr>
                  <a:t>Thr</a:t>
                </a:r>
              </a:p>
              <a:p>
                <a:pPr>
                  <a:spcBef>
                    <a:spcPct val="50000"/>
                  </a:spcBef>
                  <a:buFontTx/>
                  <a:buNone/>
                </a:pPr>
                <a:r>
                  <a:rPr kumimoji="1" lang="en-US" altLang="zh-CN" sz="2400">
                    <a:solidFill>
                      <a:schemeClr val="bg1"/>
                    </a:solidFill>
                    <a:latin typeface="黑体" panose="02010609060101010101" pitchFamily="49" charset="-122"/>
                    <a:ea typeface="黑体" panose="02010609060101010101" pitchFamily="49" charset="-122"/>
                  </a:rPr>
                  <a:t>Ser</a:t>
                </a:r>
              </a:p>
              <a:p>
                <a:pPr>
                  <a:spcBef>
                    <a:spcPct val="50000"/>
                  </a:spcBef>
                  <a:buFontTx/>
                  <a:buNone/>
                </a:pPr>
                <a:r>
                  <a:rPr kumimoji="1" lang="en-US" altLang="zh-CN" sz="2400">
                    <a:solidFill>
                      <a:schemeClr val="bg1"/>
                    </a:solidFill>
                    <a:latin typeface="黑体" panose="02010609060101010101" pitchFamily="49" charset="-122"/>
                    <a:ea typeface="黑体" panose="02010609060101010101" pitchFamily="49" charset="-122"/>
                  </a:rPr>
                  <a:t>Tyr</a:t>
                </a:r>
              </a:p>
            </p:txBody>
          </p:sp>
        </p:grpSp>
        <p:sp>
          <p:nvSpPr>
            <p:cNvPr id="356365" name="Text Box 27">
              <a:extLst>
                <a:ext uri="{FF2B5EF4-FFF2-40B4-BE49-F238E27FC236}">
                  <a16:creationId xmlns:a16="http://schemas.microsoft.com/office/drawing/2014/main" id="{C7B3D8A2-4E22-4851-8955-6C8216BEFA4A}"/>
                </a:ext>
              </a:extLst>
            </p:cNvPr>
            <p:cNvSpPr txBox="1">
              <a:spLocks noChangeArrowheads="1"/>
            </p:cNvSpPr>
            <p:nvPr/>
          </p:nvSpPr>
          <p:spPr bwMode="auto">
            <a:xfrm>
              <a:off x="4776" y="1684"/>
              <a:ext cx="8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kumimoji="1" lang="en-US" altLang="zh-CN" sz="2400">
                  <a:solidFill>
                    <a:srgbClr val="FF0000"/>
                  </a:solidFill>
                  <a:latin typeface="黑体" panose="02010609060101010101" pitchFamily="49" charset="-122"/>
                  <a:ea typeface="黑体" panose="02010609060101010101" pitchFamily="49" charset="-122"/>
                  <a:cs typeface="Times New Roman" panose="02020603050405020304" pitchFamily="18" charset="0"/>
                </a:rPr>
                <a:t>-O-PO</a:t>
              </a:r>
              <a:r>
                <a:rPr kumimoji="1" lang="en-US" altLang="zh-CN" sz="2400" baseline="-25000">
                  <a:solidFill>
                    <a:srgbClr val="FF0000"/>
                  </a:solidFill>
                  <a:latin typeface="黑体" panose="02010609060101010101" pitchFamily="49" charset="-122"/>
                  <a:ea typeface="黑体" panose="02010609060101010101" pitchFamily="49" charset="-122"/>
                  <a:cs typeface="Times New Roman" panose="02020603050405020304" pitchFamily="18" charset="0"/>
                </a:rPr>
                <a:t>3</a:t>
              </a:r>
              <a:r>
                <a:rPr kumimoji="1" lang="en-US" altLang="zh-CN" sz="2400" baseline="30000">
                  <a:solidFill>
                    <a:srgbClr val="FF0000"/>
                  </a:solidFill>
                  <a:latin typeface="黑体" panose="02010609060101010101" pitchFamily="49" charset="-122"/>
                  <a:ea typeface="黑体" panose="02010609060101010101" pitchFamily="49" charset="-122"/>
                  <a:cs typeface="Times New Roman" panose="02020603050405020304" pitchFamily="18" charset="0"/>
                </a:rPr>
                <a:t>2-</a:t>
              </a:r>
            </a:p>
          </p:txBody>
        </p:sp>
        <p:sp>
          <p:nvSpPr>
            <p:cNvPr id="356366" name="Text Box 28">
              <a:extLst>
                <a:ext uri="{FF2B5EF4-FFF2-40B4-BE49-F238E27FC236}">
                  <a16:creationId xmlns:a16="http://schemas.microsoft.com/office/drawing/2014/main" id="{05DD48A3-DDAB-4934-9ECA-7D0EF476D1E2}"/>
                </a:ext>
              </a:extLst>
            </p:cNvPr>
            <p:cNvSpPr txBox="1">
              <a:spLocks noChangeArrowheads="1"/>
            </p:cNvSpPr>
            <p:nvPr/>
          </p:nvSpPr>
          <p:spPr bwMode="auto">
            <a:xfrm>
              <a:off x="4105" y="2523"/>
              <a:ext cx="9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kumimoji="1" lang="zh-CN" altLang="en-US" sz="2800">
                  <a:latin typeface="黑体" panose="02010609060101010101" pitchFamily="49" charset="-122"/>
                  <a:ea typeface="黑体" panose="02010609060101010101" pitchFamily="49" charset="-122"/>
                </a:rPr>
                <a:t>酶蛋白</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1" presetClass="entr" presetSubtype="4" fill="hold" grpId="0" nodeType="withEffect">
                                  <p:stCondLst>
                                    <p:cond delay="0"/>
                                  </p:stCondLst>
                                  <p:childTnLst>
                                    <p:set>
                                      <p:cBhvr>
                                        <p:cTn id="13" dur="1" fill="hold">
                                          <p:stCondLst>
                                            <p:cond delay="0"/>
                                          </p:stCondLst>
                                        </p:cTn>
                                        <p:tgtEl>
                                          <p:spTgt spid="1472514"/>
                                        </p:tgtEl>
                                        <p:attrNameLst>
                                          <p:attrName>style.visibility</p:attrName>
                                        </p:attrNameLst>
                                      </p:cBhvr>
                                      <p:to>
                                        <p:strVal val="visible"/>
                                      </p:to>
                                    </p:set>
                                    <p:animEffect transition="in" filter="wheel(4)">
                                      <p:cBhvr>
                                        <p:cTn id="14" dur="2000"/>
                                        <p:tgtEl>
                                          <p:spTgt spid="147251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2"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right)">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2514"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a:extLst>
              <a:ext uri="{FF2B5EF4-FFF2-40B4-BE49-F238E27FC236}">
                <a16:creationId xmlns:a16="http://schemas.microsoft.com/office/drawing/2014/main" id="{99967B4A-328A-4122-95FE-991E0C47C862}"/>
              </a:ext>
            </a:extLst>
          </p:cNvPr>
          <p:cNvSpPr>
            <a:spLocks noChangeArrowheads="1"/>
          </p:cNvSpPr>
          <p:nvPr/>
        </p:nvSpPr>
        <p:spPr bwMode="auto">
          <a:xfrm>
            <a:off x="3071814" y="476250"/>
            <a:ext cx="57610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a:latin typeface="Times New Roman" panose="02020603050405020304" pitchFamily="18" charset="0"/>
                <a:ea typeface="黑体" panose="02010609060101010101" pitchFamily="49" charset="-122"/>
                <a:cs typeface="Times New Roman" panose="02020603050405020304" pitchFamily="18" charset="0"/>
              </a:rPr>
              <a:t>酶促共价修饰对酶活性的调节</a:t>
            </a:r>
          </a:p>
        </p:txBody>
      </p:sp>
      <p:graphicFrame>
        <p:nvGraphicFramePr>
          <p:cNvPr id="1474563" name="Group 3">
            <a:extLst>
              <a:ext uri="{FF2B5EF4-FFF2-40B4-BE49-F238E27FC236}">
                <a16:creationId xmlns:a16="http://schemas.microsoft.com/office/drawing/2014/main" id="{337CE57B-A92F-449A-BBFE-CDD7CAA1184B}"/>
              </a:ext>
            </a:extLst>
          </p:cNvPr>
          <p:cNvGraphicFramePr>
            <a:graphicFrameLocks noGrp="1"/>
          </p:cNvGraphicFramePr>
          <p:nvPr/>
        </p:nvGraphicFramePr>
        <p:xfrm>
          <a:off x="1884363" y="1341438"/>
          <a:ext cx="8243888" cy="4895850"/>
        </p:xfrm>
        <a:graphic>
          <a:graphicData uri="http://schemas.openxmlformats.org/drawingml/2006/table">
            <a:tbl>
              <a:tblPr/>
              <a:tblGrid>
                <a:gridCol w="3348038">
                  <a:extLst>
                    <a:ext uri="{9D8B030D-6E8A-4147-A177-3AD203B41FA5}">
                      <a16:colId xmlns:a16="http://schemas.microsoft.com/office/drawing/2014/main" val="20000"/>
                    </a:ext>
                  </a:extLst>
                </a:gridCol>
                <a:gridCol w="2736850">
                  <a:extLst>
                    <a:ext uri="{9D8B030D-6E8A-4147-A177-3AD203B41FA5}">
                      <a16:colId xmlns:a16="http://schemas.microsoft.com/office/drawing/2014/main" val="20001"/>
                    </a:ext>
                  </a:extLst>
                </a:gridCol>
                <a:gridCol w="2159000">
                  <a:extLst>
                    <a:ext uri="{9D8B030D-6E8A-4147-A177-3AD203B41FA5}">
                      <a16:colId xmlns:a16="http://schemas.microsoft.com/office/drawing/2014/main" val="20002"/>
                    </a:ext>
                  </a:extLst>
                </a:gridCol>
              </a:tblGrid>
              <a:tr h="49287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FF0000"/>
                          </a:solidFill>
                          <a:effectLst/>
                          <a:latin typeface="Times New Roman" pitchFamily="18" charset="0"/>
                          <a:ea typeface="黑体" pitchFamily="49" charset="-122"/>
                          <a:cs typeface="Times New Roman" pitchFamily="18" charset="0"/>
                        </a:rPr>
                        <a:t>            </a:t>
                      </a:r>
                      <a:r>
                        <a:rPr kumimoji="0" lang="zh-CN" altLang="en-US" sz="2400" b="0" i="0" u="none" strike="noStrike" cap="none" normalizeH="0" baseline="0" dirty="0">
                          <a:ln>
                            <a:noFill/>
                          </a:ln>
                          <a:solidFill>
                            <a:srgbClr val="FF0000"/>
                          </a:solidFill>
                          <a:effectLst/>
                          <a:latin typeface="Times New Roman" pitchFamily="18" charset="0"/>
                          <a:ea typeface="黑体" pitchFamily="49" charset="-122"/>
                          <a:cs typeface="Times New Roman" pitchFamily="18" charset="0"/>
                        </a:rPr>
                        <a:t>酶</a:t>
                      </a:r>
                    </a:p>
                  </a:txBody>
                  <a:tcPr marT="45723" marB="45723"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FF0000"/>
                          </a:solidFill>
                          <a:effectLst/>
                          <a:latin typeface="Times New Roman" pitchFamily="18" charset="0"/>
                          <a:ea typeface="黑体" pitchFamily="49" charset="-122"/>
                          <a:cs typeface="Times New Roman" pitchFamily="18" charset="0"/>
                        </a:rPr>
                        <a:t>共价修饰类型</a:t>
                      </a:r>
                    </a:p>
                  </a:txBody>
                  <a:tcPr marT="45723" marB="45723"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FF0000"/>
                          </a:solidFill>
                          <a:effectLst/>
                          <a:latin typeface="Times New Roman" pitchFamily="18" charset="0"/>
                          <a:ea typeface="黑体" pitchFamily="49" charset="-122"/>
                          <a:cs typeface="Times New Roman" pitchFamily="18" charset="0"/>
                        </a:rPr>
                        <a:t>酶活性改变</a:t>
                      </a:r>
                    </a:p>
                  </a:txBody>
                  <a:tcPr marT="45723" marB="45723"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02979">
                <a:tc>
                  <a:txBody>
                    <a:bodyPr/>
                    <a:lstStyle/>
                    <a:p>
                      <a:pPr marL="0" marR="0" lvl="0" indent="133350" algn="l"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糖原磷酸化酶</a:t>
                      </a:r>
                    </a:p>
                    <a:p>
                      <a:pPr marL="0" marR="0" lvl="0" indent="133350"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磷酸化酶</a:t>
                      </a:r>
                      <a:r>
                        <a:rPr kumimoji="0" lang="en-US" altLang="zh-CN"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b</a:t>
                      </a:r>
                      <a:r>
                        <a:rPr kumimoji="0" lang="zh-CN" altLang="en-US"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激酶</a:t>
                      </a:r>
                    </a:p>
                    <a:p>
                      <a:pPr marL="0" marR="0" lvl="0" indent="133350"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糖原合成酶</a:t>
                      </a:r>
                    </a:p>
                    <a:p>
                      <a:pPr marL="0" marR="0" lvl="0" indent="133350"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丙酮酸脱羧酶</a:t>
                      </a:r>
                    </a:p>
                    <a:p>
                      <a:pPr marL="0" marR="0" lvl="0" indent="133350"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磷酸果糖激酶</a:t>
                      </a:r>
                    </a:p>
                    <a:p>
                      <a:pPr marL="0" marR="0" lvl="0" indent="133350"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丙酮酸脱氢酶</a:t>
                      </a:r>
                    </a:p>
                    <a:p>
                      <a:pPr marL="0" marR="0" lvl="0" indent="133350" algn="l" defTabSz="914400" rtl="0" eaLnBrk="0" fontAlgn="base" latinLnBrk="0" hangingPunct="0">
                        <a:lnSpc>
                          <a:spcPct val="120000"/>
                        </a:lnSpc>
                        <a:spcBef>
                          <a:spcPct val="0"/>
                        </a:spcBef>
                        <a:spcAft>
                          <a:spcPct val="0"/>
                        </a:spcAft>
                        <a:buClrTx/>
                        <a:buSzTx/>
                        <a:buFontTx/>
                        <a:buNone/>
                        <a:tabLst/>
                      </a:pPr>
                      <a:r>
                        <a:rPr kumimoji="0" lang="en-US" altLang="zh-CN" sz="2000" b="0"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HMG-CoA</a:t>
                      </a:r>
                      <a:r>
                        <a:rPr kumimoji="0" lang="zh-CN" altLang="en-US" sz="2000" b="0"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还原酶</a:t>
                      </a:r>
                    </a:p>
                    <a:p>
                      <a:pPr marL="0" marR="0" lvl="0" indent="133350" algn="l" defTabSz="914400" rtl="0" eaLnBrk="0" fontAlgn="base" latinLnBrk="0" hangingPunct="0">
                        <a:lnSpc>
                          <a:spcPct val="120000"/>
                        </a:lnSpc>
                        <a:spcBef>
                          <a:spcPct val="0"/>
                        </a:spcBef>
                        <a:spcAft>
                          <a:spcPct val="0"/>
                        </a:spcAft>
                        <a:buClrTx/>
                        <a:buSzTx/>
                        <a:buFontTx/>
                        <a:buNone/>
                        <a:tabLst/>
                      </a:pPr>
                      <a:r>
                        <a:rPr kumimoji="0" lang="en-US" altLang="zh-CN" sz="2000" b="0"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HMG-CoA</a:t>
                      </a:r>
                      <a:r>
                        <a:rPr kumimoji="0" lang="zh-CN" altLang="en-US" sz="2000" b="0"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还原酶激酶</a:t>
                      </a:r>
                    </a:p>
                    <a:p>
                      <a:pPr marL="0" marR="0" lvl="0" indent="133350"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乙酰</a:t>
                      </a:r>
                      <a:r>
                        <a:rPr kumimoji="0" lang="en-US" altLang="zh-CN" sz="2000" b="0"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CoA</a:t>
                      </a:r>
                      <a:r>
                        <a:rPr kumimoji="0" lang="zh-CN" altLang="en-US" sz="2000" b="0"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羧化酶</a:t>
                      </a:r>
                    </a:p>
                    <a:p>
                      <a:pPr marL="0" marR="0" lvl="0" indent="133350"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脂肪细胞甘油三脂脂肪酶</a:t>
                      </a:r>
                    </a:p>
                  </a:txBody>
                  <a:tcPr marT="45723" marB="45723"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00025" algn="l"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磷酸化</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脱磷酸化</a:t>
                      </a:r>
                    </a:p>
                    <a:p>
                      <a:pPr marL="0" marR="0" lvl="0" indent="200025"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磷酸化</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脱磷酸化</a:t>
                      </a:r>
                    </a:p>
                    <a:p>
                      <a:pPr marL="0" marR="0" lvl="0" indent="200025"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磷酸化</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脱磷酸化</a:t>
                      </a:r>
                    </a:p>
                    <a:p>
                      <a:pPr marL="0" marR="0" lvl="0" indent="200025"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磷酸化</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脱磷酸化</a:t>
                      </a:r>
                    </a:p>
                    <a:p>
                      <a:pPr marL="0" marR="0" lvl="0" indent="200025"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磷酸化</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脱磷酸化</a:t>
                      </a:r>
                    </a:p>
                    <a:p>
                      <a:pPr marL="0" marR="0" lvl="0" indent="200025"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磷酸化</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脱磷酸化</a:t>
                      </a:r>
                    </a:p>
                    <a:p>
                      <a:pPr marL="0" marR="0" lvl="0" indent="200025"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磷酸化</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脱磷酸化</a:t>
                      </a:r>
                    </a:p>
                    <a:p>
                      <a:pPr marL="0" marR="0" lvl="0" indent="200025"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磷酸化</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脱磷酸化</a:t>
                      </a:r>
                    </a:p>
                    <a:p>
                      <a:pPr marL="0" marR="0" lvl="0" indent="200025"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磷酸化</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脱磷酸化</a:t>
                      </a:r>
                    </a:p>
                    <a:p>
                      <a:pPr marL="0" marR="0" lvl="0" indent="200025"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磷酸化</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脱磷酸化</a:t>
                      </a:r>
                    </a:p>
                    <a:p>
                      <a:pPr marL="0" marR="0" lvl="0" indent="200025" algn="ctr" defTabSz="914400" rtl="0" eaLnBrk="0" fontAlgn="base" latinLnBrk="0" hangingPunct="0">
                        <a:lnSpc>
                          <a:spcPct val="11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T="45723" marB="45723"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激活</a:t>
                      </a:r>
                      <a:r>
                        <a:rPr kumimoji="0" lang="en-US" altLang="zh-CN"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抑制</a:t>
                      </a:r>
                    </a:p>
                    <a:p>
                      <a:pPr marL="0" marR="0" lvl="0" indent="0" algn="ctr"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激活</a:t>
                      </a:r>
                      <a:r>
                        <a:rPr kumimoji="0" lang="en-US" altLang="zh-CN"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抑制</a:t>
                      </a:r>
                    </a:p>
                    <a:p>
                      <a:pPr marL="0" marR="0" lvl="0" indent="0" algn="ctr"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抑制</a:t>
                      </a:r>
                      <a:r>
                        <a:rPr kumimoji="0" lang="en-US" altLang="zh-CN"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rgbClr val="C00000"/>
                          </a:solidFill>
                          <a:effectLst/>
                          <a:latin typeface="Times New Roman" pitchFamily="18" charset="0"/>
                          <a:ea typeface="黑体" pitchFamily="49" charset="-122"/>
                          <a:cs typeface="Times New Roman" pitchFamily="18" charset="0"/>
                        </a:rPr>
                        <a:t>激活</a:t>
                      </a:r>
                    </a:p>
                    <a:p>
                      <a:pPr marL="0" marR="0" lvl="0" indent="0" algn="ctr"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抑制</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激活</a:t>
                      </a:r>
                    </a:p>
                    <a:p>
                      <a:pPr marL="0" marR="0" lvl="0" indent="0" algn="ctr"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抑制</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激活</a:t>
                      </a:r>
                    </a:p>
                    <a:p>
                      <a:pPr marL="0" marR="0" lvl="0" indent="0" algn="ctr"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抑制</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激活</a:t>
                      </a:r>
                    </a:p>
                    <a:p>
                      <a:pPr marL="0" marR="0" lvl="0" indent="0" algn="ctr"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抑制</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激活</a:t>
                      </a:r>
                    </a:p>
                    <a:p>
                      <a:pPr marL="0" marR="0" lvl="0" indent="0" algn="ctr"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激活</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抑制</a:t>
                      </a:r>
                    </a:p>
                    <a:p>
                      <a:pPr marL="0" marR="0" lvl="0" indent="0" algn="ctr"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抑制</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激活</a:t>
                      </a:r>
                    </a:p>
                    <a:p>
                      <a:pPr marL="0" marR="0" lvl="0" indent="0" algn="ctr"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激活</a:t>
                      </a:r>
                      <a:r>
                        <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抑制</a:t>
                      </a:r>
                    </a:p>
                    <a:p>
                      <a:pPr marL="0" marR="0" lvl="0" indent="0" algn="ctr" defTabSz="914400" rtl="0" eaLnBrk="0" fontAlgn="base" latinLnBrk="0" hangingPunct="0">
                        <a:lnSpc>
                          <a:spcPct val="11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T="45723" marB="45723"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58417" name="Line 17">
            <a:extLst>
              <a:ext uri="{FF2B5EF4-FFF2-40B4-BE49-F238E27FC236}">
                <a16:creationId xmlns:a16="http://schemas.microsoft.com/office/drawing/2014/main" id="{CE3698B6-4B58-4FA4-B0CB-FCC5DA9C2043}"/>
              </a:ext>
            </a:extLst>
          </p:cNvPr>
          <p:cNvSpPr>
            <a:spLocks noChangeShapeType="1"/>
          </p:cNvSpPr>
          <p:nvPr/>
        </p:nvSpPr>
        <p:spPr bwMode="auto">
          <a:xfrm>
            <a:off x="1884363" y="1341438"/>
            <a:ext cx="817245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18" name="Line 18">
            <a:extLst>
              <a:ext uri="{FF2B5EF4-FFF2-40B4-BE49-F238E27FC236}">
                <a16:creationId xmlns:a16="http://schemas.microsoft.com/office/drawing/2014/main" id="{15623EEB-C596-4EC5-993B-2BDF1F61FC34}"/>
              </a:ext>
            </a:extLst>
          </p:cNvPr>
          <p:cNvSpPr>
            <a:spLocks noChangeShapeType="1"/>
          </p:cNvSpPr>
          <p:nvPr/>
        </p:nvSpPr>
        <p:spPr bwMode="auto">
          <a:xfrm>
            <a:off x="1884364" y="1773238"/>
            <a:ext cx="824388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19" name="Line 19">
            <a:extLst>
              <a:ext uri="{FF2B5EF4-FFF2-40B4-BE49-F238E27FC236}">
                <a16:creationId xmlns:a16="http://schemas.microsoft.com/office/drawing/2014/main" id="{9203F34B-6C9E-4BC8-8A18-A2926CC6BA81}"/>
              </a:ext>
            </a:extLst>
          </p:cNvPr>
          <p:cNvSpPr>
            <a:spLocks noChangeShapeType="1"/>
          </p:cNvSpPr>
          <p:nvPr/>
        </p:nvSpPr>
        <p:spPr bwMode="auto">
          <a:xfrm>
            <a:off x="1884364" y="5876925"/>
            <a:ext cx="824388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a:extLst>
              <a:ext uri="{FF2B5EF4-FFF2-40B4-BE49-F238E27FC236}">
                <a16:creationId xmlns:a16="http://schemas.microsoft.com/office/drawing/2014/main" id="{3F48F579-4D29-4BA1-8A0F-A471325611A2}"/>
              </a:ext>
            </a:extLst>
          </p:cNvPr>
          <p:cNvSpPr>
            <a:spLocks noGrp="1" noChangeArrowheads="1"/>
          </p:cNvSpPr>
          <p:nvPr>
            <p:ph type="title"/>
          </p:nvPr>
        </p:nvSpPr>
        <p:spPr>
          <a:xfrm>
            <a:off x="2457450" y="765175"/>
            <a:ext cx="7634288" cy="685800"/>
          </a:xfrm>
        </p:spPr>
        <p:txBody>
          <a:bodyPr/>
          <a:lstStyle/>
          <a:p>
            <a:pPr eaLnBrk="1" hangingPunct="1"/>
            <a:r>
              <a:rPr lang="zh-CN" altLang="en-US" sz="3600">
                <a:solidFill>
                  <a:srgbClr val="FF0000"/>
                </a:solidFill>
                <a:latin typeface="黑体" panose="02010609060101010101" pitchFamily="49" charset="-122"/>
                <a:ea typeface="黑体" panose="02010609060101010101" pitchFamily="49" charset="-122"/>
              </a:rPr>
              <a:t>共价修饰调节的特点</a:t>
            </a:r>
          </a:p>
        </p:txBody>
      </p:sp>
      <p:sp>
        <p:nvSpPr>
          <p:cNvPr id="360451" name="Rectangle 3">
            <a:extLst>
              <a:ext uri="{FF2B5EF4-FFF2-40B4-BE49-F238E27FC236}">
                <a16:creationId xmlns:a16="http://schemas.microsoft.com/office/drawing/2014/main" id="{7692CED1-467C-4346-AFE4-98374FE8415B}"/>
              </a:ext>
            </a:extLst>
          </p:cNvPr>
          <p:cNvSpPr>
            <a:spLocks noGrp="1" noChangeArrowheads="1"/>
          </p:cNvSpPr>
          <p:nvPr>
            <p:ph type="body" sz="half" idx="1"/>
          </p:nvPr>
        </p:nvSpPr>
        <p:spPr>
          <a:xfrm>
            <a:off x="2457450" y="1772817"/>
            <a:ext cx="7526338" cy="4105275"/>
          </a:xfrm>
        </p:spPr>
        <p:txBody>
          <a:bodyPr/>
          <a:lstStyle/>
          <a:p>
            <a:pPr marL="514350" indent="-514350" eaLnBrk="1" hangingPunct="1">
              <a:lnSpc>
                <a:spcPct val="140000"/>
              </a:lnSpc>
              <a:buFont typeface="宋体" panose="02010600030101010101" pitchFamily="2" charset="-122"/>
              <a:buAutoNum type="circleNumDbPlain"/>
            </a:pPr>
            <a:r>
              <a:rPr lang="zh-CN" altLang="en-US" sz="2800" dirty="0">
                <a:latin typeface="黑体" panose="02010609060101010101" pitchFamily="49" charset="-122"/>
                <a:ea typeface="黑体" panose="02010609060101010101" pitchFamily="49" charset="-122"/>
              </a:rPr>
              <a:t>受共价修饰的酶存在</a:t>
            </a:r>
            <a:r>
              <a:rPr lang="zh-CN" altLang="en-US" sz="2800" dirty="0">
                <a:solidFill>
                  <a:srgbClr val="0000CC"/>
                </a:solidFill>
                <a:latin typeface="黑体" panose="02010609060101010101" pitchFamily="49" charset="-122"/>
                <a:ea typeface="黑体" panose="02010609060101010101" pitchFamily="49" charset="-122"/>
              </a:rPr>
              <a:t>有（高）活性</a:t>
            </a:r>
            <a:r>
              <a:rPr lang="zh-CN" altLang="en-US" sz="2800" dirty="0">
                <a:latin typeface="黑体" panose="02010609060101010101" pitchFamily="49" charset="-122"/>
                <a:ea typeface="黑体" panose="02010609060101010101" pitchFamily="49" charset="-122"/>
              </a:rPr>
              <a:t>和</a:t>
            </a:r>
            <a:r>
              <a:rPr lang="zh-CN" altLang="en-US" sz="2800" dirty="0">
                <a:solidFill>
                  <a:srgbClr val="0000CC"/>
                </a:solidFill>
                <a:latin typeface="黑体" panose="02010609060101010101" pitchFamily="49" charset="-122"/>
                <a:ea typeface="黑体" panose="02010609060101010101" pitchFamily="49" charset="-122"/>
              </a:rPr>
              <a:t>无（低）活性两种形式</a:t>
            </a:r>
            <a:r>
              <a:rPr lang="zh-CN" altLang="en-US" sz="2800" dirty="0">
                <a:latin typeface="黑体" panose="02010609060101010101" pitchFamily="49" charset="-122"/>
                <a:ea typeface="黑体" panose="02010609060101010101" pitchFamily="49" charset="-122"/>
              </a:rPr>
              <a:t>；  磷酸化引发酶的构象变化而改变其活性。</a:t>
            </a:r>
          </a:p>
          <a:p>
            <a:pPr marL="514350" indent="-514350" eaLnBrk="1" hangingPunct="1">
              <a:lnSpc>
                <a:spcPct val="140000"/>
              </a:lnSpc>
              <a:buFont typeface="宋体" panose="02010600030101010101" pitchFamily="2" charset="-122"/>
              <a:buAutoNum type="circleNumDbPlain"/>
            </a:pPr>
            <a:r>
              <a:rPr lang="zh-CN" altLang="en-US" sz="2800" dirty="0">
                <a:latin typeface="黑体" panose="02010609060101010101" pitchFamily="49" charset="-122"/>
                <a:ea typeface="黑体" panose="02010609060101010101" pitchFamily="49" charset="-122"/>
              </a:rPr>
              <a:t>受激素的调节；</a:t>
            </a:r>
          </a:p>
          <a:p>
            <a:pPr marL="514350" indent="-514350" eaLnBrk="1" hangingPunct="1">
              <a:lnSpc>
                <a:spcPct val="140000"/>
              </a:lnSpc>
              <a:buFont typeface="宋体" panose="02010600030101010101" pitchFamily="2" charset="-122"/>
              <a:buAutoNum type="circleNumDbPlain"/>
            </a:pPr>
            <a:r>
              <a:rPr lang="zh-CN" altLang="en-US" sz="2800" dirty="0">
                <a:latin typeface="黑体" panose="02010609060101010101" pitchFamily="49" charset="-122"/>
                <a:ea typeface="黑体" panose="02010609060101010101" pitchFamily="49" charset="-122"/>
              </a:rPr>
              <a:t>具有瀑布效应（级联效应） </a:t>
            </a:r>
            <a:endParaRPr lang="en-US" altLang="zh-CN" sz="2800" dirty="0">
              <a:latin typeface="黑体" panose="02010609060101010101" pitchFamily="49" charset="-122"/>
              <a:ea typeface="黑体" panose="02010609060101010101" pitchFamily="49" charset="-122"/>
            </a:endParaRPr>
          </a:p>
          <a:p>
            <a:pPr marL="514350" indent="-514350" eaLnBrk="1" hangingPunct="1">
              <a:lnSpc>
                <a:spcPct val="140000"/>
              </a:lnSpc>
              <a:buFont typeface="宋体" panose="02010600030101010101" pitchFamily="2" charset="-122"/>
              <a:buAutoNum type="circleNumDbPlain"/>
            </a:pPr>
            <a:r>
              <a:rPr lang="zh-CN" altLang="en-US" sz="2800" dirty="0">
                <a:latin typeface="黑体" panose="02010609060101010101" pitchFamily="49" charset="-122"/>
                <a:ea typeface="黑体" panose="02010609060101010101" pitchFamily="49" charset="-122"/>
              </a:rPr>
              <a:t>多为寡聚酶</a:t>
            </a:r>
            <a:endParaRPr lang="en-US" altLang="zh-CN" sz="280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6610" name="Rectangle 2">
            <a:extLst>
              <a:ext uri="{FF2B5EF4-FFF2-40B4-BE49-F238E27FC236}">
                <a16:creationId xmlns:a16="http://schemas.microsoft.com/office/drawing/2014/main" id="{A925C39B-3E25-4DAA-A66D-9FBD3312223C}"/>
              </a:ext>
            </a:extLst>
          </p:cNvPr>
          <p:cNvSpPr>
            <a:spLocks noGrp="1" noChangeArrowheads="1"/>
          </p:cNvSpPr>
          <p:nvPr>
            <p:ph type="title"/>
          </p:nvPr>
        </p:nvSpPr>
        <p:spPr>
          <a:xfrm>
            <a:off x="1249362" y="246064"/>
            <a:ext cx="5494710" cy="6410325"/>
          </a:xfrm>
        </p:spPr>
        <p:txBody>
          <a:bodyPr/>
          <a:lstStyle/>
          <a:p>
            <a:pPr algn="l" eaLnBrk="1" hangingPunct="1">
              <a:defRPr/>
            </a:pPr>
            <a:r>
              <a:rPr lang="zh-CN" altLang="en-US" sz="3200" dirty="0">
                <a:solidFill>
                  <a:srgbClr val="FF0000"/>
                </a:solidFill>
                <a:latin typeface="Times New Roman" pitchFamily="18" charset="0"/>
                <a:ea typeface="黑体" pitchFamily="49" charset="-122"/>
              </a:rPr>
              <a:t>瀑布效应（级联放大效应）的典型例子： </a:t>
            </a:r>
            <a:br>
              <a:rPr lang="en-US" altLang="zh-CN" sz="3200" dirty="0">
                <a:solidFill>
                  <a:srgbClr val="FF0000"/>
                </a:solidFill>
                <a:latin typeface="Times New Roman" pitchFamily="18" charset="0"/>
                <a:ea typeface="黑体" pitchFamily="49" charset="-122"/>
              </a:rPr>
            </a:br>
            <a:r>
              <a:rPr lang="en-US" altLang="zh-CN" sz="3200" dirty="0">
                <a:solidFill>
                  <a:srgbClr val="FF0000"/>
                </a:solidFill>
                <a:latin typeface="Times New Roman" pitchFamily="18" charset="0"/>
                <a:ea typeface="黑体" pitchFamily="49" charset="-122"/>
              </a:rPr>
              <a:t>Epinephrine Cascade </a:t>
            </a:r>
            <a:br>
              <a:rPr lang="en-US" altLang="zh-CN" sz="3200" dirty="0">
                <a:solidFill>
                  <a:srgbClr val="FF0000"/>
                </a:solidFill>
                <a:latin typeface="Times New Roman" pitchFamily="18" charset="0"/>
                <a:ea typeface="黑体" pitchFamily="49" charset="-122"/>
              </a:rPr>
            </a:br>
            <a:br>
              <a:rPr lang="en-US" altLang="zh-CN" sz="3200" dirty="0">
                <a:solidFill>
                  <a:srgbClr val="FF0000"/>
                </a:solidFill>
                <a:latin typeface="Times New Roman" pitchFamily="18" charset="0"/>
                <a:ea typeface="黑体" pitchFamily="49" charset="-122"/>
              </a:rPr>
            </a:br>
            <a:r>
              <a:rPr lang="zh-CN" altLang="en-US" sz="2800" dirty="0">
                <a:solidFill>
                  <a:srgbClr val="0000CC"/>
                </a:solidFill>
                <a:latin typeface="Times New Roman" pitchFamily="18" charset="0"/>
                <a:ea typeface="黑体" pitchFamily="49" charset="-122"/>
              </a:rPr>
              <a:t>最终效果：</a:t>
            </a:r>
            <a:br>
              <a:rPr lang="en-US" altLang="zh-CN" sz="2800" dirty="0">
                <a:solidFill>
                  <a:srgbClr val="0000CC"/>
                </a:solidFill>
                <a:latin typeface="Times New Roman" pitchFamily="18" charset="0"/>
                <a:ea typeface="黑体" pitchFamily="49" charset="-122"/>
              </a:rPr>
            </a:br>
            <a:r>
              <a:rPr lang="zh-CN" altLang="en-US" sz="2400" dirty="0">
                <a:solidFill>
                  <a:srgbClr val="0000CC"/>
                </a:solidFill>
                <a:latin typeface="Times New Roman" pitchFamily="18" charset="0"/>
                <a:ea typeface="黑体" pitchFamily="49" charset="-122"/>
              </a:rPr>
              <a:t>糖原磷酸化酶磷酸化后被激活，加速糖原分解</a:t>
            </a:r>
            <a:br>
              <a:rPr lang="en-US" altLang="zh-CN" sz="3200" dirty="0">
                <a:solidFill>
                  <a:srgbClr val="FF0000"/>
                </a:solidFill>
                <a:latin typeface="Times New Roman" pitchFamily="18" charset="0"/>
                <a:ea typeface="黑体" pitchFamily="49" charset="-122"/>
              </a:rPr>
            </a:br>
            <a:br>
              <a:rPr lang="en-US" altLang="zh-CN" sz="3200" dirty="0">
                <a:latin typeface="Times New Roman" pitchFamily="18" charset="0"/>
                <a:ea typeface="黑体" pitchFamily="49" charset="-122"/>
              </a:rPr>
            </a:br>
            <a:r>
              <a:rPr lang="en-US" altLang="zh-CN" sz="2400" dirty="0">
                <a:latin typeface="Times New Roman" pitchFamily="18" charset="0"/>
                <a:ea typeface="黑体" pitchFamily="49" charset="-122"/>
              </a:rPr>
              <a:t>epinephrine: </a:t>
            </a:r>
            <a:r>
              <a:rPr lang="zh-CN" altLang="en-US" sz="2400" dirty="0">
                <a:latin typeface="Times New Roman" pitchFamily="18" charset="0"/>
                <a:ea typeface="黑体" pitchFamily="49" charset="-122"/>
              </a:rPr>
              <a:t>肾上腺素</a:t>
            </a:r>
            <a:br>
              <a:rPr lang="en-US" altLang="zh-CN" sz="2400" dirty="0">
                <a:latin typeface="Times New Roman" pitchFamily="18" charset="0"/>
                <a:ea typeface="黑体" pitchFamily="49" charset="-122"/>
              </a:rPr>
            </a:br>
            <a:r>
              <a:rPr lang="en-US" altLang="zh-CN" sz="2400" dirty="0">
                <a:latin typeface="Times New Roman" pitchFamily="18" charset="0"/>
                <a:ea typeface="黑体" pitchFamily="49" charset="-122"/>
              </a:rPr>
              <a:t>hepatocyte: </a:t>
            </a:r>
            <a:r>
              <a:rPr lang="zh-CN" altLang="en-US" sz="2400" dirty="0">
                <a:latin typeface="Times New Roman" pitchFamily="18" charset="0"/>
                <a:ea typeface="黑体" pitchFamily="49" charset="-122"/>
              </a:rPr>
              <a:t>肝细胞</a:t>
            </a:r>
            <a:br>
              <a:rPr lang="en-US" altLang="zh-CN" sz="2400" dirty="0">
                <a:latin typeface="Times New Roman" pitchFamily="18" charset="0"/>
                <a:ea typeface="黑体" pitchFamily="49" charset="-122"/>
              </a:rPr>
            </a:br>
            <a:r>
              <a:rPr lang="en-US" altLang="zh-CN" sz="2400" dirty="0">
                <a:latin typeface="Times New Roman" pitchFamily="18" charset="0"/>
                <a:ea typeface="黑体" pitchFamily="49" charset="-122"/>
              </a:rPr>
              <a:t>glycogen phosphorylase: </a:t>
            </a:r>
            <a:r>
              <a:rPr lang="zh-CN" altLang="en-US" sz="2400" dirty="0">
                <a:latin typeface="Times New Roman" pitchFamily="18" charset="0"/>
                <a:ea typeface="黑体" pitchFamily="49" charset="-122"/>
              </a:rPr>
              <a:t>糖原磷酸化酶</a:t>
            </a:r>
            <a:br>
              <a:rPr lang="en-US" altLang="zh-CN" sz="3200" dirty="0">
                <a:latin typeface="Times New Roman" pitchFamily="18" charset="0"/>
                <a:ea typeface="黑体" pitchFamily="49" charset="-122"/>
              </a:rPr>
            </a:br>
            <a:br>
              <a:rPr lang="en-US" altLang="zh-CN" sz="3200" dirty="0">
                <a:latin typeface="Times New Roman" pitchFamily="18" charset="0"/>
                <a:ea typeface="黑体" pitchFamily="49" charset="-122"/>
              </a:rPr>
            </a:br>
            <a:endParaRPr lang="zh-CN" altLang="en-US" sz="3200" dirty="0">
              <a:effectLst>
                <a:outerShdw blurRad="38100" dist="38100" dir="2700000" algn="tl">
                  <a:srgbClr val="C0C0C0"/>
                </a:outerShdw>
              </a:effectLst>
              <a:latin typeface="Times New Roman" pitchFamily="18" charset="0"/>
              <a:ea typeface="黑体" pitchFamily="49" charset="-122"/>
            </a:endParaRPr>
          </a:p>
        </p:txBody>
      </p:sp>
      <p:pic>
        <p:nvPicPr>
          <p:cNvPr id="362499" name="图片 2">
            <a:extLst>
              <a:ext uri="{FF2B5EF4-FFF2-40B4-BE49-F238E27FC236}">
                <a16:creationId xmlns:a16="http://schemas.microsoft.com/office/drawing/2014/main" id="{57B27506-8D3F-4237-8D87-9535878C7D44}"/>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960096" y="44450"/>
            <a:ext cx="3848100" cy="681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58F9521-6649-00AF-2935-22731C23D8C2}"/>
              </a:ext>
            </a:extLst>
          </p:cNvPr>
          <p:cNvSpPr txBox="1"/>
          <p:nvPr/>
        </p:nvSpPr>
        <p:spPr>
          <a:xfrm>
            <a:off x="1415480" y="1124744"/>
            <a:ext cx="9289032" cy="3986541"/>
          </a:xfrm>
          <a:prstGeom prst="rect">
            <a:avLst/>
          </a:prstGeom>
          <a:noFill/>
        </p:spPr>
        <p:txBody>
          <a:bodyPr wrap="square" rtlCol="0">
            <a:spAutoFit/>
          </a:bodyPr>
          <a:lstStyle/>
          <a:p>
            <a:pPr>
              <a:lnSpc>
                <a:spcPct val="150000"/>
              </a:lnSpc>
            </a:pPr>
            <a:r>
              <a:rPr lang="zh-CN" altLang="en-US" sz="3200" dirty="0">
                <a:solidFill>
                  <a:srgbClr val="0000CC"/>
                </a:solidFill>
                <a:latin typeface="微软雅黑" panose="020B0503020204020204" pitchFamily="34" charset="-122"/>
                <a:ea typeface="微软雅黑" panose="020B0503020204020204" pitchFamily="34" charset="-122"/>
              </a:rPr>
              <a:t>酶共价修饰调节的意义</a:t>
            </a:r>
            <a:r>
              <a:rPr lang="zh-CN" altLang="en-US" sz="3200" dirty="0">
                <a:latin typeface="微软雅黑" panose="020B0503020204020204" pitchFamily="34" charset="-122"/>
                <a:ea typeface="微软雅黑" panose="020B0503020204020204" pitchFamily="34" charset="-122"/>
              </a:rPr>
              <a:t>：  </a:t>
            </a:r>
            <a:endParaRPr lang="en-US" altLang="zh-CN" sz="32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由于酶的共价修饰反应是酶促反应，</a:t>
            </a:r>
            <a:r>
              <a:rPr lang="zh-CN" altLang="en-US" sz="2800" dirty="0">
                <a:solidFill>
                  <a:srgbClr val="0000CC"/>
                </a:solidFill>
                <a:latin typeface="微软雅黑" panose="020B0503020204020204" pitchFamily="34" charset="-122"/>
                <a:ea typeface="微软雅黑" panose="020B0503020204020204" pitchFamily="34" charset="-122"/>
              </a:rPr>
              <a:t>只要有少量信号分子（如激素）</a:t>
            </a:r>
            <a:r>
              <a:rPr lang="zh-CN" altLang="en-US" sz="2800" dirty="0">
                <a:latin typeface="微软雅黑" panose="020B0503020204020204" pitchFamily="34" charset="-122"/>
                <a:ea typeface="微软雅黑" panose="020B0503020204020204" pitchFamily="34" charset="-122"/>
              </a:rPr>
              <a:t>存在，即可通过加速这种酶促反应，而</a:t>
            </a:r>
            <a:r>
              <a:rPr lang="zh-CN" altLang="en-US" sz="2800" dirty="0">
                <a:solidFill>
                  <a:srgbClr val="0000CC"/>
                </a:solidFill>
                <a:latin typeface="微软雅黑" panose="020B0503020204020204" pitchFamily="34" charset="-122"/>
                <a:ea typeface="微软雅黑" panose="020B0503020204020204" pitchFamily="34" charset="-122"/>
              </a:rPr>
              <a:t>使大量的另一种酶发生化学修饰，从而获得放大效应</a:t>
            </a:r>
            <a:r>
              <a:rPr lang="zh-CN" altLang="en-US" sz="2800" dirty="0">
                <a:latin typeface="微软雅黑" panose="020B0503020204020204" pitchFamily="34" charset="-122"/>
                <a:ea typeface="微软雅黑" panose="020B0503020204020204" pitchFamily="34" charset="-122"/>
              </a:rPr>
              <a:t>。 </a:t>
            </a:r>
            <a:endParaRPr lang="en-US" altLang="zh-CN" sz="28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endParaRPr lang="en-US" altLang="zh-CN" sz="28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这种调节方式快速，效率极高。 </a:t>
            </a:r>
          </a:p>
        </p:txBody>
      </p:sp>
    </p:spTree>
    <p:extLst>
      <p:ext uri="{BB962C8B-B14F-4D97-AF65-F5344CB8AC3E}">
        <p14:creationId xmlns:p14="http://schemas.microsoft.com/office/powerpoint/2010/main" val="193434156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标题 1">
            <a:extLst>
              <a:ext uri="{FF2B5EF4-FFF2-40B4-BE49-F238E27FC236}">
                <a16:creationId xmlns:a16="http://schemas.microsoft.com/office/drawing/2014/main" id="{159F25C7-FAF2-4758-9CD7-812981C230AF}"/>
              </a:ext>
            </a:extLst>
          </p:cNvPr>
          <p:cNvSpPr>
            <a:spLocks noGrp="1" noChangeArrowheads="1"/>
          </p:cNvSpPr>
          <p:nvPr>
            <p:ph type="title"/>
          </p:nvPr>
        </p:nvSpPr>
        <p:spPr>
          <a:xfrm>
            <a:off x="2209801" y="152401"/>
            <a:ext cx="8062913" cy="684213"/>
          </a:xfrm>
        </p:spPr>
        <p:txBody>
          <a:bodyPr/>
          <a:lstStyle/>
          <a:p>
            <a:r>
              <a:rPr lang="zh-CN" altLang="en-US" sz="3600" dirty="0">
                <a:solidFill>
                  <a:srgbClr val="0000CC"/>
                </a:solidFill>
              </a:rPr>
              <a:t>磷酸化去磷酸化修饰调节是非常精细的</a:t>
            </a:r>
          </a:p>
        </p:txBody>
      </p:sp>
      <p:pic>
        <p:nvPicPr>
          <p:cNvPr id="94211" name="图片 3">
            <a:extLst>
              <a:ext uri="{FF2B5EF4-FFF2-40B4-BE49-F238E27FC236}">
                <a16:creationId xmlns:a16="http://schemas.microsoft.com/office/drawing/2014/main" id="{AF9DE6D2-6220-4600-A862-FDD63127B3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47825" y="1052737"/>
            <a:ext cx="8896350" cy="534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2">
            <a:extLst>
              <a:ext uri="{FF2B5EF4-FFF2-40B4-BE49-F238E27FC236}">
                <a16:creationId xmlns:a16="http://schemas.microsoft.com/office/drawing/2014/main" id="{E9F4C05C-61FE-439B-BC70-11E4B4083D3F}"/>
              </a:ext>
            </a:extLst>
          </p:cNvPr>
          <p:cNvSpPr txBox="1">
            <a:spLocks noChangeArrowheads="1"/>
          </p:cNvSpPr>
          <p:nvPr/>
        </p:nvSpPr>
        <p:spPr bwMode="auto">
          <a:xfrm>
            <a:off x="3000375" y="2781301"/>
            <a:ext cx="1271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宋体" panose="02010600030101010101" pitchFamily="2" charset="-122"/>
              </a:rPr>
              <a:t>F-6-P  </a:t>
            </a:r>
          </a:p>
        </p:txBody>
      </p:sp>
      <p:sp>
        <p:nvSpPr>
          <p:cNvPr id="126979" name="Text Box 3">
            <a:extLst>
              <a:ext uri="{FF2B5EF4-FFF2-40B4-BE49-F238E27FC236}">
                <a16:creationId xmlns:a16="http://schemas.microsoft.com/office/drawing/2014/main" id="{9AD51FCC-4906-40B7-9EBC-5013B951852A}"/>
              </a:ext>
            </a:extLst>
          </p:cNvPr>
          <p:cNvSpPr txBox="1">
            <a:spLocks noChangeArrowheads="1"/>
          </p:cNvSpPr>
          <p:nvPr/>
        </p:nvSpPr>
        <p:spPr bwMode="auto">
          <a:xfrm>
            <a:off x="2495550" y="6327776"/>
            <a:ext cx="1766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solidFill>
                  <a:srgbClr val="0000CC"/>
                </a:solidFill>
                <a:latin typeface="Arial" panose="020B0604020202020204" pitchFamily="34" charset="0"/>
                <a:ea typeface="宋体" panose="02010600030101010101" pitchFamily="2" charset="-122"/>
              </a:rPr>
              <a:t>F-1,6-2P  </a:t>
            </a:r>
          </a:p>
        </p:txBody>
      </p:sp>
      <p:sp>
        <p:nvSpPr>
          <p:cNvPr id="126980" name="Text Box 4">
            <a:extLst>
              <a:ext uri="{FF2B5EF4-FFF2-40B4-BE49-F238E27FC236}">
                <a16:creationId xmlns:a16="http://schemas.microsoft.com/office/drawing/2014/main" id="{AD0413BC-AA7D-4F71-8F38-9F407B2E6E1E}"/>
              </a:ext>
            </a:extLst>
          </p:cNvPr>
          <p:cNvSpPr txBox="1">
            <a:spLocks noChangeArrowheads="1"/>
          </p:cNvSpPr>
          <p:nvPr/>
        </p:nvSpPr>
        <p:spPr bwMode="auto">
          <a:xfrm>
            <a:off x="1774825" y="3598864"/>
            <a:ext cx="763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000066"/>
                </a:solidFill>
                <a:latin typeface="Arial" panose="020B0604020202020204" pitchFamily="34" charset="0"/>
                <a:ea typeface="宋体" panose="02010600030101010101" pitchFamily="2" charset="-122"/>
              </a:rPr>
              <a:t>ATP</a:t>
            </a:r>
            <a:r>
              <a:rPr kumimoji="1" lang="en-US" altLang="zh-CN" sz="2000">
                <a:solidFill>
                  <a:srgbClr val="FF99FF"/>
                </a:solidFill>
                <a:latin typeface="Arial" panose="020B0604020202020204" pitchFamily="34" charset="0"/>
                <a:ea typeface="宋体" panose="02010600030101010101" pitchFamily="2" charset="-122"/>
              </a:rPr>
              <a:t> </a:t>
            </a:r>
          </a:p>
        </p:txBody>
      </p:sp>
      <p:sp>
        <p:nvSpPr>
          <p:cNvPr id="126981" name="Text Box 5">
            <a:extLst>
              <a:ext uri="{FF2B5EF4-FFF2-40B4-BE49-F238E27FC236}">
                <a16:creationId xmlns:a16="http://schemas.microsoft.com/office/drawing/2014/main" id="{8202B3B6-CCEE-4FAF-B0B5-1F228FFF6155}"/>
              </a:ext>
            </a:extLst>
          </p:cNvPr>
          <p:cNvSpPr txBox="1">
            <a:spLocks noChangeArrowheads="1"/>
          </p:cNvSpPr>
          <p:nvPr/>
        </p:nvSpPr>
        <p:spPr bwMode="auto">
          <a:xfrm>
            <a:off x="1774826" y="5399089"/>
            <a:ext cx="862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ADP  </a:t>
            </a:r>
          </a:p>
        </p:txBody>
      </p:sp>
      <p:sp>
        <p:nvSpPr>
          <p:cNvPr id="126982" name="Text Box 6">
            <a:extLst>
              <a:ext uri="{FF2B5EF4-FFF2-40B4-BE49-F238E27FC236}">
                <a16:creationId xmlns:a16="http://schemas.microsoft.com/office/drawing/2014/main" id="{0F8316A0-A1C4-4B56-BA7D-A217D183E4E3}"/>
              </a:ext>
            </a:extLst>
          </p:cNvPr>
          <p:cNvSpPr txBox="1">
            <a:spLocks noChangeArrowheads="1"/>
          </p:cNvSpPr>
          <p:nvPr/>
        </p:nvSpPr>
        <p:spPr bwMode="auto">
          <a:xfrm>
            <a:off x="3503613" y="5207001"/>
            <a:ext cx="1212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solidFill>
                  <a:srgbClr val="FF0000"/>
                </a:solidFill>
                <a:latin typeface="Arial" panose="020B0604020202020204" pitchFamily="34" charset="0"/>
                <a:ea typeface="宋体" panose="02010600030101010101" pitchFamily="2" charset="-122"/>
              </a:rPr>
              <a:t>PFK-1</a:t>
            </a:r>
          </a:p>
        </p:txBody>
      </p:sp>
      <p:sp>
        <p:nvSpPr>
          <p:cNvPr id="126983" name="Line 7">
            <a:extLst>
              <a:ext uri="{FF2B5EF4-FFF2-40B4-BE49-F238E27FC236}">
                <a16:creationId xmlns:a16="http://schemas.microsoft.com/office/drawing/2014/main" id="{CAB7A11B-F9E7-4804-953B-599045190F02}"/>
              </a:ext>
            </a:extLst>
          </p:cNvPr>
          <p:cNvSpPr>
            <a:spLocks noChangeShapeType="1"/>
          </p:cNvSpPr>
          <p:nvPr/>
        </p:nvSpPr>
        <p:spPr bwMode="auto">
          <a:xfrm>
            <a:off x="3432175" y="3284539"/>
            <a:ext cx="0" cy="30241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6984" name="Arc 8">
            <a:extLst>
              <a:ext uri="{FF2B5EF4-FFF2-40B4-BE49-F238E27FC236}">
                <a16:creationId xmlns:a16="http://schemas.microsoft.com/office/drawing/2014/main" id="{73DEA715-D4B1-40AE-A06B-AFEAE9EB1BDA}"/>
              </a:ext>
            </a:extLst>
          </p:cNvPr>
          <p:cNvSpPr>
            <a:spLocks/>
          </p:cNvSpPr>
          <p:nvPr/>
        </p:nvSpPr>
        <p:spPr bwMode="auto">
          <a:xfrm>
            <a:off x="2603501" y="3792538"/>
            <a:ext cx="809625" cy="1827212"/>
          </a:xfrm>
          <a:custGeom>
            <a:avLst/>
            <a:gdLst>
              <a:gd name="T0" fmla="*/ 2147483646 w 22621"/>
              <a:gd name="T1" fmla="*/ 0 h 43193"/>
              <a:gd name="T2" fmla="*/ 0 w 22621"/>
              <a:gd name="T3" fmla="*/ 2147483646 h 43193"/>
              <a:gd name="T4" fmla="*/ 2147483646 w 22621"/>
              <a:gd name="T5" fmla="*/ 2147483646 h 43193"/>
              <a:gd name="T6" fmla="*/ 0 60000 65536"/>
              <a:gd name="T7" fmla="*/ 0 60000 65536"/>
              <a:gd name="T8" fmla="*/ 0 60000 65536"/>
              <a:gd name="T9" fmla="*/ 0 w 22621"/>
              <a:gd name="T10" fmla="*/ 0 h 43193"/>
              <a:gd name="T11" fmla="*/ 22621 w 22621"/>
              <a:gd name="T12" fmla="*/ 43193 h 43193"/>
            </a:gdLst>
            <a:ahLst/>
            <a:cxnLst>
              <a:cxn ang="T6">
                <a:pos x="T0" y="T1"/>
              </a:cxn>
              <a:cxn ang="T7">
                <a:pos x="T2" y="T3"/>
              </a:cxn>
              <a:cxn ang="T8">
                <a:pos x="T4" y="T5"/>
              </a:cxn>
            </a:cxnLst>
            <a:rect l="T9" t="T10" r="T11" b="T12"/>
            <a:pathLst>
              <a:path w="22621" h="43193" fill="none" extrusionOk="0">
                <a:moveTo>
                  <a:pt x="1552" y="-1"/>
                </a:moveTo>
                <a:cubicBezTo>
                  <a:pt x="13270" y="287"/>
                  <a:pt x="22621" y="9870"/>
                  <a:pt x="22621" y="21593"/>
                </a:cubicBezTo>
                <a:cubicBezTo>
                  <a:pt x="22621" y="33522"/>
                  <a:pt x="12950" y="43193"/>
                  <a:pt x="1021" y="43193"/>
                </a:cubicBezTo>
                <a:cubicBezTo>
                  <a:pt x="680" y="43193"/>
                  <a:pt x="340" y="43184"/>
                  <a:pt x="0" y="43168"/>
                </a:cubicBezTo>
              </a:path>
              <a:path w="22621" h="43193" stroke="0" extrusionOk="0">
                <a:moveTo>
                  <a:pt x="1552" y="-1"/>
                </a:moveTo>
                <a:cubicBezTo>
                  <a:pt x="13270" y="287"/>
                  <a:pt x="22621" y="9870"/>
                  <a:pt x="22621" y="21593"/>
                </a:cubicBezTo>
                <a:cubicBezTo>
                  <a:pt x="22621" y="33522"/>
                  <a:pt x="12950" y="43193"/>
                  <a:pt x="1021" y="43193"/>
                </a:cubicBezTo>
                <a:cubicBezTo>
                  <a:pt x="680" y="43193"/>
                  <a:pt x="340" y="43184"/>
                  <a:pt x="0" y="43168"/>
                </a:cubicBezTo>
                <a:lnTo>
                  <a:pt x="1021" y="21593"/>
                </a:lnTo>
                <a:lnTo>
                  <a:pt x="1552" y="-1"/>
                </a:lnTo>
                <a:close/>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8969" name="AutoShape 9">
            <a:extLst>
              <a:ext uri="{FF2B5EF4-FFF2-40B4-BE49-F238E27FC236}">
                <a16:creationId xmlns:a16="http://schemas.microsoft.com/office/drawing/2014/main" id="{5AB59249-3ECC-4C28-94F2-CBB9710F66D0}"/>
              </a:ext>
            </a:extLst>
          </p:cNvPr>
          <p:cNvSpPr>
            <a:spLocks noChangeArrowheads="1"/>
          </p:cNvSpPr>
          <p:nvPr/>
        </p:nvSpPr>
        <p:spPr bwMode="auto">
          <a:xfrm>
            <a:off x="3575051" y="1052513"/>
            <a:ext cx="6697663" cy="1670050"/>
          </a:xfrm>
          <a:prstGeom prst="curvedDownArrow">
            <a:avLst>
              <a:gd name="adj1" fmla="val 5236"/>
              <a:gd name="adj2" fmla="val 33940"/>
              <a:gd name="adj3" fmla="val 12356"/>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68970" name="Rectangle 10">
            <a:extLst>
              <a:ext uri="{FF2B5EF4-FFF2-40B4-BE49-F238E27FC236}">
                <a16:creationId xmlns:a16="http://schemas.microsoft.com/office/drawing/2014/main" id="{AAB3621E-24C0-417E-8496-8DA45478B4DD}"/>
              </a:ext>
            </a:extLst>
          </p:cNvPr>
          <p:cNvSpPr>
            <a:spLocks noChangeArrowheads="1"/>
          </p:cNvSpPr>
          <p:nvPr/>
        </p:nvSpPr>
        <p:spPr bwMode="auto">
          <a:xfrm>
            <a:off x="6872289" y="2435226"/>
            <a:ext cx="1787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磷蛋白磷酸酶 </a:t>
            </a:r>
          </a:p>
        </p:txBody>
      </p:sp>
      <p:grpSp>
        <p:nvGrpSpPr>
          <p:cNvPr id="2" name="Group 11">
            <a:extLst>
              <a:ext uri="{FF2B5EF4-FFF2-40B4-BE49-F238E27FC236}">
                <a16:creationId xmlns:a16="http://schemas.microsoft.com/office/drawing/2014/main" id="{9EC3612F-2275-439F-99A0-849BE05723BD}"/>
              </a:ext>
            </a:extLst>
          </p:cNvPr>
          <p:cNvGrpSpPr>
            <a:grpSpLocks/>
          </p:cNvGrpSpPr>
          <p:nvPr/>
        </p:nvGrpSpPr>
        <p:grpSpPr bwMode="auto">
          <a:xfrm>
            <a:off x="8112125" y="1628775"/>
            <a:ext cx="1360488" cy="2592388"/>
            <a:chOff x="4150" y="1026"/>
            <a:chExt cx="857" cy="1633"/>
          </a:xfrm>
        </p:grpSpPr>
        <p:sp>
          <p:nvSpPr>
            <p:cNvPr id="127061" name="AutoShape 12">
              <a:extLst>
                <a:ext uri="{FF2B5EF4-FFF2-40B4-BE49-F238E27FC236}">
                  <a16:creationId xmlns:a16="http://schemas.microsoft.com/office/drawing/2014/main" id="{1C59AC87-7376-4813-87D0-0612AA708E9E}"/>
                </a:ext>
              </a:extLst>
            </p:cNvPr>
            <p:cNvSpPr>
              <a:spLocks noChangeArrowheads="1"/>
            </p:cNvSpPr>
            <p:nvPr/>
          </p:nvSpPr>
          <p:spPr bwMode="auto">
            <a:xfrm rot="10800000">
              <a:off x="4150" y="1026"/>
              <a:ext cx="318" cy="1633"/>
            </a:xfrm>
            <a:prstGeom prst="curvedRightArrow">
              <a:avLst>
                <a:gd name="adj1" fmla="val 36541"/>
                <a:gd name="adj2" fmla="val 139531"/>
                <a:gd name="adj3" fmla="val 33333"/>
              </a:avLst>
            </a:prstGeom>
            <a:solidFill>
              <a:srgbClr val="CCFFCC"/>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27062" name="Line 13">
              <a:extLst>
                <a:ext uri="{FF2B5EF4-FFF2-40B4-BE49-F238E27FC236}">
                  <a16:creationId xmlns:a16="http://schemas.microsoft.com/office/drawing/2014/main" id="{DB848CC7-540B-437A-BF9D-F07A0A05BC8E}"/>
                </a:ext>
              </a:extLst>
            </p:cNvPr>
            <p:cNvSpPr>
              <a:spLocks noChangeShapeType="1"/>
            </p:cNvSpPr>
            <p:nvPr/>
          </p:nvSpPr>
          <p:spPr bwMode="auto">
            <a:xfrm flipV="1">
              <a:off x="4377" y="2251"/>
              <a:ext cx="227" cy="13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63" name="Text Box 14">
              <a:extLst>
                <a:ext uri="{FF2B5EF4-FFF2-40B4-BE49-F238E27FC236}">
                  <a16:creationId xmlns:a16="http://schemas.microsoft.com/office/drawing/2014/main" id="{EEB53510-4399-4B0B-BF04-A3A67444B605}"/>
                </a:ext>
              </a:extLst>
            </p:cNvPr>
            <p:cNvSpPr txBox="1">
              <a:spLocks noChangeArrowheads="1"/>
            </p:cNvSpPr>
            <p:nvPr/>
          </p:nvSpPr>
          <p:spPr bwMode="auto">
            <a:xfrm>
              <a:off x="4604" y="2147"/>
              <a:ext cx="4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latin typeface="Arial" panose="020B0604020202020204" pitchFamily="34" charset="0"/>
                  <a:ea typeface="宋体" panose="02010600030101010101" pitchFamily="2" charset="-122"/>
                </a:rPr>
                <a:t>Pi  </a:t>
              </a:r>
            </a:p>
          </p:txBody>
        </p:sp>
      </p:grpSp>
      <p:sp>
        <p:nvSpPr>
          <p:cNvPr id="168975" name="Text Box 15">
            <a:extLst>
              <a:ext uri="{FF2B5EF4-FFF2-40B4-BE49-F238E27FC236}">
                <a16:creationId xmlns:a16="http://schemas.microsoft.com/office/drawing/2014/main" id="{7BA89CC1-D8F7-4B03-A718-1A1859AFE031}"/>
              </a:ext>
            </a:extLst>
          </p:cNvPr>
          <p:cNvSpPr txBox="1">
            <a:spLocks noChangeArrowheads="1"/>
          </p:cNvSpPr>
          <p:nvPr/>
        </p:nvSpPr>
        <p:spPr bwMode="auto">
          <a:xfrm>
            <a:off x="5016501" y="2832101"/>
            <a:ext cx="30591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latin typeface="Arial" panose="020B0604020202020204" pitchFamily="34" charset="0"/>
                <a:ea typeface="宋体" panose="02010600030101010101" pitchFamily="2" charset="-122"/>
              </a:rPr>
              <a:t>PKA</a:t>
            </a:r>
            <a:r>
              <a:rPr kumimoji="1" lang="zh-CN" altLang="en-US" sz="1800">
                <a:latin typeface="Arial" panose="020B0604020202020204" pitchFamily="34" charset="0"/>
                <a:ea typeface="宋体" panose="02010600030101010101" pitchFamily="2" charset="-122"/>
              </a:rPr>
              <a:t>（</a:t>
            </a:r>
            <a:r>
              <a:rPr kumimoji="1" lang="en-US" altLang="zh-CN" sz="1800">
                <a:latin typeface="Arial" panose="020B0604020202020204" pitchFamily="34" charset="0"/>
                <a:ea typeface="宋体" panose="02010600030101010101" pitchFamily="2" charset="-122"/>
              </a:rPr>
              <a:t>protein kinase A)  </a:t>
            </a:r>
          </a:p>
        </p:txBody>
      </p:sp>
      <p:grpSp>
        <p:nvGrpSpPr>
          <p:cNvPr id="3" name="Group 16">
            <a:extLst>
              <a:ext uri="{FF2B5EF4-FFF2-40B4-BE49-F238E27FC236}">
                <a16:creationId xmlns:a16="http://schemas.microsoft.com/office/drawing/2014/main" id="{AA938E67-C1C2-4FC8-86D8-25563204C6B4}"/>
              </a:ext>
            </a:extLst>
          </p:cNvPr>
          <p:cNvGrpSpPr>
            <a:grpSpLocks/>
          </p:cNvGrpSpPr>
          <p:nvPr/>
        </p:nvGrpSpPr>
        <p:grpSpPr bwMode="auto">
          <a:xfrm>
            <a:off x="3935414" y="1773239"/>
            <a:ext cx="1512887" cy="2592387"/>
            <a:chOff x="1519" y="1117"/>
            <a:chExt cx="953" cy="1633"/>
          </a:xfrm>
        </p:grpSpPr>
        <p:sp>
          <p:nvSpPr>
            <p:cNvPr id="127056" name="AutoShape 17">
              <a:extLst>
                <a:ext uri="{FF2B5EF4-FFF2-40B4-BE49-F238E27FC236}">
                  <a16:creationId xmlns:a16="http://schemas.microsoft.com/office/drawing/2014/main" id="{AB054809-69FE-4C95-B9D7-54EC07A602A0}"/>
                </a:ext>
              </a:extLst>
            </p:cNvPr>
            <p:cNvSpPr>
              <a:spLocks noChangeArrowheads="1"/>
            </p:cNvSpPr>
            <p:nvPr/>
          </p:nvSpPr>
          <p:spPr bwMode="auto">
            <a:xfrm>
              <a:off x="2154" y="1117"/>
              <a:ext cx="318" cy="1633"/>
            </a:xfrm>
            <a:prstGeom prst="curvedRightArrow">
              <a:avLst>
                <a:gd name="adj1" fmla="val 36541"/>
                <a:gd name="adj2" fmla="val 139531"/>
                <a:gd name="adj3" fmla="val 33333"/>
              </a:avLst>
            </a:prstGeom>
            <a:solidFill>
              <a:srgbClr val="CCFFCC"/>
            </a:solid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nvGrpSpPr>
            <p:cNvPr id="127057" name="Group 18">
              <a:extLst>
                <a:ext uri="{FF2B5EF4-FFF2-40B4-BE49-F238E27FC236}">
                  <a16:creationId xmlns:a16="http://schemas.microsoft.com/office/drawing/2014/main" id="{16A3DD31-F7D8-4C56-9B74-CD4D2B17AE44}"/>
                </a:ext>
              </a:extLst>
            </p:cNvPr>
            <p:cNvGrpSpPr>
              <a:grpSpLocks/>
            </p:cNvGrpSpPr>
            <p:nvPr/>
          </p:nvGrpSpPr>
          <p:grpSpPr bwMode="auto">
            <a:xfrm>
              <a:off x="1519" y="1421"/>
              <a:ext cx="635" cy="1150"/>
              <a:chOff x="1519" y="1421"/>
              <a:chExt cx="635" cy="1150"/>
            </a:xfrm>
          </p:grpSpPr>
          <p:sp>
            <p:nvSpPr>
              <p:cNvPr id="127058" name="Text Box 19">
                <a:extLst>
                  <a:ext uri="{FF2B5EF4-FFF2-40B4-BE49-F238E27FC236}">
                    <a16:creationId xmlns:a16="http://schemas.microsoft.com/office/drawing/2014/main" id="{BC238F0A-613A-45BA-9AAB-71ADB584CE3C}"/>
                  </a:ext>
                </a:extLst>
              </p:cNvPr>
              <p:cNvSpPr txBox="1">
                <a:spLocks noChangeArrowheads="1"/>
              </p:cNvSpPr>
              <p:nvPr/>
            </p:nvSpPr>
            <p:spPr bwMode="auto">
              <a:xfrm>
                <a:off x="1519" y="1421"/>
                <a:ext cx="5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solidFill>
                      <a:srgbClr val="000066"/>
                    </a:solidFill>
                    <a:latin typeface="Arial" panose="020B0604020202020204" pitchFamily="34" charset="0"/>
                    <a:ea typeface="宋体" panose="02010600030101010101" pitchFamily="2" charset="-122"/>
                  </a:rPr>
                  <a:t>ATP</a:t>
                </a:r>
                <a:r>
                  <a:rPr kumimoji="1" lang="en-US" altLang="zh-CN" sz="2400">
                    <a:solidFill>
                      <a:srgbClr val="FF99FF"/>
                    </a:solidFill>
                    <a:latin typeface="Arial" panose="020B0604020202020204" pitchFamily="34" charset="0"/>
                    <a:ea typeface="宋体" panose="02010600030101010101" pitchFamily="2" charset="-122"/>
                  </a:rPr>
                  <a:t> </a:t>
                </a:r>
              </a:p>
            </p:txBody>
          </p:sp>
          <p:sp>
            <p:nvSpPr>
              <p:cNvPr id="127059" name="Text Box 20">
                <a:extLst>
                  <a:ext uri="{FF2B5EF4-FFF2-40B4-BE49-F238E27FC236}">
                    <a16:creationId xmlns:a16="http://schemas.microsoft.com/office/drawing/2014/main" id="{BDE488E7-14C2-4064-9336-74C1CE55FDFB}"/>
                  </a:ext>
                </a:extLst>
              </p:cNvPr>
              <p:cNvSpPr txBox="1">
                <a:spLocks noChangeArrowheads="1"/>
              </p:cNvSpPr>
              <p:nvPr/>
            </p:nvSpPr>
            <p:spPr bwMode="auto">
              <a:xfrm>
                <a:off x="1519" y="2283"/>
                <a:ext cx="6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latin typeface="Arial" panose="020B0604020202020204" pitchFamily="34" charset="0"/>
                    <a:ea typeface="宋体" panose="02010600030101010101" pitchFamily="2" charset="-122"/>
                  </a:rPr>
                  <a:t>ADP  </a:t>
                </a:r>
              </a:p>
            </p:txBody>
          </p:sp>
          <p:sp>
            <p:nvSpPr>
              <p:cNvPr id="127060" name="Arc 21">
                <a:extLst>
                  <a:ext uri="{FF2B5EF4-FFF2-40B4-BE49-F238E27FC236}">
                    <a16:creationId xmlns:a16="http://schemas.microsoft.com/office/drawing/2014/main" id="{2B795851-C3C0-47EB-A36D-31D643C7404C}"/>
                  </a:ext>
                </a:extLst>
              </p:cNvPr>
              <p:cNvSpPr>
                <a:spLocks/>
              </p:cNvSpPr>
              <p:nvPr/>
            </p:nvSpPr>
            <p:spPr bwMode="auto">
              <a:xfrm>
                <a:off x="2018" y="1525"/>
                <a:ext cx="136" cy="817"/>
              </a:xfrm>
              <a:custGeom>
                <a:avLst/>
                <a:gdLst>
                  <a:gd name="T0" fmla="*/ 0 w 22621"/>
                  <a:gd name="T1" fmla="*/ 0 h 43193"/>
                  <a:gd name="T2" fmla="*/ 0 w 22621"/>
                  <a:gd name="T3" fmla="*/ 0 h 43193"/>
                  <a:gd name="T4" fmla="*/ 0 w 22621"/>
                  <a:gd name="T5" fmla="*/ 0 h 43193"/>
                  <a:gd name="T6" fmla="*/ 0 60000 65536"/>
                  <a:gd name="T7" fmla="*/ 0 60000 65536"/>
                  <a:gd name="T8" fmla="*/ 0 60000 65536"/>
                  <a:gd name="T9" fmla="*/ 0 w 22621"/>
                  <a:gd name="T10" fmla="*/ 0 h 43193"/>
                  <a:gd name="T11" fmla="*/ 22621 w 22621"/>
                  <a:gd name="T12" fmla="*/ 43193 h 43193"/>
                </a:gdLst>
                <a:ahLst/>
                <a:cxnLst>
                  <a:cxn ang="T6">
                    <a:pos x="T0" y="T1"/>
                  </a:cxn>
                  <a:cxn ang="T7">
                    <a:pos x="T2" y="T3"/>
                  </a:cxn>
                  <a:cxn ang="T8">
                    <a:pos x="T4" y="T5"/>
                  </a:cxn>
                </a:cxnLst>
                <a:rect l="T9" t="T10" r="T11" b="T12"/>
                <a:pathLst>
                  <a:path w="22621" h="43193" fill="none" extrusionOk="0">
                    <a:moveTo>
                      <a:pt x="1552" y="-1"/>
                    </a:moveTo>
                    <a:cubicBezTo>
                      <a:pt x="13270" y="287"/>
                      <a:pt x="22621" y="9870"/>
                      <a:pt x="22621" y="21593"/>
                    </a:cubicBezTo>
                    <a:cubicBezTo>
                      <a:pt x="22621" y="33522"/>
                      <a:pt x="12950" y="43193"/>
                      <a:pt x="1021" y="43193"/>
                    </a:cubicBezTo>
                    <a:cubicBezTo>
                      <a:pt x="680" y="43193"/>
                      <a:pt x="340" y="43184"/>
                      <a:pt x="0" y="43168"/>
                    </a:cubicBezTo>
                  </a:path>
                  <a:path w="22621" h="43193" stroke="0" extrusionOk="0">
                    <a:moveTo>
                      <a:pt x="1552" y="-1"/>
                    </a:moveTo>
                    <a:cubicBezTo>
                      <a:pt x="13270" y="287"/>
                      <a:pt x="22621" y="9870"/>
                      <a:pt x="22621" y="21593"/>
                    </a:cubicBezTo>
                    <a:cubicBezTo>
                      <a:pt x="22621" y="33522"/>
                      <a:pt x="12950" y="43193"/>
                      <a:pt x="1021" y="43193"/>
                    </a:cubicBezTo>
                    <a:cubicBezTo>
                      <a:pt x="680" y="43193"/>
                      <a:pt x="340" y="43184"/>
                      <a:pt x="0" y="43168"/>
                    </a:cubicBezTo>
                    <a:lnTo>
                      <a:pt x="1021" y="21593"/>
                    </a:lnTo>
                    <a:lnTo>
                      <a:pt x="1552" y="-1"/>
                    </a:lnTo>
                    <a:close/>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168983" name="AutoShape 23">
            <a:extLst>
              <a:ext uri="{FF2B5EF4-FFF2-40B4-BE49-F238E27FC236}">
                <a16:creationId xmlns:a16="http://schemas.microsoft.com/office/drawing/2014/main" id="{248C8123-84DA-4688-A567-BA2D4756EE1F}"/>
              </a:ext>
            </a:extLst>
          </p:cNvPr>
          <p:cNvSpPr>
            <a:spLocks noChangeArrowheads="1"/>
          </p:cNvSpPr>
          <p:nvPr/>
        </p:nvSpPr>
        <p:spPr bwMode="auto">
          <a:xfrm rot="10800000">
            <a:off x="3432175" y="3357563"/>
            <a:ext cx="6553200" cy="1655762"/>
          </a:xfrm>
          <a:prstGeom prst="curvedDownArrow">
            <a:avLst>
              <a:gd name="adj1" fmla="val 5955"/>
              <a:gd name="adj2" fmla="val 37984"/>
              <a:gd name="adj3" fmla="val 10551"/>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26991" name="Line 24">
            <a:extLst>
              <a:ext uri="{FF2B5EF4-FFF2-40B4-BE49-F238E27FC236}">
                <a16:creationId xmlns:a16="http://schemas.microsoft.com/office/drawing/2014/main" id="{919826ED-38A0-467E-BBF8-C973FE26AC49}"/>
              </a:ext>
            </a:extLst>
          </p:cNvPr>
          <p:cNvSpPr>
            <a:spLocks noChangeShapeType="1"/>
          </p:cNvSpPr>
          <p:nvPr/>
        </p:nvSpPr>
        <p:spPr bwMode="auto">
          <a:xfrm flipH="1">
            <a:off x="8312151" y="4724400"/>
            <a:ext cx="347663" cy="4333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57150">
                <a:solidFill>
                  <a:srgbClr val="000000"/>
                </a:solidFill>
                <a:round/>
                <a:headEnd/>
                <a:tailEnd type="triangle" w="med" len="med"/>
              </a14:hiddenLine>
            </a:ext>
          </a:extLst>
        </p:spPr>
        <p:txBody>
          <a:bodyPr wrap="none"/>
          <a:lstStyle/>
          <a:p>
            <a:endParaRPr lang="zh-CN" altLang="en-US"/>
          </a:p>
        </p:txBody>
      </p:sp>
      <p:sp>
        <p:nvSpPr>
          <p:cNvPr id="168985" name="Text Box 25">
            <a:extLst>
              <a:ext uri="{FF2B5EF4-FFF2-40B4-BE49-F238E27FC236}">
                <a16:creationId xmlns:a16="http://schemas.microsoft.com/office/drawing/2014/main" id="{8329F6F4-1CE2-4163-947C-7DE6A21F25C9}"/>
              </a:ext>
            </a:extLst>
          </p:cNvPr>
          <p:cNvSpPr txBox="1">
            <a:spLocks noChangeArrowheads="1"/>
          </p:cNvSpPr>
          <p:nvPr/>
        </p:nvSpPr>
        <p:spPr bwMode="auto">
          <a:xfrm>
            <a:off x="7823201" y="4941889"/>
            <a:ext cx="557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Pi </a:t>
            </a:r>
          </a:p>
        </p:txBody>
      </p:sp>
      <p:grpSp>
        <p:nvGrpSpPr>
          <p:cNvPr id="5" name="Group 26">
            <a:extLst>
              <a:ext uri="{FF2B5EF4-FFF2-40B4-BE49-F238E27FC236}">
                <a16:creationId xmlns:a16="http://schemas.microsoft.com/office/drawing/2014/main" id="{B2E6A698-9B81-43D7-9996-8D03B430347F}"/>
              </a:ext>
            </a:extLst>
          </p:cNvPr>
          <p:cNvGrpSpPr>
            <a:grpSpLocks/>
          </p:cNvGrpSpPr>
          <p:nvPr/>
        </p:nvGrpSpPr>
        <p:grpSpPr bwMode="auto">
          <a:xfrm>
            <a:off x="1847851" y="311150"/>
            <a:ext cx="1884363" cy="1028700"/>
            <a:chOff x="204" y="196"/>
            <a:chExt cx="1187" cy="648"/>
          </a:xfrm>
        </p:grpSpPr>
        <p:sp>
          <p:nvSpPr>
            <p:cNvPr id="127052" name="Text Box 27">
              <a:extLst>
                <a:ext uri="{FF2B5EF4-FFF2-40B4-BE49-F238E27FC236}">
                  <a16:creationId xmlns:a16="http://schemas.microsoft.com/office/drawing/2014/main" id="{E277FE6F-90A0-42C1-AC5C-F3704628DC52}"/>
                </a:ext>
              </a:extLst>
            </p:cNvPr>
            <p:cNvSpPr txBox="1">
              <a:spLocks noChangeArrowheads="1"/>
            </p:cNvSpPr>
            <p:nvPr/>
          </p:nvSpPr>
          <p:spPr bwMode="auto">
            <a:xfrm>
              <a:off x="204" y="196"/>
              <a:ext cx="11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胰高血糖素  </a:t>
              </a:r>
            </a:p>
          </p:txBody>
        </p:sp>
        <p:grpSp>
          <p:nvGrpSpPr>
            <p:cNvPr id="127053" name="Group 28">
              <a:extLst>
                <a:ext uri="{FF2B5EF4-FFF2-40B4-BE49-F238E27FC236}">
                  <a16:creationId xmlns:a16="http://schemas.microsoft.com/office/drawing/2014/main" id="{4AA67198-D088-4B2A-9C43-B5164F9AADC7}"/>
                </a:ext>
              </a:extLst>
            </p:cNvPr>
            <p:cNvGrpSpPr>
              <a:grpSpLocks/>
            </p:cNvGrpSpPr>
            <p:nvPr/>
          </p:nvGrpSpPr>
          <p:grpSpPr bwMode="auto">
            <a:xfrm>
              <a:off x="703" y="436"/>
              <a:ext cx="0" cy="408"/>
              <a:chOff x="703" y="436"/>
              <a:chExt cx="0" cy="408"/>
            </a:xfrm>
          </p:grpSpPr>
          <p:sp>
            <p:nvSpPr>
              <p:cNvPr id="127054" name="Line 29">
                <a:extLst>
                  <a:ext uri="{FF2B5EF4-FFF2-40B4-BE49-F238E27FC236}">
                    <a16:creationId xmlns:a16="http://schemas.microsoft.com/office/drawing/2014/main" id="{229211A6-1242-434E-8A16-B4F48A206688}"/>
                  </a:ext>
                </a:extLst>
              </p:cNvPr>
              <p:cNvSpPr>
                <a:spLocks noChangeShapeType="1"/>
              </p:cNvSpPr>
              <p:nvPr/>
            </p:nvSpPr>
            <p:spPr bwMode="auto">
              <a:xfrm>
                <a:off x="703" y="436"/>
                <a:ext cx="0" cy="22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55" name="Line 30">
                <a:extLst>
                  <a:ext uri="{FF2B5EF4-FFF2-40B4-BE49-F238E27FC236}">
                    <a16:creationId xmlns:a16="http://schemas.microsoft.com/office/drawing/2014/main" id="{4FC645C1-0196-468B-98E4-5CFFE6C4EC79}"/>
                  </a:ext>
                </a:extLst>
              </p:cNvPr>
              <p:cNvSpPr>
                <a:spLocks noChangeShapeType="1"/>
              </p:cNvSpPr>
              <p:nvPr/>
            </p:nvSpPr>
            <p:spPr bwMode="auto">
              <a:xfrm>
                <a:off x="703" y="663"/>
                <a:ext cx="0" cy="18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7" name="Group 31">
            <a:extLst>
              <a:ext uri="{FF2B5EF4-FFF2-40B4-BE49-F238E27FC236}">
                <a16:creationId xmlns:a16="http://schemas.microsoft.com/office/drawing/2014/main" id="{08FFE724-9E0B-428F-85E9-929C2EE18622}"/>
              </a:ext>
            </a:extLst>
          </p:cNvPr>
          <p:cNvGrpSpPr>
            <a:grpSpLocks/>
          </p:cNvGrpSpPr>
          <p:nvPr/>
        </p:nvGrpSpPr>
        <p:grpSpPr bwMode="auto">
          <a:xfrm>
            <a:off x="1524000" y="1341438"/>
            <a:ext cx="2147888" cy="927100"/>
            <a:chOff x="0" y="845"/>
            <a:chExt cx="1353" cy="584"/>
          </a:xfrm>
        </p:grpSpPr>
        <p:sp>
          <p:nvSpPr>
            <p:cNvPr id="127049" name="Arc 32">
              <a:extLst>
                <a:ext uri="{FF2B5EF4-FFF2-40B4-BE49-F238E27FC236}">
                  <a16:creationId xmlns:a16="http://schemas.microsoft.com/office/drawing/2014/main" id="{3B2B471C-8A15-43F4-B9C2-3ED6E28C6D6B}"/>
                </a:ext>
              </a:extLst>
            </p:cNvPr>
            <p:cNvSpPr>
              <a:spLocks/>
            </p:cNvSpPr>
            <p:nvPr/>
          </p:nvSpPr>
          <p:spPr bwMode="auto">
            <a:xfrm>
              <a:off x="295" y="845"/>
              <a:ext cx="843" cy="575"/>
            </a:xfrm>
            <a:custGeom>
              <a:avLst/>
              <a:gdLst>
                <a:gd name="T0" fmla="*/ 0 w 37429"/>
                <a:gd name="T1" fmla="*/ 0 h 21600"/>
                <a:gd name="T2" fmla="*/ 0 w 37429"/>
                <a:gd name="T3" fmla="*/ 0 h 21600"/>
                <a:gd name="T4" fmla="*/ 0 w 37429"/>
                <a:gd name="T5" fmla="*/ 0 h 21600"/>
                <a:gd name="T6" fmla="*/ 0 60000 65536"/>
                <a:gd name="T7" fmla="*/ 0 60000 65536"/>
                <a:gd name="T8" fmla="*/ 0 60000 65536"/>
                <a:gd name="T9" fmla="*/ 0 w 37429"/>
                <a:gd name="T10" fmla="*/ 0 h 21600"/>
                <a:gd name="T11" fmla="*/ 37429 w 37429"/>
                <a:gd name="T12" fmla="*/ 21600 h 21600"/>
              </a:gdLst>
              <a:ahLst/>
              <a:cxnLst>
                <a:cxn ang="T6">
                  <a:pos x="T0" y="T1"/>
                </a:cxn>
                <a:cxn ang="T7">
                  <a:pos x="T2" y="T3"/>
                </a:cxn>
                <a:cxn ang="T8">
                  <a:pos x="T4" y="T5"/>
                </a:cxn>
              </a:cxnLst>
              <a:rect l="T9" t="T10" r="T11" b="T12"/>
              <a:pathLst>
                <a:path w="37429" h="21600" fill="none" extrusionOk="0">
                  <a:moveTo>
                    <a:pt x="-1" y="10052"/>
                  </a:moveTo>
                  <a:cubicBezTo>
                    <a:pt x="3958" y="3794"/>
                    <a:pt x="10848" y="-1"/>
                    <a:pt x="18254" y="0"/>
                  </a:cubicBezTo>
                  <a:cubicBezTo>
                    <a:pt x="26320" y="0"/>
                    <a:pt x="33715" y="4494"/>
                    <a:pt x="37428" y="11656"/>
                  </a:cubicBezTo>
                </a:path>
                <a:path w="37429" h="21600" stroke="0" extrusionOk="0">
                  <a:moveTo>
                    <a:pt x="-1" y="10052"/>
                  </a:moveTo>
                  <a:cubicBezTo>
                    <a:pt x="3958" y="3794"/>
                    <a:pt x="10848" y="-1"/>
                    <a:pt x="18254" y="0"/>
                  </a:cubicBezTo>
                  <a:cubicBezTo>
                    <a:pt x="26320" y="0"/>
                    <a:pt x="33715" y="4494"/>
                    <a:pt x="37428" y="11656"/>
                  </a:cubicBezTo>
                  <a:lnTo>
                    <a:pt x="18254" y="21600"/>
                  </a:lnTo>
                  <a:lnTo>
                    <a:pt x="-1" y="10052"/>
                  </a:lnTo>
                  <a:close/>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7050" name="Text Box 33">
              <a:extLst>
                <a:ext uri="{FF2B5EF4-FFF2-40B4-BE49-F238E27FC236}">
                  <a16:creationId xmlns:a16="http://schemas.microsoft.com/office/drawing/2014/main" id="{E7426984-916C-48BF-B4D5-A82B2E523C33}"/>
                </a:ext>
              </a:extLst>
            </p:cNvPr>
            <p:cNvSpPr txBox="1">
              <a:spLocks noChangeArrowheads="1"/>
            </p:cNvSpPr>
            <p:nvPr/>
          </p:nvSpPr>
          <p:spPr bwMode="auto">
            <a:xfrm>
              <a:off x="0" y="1179"/>
              <a:ext cx="4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ATP </a:t>
              </a:r>
            </a:p>
          </p:txBody>
        </p:sp>
        <p:sp>
          <p:nvSpPr>
            <p:cNvPr id="127051" name="Text Box 34">
              <a:extLst>
                <a:ext uri="{FF2B5EF4-FFF2-40B4-BE49-F238E27FC236}">
                  <a16:creationId xmlns:a16="http://schemas.microsoft.com/office/drawing/2014/main" id="{B138B53C-2184-4514-8B00-3F7AB50CE4B4}"/>
                </a:ext>
              </a:extLst>
            </p:cNvPr>
            <p:cNvSpPr txBox="1">
              <a:spLocks noChangeArrowheads="1"/>
            </p:cNvSpPr>
            <p:nvPr/>
          </p:nvSpPr>
          <p:spPr bwMode="auto">
            <a:xfrm>
              <a:off x="748" y="1179"/>
              <a:ext cx="6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cAMP </a:t>
              </a:r>
            </a:p>
          </p:txBody>
        </p:sp>
      </p:grpSp>
      <p:grpSp>
        <p:nvGrpSpPr>
          <p:cNvPr id="8" name="Group 35">
            <a:extLst>
              <a:ext uri="{FF2B5EF4-FFF2-40B4-BE49-F238E27FC236}">
                <a16:creationId xmlns:a16="http://schemas.microsoft.com/office/drawing/2014/main" id="{D00EBF0D-4DA6-4435-8F4C-93210F405183}"/>
              </a:ext>
            </a:extLst>
          </p:cNvPr>
          <p:cNvGrpSpPr>
            <a:grpSpLocks/>
          </p:cNvGrpSpPr>
          <p:nvPr/>
        </p:nvGrpSpPr>
        <p:grpSpPr bwMode="auto">
          <a:xfrm>
            <a:off x="3792539" y="2060576"/>
            <a:ext cx="2492375" cy="792163"/>
            <a:chOff x="1429" y="1298"/>
            <a:chExt cx="1570" cy="499"/>
          </a:xfrm>
        </p:grpSpPr>
        <p:grpSp>
          <p:nvGrpSpPr>
            <p:cNvPr id="127045" name="Group 36">
              <a:extLst>
                <a:ext uri="{FF2B5EF4-FFF2-40B4-BE49-F238E27FC236}">
                  <a16:creationId xmlns:a16="http://schemas.microsoft.com/office/drawing/2014/main" id="{29357506-06D3-4244-B40E-9A230F901E89}"/>
                </a:ext>
              </a:extLst>
            </p:cNvPr>
            <p:cNvGrpSpPr>
              <a:grpSpLocks/>
            </p:cNvGrpSpPr>
            <p:nvPr/>
          </p:nvGrpSpPr>
          <p:grpSpPr bwMode="auto">
            <a:xfrm>
              <a:off x="1429" y="1298"/>
              <a:ext cx="1088" cy="499"/>
              <a:chOff x="1429" y="1298"/>
              <a:chExt cx="1088" cy="499"/>
            </a:xfrm>
          </p:grpSpPr>
          <p:sp>
            <p:nvSpPr>
              <p:cNvPr id="127047" name="Line 37">
                <a:extLst>
                  <a:ext uri="{FF2B5EF4-FFF2-40B4-BE49-F238E27FC236}">
                    <a16:creationId xmlns:a16="http://schemas.microsoft.com/office/drawing/2014/main" id="{1175639B-594B-4787-AE49-31F49FA08796}"/>
                  </a:ext>
                </a:extLst>
              </p:cNvPr>
              <p:cNvSpPr>
                <a:spLocks noChangeShapeType="1"/>
              </p:cNvSpPr>
              <p:nvPr/>
            </p:nvSpPr>
            <p:spPr bwMode="auto">
              <a:xfrm>
                <a:off x="1429" y="1298"/>
                <a:ext cx="1088" cy="0"/>
              </a:xfrm>
              <a:prstGeom prst="line">
                <a:avLst/>
              </a:prstGeom>
              <a:noFill/>
              <a:ln w="57150">
                <a:solidFill>
                  <a:srgbClr val="FF0000"/>
                </a:solidFill>
                <a:prstDash val="sys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7048" name="Line 38">
                <a:extLst>
                  <a:ext uri="{FF2B5EF4-FFF2-40B4-BE49-F238E27FC236}">
                    <a16:creationId xmlns:a16="http://schemas.microsoft.com/office/drawing/2014/main" id="{9A499AB8-6C3A-453D-99A8-E11D080A1348}"/>
                  </a:ext>
                </a:extLst>
              </p:cNvPr>
              <p:cNvSpPr>
                <a:spLocks noChangeShapeType="1"/>
              </p:cNvSpPr>
              <p:nvPr/>
            </p:nvSpPr>
            <p:spPr bwMode="auto">
              <a:xfrm>
                <a:off x="2517" y="1298"/>
                <a:ext cx="0" cy="499"/>
              </a:xfrm>
              <a:prstGeom prst="line">
                <a:avLst/>
              </a:prstGeom>
              <a:noFill/>
              <a:ln w="57150">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27046" name="Text Box 39">
              <a:extLst>
                <a:ext uri="{FF2B5EF4-FFF2-40B4-BE49-F238E27FC236}">
                  <a16:creationId xmlns:a16="http://schemas.microsoft.com/office/drawing/2014/main" id="{04904C88-1F04-4BDC-9DAD-81B47A450765}"/>
                </a:ext>
              </a:extLst>
            </p:cNvPr>
            <p:cNvSpPr txBox="1">
              <a:spLocks noChangeArrowheads="1"/>
            </p:cNvSpPr>
            <p:nvPr/>
          </p:nvSpPr>
          <p:spPr bwMode="auto">
            <a:xfrm>
              <a:off x="2517" y="1434"/>
              <a:ext cx="4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latin typeface="Arial" panose="020B0604020202020204" pitchFamily="34" charset="0"/>
                  <a:ea typeface="宋体" panose="02010600030101010101" pitchFamily="2" charset="-122"/>
                </a:rPr>
                <a:t>活化 </a:t>
              </a:r>
            </a:p>
          </p:txBody>
        </p:sp>
      </p:grpSp>
      <p:grpSp>
        <p:nvGrpSpPr>
          <p:cNvPr id="10" name="Group 40">
            <a:extLst>
              <a:ext uri="{FF2B5EF4-FFF2-40B4-BE49-F238E27FC236}">
                <a16:creationId xmlns:a16="http://schemas.microsoft.com/office/drawing/2014/main" id="{E151030C-4A58-4A67-B4F7-098360A0AC4A}"/>
              </a:ext>
            </a:extLst>
          </p:cNvPr>
          <p:cNvGrpSpPr>
            <a:grpSpLocks/>
          </p:cNvGrpSpPr>
          <p:nvPr/>
        </p:nvGrpSpPr>
        <p:grpSpPr bwMode="auto">
          <a:xfrm>
            <a:off x="4913313" y="2852738"/>
            <a:ext cx="5695950" cy="2616200"/>
            <a:chOff x="2064" y="1827"/>
            <a:chExt cx="3588" cy="1648"/>
          </a:xfrm>
        </p:grpSpPr>
        <p:sp>
          <p:nvSpPr>
            <p:cNvPr id="127040" name="Text Box 41">
              <a:extLst>
                <a:ext uri="{FF2B5EF4-FFF2-40B4-BE49-F238E27FC236}">
                  <a16:creationId xmlns:a16="http://schemas.microsoft.com/office/drawing/2014/main" id="{20509CA4-C037-470F-9739-56D5EEFC0DD1}"/>
                </a:ext>
              </a:extLst>
            </p:cNvPr>
            <p:cNvSpPr txBox="1">
              <a:spLocks noChangeArrowheads="1"/>
            </p:cNvSpPr>
            <p:nvPr/>
          </p:nvSpPr>
          <p:spPr bwMode="auto">
            <a:xfrm>
              <a:off x="4539" y="1827"/>
              <a:ext cx="111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80000"/>
                </a:lnSpc>
                <a:spcBef>
                  <a:spcPct val="0"/>
                </a:spcBef>
                <a:buClrTx/>
                <a:buSzTx/>
                <a:buFontTx/>
                <a:buNone/>
              </a:pPr>
              <a:r>
                <a:rPr kumimoji="1" lang="en-US" altLang="zh-CN" sz="2800">
                  <a:solidFill>
                    <a:srgbClr val="0000CC"/>
                  </a:solidFill>
                  <a:latin typeface="Arial" panose="020B0604020202020204" pitchFamily="34" charset="0"/>
                  <a:ea typeface="宋体" panose="02010600030101010101" pitchFamily="2" charset="-122"/>
                </a:rPr>
                <a:t>F-2,6-2P  </a:t>
              </a:r>
            </a:p>
          </p:txBody>
        </p:sp>
        <p:grpSp>
          <p:nvGrpSpPr>
            <p:cNvPr id="127041" name="Group 42">
              <a:extLst>
                <a:ext uri="{FF2B5EF4-FFF2-40B4-BE49-F238E27FC236}">
                  <a16:creationId xmlns:a16="http://schemas.microsoft.com/office/drawing/2014/main" id="{90E01111-7E8F-423D-B5FA-F684052B5F9F}"/>
                </a:ext>
              </a:extLst>
            </p:cNvPr>
            <p:cNvGrpSpPr>
              <a:grpSpLocks/>
            </p:cNvGrpSpPr>
            <p:nvPr/>
          </p:nvGrpSpPr>
          <p:grpSpPr bwMode="auto">
            <a:xfrm>
              <a:off x="2064" y="2115"/>
              <a:ext cx="3311" cy="1360"/>
              <a:chOff x="2064" y="2115"/>
              <a:chExt cx="3311" cy="1360"/>
            </a:xfrm>
          </p:grpSpPr>
          <p:sp>
            <p:nvSpPr>
              <p:cNvPr id="127043" name="Line 43">
                <a:extLst>
                  <a:ext uri="{FF2B5EF4-FFF2-40B4-BE49-F238E27FC236}">
                    <a16:creationId xmlns:a16="http://schemas.microsoft.com/office/drawing/2014/main" id="{D39AA497-0C07-4E06-8A5F-11E4FD16F816}"/>
                  </a:ext>
                </a:extLst>
              </p:cNvPr>
              <p:cNvSpPr>
                <a:spLocks noChangeShapeType="1"/>
              </p:cNvSpPr>
              <p:nvPr/>
            </p:nvSpPr>
            <p:spPr bwMode="auto">
              <a:xfrm>
                <a:off x="5375" y="2115"/>
                <a:ext cx="0" cy="1360"/>
              </a:xfrm>
              <a:prstGeom prst="line">
                <a:avLst/>
              </a:prstGeom>
              <a:noFill/>
              <a:ln w="5715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7044" name="Line 44">
                <a:extLst>
                  <a:ext uri="{FF2B5EF4-FFF2-40B4-BE49-F238E27FC236}">
                    <a16:creationId xmlns:a16="http://schemas.microsoft.com/office/drawing/2014/main" id="{A302F78A-B294-45EC-B206-C45DAE34A165}"/>
                  </a:ext>
                </a:extLst>
              </p:cNvPr>
              <p:cNvSpPr>
                <a:spLocks noChangeShapeType="1"/>
              </p:cNvSpPr>
              <p:nvPr/>
            </p:nvSpPr>
            <p:spPr bwMode="auto">
              <a:xfrm flipH="1" flipV="1">
                <a:off x="2064" y="3475"/>
                <a:ext cx="3311" cy="0"/>
              </a:xfrm>
              <a:prstGeom prst="line">
                <a:avLst/>
              </a:prstGeom>
              <a:noFill/>
              <a:ln w="5715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27042" name="Oval 45">
              <a:extLst>
                <a:ext uri="{FF2B5EF4-FFF2-40B4-BE49-F238E27FC236}">
                  <a16:creationId xmlns:a16="http://schemas.microsoft.com/office/drawing/2014/main" id="{E616875C-5929-4C87-A4F3-10EDE9F85C1D}"/>
                </a:ext>
              </a:extLst>
            </p:cNvPr>
            <p:cNvSpPr>
              <a:spLocks noChangeArrowheads="1"/>
            </p:cNvSpPr>
            <p:nvPr/>
          </p:nvSpPr>
          <p:spPr bwMode="auto">
            <a:xfrm>
              <a:off x="2154" y="3249"/>
              <a:ext cx="182" cy="182"/>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FF0000"/>
                  </a:solidFill>
                  <a:latin typeface="Arial" panose="020B0604020202020204" pitchFamily="34" charset="0"/>
                  <a:ea typeface="宋体" panose="02010600030101010101" pitchFamily="2" charset="-122"/>
                </a:rPr>
                <a:t>+</a:t>
              </a:r>
            </a:p>
          </p:txBody>
        </p:sp>
      </p:grpSp>
      <p:grpSp>
        <p:nvGrpSpPr>
          <p:cNvPr id="12" name="Group 46">
            <a:extLst>
              <a:ext uri="{FF2B5EF4-FFF2-40B4-BE49-F238E27FC236}">
                <a16:creationId xmlns:a16="http://schemas.microsoft.com/office/drawing/2014/main" id="{D22D35E0-6541-40F4-B6C5-0A4EE80C983F}"/>
              </a:ext>
            </a:extLst>
          </p:cNvPr>
          <p:cNvGrpSpPr>
            <a:grpSpLocks/>
          </p:cNvGrpSpPr>
          <p:nvPr/>
        </p:nvGrpSpPr>
        <p:grpSpPr bwMode="auto">
          <a:xfrm>
            <a:off x="3863976" y="5589589"/>
            <a:ext cx="358775" cy="719137"/>
            <a:chOff x="1474" y="3521"/>
            <a:chExt cx="226" cy="453"/>
          </a:xfrm>
        </p:grpSpPr>
        <p:sp>
          <p:nvSpPr>
            <p:cNvPr id="127038" name="Line 47">
              <a:extLst>
                <a:ext uri="{FF2B5EF4-FFF2-40B4-BE49-F238E27FC236}">
                  <a16:creationId xmlns:a16="http://schemas.microsoft.com/office/drawing/2014/main" id="{7B7B9D02-931C-4F42-858C-8AB708555D23}"/>
                </a:ext>
              </a:extLst>
            </p:cNvPr>
            <p:cNvSpPr>
              <a:spLocks noChangeShapeType="1"/>
            </p:cNvSpPr>
            <p:nvPr/>
          </p:nvSpPr>
          <p:spPr bwMode="auto">
            <a:xfrm flipV="1">
              <a:off x="1474" y="3521"/>
              <a:ext cx="0" cy="453"/>
            </a:xfrm>
            <a:prstGeom prst="line">
              <a:avLst/>
            </a:prstGeom>
            <a:noFill/>
            <a:ln w="5715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39" name="Oval 48">
              <a:extLst>
                <a:ext uri="{FF2B5EF4-FFF2-40B4-BE49-F238E27FC236}">
                  <a16:creationId xmlns:a16="http://schemas.microsoft.com/office/drawing/2014/main" id="{6D3C6EBC-4A45-4B9F-9974-3CD67B82A832}"/>
                </a:ext>
              </a:extLst>
            </p:cNvPr>
            <p:cNvSpPr>
              <a:spLocks noChangeArrowheads="1"/>
            </p:cNvSpPr>
            <p:nvPr/>
          </p:nvSpPr>
          <p:spPr bwMode="auto">
            <a:xfrm>
              <a:off x="1519" y="3612"/>
              <a:ext cx="181" cy="181"/>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a:solidFill>
                    <a:srgbClr val="FF0000"/>
                  </a:solidFill>
                  <a:latin typeface="Arial" panose="020B0604020202020204" pitchFamily="34" charset="0"/>
                  <a:ea typeface="宋体" panose="02010600030101010101" pitchFamily="2" charset="-122"/>
                </a:rPr>
                <a:t>+</a:t>
              </a:r>
            </a:p>
          </p:txBody>
        </p:sp>
      </p:grpSp>
      <p:grpSp>
        <p:nvGrpSpPr>
          <p:cNvPr id="13" name="Group 49">
            <a:extLst>
              <a:ext uri="{FF2B5EF4-FFF2-40B4-BE49-F238E27FC236}">
                <a16:creationId xmlns:a16="http://schemas.microsoft.com/office/drawing/2014/main" id="{740802F7-13CD-4210-A385-171E30C52712}"/>
              </a:ext>
            </a:extLst>
          </p:cNvPr>
          <p:cNvGrpSpPr>
            <a:grpSpLocks/>
          </p:cNvGrpSpPr>
          <p:nvPr/>
        </p:nvGrpSpPr>
        <p:grpSpPr bwMode="auto">
          <a:xfrm>
            <a:off x="2640014" y="5084763"/>
            <a:ext cx="935037" cy="360362"/>
            <a:chOff x="703" y="3203"/>
            <a:chExt cx="589" cy="227"/>
          </a:xfrm>
        </p:grpSpPr>
        <p:sp>
          <p:nvSpPr>
            <p:cNvPr id="127036" name="Line 50">
              <a:extLst>
                <a:ext uri="{FF2B5EF4-FFF2-40B4-BE49-F238E27FC236}">
                  <a16:creationId xmlns:a16="http://schemas.microsoft.com/office/drawing/2014/main" id="{984FA084-50DC-4D11-8062-B9C8288881FE}"/>
                </a:ext>
              </a:extLst>
            </p:cNvPr>
            <p:cNvSpPr>
              <a:spLocks noChangeShapeType="1"/>
            </p:cNvSpPr>
            <p:nvPr/>
          </p:nvSpPr>
          <p:spPr bwMode="auto">
            <a:xfrm>
              <a:off x="703" y="3430"/>
              <a:ext cx="589" cy="0"/>
            </a:xfrm>
            <a:prstGeom prst="line">
              <a:avLst/>
            </a:prstGeom>
            <a:noFill/>
            <a:ln w="5715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37" name="Oval 51">
              <a:extLst>
                <a:ext uri="{FF2B5EF4-FFF2-40B4-BE49-F238E27FC236}">
                  <a16:creationId xmlns:a16="http://schemas.microsoft.com/office/drawing/2014/main" id="{70D5DC34-578A-4314-BB1B-9D16853F6362}"/>
                </a:ext>
              </a:extLst>
            </p:cNvPr>
            <p:cNvSpPr>
              <a:spLocks noChangeArrowheads="1"/>
            </p:cNvSpPr>
            <p:nvPr/>
          </p:nvSpPr>
          <p:spPr bwMode="auto">
            <a:xfrm>
              <a:off x="748" y="3203"/>
              <a:ext cx="182" cy="182"/>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a:solidFill>
                    <a:srgbClr val="FF0000"/>
                  </a:solidFill>
                  <a:latin typeface="Arial" panose="020B0604020202020204" pitchFamily="34" charset="0"/>
                  <a:ea typeface="宋体" panose="02010600030101010101" pitchFamily="2" charset="-122"/>
                </a:rPr>
                <a:t>+</a:t>
              </a:r>
            </a:p>
          </p:txBody>
        </p:sp>
      </p:grpSp>
      <p:grpSp>
        <p:nvGrpSpPr>
          <p:cNvPr id="14" name="Group 52">
            <a:extLst>
              <a:ext uri="{FF2B5EF4-FFF2-40B4-BE49-F238E27FC236}">
                <a16:creationId xmlns:a16="http://schemas.microsoft.com/office/drawing/2014/main" id="{8E818A00-A3D6-4E47-BAFF-F170D4D7D34F}"/>
              </a:ext>
            </a:extLst>
          </p:cNvPr>
          <p:cNvGrpSpPr>
            <a:grpSpLocks/>
          </p:cNvGrpSpPr>
          <p:nvPr/>
        </p:nvGrpSpPr>
        <p:grpSpPr bwMode="auto">
          <a:xfrm>
            <a:off x="2566989" y="3860800"/>
            <a:ext cx="1514475" cy="1296988"/>
            <a:chOff x="657" y="2432"/>
            <a:chExt cx="954" cy="817"/>
          </a:xfrm>
        </p:grpSpPr>
        <p:sp>
          <p:nvSpPr>
            <p:cNvPr id="127034" name="Line 53">
              <a:extLst>
                <a:ext uri="{FF2B5EF4-FFF2-40B4-BE49-F238E27FC236}">
                  <a16:creationId xmlns:a16="http://schemas.microsoft.com/office/drawing/2014/main" id="{5E627EA4-1BF8-48EE-9917-17CF91FCF02D}"/>
                </a:ext>
              </a:extLst>
            </p:cNvPr>
            <p:cNvSpPr>
              <a:spLocks noChangeShapeType="1"/>
            </p:cNvSpPr>
            <p:nvPr/>
          </p:nvSpPr>
          <p:spPr bwMode="auto">
            <a:xfrm>
              <a:off x="657" y="2432"/>
              <a:ext cx="908" cy="817"/>
            </a:xfrm>
            <a:prstGeom prst="line">
              <a:avLst/>
            </a:prstGeom>
            <a:noFill/>
            <a:ln w="5715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35" name="Oval 54">
              <a:extLst>
                <a:ext uri="{FF2B5EF4-FFF2-40B4-BE49-F238E27FC236}">
                  <a16:creationId xmlns:a16="http://schemas.microsoft.com/office/drawing/2014/main" id="{D5F569F5-40F5-4205-9600-7B753C8A12B4}"/>
                </a:ext>
              </a:extLst>
            </p:cNvPr>
            <p:cNvSpPr>
              <a:spLocks noChangeArrowheads="1"/>
            </p:cNvSpPr>
            <p:nvPr/>
          </p:nvSpPr>
          <p:spPr bwMode="auto">
            <a:xfrm>
              <a:off x="1338" y="2886"/>
              <a:ext cx="273" cy="18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cs typeface="Arial" panose="020B0604020202020204" pitchFamily="34" charset="0"/>
                </a:rPr>
                <a:t>–/</a:t>
              </a:r>
              <a:r>
                <a:rPr kumimoji="1" lang="zh-CN" altLang="en-US" sz="2400">
                  <a:solidFill>
                    <a:srgbClr val="FF0000"/>
                  </a:solidFill>
                  <a:latin typeface="Arial" panose="020B0604020202020204" pitchFamily="34" charset="0"/>
                  <a:ea typeface="宋体" panose="02010600030101010101" pitchFamily="2" charset="-122"/>
                  <a:cs typeface="Arial" panose="020B0604020202020204" pitchFamily="34" charset="0"/>
                </a:rPr>
                <a:t>+</a:t>
              </a:r>
            </a:p>
          </p:txBody>
        </p:sp>
      </p:grpSp>
      <p:grpSp>
        <p:nvGrpSpPr>
          <p:cNvPr id="15" name="Group 55">
            <a:extLst>
              <a:ext uri="{FF2B5EF4-FFF2-40B4-BE49-F238E27FC236}">
                <a16:creationId xmlns:a16="http://schemas.microsoft.com/office/drawing/2014/main" id="{8B21AA40-58A0-41C3-BFDA-4CC49DB6FF5B}"/>
              </a:ext>
            </a:extLst>
          </p:cNvPr>
          <p:cNvGrpSpPr>
            <a:grpSpLocks/>
          </p:cNvGrpSpPr>
          <p:nvPr/>
        </p:nvGrpSpPr>
        <p:grpSpPr bwMode="auto">
          <a:xfrm>
            <a:off x="4440238" y="5661026"/>
            <a:ext cx="889000" cy="1173163"/>
            <a:chOff x="1837" y="3566"/>
            <a:chExt cx="560" cy="739"/>
          </a:xfrm>
        </p:grpSpPr>
        <p:sp>
          <p:nvSpPr>
            <p:cNvPr id="127031" name="Text Box 56">
              <a:extLst>
                <a:ext uri="{FF2B5EF4-FFF2-40B4-BE49-F238E27FC236}">
                  <a16:creationId xmlns:a16="http://schemas.microsoft.com/office/drawing/2014/main" id="{4D4407E4-F096-4B39-BFE9-0BFB2F994857}"/>
                </a:ext>
              </a:extLst>
            </p:cNvPr>
            <p:cNvSpPr txBox="1">
              <a:spLocks noChangeArrowheads="1"/>
            </p:cNvSpPr>
            <p:nvPr/>
          </p:nvSpPr>
          <p:spPr bwMode="auto">
            <a:xfrm>
              <a:off x="1837" y="4055"/>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AMP  </a:t>
              </a:r>
            </a:p>
          </p:txBody>
        </p:sp>
        <p:sp>
          <p:nvSpPr>
            <p:cNvPr id="127032" name="Line 57">
              <a:extLst>
                <a:ext uri="{FF2B5EF4-FFF2-40B4-BE49-F238E27FC236}">
                  <a16:creationId xmlns:a16="http://schemas.microsoft.com/office/drawing/2014/main" id="{7CBD1EB2-7988-4C08-9441-7665B0705937}"/>
                </a:ext>
              </a:extLst>
            </p:cNvPr>
            <p:cNvSpPr>
              <a:spLocks noChangeShapeType="1"/>
            </p:cNvSpPr>
            <p:nvPr/>
          </p:nvSpPr>
          <p:spPr bwMode="auto">
            <a:xfrm flipH="1" flipV="1">
              <a:off x="1837" y="3566"/>
              <a:ext cx="181" cy="454"/>
            </a:xfrm>
            <a:prstGeom prst="line">
              <a:avLst/>
            </a:prstGeom>
            <a:noFill/>
            <a:ln w="5715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33" name="Oval 58">
              <a:extLst>
                <a:ext uri="{FF2B5EF4-FFF2-40B4-BE49-F238E27FC236}">
                  <a16:creationId xmlns:a16="http://schemas.microsoft.com/office/drawing/2014/main" id="{44250D3B-76B4-4053-9FA1-91A123C12795}"/>
                </a:ext>
              </a:extLst>
            </p:cNvPr>
            <p:cNvSpPr>
              <a:spLocks noChangeArrowheads="1"/>
            </p:cNvSpPr>
            <p:nvPr/>
          </p:nvSpPr>
          <p:spPr bwMode="auto">
            <a:xfrm>
              <a:off x="1938" y="3657"/>
              <a:ext cx="182" cy="182"/>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FF0000"/>
                  </a:solidFill>
                  <a:latin typeface="Arial" panose="020B0604020202020204" pitchFamily="34" charset="0"/>
                  <a:ea typeface="宋体" panose="02010600030101010101" pitchFamily="2" charset="-122"/>
                </a:rPr>
                <a:t>+</a:t>
              </a:r>
            </a:p>
          </p:txBody>
        </p:sp>
      </p:grpSp>
      <p:grpSp>
        <p:nvGrpSpPr>
          <p:cNvPr id="16" name="Group 59">
            <a:extLst>
              <a:ext uri="{FF2B5EF4-FFF2-40B4-BE49-F238E27FC236}">
                <a16:creationId xmlns:a16="http://schemas.microsoft.com/office/drawing/2014/main" id="{76622795-CDCB-4316-A541-6746F303AAF0}"/>
              </a:ext>
            </a:extLst>
          </p:cNvPr>
          <p:cNvGrpSpPr>
            <a:grpSpLocks/>
          </p:cNvGrpSpPr>
          <p:nvPr/>
        </p:nvGrpSpPr>
        <p:grpSpPr bwMode="auto">
          <a:xfrm>
            <a:off x="4727575" y="5589589"/>
            <a:ext cx="2457450" cy="1265237"/>
            <a:chOff x="2018" y="3521"/>
            <a:chExt cx="1548" cy="797"/>
          </a:xfrm>
        </p:grpSpPr>
        <p:sp>
          <p:nvSpPr>
            <p:cNvPr id="127028" name="Line 60">
              <a:extLst>
                <a:ext uri="{FF2B5EF4-FFF2-40B4-BE49-F238E27FC236}">
                  <a16:creationId xmlns:a16="http://schemas.microsoft.com/office/drawing/2014/main" id="{51DA5C5C-AECA-4353-A876-7494A81A160C}"/>
                </a:ext>
              </a:extLst>
            </p:cNvPr>
            <p:cNvSpPr>
              <a:spLocks noChangeShapeType="1"/>
            </p:cNvSpPr>
            <p:nvPr/>
          </p:nvSpPr>
          <p:spPr bwMode="auto">
            <a:xfrm flipH="1" flipV="1">
              <a:off x="2018" y="3521"/>
              <a:ext cx="1224" cy="499"/>
            </a:xfrm>
            <a:prstGeom prst="line">
              <a:avLst/>
            </a:prstGeom>
            <a:noFill/>
            <a:ln w="5715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29" name="Rectangle 61">
              <a:extLst>
                <a:ext uri="{FF2B5EF4-FFF2-40B4-BE49-F238E27FC236}">
                  <a16:creationId xmlns:a16="http://schemas.microsoft.com/office/drawing/2014/main" id="{AC5962D4-778E-4127-A65E-9BF31A9E4FDC}"/>
                </a:ext>
              </a:extLst>
            </p:cNvPr>
            <p:cNvSpPr>
              <a:spLocks noChangeArrowheads="1"/>
            </p:cNvSpPr>
            <p:nvPr/>
          </p:nvSpPr>
          <p:spPr bwMode="auto">
            <a:xfrm>
              <a:off x="2879" y="4068"/>
              <a:ext cx="6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宋体" panose="02010600030101010101" pitchFamily="2" charset="-122"/>
                </a:rPr>
                <a:t>柠檬酸  </a:t>
              </a:r>
            </a:p>
          </p:txBody>
        </p:sp>
        <p:sp>
          <p:nvSpPr>
            <p:cNvPr id="169022" name="Oval 62">
              <a:extLst>
                <a:ext uri="{FF2B5EF4-FFF2-40B4-BE49-F238E27FC236}">
                  <a16:creationId xmlns:a16="http://schemas.microsoft.com/office/drawing/2014/main" id="{2792678D-DD55-41F1-B00D-591A5416AAB0}"/>
                </a:ext>
              </a:extLst>
            </p:cNvPr>
            <p:cNvSpPr>
              <a:spLocks noChangeArrowheads="1"/>
            </p:cNvSpPr>
            <p:nvPr/>
          </p:nvSpPr>
          <p:spPr bwMode="auto">
            <a:xfrm>
              <a:off x="2472" y="3521"/>
              <a:ext cx="182" cy="182"/>
            </a:xfrm>
            <a:prstGeom prst="ellipse">
              <a:avLst/>
            </a:prstGeom>
            <a:noFill/>
            <a:ln w="38100">
              <a:solidFill>
                <a:schemeClr val="tx1"/>
              </a:solidFill>
              <a:round/>
              <a:headEnd/>
              <a:tailEnd/>
            </a:ln>
            <a:effectLst/>
          </p:spPr>
          <p:txBody>
            <a:bodyPr wrap="none" anchor="ctr"/>
            <a:lstStyle/>
            <a:p>
              <a:pPr algn="ctr" eaLnBrk="1" hangingPunct="1">
                <a:lnSpc>
                  <a:spcPct val="80000"/>
                </a:lnSpc>
                <a:defRPr/>
              </a:pPr>
              <a:r>
                <a:rPr kumimoji="1" lang="zh-CN" altLang="en-US" sz="2400">
                  <a:effectLst>
                    <a:outerShdw blurRad="38100" dist="38100" dir="2700000" algn="tl">
                      <a:srgbClr val="C0C0C0"/>
                    </a:outerShdw>
                  </a:effectLst>
                  <a:latin typeface="Arial" charset="0"/>
                  <a:cs typeface="Arial" charset="0"/>
                </a:rPr>
                <a:t>–</a:t>
              </a:r>
            </a:p>
          </p:txBody>
        </p:sp>
      </p:grpSp>
      <p:grpSp>
        <p:nvGrpSpPr>
          <p:cNvPr id="17" name="Group 63">
            <a:extLst>
              <a:ext uri="{FF2B5EF4-FFF2-40B4-BE49-F238E27FC236}">
                <a16:creationId xmlns:a16="http://schemas.microsoft.com/office/drawing/2014/main" id="{BF9F914A-31B3-4A0B-A424-C6D475C022C4}"/>
              </a:ext>
            </a:extLst>
          </p:cNvPr>
          <p:cNvGrpSpPr>
            <a:grpSpLocks/>
          </p:cNvGrpSpPr>
          <p:nvPr/>
        </p:nvGrpSpPr>
        <p:grpSpPr bwMode="auto">
          <a:xfrm>
            <a:off x="5232400" y="98425"/>
            <a:ext cx="819150" cy="1169988"/>
            <a:chOff x="2336" y="62"/>
            <a:chExt cx="516" cy="737"/>
          </a:xfrm>
        </p:grpSpPr>
        <p:sp>
          <p:nvSpPr>
            <p:cNvPr id="127025" name="Text Box 64">
              <a:extLst>
                <a:ext uri="{FF2B5EF4-FFF2-40B4-BE49-F238E27FC236}">
                  <a16:creationId xmlns:a16="http://schemas.microsoft.com/office/drawing/2014/main" id="{62217FF9-A1D4-4A59-8E1A-D24A198E55D5}"/>
                </a:ext>
              </a:extLst>
            </p:cNvPr>
            <p:cNvSpPr txBox="1">
              <a:spLocks noChangeArrowheads="1"/>
            </p:cNvSpPr>
            <p:nvPr/>
          </p:nvSpPr>
          <p:spPr bwMode="auto">
            <a:xfrm>
              <a:off x="2336" y="62"/>
              <a:ext cx="5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AMP </a:t>
              </a:r>
            </a:p>
          </p:txBody>
        </p:sp>
        <p:sp>
          <p:nvSpPr>
            <p:cNvPr id="127026" name="Line 65">
              <a:extLst>
                <a:ext uri="{FF2B5EF4-FFF2-40B4-BE49-F238E27FC236}">
                  <a16:creationId xmlns:a16="http://schemas.microsoft.com/office/drawing/2014/main" id="{69ADD9B5-B816-48EB-8062-FF4214D9CE18}"/>
                </a:ext>
              </a:extLst>
            </p:cNvPr>
            <p:cNvSpPr>
              <a:spLocks noChangeShapeType="1"/>
            </p:cNvSpPr>
            <p:nvPr/>
          </p:nvSpPr>
          <p:spPr bwMode="auto">
            <a:xfrm>
              <a:off x="2608" y="300"/>
              <a:ext cx="227" cy="499"/>
            </a:xfrm>
            <a:prstGeom prst="line">
              <a:avLst/>
            </a:prstGeom>
            <a:noFill/>
            <a:ln w="5715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27" name="Oval 66">
              <a:extLst>
                <a:ext uri="{FF2B5EF4-FFF2-40B4-BE49-F238E27FC236}">
                  <a16:creationId xmlns:a16="http://schemas.microsoft.com/office/drawing/2014/main" id="{2500D889-BD83-4542-B374-10FDD510172C}"/>
                </a:ext>
              </a:extLst>
            </p:cNvPr>
            <p:cNvSpPr>
              <a:spLocks noChangeArrowheads="1"/>
            </p:cNvSpPr>
            <p:nvPr/>
          </p:nvSpPr>
          <p:spPr bwMode="auto">
            <a:xfrm>
              <a:off x="2448" y="432"/>
              <a:ext cx="166" cy="16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FF0000"/>
                  </a:solidFill>
                  <a:latin typeface="Arial" panose="020B0604020202020204" pitchFamily="34" charset="0"/>
                  <a:ea typeface="宋体" panose="02010600030101010101" pitchFamily="2" charset="-122"/>
                </a:rPr>
                <a:t>+</a:t>
              </a:r>
            </a:p>
          </p:txBody>
        </p:sp>
      </p:grpSp>
      <p:grpSp>
        <p:nvGrpSpPr>
          <p:cNvPr id="18" name="Group 67">
            <a:extLst>
              <a:ext uri="{FF2B5EF4-FFF2-40B4-BE49-F238E27FC236}">
                <a16:creationId xmlns:a16="http://schemas.microsoft.com/office/drawing/2014/main" id="{D80CFF67-354E-4B35-99AB-896EC806D41A}"/>
              </a:ext>
            </a:extLst>
          </p:cNvPr>
          <p:cNvGrpSpPr>
            <a:grpSpLocks/>
          </p:cNvGrpSpPr>
          <p:nvPr/>
        </p:nvGrpSpPr>
        <p:grpSpPr bwMode="auto">
          <a:xfrm>
            <a:off x="6172200" y="119063"/>
            <a:ext cx="1087438" cy="1149350"/>
            <a:chOff x="2928" y="75"/>
            <a:chExt cx="685" cy="724"/>
          </a:xfrm>
        </p:grpSpPr>
        <p:sp>
          <p:nvSpPr>
            <p:cNvPr id="127022" name="Rectangle 68">
              <a:extLst>
                <a:ext uri="{FF2B5EF4-FFF2-40B4-BE49-F238E27FC236}">
                  <a16:creationId xmlns:a16="http://schemas.microsoft.com/office/drawing/2014/main" id="{58A3A8E2-4582-48DE-89C1-91F051870375}"/>
                </a:ext>
              </a:extLst>
            </p:cNvPr>
            <p:cNvSpPr>
              <a:spLocks noChangeArrowheads="1"/>
            </p:cNvSpPr>
            <p:nvPr/>
          </p:nvSpPr>
          <p:spPr bwMode="auto">
            <a:xfrm>
              <a:off x="2970" y="75"/>
              <a:ext cx="6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宋体" panose="02010600030101010101" pitchFamily="2" charset="-122"/>
                </a:rPr>
                <a:t>柠檬酸 </a:t>
              </a:r>
            </a:p>
          </p:txBody>
        </p:sp>
        <p:sp>
          <p:nvSpPr>
            <p:cNvPr id="127023" name="Line 69">
              <a:extLst>
                <a:ext uri="{FF2B5EF4-FFF2-40B4-BE49-F238E27FC236}">
                  <a16:creationId xmlns:a16="http://schemas.microsoft.com/office/drawing/2014/main" id="{587120C8-CFEA-4FAE-BA7D-CA0C12E3F4BB}"/>
                </a:ext>
              </a:extLst>
            </p:cNvPr>
            <p:cNvSpPr>
              <a:spLocks noChangeShapeType="1"/>
            </p:cNvSpPr>
            <p:nvPr/>
          </p:nvSpPr>
          <p:spPr bwMode="auto">
            <a:xfrm flipH="1">
              <a:off x="3016" y="300"/>
              <a:ext cx="227" cy="499"/>
            </a:xfrm>
            <a:prstGeom prst="line">
              <a:avLst/>
            </a:prstGeom>
            <a:noFill/>
            <a:ln w="5715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9030" name="Oval 70">
              <a:extLst>
                <a:ext uri="{FF2B5EF4-FFF2-40B4-BE49-F238E27FC236}">
                  <a16:creationId xmlns:a16="http://schemas.microsoft.com/office/drawing/2014/main" id="{896B7611-CB7F-4247-BF01-AFA1CC45A89B}"/>
                </a:ext>
              </a:extLst>
            </p:cNvPr>
            <p:cNvSpPr>
              <a:spLocks noChangeArrowheads="1"/>
            </p:cNvSpPr>
            <p:nvPr/>
          </p:nvSpPr>
          <p:spPr bwMode="auto">
            <a:xfrm>
              <a:off x="2928" y="429"/>
              <a:ext cx="144" cy="144"/>
            </a:xfrm>
            <a:prstGeom prst="ellipse">
              <a:avLst/>
            </a:prstGeom>
            <a:noFill/>
            <a:ln w="38100">
              <a:solidFill>
                <a:schemeClr val="tx1"/>
              </a:solidFill>
              <a:round/>
              <a:headEnd/>
              <a:tailEnd/>
            </a:ln>
            <a:effectLst/>
          </p:spPr>
          <p:txBody>
            <a:bodyPr wrap="none" anchor="ctr"/>
            <a:lstStyle/>
            <a:p>
              <a:pPr algn="ctr" eaLnBrk="1" hangingPunct="1">
                <a:lnSpc>
                  <a:spcPct val="80000"/>
                </a:lnSpc>
                <a:defRPr/>
              </a:pPr>
              <a:r>
                <a:rPr kumimoji="1" lang="zh-CN" altLang="en-US" sz="2400">
                  <a:effectLst>
                    <a:outerShdw blurRad="38100" dist="38100" dir="2700000" algn="tl">
                      <a:srgbClr val="C0C0C0"/>
                    </a:outerShdw>
                  </a:effectLst>
                  <a:latin typeface="Arial" charset="0"/>
                  <a:cs typeface="Arial" charset="0"/>
                </a:rPr>
                <a:t>–</a:t>
              </a:r>
            </a:p>
          </p:txBody>
        </p:sp>
      </p:grpSp>
      <p:grpSp>
        <p:nvGrpSpPr>
          <p:cNvPr id="19" name="Group 71">
            <a:extLst>
              <a:ext uri="{FF2B5EF4-FFF2-40B4-BE49-F238E27FC236}">
                <a16:creationId xmlns:a16="http://schemas.microsoft.com/office/drawing/2014/main" id="{FC6D1B10-633D-4663-820C-7C93740C97DE}"/>
              </a:ext>
            </a:extLst>
          </p:cNvPr>
          <p:cNvGrpSpPr>
            <a:grpSpLocks/>
          </p:cNvGrpSpPr>
          <p:nvPr/>
        </p:nvGrpSpPr>
        <p:grpSpPr bwMode="auto">
          <a:xfrm>
            <a:off x="5303839" y="1268414"/>
            <a:ext cx="2808287" cy="1036637"/>
            <a:chOff x="2381" y="799"/>
            <a:chExt cx="1769" cy="653"/>
          </a:xfrm>
        </p:grpSpPr>
        <p:grpSp>
          <p:nvGrpSpPr>
            <p:cNvPr id="127018" name="Group 72">
              <a:extLst>
                <a:ext uri="{FF2B5EF4-FFF2-40B4-BE49-F238E27FC236}">
                  <a16:creationId xmlns:a16="http://schemas.microsoft.com/office/drawing/2014/main" id="{DFF29C2F-8241-4A9F-8CAB-E642F2806ACC}"/>
                </a:ext>
              </a:extLst>
            </p:cNvPr>
            <p:cNvGrpSpPr>
              <a:grpSpLocks/>
            </p:cNvGrpSpPr>
            <p:nvPr/>
          </p:nvGrpSpPr>
          <p:grpSpPr bwMode="auto">
            <a:xfrm>
              <a:off x="2381" y="799"/>
              <a:ext cx="1769" cy="409"/>
              <a:chOff x="1973" y="1253"/>
              <a:chExt cx="1769" cy="409"/>
            </a:xfrm>
          </p:grpSpPr>
          <p:sp>
            <p:nvSpPr>
              <p:cNvPr id="127020" name="Oval 73">
                <a:extLst>
                  <a:ext uri="{FF2B5EF4-FFF2-40B4-BE49-F238E27FC236}">
                    <a16:creationId xmlns:a16="http://schemas.microsoft.com/office/drawing/2014/main" id="{C1120AC2-028D-4043-9996-A122E58D1884}"/>
                  </a:ext>
                </a:extLst>
              </p:cNvPr>
              <p:cNvSpPr>
                <a:spLocks noChangeArrowheads="1"/>
              </p:cNvSpPr>
              <p:nvPr/>
            </p:nvSpPr>
            <p:spPr bwMode="auto">
              <a:xfrm>
                <a:off x="1973" y="1253"/>
                <a:ext cx="1044" cy="409"/>
              </a:xfrm>
              <a:prstGeom prst="ellipse">
                <a:avLst/>
              </a:prstGeom>
              <a:solidFill>
                <a:srgbClr val="FF3F8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PFK-2</a:t>
                </a:r>
              </a:p>
              <a:p>
                <a:pPr algn="ctr" eaLnBrk="1" hangingPunct="1">
                  <a:spcBef>
                    <a:spcPct val="0"/>
                  </a:spcBef>
                  <a:buClrTx/>
                  <a:buSzTx/>
                  <a:buFontTx/>
                  <a:buNone/>
                </a:pPr>
                <a:r>
                  <a:rPr kumimoji="1" lang="en-US" altLang="zh-CN" sz="1400">
                    <a:latin typeface="Arial" panose="020B0604020202020204" pitchFamily="34" charset="0"/>
                    <a:ea typeface="宋体" panose="02010600030101010101" pitchFamily="2" charset="-122"/>
                  </a:rPr>
                  <a:t>（</a:t>
                </a:r>
                <a:r>
                  <a:rPr kumimoji="1" lang="zh-CN" altLang="en-US" sz="1400">
                    <a:latin typeface="Arial" panose="020B0604020202020204" pitchFamily="34" charset="0"/>
                    <a:ea typeface="宋体" panose="02010600030101010101" pitchFamily="2" charset="-122"/>
                  </a:rPr>
                  <a:t>有活性）</a:t>
                </a:r>
              </a:p>
            </p:txBody>
          </p:sp>
          <p:sp>
            <p:nvSpPr>
              <p:cNvPr id="127021" name="Rectangle 74">
                <a:extLst>
                  <a:ext uri="{FF2B5EF4-FFF2-40B4-BE49-F238E27FC236}">
                    <a16:creationId xmlns:a16="http://schemas.microsoft.com/office/drawing/2014/main" id="{24999BDA-9A76-4A5B-8457-BC27E2E52BD9}"/>
                  </a:ext>
                </a:extLst>
              </p:cNvPr>
              <p:cNvSpPr>
                <a:spLocks noChangeArrowheads="1"/>
              </p:cNvSpPr>
              <p:nvPr/>
            </p:nvSpPr>
            <p:spPr bwMode="auto">
              <a:xfrm>
                <a:off x="2880" y="1253"/>
                <a:ext cx="862" cy="40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FBP-2</a:t>
                </a:r>
              </a:p>
              <a:p>
                <a:pPr algn="ctr" eaLnBrk="1" hangingPunct="1">
                  <a:lnSpc>
                    <a:spcPct val="80000"/>
                  </a:lnSpc>
                  <a:spcBef>
                    <a:spcPct val="0"/>
                  </a:spcBef>
                  <a:buClrTx/>
                  <a:buSzTx/>
                  <a:buFontTx/>
                  <a:buNone/>
                </a:pPr>
                <a:r>
                  <a:rPr kumimoji="1" lang="en-US" altLang="zh-CN" sz="1400">
                    <a:latin typeface="Arial" panose="020B0604020202020204" pitchFamily="34" charset="0"/>
                    <a:ea typeface="宋体" panose="02010600030101010101" pitchFamily="2" charset="-122"/>
                  </a:rPr>
                  <a:t>（</a:t>
                </a:r>
                <a:r>
                  <a:rPr kumimoji="1" lang="zh-CN" altLang="en-US" sz="1400">
                    <a:latin typeface="Arial" panose="020B0604020202020204" pitchFamily="34" charset="0"/>
                    <a:ea typeface="宋体" panose="02010600030101010101" pitchFamily="2" charset="-122"/>
                  </a:rPr>
                  <a:t>无活性）</a:t>
                </a:r>
              </a:p>
            </p:txBody>
          </p:sp>
        </p:grpSp>
        <p:sp>
          <p:nvSpPr>
            <p:cNvPr id="127019" name="Text Box 75">
              <a:extLst>
                <a:ext uri="{FF2B5EF4-FFF2-40B4-BE49-F238E27FC236}">
                  <a16:creationId xmlns:a16="http://schemas.microsoft.com/office/drawing/2014/main" id="{3C982C2D-AE0B-4384-AD8F-752D200F54BE}"/>
                </a:ext>
              </a:extLst>
            </p:cNvPr>
            <p:cNvSpPr txBox="1">
              <a:spLocks noChangeArrowheads="1"/>
            </p:cNvSpPr>
            <p:nvPr/>
          </p:nvSpPr>
          <p:spPr bwMode="auto">
            <a:xfrm>
              <a:off x="2544" y="1200"/>
              <a:ext cx="136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dirty="0">
                  <a:latin typeface="Arial" panose="020B0604020202020204" pitchFamily="34" charset="0"/>
                  <a:ea typeface="宋体" panose="02010600030101010101" pitchFamily="2" charset="-122"/>
                </a:rPr>
                <a:t> 磷酸果糖激酶-2  </a:t>
              </a:r>
            </a:p>
          </p:txBody>
        </p:sp>
      </p:grpSp>
      <p:grpSp>
        <p:nvGrpSpPr>
          <p:cNvPr id="21" name="Group 76">
            <a:extLst>
              <a:ext uri="{FF2B5EF4-FFF2-40B4-BE49-F238E27FC236}">
                <a16:creationId xmlns:a16="http://schemas.microsoft.com/office/drawing/2014/main" id="{8BA8B7DC-17F9-4C0B-B930-C2B9BFF22372}"/>
              </a:ext>
            </a:extLst>
          </p:cNvPr>
          <p:cNvGrpSpPr>
            <a:grpSpLocks/>
          </p:cNvGrpSpPr>
          <p:nvPr/>
        </p:nvGrpSpPr>
        <p:grpSpPr bwMode="auto">
          <a:xfrm>
            <a:off x="5375275" y="3276600"/>
            <a:ext cx="2736850" cy="1500188"/>
            <a:chOff x="2426" y="2064"/>
            <a:chExt cx="1724" cy="945"/>
          </a:xfrm>
        </p:grpSpPr>
        <p:grpSp>
          <p:nvGrpSpPr>
            <p:cNvPr id="127007" name="Group 77">
              <a:extLst>
                <a:ext uri="{FF2B5EF4-FFF2-40B4-BE49-F238E27FC236}">
                  <a16:creationId xmlns:a16="http://schemas.microsoft.com/office/drawing/2014/main" id="{69C08074-9B63-4B82-89C0-CD7B220BDD53}"/>
                </a:ext>
              </a:extLst>
            </p:cNvPr>
            <p:cNvGrpSpPr>
              <a:grpSpLocks/>
            </p:cNvGrpSpPr>
            <p:nvPr/>
          </p:nvGrpSpPr>
          <p:grpSpPr bwMode="auto">
            <a:xfrm>
              <a:off x="2426" y="2251"/>
              <a:ext cx="1724" cy="758"/>
              <a:chOff x="2426" y="2251"/>
              <a:chExt cx="1724" cy="758"/>
            </a:xfrm>
          </p:grpSpPr>
          <p:grpSp>
            <p:nvGrpSpPr>
              <p:cNvPr id="127009" name="Group 78">
                <a:extLst>
                  <a:ext uri="{FF2B5EF4-FFF2-40B4-BE49-F238E27FC236}">
                    <a16:creationId xmlns:a16="http://schemas.microsoft.com/office/drawing/2014/main" id="{D1E509B3-95FA-4721-99FC-7DDCC330987E}"/>
                  </a:ext>
                </a:extLst>
              </p:cNvPr>
              <p:cNvGrpSpPr>
                <a:grpSpLocks/>
              </p:cNvGrpSpPr>
              <p:nvPr/>
            </p:nvGrpSpPr>
            <p:grpSpPr bwMode="auto">
              <a:xfrm>
                <a:off x="2426" y="2614"/>
                <a:ext cx="1724" cy="395"/>
                <a:chOff x="2381" y="2523"/>
                <a:chExt cx="1724" cy="395"/>
              </a:xfrm>
            </p:grpSpPr>
            <p:sp>
              <p:nvSpPr>
                <p:cNvPr id="127016" name="AutoShape 79">
                  <a:extLst>
                    <a:ext uri="{FF2B5EF4-FFF2-40B4-BE49-F238E27FC236}">
                      <a16:creationId xmlns:a16="http://schemas.microsoft.com/office/drawing/2014/main" id="{FECF5C17-0E87-448B-8348-C2EC95059839}"/>
                    </a:ext>
                  </a:extLst>
                </p:cNvPr>
                <p:cNvSpPr>
                  <a:spLocks noChangeArrowheads="1"/>
                </p:cNvSpPr>
                <p:nvPr/>
              </p:nvSpPr>
              <p:spPr bwMode="auto">
                <a:xfrm>
                  <a:off x="2381" y="2523"/>
                  <a:ext cx="907" cy="395"/>
                </a:xfrm>
                <a:prstGeom prst="octagon">
                  <a:avLst>
                    <a:gd name="adj" fmla="val 29287"/>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PFK-2</a:t>
                  </a:r>
                </a:p>
                <a:p>
                  <a:pPr algn="ctr" eaLnBrk="1" hangingPunct="1">
                    <a:spcBef>
                      <a:spcPct val="0"/>
                    </a:spcBef>
                    <a:buClrTx/>
                    <a:buSzTx/>
                    <a:buFontTx/>
                    <a:buNone/>
                  </a:pPr>
                  <a:r>
                    <a:rPr kumimoji="1" lang="en-US" altLang="zh-CN" sz="1400">
                      <a:latin typeface="Arial" panose="020B0604020202020204" pitchFamily="34" charset="0"/>
                      <a:ea typeface="宋体" panose="02010600030101010101" pitchFamily="2" charset="-122"/>
                    </a:rPr>
                    <a:t>（</a:t>
                  </a:r>
                  <a:r>
                    <a:rPr kumimoji="1" lang="zh-CN" altLang="en-US" sz="1400">
                      <a:latin typeface="Arial" panose="020B0604020202020204" pitchFamily="34" charset="0"/>
                      <a:ea typeface="宋体" panose="02010600030101010101" pitchFamily="2" charset="-122"/>
                    </a:rPr>
                    <a:t>无活性）</a:t>
                  </a:r>
                </a:p>
              </p:txBody>
            </p:sp>
            <p:sp>
              <p:nvSpPr>
                <p:cNvPr id="127017" name="AutoShape 80">
                  <a:extLst>
                    <a:ext uri="{FF2B5EF4-FFF2-40B4-BE49-F238E27FC236}">
                      <a16:creationId xmlns:a16="http://schemas.microsoft.com/office/drawing/2014/main" id="{4A2989FE-1954-403F-B3BE-539CFECCB6D1}"/>
                    </a:ext>
                  </a:extLst>
                </p:cNvPr>
                <p:cNvSpPr>
                  <a:spLocks noChangeArrowheads="1"/>
                </p:cNvSpPr>
                <p:nvPr/>
              </p:nvSpPr>
              <p:spPr bwMode="auto">
                <a:xfrm>
                  <a:off x="3243" y="2523"/>
                  <a:ext cx="862" cy="395"/>
                </a:xfrm>
                <a:prstGeom prst="roundRect">
                  <a:avLst>
                    <a:gd name="adj" fmla="val 16667"/>
                  </a:avLst>
                </a:prstGeom>
                <a:solidFill>
                  <a:srgbClr val="FF3F8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FBP-2</a:t>
                  </a:r>
                </a:p>
                <a:p>
                  <a:pPr algn="ctr" eaLnBrk="1" hangingPunct="1">
                    <a:lnSpc>
                      <a:spcPct val="90000"/>
                    </a:lnSpc>
                    <a:spcBef>
                      <a:spcPct val="0"/>
                    </a:spcBef>
                    <a:buClrTx/>
                    <a:buSzTx/>
                    <a:buFontTx/>
                    <a:buNone/>
                  </a:pPr>
                  <a:r>
                    <a:rPr kumimoji="1" lang="en-US" altLang="zh-CN" sz="1400">
                      <a:latin typeface="Arial" panose="020B0604020202020204" pitchFamily="34" charset="0"/>
                      <a:ea typeface="宋体" panose="02010600030101010101" pitchFamily="2" charset="-122"/>
                    </a:rPr>
                    <a:t>（</a:t>
                  </a:r>
                  <a:r>
                    <a:rPr kumimoji="1" lang="zh-CN" altLang="en-US" sz="1400">
                      <a:latin typeface="Arial" panose="020B0604020202020204" pitchFamily="34" charset="0"/>
                      <a:ea typeface="宋体" panose="02010600030101010101" pitchFamily="2" charset="-122"/>
                    </a:rPr>
                    <a:t>有活性）</a:t>
                  </a:r>
                </a:p>
              </p:txBody>
            </p:sp>
          </p:grpSp>
          <p:grpSp>
            <p:nvGrpSpPr>
              <p:cNvPr id="127010" name="Group 81">
                <a:extLst>
                  <a:ext uri="{FF2B5EF4-FFF2-40B4-BE49-F238E27FC236}">
                    <a16:creationId xmlns:a16="http://schemas.microsoft.com/office/drawing/2014/main" id="{5F6FEABD-7AEB-4BCF-9EB9-449A6121A502}"/>
                  </a:ext>
                </a:extLst>
              </p:cNvPr>
              <p:cNvGrpSpPr>
                <a:grpSpLocks/>
              </p:cNvGrpSpPr>
              <p:nvPr/>
            </p:nvGrpSpPr>
            <p:grpSpPr bwMode="auto">
              <a:xfrm>
                <a:off x="2744" y="2251"/>
                <a:ext cx="272" cy="363"/>
                <a:chOff x="2744" y="2251"/>
                <a:chExt cx="272" cy="363"/>
              </a:xfrm>
            </p:grpSpPr>
            <p:sp>
              <p:nvSpPr>
                <p:cNvPr id="127014" name="Oval 82">
                  <a:extLst>
                    <a:ext uri="{FF2B5EF4-FFF2-40B4-BE49-F238E27FC236}">
                      <a16:creationId xmlns:a16="http://schemas.microsoft.com/office/drawing/2014/main" id="{1C580A35-5DD7-4321-B2E8-BAFA252BEFE1}"/>
                    </a:ext>
                  </a:extLst>
                </p:cNvPr>
                <p:cNvSpPr>
                  <a:spLocks noChangeArrowheads="1"/>
                </p:cNvSpPr>
                <p:nvPr/>
              </p:nvSpPr>
              <p:spPr bwMode="auto">
                <a:xfrm>
                  <a:off x="2744" y="2251"/>
                  <a:ext cx="272" cy="272"/>
                </a:xfrm>
                <a:prstGeom prst="ellipse">
                  <a:avLst/>
                </a:prstGeom>
                <a:solidFill>
                  <a:srgbClr val="FCFC5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P</a:t>
                  </a:r>
                </a:p>
              </p:txBody>
            </p:sp>
            <p:sp>
              <p:nvSpPr>
                <p:cNvPr id="127015" name="Line 83">
                  <a:extLst>
                    <a:ext uri="{FF2B5EF4-FFF2-40B4-BE49-F238E27FC236}">
                      <a16:creationId xmlns:a16="http://schemas.microsoft.com/office/drawing/2014/main" id="{E4C18112-1A4D-416C-A09E-F3EB99DC9B93}"/>
                    </a:ext>
                  </a:extLst>
                </p:cNvPr>
                <p:cNvSpPr>
                  <a:spLocks noChangeShapeType="1"/>
                </p:cNvSpPr>
                <p:nvPr/>
              </p:nvSpPr>
              <p:spPr bwMode="auto">
                <a:xfrm>
                  <a:off x="2880" y="2478"/>
                  <a:ext cx="0" cy="136"/>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7011" name="Group 84">
                <a:extLst>
                  <a:ext uri="{FF2B5EF4-FFF2-40B4-BE49-F238E27FC236}">
                    <a16:creationId xmlns:a16="http://schemas.microsoft.com/office/drawing/2014/main" id="{3A264678-A5EB-42DA-B0C9-EC690CB6404E}"/>
                  </a:ext>
                </a:extLst>
              </p:cNvPr>
              <p:cNvGrpSpPr>
                <a:grpSpLocks/>
              </p:cNvGrpSpPr>
              <p:nvPr/>
            </p:nvGrpSpPr>
            <p:grpSpPr bwMode="auto">
              <a:xfrm>
                <a:off x="3560" y="2251"/>
                <a:ext cx="272" cy="363"/>
                <a:chOff x="2744" y="2251"/>
                <a:chExt cx="272" cy="363"/>
              </a:xfrm>
            </p:grpSpPr>
            <p:sp>
              <p:nvSpPr>
                <p:cNvPr id="127012" name="Oval 85">
                  <a:extLst>
                    <a:ext uri="{FF2B5EF4-FFF2-40B4-BE49-F238E27FC236}">
                      <a16:creationId xmlns:a16="http://schemas.microsoft.com/office/drawing/2014/main" id="{197D93FD-0820-4331-BA4F-9B9D01374120}"/>
                    </a:ext>
                  </a:extLst>
                </p:cNvPr>
                <p:cNvSpPr>
                  <a:spLocks noChangeArrowheads="1"/>
                </p:cNvSpPr>
                <p:nvPr/>
              </p:nvSpPr>
              <p:spPr bwMode="auto">
                <a:xfrm>
                  <a:off x="2744" y="2251"/>
                  <a:ext cx="272" cy="272"/>
                </a:xfrm>
                <a:prstGeom prst="ellipse">
                  <a:avLst/>
                </a:prstGeom>
                <a:solidFill>
                  <a:srgbClr val="FCFC5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P</a:t>
                  </a:r>
                </a:p>
              </p:txBody>
            </p:sp>
            <p:sp>
              <p:nvSpPr>
                <p:cNvPr id="127013" name="Line 86">
                  <a:extLst>
                    <a:ext uri="{FF2B5EF4-FFF2-40B4-BE49-F238E27FC236}">
                      <a16:creationId xmlns:a16="http://schemas.microsoft.com/office/drawing/2014/main" id="{54620E34-AAF5-47E3-B1BD-9554DC09FF9F}"/>
                    </a:ext>
                  </a:extLst>
                </p:cNvPr>
                <p:cNvSpPr>
                  <a:spLocks noChangeShapeType="1"/>
                </p:cNvSpPr>
                <p:nvPr/>
              </p:nvSpPr>
              <p:spPr bwMode="auto">
                <a:xfrm>
                  <a:off x="2880" y="2478"/>
                  <a:ext cx="0" cy="136"/>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27008" name="Text Box 87">
              <a:extLst>
                <a:ext uri="{FF2B5EF4-FFF2-40B4-BE49-F238E27FC236}">
                  <a16:creationId xmlns:a16="http://schemas.microsoft.com/office/drawing/2014/main" id="{AE1FCE04-CB14-4337-AAED-ACBF43D42081}"/>
                </a:ext>
              </a:extLst>
            </p:cNvPr>
            <p:cNvSpPr txBox="1">
              <a:spLocks noChangeArrowheads="1"/>
            </p:cNvSpPr>
            <p:nvPr/>
          </p:nvSpPr>
          <p:spPr bwMode="auto">
            <a:xfrm>
              <a:off x="2699" y="2064"/>
              <a:ext cx="13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宋体" panose="02010600030101010101" pitchFamily="2" charset="-122"/>
                </a:rPr>
                <a:t>果糖双磷酸酶-2  </a:t>
              </a:r>
            </a:p>
          </p:txBody>
        </p:sp>
      </p:grpSp>
      <p:sp>
        <p:nvSpPr>
          <p:cNvPr id="127006" name="Text Box 88">
            <a:extLst>
              <a:ext uri="{FF2B5EF4-FFF2-40B4-BE49-F238E27FC236}">
                <a16:creationId xmlns:a16="http://schemas.microsoft.com/office/drawing/2014/main" id="{33B89CE0-84BC-4CB6-AD54-42CE7AEDAE34}"/>
              </a:ext>
            </a:extLst>
          </p:cNvPr>
          <p:cNvSpPr txBox="1">
            <a:spLocks noChangeArrowheads="1"/>
          </p:cNvSpPr>
          <p:nvPr/>
        </p:nvSpPr>
        <p:spPr bwMode="auto">
          <a:xfrm>
            <a:off x="7175501" y="5783264"/>
            <a:ext cx="3529013" cy="879475"/>
          </a:xfrm>
          <a:prstGeom prst="rect">
            <a:avLst/>
          </a:prstGeom>
          <a:solidFill>
            <a:srgbClr val="FFFFA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80000"/>
              </a:lnSpc>
              <a:spcBef>
                <a:spcPct val="50000"/>
              </a:spcBef>
              <a:buClrTx/>
              <a:buSzTx/>
              <a:buFontTx/>
              <a:buNone/>
            </a:pPr>
            <a:r>
              <a:rPr lang="zh-CN" altLang="en-US" dirty="0">
                <a:solidFill>
                  <a:srgbClr val="FF0000"/>
                </a:solidFill>
                <a:latin typeface="Arial" panose="020B0604020202020204" pitchFamily="34" charset="0"/>
                <a:ea typeface="黑体" panose="02010609060101010101" pitchFamily="49" charset="-122"/>
              </a:rPr>
              <a:t>  磷酸果糖激酶</a:t>
            </a:r>
            <a:r>
              <a:rPr lang="en-US" altLang="zh-CN" dirty="0">
                <a:solidFill>
                  <a:srgbClr val="FF0000"/>
                </a:solidFill>
                <a:latin typeface="Arial" panose="020B0604020202020204" pitchFamily="34" charset="0"/>
                <a:ea typeface="黑体" panose="02010609060101010101" pitchFamily="49" charset="-122"/>
              </a:rPr>
              <a:t>-1 </a:t>
            </a:r>
            <a:r>
              <a:rPr lang="zh-CN" altLang="en-US" dirty="0">
                <a:solidFill>
                  <a:srgbClr val="FF0000"/>
                </a:solidFill>
                <a:latin typeface="Arial" panose="020B0604020202020204" pitchFamily="34" charset="0"/>
                <a:ea typeface="黑体" panose="02010609060101010101" pitchFamily="49" charset="-122"/>
              </a:rPr>
              <a:t>（</a:t>
            </a:r>
            <a:r>
              <a:rPr lang="en-US" altLang="zh-CN" dirty="0">
                <a:solidFill>
                  <a:srgbClr val="FF0000"/>
                </a:solidFill>
                <a:latin typeface="Arial" panose="020B0604020202020204" pitchFamily="34" charset="0"/>
                <a:ea typeface="黑体" panose="02010609060101010101" pitchFamily="49" charset="-122"/>
              </a:rPr>
              <a:t>PFK-1)</a:t>
            </a:r>
            <a:r>
              <a:rPr lang="zh-CN" altLang="en-US" dirty="0">
                <a:solidFill>
                  <a:srgbClr val="FF0000"/>
                </a:solidFill>
                <a:latin typeface="Arial" panose="020B0604020202020204" pitchFamily="34" charset="0"/>
                <a:ea typeface="黑体" panose="02010609060101010101" pitchFamily="49" charset="-122"/>
              </a:rPr>
              <a:t>的调节</a:t>
            </a:r>
          </a:p>
        </p:txBody>
      </p:sp>
    </p:spTree>
    <p:extLst>
      <p:ext uri="{BB962C8B-B14F-4D97-AF65-F5344CB8AC3E}">
        <p14:creationId xmlns:p14="http://schemas.microsoft.com/office/powerpoint/2010/main" val="8228779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childTnLst>
                          </p:cTn>
                        </p:par>
                        <p:par>
                          <p:cTn id="17" fill="hold" nodeType="afterGroup">
                            <p:stCondLst>
                              <p:cond delay="500"/>
                            </p:stCondLst>
                            <p:childTnLst>
                              <p:par>
                                <p:cTn id="18" presetID="22" presetClass="entr" presetSubtype="4"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down)">
                                      <p:cBhvr>
                                        <p:cTn id="20" dur="500"/>
                                        <p:tgtEl>
                                          <p:spTgt spid="15"/>
                                        </p:tgtEl>
                                      </p:cBhvr>
                                    </p:animEffect>
                                  </p:childTnLst>
                                </p:cTn>
                              </p:par>
                            </p:childTnLst>
                          </p:cTn>
                        </p:par>
                        <p:par>
                          <p:cTn id="21" fill="hold" nodeType="afterGroup">
                            <p:stCondLst>
                              <p:cond delay="1000"/>
                            </p:stCondLst>
                            <p:childTnLst>
                              <p:par>
                                <p:cTn id="22" presetID="22" presetClass="entr" presetSubtype="4"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down)">
                                      <p:cBhvr>
                                        <p:cTn id="24" dur="500"/>
                                        <p:tgtEl>
                                          <p:spTgt spid="12"/>
                                        </p:tgtEl>
                                      </p:cBhvr>
                                    </p:animEffect>
                                  </p:childTnLst>
                                </p:cTn>
                              </p:par>
                            </p:childTnLst>
                          </p:cTn>
                        </p:par>
                        <p:par>
                          <p:cTn id="25" fill="hold" nodeType="afterGroup">
                            <p:stCondLst>
                              <p:cond delay="1500"/>
                            </p:stCondLst>
                            <p:childTnLst>
                              <p:par>
                                <p:cTn id="26" presetID="18" presetClass="entr" presetSubtype="12" fill="hold"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strips(downLeft)">
                                      <p:cBhvr>
                                        <p:cTn id="28" dur="500"/>
                                        <p:tgtEl>
                                          <p:spTgt spid="1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8969"/>
                                        </p:tgtEl>
                                        <p:attrNameLst>
                                          <p:attrName>style.visibility</p:attrName>
                                        </p:attrNameLst>
                                      </p:cBhvr>
                                      <p:to>
                                        <p:strVal val="visible"/>
                                      </p:to>
                                    </p:set>
                                    <p:animEffect transition="in" filter="wipe(left)">
                                      <p:cBhvr>
                                        <p:cTn id="33" dur="500"/>
                                        <p:tgtEl>
                                          <p:spTgt spid="168969"/>
                                        </p:tgtEl>
                                      </p:cBhvr>
                                    </p:animEffect>
                                  </p:childTnLst>
                                </p:cTn>
                              </p:par>
                            </p:childTnLst>
                          </p:cTn>
                        </p:par>
                        <p:par>
                          <p:cTn id="34" fill="hold" nodeType="afterGroup">
                            <p:stCondLst>
                              <p:cond delay="500"/>
                            </p:stCondLst>
                            <p:childTnLst>
                              <p:par>
                                <p:cTn id="35" presetID="9" presetClass="entr" presetSubtype="0" fill="hold"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dissolve">
                                      <p:cBhvr>
                                        <p:cTn id="37" dur="500"/>
                                        <p:tgtEl>
                                          <p:spTgt spid="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168983"/>
                                        </p:tgtEl>
                                        <p:attrNameLst>
                                          <p:attrName>style.visibility</p:attrName>
                                        </p:attrNameLst>
                                      </p:cBhvr>
                                      <p:to>
                                        <p:strVal val="visible"/>
                                      </p:to>
                                    </p:set>
                                    <p:animEffect transition="in" filter="wipe(right)">
                                      <p:cBhvr>
                                        <p:cTn id="42" dur="500"/>
                                        <p:tgtEl>
                                          <p:spTgt spid="168983"/>
                                        </p:tgtEl>
                                      </p:cBhvr>
                                    </p:animEffect>
                                  </p:childTnLst>
                                </p:cTn>
                              </p:par>
                            </p:childTnLst>
                          </p:cTn>
                        </p:par>
                        <p:par>
                          <p:cTn id="43" fill="hold" nodeType="afterGroup">
                            <p:stCondLst>
                              <p:cond delay="500"/>
                            </p:stCondLst>
                            <p:childTnLst>
                              <p:par>
                                <p:cTn id="44" presetID="9" presetClass="entr" presetSubtype="0"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dissolve">
                                      <p:cBhvr>
                                        <p:cTn id="46" dur="500"/>
                                        <p:tgtEl>
                                          <p:spTgt spid="21"/>
                                        </p:tgtEl>
                                      </p:cBhvr>
                                    </p:animEffect>
                                  </p:childTnLst>
                                </p:cTn>
                              </p:par>
                            </p:childTnLst>
                          </p:cTn>
                        </p:par>
                        <p:par>
                          <p:cTn id="47" fill="hold" nodeType="afterGroup">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168985"/>
                                        </p:tgtEl>
                                        <p:attrNameLst>
                                          <p:attrName>style.visibility</p:attrName>
                                        </p:attrNameLst>
                                      </p:cBhvr>
                                      <p:to>
                                        <p:strVal val="visible"/>
                                      </p:to>
                                    </p:set>
                                    <p:animEffect transition="in" filter="dissolve">
                                      <p:cBhvr>
                                        <p:cTn id="50" dur="500"/>
                                        <p:tgtEl>
                                          <p:spTgt spid="16898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68975"/>
                                        </p:tgtEl>
                                        <p:attrNameLst>
                                          <p:attrName>style.visibility</p:attrName>
                                        </p:attrNameLst>
                                      </p:cBhvr>
                                      <p:to>
                                        <p:strVal val="visible"/>
                                      </p:to>
                                    </p:set>
                                    <p:animEffect transition="in" filter="dissolve">
                                      <p:cBhvr>
                                        <p:cTn id="55" dur="500"/>
                                        <p:tgtEl>
                                          <p:spTgt spid="168975"/>
                                        </p:tgtEl>
                                      </p:cBhvr>
                                    </p:animEffect>
                                  </p:childTnLst>
                                </p:cTn>
                              </p:par>
                            </p:childTnLst>
                          </p:cTn>
                        </p:par>
                        <p:par>
                          <p:cTn id="56" fill="hold" nodeType="afterGroup">
                            <p:stCondLst>
                              <p:cond delay="500"/>
                            </p:stCondLst>
                            <p:childTnLst>
                              <p:par>
                                <p:cTn id="57" presetID="22" presetClass="entr" presetSubtype="1" fill="hold" nodeType="after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wipe(up)">
                                      <p:cBhvr>
                                        <p:cTn id="59" dur="500"/>
                                        <p:tgtEl>
                                          <p:spTgt spid="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wipe(up)">
                                      <p:cBhvr>
                                        <p:cTn id="64" dur="500"/>
                                        <p:tgtEl>
                                          <p:spTgt spid="5"/>
                                        </p:tgtEl>
                                      </p:cBhvr>
                                    </p:animEffect>
                                  </p:childTnLst>
                                </p:cTn>
                              </p:par>
                            </p:childTnLst>
                          </p:cTn>
                        </p:par>
                        <p:par>
                          <p:cTn id="65" fill="hold" nodeType="afterGroup">
                            <p:stCondLst>
                              <p:cond delay="500"/>
                            </p:stCondLst>
                            <p:childTnLst>
                              <p:par>
                                <p:cTn id="66" presetID="22" presetClass="entr" presetSubtype="8" fill="hold" nodeType="after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left)">
                                      <p:cBhvr>
                                        <p:cTn id="68" dur="500"/>
                                        <p:tgtEl>
                                          <p:spTgt spid="7"/>
                                        </p:tgtEl>
                                      </p:cBhvr>
                                    </p:animEffect>
                                  </p:childTnLst>
                                </p:cTn>
                              </p:par>
                            </p:childTnLst>
                          </p:cTn>
                        </p:par>
                        <p:par>
                          <p:cTn id="69" fill="hold" nodeType="afterGroup">
                            <p:stCondLst>
                              <p:cond delay="1000"/>
                            </p:stCondLst>
                            <p:childTnLst>
                              <p:par>
                                <p:cTn id="70" presetID="18" presetClass="entr" presetSubtype="6" fill="hold" nodeType="after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strips(downRight)">
                                      <p:cBhvr>
                                        <p:cTn id="72" dur="500"/>
                                        <p:tgtEl>
                                          <p:spTgt spid="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4" fill="hold" nodeType="click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wipe(down)">
                                      <p:cBhvr>
                                        <p:cTn id="77" dur="500"/>
                                        <p:tgtEl>
                                          <p:spTgt spid="2"/>
                                        </p:tgtEl>
                                      </p:cBhvr>
                                    </p:animEffect>
                                  </p:childTnLst>
                                </p:cTn>
                              </p:par>
                            </p:childTnLst>
                          </p:cTn>
                        </p:par>
                        <p:par>
                          <p:cTn id="78" fill="hold" nodeType="afterGroup">
                            <p:stCondLst>
                              <p:cond delay="500"/>
                            </p:stCondLst>
                            <p:childTnLst>
                              <p:par>
                                <p:cTn id="79" presetID="5" presetClass="entr" presetSubtype="10" fill="hold" grpId="0" nodeType="afterEffect">
                                  <p:stCondLst>
                                    <p:cond delay="0"/>
                                  </p:stCondLst>
                                  <p:childTnLst>
                                    <p:set>
                                      <p:cBhvr>
                                        <p:cTn id="80" dur="1" fill="hold">
                                          <p:stCondLst>
                                            <p:cond delay="0"/>
                                          </p:stCondLst>
                                        </p:cTn>
                                        <p:tgtEl>
                                          <p:spTgt spid="168970"/>
                                        </p:tgtEl>
                                        <p:attrNameLst>
                                          <p:attrName>style.visibility</p:attrName>
                                        </p:attrNameLst>
                                      </p:cBhvr>
                                      <p:to>
                                        <p:strVal val="visible"/>
                                      </p:to>
                                    </p:set>
                                    <p:animEffect transition="in" filter="checkerboard(across)">
                                      <p:cBhvr>
                                        <p:cTn id="81" dur="500"/>
                                        <p:tgtEl>
                                          <p:spTgt spid="168970"/>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1" fill="hold" nodeType="click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wipe(up)">
                                      <p:cBhvr>
                                        <p:cTn id="86" dur="500"/>
                                        <p:tgtEl>
                                          <p:spTgt spid="17"/>
                                        </p:tgtEl>
                                      </p:cBhvr>
                                    </p:animEffect>
                                  </p:childTnLst>
                                </p:cTn>
                              </p:par>
                            </p:childTnLst>
                          </p:cTn>
                        </p:par>
                        <p:par>
                          <p:cTn id="87" fill="hold" nodeType="afterGroup">
                            <p:stCondLst>
                              <p:cond delay="500"/>
                            </p:stCondLst>
                            <p:childTnLst>
                              <p:par>
                                <p:cTn id="88" presetID="22" presetClass="entr" presetSubtype="1" fill="hold" nodeType="after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wipe(up)">
                                      <p:cBhvr>
                                        <p:cTn id="9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9" grpId="0" animBg="1"/>
      <p:bldP spid="168970" grpId="0" autoUpdateAnimBg="0"/>
      <p:bldP spid="168975" grpId="0" autoUpdateAnimBg="0"/>
      <p:bldP spid="168983" grpId="0" animBg="1"/>
      <p:bldP spid="168985"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6626" name="Text Box 2">
            <a:extLst>
              <a:ext uri="{FF2B5EF4-FFF2-40B4-BE49-F238E27FC236}">
                <a16:creationId xmlns:a16="http://schemas.microsoft.com/office/drawing/2014/main" id="{66518E35-4F47-4712-A3BE-241D5E1ACE77}"/>
              </a:ext>
            </a:extLst>
          </p:cNvPr>
          <p:cNvSpPr txBox="1">
            <a:spLocks noChangeArrowheads="1"/>
          </p:cNvSpPr>
          <p:nvPr/>
        </p:nvSpPr>
        <p:spPr bwMode="auto">
          <a:xfrm>
            <a:off x="3184525" y="1869083"/>
            <a:ext cx="184150" cy="519112"/>
          </a:xfrm>
          <a:prstGeom prst="rect">
            <a:avLst/>
          </a:prstGeom>
          <a:noFill/>
          <a:ln w="9525">
            <a:noFill/>
            <a:miter lim="800000"/>
            <a:headEnd/>
            <a:tailEnd/>
          </a:ln>
          <a:effectLst/>
        </p:spPr>
        <p:txBody>
          <a:bodyPr wrap="none">
            <a:spAutoFit/>
          </a:bodyPr>
          <a:lstStyle/>
          <a:p>
            <a:pPr algn="ctr" eaLnBrk="1" hangingPunct="1">
              <a:defRPr/>
            </a:pPr>
            <a:endParaRPr kumimoji="1" lang="zh-CN" altLang="zh-CN" sz="2800">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1306627" name="Text Box 3">
            <a:extLst>
              <a:ext uri="{FF2B5EF4-FFF2-40B4-BE49-F238E27FC236}">
                <a16:creationId xmlns:a16="http://schemas.microsoft.com/office/drawing/2014/main" id="{FFD6A102-0828-41D6-A725-426A5D3C08BF}"/>
              </a:ext>
            </a:extLst>
          </p:cNvPr>
          <p:cNvSpPr txBox="1">
            <a:spLocks noChangeArrowheads="1"/>
          </p:cNvSpPr>
          <p:nvPr/>
        </p:nvSpPr>
        <p:spPr bwMode="auto">
          <a:xfrm>
            <a:off x="2102509" y="828790"/>
            <a:ext cx="849674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buClr>
                <a:schemeClr val="tx2"/>
              </a:buClr>
              <a:buSzPct val="75000"/>
              <a:buFont typeface="Wingdings" panose="05000000000000000000" pitchFamily="2" charset="2"/>
              <a:buNone/>
            </a:pPr>
            <a:r>
              <a:rPr kumimoji="1" lang="en-US" altLang="zh-CN" dirty="0">
                <a:solidFill>
                  <a:srgbClr val="FF0000"/>
                </a:solidFill>
                <a:latin typeface="黑体" panose="02010609060101010101" pitchFamily="49" charset="-122"/>
                <a:ea typeface="黑体" panose="02010609060101010101" pitchFamily="49" charset="-122"/>
              </a:rPr>
              <a:t>3.  </a:t>
            </a:r>
            <a:r>
              <a:rPr kumimoji="1" lang="zh-CN" altLang="en-US" dirty="0">
                <a:solidFill>
                  <a:srgbClr val="FF0000"/>
                </a:solidFill>
                <a:latin typeface="黑体" panose="02010609060101010101" pitchFamily="49" charset="-122"/>
                <a:ea typeface="黑体" panose="02010609060101010101" pitchFamily="49" charset="-122"/>
              </a:rPr>
              <a:t>酶原与酶原的激活</a:t>
            </a:r>
          </a:p>
        </p:txBody>
      </p:sp>
      <p:sp>
        <p:nvSpPr>
          <p:cNvPr id="1306628" name="Text Box 4">
            <a:extLst>
              <a:ext uri="{FF2B5EF4-FFF2-40B4-BE49-F238E27FC236}">
                <a16:creationId xmlns:a16="http://schemas.microsoft.com/office/drawing/2014/main" id="{B4CD98C8-F7AC-4372-B7DB-8BCC3D22FFF4}"/>
              </a:ext>
            </a:extLst>
          </p:cNvPr>
          <p:cNvSpPr txBox="1">
            <a:spLocks noChangeArrowheads="1"/>
          </p:cNvSpPr>
          <p:nvPr/>
        </p:nvSpPr>
        <p:spPr bwMode="auto">
          <a:xfrm>
            <a:off x="1919536" y="1562034"/>
            <a:ext cx="9001000" cy="1542538"/>
          </a:xfrm>
          <a:prstGeom prst="rect">
            <a:avLst/>
          </a:prstGeom>
          <a:noFill/>
          <a:ln w="9525">
            <a:noFill/>
            <a:miter lim="800000"/>
            <a:headEnd/>
            <a:tailEnd/>
          </a:ln>
          <a:effectLst/>
        </p:spPr>
        <p:txBody>
          <a:bodyPr wrap="square">
            <a:spAutoFit/>
          </a:bodyPr>
          <a:lstStyle/>
          <a:p>
            <a:pPr marL="355600" indent="-355600" eaLnBrk="1" hangingPunct="1">
              <a:lnSpc>
                <a:spcPct val="130000"/>
              </a:lnSpc>
              <a:buClr>
                <a:schemeClr val="tx2"/>
              </a:buClr>
              <a:buFont typeface="Wingdings" pitchFamily="2" charset="2"/>
              <a:buChar char="Ø"/>
              <a:defRPr/>
            </a:pPr>
            <a:r>
              <a:rPr kumimoji="1" lang="zh-CN" altLang="en-US" sz="2800" dirty="0">
                <a:solidFill>
                  <a:schemeClr val="tx2"/>
                </a:solidFill>
                <a:latin typeface="黑体" panose="02010609060101010101" pitchFamily="49" charset="-122"/>
                <a:ea typeface="黑体" panose="02010609060101010101" pitchFamily="49" charset="-122"/>
              </a:rPr>
              <a:t>酶原 </a:t>
            </a:r>
            <a:r>
              <a:rPr kumimoji="1" lang="en-US" altLang="zh-CN" sz="2800" dirty="0">
                <a:solidFill>
                  <a:schemeClr val="tx2"/>
                </a:solidFill>
                <a:latin typeface="黑体" panose="02010609060101010101" pitchFamily="49" charset="-122"/>
                <a:ea typeface="黑体" panose="02010609060101010101" pitchFamily="49" charset="-122"/>
              </a:rPr>
              <a:t>(</a:t>
            </a:r>
            <a:r>
              <a:rPr kumimoji="1" lang="en-US" altLang="zh-CN" sz="2800" dirty="0" err="1">
                <a:solidFill>
                  <a:schemeClr val="tx2"/>
                </a:solidFill>
                <a:latin typeface="黑体" panose="02010609060101010101" pitchFamily="49" charset="-122"/>
                <a:ea typeface="黑体" panose="02010609060101010101" pitchFamily="49" charset="-122"/>
              </a:rPr>
              <a:t>zymogen</a:t>
            </a:r>
            <a:r>
              <a:rPr kumimoji="1" lang="zh-CN" altLang="en-US" sz="2800" dirty="0">
                <a:solidFill>
                  <a:schemeClr val="tx2"/>
                </a:solidFill>
                <a:latin typeface="黑体" panose="02010609060101010101" pitchFamily="49" charset="-122"/>
                <a:ea typeface="黑体" panose="02010609060101010101" pitchFamily="49" charset="-122"/>
              </a:rPr>
              <a:t>，</a:t>
            </a:r>
            <a:r>
              <a:rPr kumimoji="1" lang="en-US" altLang="zh-CN" sz="2800" dirty="0">
                <a:solidFill>
                  <a:schemeClr val="tx2"/>
                </a:solidFill>
                <a:latin typeface="黑体" panose="02010609060101010101" pitchFamily="49" charset="-122"/>
                <a:ea typeface="黑体" panose="02010609060101010101" pitchFamily="49" charset="-122"/>
              </a:rPr>
              <a:t>proenzyme)</a:t>
            </a:r>
          </a:p>
          <a:p>
            <a:pPr lvl="1" eaLnBrk="1" hangingPunct="1">
              <a:lnSpc>
                <a:spcPct val="110000"/>
              </a:lnSpc>
              <a:buClr>
                <a:schemeClr val="tx2"/>
              </a:buClr>
              <a:defRPr/>
            </a:pPr>
            <a:r>
              <a:rPr kumimoji="1" lang="zh-CN" altLang="en-US" sz="2800" dirty="0">
                <a:latin typeface="黑体" panose="02010609060101010101" pitchFamily="49" charset="-122"/>
                <a:ea typeface="黑体" panose="02010609060101010101" pitchFamily="49" charset="-122"/>
              </a:rPr>
              <a:t>有些酶在细胞内合成或初分泌，或在其发挥催化功能前处于无活性状态，这种</a:t>
            </a:r>
            <a:r>
              <a:rPr kumimoji="1" lang="zh-CN" altLang="en-US" sz="2800" dirty="0">
                <a:solidFill>
                  <a:srgbClr val="0000FF"/>
                </a:solidFill>
                <a:latin typeface="黑体" panose="02010609060101010101" pitchFamily="49" charset="-122"/>
                <a:ea typeface="黑体" panose="02010609060101010101" pitchFamily="49" charset="-122"/>
              </a:rPr>
              <a:t>无活性的酶的</a:t>
            </a:r>
            <a:r>
              <a:rPr kumimoji="1" lang="zh-CN" altLang="en-US" sz="2800" dirty="0">
                <a:solidFill>
                  <a:srgbClr val="0000CC"/>
                </a:solidFill>
                <a:latin typeface="黑体" panose="02010609060101010101" pitchFamily="49" charset="-122"/>
                <a:ea typeface="黑体" panose="02010609060101010101" pitchFamily="49" charset="-122"/>
              </a:rPr>
              <a:t>前体</a:t>
            </a:r>
            <a:r>
              <a:rPr kumimoji="1" lang="zh-CN" altLang="en-US" sz="2800" dirty="0">
                <a:latin typeface="黑体" panose="02010609060101010101" pitchFamily="49" charset="-122"/>
                <a:ea typeface="黑体" panose="02010609060101010101" pitchFamily="49" charset="-122"/>
              </a:rPr>
              <a:t>称为酶原。</a:t>
            </a:r>
            <a:r>
              <a:rPr kumimoji="1" lang="zh-CN" altLang="en-US" sz="2800" dirty="0">
                <a:effectLst>
                  <a:outerShdw blurRad="38100" dist="38100" dir="2700000" algn="tl">
                    <a:srgbClr val="C0C0C0"/>
                  </a:outerShdw>
                </a:effectLst>
                <a:latin typeface="黑体" panose="02010609060101010101" pitchFamily="49" charset="-122"/>
                <a:ea typeface="黑体" panose="02010609060101010101" pitchFamily="49" charset="-122"/>
              </a:rPr>
              <a:t>                             </a:t>
            </a:r>
          </a:p>
        </p:txBody>
      </p:sp>
      <p:sp>
        <p:nvSpPr>
          <p:cNvPr id="1306629" name="Text Box 5">
            <a:extLst>
              <a:ext uri="{FF2B5EF4-FFF2-40B4-BE49-F238E27FC236}">
                <a16:creationId xmlns:a16="http://schemas.microsoft.com/office/drawing/2014/main" id="{75358D62-AD2A-4E5B-A3C7-887997AF3BAE}"/>
              </a:ext>
            </a:extLst>
          </p:cNvPr>
          <p:cNvSpPr txBox="1">
            <a:spLocks noChangeArrowheads="1"/>
          </p:cNvSpPr>
          <p:nvPr/>
        </p:nvSpPr>
        <p:spPr bwMode="auto">
          <a:xfrm>
            <a:off x="1891950" y="3645024"/>
            <a:ext cx="9001000" cy="2245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179388">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20000"/>
              </a:lnSpc>
              <a:spcBef>
                <a:spcPct val="0"/>
              </a:spcBef>
              <a:buClr>
                <a:schemeClr val="tx2"/>
              </a:buClr>
              <a:buFont typeface="Wingdings" panose="05000000000000000000" pitchFamily="2" charset="2"/>
              <a:buChar char="Ø"/>
            </a:pPr>
            <a:r>
              <a:rPr kumimoji="1" lang="zh-CN" altLang="en-US" sz="2800" dirty="0">
                <a:solidFill>
                  <a:schemeClr val="tx2"/>
                </a:solidFill>
                <a:latin typeface="黑体" panose="02010609060101010101" pitchFamily="49" charset="-122"/>
                <a:ea typeface="黑体" panose="02010609060101010101" pitchFamily="49" charset="-122"/>
              </a:rPr>
              <a:t>酶原的激活（</a:t>
            </a:r>
            <a:r>
              <a:rPr kumimoji="1" lang="en-US" altLang="zh-CN" sz="2800" dirty="0">
                <a:solidFill>
                  <a:schemeClr val="tx2"/>
                </a:solidFill>
                <a:latin typeface="黑体" panose="02010609060101010101" pitchFamily="49" charset="-122"/>
                <a:ea typeface="黑体" panose="02010609060101010101" pitchFamily="49" charset="-122"/>
              </a:rPr>
              <a:t>proteolytic activation)</a:t>
            </a:r>
          </a:p>
          <a:p>
            <a:pPr marL="360000" lvl="1" eaLnBrk="1" hangingPunct="1">
              <a:lnSpc>
                <a:spcPct val="120000"/>
              </a:lnSpc>
              <a:spcBef>
                <a:spcPts val="600"/>
              </a:spcBef>
              <a:buClr>
                <a:schemeClr val="tx2"/>
              </a:buClr>
              <a:buNone/>
            </a:pPr>
            <a:r>
              <a:rPr kumimoji="1" lang="zh-CN" altLang="en-US" dirty="0">
                <a:latin typeface="黑体" panose="02010609060101010101" pitchFamily="49" charset="-122"/>
                <a:ea typeface="黑体" panose="02010609060101010101" pitchFamily="49" charset="-122"/>
              </a:rPr>
              <a:t>在一定条件下，酶原向有活性的酶转化的过程，又称</a:t>
            </a:r>
            <a:r>
              <a:rPr kumimoji="1" lang="zh-CN" altLang="en-US" b="1" dirty="0">
                <a:solidFill>
                  <a:srgbClr val="0000CC"/>
                </a:solidFill>
                <a:latin typeface="黑体" panose="02010609060101010101" pitchFamily="49" charset="-122"/>
                <a:ea typeface="黑体" panose="02010609060101010101" pitchFamily="49" charset="-122"/>
              </a:rPr>
              <a:t>水解激活</a:t>
            </a:r>
            <a:r>
              <a:rPr kumimoji="1" lang="zh-CN" altLang="en-US" dirty="0">
                <a:latin typeface="黑体" panose="02010609060101010101" pitchFamily="49" charset="-122"/>
                <a:ea typeface="黑体" panose="02010609060101010101" pitchFamily="49" charset="-122"/>
              </a:rPr>
              <a:t>。</a:t>
            </a:r>
            <a:endParaRPr kumimoji="1" lang="en-US" altLang="zh-CN" dirty="0">
              <a:solidFill>
                <a:srgbClr val="0000CC"/>
              </a:solidFill>
              <a:latin typeface="黑体" panose="02010609060101010101" pitchFamily="49" charset="-122"/>
              <a:ea typeface="黑体" panose="02010609060101010101" pitchFamily="49" charset="-122"/>
            </a:endParaRPr>
          </a:p>
          <a:p>
            <a:pPr marL="360000" lvl="1" eaLnBrk="1" hangingPunct="1">
              <a:lnSpc>
                <a:spcPct val="120000"/>
              </a:lnSpc>
              <a:spcBef>
                <a:spcPts val="600"/>
              </a:spcBef>
              <a:buClr>
                <a:schemeClr val="tx2"/>
              </a:buClr>
              <a:buNone/>
            </a:pPr>
            <a:r>
              <a:rPr kumimoji="1" lang="zh-CN" altLang="en-US" dirty="0">
                <a:solidFill>
                  <a:srgbClr val="C00000"/>
                </a:solidFill>
                <a:latin typeface="黑体" panose="02010609060101010101" pitchFamily="49" charset="-122"/>
                <a:ea typeface="黑体" panose="02010609060101010101" pitchFamily="49" charset="-122"/>
              </a:rPr>
              <a:t>此过程不可逆</a:t>
            </a:r>
            <a:r>
              <a:rPr kumimoji="1" lang="zh-CN" altLang="en-US" dirty="0">
                <a:latin typeface="黑体" panose="02010609060101010101" pitchFamily="49" charset="-122"/>
                <a:ea typeface="黑体" panose="020106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306629"/>
                                        </p:tgtEl>
                                        <p:attrNameLst>
                                          <p:attrName>style.visibility</p:attrName>
                                        </p:attrNameLst>
                                      </p:cBhvr>
                                      <p:to>
                                        <p:strVal val="visible"/>
                                      </p:to>
                                    </p:set>
                                    <p:animEffect transition="in" filter="wedge">
                                      <p:cBhvr>
                                        <p:cTn id="7" dur="500"/>
                                        <p:tgtEl>
                                          <p:spTgt spid="130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6629" grpId="0"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日期占位符 1">
            <a:extLst>
              <a:ext uri="{FF2B5EF4-FFF2-40B4-BE49-F238E27FC236}">
                <a16:creationId xmlns:a16="http://schemas.microsoft.com/office/drawing/2014/main" id="{F97C5B12-AF50-4A4A-B6A9-C9CEEEF77342}"/>
              </a:ext>
            </a:extLst>
          </p:cNvPr>
          <p:cNvSpPr>
            <a:spLocks noGrp="1"/>
          </p:cNvSpPr>
          <p:nvPr>
            <p:ph type="dt" sz="quarter" idx="4294967295"/>
          </p:nvPr>
        </p:nvSpPr>
        <p:spPr bwMode="auto">
          <a:xfrm>
            <a:off x="2782889" y="6489701"/>
            <a:ext cx="1400175" cy="252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en-US" altLang="zh-CN" sz="1800"/>
              <a:t>2013.09</a:t>
            </a:r>
          </a:p>
        </p:txBody>
      </p:sp>
      <p:pic>
        <p:nvPicPr>
          <p:cNvPr id="370691" name="Picture 2">
            <a:extLst>
              <a:ext uri="{FF2B5EF4-FFF2-40B4-BE49-F238E27FC236}">
                <a16:creationId xmlns:a16="http://schemas.microsoft.com/office/drawing/2014/main" id="{CB344A2B-949C-4378-8F08-835A0FEA8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内容占位符 1">
            <a:extLst>
              <a:ext uri="{FF2B5EF4-FFF2-40B4-BE49-F238E27FC236}">
                <a16:creationId xmlns:a16="http://schemas.microsoft.com/office/drawing/2014/main" id="{7EA857B7-3870-4D91-8C69-20FE4CDDCA0C}"/>
              </a:ext>
            </a:extLst>
          </p:cNvPr>
          <p:cNvSpPr>
            <a:spLocks noGrp="1" noChangeArrowheads="1"/>
          </p:cNvSpPr>
          <p:nvPr>
            <p:ph/>
          </p:nvPr>
        </p:nvSpPr>
        <p:spPr>
          <a:xfrm>
            <a:off x="4079875" y="404814"/>
            <a:ext cx="3810000" cy="720725"/>
          </a:xfrm>
        </p:spPr>
        <p:txBody>
          <a:bodyPr/>
          <a:lstStyle/>
          <a:p>
            <a:r>
              <a:rPr lang="zh-CN" altLang="en-US" b="1">
                <a:solidFill>
                  <a:srgbClr val="0000CC"/>
                </a:solidFill>
              </a:rPr>
              <a:t>胰蛋白酶原的激活</a:t>
            </a:r>
          </a:p>
        </p:txBody>
      </p:sp>
      <p:pic>
        <p:nvPicPr>
          <p:cNvPr id="368643" name="图片 2">
            <a:extLst>
              <a:ext uri="{FF2B5EF4-FFF2-40B4-BE49-F238E27FC236}">
                <a16:creationId xmlns:a16="http://schemas.microsoft.com/office/drawing/2014/main" id="{DB88A6A9-BCA5-46F2-B9FE-01E9139FEF0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13100" y="1341439"/>
            <a:ext cx="554355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1">
            <a:extLst>
              <a:ext uri="{FF2B5EF4-FFF2-40B4-BE49-F238E27FC236}">
                <a16:creationId xmlns:a16="http://schemas.microsoft.com/office/drawing/2014/main" id="{54016270-B0C9-40FC-A7BA-7194E14F259A}"/>
              </a:ext>
            </a:extLst>
          </p:cNvPr>
          <p:cNvSpPr txBox="1">
            <a:spLocks/>
          </p:cNvSpPr>
          <p:nvPr/>
        </p:nvSpPr>
        <p:spPr bwMode="auto">
          <a:xfrm>
            <a:off x="7889876" y="3141664"/>
            <a:ext cx="1223963" cy="503237"/>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defRPr/>
            </a:pPr>
            <a:r>
              <a:rPr lang="zh-CN" altLang="en-US" sz="2400" b="1" kern="0" dirty="0">
                <a:solidFill>
                  <a:srgbClr val="0000CC"/>
                </a:solidFill>
              </a:rPr>
              <a:t>肠激酶</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6594" name="图片 2">
            <a:extLst>
              <a:ext uri="{FF2B5EF4-FFF2-40B4-BE49-F238E27FC236}">
                <a16:creationId xmlns:a16="http://schemas.microsoft.com/office/drawing/2014/main" id="{D87C3B5A-1BA6-474C-BFC7-B09FFCC2A0B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87488" y="404664"/>
            <a:ext cx="4032250" cy="631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6595" name="内容占位符 3">
            <a:extLst>
              <a:ext uri="{FF2B5EF4-FFF2-40B4-BE49-F238E27FC236}">
                <a16:creationId xmlns:a16="http://schemas.microsoft.com/office/drawing/2014/main" id="{C3BBA49C-A544-4EBE-87BB-7588F4C14E20}"/>
              </a:ext>
            </a:extLst>
          </p:cNvPr>
          <p:cNvSpPr>
            <a:spLocks noGrp="1" noChangeArrowheads="1"/>
          </p:cNvSpPr>
          <p:nvPr>
            <p:ph/>
          </p:nvPr>
        </p:nvSpPr>
        <p:spPr>
          <a:xfrm>
            <a:off x="5808662" y="476250"/>
            <a:ext cx="5471913" cy="5112990"/>
          </a:xfrm>
        </p:spPr>
        <p:txBody>
          <a:bodyPr/>
          <a:lstStyle/>
          <a:p>
            <a:r>
              <a:rPr lang="zh-CN" altLang="en-US" dirty="0">
                <a:solidFill>
                  <a:srgbClr val="0000CC"/>
                </a:solidFill>
                <a:latin typeface="黑体" panose="02010609060101010101" pitchFamily="49" charset="-122"/>
                <a:ea typeface="黑体" panose="02010609060101010101" pitchFamily="49" charset="-122"/>
              </a:rPr>
              <a:t>胰凝乳蛋白酶原的激活</a:t>
            </a:r>
            <a:endParaRPr lang="en-US" altLang="zh-CN" dirty="0">
              <a:solidFill>
                <a:srgbClr val="0000CC"/>
              </a:solidFill>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en-US" altLang="zh-CN" sz="2400" dirty="0">
              <a:latin typeface="黑体" panose="02010609060101010101" pitchFamily="49" charset="-122"/>
              <a:ea typeface="黑体" panose="02010609060101010101" pitchFamily="49" charset="-122"/>
            </a:endParaRPr>
          </a:p>
          <a:p>
            <a:r>
              <a:rPr lang="zh-CN" altLang="en-US" sz="2400" b="1" dirty="0">
                <a:latin typeface="黑体" panose="02010609060101010101" pitchFamily="49" charset="-122"/>
                <a:ea typeface="黑体" panose="02010609060101010101" pitchFamily="49" charset="-122"/>
              </a:rPr>
              <a:t>胰凝乳蛋白酶</a:t>
            </a:r>
            <a:r>
              <a:rPr lang="zh-CN" altLang="en-US" sz="2400" dirty="0">
                <a:latin typeface="黑体" panose="02010609060101010101" pitchFamily="49" charset="-122"/>
                <a:ea typeface="黑体" panose="02010609060101010101" pitchFamily="49" charset="-122"/>
              </a:rPr>
              <a:t>：由 </a:t>
            </a:r>
            <a:r>
              <a:rPr lang="en-US" altLang="zh-CN" sz="2400" dirty="0">
                <a:latin typeface="黑体" panose="02010609060101010101" pitchFamily="49" charset="-122"/>
                <a:ea typeface="黑体" panose="02010609060101010101" pitchFamily="49" charset="-122"/>
              </a:rPr>
              <a:t>A</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B</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C</a:t>
            </a:r>
            <a:r>
              <a:rPr lang="zh-CN" altLang="en-US" sz="2400" dirty="0">
                <a:latin typeface="黑体" panose="02010609060101010101" pitchFamily="49" charset="-122"/>
                <a:ea typeface="黑体" panose="02010609060101010101" pitchFamily="49" charset="-122"/>
              </a:rPr>
              <a:t>三条链构成，链之间有几对二硫键</a:t>
            </a:r>
            <a:endParaRPr lang="en-US" altLang="zh-CN" sz="2400" dirty="0">
              <a:latin typeface="黑体" panose="02010609060101010101" pitchFamily="49" charset="-122"/>
              <a:ea typeface="黑体" panose="02010609060101010101" pitchFamily="49" charset="-122"/>
            </a:endParaRPr>
          </a:p>
          <a:p>
            <a:endParaRPr lang="en-US" altLang="zh-CN" sz="2400" dirty="0">
              <a:latin typeface="黑体" panose="02010609060101010101" pitchFamily="49" charset="-122"/>
              <a:ea typeface="黑体" panose="02010609060101010101" pitchFamily="49" charset="-122"/>
            </a:endParaRPr>
          </a:p>
          <a:p>
            <a:r>
              <a:rPr lang="zh-CN" altLang="en-US" sz="2400" dirty="0">
                <a:solidFill>
                  <a:srgbClr val="0000CC"/>
                </a:solidFill>
                <a:latin typeface="黑体" panose="02010609060101010101" pitchFamily="49" charset="-122"/>
                <a:ea typeface="黑体" panose="02010609060101010101" pitchFamily="49" charset="-122"/>
              </a:rPr>
              <a:t>激活过程中去掉了两个二肽</a:t>
            </a:r>
            <a:endParaRPr lang="en-US" altLang="zh-CN" sz="2400" dirty="0">
              <a:solidFill>
                <a:srgbClr val="0000CC"/>
              </a:solidFill>
              <a:latin typeface="黑体" panose="02010609060101010101" pitchFamily="49" charset="-122"/>
              <a:ea typeface="黑体" panose="02010609060101010101" pitchFamily="49" charset="-122"/>
            </a:endParaRPr>
          </a:p>
          <a:p>
            <a:endParaRPr lang="en-US" altLang="zh-CN" sz="2800" dirty="0">
              <a:latin typeface="黑体" panose="02010609060101010101" pitchFamily="49" charset="-122"/>
              <a:ea typeface="黑体" panose="02010609060101010101" pitchFamily="49" charset="-122"/>
            </a:endParaRPr>
          </a:p>
          <a:p>
            <a:r>
              <a:rPr lang="en-US" altLang="zh-CN" sz="2000" dirty="0" err="1">
                <a:latin typeface="黑体" panose="02010609060101010101" pitchFamily="49" charset="-122"/>
                <a:ea typeface="黑体" panose="02010609060101010101" pitchFamily="49" charset="-122"/>
              </a:rPr>
              <a:t>Chymotrypsinogen</a:t>
            </a:r>
            <a:r>
              <a:rPr lang="zh-CN" altLang="en-US" sz="2000" dirty="0">
                <a:latin typeface="黑体" panose="02010609060101010101" pitchFamily="49" charset="-122"/>
                <a:ea typeface="黑体" panose="02010609060101010101" pitchFamily="49" charset="-122"/>
              </a:rPr>
              <a:t>： 胰凝乳蛋白酶原</a:t>
            </a:r>
            <a:endParaRPr lang="en-US" altLang="zh-CN" sz="2000" dirty="0">
              <a:latin typeface="黑体" panose="02010609060101010101" pitchFamily="49" charset="-122"/>
              <a:ea typeface="黑体" panose="02010609060101010101" pitchFamily="49" charset="-122"/>
            </a:endParaRPr>
          </a:p>
          <a:p>
            <a:r>
              <a:rPr lang="en-US" altLang="zh-CN" sz="2000" dirty="0">
                <a:latin typeface="黑体" panose="02010609060101010101" pitchFamily="49" charset="-122"/>
                <a:ea typeface="黑体" panose="02010609060101010101" pitchFamily="49" charset="-122"/>
              </a:rPr>
              <a:t>Chymotrypsin</a:t>
            </a:r>
            <a:r>
              <a:rPr lang="zh-CN" altLang="en-US" sz="2000" dirty="0">
                <a:latin typeface="黑体" panose="02010609060101010101" pitchFamily="49" charset="-122"/>
                <a:ea typeface="黑体" panose="02010609060101010101" pitchFamily="49" charset="-122"/>
              </a:rPr>
              <a:t>：    胰凝乳蛋白酶</a:t>
            </a:r>
            <a:endParaRPr lang="en-US" altLang="zh-CN" sz="2000"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F4F79108-D86E-24DF-18E1-45340FB91ECB}"/>
              </a:ext>
            </a:extLst>
          </p:cNvPr>
          <p:cNvSpPr txBox="1"/>
          <p:nvPr/>
        </p:nvSpPr>
        <p:spPr>
          <a:xfrm>
            <a:off x="4584527" y="1628800"/>
            <a:ext cx="1224136" cy="400110"/>
          </a:xfrm>
          <a:prstGeom prst="rect">
            <a:avLst/>
          </a:prstGeom>
          <a:noFill/>
        </p:spPr>
        <p:txBody>
          <a:bodyPr wrap="square">
            <a:spAutoFit/>
          </a:bodyPr>
          <a:lstStyle/>
          <a:p>
            <a:r>
              <a:rPr lang="zh-CN" altLang="en-US" sz="2000" dirty="0">
                <a:solidFill>
                  <a:srgbClr val="0000CC"/>
                </a:solidFill>
              </a:rPr>
              <a:t>胰蛋白酶</a:t>
            </a: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4786" name="Rectangle 2">
            <a:extLst>
              <a:ext uri="{FF2B5EF4-FFF2-40B4-BE49-F238E27FC236}">
                <a16:creationId xmlns:a16="http://schemas.microsoft.com/office/drawing/2014/main" id="{F6052AB0-9422-4351-9200-DCF553745630}"/>
              </a:ext>
            </a:extLst>
          </p:cNvPr>
          <p:cNvSpPr>
            <a:spLocks noChangeArrowheads="1"/>
          </p:cNvSpPr>
          <p:nvPr/>
        </p:nvSpPr>
        <p:spPr bwMode="auto">
          <a:xfrm>
            <a:off x="2347305" y="452438"/>
            <a:ext cx="749739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dirty="0">
                <a:solidFill>
                  <a:srgbClr val="FF0000"/>
                </a:solidFill>
                <a:latin typeface="Times New Roman" panose="02020603050405020304" pitchFamily="18" charset="0"/>
                <a:ea typeface="黑体" panose="02010609060101010101" pitchFamily="49" charset="-122"/>
              </a:rPr>
              <a:t>某些酶原激活需水解掉一个或几个小肽</a:t>
            </a:r>
          </a:p>
        </p:txBody>
      </p:sp>
      <p:graphicFrame>
        <p:nvGraphicFramePr>
          <p:cNvPr id="1355779" name="Group 3">
            <a:extLst>
              <a:ext uri="{FF2B5EF4-FFF2-40B4-BE49-F238E27FC236}">
                <a16:creationId xmlns:a16="http://schemas.microsoft.com/office/drawing/2014/main" id="{914FB221-938C-4E21-873D-8B531A714C48}"/>
              </a:ext>
            </a:extLst>
          </p:cNvPr>
          <p:cNvGraphicFramePr>
            <a:graphicFrameLocks noGrp="1"/>
          </p:cNvGraphicFramePr>
          <p:nvPr/>
        </p:nvGraphicFramePr>
        <p:xfrm>
          <a:off x="1428750" y="1214438"/>
          <a:ext cx="9239250" cy="4773614"/>
        </p:xfrm>
        <a:graphic>
          <a:graphicData uri="http://schemas.openxmlformats.org/drawingml/2006/table">
            <a:tbl>
              <a:tblPr/>
              <a:tblGrid>
                <a:gridCol w="2132013">
                  <a:extLst>
                    <a:ext uri="{9D8B030D-6E8A-4147-A177-3AD203B41FA5}">
                      <a16:colId xmlns:a16="http://schemas.microsoft.com/office/drawing/2014/main" val="20000"/>
                    </a:ext>
                  </a:extLst>
                </a:gridCol>
                <a:gridCol w="2763837">
                  <a:extLst>
                    <a:ext uri="{9D8B030D-6E8A-4147-A177-3AD203B41FA5}">
                      <a16:colId xmlns:a16="http://schemas.microsoft.com/office/drawing/2014/main" val="20001"/>
                    </a:ext>
                  </a:extLst>
                </a:gridCol>
                <a:gridCol w="2052638">
                  <a:extLst>
                    <a:ext uri="{9D8B030D-6E8A-4147-A177-3AD203B41FA5}">
                      <a16:colId xmlns:a16="http://schemas.microsoft.com/office/drawing/2014/main" val="20002"/>
                    </a:ext>
                  </a:extLst>
                </a:gridCol>
                <a:gridCol w="2290762">
                  <a:extLst>
                    <a:ext uri="{9D8B030D-6E8A-4147-A177-3AD203B41FA5}">
                      <a16:colId xmlns:a16="http://schemas.microsoft.com/office/drawing/2014/main" val="20003"/>
                    </a:ext>
                  </a:extLst>
                </a:gridCol>
              </a:tblGrid>
              <a:tr h="7904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酶原</a:t>
                      </a:r>
                    </a:p>
                  </a:txBody>
                  <a:tcPr marT="45712" marB="45712" anchor="ctr" horzOverflow="overflow">
                    <a:lnL cap="flat">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激活条件</a:t>
                      </a:r>
                    </a:p>
                  </a:txBody>
                  <a:tcPr marT="45712" marB="45712" anchor="ctr" horzOverflow="overflow">
                    <a:lnL>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活化的酶</a:t>
                      </a:r>
                    </a:p>
                  </a:txBody>
                  <a:tcPr marT="45712" marB="45712" anchor="ctr" horzOverflow="overflow">
                    <a:lnL>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水解掉的肽段</a:t>
                      </a:r>
                    </a:p>
                  </a:txBody>
                  <a:tcPr marT="45712" marB="45712" anchor="ctr" horzOverflow="overflow">
                    <a:lnL>
                      <a:noFill/>
                    </a:lnL>
                    <a:lnR cap="flat">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39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0000FF"/>
                          </a:solidFill>
                          <a:effectLst/>
                          <a:latin typeface="Times New Roman" pitchFamily="18" charset="0"/>
                          <a:ea typeface="黑体" pitchFamily="49" charset="-122"/>
                        </a:rPr>
                        <a:t>胃蛋白酶原</a:t>
                      </a:r>
                    </a:p>
                  </a:txBody>
                  <a:tcPr marT="45712" marB="45712" anchor="ctr"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黑体" pitchFamily="49" charset="-122"/>
                        </a:rPr>
                        <a:t>H+</a:t>
                      </a: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或胃蛋白酶</a:t>
                      </a:r>
                    </a:p>
                  </a:txBody>
                  <a:tcPr marT="45712" marB="45712" anchor="ct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胃蛋白酶</a:t>
                      </a:r>
                    </a:p>
                  </a:txBody>
                  <a:tcPr marT="45712" marB="45712" anchor="ct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黑体" pitchFamily="49" charset="-122"/>
                        </a:rPr>
                        <a:t>44aa</a:t>
                      </a:r>
                      <a:endParaRPr kumimoji="0" lang="zh-CN" altLang="en-US" sz="2400" b="0" i="0" u="none" strike="noStrike" cap="none" normalizeH="0" baseline="0" dirty="0">
                        <a:ln>
                          <a:noFill/>
                        </a:ln>
                        <a:solidFill>
                          <a:schemeClr val="tx1"/>
                        </a:solidFill>
                        <a:effectLst/>
                        <a:latin typeface="Times New Roman" pitchFamily="18" charset="0"/>
                        <a:ea typeface="黑体" pitchFamily="49" charset="-122"/>
                      </a:endParaRPr>
                    </a:p>
                  </a:txBody>
                  <a:tcPr marT="45712" marB="45712" anchor="ct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7555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0000FF"/>
                          </a:solidFill>
                          <a:effectLst/>
                          <a:latin typeface="Times New Roman" pitchFamily="18" charset="0"/>
                          <a:ea typeface="黑体" pitchFamily="49" charset="-122"/>
                        </a:rPr>
                        <a:t>胰蛋白酶原</a:t>
                      </a:r>
                    </a:p>
                  </a:txBody>
                  <a:tcPr marT="45712" marB="45712"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肠激酶或胰蛋白酶</a:t>
                      </a:r>
                    </a:p>
                  </a:txBody>
                  <a:tcPr marT="45712" marB="45712"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胰蛋白酶</a:t>
                      </a:r>
                    </a:p>
                  </a:txBody>
                  <a:tcPr marT="45712" marB="45712"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六肽</a:t>
                      </a:r>
                    </a:p>
                  </a:txBody>
                  <a:tcPr marT="45712" marB="45712"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89609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0000FF"/>
                          </a:solidFill>
                          <a:effectLst/>
                          <a:latin typeface="Times New Roman" pitchFamily="18" charset="0"/>
                          <a:ea typeface="黑体" pitchFamily="49" charset="-122"/>
                        </a:rPr>
                        <a:t>糜蛋白酶原</a:t>
                      </a:r>
                      <a:r>
                        <a:rPr kumimoji="0" lang="en-US" altLang="zh-CN" sz="2400" b="0" i="0" u="none" strike="noStrike" cap="none" normalizeH="0" baseline="0">
                          <a:ln>
                            <a:noFill/>
                          </a:ln>
                          <a:solidFill>
                            <a:srgbClr val="0000FF"/>
                          </a:solidFill>
                          <a:effectLst/>
                          <a:latin typeface="Times New Roman" pitchFamily="18" charset="0"/>
                          <a:ea typeface="黑体" pitchFamily="49" charset="-122"/>
                        </a:rPr>
                        <a:t>A</a:t>
                      </a:r>
                    </a:p>
                  </a:txBody>
                  <a:tcPr marT="45712" marB="45712"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胰蛋白酶</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或糜蛋白酶</a:t>
                      </a:r>
                    </a:p>
                  </a:txBody>
                  <a:tcPr marT="45712" marB="45712"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黑体" pitchFamily="49" charset="-122"/>
                        </a:rPr>
                        <a:t>α-</a:t>
                      </a:r>
                      <a:r>
                        <a:rPr kumimoji="0" lang="zh-CN" altLang="en-US" sz="2400" b="0" i="0" u="none" strike="noStrike" cap="none" normalizeH="0" baseline="0">
                          <a:ln>
                            <a:noFill/>
                          </a:ln>
                          <a:solidFill>
                            <a:schemeClr val="tx1"/>
                          </a:solidFill>
                          <a:effectLst/>
                          <a:latin typeface="Times New Roman" pitchFamily="18" charset="0"/>
                          <a:ea typeface="黑体" pitchFamily="49" charset="-122"/>
                        </a:rPr>
                        <a:t>糜蛋白酶</a:t>
                      </a:r>
                    </a:p>
                  </a:txBody>
                  <a:tcPr marT="45712" marB="45712"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两个二肽</a:t>
                      </a:r>
                    </a:p>
                  </a:txBody>
                  <a:tcPr marT="45712" marB="45712"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75391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0000FF"/>
                          </a:solidFill>
                          <a:effectLst/>
                          <a:latin typeface="Times New Roman" pitchFamily="18" charset="0"/>
                          <a:ea typeface="黑体" pitchFamily="49" charset="-122"/>
                        </a:rPr>
                        <a:t>羧基肽酶原</a:t>
                      </a:r>
                      <a:r>
                        <a:rPr kumimoji="0" lang="en-US" altLang="zh-CN" sz="2400" b="0" i="0" u="none" strike="noStrike" cap="none" normalizeH="0" baseline="0">
                          <a:ln>
                            <a:noFill/>
                          </a:ln>
                          <a:solidFill>
                            <a:srgbClr val="0000FF"/>
                          </a:solidFill>
                          <a:effectLst/>
                          <a:latin typeface="Times New Roman" pitchFamily="18" charset="0"/>
                          <a:ea typeface="黑体" pitchFamily="49" charset="-122"/>
                        </a:rPr>
                        <a:t>A</a:t>
                      </a:r>
                    </a:p>
                  </a:txBody>
                  <a:tcPr marT="45712" marB="45712"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胰蛋白酶</a:t>
                      </a:r>
                    </a:p>
                  </a:txBody>
                  <a:tcPr marT="45712" marB="45712"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羧基肽酶</a:t>
                      </a:r>
                      <a:r>
                        <a:rPr kumimoji="0" lang="en-US" altLang="zh-CN" sz="2400" b="0" i="0" u="none" strike="noStrike" cap="none" normalizeH="0" baseline="0">
                          <a:ln>
                            <a:noFill/>
                          </a:ln>
                          <a:solidFill>
                            <a:schemeClr val="tx1"/>
                          </a:solidFill>
                          <a:effectLst/>
                          <a:latin typeface="Times New Roman" pitchFamily="18" charset="0"/>
                          <a:ea typeface="黑体" pitchFamily="49" charset="-122"/>
                        </a:rPr>
                        <a:t>A</a:t>
                      </a:r>
                    </a:p>
                  </a:txBody>
                  <a:tcPr marT="45712" marB="45712"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几个碎片</a:t>
                      </a:r>
                    </a:p>
                  </a:txBody>
                  <a:tcPr marT="45712" marB="45712"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82375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0000FF"/>
                          </a:solidFill>
                          <a:effectLst/>
                          <a:latin typeface="Times New Roman" pitchFamily="18" charset="0"/>
                          <a:ea typeface="黑体" pitchFamily="49" charset="-122"/>
                        </a:rPr>
                        <a:t>弹性蛋白酶原</a:t>
                      </a:r>
                    </a:p>
                  </a:txBody>
                  <a:tcPr marT="45712" marB="45712" anchor="ctr" horzOverflow="overflow">
                    <a:lnL cap="flat">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胰蛋白酶</a:t>
                      </a:r>
                    </a:p>
                  </a:txBody>
                  <a:tcPr marT="45712" marB="45712" anchor="ctr"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黑体" pitchFamily="49" charset="-122"/>
                        </a:rPr>
                        <a:t>弹性蛋白酶</a:t>
                      </a:r>
                    </a:p>
                  </a:txBody>
                  <a:tcPr marT="45712" marB="45712" anchor="ctr"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几个碎片</a:t>
                      </a:r>
                    </a:p>
                  </a:txBody>
                  <a:tcPr marT="45712" marB="45712" anchor="ctr" horzOverflow="overflow">
                    <a:lnL>
                      <a:noFill/>
                    </a:lnL>
                    <a:lnR cap="flat">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Text Box 2">
            <a:extLst>
              <a:ext uri="{FF2B5EF4-FFF2-40B4-BE49-F238E27FC236}">
                <a16:creationId xmlns:a16="http://schemas.microsoft.com/office/drawing/2014/main" id="{9A614DA6-84E1-4A0C-AC66-A1CAC17550BC}"/>
              </a:ext>
            </a:extLst>
          </p:cNvPr>
          <p:cNvSpPr txBox="1">
            <a:spLocks noChangeArrowheads="1"/>
          </p:cNvSpPr>
          <p:nvPr/>
        </p:nvSpPr>
        <p:spPr bwMode="auto">
          <a:xfrm>
            <a:off x="3791745" y="301599"/>
            <a:ext cx="4105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Clr>
                <a:srgbClr val="0000CC"/>
              </a:buClr>
              <a:buNone/>
            </a:pPr>
            <a:r>
              <a:rPr kumimoji="1" lang="en-US" altLang="zh-CN" sz="3600" dirty="0">
                <a:solidFill>
                  <a:schemeClr val="tx2"/>
                </a:solidFill>
                <a:latin typeface="黑体" panose="02010609060101010101" pitchFamily="49" charset="-122"/>
                <a:ea typeface="黑体" panose="02010609060101010101" pitchFamily="49" charset="-122"/>
              </a:rPr>
              <a:t> </a:t>
            </a:r>
            <a:r>
              <a:rPr kumimoji="1" lang="zh-CN" altLang="en-US" sz="3600" dirty="0">
                <a:solidFill>
                  <a:srgbClr val="FF0000"/>
                </a:solidFill>
                <a:latin typeface="黑体" panose="02010609060101010101" pitchFamily="49" charset="-122"/>
                <a:ea typeface="黑体" panose="02010609060101010101" pitchFamily="49" charset="-122"/>
              </a:rPr>
              <a:t>酶原激活的机理</a:t>
            </a:r>
          </a:p>
        </p:txBody>
      </p:sp>
      <p:grpSp>
        <p:nvGrpSpPr>
          <p:cNvPr id="2" name="Group 3">
            <a:extLst>
              <a:ext uri="{FF2B5EF4-FFF2-40B4-BE49-F238E27FC236}">
                <a16:creationId xmlns:a16="http://schemas.microsoft.com/office/drawing/2014/main" id="{911A03B4-16DF-4930-B041-306240296A7E}"/>
              </a:ext>
            </a:extLst>
          </p:cNvPr>
          <p:cNvGrpSpPr>
            <a:grpSpLocks/>
          </p:cNvGrpSpPr>
          <p:nvPr/>
        </p:nvGrpSpPr>
        <p:grpSpPr bwMode="auto">
          <a:xfrm>
            <a:off x="3648075" y="1412875"/>
            <a:ext cx="5843588" cy="4699000"/>
            <a:chOff x="1104" y="816"/>
            <a:chExt cx="3552" cy="3238"/>
          </a:xfrm>
        </p:grpSpPr>
        <p:sp>
          <p:nvSpPr>
            <p:cNvPr id="376836" name="Text Box 4">
              <a:extLst>
                <a:ext uri="{FF2B5EF4-FFF2-40B4-BE49-F238E27FC236}">
                  <a16:creationId xmlns:a16="http://schemas.microsoft.com/office/drawing/2014/main" id="{22CA9B7F-F79D-460B-93DE-B4C3C85BC9BB}"/>
                </a:ext>
              </a:extLst>
            </p:cNvPr>
            <p:cNvSpPr txBox="1">
              <a:spLocks noChangeArrowheads="1"/>
            </p:cNvSpPr>
            <p:nvPr/>
          </p:nvSpPr>
          <p:spPr bwMode="auto">
            <a:xfrm>
              <a:off x="2064" y="816"/>
              <a:ext cx="960"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2800">
                  <a:latin typeface="黑体" panose="02010609060101010101" pitchFamily="49" charset="-122"/>
                  <a:ea typeface="黑体" panose="02010609060101010101" pitchFamily="49" charset="-122"/>
                </a:rPr>
                <a:t>酶 原</a:t>
              </a:r>
            </a:p>
          </p:txBody>
        </p:sp>
        <p:sp>
          <p:nvSpPr>
            <p:cNvPr id="376837" name="Text Box 5">
              <a:extLst>
                <a:ext uri="{FF2B5EF4-FFF2-40B4-BE49-F238E27FC236}">
                  <a16:creationId xmlns:a16="http://schemas.microsoft.com/office/drawing/2014/main" id="{8D4E8651-9CAA-452A-A250-C60A42BF049C}"/>
                </a:ext>
              </a:extLst>
            </p:cNvPr>
            <p:cNvSpPr txBox="1">
              <a:spLocks noChangeArrowheads="1"/>
            </p:cNvSpPr>
            <p:nvPr/>
          </p:nvSpPr>
          <p:spPr bwMode="auto">
            <a:xfrm>
              <a:off x="1702" y="2888"/>
              <a:ext cx="184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2800">
                  <a:latin typeface="黑体" panose="02010609060101010101" pitchFamily="49" charset="-122"/>
                  <a:ea typeface="黑体" panose="02010609060101010101" pitchFamily="49" charset="-122"/>
                </a:rPr>
                <a:t>分子构象发生改变</a:t>
              </a:r>
            </a:p>
          </p:txBody>
        </p:sp>
        <p:sp>
          <p:nvSpPr>
            <p:cNvPr id="376838" name="Text Box 6">
              <a:extLst>
                <a:ext uri="{FF2B5EF4-FFF2-40B4-BE49-F238E27FC236}">
                  <a16:creationId xmlns:a16="http://schemas.microsoft.com/office/drawing/2014/main" id="{C52EC113-07FA-4A7A-A119-FB0C7C8FDC28}"/>
                </a:ext>
              </a:extLst>
            </p:cNvPr>
            <p:cNvSpPr txBox="1">
              <a:spLocks noChangeArrowheads="1"/>
            </p:cNvSpPr>
            <p:nvPr/>
          </p:nvSpPr>
          <p:spPr bwMode="auto">
            <a:xfrm>
              <a:off x="1137" y="3696"/>
              <a:ext cx="3212"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2800">
                  <a:solidFill>
                    <a:srgbClr val="FF0000"/>
                  </a:solidFill>
                  <a:latin typeface="黑体" panose="02010609060101010101" pitchFamily="49" charset="-122"/>
                  <a:ea typeface="黑体" panose="02010609060101010101" pitchFamily="49" charset="-122"/>
                </a:rPr>
                <a:t>形成或暴露出酶的活性中心</a:t>
              </a:r>
            </a:p>
          </p:txBody>
        </p:sp>
        <p:sp>
          <p:nvSpPr>
            <p:cNvPr id="376839" name="Text Box 7">
              <a:extLst>
                <a:ext uri="{FF2B5EF4-FFF2-40B4-BE49-F238E27FC236}">
                  <a16:creationId xmlns:a16="http://schemas.microsoft.com/office/drawing/2014/main" id="{A989C485-076D-4F42-9E04-29A193ED5F98}"/>
                </a:ext>
              </a:extLst>
            </p:cNvPr>
            <p:cNvSpPr txBox="1">
              <a:spLocks noChangeArrowheads="1"/>
            </p:cNvSpPr>
            <p:nvPr/>
          </p:nvSpPr>
          <p:spPr bwMode="auto">
            <a:xfrm>
              <a:off x="1104" y="1776"/>
              <a:ext cx="3552" cy="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800">
                  <a:latin typeface="黑体" panose="02010609060101010101" pitchFamily="49" charset="-122"/>
                  <a:ea typeface="黑体" panose="02010609060101010101" pitchFamily="49" charset="-122"/>
                </a:rPr>
                <a:t> </a:t>
              </a:r>
              <a:r>
                <a:rPr kumimoji="1" lang="zh-CN" altLang="en-US" sz="2800">
                  <a:latin typeface="黑体" panose="02010609060101010101" pitchFamily="49" charset="-122"/>
                  <a:ea typeface="黑体" panose="02010609060101010101" pitchFamily="49" charset="-122"/>
                </a:rPr>
                <a:t>一个或几个特定的肽键断裂，水解掉一个或几个短肽</a:t>
              </a:r>
            </a:p>
          </p:txBody>
        </p:sp>
        <p:sp>
          <p:nvSpPr>
            <p:cNvPr id="376840" name="Text Box 8">
              <a:extLst>
                <a:ext uri="{FF2B5EF4-FFF2-40B4-BE49-F238E27FC236}">
                  <a16:creationId xmlns:a16="http://schemas.microsoft.com/office/drawing/2014/main" id="{53975E24-3B19-4124-B5AB-043924DD7F36}"/>
                </a:ext>
              </a:extLst>
            </p:cNvPr>
            <p:cNvSpPr txBox="1">
              <a:spLocks noChangeArrowheads="1"/>
            </p:cNvSpPr>
            <p:nvPr/>
          </p:nvSpPr>
          <p:spPr bwMode="auto">
            <a:xfrm>
              <a:off x="2714" y="1319"/>
              <a:ext cx="1414"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黑体" panose="02010609060101010101" pitchFamily="49" charset="-122"/>
                  <a:ea typeface="黑体" panose="02010609060101010101" pitchFamily="49" charset="-122"/>
                </a:rPr>
                <a:t>在特定条件下</a:t>
              </a:r>
            </a:p>
          </p:txBody>
        </p:sp>
        <p:sp>
          <p:nvSpPr>
            <p:cNvPr id="376841" name="Line 9">
              <a:extLst>
                <a:ext uri="{FF2B5EF4-FFF2-40B4-BE49-F238E27FC236}">
                  <a16:creationId xmlns:a16="http://schemas.microsoft.com/office/drawing/2014/main" id="{6FF83C7E-C900-4604-B2D5-F9BC434EC9F0}"/>
                </a:ext>
              </a:extLst>
            </p:cNvPr>
            <p:cNvSpPr>
              <a:spLocks noChangeShapeType="1"/>
            </p:cNvSpPr>
            <p:nvPr/>
          </p:nvSpPr>
          <p:spPr bwMode="auto">
            <a:xfrm>
              <a:off x="2544" y="1296"/>
              <a:ext cx="0" cy="38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6842" name="Line 10">
              <a:extLst>
                <a:ext uri="{FF2B5EF4-FFF2-40B4-BE49-F238E27FC236}">
                  <a16:creationId xmlns:a16="http://schemas.microsoft.com/office/drawing/2014/main" id="{AA90471E-4177-48E3-A2D0-E5AC177E6EF8}"/>
                </a:ext>
              </a:extLst>
            </p:cNvPr>
            <p:cNvSpPr>
              <a:spLocks noChangeShapeType="1"/>
            </p:cNvSpPr>
            <p:nvPr/>
          </p:nvSpPr>
          <p:spPr bwMode="auto">
            <a:xfrm>
              <a:off x="2592" y="2496"/>
              <a:ext cx="0" cy="33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6843" name="Line 11">
              <a:extLst>
                <a:ext uri="{FF2B5EF4-FFF2-40B4-BE49-F238E27FC236}">
                  <a16:creationId xmlns:a16="http://schemas.microsoft.com/office/drawing/2014/main" id="{4801D8CF-FE21-4BFA-8628-13D41F11FA73}"/>
                </a:ext>
              </a:extLst>
            </p:cNvPr>
            <p:cNvSpPr>
              <a:spLocks noChangeShapeType="1"/>
            </p:cNvSpPr>
            <p:nvPr/>
          </p:nvSpPr>
          <p:spPr bwMode="auto">
            <a:xfrm>
              <a:off x="2592" y="3264"/>
              <a:ext cx="0" cy="33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882" name="标题 1">
            <a:extLst>
              <a:ext uri="{FF2B5EF4-FFF2-40B4-BE49-F238E27FC236}">
                <a16:creationId xmlns:a16="http://schemas.microsoft.com/office/drawing/2014/main" id="{0802ABBD-8116-49C5-904A-32C2754266D0}"/>
              </a:ext>
            </a:extLst>
          </p:cNvPr>
          <p:cNvSpPr>
            <a:spLocks noGrp="1" noChangeArrowheads="1"/>
          </p:cNvSpPr>
          <p:nvPr>
            <p:ph type="title"/>
          </p:nvPr>
        </p:nvSpPr>
        <p:spPr>
          <a:xfrm>
            <a:off x="2063751" y="358775"/>
            <a:ext cx="8278813" cy="806450"/>
          </a:xfrm>
        </p:spPr>
        <p:txBody>
          <a:bodyPr/>
          <a:lstStyle/>
          <a:p>
            <a:r>
              <a:rPr lang="zh-CN" altLang="en-US" sz="4000" b="1">
                <a:solidFill>
                  <a:srgbClr val="0000CC"/>
                </a:solidFill>
              </a:rPr>
              <a:t>不同蛋白酶切割特定位置的肽键</a:t>
            </a:r>
          </a:p>
        </p:txBody>
      </p:sp>
      <p:pic>
        <p:nvPicPr>
          <p:cNvPr id="378883" name="图片 3">
            <a:extLst>
              <a:ext uri="{FF2B5EF4-FFF2-40B4-BE49-F238E27FC236}">
                <a16:creationId xmlns:a16="http://schemas.microsoft.com/office/drawing/2014/main" id="{A8F85C92-B7DB-45D6-92D7-E4D54EDFD6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8119" y="1283445"/>
            <a:ext cx="10192888" cy="3960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884" name="文本框 1">
            <a:extLst>
              <a:ext uri="{FF2B5EF4-FFF2-40B4-BE49-F238E27FC236}">
                <a16:creationId xmlns:a16="http://schemas.microsoft.com/office/drawing/2014/main" id="{E064D78C-790D-44F4-B09A-1A91314FB467}"/>
              </a:ext>
            </a:extLst>
          </p:cNvPr>
          <p:cNvSpPr txBox="1">
            <a:spLocks noChangeArrowheads="1"/>
          </p:cNvSpPr>
          <p:nvPr/>
        </p:nvSpPr>
        <p:spPr bwMode="auto">
          <a:xfrm>
            <a:off x="4583113" y="2276476"/>
            <a:ext cx="1441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a:latin typeface="Arial" panose="020B0604020202020204" pitchFamily="34" charset="0"/>
              </a:rPr>
              <a:t>胰蛋白酶</a:t>
            </a:r>
          </a:p>
        </p:txBody>
      </p:sp>
      <p:sp>
        <p:nvSpPr>
          <p:cNvPr id="378885" name="矩形 2">
            <a:extLst>
              <a:ext uri="{FF2B5EF4-FFF2-40B4-BE49-F238E27FC236}">
                <a16:creationId xmlns:a16="http://schemas.microsoft.com/office/drawing/2014/main" id="{C33990F9-7F56-4BD6-901D-E041C2258679}"/>
              </a:ext>
            </a:extLst>
          </p:cNvPr>
          <p:cNvSpPr>
            <a:spLocks noChangeArrowheads="1"/>
          </p:cNvSpPr>
          <p:nvPr/>
        </p:nvSpPr>
        <p:spPr bwMode="auto">
          <a:xfrm>
            <a:off x="6480175" y="2586039"/>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dirty="0">
                <a:latin typeface="Arial" panose="020B0604020202020204" pitchFamily="34" charset="0"/>
              </a:rPr>
              <a:t>颌下腺蛋白酶</a:t>
            </a:r>
          </a:p>
        </p:txBody>
      </p:sp>
      <p:sp>
        <p:nvSpPr>
          <p:cNvPr id="378886" name="矩形 3">
            <a:extLst>
              <a:ext uri="{FF2B5EF4-FFF2-40B4-BE49-F238E27FC236}">
                <a16:creationId xmlns:a16="http://schemas.microsoft.com/office/drawing/2014/main" id="{73D30E94-4A74-416E-BD84-F62204CB0D18}"/>
              </a:ext>
            </a:extLst>
          </p:cNvPr>
          <p:cNvSpPr>
            <a:spLocks noChangeArrowheads="1"/>
          </p:cNvSpPr>
          <p:nvPr/>
        </p:nvSpPr>
        <p:spPr bwMode="auto">
          <a:xfrm>
            <a:off x="4872039" y="2924176"/>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dirty="0">
                <a:latin typeface="Arial" panose="020B0604020202020204" pitchFamily="34" charset="0"/>
              </a:rPr>
              <a:t>糜蛋白酶</a:t>
            </a:r>
          </a:p>
        </p:txBody>
      </p:sp>
      <p:sp>
        <p:nvSpPr>
          <p:cNvPr id="378887" name="矩形 4">
            <a:extLst>
              <a:ext uri="{FF2B5EF4-FFF2-40B4-BE49-F238E27FC236}">
                <a16:creationId xmlns:a16="http://schemas.microsoft.com/office/drawing/2014/main" id="{28A67D95-DF12-456F-9077-5DDC71ECDD72}"/>
              </a:ext>
            </a:extLst>
          </p:cNvPr>
          <p:cNvSpPr>
            <a:spLocks noChangeArrowheads="1"/>
          </p:cNvSpPr>
          <p:nvPr/>
        </p:nvSpPr>
        <p:spPr bwMode="auto">
          <a:xfrm>
            <a:off x="4310857" y="4085059"/>
            <a:ext cx="12811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dirty="0">
                <a:latin typeface="Arial" panose="020B0604020202020204" pitchFamily="34" charset="0"/>
              </a:rPr>
              <a:t> 胃蛋白酶</a:t>
            </a:r>
          </a:p>
        </p:txBody>
      </p:sp>
      <p:sp>
        <p:nvSpPr>
          <p:cNvPr id="378888" name="矩形 5">
            <a:extLst>
              <a:ext uri="{FF2B5EF4-FFF2-40B4-BE49-F238E27FC236}">
                <a16:creationId xmlns:a16="http://schemas.microsoft.com/office/drawing/2014/main" id="{80D132A9-8C2A-40C5-A51A-43111526DE04}"/>
              </a:ext>
            </a:extLst>
          </p:cNvPr>
          <p:cNvSpPr>
            <a:spLocks noChangeArrowheads="1"/>
          </p:cNvSpPr>
          <p:nvPr/>
        </p:nvSpPr>
        <p:spPr bwMode="auto">
          <a:xfrm>
            <a:off x="4442619" y="4720927"/>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dirty="0">
                <a:latin typeface="Arial" panose="020B0604020202020204" pitchFamily="34" charset="0"/>
              </a:rPr>
              <a:t>溴化氰</a:t>
            </a:r>
          </a:p>
        </p:txBody>
      </p:sp>
    </p:spTree>
  </p:cSld>
  <p:clrMapOvr>
    <a:masterClrMapping/>
  </p:clrMapOvr>
  <p:transition spd="slow"/>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Text Box 2">
            <a:extLst>
              <a:ext uri="{FF2B5EF4-FFF2-40B4-BE49-F238E27FC236}">
                <a16:creationId xmlns:a16="http://schemas.microsoft.com/office/drawing/2014/main" id="{BF15007A-BC40-4E7E-A6F4-66737B413E62}"/>
              </a:ext>
            </a:extLst>
          </p:cNvPr>
          <p:cNvSpPr txBox="1">
            <a:spLocks noChangeArrowheads="1"/>
          </p:cNvSpPr>
          <p:nvPr/>
        </p:nvSpPr>
        <p:spPr bwMode="auto">
          <a:xfrm>
            <a:off x="2135560" y="431802"/>
            <a:ext cx="5715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Clr>
                <a:schemeClr val="tx2"/>
              </a:buClr>
              <a:buFont typeface="Wingdings" panose="05000000000000000000" pitchFamily="2" charset="2"/>
              <a:buChar char="Ø"/>
            </a:pPr>
            <a:r>
              <a:rPr kumimoji="1" lang="en-US" altLang="zh-CN" dirty="0">
                <a:solidFill>
                  <a:srgbClr val="FF0000"/>
                </a:solidFill>
                <a:latin typeface="Times New Roman" panose="02020603050405020304" pitchFamily="18" charset="0"/>
                <a:ea typeface="黑体" panose="02010609060101010101" pitchFamily="49" charset="-122"/>
              </a:rPr>
              <a:t> </a:t>
            </a:r>
            <a:r>
              <a:rPr kumimoji="1" lang="zh-CN" altLang="en-US" dirty="0">
                <a:solidFill>
                  <a:srgbClr val="FF0000"/>
                </a:solidFill>
                <a:latin typeface="Times New Roman" panose="02020603050405020304" pitchFamily="18" charset="0"/>
                <a:ea typeface="黑体" panose="02010609060101010101" pitchFamily="49" charset="-122"/>
              </a:rPr>
              <a:t>酶原激活的生理意义</a:t>
            </a:r>
          </a:p>
        </p:txBody>
      </p:sp>
      <p:sp>
        <p:nvSpPr>
          <p:cNvPr id="380931" name="Text Box 3">
            <a:extLst>
              <a:ext uri="{FF2B5EF4-FFF2-40B4-BE49-F238E27FC236}">
                <a16:creationId xmlns:a16="http://schemas.microsoft.com/office/drawing/2014/main" id="{0CEF80A2-0E11-4AA0-9F3F-35A6640C7CF0}"/>
              </a:ext>
            </a:extLst>
          </p:cNvPr>
          <p:cNvSpPr txBox="1">
            <a:spLocks noChangeArrowheads="1"/>
          </p:cNvSpPr>
          <p:nvPr/>
        </p:nvSpPr>
        <p:spPr bwMode="auto">
          <a:xfrm>
            <a:off x="1451484" y="1412422"/>
            <a:ext cx="9613068" cy="403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396000" indent="-396000" eaLnBrk="1" hangingPunct="1">
              <a:lnSpc>
                <a:spcPct val="130000"/>
              </a:lnSpc>
              <a:spcBef>
                <a:spcPts val="600"/>
              </a:spcBef>
              <a:buClr>
                <a:schemeClr val="tx2"/>
              </a:buClr>
              <a:buSzPct val="75000"/>
              <a:buFont typeface="+mj-lt"/>
              <a:buAutoNum type="arabicPeriod"/>
            </a:pPr>
            <a:r>
              <a:rPr kumimoji="1" lang="zh-CN" altLang="en-US" sz="2800" dirty="0">
                <a:solidFill>
                  <a:srgbClr val="0000FF"/>
                </a:solidFill>
                <a:latin typeface="Times New Roman" panose="02020603050405020304" pitchFamily="18" charset="0"/>
                <a:ea typeface="黑体" panose="02010609060101010101" pitchFamily="49" charset="-122"/>
              </a:rPr>
              <a:t>避免胰腺的自身消化</a:t>
            </a:r>
            <a:r>
              <a:rPr kumimoji="1" lang="zh-CN" altLang="en-US" sz="2800" dirty="0">
                <a:latin typeface="Times New Roman" panose="02020603050405020304" pitchFamily="18" charset="0"/>
                <a:ea typeface="黑体" panose="02010609060101010101" pitchFamily="49" charset="-122"/>
              </a:rPr>
              <a:t>和细胞外基质蛋白遭受蛋白酶的水解破坏；</a:t>
            </a:r>
            <a:endParaRPr kumimoji="1" lang="en-US" altLang="zh-CN" sz="2800" dirty="0">
              <a:latin typeface="Times New Roman" panose="02020603050405020304" pitchFamily="18" charset="0"/>
              <a:ea typeface="黑体" panose="02010609060101010101" pitchFamily="49" charset="-122"/>
            </a:endParaRPr>
          </a:p>
          <a:p>
            <a:pPr marL="396000" indent="-396000" eaLnBrk="1" hangingPunct="1">
              <a:lnSpc>
                <a:spcPct val="130000"/>
              </a:lnSpc>
              <a:spcBef>
                <a:spcPts val="600"/>
              </a:spcBef>
              <a:buClr>
                <a:schemeClr val="tx2"/>
              </a:buClr>
              <a:buSzPct val="75000"/>
              <a:buFont typeface="+mj-lt"/>
              <a:buAutoNum type="arabicPeriod"/>
            </a:pPr>
            <a:r>
              <a:rPr kumimoji="1" lang="zh-CN" altLang="en-US" sz="2800" dirty="0">
                <a:latin typeface="Times New Roman" panose="02020603050405020304" pitchFamily="18" charset="0"/>
                <a:ea typeface="黑体" panose="02010609060101010101" pitchFamily="49" charset="-122"/>
              </a:rPr>
              <a:t>保证</a:t>
            </a:r>
            <a:r>
              <a:rPr kumimoji="1" lang="zh-CN" altLang="en-US" sz="2800" dirty="0">
                <a:solidFill>
                  <a:srgbClr val="0000FF"/>
                </a:solidFill>
                <a:latin typeface="Times New Roman" panose="02020603050405020304" pitchFamily="18" charset="0"/>
                <a:ea typeface="黑体" panose="02010609060101010101" pitchFamily="49" charset="-122"/>
              </a:rPr>
              <a:t>酶在特定环境和部位发挥其催化作用</a:t>
            </a:r>
            <a:r>
              <a:rPr kumimoji="1" lang="zh-CN" altLang="en-US" sz="2800" dirty="0">
                <a:latin typeface="Times New Roman" panose="02020603050405020304" pitchFamily="18" charset="0"/>
                <a:ea typeface="黑体" panose="02010609060101010101" pitchFamily="49" charset="-122"/>
              </a:rPr>
              <a:t>。</a:t>
            </a:r>
            <a:endParaRPr kumimoji="1" lang="en-US" altLang="zh-CN" sz="2800" dirty="0">
              <a:latin typeface="Times New Roman" panose="02020603050405020304" pitchFamily="18" charset="0"/>
              <a:ea typeface="黑体" panose="02010609060101010101" pitchFamily="49" charset="-122"/>
            </a:endParaRPr>
          </a:p>
          <a:p>
            <a:pPr marL="396000" indent="-396000" eaLnBrk="1" hangingPunct="1">
              <a:lnSpc>
                <a:spcPct val="130000"/>
              </a:lnSpc>
              <a:spcBef>
                <a:spcPts val="600"/>
              </a:spcBef>
              <a:buClr>
                <a:schemeClr val="tx2"/>
              </a:buClr>
              <a:buSzPct val="75000"/>
              <a:buFont typeface="+mj-lt"/>
              <a:buAutoNum type="arabicPeriod"/>
            </a:pPr>
            <a:r>
              <a:rPr kumimoji="1" lang="zh-CN" altLang="en-US" sz="2800" dirty="0">
                <a:latin typeface="Times New Roman" panose="02020603050405020304" pitchFamily="18" charset="0"/>
                <a:ea typeface="黑体" panose="02010609060101010101" pitchFamily="49" charset="-122"/>
              </a:rPr>
              <a:t>保证生理情况下不发生血液凝固，血流畅通，而一旦需要又可以迅速凝血，以阻止大量失血。</a:t>
            </a:r>
            <a:endParaRPr kumimoji="1" lang="en-US" altLang="zh-CN" sz="2800" dirty="0">
              <a:latin typeface="Times New Roman" panose="02020603050405020304" pitchFamily="18" charset="0"/>
              <a:ea typeface="黑体" panose="02010609060101010101" pitchFamily="49" charset="-122"/>
            </a:endParaRPr>
          </a:p>
          <a:p>
            <a:pPr marL="396000" indent="-396000" eaLnBrk="1" hangingPunct="1">
              <a:lnSpc>
                <a:spcPct val="110000"/>
              </a:lnSpc>
              <a:spcBef>
                <a:spcPts val="600"/>
              </a:spcBef>
              <a:buClr>
                <a:schemeClr val="tx2"/>
              </a:buClr>
              <a:buSzPct val="75000"/>
              <a:buFont typeface="+mj-lt"/>
              <a:buAutoNum type="arabicPeriod"/>
            </a:pPr>
            <a:r>
              <a:rPr kumimoji="1" lang="zh-CN" altLang="en-US" sz="2800" dirty="0">
                <a:latin typeface="Times New Roman" panose="02020603050405020304" pitchFamily="18" charset="0"/>
                <a:ea typeface="黑体" panose="02010609060101010101" pitchFamily="49" charset="-122"/>
              </a:rPr>
              <a:t>酶原可视为</a:t>
            </a:r>
            <a:r>
              <a:rPr kumimoji="1" lang="zh-CN" altLang="en-US" sz="2800" dirty="0">
                <a:solidFill>
                  <a:srgbClr val="0000FF"/>
                </a:solidFill>
                <a:latin typeface="Times New Roman" panose="02020603050405020304" pitchFamily="18" charset="0"/>
                <a:ea typeface="黑体" panose="02010609060101010101" pitchFamily="49" charset="-122"/>
              </a:rPr>
              <a:t>酶的储存形式</a:t>
            </a:r>
            <a:r>
              <a:rPr kumimoji="1" lang="zh-CN" altLang="en-US" sz="2800" dirty="0">
                <a:latin typeface="Times New Roman" panose="02020603050405020304" pitchFamily="18" charset="0"/>
                <a:ea typeface="黑体" panose="02010609060101010101" pitchFamily="49" charset="-122"/>
              </a:rPr>
              <a:t>。进食时，酶原适时地转变成有活性的酶，满足机体短时间内对酶的大量需求。</a:t>
            </a:r>
            <a:endParaRPr kumimoji="1" lang="en-US" altLang="zh-CN" sz="2800" dirty="0">
              <a:latin typeface="Times New Roman" panose="02020603050405020304" pitchFamily="18" charset="0"/>
              <a:ea typeface="黑体" panose="02010609060101010101" pitchFamily="49" charset="-122"/>
            </a:endParaRPr>
          </a:p>
        </p:txBody>
      </p:sp>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2978" name="标题 1">
            <a:extLst>
              <a:ext uri="{FF2B5EF4-FFF2-40B4-BE49-F238E27FC236}">
                <a16:creationId xmlns:a16="http://schemas.microsoft.com/office/drawing/2014/main" id="{8B0C29C9-48F8-4ED0-BAAC-F4AEDE58D924}"/>
              </a:ext>
            </a:extLst>
          </p:cNvPr>
          <p:cNvSpPr>
            <a:spLocks noGrp="1" noChangeArrowheads="1"/>
          </p:cNvSpPr>
          <p:nvPr>
            <p:ph type="title" idx="4294967295"/>
          </p:nvPr>
        </p:nvSpPr>
        <p:spPr>
          <a:xfrm>
            <a:off x="2783632" y="548681"/>
            <a:ext cx="6870700" cy="771525"/>
          </a:xfrm>
        </p:spPr>
        <p:txBody>
          <a:bodyPr/>
          <a:lstStyle/>
          <a:p>
            <a:r>
              <a:rPr lang="zh-CN" altLang="en-US" sz="3600" dirty="0">
                <a:solidFill>
                  <a:srgbClr val="FF0000"/>
                </a:solidFill>
                <a:latin typeface="黑体" panose="02010609060101010101" pitchFamily="49" charset="-122"/>
                <a:ea typeface="黑体" panose="02010609060101010101" pitchFamily="49" charset="-122"/>
              </a:rPr>
              <a:t>胰脏的三种自我保护机制</a:t>
            </a:r>
          </a:p>
        </p:txBody>
      </p:sp>
      <p:sp>
        <p:nvSpPr>
          <p:cNvPr id="382979" name="内容占位符 2">
            <a:extLst>
              <a:ext uri="{FF2B5EF4-FFF2-40B4-BE49-F238E27FC236}">
                <a16:creationId xmlns:a16="http://schemas.microsoft.com/office/drawing/2014/main" id="{97E27362-E6C6-4199-AD95-A9CAEDA99A09}"/>
              </a:ext>
            </a:extLst>
          </p:cNvPr>
          <p:cNvSpPr>
            <a:spLocks noGrp="1" noChangeArrowheads="1"/>
          </p:cNvSpPr>
          <p:nvPr>
            <p:ph idx="4294967295"/>
          </p:nvPr>
        </p:nvSpPr>
        <p:spPr>
          <a:xfrm>
            <a:off x="2209800" y="1773238"/>
            <a:ext cx="8458200" cy="2807890"/>
          </a:xfrm>
        </p:spPr>
        <p:txBody>
          <a:bodyPr/>
          <a:lstStyle/>
          <a:p>
            <a:pPr marL="514350" indent="-514350">
              <a:lnSpc>
                <a:spcPct val="130000"/>
              </a:lnSpc>
              <a:buFont typeface="Comic Sans MS" panose="030F0702030302020204" pitchFamily="66" charset="0"/>
              <a:buAutoNum type="arabicPeriod"/>
            </a:pPr>
            <a:r>
              <a:rPr lang="zh-CN" altLang="en-US" sz="2800" dirty="0">
                <a:latin typeface="微软雅黑" panose="020B0503020204020204" pitchFamily="34" charset="-122"/>
                <a:ea typeface="微软雅黑" panose="020B0503020204020204" pitchFamily="34" charset="-122"/>
              </a:rPr>
              <a:t>蛋白酶以</a:t>
            </a:r>
            <a:r>
              <a:rPr lang="zh-CN" altLang="en-US" sz="2800" dirty="0">
                <a:solidFill>
                  <a:srgbClr val="0000CC"/>
                </a:solidFill>
                <a:latin typeface="微软雅黑" panose="020B0503020204020204" pitchFamily="34" charset="-122"/>
                <a:ea typeface="微软雅黑" panose="020B0503020204020204" pitchFamily="34" charset="-122"/>
              </a:rPr>
              <a:t>无活性的酶原</a:t>
            </a:r>
            <a:r>
              <a:rPr lang="zh-CN" altLang="en-US" sz="2800" dirty="0">
                <a:latin typeface="微软雅黑" panose="020B0503020204020204" pitchFamily="34" charset="-122"/>
                <a:ea typeface="微软雅黑" panose="020B0503020204020204" pitchFamily="34" charset="-122"/>
              </a:rPr>
              <a:t>形式在细胞内合成。</a:t>
            </a:r>
            <a:endParaRPr lang="en-US" altLang="zh-CN" sz="2800" dirty="0">
              <a:latin typeface="微软雅黑" panose="020B0503020204020204" pitchFamily="34" charset="-122"/>
              <a:ea typeface="微软雅黑" panose="020B0503020204020204" pitchFamily="34" charset="-122"/>
            </a:endParaRPr>
          </a:p>
          <a:p>
            <a:pPr marL="514350" indent="-514350">
              <a:lnSpc>
                <a:spcPct val="130000"/>
              </a:lnSpc>
              <a:buFont typeface="Comic Sans MS" panose="030F0702030302020204" pitchFamily="66" charset="0"/>
              <a:buAutoNum type="arabicPeriod"/>
            </a:pPr>
            <a:r>
              <a:rPr lang="zh-CN" altLang="en-US" sz="2800" dirty="0">
                <a:latin typeface="微软雅黑" panose="020B0503020204020204" pitchFamily="34" charset="-122"/>
                <a:ea typeface="微软雅黑" panose="020B0503020204020204" pitchFamily="34" charset="-122"/>
              </a:rPr>
              <a:t>酶原包装在脂质颗粒中贮存。</a:t>
            </a:r>
            <a:endParaRPr lang="en-US" altLang="zh-CN" sz="2800" dirty="0">
              <a:latin typeface="微软雅黑" panose="020B0503020204020204" pitchFamily="34" charset="-122"/>
              <a:ea typeface="微软雅黑" panose="020B0503020204020204" pitchFamily="34" charset="-122"/>
            </a:endParaRPr>
          </a:p>
          <a:p>
            <a:pPr marL="514350" indent="-514350">
              <a:lnSpc>
                <a:spcPct val="130000"/>
              </a:lnSpc>
              <a:buFont typeface="Comic Sans MS" panose="030F0702030302020204" pitchFamily="66" charset="0"/>
              <a:buAutoNum type="arabicPeriod"/>
            </a:pPr>
            <a:r>
              <a:rPr lang="zh-CN" altLang="en-US" sz="2800" dirty="0">
                <a:latin typeface="微软雅黑" panose="020B0503020204020204" pitchFamily="34" charset="-122"/>
                <a:ea typeface="微软雅黑" panose="020B0503020204020204" pitchFamily="34" charset="-122"/>
              </a:rPr>
              <a:t>胰腺合成专一的</a:t>
            </a:r>
            <a:r>
              <a:rPr lang="zh-CN" altLang="en-US" sz="2800" dirty="0">
                <a:solidFill>
                  <a:srgbClr val="0000CC"/>
                </a:solidFill>
                <a:latin typeface="微软雅黑" panose="020B0503020204020204" pitchFamily="34" charset="-122"/>
                <a:ea typeface="微软雅黑" panose="020B0503020204020204" pitchFamily="34" charset="-122"/>
              </a:rPr>
              <a:t>胰蛋白酶抑制剂</a:t>
            </a:r>
            <a:r>
              <a:rPr lang="zh-CN" altLang="en-US" sz="2800" dirty="0">
                <a:latin typeface="微软雅黑" panose="020B0503020204020204" pitchFamily="34" charset="-122"/>
                <a:ea typeface="微软雅黑" panose="020B0503020204020204" pitchFamily="34" charset="-122"/>
              </a:rPr>
              <a:t>，可以与胰蛋白酶活性中心结合并抑制其活性。</a:t>
            </a:r>
          </a:p>
        </p:txBody>
      </p:sp>
      <p:pic>
        <p:nvPicPr>
          <p:cNvPr id="2" name="图片 1">
            <a:extLst>
              <a:ext uri="{FF2B5EF4-FFF2-40B4-BE49-F238E27FC236}">
                <a16:creationId xmlns:a16="http://schemas.microsoft.com/office/drawing/2014/main" id="{6115D592-6E64-CA92-39E6-9BD13B463C18}"/>
              </a:ext>
            </a:extLst>
          </p:cNvPr>
          <p:cNvPicPr>
            <a:picLocks noChangeAspect="1"/>
          </p:cNvPicPr>
          <p:nvPr/>
        </p:nvPicPr>
        <p:blipFill>
          <a:blip r:embed="rId3"/>
          <a:stretch>
            <a:fillRect/>
          </a:stretch>
        </p:blipFill>
        <p:spPr>
          <a:xfrm>
            <a:off x="6744072" y="4169440"/>
            <a:ext cx="2810500" cy="2139881"/>
          </a:xfrm>
          <a:prstGeom prst="rect">
            <a:avLst/>
          </a:prstGeom>
        </p:spPr>
      </p:pic>
    </p:spTree>
  </p:cSld>
  <p:clrMapOvr>
    <a:masterClrMapping/>
  </p:clrMapOvr>
  <p:transition spd="slow"/>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30465E-8E4B-4DEC-84B2-C657B47A1D57}"/>
              </a:ext>
            </a:extLst>
          </p:cNvPr>
          <p:cNvSpPr>
            <a:spLocks noGrp="1"/>
          </p:cNvSpPr>
          <p:nvPr>
            <p:ph type="title"/>
          </p:nvPr>
        </p:nvSpPr>
        <p:spPr>
          <a:xfrm>
            <a:off x="2351584" y="476672"/>
            <a:ext cx="7056784" cy="925512"/>
          </a:xfrm>
        </p:spPr>
        <p:txBody>
          <a:bodyPr/>
          <a:lstStyle/>
          <a:p>
            <a:r>
              <a:rPr lang="zh-CN" altLang="en-US" sz="3600" dirty="0">
                <a:solidFill>
                  <a:srgbClr val="0000CC"/>
                </a:solidFill>
                <a:latin typeface="微软雅黑" panose="020B0503020204020204" pitchFamily="34" charset="-122"/>
                <a:ea typeface="微软雅黑" panose="020B0503020204020204" pitchFamily="34" charset="-122"/>
              </a:rPr>
              <a:t>调节蛋白调节某些酶的活性</a:t>
            </a:r>
          </a:p>
        </p:txBody>
      </p:sp>
      <p:sp>
        <p:nvSpPr>
          <p:cNvPr id="3" name="内容占位符 2">
            <a:extLst>
              <a:ext uri="{FF2B5EF4-FFF2-40B4-BE49-F238E27FC236}">
                <a16:creationId xmlns:a16="http://schemas.microsoft.com/office/drawing/2014/main" id="{C32E20F1-7050-4FCC-B9FA-460CB0EBE2FE}"/>
              </a:ext>
            </a:extLst>
          </p:cNvPr>
          <p:cNvSpPr>
            <a:spLocks noGrp="1"/>
          </p:cNvSpPr>
          <p:nvPr>
            <p:ph idx="1"/>
          </p:nvPr>
        </p:nvSpPr>
        <p:spPr>
          <a:xfrm>
            <a:off x="1379476" y="1772816"/>
            <a:ext cx="9433048" cy="4608512"/>
          </a:xfrm>
        </p:spPr>
        <p:txBody>
          <a:bodyPr/>
          <a:lstStyle/>
          <a:p>
            <a:pPr>
              <a:lnSpc>
                <a:spcPct val="120000"/>
              </a:lnSpc>
            </a:pPr>
            <a:r>
              <a:rPr lang="zh-CN" altLang="en-US" sz="2800" b="0" dirty="0">
                <a:solidFill>
                  <a:srgbClr val="0000CC"/>
                </a:solidFill>
                <a:latin typeface="微软雅黑" panose="020B0503020204020204" pitchFamily="34" charset="-122"/>
                <a:ea typeface="微软雅黑" panose="020B0503020204020204" pitchFamily="34" charset="-122"/>
              </a:rPr>
              <a:t>激活蛋白</a:t>
            </a:r>
            <a:r>
              <a:rPr lang="zh-CN" altLang="en-US" sz="2800" b="0" dirty="0">
                <a:latin typeface="微软雅黑" panose="020B0503020204020204" pitchFamily="34" charset="-122"/>
                <a:ea typeface="微软雅黑" panose="020B0503020204020204" pitchFamily="34" charset="-122"/>
              </a:rPr>
              <a:t>： 激活酶活性的调节蛋白</a:t>
            </a:r>
            <a:endParaRPr lang="en-US" altLang="zh-CN" sz="2800" b="0" dirty="0">
              <a:latin typeface="微软雅黑" panose="020B0503020204020204" pitchFamily="34" charset="-122"/>
              <a:ea typeface="微软雅黑" panose="020B0503020204020204" pitchFamily="34" charset="-122"/>
            </a:endParaRPr>
          </a:p>
          <a:p>
            <a:pPr lvl="1">
              <a:lnSpc>
                <a:spcPct val="120000"/>
              </a:lnSpc>
            </a:pPr>
            <a:r>
              <a:rPr lang="zh-CN" altLang="en-US" sz="2400" b="0" dirty="0">
                <a:latin typeface="微软雅黑" panose="020B0503020204020204" pitchFamily="34" charset="-122"/>
                <a:ea typeface="微软雅黑" panose="020B0503020204020204" pitchFamily="34" charset="-122"/>
              </a:rPr>
              <a:t>周期蛋白（</a:t>
            </a:r>
            <a:r>
              <a:rPr lang="en-US" altLang="zh-CN" sz="2400" b="0" dirty="0">
                <a:latin typeface="微软雅黑" panose="020B0503020204020204" pitchFamily="34" charset="-122"/>
                <a:ea typeface="微软雅黑" panose="020B0503020204020204" pitchFamily="34" charset="-122"/>
              </a:rPr>
              <a:t>cyclin)</a:t>
            </a:r>
            <a:r>
              <a:rPr lang="zh-CN" altLang="en-US" sz="2400" b="0" dirty="0">
                <a:latin typeface="微软雅黑" panose="020B0503020204020204" pitchFamily="34" charset="-122"/>
                <a:ea typeface="微软雅黑" panose="020B0503020204020204" pitchFamily="34" charset="-122"/>
              </a:rPr>
              <a:t>调节依赖于周期蛋白的激酶（</a:t>
            </a:r>
            <a:r>
              <a:rPr lang="en-US" altLang="zh-CN" sz="2400" b="0" dirty="0">
                <a:latin typeface="微软雅黑" panose="020B0503020204020204" pitchFamily="34" charset="-122"/>
                <a:ea typeface="微软雅黑" panose="020B0503020204020204" pitchFamily="34" charset="-122"/>
              </a:rPr>
              <a:t>CDK</a:t>
            </a:r>
            <a:r>
              <a:rPr lang="zh-CN" altLang="en-US" sz="2400" b="0" dirty="0">
                <a:latin typeface="微软雅黑" panose="020B0503020204020204" pitchFamily="34" charset="-122"/>
                <a:ea typeface="微软雅黑" panose="020B0503020204020204" pitchFamily="34" charset="-122"/>
              </a:rPr>
              <a:t>）</a:t>
            </a:r>
            <a:endParaRPr lang="en-US" altLang="zh-CN" sz="2400" b="0" dirty="0">
              <a:latin typeface="微软雅黑" panose="020B0503020204020204" pitchFamily="34" charset="-122"/>
              <a:ea typeface="微软雅黑" panose="020B0503020204020204" pitchFamily="34" charset="-122"/>
            </a:endParaRPr>
          </a:p>
          <a:p>
            <a:pPr>
              <a:lnSpc>
                <a:spcPct val="120000"/>
              </a:lnSpc>
            </a:pPr>
            <a:r>
              <a:rPr lang="zh-CN" altLang="en-US" sz="2800" b="0" dirty="0">
                <a:solidFill>
                  <a:srgbClr val="0000CC"/>
                </a:solidFill>
                <a:latin typeface="微软雅黑" panose="020B0503020204020204" pitchFamily="34" charset="-122"/>
                <a:ea typeface="微软雅黑" panose="020B0503020204020204" pitchFamily="34" charset="-122"/>
              </a:rPr>
              <a:t>抑制蛋白</a:t>
            </a:r>
            <a:r>
              <a:rPr lang="zh-CN" altLang="en-US" sz="2800" b="0" dirty="0">
                <a:latin typeface="微软雅黑" panose="020B0503020204020204" pitchFamily="34" charset="-122"/>
                <a:ea typeface="微软雅黑" panose="020B0503020204020204" pitchFamily="34" charset="-122"/>
              </a:rPr>
              <a:t>：</a:t>
            </a:r>
            <a:r>
              <a:rPr lang="zh-CN" altLang="en-US" sz="2800" b="0" dirty="0">
                <a:solidFill>
                  <a:srgbClr val="0000CC"/>
                </a:solidFill>
                <a:latin typeface="微软雅黑" panose="020B0503020204020204" pitchFamily="34" charset="-122"/>
                <a:ea typeface="微软雅黑" panose="020B0503020204020204" pitchFamily="34" charset="-122"/>
              </a:rPr>
              <a:t>与酶的活性中心结合</a:t>
            </a:r>
            <a:r>
              <a:rPr lang="zh-CN" altLang="en-US" sz="2800" b="0" dirty="0">
                <a:latin typeface="微软雅黑" panose="020B0503020204020204" pitchFamily="34" charset="-122"/>
                <a:ea typeface="微软雅黑" panose="020B0503020204020204" pitchFamily="34" charset="-122"/>
              </a:rPr>
              <a:t>，阻止底物与酶结合，从而抑制酶活性。 </a:t>
            </a:r>
            <a:endParaRPr lang="en-US" altLang="zh-CN" sz="2800" b="0" dirty="0">
              <a:latin typeface="微软雅黑" panose="020B0503020204020204" pitchFamily="34" charset="-122"/>
              <a:ea typeface="微软雅黑" panose="020B0503020204020204" pitchFamily="34" charset="-122"/>
            </a:endParaRPr>
          </a:p>
          <a:p>
            <a:pPr lvl="1">
              <a:lnSpc>
                <a:spcPct val="120000"/>
              </a:lnSpc>
            </a:pPr>
            <a:r>
              <a:rPr lang="zh-CN" altLang="en-US" sz="2400" b="0" dirty="0">
                <a:latin typeface="微软雅黑" panose="020B0503020204020204" pitchFamily="34" charset="-122"/>
                <a:ea typeface="微软雅黑" panose="020B0503020204020204" pitchFamily="34" charset="-122"/>
              </a:rPr>
              <a:t>最常见为</a:t>
            </a:r>
            <a:r>
              <a:rPr lang="zh-CN" altLang="en-US" sz="2400" b="0" dirty="0">
                <a:solidFill>
                  <a:srgbClr val="0000CC"/>
                </a:solidFill>
                <a:latin typeface="微软雅黑" panose="020B0503020204020204" pitchFamily="34" charset="-122"/>
                <a:ea typeface="微软雅黑" panose="020B0503020204020204" pitchFamily="34" charset="-122"/>
              </a:rPr>
              <a:t>丝氨酸蛋白酶抑制剂</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serine protease inhibitor, </a:t>
            </a:r>
            <a:r>
              <a:rPr lang="en-US" altLang="zh-CN" sz="2400" b="0" dirty="0">
                <a:solidFill>
                  <a:srgbClr val="0000CC"/>
                </a:solidFill>
                <a:latin typeface="微软雅黑" panose="020B0503020204020204" pitchFamily="34" charset="-122"/>
                <a:ea typeface="微软雅黑" panose="020B0503020204020204" pitchFamily="34" charset="-122"/>
              </a:rPr>
              <a:t>Serpin</a:t>
            </a:r>
            <a:r>
              <a:rPr lang="en-US" altLang="zh-CN" sz="2400" b="0" dirty="0">
                <a:latin typeface="微软雅黑" panose="020B0503020204020204" pitchFamily="34" charset="-122"/>
                <a:ea typeface="微软雅黑" panose="020B0503020204020204" pitchFamily="34" charset="-122"/>
              </a:rPr>
              <a:t>)</a:t>
            </a:r>
          </a:p>
          <a:p>
            <a:pPr lvl="1">
              <a:lnSpc>
                <a:spcPct val="120000"/>
              </a:lnSpc>
            </a:pPr>
            <a:r>
              <a:rPr lang="zh-CN" altLang="en-US" sz="2400" b="0" dirty="0">
                <a:latin typeface="微软雅黑" panose="020B0503020204020204" pitchFamily="34" charset="-122"/>
                <a:ea typeface="微软雅黑" panose="020B0503020204020204" pitchFamily="34" charset="-122"/>
              </a:rPr>
              <a:t>肝细胞分泌的</a:t>
            </a:r>
            <a:r>
              <a:rPr lang="el-GR" altLang="zh-CN" sz="2400" b="0" dirty="0">
                <a:solidFill>
                  <a:srgbClr val="0000CC"/>
                </a:solidFill>
                <a:latin typeface="微软雅黑" panose="020B0503020204020204" pitchFamily="34" charset="-122"/>
                <a:ea typeface="微软雅黑" panose="020B0503020204020204" pitchFamily="34" charset="-122"/>
              </a:rPr>
              <a:t>α</a:t>
            </a:r>
            <a:r>
              <a:rPr lang="en-US" altLang="zh-CN" sz="2400" b="0" dirty="0">
                <a:solidFill>
                  <a:srgbClr val="0000CC"/>
                </a:solidFill>
                <a:latin typeface="微软雅黑" panose="020B0503020204020204" pitchFamily="34" charset="-122"/>
                <a:ea typeface="微软雅黑" panose="020B0503020204020204" pitchFamily="34" charset="-122"/>
              </a:rPr>
              <a:t>1-</a:t>
            </a:r>
            <a:r>
              <a:rPr lang="zh-CN" altLang="en-US" sz="2400" b="0" dirty="0">
                <a:solidFill>
                  <a:srgbClr val="0000CC"/>
                </a:solidFill>
                <a:latin typeface="微软雅黑" panose="020B0503020204020204" pitchFamily="34" charset="-122"/>
                <a:ea typeface="微软雅黑" panose="020B0503020204020204" pitchFamily="34" charset="-122"/>
              </a:rPr>
              <a:t>抗胰蛋白酶</a:t>
            </a:r>
            <a:r>
              <a:rPr lang="zh-CN" altLang="en-US" sz="2400" b="0" dirty="0">
                <a:latin typeface="微软雅黑" panose="020B0503020204020204" pitchFamily="34" charset="-122"/>
                <a:ea typeface="微软雅黑" panose="020B0503020204020204" pitchFamily="34" charset="-122"/>
              </a:rPr>
              <a:t>即是一种</a:t>
            </a:r>
            <a:r>
              <a:rPr lang="en-US" altLang="zh-CN" sz="2400" b="0" dirty="0">
                <a:latin typeface="微软雅黑" panose="020B0503020204020204" pitchFamily="34" charset="-122"/>
                <a:ea typeface="微软雅黑" panose="020B0503020204020204" pitchFamily="34" charset="-122"/>
              </a:rPr>
              <a:t>Serpin</a:t>
            </a:r>
            <a:r>
              <a:rPr lang="zh-CN" altLang="en-US" sz="2400" b="0" dirty="0">
                <a:latin typeface="微软雅黑" panose="020B0503020204020204" pitchFamily="34" charset="-122"/>
                <a:ea typeface="微软雅黑" panose="020B0503020204020204" pitchFamily="34" charset="-122"/>
              </a:rPr>
              <a:t>，能与弹性蛋白酶结合，使其失活，保护肺泡壁的完整。 </a:t>
            </a:r>
          </a:p>
        </p:txBody>
      </p:sp>
    </p:spTree>
    <p:extLst>
      <p:ext uri="{BB962C8B-B14F-4D97-AF65-F5344CB8AC3E}">
        <p14:creationId xmlns:p14="http://schemas.microsoft.com/office/powerpoint/2010/main" val="1786627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7634" name="Rectangle 2">
            <a:extLst>
              <a:ext uri="{FF2B5EF4-FFF2-40B4-BE49-F238E27FC236}">
                <a16:creationId xmlns:a16="http://schemas.microsoft.com/office/drawing/2014/main" id="{9890CB3D-B006-4B56-B351-E06E70536F35}"/>
              </a:ext>
            </a:extLst>
          </p:cNvPr>
          <p:cNvSpPr>
            <a:spLocks noGrp="1" noChangeArrowheads="1"/>
          </p:cNvSpPr>
          <p:nvPr>
            <p:ph type="body" idx="4294967295"/>
          </p:nvPr>
        </p:nvSpPr>
        <p:spPr>
          <a:xfrm>
            <a:off x="2314576" y="1458913"/>
            <a:ext cx="8353425" cy="2303462"/>
          </a:xfrm>
        </p:spPr>
        <p:txBody>
          <a:bodyPr/>
          <a:lstStyle/>
          <a:p>
            <a:pPr eaLnBrk="1" hangingPunct="1">
              <a:lnSpc>
                <a:spcPct val="130000"/>
              </a:lnSpc>
              <a:buFontTx/>
              <a:buNone/>
              <a:defRPr/>
            </a:pPr>
            <a:r>
              <a:rPr lang="en-US" altLang="zh-CN" b="0" dirty="0">
                <a:solidFill>
                  <a:srgbClr val="0000CC"/>
                </a:solidFill>
                <a:latin typeface="Times New Roman" panose="02020603050405020304" pitchFamily="18" charset="0"/>
                <a:ea typeface="黑体" panose="02010609060101010101" pitchFamily="49" charset="-122"/>
              </a:rPr>
              <a:t>1.  </a:t>
            </a:r>
            <a:r>
              <a:rPr lang="zh-CN" altLang="en-US" b="0" dirty="0">
                <a:solidFill>
                  <a:srgbClr val="0000CC"/>
                </a:solidFill>
                <a:latin typeface="Times New Roman" panose="02020603050405020304" pitchFamily="18" charset="0"/>
                <a:ea typeface="黑体" panose="02010609060101010101" pitchFamily="49" charset="-122"/>
              </a:rPr>
              <a:t>酶蛋白合成可被诱导或阻遏</a:t>
            </a:r>
          </a:p>
          <a:p>
            <a:pPr marL="0" indent="0" eaLnBrk="1" hangingPunct="1">
              <a:lnSpc>
                <a:spcPct val="130000"/>
              </a:lnSpc>
              <a:spcBef>
                <a:spcPts val="0"/>
              </a:spcBef>
              <a:buNone/>
              <a:defRPr/>
            </a:pPr>
            <a:r>
              <a:rPr lang="zh-CN" altLang="en-US" sz="2600" dirty="0">
                <a:latin typeface="Times New Roman" panose="02020603050405020304" pitchFamily="18" charset="0"/>
                <a:ea typeface="黑体" panose="02010609060101010101" pitchFamily="49" charset="-122"/>
              </a:rPr>
              <a:t>  </a:t>
            </a:r>
            <a:r>
              <a:rPr lang="zh-CN" altLang="en-US" sz="2600" dirty="0">
                <a:solidFill>
                  <a:srgbClr val="0000FF"/>
                </a:solidFill>
                <a:latin typeface="Times New Roman" panose="02020603050405020304" pitchFamily="18" charset="0"/>
                <a:ea typeface="黑体" panose="02010609060101010101" pitchFamily="49" charset="-122"/>
              </a:rPr>
              <a:t>诱导作用</a:t>
            </a:r>
            <a:r>
              <a:rPr lang="en-US" altLang="zh-CN" sz="2600" dirty="0">
                <a:solidFill>
                  <a:srgbClr val="0000FF"/>
                </a:solidFill>
                <a:latin typeface="Times New Roman" panose="02020603050405020304" pitchFamily="18" charset="0"/>
                <a:ea typeface="黑体" panose="02010609060101010101" pitchFamily="49" charset="-122"/>
              </a:rPr>
              <a:t>(induction)</a:t>
            </a:r>
            <a:r>
              <a:rPr lang="zh-CN" altLang="en-US" sz="2600" dirty="0">
                <a:latin typeface="Times New Roman" panose="02020603050405020304" pitchFamily="18" charset="0"/>
                <a:ea typeface="黑体" panose="02010609060101010101" pitchFamily="49" charset="-122"/>
              </a:rPr>
              <a:t>：底物、激素、生长因子 、药物</a:t>
            </a:r>
          </a:p>
          <a:p>
            <a:pPr marL="0" indent="0" eaLnBrk="1" hangingPunct="1">
              <a:lnSpc>
                <a:spcPct val="130000"/>
              </a:lnSpc>
              <a:spcBef>
                <a:spcPts val="0"/>
              </a:spcBef>
              <a:buNone/>
              <a:defRPr/>
            </a:pPr>
            <a:r>
              <a:rPr lang="zh-CN" altLang="en-US" sz="2600" dirty="0">
                <a:latin typeface="Times New Roman" panose="02020603050405020304" pitchFamily="18" charset="0"/>
                <a:ea typeface="黑体" panose="02010609060101010101" pitchFamily="49" charset="-122"/>
              </a:rPr>
              <a:t>  </a:t>
            </a:r>
            <a:r>
              <a:rPr lang="zh-CN" altLang="en-US" sz="2600" dirty="0">
                <a:solidFill>
                  <a:srgbClr val="0000FF"/>
                </a:solidFill>
                <a:latin typeface="Times New Roman" panose="02020603050405020304" pitchFamily="18" charset="0"/>
                <a:ea typeface="黑体" panose="02010609060101010101" pitchFamily="49" charset="-122"/>
              </a:rPr>
              <a:t>阻遏作用</a:t>
            </a:r>
            <a:r>
              <a:rPr lang="en-US" altLang="zh-CN" sz="2600" dirty="0">
                <a:solidFill>
                  <a:srgbClr val="0000FF"/>
                </a:solidFill>
                <a:latin typeface="Times New Roman" panose="02020603050405020304" pitchFamily="18" charset="0"/>
                <a:ea typeface="黑体" panose="02010609060101010101" pitchFamily="49" charset="-122"/>
              </a:rPr>
              <a:t>(repression)</a:t>
            </a:r>
            <a:r>
              <a:rPr lang="zh-CN" altLang="en-US" sz="2600" dirty="0">
                <a:latin typeface="Times New Roman" panose="02020603050405020304" pitchFamily="18" charset="0"/>
                <a:ea typeface="黑体" panose="02010609060101010101" pitchFamily="49" charset="-122"/>
              </a:rPr>
              <a:t>：产物</a:t>
            </a:r>
          </a:p>
        </p:txBody>
      </p:sp>
      <p:sp>
        <p:nvSpPr>
          <p:cNvPr id="385027" name="AutoShape 3">
            <a:extLst>
              <a:ext uri="{FF2B5EF4-FFF2-40B4-BE49-F238E27FC236}">
                <a16:creationId xmlns:a16="http://schemas.microsoft.com/office/drawing/2014/main" id="{8C26FA7C-2DB4-43CC-BFBC-423D505FD856}"/>
              </a:ext>
            </a:extLst>
          </p:cNvPr>
          <p:cNvSpPr>
            <a:spLocks noChangeArrowheads="1"/>
          </p:cNvSpPr>
          <p:nvPr/>
        </p:nvSpPr>
        <p:spPr bwMode="auto">
          <a:xfrm>
            <a:off x="1703512" y="692151"/>
            <a:ext cx="8784976" cy="574675"/>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lang="zh-CN" altLang="en-US" dirty="0">
                <a:solidFill>
                  <a:schemeClr val="bg1"/>
                </a:solidFill>
                <a:latin typeface="Times New Roman" panose="02020603050405020304" pitchFamily="18" charset="0"/>
                <a:ea typeface="黑体" panose="02010609060101010101" pitchFamily="49" charset="-122"/>
              </a:rPr>
              <a:t>二</a:t>
            </a:r>
            <a:r>
              <a:rPr lang="zh-CN" altLang="en-US" b="1" dirty="0">
                <a:solidFill>
                  <a:schemeClr val="bg1"/>
                </a:solidFill>
                <a:latin typeface="Times New Roman" panose="02020603050405020304" pitchFamily="18" charset="0"/>
                <a:ea typeface="黑体" panose="02010609060101010101" pitchFamily="49" charset="-122"/>
              </a:rPr>
              <a:t>、</a:t>
            </a:r>
            <a:r>
              <a:rPr lang="zh-CN" altLang="en-US" dirty="0">
                <a:solidFill>
                  <a:schemeClr val="bg1"/>
                </a:solidFill>
                <a:latin typeface="Times New Roman" panose="02020603050405020304" pitchFamily="18" charset="0"/>
                <a:ea typeface="黑体" panose="02010609060101010101" pitchFamily="49" charset="-122"/>
              </a:rPr>
              <a:t> 酶含量的调节是对酶促反应速率的缓慢调节</a:t>
            </a:r>
          </a:p>
        </p:txBody>
      </p:sp>
      <p:sp>
        <p:nvSpPr>
          <p:cNvPr id="1477636" name="Rectangle 4">
            <a:extLst>
              <a:ext uri="{FF2B5EF4-FFF2-40B4-BE49-F238E27FC236}">
                <a16:creationId xmlns:a16="http://schemas.microsoft.com/office/drawing/2014/main" id="{3303DD66-EFC5-43D4-828E-E99D63CDD34C}"/>
              </a:ext>
            </a:extLst>
          </p:cNvPr>
          <p:cNvSpPr>
            <a:spLocks noChangeArrowheads="1"/>
          </p:cNvSpPr>
          <p:nvPr/>
        </p:nvSpPr>
        <p:spPr bwMode="auto">
          <a:xfrm>
            <a:off x="2099556" y="3356992"/>
            <a:ext cx="8784976" cy="3096344"/>
          </a:xfrm>
          <a:prstGeom prst="rect">
            <a:avLst/>
          </a:prstGeom>
          <a:noFill/>
          <a:ln w="9525" algn="ctr">
            <a:noFill/>
            <a:miter lim="800000"/>
            <a:headEnd/>
            <a:tailEnd/>
          </a:ln>
          <a:effectLst/>
        </p:spPr>
        <p:txBody>
          <a:bodyPr/>
          <a:lstStyle/>
          <a:p>
            <a:pPr marL="342900" indent="-342900" eaLnBrk="1" hangingPunct="1">
              <a:lnSpc>
                <a:spcPct val="120000"/>
              </a:lnSpc>
              <a:spcBef>
                <a:spcPct val="20000"/>
              </a:spcBef>
              <a:buClr>
                <a:srgbClr val="0000FF"/>
              </a:buClr>
              <a:buFont typeface="Wingdings" panose="05000000000000000000" pitchFamily="2" charset="2"/>
              <a:buChar char="l"/>
              <a:defRPr/>
            </a:pPr>
            <a:r>
              <a:rPr lang="zh-CN" altLang="en-US" sz="2400" dirty="0">
                <a:latin typeface="Times New Roman" pitchFamily="18" charset="0"/>
                <a:ea typeface="黑体" pitchFamily="49" charset="-122"/>
              </a:rPr>
              <a:t>酶合成的诱导与阻遏是一种</a:t>
            </a:r>
            <a:r>
              <a:rPr lang="zh-CN" altLang="en-US" sz="2400" dirty="0">
                <a:solidFill>
                  <a:srgbClr val="0000FF"/>
                </a:solidFill>
                <a:latin typeface="Times New Roman" pitchFamily="18" charset="0"/>
                <a:ea typeface="黑体" pitchFamily="49" charset="-122"/>
              </a:rPr>
              <a:t>缓慢而长效的调节</a:t>
            </a:r>
            <a:r>
              <a:rPr lang="zh-CN" altLang="en-US" sz="2400" dirty="0">
                <a:latin typeface="Times New Roman" pitchFamily="18" charset="0"/>
                <a:ea typeface="黑体" pitchFamily="49" charset="-122"/>
              </a:rPr>
              <a:t>。比如：</a:t>
            </a:r>
            <a:endParaRPr lang="en-US" altLang="zh-CN" sz="2400" dirty="0">
              <a:latin typeface="Times New Roman" pitchFamily="18" charset="0"/>
              <a:ea typeface="黑体" pitchFamily="49" charset="-122"/>
            </a:endParaRPr>
          </a:p>
          <a:p>
            <a:pPr marL="457200" indent="-457200" eaLnBrk="1" hangingPunct="1">
              <a:lnSpc>
                <a:spcPct val="120000"/>
              </a:lnSpc>
              <a:spcBef>
                <a:spcPct val="20000"/>
              </a:spcBef>
              <a:buClr>
                <a:srgbClr val="0000FF"/>
              </a:buClr>
              <a:buFont typeface="+mj-lt"/>
              <a:buAutoNum type="arabicPeriod"/>
              <a:defRPr/>
            </a:pPr>
            <a:r>
              <a:rPr lang="zh-CN" altLang="en-US" sz="2400" dirty="0">
                <a:latin typeface="Times New Roman" pitchFamily="18" charset="0"/>
                <a:ea typeface="黑体" pitchFamily="49" charset="-122"/>
              </a:rPr>
              <a:t>胰岛素可诱导合成</a:t>
            </a:r>
            <a:r>
              <a:rPr lang="en-US" altLang="zh-CN" sz="2400" dirty="0">
                <a:latin typeface="Times New Roman" pitchFamily="18" charset="0"/>
                <a:ea typeface="黑体" pitchFamily="49" charset="-122"/>
              </a:rPr>
              <a:t>HMG-CoA</a:t>
            </a:r>
            <a:r>
              <a:rPr lang="zh-CN" altLang="en-US" sz="2400" dirty="0">
                <a:latin typeface="Times New Roman" pitchFamily="18" charset="0"/>
                <a:ea typeface="黑体" pitchFamily="49" charset="-122"/>
              </a:rPr>
              <a:t>还原酶，促进体内胆固醇合成，而胆固醇则阻遏</a:t>
            </a:r>
            <a:r>
              <a:rPr lang="en-US" altLang="zh-CN" sz="2400" dirty="0">
                <a:latin typeface="Times New Roman" pitchFamily="18" charset="0"/>
                <a:ea typeface="黑体" pitchFamily="49" charset="-122"/>
              </a:rPr>
              <a:t>HMG-CoA </a:t>
            </a:r>
            <a:r>
              <a:rPr lang="zh-CN" altLang="en-US" sz="2400" dirty="0">
                <a:latin typeface="Times New Roman" pitchFamily="18" charset="0"/>
                <a:ea typeface="黑体" pitchFamily="49" charset="-122"/>
              </a:rPr>
              <a:t>还原酶的合成；</a:t>
            </a:r>
            <a:endParaRPr lang="en-US" altLang="zh-CN" sz="2400" dirty="0">
              <a:latin typeface="Times New Roman" pitchFamily="18" charset="0"/>
              <a:ea typeface="黑体" pitchFamily="49" charset="-122"/>
            </a:endParaRPr>
          </a:p>
          <a:p>
            <a:pPr marL="457200" indent="-457200" eaLnBrk="1" hangingPunct="1">
              <a:lnSpc>
                <a:spcPct val="120000"/>
              </a:lnSpc>
              <a:spcBef>
                <a:spcPct val="20000"/>
              </a:spcBef>
              <a:buClr>
                <a:srgbClr val="0000FF"/>
              </a:buClr>
              <a:buFont typeface="+mj-lt"/>
              <a:buAutoNum type="arabicPeriod"/>
              <a:defRPr/>
            </a:pPr>
            <a:r>
              <a:rPr lang="zh-CN" altLang="en-US" sz="2400" dirty="0">
                <a:latin typeface="Times New Roman" pitchFamily="18" charset="0"/>
                <a:ea typeface="黑体" pitchFamily="49" charset="-122"/>
              </a:rPr>
              <a:t>糖皮质激素可诱导磷酸烯醇式丙酮酸羧激酶的合成，促进糖异生而升高血糖。</a:t>
            </a:r>
            <a:endParaRPr lang="en-US" altLang="zh-CN" sz="2400" dirty="0">
              <a:latin typeface="Times New Roman" pitchFamily="18" charset="0"/>
              <a:ea typeface="黑体" pitchFamily="49" charset="-122"/>
            </a:endParaRPr>
          </a:p>
          <a:p>
            <a:pPr marL="457200" indent="-457200" eaLnBrk="1" hangingPunct="1">
              <a:lnSpc>
                <a:spcPct val="120000"/>
              </a:lnSpc>
              <a:spcBef>
                <a:spcPct val="20000"/>
              </a:spcBef>
              <a:buClr>
                <a:srgbClr val="0000FF"/>
              </a:buClr>
              <a:buFont typeface="+mj-lt"/>
              <a:buAutoNum type="arabicPeriod"/>
              <a:defRPr/>
            </a:pPr>
            <a:r>
              <a:rPr lang="zh-CN" altLang="en-US" sz="2400" dirty="0">
                <a:latin typeface="Times New Roman" pitchFamily="18" charset="0"/>
                <a:ea typeface="黑体" pitchFamily="49" charset="-122"/>
              </a:rPr>
              <a:t>镇静催眠类药物苯巴比妥可诱导肝微粒体单加氧酶合成。</a:t>
            </a:r>
            <a:endParaRPr lang="zh-CN" altLang="en-US" sz="2400" dirty="0">
              <a:effectLst>
                <a:outerShdw blurRad="38100" dist="38100" dir="2700000" algn="tl">
                  <a:srgbClr val="C0C0C0"/>
                </a:outerShdw>
              </a:effectLst>
              <a:latin typeface="Times New Roman" pitchFamily="18" charset="0"/>
              <a:ea typeface="黑体"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77634">
                                            <p:txEl>
                                              <p:pRg st="1" end="1"/>
                                            </p:txEl>
                                          </p:spTgt>
                                        </p:tgtEl>
                                        <p:attrNameLst>
                                          <p:attrName>style.visibility</p:attrName>
                                        </p:attrNameLst>
                                      </p:cBhvr>
                                      <p:to>
                                        <p:strVal val="visible"/>
                                      </p:to>
                                    </p:set>
                                    <p:animEffect transition="in" filter="dissolve">
                                      <p:cBhvr>
                                        <p:cTn id="7" dur="500"/>
                                        <p:tgtEl>
                                          <p:spTgt spid="1477634">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477634">
                                            <p:txEl>
                                              <p:pRg st="2" end="2"/>
                                            </p:txEl>
                                          </p:spTgt>
                                        </p:tgtEl>
                                        <p:attrNameLst>
                                          <p:attrName>style.visibility</p:attrName>
                                        </p:attrNameLst>
                                      </p:cBhvr>
                                      <p:to>
                                        <p:strVal val="visible"/>
                                      </p:to>
                                    </p:set>
                                    <p:animEffect transition="in" filter="dissolve">
                                      <p:cBhvr>
                                        <p:cTn id="10" dur="500"/>
                                        <p:tgtEl>
                                          <p:spTgt spid="147763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477636">
                                            <p:txEl>
                                              <p:pRg st="0" end="0"/>
                                            </p:txEl>
                                          </p:spTgt>
                                        </p:tgtEl>
                                        <p:attrNameLst>
                                          <p:attrName>style.visibility</p:attrName>
                                        </p:attrNameLst>
                                      </p:cBhvr>
                                      <p:to>
                                        <p:strVal val="visible"/>
                                      </p:to>
                                    </p:set>
                                    <p:animEffect transition="in" filter="blinds(horizontal)">
                                      <p:cBhvr>
                                        <p:cTn id="15" dur="500"/>
                                        <p:tgtEl>
                                          <p:spTgt spid="147763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477636">
                                            <p:txEl>
                                              <p:pRg st="1" end="1"/>
                                            </p:txEl>
                                          </p:spTgt>
                                        </p:tgtEl>
                                        <p:attrNameLst>
                                          <p:attrName>style.visibility</p:attrName>
                                        </p:attrNameLst>
                                      </p:cBhvr>
                                      <p:to>
                                        <p:strVal val="visible"/>
                                      </p:to>
                                    </p:set>
                                    <p:animEffect transition="in" filter="blinds(horizontal)">
                                      <p:cBhvr>
                                        <p:cTn id="20" dur="500"/>
                                        <p:tgtEl>
                                          <p:spTgt spid="147763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477636">
                                            <p:txEl>
                                              <p:pRg st="2" end="2"/>
                                            </p:txEl>
                                          </p:spTgt>
                                        </p:tgtEl>
                                        <p:attrNameLst>
                                          <p:attrName>style.visibility</p:attrName>
                                        </p:attrNameLst>
                                      </p:cBhvr>
                                      <p:to>
                                        <p:strVal val="visible"/>
                                      </p:to>
                                    </p:set>
                                    <p:animEffect transition="in" filter="blinds(horizontal)">
                                      <p:cBhvr>
                                        <p:cTn id="25" dur="500"/>
                                        <p:tgtEl>
                                          <p:spTgt spid="1477636">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477636">
                                            <p:txEl>
                                              <p:pRg st="3" end="3"/>
                                            </p:txEl>
                                          </p:spTgt>
                                        </p:tgtEl>
                                        <p:attrNameLst>
                                          <p:attrName>style.visibility</p:attrName>
                                        </p:attrNameLst>
                                      </p:cBhvr>
                                      <p:to>
                                        <p:strVal val="visible"/>
                                      </p:to>
                                    </p:set>
                                    <p:animEffect transition="in" filter="blinds(horizontal)">
                                      <p:cBhvr>
                                        <p:cTn id="30" dur="500"/>
                                        <p:tgtEl>
                                          <p:spTgt spid="147763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7636" grpId="0" build="p"/>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CD6EE6C-FE97-8A42-7306-985648265416}"/>
              </a:ext>
            </a:extLst>
          </p:cNvPr>
          <p:cNvSpPr>
            <a:spLocks noChangeArrowheads="1"/>
          </p:cNvSpPr>
          <p:nvPr/>
        </p:nvSpPr>
        <p:spPr bwMode="auto">
          <a:xfrm>
            <a:off x="2495601" y="2132856"/>
            <a:ext cx="7560840" cy="3312368"/>
          </a:xfrm>
          <a:prstGeom prst="rect">
            <a:avLst/>
          </a:prstGeom>
          <a:noFill/>
          <a:ln w="9525" algn="ctr">
            <a:noFill/>
            <a:miter lim="800000"/>
            <a:headEnd/>
            <a:tailEnd/>
          </a:ln>
          <a:effectLst/>
        </p:spPr>
        <p:txBody>
          <a:bodyPr/>
          <a:lstStyle/>
          <a:p>
            <a:pPr marL="342900" indent="-342900" eaLnBrk="1" hangingPunct="1">
              <a:lnSpc>
                <a:spcPct val="140000"/>
              </a:lnSpc>
              <a:spcBef>
                <a:spcPct val="20000"/>
              </a:spcBef>
              <a:buClr>
                <a:srgbClr val="0000FF"/>
              </a:buClr>
              <a:buFont typeface="Wingdings" pitchFamily="2" charset="2"/>
              <a:buChar char="Ø"/>
              <a:defRPr/>
            </a:pPr>
            <a:r>
              <a:rPr lang="zh-CN" altLang="en-US" sz="2800" dirty="0">
                <a:solidFill>
                  <a:srgbClr val="0000FF"/>
                </a:solidFill>
                <a:latin typeface="Times New Roman" pitchFamily="18" charset="0"/>
                <a:ea typeface="黑体" pitchFamily="49" charset="-122"/>
              </a:rPr>
              <a:t>溶酶体蛋白酶降解途径</a:t>
            </a:r>
            <a:endParaRPr lang="en-US" altLang="zh-CN" sz="2800" dirty="0">
              <a:solidFill>
                <a:srgbClr val="0000FF"/>
              </a:solidFill>
              <a:latin typeface="Times New Roman" pitchFamily="18" charset="0"/>
              <a:ea typeface="黑体" pitchFamily="49" charset="-122"/>
            </a:endParaRPr>
          </a:p>
          <a:p>
            <a:pPr eaLnBrk="1" hangingPunct="1">
              <a:lnSpc>
                <a:spcPct val="140000"/>
              </a:lnSpc>
              <a:spcBef>
                <a:spcPct val="20000"/>
              </a:spcBef>
              <a:buClr>
                <a:srgbClr val="0000FF"/>
              </a:buClr>
              <a:defRPr/>
            </a:pPr>
            <a:r>
              <a:rPr lang="zh-CN" altLang="en-US" sz="2800" dirty="0">
                <a:latin typeface="Times New Roman" pitchFamily="18" charset="0"/>
                <a:ea typeface="黑体" pitchFamily="49" charset="-122"/>
              </a:rPr>
              <a:t>   </a:t>
            </a:r>
            <a:r>
              <a:rPr lang="zh-CN" altLang="en-US" sz="2600" dirty="0">
                <a:latin typeface="Times New Roman" pitchFamily="18" charset="0"/>
                <a:ea typeface="黑体" pitchFamily="49" charset="-122"/>
              </a:rPr>
              <a:t>膜结合蛋白、长半衰期蛋白和细胞外的蛋白</a:t>
            </a:r>
          </a:p>
          <a:p>
            <a:pPr marL="342900" indent="-342900" eaLnBrk="1" hangingPunct="1">
              <a:lnSpc>
                <a:spcPct val="140000"/>
              </a:lnSpc>
              <a:spcBef>
                <a:spcPct val="20000"/>
              </a:spcBef>
              <a:buClr>
                <a:srgbClr val="0000FF"/>
              </a:buClr>
              <a:buFont typeface="Wingdings" pitchFamily="2" charset="2"/>
              <a:buChar char="Ø"/>
              <a:defRPr/>
            </a:pPr>
            <a:r>
              <a:rPr lang="zh-CN" altLang="en-US" sz="2800" dirty="0">
                <a:solidFill>
                  <a:srgbClr val="0000FF"/>
                </a:solidFill>
                <a:latin typeface="Times New Roman" pitchFamily="18" charset="0"/>
                <a:ea typeface="黑体" pitchFamily="49" charset="-122"/>
              </a:rPr>
              <a:t>泛素介导的蛋白酶降解途径</a:t>
            </a:r>
            <a:endParaRPr lang="en-US" altLang="zh-CN" sz="2800" dirty="0">
              <a:solidFill>
                <a:srgbClr val="0000FF"/>
              </a:solidFill>
              <a:latin typeface="Times New Roman" pitchFamily="18" charset="0"/>
              <a:ea typeface="黑体" pitchFamily="49" charset="-122"/>
            </a:endParaRPr>
          </a:p>
          <a:p>
            <a:pPr eaLnBrk="1" hangingPunct="1">
              <a:lnSpc>
                <a:spcPct val="140000"/>
              </a:lnSpc>
              <a:spcBef>
                <a:spcPct val="20000"/>
              </a:spcBef>
              <a:buClr>
                <a:srgbClr val="0000FF"/>
              </a:buClr>
              <a:defRPr/>
            </a:pPr>
            <a:r>
              <a:rPr lang="zh-CN" altLang="en-US" sz="2800" dirty="0">
                <a:effectLst>
                  <a:outerShdw blurRad="38100" dist="38100" dir="2700000" algn="tl">
                    <a:srgbClr val="C0C0C0"/>
                  </a:outerShdw>
                </a:effectLst>
                <a:latin typeface="Times New Roman" pitchFamily="18" charset="0"/>
                <a:ea typeface="黑体" pitchFamily="49" charset="-122"/>
              </a:rPr>
              <a:t>  </a:t>
            </a:r>
            <a:r>
              <a:rPr lang="zh-CN" altLang="en-US" sz="2600" dirty="0">
                <a:latin typeface="Times New Roman" pitchFamily="18" charset="0"/>
                <a:ea typeface="黑体" pitchFamily="49" charset="-122"/>
              </a:rPr>
              <a:t>异常或损伤的蛋白质，以及几乎所有短半衰期（</a:t>
            </a:r>
            <a:r>
              <a:rPr lang="en-US" altLang="zh-CN" sz="2600" dirty="0">
                <a:latin typeface="Times New Roman" pitchFamily="18" charset="0"/>
                <a:ea typeface="黑体" pitchFamily="49" charset="-122"/>
              </a:rPr>
              <a:t>10 </a:t>
            </a:r>
            <a:r>
              <a:rPr lang="zh-CN" altLang="en-US" sz="2600" dirty="0">
                <a:latin typeface="Times New Roman" pitchFamily="18" charset="0"/>
                <a:ea typeface="黑体" pitchFamily="49" charset="-122"/>
              </a:rPr>
              <a:t>分钟至</a:t>
            </a:r>
            <a:r>
              <a:rPr lang="en-US" altLang="zh-CN" sz="2600" dirty="0">
                <a:latin typeface="Times New Roman" pitchFamily="18" charset="0"/>
                <a:ea typeface="黑体" pitchFamily="49" charset="-122"/>
              </a:rPr>
              <a:t>2 </a:t>
            </a:r>
            <a:r>
              <a:rPr lang="zh-CN" altLang="en-US" sz="2600" dirty="0">
                <a:latin typeface="Times New Roman" pitchFamily="18" charset="0"/>
                <a:ea typeface="黑体" pitchFamily="49" charset="-122"/>
              </a:rPr>
              <a:t>小时）的蛋白质。</a:t>
            </a:r>
          </a:p>
        </p:txBody>
      </p:sp>
      <p:sp>
        <p:nvSpPr>
          <p:cNvPr id="3" name="Rectangle 5">
            <a:extLst>
              <a:ext uri="{FF2B5EF4-FFF2-40B4-BE49-F238E27FC236}">
                <a16:creationId xmlns:a16="http://schemas.microsoft.com/office/drawing/2014/main" id="{BA96DBE4-7B09-7B00-7C70-ABACAEAEB136}"/>
              </a:ext>
            </a:extLst>
          </p:cNvPr>
          <p:cNvSpPr>
            <a:spLocks noChangeArrowheads="1"/>
          </p:cNvSpPr>
          <p:nvPr/>
        </p:nvSpPr>
        <p:spPr bwMode="auto">
          <a:xfrm>
            <a:off x="2279576" y="1268760"/>
            <a:ext cx="7776864" cy="626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20000"/>
              </a:lnSpc>
              <a:buFontTx/>
              <a:buNone/>
            </a:pPr>
            <a:r>
              <a:rPr lang="en-US" altLang="zh-CN" dirty="0">
                <a:solidFill>
                  <a:srgbClr val="0000CC"/>
                </a:solidFill>
                <a:latin typeface="Times New Roman" panose="02020603050405020304" pitchFamily="18" charset="0"/>
                <a:ea typeface="黑体" panose="02010609060101010101" pitchFamily="49" charset="-122"/>
              </a:rPr>
              <a:t>2. </a:t>
            </a:r>
            <a:r>
              <a:rPr lang="zh-CN" altLang="en-US" dirty="0">
                <a:solidFill>
                  <a:srgbClr val="0000CC"/>
                </a:solidFill>
                <a:latin typeface="Times New Roman" panose="02020603050405020304" pitchFamily="18" charset="0"/>
                <a:ea typeface="黑体" panose="02010609060101010101" pitchFamily="49" charset="-122"/>
              </a:rPr>
              <a:t>酶的降解与一般蛋白质降解途径相同</a:t>
            </a:r>
          </a:p>
        </p:txBody>
      </p:sp>
    </p:spTree>
    <p:extLst>
      <p:ext uri="{BB962C8B-B14F-4D97-AF65-F5344CB8AC3E}">
        <p14:creationId xmlns:p14="http://schemas.microsoft.com/office/powerpoint/2010/main" val="232994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blinds(horizontal)">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blinds(horizontal)">
                                      <p:cBhvr>
                                        <p:cTn id="21"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a:extLst>
              <a:ext uri="{FF2B5EF4-FFF2-40B4-BE49-F238E27FC236}">
                <a16:creationId xmlns:a16="http://schemas.microsoft.com/office/drawing/2014/main" id="{671C69FE-5D11-4A6B-804C-5E47E1A491BC}"/>
              </a:ext>
            </a:extLst>
          </p:cNvPr>
          <p:cNvSpPr>
            <a:spLocks noGrp="1" noChangeArrowheads="1"/>
          </p:cNvSpPr>
          <p:nvPr>
            <p:ph type="body" idx="1"/>
          </p:nvPr>
        </p:nvSpPr>
        <p:spPr>
          <a:xfrm>
            <a:off x="2220914" y="2136775"/>
            <a:ext cx="3165475" cy="2592388"/>
          </a:xfrm>
        </p:spPr>
        <p:txBody>
          <a:bodyPr/>
          <a:lstStyle/>
          <a:p>
            <a:pPr eaLnBrk="1" hangingPunct="1">
              <a:lnSpc>
                <a:spcPct val="90000"/>
              </a:lnSpc>
            </a:pPr>
            <a:r>
              <a:rPr lang="zh-CN" altLang="en-US" b="0">
                <a:solidFill>
                  <a:srgbClr val="0000FF"/>
                </a:solidFill>
                <a:latin typeface="Times New Roman" panose="02020603050405020304" pitchFamily="18" charset="0"/>
                <a:ea typeface="黑体" panose="02010609060101010101" pitchFamily="49" charset="-122"/>
              </a:rPr>
              <a:t>酶</a:t>
            </a:r>
            <a:r>
              <a:rPr lang="zh-CN" altLang="en-US" b="0" u="sng">
                <a:solidFill>
                  <a:srgbClr val="FF0000"/>
                </a:solidFill>
                <a:latin typeface="Times New Roman" panose="02020603050405020304" pitchFamily="18" charset="0"/>
                <a:ea typeface="黑体" panose="02010609060101010101" pitchFamily="49" charset="-122"/>
              </a:rPr>
              <a:t>活性</a:t>
            </a:r>
            <a:r>
              <a:rPr lang="zh-CN" altLang="en-US" b="0">
                <a:solidFill>
                  <a:srgbClr val="0000FF"/>
                </a:solidFill>
                <a:latin typeface="Times New Roman" panose="02020603050405020304" pitchFamily="18" charset="0"/>
                <a:ea typeface="黑体" panose="02010609060101010101" pitchFamily="49" charset="-122"/>
              </a:rPr>
              <a:t>的调节</a:t>
            </a:r>
            <a:r>
              <a:rPr lang="en-US" altLang="zh-CN" b="0">
                <a:solidFill>
                  <a:srgbClr val="0000FF"/>
                </a:solidFill>
                <a:latin typeface="Times New Roman" panose="02020603050405020304" pitchFamily="18" charset="0"/>
                <a:ea typeface="黑体" panose="02010609060101010101" pitchFamily="49" charset="-122"/>
              </a:rPr>
              <a:t>(</a:t>
            </a:r>
            <a:r>
              <a:rPr lang="zh-CN" altLang="en-US" b="0">
                <a:solidFill>
                  <a:srgbClr val="0000FF"/>
                </a:solidFill>
                <a:latin typeface="Times New Roman" panose="02020603050405020304" pitchFamily="18" charset="0"/>
                <a:ea typeface="黑体" panose="02010609060101010101" pitchFamily="49" charset="-122"/>
              </a:rPr>
              <a:t>快速调节）</a:t>
            </a:r>
          </a:p>
          <a:p>
            <a:pPr eaLnBrk="1" hangingPunct="1">
              <a:lnSpc>
                <a:spcPct val="90000"/>
              </a:lnSpc>
              <a:buFontTx/>
              <a:buNone/>
            </a:pPr>
            <a:endParaRPr lang="en-US" altLang="zh-CN" b="0">
              <a:solidFill>
                <a:srgbClr val="FF3300"/>
              </a:solidFill>
              <a:latin typeface="Times New Roman" panose="02020603050405020304" pitchFamily="18" charset="0"/>
              <a:ea typeface="黑体" panose="02010609060101010101" pitchFamily="49" charset="-122"/>
            </a:endParaRPr>
          </a:p>
          <a:p>
            <a:pPr eaLnBrk="1" hangingPunct="1">
              <a:lnSpc>
                <a:spcPct val="90000"/>
              </a:lnSpc>
              <a:buFontTx/>
              <a:buNone/>
            </a:pPr>
            <a:endParaRPr lang="zh-CN" altLang="en-US" b="0">
              <a:solidFill>
                <a:srgbClr val="FF3300"/>
              </a:solidFill>
              <a:latin typeface="Times New Roman" panose="02020603050405020304" pitchFamily="18" charset="0"/>
              <a:ea typeface="黑体" panose="02010609060101010101" pitchFamily="49" charset="-122"/>
            </a:endParaRPr>
          </a:p>
          <a:p>
            <a:pPr eaLnBrk="1" hangingPunct="1">
              <a:lnSpc>
                <a:spcPct val="90000"/>
              </a:lnSpc>
            </a:pPr>
            <a:r>
              <a:rPr lang="zh-CN" altLang="en-US" b="0">
                <a:solidFill>
                  <a:srgbClr val="0000FF"/>
                </a:solidFill>
                <a:latin typeface="Times New Roman" panose="02020603050405020304" pitchFamily="18" charset="0"/>
                <a:ea typeface="黑体" panose="02010609060101010101" pitchFamily="49" charset="-122"/>
              </a:rPr>
              <a:t>酶</a:t>
            </a:r>
            <a:r>
              <a:rPr lang="zh-CN" altLang="en-US" b="0" u="sng">
                <a:solidFill>
                  <a:srgbClr val="FF0000"/>
                </a:solidFill>
                <a:latin typeface="Times New Roman" panose="02020603050405020304" pitchFamily="18" charset="0"/>
                <a:ea typeface="黑体" panose="02010609060101010101" pitchFamily="49" charset="-122"/>
              </a:rPr>
              <a:t>含量</a:t>
            </a:r>
            <a:r>
              <a:rPr lang="zh-CN" altLang="en-US" b="0">
                <a:solidFill>
                  <a:srgbClr val="0000FF"/>
                </a:solidFill>
                <a:latin typeface="Times New Roman" panose="02020603050405020304" pitchFamily="18" charset="0"/>
                <a:ea typeface="黑体" panose="02010609060101010101" pitchFamily="49" charset="-122"/>
              </a:rPr>
              <a:t>的调节</a:t>
            </a:r>
            <a:r>
              <a:rPr lang="en-US" altLang="zh-CN" b="0">
                <a:solidFill>
                  <a:srgbClr val="0000FF"/>
                </a:solidFill>
                <a:latin typeface="Times New Roman" panose="02020603050405020304" pitchFamily="18" charset="0"/>
                <a:ea typeface="黑体" panose="02010609060101010101" pitchFamily="49" charset="-122"/>
              </a:rPr>
              <a:t>(</a:t>
            </a:r>
            <a:r>
              <a:rPr lang="zh-CN" altLang="en-US" b="0">
                <a:solidFill>
                  <a:srgbClr val="0000FF"/>
                </a:solidFill>
                <a:latin typeface="Times New Roman" panose="02020603050405020304" pitchFamily="18" charset="0"/>
                <a:ea typeface="黑体" panose="02010609060101010101" pitchFamily="49" charset="-122"/>
              </a:rPr>
              <a:t>慢调节）</a:t>
            </a:r>
            <a:endParaRPr lang="zh-CN" altLang="en-US" b="0">
              <a:solidFill>
                <a:srgbClr val="FFFF00"/>
              </a:solidFill>
              <a:latin typeface="Times New Roman" panose="02020603050405020304" pitchFamily="18" charset="0"/>
              <a:ea typeface="黑体" panose="02010609060101010101" pitchFamily="49" charset="-122"/>
            </a:endParaRPr>
          </a:p>
        </p:txBody>
      </p:sp>
      <p:sp>
        <p:nvSpPr>
          <p:cNvPr id="1479683" name="AutoShape 3">
            <a:extLst>
              <a:ext uri="{FF2B5EF4-FFF2-40B4-BE49-F238E27FC236}">
                <a16:creationId xmlns:a16="http://schemas.microsoft.com/office/drawing/2014/main" id="{0327B6E9-4702-4361-9D7B-895819C941F9}"/>
              </a:ext>
            </a:extLst>
          </p:cNvPr>
          <p:cNvSpPr>
            <a:spLocks/>
          </p:cNvSpPr>
          <p:nvPr/>
        </p:nvSpPr>
        <p:spPr bwMode="auto">
          <a:xfrm>
            <a:off x="5386389" y="1922464"/>
            <a:ext cx="204787" cy="1578545"/>
          </a:xfrm>
          <a:prstGeom prst="leftBrace">
            <a:avLst>
              <a:gd name="adj1" fmla="val 5284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1479684" name="Text Box 4">
            <a:extLst>
              <a:ext uri="{FF2B5EF4-FFF2-40B4-BE49-F238E27FC236}">
                <a16:creationId xmlns:a16="http://schemas.microsoft.com/office/drawing/2014/main" id="{9C1D85A8-DAC0-4E93-B9A7-16DF7A8E0296}"/>
              </a:ext>
            </a:extLst>
          </p:cNvPr>
          <p:cNvSpPr txBox="1">
            <a:spLocks noChangeArrowheads="1"/>
          </p:cNvSpPr>
          <p:nvPr/>
        </p:nvSpPr>
        <p:spPr bwMode="auto">
          <a:xfrm>
            <a:off x="5818189" y="1780875"/>
            <a:ext cx="388937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lang="zh-CN" altLang="en-US" sz="2800" dirty="0">
                <a:latin typeface="Times New Roman" panose="02020603050405020304" pitchFamily="18" charset="0"/>
                <a:ea typeface="黑体" panose="02010609060101010101" pitchFamily="49" charset="-122"/>
              </a:rPr>
              <a:t>酶原激活</a:t>
            </a:r>
          </a:p>
          <a:p>
            <a:pPr eaLnBrk="1" hangingPunct="1">
              <a:spcBef>
                <a:spcPct val="50000"/>
              </a:spcBef>
              <a:buFontTx/>
              <a:buNone/>
            </a:pPr>
            <a:r>
              <a:rPr lang="zh-CN" altLang="en-US" sz="2800" dirty="0">
                <a:latin typeface="Times New Roman" panose="02020603050405020304" pitchFamily="18" charset="0"/>
                <a:ea typeface="黑体" panose="02010609060101010101" pitchFamily="49" charset="-122"/>
              </a:rPr>
              <a:t>别构调节</a:t>
            </a:r>
          </a:p>
          <a:p>
            <a:pPr eaLnBrk="1" hangingPunct="1">
              <a:spcBef>
                <a:spcPct val="50000"/>
              </a:spcBef>
              <a:buFontTx/>
              <a:buNone/>
            </a:pPr>
            <a:r>
              <a:rPr lang="zh-CN" altLang="en-US" sz="2800" dirty="0">
                <a:latin typeface="Times New Roman" panose="02020603050405020304" pitchFamily="18" charset="0"/>
                <a:ea typeface="黑体" panose="02010609060101010101" pitchFamily="49" charset="-122"/>
              </a:rPr>
              <a:t>共价修饰调节</a:t>
            </a:r>
            <a:endParaRPr lang="en-US" altLang="zh-CN" sz="2800" dirty="0">
              <a:latin typeface="Times New Roman" panose="02020603050405020304" pitchFamily="18" charset="0"/>
              <a:ea typeface="黑体" panose="02010609060101010101" pitchFamily="49" charset="-122"/>
            </a:endParaRPr>
          </a:p>
        </p:txBody>
      </p:sp>
      <p:sp>
        <p:nvSpPr>
          <p:cNvPr id="1479685" name="Text Box 5">
            <a:extLst>
              <a:ext uri="{FF2B5EF4-FFF2-40B4-BE49-F238E27FC236}">
                <a16:creationId xmlns:a16="http://schemas.microsoft.com/office/drawing/2014/main" id="{8B4B8485-6662-46D7-8E8F-346AE059F8C1}"/>
              </a:ext>
            </a:extLst>
          </p:cNvPr>
          <p:cNvSpPr txBox="1">
            <a:spLocks noChangeArrowheads="1"/>
          </p:cNvSpPr>
          <p:nvPr/>
        </p:nvSpPr>
        <p:spPr bwMode="auto">
          <a:xfrm>
            <a:off x="5818188" y="4154489"/>
            <a:ext cx="4310062"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FontTx/>
              <a:buNone/>
            </a:pPr>
            <a:r>
              <a:rPr lang="zh-CN" altLang="en-US" sz="2800">
                <a:latin typeface="Times New Roman" panose="02020603050405020304" pitchFamily="18" charset="0"/>
                <a:ea typeface="黑体" panose="02010609060101010101" pitchFamily="49" charset="-122"/>
              </a:rPr>
              <a:t>酶蛋白合成的诱导与阻遏</a:t>
            </a:r>
          </a:p>
          <a:p>
            <a:pPr eaLnBrk="1" hangingPunct="1">
              <a:lnSpc>
                <a:spcPct val="90000"/>
              </a:lnSpc>
              <a:spcBef>
                <a:spcPct val="50000"/>
              </a:spcBef>
              <a:buFontTx/>
              <a:buNone/>
            </a:pPr>
            <a:r>
              <a:rPr lang="zh-CN" altLang="en-US" sz="2800">
                <a:latin typeface="Times New Roman" panose="02020603050405020304" pitchFamily="18" charset="0"/>
                <a:ea typeface="黑体" panose="02010609060101010101" pitchFamily="49" charset="-122"/>
              </a:rPr>
              <a:t>酶降解的调控</a:t>
            </a:r>
          </a:p>
        </p:txBody>
      </p:sp>
      <p:sp>
        <p:nvSpPr>
          <p:cNvPr id="1479686" name="AutoShape 6">
            <a:extLst>
              <a:ext uri="{FF2B5EF4-FFF2-40B4-BE49-F238E27FC236}">
                <a16:creationId xmlns:a16="http://schemas.microsoft.com/office/drawing/2014/main" id="{2320A1E2-64E4-4687-A612-6B641A291F98}"/>
              </a:ext>
            </a:extLst>
          </p:cNvPr>
          <p:cNvSpPr>
            <a:spLocks/>
          </p:cNvSpPr>
          <p:nvPr/>
        </p:nvSpPr>
        <p:spPr bwMode="auto">
          <a:xfrm>
            <a:off x="5386388" y="4225925"/>
            <a:ext cx="215900" cy="909638"/>
          </a:xfrm>
          <a:prstGeom prst="leftBrace">
            <a:avLst>
              <a:gd name="adj1" fmla="val 35110"/>
              <a:gd name="adj2" fmla="val 47644"/>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endParaRPr lang="zh-CN" altLang="en-US" sz="1800"/>
          </a:p>
        </p:txBody>
      </p:sp>
      <p:sp>
        <p:nvSpPr>
          <p:cNvPr id="387079" name="文本框 2">
            <a:extLst>
              <a:ext uri="{FF2B5EF4-FFF2-40B4-BE49-F238E27FC236}">
                <a16:creationId xmlns:a16="http://schemas.microsoft.com/office/drawing/2014/main" id="{85BD31D9-5A94-46CF-8507-E5A0E325B710}"/>
              </a:ext>
            </a:extLst>
          </p:cNvPr>
          <p:cNvSpPr txBox="1">
            <a:spLocks noChangeArrowheads="1"/>
          </p:cNvSpPr>
          <p:nvPr/>
        </p:nvSpPr>
        <p:spPr bwMode="auto">
          <a:xfrm>
            <a:off x="3432176" y="549276"/>
            <a:ext cx="48244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a:spcBef>
                <a:spcPct val="0"/>
              </a:spcBef>
              <a:buFontTx/>
              <a:buNone/>
            </a:pPr>
            <a:r>
              <a:rPr lang="zh-CN" altLang="en-US" sz="3600" dirty="0">
                <a:solidFill>
                  <a:srgbClr val="0000CC"/>
                </a:solidFill>
                <a:latin typeface="黑体" panose="02010609060101010101" pitchFamily="49" charset="-122"/>
                <a:ea typeface="黑体" panose="02010609060101010101" pitchFamily="49" charset="-122"/>
              </a:rPr>
              <a:t>酶的调节小结</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79683"/>
                                        </p:tgtEl>
                                        <p:attrNameLst>
                                          <p:attrName>style.visibility</p:attrName>
                                        </p:attrNameLst>
                                      </p:cBhvr>
                                      <p:to>
                                        <p:strVal val="visible"/>
                                      </p:to>
                                    </p:set>
                                    <p:animEffect transition="in" filter="dissolve">
                                      <p:cBhvr>
                                        <p:cTn id="7" dur="500"/>
                                        <p:tgtEl>
                                          <p:spTgt spid="147968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479684"/>
                                        </p:tgtEl>
                                        <p:attrNameLst>
                                          <p:attrName>style.visibility</p:attrName>
                                        </p:attrNameLst>
                                      </p:cBhvr>
                                      <p:to>
                                        <p:strVal val="visible"/>
                                      </p:to>
                                    </p:set>
                                    <p:animEffect transition="in" filter="dissolve">
                                      <p:cBhvr>
                                        <p:cTn id="10" dur="500"/>
                                        <p:tgtEl>
                                          <p:spTgt spid="147968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479686"/>
                                        </p:tgtEl>
                                        <p:attrNameLst>
                                          <p:attrName>style.visibility</p:attrName>
                                        </p:attrNameLst>
                                      </p:cBhvr>
                                      <p:to>
                                        <p:strVal val="visible"/>
                                      </p:to>
                                    </p:set>
                                    <p:animEffect transition="in" filter="dissolve">
                                      <p:cBhvr>
                                        <p:cTn id="15" dur="500"/>
                                        <p:tgtEl>
                                          <p:spTgt spid="147968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479685"/>
                                        </p:tgtEl>
                                        <p:attrNameLst>
                                          <p:attrName>style.visibility</p:attrName>
                                        </p:attrNameLst>
                                      </p:cBhvr>
                                      <p:to>
                                        <p:strVal val="visible"/>
                                      </p:to>
                                    </p:set>
                                    <p:animEffect transition="in" filter="dissolve">
                                      <p:cBhvr>
                                        <p:cTn id="18" dur="500"/>
                                        <p:tgtEl>
                                          <p:spTgt spid="1479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9683" grpId="0" animBg="1"/>
      <p:bldP spid="1479684" grpId="0"/>
      <p:bldP spid="1479685" grpId="0"/>
      <p:bldP spid="1479686"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94847ECF-BC24-428E-86D3-3FCD0E5E63D7}"/>
              </a:ext>
            </a:extLst>
          </p:cNvPr>
          <p:cNvSpPr>
            <a:spLocks noGrp="1" noChangeArrowheads="1"/>
          </p:cNvSpPr>
          <p:nvPr>
            <p:ph type="title"/>
          </p:nvPr>
        </p:nvSpPr>
        <p:spPr>
          <a:xfrm>
            <a:off x="2424113" y="1341438"/>
            <a:ext cx="7416800" cy="3816350"/>
          </a:xfrm>
        </p:spPr>
        <p:txBody>
          <a:bodyPr vert="horz" wrap="square" lIns="92075" tIns="46038" rIns="92075" bIns="46038" numCol="1" anchor="ctr" anchorCtr="0" compatLnSpc="1">
            <a:prstTxWarp prst="textNoShape">
              <a:avLst/>
            </a:prstTxWarp>
          </a:bodyPr>
          <a:lstStyle/>
          <a:p>
            <a:pPr eaLnBrk="1" hangingPunct="1">
              <a:lnSpc>
                <a:spcPct val="110000"/>
              </a:lnSpc>
            </a:pPr>
            <a:r>
              <a:rPr lang="zh-CN" altLang="en-US" sz="4800" b="1">
                <a:solidFill>
                  <a:srgbClr val="FF3300"/>
                </a:solidFill>
                <a:latin typeface="Times New Roman" panose="02020603050405020304" pitchFamily="18" charset="0"/>
                <a:ea typeface="黑体" panose="02010609060101010101" pitchFamily="49" charset="-122"/>
              </a:rPr>
              <a:t>第 五 节</a:t>
            </a:r>
            <a:r>
              <a:rPr lang="zh-CN" altLang="en-US" sz="5400" b="1">
                <a:solidFill>
                  <a:srgbClr val="FF3300"/>
                </a:solidFill>
                <a:latin typeface="Times New Roman" panose="02020603050405020304" pitchFamily="18" charset="0"/>
                <a:ea typeface="黑体" panose="02010609060101010101" pitchFamily="49" charset="-122"/>
              </a:rPr>
              <a:t>     </a:t>
            </a:r>
            <a:br>
              <a:rPr lang="zh-CN" altLang="en-US" sz="5400" b="1">
                <a:solidFill>
                  <a:srgbClr val="FF3300"/>
                </a:solidFill>
                <a:latin typeface="Times New Roman" panose="02020603050405020304" pitchFamily="18" charset="0"/>
                <a:ea typeface="黑体" panose="02010609060101010101" pitchFamily="49" charset="-122"/>
              </a:rPr>
            </a:br>
            <a:br>
              <a:rPr lang="zh-CN" altLang="en-US" sz="4800" b="1">
                <a:solidFill>
                  <a:srgbClr val="FF3300"/>
                </a:solidFill>
                <a:latin typeface="Times New Roman" panose="02020603050405020304" pitchFamily="18" charset="0"/>
                <a:ea typeface="黑体" panose="02010609060101010101" pitchFamily="49" charset="-122"/>
              </a:rPr>
            </a:br>
            <a:r>
              <a:rPr lang="zh-CN" altLang="en-US" sz="4800" b="1">
                <a:solidFill>
                  <a:srgbClr val="FF3300"/>
                </a:solidFill>
                <a:latin typeface="Times New Roman" panose="02020603050405020304" pitchFamily="18" charset="0"/>
                <a:ea typeface="黑体" panose="02010609060101010101" pitchFamily="49" charset="-122"/>
              </a:rPr>
              <a:t>酶的分类与命名</a:t>
            </a:r>
            <a:endParaRPr lang="en-US" altLang="zh-CN" sz="4000" b="1">
              <a:latin typeface="Times New Roman" panose="02020603050405020304" pitchFamily="18" charset="0"/>
              <a:ea typeface="黑体" panose="02010609060101010101" pitchFamily="49" charset="-122"/>
            </a:endParaRPr>
          </a:p>
        </p:txBody>
      </p:sp>
    </p:spTree>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a:extLst>
              <a:ext uri="{FF2B5EF4-FFF2-40B4-BE49-F238E27FC236}">
                <a16:creationId xmlns:a16="http://schemas.microsoft.com/office/drawing/2014/main" id="{84F89CA9-13DF-44F2-BEE9-3E204188BC7F}"/>
              </a:ext>
            </a:extLst>
          </p:cNvPr>
          <p:cNvSpPr>
            <a:spLocks noChangeArrowheads="1"/>
          </p:cNvSpPr>
          <p:nvPr/>
        </p:nvSpPr>
        <p:spPr bwMode="auto">
          <a:xfrm>
            <a:off x="3529013" y="3276601"/>
            <a:ext cx="54229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0" lvl="1" eaLnBrk="1" hangingPunct="1">
              <a:spcBef>
                <a:spcPct val="0"/>
              </a:spcBef>
              <a:buClr>
                <a:schemeClr val="tx2"/>
              </a:buClr>
              <a:buSzPct val="75000"/>
              <a:buNone/>
            </a:pPr>
            <a:r>
              <a:rPr kumimoji="1" lang="en-US" altLang="zh-CN" dirty="0">
                <a:solidFill>
                  <a:srgbClr val="0000CC"/>
                </a:solidFill>
                <a:latin typeface="Times New Roman" panose="02020603050405020304" pitchFamily="18" charset="0"/>
                <a:ea typeface="黑体" panose="02010609060101010101" pitchFamily="49" charset="-122"/>
              </a:rPr>
              <a:t>1.</a:t>
            </a:r>
            <a:r>
              <a:rPr kumimoji="1" lang="zh-CN" altLang="en-US" dirty="0">
                <a:solidFill>
                  <a:srgbClr val="0000CC"/>
                </a:solidFill>
                <a:latin typeface="Times New Roman" panose="02020603050405020304" pitchFamily="18" charset="0"/>
                <a:ea typeface="黑体" panose="02010609060101010101" pitchFamily="49" charset="-122"/>
              </a:rPr>
              <a:t>氧化还原酶</a:t>
            </a:r>
            <a:r>
              <a:rPr kumimoji="1" lang="en-US" altLang="zh-CN" dirty="0">
                <a:solidFill>
                  <a:srgbClr val="0000CC"/>
                </a:solidFill>
                <a:latin typeface="Times New Roman" panose="02020603050405020304" pitchFamily="18" charset="0"/>
                <a:ea typeface="黑体" panose="02010609060101010101" pitchFamily="49" charset="-122"/>
              </a:rPr>
              <a:t>(oxidoreductases)</a:t>
            </a:r>
          </a:p>
          <a:p>
            <a:pPr marL="0" lvl="1" eaLnBrk="1" hangingPunct="1">
              <a:spcBef>
                <a:spcPct val="0"/>
              </a:spcBef>
              <a:buClr>
                <a:schemeClr val="tx2"/>
              </a:buClr>
              <a:buSzPct val="75000"/>
              <a:buNone/>
            </a:pPr>
            <a:r>
              <a:rPr kumimoji="1" lang="en-US" altLang="zh-CN" dirty="0">
                <a:solidFill>
                  <a:srgbClr val="0000CC"/>
                </a:solidFill>
                <a:latin typeface="Times New Roman" panose="02020603050405020304" pitchFamily="18" charset="0"/>
                <a:ea typeface="黑体" panose="02010609060101010101" pitchFamily="49" charset="-122"/>
              </a:rPr>
              <a:t>2.</a:t>
            </a:r>
            <a:r>
              <a:rPr kumimoji="1" lang="zh-CN" altLang="en-US" dirty="0">
                <a:solidFill>
                  <a:srgbClr val="0000CC"/>
                </a:solidFill>
                <a:latin typeface="Times New Roman" panose="02020603050405020304" pitchFamily="18" charset="0"/>
                <a:ea typeface="黑体" panose="02010609060101010101" pitchFamily="49" charset="-122"/>
              </a:rPr>
              <a:t>转移酶 </a:t>
            </a:r>
            <a:r>
              <a:rPr kumimoji="1" lang="en-US" altLang="zh-CN" dirty="0">
                <a:solidFill>
                  <a:srgbClr val="0000CC"/>
                </a:solidFill>
                <a:latin typeface="Times New Roman" panose="02020603050405020304" pitchFamily="18" charset="0"/>
                <a:ea typeface="黑体" panose="02010609060101010101" pitchFamily="49" charset="-122"/>
              </a:rPr>
              <a:t>(transferases )</a:t>
            </a:r>
          </a:p>
          <a:p>
            <a:pPr marL="0" lvl="1" eaLnBrk="1" hangingPunct="1">
              <a:spcBef>
                <a:spcPct val="0"/>
              </a:spcBef>
              <a:buClr>
                <a:schemeClr val="tx2"/>
              </a:buClr>
              <a:buSzPct val="75000"/>
              <a:buNone/>
            </a:pPr>
            <a:r>
              <a:rPr kumimoji="1" lang="en-US" altLang="zh-CN" dirty="0">
                <a:solidFill>
                  <a:srgbClr val="0000CC"/>
                </a:solidFill>
                <a:latin typeface="Times New Roman" panose="02020603050405020304" pitchFamily="18" charset="0"/>
                <a:ea typeface="黑体" panose="02010609060101010101" pitchFamily="49" charset="-122"/>
              </a:rPr>
              <a:t>3.</a:t>
            </a:r>
            <a:r>
              <a:rPr kumimoji="1" lang="zh-CN" altLang="en-US" dirty="0">
                <a:solidFill>
                  <a:srgbClr val="0000CC"/>
                </a:solidFill>
                <a:latin typeface="Times New Roman" panose="02020603050405020304" pitchFamily="18" charset="0"/>
                <a:ea typeface="黑体" panose="02010609060101010101" pitchFamily="49" charset="-122"/>
              </a:rPr>
              <a:t>水解酶 </a:t>
            </a:r>
            <a:r>
              <a:rPr kumimoji="1" lang="en-US" altLang="zh-CN" dirty="0">
                <a:solidFill>
                  <a:srgbClr val="0000CC"/>
                </a:solidFill>
                <a:latin typeface="Times New Roman" panose="02020603050405020304" pitchFamily="18" charset="0"/>
                <a:ea typeface="黑体" panose="02010609060101010101" pitchFamily="49" charset="-122"/>
              </a:rPr>
              <a:t>(hydrolases)</a:t>
            </a:r>
          </a:p>
          <a:p>
            <a:pPr marL="0" lvl="1" eaLnBrk="1" hangingPunct="1">
              <a:spcBef>
                <a:spcPct val="0"/>
              </a:spcBef>
              <a:buClr>
                <a:schemeClr val="tx2"/>
              </a:buClr>
              <a:buSzPct val="75000"/>
              <a:buNone/>
            </a:pPr>
            <a:r>
              <a:rPr kumimoji="1" lang="en-US" altLang="zh-CN" dirty="0">
                <a:solidFill>
                  <a:srgbClr val="0000CC"/>
                </a:solidFill>
                <a:latin typeface="Times New Roman" panose="02020603050405020304" pitchFamily="18" charset="0"/>
                <a:ea typeface="黑体" panose="02010609060101010101" pitchFamily="49" charset="-122"/>
              </a:rPr>
              <a:t>4.</a:t>
            </a:r>
            <a:r>
              <a:rPr kumimoji="1" lang="zh-CN" altLang="en-US" dirty="0">
                <a:solidFill>
                  <a:srgbClr val="0000CC"/>
                </a:solidFill>
                <a:latin typeface="Times New Roman" panose="02020603050405020304" pitchFamily="18" charset="0"/>
                <a:ea typeface="黑体" panose="02010609060101010101" pitchFamily="49" charset="-122"/>
              </a:rPr>
              <a:t>裂合酶 </a:t>
            </a:r>
            <a:r>
              <a:rPr kumimoji="1" lang="en-US" altLang="zh-CN" dirty="0">
                <a:solidFill>
                  <a:srgbClr val="0000CC"/>
                </a:solidFill>
                <a:latin typeface="Times New Roman" panose="02020603050405020304" pitchFamily="18" charset="0"/>
                <a:ea typeface="黑体" panose="02010609060101010101" pitchFamily="49" charset="-122"/>
              </a:rPr>
              <a:t>(lyases)</a:t>
            </a:r>
          </a:p>
          <a:p>
            <a:pPr marL="0" lvl="1" eaLnBrk="1" hangingPunct="1">
              <a:spcBef>
                <a:spcPct val="0"/>
              </a:spcBef>
              <a:buClr>
                <a:schemeClr val="tx2"/>
              </a:buClr>
              <a:buSzPct val="75000"/>
              <a:buNone/>
            </a:pPr>
            <a:r>
              <a:rPr kumimoji="1" lang="en-US" altLang="zh-CN" dirty="0">
                <a:solidFill>
                  <a:srgbClr val="0000CC"/>
                </a:solidFill>
                <a:latin typeface="Times New Roman" panose="02020603050405020304" pitchFamily="18" charset="0"/>
                <a:ea typeface="黑体" panose="02010609060101010101" pitchFamily="49" charset="-122"/>
              </a:rPr>
              <a:t>5.</a:t>
            </a:r>
            <a:r>
              <a:rPr kumimoji="1" lang="zh-CN" altLang="en-US" dirty="0">
                <a:solidFill>
                  <a:srgbClr val="0000CC"/>
                </a:solidFill>
                <a:latin typeface="Times New Roman" panose="02020603050405020304" pitchFamily="18" charset="0"/>
                <a:ea typeface="黑体" panose="02010609060101010101" pitchFamily="49" charset="-122"/>
              </a:rPr>
              <a:t>异构酶</a:t>
            </a:r>
            <a:r>
              <a:rPr kumimoji="1" lang="en-US" altLang="zh-CN" dirty="0">
                <a:solidFill>
                  <a:srgbClr val="0000CC"/>
                </a:solidFill>
                <a:latin typeface="Times New Roman" panose="02020603050405020304" pitchFamily="18" charset="0"/>
                <a:ea typeface="黑体" panose="02010609060101010101" pitchFamily="49" charset="-122"/>
              </a:rPr>
              <a:t>( isomerases)</a:t>
            </a:r>
          </a:p>
          <a:p>
            <a:pPr marL="0" lvl="1" eaLnBrk="1" hangingPunct="1">
              <a:spcBef>
                <a:spcPct val="0"/>
              </a:spcBef>
              <a:buClr>
                <a:schemeClr val="tx2"/>
              </a:buClr>
              <a:buSzPct val="75000"/>
              <a:buNone/>
            </a:pPr>
            <a:r>
              <a:rPr kumimoji="1" lang="en-US" altLang="zh-CN" dirty="0">
                <a:solidFill>
                  <a:srgbClr val="0000CC"/>
                </a:solidFill>
                <a:latin typeface="Times New Roman" panose="02020603050405020304" pitchFamily="18" charset="0"/>
                <a:ea typeface="黑体" panose="02010609060101010101" pitchFamily="49" charset="-122"/>
              </a:rPr>
              <a:t>6.</a:t>
            </a:r>
            <a:r>
              <a:rPr kumimoji="1" lang="zh-CN" altLang="en-US" dirty="0">
                <a:solidFill>
                  <a:srgbClr val="0000CC"/>
                </a:solidFill>
                <a:latin typeface="Times New Roman" panose="02020603050405020304" pitchFamily="18" charset="0"/>
                <a:ea typeface="黑体" panose="02010609060101010101" pitchFamily="49" charset="-122"/>
              </a:rPr>
              <a:t>合成酶 </a:t>
            </a:r>
            <a:r>
              <a:rPr kumimoji="1" lang="en-US" altLang="zh-CN" dirty="0">
                <a:solidFill>
                  <a:srgbClr val="0000CC"/>
                </a:solidFill>
                <a:latin typeface="Times New Roman" panose="02020603050405020304" pitchFamily="18" charset="0"/>
                <a:ea typeface="黑体" panose="02010609060101010101" pitchFamily="49" charset="-122"/>
              </a:rPr>
              <a:t>(ligases,  synthetases)</a:t>
            </a:r>
          </a:p>
          <a:p>
            <a:pPr marL="0" lvl="1" eaLnBrk="1" hangingPunct="1">
              <a:spcBef>
                <a:spcPct val="0"/>
              </a:spcBef>
              <a:buClr>
                <a:schemeClr val="tx2"/>
              </a:buClr>
              <a:buSzPct val="75000"/>
              <a:buNone/>
            </a:pPr>
            <a:r>
              <a:rPr kumimoji="1" lang="en-US" altLang="zh-CN" dirty="0">
                <a:solidFill>
                  <a:srgbClr val="0000CC"/>
                </a:solidFill>
                <a:latin typeface="Times New Roman" panose="02020603050405020304" pitchFamily="18" charset="0"/>
                <a:ea typeface="黑体" panose="02010609060101010101" pitchFamily="49" charset="-122"/>
              </a:rPr>
              <a:t>7.</a:t>
            </a:r>
            <a:r>
              <a:rPr kumimoji="1" lang="zh-CN" altLang="en-US" dirty="0">
                <a:solidFill>
                  <a:srgbClr val="0000CC"/>
                </a:solidFill>
                <a:latin typeface="Times New Roman" panose="02020603050405020304" pitchFamily="18" charset="0"/>
                <a:ea typeface="黑体" panose="02010609060101010101" pitchFamily="49" charset="-122"/>
              </a:rPr>
              <a:t>易位酶（</a:t>
            </a:r>
            <a:r>
              <a:rPr kumimoji="1" lang="en-US" altLang="zh-CN" dirty="0">
                <a:solidFill>
                  <a:srgbClr val="0000CC"/>
                </a:solidFill>
                <a:latin typeface="Times New Roman" panose="02020603050405020304" pitchFamily="18" charset="0"/>
                <a:ea typeface="黑体" panose="02010609060101010101" pitchFamily="49" charset="-122"/>
              </a:rPr>
              <a:t>translocases)</a:t>
            </a:r>
          </a:p>
        </p:txBody>
      </p:sp>
      <p:sp>
        <p:nvSpPr>
          <p:cNvPr id="358403" name="Rectangle 3">
            <a:extLst>
              <a:ext uri="{FF2B5EF4-FFF2-40B4-BE49-F238E27FC236}">
                <a16:creationId xmlns:a16="http://schemas.microsoft.com/office/drawing/2014/main" id="{3AF6B810-B70D-4D6C-A887-B0CC2D741873}"/>
              </a:ext>
            </a:extLst>
          </p:cNvPr>
          <p:cNvSpPr>
            <a:spLocks noChangeArrowheads="1"/>
          </p:cNvSpPr>
          <p:nvPr/>
        </p:nvSpPr>
        <p:spPr bwMode="auto">
          <a:xfrm>
            <a:off x="2063751" y="1177925"/>
            <a:ext cx="31543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Clr>
                <a:schemeClr val="tx2"/>
              </a:buClr>
              <a:buSzPct val="75000"/>
              <a:buFont typeface="Wingdings" panose="05000000000000000000" pitchFamily="2" charset="2"/>
              <a:buNone/>
            </a:pPr>
            <a:r>
              <a:rPr kumimoji="1" lang="zh-CN" altLang="en-US">
                <a:solidFill>
                  <a:srgbClr val="FF3300"/>
                </a:solidFill>
                <a:latin typeface="Times New Roman" panose="02020603050405020304" pitchFamily="18" charset="0"/>
                <a:ea typeface="黑体" panose="02010609060101010101" pitchFamily="49" charset="-122"/>
              </a:rPr>
              <a:t>（一）酶的分类</a:t>
            </a:r>
          </a:p>
        </p:txBody>
      </p:sp>
      <p:sp>
        <p:nvSpPr>
          <p:cNvPr id="358404" name="Rectangle 4">
            <a:extLst>
              <a:ext uri="{FF2B5EF4-FFF2-40B4-BE49-F238E27FC236}">
                <a16:creationId xmlns:a16="http://schemas.microsoft.com/office/drawing/2014/main" id="{D5D53BF0-4137-47FF-B771-027753CC5134}"/>
              </a:ext>
            </a:extLst>
          </p:cNvPr>
          <p:cNvSpPr>
            <a:spLocks noChangeArrowheads="1"/>
          </p:cNvSpPr>
          <p:nvPr/>
        </p:nvSpPr>
        <p:spPr bwMode="auto">
          <a:xfrm>
            <a:off x="2279650" y="1773239"/>
            <a:ext cx="7920038"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Tx/>
              <a:buNone/>
            </a:pPr>
            <a:r>
              <a:rPr kumimoji="1" lang="en-US" altLang="zh-CN" sz="2400">
                <a:latin typeface="Times New Roman" panose="02020603050405020304" pitchFamily="18" charset="0"/>
                <a:ea typeface="黑体" panose="02010609060101010101" pitchFamily="49" charset="-122"/>
              </a:rPr>
              <a:t>1961</a:t>
            </a:r>
            <a:r>
              <a:rPr kumimoji="1" lang="zh-CN" altLang="en-US" sz="2400">
                <a:latin typeface="Times New Roman" panose="02020603050405020304" pitchFamily="18" charset="0"/>
                <a:ea typeface="黑体" panose="02010609060101010101" pitchFamily="49" charset="-122"/>
              </a:rPr>
              <a:t>年国际酶学委员会（</a:t>
            </a:r>
            <a:r>
              <a:rPr kumimoji="1" lang="en-US" altLang="zh-CN" sz="2400">
                <a:latin typeface="Times New Roman" panose="02020603050405020304" pitchFamily="18" charset="0"/>
                <a:ea typeface="黑体" panose="02010609060101010101" pitchFamily="49" charset="-122"/>
              </a:rPr>
              <a:t>Enzyme Committee, </a:t>
            </a:r>
            <a:r>
              <a:rPr kumimoji="1" lang="en-US" altLang="zh-CN" sz="2400">
                <a:solidFill>
                  <a:srgbClr val="FF3300"/>
                </a:solidFill>
                <a:latin typeface="Times New Roman" panose="02020603050405020304" pitchFamily="18" charset="0"/>
                <a:ea typeface="黑体" panose="02010609060101010101" pitchFamily="49" charset="-122"/>
              </a:rPr>
              <a:t>EC</a:t>
            </a:r>
            <a:r>
              <a:rPr kumimoji="1" lang="zh-CN" altLang="en-US" sz="2400">
                <a:latin typeface="Times New Roman" panose="02020603050405020304" pitchFamily="18" charset="0"/>
                <a:ea typeface="黑体" panose="02010609060101010101" pitchFamily="49" charset="-122"/>
              </a:rPr>
              <a:t>）根据酶所催化的</a:t>
            </a:r>
            <a:r>
              <a:rPr kumimoji="1" lang="zh-CN" altLang="en-US" sz="2400">
                <a:solidFill>
                  <a:srgbClr val="FF3300"/>
                </a:solidFill>
                <a:latin typeface="Times New Roman" panose="02020603050405020304" pitchFamily="18" charset="0"/>
                <a:ea typeface="黑体" panose="02010609060101010101" pitchFamily="49" charset="-122"/>
              </a:rPr>
              <a:t>反应类型和机理</a:t>
            </a:r>
            <a:r>
              <a:rPr kumimoji="1" lang="zh-CN" altLang="en-US" sz="2400">
                <a:latin typeface="Times New Roman" panose="02020603050405020304" pitchFamily="18" charset="0"/>
                <a:ea typeface="黑体" panose="02010609060101010101" pitchFamily="49" charset="-122"/>
              </a:rPr>
              <a:t>，把酶分成</a:t>
            </a:r>
            <a:r>
              <a:rPr kumimoji="1" lang="en-US" altLang="zh-CN" sz="2400">
                <a:latin typeface="Times New Roman" panose="02020603050405020304" pitchFamily="18" charset="0"/>
                <a:ea typeface="黑体" panose="02010609060101010101" pitchFamily="49" charset="-122"/>
              </a:rPr>
              <a:t>6</a:t>
            </a:r>
            <a:r>
              <a:rPr kumimoji="1" lang="zh-CN" altLang="en-US" sz="2400">
                <a:latin typeface="Times New Roman" panose="02020603050405020304" pitchFamily="18" charset="0"/>
                <a:ea typeface="黑体" panose="02010609060101010101" pitchFamily="49" charset="-122"/>
              </a:rPr>
              <a:t>大类，</a:t>
            </a:r>
            <a:r>
              <a:rPr kumimoji="1" lang="en-US" altLang="zh-CN" sz="2400">
                <a:latin typeface="Times New Roman" panose="02020603050405020304" pitchFamily="18" charset="0"/>
                <a:ea typeface="黑体" panose="02010609060101010101" pitchFamily="49" charset="-122"/>
              </a:rPr>
              <a:t>2018</a:t>
            </a:r>
            <a:r>
              <a:rPr kumimoji="1" lang="zh-CN" altLang="en-US" sz="2400">
                <a:latin typeface="Times New Roman" panose="02020603050405020304" pitchFamily="18" charset="0"/>
                <a:ea typeface="黑体" panose="02010609060101010101" pitchFamily="49" charset="-122"/>
              </a:rPr>
              <a:t>年新增加了一类：</a:t>
            </a:r>
          </a:p>
        </p:txBody>
      </p:sp>
      <p:sp>
        <p:nvSpPr>
          <p:cNvPr id="400389" name="AutoShape 5">
            <a:extLst>
              <a:ext uri="{FF2B5EF4-FFF2-40B4-BE49-F238E27FC236}">
                <a16:creationId xmlns:a16="http://schemas.microsoft.com/office/drawing/2014/main" id="{6CC7B5E8-77B6-4BAF-9952-B113C6945179}"/>
              </a:ext>
            </a:extLst>
          </p:cNvPr>
          <p:cNvSpPr>
            <a:spLocks noChangeArrowheads="1"/>
          </p:cNvSpPr>
          <p:nvPr/>
        </p:nvSpPr>
        <p:spPr bwMode="auto">
          <a:xfrm>
            <a:off x="4224338" y="260351"/>
            <a:ext cx="4557712" cy="792163"/>
          </a:xfrm>
          <a:prstGeom prst="roundRect">
            <a:avLst>
              <a:gd name="adj" fmla="val 16667"/>
            </a:avLst>
          </a:prstGeom>
          <a:solidFill>
            <a:srgbClr val="008000"/>
          </a:solidFill>
          <a:ln w="9525">
            <a:solidFill>
              <a:schemeClr val="tx1"/>
            </a:solidFill>
            <a:round/>
            <a:headEnd/>
            <a:tailEnd/>
          </a:ln>
        </p:spPr>
        <p:txBody>
          <a:bodyPr wrap="none" anchor="ct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90000"/>
              </a:lnSpc>
              <a:buClr>
                <a:schemeClr val="tx2"/>
              </a:buClr>
              <a:buSzPct val="75000"/>
              <a:buFont typeface="Wingdings" panose="05000000000000000000" pitchFamily="2" charset="2"/>
              <a:buNone/>
            </a:pPr>
            <a:r>
              <a:rPr kumimoji="1" lang="zh-CN" altLang="en-US">
                <a:solidFill>
                  <a:schemeClr val="bg1"/>
                </a:solidFill>
                <a:latin typeface="Times New Roman" panose="02020603050405020304" pitchFamily="18" charset="0"/>
                <a:ea typeface="黑体" panose="02010609060101010101" pitchFamily="49" charset="-122"/>
              </a:rPr>
              <a:t>一、 酶的分类与命名</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58403"/>
                                        </p:tgtEl>
                                        <p:attrNameLst>
                                          <p:attrName>style.visibility</p:attrName>
                                        </p:attrNameLst>
                                      </p:cBhvr>
                                      <p:to>
                                        <p:strVal val="visible"/>
                                      </p:to>
                                    </p:set>
                                    <p:animEffect transition="in" filter="dissolve">
                                      <p:cBhvr>
                                        <p:cTn id="7" dur="500"/>
                                        <p:tgtEl>
                                          <p:spTgt spid="35840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58404"/>
                                        </p:tgtEl>
                                        <p:attrNameLst>
                                          <p:attrName>style.visibility</p:attrName>
                                        </p:attrNameLst>
                                      </p:cBhvr>
                                      <p:to>
                                        <p:strVal val="visible"/>
                                      </p:to>
                                    </p:set>
                                    <p:animEffect transition="in" filter="dissolve">
                                      <p:cBhvr>
                                        <p:cTn id="10" dur="500"/>
                                        <p:tgtEl>
                                          <p:spTgt spid="35840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358402">
                                            <p:txEl>
                                              <p:pRg st="0" end="0"/>
                                            </p:txEl>
                                          </p:spTgt>
                                        </p:tgtEl>
                                        <p:attrNameLst>
                                          <p:attrName>style.visibility</p:attrName>
                                        </p:attrNameLst>
                                      </p:cBhvr>
                                      <p:to>
                                        <p:strVal val="visible"/>
                                      </p:to>
                                    </p:set>
                                    <p:animEffect transition="in" filter="dissolve">
                                      <p:cBhvr>
                                        <p:cTn id="15" dur="500"/>
                                        <p:tgtEl>
                                          <p:spTgt spid="358402">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358402">
                                            <p:txEl>
                                              <p:pRg st="1" end="1"/>
                                            </p:txEl>
                                          </p:spTgt>
                                        </p:tgtEl>
                                        <p:attrNameLst>
                                          <p:attrName>style.visibility</p:attrName>
                                        </p:attrNameLst>
                                      </p:cBhvr>
                                      <p:to>
                                        <p:strVal val="visible"/>
                                      </p:to>
                                    </p:set>
                                    <p:animEffect transition="in" filter="dissolve">
                                      <p:cBhvr>
                                        <p:cTn id="20" dur="500"/>
                                        <p:tgtEl>
                                          <p:spTgt spid="358402">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358402">
                                            <p:txEl>
                                              <p:pRg st="2" end="2"/>
                                            </p:txEl>
                                          </p:spTgt>
                                        </p:tgtEl>
                                        <p:attrNameLst>
                                          <p:attrName>style.visibility</p:attrName>
                                        </p:attrNameLst>
                                      </p:cBhvr>
                                      <p:to>
                                        <p:strVal val="visible"/>
                                      </p:to>
                                    </p:set>
                                    <p:animEffect transition="in" filter="dissolve">
                                      <p:cBhvr>
                                        <p:cTn id="25" dur="500"/>
                                        <p:tgtEl>
                                          <p:spTgt spid="358402">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358402">
                                            <p:txEl>
                                              <p:pRg st="3" end="3"/>
                                            </p:txEl>
                                          </p:spTgt>
                                        </p:tgtEl>
                                        <p:attrNameLst>
                                          <p:attrName>style.visibility</p:attrName>
                                        </p:attrNameLst>
                                      </p:cBhvr>
                                      <p:to>
                                        <p:strVal val="visible"/>
                                      </p:to>
                                    </p:set>
                                    <p:animEffect transition="in" filter="dissolve">
                                      <p:cBhvr>
                                        <p:cTn id="30" dur="500"/>
                                        <p:tgtEl>
                                          <p:spTgt spid="358402">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358402">
                                            <p:txEl>
                                              <p:pRg st="4" end="4"/>
                                            </p:txEl>
                                          </p:spTgt>
                                        </p:tgtEl>
                                        <p:attrNameLst>
                                          <p:attrName>style.visibility</p:attrName>
                                        </p:attrNameLst>
                                      </p:cBhvr>
                                      <p:to>
                                        <p:strVal val="visible"/>
                                      </p:to>
                                    </p:set>
                                    <p:animEffect transition="in" filter="dissolve">
                                      <p:cBhvr>
                                        <p:cTn id="35" dur="500"/>
                                        <p:tgtEl>
                                          <p:spTgt spid="358402">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358402">
                                            <p:txEl>
                                              <p:pRg st="5" end="5"/>
                                            </p:txEl>
                                          </p:spTgt>
                                        </p:tgtEl>
                                        <p:attrNameLst>
                                          <p:attrName>style.visibility</p:attrName>
                                        </p:attrNameLst>
                                      </p:cBhvr>
                                      <p:to>
                                        <p:strVal val="visible"/>
                                      </p:to>
                                    </p:set>
                                    <p:animEffect transition="in" filter="dissolve">
                                      <p:cBhvr>
                                        <p:cTn id="40" dur="500"/>
                                        <p:tgtEl>
                                          <p:spTgt spid="358402">
                                            <p:txEl>
                                              <p:pRg st="5" end="5"/>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358402">
                                            <p:txEl>
                                              <p:pRg st="6" end="6"/>
                                            </p:txEl>
                                          </p:spTgt>
                                        </p:tgtEl>
                                        <p:attrNameLst>
                                          <p:attrName>style.visibility</p:attrName>
                                        </p:attrNameLst>
                                      </p:cBhvr>
                                      <p:to>
                                        <p:strVal val="visible"/>
                                      </p:to>
                                    </p:set>
                                    <p:animEffect transition="in" filter="dissolve">
                                      <p:cBhvr>
                                        <p:cTn id="45" dur="500"/>
                                        <p:tgtEl>
                                          <p:spTgt spid="3584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3" grpId="0"/>
      <p:bldP spid="358404" grpId="0"/>
    </p:bldLst>
  </p:timing>
</p:sld>
</file>

<file path=ppt/slides/slide1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3458" name="图片 2">
            <a:extLst>
              <a:ext uri="{FF2B5EF4-FFF2-40B4-BE49-F238E27FC236}">
                <a16:creationId xmlns:a16="http://schemas.microsoft.com/office/drawing/2014/main" id="{C9E55766-DDAC-481D-8970-DE2D38D5B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7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F6E1AD92-561B-4328-ABEE-8E6A6400E120}"/>
              </a:ext>
            </a:extLst>
          </p:cNvPr>
          <p:cNvSpPr>
            <a:spLocks noGrp="1" noChangeArrowheads="1"/>
          </p:cNvSpPr>
          <p:nvPr>
            <p:ph type="body" idx="1"/>
          </p:nvPr>
        </p:nvSpPr>
        <p:spPr>
          <a:xfrm>
            <a:off x="2135188" y="1557338"/>
            <a:ext cx="7924800" cy="4781550"/>
          </a:xfrm>
        </p:spPr>
        <p:txBody>
          <a:bodyPr/>
          <a:lstStyle/>
          <a:p>
            <a:pPr eaLnBrk="1" hangingPunct="1"/>
            <a:r>
              <a:rPr lang="zh-CN" altLang="en-US" sz="2800" b="0" dirty="0">
                <a:latin typeface="Times New Roman" panose="02020603050405020304" pitchFamily="18" charset="0"/>
                <a:ea typeface="黑体" panose="02010609060101010101" pitchFamily="49" charset="-122"/>
              </a:rPr>
              <a:t>催化氧化</a:t>
            </a:r>
            <a:r>
              <a:rPr lang="en-US" altLang="zh-CN" sz="2800" b="0" dirty="0">
                <a:latin typeface="Times New Roman" panose="02020603050405020304" pitchFamily="18" charset="0"/>
                <a:ea typeface="黑体" panose="02010609060101010101" pitchFamily="49" charset="-122"/>
              </a:rPr>
              <a:t>-</a:t>
            </a:r>
            <a:r>
              <a:rPr lang="zh-CN" altLang="en-US" sz="2800" b="0" dirty="0">
                <a:latin typeface="Times New Roman" panose="02020603050405020304" pitchFamily="18" charset="0"/>
                <a:ea typeface="黑体" panose="02010609060101010101" pitchFamily="49" charset="-122"/>
              </a:rPr>
              <a:t>还原反应，催化</a:t>
            </a:r>
            <a:r>
              <a:rPr lang="zh-CN" altLang="en-US" sz="2800" b="0" u="sng" dirty="0">
                <a:solidFill>
                  <a:srgbClr val="0000FF"/>
                </a:solidFill>
                <a:latin typeface="Times New Roman" panose="02020603050405020304" pitchFamily="18" charset="0"/>
                <a:ea typeface="黑体" panose="02010609060101010101" pitchFamily="49" charset="-122"/>
              </a:rPr>
              <a:t>氢的转移或电子传递</a:t>
            </a:r>
            <a:r>
              <a:rPr lang="zh-CN" altLang="en-US" sz="2800" b="0" dirty="0">
                <a:latin typeface="Times New Roman" panose="02020603050405020304" pitchFamily="18" charset="0"/>
                <a:ea typeface="黑体" panose="02010609060101010101" pitchFamily="49" charset="-122"/>
              </a:rPr>
              <a:t>以及</a:t>
            </a:r>
            <a:r>
              <a:rPr lang="zh-CN" altLang="en-US" sz="2800" b="0" u="sng" dirty="0">
                <a:solidFill>
                  <a:srgbClr val="0000FF"/>
                </a:solidFill>
                <a:latin typeface="Times New Roman" panose="02020603050405020304" pitchFamily="18" charset="0"/>
                <a:ea typeface="黑体" panose="02010609060101010101" pitchFamily="49" charset="-122"/>
              </a:rPr>
              <a:t>需氧参加的反应</a:t>
            </a:r>
            <a:r>
              <a:rPr lang="zh-CN" altLang="en-US" sz="2800" b="0" dirty="0">
                <a:latin typeface="Times New Roman" panose="02020603050405020304" pitchFamily="18" charset="0"/>
                <a:ea typeface="黑体" panose="02010609060101010101" pitchFamily="49" charset="-122"/>
              </a:rPr>
              <a:t>。</a:t>
            </a:r>
          </a:p>
          <a:p>
            <a:pPr eaLnBrk="1" hangingPunct="1"/>
            <a:endParaRPr lang="zh-CN" altLang="en-US" sz="2800" b="0" dirty="0">
              <a:latin typeface="Times New Roman" panose="02020603050405020304" pitchFamily="18" charset="0"/>
              <a:ea typeface="黑体" panose="02010609060101010101" pitchFamily="49" charset="-122"/>
            </a:endParaRPr>
          </a:p>
          <a:p>
            <a:pPr eaLnBrk="1" hangingPunct="1">
              <a:buFontTx/>
              <a:buNone/>
            </a:pPr>
            <a:r>
              <a:rPr lang="zh-CN" altLang="en-US" sz="2800" b="0" dirty="0">
                <a:latin typeface="Times New Roman" panose="02020603050405020304" pitchFamily="18" charset="0"/>
                <a:ea typeface="黑体" panose="02010609060101010101" pitchFamily="49" charset="-122"/>
              </a:rPr>
              <a:t>           </a:t>
            </a:r>
            <a:r>
              <a:rPr lang="en-US" altLang="zh-CN" sz="2800" b="0" dirty="0">
                <a:latin typeface="Times New Roman" panose="02020603050405020304" pitchFamily="18" charset="0"/>
                <a:ea typeface="黑体" panose="02010609060101010101" pitchFamily="49" charset="-122"/>
              </a:rPr>
              <a:t>B-H</a:t>
            </a:r>
            <a:r>
              <a:rPr lang="en-US" altLang="zh-CN" sz="2800" b="0" baseline="-25000" dirty="0">
                <a:latin typeface="Times New Roman" panose="02020603050405020304" pitchFamily="18" charset="0"/>
                <a:ea typeface="黑体" panose="02010609060101010101" pitchFamily="49" charset="-122"/>
              </a:rPr>
              <a:t>2</a:t>
            </a:r>
            <a:r>
              <a:rPr lang="en-US" altLang="zh-CN" sz="2800" b="0" dirty="0">
                <a:latin typeface="Times New Roman" panose="02020603050405020304" pitchFamily="18" charset="0"/>
                <a:ea typeface="黑体" panose="02010609060101010101" pitchFamily="49" charset="-122"/>
              </a:rPr>
              <a:t> + 1/2 O</a:t>
            </a:r>
            <a:r>
              <a:rPr lang="en-US" altLang="zh-CN" sz="2800" b="0" baseline="-25000" dirty="0">
                <a:latin typeface="Times New Roman" panose="02020603050405020304" pitchFamily="18" charset="0"/>
                <a:ea typeface="黑体" panose="02010609060101010101" pitchFamily="49" charset="-122"/>
              </a:rPr>
              <a:t>2</a:t>
            </a:r>
            <a:r>
              <a:rPr lang="en-US" altLang="zh-CN" sz="2800" b="0" dirty="0">
                <a:latin typeface="Times New Roman" panose="02020603050405020304" pitchFamily="18" charset="0"/>
                <a:ea typeface="黑体" panose="02010609060101010101" pitchFamily="49" charset="-122"/>
              </a:rPr>
              <a:t> </a:t>
            </a:r>
            <a:r>
              <a:rPr lang="en-US" altLang="zh-CN" sz="2800" b="0" dirty="0">
                <a:solidFill>
                  <a:schemeClr val="folHlink"/>
                </a:solidFill>
                <a:latin typeface="Times New Roman" panose="02020603050405020304" pitchFamily="18" charset="0"/>
                <a:ea typeface="黑体" panose="02010609060101010101" pitchFamily="49" charset="-122"/>
              </a:rPr>
              <a:t>←→</a:t>
            </a:r>
            <a:r>
              <a:rPr lang="en-US" altLang="zh-CN" sz="2800" b="0" dirty="0">
                <a:latin typeface="Times New Roman" panose="02020603050405020304" pitchFamily="18" charset="0"/>
                <a:ea typeface="黑体" panose="02010609060101010101" pitchFamily="49" charset="-122"/>
              </a:rPr>
              <a:t> B  +  H</a:t>
            </a:r>
            <a:r>
              <a:rPr lang="en-US" altLang="zh-CN" sz="2800" b="0" baseline="-25000" dirty="0">
                <a:latin typeface="Times New Roman" panose="02020603050405020304" pitchFamily="18" charset="0"/>
                <a:ea typeface="黑体" panose="02010609060101010101" pitchFamily="49" charset="-122"/>
              </a:rPr>
              <a:t>2</a:t>
            </a:r>
            <a:r>
              <a:rPr lang="en-US" altLang="zh-CN" sz="2800" b="0" dirty="0">
                <a:latin typeface="Times New Roman" panose="02020603050405020304" pitchFamily="18" charset="0"/>
                <a:ea typeface="黑体" panose="02010609060101010101" pitchFamily="49" charset="-122"/>
              </a:rPr>
              <a:t>O</a:t>
            </a:r>
          </a:p>
          <a:p>
            <a:pPr eaLnBrk="1" hangingPunct="1"/>
            <a:r>
              <a:rPr lang="zh-CN" altLang="en-US" sz="2500" b="0" dirty="0">
                <a:latin typeface="Times New Roman" panose="02020603050405020304" pitchFamily="18" charset="0"/>
                <a:ea typeface="黑体" panose="02010609060101010101" pitchFamily="49" charset="-122"/>
              </a:rPr>
              <a:t>主要包括脱氢酶</a:t>
            </a:r>
            <a:r>
              <a:rPr lang="en-US" altLang="zh-CN" sz="2500" b="0" dirty="0">
                <a:latin typeface="Times New Roman" panose="02020603050405020304" pitchFamily="18" charset="0"/>
                <a:ea typeface="黑体" panose="02010609060101010101" pitchFamily="49" charset="-122"/>
              </a:rPr>
              <a:t>(dehydrogenase)</a:t>
            </a:r>
            <a:r>
              <a:rPr lang="zh-CN" altLang="en-US" sz="2500" b="0" dirty="0">
                <a:latin typeface="Times New Roman" panose="02020603050405020304" pitchFamily="18" charset="0"/>
                <a:ea typeface="黑体" panose="02010609060101010101" pitchFamily="49" charset="-122"/>
              </a:rPr>
              <a:t>和氧化酶</a:t>
            </a:r>
            <a:r>
              <a:rPr lang="en-US" altLang="zh-CN" sz="2500" b="0" dirty="0">
                <a:latin typeface="Times New Roman" panose="02020603050405020304" pitchFamily="18" charset="0"/>
                <a:ea typeface="黑体" panose="02010609060101010101" pitchFamily="49" charset="-122"/>
              </a:rPr>
              <a:t>(Oxidase)</a:t>
            </a:r>
            <a:r>
              <a:rPr lang="zh-CN" altLang="en-US" sz="2500" b="0" dirty="0">
                <a:latin typeface="Times New Roman" panose="02020603050405020304" pitchFamily="18" charset="0"/>
                <a:ea typeface="黑体" panose="02010609060101010101" pitchFamily="49" charset="-122"/>
              </a:rPr>
              <a:t>。</a:t>
            </a:r>
          </a:p>
          <a:p>
            <a:pPr eaLnBrk="1" hangingPunct="1"/>
            <a:r>
              <a:rPr lang="zh-CN" altLang="en-US" sz="2400" b="0" dirty="0">
                <a:latin typeface="Times New Roman" panose="02020603050405020304" pitchFamily="18" charset="0"/>
                <a:ea typeface="黑体" panose="02010609060101010101" pitchFamily="49" charset="-122"/>
              </a:rPr>
              <a:t>例如：乳酸脱氢酶催化乳酸的脱氢反应。</a:t>
            </a:r>
          </a:p>
        </p:txBody>
      </p:sp>
      <p:sp>
        <p:nvSpPr>
          <p:cNvPr id="404483" name="Text Box 3">
            <a:extLst>
              <a:ext uri="{FF2B5EF4-FFF2-40B4-BE49-F238E27FC236}">
                <a16:creationId xmlns:a16="http://schemas.microsoft.com/office/drawing/2014/main" id="{7F9FAC12-066D-4B5C-A86A-47A28325BBB7}"/>
              </a:ext>
            </a:extLst>
          </p:cNvPr>
          <p:cNvSpPr txBox="1">
            <a:spLocks noChangeArrowheads="1"/>
          </p:cNvSpPr>
          <p:nvPr/>
        </p:nvSpPr>
        <p:spPr bwMode="auto">
          <a:xfrm>
            <a:off x="2135188" y="476251"/>
            <a:ext cx="7923212" cy="646113"/>
          </a:xfrm>
          <a:prstGeom prst="rect">
            <a:avLst/>
          </a:prstGeom>
          <a:solidFill>
            <a:srgbClr val="CCFFFF">
              <a:alpha val="65097"/>
            </a:srgbClr>
          </a:solidFill>
          <a:ln w="76200" cmpd="tri">
            <a:solidFill>
              <a:schemeClr val="bg2"/>
            </a:solidFill>
            <a:miter lim="800000"/>
            <a:headEnd/>
            <a:tailEnd/>
          </a:ln>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buClr>
                <a:schemeClr val="folHlink"/>
              </a:buClr>
              <a:buSzPct val="60000"/>
              <a:buFont typeface="Wingdings" panose="05000000000000000000" pitchFamily="2" charset="2"/>
              <a:buNone/>
            </a:pPr>
            <a:r>
              <a:rPr kumimoji="1" lang="en-US" altLang="zh-CN" sz="3600">
                <a:solidFill>
                  <a:srgbClr val="FF3300"/>
                </a:solidFill>
                <a:latin typeface="Times New Roman" panose="02020603050405020304" pitchFamily="18" charset="0"/>
                <a:ea typeface="黑体" panose="02010609060101010101" pitchFamily="49" charset="-122"/>
              </a:rPr>
              <a:t>1</a:t>
            </a:r>
            <a:r>
              <a:rPr kumimoji="1" lang="zh-CN" altLang="en-US" sz="3600">
                <a:solidFill>
                  <a:srgbClr val="FF3300"/>
                </a:solidFill>
                <a:latin typeface="Times New Roman" panose="02020603050405020304" pitchFamily="18" charset="0"/>
                <a:ea typeface="黑体" panose="02010609060101010101" pitchFamily="49" charset="-122"/>
              </a:rPr>
              <a:t>、氧化还原酶 </a:t>
            </a:r>
            <a:r>
              <a:rPr kumimoji="1" lang="en-US" altLang="zh-CN" sz="3600">
                <a:solidFill>
                  <a:srgbClr val="FF3300"/>
                </a:solidFill>
                <a:latin typeface="Times New Roman" panose="02020603050405020304" pitchFamily="18" charset="0"/>
                <a:ea typeface="黑体" panose="02010609060101010101" pitchFamily="49" charset="-122"/>
              </a:rPr>
              <a:t>Oxidoreductase</a:t>
            </a:r>
            <a:endParaRPr kumimoji="1" lang="en-US" altLang="zh-CN" sz="2400">
              <a:solidFill>
                <a:srgbClr val="FF3300"/>
              </a:solidFill>
              <a:latin typeface="Times New Roman" panose="02020603050405020304" pitchFamily="18" charset="0"/>
              <a:ea typeface="黑体" panose="02010609060101010101" pitchFamily="49" charset="-122"/>
            </a:endParaRPr>
          </a:p>
        </p:txBody>
      </p:sp>
      <p:graphicFrame>
        <p:nvGraphicFramePr>
          <p:cNvPr id="404484" name="Object 4">
            <a:extLst>
              <a:ext uri="{FF2B5EF4-FFF2-40B4-BE49-F238E27FC236}">
                <a16:creationId xmlns:a16="http://schemas.microsoft.com/office/drawing/2014/main" id="{1286657A-8921-4B6B-A8A6-017185F6C4BB}"/>
              </a:ext>
            </a:extLst>
          </p:cNvPr>
          <p:cNvGraphicFramePr>
            <a:graphicFrameLocks noChangeAspect="1"/>
          </p:cNvGraphicFramePr>
          <p:nvPr>
            <p:extLst>
              <p:ext uri="{D42A27DB-BD31-4B8C-83A1-F6EECF244321}">
                <p14:modId xmlns:p14="http://schemas.microsoft.com/office/powerpoint/2010/main" val="4075127528"/>
              </p:ext>
            </p:extLst>
          </p:nvPr>
        </p:nvGraphicFramePr>
        <p:xfrm>
          <a:off x="2711624" y="4581128"/>
          <a:ext cx="6153150" cy="838200"/>
        </p:xfrm>
        <a:graphic>
          <a:graphicData uri="http://schemas.openxmlformats.org/presentationml/2006/ole">
            <mc:AlternateContent xmlns:mc="http://schemas.openxmlformats.org/markup-compatibility/2006">
              <mc:Choice xmlns:v="urn:schemas-microsoft-com:vml" Requires="v">
                <p:oleObj name="Document" r:id="rId2" imgW="3638550" imgH="495300" progId="">
                  <p:embed/>
                </p:oleObj>
              </mc:Choice>
              <mc:Fallback>
                <p:oleObj name="Document" r:id="rId2" imgW="3638550" imgH="495300"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624" y="4581128"/>
                        <a:ext cx="615315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04485" name="Group 5">
            <a:extLst>
              <a:ext uri="{FF2B5EF4-FFF2-40B4-BE49-F238E27FC236}">
                <a16:creationId xmlns:a16="http://schemas.microsoft.com/office/drawing/2014/main" id="{5BE7B5C0-E855-4F48-A937-789B3AA769BD}"/>
              </a:ext>
            </a:extLst>
          </p:cNvPr>
          <p:cNvGrpSpPr>
            <a:grpSpLocks/>
          </p:cNvGrpSpPr>
          <p:nvPr/>
        </p:nvGrpSpPr>
        <p:grpSpPr bwMode="auto">
          <a:xfrm>
            <a:off x="3309939" y="2511425"/>
            <a:ext cx="4657725" cy="463550"/>
            <a:chOff x="672" y="1199"/>
            <a:chExt cx="4272" cy="292"/>
          </a:xfrm>
        </p:grpSpPr>
        <p:sp>
          <p:nvSpPr>
            <p:cNvPr id="404486" name="Text Box 6">
              <a:extLst>
                <a:ext uri="{FF2B5EF4-FFF2-40B4-BE49-F238E27FC236}">
                  <a16:creationId xmlns:a16="http://schemas.microsoft.com/office/drawing/2014/main" id="{58D1151A-6322-48DF-BD52-9B81E207FC05}"/>
                </a:ext>
              </a:extLst>
            </p:cNvPr>
            <p:cNvSpPr txBox="1">
              <a:spLocks noChangeArrowheads="1"/>
            </p:cNvSpPr>
            <p:nvPr/>
          </p:nvSpPr>
          <p:spPr bwMode="auto">
            <a:xfrm>
              <a:off x="672" y="1199"/>
              <a:ext cx="1664"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solidFill>
                    <a:srgbClr val="FF3300"/>
                  </a:solidFill>
                  <a:latin typeface="Times New Roman" panose="02020603050405020304" pitchFamily="18" charset="0"/>
                  <a:ea typeface="黑体" panose="02010609060101010101" pitchFamily="49" charset="-122"/>
                </a:rPr>
                <a:t>A</a:t>
              </a:r>
              <a:r>
                <a:rPr kumimoji="1" lang="en-US" altLang="zh-CN" sz="2400">
                  <a:latin typeface="Times New Roman" panose="02020603050405020304" pitchFamily="18" charset="0"/>
                  <a:ea typeface="黑体" panose="02010609060101010101" pitchFamily="49" charset="-122"/>
                </a:rPr>
                <a:t>H</a:t>
              </a:r>
              <a:r>
                <a:rPr kumimoji="1" lang="en-US" altLang="zh-CN" sz="2400" baseline="-25000">
                  <a:latin typeface="Times New Roman" panose="02020603050405020304" pitchFamily="18" charset="0"/>
                  <a:ea typeface="黑体" panose="02010609060101010101" pitchFamily="49" charset="-122"/>
                </a:rPr>
                <a:t>2 </a:t>
              </a:r>
              <a:r>
                <a:rPr kumimoji="1" lang="en-US" altLang="zh-CN" sz="2400">
                  <a:latin typeface="Times New Roman" panose="02020603050405020304" pitchFamily="18" charset="0"/>
                  <a:ea typeface="黑体" panose="02010609060101010101" pitchFamily="49" charset="-122"/>
                </a:rPr>
                <a:t>+ </a:t>
              </a:r>
              <a:r>
                <a:rPr kumimoji="1" lang="en-US" altLang="zh-CN" sz="2400">
                  <a:solidFill>
                    <a:srgbClr val="008000"/>
                  </a:solidFill>
                  <a:latin typeface="Times New Roman" panose="02020603050405020304" pitchFamily="18" charset="0"/>
                  <a:ea typeface="黑体" panose="02010609060101010101" pitchFamily="49" charset="-122"/>
                </a:rPr>
                <a:t>B</a:t>
              </a:r>
              <a:endParaRPr kumimoji="1" lang="en-US" altLang="zh-CN" sz="2400">
                <a:latin typeface="Times New Roman" panose="02020603050405020304" pitchFamily="18" charset="0"/>
                <a:ea typeface="黑体" panose="02010609060101010101" pitchFamily="49" charset="-122"/>
              </a:endParaRPr>
            </a:p>
          </p:txBody>
        </p:sp>
        <p:pic>
          <p:nvPicPr>
            <p:cNvPr id="404487" name="Picture 7">
              <a:extLst>
                <a:ext uri="{FF2B5EF4-FFF2-40B4-BE49-F238E27FC236}">
                  <a16:creationId xmlns:a16="http://schemas.microsoft.com/office/drawing/2014/main" id="{63BFA2A1-0401-4560-879B-A961E986D0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6" y="1199"/>
              <a:ext cx="336"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4488" name="Text Box 8">
              <a:extLst>
                <a:ext uri="{FF2B5EF4-FFF2-40B4-BE49-F238E27FC236}">
                  <a16:creationId xmlns:a16="http://schemas.microsoft.com/office/drawing/2014/main" id="{982FE93E-A1B5-40A5-AD79-676D9D50BBFE}"/>
                </a:ext>
              </a:extLst>
            </p:cNvPr>
            <p:cNvSpPr txBox="1">
              <a:spLocks noChangeArrowheads="1"/>
            </p:cNvSpPr>
            <p:nvPr/>
          </p:nvSpPr>
          <p:spPr bwMode="auto">
            <a:xfrm>
              <a:off x="2352" y="1199"/>
              <a:ext cx="2592"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A + BH</a:t>
              </a:r>
              <a:r>
                <a:rPr kumimoji="1" lang="en-US" altLang="zh-CN" sz="2400" baseline="-25000">
                  <a:latin typeface="Times New Roman" panose="02020603050405020304" pitchFamily="18" charset="0"/>
                  <a:ea typeface="黑体" panose="02010609060101010101" pitchFamily="49" charset="-122"/>
                </a:rPr>
                <a:t>2</a:t>
              </a:r>
              <a:endParaRPr kumimoji="1" lang="en-US" altLang="zh-CN" sz="2400">
                <a:latin typeface="Times New Roman" panose="02020603050405020304" pitchFamily="18" charset="0"/>
                <a:ea typeface="黑体" panose="02010609060101010101" pitchFamily="49" charset="-122"/>
              </a:endParaRPr>
            </a:p>
          </p:txBody>
        </p:sp>
      </p:grpSp>
    </p:spTree>
  </p:cSld>
  <p:clrMapOvr>
    <a:masterClrMapping/>
  </p:clrMapOvr>
  <p:transition spd="slow">
    <p:circle/>
  </p:transition>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5506" name="Text Box 2">
            <a:extLst>
              <a:ext uri="{FF2B5EF4-FFF2-40B4-BE49-F238E27FC236}">
                <a16:creationId xmlns:a16="http://schemas.microsoft.com/office/drawing/2014/main" id="{79D88E12-BE69-4280-8EE8-A6993F439740}"/>
              </a:ext>
            </a:extLst>
          </p:cNvPr>
          <p:cNvSpPr txBox="1">
            <a:spLocks noChangeArrowheads="1"/>
          </p:cNvSpPr>
          <p:nvPr/>
        </p:nvSpPr>
        <p:spPr bwMode="auto">
          <a:xfrm>
            <a:off x="2063750" y="1038226"/>
            <a:ext cx="7913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800">
                <a:solidFill>
                  <a:srgbClr val="9900CC"/>
                </a:solidFill>
                <a:latin typeface="Times New Roman" panose="02020603050405020304" pitchFamily="18" charset="0"/>
                <a:ea typeface="黑体" panose="02010609060101010101" pitchFamily="49" charset="-122"/>
              </a:rPr>
              <a:t>（</a:t>
            </a:r>
            <a:r>
              <a:rPr kumimoji="1" lang="en-US" altLang="zh-CN" sz="2800">
                <a:solidFill>
                  <a:srgbClr val="9900CC"/>
                </a:solidFill>
                <a:latin typeface="Times New Roman" panose="02020603050405020304" pitchFamily="18" charset="0"/>
                <a:ea typeface="黑体" panose="02010609060101010101" pitchFamily="49" charset="-122"/>
              </a:rPr>
              <a:t>1</a:t>
            </a:r>
            <a:r>
              <a:rPr kumimoji="1" lang="zh-CN" altLang="en-US" sz="2800">
                <a:solidFill>
                  <a:srgbClr val="9900CC"/>
                </a:solidFill>
                <a:latin typeface="Times New Roman" panose="02020603050405020304" pitchFamily="18" charset="0"/>
                <a:ea typeface="黑体" panose="02010609060101010101" pitchFamily="49" charset="-122"/>
              </a:rPr>
              <a:t>）脱氢酶类</a:t>
            </a:r>
            <a:r>
              <a:rPr kumimoji="1" lang="zh-CN" altLang="en-US" sz="2800">
                <a:latin typeface="Times New Roman" panose="02020603050405020304" pitchFamily="18" charset="0"/>
                <a:ea typeface="黑体" panose="02010609060101010101" pitchFamily="49" charset="-122"/>
              </a:rPr>
              <a:t>：催化直接从底物上脱氢的反应</a:t>
            </a:r>
          </a:p>
        </p:txBody>
      </p:sp>
      <p:grpSp>
        <p:nvGrpSpPr>
          <p:cNvPr id="405507" name="Group 3">
            <a:extLst>
              <a:ext uri="{FF2B5EF4-FFF2-40B4-BE49-F238E27FC236}">
                <a16:creationId xmlns:a16="http://schemas.microsoft.com/office/drawing/2014/main" id="{7C213DD2-F78B-4BA9-B1AB-52EC0D5E9B71}"/>
              </a:ext>
            </a:extLst>
          </p:cNvPr>
          <p:cNvGrpSpPr>
            <a:grpSpLocks/>
          </p:cNvGrpSpPr>
          <p:nvPr/>
        </p:nvGrpSpPr>
        <p:grpSpPr bwMode="auto">
          <a:xfrm>
            <a:off x="2927350" y="1892300"/>
            <a:ext cx="6478588" cy="457200"/>
            <a:chOff x="1248" y="1015"/>
            <a:chExt cx="4081" cy="288"/>
          </a:xfrm>
        </p:grpSpPr>
        <p:sp>
          <p:nvSpPr>
            <p:cNvPr id="405519" name="Text Box 4">
              <a:extLst>
                <a:ext uri="{FF2B5EF4-FFF2-40B4-BE49-F238E27FC236}">
                  <a16:creationId xmlns:a16="http://schemas.microsoft.com/office/drawing/2014/main" id="{EA8501AE-F9D9-4636-A705-10FCF2CD9FB3}"/>
                </a:ext>
              </a:extLst>
            </p:cNvPr>
            <p:cNvSpPr txBox="1">
              <a:spLocks noChangeArrowheads="1"/>
            </p:cNvSpPr>
            <p:nvPr/>
          </p:nvSpPr>
          <p:spPr bwMode="auto">
            <a:xfrm>
              <a:off x="1248" y="1015"/>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solidFill>
                    <a:srgbClr val="FF3300"/>
                  </a:solidFill>
                  <a:latin typeface="Times New Roman" panose="02020603050405020304" pitchFamily="18" charset="0"/>
                  <a:ea typeface="黑体" panose="02010609060101010101" pitchFamily="49" charset="-122"/>
                </a:rPr>
                <a:t>A</a:t>
              </a:r>
              <a:r>
                <a:rPr kumimoji="1" lang="en-US" altLang="zh-CN" sz="2400">
                  <a:latin typeface="Times New Roman" panose="02020603050405020304" pitchFamily="18" charset="0"/>
                  <a:ea typeface="黑体" panose="02010609060101010101" pitchFamily="49" charset="-122"/>
                </a:rPr>
                <a:t>H</a:t>
              </a:r>
              <a:r>
                <a:rPr kumimoji="1" lang="en-US" altLang="zh-CN" sz="2400" baseline="-25000">
                  <a:latin typeface="Times New Roman" panose="02020603050405020304" pitchFamily="18" charset="0"/>
                  <a:ea typeface="黑体" panose="02010609060101010101" pitchFamily="49" charset="-122"/>
                </a:rPr>
                <a:t>2 </a:t>
              </a:r>
              <a:r>
                <a:rPr kumimoji="1" lang="en-US" altLang="zh-CN" sz="2400">
                  <a:latin typeface="Times New Roman" panose="02020603050405020304" pitchFamily="18" charset="0"/>
                  <a:ea typeface="黑体" panose="02010609060101010101" pitchFamily="49" charset="-122"/>
                </a:rPr>
                <a:t>+</a:t>
              </a:r>
              <a:r>
                <a:rPr kumimoji="1" lang="en-US" altLang="zh-CN" sz="2400">
                  <a:solidFill>
                    <a:srgbClr val="008000"/>
                  </a:solidFill>
                  <a:latin typeface="Times New Roman" panose="02020603050405020304" pitchFamily="18" charset="0"/>
                  <a:ea typeface="黑体" panose="02010609060101010101" pitchFamily="49" charset="-122"/>
                </a:rPr>
                <a:t>B</a:t>
              </a:r>
            </a:p>
          </p:txBody>
        </p:sp>
        <p:pic>
          <p:nvPicPr>
            <p:cNvPr id="405520" name="Picture 5">
              <a:extLst>
                <a:ext uri="{FF2B5EF4-FFF2-40B4-BE49-F238E27FC236}">
                  <a16:creationId xmlns:a16="http://schemas.microsoft.com/office/drawing/2014/main" id="{9D8D14B6-7B11-4068-A591-365A8B649D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4" y="1063"/>
              <a:ext cx="240"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5521" name="Text Box 6">
              <a:extLst>
                <a:ext uri="{FF2B5EF4-FFF2-40B4-BE49-F238E27FC236}">
                  <a16:creationId xmlns:a16="http://schemas.microsoft.com/office/drawing/2014/main" id="{8B283202-B679-4490-BCCD-37F288FAFF3B}"/>
                </a:ext>
              </a:extLst>
            </p:cNvPr>
            <p:cNvSpPr txBox="1">
              <a:spLocks noChangeArrowheads="1"/>
            </p:cNvSpPr>
            <p:nvPr/>
          </p:nvSpPr>
          <p:spPr bwMode="auto">
            <a:xfrm>
              <a:off x="2448" y="1015"/>
              <a:ext cx="28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A +BH</a:t>
              </a:r>
              <a:r>
                <a:rPr kumimoji="1" lang="en-US" altLang="zh-CN" sz="2400" baseline="-25000">
                  <a:latin typeface="Times New Roman" panose="02020603050405020304" pitchFamily="18" charset="0"/>
                  <a:ea typeface="黑体" panose="02010609060101010101" pitchFamily="49" charset="-122"/>
                </a:rPr>
                <a:t>2</a:t>
              </a:r>
              <a:r>
                <a:rPr kumimoji="1" lang="zh-CN" altLang="en-US" sz="2400">
                  <a:latin typeface="Times New Roman" panose="02020603050405020304" pitchFamily="18" charset="0"/>
                  <a:ea typeface="黑体" panose="02010609060101010101" pitchFamily="49" charset="-122"/>
                </a:rPr>
                <a:t>（需辅酶</a:t>
              </a:r>
              <a:r>
                <a:rPr kumimoji="1" lang="en-US" altLang="zh-CN" sz="2400">
                  <a:latin typeface="Times New Roman" panose="02020603050405020304" pitchFamily="18" charset="0"/>
                  <a:ea typeface="黑体" panose="02010609060101010101" pitchFamily="49" charset="-122"/>
                </a:rPr>
                <a:t>Ⅰ</a:t>
              </a:r>
              <a:r>
                <a:rPr kumimoji="1" lang="zh-CN" altLang="en-US" sz="2400">
                  <a:latin typeface="Times New Roman" panose="02020603050405020304" pitchFamily="18" charset="0"/>
                  <a:ea typeface="黑体" panose="02010609060101010101" pitchFamily="49" charset="-122"/>
                </a:rPr>
                <a:t>或辅酶</a:t>
              </a:r>
              <a:r>
                <a:rPr kumimoji="1" lang="en-US" altLang="zh-CN" sz="2400">
                  <a:latin typeface="Times New Roman" panose="02020603050405020304" pitchFamily="18" charset="0"/>
                  <a:ea typeface="黑体" panose="02010609060101010101" pitchFamily="49" charset="-122"/>
                </a:rPr>
                <a:t>Ⅱ</a:t>
              </a:r>
              <a:r>
                <a:rPr kumimoji="1" lang="zh-CN" altLang="en-US" sz="2400">
                  <a:latin typeface="Times New Roman" panose="02020603050405020304" pitchFamily="18" charset="0"/>
                  <a:ea typeface="黑体" panose="02010609060101010101" pitchFamily="49" charset="-122"/>
                </a:rPr>
                <a:t>）</a:t>
              </a:r>
            </a:p>
          </p:txBody>
        </p:sp>
      </p:grpSp>
      <p:sp>
        <p:nvSpPr>
          <p:cNvPr id="405508" name="Text Box 7">
            <a:extLst>
              <a:ext uri="{FF2B5EF4-FFF2-40B4-BE49-F238E27FC236}">
                <a16:creationId xmlns:a16="http://schemas.microsoft.com/office/drawing/2014/main" id="{1B18D737-465C-4336-BE69-71621516F035}"/>
              </a:ext>
            </a:extLst>
          </p:cNvPr>
          <p:cNvSpPr txBox="1">
            <a:spLocks noChangeArrowheads="1"/>
          </p:cNvSpPr>
          <p:nvPr/>
        </p:nvSpPr>
        <p:spPr bwMode="auto">
          <a:xfrm>
            <a:off x="2063750" y="2852738"/>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800">
                <a:solidFill>
                  <a:srgbClr val="9900CC"/>
                </a:solidFill>
                <a:latin typeface="Times New Roman" panose="02020603050405020304" pitchFamily="18" charset="0"/>
                <a:ea typeface="黑体" panose="02010609060101010101" pitchFamily="49" charset="-122"/>
              </a:rPr>
              <a:t>（</a:t>
            </a:r>
            <a:r>
              <a:rPr kumimoji="1" lang="en-US" altLang="zh-CN" sz="2800">
                <a:solidFill>
                  <a:srgbClr val="9900CC"/>
                </a:solidFill>
                <a:latin typeface="Times New Roman" panose="02020603050405020304" pitchFamily="18" charset="0"/>
                <a:ea typeface="黑体" panose="02010609060101010101" pitchFamily="49" charset="-122"/>
              </a:rPr>
              <a:t>2</a:t>
            </a:r>
            <a:r>
              <a:rPr kumimoji="1" lang="zh-CN" altLang="en-US" sz="2800">
                <a:solidFill>
                  <a:srgbClr val="9900CC"/>
                </a:solidFill>
                <a:latin typeface="Times New Roman" panose="02020603050405020304" pitchFamily="18" charset="0"/>
                <a:ea typeface="黑体" panose="02010609060101010101" pitchFamily="49" charset="-122"/>
              </a:rPr>
              <a:t>）氧化酶类</a:t>
            </a:r>
          </a:p>
        </p:txBody>
      </p:sp>
      <p:sp>
        <p:nvSpPr>
          <p:cNvPr id="405509" name="Text Box 8">
            <a:extLst>
              <a:ext uri="{FF2B5EF4-FFF2-40B4-BE49-F238E27FC236}">
                <a16:creationId xmlns:a16="http://schemas.microsoft.com/office/drawing/2014/main" id="{1135FBEC-591A-4C43-B6CD-368DE98BE452}"/>
              </a:ext>
            </a:extLst>
          </p:cNvPr>
          <p:cNvSpPr txBox="1">
            <a:spLocks noChangeArrowheads="1"/>
          </p:cNvSpPr>
          <p:nvPr/>
        </p:nvSpPr>
        <p:spPr bwMode="auto">
          <a:xfrm>
            <a:off x="2430463" y="3459163"/>
            <a:ext cx="510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① </a:t>
            </a:r>
            <a:r>
              <a:rPr kumimoji="1" lang="zh-CN" altLang="en-US" sz="2400">
                <a:latin typeface="Times New Roman" panose="02020603050405020304" pitchFamily="18" charset="0"/>
                <a:ea typeface="黑体" panose="02010609060101010101" pitchFamily="49" charset="-122"/>
              </a:rPr>
              <a:t>催化底物脱氢，氧化生成</a:t>
            </a:r>
            <a:r>
              <a:rPr kumimoji="1" lang="en-US" altLang="zh-CN" sz="2400">
                <a:solidFill>
                  <a:srgbClr val="FF3300"/>
                </a:solidFill>
                <a:latin typeface="Times New Roman" panose="02020603050405020304" pitchFamily="18" charset="0"/>
                <a:ea typeface="黑体" panose="02010609060101010101" pitchFamily="49" charset="-122"/>
              </a:rPr>
              <a:t>H</a:t>
            </a:r>
            <a:r>
              <a:rPr kumimoji="1" lang="en-US" altLang="zh-CN" sz="2400" baseline="-25000">
                <a:solidFill>
                  <a:srgbClr val="FF3300"/>
                </a:solidFill>
                <a:latin typeface="Times New Roman" panose="02020603050405020304" pitchFamily="18" charset="0"/>
                <a:ea typeface="黑体" panose="02010609060101010101" pitchFamily="49" charset="-122"/>
              </a:rPr>
              <a:t>2</a:t>
            </a:r>
            <a:r>
              <a:rPr kumimoji="1" lang="en-US" altLang="zh-CN" sz="2400">
                <a:solidFill>
                  <a:srgbClr val="FF3300"/>
                </a:solidFill>
                <a:latin typeface="Times New Roman" panose="02020603050405020304" pitchFamily="18" charset="0"/>
                <a:ea typeface="黑体" panose="02010609060101010101" pitchFamily="49" charset="-122"/>
              </a:rPr>
              <a:t>O</a:t>
            </a:r>
            <a:r>
              <a:rPr kumimoji="1" lang="en-US" altLang="zh-CN" sz="2400" baseline="-25000">
                <a:solidFill>
                  <a:srgbClr val="FF3300"/>
                </a:solidFill>
                <a:latin typeface="Times New Roman" panose="02020603050405020304" pitchFamily="18" charset="0"/>
                <a:ea typeface="黑体" panose="02010609060101010101" pitchFamily="49" charset="-122"/>
              </a:rPr>
              <a:t>2</a:t>
            </a:r>
            <a:r>
              <a:rPr kumimoji="1" lang="zh-CN" altLang="en-US" sz="2400">
                <a:latin typeface="Times New Roman" panose="02020603050405020304" pitchFamily="18" charset="0"/>
                <a:ea typeface="黑体" panose="02010609060101010101" pitchFamily="49" charset="-122"/>
              </a:rPr>
              <a:t>：</a:t>
            </a:r>
          </a:p>
        </p:txBody>
      </p:sp>
      <p:grpSp>
        <p:nvGrpSpPr>
          <p:cNvPr id="405510" name="Group 9">
            <a:extLst>
              <a:ext uri="{FF2B5EF4-FFF2-40B4-BE49-F238E27FC236}">
                <a16:creationId xmlns:a16="http://schemas.microsoft.com/office/drawing/2014/main" id="{B42A2009-80D3-48FA-AA37-211FC5948ED4}"/>
              </a:ext>
            </a:extLst>
          </p:cNvPr>
          <p:cNvGrpSpPr>
            <a:grpSpLocks/>
          </p:cNvGrpSpPr>
          <p:nvPr/>
        </p:nvGrpSpPr>
        <p:grpSpPr bwMode="auto">
          <a:xfrm>
            <a:off x="2889250" y="4051300"/>
            <a:ext cx="5943600" cy="457200"/>
            <a:chOff x="1047" y="1916"/>
            <a:chExt cx="3744" cy="288"/>
          </a:xfrm>
        </p:grpSpPr>
        <p:sp>
          <p:nvSpPr>
            <p:cNvPr id="405516" name="Text Box 10">
              <a:extLst>
                <a:ext uri="{FF2B5EF4-FFF2-40B4-BE49-F238E27FC236}">
                  <a16:creationId xmlns:a16="http://schemas.microsoft.com/office/drawing/2014/main" id="{BAD47CD5-FAFF-4B3C-AB42-0CDED67A6581}"/>
                </a:ext>
              </a:extLst>
            </p:cNvPr>
            <p:cNvSpPr txBox="1">
              <a:spLocks noChangeArrowheads="1"/>
            </p:cNvSpPr>
            <p:nvPr/>
          </p:nvSpPr>
          <p:spPr bwMode="auto">
            <a:xfrm>
              <a:off x="1047" y="1916"/>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AH</a:t>
              </a:r>
              <a:r>
                <a:rPr kumimoji="1" lang="en-US" altLang="zh-CN" sz="2400" baseline="-25000">
                  <a:latin typeface="Times New Roman" panose="02020603050405020304" pitchFamily="18" charset="0"/>
                  <a:ea typeface="黑体" panose="02010609060101010101" pitchFamily="49" charset="-122"/>
                </a:rPr>
                <a:t>2</a:t>
              </a:r>
              <a:r>
                <a:rPr kumimoji="1" lang="en-US" altLang="zh-CN" sz="2400">
                  <a:latin typeface="Times New Roman" panose="02020603050405020304" pitchFamily="18" charset="0"/>
                  <a:ea typeface="黑体" panose="02010609060101010101" pitchFamily="49" charset="-122"/>
                </a:rPr>
                <a:t> + O</a:t>
              </a:r>
              <a:r>
                <a:rPr kumimoji="1" lang="en-US" altLang="zh-CN" sz="2400" baseline="-25000">
                  <a:latin typeface="Times New Roman" panose="02020603050405020304" pitchFamily="18" charset="0"/>
                  <a:ea typeface="黑体" panose="02010609060101010101" pitchFamily="49" charset="-122"/>
                </a:rPr>
                <a:t>2</a:t>
              </a:r>
              <a:endParaRPr kumimoji="1" lang="en-US" altLang="zh-CN" sz="2400">
                <a:latin typeface="Times New Roman" panose="02020603050405020304" pitchFamily="18" charset="0"/>
                <a:ea typeface="黑体" panose="02010609060101010101" pitchFamily="49" charset="-122"/>
              </a:endParaRPr>
            </a:p>
          </p:txBody>
        </p:sp>
        <p:pic>
          <p:nvPicPr>
            <p:cNvPr id="405517" name="Picture 11">
              <a:extLst>
                <a:ext uri="{FF2B5EF4-FFF2-40B4-BE49-F238E27FC236}">
                  <a16:creationId xmlns:a16="http://schemas.microsoft.com/office/drawing/2014/main" id="{DA9B458E-0002-4C8B-BE06-0185D375F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1" y="1916"/>
              <a:ext cx="30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5518" name="Text Box 12">
              <a:extLst>
                <a:ext uri="{FF2B5EF4-FFF2-40B4-BE49-F238E27FC236}">
                  <a16:creationId xmlns:a16="http://schemas.microsoft.com/office/drawing/2014/main" id="{6B439F79-DC04-47E0-8E60-DD353A6E54B4}"/>
                </a:ext>
              </a:extLst>
            </p:cNvPr>
            <p:cNvSpPr txBox="1">
              <a:spLocks noChangeArrowheads="1"/>
            </p:cNvSpPr>
            <p:nvPr/>
          </p:nvSpPr>
          <p:spPr bwMode="auto">
            <a:xfrm>
              <a:off x="2295" y="1916"/>
              <a:ext cx="2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A + </a:t>
              </a:r>
              <a:r>
                <a:rPr kumimoji="1" lang="en-US" altLang="zh-CN" sz="2400">
                  <a:solidFill>
                    <a:srgbClr val="FF3300"/>
                  </a:solidFill>
                  <a:latin typeface="Times New Roman" panose="02020603050405020304" pitchFamily="18" charset="0"/>
                  <a:ea typeface="黑体" panose="02010609060101010101" pitchFamily="49" charset="-122"/>
                </a:rPr>
                <a:t>H</a:t>
              </a:r>
              <a:r>
                <a:rPr kumimoji="1" lang="en-US" altLang="zh-CN" sz="2400" baseline="-25000">
                  <a:solidFill>
                    <a:srgbClr val="FF3300"/>
                  </a:solidFill>
                  <a:latin typeface="Times New Roman" panose="02020603050405020304" pitchFamily="18" charset="0"/>
                  <a:ea typeface="黑体" panose="02010609060101010101" pitchFamily="49" charset="-122"/>
                </a:rPr>
                <a:t>2</a:t>
              </a:r>
              <a:r>
                <a:rPr kumimoji="1" lang="en-US" altLang="zh-CN" sz="2400">
                  <a:solidFill>
                    <a:srgbClr val="FF3300"/>
                  </a:solidFill>
                  <a:latin typeface="Times New Roman" panose="02020603050405020304" pitchFamily="18" charset="0"/>
                  <a:ea typeface="黑体" panose="02010609060101010101" pitchFamily="49" charset="-122"/>
                </a:rPr>
                <a:t>O</a:t>
              </a:r>
              <a:r>
                <a:rPr kumimoji="1" lang="en-US" altLang="zh-CN" sz="2400" baseline="-25000">
                  <a:solidFill>
                    <a:srgbClr val="FF3300"/>
                  </a:solidFill>
                  <a:latin typeface="Times New Roman" panose="02020603050405020304" pitchFamily="18" charset="0"/>
                  <a:ea typeface="黑体" panose="02010609060101010101" pitchFamily="49" charset="-122"/>
                </a:rPr>
                <a:t>2</a:t>
              </a:r>
              <a:r>
                <a:rPr kumimoji="1" lang="zh-CN" altLang="en-US" sz="2400">
                  <a:latin typeface="Times New Roman" panose="02020603050405020304" pitchFamily="18" charset="0"/>
                  <a:ea typeface="黑体" panose="02010609060101010101" pitchFamily="49" charset="-122"/>
                </a:rPr>
                <a:t>（需</a:t>
              </a:r>
              <a:r>
                <a:rPr kumimoji="1" lang="en-US" altLang="zh-CN" sz="2400">
                  <a:latin typeface="Times New Roman" panose="02020603050405020304" pitchFamily="18" charset="0"/>
                  <a:ea typeface="黑体" panose="02010609060101010101" pitchFamily="49" charset="-122"/>
                </a:rPr>
                <a:t>FAD</a:t>
              </a:r>
              <a:r>
                <a:rPr kumimoji="1" lang="zh-CN" altLang="en-US" sz="2400">
                  <a:latin typeface="Times New Roman" panose="02020603050405020304" pitchFamily="18" charset="0"/>
                  <a:ea typeface="黑体" panose="02010609060101010101" pitchFamily="49" charset="-122"/>
                </a:rPr>
                <a:t>或</a:t>
              </a:r>
              <a:r>
                <a:rPr kumimoji="1" lang="en-US" altLang="zh-CN" sz="2400">
                  <a:latin typeface="Times New Roman" panose="02020603050405020304" pitchFamily="18" charset="0"/>
                  <a:ea typeface="黑体" panose="02010609060101010101" pitchFamily="49" charset="-122"/>
                </a:rPr>
                <a:t>FMN</a:t>
              </a:r>
              <a:r>
                <a:rPr kumimoji="1" lang="zh-CN" altLang="en-US" sz="2400">
                  <a:latin typeface="Times New Roman" panose="02020603050405020304" pitchFamily="18" charset="0"/>
                  <a:ea typeface="黑体" panose="02010609060101010101" pitchFamily="49" charset="-122"/>
                </a:rPr>
                <a:t>）</a:t>
              </a:r>
            </a:p>
          </p:txBody>
        </p:sp>
      </p:grpSp>
      <p:sp>
        <p:nvSpPr>
          <p:cNvPr id="405511" name="Text Box 13">
            <a:extLst>
              <a:ext uri="{FF2B5EF4-FFF2-40B4-BE49-F238E27FC236}">
                <a16:creationId xmlns:a16="http://schemas.microsoft.com/office/drawing/2014/main" id="{9B1E3DF8-EEBE-4EDE-B2F0-43C9F789FDCC}"/>
              </a:ext>
            </a:extLst>
          </p:cNvPr>
          <p:cNvSpPr txBox="1">
            <a:spLocks noChangeArrowheads="1"/>
          </p:cNvSpPr>
          <p:nvPr/>
        </p:nvSpPr>
        <p:spPr bwMode="auto">
          <a:xfrm>
            <a:off x="2424113" y="4748213"/>
            <a:ext cx="6119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② </a:t>
            </a:r>
            <a:r>
              <a:rPr kumimoji="1" lang="zh-CN" altLang="en-US" sz="2400">
                <a:latin typeface="Times New Roman" panose="02020603050405020304" pitchFamily="18" charset="0"/>
                <a:ea typeface="黑体" panose="02010609060101010101" pitchFamily="49" charset="-122"/>
              </a:rPr>
              <a:t>催化底物脱氢，氧化生成</a:t>
            </a:r>
            <a:r>
              <a:rPr kumimoji="1" lang="en-US" altLang="zh-CN" sz="2400">
                <a:solidFill>
                  <a:srgbClr val="0000CC"/>
                </a:solidFill>
                <a:latin typeface="Times New Roman" panose="02020603050405020304" pitchFamily="18" charset="0"/>
                <a:ea typeface="黑体" panose="02010609060101010101" pitchFamily="49" charset="-122"/>
              </a:rPr>
              <a:t>H</a:t>
            </a:r>
            <a:r>
              <a:rPr kumimoji="1" lang="en-US" altLang="zh-CN" sz="2400" baseline="-25000">
                <a:solidFill>
                  <a:srgbClr val="0000CC"/>
                </a:solidFill>
                <a:latin typeface="Times New Roman" panose="02020603050405020304" pitchFamily="18" charset="0"/>
                <a:ea typeface="黑体" panose="02010609060101010101" pitchFamily="49" charset="-122"/>
              </a:rPr>
              <a:t>2</a:t>
            </a:r>
            <a:r>
              <a:rPr kumimoji="1" lang="en-US" altLang="zh-CN" sz="2400">
                <a:solidFill>
                  <a:srgbClr val="0000CC"/>
                </a:solidFill>
                <a:latin typeface="Times New Roman" panose="02020603050405020304" pitchFamily="18" charset="0"/>
                <a:ea typeface="黑体" panose="02010609060101010101" pitchFamily="49" charset="-122"/>
              </a:rPr>
              <a:t>O</a:t>
            </a:r>
            <a:r>
              <a:rPr kumimoji="1" lang="zh-CN" altLang="en-US" sz="2400">
                <a:latin typeface="Times New Roman" panose="02020603050405020304" pitchFamily="18" charset="0"/>
                <a:ea typeface="黑体" panose="02010609060101010101" pitchFamily="49" charset="-122"/>
              </a:rPr>
              <a:t>：</a:t>
            </a:r>
          </a:p>
        </p:txBody>
      </p:sp>
      <p:grpSp>
        <p:nvGrpSpPr>
          <p:cNvPr id="405512" name="Group 14">
            <a:extLst>
              <a:ext uri="{FF2B5EF4-FFF2-40B4-BE49-F238E27FC236}">
                <a16:creationId xmlns:a16="http://schemas.microsoft.com/office/drawing/2014/main" id="{88A5482D-A674-4AB9-B67E-30D325D0720B}"/>
              </a:ext>
            </a:extLst>
          </p:cNvPr>
          <p:cNvGrpSpPr>
            <a:grpSpLocks/>
          </p:cNvGrpSpPr>
          <p:nvPr/>
        </p:nvGrpSpPr>
        <p:grpSpPr bwMode="auto">
          <a:xfrm>
            <a:off x="2913063" y="5348288"/>
            <a:ext cx="4191000" cy="457200"/>
            <a:chOff x="999" y="2636"/>
            <a:chExt cx="2640" cy="288"/>
          </a:xfrm>
        </p:grpSpPr>
        <p:sp>
          <p:nvSpPr>
            <p:cNvPr id="405513" name="Text Box 15">
              <a:extLst>
                <a:ext uri="{FF2B5EF4-FFF2-40B4-BE49-F238E27FC236}">
                  <a16:creationId xmlns:a16="http://schemas.microsoft.com/office/drawing/2014/main" id="{0BFA5345-F706-4DE4-97F7-C307F07EA8E5}"/>
                </a:ext>
              </a:extLst>
            </p:cNvPr>
            <p:cNvSpPr txBox="1">
              <a:spLocks noChangeArrowheads="1"/>
            </p:cNvSpPr>
            <p:nvPr/>
          </p:nvSpPr>
          <p:spPr bwMode="auto">
            <a:xfrm>
              <a:off x="999" y="2636"/>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2AH</a:t>
              </a:r>
              <a:r>
                <a:rPr kumimoji="1" lang="en-US" altLang="zh-CN" sz="2400" baseline="-25000">
                  <a:latin typeface="Times New Roman" panose="02020603050405020304" pitchFamily="18" charset="0"/>
                  <a:ea typeface="黑体" panose="02010609060101010101" pitchFamily="49" charset="-122"/>
                </a:rPr>
                <a:t>2</a:t>
              </a:r>
              <a:r>
                <a:rPr kumimoji="1" lang="en-US" altLang="zh-CN" sz="2400">
                  <a:latin typeface="Times New Roman" panose="02020603050405020304" pitchFamily="18" charset="0"/>
                  <a:ea typeface="黑体" panose="02010609060101010101" pitchFamily="49" charset="-122"/>
                </a:rPr>
                <a:t> + O</a:t>
              </a:r>
              <a:r>
                <a:rPr kumimoji="1" lang="en-US" altLang="zh-CN" sz="2400" baseline="-25000">
                  <a:latin typeface="Times New Roman" panose="02020603050405020304" pitchFamily="18" charset="0"/>
                  <a:ea typeface="黑体" panose="02010609060101010101" pitchFamily="49" charset="-122"/>
                </a:rPr>
                <a:t>2</a:t>
              </a:r>
              <a:endParaRPr kumimoji="1" lang="en-US" altLang="zh-CN" sz="2400">
                <a:latin typeface="Times New Roman" panose="02020603050405020304" pitchFamily="18" charset="0"/>
                <a:ea typeface="黑体" panose="02010609060101010101" pitchFamily="49" charset="-122"/>
              </a:endParaRPr>
            </a:p>
          </p:txBody>
        </p:sp>
        <p:pic>
          <p:nvPicPr>
            <p:cNvPr id="405514" name="Picture 16">
              <a:extLst>
                <a:ext uri="{FF2B5EF4-FFF2-40B4-BE49-F238E27FC236}">
                  <a16:creationId xmlns:a16="http://schemas.microsoft.com/office/drawing/2014/main" id="{1F5B8A8A-BED6-4A3D-9192-3A9DE6E064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1" y="2636"/>
              <a:ext cx="30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5515" name="Text Box 17">
              <a:extLst>
                <a:ext uri="{FF2B5EF4-FFF2-40B4-BE49-F238E27FC236}">
                  <a16:creationId xmlns:a16="http://schemas.microsoft.com/office/drawing/2014/main" id="{A94C42DB-F180-48D1-8712-8C3E7165F710}"/>
                </a:ext>
              </a:extLst>
            </p:cNvPr>
            <p:cNvSpPr txBox="1">
              <a:spLocks noChangeArrowheads="1"/>
            </p:cNvSpPr>
            <p:nvPr/>
          </p:nvSpPr>
          <p:spPr bwMode="auto">
            <a:xfrm>
              <a:off x="2247" y="2636"/>
              <a:ext cx="1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2A + 2</a:t>
              </a:r>
              <a:r>
                <a:rPr kumimoji="1" lang="en-US" altLang="zh-CN" sz="2400">
                  <a:solidFill>
                    <a:srgbClr val="0000CC"/>
                  </a:solidFill>
                  <a:latin typeface="Times New Roman" panose="02020603050405020304" pitchFamily="18" charset="0"/>
                  <a:ea typeface="黑体" panose="02010609060101010101" pitchFamily="49" charset="-122"/>
                </a:rPr>
                <a:t>H</a:t>
              </a:r>
              <a:r>
                <a:rPr kumimoji="1" lang="en-US" altLang="zh-CN" sz="2400" baseline="-25000">
                  <a:solidFill>
                    <a:srgbClr val="0000CC"/>
                  </a:solidFill>
                  <a:latin typeface="Times New Roman" panose="02020603050405020304" pitchFamily="18" charset="0"/>
                  <a:ea typeface="黑体" panose="02010609060101010101" pitchFamily="49" charset="-122"/>
                </a:rPr>
                <a:t>2</a:t>
              </a:r>
              <a:r>
                <a:rPr kumimoji="1" lang="en-US" altLang="zh-CN" sz="2400">
                  <a:solidFill>
                    <a:srgbClr val="0000CC"/>
                  </a:solidFill>
                  <a:latin typeface="Times New Roman" panose="02020603050405020304" pitchFamily="18" charset="0"/>
                  <a:ea typeface="黑体" panose="02010609060101010101" pitchFamily="49" charset="-122"/>
                </a:rPr>
                <a:t>O</a:t>
              </a:r>
            </a:p>
          </p:txBody>
        </p:sp>
      </p:grpSp>
    </p:spTree>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7554" name="Text Box 2">
            <a:extLst>
              <a:ext uri="{FF2B5EF4-FFF2-40B4-BE49-F238E27FC236}">
                <a16:creationId xmlns:a16="http://schemas.microsoft.com/office/drawing/2014/main" id="{0257FEBE-9F4F-4600-AAB7-E18F913A44B0}"/>
              </a:ext>
            </a:extLst>
          </p:cNvPr>
          <p:cNvSpPr txBox="1">
            <a:spLocks noChangeArrowheads="1"/>
          </p:cNvSpPr>
          <p:nvPr/>
        </p:nvSpPr>
        <p:spPr bwMode="auto">
          <a:xfrm>
            <a:off x="1981201" y="2684463"/>
            <a:ext cx="6778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800" b="1">
                <a:solidFill>
                  <a:srgbClr val="9900CC"/>
                </a:solidFill>
                <a:latin typeface="Times New Roman" panose="02020603050405020304" pitchFamily="18" charset="0"/>
                <a:ea typeface="黑体" panose="02010609060101010101" pitchFamily="49" charset="-122"/>
              </a:rPr>
              <a:t>（</a:t>
            </a:r>
            <a:r>
              <a:rPr kumimoji="1" lang="en-US" altLang="zh-CN" sz="2800" b="1">
                <a:solidFill>
                  <a:srgbClr val="9900CC"/>
                </a:solidFill>
                <a:latin typeface="Times New Roman" panose="02020603050405020304" pitchFamily="18" charset="0"/>
                <a:ea typeface="黑体" panose="02010609060101010101" pitchFamily="49" charset="-122"/>
              </a:rPr>
              <a:t>4</a:t>
            </a:r>
            <a:r>
              <a:rPr kumimoji="1" lang="zh-CN" altLang="en-US" sz="2800" b="1">
                <a:solidFill>
                  <a:srgbClr val="9900CC"/>
                </a:solidFill>
                <a:latin typeface="Times New Roman" panose="02020603050405020304" pitchFamily="18" charset="0"/>
                <a:ea typeface="黑体" panose="02010609060101010101" pitchFamily="49" charset="-122"/>
              </a:rPr>
              <a:t>）加氧酶（双加氧酶和加单氧酶）</a:t>
            </a:r>
          </a:p>
        </p:txBody>
      </p:sp>
      <p:grpSp>
        <p:nvGrpSpPr>
          <p:cNvPr id="407555" name="Group 3">
            <a:extLst>
              <a:ext uri="{FF2B5EF4-FFF2-40B4-BE49-F238E27FC236}">
                <a16:creationId xmlns:a16="http://schemas.microsoft.com/office/drawing/2014/main" id="{6983EBA2-8303-49FC-AB81-396376136980}"/>
              </a:ext>
            </a:extLst>
          </p:cNvPr>
          <p:cNvGrpSpPr>
            <a:grpSpLocks/>
          </p:cNvGrpSpPr>
          <p:nvPr/>
        </p:nvGrpSpPr>
        <p:grpSpPr bwMode="auto">
          <a:xfrm>
            <a:off x="2208214" y="3116263"/>
            <a:ext cx="7254875" cy="1509712"/>
            <a:chOff x="768" y="770"/>
            <a:chExt cx="4570" cy="951"/>
          </a:xfrm>
        </p:grpSpPr>
        <p:grpSp>
          <p:nvGrpSpPr>
            <p:cNvPr id="407566" name="Group 4">
              <a:extLst>
                <a:ext uri="{FF2B5EF4-FFF2-40B4-BE49-F238E27FC236}">
                  <a16:creationId xmlns:a16="http://schemas.microsoft.com/office/drawing/2014/main" id="{DB8232A8-AA01-406C-A7B6-AC368C576835}"/>
                </a:ext>
              </a:extLst>
            </p:cNvPr>
            <p:cNvGrpSpPr>
              <a:grpSpLocks/>
            </p:cNvGrpSpPr>
            <p:nvPr/>
          </p:nvGrpSpPr>
          <p:grpSpPr bwMode="auto">
            <a:xfrm>
              <a:off x="768" y="1058"/>
              <a:ext cx="1200" cy="423"/>
              <a:chOff x="768" y="3120"/>
              <a:chExt cx="1200" cy="423"/>
            </a:xfrm>
          </p:grpSpPr>
          <p:sp>
            <p:nvSpPr>
              <p:cNvPr id="407583" name="Text Box 5">
                <a:extLst>
                  <a:ext uri="{FF2B5EF4-FFF2-40B4-BE49-F238E27FC236}">
                    <a16:creationId xmlns:a16="http://schemas.microsoft.com/office/drawing/2014/main" id="{8D5A301E-A350-4CA8-891C-730082AC424D}"/>
                  </a:ext>
                </a:extLst>
              </p:cNvPr>
              <p:cNvSpPr txBox="1">
                <a:spLocks noChangeArrowheads="1"/>
              </p:cNvSpPr>
              <p:nvPr/>
            </p:nvSpPr>
            <p:spPr bwMode="auto">
              <a:xfrm>
                <a:off x="768" y="3168"/>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O</a:t>
                </a:r>
                <a:r>
                  <a:rPr kumimoji="1" lang="en-US" altLang="zh-CN" sz="2400" baseline="-25000">
                    <a:latin typeface="Times New Roman" panose="02020603050405020304" pitchFamily="18" charset="0"/>
                    <a:ea typeface="黑体" panose="02010609060101010101" pitchFamily="49" charset="-122"/>
                  </a:rPr>
                  <a:t>2</a:t>
                </a:r>
                <a:r>
                  <a:rPr kumimoji="1" lang="en-US" altLang="zh-CN" sz="2400">
                    <a:latin typeface="Times New Roman" panose="02020603050405020304" pitchFamily="18" charset="0"/>
                    <a:ea typeface="黑体" panose="02010609060101010101" pitchFamily="49" charset="-122"/>
                  </a:rPr>
                  <a:t> +</a:t>
                </a:r>
              </a:p>
            </p:txBody>
          </p:sp>
          <p:grpSp>
            <p:nvGrpSpPr>
              <p:cNvPr id="407584" name="Group 6">
                <a:extLst>
                  <a:ext uri="{FF2B5EF4-FFF2-40B4-BE49-F238E27FC236}">
                    <a16:creationId xmlns:a16="http://schemas.microsoft.com/office/drawing/2014/main" id="{5DCD6D98-C89A-4E6D-9E84-BC5BD2B5B659}"/>
                  </a:ext>
                </a:extLst>
              </p:cNvPr>
              <p:cNvGrpSpPr>
                <a:grpSpLocks/>
              </p:cNvGrpSpPr>
              <p:nvPr/>
            </p:nvGrpSpPr>
            <p:grpSpPr bwMode="auto">
              <a:xfrm>
                <a:off x="1248" y="3120"/>
                <a:ext cx="720" cy="423"/>
                <a:chOff x="1248" y="3120"/>
                <a:chExt cx="720" cy="423"/>
              </a:xfrm>
            </p:grpSpPr>
            <p:pic>
              <p:nvPicPr>
                <p:cNvPr id="407585" name="Picture 7">
                  <a:extLst>
                    <a:ext uri="{FF2B5EF4-FFF2-40B4-BE49-F238E27FC236}">
                      <a16:creationId xmlns:a16="http://schemas.microsoft.com/office/drawing/2014/main" id="{7456BA25-9D1C-427E-8CD6-4862BA6B7A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8" y="3120"/>
                  <a:ext cx="270"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7586" name="Text Box 8">
                  <a:extLst>
                    <a:ext uri="{FF2B5EF4-FFF2-40B4-BE49-F238E27FC236}">
                      <a16:creationId xmlns:a16="http://schemas.microsoft.com/office/drawing/2014/main" id="{FFB674C5-468F-405E-A0FF-D07FA49B3808}"/>
                    </a:ext>
                  </a:extLst>
                </p:cNvPr>
                <p:cNvSpPr txBox="1">
                  <a:spLocks noChangeArrowheads="1"/>
                </p:cNvSpPr>
                <p:nvPr/>
              </p:nvSpPr>
              <p:spPr bwMode="auto">
                <a:xfrm>
                  <a:off x="1536" y="312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1800">
                      <a:latin typeface="Times New Roman" panose="02020603050405020304" pitchFamily="18" charset="0"/>
                      <a:ea typeface="黑体" panose="02010609060101010101" pitchFamily="49" charset="-122"/>
                    </a:rPr>
                    <a:t>OH</a:t>
                  </a:r>
                </a:p>
              </p:txBody>
            </p:sp>
            <p:sp>
              <p:nvSpPr>
                <p:cNvPr id="407587" name="Line 9">
                  <a:extLst>
                    <a:ext uri="{FF2B5EF4-FFF2-40B4-BE49-F238E27FC236}">
                      <a16:creationId xmlns:a16="http://schemas.microsoft.com/office/drawing/2014/main" id="{5DA59609-DA88-4FE1-B838-771C38F44ADD}"/>
                    </a:ext>
                  </a:extLst>
                </p:cNvPr>
                <p:cNvSpPr>
                  <a:spLocks noChangeShapeType="1"/>
                </p:cNvSpPr>
                <p:nvPr/>
              </p:nvSpPr>
              <p:spPr bwMode="auto">
                <a:xfrm>
                  <a:off x="1488" y="3216"/>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7588" name="Text Box 10">
                  <a:extLst>
                    <a:ext uri="{FF2B5EF4-FFF2-40B4-BE49-F238E27FC236}">
                      <a16:creationId xmlns:a16="http://schemas.microsoft.com/office/drawing/2014/main" id="{F8ADC35B-6828-48CE-A344-13B949014B15}"/>
                    </a:ext>
                  </a:extLst>
                </p:cNvPr>
                <p:cNvSpPr txBox="1">
                  <a:spLocks noChangeArrowheads="1"/>
                </p:cNvSpPr>
                <p:nvPr/>
              </p:nvSpPr>
              <p:spPr bwMode="auto">
                <a:xfrm>
                  <a:off x="1536" y="3312"/>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1800">
                      <a:latin typeface="Times New Roman" panose="02020603050405020304" pitchFamily="18" charset="0"/>
                      <a:ea typeface="黑体" panose="02010609060101010101" pitchFamily="49" charset="-122"/>
                    </a:rPr>
                    <a:t>OH</a:t>
                  </a:r>
                </a:p>
              </p:txBody>
            </p:sp>
            <p:sp>
              <p:nvSpPr>
                <p:cNvPr id="407589" name="Line 11">
                  <a:extLst>
                    <a:ext uri="{FF2B5EF4-FFF2-40B4-BE49-F238E27FC236}">
                      <a16:creationId xmlns:a16="http://schemas.microsoft.com/office/drawing/2014/main" id="{3D5BD5FC-94EC-435C-9E44-CD97ABBDBBA2}"/>
                    </a:ext>
                  </a:extLst>
                </p:cNvPr>
                <p:cNvSpPr>
                  <a:spLocks noChangeShapeType="1"/>
                </p:cNvSpPr>
                <p:nvPr/>
              </p:nvSpPr>
              <p:spPr bwMode="auto">
                <a:xfrm>
                  <a:off x="1488" y="3408"/>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407567" name="Line 12">
              <a:extLst>
                <a:ext uri="{FF2B5EF4-FFF2-40B4-BE49-F238E27FC236}">
                  <a16:creationId xmlns:a16="http://schemas.microsoft.com/office/drawing/2014/main" id="{9F9E98B8-0C40-4BBD-BF0B-A95F838F2DED}"/>
                </a:ext>
              </a:extLst>
            </p:cNvPr>
            <p:cNvSpPr>
              <a:spLocks noChangeShapeType="1"/>
            </p:cNvSpPr>
            <p:nvPr/>
          </p:nvSpPr>
          <p:spPr bwMode="auto">
            <a:xfrm>
              <a:off x="1920" y="1250"/>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07568" name="Group 13">
              <a:extLst>
                <a:ext uri="{FF2B5EF4-FFF2-40B4-BE49-F238E27FC236}">
                  <a16:creationId xmlns:a16="http://schemas.microsoft.com/office/drawing/2014/main" id="{18ABDAB7-3D87-4FCE-B869-2878968C3CE6}"/>
                </a:ext>
              </a:extLst>
            </p:cNvPr>
            <p:cNvGrpSpPr>
              <a:grpSpLocks/>
            </p:cNvGrpSpPr>
            <p:nvPr/>
          </p:nvGrpSpPr>
          <p:grpSpPr bwMode="auto">
            <a:xfrm>
              <a:off x="2400" y="770"/>
              <a:ext cx="1056" cy="951"/>
              <a:chOff x="2400" y="2976"/>
              <a:chExt cx="1056" cy="951"/>
            </a:xfrm>
          </p:grpSpPr>
          <p:sp>
            <p:nvSpPr>
              <p:cNvPr id="407570" name="Text Box 14">
                <a:extLst>
                  <a:ext uri="{FF2B5EF4-FFF2-40B4-BE49-F238E27FC236}">
                    <a16:creationId xmlns:a16="http://schemas.microsoft.com/office/drawing/2014/main" id="{E7698426-6FF8-45E3-A261-A5A5260CFFC3}"/>
                  </a:ext>
                </a:extLst>
              </p:cNvPr>
              <p:cNvSpPr txBox="1">
                <a:spLocks noChangeArrowheads="1"/>
              </p:cNvSpPr>
              <p:nvPr/>
            </p:nvSpPr>
            <p:spPr bwMode="auto">
              <a:xfrm>
                <a:off x="2736" y="3168"/>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1800">
                    <a:latin typeface="Times New Roman" panose="02020603050405020304" pitchFamily="18" charset="0"/>
                    <a:ea typeface="黑体" panose="02010609060101010101" pitchFamily="49" charset="-122"/>
                  </a:rPr>
                  <a:t>C=O</a:t>
                </a:r>
              </a:p>
            </p:txBody>
          </p:sp>
          <p:sp>
            <p:nvSpPr>
              <p:cNvPr id="407571" name="Text Box 15">
                <a:extLst>
                  <a:ext uri="{FF2B5EF4-FFF2-40B4-BE49-F238E27FC236}">
                    <a16:creationId xmlns:a16="http://schemas.microsoft.com/office/drawing/2014/main" id="{C3F26296-45D2-4877-B3E7-3C375B33AB91}"/>
                  </a:ext>
                </a:extLst>
              </p:cNvPr>
              <p:cNvSpPr txBox="1">
                <a:spLocks noChangeArrowheads="1"/>
              </p:cNvSpPr>
              <p:nvPr/>
            </p:nvSpPr>
            <p:spPr bwMode="auto">
              <a:xfrm>
                <a:off x="2736" y="3504"/>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1800">
                    <a:latin typeface="Times New Roman" panose="02020603050405020304" pitchFamily="18" charset="0"/>
                    <a:ea typeface="黑体" panose="02010609060101010101" pitchFamily="49" charset="-122"/>
                  </a:rPr>
                  <a:t>C=O</a:t>
                </a:r>
              </a:p>
            </p:txBody>
          </p:sp>
          <p:sp>
            <p:nvSpPr>
              <p:cNvPr id="407572" name="Line 16">
                <a:extLst>
                  <a:ext uri="{FF2B5EF4-FFF2-40B4-BE49-F238E27FC236}">
                    <a16:creationId xmlns:a16="http://schemas.microsoft.com/office/drawing/2014/main" id="{9762D2EC-730F-477F-9911-A95885654F33}"/>
                  </a:ext>
                </a:extLst>
              </p:cNvPr>
              <p:cNvSpPr>
                <a:spLocks noChangeShapeType="1"/>
              </p:cNvSpPr>
              <p:nvPr/>
            </p:nvSpPr>
            <p:spPr bwMode="auto">
              <a:xfrm>
                <a:off x="2592" y="3168"/>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7573" name="Line 17">
                <a:extLst>
                  <a:ext uri="{FF2B5EF4-FFF2-40B4-BE49-F238E27FC236}">
                    <a16:creationId xmlns:a16="http://schemas.microsoft.com/office/drawing/2014/main" id="{C2A9B974-4D0C-4937-9528-F03AB08EBAF1}"/>
                  </a:ext>
                </a:extLst>
              </p:cNvPr>
              <p:cNvSpPr>
                <a:spLocks noChangeShapeType="1"/>
              </p:cNvSpPr>
              <p:nvPr/>
            </p:nvSpPr>
            <p:spPr bwMode="auto">
              <a:xfrm flipH="1">
                <a:off x="2400" y="3168"/>
                <a:ext cx="19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7574" name="Line 18">
                <a:extLst>
                  <a:ext uri="{FF2B5EF4-FFF2-40B4-BE49-F238E27FC236}">
                    <a16:creationId xmlns:a16="http://schemas.microsoft.com/office/drawing/2014/main" id="{3A402018-8674-4E66-A014-7DA8C26D03C9}"/>
                  </a:ext>
                </a:extLst>
              </p:cNvPr>
              <p:cNvSpPr>
                <a:spLocks noChangeShapeType="1"/>
              </p:cNvSpPr>
              <p:nvPr/>
            </p:nvSpPr>
            <p:spPr bwMode="auto">
              <a:xfrm>
                <a:off x="2400" y="3312"/>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7575" name="Line 19">
                <a:extLst>
                  <a:ext uri="{FF2B5EF4-FFF2-40B4-BE49-F238E27FC236}">
                    <a16:creationId xmlns:a16="http://schemas.microsoft.com/office/drawing/2014/main" id="{A62C58E2-2840-41BF-BA9F-FACE3C00BE1A}"/>
                  </a:ext>
                </a:extLst>
              </p:cNvPr>
              <p:cNvSpPr>
                <a:spLocks noChangeShapeType="1"/>
              </p:cNvSpPr>
              <p:nvPr/>
            </p:nvSpPr>
            <p:spPr bwMode="auto">
              <a:xfrm>
                <a:off x="2400" y="3600"/>
                <a:ext cx="19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7576" name="Line 20">
                <a:extLst>
                  <a:ext uri="{FF2B5EF4-FFF2-40B4-BE49-F238E27FC236}">
                    <a16:creationId xmlns:a16="http://schemas.microsoft.com/office/drawing/2014/main" id="{FAADD892-B834-47F4-9157-D5FF16421FE0}"/>
                  </a:ext>
                </a:extLst>
              </p:cNvPr>
              <p:cNvSpPr>
                <a:spLocks noChangeShapeType="1"/>
              </p:cNvSpPr>
              <p:nvPr/>
            </p:nvSpPr>
            <p:spPr bwMode="auto">
              <a:xfrm flipV="1">
                <a:off x="2592" y="3648"/>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7577" name="Line 21">
                <a:extLst>
                  <a:ext uri="{FF2B5EF4-FFF2-40B4-BE49-F238E27FC236}">
                    <a16:creationId xmlns:a16="http://schemas.microsoft.com/office/drawing/2014/main" id="{1439B39D-EE47-432B-A95E-8F1A4F14EAD7}"/>
                  </a:ext>
                </a:extLst>
              </p:cNvPr>
              <p:cNvSpPr>
                <a:spLocks noChangeShapeType="1"/>
              </p:cNvSpPr>
              <p:nvPr/>
            </p:nvSpPr>
            <p:spPr bwMode="auto">
              <a:xfrm flipH="1">
                <a:off x="2448" y="3216"/>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7578" name="Line 22">
                <a:extLst>
                  <a:ext uri="{FF2B5EF4-FFF2-40B4-BE49-F238E27FC236}">
                    <a16:creationId xmlns:a16="http://schemas.microsoft.com/office/drawing/2014/main" id="{F04E74B9-E169-4339-A298-B7B4B04509B3}"/>
                  </a:ext>
                </a:extLst>
              </p:cNvPr>
              <p:cNvSpPr>
                <a:spLocks noChangeShapeType="1"/>
              </p:cNvSpPr>
              <p:nvPr/>
            </p:nvSpPr>
            <p:spPr bwMode="auto">
              <a:xfrm>
                <a:off x="2448" y="3552"/>
                <a:ext cx="19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7579" name="Text Box 23">
                <a:extLst>
                  <a:ext uri="{FF2B5EF4-FFF2-40B4-BE49-F238E27FC236}">
                    <a16:creationId xmlns:a16="http://schemas.microsoft.com/office/drawing/2014/main" id="{FA4495A8-BAF9-45A1-9878-9460F3DE4233}"/>
                  </a:ext>
                </a:extLst>
              </p:cNvPr>
              <p:cNvSpPr txBox="1">
                <a:spLocks noChangeArrowheads="1"/>
              </p:cNvSpPr>
              <p:nvPr/>
            </p:nvSpPr>
            <p:spPr bwMode="auto">
              <a:xfrm>
                <a:off x="2880" y="297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1800">
                    <a:latin typeface="Times New Roman" panose="02020603050405020304" pitchFamily="18" charset="0"/>
                    <a:ea typeface="黑体" panose="02010609060101010101" pitchFamily="49" charset="-122"/>
                  </a:rPr>
                  <a:t>OH</a:t>
                </a:r>
              </a:p>
            </p:txBody>
          </p:sp>
          <p:sp>
            <p:nvSpPr>
              <p:cNvPr id="407580" name="Line 24">
                <a:extLst>
                  <a:ext uri="{FF2B5EF4-FFF2-40B4-BE49-F238E27FC236}">
                    <a16:creationId xmlns:a16="http://schemas.microsoft.com/office/drawing/2014/main" id="{AF902B5C-BE69-4535-931D-1C3C1AA3B87C}"/>
                  </a:ext>
                </a:extLst>
              </p:cNvPr>
              <p:cNvSpPr>
                <a:spLocks noChangeShapeType="1"/>
              </p:cNvSpPr>
              <p:nvPr/>
            </p:nvSpPr>
            <p:spPr bwMode="auto">
              <a:xfrm flipH="1">
                <a:off x="2880" y="3120"/>
                <a:ext cx="48"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7581" name="Text Box 25">
                <a:extLst>
                  <a:ext uri="{FF2B5EF4-FFF2-40B4-BE49-F238E27FC236}">
                    <a16:creationId xmlns:a16="http://schemas.microsoft.com/office/drawing/2014/main" id="{F41DA35B-6E63-4AB7-B9BC-0BB1D2864A7F}"/>
                  </a:ext>
                </a:extLst>
              </p:cNvPr>
              <p:cNvSpPr txBox="1">
                <a:spLocks noChangeArrowheads="1"/>
              </p:cNvSpPr>
              <p:nvPr/>
            </p:nvSpPr>
            <p:spPr bwMode="auto">
              <a:xfrm>
                <a:off x="2832" y="369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1800">
                    <a:latin typeface="Times New Roman" panose="02020603050405020304" pitchFamily="18" charset="0"/>
                    <a:ea typeface="黑体" panose="02010609060101010101" pitchFamily="49" charset="-122"/>
                  </a:rPr>
                  <a:t>OH</a:t>
                </a:r>
              </a:p>
            </p:txBody>
          </p:sp>
          <p:sp>
            <p:nvSpPr>
              <p:cNvPr id="407582" name="Line 26">
                <a:extLst>
                  <a:ext uri="{FF2B5EF4-FFF2-40B4-BE49-F238E27FC236}">
                    <a16:creationId xmlns:a16="http://schemas.microsoft.com/office/drawing/2014/main" id="{CE495885-16F1-4A99-B784-A305DF5862DE}"/>
                  </a:ext>
                </a:extLst>
              </p:cNvPr>
              <p:cNvSpPr>
                <a:spLocks noChangeShapeType="1"/>
              </p:cNvSpPr>
              <p:nvPr/>
            </p:nvSpPr>
            <p:spPr bwMode="auto">
              <a:xfrm>
                <a:off x="2832" y="3696"/>
                <a:ext cx="48"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7569" name="Text Box 27">
              <a:extLst>
                <a:ext uri="{FF2B5EF4-FFF2-40B4-BE49-F238E27FC236}">
                  <a16:creationId xmlns:a16="http://schemas.microsoft.com/office/drawing/2014/main" id="{08EFA63A-A19F-492A-80AC-D1CEF7CE0C88}"/>
                </a:ext>
              </a:extLst>
            </p:cNvPr>
            <p:cNvSpPr txBox="1">
              <a:spLocks noChangeArrowheads="1"/>
            </p:cNvSpPr>
            <p:nvPr/>
          </p:nvSpPr>
          <p:spPr bwMode="auto">
            <a:xfrm>
              <a:off x="3016" y="1154"/>
              <a:ext cx="2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400" b="1">
                  <a:latin typeface="Times New Roman" panose="02020603050405020304" pitchFamily="18" charset="0"/>
                  <a:ea typeface="黑体" panose="02010609060101010101" pitchFamily="49" charset="-122"/>
                </a:rPr>
                <a:t>（顺，顺</a:t>
              </a:r>
              <a:r>
                <a:rPr kumimoji="1" lang="en-US" altLang="zh-CN" sz="2400" b="1">
                  <a:latin typeface="Times New Roman" panose="02020603050405020304" pitchFamily="18" charset="0"/>
                  <a:ea typeface="黑体" panose="02010609060101010101" pitchFamily="49" charset="-122"/>
                </a:rPr>
                <a:t>-</a:t>
              </a:r>
              <a:r>
                <a:rPr kumimoji="1" lang="zh-CN" altLang="en-US" sz="2400" b="1">
                  <a:latin typeface="Times New Roman" panose="02020603050405020304" pitchFamily="18" charset="0"/>
                  <a:ea typeface="黑体" panose="02010609060101010101" pitchFamily="49" charset="-122"/>
                </a:rPr>
                <a:t>已二烯二酸）</a:t>
              </a:r>
            </a:p>
          </p:txBody>
        </p:sp>
      </p:grpSp>
      <p:grpSp>
        <p:nvGrpSpPr>
          <p:cNvPr id="407556" name="Group 28">
            <a:extLst>
              <a:ext uri="{FF2B5EF4-FFF2-40B4-BE49-F238E27FC236}">
                <a16:creationId xmlns:a16="http://schemas.microsoft.com/office/drawing/2014/main" id="{59D4E712-B9AA-4F70-B850-5D9E33D97097}"/>
              </a:ext>
            </a:extLst>
          </p:cNvPr>
          <p:cNvGrpSpPr>
            <a:grpSpLocks/>
          </p:cNvGrpSpPr>
          <p:nvPr/>
        </p:nvGrpSpPr>
        <p:grpSpPr bwMode="auto">
          <a:xfrm>
            <a:off x="1774825" y="4862514"/>
            <a:ext cx="8763000" cy="871537"/>
            <a:chOff x="240" y="1854"/>
            <a:chExt cx="5520" cy="549"/>
          </a:xfrm>
        </p:grpSpPr>
        <p:sp>
          <p:nvSpPr>
            <p:cNvPr id="407562" name="Text Box 29">
              <a:extLst>
                <a:ext uri="{FF2B5EF4-FFF2-40B4-BE49-F238E27FC236}">
                  <a16:creationId xmlns:a16="http://schemas.microsoft.com/office/drawing/2014/main" id="{C7A9325C-3022-4360-95EF-6A77F67CE9EE}"/>
                </a:ext>
              </a:extLst>
            </p:cNvPr>
            <p:cNvSpPr txBox="1">
              <a:spLocks noChangeArrowheads="1"/>
            </p:cNvSpPr>
            <p:nvPr/>
          </p:nvSpPr>
          <p:spPr bwMode="auto">
            <a:xfrm>
              <a:off x="240" y="1854"/>
              <a:ext cx="2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ea typeface="黑体" panose="02010609060101010101" pitchFamily="49" charset="-122"/>
                </a:rPr>
                <a:t>R</a:t>
              </a:r>
              <a:r>
                <a:rPr kumimoji="1" lang="en-US" altLang="zh-CN" sz="2400" b="1">
                  <a:solidFill>
                    <a:srgbClr val="0000CC"/>
                  </a:solidFill>
                  <a:latin typeface="Times New Roman" panose="02020603050405020304" pitchFamily="18" charset="0"/>
                  <a:ea typeface="黑体" panose="02010609060101010101" pitchFamily="49" charset="-122"/>
                </a:rPr>
                <a:t>H</a:t>
              </a:r>
              <a:r>
                <a:rPr kumimoji="1" lang="en-US" altLang="zh-CN" sz="2400" b="1">
                  <a:latin typeface="Times New Roman" panose="02020603050405020304" pitchFamily="18" charset="0"/>
                  <a:ea typeface="黑体" panose="02010609060101010101" pitchFamily="49" charset="-122"/>
                </a:rPr>
                <a:t> + </a:t>
              </a:r>
              <a:r>
                <a:rPr kumimoji="1" lang="en-US" altLang="zh-CN" sz="2400" b="1">
                  <a:solidFill>
                    <a:srgbClr val="FF3300"/>
                  </a:solidFill>
                  <a:latin typeface="Times New Roman" panose="02020603050405020304" pitchFamily="18" charset="0"/>
                  <a:ea typeface="黑体" panose="02010609060101010101" pitchFamily="49" charset="-122"/>
                </a:rPr>
                <a:t>O</a:t>
              </a:r>
              <a:r>
                <a:rPr kumimoji="1" lang="en-US" altLang="zh-CN" sz="2400" b="1" baseline="-25000">
                  <a:solidFill>
                    <a:srgbClr val="FF3300"/>
                  </a:solidFill>
                  <a:latin typeface="Times New Roman" panose="02020603050405020304" pitchFamily="18" charset="0"/>
                  <a:ea typeface="黑体" panose="02010609060101010101" pitchFamily="49" charset="-122"/>
                </a:rPr>
                <a:t>2</a:t>
              </a:r>
              <a:r>
                <a:rPr kumimoji="1" lang="en-US" altLang="zh-CN" sz="2400" b="1">
                  <a:latin typeface="Times New Roman" panose="02020603050405020304" pitchFamily="18" charset="0"/>
                  <a:ea typeface="黑体" panose="02010609060101010101" pitchFamily="49" charset="-122"/>
                </a:rPr>
                <a:t> + </a:t>
              </a:r>
              <a:r>
                <a:rPr kumimoji="1" lang="zh-CN" altLang="en-US" sz="2400" b="1">
                  <a:latin typeface="Times New Roman" panose="02020603050405020304" pitchFamily="18" charset="0"/>
                  <a:ea typeface="黑体" panose="02010609060101010101" pitchFamily="49" charset="-122"/>
                </a:rPr>
                <a:t>还原型辅助因子</a:t>
              </a:r>
            </a:p>
          </p:txBody>
        </p:sp>
        <p:sp>
          <p:nvSpPr>
            <p:cNvPr id="407563" name="Line 30">
              <a:extLst>
                <a:ext uri="{FF2B5EF4-FFF2-40B4-BE49-F238E27FC236}">
                  <a16:creationId xmlns:a16="http://schemas.microsoft.com/office/drawing/2014/main" id="{630F7C63-B754-4499-91DB-F639E9C44E68}"/>
                </a:ext>
              </a:extLst>
            </p:cNvPr>
            <p:cNvSpPr>
              <a:spLocks noChangeShapeType="1"/>
            </p:cNvSpPr>
            <p:nvPr/>
          </p:nvSpPr>
          <p:spPr bwMode="auto">
            <a:xfrm>
              <a:off x="2544" y="1998"/>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7564" name="Text Box 31">
              <a:extLst>
                <a:ext uri="{FF2B5EF4-FFF2-40B4-BE49-F238E27FC236}">
                  <a16:creationId xmlns:a16="http://schemas.microsoft.com/office/drawing/2014/main" id="{FA1DD5C4-74EC-4561-9088-9A05E3F91D10}"/>
                </a:ext>
              </a:extLst>
            </p:cNvPr>
            <p:cNvSpPr txBox="1">
              <a:spLocks noChangeArrowheads="1"/>
            </p:cNvSpPr>
            <p:nvPr/>
          </p:nvSpPr>
          <p:spPr bwMode="auto">
            <a:xfrm>
              <a:off x="3024" y="1854"/>
              <a:ext cx="27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ea typeface="黑体" panose="02010609060101010101" pitchFamily="49" charset="-122"/>
                </a:rPr>
                <a:t>R</a:t>
              </a:r>
              <a:r>
                <a:rPr kumimoji="1" lang="en-US" altLang="zh-CN" sz="2400" b="1">
                  <a:solidFill>
                    <a:srgbClr val="FF3300"/>
                  </a:solidFill>
                  <a:latin typeface="Times New Roman" panose="02020603050405020304" pitchFamily="18" charset="0"/>
                  <a:ea typeface="黑体" panose="02010609060101010101" pitchFamily="49" charset="-122"/>
                </a:rPr>
                <a:t>O</a:t>
              </a:r>
              <a:r>
                <a:rPr kumimoji="1" lang="en-US" altLang="zh-CN" sz="2400" b="1">
                  <a:solidFill>
                    <a:srgbClr val="0000CC"/>
                  </a:solidFill>
                  <a:latin typeface="Times New Roman" panose="02020603050405020304" pitchFamily="18" charset="0"/>
                  <a:ea typeface="黑体" panose="02010609060101010101" pitchFamily="49" charset="-122"/>
                </a:rPr>
                <a:t>H</a:t>
              </a:r>
              <a:r>
                <a:rPr kumimoji="1" lang="en-US" altLang="zh-CN" sz="2400" b="1">
                  <a:latin typeface="Times New Roman" panose="02020603050405020304" pitchFamily="18" charset="0"/>
                  <a:ea typeface="黑体" panose="02010609060101010101" pitchFamily="49" charset="-122"/>
                </a:rPr>
                <a:t> + H</a:t>
              </a:r>
              <a:r>
                <a:rPr kumimoji="1" lang="en-US" altLang="zh-CN" sz="2400" b="1" baseline="-25000">
                  <a:latin typeface="Times New Roman" panose="02020603050405020304" pitchFamily="18" charset="0"/>
                  <a:ea typeface="黑体" panose="02010609060101010101" pitchFamily="49" charset="-122"/>
                </a:rPr>
                <a:t>2</a:t>
              </a:r>
              <a:r>
                <a:rPr kumimoji="1" lang="en-US" altLang="zh-CN" sz="2400" b="1">
                  <a:solidFill>
                    <a:srgbClr val="FF3300"/>
                  </a:solidFill>
                  <a:latin typeface="Times New Roman" panose="02020603050405020304" pitchFamily="18" charset="0"/>
                  <a:ea typeface="黑体" panose="02010609060101010101" pitchFamily="49" charset="-122"/>
                </a:rPr>
                <a:t>O</a:t>
              </a:r>
              <a:r>
                <a:rPr kumimoji="1" lang="en-US" altLang="zh-CN" sz="2400" b="1">
                  <a:latin typeface="Times New Roman" panose="02020603050405020304" pitchFamily="18" charset="0"/>
                  <a:ea typeface="黑体" panose="02010609060101010101" pitchFamily="49" charset="-122"/>
                </a:rPr>
                <a:t> + </a:t>
              </a:r>
              <a:r>
                <a:rPr kumimoji="1" lang="zh-CN" altLang="en-US" sz="2400" b="1">
                  <a:latin typeface="Times New Roman" panose="02020603050405020304" pitchFamily="18" charset="0"/>
                  <a:ea typeface="黑体" panose="02010609060101010101" pitchFamily="49" charset="-122"/>
                </a:rPr>
                <a:t>氧化型辅助因子</a:t>
              </a:r>
            </a:p>
          </p:txBody>
        </p:sp>
        <p:sp>
          <p:nvSpPr>
            <p:cNvPr id="407565" name="Text Box 32">
              <a:extLst>
                <a:ext uri="{FF2B5EF4-FFF2-40B4-BE49-F238E27FC236}">
                  <a16:creationId xmlns:a16="http://schemas.microsoft.com/office/drawing/2014/main" id="{98815309-9657-4A26-B527-C22BC1D3B1A4}"/>
                </a:ext>
              </a:extLst>
            </p:cNvPr>
            <p:cNvSpPr txBox="1">
              <a:spLocks noChangeArrowheads="1"/>
            </p:cNvSpPr>
            <p:nvPr/>
          </p:nvSpPr>
          <p:spPr bwMode="auto">
            <a:xfrm>
              <a:off x="2011" y="2115"/>
              <a:ext cx="16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400" b="1">
                  <a:latin typeface="Times New Roman" panose="02020603050405020304" pitchFamily="18" charset="0"/>
                  <a:ea typeface="黑体" panose="02010609060101010101" pitchFamily="49" charset="-122"/>
                </a:rPr>
                <a:t>（又称</a:t>
              </a:r>
              <a:r>
                <a:rPr kumimoji="1" lang="zh-CN" altLang="en-US" sz="2400" b="1">
                  <a:solidFill>
                    <a:srgbClr val="9900CC"/>
                  </a:solidFill>
                  <a:latin typeface="Times New Roman" panose="02020603050405020304" pitchFamily="18" charset="0"/>
                  <a:ea typeface="黑体" panose="02010609060101010101" pitchFamily="49" charset="-122"/>
                </a:rPr>
                <a:t>羟化酶</a:t>
              </a:r>
              <a:r>
                <a:rPr kumimoji="1" lang="zh-CN" altLang="en-US" sz="2400" b="1">
                  <a:latin typeface="Times New Roman" panose="02020603050405020304" pitchFamily="18" charset="0"/>
                  <a:ea typeface="黑体" panose="02010609060101010101" pitchFamily="49" charset="-122"/>
                </a:rPr>
                <a:t>）</a:t>
              </a:r>
            </a:p>
          </p:txBody>
        </p:sp>
      </p:grpSp>
      <p:sp>
        <p:nvSpPr>
          <p:cNvPr id="407557" name="Text Box 33">
            <a:extLst>
              <a:ext uri="{FF2B5EF4-FFF2-40B4-BE49-F238E27FC236}">
                <a16:creationId xmlns:a16="http://schemas.microsoft.com/office/drawing/2014/main" id="{58618BB6-E08F-4A3E-AD5A-E540ED1A146C}"/>
              </a:ext>
            </a:extLst>
          </p:cNvPr>
          <p:cNvSpPr txBox="1">
            <a:spLocks noChangeArrowheads="1"/>
          </p:cNvSpPr>
          <p:nvPr/>
        </p:nvSpPr>
        <p:spPr bwMode="auto">
          <a:xfrm>
            <a:off x="1992313" y="979488"/>
            <a:ext cx="3962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800" b="1">
                <a:solidFill>
                  <a:srgbClr val="9900CC"/>
                </a:solidFill>
                <a:latin typeface="Times New Roman" panose="02020603050405020304" pitchFamily="18" charset="0"/>
                <a:ea typeface="黑体" panose="02010609060101010101" pitchFamily="49" charset="-122"/>
              </a:rPr>
              <a:t>（</a:t>
            </a:r>
            <a:r>
              <a:rPr kumimoji="1" lang="en-US" altLang="zh-CN" sz="2800" b="1">
                <a:solidFill>
                  <a:srgbClr val="9900CC"/>
                </a:solidFill>
                <a:latin typeface="Times New Roman" panose="02020603050405020304" pitchFamily="18" charset="0"/>
                <a:ea typeface="黑体" panose="02010609060101010101" pitchFamily="49" charset="-122"/>
              </a:rPr>
              <a:t>3</a:t>
            </a:r>
            <a:r>
              <a:rPr kumimoji="1" lang="zh-CN" altLang="en-US" sz="2800" b="1">
                <a:solidFill>
                  <a:srgbClr val="9900CC"/>
                </a:solidFill>
                <a:latin typeface="Times New Roman" panose="02020603050405020304" pitchFamily="18" charset="0"/>
                <a:ea typeface="黑体" panose="02010609060101010101" pitchFamily="49" charset="-122"/>
              </a:rPr>
              <a:t>）过氧化物酶</a:t>
            </a:r>
          </a:p>
        </p:txBody>
      </p:sp>
      <p:grpSp>
        <p:nvGrpSpPr>
          <p:cNvPr id="407558" name="Group 34">
            <a:extLst>
              <a:ext uri="{FF2B5EF4-FFF2-40B4-BE49-F238E27FC236}">
                <a16:creationId xmlns:a16="http://schemas.microsoft.com/office/drawing/2014/main" id="{D4E9E5E2-A9A3-485F-AD6E-1D1AC9165710}"/>
              </a:ext>
            </a:extLst>
          </p:cNvPr>
          <p:cNvGrpSpPr>
            <a:grpSpLocks/>
          </p:cNvGrpSpPr>
          <p:nvPr/>
        </p:nvGrpSpPr>
        <p:grpSpPr bwMode="auto">
          <a:xfrm>
            <a:off x="2795588" y="1803401"/>
            <a:ext cx="6324600" cy="473075"/>
            <a:chOff x="855" y="3260"/>
            <a:chExt cx="3984" cy="298"/>
          </a:xfrm>
        </p:grpSpPr>
        <p:sp>
          <p:nvSpPr>
            <p:cNvPr id="407559" name="Text Box 35">
              <a:extLst>
                <a:ext uri="{FF2B5EF4-FFF2-40B4-BE49-F238E27FC236}">
                  <a16:creationId xmlns:a16="http://schemas.microsoft.com/office/drawing/2014/main" id="{8D200444-7155-40CE-8687-AA899809BE7D}"/>
                </a:ext>
              </a:extLst>
            </p:cNvPr>
            <p:cNvSpPr txBox="1">
              <a:spLocks noChangeArrowheads="1"/>
            </p:cNvSpPr>
            <p:nvPr/>
          </p:nvSpPr>
          <p:spPr bwMode="auto">
            <a:xfrm>
              <a:off x="855" y="3260"/>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ea typeface="黑体" panose="02010609060101010101" pitchFamily="49" charset="-122"/>
                </a:rPr>
                <a:t>ROO + H</a:t>
              </a:r>
              <a:r>
                <a:rPr kumimoji="1" lang="en-US" altLang="zh-CN" sz="2400" b="1" baseline="-25000">
                  <a:latin typeface="Times New Roman" panose="02020603050405020304" pitchFamily="18" charset="0"/>
                  <a:ea typeface="黑体" panose="02010609060101010101" pitchFamily="49" charset="-122"/>
                </a:rPr>
                <a:t>2</a:t>
              </a:r>
              <a:r>
                <a:rPr kumimoji="1" lang="en-US" altLang="zh-CN" sz="2400" b="1">
                  <a:latin typeface="Times New Roman" panose="02020603050405020304" pitchFamily="18" charset="0"/>
                  <a:ea typeface="黑体" panose="02010609060101010101" pitchFamily="49" charset="-122"/>
                </a:rPr>
                <a:t>O</a:t>
              </a:r>
              <a:r>
                <a:rPr kumimoji="1" lang="en-US" altLang="zh-CN" sz="2400" b="1" baseline="-25000">
                  <a:latin typeface="Times New Roman" panose="02020603050405020304" pitchFamily="18" charset="0"/>
                  <a:ea typeface="黑体" panose="02010609060101010101" pitchFamily="49" charset="-122"/>
                </a:rPr>
                <a:t>2</a:t>
              </a:r>
              <a:endParaRPr kumimoji="1" lang="en-US" altLang="zh-CN" sz="2400" b="1">
                <a:latin typeface="Times New Roman" panose="02020603050405020304" pitchFamily="18" charset="0"/>
                <a:ea typeface="黑体" panose="02010609060101010101" pitchFamily="49" charset="-122"/>
              </a:endParaRPr>
            </a:p>
          </p:txBody>
        </p:sp>
        <p:pic>
          <p:nvPicPr>
            <p:cNvPr id="407560" name="Picture 36">
              <a:extLst>
                <a:ext uri="{FF2B5EF4-FFF2-40B4-BE49-F238E27FC236}">
                  <a16:creationId xmlns:a16="http://schemas.microsoft.com/office/drawing/2014/main" id="{C9AEA6F6-B087-477B-8EEC-4688FF5D0C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1" y="3308"/>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7561" name="Text Box 37">
              <a:extLst>
                <a:ext uri="{FF2B5EF4-FFF2-40B4-BE49-F238E27FC236}">
                  <a16:creationId xmlns:a16="http://schemas.microsoft.com/office/drawing/2014/main" id="{235D5BE5-D89D-474E-B1C2-F44E68AC69F9}"/>
                </a:ext>
              </a:extLst>
            </p:cNvPr>
            <p:cNvSpPr txBox="1">
              <a:spLocks noChangeArrowheads="1"/>
            </p:cNvSpPr>
            <p:nvPr/>
          </p:nvSpPr>
          <p:spPr bwMode="auto">
            <a:xfrm>
              <a:off x="2535" y="3260"/>
              <a:ext cx="23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ea typeface="黑体" panose="02010609060101010101" pitchFamily="49" charset="-122"/>
                </a:rPr>
                <a:t>RO + H</a:t>
              </a:r>
              <a:r>
                <a:rPr kumimoji="1" lang="en-US" altLang="zh-CN" sz="2400" b="1" baseline="-25000">
                  <a:latin typeface="Times New Roman" panose="02020603050405020304" pitchFamily="18" charset="0"/>
                  <a:ea typeface="黑体" panose="02010609060101010101" pitchFamily="49" charset="-122"/>
                </a:rPr>
                <a:t>2</a:t>
              </a:r>
              <a:r>
                <a:rPr kumimoji="1" lang="en-US" altLang="zh-CN" sz="2400" b="1">
                  <a:latin typeface="Times New Roman" panose="02020603050405020304" pitchFamily="18" charset="0"/>
                  <a:ea typeface="黑体" panose="02010609060101010101" pitchFamily="49" charset="-122"/>
                </a:rPr>
                <a:t>O + O</a:t>
              </a:r>
              <a:r>
                <a:rPr kumimoji="1" lang="en-US" altLang="zh-CN" sz="2400" b="1" baseline="-25000">
                  <a:latin typeface="Times New Roman" panose="02020603050405020304" pitchFamily="18" charset="0"/>
                  <a:ea typeface="黑体" panose="02010609060101010101" pitchFamily="49" charset="-122"/>
                </a:rPr>
                <a:t>2</a:t>
              </a:r>
              <a:endParaRPr kumimoji="1" lang="en-US" altLang="zh-CN" sz="2400" b="1">
                <a:latin typeface="Times New Roman" panose="02020603050405020304" pitchFamily="18" charset="0"/>
                <a:ea typeface="黑体" panose="02010609060101010101" pitchFamily="49" charset="-122"/>
              </a:endParaRPr>
            </a:p>
          </p:txBody>
        </p:sp>
      </p:grpSp>
    </p:spTree>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08578" name="Rectangle 2">
            <a:extLst>
              <a:ext uri="{FF2B5EF4-FFF2-40B4-BE49-F238E27FC236}">
                <a16:creationId xmlns:a16="http://schemas.microsoft.com/office/drawing/2014/main" id="{C1F0CD9A-C74D-430F-A3EB-CDBC2737CAD9}"/>
              </a:ext>
            </a:extLst>
          </p:cNvPr>
          <p:cNvSpPr>
            <a:spLocks noGrp="1" noChangeArrowheads="1"/>
          </p:cNvSpPr>
          <p:nvPr>
            <p:ph type="body" idx="1"/>
          </p:nvPr>
        </p:nvSpPr>
        <p:spPr>
          <a:xfrm>
            <a:off x="2135188" y="1268414"/>
            <a:ext cx="7924800" cy="4999037"/>
          </a:xfrm>
        </p:spPr>
        <p:txBody>
          <a:bodyPr/>
          <a:lstStyle/>
          <a:p>
            <a:pPr eaLnBrk="1" hangingPunct="1">
              <a:lnSpc>
                <a:spcPct val="120000"/>
              </a:lnSpc>
              <a:spcBef>
                <a:spcPct val="0"/>
              </a:spcBef>
            </a:pPr>
            <a:r>
              <a:rPr lang="zh-CN" altLang="en-US" sz="2800" b="0">
                <a:latin typeface="Times New Roman" panose="02020603050405020304" pitchFamily="18" charset="0"/>
                <a:ea typeface="黑体" panose="02010609060101010101" pitchFamily="49" charset="-122"/>
              </a:rPr>
              <a:t>催化基团转移反应，即将一个底物分子的基团或原子转移到另一个底物的分子上。</a:t>
            </a:r>
          </a:p>
          <a:p>
            <a:pPr eaLnBrk="1" hangingPunct="1">
              <a:lnSpc>
                <a:spcPct val="120000"/>
              </a:lnSpc>
              <a:spcBef>
                <a:spcPct val="0"/>
              </a:spcBef>
            </a:pPr>
            <a:endParaRPr lang="zh-CN" altLang="en-US" sz="2800" b="0">
              <a:latin typeface="Times New Roman" panose="02020603050405020304" pitchFamily="18" charset="0"/>
              <a:ea typeface="黑体" panose="02010609060101010101" pitchFamily="49" charset="-122"/>
            </a:endParaRPr>
          </a:p>
          <a:p>
            <a:pPr eaLnBrk="1" hangingPunct="1">
              <a:lnSpc>
                <a:spcPct val="105000"/>
              </a:lnSpc>
              <a:spcBef>
                <a:spcPct val="0"/>
              </a:spcBef>
            </a:pPr>
            <a:r>
              <a:rPr lang="zh-CN" altLang="en-US" sz="2800" b="0">
                <a:latin typeface="Times New Roman" panose="02020603050405020304" pitchFamily="18" charset="0"/>
                <a:ea typeface="黑体" panose="02010609060101010101" pitchFamily="49" charset="-122"/>
              </a:rPr>
              <a:t>根据</a:t>
            </a:r>
            <a:r>
              <a:rPr lang="en-US" altLang="zh-CN" sz="2800" b="0">
                <a:latin typeface="Times New Roman" panose="02020603050405020304" pitchFamily="18" charset="0"/>
                <a:ea typeface="黑体" panose="02010609060101010101" pitchFamily="49" charset="-122"/>
              </a:rPr>
              <a:t>X</a:t>
            </a:r>
            <a:r>
              <a:rPr lang="zh-CN" altLang="en-US" sz="2800" b="0">
                <a:latin typeface="Times New Roman" panose="02020603050405020304" pitchFamily="18" charset="0"/>
                <a:ea typeface="黑体" panose="02010609060101010101" pitchFamily="49" charset="-122"/>
              </a:rPr>
              <a:t>分类：转移酮基、醛基、酰基、糖基、烃基、含氮基、含磷基和含硫基的酶。</a:t>
            </a:r>
          </a:p>
          <a:p>
            <a:pPr eaLnBrk="1" hangingPunct="1">
              <a:lnSpc>
                <a:spcPct val="120000"/>
              </a:lnSpc>
              <a:spcBef>
                <a:spcPct val="0"/>
              </a:spcBef>
            </a:pPr>
            <a:r>
              <a:rPr lang="zh-CN" altLang="en-US" sz="2800" b="0">
                <a:latin typeface="Times New Roman" panose="02020603050405020304" pitchFamily="18" charset="0"/>
                <a:ea typeface="黑体" panose="02010609060101010101" pitchFamily="49" charset="-122"/>
              </a:rPr>
              <a:t>例如：谷丙转氨酶催化的氨基转移反应。</a:t>
            </a:r>
          </a:p>
        </p:txBody>
      </p:sp>
      <p:sp>
        <p:nvSpPr>
          <p:cNvPr id="408579" name="Text Box 3">
            <a:extLst>
              <a:ext uri="{FF2B5EF4-FFF2-40B4-BE49-F238E27FC236}">
                <a16:creationId xmlns:a16="http://schemas.microsoft.com/office/drawing/2014/main" id="{30224D9D-62F9-4CE9-AB60-0E412875A49E}"/>
              </a:ext>
            </a:extLst>
          </p:cNvPr>
          <p:cNvSpPr txBox="1">
            <a:spLocks noChangeArrowheads="1"/>
          </p:cNvSpPr>
          <p:nvPr/>
        </p:nvSpPr>
        <p:spPr bwMode="auto">
          <a:xfrm>
            <a:off x="2133601" y="333376"/>
            <a:ext cx="7923213" cy="646113"/>
          </a:xfrm>
          <a:prstGeom prst="rect">
            <a:avLst/>
          </a:prstGeom>
          <a:solidFill>
            <a:srgbClr val="CCFFFF">
              <a:alpha val="65097"/>
            </a:srgbClr>
          </a:solidFill>
          <a:ln w="76200" cmpd="tri" algn="ctr">
            <a:solidFill>
              <a:schemeClr val="bg2"/>
            </a:solidFill>
            <a:miter lim="800000"/>
            <a:headEnd/>
            <a:tailEnd/>
          </a:ln>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buClr>
                <a:schemeClr val="folHlink"/>
              </a:buClr>
              <a:buSzPct val="60000"/>
              <a:buFont typeface="Wingdings" panose="05000000000000000000" pitchFamily="2" charset="2"/>
              <a:buNone/>
            </a:pPr>
            <a:r>
              <a:rPr kumimoji="1" lang="en-US" altLang="zh-CN" sz="3600">
                <a:solidFill>
                  <a:srgbClr val="FF3300"/>
                </a:solidFill>
                <a:latin typeface="Times New Roman" panose="02020603050405020304" pitchFamily="18" charset="0"/>
                <a:ea typeface="黑体" panose="02010609060101010101" pitchFamily="49" charset="-122"/>
              </a:rPr>
              <a:t>2</a:t>
            </a:r>
            <a:r>
              <a:rPr kumimoji="1" lang="zh-CN" altLang="en-US" sz="3600">
                <a:solidFill>
                  <a:srgbClr val="FF3300"/>
                </a:solidFill>
                <a:latin typeface="Times New Roman" panose="02020603050405020304" pitchFamily="18" charset="0"/>
                <a:ea typeface="黑体" panose="02010609060101010101" pitchFamily="49" charset="-122"/>
              </a:rPr>
              <a:t>、转移酶 </a:t>
            </a:r>
            <a:r>
              <a:rPr kumimoji="1" lang="en-US" altLang="zh-CN" sz="3600">
                <a:solidFill>
                  <a:srgbClr val="FF3300"/>
                </a:solidFill>
                <a:latin typeface="Times New Roman" panose="02020603050405020304" pitchFamily="18" charset="0"/>
                <a:ea typeface="黑体" panose="02010609060101010101" pitchFamily="49" charset="-122"/>
              </a:rPr>
              <a:t>Transferase</a:t>
            </a:r>
          </a:p>
        </p:txBody>
      </p:sp>
      <p:graphicFrame>
        <p:nvGraphicFramePr>
          <p:cNvPr id="408580" name="Object 4">
            <a:extLst>
              <a:ext uri="{FF2B5EF4-FFF2-40B4-BE49-F238E27FC236}">
                <a16:creationId xmlns:a16="http://schemas.microsoft.com/office/drawing/2014/main" id="{477665C5-6B57-4C0C-AAD6-CC0790829AC2}"/>
              </a:ext>
            </a:extLst>
          </p:cNvPr>
          <p:cNvGraphicFramePr>
            <a:graphicFrameLocks noChangeAspect="1"/>
          </p:cNvGraphicFramePr>
          <p:nvPr/>
        </p:nvGraphicFramePr>
        <p:xfrm>
          <a:off x="3359150" y="4365626"/>
          <a:ext cx="5943600" cy="1782763"/>
        </p:xfrm>
        <a:graphic>
          <a:graphicData uri="http://schemas.openxmlformats.org/presentationml/2006/ole">
            <mc:AlternateContent xmlns:mc="http://schemas.openxmlformats.org/markup-compatibility/2006">
              <mc:Choice xmlns:v="urn:schemas-microsoft-com:vml" Requires="v">
                <p:oleObj name="Document" r:id="rId3" imgW="3048000" imgH="914400" progId="">
                  <p:embed/>
                </p:oleObj>
              </mc:Choice>
              <mc:Fallback>
                <p:oleObj name="Document" r:id="rId3" imgW="3048000" imgH="914400" progId="">
                  <p:embed/>
                  <p:pic>
                    <p:nvPicPr>
                      <p:cNvPr id="0" name="Object 4"/>
                      <p:cNvPicPr>
                        <a:picLocks noChangeAspect="1" noChangeArrowheads="1"/>
                      </p:cNvPicPr>
                      <p:nvPr/>
                    </p:nvPicPr>
                    <p:blipFill>
                      <a:blip r:embed="rId4">
                        <a:lum bright="-100000" contrast="84000"/>
                        <a:extLst>
                          <a:ext uri="{28A0092B-C50C-407E-A947-70E740481C1C}">
                            <a14:useLocalDpi xmlns:a14="http://schemas.microsoft.com/office/drawing/2010/main" val="0"/>
                          </a:ext>
                        </a:extLst>
                      </a:blip>
                      <a:srcRect/>
                      <a:stretch>
                        <a:fillRect/>
                      </a:stretch>
                    </p:blipFill>
                    <p:spPr bwMode="auto">
                      <a:xfrm>
                        <a:off x="3359150" y="4365626"/>
                        <a:ext cx="5943600" cy="17827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08581" name="Group 5">
            <a:extLst>
              <a:ext uri="{FF2B5EF4-FFF2-40B4-BE49-F238E27FC236}">
                <a16:creationId xmlns:a16="http://schemas.microsoft.com/office/drawing/2014/main" id="{6BC72ACA-6944-4D17-A67E-3DC7B2BF0688}"/>
              </a:ext>
            </a:extLst>
          </p:cNvPr>
          <p:cNvGrpSpPr>
            <a:grpSpLocks/>
          </p:cNvGrpSpPr>
          <p:nvPr/>
        </p:nvGrpSpPr>
        <p:grpSpPr bwMode="auto">
          <a:xfrm>
            <a:off x="4322763" y="2349500"/>
            <a:ext cx="3429000" cy="457200"/>
            <a:chOff x="720" y="1680"/>
            <a:chExt cx="2160" cy="288"/>
          </a:xfrm>
        </p:grpSpPr>
        <p:sp>
          <p:nvSpPr>
            <p:cNvPr id="408582" name="Text Box 6">
              <a:extLst>
                <a:ext uri="{FF2B5EF4-FFF2-40B4-BE49-F238E27FC236}">
                  <a16:creationId xmlns:a16="http://schemas.microsoft.com/office/drawing/2014/main" id="{53B80316-A09D-4217-80A4-5E82B1ED3CFF}"/>
                </a:ext>
              </a:extLst>
            </p:cNvPr>
            <p:cNvSpPr txBox="1">
              <a:spLocks noChangeArrowheads="1"/>
            </p:cNvSpPr>
            <p:nvPr/>
          </p:nvSpPr>
          <p:spPr bwMode="auto">
            <a:xfrm>
              <a:off x="720" y="1680"/>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A·</a:t>
              </a:r>
              <a:r>
                <a:rPr kumimoji="1" lang="en-US" altLang="zh-CN" sz="2400">
                  <a:solidFill>
                    <a:srgbClr val="FF3300"/>
                  </a:solidFill>
                  <a:latin typeface="Times New Roman" panose="02020603050405020304" pitchFamily="18" charset="0"/>
                  <a:ea typeface="黑体" panose="02010609060101010101" pitchFamily="49" charset="-122"/>
                </a:rPr>
                <a:t>X</a:t>
              </a:r>
              <a:r>
                <a:rPr kumimoji="1" lang="en-US" altLang="zh-CN" sz="2400">
                  <a:latin typeface="Times New Roman" panose="02020603050405020304" pitchFamily="18" charset="0"/>
                  <a:ea typeface="黑体" panose="02010609060101010101" pitchFamily="49" charset="-122"/>
                </a:rPr>
                <a:t> + B</a:t>
              </a:r>
            </a:p>
          </p:txBody>
        </p:sp>
        <p:pic>
          <p:nvPicPr>
            <p:cNvPr id="408583" name="Picture 7">
              <a:extLst>
                <a:ext uri="{FF2B5EF4-FFF2-40B4-BE49-F238E27FC236}">
                  <a16:creationId xmlns:a16="http://schemas.microsoft.com/office/drawing/2014/main" id="{9173393A-95AC-424C-850B-E9A744AB88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6" y="168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8584" name="Text Box 8">
              <a:extLst>
                <a:ext uri="{FF2B5EF4-FFF2-40B4-BE49-F238E27FC236}">
                  <a16:creationId xmlns:a16="http://schemas.microsoft.com/office/drawing/2014/main" id="{8B7A21D7-A9E4-4A3B-8A27-4A6813C681F0}"/>
                </a:ext>
              </a:extLst>
            </p:cNvPr>
            <p:cNvSpPr txBox="1">
              <a:spLocks noChangeArrowheads="1"/>
            </p:cNvSpPr>
            <p:nvPr/>
          </p:nvSpPr>
          <p:spPr bwMode="auto">
            <a:xfrm>
              <a:off x="1872" y="1680"/>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A +B·</a:t>
              </a:r>
              <a:r>
                <a:rPr kumimoji="1" lang="en-US" altLang="zh-CN" sz="2400">
                  <a:solidFill>
                    <a:srgbClr val="FF3300"/>
                  </a:solidFill>
                  <a:latin typeface="Times New Roman" panose="02020603050405020304" pitchFamily="18" charset="0"/>
                  <a:ea typeface="黑体" panose="02010609060101010101" pitchFamily="49" charset="-122"/>
                </a:rPr>
                <a:t>X</a:t>
              </a:r>
            </a:p>
          </p:txBody>
        </p:sp>
      </p:grpSp>
    </p:spTree>
  </p:cSld>
  <p:clrMapOvr>
    <a:masterClrMapping/>
  </p:clrMapOvr>
  <p:transition spd="slow">
    <p:circle/>
  </p:transition>
</p:sld>
</file>

<file path=ppt/slides/slide18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645E7914-1652-425F-99D8-B10E60AC2B61}"/>
              </a:ext>
            </a:extLst>
          </p:cNvPr>
          <p:cNvSpPr>
            <a:spLocks noGrp="1" noChangeArrowheads="1"/>
          </p:cNvSpPr>
          <p:nvPr>
            <p:ph type="body" idx="1"/>
          </p:nvPr>
        </p:nvSpPr>
        <p:spPr>
          <a:xfrm>
            <a:off x="2351089" y="1916113"/>
            <a:ext cx="7704137" cy="3459162"/>
          </a:xfrm>
        </p:spPr>
        <p:txBody>
          <a:bodyPr/>
          <a:lstStyle/>
          <a:p>
            <a:pPr eaLnBrk="1" hangingPunct="1"/>
            <a:r>
              <a:rPr lang="zh-CN" altLang="en-US" sz="2800" b="0">
                <a:latin typeface="Times New Roman" panose="02020603050405020304" pitchFamily="18" charset="0"/>
                <a:ea typeface="黑体" panose="02010609060101010101" pitchFamily="49" charset="-122"/>
              </a:rPr>
              <a:t>催化底物的加水分解反应。</a:t>
            </a:r>
          </a:p>
          <a:p>
            <a:pPr eaLnBrk="1" hangingPunct="1"/>
            <a:endParaRPr lang="zh-CN" altLang="en-US" sz="2800" b="0">
              <a:latin typeface="Times New Roman" panose="02020603050405020304" pitchFamily="18" charset="0"/>
              <a:ea typeface="黑体" panose="02010609060101010101" pitchFamily="49" charset="-122"/>
            </a:endParaRPr>
          </a:p>
          <a:p>
            <a:pPr eaLnBrk="1" hangingPunct="1"/>
            <a:r>
              <a:rPr lang="zh-CN" altLang="en-US" sz="2800" b="0">
                <a:latin typeface="Times New Roman" panose="02020603050405020304" pitchFamily="18" charset="0"/>
                <a:ea typeface="黑体" panose="02010609060101010101" pitchFamily="49" charset="-122"/>
              </a:rPr>
              <a:t>主要包括淀粉酶、蛋白酶、核酸酶及脂酶等。</a:t>
            </a:r>
          </a:p>
          <a:p>
            <a:pPr eaLnBrk="1" hangingPunct="1"/>
            <a:r>
              <a:rPr lang="zh-CN" altLang="en-US" sz="2800" b="0">
                <a:latin typeface="Times New Roman" panose="02020603050405020304" pitchFamily="18" charset="0"/>
                <a:ea typeface="黑体" panose="02010609060101010101" pitchFamily="49" charset="-122"/>
              </a:rPr>
              <a:t>例如，脂肪酶</a:t>
            </a:r>
            <a:r>
              <a:rPr lang="en-US" altLang="zh-CN" sz="2800" b="0">
                <a:solidFill>
                  <a:srgbClr val="0000CC"/>
                </a:solidFill>
                <a:latin typeface="Times New Roman" panose="02020603050405020304" pitchFamily="18" charset="0"/>
                <a:ea typeface="黑体" panose="02010609060101010101" pitchFamily="49" charset="-122"/>
              </a:rPr>
              <a:t>(Lipase)</a:t>
            </a:r>
            <a:r>
              <a:rPr lang="zh-CN" altLang="en-US" sz="2800" b="0">
                <a:latin typeface="Times New Roman" panose="02020603050405020304" pitchFamily="18" charset="0"/>
                <a:ea typeface="黑体" panose="02010609060101010101" pitchFamily="49" charset="-122"/>
              </a:rPr>
              <a:t>催化的脂的水解反应：</a:t>
            </a:r>
            <a:endParaRPr lang="zh-CN" altLang="en-US" sz="3600" b="0">
              <a:latin typeface="Times New Roman" panose="02020603050405020304" pitchFamily="18" charset="0"/>
              <a:ea typeface="黑体" panose="02010609060101010101" pitchFamily="49" charset="-122"/>
            </a:endParaRPr>
          </a:p>
        </p:txBody>
      </p:sp>
      <p:sp>
        <p:nvSpPr>
          <p:cNvPr id="410627" name="Text Box 3">
            <a:extLst>
              <a:ext uri="{FF2B5EF4-FFF2-40B4-BE49-F238E27FC236}">
                <a16:creationId xmlns:a16="http://schemas.microsoft.com/office/drawing/2014/main" id="{77E3AB7D-3A78-410B-9A3B-C276EAE6756D}"/>
              </a:ext>
            </a:extLst>
          </p:cNvPr>
          <p:cNvSpPr txBox="1">
            <a:spLocks noChangeArrowheads="1"/>
          </p:cNvSpPr>
          <p:nvPr/>
        </p:nvSpPr>
        <p:spPr bwMode="auto">
          <a:xfrm>
            <a:off x="2135188" y="765176"/>
            <a:ext cx="8001000" cy="646113"/>
          </a:xfrm>
          <a:prstGeom prst="rect">
            <a:avLst/>
          </a:prstGeom>
          <a:solidFill>
            <a:srgbClr val="CCFFFF">
              <a:alpha val="65097"/>
            </a:srgbClr>
          </a:solidFill>
          <a:ln w="76200" cmpd="tri" algn="ctr">
            <a:solidFill>
              <a:schemeClr val="bg2"/>
            </a:solidFill>
            <a:miter lim="800000"/>
            <a:headEnd/>
            <a:tailEnd/>
          </a:ln>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buClr>
                <a:schemeClr val="folHlink"/>
              </a:buClr>
              <a:buSzPct val="60000"/>
              <a:buFont typeface="Wingdings" panose="05000000000000000000" pitchFamily="2" charset="2"/>
              <a:buNone/>
            </a:pPr>
            <a:r>
              <a:rPr kumimoji="1" lang="en-US" altLang="zh-CN" sz="3600">
                <a:solidFill>
                  <a:srgbClr val="FF3300"/>
                </a:solidFill>
                <a:latin typeface="Times New Roman" panose="02020603050405020304" pitchFamily="18" charset="0"/>
                <a:ea typeface="黑体" panose="02010609060101010101" pitchFamily="49" charset="-122"/>
              </a:rPr>
              <a:t>3</a:t>
            </a:r>
            <a:r>
              <a:rPr kumimoji="1" lang="zh-CN" altLang="en-US" sz="3600">
                <a:solidFill>
                  <a:srgbClr val="FF3300"/>
                </a:solidFill>
                <a:latin typeface="Times New Roman" panose="02020603050405020304" pitchFamily="18" charset="0"/>
                <a:ea typeface="黑体" panose="02010609060101010101" pitchFamily="49" charset="-122"/>
              </a:rPr>
              <a:t>、水解酶 </a:t>
            </a:r>
            <a:r>
              <a:rPr kumimoji="1" lang="en-US" altLang="zh-CN" sz="3600">
                <a:solidFill>
                  <a:srgbClr val="FF3300"/>
                </a:solidFill>
                <a:latin typeface="Times New Roman" panose="02020603050405020304" pitchFamily="18" charset="0"/>
                <a:ea typeface="黑体" panose="02010609060101010101" pitchFamily="49" charset="-122"/>
              </a:rPr>
              <a:t>hydrolase</a:t>
            </a:r>
          </a:p>
        </p:txBody>
      </p:sp>
      <p:graphicFrame>
        <p:nvGraphicFramePr>
          <p:cNvPr id="410628" name="Object 4">
            <a:extLst>
              <a:ext uri="{FF2B5EF4-FFF2-40B4-BE49-F238E27FC236}">
                <a16:creationId xmlns:a16="http://schemas.microsoft.com/office/drawing/2014/main" id="{ABD90EEF-952E-4A4D-8350-BB596494862D}"/>
              </a:ext>
            </a:extLst>
          </p:cNvPr>
          <p:cNvGraphicFramePr>
            <a:graphicFrameLocks noChangeAspect="1"/>
          </p:cNvGraphicFramePr>
          <p:nvPr/>
        </p:nvGraphicFramePr>
        <p:xfrm>
          <a:off x="2667001" y="4554539"/>
          <a:ext cx="7426325" cy="731837"/>
        </p:xfrm>
        <a:graphic>
          <a:graphicData uri="http://schemas.openxmlformats.org/presentationml/2006/ole">
            <mc:AlternateContent xmlns:mc="http://schemas.openxmlformats.org/markup-compatibility/2006">
              <mc:Choice xmlns:v="urn:schemas-microsoft-com:vml" Requires="v">
                <p:oleObj name="Document" r:id="rId3" imgW="3286125" imgH="323850" progId="">
                  <p:embed/>
                </p:oleObj>
              </mc:Choice>
              <mc:Fallback>
                <p:oleObj name="Document" r:id="rId3" imgW="3286125" imgH="32385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1" y="4554539"/>
                        <a:ext cx="74263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10629" name="Group 5">
            <a:extLst>
              <a:ext uri="{FF2B5EF4-FFF2-40B4-BE49-F238E27FC236}">
                <a16:creationId xmlns:a16="http://schemas.microsoft.com/office/drawing/2014/main" id="{20D2921C-B575-424B-A53B-9EA54F01EB03}"/>
              </a:ext>
            </a:extLst>
          </p:cNvPr>
          <p:cNvGrpSpPr>
            <a:grpSpLocks/>
          </p:cNvGrpSpPr>
          <p:nvPr/>
        </p:nvGrpSpPr>
        <p:grpSpPr bwMode="auto">
          <a:xfrm>
            <a:off x="3238500" y="2420939"/>
            <a:ext cx="4038600" cy="473075"/>
            <a:chOff x="1080" y="1661"/>
            <a:chExt cx="2544" cy="298"/>
          </a:xfrm>
        </p:grpSpPr>
        <p:sp>
          <p:nvSpPr>
            <p:cNvPr id="410630" name="Text Box 6">
              <a:extLst>
                <a:ext uri="{FF2B5EF4-FFF2-40B4-BE49-F238E27FC236}">
                  <a16:creationId xmlns:a16="http://schemas.microsoft.com/office/drawing/2014/main" id="{9C463FF5-E2DA-431A-8960-E65BDFAF0E58}"/>
                </a:ext>
              </a:extLst>
            </p:cNvPr>
            <p:cNvSpPr txBox="1">
              <a:spLocks noChangeArrowheads="1"/>
            </p:cNvSpPr>
            <p:nvPr/>
          </p:nvSpPr>
          <p:spPr bwMode="auto">
            <a:xfrm>
              <a:off x="1080" y="1661"/>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AB + </a:t>
              </a:r>
              <a:r>
                <a:rPr kumimoji="1" lang="en-US" altLang="zh-CN" sz="2400">
                  <a:solidFill>
                    <a:srgbClr val="0000CC"/>
                  </a:solidFill>
                  <a:latin typeface="Times New Roman" panose="02020603050405020304" pitchFamily="18" charset="0"/>
                  <a:ea typeface="黑体" panose="02010609060101010101" pitchFamily="49" charset="-122"/>
                </a:rPr>
                <a:t>H</a:t>
              </a:r>
              <a:r>
                <a:rPr kumimoji="1" lang="en-US" altLang="zh-CN" sz="2400" baseline="-25000">
                  <a:latin typeface="Times New Roman" panose="02020603050405020304" pitchFamily="18" charset="0"/>
                  <a:ea typeface="黑体" panose="02010609060101010101" pitchFamily="49" charset="-122"/>
                </a:rPr>
                <a:t>2</a:t>
              </a:r>
              <a:r>
                <a:rPr kumimoji="1" lang="en-US" altLang="zh-CN" sz="2400">
                  <a:solidFill>
                    <a:srgbClr val="FF3300"/>
                  </a:solidFill>
                  <a:latin typeface="Times New Roman" panose="02020603050405020304" pitchFamily="18" charset="0"/>
                  <a:ea typeface="黑体" panose="02010609060101010101" pitchFamily="49" charset="-122"/>
                </a:rPr>
                <a:t>O</a:t>
              </a:r>
            </a:p>
          </p:txBody>
        </p:sp>
        <p:pic>
          <p:nvPicPr>
            <p:cNvPr id="410631" name="Picture 7">
              <a:extLst>
                <a:ext uri="{FF2B5EF4-FFF2-40B4-BE49-F238E27FC236}">
                  <a16:creationId xmlns:a16="http://schemas.microsoft.com/office/drawing/2014/main" id="{ED5976AE-2DE9-4660-854D-6ADAE7BFE4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4" y="1709"/>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632" name="Text Box 8">
              <a:extLst>
                <a:ext uri="{FF2B5EF4-FFF2-40B4-BE49-F238E27FC236}">
                  <a16:creationId xmlns:a16="http://schemas.microsoft.com/office/drawing/2014/main" id="{21906E20-4F88-4CA4-8A46-610DB9DB4ACF}"/>
                </a:ext>
              </a:extLst>
            </p:cNvPr>
            <p:cNvSpPr txBox="1">
              <a:spLocks noChangeArrowheads="1"/>
            </p:cNvSpPr>
            <p:nvPr/>
          </p:nvSpPr>
          <p:spPr bwMode="auto">
            <a:xfrm>
              <a:off x="2472" y="1661"/>
              <a:ext cx="11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A</a:t>
              </a:r>
              <a:r>
                <a:rPr kumimoji="1" lang="en-US" altLang="zh-CN" sz="2400">
                  <a:solidFill>
                    <a:srgbClr val="FF3300"/>
                  </a:solidFill>
                  <a:latin typeface="Times New Roman" panose="02020603050405020304" pitchFamily="18" charset="0"/>
                  <a:ea typeface="黑体" panose="02010609060101010101" pitchFamily="49" charset="-122"/>
                </a:rPr>
                <a:t>O</a:t>
              </a:r>
              <a:r>
                <a:rPr kumimoji="1" lang="en-US" altLang="zh-CN" sz="2400">
                  <a:solidFill>
                    <a:srgbClr val="0000CC"/>
                  </a:solidFill>
                  <a:latin typeface="Times New Roman" panose="02020603050405020304" pitchFamily="18" charset="0"/>
                  <a:ea typeface="黑体" panose="02010609060101010101" pitchFamily="49" charset="-122"/>
                </a:rPr>
                <a:t>H</a:t>
              </a:r>
              <a:r>
                <a:rPr kumimoji="1" lang="en-US" altLang="zh-CN" sz="2400">
                  <a:latin typeface="Times New Roman" panose="02020603050405020304" pitchFamily="18" charset="0"/>
                  <a:ea typeface="黑体" panose="02010609060101010101" pitchFamily="49" charset="-122"/>
                </a:rPr>
                <a:t> + B</a:t>
              </a:r>
              <a:r>
                <a:rPr kumimoji="1" lang="en-US" altLang="zh-CN" sz="2400">
                  <a:solidFill>
                    <a:srgbClr val="0000CC"/>
                  </a:solidFill>
                  <a:latin typeface="Times New Roman" panose="02020603050405020304" pitchFamily="18" charset="0"/>
                  <a:ea typeface="黑体" panose="02010609060101010101" pitchFamily="49" charset="-122"/>
                </a:rPr>
                <a:t>H</a:t>
              </a:r>
            </a:p>
          </p:txBody>
        </p:sp>
      </p:grpSp>
    </p:spTree>
  </p:cSld>
  <p:clrMapOvr>
    <a:masterClrMapping/>
  </p:clrMapOvr>
  <p:transition spd="slow">
    <p:circle/>
  </p:transition>
</p:sld>
</file>

<file path=ppt/slides/slide1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2674" name="Rectangle 2">
            <a:extLst>
              <a:ext uri="{FF2B5EF4-FFF2-40B4-BE49-F238E27FC236}">
                <a16:creationId xmlns:a16="http://schemas.microsoft.com/office/drawing/2014/main" id="{922B64DA-A6D5-4809-B9C5-AC198AF9AE1D}"/>
              </a:ext>
            </a:extLst>
          </p:cNvPr>
          <p:cNvSpPr>
            <a:spLocks noChangeArrowheads="1"/>
          </p:cNvSpPr>
          <p:nvPr/>
        </p:nvSpPr>
        <p:spPr bwMode="auto">
          <a:xfrm>
            <a:off x="4117976" y="1341438"/>
            <a:ext cx="4035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a:solidFill>
                  <a:srgbClr val="0000CC"/>
                </a:solidFill>
                <a:latin typeface="Times New Roman" panose="02020603050405020304" pitchFamily="18" charset="0"/>
                <a:ea typeface="黑体" panose="02010609060101010101" pitchFamily="49" charset="-122"/>
              </a:rPr>
              <a:t>水解酶类（</a:t>
            </a:r>
            <a:r>
              <a:rPr kumimoji="1" lang="en-US" altLang="zh-CN" sz="2800">
                <a:solidFill>
                  <a:srgbClr val="0000CC"/>
                </a:solidFill>
                <a:latin typeface="Times New Roman" panose="02020603050405020304" pitchFamily="18" charset="0"/>
                <a:ea typeface="黑体" panose="02010609060101010101" pitchFamily="49" charset="-122"/>
              </a:rPr>
              <a:t>hydrolases</a:t>
            </a:r>
            <a:r>
              <a:rPr kumimoji="1" lang="zh-CN" altLang="en-US" sz="2800">
                <a:solidFill>
                  <a:srgbClr val="0000CC"/>
                </a:solidFill>
                <a:latin typeface="Times New Roman" panose="02020603050405020304" pitchFamily="18" charset="0"/>
                <a:ea typeface="黑体" panose="02010609060101010101" pitchFamily="49" charset="-122"/>
              </a:rPr>
              <a:t>）</a:t>
            </a:r>
            <a:r>
              <a:rPr kumimoji="1" lang="zh-CN" altLang="en-US" sz="2800">
                <a:latin typeface="Times New Roman" panose="02020603050405020304" pitchFamily="18" charset="0"/>
                <a:ea typeface="黑体" panose="02010609060101010101" pitchFamily="49" charset="-122"/>
              </a:rPr>
              <a:t> </a:t>
            </a:r>
          </a:p>
        </p:txBody>
      </p:sp>
      <p:sp>
        <p:nvSpPr>
          <p:cNvPr id="412675" name="Rectangle 3">
            <a:extLst>
              <a:ext uri="{FF2B5EF4-FFF2-40B4-BE49-F238E27FC236}">
                <a16:creationId xmlns:a16="http://schemas.microsoft.com/office/drawing/2014/main" id="{B3797E8C-A57A-4E56-AD0D-885DC9046D14}"/>
              </a:ext>
            </a:extLst>
          </p:cNvPr>
          <p:cNvSpPr>
            <a:spLocks noChangeArrowheads="1"/>
          </p:cNvSpPr>
          <p:nvPr/>
        </p:nvSpPr>
        <p:spPr bwMode="auto">
          <a:xfrm>
            <a:off x="2101851" y="2276476"/>
            <a:ext cx="3844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a:latin typeface="Times New Roman" panose="02020603050405020304" pitchFamily="18" charset="0"/>
                <a:ea typeface="黑体" panose="02010609060101010101" pitchFamily="49" charset="-122"/>
              </a:rPr>
              <a:t>按其所水解的</a:t>
            </a:r>
            <a:r>
              <a:rPr kumimoji="1" lang="zh-CN" altLang="en-US" sz="2800">
                <a:solidFill>
                  <a:srgbClr val="0000CC"/>
                </a:solidFill>
                <a:latin typeface="Times New Roman" panose="02020603050405020304" pitchFamily="18" charset="0"/>
                <a:ea typeface="黑体" panose="02010609060101010101" pitchFamily="49" charset="-122"/>
              </a:rPr>
              <a:t>底物</a:t>
            </a:r>
            <a:r>
              <a:rPr kumimoji="1" lang="zh-CN" altLang="en-US" sz="2800">
                <a:latin typeface="Times New Roman" panose="02020603050405020304" pitchFamily="18" charset="0"/>
                <a:ea typeface="黑体" panose="02010609060101010101" pitchFamily="49" charset="-122"/>
              </a:rPr>
              <a:t>不同 </a:t>
            </a:r>
          </a:p>
        </p:txBody>
      </p:sp>
      <p:sp>
        <p:nvSpPr>
          <p:cNvPr id="412676" name="Rectangle 4">
            <a:extLst>
              <a:ext uri="{FF2B5EF4-FFF2-40B4-BE49-F238E27FC236}">
                <a16:creationId xmlns:a16="http://schemas.microsoft.com/office/drawing/2014/main" id="{DDDF00F5-6480-4723-A1A1-18F512F5655E}"/>
              </a:ext>
            </a:extLst>
          </p:cNvPr>
          <p:cNvSpPr>
            <a:spLocks noChangeArrowheads="1"/>
          </p:cNvSpPr>
          <p:nvPr/>
        </p:nvSpPr>
        <p:spPr bwMode="auto">
          <a:xfrm>
            <a:off x="6350000" y="2276476"/>
            <a:ext cx="34877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a:latin typeface="Times New Roman" panose="02020603050405020304" pitchFamily="18" charset="0"/>
                <a:ea typeface="黑体" panose="02010609060101010101" pitchFamily="49" charset="-122"/>
              </a:rPr>
              <a:t>根据它们的</a:t>
            </a:r>
            <a:r>
              <a:rPr kumimoji="1" lang="zh-CN" altLang="en-US" sz="2800">
                <a:solidFill>
                  <a:srgbClr val="0000CC"/>
                </a:solidFill>
                <a:latin typeface="Times New Roman" panose="02020603050405020304" pitchFamily="18" charset="0"/>
                <a:ea typeface="黑体" panose="02010609060101010101" pitchFamily="49" charset="-122"/>
              </a:rPr>
              <a:t>作用部位</a:t>
            </a:r>
            <a:r>
              <a:rPr kumimoji="1" lang="zh-CN" altLang="en-US" sz="2800">
                <a:latin typeface="Times New Roman" panose="02020603050405020304" pitchFamily="18" charset="0"/>
                <a:ea typeface="黑体" panose="02010609060101010101" pitchFamily="49" charset="-122"/>
              </a:rPr>
              <a:t> </a:t>
            </a:r>
          </a:p>
        </p:txBody>
      </p:sp>
      <p:sp>
        <p:nvSpPr>
          <p:cNvPr id="412677" name="Rectangle 5">
            <a:extLst>
              <a:ext uri="{FF2B5EF4-FFF2-40B4-BE49-F238E27FC236}">
                <a16:creationId xmlns:a16="http://schemas.microsoft.com/office/drawing/2014/main" id="{69E9BE5F-2A71-458F-959F-8C8D854C6C31}"/>
              </a:ext>
            </a:extLst>
          </p:cNvPr>
          <p:cNvSpPr>
            <a:spLocks noChangeArrowheads="1"/>
          </p:cNvSpPr>
          <p:nvPr/>
        </p:nvSpPr>
        <p:spPr bwMode="auto">
          <a:xfrm>
            <a:off x="2454275" y="3644900"/>
            <a:ext cx="304165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2800">
                <a:latin typeface="Times New Roman" panose="02020603050405020304" pitchFamily="18" charset="0"/>
                <a:ea typeface="黑体" panose="02010609060101010101" pitchFamily="49" charset="-122"/>
              </a:rPr>
              <a:t>蛋白酶、酯酶、</a:t>
            </a:r>
          </a:p>
          <a:p>
            <a:pPr algn="ctr" eaLnBrk="1" hangingPunct="1">
              <a:spcBef>
                <a:spcPct val="0"/>
              </a:spcBef>
              <a:buFontTx/>
              <a:buNone/>
            </a:pPr>
            <a:r>
              <a:rPr kumimoji="1" lang="zh-CN" altLang="en-US" sz="2800">
                <a:latin typeface="Times New Roman" panose="02020603050405020304" pitchFamily="18" charset="0"/>
                <a:ea typeface="黑体" panose="02010609060101010101" pitchFamily="49" charset="-122"/>
              </a:rPr>
              <a:t>磷酸酶、糖苷酶、</a:t>
            </a:r>
          </a:p>
          <a:p>
            <a:pPr algn="ctr" eaLnBrk="1" hangingPunct="1">
              <a:spcBef>
                <a:spcPct val="0"/>
              </a:spcBef>
              <a:buFontTx/>
              <a:buNone/>
            </a:pPr>
            <a:r>
              <a:rPr kumimoji="1" lang="zh-CN" altLang="en-US" sz="2800">
                <a:latin typeface="Times New Roman" panose="02020603050405020304" pitchFamily="18" charset="0"/>
                <a:ea typeface="黑体" panose="02010609060101010101" pitchFamily="49" charset="-122"/>
              </a:rPr>
              <a:t>核酸酶 </a:t>
            </a:r>
          </a:p>
        </p:txBody>
      </p:sp>
      <p:sp>
        <p:nvSpPr>
          <p:cNvPr id="412678" name="Rectangle 6">
            <a:extLst>
              <a:ext uri="{FF2B5EF4-FFF2-40B4-BE49-F238E27FC236}">
                <a16:creationId xmlns:a16="http://schemas.microsoft.com/office/drawing/2014/main" id="{563972B2-B2EA-4D5D-B718-5A39733A35FA}"/>
              </a:ext>
            </a:extLst>
          </p:cNvPr>
          <p:cNvSpPr>
            <a:spLocks noChangeArrowheads="1"/>
          </p:cNvSpPr>
          <p:nvPr/>
        </p:nvSpPr>
        <p:spPr bwMode="auto">
          <a:xfrm>
            <a:off x="6492876" y="3933826"/>
            <a:ext cx="2862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a:latin typeface="Times New Roman" panose="02020603050405020304" pitchFamily="18" charset="0"/>
                <a:ea typeface="黑体" panose="02010609060101010101" pitchFamily="49" charset="-122"/>
              </a:rPr>
              <a:t>外切酶、内切酶  </a:t>
            </a:r>
          </a:p>
        </p:txBody>
      </p:sp>
      <p:sp>
        <p:nvSpPr>
          <p:cNvPr id="412679" name="Line 7">
            <a:extLst>
              <a:ext uri="{FF2B5EF4-FFF2-40B4-BE49-F238E27FC236}">
                <a16:creationId xmlns:a16="http://schemas.microsoft.com/office/drawing/2014/main" id="{C83820B0-C0C2-466C-BC19-D14C6E853AB0}"/>
              </a:ext>
            </a:extLst>
          </p:cNvPr>
          <p:cNvSpPr>
            <a:spLocks noChangeShapeType="1"/>
          </p:cNvSpPr>
          <p:nvPr/>
        </p:nvSpPr>
        <p:spPr bwMode="auto">
          <a:xfrm flipH="1">
            <a:off x="4549775" y="1844676"/>
            <a:ext cx="647700" cy="5048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2680" name="Line 8">
            <a:extLst>
              <a:ext uri="{FF2B5EF4-FFF2-40B4-BE49-F238E27FC236}">
                <a16:creationId xmlns:a16="http://schemas.microsoft.com/office/drawing/2014/main" id="{E3A65FE2-11F8-4913-91CB-4584611478CE}"/>
              </a:ext>
            </a:extLst>
          </p:cNvPr>
          <p:cNvSpPr>
            <a:spLocks noChangeShapeType="1"/>
          </p:cNvSpPr>
          <p:nvPr/>
        </p:nvSpPr>
        <p:spPr bwMode="auto">
          <a:xfrm>
            <a:off x="6565900" y="1844676"/>
            <a:ext cx="863600" cy="5048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2681" name="Line 9">
            <a:extLst>
              <a:ext uri="{FF2B5EF4-FFF2-40B4-BE49-F238E27FC236}">
                <a16:creationId xmlns:a16="http://schemas.microsoft.com/office/drawing/2014/main" id="{2EB25020-FF50-435A-8C17-55049A61044D}"/>
              </a:ext>
            </a:extLst>
          </p:cNvPr>
          <p:cNvSpPr>
            <a:spLocks noChangeShapeType="1"/>
          </p:cNvSpPr>
          <p:nvPr/>
        </p:nvSpPr>
        <p:spPr bwMode="auto">
          <a:xfrm>
            <a:off x="3902075" y="2781301"/>
            <a:ext cx="0" cy="9366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2682" name="Line 10">
            <a:extLst>
              <a:ext uri="{FF2B5EF4-FFF2-40B4-BE49-F238E27FC236}">
                <a16:creationId xmlns:a16="http://schemas.microsoft.com/office/drawing/2014/main" id="{39F55A4E-D653-43B2-814F-AA22028A5688}"/>
              </a:ext>
            </a:extLst>
          </p:cNvPr>
          <p:cNvSpPr>
            <a:spLocks noChangeShapeType="1"/>
          </p:cNvSpPr>
          <p:nvPr/>
        </p:nvSpPr>
        <p:spPr bwMode="auto">
          <a:xfrm>
            <a:off x="7861300" y="2781300"/>
            <a:ext cx="0" cy="10795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13698" name="Rectangle 2">
            <a:extLst>
              <a:ext uri="{FF2B5EF4-FFF2-40B4-BE49-F238E27FC236}">
                <a16:creationId xmlns:a16="http://schemas.microsoft.com/office/drawing/2014/main" id="{7A29418A-7C10-4392-BDE7-0DCB061A8ADF}"/>
              </a:ext>
            </a:extLst>
          </p:cNvPr>
          <p:cNvSpPr>
            <a:spLocks noGrp="1" noChangeArrowheads="1"/>
          </p:cNvSpPr>
          <p:nvPr>
            <p:ph type="body" idx="1"/>
          </p:nvPr>
        </p:nvSpPr>
        <p:spPr>
          <a:xfrm>
            <a:off x="2095501" y="1989139"/>
            <a:ext cx="8215313" cy="3024187"/>
          </a:xfrm>
        </p:spPr>
        <p:txBody>
          <a:bodyPr/>
          <a:lstStyle/>
          <a:p>
            <a:pPr eaLnBrk="1" hangingPunct="1"/>
            <a:r>
              <a:rPr lang="zh-CN" altLang="en-US" sz="2800" b="0">
                <a:latin typeface="Times New Roman" panose="02020603050405020304" pitchFamily="18" charset="0"/>
                <a:ea typeface="黑体" panose="02010609060101010101" pitchFamily="49" charset="-122"/>
              </a:rPr>
              <a:t>以非水解和非氧化的方式催化断裂各种化学键，</a:t>
            </a:r>
            <a:r>
              <a:rPr lang="zh-CN" altLang="en-US" sz="2800" b="0">
                <a:solidFill>
                  <a:srgbClr val="FF0000"/>
                </a:solidFill>
                <a:latin typeface="Times New Roman" panose="02020603050405020304" pitchFamily="18" charset="0"/>
                <a:ea typeface="黑体" panose="02010609060101010101" pitchFamily="49" charset="-122"/>
              </a:rPr>
              <a:t>产生双键或成环</a:t>
            </a:r>
            <a:r>
              <a:rPr lang="zh-CN" altLang="en-US" sz="2800" b="0">
                <a:latin typeface="Times New Roman" panose="02020603050405020304" pitchFamily="18" charset="0"/>
                <a:ea typeface="黑体" panose="02010609060101010101" pitchFamily="49" charset="-122"/>
              </a:rPr>
              <a:t>的产物，或者其逆反应。</a:t>
            </a:r>
          </a:p>
          <a:p>
            <a:pPr eaLnBrk="1" hangingPunct="1"/>
            <a:r>
              <a:rPr lang="zh-CN" altLang="en-US" sz="2800" b="0">
                <a:latin typeface="Times New Roman" panose="02020603050405020304" pitchFamily="18" charset="0"/>
                <a:ea typeface="黑体" panose="02010609060101010101" pitchFamily="49" charset="-122"/>
              </a:rPr>
              <a:t>主要包括脱水酶、脱羧酶、醛缩酶、水化酶等。</a:t>
            </a:r>
          </a:p>
          <a:p>
            <a:pPr eaLnBrk="1" hangingPunct="1"/>
            <a:r>
              <a:rPr lang="zh-CN" altLang="en-US" sz="2800" b="0">
                <a:latin typeface="Times New Roman" panose="02020603050405020304" pitchFamily="18" charset="0"/>
                <a:ea typeface="黑体" panose="02010609060101010101" pitchFamily="49" charset="-122"/>
              </a:rPr>
              <a:t>例如，延胡索酸酶催化的反应。</a:t>
            </a:r>
          </a:p>
          <a:p>
            <a:pPr eaLnBrk="1" hangingPunct="1"/>
            <a:endParaRPr lang="en-US" altLang="zh-CN" sz="2800" b="0">
              <a:latin typeface="Times New Roman" panose="02020603050405020304" pitchFamily="18" charset="0"/>
              <a:ea typeface="黑体" panose="02010609060101010101" pitchFamily="49" charset="-122"/>
            </a:endParaRPr>
          </a:p>
        </p:txBody>
      </p:sp>
      <p:sp>
        <p:nvSpPr>
          <p:cNvPr id="413699" name="Text Box 3">
            <a:extLst>
              <a:ext uri="{FF2B5EF4-FFF2-40B4-BE49-F238E27FC236}">
                <a16:creationId xmlns:a16="http://schemas.microsoft.com/office/drawing/2014/main" id="{6C384DA0-6D01-404F-AF12-567144B8C16F}"/>
              </a:ext>
            </a:extLst>
          </p:cNvPr>
          <p:cNvSpPr txBox="1">
            <a:spLocks noChangeArrowheads="1"/>
          </p:cNvSpPr>
          <p:nvPr/>
        </p:nvSpPr>
        <p:spPr bwMode="auto">
          <a:xfrm>
            <a:off x="2135188" y="692151"/>
            <a:ext cx="7994650" cy="646331"/>
          </a:xfrm>
          <a:prstGeom prst="rect">
            <a:avLst/>
          </a:prstGeom>
          <a:solidFill>
            <a:srgbClr val="CCFFFF">
              <a:alpha val="65097"/>
            </a:srgbClr>
          </a:solidFill>
          <a:ln w="76200" cmpd="tri" algn="ctr">
            <a:solidFill>
              <a:schemeClr val="bg2"/>
            </a:solidFill>
            <a:miter lim="800000"/>
            <a:headEnd/>
            <a:tailEnd/>
          </a:ln>
        </p:spPr>
        <p:txBody>
          <a:bodyPr>
            <a:spAutoFit/>
          </a:bodyPr>
          <a:lstStyle>
            <a:defPPr>
              <a:defRPr lang="zh-CN"/>
            </a:defPPr>
            <a:lvl1pPr algn="ctr" eaLnBrk="1" hangingPunct="1">
              <a:spcBef>
                <a:spcPct val="20000"/>
              </a:spcBef>
              <a:buClr>
                <a:schemeClr val="folHlink"/>
              </a:buClr>
              <a:buSzPct val="60000"/>
              <a:buFont typeface="Wingdings" panose="05000000000000000000" pitchFamily="2" charset="2"/>
              <a:buNone/>
              <a:defRPr kumimoji="1" sz="3600">
                <a:solidFill>
                  <a:srgbClr val="FF3300"/>
                </a:solidFill>
                <a:latin typeface="Times New Roman" panose="02020603050405020304" pitchFamily="18" charset="0"/>
                <a:ea typeface="黑体" panose="02010609060101010101" pitchFamily="49" charset="-122"/>
              </a:defRPr>
            </a:lvl1pPr>
            <a:lvl2pPr marL="742950" indent="-285750">
              <a:spcBef>
                <a:spcPct val="20000"/>
              </a:spcBef>
              <a:buChar char="–"/>
              <a:defRPr sz="2800"/>
            </a:lvl2pPr>
            <a:lvl3pPr marL="1143000" indent="-228600">
              <a:spcBef>
                <a:spcPct val="20000"/>
              </a:spcBef>
              <a:buChar char="•"/>
              <a:defRPr sz="2400"/>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en-US" altLang="zh-CN" dirty="0"/>
              <a:t>4</a:t>
            </a:r>
            <a:r>
              <a:rPr lang="zh-CN" altLang="en-US" dirty="0"/>
              <a:t>、裂合酶 </a:t>
            </a:r>
            <a:r>
              <a:rPr lang="en-US" altLang="zh-CN" dirty="0"/>
              <a:t>Lyase</a:t>
            </a:r>
          </a:p>
        </p:txBody>
      </p:sp>
      <p:graphicFrame>
        <p:nvGraphicFramePr>
          <p:cNvPr id="413700" name="Object 4">
            <a:extLst>
              <a:ext uri="{FF2B5EF4-FFF2-40B4-BE49-F238E27FC236}">
                <a16:creationId xmlns:a16="http://schemas.microsoft.com/office/drawing/2014/main" id="{2D5D9882-D8BA-4ADA-BB3A-A839934642B9}"/>
              </a:ext>
            </a:extLst>
          </p:cNvPr>
          <p:cNvGraphicFramePr>
            <a:graphicFrameLocks noChangeAspect="1"/>
          </p:cNvGraphicFramePr>
          <p:nvPr/>
        </p:nvGraphicFramePr>
        <p:xfrm>
          <a:off x="2640014" y="4149726"/>
          <a:ext cx="6924675" cy="849313"/>
        </p:xfrm>
        <a:graphic>
          <a:graphicData uri="http://schemas.openxmlformats.org/presentationml/2006/ole">
            <mc:AlternateContent xmlns:mc="http://schemas.openxmlformats.org/markup-compatibility/2006">
              <mc:Choice xmlns:v="urn:schemas-microsoft-com:vml" Requires="v">
                <p:oleObj name="Document" r:id="rId3" imgW="3571875" imgH="438150" progId="">
                  <p:embed/>
                </p:oleObj>
              </mc:Choice>
              <mc:Fallback>
                <p:oleObj name="Document" r:id="rId3" imgW="3571875" imgH="43815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014" y="4149726"/>
                        <a:ext cx="6924675" cy="849313"/>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circle/>
  </p:transition>
</p:sld>
</file>

<file path=ppt/slides/slide18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15746" name="Rectangle 2" descr="花束">
            <a:extLst>
              <a:ext uri="{FF2B5EF4-FFF2-40B4-BE49-F238E27FC236}">
                <a16:creationId xmlns:a16="http://schemas.microsoft.com/office/drawing/2014/main" id="{57FF0D4F-1CEB-4EF1-8409-BBADCB578119}"/>
              </a:ext>
            </a:extLst>
          </p:cNvPr>
          <p:cNvSpPr>
            <a:spLocks noGrp="1" noChangeArrowheads="1"/>
          </p:cNvSpPr>
          <p:nvPr>
            <p:ph type="body" idx="1"/>
          </p:nvPr>
        </p:nvSpPr>
        <p:spPr>
          <a:xfrm>
            <a:off x="2133600" y="1670051"/>
            <a:ext cx="7924800" cy="4494213"/>
          </a:xfrm>
        </p:spPr>
        <p:txBody>
          <a:bodyPr/>
          <a:lstStyle/>
          <a:p>
            <a:pPr eaLnBrk="1" hangingPunct="1"/>
            <a:r>
              <a:rPr lang="zh-CN" altLang="en-US" sz="2800" b="0">
                <a:latin typeface="Times New Roman" panose="02020603050405020304" pitchFamily="18" charset="0"/>
                <a:ea typeface="黑体" panose="02010609060101010101" pitchFamily="49" charset="-122"/>
              </a:rPr>
              <a:t>催化分子异构体的互变：分子内部基团的位置互变、几何或光学异构体互变、以及醛酮互变</a:t>
            </a:r>
            <a:br>
              <a:rPr lang="zh-CN" altLang="en-US" sz="2800" b="0">
                <a:latin typeface="Times New Roman" panose="02020603050405020304" pitchFamily="18" charset="0"/>
                <a:ea typeface="黑体" panose="02010609060101010101" pitchFamily="49" charset="-122"/>
              </a:rPr>
            </a:br>
            <a:endParaRPr lang="zh-CN" altLang="en-US" sz="2800" b="0">
              <a:latin typeface="Times New Roman" panose="02020603050405020304" pitchFamily="18" charset="0"/>
              <a:ea typeface="黑体" panose="02010609060101010101" pitchFamily="49" charset="-122"/>
            </a:endParaRPr>
          </a:p>
          <a:p>
            <a:pPr eaLnBrk="1" hangingPunct="1"/>
            <a:r>
              <a:rPr lang="zh-CN" altLang="en-US" sz="2800" b="0">
                <a:latin typeface="Times New Roman" panose="02020603050405020304" pitchFamily="18" charset="0"/>
                <a:ea typeface="黑体" panose="02010609060101010101" pitchFamily="49" charset="-122"/>
              </a:rPr>
              <a:t>包括：变位酶、表构酶、异构酶、消旋酶</a:t>
            </a:r>
          </a:p>
          <a:p>
            <a:pPr eaLnBrk="1" hangingPunct="1">
              <a:spcBef>
                <a:spcPct val="50000"/>
              </a:spcBef>
            </a:pPr>
            <a:r>
              <a:rPr lang="zh-CN" altLang="en-US" sz="2800" b="0">
                <a:latin typeface="Times New Roman" panose="02020603050405020304" pitchFamily="18" charset="0"/>
                <a:ea typeface="黑体" panose="02010609060101010101" pitchFamily="49" charset="-122"/>
              </a:rPr>
              <a:t>例如，</a:t>
            </a:r>
            <a:r>
              <a:rPr lang="en-US" altLang="zh-CN" sz="2800" b="0">
                <a:latin typeface="Times New Roman" panose="02020603050405020304" pitchFamily="18" charset="0"/>
                <a:ea typeface="黑体" panose="02010609060101010101" pitchFamily="49" charset="-122"/>
              </a:rPr>
              <a:t>6-</a:t>
            </a:r>
            <a:r>
              <a:rPr lang="zh-CN" altLang="en-US" sz="2800" b="0">
                <a:latin typeface="Times New Roman" panose="02020603050405020304" pitchFamily="18" charset="0"/>
                <a:ea typeface="黑体" panose="02010609060101010101" pitchFamily="49" charset="-122"/>
              </a:rPr>
              <a:t>磷酸葡萄糖异构酶催化的反应</a:t>
            </a:r>
          </a:p>
        </p:txBody>
      </p:sp>
      <p:sp>
        <p:nvSpPr>
          <p:cNvPr id="415747" name="Text Box 3">
            <a:extLst>
              <a:ext uri="{FF2B5EF4-FFF2-40B4-BE49-F238E27FC236}">
                <a16:creationId xmlns:a16="http://schemas.microsoft.com/office/drawing/2014/main" id="{09360A60-E54B-437E-9A86-18AB04CBEAF1}"/>
              </a:ext>
            </a:extLst>
          </p:cNvPr>
          <p:cNvSpPr txBox="1">
            <a:spLocks noChangeArrowheads="1"/>
          </p:cNvSpPr>
          <p:nvPr/>
        </p:nvSpPr>
        <p:spPr bwMode="auto">
          <a:xfrm>
            <a:off x="2135188" y="620713"/>
            <a:ext cx="8001000" cy="646112"/>
          </a:xfrm>
          <a:prstGeom prst="rect">
            <a:avLst/>
          </a:prstGeom>
          <a:solidFill>
            <a:srgbClr val="CCFFFF">
              <a:alpha val="65097"/>
            </a:srgbClr>
          </a:solidFill>
          <a:ln w="76200" cmpd="tri" algn="ctr">
            <a:solidFill>
              <a:schemeClr val="bg2"/>
            </a:solidFill>
            <a:miter lim="800000"/>
            <a:headEnd/>
            <a:tailEnd/>
          </a:ln>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buClr>
                <a:schemeClr val="folHlink"/>
              </a:buClr>
              <a:buSzPct val="60000"/>
              <a:buFont typeface="Wingdings" panose="05000000000000000000" pitchFamily="2" charset="2"/>
              <a:buNone/>
            </a:pPr>
            <a:r>
              <a:rPr kumimoji="1" lang="en-US" altLang="zh-CN" sz="3600">
                <a:solidFill>
                  <a:srgbClr val="FF3300"/>
                </a:solidFill>
                <a:latin typeface="Times New Roman" panose="02020603050405020304" pitchFamily="18" charset="0"/>
                <a:ea typeface="黑体" panose="02010609060101010101" pitchFamily="49" charset="-122"/>
              </a:rPr>
              <a:t>5</a:t>
            </a:r>
            <a:r>
              <a:rPr kumimoji="1" lang="zh-CN" altLang="en-US" sz="3600">
                <a:solidFill>
                  <a:srgbClr val="FF3300"/>
                </a:solidFill>
                <a:latin typeface="Times New Roman" panose="02020603050405020304" pitchFamily="18" charset="0"/>
                <a:ea typeface="黑体" panose="02010609060101010101" pitchFamily="49" charset="-122"/>
              </a:rPr>
              <a:t>、异构酶 </a:t>
            </a:r>
            <a:r>
              <a:rPr kumimoji="1" lang="en-US" altLang="zh-CN" sz="3600">
                <a:solidFill>
                  <a:srgbClr val="FF3300"/>
                </a:solidFill>
                <a:latin typeface="Times New Roman" panose="02020603050405020304" pitchFamily="18" charset="0"/>
                <a:ea typeface="黑体" panose="02010609060101010101" pitchFamily="49" charset="-122"/>
              </a:rPr>
              <a:t>Isomerase</a:t>
            </a:r>
          </a:p>
        </p:txBody>
      </p:sp>
      <p:grpSp>
        <p:nvGrpSpPr>
          <p:cNvPr id="415748" name="Group 5">
            <a:extLst>
              <a:ext uri="{FF2B5EF4-FFF2-40B4-BE49-F238E27FC236}">
                <a16:creationId xmlns:a16="http://schemas.microsoft.com/office/drawing/2014/main" id="{7AB6C536-16CD-4FC6-ADFE-BDA050D87064}"/>
              </a:ext>
            </a:extLst>
          </p:cNvPr>
          <p:cNvGrpSpPr>
            <a:grpSpLocks/>
          </p:cNvGrpSpPr>
          <p:nvPr/>
        </p:nvGrpSpPr>
        <p:grpSpPr bwMode="auto">
          <a:xfrm>
            <a:off x="4656138" y="2636838"/>
            <a:ext cx="2590800" cy="461962"/>
            <a:chOff x="1344" y="2448"/>
            <a:chExt cx="1632" cy="356"/>
          </a:xfrm>
        </p:grpSpPr>
        <p:sp>
          <p:nvSpPr>
            <p:cNvPr id="415750" name="Text Box 6">
              <a:extLst>
                <a:ext uri="{FF2B5EF4-FFF2-40B4-BE49-F238E27FC236}">
                  <a16:creationId xmlns:a16="http://schemas.microsoft.com/office/drawing/2014/main" id="{C4E552E9-770C-4110-846E-265678BA0B51}"/>
                </a:ext>
              </a:extLst>
            </p:cNvPr>
            <p:cNvSpPr txBox="1">
              <a:spLocks noChangeArrowheads="1"/>
            </p:cNvSpPr>
            <p:nvPr/>
          </p:nvSpPr>
          <p:spPr bwMode="auto">
            <a:xfrm>
              <a:off x="1344" y="2448"/>
              <a:ext cx="336"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A</a:t>
              </a:r>
            </a:p>
          </p:txBody>
        </p:sp>
        <p:pic>
          <p:nvPicPr>
            <p:cNvPr id="415751" name="Picture 7">
              <a:extLst>
                <a:ext uri="{FF2B5EF4-FFF2-40B4-BE49-F238E27FC236}">
                  <a16:creationId xmlns:a16="http://schemas.microsoft.com/office/drawing/2014/main" id="{4A7BDB89-95E6-45C3-A837-9DEAD3E43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 y="2448"/>
              <a:ext cx="384"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5752" name="Text Box 8">
              <a:extLst>
                <a:ext uri="{FF2B5EF4-FFF2-40B4-BE49-F238E27FC236}">
                  <a16:creationId xmlns:a16="http://schemas.microsoft.com/office/drawing/2014/main" id="{BEF2951F-E439-48ED-95CA-6447DC6D21E4}"/>
                </a:ext>
              </a:extLst>
            </p:cNvPr>
            <p:cNvSpPr txBox="1">
              <a:spLocks noChangeArrowheads="1"/>
            </p:cNvSpPr>
            <p:nvPr/>
          </p:nvSpPr>
          <p:spPr bwMode="auto">
            <a:xfrm>
              <a:off x="2400" y="2448"/>
              <a:ext cx="576"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B</a:t>
              </a:r>
            </a:p>
          </p:txBody>
        </p:sp>
      </p:grpSp>
      <p:pic>
        <p:nvPicPr>
          <p:cNvPr id="415749" name="Picture 10">
            <a:extLst>
              <a:ext uri="{FF2B5EF4-FFF2-40B4-BE49-F238E27FC236}">
                <a16:creationId xmlns:a16="http://schemas.microsoft.com/office/drawing/2014/main" id="{238CE566-F05C-43F7-B4B7-EC97A5F76A1C}"/>
              </a:ext>
            </a:extLst>
          </p:cNvPr>
          <p:cNvPicPr>
            <a:picLocks noChangeAspect="1" noChangeArrowheads="1"/>
          </p:cNvPicPr>
          <p:nvPr/>
        </p:nvPicPr>
        <p:blipFill>
          <a:blip r:embed="rId4">
            <a:lum bright="-10000" contrast="10000"/>
            <a:extLst>
              <a:ext uri="{28A0092B-C50C-407E-A947-70E740481C1C}">
                <a14:useLocalDpi xmlns:a14="http://schemas.microsoft.com/office/drawing/2010/main" val="0"/>
              </a:ext>
            </a:extLst>
          </a:blip>
          <a:srcRect/>
          <a:stretch>
            <a:fillRect/>
          </a:stretch>
        </p:blipFill>
        <p:spPr bwMode="auto">
          <a:xfrm>
            <a:off x="3452813" y="4286251"/>
            <a:ext cx="5357812" cy="231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8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17794" name="Rectangle 2" descr="花束">
            <a:extLst>
              <a:ext uri="{FF2B5EF4-FFF2-40B4-BE49-F238E27FC236}">
                <a16:creationId xmlns:a16="http://schemas.microsoft.com/office/drawing/2014/main" id="{191FF95E-A26F-45B7-83E0-7D655342A592}"/>
              </a:ext>
            </a:extLst>
          </p:cNvPr>
          <p:cNvSpPr>
            <a:spLocks noGrp="1" noChangeArrowheads="1"/>
          </p:cNvSpPr>
          <p:nvPr>
            <p:ph type="body" idx="1"/>
          </p:nvPr>
        </p:nvSpPr>
        <p:spPr>
          <a:xfrm>
            <a:off x="2351089" y="2133600"/>
            <a:ext cx="7920037" cy="3989388"/>
          </a:xfrm>
        </p:spPr>
        <p:txBody>
          <a:bodyPr/>
          <a:lstStyle/>
          <a:p>
            <a:pPr eaLnBrk="1" hangingPunct="1"/>
            <a:r>
              <a:rPr lang="zh-CN" altLang="en-US" sz="2800" b="0">
                <a:latin typeface="Times New Roman" panose="02020603050405020304" pitchFamily="18" charset="0"/>
                <a:ea typeface="黑体" panose="02010609060101010101" pitchFamily="49" charset="-122"/>
              </a:rPr>
              <a:t>旧称合成酶（</a:t>
            </a:r>
            <a:r>
              <a:rPr lang="en-US" altLang="zh-CN" sz="2800" b="0">
                <a:solidFill>
                  <a:srgbClr val="CC0000"/>
                </a:solidFill>
                <a:latin typeface="Times New Roman" panose="02020603050405020304" pitchFamily="18" charset="0"/>
                <a:ea typeface="黑体" panose="02010609060101010101" pitchFamily="49" charset="-122"/>
              </a:rPr>
              <a:t>Synthetase</a:t>
            </a:r>
            <a:r>
              <a:rPr lang="en-US" altLang="zh-CN" sz="2800" b="0">
                <a:latin typeface="Times New Roman" panose="02020603050405020304" pitchFamily="18" charset="0"/>
                <a:ea typeface="黑体" panose="02010609060101010101" pitchFamily="49" charset="-122"/>
              </a:rPr>
              <a:t> </a:t>
            </a:r>
            <a:r>
              <a:rPr lang="zh-CN" altLang="en-US" sz="2800" b="0">
                <a:latin typeface="Times New Roman" panose="02020603050405020304" pitchFamily="18" charset="0"/>
                <a:ea typeface="黑体" panose="02010609060101010101" pitchFamily="49" charset="-122"/>
              </a:rPr>
              <a:t>）</a:t>
            </a:r>
          </a:p>
          <a:p>
            <a:pPr eaLnBrk="1" hangingPunct="1"/>
            <a:r>
              <a:rPr lang="zh-CN" altLang="en-US" sz="2800" b="0">
                <a:latin typeface="Times New Roman" panose="02020603050405020304" pitchFamily="18" charset="0"/>
                <a:ea typeface="黑体" panose="02010609060101010101" pitchFamily="49" charset="-122"/>
              </a:rPr>
              <a:t>催化两分子结合成一分子</a:t>
            </a:r>
            <a:r>
              <a:rPr lang="zh-CN" altLang="en-US" sz="2800" b="0" u="sng">
                <a:solidFill>
                  <a:srgbClr val="0000CC"/>
                </a:solidFill>
                <a:latin typeface="Times New Roman" panose="02020603050405020304" pitchFamily="18" charset="0"/>
                <a:ea typeface="黑体" panose="02010609060101010101" pitchFamily="49" charset="-122"/>
              </a:rPr>
              <a:t>并偶联有高能键的水解供能</a:t>
            </a:r>
          </a:p>
          <a:p>
            <a:pPr eaLnBrk="1" hangingPunct="1"/>
            <a:endParaRPr lang="zh-CN" altLang="en-US" sz="2800" b="0" u="sng">
              <a:solidFill>
                <a:srgbClr val="0000CC"/>
              </a:solidFill>
              <a:latin typeface="Times New Roman" panose="02020603050405020304" pitchFamily="18" charset="0"/>
              <a:ea typeface="黑体" panose="02010609060101010101" pitchFamily="49" charset="-122"/>
            </a:endParaRPr>
          </a:p>
          <a:p>
            <a:pPr eaLnBrk="1" hangingPunct="1"/>
            <a:r>
              <a:rPr lang="zh-CN" altLang="en-US" sz="2800" b="0">
                <a:latin typeface="Times New Roman" panose="02020603050405020304" pitchFamily="18" charset="0"/>
                <a:ea typeface="黑体" panose="02010609060101010101" pitchFamily="49" charset="-122"/>
              </a:rPr>
              <a:t>包括： </a:t>
            </a:r>
            <a:r>
              <a:rPr lang="en-US" altLang="zh-CN" sz="2800" b="0">
                <a:latin typeface="Times New Roman" panose="02020603050405020304" pitchFamily="18" charset="0"/>
                <a:ea typeface="黑体" panose="02010609060101010101" pitchFamily="49" charset="-122"/>
              </a:rPr>
              <a:t>DNA</a:t>
            </a:r>
            <a:r>
              <a:rPr lang="zh-CN" altLang="en-US" sz="2800" b="0">
                <a:latin typeface="Times New Roman" panose="02020603050405020304" pitchFamily="18" charset="0"/>
                <a:ea typeface="黑体" panose="02010609060101010101" pitchFamily="49" charset="-122"/>
              </a:rPr>
              <a:t>连接酶、氨基酰</a:t>
            </a:r>
            <a:r>
              <a:rPr lang="en-US" altLang="zh-CN" sz="2800" b="0">
                <a:latin typeface="Times New Roman" panose="02020603050405020304" pitchFamily="18" charset="0"/>
                <a:ea typeface="黑体" panose="02010609060101010101" pitchFamily="49" charset="-122"/>
              </a:rPr>
              <a:t>-tRNA</a:t>
            </a:r>
            <a:r>
              <a:rPr lang="zh-CN" altLang="en-US" sz="2800" b="0">
                <a:latin typeface="Times New Roman" panose="02020603050405020304" pitchFamily="18" charset="0"/>
                <a:ea typeface="黑体" panose="02010609060101010101" pitchFamily="49" charset="-122"/>
              </a:rPr>
              <a:t>合成酶、谷氨酰胺合成酶等</a:t>
            </a:r>
          </a:p>
          <a:p>
            <a:pPr eaLnBrk="1" hangingPunct="1"/>
            <a:r>
              <a:rPr lang="zh-CN" altLang="en-US" sz="2800" b="0">
                <a:latin typeface="Times New Roman" panose="02020603050405020304" pitchFamily="18" charset="0"/>
                <a:ea typeface="黑体" panose="02010609060101010101" pitchFamily="49" charset="-122"/>
              </a:rPr>
              <a:t>例如：丙酮酸羧化酶催化的反应</a:t>
            </a:r>
          </a:p>
          <a:p>
            <a:pPr eaLnBrk="1" hangingPunct="1">
              <a:buFontTx/>
              <a:buNone/>
            </a:pPr>
            <a:r>
              <a:rPr lang="zh-CN" altLang="en-US" sz="2800" b="0">
                <a:latin typeface="Times New Roman" panose="02020603050405020304" pitchFamily="18" charset="0"/>
                <a:ea typeface="黑体" panose="02010609060101010101" pitchFamily="49" charset="-122"/>
              </a:rPr>
              <a:t>     丙酮酸  </a:t>
            </a:r>
            <a:r>
              <a:rPr lang="en-US" altLang="zh-CN" sz="2800" b="0">
                <a:latin typeface="Times New Roman" panose="02020603050405020304" pitchFamily="18" charset="0"/>
                <a:ea typeface="黑体" panose="02010609060101010101" pitchFamily="49" charset="-122"/>
              </a:rPr>
              <a:t>+ </a:t>
            </a:r>
            <a:r>
              <a:rPr lang="en-GB" altLang="zh-CN" sz="2800" b="0">
                <a:latin typeface="Times New Roman" panose="02020603050405020304" pitchFamily="18" charset="0"/>
                <a:ea typeface="黑体" panose="02010609060101010101" pitchFamily="49" charset="-122"/>
              </a:rPr>
              <a:t>CO</a:t>
            </a:r>
            <a:r>
              <a:rPr lang="en-GB" altLang="zh-CN" sz="2800" b="0" baseline="-25000">
                <a:latin typeface="Times New Roman" panose="02020603050405020304" pitchFamily="18" charset="0"/>
                <a:ea typeface="黑体" panose="02010609060101010101" pitchFamily="49" charset="-122"/>
              </a:rPr>
              <a:t>2</a:t>
            </a:r>
            <a:r>
              <a:rPr lang="en-GB" altLang="zh-CN" sz="2800" b="0">
                <a:latin typeface="Times New Roman" panose="02020603050405020304" pitchFamily="18" charset="0"/>
                <a:ea typeface="黑体" panose="02010609060101010101" pitchFamily="49" charset="-122"/>
              </a:rPr>
              <a:t>  </a:t>
            </a:r>
            <a:r>
              <a:rPr lang="en-US" altLang="zh-CN" sz="2800" b="0">
                <a:latin typeface="Times New Roman" panose="02020603050405020304" pitchFamily="18" charset="0"/>
                <a:ea typeface="黑体" panose="02010609060101010101" pitchFamily="49" charset="-122"/>
              </a:rPr>
              <a:t>+ ATP </a:t>
            </a:r>
            <a:r>
              <a:rPr lang="en-GB" altLang="zh-CN" sz="2800" b="0">
                <a:latin typeface="Times New Roman" panose="02020603050405020304" pitchFamily="18" charset="0"/>
                <a:ea typeface="黑体" panose="02010609060101010101" pitchFamily="49" charset="-122"/>
                <a:sym typeface="Symbol" panose="05050102010706020507" pitchFamily="18" charset="2"/>
              </a:rPr>
              <a:t> </a:t>
            </a:r>
            <a:r>
              <a:rPr lang="zh-CN" altLang="en-GB" sz="2800" b="0">
                <a:latin typeface="Times New Roman" panose="02020603050405020304" pitchFamily="18" charset="0"/>
                <a:ea typeface="黑体" panose="02010609060101010101" pitchFamily="49" charset="-122"/>
                <a:sym typeface="Symbol" panose="05050102010706020507" pitchFamily="18" charset="2"/>
              </a:rPr>
              <a:t>草酰乙酸 </a:t>
            </a:r>
            <a:r>
              <a:rPr lang="en-US" altLang="zh-CN" sz="2800" b="0">
                <a:latin typeface="Times New Roman" panose="02020603050405020304" pitchFamily="18" charset="0"/>
                <a:ea typeface="黑体" panose="02010609060101010101" pitchFamily="49" charset="-122"/>
                <a:sym typeface="Symbol" panose="05050102010706020507" pitchFamily="18" charset="2"/>
              </a:rPr>
              <a:t>+ ADP +Pi</a:t>
            </a:r>
            <a:endParaRPr lang="zh-CN" altLang="en-US" sz="2800" b="0">
              <a:latin typeface="Times New Roman" panose="02020603050405020304" pitchFamily="18" charset="0"/>
              <a:ea typeface="黑体" panose="02010609060101010101" pitchFamily="49" charset="-122"/>
              <a:sym typeface="Symbol" panose="05050102010706020507" pitchFamily="18" charset="2"/>
            </a:endParaRPr>
          </a:p>
        </p:txBody>
      </p:sp>
      <p:sp>
        <p:nvSpPr>
          <p:cNvPr id="417795" name="Text Box 3">
            <a:extLst>
              <a:ext uri="{FF2B5EF4-FFF2-40B4-BE49-F238E27FC236}">
                <a16:creationId xmlns:a16="http://schemas.microsoft.com/office/drawing/2014/main" id="{4754E78F-10B8-4DE2-A206-6FCCD0EAD9E1}"/>
              </a:ext>
            </a:extLst>
          </p:cNvPr>
          <p:cNvSpPr txBox="1">
            <a:spLocks noChangeArrowheads="1"/>
          </p:cNvSpPr>
          <p:nvPr/>
        </p:nvSpPr>
        <p:spPr bwMode="auto">
          <a:xfrm>
            <a:off x="2133601" y="836613"/>
            <a:ext cx="7923213" cy="646112"/>
          </a:xfrm>
          <a:prstGeom prst="rect">
            <a:avLst/>
          </a:prstGeom>
          <a:solidFill>
            <a:srgbClr val="CCFFFF">
              <a:alpha val="65097"/>
            </a:srgbClr>
          </a:solidFill>
          <a:ln w="76200" cmpd="tri" algn="ctr">
            <a:solidFill>
              <a:schemeClr val="bg2"/>
            </a:solidFill>
            <a:miter lim="800000"/>
            <a:headEnd/>
            <a:tailEnd/>
          </a:ln>
        </p:spPr>
        <p:txBody>
          <a:bodyPr>
            <a:spAutoFit/>
          </a:bodyPr>
          <a:lstStyle>
            <a:defPPr>
              <a:defRPr lang="zh-CN"/>
            </a:defPPr>
            <a:lvl1pPr algn="ctr" eaLnBrk="1" hangingPunct="1">
              <a:spcBef>
                <a:spcPct val="20000"/>
              </a:spcBef>
              <a:buClr>
                <a:schemeClr val="folHlink"/>
              </a:buClr>
              <a:buSzPct val="60000"/>
              <a:buFont typeface="Wingdings" panose="05000000000000000000" pitchFamily="2" charset="2"/>
              <a:buNone/>
              <a:defRPr kumimoji="1" sz="3600">
                <a:solidFill>
                  <a:srgbClr val="FF3300"/>
                </a:solidFill>
                <a:latin typeface="Times New Roman" panose="02020603050405020304" pitchFamily="18" charset="0"/>
                <a:ea typeface="黑体" panose="02010609060101010101" pitchFamily="49" charset="-122"/>
              </a:defRPr>
            </a:lvl1pPr>
            <a:lvl2pPr marL="742950" indent="-285750">
              <a:spcBef>
                <a:spcPct val="20000"/>
              </a:spcBef>
              <a:buChar char="–"/>
              <a:defRPr sz="2800"/>
            </a:lvl2pPr>
            <a:lvl3pPr marL="1143000" indent="-228600">
              <a:spcBef>
                <a:spcPct val="20000"/>
              </a:spcBef>
              <a:buChar char="•"/>
              <a:defRPr sz="2400"/>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en-US" altLang="zh-CN" dirty="0"/>
              <a:t>6</a:t>
            </a:r>
            <a:r>
              <a:rPr lang="zh-CN" altLang="en-US" dirty="0"/>
              <a:t>、连接酶 </a:t>
            </a:r>
            <a:r>
              <a:rPr lang="en-US" altLang="zh-CN" dirty="0"/>
              <a:t>Ligase</a:t>
            </a:r>
          </a:p>
        </p:txBody>
      </p:sp>
      <p:grpSp>
        <p:nvGrpSpPr>
          <p:cNvPr id="417796" name="Group 4">
            <a:extLst>
              <a:ext uri="{FF2B5EF4-FFF2-40B4-BE49-F238E27FC236}">
                <a16:creationId xmlns:a16="http://schemas.microsoft.com/office/drawing/2014/main" id="{1AE1CEB9-FFF7-4E26-9B8D-359C7D315C98}"/>
              </a:ext>
            </a:extLst>
          </p:cNvPr>
          <p:cNvGrpSpPr>
            <a:grpSpLocks/>
          </p:cNvGrpSpPr>
          <p:nvPr/>
        </p:nvGrpSpPr>
        <p:grpSpPr bwMode="auto">
          <a:xfrm>
            <a:off x="3252788" y="3429000"/>
            <a:ext cx="5867400" cy="528638"/>
            <a:chOff x="864" y="816"/>
            <a:chExt cx="3696" cy="333"/>
          </a:xfrm>
        </p:grpSpPr>
        <p:sp>
          <p:nvSpPr>
            <p:cNvPr id="417797" name="Text Box 5">
              <a:extLst>
                <a:ext uri="{FF2B5EF4-FFF2-40B4-BE49-F238E27FC236}">
                  <a16:creationId xmlns:a16="http://schemas.microsoft.com/office/drawing/2014/main" id="{8593763B-B8A2-43A5-B8A4-E5031C30A80C}"/>
                </a:ext>
              </a:extLst>
            </p:cNvPr>
            <p:cNvSpPr txBox="1">
              <a:spLocks noChangeArrowheads="1"/>
            </p:cNvSpPr>
            <p:nvPr/>
          </p:nvSpPr>
          <p:spPr bwMode="auto">
            <a:xfrm>
              <a:off x="864" y="816"/>
              <a:ext cx="1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A + B + ATP</a:t>
              </a:r>
            </a:p>
          </p:txBody>
        </p:sp>
        <p:pic>
          <p:nvPicPr>
            <p:cNvPr id="417798" name="Picture 6">
              <a:extLst>
                <a:ext uri="{FF2B5EF4-FFF2-40B4-BE49-F238E27FC236}">
                  <a16:creationId xmlns:a16="http://schemas.microsoft.com/office/drawing/2014/main" id="{79089660-8C29-4EE1-9D7F-89D2D04146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4" y="816"/>
              <a:ext cx="384"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7799" name="Text Box 7">
              <a:extLst>
                <a:ext uri="{FF2B5EF4-FFF2-40B4-BE49-F238E27FC236}">
                  <a16:creationId xmlns:a16="http://schemas.microsoft.com/office/drawing/2014/main" id="{17BC844C-3809-43CE-AF97-6684750D3297}"/>
                </a:ext>
              </a:extLst>
            </p:cNvPr>
            <p:cNvSpPr txBox="1">
              <a:spLocks noChangeArrowheads="1"/>
            </p:cNvSpPr>
            <p:nvPr/>
          </p:nvSpPr>
          <p:spPr bwMode="auto">
            <a:xfrm>
              <a:off x="2544" y="816"/>
              <a:ext cx="20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ea typeface="黑体" panose="02010609060101010101" pitchFamily="49" charset="-122"/>
                </a:rPr>
                <a:t>A·B + ADP +Pi</a:t>
              </a:r>
            </a:p>
          </p:txBody>
        </p:sp>
      </p:grpSp>
    </p:spTree>
  </p:cSld>
  <p:clrMapOvr>
    <a:masterClrMapping/>
  </p:clrMapOvr>
  <p:transition spd="slow">
    <p:circle/>
  </p:transition>
</p:sld>
</file>

<file path=ppt/slides/slide18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93218" name="Rectangle 2">
            <a:extLst>
              <a:ext uri="{FF2B5EF4-FFF2-40B4-BE49-F238E27FC236}">
                <a16:creationId xmlns:a16="http://schemas.microsoft.com/office/drawing/2014/main" id="{D8BBAB37-90A9-4E8B-866E-860EFB2821BF}"/>
              </a:ext>
            </a:extLst>
          </p:cNvPr>
          <p:cNvSpPr>
            <a:spLocks noGrp="1" noChangeArrowheads="1"/>
          </p:cNvSpPr>
          <p:nvPr>
            <p:ph type="body" idx="1"/>
          </p:nvPr>
        </p:nvSpPr>
        <p:spPr>
          <a:xfrm>
            <a:off x="1775520" y="2060576"/>
            <a:ext cx="8640068" cy="3459163"/>
          </a:xfrm>
        </p:spPr>
        <p:txBody>
          <a:bodyPr/>
          <a:lstStyle/>
          <a:p>
            <a:pPr eaLnBrk="1" hangingPunct="1">
              <a:buFont typeface="Wingdings" panose="05000000000000000000" pitchFamily="2" charset="2"/>
              <a:buChar char="u"/>
              <a:defRPr/>
            </a:pPr>
            <a:r>
              <a:rPr lang="zh-CN" altLang="en-US" sz="2800" b="0" dirty="0">
                <a:latin typeface="Times New Roman" panose="02020603050405020304" pitchFamily="18" charset="0"/>
                <a:ea typeface="黑体" panose="02010609060101010101" pitchFamily="49" charset="-122"/>
              </a:rPr>
              <a:t>催化离子或分子跨膜转运或在细胞膜内易位反应的酶，即将离子或分子从膜的一侧转移至另一侧。</a:t>
            </a:r>
            <a:endParaRPr lang="en-US" altLang="zh-CN" sz="2800" b="0" dirty="0">
              <a:latin typeface="Times New Roman" panose="02020603050405020304" pitchFamily="18" charset="0"/>
              <a:ea typeface="黑体" panose="02010609060101010101" pitchFamily="49" charset="-122"/>
            </a:endParaRPr>
          </a:p>
          <a:p>
            <a:pPr marL="0" indent="0" eaLnBrk="1" hangingPunct="1">
              <a:buNone/>
              <a:defRPr/>
            </a:pPr>
            <a:r>
              <a:rPr lang="zh-CN" altLang="en-US" sz="2800" b="0" dirty="0">
                <a:latin typeface="Times New Roman" panose="02020603050405020304" pitchFamily="18" charset="0"/>
                <a:ea typeface="黑体" panose="02010609060101010101" pitchFamily="49" charset="-122"/>
              </a:rPr>
              <a:t> </a:t>
            </a:r>
            <a:endParaRPr lang="en-US" altLang="zh-CN" sz="2800" b="0" dirty="0">
              <a:latin typeface="Times New Roman" panose="02020603050405020304" pitchFamily="18" charset="0"/>
              <a:ea typeface="黑体" panose="02010609060101010101" pitchFamily="49" charset="-122"/>
            </a:endParaRPr>
          </a:p>
          <a:p>
            <a:pPr eaLnBrk="1" hangingPunct="1">
              <a:buFont typeface="Wingdings" panose="05000000000000000000" pitchFamily="2" charset="2"/>
              <a:buChar char="u"/>
              <a:defRPr/>
            </a:pPr>
            <a:r>
              <a:rPr lang="zh-CN" altLang="en-US" sz="2800" b="0" dirty="0">
                <a:latin typeface="Times New Roman" panose="02020603050405020304" pitchFamily="18" charset="0"/>
                <a:ea typeface="黑体" panose="02010609060101010101" pitchFamily="49" charset="-122"/>
              </a:rPr>
              <a:t>不是所有的膜转运蛋白都是转位酶，那些</a:t>
            </a:r>
            <a:r>
              <a:rPr lang="zh-CN" altLang="en-US" sz="2800" b="0" dirty="0">
                <a:solidFill>
                  <a:srgbClr val="0000CC"/>
                </a:solidFill>
                <a:latin typeface="Times New Roman" panose="02020603050405020304" pitchFamily="18" charset="0"/>
                <a:ea typeface="黑体" panose="02010609060101010101" pitchFamily="49" charset="-122"/>
              </a:rPr>
              <a:t>不依赖酶催化反应的交换转运蛋白不属于转运酶</a:t>
            </a:r>
            <a:r>
              <a:rPr lang="zh-CN" altLang="en-US" sz="2800" b="0" dirty="0">
                <a:latin typeface="Times New Roman" panose="02020603050405020304" pitchFamily="18" charset="0"/>
                <a:ea typeface="黑体" panose="02010609060101010101" pitchFamily="49" charset="-122"/>
              </a:rPr>
              <a:t>，比如</a:t>
            </a:r>
            <a:r>
              <a:rPr lang="en-US" altLang="zh-CN" sz="2800" b="0" dirty="0">
                <a:latin typeface="Times New Roman" panose="02020603050405020304" pitchFamily="18" charset="0"/>
                <a:ea typeface="黑体" panose="02010609060101010101" pitchFamily="49" charset="-122"/>
              </a:rPr>
              <a:t>ADP</a:t>
            </a:r>
            <a:r>
              <a:rPr lang="zh-CN" altLang="en-US" sz="2800" b="0" dirty="0">
                <a:latin typeface="Times New Roman" panose="02020603050405020304" pitchFamily="18" charset="0"/>
                <a:ea typeface="黑体" panose="02010609060101010101" pitchFamily="49" charset="-122"/>
              </a:rPr>
              <a:t>－</a:t>
            </a:r>
            <a:r>
              <a:rPr lang="en-US" altLang="zh-CN" sz="2800" b="0" dirty="0">
                <a:latin typeface="Times New Roman" panose="02020603050405020304" pitchFamily="18" charset="0"/>
                <a:ea typeface="黑体" panose="02010609060101010101" pitchFamily="49" charset="-122"/>
              </a:rPr>
              <a:t>ATP</a:t>
            </a:r>
            <a:r>
              <a:rPr lang="zh-CN" altLang="en-US" sz="2800" b="0" dirty="0">
                <a:latin typeface="Times New Roman" panose="02020603050405020304" pitchFamily="18" charset="0"/>
                <a:ea typeface="黑体" panose="02010609060101010101" pitchFamily="49" charset="-122"/>
              </a:rPr>
              <a:t>交换体等。</a:t>
            </a:r>
            <a:endParaRPr lang="en-US" altLang="zh-CN" sz="2800" b="0" dirty="0">
              <a:latin typeface="Times New Roman" panose="02020603050405020304" pitchFamily="18" charset="0"/>
              <a:ea typeface="黑体" panose="02010609060101010101" pitchFamily="49" charset="-122"/>
            </a:endParaRPr>
          </a:p>
          <a:p>
            <a:pPr eaLnBrk="1" hangingPunct="1">
              <a:buFont typeface="Wingdings" panose="05000000000000000000" pitchFamily="2" charset="2"/>
              <a:buChar char="u"/>
              <a:defRPr/>
            </a:pPr>
            <a:endParaRPr lang="en-US" altLang="zh-CN" sz="2800" b="0" dirty="0">
              <a:latin typeface="Times New Roman" panose="02020603050405020304" pitchFamily="18" charset="0"/>
              <a:ea typeface="黑体" panose="02010609060101010101" pitchFamily="49" charset="-122"/>
            </a:endParaRPr>
          </a:p>
          <a:p>
            <a:pPr eaLnBrk="1" hangingPunct="1">
              <a:buFont typeface="Wingdings" panose="05000000000000000000" pitchFamily="2" charset="2"/>
              <a:buChar char="u"/>
              <a:defRPr/>
            </a:pPr>
            <a:r>
              <a:rPr lang="zh-CN" altLang="en-US" sz="2800" b="0" dirty="0">
                <a:latin typeface="Times New Roman" panose="02020603050405020304" pitchFamily="18" charset="0"/>
                <a:ea typeface="黑体" panose="02010609060101010101" pitchFamily="49" charset="-122"/>
              </a:rPr>
              <a:t>目前归入转位酶的共有</a:t>
            </a:r>
            <a:r>
              <a:rPr lang="en-US" altLang="zh-CN" sz="2800" b="0" dirty="0">
                <a:latin typeface="Times New Roman" panose="02020603050405020304" pitchFamily="18" charset="0"/>
                <a:ea typeface="黑体" panose="02010609060101010101" pitchFamily="49" charset="-122"/>
              </a:rPr>
              <a:t>76</a:t>
            </a:r>
            <a:r>
              <a:rPr lang="zh-CN" altLang="en-US" sz="2800" b="0" dirty="0">
                <a:latin typeface="Times New Roman" panose="02020603050405020304" pitchFamily="18" charset="0"/>
                <a:ea typeface="黑体" panose="02010609060101010101" pitchFamily="49" charset="-122"/>
              </a:rPr>
              <a:t>种。 </a:t>
            </a:r>
          </a:p>
        </p:txBody>
      </p:sp>
      <p:sp>
        <p:nvSpPr>
          <p:cNvPr id="419843" name="Text Box 3">
            <a:extLst>
              <a:ext uri="{FF2B5EF4-FFF2-40B4-BE49-F238E27FC236}">
                <a16:creationId xmlns:a16="http://schemas.microsoft.com/office/drawing/2014/main" id="{0BCBEFC3-B413-44F9-A601-0FD8C93F6B9D}"/>
              </a:ext>
            </a:extLst>
          </p:cNvPr>
          <p:cNvSpPr txBox="1">
            <a:spLocks noChangeArrowheads="1"/>
          </p:cNvSpPr>
          <p:nvPr/>
        </p:nvSpPr>
        <p:spPr bwMode="auto">
          <a:xfrm>
            <a:off x="2166938" y="1014413"/>
            <a:ext cx="8001000" cy="646112"/>
          </a:xfrm>
          <a:prstGeom prst="rect">
            <a:avLst/>
          </a:prstGeom>
          <a:solidFill>
            <a:srgbClr val="CCFFFF">
              <a:alpha val="65097"/>
            </a:srgbClr>
          </a:solidFill>
          <a:ln w="76200" cmpd="tri" algn="ctr">
            <a:solidFill>
              <a:schemeClr val="bg2"/>
            </a:solidFill>
            <a:miter lim="800000"/>
            <a:headEnd/>
            <a:tailEnd/>
          </a:ln>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buClr>
                <a:schemeClr val="folHlink"/>
              </a:buClr>
              <a:buSzPct val="60000"/>
              <a:buFont typeface="Wingdings" panose="05000000000000000000" pitchFamily="2" charset="2"/>
              <a:buNone/>
            </a:pPr>
            <a:r>
              <a:rPr kumimoji="1" lang="en-US" altLang="zh-CN" sz="3600">
                <a:solidFill>
                  <a:srgbClr val="FF3300"/>
                </a:solidFill>
                <a:latin typeface="Times New Roman" panose="02020603050405020304" pitchFamily="18" charset="0"/>
                <a:ea typeface="黑体" panose="02010609060101010101" pitchFamily="49" charset="-122"/>
              </a:rPr>
              <a:t>7</a:t>
            </a:r>
            <a:r>
              <a:rPr kumimoji="1" lang="zh-CN" altLang="en-US" sz="3600">
                <a:solidFill>
                  <a:srgbClr val="FF3300"/>
                </a:solidFill>
                <a:latin typeface="Times New Roman" panose="02020603050405020304" pitchFamily="18" charset="0"/>
                <a:ea typeface="黑体" panose="02010609060101010101" pitchFamily="49" charset="-122"/>
              </a:rPr>
              <a:t>、易位酶 </a:t>
            </a:r>
            <a:r>
              <a:rPr kumimoji="1" lang="en-US" altLang="zh-CN" sz="3600">
                <a:solidFill>
                  <a:srgbClr val="FF3300"/>
                </a:solidFill>
                <a:latin typeface="Times New Roman" panose="02020603050405020304" pitchFamily="18" charset="0"/>
                <a:ea typeface="黑体" panose="02010609060101010101" pitchFamily="49" charset="-122"/>
              </a:rPr>
              <a:t>translocase</a:t>
            </a:r>
          </a:p>
        </p:txBody>
      </p:sp>
    </p:spTree>
  </p:cSld>
  <p:clrMapOvr>
    <a:masterClrMapping/>
  </p:clrMapOvr>
  <p:transition spd="slow">
    <p:circle/>
  </p:transition>
</p:sld>
</file>

<file path=ppt/slides/slide1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1714" name="Rectangle 2">
            <a:extLst>
              <a:ext uri="{FF2B5EF4-FFF2-40B4-BE49-F238E27FC236}">
                <a16:creationId xmlns:a16="http://schemas.microsoft.com/office/drawing/2014/main" id="{1DE95B34-FB2A-4A9E-B34D-E4C1C280129B}"/>
              </a:ext>
            </a:extLst>
          </p:cNvPr>
          <p:cNvSpPr>
            <a:spLocks noChangeArrowheads="1"/>
          </p:cNvSpPr>
          <p:nvPr/>
        </p:nvSpPr>
        <p:spPr bwMode="auto">
          <a:xfrm>
            <a:off x="2279650" y="1484313"/>
            <a:ext cx="7992814"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1708150" indent="-81280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0" lvl="1" eaLnBrk="1" hangingPunct="1">
              <a:lnSpc>
                <a:spcPct val="240000"/>
              </a:lnSpc>
              <a:spcBef>
                <a:spcPct val="0"/>
              </a:spcBef>
              <a:buNone/>
            </a:pPr>
            <a:r>
              <a:rPr kumimoji="1" lang="en-US" altLang="zh-CN" sz="3200" dirty="0">
                <a:solidFill>
                  <a:srgbClr val="FF3300"/>
                </a:solidFill>
                <a:latin typeface="Times New Roman" panose="02020603050405020304" pitchFamily="18" charset="0"/>
                <a:ea typeface="黑体" panose="02010609060101010101" pitchFamily="49" charset="-122"/>
              </a:rPr>
              <a:t>(</a:t>
            </a:r>
            <a:r>
              <a:rPr kumimoji="1" lang="zh-CN" altLang="en-US" sz="3200" dirty="0">
                <a:solidFill>
                  <a:srgbClr val="FF3300"/>
                </a:solidFill>
                <a:latin typeface="Times New Roman" panose="02020603050405020304" pitchFamily="18" charset="0"/>
                <a:ea typeface="黑体" panose="02010609060101010101" pitchFamily="49" charset="-122"/>
              </a:rPr>
              <a:t>二</a:t>
            </a:r>
            <a:r>
              <a:rPr kumimoji="1" lang="en-US" altLang="zh-CN" sz="3200" dirty="0">
                <a:solidFill>
                  <a:srgbClr val="FF3300"/>
                </a:solidFill>
                <a:latin typeface="Times New Roman" panose="02020603050405020304" pitchFamily="18" charset="0"/>
                <a:ea typeface="黑体" panose="02010609060101010101" pitchFamily="49" charset="-122"/>
              </a:rPr>
              <a:t>) </a:t>
            </a:r>
            <a:r>
              <a:rPr kumimoji="1" lang="zh-CN" altLang="en-US" sz="3200" dirty="0">
                <a:solidFill>
                  <a:srgbClr val="FF3300"/>
                </a:solidFill>
                <a:latin typeface="Times New Roman" panose="02020603050405020304" pitchFamily="18" charset="0"/>
                <a:ea typeface="黑体" panose="02010609060101010101" pitchFamily="49" charset="-122"/>
              </a:rPr>
              <a:t>每一种酶均有其系统名称和推荐名称</a:t>
            </a:r>
          </a:p>
          <a:p>
            <a:pPr lvl="1" eaLnBrk="1" hangingPunct="1">
              <a:lnSpc>
                <a:spcPct val="240000"/>
              </a:lnSpc>
              <a:spcBef>
                <a:spcPct val="0"/>
              </a:spcBef>
              <a:buFontTx/>
              <a:buNone/>
            </a:pPr>
            <a:r>
              <a:rPr kumimoji="1" lang="en-US" altLang="zh-CN" dirty="0">
                <a:latin typeface="Times New Roman" panose="02020603050405020304" pitchFamily="18" charset="0"/>
                <a:ea typeface="黑体" panose="02010609060101010101" pitchFamily="49" charset="-122"/>
              </a:rPr>
              <a:t>1. </a:t>
            </a:r>
            <a:r>
              <a:rPr kumimoji="1" lang="zh-CN" altLang="en-US" dirty="0">
                <a:latin typeface="Times New Roman" panose="02020603050405020304" pitchFamily="18" charset="0"/>
                <a:ea typeface="黑体" panose="02010609060101010101" pitchFamily="49" charset="-122"/>
              </a:rPr>
              <a:t>习惯命名法</a:t>
            </a:r>
            <a:r>
              <a:rPr kumimoji="1" lang="en-US" altLang="zh-CN" dirty="0">
                <a:latin typeface="Times New Roman" panose="02020603050405020304" pitchFamily="18" charset="0"/>
                <a:ea typeface="黑体" panose="02010609060101010101" pitchFamily="49" charset="-122"/>
              </a:rPr>
              <a:t>——</a:t>
            </a:r>
            <a:r>
              <a:rPr kumimoji="1" lang="zh-CN" altLang="en-US" dirty="0">
                <a:latin typeface="Times New Roman" panose="02020603050405020304" pitchFamily="18" charset="0"/>
                <a:ea typeface="黑体" panose="02010609060101010101" pitchFamily="49" charset="-122"/>
              </a:rPr>
              <a:t>推荐名称</a:t>
            </a:r>
          </a:p>
          <a:p>
            <a:pPr lvl="1" eaLnBrk="1" hangingPunct="1">
              <a:lnSpc>
                <a:spcPct val="240000"/>
              </a:lnSpc>
              <a:spcBef>
                <a:spcPct val="0"/>
              </a:spcBef>
              <a:buFontTx/>
              <a:buNone/>
            </a:pPr>
            <a:r>
              <a:rPr kumimoji="1" lang="en-US" altLang="zh-CN" dirty="0">
                <a:latin typeface="Times New Roman" panose="02020603050405020304" pitchFamily="18" charset="0"/>
                <a:ea typeface="黑体" panose="02010609060101010101" pitchFamily="49" charset="-122"/>
              </a:rPr>
              <a:t>2. </a:t>
            </a:r>
            <a:r>
              <a:rPr kumimoji="1" lang="zh-CN" altLang="en-US" dirty="0">
                <a:latin typeface="Times New Roman" panose="02020603050405020304" pitchFamily="18" charset="0"/>
                <a:ea typeface="黑体" panose="02010609060101010101" pitchFamily="49" charset="-122"/>
              </a:rPr>
              <a:t>系统命名法</a:t>
            </a:r>
            <a:r>
              <a:rPr kumimoji="1" lang="en-US" altLang="zh-CN" dirty="0">
                <a:latin typeface="Times New Roman" panose="02020603050405020304" pitchFamily="18" charset="0"/>
                <a:ea typeface="黑体" panose="02010609060101010101" pitchFamily="49" charset="-122"/>
              </a:rPr>
              <a:t>——</a:t>
            </a:r>
            <a:r>
              <a:rPr kumimoji="1" lang="zh-CN" altLang="en-US" dirty="0">
                <a:latin typeface="Times New Roman" panose="02020603050405020304" pitchFamily="18" charset="0"/>
                <a:ea typeface="黑体" panose="02010609060101010101" pitchFamily="49" charset="-122"/>
              </a:rPr>
              <a:t>系统名称</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71714"/>
                                        </p:tgtEl>
                                        <p:attrNameLst>
                                          <p:attrName>style.visibility</p:attrName>
                                        </p:attrNameLst>
                                      </p:cBhvr>
                                      <p:to>
                                        <p:strVal val="visible"/>
                                      </p:to>
                                    </p:set>
                                    <p:animEffect transition="in" filter="randombar(horizontal)">
                                      <p:cBhvr>
                                        <p:cTn id="7" dur="500"/>
                                        <p:tgtEl>
                                          <p:spTgt spid="371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4" grpId="0" autoUpdateAnimBg="0" rev="1"/>
    </p:bldLst>
  </p:timing>
</p:sld>
</file>

<file path=ppt/slides/slide1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6519DE67-6F6B-43B4-8F95-A3DA0C81316B}"/>
              </a:ext>
            </a:extLst>
          </p:cNvPr>
          <p:cNvSpPr>
            <a:spLocks noChangeArrowheads="1"/>
          </p:cNvSpPr>
          <p:nvPr/>
        </p:nvSpPr>
        <p:spPr bwMode="auto">
          <a:xfrm>
            <a:off x="2243138" y="2102130"/>
            <a:ext cx="7705725" cy="2653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80000"/>
              </a:lnSpc>
              <a:spcBef>
                <a:spcPct val="0"/>
              </a:spcBef>
              <a:buFontTx/>
              <a:buNone/>
            </a:pPr>
            <a:r>
              <a:rPr kumimoji="1" lang="zh-CN" altLang="zh-CN" sz="2400" b="1" dirty="0">
                <a:solidFill>
                  <a:srgbClr val="0000FF"/>
                </a:solidFill>
                <a:latin typeface="Times New Roman" panose="02020603050405020304" pitchFamily="18" charset="0"/>
                <a:ea typeface="黑体" panose="02010609060101010101" pitchFamily="49" charset="-122"/>
              </a:rPr>
              <a:t>1</a:t>
            </a:r>
            <a:r>
              <a:rPr kumimoji="1" lang="zh-CN" altLang="en-US" sz="2400" b="1" dirty="0">
                <a:solidFill>
                  <a:srgbClr val="0000FF"/>
                </a:solidFill>
                <a:latin typeface="Times New Roman" panose="02020603050405020304" pitchFamily="18" charset="0"/>
                <a:ea typeface="黑体" panose="02010609060101010101" pitchFamily="49" charset="-122"/>
              </a:rPr>
              <a:t>、底物＋酶：</a:t>
            </a:r>
            <a:r>
              <a:rPr kumimoji="1" lang="zh-CN" altLang="en-US" sz="2400" b="1" dirty="0">
                <a:latin typeface="Times New Roman" panose="02020603050405020304" pitchFamily="18" charset="0"/>
                <a:ea typeface="黑体" panose="02010609060101010101" pitchFamily="49" charset="-122"/>
              </a:rPr>
              <a:t>如淀粉酶、蛋白酶、 脂肪酶等；</a:t>
            </a:r>
          </a:p>
          <a:p>
            <a:pPr eaLnBrk="1" hangingPunct="1">
              <a:lnSpc>
                <a:spcPct val="180000"/>
              </a:lnSpc>
              <a:spcBef>
                <a:spcPct val="0"/>
              </a:spcBef>
              <a:buFontTx/>
              <a:buNone/>
            </a:pPr>
            <a:r>
              <a:rPr kumimoji="1" lang="zh-CN" altLang="zh-CN" sz="2400" b="1" dirty="0">
                <a:solidFill>
                  <a:srgbClr val="0000FF"/>
                </a:solidFill>
                <a:latin typeface="Times New Roman" panose="02020603050405020304" pitchFamily="18" charset="0"/>
                <a:ea typeface="黑体" panose="02010609060101010101" pitchFamily="49" charset="-122"/>
              </a:rPr>
              <a:t>2</a:t>
            </a:r>
            <a:r>
              <a:rPr kumimoji="1" lang="zh-CN" altLang="en-US" sz="2400" b="1" dirty="0">
                <a:solidFill>
                  <a:srgbClr val="0000FF"/>
                </a:solidFill>
                <a:latin typeface="Times New Roman" panose="02020603050405020304" pitchFamily="18" charset="0"/>
                <a:ea typeface="黑体" panose="02010609060101010101" pitchFamily="49" charset="-122"/>
              </a:rPr>
              <a:t>、反应的性质＋酶：</a:t>
            </a:r>
            <a:r>
              <a:rPr kumimoji="1" lang="zh-CN" altLang="en-US" sz="2400" b="1" dirty="0">
                <a:latin typeface="Times New Roman" panose="02020603050405020304" pitchFamily="18" charset="0"/>
                <a:ea typeface="黑体" panose="02010609060101010101" pitchFamily="49" charset="-122"/>
              </a:rPr>
              <a:t>如脱氢酶、脱羧酶、水解酶等；</a:t>
            </a:r>
          </a:p>
          <a:p>
            <a:pPr eaLnBrk="1" hangingPunct="1">
              <a:lnSpc>
                <a:spcPct val="180000"/>
              </a:lnSpc>
              <a:spcBef>
                <a:spcPct val="0"/>
              </a:spcBef>
              <a:buFontTx/>
              <a:buNone/>
            </a:pPr>
            <a:r>
              <a:rPr kumimoji="1" lang="en-US" altLang="zh-CN" sz="2400" b="1" dirty="0">
                <a:solidFill>
                  <a:srgbClr val="0000FF"/>
                </a:solidFill>
                <a:latin typeface="Times New Roman" panose="02020603050405020304" pitchFamily="18" charset="0"/>
                <a:ea typeface="黑体" panose="02010609060101010101" pitchFamily="49" charset="-122"/>
              </a:rPr>
              <a:t>3</a:t>
            </a:r>
            <a:r>
              <a:rPr kumimoji="1" lang="zh-CN" altLang="en-US" sz="2400" b="1" dirty="0">
                <a:solidFill>
                  <a:srgbClr val="0000FF"/>
                </a:solidFill>
                <a:latin typeface="Times New Roman" panose="02020603050405020304" pitchFamily="18" charset="0"/>
                <a:ea typeface="黑体" panose="02010609060101010101" pitchFamily="49" charset="-122"/>
              </a:rPr>
              <a:t>、底物＋反应的性质＋酶：</a:t>
            </a:r>
            <a:r>
              <a:rPr kumimoji="1" lang="zh-CN" altLang="en-US" sz="2400" b="1" dirty="0">
                <a:latin typeface="Times New Roman" panose="02020603050405020304" pitchFamily="18" charset="0"/>
                <a:ea typeface="黑体" panose="02010609060101010101" pitchFamily="49" charset="-122"/>
              </a:rPr>
              <a:t>乳酸脱氢酶</a:t>
            </a:r>
          </a:p>
          <a:p>
            <a:pPr eaLnBrk="1" hangingPunct="1">
              <a:lnSpc>
                <a:spcPct val="180000"/>
              </a:lnSpc>
              <a:spcBef>
                <a:spcPct val="0"/>
              </a:spcBef>
              <a:buFontTx/>
              <a:buNone/>
            </a:pPr>
            <a:r>
              <a:rPr kumimoji="1" lang="en-US" altLang="zh-CN" sz="2400" b="1" dirty="0">
                <a:solidFill>
                  <a:srgbClr val="0000FF"/>
                </a:solidFill>
                <a:latin typeface="Times New Roman" panose="02020603050405020304" pitchFamily="18" charset="0"/>
                <a:ea typeface="黑体" panose="02010609060101010101" pitchFamily="49" charset="-122"/>
              </a:rPr>
              <a:t>4</a:t>
            </a:r>
            <a:r>
              <a:rPr kumimoji="1" lang="zh-CN" altLang="en-US" sz="2400" b="1" dirty="0">
                <a:solidFill>
                  <a:srgbClr val="0000FF"/>
                </a:solidFill>
                <a:latin typeface="Times New Roman" panose="02020603050405020304" pitchFamily="18" charset="0"/>
                <a:ea typeface="黑体" panose="02010609060101010101" pitchFamily="49" charset="-122"/>
              </a:rPr>
              <a:t>、来源＋底物＋酶等：</a:t>
            </a:r>
            <a:r>
              <a:rPr kumimoji="1" lang="zh-CN" altLang="en-US" sz="2400" b="1" dirty="0">
                <a:latin typeface="Times New Roman" panose="02020603050405020304" pitchFamily="18" charset="0"/>
                <a:ea typeface="黑体" panose="02010609060101010101" pitchFamily="49" charset="-122"/>
              </a:rPr>
              <a:t>如细菌淀粉酶、胃蛋白酶等。</a:t>
            </a:r>
          </a:p>
        </p:txBody>
      </p:sp>
      <p:sp>
        <p:nvSpPr>
          <p:cNvPr id="423939" name="Rectangle 3">
            <a:extLst>
              <a:ext uri="{FF2B5EF4-FFF2-40B4-BE49-F238E27FC236}">
                <a16:creationId xmlns:a16="http://schemas.microsoft.com/office/drawing/2014/main" id="{1880201A-87B8-4EA8-A6A2-B9ABC30E9B02}"/>
              </a:ext>
            </a:extLst>
          </p:cNvPr>
          <p:cNvSpPr>
            <a:spLocks noChangeArrowheads="1"/>
          </p:cNvSpPr>
          <p:nvPr/>
        </p:nvSpPr>
        <p:spPr bwMode="auto">
          <a:xfrm>
            <a:off x="2243138" y="1196753"/>
            <a:ext cx="22445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b="1" dirty="0">
                <a:solidFill>
                  <a:srgbClr val="FF3300"/>
                </a:solidFill>
                <a:latin typeface="Times New Roman" panose="02020603050405020304" pitchFamily="18" charset="0"/>
                <a:ea typeface="黑体" panose="02010609060101010101" pitchFamily="49" charset="-122"/>
              </a:rPr>
              <a:t>习惯命名法</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73762">
                                            <p:txEl>
                                              <p:pRg st="0" end="0"/>
                                            </p:txEl>
                                          </p:spTgt>
                                        </p:tgtEl>
                                        <p:attrNameLst>
                                          <p:attrName>style.visibility</p:attrName>
                                        </p:attrNameLst>
                                      </p:cBhvr>
                                      <p:to>
                                        <p:strVal val="visible"/>
                                      </p:to>
                                    </p:set>
                                    <p:animEffect transition="in" filter="wipe(left)">
                                      <p:cBhvr>
                                        <p:cTn id="7" dur="500"/>
                                        <p:tgtEl>
                                          <p:spTgt spid="3737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73762">
                                            <p:txEl>
                                              <p:pRg st="1" end="1"/>
                                            </p:txEl>
                                          </p:spTgt>
                                        </p:tgtEl>
                                        <p:attrNameLst>
                                          <p:attrName>style.visibility</p:attrName>
                                        </p:attrNameLst>
                                      </p:cBhvr>
                                      <p:to>
                                        <p:strVal val="visible"/>
                                      </p:to>
                                    </p:set>
                                    <p:animEffect transition="in" filter="wipe(left)">
                                      <p:cBhvr>
                                        <p:cTn id="12" dur="500"/>
                                        <p:tgtEl>
                                          <p:spTgt spid="37376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73762">
                                            <p:txEl>
                                              <p:pRg st="2" end="2"/>
                                            </p:txEl>
                                          </p:spTgt>
                                        </p:tgtEl>
                                        <p:attrNameLst>
                                          <p:attrName>style.visibility</p:attrName>
                                        </p:attrNameLst>
                                      </p:cBhvr>
                                      <p:to>
                                        <p:strVal val="visible"/>
                                      </p:to>
                                    </p:set>
                                    <p:animEffect transition="in" filter="wipe(left)">
                                      <p:cBhvr>
                                        <p:cTn id="17" dur="500"/>
                                        <p:tgtEl>
                                          <p:spTgt spid="37376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73762">
                                            <p:txEl>
                                              <p:pRg st="3" end="3"/>
                                            </p:txEl>
                                          </p:spTgt>
                                        </p:tgtEl>
                                        <p:attrNameLst>
                                          <p:attrName>style.visibility</p:attrName>
                                        </p:attrNameLst>
                                      </p:cBhvr>
                                      <p:to>
                                        <p:strVal val="visible"/>
                                      </p:to>
                                    </p:set>
                                    <p:animEffect transition="in" filter="wipe(left)">
                                      <p:cBhvr>
                                        <p:cTn id="22" dur="500"/>
                                        <p:tgtEl>
                                          <p:spTgt spid="37376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8034" name="Rectangle 2">
            <a:extLst>
              <a:ext uri="{FF2B5EF4-FFF2-40B4-BE49-F238E27FC236}">
                <a16:creationId xmlns:a16="http://schemas.microsoft.com/office/drawing/2014/main" id="{B48285AB-2281-4DBA-B093-3C3484C248B3}"/>
              </a:ext>
            </a:extLst>
          </p:cNvPr>
          <p:cNvSpPr>
            <a:spLocks noChangeArrowheads="1"/>
          </p:cNvSpPr>
          <p:nvPr/>
        </p:nvSpPr>
        <p:spPr bwMode="auto">
          <a:xfrm>
            <a:off x="1992313" y="1989139"/>
            <a:ext cx="8077200"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80000"/>
              </a:lnSpc>
              <a:spcBef>
                <a:spcPct val="0"/>
              </a:spcBef>
              <a:buFontTx/>
              <a:buNone/>
            </a:pPr>
            <a:r>
              <a:rPr kumimoji="1" lang="en-US" altLang="zh-CN" sz="2800">
                <a:latin typeface="Times New Roman" panose="02020603050405020304" pitchFamily="18" charset="0"/>
                <a:ea typeface="黑体" panose="02010609060101010101" pitchFamily="49" charset="-122"/>
              </a:rPr>
              <a:t>      </a:t>
            </a:r>
            <a:r>
              <a:rPr kumimoji="1" lang="zh-CN" altLang="en-US" sz="2800">
                <a:latin typeface="Times New Roman" panose="02020603050405020304" pitchFamily="18" charset="0"/>
                <a:ea typeface="黑体" panose="02010609060101010101" pitchFamily="49" charset="-122"/>
              </a:rPr>
              <a:t>国际生物化学会酶学委员会提出的系统命名法的原则是</a:t>
            </a:r>
            <a:r>
              <a:rPr kumimoji="1" lang="zh-CN" altLang="en-US" sz="2800">
                <a:solidFill>
                  <a:srgbClr val="0000CC"/>
                </a:solidFill>
                <a:latin typeface="Times New Roman" panose="02020603050405020304" pitchFamily="18" charset="0"/>
                <a:ea typeface="黑体" panose="02010609060101010101" pitchFamily="49" charset="-122"/>
              </a:rPr>
              <a:t>以酶催化的整体反应为基础</a:t>
            </a:r>
            <a:r>
              <a:rPr kumimoji="1" lang="zh-CN" altLang="en-US" sz="2800">
                <a:latin typeface="Times New Roman" panose="02020603050405020304" pitchFamily="18" charset="0"/>
                <a:ea typeface="黑体" panose="02010609060101010101" pitchFamily="49" charset="-122"/>
              </a:rPr>
              <a:t>的。命名时应明确每种酶的</a:t>
            </a:r>
            <a:r>
              <a:rPr kumimoji="1" lang="zh-CN" altLang="en-US" sz="2800">
                <a:solidFill>
                  <a:srgbClr val="FF3300"/>
                </a:solidFill>
                <a:latin typeface="Times New Roman" panose="02020603050405020304" pitchFamily="18" charset="0"/>
                <a:ea typeface="黑体" panose="02010609060101010101" pitchFamily="49" charset="-122"/>
              </a:rPr>
              <a:t>底物及催化反应的性质</a:t>
            </a:r>
            <a:r>
              <a:rPr kumimoji="1" lang="zh-CN" altLang="en-US" sz="2800">
                <a:latin typeface="Times New Roman" panose="02020603050405020304" pitchFamily="18" charset="0"/>
                <a:ea typeface="黑体" panose="02010609060101010101" pitchFamily="49" charset="-122"/>
              </a:rPr>
              <a:t>，若有多个底物都要写明，其间用冒号（∶）隔开。 </a:t>
            </a:r>
          </a:p>
        </p:txBody>
      </p:sp>
      <p:sp>
        <p:nvSpPr>
          <p:cNvPr id="428035" name="Rectangle 3">
            <a:extLst>
              <a:ext uri="{FF2B5EF4-FFF2-40B4-BE49-F238E27FC236}">
                <a16:creationId xmlns:a16="http://schemas.microsoft.com/office/drawing/2014/main" id="{DA41813A-4159-433B-8B1F-BD0D7162D4F0}"/>
              </a:ext>
            </a:extLst>
          </p:cNvPr>
          <p:cNvSpPr>
            <a:spLocks noChangeArrowheads="1"/>
          </p:cNvSpPr>
          <p:nvPr/>
        </p:nvSpPr>
        <p:spPr bwMode="auto">
          <a:xfrm>
            <a:off x="2495550" y="1052513"/>
            <a:ext cx="2224088"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10000"/>
              </a:lnSpc>
              <a:spcBef>
                <a:spcPct val="0"/>
              </a:spcBef>
              <a:buFontTx/>
              <a:buNone/>
            </a:pPr>
            <a:r>
              <a:rPr kumimoji="1" lang="zh-CN" altLang="en-US">
                <a:solidFill>
                  <a:srgbClr val="0000FF"/>
                </a:solidFill>
                <a:latin typeface="Times New Roman" panose="02020603050405020304" pitchFamily="18" charset="0"/>
                <a:ea typeface="黑体" panose="02010609060101010101" pitchFamily="49" charset="-122"/>
              </a:rPr>
              <a:t>系统命名法</a:t>
            </a:r>
          </a:p>
        </p:txBody>
      </p:sp>
    </p:spTree>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882" name="Rectangle 2">
            <a:extLst>
              <a:ext uri="{FF2B5EF4-FFF2-40B4-BE49-F238E27FC236}">
                <a16:creationId xmlns:a16="http://schemas.microsoft.com/office/drawing/2014/main" id="{8B67E82F-4CCD-4FF5-BB99-10EDAD81BF25}"/>
              </a:ext>
            </a:extLst>
          </p:cNvPr>
          <p:cNvSpPr>
            <a:spLocks noChangeArrowheads="1"/>
          </p:cNvSpPr>
          <p:nvPr/>
        </p:nvSpPr>
        <p:spPr bwMode="auto">
          <a:xfrm>
            <a:off x="2671763" y="3711576"/>
            <a:ext cx="4767262"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buFontTx/>
              <a:buNone/>
            </a:pPr>
            <a:r>
              <a:rPr kumimoji="1" lang="zh-CN" altLang="en-US">
                <a:latin typeface="Times New Roman" panose="02020603050405020304" pitchFamily="18" charset="0"/>
                <a:ea typeface="黑体" panose="02010609060101010101" pitchFamily="49" charset="-122"/>
              </a:rPr>
              <a:t>习惯命名法：</a:t>
            </a:r>
            <a:r>
              <a:rPr kumimoji="1" lang="zh-CN" altLang="en-US" sz="3600">
                <a:latin typeface="Times New Roman" panose="02020603050405020304" pitchFamily="18" charset="0"/>
                <a:ea typeface="黑体" panose="02010609060101010101" pitchFamily="49" charset="-122"/>
              </a:rPr>
              <a:t>  </a:t>
            </a:r>
            <a:r>
              <a:rPr kumimoji="1" lang="zh-CN" altLang="en-US" sz="2800">
                <a:solidFill>
                  <a:srgbClr val="0000FF"/>
                </a:solidFill>
                <a:latin typeface="Times New Roman" panose="02020603050405020304" pitchFamily="18" charset="0"/>
                <a:ea typeface="黑体" panose="02010609060101010101" pitchFamily="49" charset="-122"/>
              </a:rPr>
              <a:t>乙醇脱氢酶</a:t>
            </a:r>
            <a:r>
              <a:rPr kumimoji="1" lang="zh-CN" altLang="en-US" sz="2400">
                <a:solidFill>
                  <a:srgbClr val="000066"/>
                </a:solidFill>
                <a:latin typeface="Times New Roman" panose="02020603050405020304" pitchFamily="18" charset="0"/>
                <a:ea typeface="黑体" panose="02010609060101010101" pitchFamily="49" charset="-122"/>
              </a:rPr>
              <a:t> </a:t>
            </a:r>
            <a:endParaRPr kumimoji="1" lang="zh-CN" altLang="en-US" sz="1000">
              <a:latin typeface="Times New Roman" panose="02020603050405020304" pitchFamily="18" charset="0"/>
              <a:ea typeface="黑体" panose="02010609060101010101" pitchFamily="49" charset="-122"/>
            </a:endParaRPr>
          </a:p>
          <a:p>
            <a:pPr eaLnBrk="1" hangingPunct="1">
              <a:spcBef>
                <a:spcPct val="0"/>
              </a:spcBef>
              <a:buFontTx/>
              <a:buNone/>
            </a:pPr>
            <a:endParaRPr kumimoji="1" lang="en-US" altLang="zh-CN" sz="2000">
              <a:latin typeface="Times New Roman" panose="02020603050405020304" pitchFamily="18" charset="0"/>
              <a:ea typeface="黑体" panose="02010609060101010101" pitchFamily="49" charset="-122"/>
            </a:endParaRPr>
          </a:p>
        </p:txBody>
      </p:sp>
      <p:sp>
        <p:nvSpPr>
          <p:cNvPr id="378883" name="Rectangle 3">
            <a:extLst>
              <a:ext uri="{FF2B5EF4-FFF2-40B4-BE49-F238E27FC236}">
                <a16:creationId xmlns:a16="http://schemas.microsoft.com/office/drawing/2014/main" id="{FEC76DDD-B169-43AC-8F83-527F59023C1E}"/>
              </a:ext>
            </a:extLst>
          </p:cNvPr>
          <p:cNvSpPr>
            <a:spLocks noChangeArrowheads="1"/>
          </p:cNvSpPr>
          <p:nvPr/>
        </p:nvSpPr>
        <p:spPr bwMode="auto">
          <a:xfrm>
            <a:off x="2640014" y="4724401"/>
            <a:ext cx="672782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buFontTx/>
              <a:buNone/>
            </a:pPr>
            <a:r>
              <a:rPr kumimoji="1" lang="zh-CN" altLang="en-US">
                <a:latin typeface="Times New Roman" panose="02020603050405020304" pitchFamily="18" charset="0"/>
                <a:ea typeface="黑体" panose="02010609060101010101" pitchFamily="49" charset="-122"/>
              </a:rPr>
              <a:t>系统名称：</a:t>
            </a:r>
            <a:r>
              <a:rPr kumimoji="1" lang="zh-CN" altLang="en-US">
                <a:solidFill>
                  <a:srgbClr val="FFFF00"/>
                </a:solidFill>
                <a:latin typeface="Times New Roman" panose="02020603050405020304" pitchFamily="18" charset="0"/>
                <a:ea typeface="黑体" panose="02010609060101010101" pitchFamily="49" charset="-122"/>
              </a:rPr>
              <a:t>  </a:t>
            </a:r>
            <a:r>
              <a:rPr kumimoji="1" lang="zh-CN" altLang="en-US" sz="2800">
                <a:solidFill>
                  <a:srgbClr val="0000FF"/>
                </a:solidFill>
                <a:latin typeface="Times New Roman" panose="02020603050405020304" pitchFamily="18" charset="0"/>
                <a:ea typeface="黑体" panose="02010609060101010101" pitchFamily="49" charset="-122"/>
              </a:rPr>
              <a:t>乙醇：</a:t>
            </a:r>
            <a:r>
              <a:rPr kumimoji="1" lang="en-US" altLang="zh-CN" sz="2800">
                <a:solidFill>
                  <a:srgbClr val="0000FF"/>
                </a:solidFill>
                <a:latin typeface="Times New Roman" panose="02020603050405020304" pitchFamily="18" charset="0"/>
                <a:ea typeface="黑体" panose="02010609060101010101" pitchFamily="49" charset="-122"/>
              </a:rPr>
              <a:t>NAD</a:t>
            </a:r>
            <a:r>
              <a:rPr kumimoji="1" lang="en-US" altLang="zh-CN" sz="2800" baseline="30000">
                <a:solidFill>
                  <a:srgbClr val="0000FF"/>
                </a:solidFill>
                <a:latin typeface="Times New Roman" panose="02020603050405020304" pitchFamily="18" charset="0"/>
                <a:ea typeface="黑体" panose="02010609060101010101" pitchFamily="49" charset="-122"/>
              </a:rPr>
              <a:t>+</a:t>
            </a:r>
            <a:r>
              <a:rPr kumimoji="1" lang="zh-CN" altLang="en-US" sz="2800">
                <a:solidFill>
                  <a:srgbClr val="0000FF"/>
                </a:solidFill>
                <a:latin typeface="Times New Roman" panose="02020603050405020304" pitchFamily="18" charset="0"/>
                <a:ea typeface="黑体" panose="02010609060101010101" pitchFamily="49" charset="-122"/>
              </a:rPr>
              <a:t>氧化还原酶</a:t>
            </a:r>
            <a:r>
              <a:rPr kumimoji="1" lang="zh-CN" altLang="en-US" sz="2800" u="sng">
                <a:solidFill>
                  <a:srgbClr val="FFFF00"/>
                </a:solidFill>
                <a:latin typeface="Times New Roman" panose="02020603050405020304" pitchFamily="18" charset="0"/>
                <a:ea typeface="黑体" panose="02010609060101010101" pitchFamily="49" charset="-122"/>
              </a:rPr>
              <a:t>   </a:t>
            </a:r>
            <a:r>
              <a:rPr kumimoji="1" lang="zh-CN" altLang="en-US" sz="2800">
                <a:solidFill>
                  <a:srgbClr val="FFFF00"/>
                </a:solidFill>
                <a:latin typeface="Times New Roman" panose="02020603050405020304" pitchFamily="18" charset="0"/>
                <a:ea typeface="黑体" panose="02010609060101010101" pitchFamily="49" charset="-122"/>
              </a:rPr>
              <a:t>  </a:t>
            </a:r>
            <a:r>
              <a:rPr kumimoji="1" lang="zh-CN" altLang="en-US" sz="2800">
                <a:solidFill>
                  <a:srgbClr val="FF3300"/>
                </a:solidFill>
                <a:latin typeface="Times New Roman" panose="02020603050405020304" pitchFamily="18" charset="0"/>
                <a:ea typeface="黑体" panose="02010609060101010101" pitchFamily="49" charset="-122"/>
              </a:rPr>
              <a:t> </a:t>
            </a:r>
            <a:endParaRPr kumimoji="1" lang="zh-CN" altLang="en-US" sz="900">
              <a:latin typeface="Times New Roman" panose="02020603050405020304" pitchFamily="18" charset="0"/>
              <a:ea typeface="黑体" panose="02010609060101010101" pitchFamily="49" charset="-122"/>
            </a:endParaRPr>
          </a:p>
          <a:p>
            <a:pPr eaLnBrk="1" hangingPunct="1">
              <a:spcBef>
                <a:spcPct val="0"/>
              </a:spcBef>
              <a:buFontTx/>
              <a:buNone/>
            </a:pPr>
            <a:endParaRPr kumimoji="1" lang="en-US" altLang="zh-CN" sz="1800">
              <a:latin typeface="Times New Roman" panose="02020603050405020304" pitchFamily="18" charset="0"/>
              <a:ea typeface="黑体" panose="02010609060101010101" pitchFamily="49" charset="-122"/>
            </a:endParaRPr>
          </a:p>
        </p:txBody>
      </p:sp>
      <p:grpSp>
        <p:nvGrpSpPr>
          <p:cNvPr id="429060" name="Group 4">
            <a:extLst>
              <a:ext uri="{FF2B5EF4-FFF2-40B4-BE49-F238E27FC236}">
                <a16:creationId xmlns:a16="http://schemas.microsoft.com/office/drawing/2014/main" id="{4BD9BE93-97BF-4372-AEFD-C0EACA9B857B}"/>
              </a:ext>
            </a:extLst>
          </p:cNvPr>
          <p:cNvGrpSpPr>
            <a:grpSpLocks/>
          </p:cNvGrpSpPr>
          <p:nvPr/>
        </p:nvGrpSpPr>
        <p:grpSpPr bwMode="auto">
          <a:xfrm>
            <a:off x="2598739" y="1484313"/>
            <a:ext cx="7458075" cy="1504950"/>
            <a:chOff x="431" y="2069"/>
            <a:chExt cx="4562" cy="948"/>
          </a:xfrm>
        </p:grpSpPr>
        <p:sp>
          <p:nvSpPr>
            <p:cNvPr id="429061" name="Rectangle 5">
              <a:extLst>
                <a:ext uri="{FF2B5EF4-FFF2-40B4-BE49-F238E27FC236}">
                  <a16:creationId xmlns:a16="http://schemas.microsoft.com/office/drawing/2014/main" id="{C5DF24D1-74AF-41E9-9D2F-0029F74F0754}"/>
                </a:ext>
              </a:extLst>
            </p:cNvPr>
            <p:cNvSpPr>
              <a:spLocks noChangeArrowheads="1"/>
            </p:cNvSpPr>
            <p:nvPr/>
          </p:nvSpPr>
          <p:spPr bwMode="auto">
            <a:xfrm>
              <a:off x="431" y="2069"/>
              <a:ext cx="192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buFontTx/>
                <a:buNone/>
              </a:pPr>
              <a:r>
                <a:rPr kumimoji="1" lang="zh-CN" altLang="en-US">
                  <a:latin typeface="Times New Roman" panose="02020603050405020304" pitchFamily="18" charset="0"/>
                  <a:ea typeface="黑体" panose="02010609060101010101" pitchFamily="49" charset="-122"/>
                </a:rPr>
                <a:t>催化反应</a:t>
              </a:r>
              <a:r>
                <a:rPr kumimoji="1" lang="zh-CN" altLang="en-US" sz="3600">
                  <a:latin typeface="Times New Roman" panose="02020603050405020304" pitchFamily="18" charset="0"/>
                  <a:ea typeface="黑体" panose="02010609060101010101" pitchFamily="49" charset="-122"/>
                </a:rPr>
                <a:t> </a:t>
              </a:r>
              <a:endParaRPr kumimoji="1" lang="zh-CN" altLang="en-US" sz="2000">
                <a:latin typeface="Times New Roman" panose="02020603050405020304" pitchFamily="18" charset="0"/>
                <a:ea typeface="黑体" panose="02010609060101010101" pitchFamily="49" charset="-122"/>
              </a:endParaRPr>
            </a:p>
          </p:txBody>
        </p:sp>
        <p:sp>
          <p:nvSpPr>
            <p:cNvPr id="429062" name="Rectangle 6">
              <a:extLst>
                <a:ext uri="{FF2B5EF4-FFF2-40B4-BE49-F238E27FC236}">
                  <a16:creationId xmlns:a16="http://schemas.microsoft.com/office/drawing/2014/main" id="{E30E110A-CD1D-4613-B81C-C3EEED891A02}"/>
                </a:ext>
              </a:extLst>
            </p:cNvPr>
            <p:cNvSpPr>
              <a:spLocks noChangeArrowheads="1"/>
            </p:cNvSpPr>
            <p:nvPr/>
          </p:nvSpPr>
          <p:spPr bwMode="auto">
            <a:xfrm>
              <a:off x="884" y="2652"/>
              <a:ext cx="410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buFontTx/>
                <a:buNone/>
              </a:pPr>
              <a:r>
                <a:rPr kumimoji="1" lang="en-US" altLang="zh-CN">
                  <a:solidFill>
                    <a:srgbClr val="FF3300"/>
                  </a:solidFill>
                  <a:latin typeface="Times New Roman" panose="02020603050405020304" pitchFamily="18" charset="0"/>
                  <a:ea typeface="黑体" panose="02010609060101010101" pitchFamily="49" charset="-122"/>
                </a:rPr>
                <a:t>     </a:t>
              </a:r>
              <a:r>
                <a:rPr kumimoji="1" lang="zh-CN" altLang="en-US">
                  <a:latin typeface="Times New Roman" panose="02020603050405020304" pitchFamily="18" charset="0"/>
                  <a:ea typeface="黑体" panose="02010609060101010101" pitchFamily="49" charset="-122"/>
                </a:rPr>
                <a:t>乙醇 </a:t>
              </a:r>
              <a:r>
                <a:rPr kumimoji="1" lang="en-US" altLang="zh-CN">
                  <a:latin typeface="Times New Roman" panose="02020603050405020304" pitchFamily="18" charset="0"/>
                  <a:ea typeface="黑体" panose="02010609060101010101" pitchFamily="49" charset="-122"/>
                </a:rPr>
                <a:t>+ NAD</a:t>
              </a:r>
              <a:r>
                <a:rPr kumimoji="1" lang="en-US" altLang="zh-CN" baseline="30000">
                  <a:latin typeface="Times New Roman" panose="02020603050405020304" pitchFamily="18" charset="0"/>
                  <a:ea typeface="黑体" panose="02010609060101010101" pitchFamily="49" charset="-122"/>
                </a:rPr>
                <a:t>+    </a:t>
              </a:r>
              <a:r>
                <a:rPr kumimoji="1" lang="en-US" altLang="zh-CN" sz="1800" baseline="30000">
                  <a:solidFill>
                    <a:srgbClr val="FF3300"/>
                  </a:solidFill>
                  <a:latin typeface="Times New Roman" panose="02020603050405020304" pitchFamily="18" charset="0"/>
                  <a:ea typeface="黑体" panose="02010609060101010101" pitchFamily="49" charset="-122"/>
                </a:rPr>
                <a:t>                      </a:t>
              </a:r>
              <a:r>
                <a:rPr kumimoji="1" lang="zh-CN" altLang="en-US">
                  <a:latin typeface="Times New Roman" panose="02020603050405020304" pitchFamily="18" charset="0"/>
                  <a:ea typeface="黑体" panose="02010609060101010101" pitchFamily="49" charset="-122"/>
                </a:rPr>
                <a:t>乙醛 </a:t>
              </a:r>
              <a:r>
                <a:rPr kumimoji="1" lang="en-US" altLang="zh-CN">
                  <a:latin typeface="Times New Roman" panose="02020603050405020304" pitchFamily="18" charset="0"/>
                  <a:ea typeface="黑体" panose="02010609060101010101" pitchFamily="49" charset="-122"/>
                </a:rPr>
                <a:t>+ NADH</a:t>
              </a:r>
              <a:endParaRPr kumimoji="1" lang="en-US" altLang="zh-CN" sz="1800">
                <a:latin typeface="Times New Roman" panose="02020603050405020304" pitchFamily="18" charset="0"/>
                <a:ea typeface="黑体" panose="02010609060101010101" pitchFamily="49" charset="-122"/>
              </a:endParaRPr>
            </a:p>
          </p:txBody>
        </p:sp>
        <p:sp>
          <p:nvSpPr>
            <p:cNvPr id="429063" name="Line 7">
              <a:extLst>
                <a:ext uri="{FF2B5EF4-FFF2-40B4-BE49-F238E27FC236}">
                  <a16:creationId xmlns:a16="http://schemas.microsoft.com/office/drawing/2014/main" id="{CFF97A46-AD4D-4CAF-ADE9-DDAF104BA89F}"/>
                </a:ext>
              </a:extLst>
            </p:cNvPr>
            <p:cNvSpPr>
              <a:spLocks noChangeShapeType="1"/>
            </p:cNvSpPr>
            <p:nvPr/>
          </p:nvSpPr>
          <p:spPr bwMode="auto">
            <a:xfrm>
              <a:off x="2789" y="2840"/>
              <a:ext cx="59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8882"/>
                                        </p:tgtEl>
                                        <p:attrNameLst>
                                          <p:attrName>style.visibility</p:attrName>
                                        </p:attrNameLst>
                                      </p:cBhvr>
                                      <p:to>
                                        <p:strVal val="visible"/>
                                      </p:to>
                                    </p:set>
                                    <p:animEffect transition="in" filter="dissolve">
                                      <p:cBhvr>
                                        <p:cTn id="7" dur="500"/>
                                        <p:tgtEl>
                                          <p:spTgt spid="3788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8883"/>
                                        </p:tgtEl>
                                        <p:attrNameLst>
                                          <p:attrName>style.visibility</p:attrName>
                                        </p:attrNameLst>
                                      </p:cBhvr>
                                      <p:to>
                                        <p:strVal val="visible"/>
                                      </p:to>
                                    </p:set>
                                    <p:animEffect transition="in" filter="dissolve">
                                      <p:cBhvr>
                                        <p:cTn id="12" dur="500"/>
                                        <p:tgtEl>
                                          <p:spTgt spid="378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2" grpId="0"/>
      <p:bldP spid="378883" grpId="0"/>
    </p:bldLst>
  </p:timing>
</p:sld>
</file>

<file path=ppt/slides/slide1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082" name="Rectangle 2">
            <a:extLst>
              <a:ext uri="{FF2B5EF4-FFF2-40B4-BE49-F238E27FC236}">
                <a16:creationId xmlns:a16="http://schemas.microsoft.com/office/drawing/2014/main" id="{CFA90F47-AF7D-42FE-B8EC-4A0EBD59C0DC}"/>
              </a:ext>
            </a:extLst>
          </p:cNvPr>
          <p:cNvSpPr>
            <a:spLocks noChangeArrowheads="1"/>
          </p:cNvSpPr>
          <p:nvPr/>
        </p:nvSpPr>
        <p:spPr bwMode="auto">
          <a:xfrm>
            <a:off x="1774825" y="836614"/>
            <a:ext cx="8496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b="1">
                <a:solidFill>
                  <a:srgbClr val="FF3300"/>
                </a:solidFill>
                <a:latin typeface="Times New Roman" panose="02020603050405020304" pitchFamily="18" charset="0"/>
                <a:ea typeface="黑体" panose="02010609060101010101" pitchFamily="49" charset="-122"/>
              </a:rPr>
              <a:t>系统命名：</a:t>
            </a:r>
            <a:r>
              <a:rPr kumimoji="1" lang="zh-CN" altLang="en-US" b="1">
                <a:latin typeface="Times New Roman" panose="02020603050405020304" pitchFamily="18" charset="0"/>
                <a:ea typeface="黑体" panose="02010609060101010101" pitchFamily="49" charset="-122"/>
              </a:rPr>
              <a:t>每个酶都有一个名称和一个</a:t>
            </a:r>
            <a:r>
              <a:rPr kumimoji="1" lang="zh-CN" altLang="en-US" b="1" u="sng">
                <a:solidFill>
                  <a:srgbClr val="0000CC"/>
                </a:solidFill>
                <a:latin typeface="Times New Roman" panose="02020603050405020304" pitchFamily="18" charset="0"/>
                <a:ea typeface="黑体" panose="02010609060101010101" pitchFamily="49" charset="-122"/>
              </a:rPr>
              <a:t>编号</a:t>
            </a:r>
            <a:endParaRPr kumimoji="1" lang="zh-CN" altLang="en-US" b="1">
              <a:latin typeface="Times New Roman" panose="02020603050405020304" pitchFamily="18" charset="0"/>
              <a:ea typeface="黑体" panose="02010609060101010101" pitchFamily="49" charset="-122"/>
            </a:endParaRPr>
          </a:p>
        </p:txBody>
      </p:sp>
      <p:pic>
        <p:nvPicPr>
          <p:cNvPr id="379907" name="Picture 3">
            <a:extLst>
              <a:ext uri="{FF2B5EF4-FFF2-40B4-BE49-F238E27FC236}">
                <a16:creationId xmlns:a16="http://schemas.microsoft.com/office/drawing/2014/main" id="{D432958C-FFD8-4B09-BB7F-ECEE1392C1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1766888"/>
            <a:ext cx="9193213" cy="4038600"/>
          </a:xfrm>
          <a:prstGeom prst="rect">
            <a:avLst/>
          </a:prstGeom>
          <a:solidFill>
            <a:srgbClr val="0066CC"/>
          </a:solidFill>
          <a:ln w="41275">
            <a:solidFill>
              <a:srgbClr val="0000FF"/>
            </a:solid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79907"/>
                                        </p:tgtEl>
                                        <p:attrNameLst>
                                          <p:attrName>style.visibility</p:attrName>
                                        </p:attrNameLst>
                                      </p:cBhvr>
                                      <p:to>
                                        <p:strVal val="visible"/>
                                      </p:to>
                                    </p:set>
                                    <p:animEffect transition="in" filter="dissolve">
                                      <p:cBhvr>
                                        <p:cTn id="7" dur="500"/>
                                        <p:tgtEl>
                                          <p:spTgt spid="379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9AA81E8-9A2A-AD7E-DAE5-DC13F35E0BA2}"/>
              </a:ext>
            </a:extLst>
          </p:cNvPr>
          <p:cNvPicPr>
            <a:picLocks noChangeAspect="1"/>
          </p:cNvPicPr>
          <p:nvPr/>
        </p:nvPicPr>
        <p:blipFill>
          <a:blip r:embed="rId2"/>
          <a:stretch>
            <a:fillRect/>
          </a:stretch>
        </p:blipFill>
        <p:spPr>
          <a:xfrm>
            <a:off x="693239" y="476672"/>
            <a:ext cx="10805521" cy="5904656"/>
          </a:xfrm>
          <a:prstGeom prst="rect">
            <a:avLst/>
          </a:prstGeom>
        </p:spPr>
      </p:pic>
    </p:spTree>
  </p:cSld>
  <p:clrMapOvr>
    <a:masterClrMapping/>
  </p:clrMapOvr>
  <p:transition/>
</p:sld>
</file>

<file path=ppt/slides/slide1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3154" name="Rectangle 2">
            <a:extLst>
              <a:ext uri="{FF2B5EF4-FFF2-40B4-BE49-F238E27FC236}">
                <a16:creationId xmlns:a16="http://schemas.microsoft.com/office/drawing/2014/main" id="{4188387B-923E-49DF-9034-308F7D5028AD}"/>
              </a:ext>
            </a:extLst>
          </p:cNvPr>
          <p:cNvSpPr>
            <a:spLocks noGrp="1" noChangeArrowheads="1"/>
          </p:cNvSpPr>
          <p:nvPr>
            <p:ph type="title"/>
          </p:nvPr>
        </p:nvSpPr>
        <p:spPr>
          <a:xfrm>
            <a:off x="2424113" y="1341438"/>
            <a:ext cx="7416800" cy="3816350"/>
          </a:xfrm>
        </p:spPr>
        <p:txBody>
          <a:bodyPr vert="horz" wrap="square" lIns="92075" tIns="46038" rIns="92075" bIns="46038" numCol="1" anchor="ctr" anchorCtr="0" compatLnSpc="1">
            <a:prstTxWarp prst="textNoShape">
              <a:avLst/>
            </a:prstTxWarp>
          </a:bodyPr>
          <a:lstStyle/>
          <a:p>
            <a:pPr eaLnBrk="1" hangingPunct="1">
              <a:lnSpc>
                <a:spcPct val="110000"/>
              </a:lnSpc>
            </a:pPr>
            <a:r>
              <a:rPr lang="zh-CN" altLang="en-US" sz="4800" b="1" dirty="0">
                <a:solidFill>
                  <a:srgbClr val="FF3300"/>
                </a:solidFill>
                <a:latin typeface="Times New Roman" panose="02020603050405020304" pitchFamily="18" charset="0"/>
                <a:ea typeface="黑体" panose="02010609060101010101" pitchFamily="49" charset="-122"/>
              </a:rPr>
              <a:t>第 六 节</a:t>
            </a:r>
            <a:r>
              <a:rPr lang="zh-CN" altLang="en-US" sz="5400" b="1" dirty="0">
                <a:solidFill>
                  <a:srgbClr val="FF3300"/>
                </a:solidFill>
                <a:latin typeface="Times New Roman" panose="02020603050405020304" pitchFamily="18" charset="0"/>
                <a:ea typeface="黑体" panose="02010609060101010101" pitchFamily="49" charset="-122"/>
              </a:rPr>
              <a:t>     </a:t>
            </a:r>
            <a:br>
              <a:rPr lang="zh-CN" altLang="en-US" sz="5400" b="1" dirty="0">
                <a:solidFill>
                  <a:srgbClr val="FF3300"/>
                </a:solidFill>
                <a:latin typeface="Times New Roman" panose="02020603050405020304" pitchFamily="18" charset="0"/>
                <a:ea typeface="黑体" panose="02010609060101010101" pitchFamily="49" charset="-122"/>
              </a:rPr>
            </a:br>
            <a:br>
              <a:rPr lang="zh-CN" altLang="en-US" sz="4800" b="1" dirty="0">
                <a:solidFill>
                  <a:srgbClr val="FF3300"/>
                </a:solidFill>
                <a:latin typeface="Times New Roman" panose="02020603050405020304" pitchFamily="18" charset="0"/>
                <a:ea typeface="黑体" panose="02010609060101010101" pitchFamily="49" charset="-122"/>
              </a:rPr>
            </a:br>
            <a:r>
              <a:rPr lang="zh-CN" altLang="en-US" sz="4800" b="1" dirty="0">
                <a:solidFill>
                  <a:srgbClr val="FF3300"/>
                </a:solidFill>
                <a:latin typeface="Times New Roman" panose="02020603050405020304" pitchFamily="18" charset="0"/>
                <a:ea typeface="黑体" panose="02010609060101010101" pitchFamily="49" charset="-122"/>
              </a:rPr>
              <a:t>酶在医学中的应用</a:t>
            </a:r>
            <a:br>
              <a:rPr lang="zh-CN" altLang="en-US" sz="6000" b="1" dirty="0">
                <a:solidFill>
                  <a:srgbClr val="FFCC66"/>
                </a:solidFill>
                <a:latin typeface="Times New Roman" panose="02020603050405020304" pitchFamily="18" charset="0"/>
                <a:ea typeface="黑体" panose="02010609060101010101" pitchFamily="49" charset="-122"/>
              </a:rPr>
            </a:br>
            <a:endParaRPr lang="en-US" altLang="zh-CN" sz="4000" b="1" dirty="0">
              <a:latin typeface="Times New Roman" panose="02020603050405020304" pitchFamily="18" charset="0"/>
              <a:ea typeface="黑体" panose="02010609060101010101" pitchFamily="49" charset="-122"/>
            </a:endParaRPr>
          </a:p>
        </p:txBody>
      </p:sp>
    </p:spTree>
  </p:cSld>
  <p:clrMapOvr>
    <a:masterClrMapping/>
  </p:clrMapOvr>
  <p:transition/>
</p:sld>
</file>

<file path=ppt/slides/slide1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62" name="Rectangle 2">
            <a:extLst>
              <a:ext uri="{FF2B5EF4-FFF2-40B4-BE49-F238E27FC236}">
                <a16:creationId xmlns:a16="http://schemas.microsoft.com/office/drawing/2014/main" id="{67C22108-CA95-4B4C-AFCA-4ED8E2D2FA55}"/>
              </a:ext>
            </a:extLst>
          </p:cNvPr>
          <p:cNvSpPr>
            <a:spLocks noChangeArrowheads="1"/>
          </p:cNvSpPr>
          <p:nvPr/>
        </p:nvSpPr>
        <p:spPr bwMode="auto">
          <a:xfrm>
            <a:off x="2135560" y="2132856"/>
            <a:ext cx="8244408" cy="2952750"/>
          </a:xfrm>
          <a:prstGeom prst="rect">
            <a:avLst/>
          </a:prstGeom>
          <a:noFill/>
          <a:ln>
            <a:noFill/>
          </a:ln>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kumimoji="1" lang="zh-CN" altLang="en-US" sz="3200" dirty="0">
                <a:latin typeface="Times New Roman" panose="02020603050405020304" pitchFamily="18" charset="0"/>
                <a:ea typeface="黑体" panose="02010609060101010101" pitchFamily="49" charset="-122"/>
              </a:rPr>
              <a:t>一、酶与疾病的</a:t>
            </a:r>
            <a:r>
              <a:rPr kumimoji="1" lang="zh-CN" altLang="en-US" sz="3200" dirty="0">
                <a:solidFill>
                  <a:schemeClr val="tx1">
                    <a:lumMod val="95000"/>
                    <a:lumOff val="5000"/>
                  </a:schemeClr>
                </a:solidFill>
                <a:latin typeface="Times New Roman" panose="02020603050405020304" pitchFamily="18" charset="0"/>
                <a:ea typeface="黑体" panose="02010609060101010101" pitchFamily="49" charset="-122"/>
              </a:rPr>
              <a:t>发生、诊断、治疗密切相关</a:t>
            </a:r>
          </a:p>
          <a:p>
            <a:pPr eaLnBrk="1" hangingPunct="1">
              <a:defRPr/>
            </a:pPr>
            <a:endParaRPr kumimoji="1" lang="zh-CN" altLang="en-US" sz="3200" dirty="0">
              <a:latin typeface="Times New Roman" panose="02020603050405020304" pitchFamily="18" charset="0"/>
              <a:ea typeface="黑体" panose="02010609060101010101" pitchFamily="49" charset="-122"/>
            </a:endParaRPr>
          </a:p>
          <a:p>
            <a:pPr eaLnBrk="1" hangingPunct="1">
              <a:defRPr/>
            </a:pPr>
            <a:r>
              <a:rPr kumimoji="1" lang="zh-CN" altLang="en-US" sz="3200" dirty="0">
                <a:latin typeface="Times New Roman" panose="02020603050405020304" pitchFamily="18" charset="0"/>
                <a:ea typeface="黑体" panose="02010609060101010101" pitchFamily="49" charset="-122"/>
              </a:rPr>
              <a:t>二、 酶可作为试剂用于临床检验和科学研究</a:t>
            </a:r>
            <a:endParaRPr kumimoji="1" lang="zh-CN" altLang="en-US" sz="3200" dirty="0">
              <a:solidFill>
                <a:srgbClr val="0000FF"/>
              </a:solidFill>
              <a:latin typeface="Times New Roman" panose="02020603050405020304" pitchFamily="18" charset="0"/>
              <a:ea typeface="黑体" panose="02010609060101010101" pitchFamily="49" charset="-122"/>
            </a:endParaRPr>
          </a:p>
          <a:p>
            <a:pPr eaLnBrk="1" hangingPunct="1">
              <a:defRPr/>
            </a:pPr>
            <a:endParaRPr kumimoji="1" lang="zh-CN" altLang="en-US" sz="3200" dirty="0">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348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2" grpId="0" autoUpdateAnimBg="0"/>
    </p:bldLst>
  </p:timing>
</p:sld>
</file>

<file path=ppt/slides/slide1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37250" name="Group 3">
            <a:extLst>
              <a:ext uri="{FF2B5EF4-FFF2-40B4-BE49-F238E27FC236}">
                <a16:creationId xmlns:a16="http://schemas.microsoft.com/office/drawing/2014/main" id="{7CD55749-C760-4F0F-AA5E-6021C6DFF55B}"/>
              </a:ext>
            </a:extLst>
          </p:cNvPr>
          <p:cNvGrpSpPr>
            <a:grpSpLocks/>
          </p:cNvGrpSpPr>
          <p:nvPr/>
        </p:nvGrpSpPr>
        <p:grpSpPr bwMode="auto">
          <a:xfrm>
            <a:off x="1847850" y="1196975"/>
            <a:ext cx="5899150" cy="4167188"/>
            <a:chOff x="158" y="981"/>
            <a:chExt cx="3716" cy="2625"/>
          </a:xfrm>
        </p:grpSpPr>
        <p:sp>
          <p:nvSpPr>
            <p:cNvPr id="437253" name="Text Box 4">
              <a:extLst>
                <a:ext uri="{FF2B5EF4-FFF2-40B4-BE49-F238E27FC236}">
                  <a16:creationId xmlns:a16="http://schemas.microsoft.com/office/drawing/2014/main" id="{D9777990-F44F-470D-9813-85B50FAB5CF7}"/>
                </a:ext>
              </a:extLst>
            </p:cNvPr>
            <p:cNvSpPr txBox="1">
              <a:spLocks noChangeArrowheads="1"/>
            </p:cNvSpPr>
            <p:nvPr/>
          </p:nvSpPr>
          <p:spPr bwMode="auto">
            <a:xfrm>
              <a:off x="158" y="981"/>
              <a:ext cx="3716" cy="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60000"/>
                </a:lnSpc>
                <a:spcBef>
                  <a:spcPct val="0"/>
                </a:spcBef>
                <a:buFontTx/>
                <a:buNone/>
              </a:pPr>
              <a:r>
                <a:rPr kumimoji="1" lang="zh-CN" altLang="en-US" sz="2800" dirty="0">
                  <a:latin typeface="Times New Roman" panose="02020603050405020304" pitchFamily="18" charset="0"/>
                  <a:ea typeface="黑体" panose="02010609060101010101" pitchFamily="49" charset="-122"/>
                </a:rPr>
                <a:t>      酶缺乏或异常引起的疾病</a:t>
              </a:r>
              <a:endParaRPr kumimoji="1" lang="zh-CN" altLang="en-US" dirty="0">
                <a:latin typeface="Times New Roman" panose="02020603050405020304" pitchFamily="18" charset="0"/>
                <a:ea typeface="黑体" panose="02010609060101010101" pitchFamily="49" charset="-122"/>
              </a:endParaRPr>
            </a:p>
            <a:p>
              <a:pPr eaLnBrk="1" hangingPunct="1">
                <a:lnSpc>
                  <a:spcPct val="190000"/>
                </a:lnSpc>
                <a:spcBef>
                  <a:spcPct val="0"/>
                </a:spcBef>
                <a:buFontTx/>
                <a:buNone/>
              </a:pPr>
              <a:r>
                <a:rPr kumimoji="1" lang="zh-CN" altLang="en-US" sz="2000" dirty="0">
                  <a:solidFill>
                    <a:srgbClr val="0000CC"/>
                  </a:solidFill>
                  <a:latin typeface="Times New Roman" panose="02020603050405020304" pitchFamily="18" charset="0"/>
                  <a:ea typeface="黑体" panose="02010609060101010101" pitchFamily="49" charset="-122"/>
                </a:rPr>
                <a:t>           </a:t>
              </a:r>
              <a:r>
                <a:rPr kumimoji="1" lang="zh-CN" altLang="en-US" sz="2400" dirty="0">
                  <a:solidFill>
                    <a:srgbClr val="0000CC"/>
                  </a:solidFill>
                  <a:latin typeface="Times New Roman" panose="02020603050405020304" pitchFamily="18" charset="0"/>
                  <a:ea typeface="黑体" panose="02010609060101010101" pitchFamily="49" charset="-122"/>
                </a:rPr>
                <a:t>酶                                          疾   病</a:t>
              </a:r>
            </a:p>
            <a:p>
              <a:pPr eaLnBrk="1" hangingPunct="1">
                <a:lnSpc>
                  <a:spcPct val="140000"/>
                </a:lnSpc>
                <a:spcBef>
                  <a:spcPct val="0"/>
                </a:spcBef>
                <a:buFontTx/>
                <a:buNone/>
              </a:pPr>
              <a:r>
                <a:rPr kumimoji="1" lang="zh-CN" altLang="en-US" sz="2400" dirty="0">
                  <a:solidFill>
                    <a:srgbClr val="C00000"/>
                  </a:solidFill>
                  <a:latin typeface="Times New Roman" panose="02020603050405020304" pitchFamily="18" charset="0"/>
                  <a:ea typeface="黑体" panose="02010609060101010101" pitchFamily="49" charset="-122"/>
                </a:rPr>
                <a:t>苯丙氨酸羟化酶                    苯丙酮酸尿症</a:t>
              </a:r>
            </a:p>
            <a:p>
              <a:pPr eaLnBrk="1" hangingPunct="1">
                <a:lnSpc>
                  <a:spcPct val="140000"/>
                </a:lnSpc>
                <a:spcBef>
                  <a:spcPct val="0"/>
                </a:spcBef>
                <a:buFontTx/>
                <a:buNone/>
              </a:pPr>
              <a:r>
                <a:rPr kumimoji="1" lang="en-US" altLang="zh-CN" sz="2400" dirty="0">
                  <a:solidFill>
                    <a:srgbClr val="C00000"/>
                  </a:solidFill>
                  <a:latin typeface="Times New Roman" panose="02020603050405020304" pitchFamily="18" charset="0"/>
                  <a:ea typeface="黑体" panose="02010609060101010101" pitchFamily="49" charset="-122"/>
                </a:rPr>
                <a:t>6-</a:t>
              </a:r>
              <a:r>
                <a:rPr kumimoji="1" lang="zh-CN" altLang="en-US" sz="2400" dirty="0">
                  <a:solidFill>
                    <a:srgbClr val="C00000"/>
                  </a:solidFill>
                  <a:latin typeface="Times New Roman" panose="02020603050405020304" pitchFamily="18" charset="0"/>
                  <a:ea typeface="黑体" panose="02010609060101010101" pitchFamily="49" charset="-122"/>
                </a:rPr>
                <a:t>磷酸葡萄糖脱氢酶                   蚕豆病</a:t>
              </a:r>
            </a:p>
            <a:p>
              <a:pPr eaLnBrk="1" hangingPunct="1">
                <a:lnSpc>
                  <a:spcPct val="140000"/>
                </a:lnSpc>
                <a:spcBef>
                  <a:spcPct val="0"/>
                </a:spcBef>
                <a:buFontTx/>
                <a:buNone/>
              </a:pPr>
              <a:r>
                <a:rPr kumimoji="1" lang="zh-CN" altLang="en-US" sz="2400" dirty="0">
                  <a:solidFill>
                    <a:srgbClr val="0000FF"/>
                  </a:solidFill>
                  <a:latin typeface="Times New Roman" panose="02020603050405020304" pitchFamily="18" charset="0"/>
                  <a:ea typeface="黑体" panose="02010609060101010101" pitchFamily="49" charset="-122"/>
                </a:rPr>
                <a:t>酪氨酸酶                                      白化病</a:t>
              </a:r>
            </a:p>
            <a:p>
              <a:pPr eaLnBrk="1" hangingPunct="1">
                <a:lnSpc>
                  <a:spcPct val="140000"/>
                </a:lnSpc>
                <a:spcBef>
                  <a:spcPct val="0"/>
                </a:spcBef>
                <a:buFontTx/>
                <a:buNone/>
              </a:pPr>
              <a:r>
                <a:rPr kumimoji="1" lang="zh-CN" altLang="en-US" sz="2400" dirty="0">
                  <a:latin typeface="Times New Roman" panose="02020603050405020304" pitchFamily="18" charset="0"/>
                  <a:ea typeface="黑体" panose="02010609060101010101" pitchFamily="49" charset="-122"/>
                </a:rPr>
                <a:t>细胞色素氧化酶                      氰化物中毒</a:t>
              </a:r>
            </a:p>
            <a:p>
              <a:pPr eaLnBrk="1" hangingPunct="1">
                <a:lnSpc>
                  <a:spcPct val="140000"/>
                </a:lnSpc>
                <a:spcBef>
                  <a:spcPct val="0"/>
                </a:spcBef>
                <a:buFontTx/>
                <a:buNone/>
              </a:pPr>
              <a:r>
                <a:rPr kumimoji="1" lang="zh-CN" altLang="en-US" sz="2400" dirty="0">
                  <a:latin typeface="Times New Roman" panose="02020603050405020304" pitchFamily="18" charset="0"/>
                  <a:ea typeface="黑体" panose="02010609060101010101" pitchFamily="49" charset="-122"/>
                </a:rPr>
                <a:t>胆碱酯酶                                  有机磷中毒</a:t>
              </a:r>
            </a:p>
          </p:txBody>
        </p:sp>
        <p:sp>
          <p:nvSpPr>
            <p:cNvPr id="437254" name="Line 5">
              <a:extLst>
                <a:ext uri="{FF2B5EF4-FFF2-40B4-BE49-F238E27FC236}">
                  <a16:creationId xmlns:a16="http://schemas.microsoft.com/office/drawing/2014/main" id="{26DDB947-6A2B-4D67-8EE6-67F15630D4F5}"/>
                </a:ext>
              </a:extLst>
            </p:cNvPr>
            <p:cNvSpPr>
              <a:spLocks noChangeShapeType="1"/>
            </p:cNvSpPr>
            <p:nvPr/>
          </p:nvSpPr>
          <p:spPr bwMode="auto">
            <a:xfrm>
              <a:off x="245" y="1525"/>
              <a:ext cx="34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437255" name="Line 6">
              <a:extLst>
                <a:ext uri="{FF2B5EF4-FFF2-40B4-BE49-F238E27FC236}">
                  <a16:creationId xmlns:a16="http://schemas.microsoft.com/office/drawing/2014/main" id="{A408E23F-C6BF-4F49-8301-F4759944B7D8}"/>
                </a:ext>
              </a:extLst>
            </p:cNvPr>
            <p:cNvSpPr>
              <a:spLocks noChangeShapeType="1"/>
            </p:cNvSpPr>
            <p:nvPr/>
          </p:nvSpPr>
          <p:spPr bwMode="auto">
            <a:xfrm>
              <a:off x="232" y="1843"/>
              <a:ext cx="344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437256" name="Line 7">
              <a:extLst>
                <a:ext uri="{FF2B5EF4-FFF2-40B4-BE49-F238E27FC236}">
                  <a16:creationId xmlns:a16="http://schemas.microsoft.com/office/drawing/2014/main" id="{E3F1E65C-DAD0-40D5-B59B-381A4136BC0A}"/>
                </a:ext>
              </a:extLst>
            </p:cNvPr>
            <p:cNvSpPr>
              <a:spLocks noChangeShapeType="1"/>
            </p:cNvSpPr>
            <p:nvPr/>
          </p:nvSpPr>
          <p:spPr bwMode="auto">
            <a:xfrm>
              <a:off x="158" y="3539"/>
              <a:ext cx="362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pic>
        <p:nvPicPr>
          <p:cNvPr id="349192" name="Picture 8" descr="36-b">
            <a:extLst>
              <a:ext uri="{FF2B5EF4-FFF2-40B4-BE49-F238E27FC236}">
                <a16:creationId xmlns:a16="http://schemas.microsoft.com/office/drawing/2014/main" id="{BC9AB7D4-8249-42D3-BAD0-BE58B3FFEE1F}"/>
              </a:ext>
            </a:extLst>
          </p:cNvPr>
          <p:cNvPicPr>
            <a:picLocks noChangeAspect="1" noChangeArrowheads="1"/>
          </p:cNvPicPr>
          <p:nvPr/>
        </p:nvPicPr>
        <p:blipFill>
          <a:blip r:embed="rId3">
            <a:lum bright="-8000"/>
            <a:extLst>
              <a:ext uri="{28A0092B-C50C-407E-A947-70E740481C1C}">
                <a14:useLocalDpi xmlns:a14="http://schemas.microsoft.com/office/drawing/2010/main" val="0"/>
              </a:ext>
            </a:extLst>
          </a:blip>
          <a:srcRect/>
          <a:stretch>
            <a:fillRect/>
          </a:stretch>
        </p:blipFill>
        <p:spPr bwMode="auto">
          <a:xfrm>
            <a:off x="8112224" y="1844824"/>
            <a:ext cx="2359025" cy="362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7252" name="Rectangle 2">
            <a:extLst>
              <a:ext uri="{FF2B5EF4-FFF2-40B4-BE49-F238E27FC236}">
                <a16:creationId xmlns:a16="http://schemas.microsoft.com/office/drawing/2014/main" id="{DE073175-404C-4FE9-8C2E-8555CCA98387}"/>
              </a:ext>
            </a:extLst>
          </p:cNvPr>
          <p:cNvSpPr>
            <a:spLocks noChangeArrowheads="1"/>
          </p:cNvSpPr>
          <p:nvPr/>
        </p:nvSpPr>
        <p:spPr bwMode="auto">
          <a:xfrm>
            <a:off x="1992313" y="549275"/>
            <a:ext cx="76311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114300" algn="l"/>
              </a:tabLst>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tabLst>
                <a:tab pos="114300" algn="l"/>
              </a:tabLst>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tabLst>
                <a:tab pos="114300" algn="l"/>
              </a:tabLst>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tabLst>
                <a:tab pos="114300" algn="l"/>
              </a:tabLst>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tabLst>
                <a:tab pos="114300" algn="l"/>
              </a:tabLst>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a:solidFill>
                  <a:srgbClr val="FF3300"/>
                </a:solidFill>
                <a:latin typeface="Times New Roman" panose="02020603050405020304" pitchFamily="18" charset="0"/>
                <a:ea typeface="黑体" panose="02010609060101010101" pitchFamily="49" charset="-122"/>
              </a:rPr>
              <a:t>多种疾病的发病机制直接或间接与酶有关</a:t>
            </a:r>
            <a:endParaRPr kumimoji="1" lang="zh-CN" altLang="en-US">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9192"/>
                                        </p:tgtEl>
                                        <p:attrNameLst>
                                          <p:attrName>style.visibility</p:attrName>
                                        </p:attrNameLst>
                                      </p:cBhvr>
                                      <p:to>
                                        <p:strVal val="visible"/>
                                      </p:to>
                                    </p:set>
                                    <p:animEffect transition="in" filter="box(in)">
                                      <p:cBhvr>
                                        <p:cTn id="7" dur="1000"/>
                                        <p:tgtEl>
                                          <p:spTgt spid="349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9298" name="Text Box 2">
            <a:extLst>
              <a:ext uri="{FF2B5EF4-FFF2-40B4-BE49-F238E27FC236}">
                <a16:creationId xmlns:a16="http://schemas.microsoft.com/office/drawing/2014/main" id="{708B8B37-147D-4BC2-BAD0-96063922A2A8}"/>
              </a:ext>
            </a:extLst>
          </p:cNvPr>
          <p:cNvSpPr txBox="1">
            <a:spLocks noChangeArrowheads="1"/>
          </p:cNvSpPr>
          <p:nvPr/>
        </p:nvSpPr>
        <p:spPr bwMode="auto">
          <a:xfrm>
            <a:off x="2037098" y="823281"/>
            <a:ext cx="83169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dirty="0">
                <a:solidFill>
                  <a:srgbClr val="FF3300"/>
                </a:solidFill>
                <a:latin typeface="Times New Roman" panose="02020603050405020304" pitchFamily="18" charset="0"/>
                <a:ea typeface="黑体" panose="02010609060101010101" pitchFamily="49" charset="-122"/>
              </a:rPr>
              <a:t>血清酶活性测定是辅助疾病诊断的重要指标</a:t>
            </a:r>
          </a:p>
        </p:txBody>
      </p:sp>
      <p:sp>
        <p:nvSpPr>
          <p:cNvPr id="351235" name="Rectangle 3">
            <a:extLst>
              <a:ext uri="{FF2B5EF4-FFF2-40B4-BE49-F238E27FC236}">
                <a16:creationId xmlns:a16="http://schemas.microsoft.com/office/drawing/2014/main" id="{B88BEEAA-ED47-4450-B81A-E61768F2B765}"/>
              </a:ext>
            </a:extLst>
          </p:cNvPr>
          <p:cNvSpPr>
            <a:spLocks noChangeArrowheads="1"/>
          </p:cNvSpPr>
          <p:nvPr/>
        </p:nvSpPr>
        <p:spPr bwMode="auto">
          <a:xfrm>
            <a:off x="1487488" y="2420888"/>
            <a:ext cx="9865096" cy="2792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800100" indent="-34290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lvl="1" eaLnBrk="1" hangingPunct="1">
              <a:lnSpc>
                <a:spcPct val="150000"/>
              </a:lnSpc>
              <a:spcBef>
                <a:spcPct val="0"/>
              </a:spcBef>
              <a:buFont typeface="Wingdings" panose="05000000000000000000" pitchFamily="2" charset="2"/>
              <a:buChar char="u"/>
            </a:pPr>
            <a:r>
              <a:rPr kumimoji="1" lang="zh-CN" altLang="en-US" sz="2400" dirty="0">
                <a:latin typeface="Times New Roman" panose="02020603050405020304" pitchFamily="18" charset="0"/>
                <a:ea typeface="黑体" panose="02010609060101010101" pitchFamily="49" charset="-122"/>
              </a:rPr>
              <a:t>细胞破坏或细胞膜通透性增高时，细胞内的酶大量释放入血</a:t>
            </a:r>
          </a:p>
          <a:p>
            <a:pPr lvl="1" eaLnBrk="1" hangingPunct="1">
              <a:lnSpc>
                <a:spcPct val="150000"/>
              </a:lnSpc>
              <a:spcBef>
                <a:spcPct val="0"/>
              </a:spcBef>
              <a:buFont typeface="Wingdings" panose="05000000000000000000" pitchFamily="2" charset="2"/>
              <a:buChar char="u"/>
            </a:pPr>
            <a:r>
              <a:rPr kumimoji="1" lang="zh-CN" altLang="en-US" sz="2400" dirty="0">
                <a:latin typeface="Times New Roman" panose="02020603050405020304" pitchFamily="18" charset="0"/>
                <a:ea typeface="黑体" panose="02010609060101010101" pitchFamily="49" charset="-122"/>
              </a:rPr>
              <a:t>细胞的转换率增高或细胞的增殖增快，其特异的标志酶可释放入血</a:t>
            </a:r>
          </a:p>
          <a:p>
            <a:pPr lvl="1" eaLnBrk="1" hangingPunct="1">
              <a:lnSpc>
                <a:spcPct val="150000"/>
              </a:lnSpc>
              <a:spcBef>
                <a:spcPct val="0"/>
              </a:spcBef>
              <a:buFont typeface="Wingdings" panose="05000000000000000000" pitchFamily="2" charset="2"/>
              <a:buChar char="u"/>
            </a:pPr>
            <a:r>
              <a:rPr kumimoji="1" lang="zh-CN" altLang="en-US" sz="2400" dirty="0">
                <a:latin typeface="Times New Roman" panose="02020603050405020304" pitchFamily="18" charset="0"/>
                <a:ea typeface="黑体" panose="02010609060101010101" pitchFamily="49" charset="-122"/>
              </a:rPr>
              <a:t>酶的合成及诱导增加</a:t>
            </a:r>
          </a:p>
          <a:p>
            <a:pPr lvl="1" eaLnBrk="1" hangingPunct="1">
              <a:lnSpc>
                <a:spcPct val="150000"/>
              </a:lnSpc>
              <a:spcBef>
                <a:spcPct val="0"/>
              </a:spcBef>
              <a:buFont typeface="Wingdings" panose="05000000000000000000" pitchFamily="2" charset="2"/>
              <a:buChar char="u"/>
            </a:pPr>
            <a:r>
              <a:rPr kumimoji="1" lang="zh-CN" altLang="en-US" sz="2400" dirty="0">
                <a:latin typeface="Times New Roman" panose="02020603050405020304" pitchFamily="18" charset="0"/>
                <a:ea typeface="黑体" panose="02010609060101010101" pitchFamily="49" charset="-122"/>
              </a:rPr>
              <a:t>酶的清除受阻</a:t>
            </a:r>
          </a:p>
          <a:p>
            <a:pPr lvl="1" eaLnBrk="1" hangingPunct="1">
              <a:lnSpc>
                <a:spcPct val="150000"/>
              </a:lnSpc>
              <a:spcBef>
                <a:spcPct val="0"/>
              </a:spcBef>
              <a:buFont typeface="Wingdings" panose="05000000000000000000" pitchFamily="2" charset="2"/>
              <a:buChar char="u"/>
            </a:pPr>
            <a:r>
              <a:rPr kumimoji="1" lang="zh-CN" altLang="en-US" sz="2400" dirty="0">
                <a:latin typeface="Times New Roman" panose="02020603050405020304" pitchFamily="18" charset="0"/>
                <a:ea typeface="黑体" panose="02010609060101010101" pitchFamily="49" charset="-122"/>
              </a:rPr>
              <a:t>肝功能严重障碍时，某些酶的合成减少</a:t>
            </a:r>
          </a:p>
        </p:txBody>
      </p:sp>
      <p:sp>
        <p:nvSpPr>
          <p:cNvPr id="439300" name="Rectangle 4">
            <a:extLst>
              <a:ext uri="{FF2B5EF4-FFF2-40B4-BE49-F238E27FC236}">
                <a16:creationId xmlns:a16="http://schemas.microsoft.com/office/drawing/2014/main" id="{7B0BF227-0854-4CB0-98A6-294AA06AA496}"/>
              </a:ext>
            </a:extLst>
          </p:cNvPr>
          <p:cNvSpPr>
            <a:spLocks noChangeArrowheads="1"/>
          </p:cNvSpPr>
          <p:nvPr/>
        </p:nvSpPr>
        <p:spPr bwMode="auto">
          <a:xfrm>
            <a:off x="2045102" y="1772816"/>
            <a:ext cx="5832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ea typeface="黑体" panose="02010609060101010101" pitchFamily="49" charset="-122"/>
              </a:rPr>
              <a:t>疾病时血液中酶活性异常的原因：</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51235">
                                            <p:txEl>
                                              <p:pRg st="0" end="0"/>
                                            </p:txEl>
                                          </p:spTgt>
                                        </p:tgtEl>
                                        <p:attrNameLst>
                                          <p:attrName>style.visibility</p:attrName>
                                        </p:attrNameLst>
                                      </p:cBhvr>
                                      <p:to>
                                        <p:strVal val="visible"/>
                                      </p:to>
                                    </p:set>
                                    <p:animEffect transition="in" filter="dissolve">
                                      <p:cBhvr>
                                        <p:cTn id="7" dur="500"/>
                                        <p:tgtEl>
                                          <p:spTgt spid="3512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51235">
                                            <p:txEl>
                                              <p:pRg st="1" end="1"/>
                                            </p:txEl>
                                          </p:spTgt>
                                        </p:tgtEl>
                                        <p:attrNameLst>
                                          <p:attrName>style.visibility</p:attrName>
                                        </p:attrNameLst>
                                      </p:cBhvr>
                                      <p:to>
                                        <p:strVal val="visible"/>
                                      </p:to>
                                    </p:set>
                                    <p:animEffect transition="in" filter="dissolve">
                                      <p:cBhvr>
                                        <p:cTn id="12" dur="500"/>
                                        <p:tgtEl>
                                          <p:spTgt spid="3512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51235">
                                            <p:txEl>
                                              <p:pRg st="2" end="2"/>
                                            </p:txEl>
                                          </p:spTgt>
                                        </p:tgtEl>
                                        <p:attrNameLst>
                                          <p:attrName>style.visibility</p:attrName>
                                        </p:attrNameLst>
                                      </p:cBhvr>
                                      <p:to>
                                        <p:strVal val="visible"/>
                                      </p:to>
                                    </p:set>
                                    <p:animEffect transition="in" filter="dissolve">
                                      <p:cBhvr>
                                        <p:cTn id="17" dur="500"/>
                                        <p:tgtEl>
                                          <p:spTgt spid="3512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51235">
                                            <p:txEl>
                                              <p:pRg st="3" end="3"/>
                                            </p:txEl>
                                          </p:spTgt>
                                        </p:tgtEl>
                                        <p:attrNameLst>
                                          <p:attrName>style.visibility</p:attrName>
                                        </p:attrNameLst>
                                      </p:cBhvr>
                                      <p:to>
                                        <p:strVal val="visible"/>
                                      </p:to>
                                    </p:set>
                                    <p:animEffect transition="in" filter="dissolve">
                                      <p:cBhvr>
                                        <p:cTn id="22" dur="500"/>
                                        <p:tgtEl>
                                          <p:spTgt spid="3512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351235">
                                            <p:txEl>
                                              <p:pRg st="4" end="4"/>
                                            </p:txEl>
                                          </p:spTgt>
                                        </p:tgtEl>
                                        <p:attrNameLst>
                                          <p:attrName>style.visibility</p:attrName>
                                        </p:attrNameLst>
                                      </p:cBhvr>
                                      <p:to>
                                        <p:strVal val="visible"/>
                                      </p:to>
                                    </p:set>
                                    <p:animEffect transition="in" filter="dissolve">
                                      <p:cBhvr>
                                        <p:cTn id="27" dur="500"/>
                                        <p:tgtEl>
                                          <p:spTgt spid="3512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1346" name="Rectangle 2">
            <a:extLst>
              <a:ext uri="{FF2B5EF4-FFF2-40B4-BE49-F238E27FC236}">
                <a16:creationId xmlns:a16="http://schemas.microsoft.com/office/drawing/2014/main" id="{D2937B8B-FAC8-4178-B20F-281924E2ABDA}"/>
              </a:ext>
            </a:extLst>
          </p:cNvPr>
          <p:cNvSpPr>
            <a:spLocks noChangeArrowheads="1"/>
          </p:cNvSpPr>
          <p:nvPr/>
        </p:nvSpPr>
        <p:spPr bwMode="auto">
          <a:xfrm>
            <a:off x="1992313" y="549275"/>
            <a:ext cx="76311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114300" algn="l"/>
              </a:tabLst>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tabLst>
                <a:tab pos="114300" algn="l"/>
              </a:tabLst>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tabLst>
                <a:tab pos="114300" algn="l"/>
              </a:tabLst>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tabLst>
                <a:tab pos="114300" algn="l"/>
              </a:tabLst>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tabLst>
                <a:tab pos="114300" algn="l"/>
              </a:tabLst>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a:solidFill>
                  <a:srgbClr val="FF3300"/>
                </a:solidFill>
                <a:latin typeface="Times New Roman" panose="02020603050405020304" pitchFamily="18" charset="0"/>
                <a:ea typeface="黑体" panose="02010609060101010101" pitchFamily="49" charset="-122"/>
              </a:rPr>
              <a:t>用于诊断的部分血清酶</a:t>
            </a:r>
            <a:endParaRPr kumimoji="1" lang="zh-CN" altLang="en-US">
              <a:latin typeface="Times New Roman" panose="02020603050405020304" pitchFamily="18" charset="0"/>
              <a:ea typeface="黑体" panose="02010609060101010101" pitchFamily="49" charset="-122"/>
            </a:endParaRPr>
          </a:p>
        </p:txBody>
      </p:sp>
      <p:sp>
        <p:nvSpPr>
          <p:cNvPr id="441347" name="Rectangle 3">
            <a:extLst>
              <a:ext uri="{FF2B5EF4-FFF2-40B4-BE49-F238E27FC236}">
                <a16:creationId xmlns:a16="http://schemas.microsoft.com/office/drawing/2014/main" id="{CDFAB2A1-2E03-4CB7-A277-D32B0A710E08}"/>
              </a:ext>
            </a:extLst>
          </p:cNvPr>
          <p:cNvSpPr>
            <a:spLocks noChangeArrowheads="1"/>
          </p:cNvSpPr>
          <p:nvPr/>
        </p:nvSpPr>
        <p:spPr bwMode="auto">
          <a:xfrm>
            <a:off x="1524000" y="1341439"/>
            <a:ext cx="8604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114300" algn="l"/>
              </a:tabLst>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tabLst>
                <a:tab pos="114300" algn="l"/>
              </a:tabLst>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tabLst>
                <a:tab pos="114300" algn="l"/>
              </a:tabLst>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tabLst>
                <a:tab pos="114300" algn="l"/>
              </a:tabLst>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tabLst>
                <a:tab pos="114300" algn="l"/>
              </a:tabLst>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en-US" altLang="zh-CN" sz="2400">
                <a:latin typeface="Times New Roman" panose="02020603050405020304" pitchFamily="18" charset="0"/>
                <a:ea typeface="黑体" panose="02010609060101010101" pitchFamily="49" charset="-122"/>
              </a:rPr>
              <a:t>        </a:t>
            </a:r>
            <a:r>
              <a:rPr kumimoji="1" lang="zh-CN" altLang="en-US" sz="2400">
                <a:latin typeface="Times New Roman" panose="02020603050405020304" pitchFamily="18" charset="0"/>
                <a:ea typeface="黑体" panose="02010609060101010101" pitchFamily="49" charset="-122"/>
              </a:rPr>
              <a:t>酶               主要来源                               主要临床应用</a:t>
            </a:r>
          </a:p>
        </p:txBody>
      </p:sp>
      <p:sp>
        <p:nvSpPr>
          <p:cNvPr id="441348" name="Rectangle 4">
            <a:extLst>
              <a:ext uri="{FF2B5EF4-FFF2-40B4-BE49-F238E27FC236}">
                <a16:creationId xmlns:a16="http://schemas.microsoft.com/office/drawing/2014/main" id="{F4E97B79-4C97-4313-913E-3AA58DD0966C}"/>
              </a:ext>
            </a:extLst>
          </p:cNvPr>
          <p:cNvSpPr>
            <a:spLocks noChangeArrowheads="1"/>
          </p:cNvSpPr>
          <p:nvPr/>
        </p:nvSpPr>
        <p:spPr bwMode="auto">
          <a:xfrm>
            <a:off x="381000" y="1873251"/>
            <a:ext cx="10287000"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371600">
              <a:spcBef>
                <a:spcPct val="20000"/>
              </a:spcBef>
              <a:buChar char="•"/>
              <a:tabLst>
                <a:tab pos="114300" algn="l"/>
              </a:tabLst>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tabLst>
                <a:tab pos="114300" algn="l"/>
              </a:tabLst>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tabLst>
                <a:tab pos="114300" algn="l"/>
              </a:tabLst>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tabLst>
                <a:tab pos="114300" algn="l"/>
              </a:tabLst>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tabLst>
                <a:tab pos="114300" algn="l"/>
              </a:tabLst>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zh-CN" altLang="en-US" sz="2000">
                <a:latin typeface="Times New Roman" panose="02020603050405020304" pitchFamily="18" charset="0"/>
                <a:ea typeface="黑体" panose="02010609060101010101" pitchFamily="49" charset="-122"/>
              </a:rPr>
              <a:t>淀粉酶             唾液腺　胰腺　卵巢                                 胰腺疾患</a:t>
            </a:r>
          </a:p>
          <a:p>
            <a:pPr>
              <a:lnSpc>
                <a:spcPct val="150000"/>
              </a:lnSpc>
              <a:spcBef>
                <a:spcPct val="0"/>
              </a:spcBef>
              <a:buFontTx/>
              <a:buNone/>
            </a:pPr>
            <a:r>
              <a:rPr kumimoji="1" lang="zh-CN" altLang="en-US" sz="2000">
                <a:latin typeface="Times New Roman" panose="02020603050405020304" pitchFamily="18" charset="0"/>
                <a:ea typeface="黑体" panose="02010609060101010101" pitchFamily="49" charset="-122"/>
              </a:rPr>
              <a:t>碱性磷酸酶    肝　骨　肠黏膜、肾、胎盘                     骨病、肝胆疾患</a:t>
            </a:r>
          </a:p>
          <a:p>
            <a:pPr>
              <a:lnSpc>
                <a:spcPct val="150000"/>
              </a:lnSpc>
              <a:spcBef>
                <a:spcPct val="0"/>
              </a:spcBef>
              <a:buFontTx/>
              <a:buNone/>
            </a:pPr>
            <a:r>
              <a:rPr kumimoji="1" lang="zh-CN" altLang="en-US" sz="2000">
                <a:latin typeface="Times New Roman" panose="02020603050405020304" pitchFamily="18" charset="0"/>
                <a:ea typeface="黑体" panose="02010609060101010101" pitchFamily="49" charset="-122"/>
              </a:rPr>
              <a:t>酸性磷酸酶    前列腺　红细胞                                          前列腺癌、骨病</a:t>
            </a:r>
          </a:p>
          <a:p>
            <a:pPr>
              <a:lnSpc>
                <a:spcPct val="150000"/>
              </a:lnSpc>
              <a:spcBef>
                <a:spcPct val="0"/>
              </a:spcBef>
              <a:buFontTx/>
              <a:buNone/>
            </a:pPr>
            <a:r>
              <a:rPr kumimoji="1" lang="zh-CN" altLang="en-US" sz="2000">
                <a:solidFill>
                  <a:srgbClr val="0000FF"/>
                </a:solidFill>
                <a:latin typeface="Times New Roman" panose="02020603050405020304" pitchFamily="18" charset="0"/>
                <a:ea typeface="黑体" panose="02010609060101010101" pitchFamily="49" charset="-122"/>
              </a:rPr>
              <a:t>谷丙转氨酶 </a:t>
            </a:r>
            <a:r>
              <a:rPr kumimoji="1" lang="zh-CN" altLang="en-US" sz="2000">
                <a:latin typeface="Times New Roman" panose="02020603050405020304" pitchFamily="18" charset="0"/>
                <a:ea typeface="黑体" panose="02010609060101010101" pitchFamily="49" charset="-122"/>
              </a:rPr>
              <a:t>   肝　心　骨骼肌                                          </a:t>
            </a:r>
            <a:r>
              <a:rPr kumimoji="1" lang="zh-CN" altLang="en-US" sz="2000">
                <a:solidFill>
                  <a:srgbClr val="0000CC"/>
                </a:solidFill>
                <a:latin typeface="Times New Roman" panose="02020603050405020304" pitchFamily="18" charset="0"/>
                <a:ea typeface="黑体" panose="02010609060101010101" pitchFamily="49" charset="-122"/>
              </a:rPr>
              <a:t>肝实质疾患</a:t>
            </a:r>
          </a:p>
          <a:p>
            <a:pPr>
              <a:lnSpc>
                <a:spcPct val="150000"/>
              </a:lnSpc>
              <a:spcBef>
                <a:spcPct val="0"/>
              </a:spcBef>
              <a:buFontTx/>
              <a:buNone/>
            </a:pPr>
            <a:r>
              <a:rPr kumimoji="1" lang="zh-CN" altLang="en-US" sz="2000">
                <a:solidFill>
                  <a:srgbClr val="0000FF"/>
                </a:solidFill>
                <a:latin typeface="Times New Roman" panose="02020603050405020304" pitchFamily="18" charset="0"/>
                <a:ea typeface="黑体" panose="02010609060101010101" pitchFamily="49" charset="-122"/>
              </a:rPr>
              <a:t>谷草转氨酶 </a:t>
            </a:r>
            <a:r>
              <a:rPr kumimoji="1" lang="zh-CN" altLang="en-US" sz="2000">
                <a:latin typeface="Times New Roman" panose="02020603050405020304" pitchFamily="18" charset="0"/>
                <a:ea typeface="黑体" panose="02010609060101010101" pitchFamily="49" charset="-122"/>
              </a:rPr>
              <a:t>   肝 骨骼肌 心 肾 红细胞　             </a:t>
            </a:r>
            <a:r>
              <a:rPr kumimoji="1" lang="zh-CN" altLang="en-US" sz="2000">
                <a:solidFill>
                  <a:srgbClr val="0000CC"/>
                </a:solidFill>
                <a:latin typeface="Times New Roman" panose="02020603050405020304" pitchFamily="18" charset="0"/>
                <a:ea typeface="黑体" panose="02010609060101010101" pitchFamily="49" charset="-122"/>
              </a:rPr>
              <a:t>心肌梗塞</a:t>
            </a:r>
            <a:r>
              <a:rPr kumimoji="1" lang="zh-CN" altLang="en-US" sz="2000">
                <a:latin typeface="Times New Roman" panose="02020603050405020304" pitchFamily="18" charset="0"/>
                <a:ea typeface="黑体" panose="02010609060101010101" pitchFamily="49" charset="-122"/>
              </a:rPr>
              <a:t> 肝实质疾患 肌肉病</a:t>
            </a:r>
          </a:p>
          <a:p>
            <a:pPr>
              <a:lnSpc>
                <a:spcPct val="150000"/>
              </a:lnSpc>
              <a:spcBef>
                <a:spcPct val="0"/>
              </a:spcBef>
              <a:buFontTx/>
              <a:buNone/>
            </a:pPr>
            <a:r>
              <a:rPr kumimoji="1" lang="zh-CN" altLang="en-US" sz="2000">
                <a:latin typeface="Times New Roman" panose="02020603050405020304" pitchFamily="18" charset="0"/>
                <a:ea typeface="黑体" panose="02010609060101010101" pitchFamily="49" charset="-122"/>
              </a:rPr>
              <a:t>肌酸激酶       骨骼肌　脑　心　平滑肌                         心肌梗塞、肌肉病</a:t>
            </a:r>
          </a:p>
          <a:p>
            <a:pPr>
              <a:lnSpc>
                <a:spcPct val="150000"/>
              </a:lnSpc>
              <a:spcBef>
                <a:spcPct val="0"/>
              </a:spcBef>
              <a:buFontTx/>
              <a:buNone/>
            </a:pPr>
            <a:r>
              <a:rPr kumimoji="1" lang="zh-CN" altLang="en-US" sz="2000">
                <a:latin typeface="Times New Roman" panose="02020603050405020304" pitchFamily="18" charset="0"/>
                <a:ea typeface="黑体" panose="02010609060101010101" pitchFamily="49" charset="-122"/>
              </a:rPr>
              <a:t>乳酸脱氢酶    心　肝　骨骼肌　红细胞               心肌梗塞　溶血肝实质疾患</a:t>
            </a:r>
          </a:p>
          <a:p>
            <a:pPr>
              <a:lnSpc>
                <a:spcPct val="150000"/>
              </a:lnSpc>
              <a:spcBef>
                <a:spcPct val="0"/>
              </a:spcBef>
              <a:buFontTx/>
              <a:buNone/>
            </a:pPr>
            <a:r>
              <a:rPr kumimoji="1" lang="zh-CN" altLang="en-US" sz="2000">
                <a:latin typeface="Times New Roman" panose="02020603050405020304" pitchFamily="18" charset="0"/>
                <a:ea typeface="黑体" panose="02010609060101010101" pitchFamily="49" charset="-122"/>
              </a:rPr>
              <a:t>                        血小板　淋巴结</a:t>
            </a:r>
          </a:p>
          <a:p>
            <a:pPr>
              <a:lnSpc>
                <a:spcPct val="150000"/>
              </a:lnSpc>
              <a:spcBef>
                <a:spcPct val="0"/>
              </a:spcBef>
              <a:buFontTx/>
              <a:buNone/>
            </a:pPr>
            <a:r>
              <a:rPr kumimoji="1" lang="zh-CN" altLang="en-US" sz="2000">
                <a:latin typeface="Times New Roman" panose="02020603050405020304" pitchFamily="18" charset="0"/>
                <a:ea typeface="黑体" panose="02010609060101010101" pitchFamily="49" charset="-122"/>
              </a:rPr>
              <a:t>胆碱脂酶        肝                                                       有机磷中毒    肝实质疾患</a:t>
            </a:r>
          </a:p>
        </p:txBody>
      </p:sp>
      <p:sp>
        <p:nvSpPr>
          <p:cNvPr id="441349" name="Rectangle 5">
            <a:extLst>
              <a:ext uri="{FF2B5EF4-FFF2-40B4-BE49-F238E27FC236}">
                <a16:creationId xmlns:a16="http://schemas.microsoft.com/office/drawing/2014/main" id="{D3B18907-DA43-4D37-ACAC-D3EE247FFAD0}"/>
              </a:ext>
            </a:extLst>
          </p:cNvPr>
          <p:cNvSpPr>
            <a:spLocks noChangeArrowheads="1"/>
          </p:cNvSpPr>
          <p:nvPr/>
        </p:nvSpPr>
        <p:spPr bwMode="auto">
          <a:xfrm>
            <a:off x="6934200" y="5302251"/>
            <a:ext cx="5181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114300" algn="l"/>
              </a:tabLst>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tabLst>
                <a:tab pos="114300" algn="l"/>
              </a:tabLst>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tabLst>
                <a:tab pos="114300" algn="l"/>
              </a:tabLst>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tabLst>
                <a:tab pos="114300" algn="l"/>
              </a:tabLst>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tabLst>
                <a:tab pos="114300" algn="l"/>
              </a:tabLst>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tabLst>
                <a:tab pos="114300" algn="l"/>
              </a:tabLst>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endParaRPr kumimoji="1" lang="en-US" altLang="zh-CN" sz="1200">
              <a:latin typeface="Times New Roman" panose="02020603050405020304" pitchFamily="18" charset="0"/>
              <a:ea typeface="黑体" panose="02010609060101010101" pitchFamily="49" charset="-122"/>
            </a:endParaRPr>
          </a:p>
          <a:p>
            <a:pPr>
              <a:spcBef>
                <a:spcPct val="0"/>
              </a:spcBef>
              <a:buFontTx/>
              <a:buNone/>
            </a:pPr>
            <a:endParaRPr kumimoji="1" lang="en-US" altLang="zh-CN" sz="2400">
              <a:latin typeface="Times New Roman" panose="02020603050405020304" pitchFamily="18" charset="0"/>
              <a:ea typeface="黑体" panose="02010609060101010101" pitchFamily="49" charset="-122"/>
            </a:endParaRPr>
          </a:p>
        </p:txBody>
      </p:sp>
      <p:sp>
        <p:nvSpPr>
          <p:cNvPr id="441350" name="Line 6">
            <a:extLst>
              <a:ext uri="{FF2B5EF4-FFF2-40B4-BE49-F238E27FC236}">
                <a16:creationId xmlns:a16="http://schemas.microsoft.com/office/drawing/2014/main" id="{3EDA0487-AB55-4EA3-9533-5353C014E018}"/>
              </a:ext>
            </a:extLst>
          </p:cNvPr>
          <p:cNvSpPr>
            <a:spLocks noChangeShapeType="1"/>
          </p:cNvSpPr>
          <p:nvPr/>
        </p:nvSpPr>
        <p:spPr bwMode="auto">
          <a:xfrm>
            <a:off x="1752600" y="1263650"/>
            <a:ext cx="86106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351" name="Line 7">
            <a:extLst>
              <a:ext uri="{FF2B5EF4-FFF2-40B4-BE49-F238E27FC236}">
                <a16:creationId xmlns:a16="http://schemas.microsoft.com/office/drawing/2014/main" id="{CAF87444-125C-485C-AE36-E03E42F1AB01}"/>
              </a:ext>
            </a:extLst>
          </p:cNvPr>
          <p:cNvSpPr>
            <a:spLocks noChangeShapeType="1"/>
          </p:cNvSpPr>
          <p:nvPr/>
        </p:nvSpPr>
        <p:spPr bwMode="auto">
          <a:xfrm>
            <a:off x="1828800" y="1797050"/>
            <a:ext cx="86106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352" name="Line 8">
            <a:extLst>
              <a:ext uri="{FF2B5EF4-FFF2-40B4-BE49-F238E27FC236}">
                <a16:creationId xmlns:a16="http://schemas.microsoft.com/office/drawing/2014/main" id="{04BFFF48-99EE-4AA6-BF18-5A968D7EAB70}"/>
              </a:ext>
            </a:extLst>
          </p:cNvPr>
          <p:cNvSpPr>
            <a:spLocks noChangeShapeType="1"/>
          </p:cNvSpPr>
          <p:nvPr/>
        </p:nvSpPr>
        <p:spPr bwMode="auto">
          <a:xfrm>
            <a:off x="1752600" y="6237288"/>
            <a:ext cx="86106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1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3394" name="Text Box 2">
            <a:extLst>
              <a:ext uri="{FF2B5EF4-FFF2-40B4-BE49-F238E27FC236}">
                <a16:creationId xmlns:a16="http://schemas.microsoft.com/office/drawing/2014/main" id="{6AEA6F06-266F-4666-AEBA-67D363129BC0}"/>
              </a:ext>
            </a:extLst>
          </p:cNvPr>
          <p:cNvSpPr txBox="1">
            <a:spLocks noChangeArrowheads="1"/>
          </p:cNvSpPr>
          <p:nvPr/>
        </p:nvSpPr>
        <p:spPr bwMode="auto">
          <a:xfrm>
            <a:off x="3791744" y="620688"/>
            <a:ext cx="4787900"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20000"/>
              </a:lnSpc>
              <a:spcBef>
                <a:spcPct val="0"/>
              </a:spcBef>
              <a:buFontTx/>
              <a:buNone/>
            </a:pPr>
            <a:r>
              <a:rPr kumimoji="1" lang="zh-CN" altLang="en-US" sz="3600" dirty="0">
                <a:solidFill>
                  <a:srgbClr val="FF3300"/>
                </a:solidFill>
                <a:latin typeface="Times New Roman" panose="02020603050405020304" pitchFamily="18" charset="0"/>
                <a:ea typeface="黑体" panose="02010609060101010101" pitchFamily="49" charset="-122"/>
              </a:rPr>
              <a:t>疾病治疗中涉及的酶</a:t>
            </a:r>
            <a:endParaRPr kumimoji="1" lang="zh-CN" altLang="en-US" dirty="0">
              <a:solidFill>
                <a:srgbClr val="FF3300"/>
              </a:solidFill>
              <a:latin typeface="Times New Roman" panose="02020603050405020304" pitchFamily="18" charset="0"/>
              <a:ea typeface="黑体" panose="02010609060101010101" pitchFamily="49" charset="-122"/>
            </a:endParaRPr>
          </a:p>
        </p:txBody>
      </p:sp>
      <p:sp>
        <p:nvSpPr>
          <p:cNvPr id="354307" name="Text Box 3">
            <a:extLst>
              <a:ext uri="{FF2B5EF4-FFF2-40B4-BE49-F238E27FC236}">
                <a16:creationId xmlns:a16="http://schemas.microsoft.com/office/drawing/2014/main" id="{95199BCE-0416-46B7-85A3-3794691BAB19}"/>
              </a:ext>
            </a:extLst>
          </p:cNvPr>
          <p:cNvSpPr txBox="1">
            <a:spLocks noChangeArrowheads="1"/>
          </p:cNvSpPr>
          <p:nvPr/>
        </p:nvSpPr>
        <p:spPr bwMode="auto">
          <a:xfrm>
            <a:off x="1774825" y="1916114"/>
            <a:ext cx="8675688" cy="3336925"/>
          </a:xfrm>
          <a:prstGeom prst="rect">
            <a:avLst/>
          </a:prstGeom>
          <a:noFill/>
          <a:ln w="9525">
            <a:noFill/>
            <a:miter lim="800000"/>
            <a:headEnd/>
            <a:tailEnd/>
          </a:ln>
          <a:effectLst/>
        </p:spPr>
        <p:txBody>
          <a:bodyPr>
            <a:spAutoFit/>
          </a:bodyPr>
          <a:lstStyle/>
          <a:p>
            <a:pPr eaLnBrk="1" hangingPunct="1">
              <a:lnSpc>
                <a:spcPct val="190000"/>
              </a:lnSpc>
              <a:buClr>
                <a:schemeClr val="tx2"/>
              </a:buClr>
              <a:buSzPct val="90000"/>
              <a:buFont typeface="Wingdings" pitchFamily="2" charset="2"/>
              <a:buChar char="l"/>
              <a:defRPr/>
            </a:pPr>
            <a:r>
              <a:rPr kumimoji="1" lang="en-US" altLang="zh-CN" sz="2800" dirty="0">
                <a:solidFill>
                  <a:srgbClr val="FFFF00"/>
                </a:solidFill>
                <a:effectLst>
                  <a:outerShdw blurRad="38100" dist="38100" dir="2700000" algn="tl">
                    <a:srgbClr val="C0C0C0"/>
                  </a:outerShdw>
                </a:effectLst>
                <a:latin typeface="Times New Roman" pitchFamily="18" charset="0"/>
                <a:ea typeface="黑体" pitchFamily="49" charset="-122"/>
              </a:rPr>
              <a:t> </a:t>
            </a:r>
            <a:r>
              <a:rPr kumimoji="1" lang="zh-CN" altLang="en-US" sz="2800" dirty="0">
                <a:solidFill>
                  <a:srgbClr val="0000FF"/>
                </a:solidFill>
                <a:latin typeface="Times New Roman" pitchFamily="18" charset="0"/>
                <a:ea typeface="黑体" pitchFamily="49" charset="-122"/>
              </a:rPr>
              <a:t>替代治疗：</a:t>
            </a:r>
            <a:r>
              <a:rPr kumimoji="1" lang="zh-CN" altLang="en-US" sz="2800" dirty="0">
                <a:latin typeface="Times New Roman" pitchFamily="18" charset="0"/>
                <a:ea typeface="黑体" pitchFamily="49" charset="-122"/>
              </a:rPr>
              <a:t>消化不良</a:t>
            </a:r>
            <a:r>
              <a:rPr kumimoji="1" lang="en-US" altLang="zh-CN" sz="2800" dirty="0">
                <a:latin typeface="Times New Roman" pitchFamily="18" charset="0"/>
                <a:ea typeface="黑体" pitchFamily="49" charset="-122"/>
              </a:rPr>
              <a:t>--</a:t>
            </a:r>
            <a:r>
              <a:rPr kumimoji="1" lang="zh-CN" altLang="en-US" sz="2800" dirty="0">
                <a:latin typeface="Times New Roman" pitchFamily="18" charset="0"/>
                <a:ea typeface="黑体" pitchFamily="49" charset="-122"/>
              </a:rPr>
              <a:t>胃酶、胰酶</a:t>
            </a:r>
          </a:p>
          <a:p>
            <a:pPr eaLnBrk="1" hangingPunct="1">
              <a:lnSpc>
                <a:spcPct val="190000"/>
              </a:lnSpc>
              <a:buClr>
                <a:schemeClr val="tx2"/>
              </a:buClr>
              <a:buSzPct val="90000"/>
              <a:buFont typeface="Wingdings" pitchFamily="2" charset="2"/>
              <a:buChar char="l"/>
              <a:defRPr/>
            </a:pPr>
            <a:r>
              <a:rPr kumimoji="1" lang="zh-CN" altLang="en-US" sz="2800" dirty="0">
                <a:solidFill>
                  <a:srgbClr val="FFFF00"/>
                </a:solidFill>
                <a:latin typeface="Times New Roman" pitchFamily="18" charset="0"/>
                <a:ea typeface="黑体" pitchFamily="49" charset="-122"/>
              </a:rPr>
              <a:t> </a:t>
            </a:r>
            <a:r>
              <a:rPr kumimoji="1" lang="zh-CN" altLang="en-US" sz="2800" dirty="0">
                <a:solidFill>
                  <a:srgbClr val="0000FF"/>
                </a:solidFill>
                <a:latin typeface="Times New Roman" pitchFamily="18" charset="0"/>
                <a:ea typeface="黑体" pitchFamily="49" charset="-122"/>
              </a:rPr>
              <a:t>抗菌治疗：</a:t>
            </a:r>
            <a:r>
              <a:rPr kumimoji="1" lang="zh-CN" altLang="en-US" sz="2800" dirty="0">
                <a:latin typeface="Times New Roman" pitchFamily="18" charset="0"/>
                <a:ea typeface="黑体" pitchFamily="49" charset="-122"/>
              </a:rPr>
              <a:t>磺胺药等抗生素</a:t>
            </a:r>
          </a:p>
          <a:p>
            <a:pPr eaLnBrk="1" hangingPunct="1">
              <a:lnSpc>
                <a:spcPct val="190000"/>
              </a:lnSpc>
              <a:buClr>
                <a:schemeClr val="tx2"/>
              </a:buClr>
              <a:buSzPct val="90000"/>
              <a:buFont typeface="Wingdings" pitchFamily="2" charset="2"/>
              <a:buChar char="l"/>
              <a:defRPr/>
            </a:pPr>
            <a:r>
              <a:rPr kumimoji="1" lang="zh-CN" altLang="en-US" sz="2800" dirty="0">
                <a:solidFill>
                  <a:srgbClr val="FFFF00"/>
                </a:solidFill>
                <a:latin typeface="Times New Roman" pitchFamily="18" charset="0"/>
                <a:ea typeface="黑体" pitchFamily="49" charset="-122"/>
              </a:rPr>
              <a:t> </a:t>
            </a:r>
            <a:r>
              <a:rPr kumimoji="1" lang="zh-CN" altLang="en-US" sz="2800" dirty="0">
                <a:solidFill>
                  <a:srgbClr val="0000FF"/>
                </a:solidFill>
                <a:latin typeface="Times New Roman" pitchFamily="18" charset="0"/>
                <a:ea typeface="黑体" pitchFamily="49" charset="-122"/>
              </a:rPr>
              <a:t>对症治疗：</a:t>
            </a:r>
            <a:r>
              <a:rPr kumimoji="1" lang="zh-CN" altLang="en-US" sz="2800" dirty="0">
                <a:latin typeface="Times New Roman" pitchFamily="18" charset="0"/>
                <a:ea typeface="黑体" pitchFamily="49" charset="-122"/>
              </a:rPr>
              <a:t>预防血栓形成</a:t>
            </a:r>
            <a:r>
              <a:rPr kumimoji="1" lang="en-US" altLang="zh-CN" sz="2800" dirty="0">
                <a:latin typeface="Times New Roman" pitchFamily="18" charset="0"/>
                <a:ea typeface="黑体" pitchFamily="49" charset="-122"/>
              </a:rPr>
              <a:t>--</a:t>
            </a:r>
            <a:r>
              <a:rPr kumimoji="1" lang="zh-CN" altLang="en-US" sz="2800" dirty="0">
                <a:latin typeface="Times New Roman" pitchFamily="18" charset="0"/>
                <a:ea typeface="黑体" pitchFamily="49" charset="-122"/>
              </a:rPr>
              <a:t>尿激酶、链激酶、纤溶酶</a:t>
            </a:r>
          </a:p>
          <a:p>
            <a:pPr eaLnBrk="1" hangingPunct="1">
              <a:lnSpc>
                <a:spcPct val="190000"/>
              </a:lnSpc>
              <a:buClr>
                <a:schemeClr val="tx2"/>
              </a:buClr>
              <a:buSzPct val="90000"/>
              <a:buFont typeface="Wingdings" pitchFamily="2" charset="2"/>
              <a:buChar char="l"/>
              <a:defRPr/>
            </a:pPr>
            <a:r>
              <a:rPr kumimoji="1" lang="zh-CN" altLang="en-US" sz="2800" dirty="0">
                <a:solidFill>
                  <a:srgbClr val="FFFF00"/>
                </a:solidFill>
                <a:latin typeface="Times New Roman" pitchFamily="18" charset="0"/>
                <a:ea typeface="黑体" pitchFamily="49" charset="-122"/>
              </a:rPr>
              <a:t> </a:t>
            </a:r>
            <a:r>
              <a:rPr kumimoji="1" lang="zh-CN" altLang="en-US" sz="2800" dirty="0">
                <a:solidFill>
                  <a:srgbClr val="0000FF"/>
                </a:solidFill>
                <a:latin typeface="Times New Roman" pitchFamily="18" charset="0"/>
                <a:ea typeface="黑体" pitchFamily="49" charset="-122"/>
              </a:rPr>
              <a:t>抗癌治疗：</a:t>
            </a:r>
            <a:r>
              <a:rPr kumimoji="1" lang="zh-CN" altLang="en-US" sz="2800" dirty="0">
                <a:latin typeface="Times New Roman" pitchFamily="18" charset="0"/>
                <a:ea typeface="黑体" pitchFamily="49" charset="-122"/>
              </a:rPr>
              <a:t>甲氨蝶呤</a:t>
            </a:r>
            <a:r>
              <a:rPr kumimoji="1" lang="en-US" altLang="zh-CN" sz="2800" dirty="0">
                <a:latin typeface="Times New Roman" pitchFamily="18" charset="0"/>
                <a:ea typeface="黑体" pitchFamily="49" charset="-122"/>
              </a:rPr>
              <a:t>(MTX)</a:t>
            </a:r>
            <a:r>
              <a:rPr kumimoji="1" lang="zh-CN" altLang="en-US" sz="2800" dirty="0">
                <a:latin typeface="Times New Roman" pitchFamily="18" charset="0"/>
                <a:ea typeface="黑体" pitchFamily="49" charset="-122"/>
              </a:rPr>
              <a:t>抑制</a:t>
            </a:r>
            <a:r>
              <a:rPr kumimoji="1" lang="en-US" altLang="zh-CN" sz="2800" dirty="0">
                <a:latin typeface="Times New Roman" pitchFamily="18" charset="0"/>
                <a:ea typeface="黑体" pitchFamily="49" charset="-122"/>
              </a:rPr>
              <a:t>FH</a:t>
            </a:r>
            <a:r>
              <a:rPr kumimoji="1" lang="en-US" altLang="zh-CN" sz="2800" baseline="-25000" dirty="0">
                <a:latin typeface="Times New Roman" pitchFamily="18" charset="0"/>
                <a:ea typeface="黑体" pitchFamily="49" charset="-122"/>
              </a:rPr>
              <a:t>2</a:t>
            </a:r>
            <a:r>
              <a:rPr kumimoji="1" lang="zh-CN" altLang="en-US" sz="2800" dirty="0">
                <a:latin typeface="Times New Roman" pitchFamily="18" charset="0"/>
                <a:ea typeface="黑体" pitchFamily="49" charset="-122"/>
              </a:rPr>
              <a:t>还原酶</a:t>
            </a:r>
            <a:endParaRPr kumimoji="1" lang="zh-CN" altLang="en-US" sz="3200" dirty="0">
              <a:latin typeface="Times New Roman" pitchFamily="18" charset="0"/>
              <a:ea typeface="黑体"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54307">
                                            <p:txEl>
                                              <p:pRg st="0" end="0"/>
                                            </p:txEl>
                                          </p:spTgt>
                                        </p:tgtEl>
                                        <p:attrNameLst>
                                          <p:attrName>style.visibility</p:attrName>
                                        </p:attrNameLst>
                                      </p:cBhvr>
                                      <p:to>
                                        <p:strVal val="visible"/>
                                      </p:to>
                                    </p:set>
                                    <p:animEffect transition="in" filter="dissolve">
                                      <p:cBhvr>
                                        <p:cTn id="7" dur="500"/>
                                        <p:tgtEl>
                                          <p:spTgt spid="3543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54307">
                                            <p:txEl>
                                              <p:pRg st="1" end="1"/>
                                            </p:txEl>
                                          </p:spTgt>
                                        </p:tgtEl>
                                        <p:attrNameLst>
                                          <p:attrName>style.visibility</p:attrName>
                                        </p:attrNameLst>
                                      </p:cBhvr>
                                      <p:to>
                                        <p:strVal val="visible"/>
                                      </p:to>
                                    </p:set>
                                    <p:animEffect transition="in" filter="dissolve">
                                      <p:cBhvr>
                                        <p:cTn id="12" dur="500"/>
                                        <p:tgtEl>
                                          <p:spTgt spid="3543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54307">
                                            <p:txEl>
                                              <p:pRg st="2" end="2"/>
                                            </p:txEl>
                                          </p:spTgt>
                                        </p:tgtEl>
                                        <p:attrNameLst>
                                          <p:attrName>style.visibility</p:attrName>
                                        </p:attrNameLst>
                                      </p:cBhvr>
                                      <p:to>
                                        <p:strVal val="visible"/>
                                      </p:to>
                                    </p:set>
                                    <p:animEffect transition="in" filter="dissolve">
                                      <p:cBhvr>
                                        <p:cTn id="17" dur="500"/>
                                        <p:tgtEl>
                                          <p:spTgt spid="3543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54307">
                                            <p:txEl>
                                              <p:pRg st="3" end="3"/>
                                            </p:txEl>
                                          </p:spTgt>
                                        </p:tgtEl>
                                        <p:attrNameLst>
                                          <p:attrName>style.visibility</p:attrName>
                                        </p:attrNameLst>
                                      </p:cBhvr>
                                      <p:to>
                                        <p:strVal val="visible"/>
                                      </p:to>
                                    </p:set>
                                    <p:animEffect transition="in" filter="dissolve">
                                      <p:cBhvr>
                                        <p:cTn id="22" dur="500"/>
                                        <p:tgtEl>
                                          <p:spTgt spid="3543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5442" name="Text Box 2">
            <a:extLst>
              <a:ext uri="{FF2B5EF4-FFF2-40B4-BE49-F238E27FC236}">
                <a16:creationId xmlns:a16="http://schemas.microsoft.com/office/drawing/2014/main" id="{5247428A-7C1B-4E7E-81FB-8AE8164C1436}"/>
              </a:ext>
            </a:extLst>
          </p:cNvPr>
          <p:cNvSpPr txBox="1">
            <a:spLocks noChangeArrowheads="1"/>
          </p:cNvSpPr>
          <p:nvPr/>
        </p:nvSpPr>
        <p:spPr bwMode="auto">
          <a:xfrm>
            <a:off x="2351088" y="1125539"/>
            <a:ext cx="28194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zh-CN" altLang="en-US" sz="2800">
                <a:solidFill>
                  <a:srgbClr val="0000FF"/>
                </a:solidFill>
                <a:latin typeface="黑体" panose="02010609060101010101" pitchFamily="49" charset="-122"/>
                <a:ea typeface="黑体" panose="02010609060101010101" pitchFamily="49" charset="-122"/>
              </a:rPr>
              <a:t>名词解释：</a:t>
            </a:r>
          </a:p>
        </p:txBody>
      </p:sp>
      <p:sp>
        <p:nvSpPr>
          <p:cNvPr id="445443" name="Rectangle 3">
            <a:extLst>
              <a:ext uri="{FF2B5EF4-FFF2-40B4-BE49-F238E27FC236}">
                <a16:creationId xmlns:a16="http://schemas.microsoft.com/office/drawing/2014/main" id="{141805EF-F20B-4668-9DFE-897933F9C542}"/>
              </a:ext>
            </a:extLst>
          </p:cNvPr>
          <p:cNvSpPr>
            <a:spLocks noChangeArrowheads="1"/>
          </p:cNvSpPr>
          <p:nvPr/>
        </p:nvSpPr>
        <p:spPr bwMode="auto">
          <a:xfrm>
            <a:off x="2495551" y="1636713"/>
            <a:ext cx="871301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buClr>
                <a:schemeClr val="hlink"/>
              </a:buClr>
              <a:buFontTx/>
              <a:buNone/>
            </a:pPr>
            <a:r>
              <a:rPr lang="zh-CN" altLang="en-US" sz="2000" dirty="0">
                <a:latin typeface="黑体" panose="02010609060101010101" pitchFamily="49" charset="-122"/>
                <a:ea typeface="黑体" panose="02010609060101010101" pitchFamily="49" charset="-122"/>
              </a:rPr>
              <a:t>酶</a:t>
            </a:r>
            <a:r>
              <a:rPr lang="en-US" altLang="zh-CN" sz="2000" dirty="0">
                <a:latin typeface="黑体" panose="02010609060101010101" pitchFamily="49" charset="-122"/>
                <a:ea typeface="黑体" panose="02010609060101010101" pitchFamily="49" charset="-122"/>
              </a:rPr>
              <a:t>(enzyme)</a:t>
            </a:r>
            <a:r>
              <a:rPr lang="zh-CN" altLang="en-US" sz="2000" dirty="0">
                <a:latin typeface="黑体" panose="02010609060101010101" pitchFamily="49" charset="-122"/>
                <a:ea typeface="黑体" panose="02010609060101010101" pitchFamily="49" charset="-122"/>
              </a:rPr>
              <a:t>    全酶（</a:t>
            </a:r>
            <a:r>
              <a:rPr lang="en-US" altLang="zh-CN" sz="2000" dirty="0">
                <a:latin typeface="黑体" panose="02010609060101010101" pitchFamily="49" charset="-122"/>
                <a:ea typeface="黑体" panose="02010609060101010101" pitchFamily="49" charset="-122"/>
              </a:rPr>
              <a:t>holoenzyme)</a:t>
            </a:r>
            <a:r>
              <a:rPr lang="zh-CN" altLang="en-US" sz="2000" dirty="0">
                <a:latin typeface="黑体" panose="02010609060101010101" pitchFamily="49" charset="-122"/>
                <a:ea typeface="黑体" panose="02010609060101010101" pitchFamily="49" charset="-122"/>
              </a:rPr>
              <a:t>   </a:t>
            </a:r>
            <a:r>
              <a:rPr lang="zh-CN" altLang="en-US" sz="2000" dirty="0">
                <a:solidFill>
                  <a:srgbClr val="FF0000"/>
                </a:solidFill>
                <a:latin typeface="黑体" panose="02010609060101010101" pitchFamily="49" charset="-122"/>
                <a:ea typeface="黑体" panose="02010609060101010101" pitchFamily="49" charset="-122"/>
              </a:rPr>
              <a:t>酶原（</a:t>
            </a:r>
            <a:r>
              <a:rPr lang="en-US" altLang="zh-CN" sz="2000" dirty="0">
                <a:solidFill>
                  <a:srgbClr val="FF0000"/>
                </a:solidFill>
                <a:latin typeface="黑体" panose="02010609060101010101" pitchFamily="49" charset="-122"/>
                <a:ea typeface="黑体" panose="02010609060101010101" pitchFamily="49" charset="-122"/>
              </a:rPr>
              <a:t>zymogen)</a:t>
            </a:r>
            <a:r>
              <a:rPr lang="zh-CN" altLang="en-US" sz="2000" dirty="0">
                <a:solidFill>
                  <a:srgbClr val="FF0000"/>
                </a:solidFill>
                <a:latin typeface="黑体" panose="02010609060101010101" pitchFamily="49" charset="-122"/>
                <a:ea typeface="黑体" panose="02010609060101010101" pitchFamily="49" charset="-122"/>
              </a:rPr>
              <a:t>    同工酶 </a:t>
            </a:r>
            <a:r>
              <a:rPr lang="en-US" altLang="zh-CN" sz="2000" dirty="0">
                <a:solidFill>
                  <a:srgbClr val="FF0000"/>
                </a:solidFill>
                <a:latin typeface="黑体" panose="02010609060101010101" pitchFamily="49" charset="-122"/>
                <a:ea typeface="黑体" panose="02010609060101010101" pitchFamily="49" charset="-122"/>
              </a:rPr>
              <a:t>(isoenzyme)</a:t>
            </a:r>
            <a:r>
              <a:rPr lang="zh-CN" altLang="en-US" sz="2000" dirty="0">
                <a:solidFill>
                  <a:srgbClr val="FF0000"/>
                </a:solidFill>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必需基团     </a:t>
            </a:r>
            <a:r>
              <a:rPr lang="en-US" altLang="zh-CN" sz="2000" dirty="0">
                <a:latin typeface="黑体" panose="02010609060101010101" pitchFamily="49" charset="-122"/>
                <a:ea typeface="黑体" panose="02010609060101010101" pitchFamily="49" charset="-122"/>
              </a:rPr>
              <a:t>Km    </a:t>
            </a:r>
            <a:r>
              <a:rPr lang="zh-CN" altLang="en-US" sz="2000" dirty="0">
                <a:solidFill>
                  <a:srgbClr val="FF0000"/>
                </a:solidFill>
                <a:latin typeface="黑体" panose="02010609060101010101" pitchFamily="49" charset="-122"/>
                <a:ea typeface="黑体" panose="02010609060101010101" pitchFamily="49" charset="-122"/>
              </a:rPr>
              <a:t>酶的活性中心         别构调节（</a:t>
            </a:r>
            <a:r>
              <a:rPr lang="en-US" altLang="zh-CN" sz="2000" dirty="0">
                <a:solidFill>
                  <a:srgbClr val="FF0000"/>
                </a:solidFill>
                <a:latin typeface="黑体" panose="02010609060101010101" pitchFamily="49" charset="-122"/>
                <a:ea typeface="黑体" panose="02010609060101010101" pitchFamily="49" charset="-122"/>
              </a:rPr>
              <a:t>allosteric regulation)</a:t>
            </a:r>
            <a:r>
              <a:rPr lang="zh-CN" altLang="en-US" sz="2000" dirty="0">
                <a:solidFill>
                  <a:srgbClr val="FF0000"/>
                </a:solidFill>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酶的共价修饰</a:t>
            </a:r>
            <a:endParaRPr lang="en-US" altLang="zh-CN" sz="2000" dirty="0">
              <a:latin typeface="黑体" panose="02010609060101010101" pitchFamily="49" charset="-122"/>
              <a:ea typeface="黑体" panose="02010609060101010101" pitchFamily="49" charset="-122"/>
            </a:endParaRPr>
          </a:p>
        </p:txBody>
      </p:sp>
      <p:sp>
        <p:nvSpPr>
          <p:cNvPr id="4" name="Text Box 4">
            <a:extLst>
              <a:ext uri="{FF2B5EF4-FFF2-40B4-BE49-F238E27FC236}">
                <a16:creationId xmlns:a16="http://schemas.microsoft.com/office/drawing/2014/main" id="{19656DD0-7681-464E-BA2D-263EE36DB8C8}"/>
              </a:ext>
            </a:extLst>
          </p:cNvPr>
          <p:cNvSpPr txBox="1">
            <a:spLocks noChangeArrowheads="1"/>
          </p:cNvSpPr>
          <p:nvPr/>
        </p:nvSpPr>
        <p:spPr bwMode="auto">
          <a:xfrm>
            <a:off x="4583113" y="58739"/>
            <a:ext cx="3600450" cy="1000125"/>
          </a:xfrm>
          <a:prstGeom prst="rect">
            <a:avLst/>
          </a:prstGeom>
          <a:noFill/>
          <a:ln w="9525">
            <a:noFill/>
            <a:miter lim="800000"/>
            <a:headEnd/>
            <a:tailEnd/>
          </a:ln>
          <a:effectLst/>
        </p:spPr>
        <p:txBody>
          <a:bodyPr>
            <a:spAutoFit/>
          </a:bodyPr>
          <a:lstStyle/>
          <a:p>
            <a:pPr algn="ctr" eaLnBrk="1" hangingPunct="1">
              <a:lnSpc>
                <a:spcPct val="90000"/>
              </a:lnSpc>
              <a:spcBef>
                <a:spcPct val="50000"/>
              </a:spcBef>
              <a:buClr>
                <a:schemeClr val="tx2"/>
              </a:buClr>
              <a:buSzPct val="75000"/>
              <a:buFont typeface="Wingdings" pitchFamily="2" charset="2"/>
              <a:buNone/>
              <a:defRPr/>
            </a:pPr>
            <a:r>
              <a:rPr kumimoji="1" lang="en-US" altLang="zh-CN" sz="6600" b="1" dirty="0">
                <a:solidFill>
                  <a:srgbClr val="FF3300"/>
                </a:solidFill>
                <a:effectLst>
                  <a:outerShdw blurRad="38100" dist="38100" dir="2700000" algn="tl">
                    <a:srgbClr val="C0C0C0"/>
                  </a:outerShdw>
                </a:effectLst>
                <a:latin typeface="Times New Roman" pitchFamily="18" charset="0"/>
                <a:ea typeface="黑体" pitchFamily="49" charset="-122"/>
              </a:rPr>
              <a:t> </a:t>
            </a:r>
            <a:r>
              <a:rPr kumimoji="1" lang="zh-CN" altLang="en-US" sz="3600" b="1" dirty="0">
                <a:solidFill>
                  <a:srgbClr val="FF3300"/>
                </a:solidFill>
                <a:latin typeface="Times New Roman" pitchFamily="18" charset="0"/>
                <a:ea typeface="黑体" pitchFamily="49" charset="-122"/>
              </a:rPr>
              <a:t>小    结</a:t>
            </a:r>
          </a:p>
        </p:txBody>
      </p:sp>
      <p:sp>
        <p:nvSpPr>
          <p:cNvPr id="445445" name="Rectangle 3">
            <a:extLst>
              <a:ext uri="{FF2B5EF4-FFF2-40B4-BE49-F238E27FC236}">
                <a16:creationId xmlns:a16="http://schemas.microsoft.com/office/drawing/2014/main" id="{05388F0C-4744-42AA-B1CF-FA7B550F85C6}"/>
              </a:ext>
            </a:extLst>
          </p:cNvPr>
          <p:cNvSpPr>
            <a:spLocks noChangeArrowheads="1"/>
          </p:cNvSpPr>
          <p:nvPr/>
        </p:nvSpPr>
        <p:spPr bwMode="auto">
          <a:xfrm>
            <a:off x="2495550" y="3416301"/>
            <a:ext cx="7200900" cy="332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10000"/>
              </a:lnSpc>
              <a:buClr>
                <a:schemeClr val="tx2"/>
              </a:buClr>
              <a:buFontTx/>
              <a:buAutoNum type="arabicPeriod"/>
            </a:pPr>
            <a:r>
              <a:rPr kumimoji="1" lang="zh-CN" altLang="en-US" sz="2000" dirty="0">
                <a:latin typeface="Times New Roman" panose="02020603050405020304" pitchFamily="18" charset="0"/>
                <a:ea typeface="黑体" panose="02010609060101010101" pitchFamily="49" charset="-122"/>
              </a:rPr>
              <a:t>简述同工酶的概念和生理意义。</a:t>
            </a:r>
            <a:endParaRPr kumimoji="1" lang="en-US" altLang="zh-CN" sz="2000" dirty="0">
              <a:latin typeface="黑体" panose="02010609060101010101" pitchFamily="49" charset="-122"/>
              <a:ea typeface="黑体" panose="02010609060101010101" pitchFamily="49" charset="-122"/>
            </a:endParaRPr>
          </a:p>
          <a:p>
            <a:pPr eaLnBrk="1" hangingPunct="1">
              <a:lnSpc>
                <a:spcPct val="110000"/>
              </a:lnSpc>
              <a:buClr>
                <a:schemeClr val="tx2"/>
              </a:buClr>
              <a:buFontTx/>
              <a:buAutoNum type="arabicPeriod"/>
            </a:pPr>
            <a:r>
              <a:rPr kumimoji="1" lang="zh-CN" altLang="en-US" sz="2000" dirty="0">
                <a:latin typeface="黑体" panose="02010609060101010101" pitchFamily="49" charset="-122"/>
                <a:ea typeface="黑体" panose="02010609060101010101" pitchFamily="49" charset="-122"/>
              </a:rPr>
              <a:t>影响酶促反应速度的因素有哪些？各有什么影响？</a:t>
            </a:r>
            <a:endParaRPr kumimoji="1" lang="en-US" altLang="zh-CN" sz="2000" dirty="0">
              <a:latin typeface="黑体" panose="02010609060101010101" pitchFamily="49" charset="-122"/>
              <a:ea typeface="黑体" panose="02010609060101010101" pitchFamily="49" charset="-122"/>
            </a:endParaRPr>
          </a:p>
          <a:p>
            <a:pPr eaLnBrk="1" hangingPunct="1">
              <a:lnSpc>
                <a:spcPct val="110000"/>
              </a:lnSpc>
              <a:buClr>
                <a:schemeClr val="tx2"/>
              </a:buClr>
              <a:buFontTx/>
              <a:buAutoNum type="arabicPeriod"/>
            </a:pPr>
            <a:r>
              <a:rPr lang="zh-CN" altLang="en-US" sz="2000" dirty="0">
                <a:latin typeface="黑体" panose="02010609060101010101" pitchFamily="49" charset="-122"/>
                <a:ea typeface="黑体" panose="02010609060101010101" pitchFamily="49" charset="-122"/>
              </a:rPr>
              <a:t>何谓竞争性抑制和非竞争性抑制？有何动力学特点？</a:t>
            </a:r>
            <a:endParaRPr lang="en-US" altLang="zh-CN" sz="2000" dirty="0">
              <a:latin typeface="黑体" panose="02010609060101010101" pitchFamily="49" charset="-122"/>
              <a:ea typeface="黑体" panose="02010609060101010101" pitchFamily="49" charset="-122"/>
            </a:endParaRPr>
          </a:p>
          <a:p>
            <a:pPr eaLnBrk="1" hangingPunct="1">
              <a:lnSpc>
                <a:spcPct val="110000"/>
              </a:lnSpc>
              <a:buClr>
                <a:schemeClr val="tx2"/>
              </a:buClr>
              <a:buFontTx/>
              <a:buAutoNum type="arabicPeriod"/>
            </a:pPr>
            <a:r>
              <a:rPr lang="zh-CN" altLang="en-US" sz="2000" dirty="0">
                <a:latin typeface="黑体" panose="02010609060101010101" pitchFamily="49" charset="-122"/>
                <a:ea typeface="黑体" panose="02010609060101010101" pitchFamily="49" charset="-122"/>
              </a:rPr>
              <a:t>举例说明不可逆性抑制及可逆性抑制。</a:t>
            </a:r>
            <a:endParaRPr lang="en-US" altLang="zh-CN" sz="2000" dirty="0">
              <a:latin typeface="黑体" panose="02010609060101010101" pitchFamily="49" charset="-122"/>
              <a:ea typeface="黑体" panose="02010609060101010101" pitchFamily="49" charset="-122"/>
            </a:endParaRPr>
          </a:p>
          <a:p>
            <a:pPr eaLnBrk="1" hangingPunct="1">
              <a:lnSpc>
                <a:spcPct val="110000"/>
              </a:lnSpc>
              <a:buClr>
                <a:schemeClr val="tx2"/>
              </a:buClr>
              <a:buFontTx/>
              <a:buAutoNum type="arabicPeriod"/>
            </a:pPr>
            <a:r>
              <a:rPr lang="zh-CN" altLang="en-US" sz="2000" dirty="0">
                <a:latin typeface="黑体" panose="02010609060101010101" pitchFamily="49" charset="-122"/>
                <a:ea typeface="黑体" panose="02010609060101010101" pitchFamily="49" charset="-122"/>
              </a:rPr>
              <a:t>简述酶活性调节的哪些方式。</a:t>
            </a:r>
            <a:endParaRPr lang="en-US" altLang="zh-CN" sz="2000" dirty="0">
              <a:latin typeface="黑体" panose="02010609060101010101" pitchFamily="49" charset="-122"/>
              <a:ea typeface="黑体" panose="02010609060101010101" pitchFamily="49" charset="-122"/>
            </a:endParaRPr>
          </a:p>
          <a:p>
            <a:pPr eaLnBrk="1" hangingPunct="1">
              <a:lnSpc>
                <a:spcPct val="110000"/>
              </a:lnSpc>
              <a:buClr>
                <a:schemeClr val="tx2"/>
              </a:buClr>
              <a:buFontTx/>
              <a:buAutoNum type="arabicPeriod"/>
            </a:pPr>
            <a:r>
              <a:rPr lang="zh-CN" altLang="en-US" sz="2000" dirty="0">
                <a:latin typeface="黑体" panose="02010609060101010101" pitchFamily="49" charset="-122"/>
                <a:ea typeface="黑体" panose="02010609060101010101" pitchFamily="49" charset="-122"/>
              </a:rPr>
              <a:t>什么是别构调节，别构酶有何特点？</a:t>
            </a:r>
            <a:endParaRPr lang="en-US" altLang="zh-CN" sz="2000" dirty="0">
              <a:latin typeface="黑体" panose="02010609060101010101" pitchFamily="49" charset="-122"/>
              <a:ea typeface="黑体" panose="02010609060101010101" pitchFamily="49" charset="-122"/>
            </a:endParaRPr>
          </a:p>
          <a:p>
            <a:pPr eaLnBrk="1" hangingPunct="1">
              <a:lnSpc>
                <a:spcPct val="110000"/>
              </a:lnSpc>
              <a:buClr>
                <a:schemeClr val="tx2"/>
              </a:buClr>
              <a:buFontTx/>
              <a:buAutoNum type="arabicPeriod"/>
            </a:pPr>
            <a:r>
              <a:rPr lang="zh-CN" altLang="en-US" sz="2000" dirty="0">
                <a:latin typeface="黑体" panose="02010609060101010101" pitchFamily="49" charset="-122"/>
                <a:ea typeface="黑体" panose="02010609060101010101" pitchFamily="49" charset="-122"/>
              </a:rPr>
              <a:t>举例说明什么是共价修饰调节，有何特点？</a:t>
            </a:r>
            <a:endParaRPr lang="en-US" altLang="zh-CN" sz="2000" dirty="0">
              <a:latin typeface="黑体" panose="02010609060101010101" pitchFamily="49" charset="-122"/>
              <a:ea typeface="黑体" panose="02010609060101010101" pitchFamily="49" charset="-122"/>
            </a:endParaRPr>
          </a:p>
          <a:p>
            <a:pPr eaLnBrk="1" hangingPunct="1">
              <a:lnSpc>
                <a:spcPct val="110000"/>
              </a:lnSpc>
              <a:buClr>
                <a:schemeClr val="tx2"/>
              </a:buClr>
              <a:buFontTx/>
              <a:buAutoNum type="arabicPeriod"/>
            </a:pPr>
            <a:r>
              <a:rPr lang="zh-CN" altLang="en-US" sz="2000" dirty="0">
                <a:latin typeface="黑体" panose="02010609060101010101" pitchFamily="49" charset="-122"/>
                <a:ea typeface="黑体" panose="02010609060101010101" pitchFamily="49" charset="-122"/>
              </a:rPr>
              <a:t>试述酶原激活的概念、机理及其生理学意义。</a:t>
            </a:r>
          </a:p>
          <a:p>
            <a:pPr eaLnBrk="1" hangingPunct="1">
              <a:lnSpc>
                <a:spcPct val="110000"/>
              </a:lnSpc>
              <a:buClr>
                <a:schemeClr val="tx2"/>
              </a:buClr>
              <a:buFontTx/>
              <a:buAutoNum type="arabicPeriod"/>
            </a:pPr>
            <a:endParaRPr lang="zh-CN" altLang="en-US" sz="2000" dirty="0">
              <a:latin typeface="黑体" panose="02010609060101010101" pitchFamily="49" charset="-122"/>
              <a:ea typeface="黑体" panose="02010609060101010101" pitchFamily="49" charset="-122"/>
            </a:endParaRPr>
          </a:p>
        </p:txBody>
      </p:sp>
      <p:sp>
        <p:nvSpPr>
          <p:cNvPr id="445446" name="Text Box 2">
            <a:extLst>
              <a:ext uri="{FF2B5EF4-FFF2-40B4-BE49-F238E27FC236}">
                <a16:creationId xmlns:a16="http://schemas.microsoft.com/office/drawing/2014/main" id="{9AFCD5C9-9E27-429C-BE7F-72846F44B73C}"/>
              </a:ext>
            </a:extLst>
          </p:cNvPr>
          <p:cNvSpPr txBox="1">
            <a:spLocks noChangeArrowheads="1"/>
          </p:cNvSpPr>
          <p:nvPr/>
        </p:nvSpPr>
        <p:spPr bwMode="auto">
          <a:xfrm>
            <a:off x="2351088" y="2936876"/>
            <a:ext cx="28194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spcBef>
                <a:spcPct val="50000"/>
              </a:spcBef>
              <a:buClr>
                <a:schemeClr val="tx2"/>
              </a:buClr>
              <a:buSzPct val="75000"/>
              <a:buFont typeface="Wingdings" panose="05000000000000000000" pitchFamily="2" charset="2"/>
              <a:buNone/>
            </a:pPr>
            <a:r>
              <a:rPr kumimoji="1" lang="zh-CN" altLang="en-US" sz="2800">
                <a:solidFill>
                  <a:srgbClr val="0000FF"/>
                </a:solidFill>
                <a:latin typeface="黑体" panose="02010609060101010101" pitchFamily="49" charset="-122"/>
                <a:ea typeface="黑体" panose="02010609060101010101" pitchFamily="49" charset="-122"/>
              </a:rPr>
              <a:t>简答题：</a:t>
            </a:r>
          </a:p>
        </p:txBody>
      </p:sp>
    </p:spTree>
  </p:cSld>
  <p:clrMapOvr>
    <a:masterClrMapping/>
  </p:clrMapOvr>
  <p:transition/>
</p:sld>
</file>

<file path=ppt/slides/slide2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7490" name="Rectangle 2">
            <a:extLst>
              <a:ext uri="{FF2B5EF4-FFF2-40B4-BE49-F238E27FC236}">
                <a16:creationId xmlns:a16="http://schemas.microsoft.com/office/drawing/2014/main" id="{5C6A33BB-2E84-4406-9806-EA2FB477CBDA}"/>
              </a:ext>
            </a:extLst>
          </p:cNvPr>
          <p:cNvSpPr>
            <a:spLocks noChangeArrowheads="1"/>
          </p:cNvSpPr>
          <p:nvPr/>
        </p:nvSpPr>
        <p:spPr bwMode="auto">
          <a:xfrm>
            <a:off x="2351088" y="1395414"/>
            <a:ext cx="7391400" cy="246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0"/>
              </a:spcBef>
              <a:buFontTx/>
              <a:buNone/>
            </a:pPr>
            <a:r>
              <a:rPr kumimoji="1" lang="en-US" altLang="zh-CN" sz="2400">
                <a:solidFill>
                  <a:srgbClr val="0000FF"/>
                </a:solidFill>
                <a:latin typeface="Times New Roman" panose="02020603050405020304" pitchFamily="18" charset="0"/>
                <a:ea typeface="黑体" panose="02010609060101010101" pitchFamily="49" charset="-122"/>
              </a:rPr>
              <a:t>1. </a:t>
            </a:r>
            <a:r>
              <a:rPr kumimoji="1" lang="zh-CN" altLang="en-US" sz="2400">
                <a:solidFill>
                  <a:srgbClr val="0000FF"/>
                </a:solidFill>
                <a:latin typeface="Times New Roman" panose="02020603050405020304" pitchFamily="18" charset="0"/>
                <a:ea typeface="黑体" panose="02010609060101010101" pitchFamily="49" charset="-122"/>
              </a:rPr>
              <a:t>某一符合米曼氏方程的酶，当</a:t>
            </a:r>
            <a:r>
              <a:rPr kumimoji="1" lang="en-US" altLang="zh-CN" sz="2400">
                <a:solidFill>
                  <a:srgbClr val="0000FF"/>
                </a:solidFill>
                <a:latin typeface="Times New Roman" panose="02020603050405020304" pitchFamily="18" charset="0"/>
                <a:ea typeface="黑体" panose="02010609060101010101" pitchFamily="49" charset="-122"/>
              </a:rPr>
              <a:t>[S]=2Km</a:t>
            </a:r>
            <a:r>
              <a:rPr kumimoji="1" lang="zh-CN" altLang="en-US" sz="2400">
                <a:solidFill>
                  <a:srgbClr val="0000FF"/>
                </a:solidFill>
                <a:latin typeface="Times New Roman" panose="02020603050405020304" pitchFamily="18" charset="0"/>
                <a:ea typeface="黑体" panose="02010609060101010101" pitchFamily="49" charset="-122"/>
              </a:rPr>
              <a:t>时，其反应速度</a:t>
            </a:r>
            <a:r>
              <a:rPr kumimoji="1" lang="en-US" altLang="zh-CN" sz="2400">
                <a:solidFill>
                  <a:srgbClr val="0000FF"/>
                </a:solidFill>
                <a:latin typeface="Times New Roman" panose="02020603050405020304" pitchFamily="18" charset="0"/>
                <a:ea typeface="黑体" panose="02010609060101010101" pitchFamily="49" charset="-122"/>
              </a:rPr>
              <a:t>V</a:t>
            </a:r>
            <a:r>
              <a:rPr kumimoji="1" lang="zh-CN" altLang="en-US" sz="2400">
                <a:solidFill>
                  <a:srgbClr val="0000FF"/>
                </a:solidFill>
                <a:latin typeface="Times New Roman" panose="02020603050405020304" pitchFamily="18" charset="0"/>
                <a:ea typeface="黑体" panose="02010609060101010101" pitchFamily="49" charset="-122"/>
              </a:rPr>
              <a:t>等于：</a:t>
            </a:r>
          </a:p>
          <a:p>
            <a:pPr algn="just">
              <a:lnSpc>
                <a:spcPct val="130000"/>
              </a:lnSpc>
              <a:spcBef>
                <a:spcPct val="0"/>
              </a:spcBef>
              <a:buFontTx/>
              <a:buNone/>
            </a:pPr>
            <a:r>
              <a:rPr kumimoji="1" lang="zh-CN" altLang="en-US" sz="2400">
                <a:latin typeface="Times New Roman" panose="02020603050405020304" pitchFamily="18" charset="0"/>
                <a:ea typeface="黑体" panose="02010609060101010101" pitchFamily="49" charset="-122"/>
              </a:rPr>
              <a:t>      </a:t>
            </a:r>
            <a:r>
              <a:rPr kumimoji="1" lang="en-US" altLang="zh-CN" sz="2400">
                <a:latin typeface="Times New Roman" panose="02020603050405020304" pitchFamily="18" charset="0"/>
                <a:ea typeface="黑体" panose="02010609060101010101" pitchFamily="49" charset="-122"/>
              </a:rPr>
              <a:t>A Vmax                    B 2/3Vmax</a:t>
            </a:r>
          </a:p>
          <a:p>
            <a:pPr algn="just">
              <a:lnSpc>
                <a:spcPct val="130000"/>
              </a:lnSpc>
              <a:spcBef>
                <a:spcPct val="0"/>
              </a:spcBef>
              <a:buFontTx/>
              <a:buNone/>
            </a:pPr>
            <a:r>
              <a:rPr kumimoji="1" lang="en-US" altLang="zh-CN" sz="2400">
                <a:latin typeface="Times New Roman" panose="02020603050405020304" pitchFamily="18" charset="0"/>
                <a:ea typeface="黑体" panose="02010609060101010101" pitchFamily="49" charset="-122"/>
              </a:rPr>
              <a:t>      C 3/2Vmax               D 2Vmax</a:t>
            </a:r>
          </a:p>
          <a:p>
            <a:pPr>
              <a:lnSpc>
                <a:spcPct val="130000"/>
              </a:lnSpc>
              <a:spcBef>
                <a:spcPct val="0"/>
              </a:spcBef>
              <a:buFontTx/>
              <a:buNone/>
            </a:pPr>
            <a:r>
              <a:rPr kumimoji="1" lang="en-US" altLang="zh-CN" sz="2400">
                <a:latin typeface="Times New Roman" panose="02020603050405020304" pitchFamily="18" charset="0"/>
                <a:ea typeface="黑体" panose="02010609060101010101" pitchFamily="49" charset="-122"/>
              </a:rPr>
              <a:t>      E 1/2 Vmax </a:t>
            </a:r>
          </a:p>
        </p:txBody>
      </p:sp>
      <p:sp>
        <p:nvSpPr>
          <p:cNvPr id="447491" name="Rectangle 3">
            <a:extLst>
              <a:ext uri="{FF2B5EF4-FFF2-40B4-BE49-F238E27FC236}">
                <a16:creationId xmlns:a16="http://schemas.microsoft.com/office/drawing/2014/main" id="{A08D53DD-E161-4C35-978E-FCC98A276B31}"/>
              </a:ext>
            </a:extLst>
          </p:cNvPr>
          <p:cNvSpPr>
            <a:spLocks noChangeArrowheads="1"/>
          </p:cNvSpPr>
          <p:nvPr/>
        </p:nvSpPr>
        <p:spPr bwMode="auto">
          <a:xfrm>
            <a:off x="2424113" y="4203700"/>
            <a:ext cx="7315200"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Tx/>
              <a:buNone/>
            </a:pPr>
            <a:r>
              <a:rPr kumimoji="1" lang="en-US" altLang="zh-CN" sz="2400">
                <a:solidFill>
                  <a:srgbClr val="0000FF"/>
                </a:solidFill>
                <a:latin typeface="Times New Roman" panose="02020603050405020304" pitchFamily="18" charset="0"/>
                <a:ea typeface="黑体" panose="02010609060101010101" pitchFamily="49" charset="-122"/>
              </a:rPr>
              <a:t>2. </a:t>
            </a:r>
            <a:r>
              <a:rPr kumimoji="1" lang="zh-CN" altLang="en-US" sz="24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丙二酸对琥珀酸脱氢酶的抑制作用是：</a:t>
            </a:r>
          </a:p>
          <a:p>
            <a:pPr eaLnBrk="1" hangingPunct="1">
              <a:lnSpc>
                <a:spcPct val="130000"/>
              </a:lnSpc>
              <a:spcBef>
                <a:spcPct val="0"/>
              </a:spcBef>
              <a:buFontTx/>
              <a:buNone/>
            </a:pPr>
            <a:r>
              <a:rPr kumimoji="1" lang="zh-CN" altLang="en-US" sz="2400">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400">
                <a:latin typeface="Times New Roman" panose="02020603050405020304" pitchFamily="18" charset="0"/>
                <a:ea typeface="黑体" panose="02010609060101010101" pitchFamily="49" charset="-122"/>
                <a:cs typeface="Times New Roman" panose="02020603050405020304" pitchFamily="18" charset="0"/>
              </a:rPr>
              <a:t>A </a:t>
            </a:r>
            <a:r>
              <a:rPr kumimoji="1" lang="zh-CN" altLang="en-US" sz="2400">
                <a:latin typeface="Times New Roman" panose="02020603050405020304" pitchFamily="18" charset="0"/>
                <a:ea typeface="黑体" panose="02010609060101010101" pitchFamily="49" charset="-122"/>
                <a:cs typeface="Times New Roman" panose="02020603050405020304" pitchFamily="18" charset="0"/>
              </a:rPr>
              <a:t>反馈抑制             </a:t>
            </a:r>
            <a:r>
              <a:rPr kumimoji="1" lang="en-US" altLang="zh-CN" sz="2400">
                <a:latin typeface="Times New Roman" panose="02020603050405020304" pitchFamily="18" charset="0"/>
                <a:ea typeface="黑体" panose="02010609060101010101" pitchFamily="49" charset="-122"/>
                <a:cs typeface="Times New Roman" panose="02020603050405020304" pitchFamily="18" charset="0"/>
              </a:rPr>
              <a:t>B </a:t>
            </a:r>
            <a:r>
              <a:rPr kumimoji="1" lang="zh-CN" altLang="en-US" sz="2400">
                <a:latin typeface="Times New Roman" panose="02020603050405020304" pitchFamily="18" charset="0"/>
                <a:ea typeface="黑体" panose="02010609060101010101" pitchFamily="49" charset="-122"/>
                <a:cs typeface="Times New Roman" panose="02020603050405020304" pitchFamily="18" charset="0"/>
              </a:rPr>
              <a:t>非竞争</a:t>
            </a:r>
            <a:r>
              <a:rPr kumimoji="1" lang="zh-CN" altLang="en-US" sz="2400">
                <a:latin typeface="Times New Roman" panose="02020603050405020304" pitchFamily="18" charset="0"/>
                <a:ea typeface="黑体" panose="02010609060101010101" pitchFamily="49" charset="-122"/>
              </a:rPr>
              <a:t>性抑制       </a:t>
            </a:r>
          </a:p>
          <a:p>
            <a:pPr eaLnBrk="1" hangingPunct="1">
              <a:lnSpc>
                <a:spcPct val="130000"/>
              </a:lnSpc>
              <a:spcBef>
                <a:spcPct val="0"/>
              </a:spcBef>
              <a:buFontTx/>
              <a:buNone/>
            </a:pPr>
            <a:r>
              <a:rPr kumimoji="1" lang="zh-CN" altLang="en-US" sz="2400">
                <a:latin typeface="Times New Roman" panose="02020603050405020304" pitchFamily="18" charset="0"/>
                <a:ea typeface="黑体" panose="02010609060101010101" pitchFamily="49" charset="-122"/>
              </a:rPr>
              <a:t>   </a:t>
            </a:r>
            <a:r>
              <a:rPr kumimoji="1" lang="en-US" altLang="zh-CN" sz="2400">
                <a:latin typeface="Times New Roman" panose="02020603050405020304" pitchFamily="18" charset="0"/>
                <a:ea typeface="黑体" panose="02010609060101010101" pitchFamily="49" charset="-122"/>
              </a:rPr>
              <a:t>C </a:t>
            </a:r>
            <a:r>
              <a:rPr kumimoji="1" lang="zh-CN" altLang="en-US" sz="2400">
                <a:latin typeface="Times New Roman" panose="02020603050405020304" pitchFamily="18" charset="0"/>
                <a:ea typeface="黑体" panose="02010609060101010101" pitchFamily="49" charset="-122"/>
              </a:rPr>
              <a:t>竞争性抑制         </a:t>
            </a:r>
            <a:r>
              <a:rPr kumimoji="1" lang="en-US" altLang="zh-CN" sz="2400">
                <a:latin typeface="Times New Roman" panose="02020603050405020304" pitchFamily="18" charset="0"/>
                <a:ea typeface="黑体" panose="02010609060101010101" pitchFamily="49" charset="-122"/>
              </a:rPr>
              <a:t>D </a:t>
            </a:r>
            <a:r>
              <a:rPr kumimoji="1" lang="zh-CN" altLang="en-US" sz="2400">
                <a:latin typeface="Times New Roman" panose="02020603050405020304" pitchFamily="18" charset="0"/>
                <a:ea typeface="黑体" panose="02010609060101010101" pitchFamily="49" charset="-122"/>
              </a:rPr>
              <a:t>非特异性抑制 </a:t>
            </a:r>
          </a:p>
          <a:p>
            <a:pPr eaLnBrk="1" hangingPunct="1">
              <a:lnSpc>
                <a:spcPct val="130000"/>
              </a:lnSpc>
              <a:spcBef>
                <a:spcPct val="0"/>
              </a:spcBef>
              <a:buFontTx/>
              <a:buNone/>
            </a:pPr>
            <a:r>
              <a:rPr kumimoji="1" lang="zh-CN" altLang="en-US" sz="2400">
                <a:latin typeface="Times New Roman" panose="02020603050405020304" pitchFamily="18" charset="0"/>
                <a:ea typeface="黑体" panose="02010609060101010101" pitchFamily="49" charset="-122"/>
              </a:rPr>
              <a:t>   </a:t>
            </a:r>
            <a:r>
              <a:rPr kumimoji="1" lang="en-US" altLang="zh-CN" sz="2400">
                <a:latin typeface="Times New Roman" panose="02020603050405020304" pitchFamily="18" charset="0"/>
                <a:ea typeface="黑体" panose="02010609060101010101" pitchFamily="49" charset="-122"/>
              </a:rPr>
              <a:t>E </a:t>
            </a:r>
            <a:r>
              <a:rPr kumimoji="1" lang="zh-CN" altLang="en-US" sz="2400">
                <a:latin typeface="Times New Roman" panose="02020603050405020304" pitchFamily="18" charset="0"/>
                <a:ea typeface="黑体" panose="02010609060101010101" pitchFamily="49" charset="-122"/>
              </a:rPr>
              <a:t>反竞争性抑制</a:t>
            </a:r>
          </a:p>
          <a:p>
            <a:pPr algn="just" eaLnBrk="1" hangingPunct="1">
              <a:lnSpc>
                <a:spcPct val="130000"/>
              </a:lnSpc>
              <a:spcBef>
                <a:spcPct val="0"/>
              </a:spcBef>
              <a:buFontTx/>
              <a:buNone/>
            </a:pPr>
            <a:endParaRPr kumimoji="1" lang="en-US" altLang="zh-CN" sz="2400">
              <a:latin typeface="Times New Roman" panose="02020603050405020304" pitchFamily="18" charset="0"/>
              <a:ea typeface="黑体" panose="02010609060101010101" pitchFamily="49" charset="-122"/>
            </a:endParaRPr>
          </a:p>
        </p:txBody>
      </p:sp>
      <p:sp>
        <p:nvSpPr>
          <p:cNvPr id="399364" name="文本框 1">
            <a:extLst>
              <a:ext uri="{FF2B5EF4-FFF2-40B4-BE49-F238E27FC236}">
                <a16:creationId xmlns:a16="http://schemas.microsoft.com/office/drawing/2014/main" id="{0509BA65-0722-4DAC-B7BC-53DD0075507E}"/>
              </a:ext>
            </a:extLst>
          </p:cNvPr>
          <p:cNvSpPr txBox="1">
            <a:spLocks noChangeArrowheads="1"/>
          </p:cNvSpPr>
          <p:nvPr/>
        </p:nvSpPr>
        <p:spPr bwMode="auto">
          <a:xfrm>
            <a:off x="8183564" y="2259014"/>
            <a:ext cx="129698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en-US" altLang="zh-CN">
                <a:solidFill>
                  <a:srgbClr val="C00000"/>
                </a:solidFill>
                <a:latin typeface="Arial" panose="020B0604020202020204" pitchFamily="34" charset="0"/>
                <a:cs typeface="Arial" panose="020B0604020202020204" pitchFamily="34" charset="0"/>
              </a:rPr>
              <a:t>B</a:t>
            </a:r>
            <a:endParaRPr lang="zh-CN" altLang="en-US">
              <a:solidFill>
                <a:srgbClr val="C00000"/>
              </a:solidFill>
              <a:latin typeface="Arial" panose="020B0604020202020204" pitchFamily="34" charset="0"/>
              <a:cs typeface="Arial" panose="020B0604020202020204" pitchFamily="34" charset="0"/>
            </a:endParaRPr>
          </a:p>
        </p:txBody>
      </p:sp>
      <p:sp>
        <p:nvSpPr>
          <p:cNvPr id="399365" name="文本框 4">
            <a:extLst>
              <a:ext uri="{FF2B5EF4-FFF2-40B4-BE49-F238E27FC236}">
                <a16:creationId xmlns:a16="http://schemas.microsoft.com/office/drawing/2014/main" id="{A93FCA9A-9AE6-4332-AC62-ED441510D032}"/>
              </a:ext>
            </a:extLst>
          </p:cNvPr>
          <p:cNvSpPr txBox="1">
            <a:spLocks noChangeArrowheads="1"/>
          </p:cNvSpPr>
          <p:nvPr/>
        </p:nvSpPr>
        <p:spPr bwMode="auto">
          <a:xfrm>
            <a:off x="8464550" y="4419600"/>
            <a:ext cx="12969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en-US" altLang="zh-CN">
                <a:solidFill>
                  <a:srgbClr val="C00000"/>
                </a:solidFill>
                <a:latin typeface="Arial" panose="020B0604020202020204" pitchFamily="34" charset="0"/>
                <a:cs typeface="Arial" panose="020B0604020202020204" pitchFamily="34" charset="0"/>
              </a:rPr>
              <a:t>C</a:t>
            </a:r>
            <a:endParaRPr lang="zh-CN" altLang="en-US">
              <a:solidFill>
                <a:srgbClr val="C00000"/>
              </a:solidFill>
              <a:latin typeface="Arial" panose="020B0604020202020204" pitchFamily="34" charset="0"/>
              <a:cs typeface="Arial" panose="020B0604020202020204" pitchFamily="34" charset="0"/>
            </a:endParaRPr>
          </a:p>
        </p:txBody>
      </p:sp>
      <p:sp>
        <p:nvSpPr>
          <p:cNvPr id="447494" name="标题 1">
            <a:extLst>
              <a:ext uri="{FF2B5EF4-FFF2-40B4-BE49-F238E27FC236}">
                <a16:creationId xmlns:a16="http://schemas.microsoft.com/office/drawing/2014/main" id="{9BC55B6C-DAA8-4924-953F-87AB080EBE14}"/>
              </a:ext>
            </a:extLst>
          </p:cNvPr>
          <p:cNvSpPr>
            <a:spLocks noGrp="1" noChangeArrowheads="1"/>
          </p:cNvSpPr>
          <p:nvPr>
            <p:ph type="title"/>
          </p:nvPr>
        </p:nvSpPr>
        <p:spPr>
          <a:xfrm>
            <a:off x="2424114" y="152401"/>
            <a:ext cx="7056437" cy="925513"/>
          </a:xfrm>
        </p:spPr>
        <p:txBody>
          <a:bodyPr/>
          <a:lstStyle/>
          <a:p>
            <a:r>
              <a:rPr lang="zh-CN" altLang="en-US"/>
              <a:t>课堂练习</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3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4" grpId="0"/>
      <p:bldP spid="399365" grpId="0"/>
    </p:bldLst>
  </p:timing>
</p:sld>
</file>

<file path=ppt/slides/slide2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9058" name="Rectangle 2">
            <a:extLst>
              <a:ext uri="{FF2B5EF4-FFF2-40B4-BE49-F238E27FC236}">
                <a16:creationId xmlns:a16="http://schemas.microsoft.com/office/drawing/2014/main" id="{05824A3B-6DB8-40C8-BD83-228F45153809}"/>
              </a:ext>
            </a:extLst>
          </p:cNvPr>
          <p:cNvSpPr>
            <a:spLocks noChangeArrowheads="1"/>
          </p:cNvSpPr>
          <p:nvPr/>
        </p:nvSpPr>
        <p:spPr bwMode="auto">
          <a:xfrm>
            <a:off x="1127448" y="1484784"/>
            <a:ext cx="10153127" cy="2921505"/>
          </a:xfrm>
          <a:prstGeom prst="rect">
            <a:avLst/>
          </a:prstGeom>
          <a:noFill/>
          <a:ln>
            <a:noFill/>
          </a:ln>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Tx/>
              <a:buNone/>
              <a:defRPr/>
            </a:pPr>
            <a:r>
              <a:rPr kumimoji="1" lang="en-US" altLang="zh-CN" sz="2400" dirty="0">
                <a:solidFill>
                  <a:srgbClr val="0000FF"/>
                </a:solidFill>
                <a:latin typeface="Times New Roman" panose="02020603050405020304" pitchFamily="18" charset="0"/>
                <a:ea typeface="黑体" panose="02010609060101010101" pitchFamily="49" charset="-122"/>
              </a:rPr>
              <a:t>3.</a:t>
            </a:r>
            <a:r>
              <a:rPr kumimoji="1" lang="zh-CN" altLang="en-US" sz="2400" dirty="0">
                <a:solidFill>
                  <a:srgbClr val="0000FF"/>
                </a:solidFill>
                <a:latin typeface="Times New Roman" panose="02020603050405020304" pitchFamily="18" charset="0"/>
                <a:ea typeface="黑体" panose="02010609060101010101" pitchFamily="49" charset="-122"/>
              </a:rPr>
              <a:t>下列关于酶活性部位的描述，哪一项是错误的</a:t>
            </a:r>
            <a:r>
              <a:rPr kumimoji="1" lang="en-US" altLang="zh-CN" sz="2400" dirty="0">
                <a:solidFill>
                  <a:srgbClr val="0000FF"/>
                </a:solidFill>
                <a:latin typeface="Times New Roman" panose="02020603050405020304" pitchFamily="18" charset="0"/>
                <a:ea typeface="黑体" panose="02010609060101010101" pitchFamily="49" charset="-122"/>
              </a:rPr>
              <a:t>?</a:t>
            </a:r>
          </a:p>
          <a:p>
            <a:pPr marL="358775" indent="-358775">
              <a:lnSpc>
                <a:spcPct val="130000"/>
              </a:lnSpc>
              <a:spcBef>
                <a:spcPct val="0"/>
              </a:spcBef>
              <a:buNone/>
              <a:defRPr/>
            </a:pPr>
            <a:r>
              <a:rPr kumimoji="1" lang="en-US" altLang="zh-CN" sz="2400" dirty="0">
                <a:latin typeface="Times New Roman" panose="02020603050405020304" pitchFamily="18" charset="0"/>
                <a:ea typeface="黑体" panose="02010609060101010101" pitchFamily="49" charset="-122"/>
              </a:rPr>
              <a:t>A </a:t>
            </a:r>
            <a:r>
              <a:rPr kumimoji="1" lang="zh-CN" altLang="en-US" sz="2400" dirty="0">
                <a:latin typeface="Times New Roman" panose="02020603050405020304" pitchFamily="18" charset="0"/>
                <a:ea typeface="黑体" panose="02010609060101010101" pitchFamily="49" charset="-122"/>
              </a:rPr>
              <a:t>活性部位是酶分子中直接与底物结合，并发挥催化功能的部位</a:t>
            </a:r>
          </a:p>
          <a:p>
            <a:pPr marL="358775" indent="-358775">
              <a:lnSpc>
                <a:spcPct val="130000"/>
              </a:lnSpc>
              <a:spcBef>
                <a:spcPct val="0"/>
              </a:spcBef>
              <a:buNone/>
              <a:defRPr/>
            </a:pPr>
            <a:r>
              <a:rPr kumimoji="1" lang="en-US" altLang="zh-CN" sz="2400" dirty="0">
                <a:latin typeface="Times New Roman" panose="02020603050405020304" pitchFamily="18" charset="0"/>
                <a:ea typeface="黑体" panose="02010609060101010101" pitchFamily="49" charset="-122"/>
              </a:rPr>
              <a:t>B </a:t>
            </a:r>
            <a:r>
              <a:rPr kumimoji="1" lang="zh-CN" altLang="en-US" sz="2400" dirty="0">
                <a:latin typeface="Times New Roman" panose="02020603050405020304" pitchFamily="18" charset="0"/>
                <a:ea typeface="黑体" panose="02010609060101010101" pitchFamily="49" charset="-122"/>
              </a:rPr>
              <a:t>活性部位的基团按功能可分为两类，一类是结合基团、一类是催化基团</a:t>
            </a:r>
          </a:p>
          <a:p>
            <a:pPr marL="358775" indent="-358775">
              <a:lnSpc>
                <a:spcPct val="130000"/>
              </a:lnSpc>
              <a:spcBef>
                <a:spcPct val="0"/>
              </a:spcBef>
              <a:buNone/>
              <a:defRPr/>
            </a:pPr>
            <a:r>
              <a:rPr kumimoji="1" lang="en-US" altLang="zh-CN" sz="2400" dirty="0">
                <a:latin typeface="Times New Roman" panose="02020603050405020304" pitchFamily="18" charset="0"/>
                <a:ea typeface="黑体" panose="02010609060101010101" pitchFamily="49" charset="-122"/>
              </a:rPr>
              <a:t>C </a:t>
            </a:r>
            <a:r>
              <a:rPr kumimoji="1" lang="zh-CN" altLang="en-US" sz="2400" dirty="0">
                <a:latin typeface="Times New Roman" panose="02020603050405020304" pitchFamily="18" charset="0"/>
                <a:ea typeface="黑体" panose="02010609060101010101" pitchFamily="49" charset="-122"/>
              </a:rPr>
              <a:t>酶活性部位的基团可以在同一条肽链但在一级结构上相距很远的基团</a:t>
            </a:r>
          </a:p>
          <a:p>
            <a:pPr marL="358775" indent="-358775">
              <a:lnSpc>
                <a:spcPct val="130000"/>
              </a:lnSpc>
              <a:spcBef>
                <a:spcPct val="0"/>
              </a:spcBef>
              <a:buNone/>
              <a:defRPr/>
            </a:pPr>
            <a:r>
              <a:rPr kumimoji="1" lang="en-US" altLang="zh-CN" sz="2400" dirty="0">
                <a:latin typeface="Times New Roman" panose="02020603050405020304" pitchFamily="18" charset="0"/>
                <a:ea typeface="黑体" panose="02010609060101010101" pitchFamily="49" charset="-122"/>
              </a:rPr>
              <a:t>D </a:t>
            </a:r>
            <a:r>
              <a:rPr kumimoji="1" lang="zh-CN" altLang="en-US" sz="2400" dirty="0">
                <a:latin typeface="Times New Roman" panose="02020603050405020304" pitchFamily="18" charset="0"/>
                <a:ea typeface="黑体" panose="02010609060101010101" pitchFamily="49" charset="-122"/>
              </a:rPr>
              <a:t>不同肽链上的有关基团不能构成该酶的活性部位</a:t>
            </a:r>
          </a:p>
          <a:p>
            <a:pPr marL="358775" indent="-358775">
              <a:lnSpc>
                <a:spcPct val="130000"/>
              </a:lnSpc>
              <a:spcBef>
                <a:spcPct val="0"/>
              </a:spcBef>
              <a:buNone/>
              <a:defRPr/>
            </a:pPr>
            <a:r>
              <a:rPr kumimoji="1" lang="en-US" altLang="zh-CN" sz="2400" dirty="0">
                <a:latin typeface="Times New Roman" panose="02020603050405020304" pitchFamily="18" charset="0"/>
                <a:ea typeface="黑体" panose="02010609060101010101" pitchFamily="49" charset="-122"/>
              </a:rPr>
              <a:t>E </a:t>
            </a:r>
            <a:r>
              <a:rPr kumimoji="1" lang="zh-CN" altLang="en-US" sz="2400" dirty="0">
                <a:latin typeface="Times New Roman" panose="02020603050405020304" pitchFamily="18" charset="0"/>
                <a:ea typeface="黑体" panose="02010609060101010101" pitchFamily="49" charset="-122"/>
              </a:rPr>
              <a:t>酶的活性部位决定酶的专一性  </a:t>
            </a:r>
          </a:p>
        </p:txBody>
      </p:sp>
      <p:sp>
        <p:nvSpPr>
          <p:cNvPr id="401411" name="文本框 2">
            <a:extLst>
              <a:ext uri="{FF2B5EF4-FFF2-40B4-BE49-F238E27FC236}">
                <a16:creationId xmlns:a16="http://schemas.microsoft.com/office/drawing/2014/main" id="{7124AF85-5991-4324-B358-224F1973963A}"/>
              </a:ext>
            </a:extLst>
          </p:cNvPr>
          <p:cNvSpPr txBox="1">
            <a:spLocks noChangeArrowheads="1"/>
          </p:cNvSpPr>
          <p:nvPr/>
        </p:nvSpPr>
        <p:spPr bwMode="auto">
          <a:xfrm>
            <a:off x="8520113" y="5299075"/>
            <a:ext cx="12954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en-US" altLang="zh-CN">
                <a:solidFill>
                  <a:srgbClr val="C00000"/>
                </a:solidFill>
                <a:latin typeface="Arial" panose="020B0604020202020204" pitchFamily="34" charset="0"/>
                <a:cs typeface="Arial" panose="020B0604020202020204" pitchFamily="34" charset="0"/>
              </a:rPr>
              <a:t>D</a:t>
            </a:r>
            <a:endParaRPr lang="zh-CN" altLang="en-US">
              <a:solidFill>
                <a:srgbClr val="C00000"/>
              </a:solidFill>
              <a:latin typeface="Arial" panose="020B0604020202020204" pitchFamily="34" charset="0"/>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14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1" grpId="0"/>
    </p:bldLst>
  </p:timing>
</p:sld>
</file>

<file path=ppt/slides/slide2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1586" name="Rectangle 3">
            <a:extLst>
              <a:ext uri="{FF2B5EF4-FFF2-40B4-BE49-F238E27FC236}">
                <a16:creationId xmlns:a16="http://schemas.microsoft.com/office/drawing/2014/main" id="{FEB097AC-6448-48E3-B409-B95D0390E55E}"/>
              </a:ext>
            </a:extLst>
          </p:cNvPr>
          <p:cNvSpPr>
            <a:spLocks noChangeArrowheads="1"/>
          </p:cNvSpPr>
          <p:nvPr/>
        </p:nvSpPr>
        <p:spPr bwMode="auto">
          <a:xfrm>
            <a:off x="2927350" y="908050"/>
            <a:ext cx="6840538"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en-US" altLang="zh-CN" sz="2800">
                <a:solidFill>
                  <a:srgbClr val="0000FF"/>
                </a:solidFill>
                <a:latin typeface="Times New Roman" panose="02020603050405020304" pitchFamily="18" charset="0"/>
                <a:ea typeface="黑体" panose="02010609060101010101" pitchFamily="49" charset="-122"/>
              </a:rPr>
              <a:t>4. </a:t>
            </a:r>
            <a:r>
              <a:rPr kumimoji="1" lang="zh-CN" altLang="en-US" sz="2800">
                <a:solidFill>
                  <a:srgbClr val="0000FF"/>
                </a:solidFill>
                <a:latin typeface="Times New Roman" panose="02020603050405020304" pitchFamily="18" charset="0"/>
                <a:ea typeface="黑体" panose="02010609060101010101" pitchFamily="49" charset="-122"/>
              </a:rPr>
              <a:t>有关同工酶的正确叙述是</a:t>
            </a:r>
            <a:br>
              <a:rPr kumimoji="1" lang="zh-CN" altLang="en-US" sz="2800">
                <a:solidFill>
                  <a:srgbClr val="0000FF"/>
                </a:solidFill>
                <a:latin typeface="Times New Roman" panose="02020603050405020304" pitchFamily="18" charset="0"/>
                <a:ea typeface="黑体" panose="02010609060101010101" pitchFamily="49" charset="-122"/>
              </a:rPr>
            </a:br>
            <a:r>
              <a:rPr kumimoji="1" lang="zh-CN" altLang="en-US" sz="2800">
                <a:latin typeface="Times New Roman" panose="02020603050405020304" pitchFamily="18" charset="0"/>
                <a:ea typeface="黑体" panose="02010609060101010101" pitchFamily="49" charset="-122"/>
              </a:rPr>
              <a:t>   </a:t>
            </a:r>
            <a:r>
              <a:rPr kumimoji="1" lang="en-US" altLang="zh-CN" sz="2800">
                <a:latin typeface="Times New Roman" panose="02020603050405020304" pitchFamily="18" charset="0"/>
                <a:ea typeface="黑体" panose="02010609060101010101" pitchFamily="49" charset="-122"/>
              </a:rPr>
              <a:t>A</a:t>
            </a:r>
            <a:r>
              <a:rPr kumimoji="1" lang="zh-CN" altLang="en-US" sz="2800">
                <a:latin typeface="Times New Roman" panose="02020603050405020304" pitchFamily="18" charset="0"/>
                <a:ea typeface="黑体" panose="02010609060101010101" pitchFamily="49" charset="-122"/>
              </a:rPr>
              <a:t>．不同组织中同工酶谱不同 </a:t>
            </a:r>
          </a:p>
          <a:p>
            <a:pPr eaLnBrk="1" hangingPunct="1">
              <a:lnSpc>
                <a:spcPct val="150000"/>
              </a:lnSpc>
              <a:spcBef>
                <a:spcPct val="0"/>
              </a:spcBef>
              <a:buFontTx/>
              <a:buNone/>
            </a:pPr>
            <a:r>
              <a:rPr kumimoji="1" lang="zh-CN" altLang="en-US" sz="2800">
                <a:latin typeface="Times New Roman" panose="02020603050405020304" pitchFamily="18" charset="0"/>
                <a:ea typeface="黑体" panose="02010609060101010101" pitchFamily="49" charset="-122"/>
              </a:rPr>
              <a:t>   </a:t>
            </a:r>
            <a:r>
              <a:rPr kumimoji="1" lang="en-US" altLang="zh-CN" sz="2800">
                <a:latin typeface="Times New Roman" panose="02020603050405020304" pitchFamily="18" charset="0"/>
                <a:ea typeface="黑体" panose="02010609060101010101" pitchFamily="49" charset="-122"/>
              </a:rPr>
              <a:t>B</a:t>
            </a:r>
            <a:r>
              <a:rPr kumimoji="1" lang="zh-CN" altLang="en-US" sz="2800">
                <a:latin typeface="Times New Roman" panose="02020603050405020304" pitchFamily="18" charset="0"/>
                <a:ea typeface="黑体" panose="02010609060101010101" pitchFamily="49" charset="-122"/>
              </a:rPr>
              <a:t>．同工酶对同种底物亲和力相同</a:t>
            </a:r>
            <a:br>
              <a:rPr kumimoji="1" lang="zh-CN" altLang="en-US" sz="2800">
                <a:latin typeface="Times New Roman" panose="02020603050405020304" pitchFamily="18" charset="0"/>
                <a:ea typeface="黑体" panose="02010609060101010101" pitchFamily="49" charset="-122"/>
              </a:rPr>
            </a:br>
            <a:r>
              <a:rPr kumimoji="1" lang="zh-CN" altLang="en-US" sz="2800">
                <a:latin typeface="Times New Roman" panose="02020603050405020304" pitchFamily="18" charset="0"/>
                <a:ea typeface="黑体" panose="02010609060101010101" pitchFamily="49" charset="-122"/>
              </a:rPr>
              <a:t>   </a:t>
            </a:r>
            <a:r>
              <a:rPr kumimoji="1" lang="en-US" altLang="zh-CN" sz="2800">
                <a:latin typeface="Times New Roman" panose="02020603050405020304" pitchFamily="18" charset="0"/>
                <a:ea typeface="黑体" panose="02010609060101010101" pitchFamily="49" charset="-122"/>
              </a:rPr>
              <a:t>C</a:t>
            </a:r>
            <a:r>
              <a:rPr kumimoji="1" lang="zh-CN" altLang="en-US" sz="2800">
                <a:latin typeface="Times New Roman" panose="02020603050405020304" pitchFamily="18" charset="0"/>
                <a:ea typeface="黑体" panose="02010609060101010101" pitchFamily="49" charset="-122"/>
              </a:rPr>
              <a:t>．同工酶的一级结构一定相同 </a:t>
            </a:r>
          </a:p>
          <a:p>
            <a:pPr eaLnBrk="1" hangingPunct="1">
              <a:lnSpc>
                <a:spcPct val="150000"/>
              </a:lnSpc>
              <a:spcBef>
                <a:spcPct val="0"/>
              </a:spcBef>
              <a:buFontTx/>
              <a:buNone/>
            </a:pPr>
            <a:r>
              <a:rPr kumimoji="1" lang="zh-CN" altLang="en-US" sz="2800">
                <a:latin typeface="Times New Roman" panose="02020603050405020304" pitchFamily="18" charset="0"/>
                <a:ea typeface="黑体" panose="02010609060101010101" pitchFamily="49" charset="-122"/>
              </a:rPr>
              <a:t>   </a:t>
            </a:r>
            <a:r>
              <a:rPr kumimoji="1" lang="en-US" altLang="zh-CN" sz="2800">
                <a:latin typeface="Times New Roman" panose="02020603050405020304" pitchFamily="18" charset="0"/>
                <a:ea typeface="黑体" panose="02010609060101010101" pitchFamily="49" charset="-122"/>
              </a:rPr>
              <a:t>D</a:t>
            </a:r>
            <a:r>
              <a:rPr kumimoji="1" lang="zh-CN" altLang="en-US" sz="2800">
                <a:latin typeface="Times New Roman" panose="02020603050405020304" pitchFamily="18" charset="0"/>
                <a:ea typeface="黑体" panose="02010609060101010101" pitchFamily="49" charset="-122"/>
              </a:rPr>
              <a:t>．组成同工酶的亚基一定相同</a:t>
            </a:r>
            <a:br>
              <a:rPr kumimoji="1" lang="zh-CN" altLang="en-US" sz="2800">
                <a:latin typeface="Times New Roman" panose="02020603050405020304" pitchFamily="18" charset="0"/>
                <a:ea typeface="黑体" panose="02010609060101010101" pitchFamily="49" charset="-122"/>
              </a:rPr>
            </a:br>
            <a:r>
              <a:rPr kumimoji="1" lang="zh-CN" altLang="en-US" sz="2800">
                <a:latin typeface="Times New Roman" panose="02020603050405020304" pitchFamily="18" charset="0"/>
                <a:ea typeface="黑体" panose="02010609060101010101" pitchFamily="49" charset="-122"/>
              </a:rPr>
              <a:t>   </a:t>
            </a:r>
            <a:r>
              <a:rPr kumimoji="1" lang="en-US" altLang="zh-CN" sz="2800">
                <a:latin typeface="Times New Roman" panose="02020603050405020304" pitchFamily="18" charset="0"/>
                <a:ea typeface="黑体" panose="02010609060101010101" pitchFamily="49" charset="-122"/>
              </a:rPr>
              <a:t>E</a:t>
            </a:r>
            <a:r>
              <a:rPr kumimoji="1" lang="zh-CN" altLang="en-US" sz="2800">
                <a:latin typeface="Times New Roman" panose="02020603050405020304" pitchFamily="18" charset="0"/>
                <a:ea typeface="黑体" panose="02010609060101010101" pitchFamily="49" charset="-122"/>
              </a:rPr>
              <a:t>．组成同工酶的亚基一定不同 </a:t>
            </a:r>
          </a:p>
        </p:txBody>
      </p:sp>
      <p:sp>
        <p:nvSpPr>
          <p:cNvPr id="403459" name="文本框 3">
            <a:extLst>
              <a:ext uri="{FF2B5EF4-FFF2-40B4-BE49-F238E27FC236}">
                <a16:creationId xmlns:a16="http://schemas.microsoft.com/office/drawing/2014/main" id="{BD19562C-8C09-4C8C-A691-2A8EC0B66AD0}"/>
              </a:ext>
            </a:extLst>
          </p:cNvPr>
          <p:cNvSpPr txBox="1">
            <a:spLocks noChangeArrowheads="1"/>
          </p:cNvSpPr>
          <p:nvPr/>
        </p:nvSpPr>
        <p:spPr bwMode="auto">
          <a:xfrm>
            <a:off x="8616950" y="765175"/>
            <a:ext cx="1295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en-US" altLang="zh-CN">
                <a:solidFill>
                  <a:srgbClr val="C00000"/>
                </a:solidFill>
                <a:latin typeface="Arial" panose="020B0604020202020204" pitchFamily="34" charset="0"/>
                <a:cs typeface="Arial" panose="020B0604020202020204" pitchFamily="34" charset="0"/>
              </a:rPr>
              <a:t>A</a:t>
            </a:r>
            <a:endParaRPr lang="zh-CN" altLang="en-US">
              <a:solidFill>
                <a:srgbClr val="C00000"/>
              </a:solidFill>
              <a:latin typeface="Arial" panose="020B0604020202020204" pitchFamily="34" charset="0"/>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34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9" grpId="0"/>
    </p:bldLst>
  </p:timing>
</p:sld>
</file>

<file path=ppt/slides/slide2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9795" name="Rectangle 3">
            <a:extLst>
              <a:ext uri="{FF2B5EF4-FFF2-40B4-BE49-F238E27FC236}">
                <a16:creationId xmlns:a16="http://schemas.microsoft.com/office/drawing/2014/main" id="{27488C80-7CD9-4DCC-A932-6CCD2B6A4ABD}"/>
              </a:ext>
            </a:extLst>
          </p:cNvPr>
          <p:cNvSpPr>
            <a:spLocks noGrp="1" noChangeArrowheads="1"/>
          </p:cNvSpPr>
          <p:nvPr>
            <p:ph type="body" idx="1"/>
          </p:nvPr>
        </p:nvSpPr>
        <p:spPr>
          <a:xfrm>
            <a:off x="1415480" y="1052736"/>
            <a:ext cx="10009111" cy="3744416"/>
          </a:xfrm>
        </p:spPr>
        <p:txBody>
          <a:bodyPr/>
          <a:lstStyle/>
          <a:p>
            <a:pPr>
              <a:lnSpc>
                <a:spcPct val="130000"/>
              </a:lnSpc>
            </a:pPr>
            <a:r>
              <a:rPr lang="zh-CN" altLang="en-US" sz="2800" b="0" dirty="0">
                <a:latin typeface="黑体" panose="02010609060101010101" pitchFamily="49" charset="-122"/>
                <a:ea typeface="黑体" panose="02010609060101010101" pitchFamily="49" charset="-122"/>
              </a:rPr>
              <a:t>一个二肽酶对二肽</a:t>
            </a:r>
            <a:r>
              <a:rPr lang="en-US" altLang="zh-CN" sz="2800" b="0" dirty="0">
                <a:latin typeface="黑体" panose="02010609060101010101" pitchFamily="49" charset="-122"/>
                <a:ea typeface="黑体" panose="02010609060101010101" pitchFamily="49" charset="-122"/>
              </a:rPr>
              <a:t>Ala-Gly</a:t>
            </a:r>
            <a:r>
              <a:rPr lang="zh-CN" altLang="en-US" sz="2800" b="0" dirty="0">
                <a:latin typeface="黑体" panose="02010609060101010101" pitchFamily="49" charset="-122"/>
                <a:ea typeface="黑体" panose="02010609060101010101" pitchFamily="49" charset="-122"/>
              </a:rPr>
              <a:t>和二肽</a:t>
            </a:r>
            <a:r>
              <a:rPr lang="en-US" altLang="zh-CN" sz="2800" b="0" dirty="0">
                <a:latin typeface="黑体" panose="02010609060101010101" pitchFamily="49" charset="-122"/>
                <a:ea typeface="黑体" panose="02010609060101010101" pitchFamily="49" charset="-122"/>
              </a:rPr>
              <a:t>Leu-Gly</a:t>
            </a:r>
            <a:r>
              <a:rPr lang="zh-CN" altLang="en-US" sz="2800" b="0" dirty="0">
                <a:latin typeface="黑体" panose="02010609060101010101" pitchFamily="49" charset="-122"/>
                <a:ea typeface="黑体" panose="02010609060101010101" pitchFamily="49" charset="-122"/>
              </a:rPr>
              <a:t>的</a:t>
            </a:r>
            <a:r>
              <a:rPr lang="en-US" altLang="zh-CN" sz="2800" b="0" dirty="0">
                <a:latin typeface="黑体" panose="02010609060101010101" pitchFamily="49" charset="-122"/>
                <a:ea typeface="黑体" panose="02010609060101010101" pitchFamily="49" charset="-122"/>
              </a:rPr>
              <a:t>Km</a:t>
            </a:r>
            <a:r>
              <a:rPr lang="zh-CN" altLang="en-US" sz="2800" b="0" dirty="0">
                <a:latin typeface="黑体" panose="02010609060101010101" pitchFamily="49" charset="-122"/>
                <a:ea typeface="黑体" panose="02010609060101010101" pitchFamily="49" charset="-122"/>
              </a:rPr>
              <a:t>分别为</a:t>
            </a:r>
            <a:r>
              <a:rPr lang="en-US" altLang="zh-CN" sz="2800" b="0" dirty="0">
                <a:latin typeface="黑体" panose="02010609060101010101" pitchFamily="49" charset="-122"/>
                <a:ea typeface="黑体" panose="02010609060101010101" pitchFamily="49" charset="-122"/>
              </a:rPr>
              <a:t>2.8×10</a:t>
            </a:r>
            <a:r>
              <a:rPr lang="en-US" altLang="zh-CN" sz="2800" b="0" baseline="30000" dirty="0">
                <a:latin typeface="黑体" panose="02010609060101010101" pitchFamily="49" charset="-122"/>
                <a:ea typeface="黑体" panose="02010609060101010101" pitchFamily="49" charset="-122"/>
              </a:rPr>
              <a:t>-4</a:t>
            </a:r>
            <a:r>
              <a:rPr lang="zh-CN" altLang="en-US" sz="2800" b="0" dirty="0">
                <a:latin typeface="黑体" panose="02010609060101010101" pitchFamily="49" charset="-122"/>
                <a:ea typeface="黑体" panose="02010609060101010101" pitchFamily="49" charset="-122"/>
              </a:rPr>
              <a:t>和</a:t>
            </a:r>
            <a:r>
              <a:rPr lang="en-US" altLang="zh-CN" sz="2800" b="0" dirty="0">
                <a:latin typeface="黑体" panose="02010609060101010101" pitchFamily="49" charset="-122"/>
                <a:ea typeface="黑体" panose="02010609060101010101" pitchFamily="49" charset="-122"/>
              </a:rPr>
              <a:t>3.5×10</a:t>
            </a:r>
            <a:r>
              <a:rPr lang="en-US" altLang="zh-CN" sz="2800" b="0" baseline="30000" dirty="0">
                <a:latin typeface="黑体" panose="02010609060101010101" pitchFamily="49" charset="-122"/>
                <a:ea typeface="黑体" panose="02010609060101010101" pitchFamily="49" charset="-122"/>
              </a:rPr>
              <a:t>-2</a:t>
            </a:r>
            <a:r>
              <a:rPr lang="zh-CN" altLang="en-US" sz="2800" b="0" dirty="0">
                <a:latin typeface="黑体" panose="02010609060101010101" pitchFamily="49" charset="-122"/>
                <a:ea typeface="黑体" panose="02010609060101010101" pitchFamily="49" charset="-122"/>
              </a:rPr>
              <a:t>，哪一个二肽是酶的最适底物？该酶的两个非竞争性抑制剂的</a:t>
            </a:r>
            <a:r>
              <a:rPr lang="en-US" altLang="zh-CN" sz="2800" b="0" dirty="0">
                <a:latin typeface="黑体" panose="02010609060101010101" pitchFamily="49" charset="-122"/>
                <a:ea typeface="黑体" panose="02010609060101010101" pitchFamily="49" charset="-122"/>
              </a:rPr>
              <a:t>Ki</a:t>
            </a:r>
            <a:r>
              <a:rPr lang="zh-CN" altLang="en-US" sz="2800" b="0" dirty="0">
                <a:latin typeface="黑体" panose="02010609060101010101" pitchFamily="49" charset="-122"/>
                <a:ea typeface="黑体" panose="02010609060101010101" pitchFamily="49" charset="-122"/>
              </a:rPr>
              <a:t>值分别为</a:t>
            </a:r>
            <a:r>
              <a:rPr lang="en-US" altLang="zh-CN" sz="2800" b="0" dirty="0">
                <a:latin typeface="黑体" panose="02010609060101010101" pitchFamily="49" charset="-122"/>
                <a:ea typeface="黑体" panose="02010609060101010101" pitchFamily="49" charset="-122"/>
              </a:rPr>
              <a:t>5.7×10</a:t>
            </a:r>
            <a:r>
              <a:rPr lang="en-US" altLang="zh-CN" sz="2800" b="0" baseline="30000" dirty="0">
                <a:latin typeface="黑体" panose="02010609060101010101" pitchFamily="49" charset="-122"/>
                <a:ea typeface="黑体" panose="02010609060101010101" pitchFamily="49" charset="-122"/>
              </a:rPr>
              <a:t>-2</a:t>
            </a:r>
            <a:r>
              <a:rPr lang="zh-CN" altLang="en-US" sz="2800" b="0" dirty="0">
                <a:latin typeface="黑体" panose="02010609060101010101" pitchFamily="49" charset="-122"/>
                <a:ea typeface="黑体" panose="02010609060101010101" pitchFamily="49" charset="-122"/>
              </a:rPr>
              <a:t>和</a:t>
            </a:r>
            <a:r>
              <a:rPr lang="en-US" altLang="zh-CN" sz="2800" b="0" dirty="0">
                <a:latin typeface="黑体" panose="02010609060101010101" pitchFamily="49" charset="-122"/>
                <a:ea typeface="黑体" panose="02010609060101010101" pitchFamily="49" charset="-122"/>
              </a:rPr>
              <a:t>2.6×10</a:t>
            </a:r>
            <a:r>
              <a:rPr lang="en-US" altLang="zh-CN" sz="2800" b="0" baseline="30000" dirty="0">
                <a:latin typeface="黑体" panose="02010609060101010101" pitchFamily="49" charset="-122"/>
                <a:ea typeface="黑体" panose="02010609060101010101" pitchFamily="49" charset="-122"/>
              </a:rPr>
              <a:t>-4</a:t>
            </a:r>
            <a:r>
              <a:rPr lang="zh-CN" altLang="en-US" sz="2800" b="0" dirty="0">
                <a:latin typeface="黑体" panose="02010609060101010101" pitchFamily="49" charset="-122"/>
                <a:ea typeface="黑体" panose="02010609060101010101" pitchFamily="49" charset="-122"/>
              </a:rPr>
              <a:t>。哪一个是更强的抑制剂？</a:t>
            </a:r>
            <a:endParaRPr lang="en-US" altLang="zh-CN" sz="2800" b="0" dirty="0">
              <a:latin typeface="黑体" panose="02010609060101010101" pitchFamily="49" charset="-122"/>
              <a:ea typeface="黑体" panose="02010609060101010101" pitchFamily="49" charset="-122"/>
            </a:endParaRPr>
          </a:p>
          <a:p>
            <a:pPr>
              <a:lnSpc>
                <a:spcPct val="130000"/>
              </a:lnSpc>
            </a:pPr>
            <a:endParaRPr lang="zh-CN" altLang="en-US" sz="2800" b="0" dirty="0">
              <a:latin typeface="黑体" panose="02010609060101010101" pitchFamily="49" charset="-122"/>
              <a:ea typeface="黑体" panose="02010609060101010101" pitchFamily="49" charset="-122"/>
            </a:endParaRPr>
          </a:p>
          <a:p>
            <a:pPr>
              <a:lnSpc>
                <a:spcPct val="130000"/>
              </a:lnSpc>
            </a:pPr>
            <a:r>
              <a:rPr lang="zh-CN" altLang="en-US" sz="2800" b="0" dirty="0">
                <a:solidFill>
                  <a:srgbClr val="0000CC"/>
                </a:solidFill>
                <a:latin typeface="黑体" panose="02010609060101010101" pitchFamily="49" charset="-122"/>
                <a:ea typeface="黑体" panose="02010609060101010101" pitchFamily="49" charset="-122"/>
              </a:rPr>
              <a:t>答：</a:t>
            </a:r>
            <a:r>
              <a:rPr lang="en-US" altLang="zh-CN" sz="2800" b="0" dirty="0">
                <a:solidFill>
                  <a:srgbClr val="0000CC"/>
                </a:solidFill>
                <a:latin typeface="黑体" panose="02010609060101010101" pitchFamily="49" charset="-122"/>
                <a:ea typeface="黑体" panose="02010609060101010101" pitchFamily="49" charset="-122"/>
              </a:rPr>
              <a:t>Ala-Gly</a:t>
            </a:r>
            <a:r>
              <a:rPr lang="zh-CN" altLang="en-US" sz="2800" b="0" dirty="0">
                <a:solidFill>
                  <a:srgbClr val="0000CC"/>
                </a:solidFill>
                <a:latin typeface="黑体" panose="02010609060101010101" pitchFamily="49" charset="-122"/>
                <a:ea typeface="黑体" panose="02010609060101010101" pitchFamily="49" charset="-122"/>
              </a:rPr>
              <a:t>是最适底物；</a:t>
            </a:r>
            <a:r>
              <a:rPr lang="en-US" altLang="zh-CN" sz="2800" b="0" dirty="0">
                <a:solidFill>
                  <a:srgbClr val="0000CC"/>
                </a:solidFill>
                <a:latin typeface="黑体" panose="02010609060101010101" pitchFamily="49" charset="-122"/>
                <a:ea typeface="黑体" panose="02010609060101010101" pitchFamily="49" charset="-122"/>
              </a:rPr>
              <a:t>Ki</a:t>
            </a:r>
            <a:r>
              <a:rPr lang="zh-CN" altLang="en-US" sz="2800" b="0" dirty="0">
                <a:solidFill>
                  <a:srgbClr val="0000CC"/>
                </a:solidFill>
                <a:latin typeface="黑体" panose="02010609060101010101" pitchFamily="49" charset="-122"/>
                <a:ea typeface="黑体" panose="02010609060101010101" pitchFamily="49" charset="-122"/>
              </a:rPr>
              <a:t>值最小的那个是更强的抑制剂。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9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Crayons</Template>
  <TotalTime>62698</TotalTime>
  <Words>18257</Words>
  <Application>Microsoft Office PowerPoint</Application>
  <PresentationFormat>宽屏</PresentationFormat>
  <Paragraphs>1862</Paragraphs>
  <Slides>203</Slides>
  <Notes>192</Notes>
  <HiddenSlides>74</HiddenSlides>
  <MMClips>1</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3</vt:i4>
      </vt:variant>
      <vt:variant>
        <vt:lpstr>幻灯片标题</vt:lpstr>
      </vt:variant>
      <vt:variant>
        <vt:i4>203</vt:i4>
      </vt:variant>
    </vt:vector>
  </HeadingPairs>
  <TitlesOfParts>
    <vt:vector size="233" baseType="lpstr">
      <vt:lpstr>-apple-system</vt:lpstr>
      <vt:lpstr>Arial Unicode MS</vt:lpstr>
      <vt:lpstr>CenturyStd-Light</vt:lpstr>
      <vt:lpstr>CenturyStd-LightItalic</vt:lpstr>
      <vt:lpstr>E-BZ</vt:lpstr>
      <vt:lpstr>FZSSK--GBK1-0</vt:lpstr>
      <vt:lpstr>MathematicalPiOTF1</vt:lpstr>
      <vt:lpstr>MS Sans Serif</vt:lpstr>
      <vt:lpstr>仿宋_GB2312</vt:lpstr>
      <vt:lpstr>黑体</vt:lpstr>
      <vt:lpstr>华文楷体</vt:lpstr>
      <vt:lpstr>楷体_GB2312</vt:lpstr>
      <vt:lpstr>宋体</vt:lpstr>
      <vt:lpstr>Microsoft YaHei</vt:lpstr>
      <vt:lpstr>Microsoft YaHei</vt:lpstr>
      <vt:lpstr>微软雅黑 Light</vt:lpstr>
      <vt:lpstr>Arial</vt:lpstr>
      <vt:lpstr>Arial</vt:lpstr>
      <vt:lpstr>Arial Narrow</vt:lpstr>
      <vt:lpstr>Arial Rounded MT Bold</vt:lpstr>
      <vt:lpstr>Comic Sans MS</vt:lpstr>
      <vt:lpstr>Roboto</vt:lpstr>
      <vt:lpstr>Tahoma</vt:lpstr>
      <vt:lpstr>Times New Roman</vt:lpstr>
      <vt:lpstr>Verdana</vt:lpstr>
      <vt:lpstr>Wingdings</vt:lpstr>
      <vt:lpstr>Crayons</vt:lpstr>
      <vt:lpstr>CS ChemDraw Drawing</vt:lpstr>
      <vt:lpstr>Visio</vt:lpstr>
      <vt:lpstr>Document</vt:lpstr>
      <vt:lpstr>第  三  章 酶(Enzyme)</vt:lpstr>
      <vt:lpstr>PowerPoint 演示文稿</vt:lpstr>
      <vt:lpstr>PowerPoint 演示文稿</vt:lpstr>
      <vt:lpstr>PowerPoint 演示文稿</vt:lpstr>
      <vt:lpstr>PowerPoint 演示文稿</vt:lpstr>
      <vt:lpstr>酶的化学本质是蛋白质</vt:lpstr>
      <vt:lpstr>PowerPoint 演示文稿</vt:lpstr>
      <vt:lpstr>PowerPoint 演示文稿</vt:lpstr>
      <vt:lpstr>第一节  酶的分子结构与功能 Molecular Structure and Function of Enzymes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铁硫簇(iron-sulfur cluster)也是cofactor</vt:lpstr>
      <vt:lpstr>为什么需要辅助因子？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同工酶的生理意义</vt:lpstr>
      <vt:lpstr>PowerPoint 演示文稿</vt:lpstr>
      <vt:lpstr>小   结</vt:lpstr>
      <vt:lpstr>第二节   酶的工作原理  The Mechanism of Enzyme Action</vt:lpstr>
      <vt:lpstr>PowerPoint 演示文稿</vt:lpstr>
      <vt:lpstr>PowerPoint 演示文稿</vt:lpstr>
      <vt:lpstr>PowerPoint 演示文稿</vt:lpstr>
      <vt:lpstr>一种酶只能作用于一种或一类化合物，或一定的化学键，催化一定的化学反应并生成一定的产物，也称为酶的专一性。</vt:lpstr>
      <vt:lpstr>绝对特异性</vt:lpstr>
      <vt:lpstr>PowerPoint 演示文稿</vt:lpstr>
      <vt:lpstr>PowerPoint 演示文稿</vt:lpstr>
      <vt:lpstr>相对特异性</vt:lpstr>
      <vt:lpstr>PowerPoint 演示文稿</vt:lpstr>
      <vt:lpstr>PowerPoint 演示文稿</vt:lpstr>
      <vt:lpstr>酶为什么能明显降低反应活化能？ </vt:lpstr>
      <vt:lpstr>PowerPoint 演示文稿</vt:lpstr>
      <vt:lpstr>PowerPoint 演示文稿</vt:lpstr>
      <vt:lpstr>PowerPoint 演示文稿</vt:lpstr>
      <vt:lpstr>PowerPoint 演示文稿</vt:lpstr>
      <vt:lpstr>新药的开发与酶学研究</vt:lpstr>
      <vt:lpstr>4. 酶催化机制涉及邻近效应、定向排列、表面效应，并呈现多元催化</vt:lpstr>
      <vt:lpstr>PowerPoint 演示文稿</vt:lpstr>
      <vt:lpstr>PowerPoint 演示文稿</vt:lpstr>
      <vt:lpstr>PowerPoint 演示文稿</vt:lpstr>
      <vt:lpstr>酸碱催化 （acid-base catalysis)</vt:lpstr>
      <vt:lpstr>活性中心广义的酸碱基团</vt:lpstr>
      <vt:lpstr>金属离子催化 （metal ion catalysis)</vt:lpstr>
      <vt:lpstr>共价催化 （covalent catalysis）</vt:lpstr>
      <vt:lpstr>常见亲核、亲电基团或原子</vt:lpstr>
      <vt:lpstr>丝氨酸蛋白酶家族</vt:lpstr>
      <vt:lpstr>胰凝乳蛋白酶的催化机制</vt:lpstr>
      <vt:lpstr>胰凝乳蛋白酶的催化机制</vt:lpstr>
      <vt:lpstr>PowerPoint 演示文稿</vt:lpstr>
      <vt:lpstr>PowerPoint 演示文稿</vt:lpstr>
      <vt:lpstr>PowerPoint 演示文稿</vt:lpstr>
      <vt:lpstr>PowerPoint 演示文稿</vt:lpstr>
      <vt:lpstr>PowerPoint 演示文稿</vt:lpstr>
      <vt:lpstr>动画： How enzymes work</vt:lpstr>
      <vt:lpstr>PowerPoint 演示文稿</vt:lpstr>
      <vt:lpstr>How Enzymes Work.mp4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米－曼氏方程式推导过程：</vt:lpstr>
      <vt:lpstr>PowerPoint 演示文稿</vt:lpstr>
      <vt:lpstr>PowerPoint 演示文稿</vt:lpstr>
      <vt:lpstr>PowerPoint 演示文稿</vt:lpstr>
      <vt:lpstr>PowerPoint 演示文稿</vt:lpstr>
      <vt:lpstr>Km与酶浓度无关</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部分常见酶抑制剂药物</vt:lpstr>
      <vt:lpstr>PowerPoint 演示文稿</vt:lpstr>
      <vt:lpstr>PowerPoint 演示文稿</vt:lpstr>
      <vt:lpstr>有机磷农药中毒机理 </vt:lpstr>
      <vt:lpstr>病例讨论</vt:lpstr>
      <vt:lpstr>PowerPoint 演示文稿</vt:lpstr>
      <vt:lpstr>PowerPoint 演示文稿</vt:lpstr>
      <vt:lpstr>儿童误服了温度计中的水银，怎么办？</vt:lpstr>
      <vt:lpstr>PowerPoint 演示文稿</vt:lpstr>
      <vt:lpstr>PowerPoint 演示文稿</vt:lpstr>
      <vt:lpstr>PowerPoint 演示文稿</vt:lpstr>
      <vt:lpstr>竞争性抑制可能的情形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甲醇中毒后的解毒</vt:lpstr>
      <vt:lpstr>PowerPoint 演示文稿</vt:lpstr>
      <vt:lpstr>3.混合性抑制（mixed inhibition)</vt:lpstr>
      <vt:lpstr>PowerPoint 演示文稿</vt:lpstr>
      <vt:lpstr>PowerPoint 演示文稿</vt:lpstr>
      <vt:lpstr>双倒数做图可用于判断抑制剂的类型</vt:lpstr>
      <vt:lpstr>PowerPoint 演示文稿</vt:lpstr>
      <vt:lpstr>PowerPoint 演示文稿</vt:lpstr>
      <vt:lpstr> 酶促反应动力学小结</vt:lpstr>
      <vt:lpstr>第 四 节       酶的调节 Regulation of Enzyme Activity</vt:lpstr>
      <vt:lpstr>PowerPoint 演示文稿</vt:lpstr>
      <vt:lpstr>PowerPoint 演示文稿</vt:lpstr>
      <vt:lpstr>酶活性调节方式</vt:lpstr>
      <vt:lpstr>1.别构调节物通过改变酶的构象而调节酶活性</vt:lpstr>
      <vt:lpstr>别构效应剂多为代谢终产物或中间产物</vt:lpstr>
      <vt:lpstr>PowerPoint 演示文稿</vt:lpstr>
      <vt:lpstr>别构酶（非米氏酶）的特点</vt:lpstr>
      <vt:lpstr>别构酶催化反应的动力学特点：S形动力学曲线</vt:lpstr>
      <vt:lpstr>别构效应剂使得S形曲线左移或右移</vt:lpstr>
      <vt:lpstr>PowerPoint 演示文稿</vt:lpstr>
      <vt:lpstr>蛋白激酶A的激活</vt:lpstr>
      <vt:lpstr>PowerPoint 演示文稿</vt:lpstr>
      <vt:lpstr>PowerPoint 演示文稿</vt:lpstr>
      <vt:lpstr>PowerPoint 演示文稿</vt:lpstr>
      <vt:lpstr>PowerPoint 演示文稿</vt:lpstr>
      <vt:lpstr>共价修饰调节的特点</vt:lpstr>
      <vt:lpstr>瀑布效应（级联放大效应）的典型例子：  Epinephrine Cascade   最终效果： 糖原磷酸化酶磷酸化后被激活，加速糖原分解  epinephrine: 肾上腺素 hepatocyte: 肝细胞 glycogen phosphorylase: 糖原磷酸化酶  </vt:lpstr>
      <vt:lpstr>PowerPoint 演示文稿</vt:lpstr>
      <vt:lpstr>磷酸化去磷酸化修饰调节是非常精细的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不同蛋白酶切割特定位置的肽键</vt:lpstr>
      <vt:lpstr>PowerPoint 演示文稿</vt:lpstr>
      <vt:lpstr>胰脏的三种自我保护机制</vt:lpstr>
      <vt:lpstr>调节蛋白调节某些酶的活性</vt:lpstr>
      <vt:lpstr>PowerPoint 演示文稿</vt:lpstr>
      <vt:lpstr>PowerPoint 演示文稿</vt:lpstr>
      <vt:lpstr>PowerPoint 演示文稿</vt:lpstr>
      <vt:lpstr>第 五 节       酶的分类与命名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 六 节       酶在医学中的应用 </vt:lpstr>
      <vt:lpstr>PowerPoint 演示文稿</vt:lpstr>
      <vt:lpstr>PowerPoint 演示文稿</vt:lpstr>
      <vt:lpstr>PowerPoint 演示文稿</vt:lpstr>
      <vt:lpstr>PowerPoint 演示文稿</vt:lpstr>
      <vt:lpstr>PowerPoint 演示文稿</vt:lpstr>
      <vt:lpstr>PowerPoint 演示文稿</vt:lpstr>
      <vt:lpstr>课堂练习</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五 章 酶(Enzyme)</dc:title>
  <dc:creator>HP</dc:creator>
  <cp:lastModifiedBy>yifei peng</cp:lastModifiedBy>
  <cp:revision>1123</cp:revision>
  <dcterms:created xsi:type="dcterms:W3CDTF">2013-09-12T12:25:56Z</dcterms:created>
  <dcterms:modified xsi:type="dcterms:W3CDTF">2026-09-16T11:30:56Z</dcterms:modified>
</cp:coreProperties>
</file>